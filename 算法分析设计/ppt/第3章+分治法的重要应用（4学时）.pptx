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6" r:id="rId50"/>
    <p:sldId id="340" r:id="rId51"/>
    <p:sldId id="307" r:id="rId52"/>
    <p:sldId id="341" r:id="rId53"/>
    <p:sldId id="310" r:id="rId54"/>
    <p:sldId id="311" r:id="rId55"/>
    <p:sldId id="312" r:id="rId56"/>
    <p:sldId id="313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52" y="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9"/>
          <p:cNvSpPr>
            <a:spLocks noChangeArrowheads="1"/>
          </p:cNvSpPr>
          <p:nvPr userDrawn="1"/>
        </p:nvSpPr>
        <p:spPr bwMode="gray">
          <a:xfrm>
            <a:off x="457200" y="0"/>
            <a:ext cx="8477250" cy="768350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gray">
          <a:xfrm>
            <a:off x="0" y="0"/>
            <a:ext cx="457200" cy="7683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1" name="Rectangle 30"/>
          <p:cNvSpPr>
            <a:spLocks noChangeArrowheads="1"/>
          </p:cNvSpPr>
          <p:nvPr userDrawn="1"/>
        </p:nvSpPr>
        <p:spPr bwMode="gray">
          <a:xfrm>
            <a:off x="0" y="762000"/>
            <a:ext cx="457200" cy="1524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gray">
          <a:xfrm>
            <a:off x="0" y="914400"/>
            <a:ext cx="457200" cy="41910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42353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3" name="Rectangle 49"/>
          <p:cNvSpPr>
            <a:spLocks noChangeArrowheads="1"/>
          </p:cNvSpPr>
          <p:nvPr userDrawn="1"/>
        </p:nvSpPr>
        <p:spPr bwMode="gray">
          <a:xfrm>
            <a:off x="0" y="5105400"/>
            <a:ext cx="457200" cy="1383311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42353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9" name="Rectangle 65"/>
          <p:cNvSpPr>
            <a:spLocks noChangeArrowheads="1"/>
          </p:cNvSpPr>
          <p:nvPr userDrawn="1"/>
        </p:nvSpPr>
        <p:spPr bwMode="gray">
          <a:xfrm>
            <a:off x="8763000" y="914400"/>
            <a:ext cx="381000" cy="51054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51373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20" name="Rectangle 66"/>
          <p:cNvSpPr>
            <a:spLocks noChangeArrowheads="1"/>
          </p:cNvSpPr>
          <p:nvPr userDrawn="1"/>
        </p:nvSpPr>
        <p:spPr bwMode="gray">
          <a:xfrm>
            <a:off x="8763000" y="762000"/>
            <a:ext cx="381000" cy="1524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21" name="Rectangle 67"/>
          <p:cNvSpPr>
            <a:spLocks noChangeArrowheads="1"/>
          </p:cNvSpPr>
          <p:nvPr userDrawn="1"/>
        </p:nvSpPr>
        <p:spPr bwMode="gray">
          <a:xfrm>
            <a:off x="8770938" y="0"/>
            <a:ext cx="373062" cy="762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22" name="Rectangle 68"/>
          <p:cNvSpPr>
            <a:spLocks noChangeArrowheads="1"/>
          </p:cNvSpPr>
          <p:nvPr userDrawn="1"/>
        </p:nvSpPr>
        <p:spPr bwMode="gray">
          <a:xfrm>
            <a:off x="457201" y="762000"/>
            <a:ext cx="8315325" cy="152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3333"/>
                  <a:invGamma/>
                </a:scheme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grpSp>
        <p:nvGrpSpPr>
          <p:cNvPr id="24" name="Group 104"/>
          <p:cNvGrpSpPr/>
          <p:nvPr userDrawn="1"/>
        </p:nvGrpSpPr>
        <p:grpSpPr bwMode="auto">
          <a:xfrm>
            <a:off x="8002589" y="69850"/>
            <a:ext cx="657225" cy="636588"/>
            <a:chOff x="5041" y="44"/>
            <a:chExt cx="414" cy="401"/>
          </a:xfrm>
        </p:grpSpPr>
        <p:sp>
          <p:nvSpPr>
            <p:cNvPr id="25" name="Oval 105"/>
            <p:cNvSpPr>
              <a:spLocks noChangeArrowheads="1"/>
            </p:cNvSpPr>
            <p:nvPr userDrawn="1"/>
          </p:nvSpPr>
          <p:spPr bwMode="gray">
            <a:xfrm rot="149948">
              <a:off x="5161" y="161"/>
              <a:ext cx="175" cy="170"/>
            </a:xfrm>
            <a:prstGeom prst="ellipse">
              <a:avLst/>
            </a:prstGeom>
            <a:gradFill rotWithShape="1">
              <a:gsLst>
                <a:gs pos="0">
                  <a:schemeClr val="bg2">
                    <a:gamma/>
                    <a:tint val="0"/>
                    <a:invGamma/>
                  </a:schemeClr>
                </a:gs>
                <a:gs pos="100000">
                  <a:schemeClr val="bg2"/>
                </a:gs>
              </a:gsLst>
              <a:path path="shape">
                <a:fillToRect l="50000" t="50000" r="50000" b="50000"/>
              </a:path>
            </a:gradFill>
            <a:ln w="0" algn="ctr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grpSp>
          <p:nvGrpSpPr>
            <p:cNvPr id="26" name="Group 106"/>
            <p:cNvGrpSpPr/>
            <p:nvPr userDrawn="1"/>
          </p:nvGrpSpPr>
          <p:grpSpPr bwMode="auto">
            <a:xfrm rot="334874">
              <a:off x="5321" y="313"/>
              <a:ext cx="98" cy="75"/>
              <a:chOff x="3452" y="878"/>
              <a:chExt cx="402" cy="342"/>
            </a:xfrm>
          </p:grpSpPr>
          <p:sp>
            <p:nvSpPr>
              <p:cNvPr id="55" name="Oval 107"/>
              <p:cNvSpPr>
                <a:spLocks noChangeArrowheads="1"/>
              </p:cNvSpPr>
              <p:nvPr userDrawn="1"/>
            </p:nvSpPr>
            <p:spPr bwMode="gray">
              <a:xfrm>
                <a:off x="3640" y="1024"/>
                <a:ext cx="111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6" name="Oval 108"/>
              <p:cNvSpPr>
                <a:spLocks noChangeArrowheads="1"/>
              </p:cNvSpPr>
              <p:nvPr userDrawn="1"/>
            </p:nvSpPr>
            <p:spPr bwMode="gray">
              <a:xfrm>
                <a:off x="3762" y="1122"/>
                <a:ext cx="90" cy="8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7" name="Oval 109"/>
              <p:cNvSpPr>
                <a:spLocks noChangeArrowheads="1"/>
              </p:cNvSpPr>
              <p:nvPr userDrawn="1"/>
            </p:nvSpPr>
            <p:spPr bwMode="gray">
              <a:xfrm>
                <a:off x="3427" y="874"/>
                <a:ext cx="180" cy="17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110"/>
            <p:cNvGrpSpPr/>
            <p:nvPr userDrawn="1"/>
          </p:nvGrpSpPr>
          <p:grpSpPr bwMode="auto">
            <a:xfrm rot="-2104554">
              <a:off x="5358" y="218"/>
              <a:ext cx="97" cy="75"/>
              <a:chOff x="3452" y="878"/>
              <a:chExt cx="402" cy="342"/>
            </a:xfrm>
          </p:grpSpPr>
          <p:sp>
            <p:nvSpPr>
              <p:cNvPr id="52" name="Oval 111"/>
              <p:cNvSpPr>
                <a:spLocks noChangeArrowheads="1"/>
              </p:cNvSpPr>
              <p:nvPr userDrawn="1"/>
            </p:nvSpPr>
            <p:spPr bwMode="gray">
              <a:xfrm>
                <a:off x="3630" y="997"/>
                <a:ext cx="112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3" name="Oval 112"/>
              <p:cNvSpPr>
                <a:spLocks noChangeArrowheads="1"/>
              </p:cNvSpPr>
              <p:nvPr userDrawn="1"/>
            </p:nvSpPr>
            <p:spPr bwMode="gray">
              <a:xfrm>
                <a:off x="3761" y="1124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4" name="Oval 113"/>
              <p:cNvSpPr>
                <a:spLocks noChangeArrowheads="1"/>
              </p:cNvSpPr>
              <p:nvPr userDrawn="1"/>
            </p:nvSpPr>
            <p:spPr bwMode="gray">
              <a:xfrm>
                <a:off x="3446" y="857"/>
                <a:ext cx="174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" name="Group 114"/>
            <p:cNvGrpSpPr/>
            <p:nvPr userDrawn="1"/>
          </p:nvGrpSpPr>
          <p:grpSpPr bwMode="auto">
            <a:xfrm rot="-4646600">
              <a:off x="5335" y="107"/>
              <a:ext cx="88" cy="82"/>
              <a:chOff x="3452" y="878"/>
              <a:chExt cx="402" cy="342"/>
            </a:xfrm>
          </p:grpSpPr>
          <p:sp>
            <p:nvSpPr>
              <p:cNvPr id="49" name="Oval 115"/>
              <p:cNvSpPr>
                <a:spLocks noChangeArrowheads="1"/>
              </p:cNvSpPr>
              <p:nvPr userDrawn="1"/>
            </p:nvSpPr>
            <p:spPr bwMode="gray">
              <a:xfrm>
                <a:off x="3656" y="1009"/>
                <a:ext cx="110" cy="129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0" name="Oval 116"/>
              <p:cNvSpPr>
                <a:spLocks noChangeArrowheads="1"/>
              </p:cNvSpPr>
              <p:nvPr userDrawn="1"/>
            </p:nvSpPr>
            <p:spPr bwMode="gray">
              <a:xfrm>
                <a:off x="3768" y="1107"/>
                <a:ext cx="91" cy="9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1" name="Oval 117"/>
              <p:cNvSpPr>
                <a:spLocks noChangeArrowheads="1"/>
              </p:cNvSpPr>
              <p:nvPr userDrawn="1"/>
            </p:nvSpPr>
            <p:spPr bwMode="gray">
              <a:xfrm>
                <a:off x="3453" y="877"/>
                <a:ext cx="183" cy="184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" name="Group 118"/>
            <p:cNvGrpSpPr/>
            <p:nvPr userDrawn="1"/>
          </p:nvGrpSpPr>
          <p:grpSpPr bwMode="auto">
            <a:xfrm rot="2913403">
              <a:off x="5210" y="359"/>
              <a:ext cx="88" cy="83"/>
              <a:chOff x="3452" y="878"/>
              <a:chExt cx="402" cy="342"/>
            </a:xfrm>
          </p:grpSpPr>
          <p:sp>
            <p:nvSpPr>
              <p:cNvPr id="46" name="Oval 119"/>
              <p:cNvSpPr>
                <a:spLocks noChangeArrowheads="1"/>
              </p:cNvSpPr>
              <p:nvPr userDrawn="1"/>
            </p:nvSpPr>
            <p:spPr bwMode="gray">
              <a:xfrm>
                <a:off x="3621" y="1033"/>
                <a:ext cx="110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7" name="Oval 120"/>
              <p:cNvSpPr>
                <a:spLocks noChangeArrowheads="1"/>
              </p:cNvSpPr>
              <p:nvPr userDrawn="1"/>
            </p:nvSpPr>
            <p:spPr bwMode="gray">
              <a:xfrm>
                <a:off x="3763" y="1128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8" name="Oval 121"/>
              <p:cNvSpPr>
                <a:spLocks noChangeArrowheads="1"/>
              </p:cNvSpPr>
              <p:nvPr userDrawn="1"/>
            </p:nvSpPr>
            <p:spPr bwMode="gray">
              <a:xfrm>
                <a:off x="3434" y="889"/>
                <a:ext cx="183" cy="17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" name="Group 122"/>
            <p:cNvGrpSpPr/>
            <p:nvPr userDrawn="1"/>
          </p:nvGrpSpPr>
          <p:grpSpPr bwMode="auto">
            <a:xfrm rot="-7888389">
              <a:off x="5212" y="46"/>
              <a:ext cx="88" cy="83"/>
              <a:chOff x="3452" y="878"/>
              <a:chExt cx="402" cy="342"/>
            </a:xfrm>
          </p:grpSpPr>
          <p:sp>
            <p:nvSpPr>
              <p:cNvPr id="43" name="Oval 123"/>
              <p:cNvSpPr>
                <a:spLocks noChangeArrowheads="1"/>
              </p:cNvSpPr>
              <p:nvPr userDrawn="1"/>
            </p:nvSpPr>
            <p:spPr bwMode="gray">
              <a:xfrm>
                <a:off x="3641" y="1021"/>
                <a:ext cx="110" cy="124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4" name="Oval 124"/>
              <p:cNvSpPr>
                <a:spLocks noChangeArrowheads="1"/>
              </p:cNvSpPr>
              <p:nvPr userDrawn="1"/>
            </p:nvSpPr>
            <p:spPr bwMode="gray">
              <a:xfrm>
                <a:off x="3769" y="1116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5" name="Oval 125"/>
              <p:cNvSpPr>
                <a:spLocks noChangeArrowheads="1"/>
              </p:cNvSpPr>
              <p:nvPr userDrawn="1"/>
            </p:nvSpPr>
            <p:spPr bwMode="gray">
              <a:xfrm>
                <a:off x="3471" y="863"/>
                <a:ext cx="183" cy="17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" name="Group 126"/>
            <p:cNvGrpSpPr/>
            <p:nvPr userDrawn="1"/>
          </p:nvGrpSpPr>
          <p:grpSpPr bwMode="auto">
            <a:xfrm rot="-10069553">
              <a:off x="5089" y="95"/>
              <a:ext cx="97" cy="76"/>
              <a:chOff x="3452" y="878"/>
              <a:chExt cx="402" cy="342"/>
            </a:xfrm>
          </p:grpSpPr>
          <p:sp>
            <p:nvSpPr>
              <p:cNvPr id="40" name="Oval 127"/>
              <p:cNvSpPr>
                <a:spLocks noChangeArrowheads="1"/>
              </p:cNvSpPr>
              <p:nvPr userDrawn="1"/>
            </p:nvSpPr>
            <p:spPr bwMode="gray">
              <a:xfrm>
                <a:off x="3639" y="1027"/>
                <a:ext cx="112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1" name="Oval 128"/>
              <p:cNvSpPr>
                <a:spLocks noChangeArrowheads="1"/>
              </p:cNvSpPr>
              <p:nvPr userDrawn="1"/>
            </p:nvSpPr>
            <p:spPr bwMode="gray">
              <a:xfrm>
                <a:off x="3748" y="1146"/>
                <a:ext cx="91" cy="90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2" name="Oval 129"/>
              <p:cNvSpPr>
                <a:spLocks noChangeArrowheads="1"/>
              </p:cNvSpPr>
              <p:nvPr userDrawn="1"/>
            </p:nvSpPr>
            <p:spPr bwMode="gray">
              <a:xfrm>
                <a:off x="3451" y="879"/>
                <a:ext cx="182" cy="180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" name="Group 130"/>
            <p:cNvGrpSpPr/>
            <p:nvPr userDrawn="1"/>
          </p:nvGrpSpPr>
          <p:grpSpPr bwMode="auto">
            <a:xfrm rot="8885358">
              <a:off x="5041" y="204"/>
              <a:ext cx="97" cy="75"/>
              <a:chOff x="3452" y="878"/>
              <a:chExt cx="402" cy="342"/>
            </a:xfrm>
          </p:grpSpPr>
          <p:sp>
            <p:nvSpPr>
              <p:cNvPr id="37" name="Oval 131"/>
              <p:cNvSpPr>
                <a:spLocks noChangeArrowheads="1"/>
              </p:cNvSpPr>
              <p:nvPr userDrawn="1"/>
            </p:nvSpPr>
            <p:spPr bwMode="gray">
              <a:xfrm>
                <a:off x="3640" y="1022"/>
                <a:ext cx="112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Oval 132"/>
              <p:cNvSpPr>
                <a:spLocks noChangeArrowheads="1"/>
              </p:cNvSpPr>
              <p:nvPr userDrawn="1"/>
            </p:nvSpPr>
            <p:spPr bwMode="gray">
              <a:xfrm>
                <a:off x="3744" y="1131"/>
                <a:ext cx="91" cy="8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9" name="Oval 133"/>
              <p:cNvSpPr>
                <a:spLocks noChangeArrowheads="1"/>
              </p:cNvSpPr>
              <p:nvPr userDrawn="1"/>
            </p:nvSpPr>
            <p:spPr bwMode="gray">
              <a:xfrm>
                <a:off x="3451" y="874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3" name="Group 134"/>
            <p:cNvGrpSpPr/>
            <p:nvPr userDrawn="1"/>
          </p:nvGrpSpPr>
          <p:grpSpPr bwMode="auto">
            <a:xfrm rot="6558351">
              <a:off x="5085" y="304"/>
              <a:ext cx="88" cy="82"/>
              <a:chOff x="3452" y="878"/>
              <a:chExt cx="402" cy="342"/>
            </a:xfrm>
          </p:grpSpPr>
          <p:sp>
            <p:nvSpPr>
              <p:cNvPr id="34" name="Oval 135"/>
              <p:cNvSpPr>
                <a:spLocks noChangeArrowheads="1"/>
              </p:cNvSpPr>
              <p:nvPr userDrawn="1"/>
            </p:nvSpPr>
            <p:spPr bwMode="gray">
              <a:xfrm>
                <a:off x="3639" y="1066"/>
                <a:ext cx="110" cy="129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Oval 136"/>
              <p:cNvSpPr>
                <a:spLocks noChangeArrowheads="1"/>
              </p:cNvSpPr>
              <p:nvPr userDrawn="1"/>
            </p:nvSpPr>
            <p:spPr bwMode="gray">
              <a:xfrm>
                <a:off x="3763" y="1130"/>
                <a:ext cx="91" cy="9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6" name="Oval 137"/>
              <p:cNvSpPr>
                <a:spLocks noChangeArrowheads="1"/>
              </p:cNvSpPr>
              <p:nvPr userDrawn="1"/>
            </p:nvSpPr>
            <p:spPr bwMode="gray">
              <a:xfrm>
                <a:off x="3444" y="901"/>
                <a:ext cx="187" cy="184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8" name="Line 151"/>
          <p:cNvSpPr>
            <a:spLocks noChangeShapeType="1"/>
          </p:cNvSpPr>
          <p:nvPr userDrawn="1"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59" name="Line 152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1" name="Line 154"/>
          <p:cNvSpPr>
            <a:spLocks noChangeShapeType="1"/>
          </p:cNvSpPr>
          <p:nvPr userDrawn="1"/>
        </p:nvSpPr>
        <p:spPr bwMode="auto">
          <a:xfrm>
            <a:off x="4572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2" name="Line 155"/>
          <p:cNvSpPr>
            <a:spLocks noChangeShapeType="1"/>
          </p:cNvSpPr>
          <p:nvPr userDrawn="1"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3" name="Line 157"/>
          <p:cNvSpPr>
            <a:spLocks noChangeShapeType="1"/>
          </p:cNvSpPr>
          <p:nvPr userDrawn="1"/>
        </p:nvSpPr>
        <p:spPr bwMode="auto">
          <a:xfrm flipH="1">
            <a:off x="0" y="5105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6" name="Rectangle 60"/>
          <p:cNvSpPr>
            <a:spLocks noChangeArrowheads="1"/>
          </p:cNvSpPr>
          <p:nvPr userDrawn="1"/>
        </p:nvSpPr>
        <p:spPr bwMode="gray">
          <a:xfrm>
            <a:off x="457669" y="6475213"/>
            <a:ext cx="8686801" cy="38374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tint val="54510"/>
                  <a:invGamma/>
                </a:schemeClr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" name="矩形 66"/>
          <p:cNvSpPr/>
          <p:nvPr userDrawn="1"/>
        </p:nvSpPr>
        <p:spPr>
          <a:xfrm>
            <a:off x="353300" y="6387619"/>
            <a:ext cx="26468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b="1" cap="none" spc="0" dirty="0">
                <a:solidFill>
                  <a:schemeClr val="accent4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四川农业大学</a:t>
            </a:r>
          </a:p>
        </p:txBody>
      </p:sp>
      <p:sp>
        <p:nvSpPr>
          <p:cNvPr id="68" name="Rectangle 61"/>
          <p:cNvSpPr>
            <a:spLocks noChangeArrowheads="1"/>
          </p:cNvSpPr>
          <p:nvPr userDrawn="1"/>
        </p:nvSpPr>
        <p:spPr bwMode="gray">
          <a:xfrm>
            <a:off x="8769028" y="6488711"/>
            <a:ext cx="391714" cy="39280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4706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" name="Line 153"/>
          <p:cNvSpPr>
            <a:spLocks noChangeShapeType="1"/>
          </p:cNvSpPr>
          <p:nvPr userDrawn="1"/>
        </p:nvSpPr>
        <p:spPr bwMode="auto">
          <a:xfrm>
            <a:off x="470" y="6475214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71" name="Text Box 1027"/>
          <p:cNvSpPr txBox="1">
            <a:spLocks noChangeArrowheads="1"/>
          </p:cNvSpPr>
          <p:nvPr userDrawn="1"/>
        </p:nvSpPr>
        <p:spPr bwMode="auto">
          <a:xfrm>
            <a:off x="5607072" y="6468504"/>
            <a:ext cx="3097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dirty="0">
                <a:solidFill>
                  <a:srgbClr val="990000"/>
                </a:solidFill>
                <a:latin typeface="Monotype Corsiva" panose="03010101010201010101" pitchFamily="66" charset="0"/>
                <a:ea typeface="楷体_GB2312" pitchFamily="49" charset="-122"/>
              </a:rPr>
              <a:t>© </a:t>
            </a:r>
            <a:r>
              <a:rPr lang="en-US" altLang="zh-CN" b="1" dirty="0">
                <a:solidFill>
                  <a:srgbClr val="990000"/>
                </a:solidFill>
                <a:latin typeface="Monotype Corsiva" panose="03010101010201010101" pitchFamily="66" charset="0"/>
                <a:ea typeface="楷体_GB2312" pitchFamily="49" charset="-122"/>
              </a:rPr>
              <a:t>Copyright by </a:t>
            </a:r>
            <a:r>
              <a:rPr lang="en-US" altLang="zh-CN" b="1" dirty="0" err="1">
                <a:solidFill>
                  <a:srgbClr val="990000"/>
                </a:solidFill>
                <a:latin typeface="Monotype Corsiva" panose="03010101010201010101" pitchFamily="66" charset="0"/>
                <a:ea typeface="楷体_GB2312" pitchFamily="49" charset="-122"/>
              </a:rPr>
              <a:t>Zhiyong</a:t>
            </a:r>
            <a:r>
              <a:rPr lang="en-US" altLang="zh-CN" b="1" dirty="0">
                <a:solidFill>
                  <a:srgbClr val="990000"/>
                </a:solidFill>
                <a:latin typeface="Monotype Corsiva" panose="03010101010201010101" pitchFamily="66" charset="0"/>
                <a:ea typeface="楷体_GB2312" pitchFamily="49" charset="-122"/>
              </a:rPr>
              <a:t> Li</a:t>
            </a:r>
          </a:p>
        </p:txBody>
      </p:sp>
      <p:sp>
        <p:nvSpPr>
          <p:cNvPr id="72" name="文本框 8"/>
          <p:cNvSpPr txBox="1"/>
          <p:nvPr userDrawn="1"/>
        </p:nvSpPr>
        <p:spPr>
          <a:xfrm>
            <a:off x="2790628" y="6502832"/>
            <a:ext cx="2374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信息工程学院</a:t>
            </a:r>
          </a:p>
        </p:txBody>
      </p:sp>
      <p:sp>
        <p:nvSpPr>
          <p:cNvPr id="18" name="Rectangle 63"/>
          <p:cNvSpPr>
            <a:spLocks noChangeArrowheads="1"/>
          </p:cNvSpPr>
          <p:nvPr userDrawn="1"/>
        </p:nvSpPr>
        <p:spPr bwMode="gray">
          <a:xfrm>
            <a:off x="8769351" y="5205846"/>
            <a:ext cx="374649" cy="125587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73" name="Line 157"/>
          <p:cNvSpPr>
            <a:spLocks noChangeShapeType="1"/>
          </p:cNvSpPr>
          <p:nvPr userDrawn="1"/>
        </p:nvSpPr>
        <p:spPr bwMode="auto">
          <a:xfrm flipH="1">
            <a:off x="8754341" y="5205846"/>
            <a:ext cx="400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71877" y="2904547"/>
            <a:ext cx="7666917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15"/>
              </a:lnSpc>
            </a:pPr>
            <a:r>
              <a:rPr sz="66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本周教学内容</a:t>
            </a:r>
            <a:endParaRPr sz="6495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UNAWTJ+ËÎÌå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6850" y="250984"/>
            <a:ext cx="8394269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155"/>
              </a:lnSpc>
            </a:pPr>
            <a:r>
              <a:rPr sz="4400" b="1" spc="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典型的分治算法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50076" y="1903122"/>
            <a:ext cx="153342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0"/>
              </a:lnSpc>
            </a:pPr>
            <a:r>
              <a:rPr sz="2800" b="1" spc="14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选择问题</a:t>
            </a:r>
            <a:endParaRPr lang="zh-CN" altLang="en-US" sz="28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UNAWTJ+ËÎÌå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5926" y="2941202"/>
            <a:ext cx="1478399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选第</a:t>
            </a:r>
            <a:r>
              <a:rPr sz="2755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</a:t>
            </a:r>
            <a:r>
              <a:rPr sz="2755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92921" y="2923376"/>
            <a:ext cx="2014596" cy="848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2755" b="1" spc="15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快速傅立叶</a:t>
            </a:r>
            <a:r>
              <a:rPr lang="zh-CN" altLang="en-US"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变换</a:t>
            </a:r>
            <a:r>
              <a:rPr lang="en-US" altLang="zh-CN" sz="2755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FFT</a:t>
            </a:r>
            <a:r>
              <a:rPr lang="zh-CN" altLang="en-US"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算法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14724" y="3550559"/>
            <a:ext cx="866695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计算</a:t>
            </a:r>
          </a:p>
          <a:p>
            <a:pPr>
              <a:lnSpc>
                <a:spcPts val="1970"/>
              </a:lnSpc>
              <a:spcBef>
                <a:spcPts val="390"/>
              </a:spcBef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平面</a:t>
            </a:r>
          </a:p>
          <a:p>
            <a:pPr>
              <a:lnSpc>
                <a:spcPts val="1975"/>
              </a:lnSpc>
              <a:spcBef>
                <a:spcPts val="390"/>
              </a:spcBef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点集</a:t>
            </a:r>
          </a:p>
          <a:p>
            <a:pPr>
              <a:lnSpc>
                <a:spcPts val="1970"/>
              </a:lnSpc>
              <a:spcBef>
                <a:spcPts val="390"/>
              </a:spcBef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的凸</a:t>
            </a:r>
          </a:p>
          <a:p>
            <a:pPr>
              <a:lnSpc>
                <a:spcPts val="1970"/>
              </a:lnSpc>
              <a:spcBef>
                <a:spcPts val="285"/>
              </a:spcBef>
            </a:pPr>
            <a:r>
              <a:rPr sz="2755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包</a:t>
            </a:r>
            <a:r>
              <a:rPr lang="en-US" sz="2755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    </a:t>
            </a:r>
          </a:p>
          <a:p>
            <a:pPr marL="125730">
              <a:lnSpc>
                <a:spcPts val="1970"/>
              </a:lnSpc>
              <a:spcBef>
                <a:spcPts val="285"/>
              </a:spcBef>
            </a:pPr>
            <a:endParaRPr sz="2755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UNAWTJ+ËÎÌå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3526" y="3796575"/>
            <a:ext cx="160079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2755" b="1" spc="1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选第二大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07054" y="4358431"/>
            <a:ext cx="1799257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卷积计算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72761" y="4662499"/>
            <a:ext cx="2137827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2755" b="1" spc="18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选最大与最小</a:t>
            </a:r>
            <a:endParaRPr sz="2755" b="1" spc="18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UNAWTJ+ËÎÌå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90559" y="5317961"/>
            <a:ext cx="191695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2755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卷积及应用</a:t>
            </a:r>
          </a:p>
        </p:txBody>
      </p:sp>
      <p:sp>
        <p:nvSpPr>
          <p:cNvPr id="14" name="矩形 13"/>
          <p:cNvSpPr/>
          <p:nvPr/>
        </p:nvSpPr>
        <p:spPr>
          <a:xfrm>
            <a:off x="1938805" y="5298392"/>
            <a:ext cx="1247457" cy="5164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755" b="1" dirty="0">
                <a:latin typeface="黑体" panose="02010609060101010101" pitchFamily="49" charset="-122"/>
                <a:ea typeface="黑体" panose="02010609060101010101" pitchFamily="49" charset="-122"/>
              </a:rPr>
              <a:t>选最大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1492974" y="2704734"/>
            <a:ext cx="2194968" cy="68963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485026" y="3546948"/>
            <a:ext cx="2194968" cy="68963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488644" y="4391147"/>
            <a:ext cx="2194968" cy="68963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485026" y="5235346"/>
            <a:ext cx="2194968" cy="68963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3992082" y="2923376"/>
            <a:ext cx="2194968" cy="980406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4011343" y="4137983"/>
            <a:ext cx="2194968" cy="624626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011343" y="5080782"/>
            <a:ext cx="2194968" cy="624626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6696243" y="3298077"/>
            <a:ext cx="867497" cy="1864989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bject 4"/>
          <p:cNvSpPr txBox="1"/>
          <p:nvPr/>
        </p:nvSpPr>
        <p:spPr>
          <a:xfrm>
            <a:off x="6537891" y="1902589"/>
            <a:ext cx="183355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0"/>
              </a:lnSpc>
            </a:pPr>
            <a:r>
              <a:rPr sz="2800" b="1" spc="1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计算</a:t>
            </a:r>
            <a:r>
              <a:rPr lang="zh-CN" altLang="en-US" sz="28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几何</a:t>
            </a:r>
          </a:p>
        </p:txBody>
      </p:sp>
      <p:sp>
        <p:nvSpPr>
          <p:cNvPr id="7" name="矩形 6"/>
          <p:cNvSpPr/>
          <p:nvPr/>
        </p:nvSpPr>
        <p:spPr>
          <a:xfrm>
            <a:off x="3987166" y="1768837"/>
            <a:ext cx="2357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信号平滑处理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4" grpId="0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693" y="2691095"/>
            <a:ext cx="7696754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0"/>
              </a:lnSpc>
            </a:pPr>
            <a:r>
              <a:rPr sz="66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选最大与最小</a:t>
            </a:r>
            <a:endParaRPr sz="7015" b="1" spc="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NFSOI+ËÎÌå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0901" y="125083"/>
            <a:ext cx="842423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选择问题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799" y="1155173"/>
            <a:ext cx="7943781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输入：集合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sz="2800" b="1" i="1" spc="-9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含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个不等的实数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中第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小元素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3301" y="2540098"/>
            <a:ext cx="7499280" cy="452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sz="2800" b="1" spc="13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sz="2800" b="1" spc="12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最小元素</a:t>
            </a:r>
            <a:endParaRPr sz="2800" b="1" spc="12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13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，称为</a:t>
            </a:r>
            <a:r>
              <a:rPr sz="2800" b="1" spc="12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最大元素</a:t>
            </a:r>
            <a:endParaRPr lang="en-US" sz="2800" b="1" spc="12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位置处在中间的元素，称为</a:t>
            </a:r>
            <a:r>
              <a:rPr lang="zh-CN" altLang="en-US"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中位元素</a:t>
            </a:r>
            <a:endParaRPr lang="en-US" altLang="zh-CN" sz="2800" b="1" spc="12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17245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为奇数，中位数唯一，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+1)/2</a:t>
            </a:r>
          </a:p>
          <a:p>
            <a:pPr marL="817245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为偶数，可指定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/2+1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800" b="1" spc="12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sz="2800" b="1" spc="12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1683657" y="2774969"/>
            <a:ext cx="6357257" cy="830479"/>
          </a:xfrm>
          <a:prstGeom prst="rect">
            <a:avLst/>
          </a:prstGeom>
          <a:blipFill>
            <a:blip r:embed="rId2" cstate="print"/>
            <a:srcRect/>
            <a:stretch>
              <a:fillRect t="-250050" r="-48816" b="-37704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64376" y="141508"/>
            <a:ext cx="8208911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选最大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4376" y="1308251"/>
            <a:ext cx="38044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800" b="1" spc="1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算法：顺序比较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57546" y="3078521"/>
            <a:ext cx="464754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15"/>
              </a:lnSpc>
            </a:pPr>
            <a:r>
              <a:rPr sz="25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550" spc="45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2550" spc="4507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550" spc="3869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17</a:t>
            </a:r>
            <a:r>
              <a:rPr sz="2550" spc="386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3</a:t>
            </a:r>
            <a:r>
              <a:rPr sz="2550" spc="3858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4376" y="4503290"/>
            <a:ext cx="5332092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spc="18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输出</a:t>
            </a:r>
            <a:r>
              <a:rPr lang="en-US" sz="2800" b="1" spc="18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: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max</a:t>
            </a:r>
            <a:r>
              <a:rPr sz="2800" b="1" i="1" spc="-4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spc="1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17</a:t>
            </a: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=4</a:t>
            </a:r>
          </a:p>
        </p:txBody>
      </p:sp>
      <p:sp>
        <p:nvSpPr>
          <p:cNvPr id="7" name="object 13"/>
          <p:cNvSpPr txBox="1"/>
          <p:nvPr/>
        </p:nvSpPr>
        <p:spPr>
          <a:xfrm>
            <a:off x="564375" y="5212668"/>
            <a:ext cx="658572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0"/>
              </a:lnSpc>
              <a:spcBef>
                <a:spcPts val="1715"/>
              </a:spcBef>
            </a:pPr>
            <a:r>
              <a:rPr sz="2800" b="1" spc="16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算法最坏情况下的时间</a:t>
            </a:r>
            <a:r>
              <a:rPr sz="2800" b="1" i="1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sz="2800" b="1" dirty="0">
                <a:solidFill>
                  <a:srgbClr val="C00000"/>
                </a:solidFill>
                <a:latin typeface="PEJORU+Symbol"/>
                <a:cs typeface="PEJORU+Symbol"/>
              </a:rPr>
              <a:t>-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9362" y="156923"/>
            <a:ext cx="849694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700" y="1191381"/>
            <a:ext cx="7897567" cy="1269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sz="2800" b="1" spc="68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Findmax</a:t>
            </a:r>
          </a:p>
          <a:p>
            <a:pPr>
              <a:lnSpc>
                <a:spcPts val="3065"/>
              </a:lnSpc>
              <a:spcBef>
                <a:spcPts val="250"/>
              </a:spcBef>
            </a:pPr>
            <a:r>
              <a:rPr sz="2800" b="1" spc="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b="1" i="1" spc="-2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个数的数组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>
              <a:lnSpc>
                <a:spcPts val="3070"/>
              </a:lnSpc>
              <a:spcBef>
                <a:spcPts val="250"/>
              </a:spcBef>
            </a:pPr>
            <a:r>
              <a:rPr sz="2800" b="1" spc="18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62311" y="2726656"/>
            <a:ext cx="2574326" cy="411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800" b="1" spc="69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62313" y="3172425"/>
            <a:ext cx="3785127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800" b="1" spc="69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b="1" spc="-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to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>
              <a:lnSpc>
                <a:spcPts val="3070"/>
              </a:lnSpc>
              <a:spcBef>
                <a:spcPts val="235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800" b="1" spc="48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800" b="1" spc="70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2800" b="1" i="1" spc="-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2800" b="1" spc="1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ts val="333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800" b="1" spc="48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800" b="1" spc="69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spc="-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62311" y="4467621"/>
            <a:ext cx="6201796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7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5.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    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 </a:t>
            </a:r>
            <a:r>
              <a:rPr sz="2800" dirty="0">
                <a:solidFill>
                  <a:srgbClr val="000000"/>
                </a:solidFill>
                <a:latin typeface="PEJORU+Symbol"/>
                <a:cs typeface="PEJORU+Symbol"/>
              </a:rPr>
              <a:t></a:t>
            </a:r>
            <a:r>
              <a:rPr sz="2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</a:p>
          <a:p>
            <a:pPr>
              <a:lnSpc>
                <a:spcPts val="3065"/>
              </a:lnSpc>
              <a:spcBef>
                <a:spcPts val="175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6.</a:t>
            </a:r>
            <a:r>
              <a:rPr sz="2800" b="1" spc="69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800" b="1" spc="69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max,</a:t>
            </a:r>
            <a:r>
              <a:rPr sz="2800" b="1" i="1" spc="-2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379441" y="2970238"/>
            <a:ext cx="3460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3287730" y="3398479"/>
            <a:ext cx="3460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713377" y="4278158"/>
            <a:ext cx="3460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3421288" y="4697258"/>
            <a:ext cx="3460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6081" y="113778"/>
            <a:ext cx="84249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选最大最小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2184" y="1336292"/>
            <a:ext cx="21549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3200" b="1" spc="16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通常算法</a:t>
            </a:r>
            <a:endParaRPr sz="3200" b="1" spc="16" dirty="0">
              <a:solidFill>
                <a:srgbClr val="000000"/>
              </a:solidFill>
              <a:latin typeface="CNFSOI+ËÎÌå"/>
              <a:cs typeface="CNFSOI+ËÎÌå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899" y="1933242"/>
            <a:ext cx="769186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顺序比较，先选最大</a:t>
            </a:r>
            <a:r>
              <a:rPr sz="2800" b="1" spc="-3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975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max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3898" y="2479231"/>
            <a:ext cx="7835901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7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顺序比较，在剩余数组中选最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，类似于选最大算法，但比较时保留较小的数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2184" y="4139900"/>
            <a:ext cx="248747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800" b="1" spc="16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时间复杂性</a:t>
            </a:r>
            <a:endParaRPr sz="2800" spc="16" dirty="0">
              <a:solidFill>
                <a:srgbClr val="000000"/>
              </a:solidFill>
              <a:latin typeface="CNFSOI+ËÎÌå"/>
              <a:cs typeface="CNFSOI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2044298" y="4568356"/>
                <a:ext cx="5746024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0"/>
                  </a:lnSpc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) 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1 +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2 = </a:t>
                </a:r>
                <a:r>
                  <a:rPr sz="2800" b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</a:rPr>
                  <a:t>2</a:t>
                </a:r>
                <a:r>
                  <a:rPr sz="2800" b="1" i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2800" b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</a:rPr>
                  <a:t>3</a:t>
                </a: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298" y="4568356"/>
                <a:ext cx="5746024" cy="436017"/>
              </a:xfrm>
              <a:prstGeom prst="rect">
                <a:avLst/>
              </a:prstGeom>
              <a:blipFill rotWithShape="1">
                <a:blip r:embed="rId2"/>
                <a:stretch>
                  <a:fillRect l="-4" t="-329" r="2" b="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97375" y="829627"/>
            <a:ext cx="7426147" cy="5679364"/>
          </a:xfrm>
          <a:prstGeom prst="rect">
            <a:avLst/>
          </a:prstGeom>
          <a:blipFill>
            <a:blip r:embed="rId2" cstate="print"/>
            <a:srcRect/>
            <a:stretch>
              <a:fillRect r="-44025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1569" y="144290"/>
            <a:ext cx="849694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分组算法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07875" y="2279630"/>
            <a:ext cx="2687066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spc="15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b="1" spc="287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12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spc="4285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327" y="2245307"/>
            <a:ext cx="1488832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17466" y="3370998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60962" y="3396627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00195" y="3370998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46224" y="3269398"/>
            <a:ext cx="888491" cy="1821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2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ts val="3320"/>
              </a:lnSpc>
              <a:spcBef>
                <a:spcPts val="7630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81512" y="4183782"/>
            <a:ext cx="801623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spc="12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轮空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29225" y="5056739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10013" y="5009265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824851" y="2205418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851" y="2205418"/>
                <a:ext cx="95680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66" t="-15" r="-4329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753325" y="4960408"/>
            <a:ext cx="545342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15"/>
              </a:lnSpc>
              <a:spcBef>
                <a:spcPts val="1021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  <p:sp>
        <p:nvSpPr>
          <p:cNvPr id="17" name="object 6"/>
          <p:cNvSpPr txBox="1"/>
          <p:nvPr/>
        </p:nvSpPr>
        <p:spPr>
          <a:xfrm>
            <a:off x="2730745" y="3396627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18" name="object 12"/>
          <p:cNvSpPr txBox="1"/>
          <p:nvPr/>
        </p:nvSpPr>
        <p:spPr>
          <a:xfrm>
            <a:off x="2730905" y="5069056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58295" y="117866"/>
            <a:ext cx="8208911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295" y="1175647"/>
            <a:ext cx="7933578" cy="4547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30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sz="2800" b="1" spc="62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FindMaxMin</a:t>
            </a:r>
          </a:p>
          <a:p>
            <a:pPr>
              <a:lnSpc>
                <a:spcPts val="2825"/>
              </a:lnSpc>
              <a:spcBef>
                <a:spcPts val="500"/>
              </a:spcBef>
            </a:pP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个数的数组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>
              <a:lnSpc>
                <a:spcPts val="2825"/>
              </a:lnSpc>
              <a:spcBef>
                <a:spcPts val="555"/>
              </a:spcBef>
              <a:spcAft>
                <a:spcPts val="2400"/>
              </a:spcAft>
            </a:pP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．将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个元素两两一组分成</a:t>
            </a:r>
            <a:r>
              <a:rPr 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．每组比较，得到</a:t>
            </a:r>
            <a:r>
              <a:rPr 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个较小和</a:t>
            </a:r>
            <a:r>
              <a:rPr 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个较大</a:t>
            </a:r>
            <a:endParaRPr sz="2800" b="1" spc="12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．在</a:t>
            </a:r>
            <a:r>
              <a:rPr 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个较大（含轮空元素）中找最大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．在</a:t>
            </a:r>
            <a:r>
              <a:rPr 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个较小（含轮空元素）中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找最小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</a:p>
          <a:p>
            <a:pPr>
              <a:lnSpc>
                <a:spcPts val="3125"/>
              </a:lnSpc>
              <a:spcBef>
                <a:spcPts val="310"/>
              </a:spcBef>
            </a:pPr>
            <a:endParaRPr sz="2550" b="1" spc="12" dirty="0">
              <a:solidFill>
                <a:srgbClr val="000000"/>
              </a:solidFill>
              <a:latin typeface="CNFSOI+ËÎÌå"/>
              <a:cs typeface="CNFSOI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403135" y="2821482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135" y="2821482"/>
                <a:ext cx="956800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58" t="-41" r="-4337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928201" y="3454442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201" y="3454442"/>
                <a:ext cx="956800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10" t="-10" r="-4386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334535" y="3475069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535" y="3475069"/>
                <a:ext cx="956800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43" t="-81" r="-4353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627625" y="4755682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625" y="4755682"/>
                <a:ext cx="95680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13" t="-39" r="-4383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665725" y="4122530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725" y="4122530"/>
                <a:ext cx="95680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13" t="-26" r="-4383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64581" y="101685"/>
            <a:ext cx="796192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最坏情况时间复杂度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36254" y="1186164"/>
                <a:ext cx="6273558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0"/>
                  </a:lnSpc>
                </a:pPr>
                <a:r>
                  <a:rPr sz="2800" b="1" spc="16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行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sz="2800" b="1" spc="16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的组内比较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次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54" y="1186164"/>
                <a:ext cx="6273558" cy="436017"/>
              </a:xfrm>
              <a:prstGeom prst="rect">
                <a:avLst/>
              </a:prstGeom>
              <a:blipFill rotWithShape="1">
                <a:blip r:embed="rId2"/>
                <a:stretch>
                  <a:fillRect l="-5" t="-142" r="1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536253" y="1820345"/>
            <a:ext cx="7979608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70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3--4</a:t>
            </a:r>
            <a:r>
              <a:rPr sz="2800" b="1" spc="-3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sz="28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比较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至多</a:t>
            </a:r>
            <a:r>
              <a:rPr 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sz="2800" b="1" spc="482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634105" y="1801387"/>
                <a:ext cx="16998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800" b="1" dirty="0"/>
                  <a:t>2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05" y="1801387"/>
                <a:ext cx="1699824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23" t="-1007" r="-4240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202095" y="2846419"/>
                <a:ext cx="41047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2800" b="1" dirty="0"/>
                  <a:t>+2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095" y="2846419"/>
                <a:ext cx="4104778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13" t="-965" r="-117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3081759" y="3518433"/>
                <a:ext cx="26147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59" y="3518433"/>
                <a:ext cx="2614755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4" t="-124" r="-1411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131193" y="4079345"/>
                <a:ext cx="231976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2800" b="1" dirty="0"/>
                  <a:t>-2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93" y="4079345"/>
                <a:ext cx="2319761" cy="430887"/>
              </a:xfrm>
              <a:prstGeom prst="rect">
                <a:avLst/>
              </a:prstGeom>
              <a:blipFill rotWithShape="1">
                <a:blip r:embed="rId6"/>
                <a:stretch>
                  <a:fillRect t="-909" r="5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5097" y="116689"/>
            <a:ext cx="849694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2097" y="1283943"/>
            <a:ext cx="819982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en-US" sz="2800" b="1" spc="153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将数组</a:t>
            </a:r>
            <a:r>
              <a:rPr sz="2800" b="1" spc="-2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从中间划分为两个</a:t>
            </a:r>
            <a:r>
              <a:rPr lang="zh-CN" alt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子数组</a:t>
            </a:r>
            <a:r>
              <a:rPr lang="zh-CN" altLang="en-US" sz="2800" b="1" spc="-2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800" spc="18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4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2097" y="2312930"/>
            <a:ext cx="812781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sz="2800" b="1" spc="66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递归地在</a:t>
            </a:r>
            <a:r>
              <a:rPr sz="2800" b="1" spc="-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i="1" spc="23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中求最大</a:t>
            </a:r>
            <a:r>
              <a:rPr sz="2800" b="1" spc="-2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  <a:r>
              <a:rPr lang="en-US" altLang="zh-CN" sz="2800" b="1" baseline="-24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7514" y="2753556"/>
            <a:ext cx="113837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endParaRPr sz="2800" b="1" baseline="-2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097" y="3290175"/>
            <a:ext cx="819982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7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66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递归地在</a:t>
            </a:r>
            <a:r>
              <a:rPr sz="2800" b="1" spc="-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中求最大</a:t>
            </a:r>
            <a:r>
              <a:rPr sz="2800" b="1" spc="-2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b="1" baseline="-2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32097" y="4084306"/>
            <a:ext cx="4483017" cy="1113986"/>
            <a:chOff x="505097" y="4084306"/>
            <a:chExt cx="4483017" cy="1113986"/>
          </a:xfrm>
        </p:grpSpPr>
        <p:sp>
          <p:nvSpPr>
            <p:cNvPr id="17" name="object 17"/>
            <p:cNvSpPr txBox="1"/>
            <p:nvPr/>
          </p:nvSpPr>
          <p:spPr>
            <a:xfrm>
              <a:off x="505098" y="4762275"/>
              <a:ext cx="4483016" cy="43601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390"/>
                </a:lnSpc>
              </a:pP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</a:t>
              </a:r>
              <a:r>
                <a:rPr sz="2800" b="1" spc="1366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 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min{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min</a:t>
              </a:r>
              <a:r>
                <a:rPr lang="en-US" altLang="zh-CN" sz="2800" b="1" baseline="-24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zh-CN" sz="2800" b="1" baseline="-24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20" name="直接箭头连接符 19"/>
            <p:cNvCxnSpPr/>
            <p:nvPr/>
          </p:nvCxnSpPr>
          <p:spPr>
            <a:xfrm flipH="1">
              <a:off x="1717972" y="4315024"/>
              <a:ext cx="3460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1717972" y="5007182"/>
              <a:ext cx="3460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bject 17"/>
            <p:cNvSpPr txBox="1"/>
            <p:nvPr/>
          </p:nvSpPr>
          <p:spPr>
            <a:xfrm>
              <a:off x="505097" y="4084306"/>
              <a:ext cx="4483016" cy="43601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390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sz="2800" b="1" spc="1366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</a:t>
              </a:r>
              <a:r>
                <a:rPr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max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4111" y="131372"/>
            <a:ext cx="807234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最坏情况时间复杂度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3597" y="1241845"/>
            <a:ext cx="8211458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假设</a:t>
            </a:r>
            <a:r>
              <a:rPr sz="2800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marL="397510">
              <a:lnSpc>
                <a:spcPts val="2825"/>
              </a:lnSpc>
              <a:spcBef>
                <a:spcPts val="780"/>
              </a:spcBef>
            </a:pPr>
            <a:r>
              <a:rPr lang="en-US"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5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2</a:t>
            </a:r>
            <a:r>
              <a:rPr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5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/2) + 2</a:t>
            </a:r>
          </a:p>
          <a:p>
            <a:pPr marL="360045">
              <a:lnSpc>
                <a:spcPts val="2830"/>
              </a:lnSpc>
              <a:spcBef>
                <a:spcPts val="755"/>
              </a:spcBef>
            </a:pPr>
            <a:r>
              <a:rPr lang="en-US"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sz="255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5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= 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1039" y="3006340"/>
            <a:ext cx="8287657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spc="127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</a:p>
          <a:p>
            <a:pPr marL="565785">
              <a:lnSpc>
                <a:spcPts val="2830"/>
              </a:lnSpc>
              <a:spcBef>
                <a:spcPts val="1675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2[2</a:t>
            </a:r>
            <a:r>
              <a:rPr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  <a:r>
              <a:rPr sz="2800" b="1" spc="-12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2]</a:t>
            </a:r>
            <a:r>
              <a:rPr sz="2800" b="1" spc="-209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3220" y="4235924"/>
            <a:ext cx="76718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  <a:r>
              <a:rPr sz="2800" b="1" spc="-1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 =</a:t>
            </a:r>
            <a:r>
              <a:rPr sz="2800" b="1" spc="62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3220" y="4853238"/>
            <a:ext cx="740942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3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sz="2800" b="1" spc="-195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sz="2800" b="1" spc="64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spc="-213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33220" y="5305218"/>
            <a:ext cx="767183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sz="2800" b="1" spc="-207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2 = 3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/2 - 2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6286" y="131733"/>
            <a:ext cx="84249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选择算法小结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28056" y="1297803"/>
                <a:ext cx="7767776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15"/>
                  </a:lnSpc>
                </a:pPr>
                <a:r>
                  <a:rPr sz="32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NFSOI+ËÎÌå"/>
                  </a:rPr>
                  <a:t>选最大</a:t>
                </a:r>
                <a:r>
                  <a:rPr sz="3200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NFSOI+ËÎÌå"/>
                  </a:rPr>
                  <a:t>：</a:t>
                </a:r>
                <a:r>
                  <a:rPr sz="32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NFSOI+ËÎÌå"/>
                  </a:rPr>
                  <a:t>顺序比较</a:t>
                </a:r>
                <a:r>
                  <a:rPr sz="32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alibri" panose="020F0502020204030204"/>
                  </a:rPr>
                  <a:t>, </a:t>
                </a:r>
                <a:r>
                  <a:rPr sz="3200" b="1" spc="12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NFSOI+ËÎÌå"/>
                  </a:rPr>
                  <a:t>比较次数</a:t>
                </a:r>
                <a:r>
                  <a:rPr sz="3200" b="1" i="1" dirty="0" err="1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lang="en-US" altLang="zh-CN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32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1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56" y="1297803"/>
                <a:ext cx="7767776" cy="397545"/>
              </a:xfrm>
              <a:prstGeom prst="rect">
                <a:avLst/>
              </a:prstGeom>
              <a:blipFill rotWithShape="1">
                <a:blip r:embed="rId2"/>
                <a:stretch>
                  <a:fillRect l="-5" t="-20411" r="2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528057" y="2084281"/>
            <a:ext cx="3426009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32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FSOI+ËÎÌå"/>
              </a:rPr>
              <a:t>选最大最小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92737" y="2635398"/>
            <a:ext cx="7535142" cy="1500411"/>
            <a:chOff x="1289784" y="3096017"/>
            <a:chExt cx="8010013" cy="1417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6"/>
                <p:cNvSpPr txBox="1"/>
                <p:nvPr/>
              </p:nvSpPr>
              <p:spPr>
                <a:xfrm>
                  <a:off x="1289784" y="3096017"/>
                  <a:ext cx="8010013" cy="1417750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>
                    <a:lnSpc>
                      <a:spcPts val="3115"/>
                    </a:lnSpc>
                    <a:spcBef>
                      <a:spcPts val="640"/>
                    </a:spcBef>
                    <a:spcAft>
                      <a:spcPts val="640"/>
                    </a:spcAft>
                  </a:pPr>
                  <a:r>
                    <a:rPr sz="3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•</a:t>
                  </a:r>
                  <a:r>
                    <a:rPr sz="3200" b="1" spc="13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选最大</a:t>
                  </a:r>
                  <a:r>
                    <a:rPr lang="en-US" sz="3200" b="1" spc="13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+</a:t>
                  </a:r>
                  <a:r>
                    <a:rPr sz="3200" b="1" spc="-1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sz="3200" b="1" spc="13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选最小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:r>
                    <a:rPr sz="3200" b="1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比较次数</a:t>
                  </a:r>
                  <a:r>
                    <a:rPr sz="3200" spc="-64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sz="32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CN" sz="3200" b="1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− </m:t>
                      </m:r>
                    </m:oMath>
                  </a14:m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</a:p>
                <a:p>
                  <a:pPr>
                    <a:lnSpc>
                      <a:spcPts val="3130"/>
                    </a:lnSpc>
                    <a:spcBef>
                      <a:spcPts val="640"/>
                    </a:spcBef>
                    <a:spcAft>
                      <a:spcPts val="640"/>
                    </a:spcAft>
                  </a:pP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•</a:t>
                  </a:r>
                  <a:r>
                    <a:rPr sz="3200" b="1" spc="12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分组：比较次数</a:t>
                  </a:r>
                  <a:r>
                    <a:rPr sz="3200" b="1" spc="64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spc="64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  </a:t>
                  </a:r>
                </a:p>
                <a:p>
                  <a:pPr>
                    <a:lnSpc>
                      <a:spcPts val="3130"/>
                    </a:lnSpc>
                    <a:spcBef>
                      <a:spcPts val="640"/>
                    </a:spcBef>
                    <a:spcAft>
                      <a:spcPts val="640"/>
                    </a:spcAft>
                  </a:pPr>
                  <a:r>
                    <a:rPr lang="en-US" altLang="zh-CN"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•</a:t>
                  </a:r>
                  <a:r>
                    <a:rPr sz="3200" b="1" spc="13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分治</a:t>
                  </a:r>
                  <a:r>
                    <a:rPr sz="3200" spc="13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：</a:t>
                  </a:r>
                  <a:r>
                    <a:rPr sz="3200" b="1" i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n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=2</a:t>
                  </a:r>
                  <a:r>
                    <a:rPr sz="3200" b="1" i="1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k</a:t>
                  </a:r>
                  <a:r>
                    <a:rPr sz="3200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，</a:t>
                  </a:r>
                  <a:r>
                    <a:rPr sz="3200" b="1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比较次数</a:t>
                  </a:r>
                  <a:r>
                    <a:rPr sz="3200" spc="627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sz="32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n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/2</a:t>
                  </a:r>
                  <a:r>
                    <a:rPr lang="en-US" altLang="zh-CN" sz="32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− </m:t>
                      </m:r>
                    </m:oMath>
                  </a14:m>
                  <a:r>
                    <a:rPr sz="32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784" y="3096017"/>
                  <a:ext cx="8010013" cy="141775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4425708" y="3535247"/>
                  <a:ext cx="2203373" cy="465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⌈"/>
                            <m:endChr m:val="⌉"/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3200" b="1" dirty="0"/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5708" y="3535247"/>
                  <a:ext cx="2203373" cy="46531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80730" y="2735587"/>
            <a:ext cx="3777691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40"/>
              </a:lnSpc>
            </a:pPr>
            <a:r>
              <a:rPr sz="6600" b="1" spc="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选第二大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6323" y="93533"/>
            <a:ext cx="830809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选第二大</a:t>
            </a:r>
            <a:endParaRPr sz="32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FLNVWC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323" y="1259315"/>
            <a:ext cx="783574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输入：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个数的数组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6323" y="1756520"/>
            <a:ext cx="732160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输出：第二大的数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second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6324" y="2384909"/>
            <a:ext cx="491803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通常算法：</a:t>
            </a: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顺序比较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7199" y="2871230"/>
            <a:ext cx="7961708" cy="833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．顺序比较找到最大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max</a:t>
            </a:r>
          </a:p>
          <a:p>
            <a:pPr>
              <a:lnSpc>
                <a:spcPts val="3130"/>
              </a:lnSpc>
              <a:spcBef>
                <a:spcPts val="570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．从剩下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lang="en-US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-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个数中找最大，就是第二大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second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6324" y="4260678"/>
            <a:ext cx="2293924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5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43341" y="4783910"/>
            <a:ext cx="531997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sz="2800" b="1" spc="16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498" y="120655"/>
            <a:ext cx="790638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提高效率的途径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0566" y="1061097"/>
            <a:ext cx="8198322" cy="3513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29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sz="24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成为第二大数的条件：仅在与最大</a:t>
            </a:r>
            <a:r>
              <a:rPr sz="2400" b="1" spc="13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数的比较中被淘汰</a:t>
            </a: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.</a:t>
            </a:r>
            <a:endParaRPr 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  <a:p>
            <a:pPr marL="28829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4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要确定第二大数，必须知道最大数</a:t>
            </a:r>
            <a:endParaRPr lang="en-US" altLang="zh-CN" sz="24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FLNVWC+ËÎÌå"/>
            </a:endParaRPr>
          </a:p>
          <a:p>
            <a:pPr marL="28829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4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在确定最大数的过程中记录下被最</a:t>
            </a:r>
            <a:r>
              <a:rPr lang="zh-CN" altLang="en-US" sz="24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大数直接淘汰的元素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.</a:t>
            </a:r>
            <a:endParaRPr 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  <a:p>
            <a:pPr marL="28829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4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被最大数直接淘汰的</a:t>
            </a:r>
            <a:r>
              <a:rPr lang="zh-CN" altLang="en-US" sz="24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数内的最大数就是第二大数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.</a:t>
            </a:r>
          </a:p>
          <a:p>
            <a:pPr marL="28829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4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设计思想：</a:t>
            </a:r>
            <a:r>
              <a:rPr lang="zh-CN" altLang="en-US" sz="2400" b="1" spc="-7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zh-CN" altLang="en-US" sz="24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用空间换时间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  <a:p>
            <a:pPr>
              <a:lnSpc>
                <a:spcPts val="2850"/>
              </a:lnSpc>
            </a:pP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  <a:p>
            <a:pPr>
              <a:lnSpc>
                <a:spcPts val="2850"/>
              </a:lnSpc>
            </a:pPr>
            <a:endParaRPr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35782"/>
            <a:ext cx="9150350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5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94" y="149165"/>
            <a:ext cx="842424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锦标赛算法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40" y="1199490"/>
            <a:ext cx="8277769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两两分组比较，大者进入下一轮，直到剩下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sz="2800" b="1" i="1" spc="-2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4331" y="2454586"/>
            <a:ext cx="8277768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在每次比较中淘汰较小元素，将被淘汰元素记录在淘汰它的元素的链表上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9042" y="3924459"/>
            <a:ext cx="8102697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检查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sz="2800" b="1" i="1" spc="-2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的链表，从中找到最大</a:t>
            </a:r>
            <a:r>
              <a:rPr lang="zh-CN" alt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元，即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second</a:t>
            </a:r>
          </a:p>
          <a:p>
            <a:pPr algn="just">
              <a:lnSpc>
                <a:spcPts val="3065"/>
              </a:lnSpc>
            </a:pPr>
            <a:endParaRPr sz="2800" b="1" spc="16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85333" y="160330"/>
            <a:ext cx="1778507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1343" y="1216290"/>
            <a:ext cx="7642088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算法</a:t>
            </a:r>
            <a:r>
              <a:rPr sz="2800" b="1" spc="62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FindSecond</a:t>
            </a:r>
            <a:endParaRPr 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  <a:p>
            <a:r>
              <a:rPr lang="zh-CN" altLang="en-US"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输入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: n</a:t>
            </a:r>
            <a:r>
              <a:rPr lang="zh-CN" altLang="en-US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个数的数组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L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,</a:t>
            </a:r>
            <a:r>
              <a:rPr lang="zh-CN" altLang="en-US" sz="2800" b="1" spc="63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输出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: second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44886" y="2398922"/>
                <a:ext cx="8264983" cy="795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1</a:t>
                </a:r>
                <a:r>
                  <a:rPr sz="2800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lang="en-US" altLang="zh-CN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k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n</a:t>
                </a:r>
                <a:r>
                  <a:rPr sz="2800" b="1" i="1" spc="1897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//</a:t>
                </a:r>
                <a:r>
                  <a:rPr sz="2800" b="1" spc="-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参与淘汰的元素数</a:t>
                </a:r>
              </a:p>
              <a:p>
                <a:pPr>
                  <a:lnSpc>
                    <a:spcPts val="3060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2</a:t>
                </a:r>
                <a:r>
                  <a:rPr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．将</a:t>
                </a:r>
                <a:r>
                  <a:rPr lang="en-US"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k</a:t>
                </a:r>
                <a:r>
                  <a:rPr lang="en-US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个元素两两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1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组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,</a:t>
                </a:r>
                <a:r>
                  <a:rPr sz="2800" b="1" spc="-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spc="12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分成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/2</m:t>
                        </m:r>
                      </m:e>
                    </m:d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组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86" y="2398922"/>
                <a:ext cx="8264983" cy="795089"/>
              </a:xfrm>
              <a:prstGeom prst="rect">
                <a:avLst/>
              </a:prstGeom>
              <a:blipFill rotWithShape="1">
                <a:blip r:embed="rId2"/>
                <a:stretch>
                  <a:fillRect l="-1" t="-66" r="6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6722101" y="2576271"/>
            <a:ext cx="57150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一</a:t>
            </a:r>
          </a:p>
          <a:p>
            <a:pPr>
              <a:lnSpc>
                <a:spcPts val="1915"/>
              </a:lnSpc>
              <a:spcBef>
                <a:spcPts val="385"/>
              </a:spcBef>
            </a:pPr>
            <a:r>
              <a:rPr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4885" y="3240315"/>
            <a:ext cx="595986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每组的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个数比较，找到较大数</a:t>
            </a:r>
            <a:endParaRPr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FLNVWC+ËÎÌå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7046" y="3624579"/>
            <a:ext cx="5715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5"/>
              </a:lnSpc>
            </a:pPr>
            <a:r>
              <a:rPr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4886" y="3672521"/>
            <a:ext cx="561267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3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4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</a:t>
            </a: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将被淘汰数记入较大数的链表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544885" y="4074752"/>
                <a:ext cx="8067239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5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if</a:t>
                </a:r>
                <a:r>
                  <a:rPr lang="en-US" sz="2800" b="1" spc="614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k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为奇数</a:t>
                </a:r>
                <a:r>
                  <a:rPr lang="zh-CN" altLang="en-US" sz="2800" b="1" spc="638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then</a:t>
                </a:r>
                <a:r>
                  <a:rPr lang="en-US" sz="2800" b="1" spc="64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k</a:t>
                </a:r>
                <a:r>
                  <a:rPr lang="en-US" sz="2800" b="1" spc="1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ar-AE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2</m:t>
                        </m:r>
                      </m:e>
                    </m:d>
                    <m:r>
                      <a:rPr lang="ar-AE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+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𝟏</m:t>
                    </m:r>
                  </m:oMath>
                </a14:m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85" y="4074752"/>
                <a:ext cx="8067239" cy="397545"/>
              </a:xfrm>
              <a:prstGeom prst="rect">
                <a:avLst/>
              </a:prstGeom>
              <a:blipFill rotWithShape="1">
                <a:blip r:embed="rId3"/>
                <a:stretch>
                  <a:fillRect l="-1" t="-6059" r="3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544885" y="4540163"/>
                <a:ext cx="7889269" cy="119263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6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else</a:t>
                </a:r>
                <a:r>
                  <a:rPr sz="2800" b="1" spc="607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k</a:t>
                </a:r>
                <a:r>
                  <a:rPr lang="en-US" altLang="zh-CN" sz="2800" b="1" spc="1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ar-AE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/>
                          </a:rPr>
                          <m:t>2</m:t>
                        </m:r>
                      </m:e>
                    </m:d>
                  </m:oMath>
                </a14:m>
                <a:endParaRPr lang="en-US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  <a:p>
                <a:pPr>
                  <a:lnSpc>
                    <a:spcPts val="3125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7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if</a:t>
                </a:r>
                <a:r>
                  <a:rPr sz="2800" b="1" spc="62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k</a:t>
                </a:r>
                <a:r>
                  <a:rPr lang="en-US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&gt;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1</a:t>
                </a:r>
                <a:r>
                  <a:rPr sz="2800" b="1" spc="62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then</a:t>
                </a:r>
                <a:r>
                  <a:rPr sz="2800" b="1" spc="645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goto</a:t>
                </a:r>
                <a:r>
                  <a:rPr sz="2800" b="1" spc="-1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2</a:t>
                </a:r>
              </a:p>
              <a:p>
                <a:pPr>
                  <a:lnSpc>
                    <a:spcPts val="3060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8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max</a:t>
                </a:r>
                <a:r>
                  <a:rPr sz="2800" b="1" i="1" spc="-18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:r>
                  <a:rPr sz="2800" b="1" spc="12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最大数</a:t>
                </a:r>
                <a:endParaRPr sz="2800" b="1" spc="12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FLNVWC+ËÎÌå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85" y="4540163"/>
                <a:ext cx="7889269" cy="1192634"/>
              </a:xfrm>
              <a:prstGeom prst="rect">
                <a:avLst/>
              </a:prstGeom>
              <a:blipFill rotWithShape="1">
                <a:blip r:embed="rId4"/>
                <a:stretch>
                  <a:fillRect l="-1" t="-2016" r="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544886" y="5761847"/>
            <a:ext cx="7533328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9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second</a:t>
            </a:r>
            <a:r>
              <a:rPr sz="2800" b="1" i="1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ATJSN+Symbol"/>
              </a:rPr>
              <a:t>  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max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的链表中的最大</a:t>
            </a:r>
          </a:p>
        </p:txBody>
      </p:sp>
      <p:sp>
        <p:nvSpPr>
          <p:cNvPr id="16" name="矩形 15"/>
          <p:cNvSpPr/>
          <p:nvPr/>
        </p:nvSpPr>
        <p:spPr>
          <a:xfrm>
            <a:off x="6601863" y="3124570"/>
            <a:ext cx="545342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25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淘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315340" y="2638345"/>
            <a:ext cx="47458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4684503" y="4282164"/>
            <a:ext cx="47458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2353415" y="4774286"/>
            <a:ext cx="47458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1789927" y="5580371"/>
            <a:ext cx="47458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2378814" y="5998944"/>
            <a:ext cx="47458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1"/>
          <p:cNvSpPr/>
          <p:nvPr/>
        </p:nvSpPr>
        <p:spPr>
          <a:xfrm>
            <a:off x="2678493" y="5172756"/>
            <a:ext cx="645270" cy="901192"/>
          </a:xfrm>
          <a:prstGeom prst="rect">
            <a:avLst/>
          </a:prstGeom>
          <a:blipFill>
            <a:blip r:embed="rId2" cstate="print"/>
            <a:srcRect/>
            <a:stretch>
              <a:fillRect l="-255302" t="-497879" r="-1274218" b="-30456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1"/>
          <p:cNvSpPr/>
          <p:nvPr/>
        </p:nvSpPr>
        <p:spPr>
          <a:xfrm>
            <a:off x="4120641" y="3526362"/>
            <a:ext cx="645270" cy="901192"/>
          </a:xfrm>
          <a:prstGeom prst="rect">
            <a:avLst/>
          </a:prstGeom>
          <a:blipFill>
            <a:blip r:embed="rId2" cstate="print"/>
            <a:srcRect/>
            <a:stretch>
              <a:fillRect l="-255302" t="-497879" r="-1274218" b="-30456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1"/>
          <p:cNvSpPr/>
          <p:nvPr/>
        </p:nvSpPr>
        <p:spPr>
          <a:xfrm>
            <a:off x="1618255" y="4529941"/>
            <a:ext cx="3098308" cy="673906"/>
          </a:xfrm>
          <a:prstGeom prst="rect">
            <a:avLst/>
          </a:prstGeom>
          <a:blipFill>
            <a:blip r:embed="rId2" cstate="print"/>
            <a:srcRect/>
            <a:stretch>
              <a:fillRect l="-1" t="-552249" r="-192357" b="-175335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1"/>
          <p:cNvSpPr/>
          <p:nvPr/>
        </p:nvSpPr>
        <p:spPr>
          <a:xfrm>
            <a:off x="2678493" y="3528302"/>
            <a:ext cx="605232" cy="901192"/>
          </a:xfrm>
          <a:prstGeom prst="rect">
            <a:avLst/>
          </a:prstGeom>
          <a:blipFill>
            <a:blip r:embed="rId2" cstate="print"/>
            <a:srcRect/>
            <a:stretch>
              <a:fillRect l="-277611" t="-497879" r="-1359708" b="-30456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1"/>
          <p:cNvSpPr/>
          <p:nvPr/>
        </p:nvSpPr>
        <p:spPr>
          <a:xfrm>
            <a:off x="1429121" y="1974120"/>
            <a:ext cx="6988738" cy="916998"/>
          </a:xfrm>
          <a:prstGeom prst="rect">
            <a:avLst/>
          </a:prstGeom>
          <a:blipFill>
            <a:blip r:embed="rId2" cstate="print"/>
            <a:srcRect/>
            <a:stretch>
              <a:fillRect t="-261094" r="-34262" b="-434308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1"/>
          <p:cNvSpPr/>
          <p:nvPr/>
        </p:nvSpPr>
        <p:spPr>
          <a:xfrm>
            <a:off x="1765983" y="2842187"/>
            <a:ext cx="4045695" cy="722275"/>
          </a:xfrm>
          <a:prstGeom prst="rect">
            <a:avLst/>
          </a:prstGeom>
          <a:blipFill>
            <a:blip r:embed="rId2" cstate="print"/>
            <a:srcRect/>
            <a:stretch>
              <a:fillRect l="-8006" t="-420655" r="-131398" b="-433444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1"/>
          <p:cNvSpPr/>
          <p:nvPr/>
        </p:nvSpPr>
        <p:spPr>
          <a:xfrm>
            <a:off x="1516100" y="1329227"/>
            <a:ext cx="6757043" cy="620323"/>
          </a:xfrm>
          <a:prstGeom prst="rect">
            <a:avLst/>
          </a:prstGeom>
          <a:blipFill>
            <a:blip r:embed="rId2" cstate="print"/>
            <a:srcRect/>
            <a:stretch>
              <a:fillRect t="-247104" r="-34262" b="-74079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3807" y="111428"/>
            <a:ext cx="828550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998" y="1645153"/>
            <a:ext cx="102062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0"/>
              </a:lnSpc>
            </a:pPr>
            <a:r>
              <a:rPr sz="2800" spc="1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分组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91568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93193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94919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96646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98626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00224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01951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03931" y="158709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49272" y="2301435"/>
            <a:ext cx="45876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08057" y="2301435"/>
            <a:ext cx="45876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44818" y="2301435"/>
            <a:ext cx="45876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14020" y="2301435"/>
            <a:ext cx="45876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51026" y="4813931"/>
            <a:ext cx="148565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  <a:spcBef>
                <a:spcPts val="7690"/>
              </a:spcBef>
            </a:pPr>
            <a:r>
              <a:rPr sz="2800" spc="1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分组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</a:t>
            </a:r>
            <a:endParaRPr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6621" y="314360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14986" y="314360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33475" y="3143607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937979" y="3964854"/>
            <a:ext cx="89056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26376" y="3964854"/>
            <a:ext cx="890689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215165" y="4831852"/>
            <a:ext cx="50999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</a:p>
        </p:txBody>
      </p:sp>
      <p:sp>
        <p:nvSpPr>
          <p:cNvPr id="27" name="object 17"/>
          <p:cNvSpPr txBox="1"/>
          <p:nvPr/>
        </p:nvSpPr>
        <p:spPr>
          <a:xfrm>
            <a:off x="1211864" y="3158467"/>
            <a:ext cx="1030757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800" spc="1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分组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endParaRPr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38982" y="3089844"/>
            <a:ext cx="340158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527903" y="4778089"/>
            <a:ext cx="340158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  <a:spcBef>
                <a:spcPts val="769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</a:p>
        </p:txBody>
      </p:sp>
      <p:sp>
        <p:nvSpPr>
          <p:cNvPr id="32" name="object 22"/>
          <p:cNvSpPr txBox="1"/>
          <p:nvPr/>
        </p:nvSpPr>
        <p:spPr>
          <a:xfrm>
            <a:off x="2982413" y="5602913"/>
            <a:ext cx="23275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lang="en-US"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  <a:endParaRPr sz="2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 animBg="1"/>
      <p:bldP spid="35" grpId="0" animBg="1"/>
      <p:bldP spid="34" grpId="0" animBg="1"/>
      <p:bldP spid="33" grpId="0" animBg="1"/>
      <p:bldP spid="30" grpId="0" animBg="1"/>
      <p:bldP spid="29" grpId="0" animBg="1"/>
      <p:bldP spid="4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7" grpId="0"/>
      <p:bldP spid="2" grpId="0"/>
      <p:bldP spid="25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95022" y="137550"/>
            <a:ext cx="4323588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5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74967" y="1178150"/>
                <a:ext cx="8305525" cy="8617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sz="2800" b="1" spc="13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命题</a:t>
                </a:r>
                <a:r>
                  <a:rPr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sz="2800" b="1" spc="625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设参与比较的有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 </a:t>
                </a:r>
                <a:r>
                  <a:rPr sz="2800" b="1" spc="12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个元素，经过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sz="2800" b="1" i="1" spc="-1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12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轮淘汰后元素数至多为</a:t>
                </a:r>
                <a:r>
                  <a:rPr sz="2800" b="1" spc="65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67" y="1178150"/>
                <a:ext cx="8305525" cy="861774"/>
              </a:xfrm>
              <a:prstGeom prst="rect">
                <a:avLst/>
              </a:prstGeom>
              <a:blipFill rotWithShape="1">
                <a:blip r:embed="rId2"/>
                <a:stretch>
                  <a:fillRect l="-7" t="-26" r="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47296" y="2552015"/>
                <a:ext cx="8333196" cy="8617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</a:t>
                </a:r>
                <a:r>
                  <a:rPr lang="zh-CN" altLang="en-US" sz="2800" b="1" spc="63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:r>
                  <a:rPr lang="zh-CN" altLang="en-US" sz="2800" b="1" spc="1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归纳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800" b="1" spc="63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1,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分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CN" altLang="en-US" sz="2800" b="1" i="1" spc="-19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b="1" spc="12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组，淘汰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CN" altLang="en-US" sz="2800" b="1" i="1" spc="-19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个元素，进入下一轮元素数是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𝐭</m:t>
                    </m:r>
                    <m:r>
                      <a:rPr lang="en-US" altLang="zh-CN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8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zh-CN" altLang="en-US" sz="2550" b="1" spc="12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96" y="2552015"/>
                <a:ext cx="8333196" cy="861774"/>
              </a:xfrm>
              <a:prstGeom prst="rect">
                <a:avLst/>
              </a:prstGeom>
              <a:blipFill rotWithShape="1">
                <a:blip r:embed="rId3"/>
                <a:stretch>
                  <a:fillRect l="-3" t="-68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432780" y="3923992"/>
                <a:ext cx="8281861" cy="8617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假设</a:t>
                </a:r>
                <a:r>
                  <a:rPr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轮分组淘汰后元素数至多为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</a:t>
                </a:r>
                <a:r>
                  <a:rPr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轮分组淘汰后元素数为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80" y="3923992"/>
                <a:ext cx="8281861" cy="861774"/>
              </a:xfrm>
              <a:prstGeom prst="rect">
                <a:avLst/>
              </a:prstGeom>
              <a:blipFill rotWithShape="1">
                <a:blip r:embed="rId4"/>
                <a:stretch>
                  <a:fillRect l="-4" t="-10354" r="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539044" y="4898705"/>
                <a:ext cx="3421899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32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zh-CN" altLang="en-US" sz="3200" b="1" i="1" spc="16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CN" sz="3200" b="1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altLang="zh-CN" sz="3200" b="1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nor/>
                              </m:rPr>
                              <a:rPr lang="en-US" altLang="zh-CN" sz="3200" b="1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CN" sz="3200" b="1" baseline="30000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CN" sz="3200" b="1" dirty="0" smtClean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3200" b="1" dirty="0" smtClean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3200" b="1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sz="3200" b="1" i="1" spc="16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32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32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3200" b="1" i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CN" sz="3200" b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3200" b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1 </m:t>
                        </m:r>
                      </m:e>
                    </m:d>
                  </m:oMath>
                </a14:m>
                <a:endPara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044" y="4898705"/>
                <a:ext cx="3421899" cy="648191"/>
              </a:xfrm>
              <a:prstGeom prst="rect">
                <a:avLst/>
              </a:prstGeom>
              <a:blipFill rotWithShape="1">
                <a:blip r:embed="rId5"/>
                <a:stretch>
                  <a:fillRect l="-9" t="-8670" r="6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5186" y="169695"/>
            <a:ext cx="8484191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65186" y="1213783"/>
                <a:ext cx="8142245" cy="795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lnSpc>
                    <a:spcPts val="3070"/>
                  </a:lnSpc>
                </a:pPr>
                <a:r>
                  <a:rPr lang="zh-CN" altLang="en-US" sz="2800" b="1" spc="18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命题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b="1" spc="67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max </a:t>
                </a:r>
                <a:r>
                  <a:rPr lang="zh-CN" altLang="en-US" sz="2800" b="1" spc="16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在第一阶段分组比较中总计进行了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  <m:t>𝐥𝐨𝐠</m:t>
                            </m:r>
                          </m:fName>
                          <m:e>
                            <m: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8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次比较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86" y="1213783"/>
                <a:ext cx="8142245" cy="795089"/>
              </a:xfrm>
              <a:prstGeom prst="rect">
                <a:avLst/>
              </a:prstGeom>
              <a:blipFill rotWithShape="1">
                <a:blip r:embed="rId2"/>
                <a:stretch>
                  <a:fillRect l="-4" t="-1795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83330" y="2328496"/>
                <a:ext cx="7986947" cy="795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lnSpc>
                    <a:spcPts val="3070"/>
                  </a:lnSpc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</a:t>
                </a:r>
                <a:r>
                  <a:rPr lang="zh-CN" altLang="en-US" sz="2800" b="1" spc="138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假设到产生</a:t>
                </a:r>
                <a:r>
                  <a:rPr lang="zh-CN" altLang="en-US"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max </a:t>
                </a:r>
                <a:r>
                  <a:rPr lang="zh-CN" altLang="en-US" sz="2800" b="1" spc="16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时总计进行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800" b="1" i="1" spc="-1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轮淘汰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根据命题</a:t>
                </a:r>
                <a:r>
                  <a:rPr lang="zh-CN" altLang="en-US"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有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1" i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𝟏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30" y="2328496"/>
                <a:ext cx="7986947" cy="795089"/>
              </a:xfrm>
              <a:prstGeom prst="rect">
                <a:avLst/>
              </a:prstGeom>
              <a:blipFill rotWithShape="1">
                <a:blip r:embed="rId3"/>
                <a:stretch>
                  <a:fillRect l="-1" t="-183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497844" y="3443205"/>
            <a:ext cx="2885490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7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sz="2800" b="1" i="1" spc="-1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，那么有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666588" y="3929069"/>
                <a:ext cx="5388547" cy="43510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0"/>
                  </a:lnSpc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sz="28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log</a:t>
                </a:r>
                <a:r>
                  <a:rPr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  <m:t>𝐥𝐨𝐠</m:t>
                            </m:r>
                          </m:fName>
                          <m:e>
                            <m: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588" y="3929069"/>
                <a:ext cx="5388547" cy="435109"/>
              </a:xfrm>
              <a:prstGeom prst="rect">
                <a:avLst/>
              </a:prstGeom>
              <a:blipFill rotWithShape="1">
                <a:blip r:embed="rId4"/>
                <a:stretch>
                  <a:fillRect l="-6" t="-74" r="5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497844" y="4643757"/>
                <a:ext cx="8066045" cy="88485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070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若 2</a:t>
                </a:r>
                <a:r>
                  <a:rPr sz="2800" b="1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sz="2800" b="1" i="1" spc="-243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&lt;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&lt; 2</a:t>
                </a:r>
                <a:r>
                  <a:rPr sz="2800" b="1" i="1" spc="-1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sz="2800" b="1" spc="-12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+1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sz="2800" b="1" spc="137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</a:t>
                </a:r>
              </a:p>
              <a:p>
                <a:pPr marL="1139190">
                  <a:lnSpc>
                    <a:spcPts val="3390"/>
                  </a:lnSpc>
                  <a:spcBef>
                    <a:spcPts val="445"/>
                  </a:spcBef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+ 1 =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  <m:t>𝐥𝐨𝐠</m:t>
                            </m:r>
                          </m:fName>
                          <m:e>
                            <m: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4" y="4643757"/>
                <a:ext cx="8066045" cy="884858"/>
              </a:xfrm>
              <a:prstGeom prst="rect">
                <a:avLst/>
              </a:prstGeom>
              <a:blipFill rotWithShape="1">
                <a:blip r:embed="rId5"/>
                <a:stretch>
                  <a:fillRect t="-11626" r="3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3243" y="154644"/>
            <a:ext cx="8538518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23243" y="1173101"/>
                <a:ext cx="3337884" cy="124393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070"/>
                  </a:lnSpc>
                </a:pPr>
                <a:r>
                  <a:rPr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第一阶段元素数：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</a:p>
              <a:p>
                <a:pPr>
                  <a:lnSpc>
                    <a:spcPts val="3315"/>
                  </a:lnSpc>
                </a:pPr>
                <a:r>
                  <a:rPr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比较次数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sz="2800" b="1" spc="65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solidFill>
                      <a:srgbClr val="0000FF"/>
                    </a:solidFill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 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  <a:p>
                <a:pPr>
                  <a:lnSpc>
                    <a:spcPts val="3315"/>
                  </a:lnSpc>
                </a:pPr>
                <a:r>
                  <a:rPr sz="2800" b="1" spc="16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淘汰了</a:t>
                </a:r>
                <a:r>
                  <a:rPr sz="2800" b="1" spc="-2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solidFill>
                      <a:srgbClr val="000000"/>
                    </a:solidFill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 </m:t>
                    </m:r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个元素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43" y="1173101"/>
                <a:ext cx="3337884" cy="1243930"/>
              </a:xfrm>
              <a:prstGeom prst="rect">
                <a:avLst/>
              </a:prstGeom>
              <a:blipFill rotWithShape="1">
                <a:blip r:embed="rId2"/>
                <a:stretch>
                  <a:fillRect t="-1144" r="1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523243" y="2674233"/>
                <a:ext cx="8132359" cy="130805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0"/>
                  </a:lnSpc>
                </a:pP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第二阶段：元素数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pc="16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</m:oMath>
                </a14:m>
                <a:endParaRPr lang="zh-CN" altLang="en-US" sz="2800" b="1" spc="-35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390"/>
                  </a:lnSpc>
                </a:pPr>
                <a:r>
                  <a:rPr lang="zh-CN" altLang="en-US"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比较次数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800" b="1" spc="65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pc="16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𝟏</m:t>
                    </m:r>
                  </m:oMath>
                </a14:m>
                <a:endParaRPr lang="en-US" altLang="zh-CN" sz="2800" b="1" spc="16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390"/>
                  </a:lnSpc>
                </a:pP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淘汰元素数为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pc="16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𝟏</m:t>
                    </m:r>
                  </m:oMath>
                </a14:m>
                <a:endParaRPr lang="en-US" altLang="zh-CN" sz="2800" b="1" spc="16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43" y="2674233"/>
                <a:ext cx="8132359" cy="1308050"/>
              </a:xfrm>
              <a:prstGeom prst="rect">
                <a:avLst/>
              </a:prstGeom>
              <a:blipFill rotWithShape="1">
                <a:blip r:embed="rId3"/>
                <a:stretch>
                  <a:fillRect t="-19" r="7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599444" y="4271944"/>
            <a:ext cx="248716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488218" y="4632823"/>
                <a:ext cx="3900966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5"/>
                  </a:lnSpc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sz="2800" b="1" spc="-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sz="28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sz="2800" b="1" i="1" spc="16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 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sz="2800" b="1" spc="-19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ar-AE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ar-AE" altLang="zh-CN" sz="2800" b="1" i="1" spc="16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ar-AE" altLang="zh-CN" sz="2800" b="1" dirty="0">
                    <a:solidFill>
                      <a:srgbClr val="C00000"/>
                    </a:solidFill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zh-CN" sz="28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 </m:t>
                    </m:r>
                  </m:oMath>
                </a14:m>
                <a:r>
                  <a:rPr lang="ar-AE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218" y="4632823"/>
                <a:ext cx="3900966" cy="436017"/>
              </a:xfrm>
              <a:prstGeom prst="rect">
                <a:avLst/>
              </a:prstGeom>
              <a:blipFill rotWithShape="1">
                <a:blip r:embed="rId4"/>
                <a:stretch>
                  <a:fillRect l="-7" t="-114" r="1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3276743" y="5177342"/>
                <a:ext cx="2763774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0"/>
                  </a:lnSpc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sz="2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 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en-US" sz="2800" b="1" spc="16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ar-AE" altLang="zh-CN" sz="2800" b="1" i="1" spc="16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ar-AE" altLang="zh-CN" sz="2800" b="1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zh-C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/>
                      </a:rPr>
                      <m:t>−</m:t>
                    </m:r>
                    <m:r>
                      <a:rPr lang="zh-CN" altLang="en-US" sz="2800" b="1" i="1" dirty="0" smtClean="0">
                        <a:solidFill>
                          <a:schemeClr val="tx1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/>
                      </a:rPr>
                      <m:t>𝟐</m:t>
                    </m:r>
                  </m:oMath>
                </a14:m>
                <a:endParaRPr lang="ar-AE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743" y="5177342"/>
                <a:ext cx="2763774" cy="436017"/>
              </a:xfrm>
              <a:prstGeom prst="rect">
                <a:avLst/>
              </a:prstGeom>
              <a:blipFill rotWithShape="1">
                <a:blip r:embed="rId5"/>
                <a:stretch>
                  <a:fillRect l="-5" t="-43" r="14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5248" y="89375"/>
            <a:ext cx="834837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7108" y="1346308"/>
            <a:ext cx="267340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75"/>
              </a:lnSpc>
            </a:pPr>
            <a:r>
              <a:rPr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求第二大算法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7110" y="2038470"/>
            <a:ext cx="43340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40"/>
              </a:lnSpc>
            </a:pP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r>
              <a:rPr sz="3200" b="1" spc="108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调用2次找最大：2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17108" y="2689921"/>
                <a:ext cx="7914840" cy="4616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645"/>
                  </a:lnSpc>
                </a:pPr>
                <a:r>
                  <a:rPr sz="3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•</a:t>
                </a:r>
                <a:r>
                  <a:rPr sz="3200" b="1" spc="1083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3200" b="1" spc="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锦标赛算法： </a:t>
                </a:r>
                <a:r>
                  <a:rPr sz="32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 </a:t>
                </a:r>
                <a:r>
                  <a:rPr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3200" b="1" i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sz="3200" b="1" spc="1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08" y="2689921"/>
                <a:ext cx="7914840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" t="-563" r="5" b="-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957319" y="3371880"/>
            <a:ext cx="492462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70"/>
              </a:lnSpc>
            </a:pPr>
            <a:r>
              <a:rPr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主要的技术：用空间换时间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7694" y="2219732"/>
            <a:ext cx="7108799" cy="1718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6125"/>
              </a:lnSpc>
            </a:pPr>
            <a:r>
              <a:rPr sz="6600" b="1" spc="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一般选择问题</a:t>
            </a:r>
          </a:p>
          <a:p>
            <a:pPr marL="392430" algn="ctr">
              <a:lnSpc>
                <a:spcPts val="6125"/>
              </a:lnSpc>
              <a:spcBef>
                <a:spcPts val="1225"/>
              </a:spcBef>
            </a:pPr>
            <a:r>
              <a:rPr sz="6600" b="1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的算法设计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9595" y="99615"/>
            <a:ext cx="8131059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一般性选择问题</a:t>
            </a:r>
            <a:endParaRPr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21559" y="1198327"/>
                <a:ext cx="8180025" cy="795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015"/>
                  </a:lnSpc>
                </a:pPr>
                <a:r>
                  <a:rPr lang="zh-CN" altLang="en-US" sz="2800" b="1" spc="14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问题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：选第</a:t>
                </a:r>
                <a:r>
                  <a:rPr lang="zh-CN" altLang="en-US" sz="2800" b="1" spc="-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小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ts val="3015"/>
                  </a:lnSpc>
                  <a:spcBef>
                    <a:spcPts val="195"/>
                  </a:spcBef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输入：数组</a:t>
                </a:r>
                <a:r>
                  <a:rPr lang="zh-CN" altLang="en-US"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的长度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2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正整数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9" y="1198327"/>
                <a:ext cx="8180025" cy="795089"/>
              </a:xfrm>
              <a:prstGeom prst="rect">
                <a:avLst/>
              </a:prstGeom>
              <a:blipFill rotWithShape="1">
                <a:blip r:embed="rId3"/>
                <a:stretch>
                  <a:fillRect l="-3" t="-2486" r="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521558" y="2182981"/>
            <a:ext cx="290347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输出：第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小的数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1559" y="3169264"/>
            <a:ext cx="129738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sz="2800" b="1" spc="-1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6234" y="3657305"/>
            <a:ext cx="8177787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 3,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4,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8,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2,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5,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9,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18 }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4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，解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688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1558" y="4577475"/>
            <a:ext cx="129722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sz="2800" b="1" spc="-1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1558" y="5065154"/>
            <a:ext cx="4103566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统计数据的集合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|=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521558" y="5506400"/>
                <a:ext cx="7754457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5"/>
                  </a:lnSpc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选中位数，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ar-AE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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8" y="5506400"/>
                <a:ext cx="7754457" cy="423193"/>
              </a:xfrm>
              <a:prstGeom prst="rect">
                <a:avLst/>
              </a:prstGeom>
              <a:blipFill rotWithShape="1">
                <a:blip r:embed="rId4"/>
                <a:stretch>
                  <a:fillRect l="-3" t="-74" r="1" b="-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1067" y="96218"/>
            <a:ext cx="8092097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一个应用：管道位置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5566" y="1083952"/>
            <a:ext cx="8303098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问题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：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某区域有</a:t>
            </a:r>
            <a:r>
              <a:rPr lang="en-US" altLang="zh-CN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n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口油井，需要修建输油管道</a:t>
            </a:r>
            <a:r>
              <a:rPr lang="en-US" altLang="zh-CN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.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根据设计要求，水平方向有一条主管道，每口油井修一条垂直方向的支管道通向主管道</a:t>
            </a:r>
            <a:r>
              <a:rPr lang="en-US" altLang="zh-CN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.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如何选择主管道的位置，以使得支管道长度的总和最小？</a:t>
            </a:r>
          </a:p>
        </p:txBody>
      </p:sp>
      <p:sp>
        <p:nvSpPr>
          <p:cNvPr id="6" name="object 1"/>
          <p:cNvSpPr/>
          <p:nvPr/>
        </p:nvSpPr>
        <p:spPr>
          <a:xfrm>
            <a:off x="1119369" y="3218154"/>
            <a:ext cx="7283078" cy="2919887"/>
          </a:xfrm>
          <a:prstGeom prst="rect">
            <a:avLst/>
          </a:prstGeom>
          <a:blipFill>
            <a:blip r:embed="rId2" cstate="print"/>
            <a:srcRect/>
            <a:stretch>
              <a:fillRect t="-112966" r="-63906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490515" y="153711"/>
            <a:ext cx="8208985" cy="5313120"/>
          </a:xfrm>
          <a:prstGeom prst="rect">
            <a:avLst/>
          </a:prstGeom>
          <a:blipFill>
            <a:blip r:embed="rId2" cstate="print"/>
            <a:srcRect/>
            <a:stretch>
              <a:fillRect r="-3109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3530" y="173729"/>
            <a:ext cx="8620009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20"/>
              </a:lnSpc>
            </a:pPr>
            <a:r>
              <a:rPr sz="44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最优解</a:t>
            </a:r>
            <a:r>
              <a:rPr sz="4400" b="1" spc="1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RJIHT+ËÎÌå"/>
              </a:rPr>
              <a:t>:</a:t>
            </a:r>
            <a:r>
              <a:rPr lang="en-US" sz="4400" b="1" spc="1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RJIHT+ËÎÌå"/>
              </a:rPr>
              <a:t> </a:t>
            </a:r>
            <a:r>
              <a:rPr 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y</a:t>
            </a:r>
            <a:r>
              <a:rPr sz="4400" b="1" spc="-17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坐标的中位数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5087" y="1324307"/>
            <a:ext cx="70556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32101" y="1344154"/>
            <a:ext cx="248961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0"/>
              </a:lnSpc>
            </a:pPr>
            <a:r>
              <a:rPr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每条管线增</a:t>
            </a:r>
          </a:p>
          <a:p>
            <a:pPr marL="181610">
              <a:lnSpc>
                <a:spcPts val="2285"/>
              </a:lnSpc>
            </a:pPr>
            <a:r>
              <a:rPr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加</a:t>
            </a:r>
            <a:r>
              <a:rPr lang="el-GR"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Δ</a:t>
            </a:r>
            <a:r>
              <a:rPr sz="2400" spc="12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长度</a:t>
            </a: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FQUWNM+Symbol"/>
              </a:rPr>
              <a:t>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35842" y="2889062"/>
            <a:ext cx="59248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50775" y="2400059"/>
            <a:ext cx="2345674" cy="859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每条管线</a:t>
            </a:r>
          </a:p>
          <a:p>
            <a:pPr>
              <a:lnSpc>
                <a:spcPts val="2040"/>
              </a:lnSpc>
              <a:spcBef>
                <a:spcPts val="410"/>
              </a:spcBef>
            </a:pPr>
            <a:r>
              <a:rPr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增加或减</a:t>
            </a:r>
          </a:p>
          <a:p>
            <a:pPr marL="50165">
              <a:lnSpc>
                <a:spcPts val="2285"/>
              </a:lnSpc>
            </a:pPr>
            <a:r>
              <a:rPr sz="2400" spc="12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少至多</a:t>
            </a:r>
            <a:r>
              <a:rPr lang="el-GR" altLang="zh-CN"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Δ </a:t>
            </a: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FQUWNM+Symbol"/>
              </a:rPr>
              <a:t>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38387" y="3272320"/>
            <a:ext cx="110992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下移</a:t>
            </a:r>
            <a:r>
              <a:rPr sz="2400" spc="-2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QUWNM+Symbol"/>
              </a:rPr>
              <a:t>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56496" y="3717902"/>
            <a:ext cx="1275588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5"/>
              </a:lnSpc>
            </a:pPr>
            <a:r>
              <a:rPr sz="24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</a:t>
            </a:r>
            <a:r>
              <a:rPr sz="2400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个油井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32101" y="3638159"/>
            <a:ext cx="1541587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ts val="2040"/>
              </a:lnSpc>
            </a:pPr>
            <a:r>
              <a:rPr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每条管线</a:t>
            </a:r>
          </a:p>
          <a:p>
            <a:pPr>
              <a:lnSpc>
                <a:spcPts val="2285"/>
              </a:lnSpc>
            </a:pPr>
            <a:r>
              <a:rPr sz="2400" spc="12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减少</a:t>
            </a:r>
            <a:r>
              <a:rPr lang="el-GR" altLang="zh-CN" sz="2400" spc="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Δ</a:t>
            </a:r>
            <a:r>
              <a:rPr sz="2400" spc="12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长度</a:t>
            </a: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FQUWNM+Symbol"/>
              </a:rPr>
              <a:t>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0194" y="6011537"/>
            <a:ext cx="3873245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0"/>
              </a:lnSpc>
            </a:pPr>
            <a:r>
              <a:rPr sz="2700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下移后支管线总长度增加</a:t>
            </a:r>
          </a:p>
        </p:txBody>
      </p:sp>
      <p:sp>
        <p:nvSpPr>
          <p:cNvPr id="16" name="object 4"/>
          <p:cNvSpPr txBox="1"/>
          <p:nvPr/>
        </p:nvSpPr>
        <p:spPr>
          <a:xfrm>
            <a:off x="1212543" y="2545341"/>
            <a:ext cx="70556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lang="en-US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sz="2400" b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/2+1</a:t>
            </a:r>
            <a:endParaRPr sz="2400" b="1" baseline="-30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object 4"/>
          <p:cNvSpPr txBox="1"/>
          <p:nvPr/>
        </p:nvSpPr>
        <p:spPr>
          <a:xfrm>
            <a:off x="1219017" y="5122268"/>
            <a:ext cx="705563" cy="381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sz="2400" b="1" baseline="-30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object 4"/>
          <p:cNvSpPr txBox="1"/>
          <p:nvPr/>
        </p:nvSpPr>
        <p:spPr>
          <a:xfrm>
            <a:off x="1236855" y="4747987"/>
            <a:ext cx="705563" cy="381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sz="2400" b="1" baseline="-30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object 4"/>
          <p:cNvSpPr txBox="1"/>
          <p:nvPr/>
        </p:nvSpPr>
        <p:spPr>
          <a:xfrm>
            <a:off x="1196898" y="3220143"/>
            <a:ext cx="70556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lang="en-US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sz="2400" b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/2</a:t>
            </a:r>
            <a:endParaRPr sz="2400" b="1" baseline="-30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8485" y="134780"/>
            <a:ext cx="8120317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简单的算法</a:t>
            </a:r>
            <a:endParaRPr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337" y="1272251"/>
            <a:ext cx="182270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0"/>
              </a:lnSpc>
            </a:pPr>
            <a:r>
              <a:rPr sz="3200" b="1" spc="1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算法一：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7814" y="1913201"/>
            <a:ext cx="7930988" cy="897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次选最小算法</a:t>
            </a:r>
          </a:p>
          <a:p>
            <a:pPr>
              <a:lnSpc>
                <a:spcPts val="3015"/>
              </a:lnSpc>
              <a:spcBef>
                <a:spcPts val="970"/>
              </a:spcBef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时间复杂度为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n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8337" y="3507779"/>
            <a:ext cx="182300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5"/>
              </a:lnSpc>
            </a:pPr>
            <a:r>
              <a:rPr sz="3200" b="1" spc="1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算法二：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2653" y="4148740"/>
            <a:ext cx="647832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先排序，然后输出第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小的数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4978" y="4742197"/>
            <a:ext cx="774084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时间复杂度为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log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6906" y="119239"/>
            <a:ext cx="8438916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79" y="1093559"/>
            <a:ext cx="826904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5"/>
              </a:lnSpc>
            </a:pPr>
            <a:r>
              <a:rPr sz="2800" b="1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假设元素彼此不等，设计思想：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0321" y="1958381"/>
            <a:ext cx="8269043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-457200" algn="just">
              <a:lnSpc>
                <a:spcPts val="327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sz="2800" b="1" spc="72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某个元素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作为标准将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</a:t>
            </a:r>
            <a:r>
              <a:rPr 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</a:t>
            </a:r>
            <a:r>
              <a:rPr lang="en-US" sz="2800" b="1" spc="12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12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12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的元素小于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12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的元素大于等于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0321" y="3380249"/>
            <a:ext cx="8504463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35"/>
              </a:lnSpc>
            </a:pPr>
            <a:r>
              <a:rPr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2.</a:t>
            </a:r>
            <a:r>
              <a:rPr sz="32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如果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spc="-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则在</a:t>
            </a:r>
            <a:r>
              <a:rPr 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中找第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55227" y="3928589"/>
            <a:ext cx="7965767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如果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spc="-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|+1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，则</a:t>
            </a:r>
            <a:r>
              <a:rPr sz="2800" b="1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是第</a:t>
            </a:r>
            <a:r>
              <a:rPr sz="28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55227" y="4416414"/>
            <a:ext cx="778467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如果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&gt;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|+1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，则在</a:t>
            </a:r>
            <a:r>
              <a:rPr 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12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中找第</a:t>
            </a:r>
            <a:r>
              <a:rPr 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k-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|-1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9300" y="5174333"/>
            <a:ext cx="8359582" cy="1208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sz="2800" b="1" spc="12" dirty="0" err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算法效率取决于子问题规模</a:t>
            </a:r>
            <a:r>
              <a:rPr sz="28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</a:t>
            </a:r>
            <a:endParaRPr lang="en-US" sz="2800" b="1" spc="12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  <a:p>
            <a:pPr algn="just"/>
            <a:r>
              <a:rPr lang="zh-CN" altLang="en-US" sz="28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如何通过</a:t>
            </a:r>
            <a:r>
              <a:rPr lang="en-US" altLang="zh-CN" sz="2800" b="1" i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  <a:r>
              <a:rPr lang="zh-CN" altLang="en-US" sz="28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控制子问题规模？</a:t>
            </a:r>
          </a:p>
          <a:p>
            <a:pPr algn="just">
              <a:lnSpc>
                <a:spcPts val="2720"/>
              </a:lnSpc>
            </a:pPr>
            <a:endParaRPr sz="2800" b="1" spc="12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355408" y="35033"/>
            <a:ext cx="7931022" cy="6283181"/>
          </a:xfrm>
          <a:prstGeom prst="rect">
            <a:avLst/>
          </a:prstGeom>
          <a:blipFill>
            <a:blip r:embed="rId2" cstate="print"/>
            <a:srcRect/>
            <a:stretch>
              <a:fillRect r="-5186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0936" y="191898"/>
            <a:ext cx="8381393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15"/>
              </a:lnSpc>
            </a:pP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的选择与划分过程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47938" y="1148625"/>
            <a:ext cx="3965136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20"/>
              </a:lnSpc>
            </a:pPr>
            <a:r>
              <a:rPr sz="24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分组</a:t>
            </a:r>
            <a:r>
              <a:rPr sz="2400" b="1" spc="1286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  <a:r>
              <a:rPr lang="en-US" sz="2400" b="1" spc="340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82400" y="1026391"/>
            <a:ext cx="572719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2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...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23393" y="1079246"/>
            <a:ext cx="91796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b="1" spc="16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QUWNM+Symbol"/>
              </a:rPr>
              <a:t></a:t>
            </a: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n/5</a:t>
            </a:r>
            <a:endParaRPr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FQUWNM+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632" y="2036682"/>
            <a:ext cx="63550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7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大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18133" y="2917933"/>
            <a:ext cx="706373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5"/>
              </a:lnSpc>
            </a:pPr>
            <a:r>
              <a:rPr sz="23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2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60180" y="2823741"/>
            <a:ext cx="54616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60"/>
              </a:lnSpc>
            </a:pPr>
            <a:r>
              <a:rPr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5889" y="4243857"/>
            <a:ext cx="63550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7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03086" y="5163428"/>
            <a:ext cx="6435667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800" b="1" i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A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: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数需要与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  <a:r>
              <a:rPr sz="28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比大小，</a:t>
            </a:r>
            <a:r>
              <a:rPr sz="2800" b="1" i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B</a:t>
            </a:r>
            <a:r>
              <a:rPr sz="28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：数大于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</a:p>
          <a:p>
            <a:pPr>
              <a:spcBef>
                <a:spcPts val="195"/>
              </a:spcBef>
            </a:pPr>
            <a:r>
              <a:rPr sz="2800" b="1" i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C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: </a:t>
            </a:r>
            <a:r>
              <a:rPr sz="28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数小于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*,</a:t>
            </a:r>
            <a:r>
              <a:rPr sz="2800" b="1" spc="2026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D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:</a:t>
            </a:r>
            <a:r>
              <a:rPr sz="28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数需要与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*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比大小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78363" y="1727200"/>
            <a:ext cx="41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A</a:t>
            </a:r>
            <a:endParaRPr lang="zh-CN" altLang="en-US" sz="2800" b="1" i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0180" y="1706251"/>
            <a:ext cx="41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B</a:t>
            </a:r>
            <a:endParaRPr lang="zh-CN" altLang="en-US" sz="2800" b="1" i="1" dirty="0">
              <a:solidFill>
                <a:srgbClr val="984807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97005" y="3509196"/>
            <a:ext cx="41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C</a:t>
            </a:r>
            <a:endParaRPr lang="zh-CN" altLang="en-US" sz="2800" b="1" i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52316" y="3495016"/>
            <a:ext cx="41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D</a:t>
            </a:r>
            <a:endParaRPr lang="zh-CN" altLang="en-US" sz="2800" b="1" i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170679" y="421316"/>
            <a:ext cx="8921080" cy="1377296"/>
          </a:xfrm>
          <a:prstGeom prst="rect">
            <a:avLst/>
          </a:prstGeom>
          <a:blipFill>
            <a:blip r:embed="rId2" cstate="print"/>
            <a:srcRect/>
            <a:stretch>
              <a:fillRect l="1" r="-32097" b="-27172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17" name="object 1"/>
          <p:cNvSpPr/>
          <p:nvPr/>
        </p:nvSpPr>
        <p:spPr>
          <a:xfrm>
            <a:off x="2851357" y="2455266"/>
            <a:ext cx="3296145" cy="708848"/>
          </a:xfrm>
          <a:prstGeom prst="rect">
            <a:avLst/>
          </a:prstGeom>
          <a:blipFill>
            <a:blip r:embed="rId2" cstate="print"/>
            <a:srcRect/>
            <a:stretch>
              <a:fillRect l="-15574" t="-351674" r="-93242" b="-502716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1517" y="236250"/>
            <a:ext cx="8683392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20"/>
              </a:lnSpc>
            </a:pPr>
            <a:r>
              <a:rPr sz="4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实例：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=15,</a:t>
            </a:r>
            <a:r>
              <a:rPr sz="4000" b="1" spc="-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4782" y="1226863"/>
            <a:ext cx="8276863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  <a:r>
              <a:rPr sz="2000" b="1" spc="204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  <a:r>
              <a:rPr sz="2000" b="1" spc="203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  <a:r>
              <a:rPr sz="2000" b="1" spc="204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  <a:r>
              <a:rPr sz="2000" b="1" spc="20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  <a:r>
              <a:rPr sz="2000" b="1" spc="20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13</a:t>
            </a:r>
            <a:r>
              <a:rPr sz="2000" b="1" spc="1226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10</a:t>
            </a:r>
            <a:r>
              <a:rPr sz="2000" b="1" spc="168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  <a:r>
              <a:rPr sz="2000" b="1" spc="157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12</a:t>
            </a:r>
            <a:r>
              <a:rPr sz="2000" b="1" spc="122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15</a:t>
            </a:r>
            <a:r>
              <a:rPr lang="en-US"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  <a:r>
              <a:rPr lang="zh-CN" altLang="en-US" sz="2000" b="1" spc="157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altLang="zh-CN"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11</a:t>
            </a:r>
            <a:r>
              <a:rPr lang="zh-CN" altLang="en-US" sz="2000" b="1" spc="122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altLang="zh-CN" sz="2000" b="1" spc="-10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14</a:t>
            </a:r>
            <a:r>
              <a:rPr lang="zh-CN" altLang="en-US" sz="2000" b="1" spc="168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  <a:r>
              <a:rPr lang="zh-CN" altLang="en-US" sz="2000" b="1" spc="20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9</a:t>
            </a:r>
            <a:r>
              <a:rPr lang="zh-CN" altLang="en-US" sz="2000" b="1" spc="157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endParaRPr sz="2000" b="1" spc="-108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0432" y="1904619"/>
            <a:ext cx="458917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</a:p>
          <a:p>
            <a:pPr>
              <a:lnSpc>
                <a:spcPts val="2495"/>
              </a:lnSpc>
              <a:spcBef>
                <a:spcPts val="16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</a:p>
          <a:p>
            <a:pPr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</a:p>
          <a:p>
            <a:pPr>
              <a:lnSpc>
                <a:spcPts val="2490"/>
              </a:lnSpc>
              <a:spcBef>
                <a:spcPts val="16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</a:p>
          <a:p>
            <a:pPr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41309" y="1908442"/>
            <a:ext cx="574934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14</a:t>
            </a:r>
          </a:p>
          <a:p>
            <a:pPr>
              <a:lnSpc>
                <a:spcPts val="2495"/>
              </a:lnSpc>
              <a:spcBef>
                <a:spcPts val="16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11</a:t>
            </a:r>
          </a:p>
          <a:p>
            <a:pPr marL="65405"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9</a:t>
            </a:r>
          </a:p>
          <a:p>
            <a:pPr marL="65405">
              <a:lnSpc>
                <a:spcPts val="2490"/>
              </a:lnSpc>
              <a:spcBef>
                <a:spcPts val="16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</a:p>
          <a:p>
            <a:pPr marL="65405"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78279" y="1908442"/>
            <a:ext cx="574934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15</a:t>
            </a:r>
          </a:p>
          <a:p>
            <a:pPr>
              <a:lnSpc>
                <a:spcPts val="2495"/>
              </a:lnSpc>
              <a:spcBef>
                <a:spcPts val="16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13</a:t>
            </a:r>
          </a:p>
          <a:p>
            <a:pPr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12</a:t>
            </a:r>
          </a:p>
          <a:p>
            <a:pPr>
              <a:lnSpc>
                <a:spcPts val="2490"/>
              </a:lnSpc>
              <a:spcBef>
                <a:spcPts val="16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10</a:t>
            </a:r>
          </a:p>
          <a:p>
            <a:pPr marL="65405"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40450" y="2511901"/>
            <a:ext cx="143525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70"/>
              </a:lnSpc>
            </a:pPr>
            <a:r>
              <a:rPr sz="29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m*</a:t>
            </a:r>
            <a:r>
              <a:rPr sz="2900" b="1" i="1" spc="-28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9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</a:t>
            </a:r>
            <a:r>
              <a:rPr sz="29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9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75862" y="2568880"/>
            <a:ext cx="72821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i="1" dirty="0">
                <a:solidFill>
                  <a:srgbClr val="4F6228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82587" y="3911247"/>
            <a:ext cx="458917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</a:p>
          <a:p>
            <a:pPr>
              <a:lnSpc>
                <a:spcPts val="2495"/>
              </a:lnSpc>
              <a:spcBef>
                <a:spcPts val="160"/>
              </a:spcBef>
            </a:pPr>
            <a:r>
              <a:rPr sz="20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</a:p>
          <a:p>
            <a:pPr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</a:p>
          <a:p>
            <a:pPr>
              <a:lnSpc>
                <a:spcPts val="2490"/>
              </a:lnSpc>
              <a:spcBef>
                <a:spcPts val="160"/>
              </a:spcBef>
            </a:pPr>
            <a:r>
              <a:rPr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</a:p>
          <a:p>
            <a:pPr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33056" y="3911247"/>
            <a:ext cx="574934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14</a:t>
            </a:r>
          </a:p>
          <a:p>
            <a:pPr>
              <a:lnSpc>
                <a:spcPts val="2495"/>
              </a:lnSpc>
              <a:spcBef>
                <a:spcPts val="160"/>
              </a:spcBef>
            </a:pPr>
            <a:r>
              <a:rPr sz="2000" b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11</a:t>
            </a:r>
          </a:p>
          <a:p>
            <a:pPr marL="65405"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9</a:t>
            </a:r>
          </a:p>
          <a:p>
            <a:pPr marL="65405">
              <a:lnSpc>
                <a:spcPts val="2490"/>
              </a:lnSpc>
              <a:spcBef>
                <a:spcPts val="160"/>
              </a:spcBef>
            </a:pPr>
            <a:r>
              <a:rPr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</a:p>
          <a:p>
            <a:pPr marL="65405"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41309" y="3911247"/>
            <a:ext cx="574934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000" b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15</a:t>
            </a:r>
          </a:p>
          <a:p>
            <a:pPr>
              <a:lnSpc>
                <a:spcPts val="2495"/>
              </a:lnSpc>
              <a:spcBef>
                <a:spcPts val="160"/>
              </a:spcBef>
            </a:pPr>
            <a:r>
              <a:rPr sz="2000" b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13</a:t>
            </a:r>
          </a:p>
          <a:p>
            <a:pPr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12</a:t>
            </a:r>
          </a:p>
          <a:p>
            <a:pPr>
              <a:lnSpc>
                <a:spcPts val="2490"/>
              </a:lnSpc>
              <a:spcBef>
                <a:spcPts val="160"/>
              </a:spcBef>
            </a:pPr>
            <a:r>
              <a:rPr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10</a:t>
            </a:r>
          </a:p>
          <a:p>
            <a:pPr marL="65405">
              <a:lnSpc>
                <a:spcPts val="2490"/>
              </a:lnSpc>
              <a:spcBef>
                <a:spcPts val="220"/>
              </a:spcBef>
            </a:pPr>
            <a:r>
              <a:rPr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57519" y="4221791"/>
            <a:ext cx="660499" cy="1872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i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A</a:t>
            </a:r>
          </a:p>
          <a:p>
            <a:pPr>
              <a:lnSpc>
                <a:spcPts val="3015"/>
              </a:lnSpc>
              <a:spcBef>
                <a:spcPts val="2770"/>
              </a:spcBef>
            </a:pPr>
            <a:r>
              <a:rPr sz="2700" b="1" i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C</a:t>
            </a:r>
            <a:endParaRPr lang="en-US" sz="2700" b="1" i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  <a:p>
            <a:pPr>
              <a:lnSpc>
                <a:spcPts val="3015"/>
              </a:lnSpc>
              <a:spcBef>
                <a:spcPts val="2770"/>
              </a:spcBef>
            </a:pPr>
            <a:endParaRPr sz="2700" b="1" i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97732" y="4237204"/>
            <a:ext cx="699541" cy="1218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i="1" dirty="0">
                <a:solidFill>
                  <a:srgbClr val="98480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B</a:t>
            </a:r>
            <a:endParaRPr lang="en-US" sz="2700" b="1" i="1" dirty="0">
              <a:solidFill>
                <a:srgbClr val="984807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  <a:p>
            <a:pPr marL="25400">
              <a:lnSpc>
                <a:spcPts val="3015"/>
              </a:lnSpc>
              <a:spcBef>
                <a:spcPts val="3480"/>
              </a:spcBef>
            </a:pPr>
            <a:r>
              <a:rPr sz="2700" b="1" i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45742" y="5914561"/>
            <a:ext cx="559040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8, 7, </a:t>
            </a:r>
            <a:r>
              <a:rPr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10, 4 </a:t>
            </a:r>
            <a:r>
              <a:rPr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需要与</a:t>
            </a: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9</a:t>
            </a:r>
            <a:r>
              <a:rPr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665" y="166919"/>
            <a:ext cx="7959020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归约为子问题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52215" y="1396431"/>
            <a:ext cx="510148" cy="210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</a:p>
          <a:p>
            <a:pPr>
              <a:lnSpc>
                <a:spcPts val="2775"/>
              </a:lnSpc>
              <a:spcBef>
                <a:spcPts val="615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</a:p>
          <a:p>
            <a:pPr>
              <a:lnSpc>
                <a:spcPts val="2775"/>
              </a:lnSpc>
              <a:spcBef>
                <a:spcPts val="560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</a:p>
          <a:p>
            <a:pPr>
              <a:lnSpc>
                <a:spcPts val="2775"/>
              </a:lnSpc>
              <a:spcBef>
                <a:spcPts val="615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</a:p>
          <a:p>
            <a:pPr>
              <a:lnSpc>
                <a:spcPts val="2775"/>
              </a:lnSpc>
              <a:spcBef>
                <a:spcPts val="560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96587" y="1396431"/>
            <a:ext cx="639688" cy="210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b="1" dirty="0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14</a:t>
            </a:r>
          </a:p>
          <a:p>
            <a:pPr>
              <a:lnSpc>
                <a:spcPts val="2775"/>
              </a:lnSpc>
              <a:spcBef>
                <a:spcPts val="615"/>
              </a:spcBef>
            </a:pPr>
            <a:r>
              <a:rPr sz="2400" b="1" dirty="0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11</a:t>
            </a:r>
          </a:p>
          <a:p>
            <a:pPr marL="72390">
              <a:lnSpc>
                <a:spcPts val="2775"/>
              </a:lnSpc>
              <a:spcBef>
                <a:spcPts val="560"/>
              </a:spcBef>
            </a:pP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9</a:t>
            </a:r>
          </a:p>
          <a:p>
            <a:pPr marL="72390">
              <a:lnSpc>
                <a:spcPts val="2775"/>
              </a:lnSpc>
              <a:spcBef>
                <a:spcPts val="615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</a:p>
          <a:p>
            <a:pPr marL="72390">
              <a:lnSpc>
                <a:spcPts val="2775"/>
              </a:lnSpc>
              <a:spcBef>
                <a:spcPts val="560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06363" y="1396431"/>
            <a:ext cx="639688" cy="210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b="1" dirty="0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15</a:t>
            </a:r>
          </a:p>
          <a:p>
            <a:pPr>
              <a:lnSpc>
                <a:spcPts val="2775"/>
              </a:lnSpc>
              <a:spcBef>
                <a:spcPts val="615"/>
              </a:spcBef>
            </a:pPr>
            <a:r>
              <a:rPr sz="2400" b="1" dirty="0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13</a:t>
            </a:r>
          </a:p>
          <a:p>
            <a:pPr>
              <a:lnSpc>
                <a:spcPts val="2775"/>
              </a:lnSpc>
              <a:spcBef>
                <a:spcPts val="560"/>
              </a:spcBef>
            </a:pPr>
            <a:r>
              <a:rPr sz="2400" b="1" dirty="0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12</a:t>
            </a:r>
          </a:p>
          <a:p>
            <a:pPr>
              <a:lnSpc>
                <a:spcPts val="2775"/>
              </a:lnSpc>
              <a:spcBef>
                <a:spcPts val="615"/>
              </a:spcBef>
            </a:pPr>
            <a:r>
              <a:rPr sz="2400" b="1" dirty="0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10</a:t>
            </a:r>
          </a:p>
          <a:p>
            <a:pPr marL="72390">
              <a:lnSpc>
                <a:spcPts val="2775"/>
              </a:lnSpc>
              <a:spcBef>
                <a:spcPts val="560"/>
              </a:spcBef>
            </a:pPr>
            <a:r>
              <a:rPr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10714" y="2205968"/>
            <a:ext cx="72770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i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</a:t>
            </a:r>
            <a:r>
              <a:rPr sz="2800" b="1" baseline="-25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6373" y="4669204"/>
            <a:ext cx="149047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0"/>
              </a:lnSpc>
            </a:pPr>
            <a:r>
              <a:rPr sz="28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子问题</a:t>
            </a:r>
            <a:r>
              <a:rPr lang="en-US" sz="28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2</a:t>
            </a:r>
            <a:endParaRPr sz="2800" b="1" spc="17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8497" y="4709201"/>
            <a:ext cx="667603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8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7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5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6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6373" y="5373187"/>
            <a:ext cx="522121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70"/>
              </a:lnSpc>
            </a:pPr>
            <a:r>
              <a:rPr sz="28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子问题规模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=8</a:t>
            </a:r>
            <a:r>
              <a:rPr sz="2800" spc="2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=6</a:t>
            </a:r>
          </a:p>
        </p:txBody>
      </p:sp>
      <p:sp>
        <p:nvSpPr>
          <p:cNvPr id="13" name="object 8"/>
          <p:cNvSpPr txBox="1"/>
          <p:nvPr/>
        </p:nvSpPr>
        <p:spPr>
          <a:xfrm>
            <a:off x="6037584" y="2205968"/>
            <a:ext cx="72770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i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</a:t>
            </a:r>
            <a:r>
              <a:rPr lang="en-US" sz="2800" b="1" baseline="-250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endParaRPr sz="2800" b="1" baseline="-250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816373" y="4102447"/>
            <a:ext cx="149047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0"/>
              </a:lnSpc>
            </a:pPr>
            <a:r>
              <a:rPr sz="28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子问题</a:t>
            </a:r>
            <a:r>
              <a:rPr lang="en-US" sz="28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1</a:t>
            </a:r>
            <a:r>
              <a:rPr lang="en-US" sz="2800" b="1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 </a:t>
            </a:r>
            <a:endParaRPr sz="2800" b="1" spc="17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  <p:sp>
        <p:nvSpPr>
          <p:cNvPr id="14" name="object 10"/>
          <p:cNvSpPr txBox="1"/>
          <p:nvPr/>
        </p:nvSpPr>
        <p:spPr>
          <a:xfrm>
            <a:off x="2538497" y="4117044"/>
            <a:ext cx="591970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14</a:t>
            </a:r>
            <a:r>
              <a:rPr lang="en-US"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11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15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13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12</a:t>
            </a:r>
            <a:r>
              <a:rPr sz="2800" b="1" spc="232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10</a:t>
            </a:r>
            <a:endParaRPr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8723" y="60738"/>
            <a:ext cx="8299970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伪码</a:t>
            </a:r>
            <a:endParaRPr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723" y="908508"/>
            <a:ext cx="387349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算法</a:t>
            </a:r>
            <a:r>
              <a:rPr sz="2700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7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Select(</a:t>
            </a: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S, k</a:t>
            </a:r>
            <a:r>
              <a:rPr sz="27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8723" y="1355391"/>
            <a:ext cx="8127932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输入：数组</a:t>
            </a:r>
            <a:r>
              <a:rPr sz="2700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</a:t>
            </a:r>
            <a:r>
              <a:rPr sz="27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，正整数</a:t>
            </a:r>
            <a:r>
              <a:rPr sz="2700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sz="27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</a:t>
            </a:r>
          </a:p>
          <a:p>
            <a:pPr>
              <a:lnSpc>
                <a:spcPts val="3015"/>
              </a:lnSpc>
              <a:spcBef>
                <a:spcPts val="390"/>
              </a:spcBef>
            </a:pPr>
            <a:r>
              <a:rPr sz="2700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输出：</a:t>
            </a: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 </a:t>
            </a:r>
            <a:r>
              <a:rPr sz="27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中的第</a:t>
            </a:r>
            <a:r>
              <a:rPr sz="27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sz="27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08723" y="2274536"/>
                <a:ext cx="8390516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5"/>
                  </a:lnSpc>
                </a:pP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sz="2700" spc="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．将</a:t>
                </a:r>
                <a:r>
                  <a:rPr sz="27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分</a:t>
                </a: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个一组</a:t>
                </a: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sz="27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共</a:t>
                </a:r>
                <a:r>
                  <a:rPr lang="en-US" sz="27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sz="2700" b="1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7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700" b="1" i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7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7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7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组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3" y="2274536"/>
                <a:ext cx="8390516" cy="423193"/>
              </a:xfrm>
              <a:prstGeom prst="rect">
                <a:avLst/>
              </a:prstGeom>
              <a:blipFill rotWithShape="1">
                <a:blip r:embed="rId2"/>
                <a:stretch>
                  <a:fillRect l="-1" t="-142" r="4" b="-16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508723" y="4798145"/>
            <a:ext cx="799211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sz="2700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sz="2700" b="1" spc="66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7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 + 1</a:t>
            </a:r>
            <a:r>
              <a:rPr sz="2700" b="1" spc="68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then</a:t>
            </a:r>
            <a:r>
              <a:rPr sz="2700" b="1" spc="688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sz="27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508724" y="5234379"/>
                <a:ext cx="6262677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5"/>
                  </a:lnSpc>
                </a:pP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else</a:t>
                </a:r>
                <a:r>
                  <a:rPr sz="2700" b="1" spc="-3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if</a:t>
                </a:r>
                <a:r>
                  <a:rPr sz="2700" b="1" spc="68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7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700" b="1" spc="-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7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7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sz="27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4" y="5234379"/>
                <a:ext cx="6262677" cy="423193"/>
              </a:xfrm>
              <a:prstGeom prst="rect">
                <a:avLst/>
              </a:prstGeom>
              <a:blipFill rotWithShape="1">
                <a:blip r:embed="rId3"/>
                <a:stretch>
                  <a:fillRect l="-1" t="-17" r="6" b="-162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bject 22"/>
          <p:cNvSpPr txBox="1"/>
          <p:nvPr/>
        </p:nvSpPr>
        <p:spPr>
          <a:xfrm>
            <a:off x="508724" y="5660976"/>
            <a:ext cx="812793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sz="27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sz="2700" spc="408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then</a:t>
            </a:r>
            <a:r>
              <a:rPr sz="2700" b="1" spc="68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Select</a:t>
            </a:r>
            <a:r>
              <a:rPr sz="2700" b="1" spc="-2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08981" y="6083458"/>
            <a:ext cx="827068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9. 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sz="2700" b="1" spc="65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Select</a:t>
            </a:r>
            <a:r>
              <a:rPr sz="2700" b="1" spc="-2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700" b="1" spc="19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700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sz="27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7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sz="2700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08723" y="2816244"/>
            <a:ext cx="8390516" cy="884858"/>
            <a:chOff x="340209" y="2501428"/>
            <a:chExt cx="8919294" cy="8361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8"/>
                <p:cNvSpPr txBox="1"/>
                <p:nvPr/>
              </p:nvSpPr>
              <p:spPr>
                <a:xfrm>
                  <a:off x="340209" y="2501428"/>
                  <a:ext cx="8919294" cy="836109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>
                    <a:lnSpc>
                      <a:spcPts val="3015"/>
                    </a:lnSpc>
                    <a:spcBef>
                      <a:spcPts val="600"/>
                    </a:spcBef>
                  </a:pP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．每组排序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中位数放到集合</a:t>
                  </a:r>
                  <a:r>
                    <a:rPr sz="27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M</a:t>
                  </a:r>
                </a:p>
                <a:p>
                  <a:pPr>
                    <a:lnSpc>
                      <a:spcPts val="3335"/>
                    </a:lnSpc>
                    <a:spcBef>
                      <a:spcPts val="600"/>
                    </a:spcBef>
                  </a:pP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．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m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*</a:t>
                  </a:r>
                  <a:r>
                    <a:rPr lang="en-US" sz="27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   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Select(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M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</a:t>
                  </a:r>
                  <a:r>
                    <a:rPr lang="en-US" altLang="zh-CN"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7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700" b="1" spc="-14" dirty="0" smtClean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altLang="zh-CN" sz="2700" b="1" i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altLang="zh-CN" sz="27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|/</m:t>
                          </m:r>
                          <m:r>
                            <m:rPr>
                              <m:nor/>
                            </m:rPr>
                            <a:rPr lang="en-US" altLang="zh-CN" sz="27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700" b="1" i="1" dirty="0">
                          <a:solidFill>
                            <a:srgbClr val="000000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  <a:r>
                    <a:rPr sz="2700" b="1" spc="-4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//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S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分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A,B,C,D</a:t>
                  </a:r>
                </a:p>
              </p:txBody>
            </p:sp>
          </mc:Choice>
          <mc:Fallback xmlns="">
            <p:sp>
              <p:nvSpPr>
                <p:cNvPr id="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09" y="2501428"/>
                  <a:ext cx="8919294" cy="83610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箭头连接符 31"/>
            <p:cNvCxnSpPr/>
            <p:nvPr/>
          </p:nvCxnSpPr>
          <p:spPr>
            <a:xfrm flipH="1">
              <a:off x="1262442" y="3157082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508723" y="3781809"/>
            <a:ext cx="8390516" cy="884690"/>
            <a:chOff x="340209" y="3461796"/>
            <a:chExt cx="8919294" cy="835950"/>
          </a:xfrm>
        </p:grpSpPr>
        <p:sp>
          <p:nvSpPr>
            <p:cNvPr id="9" name="object 9"/>
            <p:cNvSpPr txBox="1"/>
            <p:nvPr/>
          </p:nvSpPr>
          <p:spPr>
            <a:xfrm>
              <a:off x="340209" y="3461796"/>
              <a:ext cx="8919294" cy="36352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015"/>
                </a:lnSpc>
              </a:pPr>
              <a:r>
                <a:rPr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sz="2700" spc="12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．</a:t>
              </a:r>
              <a:r>
                <a:rPr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A,</a:t>
              </a:r>
              <a:r>
                <a:rPr lang="en-US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sz="27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sz="2700" spc="12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元素小于</a:t>
              </a:r>
              <a:r>
                <a:rPr sz="27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*</a:t>
              </a:r>
              <a:r>
                <a:rPr sz="27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放</a:t>
              </a:r>
              <a:r>
                <a:rPr sz="2700" spc="12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sz="27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lang="en-US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sz="2700" spc="12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大于</a:t>
              </a:r>
              <a:r>
                <a:rPr sz="27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*</a:t>
              </a:r>
              <a:r>
                <a:rPr sz="2700" spc="12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放</a:t>
              </a:r>
              <a:r>
                <a:rPr lang="en-US" sz="2700" spc="12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7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700" b="1" i="1" spc="227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sz="27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40210" y="3897868"/>
              <a:ext cx="8640161" cy="39987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335"/>
                </a:lnSpc>
              </a:pPr>
              <a:r>
                <a:rPr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sz="2700" spc="12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．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7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sz="2700" b="1" i="1" spc="667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sz="27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sz="27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7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U </a:t>
              </a:r>
              <a:r>
                <a:rPr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;</a:t>
              </a:r>
              <a:r>
                <a:rPr sz="2700" b="1" spc="1366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7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700" b="1" i="1" spc="68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sz="27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7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U</a:t>
              </a:r>
              <a:r>
                <a:rPr sz="27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sz="2700" b="1" i="1" spc="2498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sz="2800" spc="12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划分</a:t>
              </a:r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H="1">
              <a:off x="1381105" y="4107860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H="1">
              <a:off x="3704646" y="4107860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9" grpId="0"/>
      <p:bldP spid="22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442" y="129655"/>
            <a:ext cx="8610955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9660" y="1185900"/>
            <a:ext cx="8238163" cy="4488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15"/>
              </a:lnSpc>
            </a:pPr>
            <a:r>
              <a:rPr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选第</a:t>
            </a:r>
            <a:r>
              <a:rPr sz="3200" b="1" spc="-7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小的算法：</a:t>
            </a:r>
          </a:p>
          <a:p>
            <a:pPr marL="457200" indent="-457200">
              <a:lnSpc>
                <a:spcPts val="3540"/>
              </a:lnSpc>
              <a:spcBef>
                <a:spcPts val="1030"/>
              </a:spcBef>
              <a:buFont typeface="Wingdings" panose="05000000000000000000" pitchFamily="2" charset="2"/>
              <a:buChar char="Ø"/>
            </a:pPr>
            <a:r>
              <a:rPr sz="3200" b="1" spc="1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分治策略</a:t>
            </a:r>
            <a:endParaRPr lang="en-US" sz="3200" b="1" spc="1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ts val="3540"/>
              </a:lnSpc>
              <a:spcBef>
                <a:spcPts val="1030"/>
              </a:spcBef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</a:p>
          <a:p>
            <a:pPr marL="457200" indent="-457200">
              <a:lnSpc>
                <a:spcPts val="3540"/>
              </a:lnSpc>
              <a:spcBef>
                <a:spcPts val="1030"/>
              </a:spcBef>
              <a:buFont typeface="Wingdings" panose="05000000000000000000" pitchFamily="2" charset="2"/>
              <a:buChar char="Ø"/>
            </a:pPr>
            <a:r>
              <a:rPr lang="zh-CN" altLang="en-US"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划分数组归约为子问题</a:t>
            </a:r>
            <a:endParaRPr lang="en-US" altLang="zh-CN" sz="3200" b="1" spc="1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ts val="3540"/>
              </a:lnSpc>
              <a:spcBef>
                <a:spcPts val="1030"/>
              </a:spcBef>
              <a:buFont typeface="Wingdings" panose="05000000000000000000" pitchFamily="2" charset="2"/>
              <a:buChar char="Ø"/>
            </a:pPr>
            <a:r>
              <a:rPr lang="zh-CN" altLang="en-US"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递归实现</a:t>
            </a:r>
          </a:p>
          <a:p>
            <a:pPr>
              <a:lnSpc>
                <a:spcPts val="3540"/>
              </a:lnSpc>
              <a:spcBef>
                <a:spcPts val="1030"/>
              </a:spcBef>
            </a:pPr>
            <a:endParaRPr lang="zh-CN" altLang="en-US" sz="3200" b="1" spc="1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540"/>
              </a:lnSpc>
              <a:spcBef>
                <a:spcPts val="1030"/>
              </a:spcBef>
            </a:pP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540"/>
              </a:lnSpc>
              <a:spcBef>
                <a:spcPts val="1030"/>
              </a:spcBef>
            </a:pPr>
            <a:endParaRPr sz="3200" b="1" spc="1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3181" y="2647565"/>
            <a:ext cx="4465015" cy="1718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25"/>
              </a:lnSpc>
            </a:pPr>
            <a:r>
              <a:rPr sz="6600" b="1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选择问题的</a:t>
            </a:r>
          </a:p>
          <a:p>
            <a:pPr marL="388620">
              <a:lnSpc>
                <a:spcPts val="6125"/>
              </a:lnSpc>
              <a:spcBef>
                <a:spcPts val="1225"/>
              </a:spcBef>
            </a:pPr>
            <a:r>
              <a:rPr sz="6600" b="1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算法分析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0586" y="79224"/>
            <a:ext cx="8299970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伪码</a:t>
            </a:r>
            <a:endParaRPr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NENOB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9906" y="941217"/>
            <a:ext cx="8390516" cy="13439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算法</a:t>
            </a:r>
            <a:r>
              <a:rPr sz="2800" b="1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Select(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S, k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)</a:t>
            </a:r>
            <a:endParaRPr 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  <a:p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输入：数组</a:t>
            </a:r>
            <a:r>
              <a:rPr lang="zh-CN" altLang="en-US" sz="2800" b="1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，正整数</a:t>
            </a:r>
            <a:r>
              <a:rPr lang="zh-CN" altLang="en-US" sz="2800" b="1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，</a:t>
            </a:r>
          </a:p>
          <a:p>
            <a:pPr>
              <a:spcBef>
                <a:spcPts val="390"/>
              </a:spcBef>
            </a:pPr>
            <a:r>
              <a:rPr lang="zh-CN" altLang="en-US" sz="28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输出：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S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中的第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NENOB+ËÎÌå"/>
              </a:rPr>
              <a:t>小元素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489906" y="2414821"/>
                <a:ext cx="8390516" cy="38779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sz="2800" b="1" spc="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．将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分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个一组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sz="28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共</a:t>
                </a:r>
                <a:r>
                  <a:rPr lang="en-US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sz="2800" b="1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组</a:t>
                </a:r>
                <a:endPara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．每组排序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中位数放到集合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r>
                      <a:rPr lang="pl-PL" altLang="zh-CN" sz="2800" b="1" i="1" spc="667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←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Select(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ar-AE" altLang="zh-CN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ar-AE" altLang="zh-CN" sz="2800" b="1" spc="-14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|/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ar-AE" altLang="zh-CN" sz="2800" b="1" i="1" dirty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ar-AE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ar-AE" altLang="zh-CN" sz="2800" b="1" spc="-4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ar-AE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//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分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A,B,C,D</a:t>
                </a: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A,D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元素小于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b="1" i="1" spc="22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大于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  <a:p>
                <a:r>
                  <a:rPr lang="pl-PL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pl-PL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lang="pl-PL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pl-PL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pl-PL" altLang="zh-CN" sz="2800" b="1" i="1" spc="667" smtClean="0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←</m:t>
                    </m:r>
                  </m:oMath>
                </a14:m>
                <a:r>
                  <a:rPr lang="pl-PL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pl-PL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lang="pl-PL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U </a:t>
                </a:r>
                <a:r>
                  <a:rPr lang="pl-PL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pl-PL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;</a:t>
                </a:r>
                <a:r>
                  <a:rPr lang="pl-PL" altLang="zh-CN" sz="2800" b="1" spc="136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pl-PL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pl-PL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pl-PL" altLang="zh-CN" sz="2800" b="1" spc="667" dirty="0">
                    <a:solidFill>
                      <a:srgbClr val="000000"/>
                    </a:solidFill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altLang="zh-CN" sz="2800" b="1" i="1" spc="667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← </m:t>
                    </m:r>
                  </m:oMath>
                </a14:m>
                <a:r>
                  <a:rPr lang="pl-PL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pl-PL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pl-PL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U </a:t>
                </a:r>
                <a:r>
                  <a:rPr lang="pl-PL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pl-PL" altLang="zh-CN" sz="2800" b="1" i="1" spc="249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pl-PL" sz="2800" b="1" spc="12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划分</a:t>
                </a:r>
                <a:endParaRPr lang="en-US" altLang="zh-CN" sz="2800" b="1" spc="12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2800" b="1" spc="66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1" spc="-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spc="-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 + 1</a:t>
                </a:r>
                <a:r>
                  <a:rPr lang="en-US" altLang="zh-CN" sz="2800" b="1" spc="68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then</a:t>
                </a:r>
                <a:r>
                  <a:rPr lang="en-US" altLang="zh-CN" sz="2800" b="1" spc="68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*</a:t>
                </a: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else</a:t>
                </a:r>
                <a:r>
                  <a:rPr lang="en-US" altLang="zh-CN" sz="2800" b="1" spc="-37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2800" b="1" spc="68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spc="-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．</a:t>
                </a:r>
                <a:r>
                  <a:rPr lang="en-US" altLang="zh-CN" sz="2800" b="1" spc="408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then</a:t>
                </a:r>
                <a:r>
                  <a:rPr lang="en-US" altLang="zh-CN" sz="2800" b="1" spc="68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Select</a:t>
                </a:r>
                <a:r>
                  <a:rPr lang="en-US" altLang="zh-CN" sz="2800" b="1" spc="-2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spc="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9.else</a:t>
                </a:r>
                <a:r>
                  <a:rPr lang="en-US" altLang="zh-CN" sz="2800" b="1" spc="653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Select</a:t>
                </a:r>
                <a:r>
                  <a:rPr lang="en-US" altLang="zh-CN" sz="2800" b="1" spc="-23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spc="1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－</a:t>
                </a:r>
                <a:r>
                  <a:rPr lang="en-US" altLang="zh-CN" sz="2800" b="1" spc="-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b="1" spc="-1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－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1)</a:t>
                </a:r>
                <a:endPara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06" y="2414821"/>
                <a:ext cx="8390516" cy="3877985"/>
              </a:xfrm>
              <a:prstGeom prst="rect">
                <a:avLst/>
              </a:prstGeom>
              <a:blipFill rotWithShape="1">
                <a:blip r:embed="rId2"/>
                <a:stretch>
                  <a:fillRect l="-4" t="-14" r="7" b="-2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0038" y="141265"/>
            <a:ext cx="8372407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1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用</a:t>
            </a:r>
            <a:r>
              <a:rPr sz="44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m</a:t>
            </a:r>
            <a:r>
              <a:rPr sz="4400" b="1" spc="2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KJJDH+ËÎÌå"/>
              </a:rPr>
              <a:t>*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划分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33760" y="5259372"/>
            <a:ext cx="7048087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5440">
              <a:lnSpc>
                <a:spcPts val="3015"/>
              </a:lnSpc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-1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5(2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+1),</a:t>
            </a:r>
            <a:r>
              <a:rPr sz="2800" b="1" spc="136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2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 =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sz="2800" b="1" spc="2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</a:p>
          <a:p>
            <a:pPr>
              <a:lnSpc>
                <a:spcPts val="3015"/>
              </a:lnSpc>
              <a:spcBef>
                <a:spcPts val="415"/>
              </a:spcBef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子问题规模至多</a:t>
            </a:r>
            <a:r>
              <a:rPr sz="2800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+2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+3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+2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7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53229" y="6497265"/>
            <a:ext cx="313357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0"/>
              </a:lnSpc>
            </a:pPr>
            <a:r>
              <a:rPr sz="1400" b="1" dirty="0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3</a:t>
            </a:r>
          </a:p>
        </p:txBody>
      </p:sp>
      <p:sp>
        <p:nvSpPr>
          <p:cNvPr id="6" name="object 1"/>
          <p:cNvSpPr/>
          <p:nvPr/>
        </p:nvSpPr>
        <p:spPr>
          <a:xfrm>
            <a:off x="807988" y="1443891"/>
            <a:ext cx="7396509" cy="3839310"/>
          </a:xfrm>
          <a:prstGeom prst="rect">
            <a:avLst/>
          </a:prstGeom>
          <a:blipFill>
            <a:blip r:embed="rId2" cstate="print"/>
            <a:srcRect/>
            <a:stretch>
              <a:fillRect t="-26047" r="-68856" b="-37894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346" y="131172"/>
            <a:ext cx="8402698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4180" algn="ctr">
              <a:lnSpc>
                <a:spcPts val="4530"/>
              </a:lnSpc>
            </a:pPr>
            <a:r>
              <a:rPr sz="4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子问题规模估计</a:t>
            </a:r>
            <a:endParaRPr sz="44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930" y="3461518"/>
            <a:ext cx="556683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0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划分后子问题规模至多为</a:t>
            </a:r>
          </a:p>
        </p:txBody>
      </p:sp>
      <p:sp>
        <p:nvSpPr>
          <p:cNvPr id="13" name="矩形 12"/>
          <p:cNvSpPr/>
          <p:nvPr/>
        </p:nvSpPr>
        <p:spPr>
          <a:xfrm>
            <a:off x="421346" y="1253503"/>
            <a:ext cx="842925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15"/>
              </a:lnSpc>
              <a:spcBef>
                <a:spcPts val="2415"/>
              </a:spcBef>
            </a:pPr>
            <a:r>
              <a:rPr lang="zh-CN" altLang="en-US"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不妨设</a:t>
            </a:r>
            <a:r>
              <a:rPr lang="zh-CN" altLang="en-US" sz="2800" b="1" spc="-19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5(2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+1)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|=|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|=2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441" y="1895108"/>
            <a:ext cx="3212619" cy="113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300" y="4074839"/>
            <a:ext cx="4036590" cy="2026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6232" y="110602"/>
            <a:ext cx="8502300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时间复杂度递推方程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5009" y="1261209"/>
            <a:ext cx="746847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算法工作量</a:t>
            </a:r>
            <a:r>
              <a:rPr sz="3200" b="1" spc="669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5010" y="1952428"/>
            <a:ext cx="7703892" cy="2141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2: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sz="3200" b="1" spc="68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sz="32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个数找中位数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32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构成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</a:p>
          <a:p>
            <a:pPr>
              <a:lnSpc>
                <a:spcPts val="3015"/>
              </a:lnSpc>
              <a:spcBef>
                <a:spcPts val="1555"/>
              </a:spcBef>
            </a:pP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3: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/5)</a:t>
            </a:r>
            <a:r>
              <a:rPr sz="3200" b="1" spc="67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sz="32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中找中位数</a:t>
            </a:r>
            <a:r>
              <a:rPr sz="3200" b="1" spc="1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</a:p>
          <a:p>
            <a:pPr>
              <a:lnSpc>
                <a:spcPts val="3015"/>
              </a:lnSpc>
              <a:spcBef>
                <a:spcPts val="1615"/>
              </a:spcBef>
            </a:pP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4: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sz="3200" b="1" spc="340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sz="32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划分集合</a:t>
            </a:r>
            <a:r>
              <a:rPr sz="32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3015"/>
              </a:lnSpc>
              <a:spcBef>
                <a:spcPts val="1490"/>
              </a:spcBef>
            </a:pP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8-9</a:t>
            </a: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(7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/10)</a:t>
            </a:r>
            <a:r>
              <a:rPr sz="3200" b="1" spc="66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010" y="4869055"/>
            <a:ext cx="770389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35"/>
              </a:lnSpc>
            </a:pP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32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/5) +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(7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/10) + 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0575" y="131383"/>
            <a:ext cx="2287524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30"/>
              </a:lnSpc>
            </a:pPr>
            <a:r>
              <a:rPr sz="45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递归树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32865" y="307846"/>
            <a:ext cx="6000075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5"/>
              </a:lnSpc>
            </a:pPr>
            <a:r>
              <a:rPr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W(n)=W(n/5)+W(7n/10)+</a:t>
            </a:r>
            <a:r>
              <a:rPr sz="32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cn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82" y="1331259"/>
            <a:ext cx="5751783" cy="44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5405" y="113061"/>
            <a:ext cx="8026096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讨论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4082" y="1196967"/>
            <a:ext cx="7555775" cy="88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32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分组时为什么</a:t>
            </a:r>
            <a:r>
              <a:rPr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5</a:t>
            </a:r>
            <a:r>
              <a:rPr sz="32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个元素一组？</a:t>
            </a:r>
          </a:p>
          <a:p>
            <a:pPr>
              <a:lnSpc>
                <a:spcPts val="3015"/>
              </a:lnSpc>
              <a:spcBef>
                <a:spcPts val="875"/>
              </a:spcBef>
            </a:pPr>
            <a:r>
              <a:rPr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</a:t>
            </a:r>
            <a:r>
              <a:rPr sz="32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个一组或</a:t>
            </a:r>
            <a:r>
              <a:rPr sz="3200" b="1" spc="-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7</a:t>
            </a:r>
            <a:r>
              <a:rPr sz="32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个一组行不行？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2567" y="2755653"/>
            <a:ext cx="8148933" cy="297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sz="32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分析：递归调用</a:t>
            </a:r>
            <a:endParaRPr lang="en-US" sz="3200" b="1" spc="12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32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en-US" sz="32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 </a:t>
            </a:r>
            <a:r>
              <a:rPr lang="zh-CN" altLang="en-US"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的工作量与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sz="32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</a:t>
            </a:r>
            <a:r>
              <a:rPr lang="zh-CN" altLang="en-US" sz="32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关，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为每组元素数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i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32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sz="32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</a:p>
          <a:p>
            <a:pPr algn="just">
              <a:spcBef>
                <a:spcPts val="6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32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归约后子问题大小与分组元素</a:t>
            </a:r>
            <a:r>
              <a:rPr lang="zh-CN" altLang="en-US" sz="32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有关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32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大，子问题规模大</a:t>
            </a:r>
          </a:p>
          <a:p>
            <a:pPr>
              <a:lnSpc>
                <a:spcPts val="2720"/>
              </a:lnSpc>
            </a:pPr>
            <a:endParaRPr sz="3200" spc="12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67" y="1196967"/>
            <a:ext cx="771514" cy="82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4697" y="112529"/>
            <a:ext cx="7879094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KJJDH+ËÎÌå"/>
              </a:rPr>
              <a:t>3</a:t>
            </a: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分组时的子问题规模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41" y="1246555"/>
            <a:ext cx="7305489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70"/>
              </a:lnSpc>
            </a:pPr>
            <a:r>
              <a:rPr sz="3200" b="1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假设</a:t>
            </a:r>
            <a:r>
              <a:rPr sz="32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t </a:t>
            </a:r>
            <a:r>
              <a:rPr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=</a:t>
            </a:r>
            <a:r>
              <a:rPr 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3,</a:t>
            </a:r>
            <a:r>
              <a:rPr sz="3200" b="1" spc="72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</a:t>
            </a:r>
            <a:r>
              <a:rPr sz="3200" b="1" spc="1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个一组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97075" y="1793464"/>
            <a:ext cx="57581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72026" y="1793464"/>
            <a:ext cx="57581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1808" y="5459541"/>
            <a:ext cx="842297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15"/>
              </a:lnSpc>
              <a:spcBef>
                <a:spcPts val="625"/>
              </a:spcBef>
            </a:pPr>
            <a:r>
              <a:rPr sz="3200" b="1" spc="17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子问题规模最多为</a:t>
            </a:r>
            <a:endParaRPr sz="29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537" y="1856154"/>
            <a:ext cx="4833344" cy="2057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582" y="4168588"/>
            <a:ext cx="4698928" cy="1129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447" y="5438521"/>
            <a:ext cx="2352831" cy="56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1915" y="125505"/>
            <a:ext cx="8239586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1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36844" y="1335990"/>
                <a:ext cx="8076662" cy="13849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720"/>
                  </a:lnSpc>
                </a:pP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算法的时间复杂度满足方程</a:t>
                </a:r>
              </a:p>
              <a:p>
                <a:pPr marL="250825">
                  <a:lnSpc>
                    <a:spcPts val="3015"/>
                  </a:lnSpc>
                  <a:spcBef>
                    <a:spcPts val="835"/>
                  </a:spcBef>
                </a:pPr>
                <a:r>
                  <a:rPr lang="en-US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 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/3) +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/6) +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cn</a:t>
                </a:r>
              </a:p>
              <a:p>
                <a:pPr>
                  <a:lnSpc>
                    <a:spcPts val="3335"/>
                  </a:lnSpc>
                  <a:spcBef>
                    <a:spcPts val="985"/>
                  </a:spcBef>
                </a:pPr>
                <a:r>
                  <a:rPr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由递归树得</a:t>
                </a:r>
                <a:r>
                  <a:rPr sz="2800" b="1" spc="134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)=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𝜣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(</a:t>
                </a:r>
                <a:r>
                  <a:rPr lang="en-US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log</a:t>
                </a:r>
                <a:r>
                  <a:rPr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44" y="1335990"/>
                <a:ext cx="8076662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3" t="-2793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536844" y="3602611"/>
            <a:ext cx="137464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0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6844" y="4073668"/>
            <a:ext cx="8076661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15"/>
              </a:lnSpc>
            </a:pP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|M|</a:t>
            </a:r>
            <a:r>
              <a:rPr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与归约后子问题规模之和小于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递归树每行的工作量构成公比小于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的等比级数，</a:t>
            </a:r>
            <a:r>
              <a:rPr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算法复杂度才是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50350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099" y="108732"/>
            <a:ext cx="8312151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3869" y="1411858"/>
            <a:ext cx="8182610" cy="13593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32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选第</a:t>
            </a:r>
            <a:r>
              <a:rPr sz="3200" b="1" spc="-7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k </a:t>
            </a:r>
            <a:r>
              <a:rPr sz="32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小算法的时间分析</a:t>
            </a:r>
          </a:p>
          <a:p>
            <a:pPr>
              <a:lnSpc>
                <a:spcPts val="3040"/>
              </a:lnSpc>
              <a:spcBef>
                <a:spcPts val="820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•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递推方程</a:t>
            </a:r>
            <a:endParaRPr lang="en-US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STLLMM+ËÎÌå"/>
            </a:endParaRPr>
          </a:p>
          <a:p>
            <a:pPr>
              <a:lnSpc>
                <a:spcPts val="3040"/>
              </a:lnSpc>
              <a:spcBef>
                <a:spcPts val="82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•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TLLMM+ËÎÌå"/>
              </a:rPr>
              <a:t>分组时每组元素数的多少对时间复杂度的影响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0980" y="2597915"/>
            <a:ext cx="7543966" cy="1029294"/>
          </a:xfrm>
          <a:prstGeom prst="rect">
            <a:avLst/>
          </a:prstGeom>
        </p:spPr>
        <p:txBody>
          <a:bodyPr vert="horz" wrap="square" lIns="0" tIns="13500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5"/>
              </a:spcBef>
            </a:pPr>
            <a:r>
              <a:rPr sz="6600" spc="-21" dirty="0">
                <a:latin typeface="黑体" panose="02010609060101010101" pitchFamily="49" charset="-122"/>
                <a:ea typeface="黑体" panose="02010609060101010101" pitchFamily="49" charset="-122"/>
              </a:rPr>
              <a:t>卷</a:t>
            </a:r>
            <a:r>
              <a:rPr sz="6600" spc="-5" dirty="0">
                <a:latin typeface="黑体" panose="02010609060101010101" pitchFamily="49" charset="-122"/>
                <a:ea typeface="黑体" panose="02010609060101010101" pitchFamily="49" charset="-122"/>
              </a:rPr>
              <a:t>积</a:t>
            </a:r>
            <a:r>
              <a:rPr sz="6600" spc="-21" dirty="0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r>
              <a:rPr sz="6600" spc="-5" dirty="0">
                <a:latin typeface="黑体" panose="02010609060101010101" pitchFamily="49" charset="-122"/>
                <a:ea typeface="黑体" panose="02010609060101010101" pitchFamily="49" charset="-122"/>
              </a:rPr>
              <a:t>其应</a:t>
            </a:r>
            <a:r>
              <a:rPr sz="6600" spc="-21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207" y="97950"/>
            <a:ext cx="8394882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向量计算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875" y="1152306"/>
            <a:ext cx="1781933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给定向量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1168" y="1152305"/>
            <a:ext cx="5190670" cy="936962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305">
              <a:lnSpc>
                <a:spcPts val="3040"/>
              </a:lnSpc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 …,</a:t>
            </a:r>
            <a:r>
              <a:rPr sz="2800" b="1" spc="-1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9530">
              <a:lnSpc>
                <a:spcPts val="3040"/>
              </a:lnSpc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 …,</a:t>
            </a:r>
            <a:r>
              <a:rPr sz="2800" b="1" spc="-9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774" y="2318161"/>
            <a:ext cx="8276235" cy="1463862"/>
          </a:xfrm>
          <a:prstGeom prst="rect">
            <a:avLst/>
          </a:prstGeom>
        </p:spPr>
        <p:txBody>
          <a:bodyPr vert="horz" wrap="square" lIns="0" tIns="94503" rIns="0" bIns="0" rtlCol="0">
            <a:spAutoFit/>
          </a:bodyPr>
          <a:lstStyle/>
          <a:p>
            <a:pPr marL="53975">
              <a:lnSpc>
                <a:spcPct val="150000"/>
              </a:lnSpc>
              <a:spcBef>
                <a:spcPts val="600"/>
              </a:spcBef>
            </a:pPr>
            <a:r>
              <a:rPr sz="2800" b="1" spc="-5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向量</a:t>
            </a:r>
            <a:r>
              <a:rPr sz="2800" b="1" spc="-1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和</a:t>
            </a:r>
            <a:r>
              <a:rPr sz="2800" b="1" spc="622" dirty="0">
                <a:solidFill>
                  <a:srgbClr val="CC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…,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lnSpc>
                <a:spcPct val="150000"/>
              </a:lnSpc>
              <a:spcBef>
                <a:spcPts val="600"/>
              </a:spcBef>
              <a:tabLst>
                <a:tab pos="1351280" algn="l"/>
              </a:tabLst>
            </a:pPr>
            <a:r>
              <a:rPr sz="2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内</a:t>
            </a:r>
            <a:r>
              <a:rPr sz="2800" b="1" spc="-1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积</a:t>
            </a:r>
            <a:r>
              <a:rPr sz="2800" b="1" spc="-11" dirty="0">
                <a:solidFill>
                  <a:srgbClr val="CC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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… +</a:t>
            </a:r>
            <a:r>
              <a:rPr sz="28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035" y="4739178"/>
            <a:ext cx="4807511" cy="1183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42207" y="4003124"/>
            <a:ext cx="7645269" cy="1120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">
              <a:spcBef>
                <a:spcPts val="1280"/>
              </a:spcBef>
              <a:tabLst>
                <a:tab pos="1351280" algn="l"/>
              </a:tabLst>
            </a:pPr>
            <a:r>
              <a:rPr lang="zh-CN" altLang="en-US" sz="2800" b="1" spc="-5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卷</a:t>
            </a:r>
            <a:r>
              <a:rPr lang="zh-CN" altLang="en-US" sz="2800" b="1" spc="-1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积	</a:t>
            </a:r>
            <a:r>
              <a:rPr lang="en-US" altLang="zh-CN" sz="2800" b="1" i="1" spc="-11" dirty="0" err="1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altLang="zh-CN" sz="2800" b="1" spc="-11" dirty="0" err="1">
                <a:latin typeface="Symbol" panose="05050102010706020507"/>
                <a:cs typeface="Symbol" panose="05050102010706020507"/>
              </a:rPr>
              <a:t></a:t>
            </a:r>
            <a:r>
              <a:rPr lang="en-US" altLang="zh-CN" sz="2800" b="1" i="1" spc="-11" dirty="0" err="1"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altLang="zh-CN" sz="2800" b="1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lang="en-US" altLang="zh-CN" sz="2800" b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lang="en-US" altLang="zh-CN" sz="2800" b="1" spc="-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…,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7" baseline="-21000" dirty="0">
                <a:latin typeface="Times New Roman" panose="02020603050405020304"/>
                <a:cs typeface="Times New Roman" panose="02020603050405020304"/>
              </a:rPr>
              <a:t>-2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zh-CN" altLang="en-US"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，其中</a:t>
            </a:r>
            <a:endParaRPr lang="zh-CN" altLang="en-US"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3975">
              <a:spcBef>
                <a:spcPts val="1280"/>
              </a:spcBef>
              <a:tabLst>
                <a:tab pos="1351280" algn="l"/>
              </a:tabLst>
            </a:pPr>
            <a:r>
              <a:rPr lang="zh-CN" altLang="en-US" sz="2800" b="1" i="1" spc="64" dirty="0">
                <a:latin typeface="宋体" panose="02010600030101010101" pitchFamily="2" charset="-122"/>
                <a:cs typeface="Times New Roman" panose="02020603050405020304"/>
              </a:rPr>
              <a:t>       </a:t>
            </a:r>
            <a:endParaRPr lang="zh-CN" altLang="en-US" sz="1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842" y="-17244"/>
            <a:ext cx="8517126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卷积的含义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9234" y="2922782"/>
            <a:ext cx="949427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25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550" b="1" spc="-103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sz="25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8855" y="2429721"/>
            <a:ext cx="3693313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53975">
              <a:spcBef>
                <a:spcPts val="105"/>
              </a:spcBef>
              <a:tabLst>
                <a:tab pos="866775" algn="l"/>
                <a:tab pos="1890395" algn="l"/>
              </a:tabLst>
            </a:pPr>
            <a:r>
              <a:rPr sz="25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550" b="1" spc="-16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b="1" i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550" b="1" baseline="-21000" dirty="0">
                <a:latin typeface="Times New Roman" panose="02020603050405020304"/>
                <a:cs typeface="Times New Roman" panose="02020603050405020304"/>
              </a:rPr>
              <a:t>0	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i="1" spc="13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b</a:t>
            </a:r>
            <a:endParaRPr sz="25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4124" y="2628602"/>
            <a:ext cx="1154558" cy="274689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spcBef>
                <a:spcPts val="100"/>
              </a:spcBef>
              <a:tabLst>
                <a:tab pos="283210" algn="l"/>
              </a:tabLst>
            </a:pP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0	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5624" y="1999381"/>
            <a:ext cx="2840536" cy="811671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67310">
              <a:spcBef>
                <a:spcPts val="105"/>
              </a:spcBef>
              <a:tabLst>
                <a:tab pos="1176655" algn="l"/>
              </a:tabLst>
            </a:pPr>
            <a:r>
              <a:rPr lang="en-US" sz="3825" b="1" i="1" spc="-7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3825" b="1" i="1" spc="-7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-2	</a:t>
            </a:r>
            <a:r>
              <a:rPr lang="en-US" sz="17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3825" b="1" i="1" spc="-7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-1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67310">
              <a:spcBef>
                <a:spcPts val="140"/>
              </a:spcBef>
              <a:tabLst>
                <a:tab pos="1139825" algn="l"/>
              </a:tabLst>
            </a:pP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i="1" spc="21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b	a</a:t>
            </a:r>
            <a:r>
              <a:rPr sz="2550" b="1" i="1" spc="18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b</a:t>
            </a:r>
            <a:endParaRPr sz="25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8823" y="2628602"/>
            <a:ext cx="2637337" cy="274689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spcBef>
                <a:spcPts val="100"/>
              </a:spcBef>
              <a:tabLst>
                <a:tab pos="283210" algn="l"/>
                <a:tab pos="1085850" algn="l"/>
                <a:tab pos="1355725" algn="l"/>
              </a:tabLst>
            </a:pP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0	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1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1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6908" y="2938928"/>
            <a:ext cx="584835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55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endParaRPr sz="2550" baseline="-2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95127" y="2938928"/>
            <a:ext cx="1538896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55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2550" baseline="-21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1023" y="3022936"/>
            <a:ext cx="1823924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-2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64245" y="3022936"/>
            <a:ext cx="1707394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7057" y="4309154"/>
            <a:ext cx="3152241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  <a:tabLst>
                <a:tab pos="1143000" algn="l"/>
              </a:tabLst>
            </a:pP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-2	</a:t>
            </a:r>
            <a:r>
              <a:rPr lang="en-US" sz="17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3488" y="1858792"/>
            <a:ext cx="2183461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53975">
              <a:spcBef>
                <a:spcPts val="100"/>
              </a:spcBef>
              <a:tabLst>
                <a:tab pos="782320" algn="l"/>
                <a:tab pos="1132205" algn="l"/>
              </a:tabLst>
            </a:pPr>
            <a:r>
              <a:rPr lang="en-US" sz="25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55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lang="en-US" sz="255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        </a:t>
            </a:r>
            <a:r>
              <a:rPr sz="4465" b="1" i="1" spc="-7" baseline="-20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5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55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550" baseline="-21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8474" y="2406873"/>
            <a:ext cx="144780" cy="319070"/>
          </a:xfrm>
          <a:prstGeom prst="rect">
            <a:avLst/>
          </a:prstGeom>
        </p:spPr>
        <p:txBody>
          <a:bodyPr vert="horz" wrap="square" lIns="0" tIns="16200" rIns="0" bIns="0" rtlCol="0">
            <a:spAutoFit/>
          </a:bodyPr>
          <a:lstStyle/>
          <a:p>
            <a:pPr marL="13335">
              <a:spcBef>
                <a:spcPts val="130"/>
              </a:spcBef>
            </a:pPr>
            <a:r>
              <a:rPr sz="1965" b="1" spc="1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196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73264" y="2489442"/>
            <a:ext cx="685800" cy="3429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0" y="304800"/>
                </a:moveTo>
                <a:lnTo>
                  <a:pt x="6858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17" name="object 17"/>
          <p:cNvSpPr txBox="1"/>
          <p:nvPr/>
        </p:nvSpPr>
        <p:spPr>
          <a:xfrm>
            <a:off x="2118604" y="3246108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18604" y="3402127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8403" y="3732707"/>
            <a:ext cx="3895000" cy="1000312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 marR="32385">
              <a:lnSpc>
                <a:spcPct val="124000"/>
              </a:lnSpc>
              <a:spcBef>
                <a:spcPts val="105"/>
              </a:spcBef>
              <a:tabLst>
                <a:tab pos="850265" algn="l"/>
              </a:tabLst>
            </a:pPr>
            <a:r>
              <a:rPr sz="3825" b="1" i="1" spc="-7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550" b="1" i="1" spc="-7" baseline="2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550" b="1" spc="-7" baseline="2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-2 </a:t>
            </a:r>
            <a:r>
              <a:rPr sz="3825" b="1" i="1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825" b="1" i="1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-2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0  </a:t>
            </a:r>
            <a:r>
              <a:rPr lang="en-US" sz="1700" b="1" spc="-5" dirty="0">
                <a:latin typeface="Times New Roman" panose="02020603050405020304"/>
                <a:cs typeface="Times New Roman" panose="02020603050405020304"/>
              </a:rPr>
              <a:t>    </a:t>
            </a:r>
          </a:p>
          <a:p>
            <a:pPr marL="40640" marR="32385">
              <a:lnSpc>
                <a:spcPct val="124000"/>
              </a:lnSpc>
              <a:spcBef>
                <a:spcPts val="105"/>
              </a:spcBef>
              <a:tabLst>
                <a:tab pos="850265" algn="l"/>
              </a:tabLst>
            </a:pPr>
            <a:r>
              <a:rPr lang="en-US" sz="17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25" b="1" i="1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1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7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825" b="1" i="1" baseline="14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25" b="1" i="1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1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825" b="1" i="1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0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85674" y="3733241"/>
            <a:ext cx="2281454" cy="955300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 marR="32385">
              <a:lnSpc>
                <a:spcPct val="124000"/>
              </a:lnSpc>
              <a:spcBef>
                <a:spcPts val="105"/>
              </a:spcBef>
            </a:pPr>
            <a:r>
              <a:rPr sz="3825" b="1" i="1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1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825" b="1" i="1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1  </a:t>
            </a:r>
            <a:endParaRPr lang="en-US" sz="1700" b="1" spc="-5" dirty="0">
              <a:latin typeface="Times New Roman" panose="02020603050405020304"/>
              <a:cs typeface="Times New Roman" panose="02020603050405020304"/>
            </a:endParaRPr>
          </a:p>
          <a:p>
            <a:pPr marL="40640" marR="32385">
              <a:lnSpc>
                <a:spcPct val="124000"/>
              </a:lnSpc>
              <a:spcBef>
                <a:spcPts val="105"/>
              </a:spcBef>
            </a:pPr>
            <a:r>
              <a:rPr sz="3825" b="1" i="1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1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825" b="1" i="1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87567" y="3799948"/>
            <a:ext cx="1868806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-2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-2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30764" y="3799948"/>
            <a:ext cx="1897435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-2</a:t>
            </a:r>
            <a:r>
              <a:rPr sz="3825" b="1" i="1" spc="-7" baseline="140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7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-1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25665" y="2575166"/>
            <a:ext cx="1371600" cy="685801"/>
          </a:xfrm>
          <a:custGeom>
            <a:avLst/>
            <a:gdLst/>
            <a:ahLst/>
            <a:cxnLst/>
            <a:rect l="l" t="t" r="r" b="b"/>
            <a:pathLst>
              <a:path w="1371600" h="609600">
                <a:moveTo>
                  <a:pt x="0" y="609600"/>
                </a:moveTo>
                <a:lnTo>
                  <a:pt x="13716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24" name="object 24"/>
          <p:cNvSpPr txBox="1"/>
          <p:nvPr/>
        </p:nvSpPr>
        <p:spPr>
          <a:xfrm>
            <a:off x="4176259" y="2181402"/>
            <a:ext cx="183515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spcBef>
                <a:spcPts val="100"/>
              </a:spcBef>
            </a:pPr>
            <a:r>
              <a:rPr sz="2975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97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33230" y="2411146"/>
            <a:ext cx="144780" cy="319070"/>
          </a:xfrm>
          <a:prstGeom prst="rect">
            <a:avLst/>
          </a:prstGeom>
        </p:spPr>
        <p:txBody>
          <a:bodyPr vert="horz" wrap="square" lIns="0" tIns="16200" rIns="0" bIns="0" rtlCol="0">
            <a:spAutoFit/>
          </a:bodyPr>
          <a:lstStyle/>
          <a:p>
            <a:pPr marL="13335">
              <a:spcBef>
                <a:spcPts val="130"/>
              </a:spcBef>
            </a:pPr>
            <a:r>
              <a:rPr sz="1965" b="1" spc="1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196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01864" y="2575167"/>
            <a:ext cx="4114800" cy="2057401"/>
          </a:xfrm>
          <a:custGeom>
            <a:avLst/>
            <a:gdLst/>
            <a:ahLst/>
            <a:cxnLst/>
            <a:rect l="l" t="t" r="r" b="b"/>
            <a:pathLst>
              <a:path w="4114800" h="1828800">
                <a:moveTo>
                  <a:pt x="0" y="1828800"/>
                </a:moveTo>
                <a:lnTo>
                  <a:pt x="41148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27" name="object 27"/>
          <p:cNvSpPr txBox="1"/>
          <p:nvPr/>
        </p:nvSpPr>
        <p:spPr>
          <a:xfrm>
            <a:off x="6887278" y="2181402"/>
            <a:ext cx="183515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spcBef>
                <a:spcPts val="100"/>
              </a:spcBef>
            </a:pPr>
            <a:r>
              <a:rPr sz="2975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97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44249" y="2411146"/>
            <a:ext cx="1241911" cy="319070"/>
          </a:xfrm>
          <a:prstGeom prst="rect">
            <a:avLst/>
          </a:prstGeom>
        </p:spPr>
        <p:txBody>
          <a:bodyPr vert="horz" wrap="square" lIns="0" tIns="16200" rIns="0" bIns="0" rtlCol="0">
            <a:spAutoFit/>
          </a:bodyPr>
          <a:lstStyle/>
          <a:p>
            <a:pPr marL="13335">
              <a:spcBef>
                <a:spcPts val="130"/>
              </a:spcBef>
            </a:pPr>
            <a:r>
              <a:rPr sz="1965" b="1" i="1" spc="1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65" b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-1</a:t>
            </a:r>
            <a:endParaRPr sz="196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42169" y="3905533"/>
            <a:ext cx="1371600" cy="685801"/>
          </a:xfrm>
          <a:custGeom>
            <a:avLst/>
            <a:gdLst/>
            <a:ahLst/>
            <a:cxnLst/>
            <a:rect l="l" t="t" r="r" b="b"/>
            <a:pathLst>
              <a:path w="1371600" h="609600">
                <a:moveTo>
                  <a:pt x="0" y="609600"/>
                </a:moveTo>
                <a:lnTo>
                  <a:pt x="13716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30" name="object 30"/>
          <p:cNvSpPr txBox="1"/>
          <p:nvPr/>
        </p:nvSpPr>
        <p:spPr>
          <a:xfrm>
            <a:off x="4954386" y="4529159"/>
            <a:ext cx="1826642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40640">
              <a:spcBef>
                <a:spcPts val="100"/>
              </a:spcBef>
            </a:pPr>
            <a:r>
              <a:rPr sz="4465" b="1" i="1" spc="7" baseline="14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965" b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65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65" b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-3</a:t>
            </a:r>
            <a:endParaRPr sz="196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96116" y="4289668"/>
            <a:ext cx="685800" cy="3429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0" y="304800"/>
                </a:moveTo>
                <a:lnTo>
                  <a:pt x="6858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32" name="object 32"/>
          <p:cNvSpPr txBox="1"/>
          <p:nvPr/>
        </p:nvSpPr>
        <p:spPr>
          <a:xfrm>
            <a:off x="5945241" y="4524567"/>
            <a:ext cx="1874456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40640">
              <a:spcBef>
                <a:spcPts val="100"/>
              </a:spcBef>
            </a:pPr>
            <a:r>
              <a:rPr sz="4465" b="1" i="1" spc="7" baseline="14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965" b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65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65" b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-2</a:t>
            </a:r>
            <a:endParaRPr sz="196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990" y="1233009"/>
            <a:ext cx="8287638" cy="781964"/>
          </a:xfrm>
          <a:prstGeom prst="rect">
            <a:avLst/>
          </a:prstGeom>
        </p:spPr>
        <p:txBody>
          <a:bodyPr vert="horz" wrap="square" lIns="0" tIns="37801" rIns="0" bIns="0" rtlCol="0">
            <a:spAutoFit/>
          </a:bodyPr>
          <a:lstStyle/>
          <a:p>
            <a:pPr marL="13335" marR="5715" algn="just">
              <a:lnSpc>
                <a:spcPts val="2945"/>
              </a:lnSpc>
              <a:spcBef>
                <a:spcPts val="3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下述矩阵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每个斜线的项之和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恰好是卷积中的各个分量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. .</a:t>
            </a:r>
            <a:r>
              <a:rPr sz="2800" b="1" spc="-32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638410" y="4157251"/>
            <a:ext cx="1349425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spcBef>
                <a:spcPts val="100"/>
              </a:spcBef>
            </a:pPr>
            <a:r>
              <a:rPr sz="2975" spc="-5" dirty="0">
                <a:latin typeface="Arial" panose="020B0604020202020204"/>
                <a:cs typeface="Arial" panose="020B0604020202020204"/>
              </a:rPr>
              <a:t>. .</a:t>
            </a:r>
            <a:r>
              <a:rPr sz="2975" spc="-117" dirty="0">
                <a:latin typeface="Arial" panose="020B0604020202020204"/>
                <a:cs typeface="Arial" panose="020B0604020202020204"/>
              </a:rPr>
              <a:t> </a:t>
            </a:r>
            <a:r>
              <a:rPr sz="2975" spc="-5" dirty="0">
                <a:latin typeface="Arial" panose="020B0604020202020204"/>
                <a:cs typeface="Arial" panose="020B0604020202020204"/>
              </a:rPr>
              <a:t>.</a:t>
            </a:r>
            <a:endParaRPr sz="297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91493" y="3246108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91493" y="3402127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91493" y="3559860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76839" y="3246108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76839" y="3402127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76839" y="3559860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95259" y="3246108"/>
            <a:ext cx="37820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95259" y="3402127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95259" y="3559860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80858" y="3246108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80858" y="3402127"/>
            <a:ext cx="89535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18604" y="3570370"/>
            <a:ext cx="2241169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  <a:tabLst>
                <a:tab pos="822960" algn="l"/>
              </a:tabLst>
            </a:pPr>
            <a:r>
              <a:rPr sz="1915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lang="en-US" sz="1915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          </a:t>
            </a:r>
            <a:r>
              <a:rPr sz="1915" b="1" dirty="0">
                <a:latin typeface="Arial" panose="020B0604020202020204"/>
                <a:cs typeface="Arial" panose="020B0604020202020204"/>
              </a:rPr>
              <a:t>.</a:t>
            </a:r>
            <a:endParaRPr sz="191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33839" y="2356282"/>
            <a:ext cx="1522120" cy="88498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lnSpc>
                <a:spcPts val="3380"/>
              </a:lnSpc>
              <a:spcBef>
                <a:spcPts val="100"/>
              </a:spcBef>
            </a:pPr>
            <a:r>
              <a:rPr sz="2975" spc="-5" dirty="0">
                <a:latin typeface="Arial" panose="020B0604020202020204"/>
                <a:cs typeface="Arial" panose="020B0604020202020204"/>
              </a:rPr>
              <a:t>. .</a:t>
            </a:r>
            <a:r>
              <a:rPr sz="2975" spc="-121" dirty="0">
                <a:latin typeface="Arial" panose="020B0604020202020204"/>
                <a:cs typeface="Arial" panose="020B0604020202020204"/>
              </a:rPr>
              <a:t> </a:t>
            </a:r>
            <a:r>
              <a:rPr sz="2975" spc="-5" dirty="0">
                <a:latin typeface="Arial" panose="020B0604020202020204"/>
                <a:cs typeface="Arial" panose="020B0604020202020204"/>
              </a:rPr>
              <a:t>.</a:t>
            </a:r>
            <a:endParaRPr sz="2975">
              <a:latin typeface="Arial" panose="020B0604020202020204"/>
              <a:cs typeface="Arial" panose="020B0604020202020204"/>
            </a:endParaRPr>
          </a:p>
          <a:p>
            <a:pPr marL="13335">
              <a:lnSpc>
                <a:spcPts val="3380"/>
              </a:lnSpc>
            </a:pPr>
            <a:r>
              <a:rPr sz="2975" spc="-5" dirty="0">
                <a:latin typeface="Arial" panose="020B0604020202020204"/>
                <a:cs typeface="Arial" panose="020B0604020202020204"/>
              </a:rPr>
              <a:t>. .</a:t>
            </a:r>
            <a:r>
              <a:rPr sz="2975" spc="-121" dirty="0">
                <a:latin typeface="Arial" panose="020B0604020202020204"/>
                <a:cs typeface="Arial" panose="020B0604020202020204"/>
              </a:rPr>
              <a:t> </a:t>
            </a:r>
            <a:r>
              <a:rPr sz="2975" spc="-5" dirty="0">
                <a:latin typeface="Arial" panose="020B0604020202020204"/>
                <a:cs typeface="Arial" panose="020B0604020202020204"/>
              </a:rPr>
              <a:t>.</a:t>
            </a:r>
            <a:endParaRPr sz="297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14356" y="3660304"/>
            <a:ext cx="1441914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>
              <a:spcBef>
                <a:spcPts val="100"/>
              </a:spcBef>
            </a:pPr>
            <a:r>
              <a:rPr sz="2975" spc="-5" dirty="0">
                <a:latin typeface="Arial" panose="020B0604020202020204"/>
                <a:cs typeface="Arial" panose="020B0604020202020204"/>
              </a:rPr>
              <a:t>. .</a:t>
            </a:r>
            <a:r>
              <a:rPr sz="2975" spc="-117" dirty="0">
                <a:latin typeface="Arial" panose="020B0604020202020204"/>
                <a:cs typeface="Arial" panose="020B0604020202020204"/>
              </a:rPr>
              <a:t> </a:t>
            </a:r>
            <a:r>
              <a:rPr sz="2975" spc="-5" dirty="0">
                <a:latin typeface="Arial" panose="020B0604020202020204"/>
                <a:cs typeface="Arial" panose="020B0604020202020204"/>
              </a:rPr>
              <a:t>.</a:t>
            </a:r>
            <a:endParaRPr sz="297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14"/>
          <p:cNvSpPr txBox="1"/>
          <p:nvPr/>
        </p:nvSpPr>
        <p:spPr>
          <a:xfrm>
            <a:off x="3218352" y="2077223"/>
            <a:ext cx="256220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53975">
              <a:spcBef>
                <a:spcPts val="100"/>
              </a:spcBef>
              <a:tabLst>
                <a:tab pos="782320" algn="l"/>
                <a:tab pos="1132205" algn="l"/>
              </a:tabLst>
            </a:pPr>
            <a:r>
              <a:rPr sz="4465" b="1" i="1" spc="-7" baseline="-20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	</a:t>
            </a:r>
            <a:endParaRPr sz="2550" baseline="-210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/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411" y="31470"/>
            <a:ext cx="8383726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4741" y="3280295"/>
            <a:ext cx="1779704" cy="2166023"/>
          </a:xfrm>
          <a:prstGeom prst="rect">
            <a:avLst/>
          </a:prstGeom>
        </p:spPr>
        <p:txBody>
          <a:bodyPr vert="horz" wrap="square" lIns="0" tIns="11475" rIns="0" bIns="0" rtlCol="0">
            <a:spAutoFit/>
          </a:bodyPr>
          <a:lstStyle/>
          <a:p>
            <a:pPr marL="40640" marR="32385" indent="808355">
              <a:lnSpc>
                <a:spcPct val="100000"/>
              </a:lnSpc>
              <a:spcBef>
                <a:spcPts val="90"/>
              </a:spcBef>
              <a:tabLst>
                <a:tab pos="713740" algn="l"/>
              </a:tabLst>
            </a:pPr>
            <a:r>
              <a:rPr lang="en-US" sz="2800" b="1" i="1" spc="-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 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lang="en-US" sz="2800" b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4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0640">
              <a:tabLst>
                <a:tab pos="71374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4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0640">
              <a:tabLst>
                <a:tab pos="71374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800" b="1" spc="-5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7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0640">
              <a:tabLst>
                <a:tab pos="71374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4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0033" y="3280293"/>
            <a:ext cx="4224463" cy="216806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73990">
              <a:spcBef>
                <a:spcPts val="105"/>
              </a:spcBef>
              <a:tabLst>
                <a:tab pos="1173480" algn="l"/>
                <a:tab pos="2332990" algn="l"/>
              </a:tabLst>
            </a:pPr>
            <a:r>
              <a:rPr lang="en-US" sz="2800" b="1" i="1" spc="-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	</a:t>
            </a:r>
            <a:r>
              <a:rPr lang="en-US" sz="2800" b="1" i="1" spc="-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	</a:t>
            </a:r>
            <a:r>
              <a:rPr lang="en-US" sz="2800" b="1" spc="-7" baseline="-2100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endParaRPr sz="2800" baseline="-210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spcBef>
                <a:spcPts val="10"/>
              </a:spcBef>
              <a:tabLst>
                <a:tab pos="1121410" algn="l"/>
                <a:tab pos="2272030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	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8	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tabLst>
                <a:tab pos="1121410" algn="l"/>
                <a:tab pos="2272030" algn="l"/>
              </a:tabLst>
            </a:pP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800" b="1" spc="-5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	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8	2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spcBef>
                <a:spcPts val="5"/>
              </a:spcBef>
              <a:tabLst>
                <a:tab pos="1121410" algn="l"/>
                <a:tab pos="2272030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	4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8	4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tabLst>
                <a:tab pos="1121410" algn="l"/>
                <a:tab pos="2270760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	3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8	3 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1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171" y="1005003"/>
            <a:ext cx="8164206" cy="2083634"/>
          </a:xfrm>
          <a:prstGeom prst="rect">
            <a:avLst/>
          </a:prstGeom>
        </p:spPr>
        <p:txBody>
          <a:bodyPr vert="horz" wrap="square" lIns="0" tIns="102603" rIns="0" bIns="0" rtlCol="0">
            <a:spAutoFit/>
          </a:bodyPr>
          <a:lstStyle/>
          <a:p>
            <a:pPr marL="13335">
              <a:spcBef>
                <a:spcPts val="810"/>
              </a:spcBef>
              <a:tabLst>
                <a:tab pos="3169285" algn="l"/>
              </a:tabLst>
            </a:pP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向</a:t>
            </a:r>
            <a:r>
              <a:rPr sz="2800" b="1" spc="-11" dirty="0" err="1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量</a:t>
            </a:r>
            <a:r>
              <a:rPr sz="2800" b="1" spc="-664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(1, 2, 4, 3),	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(4, 2, 8,</a:t>
            </a:r>
            <a:r>
              <a:rPr sz="2800" b="1" spc="-10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0)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13335">
              <a:spcBef>
                <a:spcPts val="705"/>
              </a:spcBef>
              <a:tabLst>
                <a:tab pos="699770" algn="l"/>
              </a:tabLst>
            </a:pPr>
            <a:r>
              <a:rPr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则</a:t>
            </a:r>
            <a:r>
              <a:rPr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 err="1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dirty="0" err="1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dirty="0" err="1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(5, 4, 12, 3)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741045">
              <a:spcBef>
                <a:spcPts val="675"/>
              </a:spcBef>
              <a:tabLst>
                <a:tab pos="1307465" algn="l"/>
              </a:tabLst>
            </a:pPr>
            <a:r>
              <a:rPr lang="en-US" sz="280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 err="1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dirty="0" err="1">
                <a:latin typeface="Symbol" panose="05050102010706020507"/>
                <a:cs typeface="Symbol" panose="05050102010706020507"/>
              </a:rPr>
              <a:t></a:t>
            </a:r>
            <a:r>
              <a:rPr sz="2800" b="1" i="1" dirty="0" err="1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(4, 4, 32, 0)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741045">
              <a:spcBef>
                <a:spcPts val="575"/>
              </a:spcBef>
            </a:pPr>
            <a:r>
              <a:rPr lang="en-US" sz="2800" b="1" i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11" dirty="0" err="1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11" dirty="0" err="1">
                <a:latin typeface="Symbol" panose="05050102010706020507"/>
                <a:cs typeface="Symbol" panose="05050102010706020507"/>
              </a:rPr>
              <a:t></a:t>
            </a:r>
            <a:r>
              <a:rPr sz="2800" b="1" i="1" spc="-11" dirty="0" err="1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(4, 10, 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28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, 36, 38, 24,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0)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3678" y="5673933"/>
            <a:ext cx="4727057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>
              <a:spcBef>
                <a:spcPts val="105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4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4 + 2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 +1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8 =</a:t>
            </a:r>
            <a:r>
              <a:rPr sz="2800" b="1" spc="-4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28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828" y="90675"/>
            <a:ext cx="8414043" cy="690059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335" algn="ctr"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卷积应用：信号平滑处理</a:t>
            </a:r>
            <a:endParaRPr sz="4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35222"/>
            <a:ext cx="172212" cy="418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4" name="object 4"/>
          <p:cNvSpPr/>
          <p:nvPr/>
        </p:nvSpPr>
        <p:spPr>
          <a:xfrm>
            <a:off x="10667" y="664369"/>
            <a:ext cx="187452" cy="4183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5" name="object 5"/>
          <p:cNvSpPr/>
          <p:nvPr/>
        </p:nvSpPr>
        <p:spPr>
          <a:xfrm>
            <a:off x="0" y="635222"/>
            <a:ext cx="172212" cy="418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6" name="object 6"/>
          <p:cNvSpPr/>
          <p:nvPr/>
        </p:nvSpPr>
        <p:spPr>
          <a:xfrm>
            <a:off x="10667" y="664369"/>
            <a:ext cx="187452" cy="4183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7" name="object 7"/>
          <p:cNvSpPr/>
          <p:nvPr/>
        </p:nvSpPr>
        <p:spPr>
          <a:xfrm>
            <a:off x="0" y="635222"/>
            <a:ext cx="172212" cy="418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8" name="object 8"/>
          <p:cNvSpPr/>
          <p:nvPr/>
        </p:nvSpPr>
        <p:spPr>
          <a:xfrm>
            <a:off x="10667" y="664369"/>
            <a:ext cx="187452" cy="4183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9" name="object 9"/>
          <p:cNvSpPr txBox="1"/>
          <p:nvPr/>
        </p:nvSpPr>
        <p:spPr>
          <a:xfrm>
            <a:off x="459741" y="1247659"/>
            <a:ext cx="6334005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335">
              <a:spcBef>
                <a:spcPts val="105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由于噪音干扰，对信号需要平滑处理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59643" y="2352548"/>
            <a:ext cx="4745735" cy="28452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32928" y="138616"/>
            <a:ext cx="534161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高斯滤波的权值函数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41" y="1630846"/>
            <a:ext cx="4609702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高斯滤波的权值函数为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72441" y="3103425"/>
            <a:ext cx="8308489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30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其中</a:t>
            </a:r>
            <a:r>
              <a:rPr sz="2800" b="1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z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用于归一化处理，使所有的权值之和为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1.</a:t>
            </a:r>
            <a:r>
              <a:rPr sz="2800" b="1" spc="62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endParaRPr lang="en-US" sz="2800" b="1" spc="625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  <a:p>
            <a:pPr>
              <a:lnSpc>
                <a:spcPts val="2830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处理结果</a:t>
            </a: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ETFSQW+ËÎÌå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98" y="4374334"/>
            <a:ext cx="4020960" cy="586390"/>
          </a:xfrm>
          <a:prstGeom prst="rect">
            <a:avLst/>
          </a:prstGeom>
        </p:spPr>
      </p:pic>
      <p:sp>
        <p:nvSpPr>
          <p:cNvPr id="30" name="object 1"/>
          <p:cNvSpPr/>
          <p:nvPr/>
        </p:nvSpPr>
        <p:spPr>
          <a:xfrm>
            <a:off x="4815086" y="1009018"/>
            <a:ext cx="3411099" cy="2036469"/>
          </a:xfrm>
          <a:prstGeom prst="rect">
            <a:avLst/>
          </a:prstGeom>
          <a:blipFill>
            <a:blip r:embed="rId3" cstate="print"/>
            <a:srcRect/>
            <a:stretch>
              <a:fillRect l="-183414" t="-53102" r="-141270" b="-142564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25" y="2027253"/>
            <a:ext cx="3743869" cy="99322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1" y="18009"/>
            <a:ext cx="8459376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平滑处理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672" y="1195161"/>
            <a:ext cx="8081844" cy="105199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06045" marR="19050" indent="-79375">
              <a:lnSpc>
                <a:spcPct val="119000"/>
              </a:lnSpc>
              <a:spcBef>
                <a:spcPts val="105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信号向量</a:t>
            </a:r>
            <a:r>
              <a:rPr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800" b="1" spc="-66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 </a:t>
            </a:r>
            <a:endParaRPr lang="en-US" sz="2800" b="1" spc="-5" dirty="0">
              <a:latin typeface="Times New Roman" panose="02020603050405020304"/>
              <a:cs typeface="Times New Roman" panose="02020603050405020304"/>
            </a:endParaRPr>
          </a:p>
          <a:p>
            <a:pPr marL="106045" marR="19050" indent="-79375">
              <a:lnSpc>
                <a:spcPct val="119000"/>
              </a:lnSpc>
              <a:spcBef>
                <a:spcPts val="105"/>
              </a:spcBef>
            </a:pPr>
            <a:r>
              <a:rPr lang="en-US"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                   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=(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baseline="-21000" dirty="0">
                <a:solidFill>
                  <a:srgbClr val="C0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,…,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=(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7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-k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 ... ,</a:t>
            </a:r>
            <a:r>
              <a:rPr sz="2800" b="1" i="1" spc="-9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7" baseline="-21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172" y="4460942"/>
            <a:ext cx="8256545" cy="888230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640" marR="32385" algn="just">
              <a:spcBef>
                <a:spcPts val="105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把向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看作2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+1长度窗口在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上移动计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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b,</a:t>
            </a:r>
            <a:endParaRPr lang="en-US" sz="2800" b="1" i="1" spc="-5" dirty="0">
              <a:latin typeface="Times New Roman" panose="02020603050405020304"/>
              <a:cs typeface="Times New Roman" panose="02020603050405020304"/>
            </a:endParaRPr>
          </a:p>
          <a:p>
            <a:pPr marL="40640" marR="32385" algn="just">
              <a:spcBef>
                <a:spcPts val="105"/>
              </a:spcBef>
            </a:pP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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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,…,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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).</a:t>
            </a:r>
            <a:r>
              <a:rPr sz="2800" b="1" spc="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少数项有误差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10831" y="3479335"/>
          <a:ext cx="4779638" cy="308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8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927" y="2449497"/>
            <a:ext cx="4665656" cy="979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" name="object 17"/>
          <p:cNvGraphicFramePr>
            <a:graphicFrameLocks noGrp="1"/>
          </p:cNvGraphicFramePr>
          <p:nvPr/>
        </p:nvGraphicFramePr>
        <p:xfrm>
          <a:off x="710262" y="3898831"/>
          <a:ext cx="2384422" cy="377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68 -4.81481E-6 L 0.05486 -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14 -4.81481E-6 L 0.10295 -4.8148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332" y="16739"/>
            <a:ext cx="8183159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卷积与多项式乘法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371" y="1114171"/>
            <a:ext cx="8272144" cy="2018544"/>
          </a:xfrm>
          <a:prstGeom prst="rect">
            <a:avLst/>
          </a:prstGeom>
        </p:spPr>
        <p:txBody>
          <a:bodyPr vert="horz" wrap="square" lIns="0" tIns="86402" rIns="0" bIns="0" rtlCol="0">
            <a:spAutoFit/>
          </a:bodyPr>
          <a:lstStyle/>
          <a:p>
            <a:pPr marL="53975" algn="just">
              <a:spcBef>
                <a:spcPts val="680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多项式乘法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213995" marR="45720" indent="-11430" algn="just">
              <a:lnSpc>
                <a:spcPts val="3680"/>
              </a:lnSpc>
              <a:spcBef>
                <a:spcPts val="185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baseline="24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… +</a:t>
            </a:r>
            <a:r>
              <a:rPr sz="2800" b="1" spc="-10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i="1" spc="-7" baseline="240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b="1" spc="-7" baseline="24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1  </a:t>
            </a:r>
            <a:endParaRPr lang="en-US" sz="2800" b="1" spc="-7" baseline="24000" dirty="0">
              <a:latin typeface="Times New Roman" panose="02020603050405020304"/>
              <a:cs typeface="Times New Roman" panose="02020603050405020304"/>
            </a:endParaRPr>
          </a:p>
          <a:p>
            <a:pPr marL="213995" marR="45720" indent="-11430" algn="just">
              <a:lnSpc>
                <a:spcPts val="3680"/>
              </a:lnSpc>
              <a:spcBef>
                <a:spcPts val="185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baseline="24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… 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i="1" baseline="24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24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24000" dirty="0">
                <a:latin typeface="Times New Roman" panose="02020603050405020304"/>
                <a:cs typeface="Times New Roman" panose="02020603050405020304"/>
              </a:rPr>
              <a:t>1  </a:t>
            </a:r>
            <a:endParaRPr lang="en-US" sz="2800" b="1" baseline="24000" dirty="0">
              <a:latin typeface="Times New Roman" panose="02020603050405020304"/>
              <a:cs typeface="Times New Roman" panose="02020603050405020304"/>
            </a:endParaRPr>
          </a:p>
          <a:p>
            <a:pPr marL="213995" marR="45720" indent="-11430" algn="just">
              <a:lnSpc>
                <a:spcPts val="3680"/>
              </a:lnSpc>
              <a:spcBef>
                <a:spcPts val="185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28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lang="pt-BR" altLang="zh-CN" sz="2800" b="1" dirty="0">
                <a:latin typeface="Times New Roman" panose="02020603050405020304"/>
                <a:cs typeface="Times New Roman" panose="02020603050405020304"/>
              </a:rPr>
              <a:t> +</a:t>
            </a:r>
            <a:r>
              <a:rPr sz="2800" b="1" baseline="1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7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5" baseline="-250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b="1" spc="-5" baseline="-25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5" baseline="-25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spc="-7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-5" baseline="-25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baseline="-25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5" baseline="-25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27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7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i="1" spc="-7" baseline="45000" dirty="0">
                <a:latin typeface="Times New Roman" panose="02020603050405020304"/>
                <a:cs typeface="Times New Roman" panose="02020603050405020304"/>
              </a:rPr>
              <a:t>m+n</a:t>
            </a:r>
            <a:r>
              <a:rPr sz="2800" b="1" spc="-7" baseline="45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45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800" baseline="45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532" y="4882399"/>
            <a:ext cx="5483524" cy="1577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529371" y="4269422"/>
            <a:ext cx="24023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975" algn="just">
              <a:spcBef>
                <a:spcPts val="1330"/>
              </a:spcBef>
            </a:pPr>
            <a:r>
              <a:rPr lang="zh-CN" altLang="en-US"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其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中</a:t>
            </a:r>
            <a:r>
              <a:rPr lang="zh-CN" altLang="en-US" sz="2800" b="1" spc="-654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spc="-5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spc="-7" baseline="24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baseline="2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的系数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5242" y="3230401"/>
            <a:ext cx="7745270" cy="532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3995" marR="45720" indent="-11430" algn="just">
              <a:lnSpc>
                <a:spcPts val="3680"/>
              </a:lnSpc>
              <a:spcBef>
                <a:spcPts val="185"/>
              </a:spcBef>
            </a:pPr>
            <a:r>
              <a:rPr lang="pt-BR" altLang="zh-CN" sz="2800" b="1" i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pt-BR" altLang="zh-CN"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pt-BR" altLang="zh-CN"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pt-BR" altLang="zh-CN"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lang="pt-BR" altLang="zh-CN" sz="28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lang="pt-BR" altLang="zh-CN" sz="2800" b="1" i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pt-BR" altLang="zh-CN" sz="2800" b="1" spc="-7" baseline="-21000" dirty="0">
                <a:latin typeface="Times New Roman" panose="02020603050405020304"/>
                <a:cs typeface="Times New Roman" panose="02020603050405020304"/>
              </a:rPr>
              <a:t>0     </a:t>
            </a:r>
            <a:r>
              <a:rPr lang="pt-BR" altLang="zh-CN" sz="2800" b="1" dirty="0">
                <a:latin typeface="Times New Roman" panose="02020603050405020304"/>
                <a:cs typeface="Times New Roman" panose="02020603050405020304"/>
              </a:rPr>
              <a:t>+                </a:t>
            </a:r>
            <a:r>
              <a:rPr lang="pt-BR" altLang="zh-CN" sz="2800" b="1" i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pt-BR" altLang="zh-CN"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pt-BR" altLang="zh-CN" sz="2800" b="1" i="1" dirty="0">
                <a:latin typeface="Times New Roman" panose="02020603050405020304"/>
                <a:cs typeface="Times New Roman" panose="02020603050405020304"/>
              </a:rPr>
              <a:t>x  </a:t>
            </a:r>
            <a:r>
              <a:rPr lang="pt-BR" altLang="zh-CN"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pt-BR" altLang="zh-CN" sz="2800" b="1" spc="-28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pt-BR" altLang="zh-CN" sz="2800" b="1" dirty="0">
                <a:latin typeface="Times New Roman" panose="02020603050405020304"/>
                <a:cs typeface="Times New Roman" panose="02020603050405020304"/>
              </a:rPr>
              <a:t>… +   </a:t>
            </a:r>
            <a:r>
              <a:rPr lang="pt-BR" altLang="zh-CN" sz="2800" b="1" i="1" spc="-7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pt-BR" altLang="zh-CN" sz="2800" b="1" i="1" spc="-5" baseline="-25000" dirty="0">
                <a:latin typeface="Times New Roman" panose="02020603050405020304"/>
                <a:cs typeface="Times New Roman" panose="02020603050405020304"/>
              </a:rPr>
              <a:t>m+n</a:t>
            </a:r>
            <a:r>
              <a:rPr lang="pt-BR" altLang="zh-CN" sz="2800" b="1" spc="-5" baseline="-25000" dirty="0">
                <a:latin typeface="Symbol" panose="05050102010706020507"/>
                <a:cs typeface="Symbol" panose="05050102010706020507"/>
              </a:rPr>
              <a:t></a:t>
            </a:r>
            <a:r>
              <a:rPr lang="pt-BR" altLang="zh-CN" sz="2800" b="1" spc="-5" baseline="-25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pt-BR" altLang="zh-CN" sz="2800" b="1" i="1" spc="-7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pt-BR" altLang="zh-CN" sz="2800" b="1" i="1" spc="-7" baseline="45000" dirty="0">
                <a:latin typeface="Times New Roman" panose="02020603050405020304"/>
                <a:cs typeface="Times New Roman" panose="02020603050405020304"/>
              </a:rPr>
              <a:t>m+n</a:t>
            </a:r>
            <a:r>
              <a:rPr lang="pt-BR" altLang="zh-CN" sz="2800" b="1" spc="-7" baseline="45000" dirty="0">
                <a:latin typeface="Symbol" panose="05050102010706020507"/>
                <a:cs typeface="Symbol" panose="05050102010706020507"/>
              </a:rPr>
              <a:t></a:t>
            </a:r>
            <a:r>
              <a:rPr lang="pt-BR" altLang="zh-CN" sz="2800" b="1" spc="-7" baseline="45000" dirty="0">
                <a:latin typeface="Times New Roman" panose="02020603050405020304"/>
                <a:cs typeface="Times New Roman" panose="02020603050405020304"/>
              </a:rPr>
              <a:t>2</a:t>
            </a:r>
            <a:endParaRPr lang="pt-BR" altLang="zh-CN" sz="2800" baseline="45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0192" y="2702859"/>
            <a:ext cx="730279" cy="10943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667000" y="2683219"/>
            <a:ext cx="1738059" cy="10943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562600" y="2702859"/>
            <a:ext cx="1335741" cy="10943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641" y="73831"/>
            <a:ext cx="8358756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641" y="1143066"/>
            <a:ext cx="8224156" cy="2344724"/>
          </a:xfrm>
          <a:prstGeom prst="rect">
            <a:avLst/>
          </a:prstGeom>
        </p:spPr>
        <p:txBody>
          <a:bodyPr vert="horz" wrap="square" lIns="0" tIns="104628" rIns="0" bIns="0" rtlCol="0">
            <a:spAutoFit/>
          </a:bodyPr>
          <a:lstStyle/>
          <a:p>
            <a:pPr marL="377825" indent="-364490">
              <a:spcBef>
                <a:spcPts val="825"/>
              </a:spcBef>
              <a:buFont typeface="Arial" panose="020B0604020202020204"/>
              <a:buChar char="•"/>
              <a:tabLst>
                <a:tab pos="377190" algn="l"/>
                <a:tab pos="377825" algn="l"/>
              </a:tabLst>
            </a:pPr>
            <a:r>
              <a:rPr sz="32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卷积的定义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77825" indent="-364490">
              <a:spcBef>
                <a:spcPts val="720"/>
              </a:spcBef>
              <a:buFont typeface="Arial" panose="020B0604020202020204"/>
              <a:buChar char="•"/>
              <a:tabLst>
                <a:tab pos="377190" algn="l"/>
                <a:tab pos="377825" algn="l"/>
              </a:tabLst>
            </a:pPr>
            <a:r>
              <a:rPr sz="32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卷积的应</a:t>
            </a:r>
            <a:r>
              <a:rPr sz="3200" b="1" spc="-16" dirty="0" err="1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用</a:t>
            </a:r>
            <a:r>
              <a:rPr sz="3200" b="1" spc="-5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——</a:t>
            </a:r>
            <a:r>
              <a:rPr sz="32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信号平滑处理</a:t>
            </a:r>
            <a:endParaRPr lang="en-US" sz="3200" b="1" spc="-5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77825" indent="-364490">
              <a:spcBef>
                <a:spcPts val="720"/>
              </a:spcBef>
              <a:buFont typeface="Arial" panose="020B0604020202020204"/>
              <a:buChar char="•"/>
              <a:tabLst>
                <a:tab pos="377190" algn="l"/>
                <a:tab pos="377825" algn="l"/>
              </a:tabLst>
            </a:pPr>
            <a:r>
              <a:rPr lang="zh-CN" altLang="en-US" sz="32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卷积与多项式乘法的关系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3335">
              <a:spcBef>
                <a:spcPts val="720"/>
              </a:spcBef>
              <a:tabLst>
                <a:tab pos="377190" algn="l"/>
                <a:tab pos="377825" algn="l"/>
              </a:tabLst>
            </a:pP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5680" y="2691095"/>
            <a:ext cx="7069378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0"/>
              </a:lnSpc>
            </a:pPr>
            <a:r>
              <a:rPr sz="6600" b="1" spc="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8471" y="142424"/>
            <a:ext cx="8279294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卷积计算：蛮力算法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37643" y="1157662"/>
                <a:ext cx="8284759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30"/>
                  </a:lnSpc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向量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𝒂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d>
                      <m:d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0" spc="12" smtClean="0">
                        <a:solidFill>
                          <a:srgbClr val="00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ETFSQW+ËÎÌå"/>
                      </a:rPr>
                      <m:t> 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𝒃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d>
                      <m:d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43" y="1157662"/>
                <a:ext cx="8284759" cy="359073"/>
              </a:xfrm>
              <a:prstGeom prst="rect">
                <a:avLst/>
              </a:prstGeom>
              <a:blipFill rotWithShape="1">
                <a:blip r:embed="rId2"/>
                <a:stretch>
                  <a:fillRect l="-5" t="-9565" r="4" b="-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629874" y="3201494"/>
                <a:ext cx="8514126" cy="82073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61925" algn="just">
                  <a:lnSpc>
                    <a:spcPts val="2825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pc="12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𝑪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(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𝒙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)= 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𝑨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(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𝒙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)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𝑩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(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𝒙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  <a:p>
                <a:pPr>
                  <a:lnSpc>
                    <a:spcPts val="2830"/>
                  </a:lnSpc>
                  <a:spcBef>
                    <a:spcPts val="795"/>
                  </a:spcBef>
                </a:pPr>
                <a:r>
                  <a:rPr lang="en-US" altLang="zh-CN" sz="2800" b="1" spc="12" dirty="0">
                    <a:solidFill>
                      <a:srgbClr val="000000"/>
                    </a:solidFill>
                    <a:ea typeface="黑体" panose="02010609060101010101" pitchFamily="49" charset="-122"/>
                    <a:cs typeface="ETFSQW+ËÎÌå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ar-AE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ar-AE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ar-AE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2800" b="1" i="1" spc="12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sz="2800" b="1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74" y="3201494"/>
                <a:ext cx="8514126" cy="820738"/>
              </a:xfrm>
              <a:prstGeom prst="rect">
                <a:avLst/>
              </a:prstGeom>
              <a:blipFill rotWithShape="1">
                <a:blip r:embed="rId3"/>
                <a:stretch>
                  <a:fillRect l="-7" t="-260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7"/>
              <p:cNvSpPr txBox="1"/>
              <p:nvPr/>
            </p:nvSpPr>
            <p:spPr>
              <a:xfrm>
                <a:off x="781476" y="4162849"/>
                <a:ext cx="6972654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14:m>
                  <m:oMath xmlns:m="http://schemas.openxmlformats.org/officeDocument/2006/math"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𝑪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(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)</m:t>
                    </m:r>
                  </m:oMath>
                </a14:m>
                <a:r>
                  <a:rPr lang="zh-CN" altLang="en-US" sz="2800" b="1" spc="12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的系数向量就是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𝒂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∗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𝒃</m:t>
                    </m:r>
                  </m:oMath>
                </a14:m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.</a:t>
                </a:r>
                <a:endParaRPr sz="2800" b="1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2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76" y="4162849"/>
                <a:ext cx="6972654" cy="397545"/>
              </a:xfrm>
              <a:prstGeom prst="rect">
                <a:avLst/>
              </a:prstGeom>
              <a:blipFill rotWithShape="1">
                <a:blip r:embed="rId4"/>
                <a:stretch>
                  <a:fillRect l="-6" t="-905" r="2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8"/>
              <p:cNvSpPr txBox="1"/>
              <p:nvPr/>
            </p:nvSpPr>
            <p:spPr>
              <a:xfrm>
                <a:off x="745619" y="5317568"/>
                <a:ext cx="7806710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sz="2800" b="1" spc="12" dirty="0" err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卷积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𝒂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∗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𝒃</m:t>
                    </m:r>
                  </m:oMath>
                </a14:m>
                <a:r>
                  <a:rPr sz="2800" b="1" spc="12" dirty="0" err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计算等价于多项式相乘</a:t>
                </a:r>
                <a:endParaRPr sz="2800" b="1" spc="12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</p:txBody>
          </p:sp>
        </mc:Choice>
        <mc:Fallback xmlns="">
          <p:sp>
            <p:nvSpPr>
              <p:cNvPr id="2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19" y="5317568"/>
                <a:ext cx="7806710" cy="397545"/>
              </a:xfrm>
              <a:prstGeom prst="rect">
                <a:avLst/>
              </a:prstGeom>
              <a:blipFill rotWithShape="1">
                <a:blip r:embed="rId5"/>
                <a:stretch>
                  <a:fillRect l="-2" t="-818" r="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bject 29"/>
          <p:cNvSpPr txBox="1"/>
          <p:nvPr/>
        </p:nvSpPr>
        <p:spPr>
          <a:xfrm>
            <a:off x="772382" y="5883943"/>
            <a:ext cx="7279158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2800" b="1" spc="13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蛮力算法的时间：</a:t>
            </a:r>
            <a:r>
              <a:rPr sz="2800" b="1" i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O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2800" b="1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705277" y="1575795"/>
                <a:ext cx="6444136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𝑨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(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)=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7" y="1575795"/>
                <a:ext cx="6444136" cy="532966"/>
              </a:xfrm>
              <a:prstGeom prst="rect">
                <a:avLst/>
              </a:prstGeom>
              <a:blipFill rotWithShape="1">
                <a:blip r:embed="rId6"/>
                <a:stretch>
                  <a:fillRect l="-7" t="-68" r="9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705277" y="2093148"/>
                <a:ext cx="6447342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𝑩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(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)=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7" y="2093148"/>
                <a:ext cx="6447342" cy="532966"/>
              </a:xfrm>
              <a:prstGeom prst="rect">
                <a:avLst/>
              </a:prstGeom>
              <a:blipFill rotWithShape="1">
                <a:blip r:embed="rId7"/>
                <a:stretch>
                  <a:fillRect l="-7" t="-35" r="10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492615" y="4578121"/>
            <a:ext cx="735297" cy="818741"/>
          </a:xfrm>
          <a:prstGeom prst="rect">
            <a:avLst/>
          </a:prstGeom>
          <a:blipFill>
            <a:blip r:embed="rId2" cstate="print"/>
            <a:srcRect/>
            <a:stretch>
              <a:fillRect l="-56963" t="-410506" r="-1501969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351" y="40341"/>
            <a:ext cx="8403406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705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卷积计算：傅立叶变换算法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85139" y="1083903"/>
                <a:ext cx="8225436" cy="412895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514350" indent="-514350">
                  <a:spcBef>
                    <a:spcPts val="600"/>
                  </a:spcBef>
                  <a:spcAft>
                    <a:spcPts val="600"/>
                  </a:spcAft>
                  <a:buAutoNum type="arabicPeriod"/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选择值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marL="514350" indent="-514350">
                  <a:spcBef>
                    <a:spcPts val="600"/>
                  </a:spcBef>
                  <a:spcAft>
                    <a:spcPts val="600"/>
                  </a:spcAft>
                  <a:buFontTx/>
                  <a:buAutoNum type="arabicPeriod"/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求出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𝑨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𝑩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ar-AE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0, 1, … , 2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  <a:p>
                <a:pPr marL="514350" indent="-514350">
                  <a:spcBef>
                    <a:spcPts val="600"/>
                  </a:spcBef>
                  <a:spcAft>
                    <a:spcPts val="600"/>
                  </a:spcAft>
                  <a:buFontTx/>
                  <a:buAutoNum type="arabicPeriod"/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对每个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𝑪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𝑨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𝑩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endParaRPr lang="ar-AE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14350" indent="-514350">
                  <a:spcBef>
                    <a:spcPts val="600"/>
                  </a:spcBef>
                  <a:spcAft>
                    <a:spcPts val="600"/>
                  </a:spcAft>
                  <a:buFontTx/>
                  <a:buAutoNum type="arabicPeriod"/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利用多项式插值方法，由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  <m:r>
                      <a:rPr lang="ar-AE" altLang="zh-CN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的值求出多项式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的系数</a:t>
                </a:r>
              </a:p>
              <a:p>
                <a:pPr marL="514350" indent="-514350">
                  <a:buFontTx/>
                  <a:buAutoNum type="arabicPeriod"/>
                </a:pPr>
                <a:endParaRPr lang="ar-AE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14350" indent="-514350">
                  <a:buFontTx/>
                  <a:buAutoNum type="arabicPeriod"/>
                </a:pPr>
                <a:endPara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eriod"/>
                </a:pP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39" y="1083903"/>
                <a:ext cx="8225436" cy="4128951"/>
              </a:xfrm>
              <a:prstGeom prst="rect">
                <a:avLst/>
              </a:prstGeom>
              <a:blipFill rotWithShape="1">
                <a:blip r:embed="rId3"/>
                <a:stretch>
                  <a:fillRect l="-8" t="-14" r="3" b="-3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1297056" y="4552709"/>
                <a:ext cx="7615531" cy="122084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sz="2800" spc="12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如何选择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i="1" spc="12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sSubPr>
                      <m:e>
                        <m:r>
                          <a:rPr lang="en-US" altLang="zh-CN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𝒙</m:t>
                        </m:r>
                        <m:r>
                          <a:rPr lang="en-US" altLang="zh-CN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=</m:t>
                        </m:r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𝒙</m:t>
                        </m:r>
                      </m:e>
                      <m:sub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𝟎</m:t>
                        </m:r>
                      </m:sub>
                    </m:sSub>
                    <m:r>
                      <a:rPr lang="ar-AE" altLang="zh-CN" sz="2800" spc="12">
                        <a:solidFill>
                          <a:srgbClr val="0070C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i="1" spc="12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sSubPr>
                      <m:e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𝒙</m:t>
                        </m:r>
                      </m:e>
                      <m:sub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𝟏</m:t>
                        </m:r>
                      </m:sub>
                    </m:sSub>
                    <m:r>
                      <a:rPr lang="ar-AE" altLang="zh-CN" sz="2800" spc="12">
                        <a:solidFill>
                          <a:srgbClr val="0070C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r>
                      <a:rPr lang="en-US" altLang="zh-CN" sz="2800" spc="12">
                        <a:solidFill>
                          <a:srgbClr val="0070C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ETFSQW+ËÎÌå"/>
                      </a:rPr>
                      <m:t> </m:t>
                    </m:r>
                    <m:r>
                      <a:rPr lang="ar-AE" altLang="zh-CN" sz="2800" spc="12">
                        <a:solidFill>
                          <a:srgbClr val="0070C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ETFSQW+ËÎÌå"/>
                      </a:rPr>
                      <m:t>⋯,</m:t>
                    </m:r>
                    <m:sSub>
                      <m:sSubPr>
                        <m:ctrlPr>
                          <a:rPr lang="ar-AE" altLang="zh-CN" sz="2800" i="1" spc="12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sSubPr>
                      <m:e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𝒙</m:t>
                        </m:r>
                      </m:e>
                      <m:sub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𝟐</m:t>
                        </m:r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𝒏</m:t>
                        </m:r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−</m:t>
                        </m:r>
                        <m:r>
                          <a:rPr lang="zh-CN" altLang="ar-AE" sz="2800" spc="12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ETFSQW+ËÎÌå"/>
                          </a:rPr>
                          <m:t>𝟏</m:t>
                        </m:r>
                      </m:sub>
                    </m:sSub>
                  </m:oMath>
                </a14:m>
                <a:r>
                  <a:rPr sz="2800" spc="12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的值</a:t>
                </a:r>
                <a:r>
                  <a:rPr sz="2800" spc="12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？</a:t>
                </a:r>
                <a:endParaRPr lang="en-US" sz="2800" spc="12" dirty="0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800" spc="12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高效多项式求值算法</a:t>
                </a:r>
              </a:p>
              <a:p>
                <a:pPr>
                  <a:lnSpc>
                    <a:spcPts val="2825"/>
                  </a:lnSpc>
                </a:pPr>
                <a:endParaRPr sz="2800" spc="12" dirty="0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056" y="4552709"/>
                <a:ext cx="7615531" cy="1220847"/>
              </a:xfrm>
              <a:prstGeom prst="rect">
                <a:avLst/>
              </a:prstGeom>
              <a:blipFill rotWithShape="1">
                <a:blip r:embed="rId4"/>
                <a:stretch>
                  <a:fillRect l="-5" t="-32" r="5" b="-25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8677" y="127208"/>
            <a:ext cx="8561028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70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r>
              <a:rPr sz="44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个数的选择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:1</a:t>
            </a: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2</a:t>
            </a:r>
            <a:r>
              <a:rPr sz="44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次根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18" y="1743255"/>
            <a:ext cx="4750835" cy="306031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543" y="1011889"/>
            <a:ext cx="2666537" cy="227420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87" y="2148991"/>
            <a:ext cx="6120359" cy="34025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874" y="90414"/>
            <a:ext cx="3239388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n=4</a:t>
            </a:r>
            <a:r>
              <a:rPr sz="4400" b="1" spc="-19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的实例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5451" y="112337"/>
            <a:ext cx="819238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lang="zh-CN" altLang="en-US" sz="44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傅立叶变换</a:t>
            </a:r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算法</a:t>
            </a:r>
            <a:endParaRPr sz="4400" b="1" spc="19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PKWMUD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72438" y="1068861"/>
                <a:ext cx="8241255" cy="188256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55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1.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ar-AE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,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分别计算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A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)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，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B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55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2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.</a:t>
                </a:r>
                <a:r>
                  <a:rPr lang="zh-CN" altLang="en-US"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利用步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1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的结果对每个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计算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C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)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，得到</a:t>
                </a:r>
              </a:p>
              <a:p>
                <a:pPr>
                  <a:lnSpc>
                    <a:spcPts val="2830"/>
                  </a:lnSpc>
                </a:pPr>
                <a:endParaRPr lang="en-US" altLang="zh-CN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8" y="1068861"/>
                <a:ext cx="8241255" cy="1882567"/>
              </a:xfrm>
              <a:prstGeom prst="rect">
                <a:avLst/>
              </a:prstGeom>
              <a:blipFill rotWithShape="1">
                <a:blip r:embed="rId2"/>
                <a:stretch>
                  <a:fillRect l="-8" t="-8" r="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472440" y="3415944"/>
            <a:ext cx="236707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30"/>
              </a:lnSpc>
            </a:pPr>
            <a:r>
              <a:rPr sz="255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3.</a:t>
            </a:r>
            <a:r>
              <a:rPr sz="255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构造多项式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6"/>
              <p:cNvSpPr txBox="1"/>
              <p:nvPr/>
            </p:nvSpPr>
            <p:spPr>
              <a:xfrm>
                <a:off x="472440" y="4619855"/>
                <a:ext cx="8337091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30"/>
                  </a:lnSpc>
                </a:pPr>
                <a:r>
                  <a:rPr sz="255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4.</a:t>
                </a:r>
                <a:r>
                  <a:rPr sz="2800" b="1" spc="15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ar-AE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,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计算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D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x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)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,</a:t>
                </a:r>
              </a:p>
            </p:txBody>
          </p:sp>
        </mc:Choice>
        <mc:Fallback xmlns="">
          <p:sp>
            <p:nvSpPr>
              <p:cNvPr id="2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" y="4619855"/>
                <a:ext cx="8337091" cy="359073"/>
              </a:xfrm>
              <a:prstGeom prst="rect">
                <a:avLst/>
              </a:prstGeom>
              <a:blipFill rotWithShape="1">
                <a:blip r:embed="rId3"/>
                <a:stretch>
                  <a:fillRect t="-11205" r="2" b="-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492" y="2728983"/>
            <a:ext cx="4593382" cy="44488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9492" y="3986291"/>
            <a:ext cx="4385750" cy="506732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026" y="5153463"/>
            <a:ext cx="3387139" cy="3910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65373" y="1540598"/>
            <a:ext cx="1987296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可以证明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：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5373" y="5055201"/>
            <a:ext cx="815611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30"/>
              </a:lnSpc>
            </a:pPr>
            <a:r>
              <a:rPr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知道了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D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x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)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的值，就能求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C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x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)</a:t>
            </a:r>
            <a:r>
              <a:rPr sz="2800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的系数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/>
          <a:srcRect t="4963" r="53542"/>
          <a:stretch>
            <a:fillRect/>
          </a:stretch>
        </p:blipFill>
        <p:spPr>
          <a:xfrm>
            <a:off x="1789728" y="2369229"/>
            <a:ext cx="2753702" cy="26859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46008" t="4963"/>
          <a:stretch>
            <a:fillRect/>
          </a:stretch>
        </p:blipFill>
        <p:spPr>
          <a:xfrm>
            <a:off x="4543430" y="2369229"/>
            <a:ext cx="3200224" cy="2685971"/>
          </a:xfrm>
          <a:prstGeom prst="rect">
            <a:avLst/>
          </a:prstGeom>
        </p:spPr>
      </p:pic>
      <p:sp>
        <p:nvSpPr>
          <p:cNvPr id="7" name="object 3"/>
          <p:cNvSpPr txBox="1"/>
          <p:nvPr/>
        </p:nvSpPr>
        <p:spPr>
          <a:xfrm>
            <a:off x="765451" y="112337"/>
            <a:ext cx="819238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lang="zh-CN" altLang="en-US" sz="44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傅立叶变换</a:t>
            </a:r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算法</a:t>
            </a:r>
            <a:r>
              <a:rPr lang="zh-CN" altLang="en-US" sz="44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（续）</a:t>
            </a:r>
            <a:endParaRPr sz="4400" b="1" spc="19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PKWMUD+ËÎÌå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9707" y="116141"/>
            <a:ext cx="830050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算法的关键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51329" y="1265276"/>
                <a:ext cx="7845777" cy="46628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zh-CN" altLang="ar-AE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，</a:t>
                </a:r>
                <a:endParaRPr lang="en-US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  <a:p>
                <a:pPr marL="817245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值分别</a:t>
                </a:r>
                <a:r>
                  <a:rPr lang="zh-CN" altLang="en-US" sz="2800" b="1" spc="12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求值多项式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), 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817245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800" b="1" spc="1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b="1" spc="-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做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次乘法得到</a:t>
                </a:r>
                <a:r>
                  <a:rPr lang="en-US" altLang="zh-CN" sz="2800" b="1" spc="12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C(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spc="12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800" b="1" spc="12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，构建</a:t>
                </a:r>
                <a:r>
                  <a:rPr lang="en-US" altLang="zh-CN" sz="2800" b="1" spc="12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D(x)</a:t>
                </a:r>
                <a:r>
                  <a:rPr lang="zh-CN" altLang="en-US" sz="2800" b="1" spc="12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多项式</a:t>
                </a:r>
                <a:endParaRPr lang="en-US" altLang="zh-CN" sz="2800" b="1" spc="12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7245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800" b="1" spc="15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800" b="1" spc="-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值</a:t>
                </a:r>
                <a:r>
                  <a:rPr lang="zh-CN" altLang="en-US" sz="2800" b="1" spc="12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求值多项式</a:t>
                </a:r>
                <a:r>
                  <a:rPr lang="zh-CN" altLang="en-US" sz="2800" b="1" spc="16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3000"/>
                  </a:spcBef>
                </a:pPr>
                <a:r>
                  <a:rPr lang="zh-CN" altLang="en-US" sz="2800" b="1" spc="15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关键：一个对所有的</a:t>
                </a:r>
                <a:r>
                  <a:rPr lang="zh-CN" altLang="en-US" sz="2800" b="1" spc="-3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 </a:t>
                </a:r>
                <a:r>
                  <a:rPr lang="zh-CN" altLang="en-US" sz="2800" b="1" spc="15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快速多项式求值算法</a:t>
                </a:r>
              </a:p>
              <a:p>
                <a:pPr>
                  <a:spcBef>
                    <a:spcPts val="1200"/>
                  </a:spcBef>
                </a:pPr>
                <a:endParaRPr lang="en-US" altLang="zh-CN" sz="28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  <a:p>
                <a:pPr>
                  <a:lnSpc>
                    <a:spcPts val="2825"/>
                  </a:lnSpc>
                </a:pPr>
                <a:endParaRPr lang="zh-CN" altLang="en-US" sz="2800" b="1" spc="12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  <a:p>
                <a:pPr>
                  <a:lnSpc>
                    <a:spcPts val="2825"/>
                  </a:lnSpc>
                </a:pPr>
                <a:endParaRPr lang="en-US" altLang="zh-CN" sz="28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  <a:p>
                <a:pPr>
                  <a:lnSpc>
                    <a:spcPts val="2825"/>
                  </a:lnSpc>
                </a:pPr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29" y="1265276"/>
                <a:ext cx="7845777" cy="4662815"/>
              </a:xfrm>
              <a:prstGeom prst="rect">
                <a:avLst/>
              </a:prstGeom>
              <a:blipFill rotWithShape="1">
                <a:blip r:embed="rId2"/>
                <a:stretch>
                  <a:fillRect l="-2" t="-8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2439" y="108085"/>
            <a:ext cx="842393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39" y="1227469"/>
            <a:ext cx="195833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7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2437" y="1776417"/>
            <a:ext cx="8254704" cy="2326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蛮力算法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快速傅立叶变换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FFT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</a:p>
          <a:p>
            <a:pPr marL="818515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的取值：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次根</a:t>
            </a:r>
          </a:p>
          <a:p>
            <a:pPr marL="818515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关键步骤：多项式对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求值</a:t>
            </a:r>
          </a:p>
          <a:p>
            <a:pPr>
              <a:lnSpc>
                <a:spcPts val="2850"/>
              </a:lnSpc>
            </a:pPr>
            <a:endParaRPr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208" y="4061068"/>
            <a:ext cx="703477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800" b="1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如何设计多项式求值的快速算法？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929" y="2141631"/>
            <a:ext cx="7689663" cy="1767067"/>
          </a:xfrm>
          <a:prstGeom prst="rect">
            <a:avLst/>
          </a:prstGeom>
        </p:spPr>
        <p:txBody>
          <a:bodyPr vert="horz" wrap="square" lIns="0" tIns="73577" rIns="0" bIns="0" rtlCol="0" anchor="ctr">
            <a:spAutoFit/>
          </a:bodyPr>
          <a:lstStyle/>
          <a:p>
            <a:pPr marL="13335" marR="5715" indent="506730" algn="ctr">
              <a:lnSpc>
                <a:spcPts val="6580"/>
              </a:lnSpc>
              <a:spcBef>
                <a:spcPts val="580"/>
              </a:spcBef>
            </a:pPr>
            <a:r>
              <a:rPr sz="6600" spc="-16" dirty="0" err="1">
                <a:latin typeface="黑体" panose="02010609060101010101" pitchFamily="49" charset="-122"/>
                <a:ea typeface="黑体" panose="02010609060101010101" pitchFamily="49" charset="-122"/>
              </a:rPr>
              <a:t>快速傅立叶变</a:t>
            </a:r>
            <a:r>
              <a:rPr sz="6600" spc="-21" dirty="0" err="1">
                <a:latin typeface="黑体" panose="02010609060101010101" pitchFamily="49" charset="-122"/>
                <a:ea typeface="黑体" panose="02010609060101010101" pitchFamily="49" charset="-122"/>
              </a:rPr>
              <a:t>换</a:t>
            </a:r>
            <a:r>
              <a:rPr sz="6600" spc="-16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br>
              <a:rPr lang="en-US" sz="6600" spc="-16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FF</a:t>
            </a:r>
            <a:r>
              <a:rPr sz="6600" spc="-5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T</a:t>
            </a:r>
            <a:r>
              <a:rPr sz="6600" spc="-16" dirty="0" err="1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040" y="45316"/>
            <a:ext cx="8194409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多项式求值算法</a:t>
            </a:r>
            <a:r>
              <a:rPr lang="en-US"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蛮力算法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776" y="1210464"/>
            <a:ext cx="8076673" cy="4734292"/>
          </a:xfrm>
          <a:prstGeom prst="rect">
            <a:avLst/>
          </a:prstGeom>
        </p:spPr>
        <p:txBody>
          <a:bodyPr vert="horz" wrap="square" lIns="0" tIns="47926" rIns="0" bIns="0" rtlCol="0">
            <a:spAutoFit/>
          </a:bodyPr>
          <a:lstStyle/>
          <a:p>
            <a:pPr marL="27305">
              <a:spcBef>
                <a:spcPts val="375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给定多项式：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975" algn="ctr">
              <a:spcBef>
                <a:spcPts val="270"/>
              </a:spcBef>
            </a:pP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)=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+…+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i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800" b="1" i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spc="-7" baseline="-2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i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7" baseline="24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sz="2800" baseline="24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7305">
              <a:spcBef>
                <a:spcPts val="1315"/>
              </a:spcBef>
            </a:pP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2800" b="1" spc="-72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为1</a:t>
            </a:r>
            <a:r>
              <a:rPr sz="2800" b="1" spc="-1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4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-2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次方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，对所有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9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spc="-71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7305"/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7305">
              <a:spcBef>
                <a:spcPts val="840"/>
              </a:spcBef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算法1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：对每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sz="2800" b="1" spc="-72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做下述运算：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84505" indent="-457200">
              <a:spcBef>
                <a:spcPts val="310"/>
              </a:spcBef>
              <a:buFont typeface="Wingdings" panose="05000000000000000000" pitchFamily="2" charset="2"/>
              <a:buChar char="Ø"/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依次计算每个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sz="2800" b="1" spc="-154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i="1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622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=1,</a:t>
            </a:r>
            <a:r>
              <a:rPr sz="2800" b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...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84505" indent="-457200">
              <a:spcBef>
                <a:spcPts val="310"/>
              </a:spcBef>
              <a:buFont typeface="Wingdings" panose="05000000000000000000" pitchFamily="2" charset="2"/>
              <a:buChar char="Ø"/>
            </a:pP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spc="-71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i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319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i=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0,1,...,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-1)求和.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7305">
              <a:spcBef>
                <a:spcPts val="30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蛮力算法的时间复杂度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46990" algn="ctr">
              <a:spcBef>
                <a:spcPts val="20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7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24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9697" y="1761862"/>
            <a:ext cx="4073611" cy="514350"/>
          </a:xfrm>
          <a:custGeom>
            <a:avLst/>
            <a:gdLst/>
            <a:ahLst/>
            <a:cxnLst/>
            <a:rect l="l" t="t" r="r" b="b"/>
            <a:pathLst>
              <a:path w="3505200" h="457200">
                <a:moveTo>
                  <a:pt x="0" y="76200"/>
                </a:moveTo>
                <a:lnTo>
                  <a:pt x="5987" y="46559"/>
                </a:lnTo>
                <a:lnTo>
                  <a:pt x="22317" y="22336"/>
                </a:lnTo>
                <a:lnTo>
                  <a:pt x="46537" y="5994"/>
                </a:lnTo>
                <a:lnTo>
                  <a:pt x="76200" y="0"/>
                </a:lnTo>
                <a:lnTo>
                  <a:pt x="3429000" y="0"/>
                </a:lnTo>
                <a:lnTo>
                  <a:pt x="3458640" y="5994"/>
                </a:lnTo>
                <a:lnTo>
                  <a:pt x="3482863" y="22336"/>
                </a:lnTo>
                <a:lnTo>
                  <a:pt x="3499205" y="46559"/>
                </a:lnTo>
                <a:lnTo>
                  <a:pt x="3505200" y="76200"/>
                </a:lnTo>
                <a:lnTo>
                  <a:pt x="3505200" y="381000"/>
                </a:lnTo>
                <a:lnTo>
                  <a:pt x="3499205" y="410640"/>
                </a:lnTo>
                <a:lnTo>
                  <a:pt x="3482863" y="434863"/>
                </a:lnTo>
                <a:lnTo>
                  <a:pt x="3458640" y="451205"/>
                </a:lnTo>
                <a:lnTo>
                  <a:pt x="3429000" y="457200"/>
                </a:lnTo>
                <a:lnTo>
                  <a:pt x="76200" y="457200"/>
                </a:lnTo>
                <a:lnTo>
                  <a:pt x="46537" y="451205"/>
                </a:lnTo>
                <a:lnTo>
                  <a:pt x="22317" y="434863"/>
                </a:lnTo>
                <a:lnTo>
                  <a:pt x="5987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310" y="28234"/>
            <a:ext cx="8325033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改进的求值算法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4626" y="1295777"/>
            <a:ext cx="7969731" cy="4579294"/>
          </a:xfrm>
          <a:prstGeom prst="rect">
            <a:avLst/>
          </a:prstGeom>
        </p:spPr>
        <p:txBody>
          <a:bodyPr vert="horz" wrap="square" lIns="0" tIns="72227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spc="-659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sz="2800" b="1" spc="-6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做下述计算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35255">
              <a:spcBef>
                <a:spcPts val="460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baseline="-21000" dirty="0">
              <a:latin typeface="Times New Roman" panose="02020603050405020304"/>
              <a:cs typeface="Times New Roman" panose="02020603050405020304"/>
            </a:endParaRPr>
          </a:p>
          <a:p>
            <a:pPr marL="135255">
              <a:spcBef>
                <a:spcPts val="765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 =</a:t>
            </a:r>
            <a:r>
              <a:rPr sz="2800" b="1" spc="-6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135255">
              <a:spcBef>
                <a:spcPts val="765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xA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-3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8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800" baseline="24000" dirty="0">
              <a:latin typeface="Times New Roman" panose="02020603050405020304"/>
              <a:cs typeface="Times New Roman" panose="02020603050405020304"/>
            </a:endParaRPr>
          </a:p>
          <a:p>
            <a:pPr marL="1348105">
              <a:spcBef>
                <a:spcPts val="130"/>
              </a:spcBef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…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202565">
              <a:spcBef>
                <a:spcPts val="310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=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1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800" b="1" spc="-5" dirty="0">
              <a:latin typeface="Times New Roman" panose="02020603050405020304"/>
              <a:cs typeface="Times New Roman" panose="02020603050405020304"/>
            </a:endParaRPr>
          </a:p>
          <a:p>
            <a:pPr marL="202565">
              <a:spcBef>
                <a:spcPts val="310"/>
              </a:spcBef>
            </a:pPr>
            <a:endParaRPr lang="en-US" sz="2800" dirty="0">
              <a:latin typeface="Times New Roman" panose="02020603050405020304"/>
              <a:cs typeface="Times New Roman" panose="02020603050405020304"/>
            </a:endParaRPr>
          </a:p>
          <a:p>
            <a:pPr>
              <a:spcBef>
                <a:spcPts val="1800"/>
              </a:spcBef>
            </a:pP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03835" algn="ctr">
              <a:spcBef>
                <a:spcPts val="265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24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9664" y="2927469"/>
            <a:ext cx="966395" cy="2143"/>
          </a:xfrm>
          <a:custGeom>
            <a:avLst/>
            <a:gdLst/>
            <a:ahLst/>
            <a:cxnLst/>
            <a:rect l="l" t="t" r="r" b="b"/>
            <a:pathLst>
              <a:path w="609600" h="1905">
                <a:moveTo>
                  <a:pt x="0" y="0"/>
                </a:moveTo>
                <a:lnTo>
                  <a:pt x="609600" y="152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7" name="object 4"/>
          <p:cNvSpPr/>
          <p:nvPr/>
        </p:nvSpPr>
        <p:spPr>
          <a:xfrm>
            <a:off x="534626" y="2410243"/>
            <a:ext cx="966395" cy="2143"/>
          </a:xfrm>
          <a:custGeom>
            <a:avLst/>
            <a:gdLst/>
            <a:ahLst/>
            <a:cxnLst/>
            <a:rect l="l" t="t" r="r" b="b"/>
            <a:pathLst>
              <a:path w="609600" h="1905">
                <a:moveTo>
                  <a:pt x="0" y="0"/>
                </a:moveTo>
                <a:lnTo>
                  <a:pt x="609600" y="152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691" y="-30777"/>
            <a:ext cx="8383726" cy="691422"/>
          </a:xfrm>
          <a:prstGeom prst="rect">
            <a:avLst/>
          </a:prstGeom>
        </p:spPr>
        <p:txBody>
          <a:bodyPr vert="horz" wrap="square" lIns="0" tIns="1417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10"/>
              </a:spcBef>
            </a:pPr>
            <a:r>
              <a:rPr sz="4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偶系数与奇系数多项式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63" y="1192360"/>
            <a:ext cx="6473113" cy="409211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446" y="41073"/>
            <a:ext cx="7924793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分治多项式求值算法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0544" y="1107524"/>
            <a:ext cx="8315784" cy="4322251"/>
          </a:xfrm>
          <a:prstGeom prst="rect">
            <a:avLst/>
          </a:prstGeom>
        </p:spPr>
        <p:txBody>
          <a:bodyPr vert="horz" wrap="square" lIns="0" tIns="86402" rIns="0" bIns="0" rtlCol="0">
            <a:spAutoFit/>
          </a:bodyPr>
          <a:lstStyle/>
          <a:p>
            <a:pPr marL="53975">
              <a:spcBef>
                <a:spcPts val="680"/>
              </a:spcBef>
            </a:pP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一般公式（</a:t>
            </a:r>
            <a:r>
              <a:rPr sz="2800" b="1" i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为偶数）</a:t>
            </a:r>
            <a:endParaRPr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64490">
              <a:spcBef>
                <a:spcPts val="575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spc="-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+…+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i="1" spc="-7" baseline="24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24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baseline="24000" dirty="0">
              <a:latin typeface="Times New Roman" panose="02020603050405020304"/>
              <a:cs typeface="Times New Roman" panose="02020603050405020304"/>
            </a:endParaRPr>
          </a:p>
          <a:p>
            <a:pPr marL="364490">
              <a:spcBef>
                <a:spcPts val="615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14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even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+…+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7" baseline="24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24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2)/2</a:t>
            </a:r>
            <a:endParaRPr sz="2800" baseline="24000" dirty="0">
              <a:latin typeface="Times New Roman" panose="02020603050405020304"/>
              <a:cs typeface="Times New Roman" panose="02020603050405020304"/>
            </a:endParaRPr>
          </a:p>
          <a:p>
            <a:pPr marL="770255" marR="384810" indent="-405765">
              <a:lnSpc>
                <a:spcPct val="12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odd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+…+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24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7" baseline="24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7" baseline="24000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2)/2  </a:t>
            </a:r>
            <a:endParaRPr lang="en-US" sz="2800" b="1" spc="-7" baseline="24000" dirty="0">
              <a:latin typeface="Times New Roman" panose="02020603050405020304"/>
              <a:cs typeface="Times New Roman" panose="02020603050405020304"/>
            </a:endParaRPr>
          </a:p>
          <a:p>
            <a:pPr marL="770255" marR="384810" indent="-405765">
              <a:lnSpc>
                <a:spcPct val="120000"/>
              </a:lnSpc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even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xA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odd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b="1" spc="-7" baseline="2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134620">
              <a:spcBef>
                <a:spcPts val="3000"/>
              </a:spcBef>
              <a:tabLst>
                <a:tab pos="577850" algn="l"/>
                <a:tab pos="579120" algn="l"/>
              </a:tabLst>
            </a:pPr>
            <a:r>
              <a:rPr lang="en-US"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sz="2800" b="1" i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7" baseline="24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也是1 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次根</a:t>
            </a:r>
          </a:p>
          <a:p>
            <a:pPr marL="134620">
              <a:spcBef>
                <a:spcPts val="610"/>
              </a:spcBef>
              <a:tabLst>
                <a:tab pos="488950" algn="l"/>
                <a:tab pos="489585" algn="l"/>
              </a:tabLst>
            </a:pPr>
            <a:r>
              <a:rPr 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偶次数与奇次数多项式计算作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spc="-664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/2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规模的子问题，然后利用子问题的</a:t>
            </a:r>
            <a:r>
              <a:rPr lang="zh-CN" altLang="en-US"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sz="2800" b="1" spc="-72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spc="-7" baseline="-2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even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spc="-1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800" b="1" spc="-6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spc="-7" baseline="-2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odd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spc="-1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zh-CN" altLang="en-US"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zh-CN" altLang="en-US" sz="2800" b="1" spc="-63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9184" y="3244051"/>
            <a:ext cx="3890798" cy="428625"/>
          </a:xfrm>
          <a:custGeom>
            <a:avLst/>
            <a:gdLst/>
            <a:ahLst/>
            <a:cxnLst/>
            <a:rect l="l" t="t" r="r" b="b"/>
            <a:pathLst>
              <a:path w="3657600" h="381000">
                <a:moveTo>
                  <a:pt x="0" y="63500"/>
                </a:moveTo>
                <a:lnTo>
                  <a:pt x="4990" y="38790"/>
                </a:lnTo>
                <a:lnTo>
                  <a:pt x="18600" y="18605"/>
                </a:lnTo>
                <a:lnTo>
                  <a:pt x="38785" y="4992"/>
                </a:lnTo>
                <a:lnTo>
                  <a:pt x="63500" y="0"/>
                </a:lnTo>
                <a:lnTo>
                  <a:pt x="3594100" y="0"/>
                </a:lnTo>
                <a:lnTo>
                  <a:pt x="3618809" y="4992"/>
                </a:lnTo>
                <a:lnTo>
                  <a:pt x="3638994" y="18605"/>
                </a:lnTo>
                <a:lnTo>
                  <a:pt x="3652607" y="38790"/>
                </a:lnTo>
                <a:lnTo>
                  <a:pt x="3657600" y="63500"/>
                </a:lnTo>
                <a:lnTo>
                  <a:pt x="3657600" y="317500"/>
                </a:lnTo>
                <a:lnTo>
                  <a:pt x="3652607" y="342209"/>
                </a:lnTo>
                <a:lnTo>
                  <a:pt x="3638994" y="362394"/>
                </a:lnTo>
                <a:lnTo>
                  <a:pt x="3618809" y="376007"/>
                </a:lnTo>
                <a:lnTo>
                  <a:pt x="3594100" y="381000"/>
                </a:lnTo>
                <a:lnTo>
                  <a:pt x="63500" y="381000"/>
                </a:lnTo>
                <a:lnTo>
                  <a:pt x="38785" y="376007"/>
                </a:lnTo>
                <a:lnTo>
                  <a:pt x="18600" y="362394"/>
                </a:lnTo>
                <a:lnTo>
                  <a:pt x="4990" y="342209"/>
                </a:lnTo>
                <a:lnTo>
                  <a:pt x="0" y="317500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0843" y="2605395"/>
            <a:ext cx="1151864" cy="51435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3" name="object 3"/>
          <p:cNvSpPr/>
          <p:nvPr/>
        </p:nvSpPr>
        <p:spPr>
          <a:xfrm>
            <a:off x="3520483" y="3805545"/>
            <a:ext cx="1286536" cy="51435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4" name="object 4"/>
          <p:cNvSpPr/>
          <p:nvPr/>
        </p:nvSpPr>
        <p:spPr>
          <a:xfrm>
            <a:off x="4069097" y="2627641"/>
            <a:ext cx="1196357" cy="51435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5" name="object 5"/>
          <p:cNvSpPr/>
          <p:nvPr/>
        </p:nvSpPr>
        <p:spPr>
          <a:xfrm>
            <a:off x="5033230" y="3805545"/>
            <a:ext cx="1384214" cy="51435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5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6859" y="-20268"/>
            <a:ext cx="8219809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分治求值算法设计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152" y="1120828"/>
            <a:ext cx="8219809" cy="4399307"/>
          </a:xfrm>
          <a:prstGeom prst="rect">
            <a:avLst/>
          </a:prstGeom>
        </p:spPr>
        <p:txBody>
          <a:bodyPr vert="horz" wrap="square" lIns="0" tIns="54001" rIns="0" bIns="0" rtlCol="0">
            <a:spAutoFit/>
          </a:bodyPr>
          <a:lstStyle/>
          <a:p>
            <a:pPr marL="135255">
              <a:spcBef>
                <a:spcPts val="425"/>
              </a:spcBef>
            </a:pP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算</a:t>
            </a:r>
            <a:r>
              <a:rPr sz="28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法</a:t>
            </a:r>
            <a:r>
              <a:rPr sz="2800" b="1" spc="-65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3</a:t>
            </a:r>
            <a:r>
              <a:rPr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19760" indent="-485140">
              <a:spcBef>
                <a:spcPts val="320"/>
              </a:spcBef>
              <a:buFont typeface="Times New Roman" panose="02020603050405020304"/>
              <a:buAutoNum type="arabicPeriod"/>
              <a:tabLst>
                <a:tab pos="618490" algn="l"/>
                <a:tab pos="619760" algn="l"/>
              </a:tabLst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spc="-64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的所有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3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次根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024255">
              <a:spcBef>
                <a:spcPts val="280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sz="2800" b="1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… ,</a:t>
            </a:r>
            <a:r>
              <a:rPr sz="2800" b="1" spc="-3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endParaRPr sz="2800" baseline="-21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19760" indent="-485140">
              <a:spcBef>
                <a:spcPts val="1065"/>
              </a:spcBef>
              <a:buFont typeface="Times New Roman" panose="02020603050405020304"/>
              <a:buAutoNum type="arabicPeriod" startAt="2"/>
              <a:tabLst>
                <a:tab pos="618490" algn="l"/>
                <a:tab pos="619760" algn="l"/>
              </a:tabLst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分别计算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even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odd</a:t>
            </a:r>
            <a:r>
              <a:rPr sz="2800" b="1" spc="-16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19760" indent="-485140">
              <a:spcBef>
                <a:spcPts val="2040"/>
              </a:spcBef>
              <a:buFont typeface="Times New Roman" panose="02020603050405020304"/>
              <a:buAutoNum type="arabicPeriod" startAt="2"/>
              <a:tabLst>
                <a:tab pos="618490" algn="l"/>
                <a:tab pos="61976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利用步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的结果计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spc="-6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159385" algn="ctr">
              <a:spcBef>
                <a:spcPts val="280"/>
              </a:spcBef>
            </a:pP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even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11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7" baseline="-2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odd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975">
              <a:spcBef>
                <a:spcPts val="30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不需要重新计算，所有根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在单位圆间隔分布，隔一取一即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39" y="75138"/>
            <a:ext cx="8077298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分治求值算法分析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8425" y="1192976"/>
            <a:ext cx="8077298" cy="4552837"/>
          </a:xfrm>
          <a:prstGeom prst="rect">
            <a:avLst/>
          </a:prstGeom>
        </p:spPr>
        <p:txBody>
          <a:bodyPr vert="horz" wrap="square" lIns="0" tIns="58726" rIns="0" bIns="0" rtlCol="0">
            <a:spAutoFit/>
          </a:bodyPr>
          <a:lstStyle/>
          <a:p>
            <a:pPr marL="942975" algn="just">
              <a:spcBef>
                <a:spcPts val="600"/>
              </a:spcBef>
            </a:pPr>
            <a:r>
              <a:rPr lang="en-US" sz="2800" b="1" i="1" spc="-5" dirty="0">
                <a:latin typeface="Times New Roman" panose="02020603050405020304"/>
                <a:cs typeface="Times New Roman" panose="02020603050405020304"/>
              </a:rPr>
              <a:t>                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spcBef>
                <a:spcPts val="600"/>
              </a:spcBef>
            </a:pPr>
            <a:r>
              <a:rPr lang="en-US"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(n)=O(n)</a:t>
            </a:r>
            <a:r>
              <a:rPr sz="2800" b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</a:t>
            </a:r>
            <a:r>
              <a:rPr sz="2800" b="1" spc="-654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2n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次根的时间</a:t>
            </a:r>
          </a:p>
          <a:p>
            <a:pPr>
              <a:spcBef>
                <a:spcPts val="600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spcBef>
                <a:spcPts val="6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递归过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</a:t>
            </a:r>
            <a:r>
              <a:rPr sz="2800" b="1" spc="622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/2)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spcBef>
                <a:spcPts val="600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(1)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(1)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3975" marR="45720">
              <a:spcBef>
                <a:spcPts val="6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g(n)</a:t>
            </a:r>
            <a:r>
              <a:rPr sz="2800" b="1" spc="-2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800" b="1" spc="-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O(n) 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是对所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2n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次根在步3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合解的时间</a:t>
            </a: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975" marR="45720">
              <a:spcBef>
                <a:spcPts val="600"/>
              </a:spcBef>
            </a:pP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975" marR="45720">
              <a:spcBef>
                <a:spcPts val="600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7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  </a:t>
            </a:r>
            <a:endParaRPr lang="en-US" sz="2800" b="1" spc="-5" dirty="0">
              <a:latin typeface="Times New Roman" panose="02020603050405020304"/>
              <a:cs typeface="Times New Roman" panose="02020603050405020304"/>
            </a:endParaRPr>
          </a:p>
          <a:p>
            <a:pPr marL="53975" marR="45720">
              <a:spcBef>
                <a:spcPts val="600"/>
              </a:spcBef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+O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640" y="1030"/>
            <a:ext cx="8534667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FF</a:t>
            </a:r>
            <a:r>
              <a:rPr sz="4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T</a:t>
            </a: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算法伪码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3315" y="1155101"/>
            <a:ext cx="8327035" cy="4862637"/>
          </a:xfrm>
          <a:prstGeom prst="rect">
            <a:avLst/>
          </a:prstGeom>
        </p:spPr>
        <p:txBody>
          <a:bodyPr vert="horz" wrap="square" lIns="0" tIns="17550" rIns="0" bIns="0" rtlCol="0">
            <a:spAutoFit/>
          </a:bodyPr>
          <a:lstStyle/>
          <a:p>
            <a:pPr marL="27305">
              <a:spcBef>
                <a:spcPts val="1800"/>
              </a:spcBef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1.</a:t>
            </a:r>
            <a:r>
              <a:rPr sz="2800" b="1" spc="-4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sz="2800" b="1" i="1" spc="-27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800" b="1" i="1" spc="-1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11" dirty="0">
                <a:latin typeface="Symbol" panose="05050102010706020507"/>
                <a:cs typeface="Symbol" panose="05050102010706020507"/>
              </a:rPr>
              <a:t></a:t>
            </a:r>
            <a:r>
              <a:rPr sz="2800" b="1" i="1" spc="-16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spc="-1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800" b="1" i="1" spc="-11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=0,1,…,2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lang="en-US" sz="2800" b="1" dirty="0">
              <a:latin typeface="Times New Roman" panose="02020603050405020304"/>
              <a:cs typeface="Times New Roman" panose="02020603050405020304"/>
            </a:endParaRPr>
          </a:p>
          <a:p>
            <a:pPr marL="27305">
              <a:spcBef>
                <a:spcPts val="1800"/>
              </a:spcBef>
            </a:pP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2.</a:t>
            </a:r>
            <a:r>
              <a:rPr lang="zh-CN" altLang="en-US" sz="2800" b="1" spc="-4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</a:rPr>
              <a:t>计</a:t>
            </a:r>
            <a:r>
              <a:rPr lang="zh-CN" altLang="en-US"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算</a:t>
            </a:r>
            <a:r>
              <a:rPr lang="zh-CN" altLang="en-US" sz="2800" b="1" spc="-67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spc="-27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lang="en-US" altLang="zh-CN"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altLang="zh-CN" sz="2800" b="1" spc="-27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zh-CN" altLang="en-US" sz="2800" b="1" spc="-27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pl-PL" altLang="zh-CN" sz="2800" b="1" i="1" dirty="0">
                <a:latin typeface="Times New Roman" panose="02020603050405020304"/>
                <a:cs typeface="Times New Roman" panose="02020603050405020304"/>
              </a:rPr>
              <a:t>j </a:t>
            </a:r>
            <a:r>
              <a:rPr lang="pl-PL" altLang="zh-CN" sz="2800" b="1" dirty="0">
                <a:latin typeface="Times New Roman" panose="02020603050405020304"/>
                <a:cs typeface="Times New Roman" panose="02020603050405020304"/>
              </a:rPr>
              <a:t>=0, 1, … ,</a:t>
            </a:r>
            <a:r>
              <a:rPr lang="pl-PL" altLang="zh-CN" sz="2800" b="1" spc="-9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pl-PL" altLang="zh-CN" sz="2800" b="1" spc="-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pl-PL" altLang="zh-CN"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pl-PL" altLang="zh-CN" sz="2800" b="1" spc="-5" dirty="0">
                <a:latin typeface="Symbol" panose="05050102010706020507"/>
                <a:cs typeface="Symbol" panose="05050102010706020507"/>
              </a:rPr>
              <a:t></a:t>
            </a:r>
            <a:r>
              <a:rPr lang="pl-PL" altLang="zh-CN" sz="2800" b="1" spc="-5" dirty="0">
                <a:latin typeface="Times New Roman" panose="02020603050405020304"/>
                <a:cs typeface="Times New Roman" panose="02020603050405020304"/>
              </a:rPr>
              <a:t>1</a:t>
            </a:r>
            <a:endParaRPr lang="en-US" altLang="zh-CN" sz="2800" b="1" spc="-5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spcBef>
                <a:spcPts val="1800"/>
              </a:spcBef>
            </a:pP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3.</a:t>
            </a:r>
            <a:r>
              <a:rPr lang="zh-CN" altLang="en-US" sz="2800" b="1" spc="-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</a:rPr>
              <a:t>构造多项式</a:t>
            </a:r>
            <a:endParaRPr lang="zh-CN" altLang="en-US"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5275">
              <a:spcBef>
                <a:spcPts val="1800"/>
              </a:spcBef>
            </a:pP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            D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11" dirty="0">
                <a:latin typeface="Symbol" panose="05050102010706020507"/>
                <a:cs typeface="Symbol" panose="05050102010706020507"/>
              </a:rPr>
              <a:t></a:t>
            </a:r>
            <a:r>
              <a:rPr lang="en-US" altLang="zh-CN" sz="2800" b="1" spc="-16" baseline="-21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)+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11" dirty="0">
                <a:latin typeface="Symbol" panose="05050102010706020507"/>
                <a:cs typeface="Symbol" panose="05050102010706020507"/>
              </a:rPr>
              <a:t></a:t>
            </a:r>
            <a:r>
              <a:rPr lang="en-US" altLang="zh-CN" sz="2800" b="1" spc="-16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+…+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11" dirty="0">
                <a:latin typeface="Symbol" panose="05050102010706020507"/>
                <a:cs typeface="Symbol" panose="05050102010706020507"/>
              </a:rPr>
              <a:t></a:t>
            </a:r>
            <a:r>
              <a:rPr lang="en-US" altLang="zh-CN" sz="2800" b="1" spc="-16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i="1" spc="-16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16" baseline="-21000" dirty="0">
                <a:latin typeface="Symbol" panose="05050102010706020507"/>
                <a:cs typeface="Symbol" panose="05050102010706020507"/>
              </a:rPr>
              <a:t></a:t>
            </a:r>
            <a:r>
              <a:rPr lang="en-US" altLang="zh-CN" sz="2800" b="1" spc="-16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CN" sz="2800" b="1" spc="-1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6" baseline="2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i="1" spc="-16" baseline="24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16" baseline="24000" dirty="0">
                <a:latin typeface="Symbol" panose="05050102010706020507"/>
                <a:cs typeface="Symbol" panose="05050102010706020507"/>
              </a:rPr>
              <a:t></a:t>
            </a:r>
            <a:r>
              <a:rPr lang="en-US" altLang="zh-CN" sz="2800" b="1" spc="-16" baseline="24000" dirty="0">
                <a:latin typeface="Times New Roman" panose="02020603050405020304"/>
                <a:cs typeface="Times New Roman" panose="02020603050405020304"/>
              </a:rPr>
              <a:t>1</a:t>
            </a:r>
            <a:endParaRPr lang="en-US" altLang="zh-CN" sz="2800" baseline="24000" dirty="0">
              <a:latin typeface="Times New Roman" panose="02020603050405020304"/>
              <a:cs typeface="Times New Roman" panose="02020603050405020304"/>
            </a:endParaRPr>
          </a:p>
          <a:p>
            <a:pPr marL="53975">
              <a:spcBef>
                <a:spcPts val="1800"/>
              </a:spcBef>
            </a:pP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4.</a:t>
            </a:r>
            <a:r>
              <a:rPr lang="en-US" altLang="zh-CN" sz="2800" b="1" spc="-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</a:rPr>
              <a:t>计算所有</a:t>
            </a:r>
            <a:r>
              <a:rPr lang="zh-CN" altLang="en-US"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800" b="1" spc="-643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spc="-16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lang="en-US" altLang="zh-CN" sz="2800" b="1" spc="-1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16" dirty="0">
                <a:latin typeface="Symbol" panose="05050102010706020507"/>
                <a:cs typeface="Symbol" panose="05050102010706020507"/>
              </a:rPr>
              <a:t></a:t>
            </a:r>
            <a:r>
              <a:rPr lang="en-US" altLang="zh-CN" sz="2800" b="1" i="1" spc="-23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altLang="zh-CN" sz="2800" b="1" spc="-16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zh-CN" altLang="en-US" sz="2800" b="1" spc="-16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b="1" i="1" spc="-16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altLang="zh-CN" sz="2800" b="1" i="1" spc="3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=0,1,…,2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>
                <a:latin typeface="Symbol" panose="05050102010706020507"/>
                <a:cs typeface="Symbol" panose="05050102010706020507"/>
              </a:rPr>
              <a:t>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1</a:t>
            </a:r>
            <a:endParaRPr lang="en-US" altLang="zh-CN" sz="2800" dirty="0">
              <a:latin typeface="Times New Roman" panose="02020603050405020304"/>
              <a:cs typeface="Times New Roman" panose="02020603050405020304"/>
            </a:endParaRPr>
          </a:p>
          <a:p>
            <a:pPr marL="1348105" marR="913130" indent="-1294765">
              <a:spcBef>
                <a:spcPts val="1800"/>
              </a:spcBef>
            </a:pP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5.</a:t>
            </a:r>
            <a:r>
              <a:rPr lang="en-US" altLang="zh-CN" sz="2800" b="1" spc="-6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</a:rPr>
              <a:t>利用下式计算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</a:rPr>
              <a:t>的系</a:t>
            </a:r>
            <a:r>
              <a:rPr lang="zh-CN" altLang="en-US"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zh-CN" altLang="en-US" sz="2800" b="1" spc="-686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spc="-5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i="1" spc="-7" baseline="-21000" dirty="0" err="1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zh-CN" altLang="en-US"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b="1" i="1" spc="-27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lang="en-US" altLang="zh-CN"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lang="en-US" altLang="zh-CN"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altLang="zh-CN" sz="2800" b="1" spc="-27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sz="2800" b="1" spc="6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nc</a:t>
            </a:r>
            <a:r>
              <a:rPr lang="en-US" altLang="zh-CN" sz="2800" b="1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i="1" spc="-7" baseline="-21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i="1" spc="-7" baseline="-20000" dirty="0">
                <a:latin typeface="Symbol" panose="05050102010706020507"/>
                <a:cs typeface="Symbol" panose="05050102010706020507"/>
              </a:rPr>
              <a:t></a:t>
            </a:r>
            <a:r>
              <a:rPr lang="en-US" altLang="zh-CN" sz="2800" b="1" i="1" spc="-7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endParaRPr lang="en-US" altLang="zh-CN" sz="2800" baseline="-21000" dirty="0">
              <a:latin typeface="Times New Roman" panose="02020603050405020304"/>
              <a:cs typeface="Times New Roman" panose="02020603050405020304"/>
            </a:endParaRPr>
          </a:p>
          <a:p>
            <a:pPr marL="1428750">
              <a:spcBef>
                <a:spcPts val="1800"/>
              </a:spcBef>
            </a:pP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j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= 0, 1, … ,</a:t>
            </a:r>
            <a:r>
              <a:rPr lang="en-US" altLang="zh-CN" sz="2800" b="1" spc="-3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>
                <a:latin typeface="Symbol" panose="05050102010706020507"/>
                <a:cs typeface="Symbol" panose="05050102010706020507"/>
              </a:rPr>
              <a:t>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lang="en-US" altLang="zh-CN"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7305">
              <a:spcBef>
                <a:spcPts val="140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386" y="75757"/>
            <a:ext cx="8471216" cy="691422"/>
          </a:xfrm>
          <a:prstGeom prst="rect">
            <a:avLst/>
          </a:prstGeom>
        </p:spPr>
        <p:txBody>
          <a:bodyPr vert="horz" wrap="square" lIns="0" tIns="1417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10"/>
              </a:spcBef>
            </a:pPr>
            <a:r>
              <a:rPr sz="4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FF</a:t>
            </a:r>
            <a:r>
              <a:rPr sz="4400" b="1" spc="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T</a:t>
            </a: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算法分析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565" y="1251000"/>
            <a:ext cx="7991353" cy="4879263"/>
          </a:xfrm>
          <a:prstGeom prst="rect">
            <a:avLst/>
          </a:prstGeom>
        </p:spPr>
        <p:txBody>
          <a:bodyPr vert="horz" wrap="square" lIns="0" tIns="6075" rIns="0" bIns="0" rtlCol="0">
            <a:spAutoFit/>
          </a:bodyPr>
          <a:lstStyle/>
          <a:p>
            <a:pPr marR="32385">
              <a:spcBef>
                <a:spcPts val="3000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步1:</a:t>
            </a:r>
            <a:r>
              <a:rPr sz="2800" b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sz="2800" b="1" spc="-659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27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2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-6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27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lang="en-US" sz="2800" b="1" spc="-27" dirty="0">
                <a:latin typeface="Times New Roman" panose="02020603050405020304"/>
                <a:cs typeface="Times New Roman" panose="02020603050405020304"/>
              </a:rPr>
              <a:t>       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altLang="zh-CN" sz="2800" b="1" i="1" spc="-5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5" dirty="0" err="1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 err="1">
                <a:latin typeface="Times New Roman" panose="02020603050405020304"/>
                <a:cs typeface="Times New Roman" panose="02020603050405020304"/>
              </a:rPr>
              <a:t>log</a:t>
            </a:r>
            <a:r>
              <a:rPr lang="en-US" altLang="zh-CN" sz="2800" b="1" i="1" spc="-5" dirty="0" err="1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800" b="1" spc="-27" dirty="0">
              <a:latin typeface="Times New Roman" panose="02020603050405020304"/>
              <a:cs typeface="Times New Roman" panose="02020603050405020304"/>
            </a:endParaRPr>
          </a:p>
          <a:p>
            <a:pPr marR="32385">
              <a:spcBef>
                <a:spcPts val="3000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步2:</a:t>
            </a:r>
            <a:r>
              <a:rPr sz="2800" b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计算所有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54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27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lang="en-US" sz="2800" b="1" spc="-27" dirty="0">
                <a:latin typeface="Times New Roman" panose="02020603050405020304"/>
                <a:cs typeface="Times New Roman" panose="02020603050405020304"/>
              </a:rPr>
              <a:t>          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altLang="zh-CN" sz="2800" b="1" i="1" spc="-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800" b="1" spc="-27" dirty="0">
              <a:latin typeface="Times New Roman" panose="02020603050405020304"/>
              <a:cs typeface="Times New Roman" panose="02020603050405020304"/>
            </a:endParaRPr>
          </a:p>
          <a:p>
            <a:pPr marR="32385">
              <a:spcBef>
                <a:spcPts val="3000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步3: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构造多项式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0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步4:</a:t>
            </a:r>
            <a:r>
              <a:rPr sz="2800" b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计算所有</a:t>
            </a: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4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27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27" dirty="0">
                <a:latin typeface="Symbol" panose="05050102010706020507"/>
                <a:cs typeface="Symbol" panose="05050102010706020507"/>
              </a:rPr>
              <a:t></a:t>
            </a:r>
            <a:r>
              <a:rPr sz="2800" b="1" i="1" spc="-39" baseline="-21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b="1" spc="-27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          O</a:t>
            </a:r>
            <a:r>
              <a:rPr lang="en-US" altLang="zh-CN" sz="2800" b="1" i="1" spc="-5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5" dirty="0" err="1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 err="1">
                <a:latin typeface="Times New Roman" panose="02020603050405020304"/>
                <a:cs typeface="Times New Roman" panose="02020603050405020304"/>
              </a:rPr>
              <a:t>log</a:t>
            </a:r>
            <a:r>
              <a:rPr lang="en-US" altLang="zh-CN" sz="2800" b="1" i="1" spc="-5" dirty="0" err="1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>
              <a:spcBef>
                <a:spcPts val="30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5:</a:t>
            </a:r>
            <a:r>
              <a:rPr sz="2800" b="1" spc="-2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计算所有</a:t>
            </a:r>
            <a:r>
              <a:rPr sz="2800" b="1" spc="-1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64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b="1" i="1" baseline="-21000" dirty="0" err="1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sz="2800" b="1" i="1" baseline="-21000" dirty="0">
                <a:latin typeface="Times New Roman" panose="02020603050405020304"/>
                <a:cs typeface="Times New Roman" panose="02020603050405020304"/>
              </a:rPr>
              <a:t>                        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altLang="zh-CN" sz="2800" b="1" i="1" spc="-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800" b="1" i="1" baseline="-21000" dirty="0">
              <a:latin typeface="Times New Roman" panose="02020603050405020304"/>
              <a:cs typeface="Times New Roman" panose="02020603050405020304"/>
            </a:endParaRPr>
          </a:p>
          <a:p>
            <a:pPr marL="40640">
              <a:spcBef>
                <a:spcPts val="3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算法时间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为</a:t>
            </a:r>
            <a:r>
              <a:rPr lang="zh-CN" altLang="en-US" sz="2800" b="1" spc="-11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altLang="zh-CN" sz="2800" b="1" i="1" spc="-58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spc="-5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log</a:t>
            </a:r>
            <a:r>
              <a:rPr lang="en-US" altLang="zh-CN" sz="2800" b="1" i="1" spc="-5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lang="en-US" altLang="zh-CN" sz="2800" dirty="0">
              <a:latin typeface="Times New Roman" panose="02020603050405020304"/>
              <a:cs typeface="Times New Roman" panose="02020603050405020304"/>
            </a:endParaRPr>
          </a:p>
          <a:p>
            <a:pPr marL="40640">
              <a:spcBef>
                <a:spcPts val="595"/>
              </a:spcBef>
            </a:pPr>
            <a:endParaRPr sz="2800" baseline="-210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003" y="47203"/>
            <a:ext cx="8249996" cy="690059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0"/>
              </a:spcBef>
            </a:pPr>
            <a:r>
              <a:rPr sz="44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3546" y="1254778"/>
            <a:ext cx="8130909" cy="2877684"/>
          </a:xfrm>
          <a:prstGeom prst="rect">
            <a:avLst/>
          </a:prstGeom>
        </p:spPr>
        <p:txBody>
          <a:bodyPr vert="horz" wrap="square" lIns="0" tIns="106653" rIns="0" bIns="0" rtlCol="0">
            <a:spAutoFit/>
          </a:bodyPr>
          <a:lstStyle/>
          <a:p>
            <a:pPr marL="149860" indent="-514350">
              <a:spcBef>
                <a:spcPts val="1200"/>
              </a:spcBef>
              <a:buFont typeface="Wingdings" panose="05000000000000000000" pitchFamily="2" charset="2"/>
              <a:buChar char="l"/>
              <a:tabLst>
                <a:tab pos="403860" algn="l"/>
                <a:tab pos="404495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多项式求值算法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75030" indent="-5143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蛮力算法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75030" marR="382905" indent="-5143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改进的求值算法：</a:t>
            </a:r>
            <a:r>
              <a:rPr sz="2800" b="1" i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 </a:t>
            </a: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75030" marR="382905" indent="-5143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FFT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log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49860" indent="-514350">
              <a:spcBef>
                <a:spcPts val="1200"/>
              </a:spcBef>
              <a:buFont typeface="Wingdings" panose="05000000000000000000" pitchFamily="2" charset="2"/>
              <a:buChar char="l"/>
              <a:tabLst>
                <a:tab pos="403860" algn="l"/>
                <a:tab pos="404495" algn="l"/>
              </a:tabLst>
            </a:pPr>
            <a:r>
              <a:rPr sz="2800" b="1" spc="-1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FFT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算法的设计与分析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35782"/>
            <a:ext cx="9150350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5"/>
          </a:p>
        </p:txBody>
      </p:sp>
      <p:sp>
        <p:nvSpPr>
          <p:cNvPr id="3" name="object 3"/>
          <p:cNvSpPr txBox="1"/>
          <p:nvPr/>
        </p:nvSpPr>
        <p:spPr>
          <a:xfrm>
            <a:off x="798286" y="2802326"/>
            <a:ext cx="7663543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0"/>
              </a:lnSpc>
            </a:pPr>
            <a:r>
              <a:rPr sz="6600" b="1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平面点集的凸包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31149" y="143661"/>
            <a:ext cx="8212407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平面点集的凸包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149" y="1179178"/>
            <a:ext cx="8093760" cy="1779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sz="2800" b="1" spc="12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问题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（平面点集的凸包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）</a:t>
            </a:r>
            <a:endParaRPr lang="en-US" sz="2800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>
              <a:spcBef>
                <a:spcPts val="1200"/>
              </a:spcBef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给定大量离散点的集合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Q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，求一个最小的凸多边形，使得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Q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中的点在该多边形内或者边上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MPKDVP+ËÎÌå"/>
              </a:rPr>
              <a:t>.</a:t>
            </a:r>
          </a:p>
          <a:p>
            <a:pPr>
              <a:lnSpc>
                <a:spcPts val="2550"/>
              </a:lnSpc>
            </a:pPr>
            <a:endParaRPr sz="2800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149" y="4595830"/>
            <a:ext cx="8093760" cy="1349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sz="2800" b="1" spc="12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应用背景</a:t>
            </a:r>
            <a:endParaRPr lang="en-US" sz="2800" b="1" spc="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>
              <a:spcBef>
                <a:spcPts val="1200"/>
              </a:spcBef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图形处理中用于形状识别：字形识别、碰撞检测等</a:t>
            </a:r>
          </a:p>
          <a:p>
            <a:pPr>
              <a:lnSpc>
                <a:spcPts val="2550"/>
              </a:lnSpc>
            </a:pPr>
            <a:endParaRPr sz="2800" b="1" spc="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t="10102"/>
          <a:stretch>
            <a:fillRect/>
          </a:stretch>
        </p:blipFill>
        <p:spPr>
          <a:xfrm>
            <a:off x="2908035" y="2710148"/>
            <a:ext cx="4056174" cy="218368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8155" y="173887"/>
            <a:ext cx="828205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分治算法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40221" y="1160616"/>
                <a:ext cx="8309988" cy="169257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r>
                  <a:rPr lang="en-US" altLang="zh-CN" sz="255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1.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以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连接最大纵坐标点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和最小纵坐标点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𝒎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的线段</a:t>
                </a:r>
                <a14:m>
                  <m:oMath xmlns:m="http://schemas.openxmlformats.org/officeDocument/2006/math"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𝒅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ar-AE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𝒎𝒊𝒏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划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分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/>
                  </a:rPr>
                  <a:t>L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为左点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𝒍𝒆𝒇𝒕</m:t>
                        </m:r>
                      </m:sub>
                    </m:sSub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和右点集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𝒓𝒊𝒈𝒉𝒕</m:t>
                        </m:r>
                      </m:sub>
                    </m:sSub>
                  </m:oMath>
                </a14:m>
                <a:endParaRPr lang="en-US" altLang="zh-CN" sz="2800" b="1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/>
                </a:endParaRPr>
              </a:p>
              <a:p>
                <a:pPr algn="just"/>
                <a:endPara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IOQAMC+ËÎÌå"/>
                </a:endParaRPr>
              </a:p>
              <a:p>
                <a:pPr algn="just">
                  <a:lnSpc>
                    <a:spcPts val="2830"/>
                  </a:lnSpc>
                </a:pPr>
                <a:endParaRPr sz="2550" spc="12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IOQAMC+ËÎÌå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21" y="1160616"/>
                <a:ext cx="8309988" cy="1692579"/>
              </a:xfrm>
              <a:prstGeom prst="rect">
                <a:avLst/>
              </a:prstGeom>
              <a:blipFill rotWithShape="1">
                <a:blip r:embed="rId2"/>
                <a:stretch>
                  <a:fillRect l="-2" t="-28" r="7" b="-38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474" y="2243309"/>
            <a:ext cx="3924127" cy="269111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02" y="5257596"/>
            <a:ext cx="3921780" cy="61035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0258" y="101988"/>
            <a:ext cx="8351149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705"/>
              </a:lnSpc>
            </a:pPr>
            <a:r>
              <a:rPr sz="44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Deal</a:t>
            </a:r>
            <a:r>
              <a:rPr sz="4400" b="1" spc="-1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4400" b="1" i="1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lang="en-US" sz="4400" b="1" i="1" baseline="-25000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left</a:t>
            </a:r>
            <a:r>
              <a:rPr sz="44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9162" y="1172809"/>
            <a:ext cx="8106788" cy="2185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考虑</a:t>
            </a:r>
            <a:r>
              <a:rPr sz="2800" b="1" spc="5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left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：确定距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d</a:t>
            </a:r>
            <a:r>
              <a:rPr sz="2800" b="1" i="1" spc="4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最远的点</a:t>
            </a:r>
            <a:r>
              <a:rPr sz="2800" b="1" i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P</a:t>
            </a:r>
            <a:endParaRPr lang="en-US" sz="2800" b="1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在三角形内的点，删除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;</a:t>
            </a:r>
            <a:endParaRPr lang="en-US" altLang="zh-CN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a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外的点与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a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构成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left</a:t>
            </a:r>
            <a:r>
              <a:rPr lang="zh-CN" altLang="en-US"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的子问题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;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b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外的点与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b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构成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left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的子问题</a:t>
            </a:r>
            <a:r>
              <a:rPr lang="en-US" altLang="zh-CN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85" y="3708080"/>
            <a:ext cx="3611893" cy="268473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1580" y="125264"/>
            <a:ext cx="858892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伪码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1671" y="1138017"/>
            <a:ext cx="8081682" cy="4370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Deal(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1800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sz="2800" b="1" spc="62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sz="28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和距离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最远点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sz="2800" b="1" i="1" spc="-9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构成三角</a:t>
            </a:r>
            <a:r>
              <a:rPr sz="2800" b="1" spc="13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形，</a:t>
            </a:r>
            <a:r>
              <a:rPr sz="28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12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加入凸包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另外两条边分别记作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</a:p>
          <a:p>
            <a:pPr algn="just">
              <a:spcBef>
                <a:spcPts val="18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spc="62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检查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left</a:t>
            </a:r>
            <a:r>
              <a:rPr lang="zh-CN" altLang="en-US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中其他点是否在三角形内；在则从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中删除；否则根据在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边的外侧划分在两个子问题中 </a:t>
            </a:r>
            <a:endParaRPr lang="zh-CN" altLang="en-US" sz="2800" b="1" i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spc="62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Deal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spc="62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Deal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" y="99714"/>
            <a:ext cx="8324308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算法分析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5420" y="1141744"/>
            <a:ext cx="8235128" cy="5616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3000"/>
              </a:spcAft>
              <a:buFont typeface="Wingdings" panose="05000000000000000000" pitchFamily="2" charset="2"/>
              <a:buChar char="l"/>
            </a:pPr>
            <a:r>
              <a:rPr lang="zh-CN" altLang="en-US"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初始用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</a:t>
            </a:r>
            <a:r>
              <a:rPr lang="zh-CN" altLang="en-US" sz="2800" b="1" spc="319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Deal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递归调用</a:t>
            </a:r>
            <a:r>
              <a:rPr lang="zh-CN" altLang="en-US" sz="2800" b="1" spc="255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817245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找凸包顶点</a:t>
            </a:r>
            <a:r>
              <a:rPr lang="zh-CN" altLang="en-US"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spc="319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817245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根据点的位置划分子问题</a:t>
            </a:r>
            <a:r>
              <a:rPr lang="zh-CN" altLang="en-US" sz="2800" b="1" spc="62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-2)</a:t>
            </a:r>
            <a:r>
              <a:rPr lang="en-US" altLang="zh-CN"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algn="ctr">
              <a:spcBef>
                <a:spcPts val="600"/>
              </a:spcBef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endParaRPr lang="en-US" sz="2800" b="1" spc="12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最坏情况为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algn="ctr">
              <a:spcBef>
                <a:spcPts val="600"/>
              </a:spcBef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Graham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扫描算法</a:t>
            </a:r>
            <a:r>
              <a:rPr lang="zh-CN" altLang="en-US" sz="2800" b="1" spc="-2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log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140163"/>
            <a:ext cx="8241118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小结：分治算法设计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177013"/>
            <a:ext cx="7985760" cy="406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将原问题归约为子问题</a:t>
            </a: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720090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直接划分注意尽量均衡</a:t>
            </a:r>
            <a:endParaRPr lang="en-US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720090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通过计算归约为特殊的子问题</a:t>
            </a:r>
          </a:p>
          <a:p>
            <a:pPr marL="720090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子问题与原问题具有相同的性质</a:t>
            </a:r>
          </a:p>
          <a:p>
            <a:pPr marL="720090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子问题之间独立计算</a:t>
            </a:r>
            <a:endParaRPr lang="en-US" altLang="zh-CN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算法实现：</a:t>
            </a:r>
            <a:endParaRPr lang="en-US" altLang="zh-CN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720090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递归或迭代实现</a:t>
            </a:r>
          </a:p>
          <a:p>
            <a:pPr marL="720090" indent="-4572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注意递归执行的边界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9554" y="152993"/>
            <a:ext cx="7710720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000" b="1" spc="1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小结：分治算法的分析及改进</a:t>
            </a:r>
            <a:endParaRPr sz="40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499" y="1167758"/>
            <a:ext cx="8595357" cy="3831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时间复杂度分析</a:t>
            </a: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1110615" indent="-457200">
              <a:spcBef>
                <a:spcPts val="510"/>
              </a:spcBef>
              <a:buFont typeface="Wingdings" panose="05000000000000000000" pitchFamily="2" charset="2"/>
              <a:buChar char="Ø"/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给出关于时间复杂度函数的</a:t>
            </a:r>
          </a:p>
          <a:p>
            <a:pPr marL="1110615" indent="-457200">
              <a:spcBef>
                <a:spcPts val="455"/>
              </a:spcBef>
              <a:buFont typeface="Wingdings" panose="05000000000000000000" pitchFamily="2" charset="2"/>
              <a:buChar char="Ø"/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递推方程和初值</a:t>
            </a:r>
            <a:endParaRPr lang="en-US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1110615" indent="-457200">
              <a:spcBef>
                <a:spcPts val="455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求解方程</a:t>
            </a:r>
            <a:endParaRPr lang="en-US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提高效率的途径</a:t>
            </a:r>
          </a:p>
          <a:p>
            <a:pPr marL="1110615" indent="-457200">
              <a:spcBef>
                <a:spcPts val="510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减少子问题个数</a:t>
            </a:r>
          </a:p>
          <a:p>
            <a:pPr marL="1110615" indent="-457200">
              <a:spcBef>
                <a:spcPts val="455"/>
              </a:spcBef>
              <a:buFont typeface="Wingdings" panose="05000000000000000000" pitchFamily="2" charset="2"/>
              <a:buChar char="Ø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预处理</a:t>
            </a:r>
          </a:p>
          <a:p>
            <a:pPr marL="653415">
              <a:spcBef>
                <a:spcPts val="455"/>
              </a:spcBef>
            </a:pP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9660" y="137100"/>
            <a:ext cx="812191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重要的分治算法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1405" y="1224392"/>
            <a:ext cx="7202957" cy="3513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检索算法：二分检索</a:t>
            </a:r>
            <a:endParaRPr 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排序算法：快速排序、二分归并排序</a:t>
            </a:r>
            <a:endParaRPr lang="en-US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选择算法</a:t>
            </a:r>
            <a:endParaRPr lang="en-US" altLang="zh-CN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快速傅立叶变换</a:t>
            </a:r>
            <a:r>
              <a:rPr lang="zh-CN" altLang="en-US" sz="2800" b="1" spc="-7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FFT</a:t>
            </a:r>
            <a:r>
              <a:rPr lang="zh-CN" altLang="en-US" sz="2800" b="1" spc="-4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算法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平面点集的凸包</a:t>
            </a:r>
          </a:p>
          <a:p>
            <a:pPr>
              <a:lnSpc>
                <a:spcPts val="2850"/>
              </a:lnSpc>
            </a:pPr>
            <a:endParaRPr lang="zh-CN" altLang="en-US"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  <a:p>
            <a:pPr>
              <a:lnSpc>
                <a:spcPts val="2850"/>
              </a:lnSpc>
            </a:pP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3914</Words>
  <Application>Microsoft Office PowerPoint</Application>
  <PresentationFormat>全屏显示(4:3)</PresentationFormat>
  <Paragraphs>641</Paragraphs>
  <Slides>81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5" baseType="lpstr">
      <vt:lpstr>CNFSOI+ËÎÌå</vt:lpstr>
      <vt:lpstr>PEJORU+Symbol</vt:lpstr>
      <vt:lpstr>黑体</vt:lpstr>
      <vt:lpstr>华文行楷</vt:lpstr>
      <vt:lpstr>宋体</vt:lpstr>
      <vt:lpstr>Arial</vt:lpstr>
      <vt:lpstr>Calibri</vt:lpstr>
      <vt:lpstr>Calibri Light</vt:lpstr>
      <vt:lpstr>Cambria Math</vt:lpstr>
      <vt:lpstr>Monotype Corsiva</vt:lpstr>
      <vt:lpstr>Symbol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卷积及其应用</vt:lpstr>
      <vt:lpstr>向量计算</vt:lpstr>
      <vt:lpstr>卷积的含义</vt:lpstr>
      <vt:lpstr>计算实例</vt:lpstr>
      <vt:lpstr>PowerPoint 演示文稿</vt:lpstr>
      <vt:lpstr>PowerPoint 演示文稿</vt:lpstr>
      <vt:lpstr>平滑处理</vt:lpstr>
      <vt:lpstr>卷积与多项式乘法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快速傅立叶变换: FFT算法</vt:lpstr>
      <vt:lpstr>多项式求值算法:蛮力算法</vt:lpstr>
      <vt:lpstr>改进的求值算法</vt:lpstr>
      <vt:lpstr>偶系数与奇系数多项式</vt:lpstr>
      <vt:lpstr>分治多项式求值算法</vt:lpstr>
      <vt:lpstr>分治求值算法设计</vt:lpstr>
      <vt:lpstr>分治求值算法分析</vt:lpstr>
      <vt:lpstr>FFT算法伪码</vt:lpstr>
      <vt:lpstr>FFT算法分析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wjs</cp:lastModifiedBy>
  <cp:revision>50</cp:revision>
  <dcterms:created xsi:type="dcterms:W3CDTF">2019-06-18T13:54:00Z</dcterms:created>
  <dcterms:modified xsi:type="dcterms:W3CDTF">2022-03-20T08:31:42Z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4829E8080B84488CB91DCC6D4697F30E</vt:lpwstr>
  </property>
  <property fmtid="{D5CDD505-2E9C-101B-9397-08002B2CF9AE}" pid="3" name="KSOProductBuildVer">
    <vt:lpwstr>2052-11.1.0.10700</vt:lpwstr>
  </property>
</Properties>
</file>