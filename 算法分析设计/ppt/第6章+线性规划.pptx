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78" r:id="rId4"/>
    <p:sldId id="277" r:id="rId5"/>
    <p:sldId id="28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90" r:id="rId14"/>
    <p:sldId id="266" r:id="rId15"/>
    <p:sldId id="267" r:id="rId16"/>
    <p:sldId id="268" r:id="rId17"/>
    <p:sldId id="269" r:id="rId18"/>
    <p:sldId id="270" r:id="rId19"/>
    <p:sldId id="271" r:id="rId21"/>
    <p:sldId id="272" r:id="rId22"/>
    <p:sldId id="273" r:id="rId23"/>
    <p:sldId id="274" r:id="rId24"/>
    <p:sldId id="275" r:id="rId25"/>
    <p:sldId id="276" r:id="rId26"/>
    <p:sldId id="279" r:id="rId27"/>
    <p:sldId id="280" r:id="rId28"/>
    <p:sldId id="291" r:id="rId29"/>
    <p:sldId id="281" r:id="rId30"/>
    <p:sldId id="282" r:id="rId31"/>
    <p:sldId id="283" r:id="rId32"/>
    <p:sldId id="284" r:id="rId33"/>
    <p:sldId id="292" r:id="rId34"/>
    <p:sldId id="285" r:id="rId35"/>
    <p:sldId id="286" r:id="rId36"/>
    <p:sldId id="287" r:id="rId37"/>
    <p:sldId id="293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14" r:id="rId46"/>
    <p:sldId id="302" r:id="rId47"/>
    <p:sldId id="303" r:id="rId48"/>
    <p:sldId id="315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6" r:id="rId57"/>
    <p:sldId id="311" r:id="rId58"/>
    <p:sldId id="312" r:id="rId59"/>
    <p:sldId id="317" r:id="rId60"/>
    <p:sldId id="313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</p:sldIdLst>
  <p:sldSz cx="9144000" cy="6858000" type="screen4x3"/>
  <p:notesSz cx="6858000" cy="9144000"/>
  <p:custDataLst>
    <p:tags r:id="rId9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0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gs" Target="tags/tag1.xml"/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4EE0788-2A54-45B1-8A8F-7D1BB6CF442B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ED37348-512D-4CBE-8D34-84DB4C550FC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27AD60-F859-46C8-ADFC-E8F3F5F5B6EE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5E970-4FDD-4271-A787-600B45C5553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CB1897-05CD-4D51-8F18-2C208856E2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83F3F-0133-44D6-92B3-4886A3C16668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90340-CD9D-4C53-BBD7-1A6F303F68D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62BBB-4728-4D6A-B357-CDA0FF5C9169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F0052-982E-4692-B3C8-74E2D4B059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7A875-DC2D-4250-98A9-1608350CB8D0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695ED-DF40-4F2C-AEF3-A64BFF8D18B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9023B-6FA8-408F-A444-A3EE115530B0}" type="datetime1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78078-CEEB-44B6-83D9-7C53D4CD8C9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C23CF-5FA1-4A94-A76F-6ED76A8B01DD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12D2-2F5C-4361-916C-19F18157AC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0923D-B4BF-4A9C-BDD2-DAFEEF69EED7}" type="datetime1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49722-F937-4760-9FD9-4B19EEA5908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06D90-4259-4603-86F2-1B1E08133C93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9F7A8-4EBF-408B-9152-6C69201232C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EC21B-D190-406F-B700-F1F34D13D952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C428C-806C-47B3-B24C-FE77FCF288D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A18E0-7502-437A-96ED-AB89783F71AF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DC58A-2973-4E78-AF81-33EA4EE453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F1DD8-8401-43C9-9061-648B69992BE9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C4562-6602-455C-A5E1-B613B6A430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7792E7B-81AD-4235-8536-919EAD6F1734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A0FBC2F-93DF-41F5-B6CD-FEE019091C1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1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21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9.bin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1.xml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3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4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0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4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5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8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1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5.wmf"/><Relationship Id="rId14" Type="http://schemas.openxmlformats.org/officeDocument/2006/relationships/vmlDrawing" Target="../drawings/vmlDrawing19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2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61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58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6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63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0.wmf"/><Relationship Id="rId1" Type="http://schemas.openxmlformats.org/officeDocument/2006/relationships/oleObject" Target="../embeddings/oleObject67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线性规划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5111750" cy="4535487"/>
          </a:xfrm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线性规划模型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6.1.1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6.1.2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二维线性规划的图解法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6.2.1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6.2.2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标准形的可行解的性质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6.3.1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确定初始基本可行解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6.3.2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最优性检验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867DB2-B6FA-4571-93A5-DC54CA5510D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 线性规划 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6.3.3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6.3.4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单纯形表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6.3.5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人工变量和两阶段法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6.3.6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单纯形法的有限终止性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对偶性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6.4.1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对偶线性规划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6.4.2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spcBef>
                <a:spcPts val="1800"/>
              </a:spcBef>
            </a:pP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  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整数线性规划的分支限界算法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6E98AC-A183-4AA3-9264-86C3357A3664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08025" y="2603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</a:rPr>
              <a:t> </a:t>
            </a:r>
            <a:r>
              <a:rPr lang="zh-CN" altLang="en-US" sz="4000" b="1" smtClean="0">
                <a:solidFill>
                  <a:srgbClr val="C00000"/>
                </a:solidFill>
              </a:rPr>
              <a:t>简要历史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688975" y="1381125"/>
            <a:ext cx="7773988" cy="4535488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线性规划是应用最广的数学模型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L.V.Kantorovich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苏联数学家、经济学家、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1975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年诺贝尔经济学奖获得者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1939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年在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组织和计划生产的数学方法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一文中最早提出线性规划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G.B.Dantzig   1947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给出一般的线性规划模型和单纯形法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L.G. Khachian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苏联数学家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1979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 椭球算法   这是多项式时间算法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Karmarkar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印度数学家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 投影算法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FA5038-62E7-4B50-99BC-4B7C451DD4AC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685800" y="276225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线性规划模型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副标题 2"/>
          <p:cNvSpPr>
            <a:spLocks noGrp="1"/>
          </p:cNvSpPr>
          <p:nvPr>
            <p:ph type="subTitle" idx="1"/>
          </p:nvPr>
        </p:nvSpPr>
        <p:spPr>
          <a:xfrm>
            <a:off x="612775" y="1201738"/>
            <a:ext cx="7775575" cy="1657350"/>
          </a:xfrm>
        </p:spPr>
        <p:txBody>
          <a:bodyPr/>
          <a:lstStyle/>
          <a:p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6.1.1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en-US" altLang="zh-CN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生产计划问题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种原料混合配制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种清洁剂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标题 2"/>
          <p:cNvSpPr txBox="1"/>
          <p:nvPr/>
        </p:nvSpPr>
        <p:spPr bwMode="auto">
          <a:xfrm>
            <a:off x="644525" y="5267325"/>
            <a:ext cx="7775575" cy="614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这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种清洁剂应各配制多少才能使总价值最大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149" name="组合 14"/>
          <p:cNvGrpSpPr/>
          <p:nvPr/>
        </p:nvGrpSpPr>
        <p:grpSpPr bwMode="auto">
          <a:xfrm>
            <a:off x="785813" y="3170238"/>
            <a:ext cx="7429500" cy="1787525"/>
            <a:chOff x="785787" y="3284538"/>
            <a:chExt cx="7429552" cy="1787525"/>
          </a:xfrm>
        </p:grpSpPr>
        <p:sp>
          <p:nvSpPr>
            <p:cNvPr id="5" name="副标题 2"/>
            <p:cNvSpPr txBox="1"/>
            <p:nvPr/>
          </p:nvSpPr>
          <p:spPr bwMode="auto">
            <a:xfrm>
              <a:off x="785787" y="3284538"/>
              <a:ext cx="7429552" cy="17859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售价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万元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吨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清洁剂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          0.25        0.50         0.25          12    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清洁剂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          0.50        0.50                          15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存量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吨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120          150           50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>
              <a:off x="785787" y="3284538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 bwMode="auto">
            <a:xfrm>
              <a:off x="785787" y="3713163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auto">
            <a:xfrm>
              <a:off x="785787" y="5068888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auto">
            <a:xfrm rot="5400000">
              <a:off x="1465248" y="4178300"/>
              <a:ext cx="1785938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auto">
            <a:xfrm rot="5400000">
              <a:off x="5106998" y="4176713"/>
              <a:ext cx="1785937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 bwMode="auto">
            <a:xfrm>
              <a:off x="785787" y="4640263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50" name="灯片编号占位符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1A79D4-5FD4-4722-80B0-DE0A1C050E8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</a:rPr>
              <a:t>例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5472112" cy="45354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设清洁剂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分别配制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4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12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+15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0.25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zh-CN" altLang="en-US" sz="2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0.50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zh-CN" altLang="en-US" sz="2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0.25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altLang="zh-CN" sz="2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6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CA36B6-7AFD-4CF6-BD4F-6FB791DD8AE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6443663" y="2060575"/>
            <a:ext cx="1416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目标函数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7174" name="文本框 5"/>
          <p:cNvSpPr txBox="1">
            <a:spLocks noChangeArrowheads="1"/>
          </p:cNvSpPr>
          <p:nvPr/>
        </p:nvSpPr>
        <p:spPr bwMode="auto">
          <a:xfrm>
            <a:off x="6443663" y="3098800"/>
            <a:ext cx="1422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约束条件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ctrTitle"/>
          </p:nvPr>
        </p:nvSpPr>
        <p:spPr>
          <a:xfrm>
            <a:off x="766763" y="26987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投资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组合问题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副标题 2"/>
          <p:cNvSpPr>
            <a:spLocks noGrp="1"/>
          </p:cNvSpPr>
          <p:nvPr>
            <p:ph type="subTitle" idx="1"/>
          </p:nvPr>
        </p:nvSpPr>
        <p:spPr>
          <a:xfrm>
            <a:off x="650875" y="1233488"/>
            <a:ext cx="8002588" cy="45354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亿元投资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是高新技术产业的企业债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是基础工业的企业债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是国债和地方政府债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预测它们的年收益率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8.1, 10.5, 6.4, 7.5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5.0.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基于风险的考虑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要求投资组合满足下述条件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(1)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每个项目不超过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亿元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(2)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高新技术产业的投资不超过总投资的一半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亿元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其中项目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又不超过高新技术产业投资的一半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(3)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国债和地方政府债不少于基础工业项目投资的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试确定投资组合中各项目的投资额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使年收益率最大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A93A35-6CD8-4580-A78A-B8D917E3BACF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设项目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的投资额为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亿元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 2, 3, 4, 5.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max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8.1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+ 10.5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+ 6.4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+ 7.5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+ 5.0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s.t.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+ 0.4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 2, 3, 4, 5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1076AF-F802-4D9E-9ACE-390C1E03BEBE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ctrTitle"/>
          </p:nvPr>
        </p:nvSpPr>
        <p:spPr>
          <a:xfrm>
            <a:off x="728111" y="356737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运输问题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副标题 2"/>
          <p:cNvSpPr>
            <a:spLocks noGrp="1"/>
          </p:cNvSpPr>
          <p:nvPr>
            <p:ph type="subTitle" idx="1"/>
          </p:nvPr>
        </p:nvSpPr>
        <p:spPr>
          <a:xfrm>
            <a:off x="796925" y="3288978"/>
            <a:ext cx="7775575" cy="500062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产销平衡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试制定供销方案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使总运费最小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44" name="组合 19"/>
          <p:cNvGrpSpPr/>
          <p:nvPr/>
        </p:nvGrpSpPr>
        <p:grpSpPr bwMode="auto">
          <a:xfrm>
            <a:off x="857250" y="1640334"/>
            <a:ext cx="7715250" cy="1644650"/>
            <a:chOff x="857224" y="1570024"/>
            <a:chExt cx="7715304" cy="1644662"/>
          </a:xfrm>
        </p:grpSpPr>
        <p:sp>
          <p:nvSpPr>
            <p:cNvPr id="10247" name="Text Box 5"/>
            <p:cNvSpPr txBox="1">
              <a:spLocks noChangeArrowheads="1"/>
            </p:cNvSpPr>
            <p:nvPr/>
          </p:nvSpPr>
          <p:spPr bwMode="auto">
            <a:xfrm>
              <a:off x="928662" y="1571612"/>
              <a:ext cx="7643866" cy="16430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分销中心</a:t>
              </a:r>
              <a:r>
                <a:rPr lang="en-US" altLang="zh-CN" sz="2400" b="1">
                  <a:latin typeface="Times New Roman" panose="02020603050405020304" pitchFamily="18" charset="0"/>
                </a:rPr>
                <a:t>1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分销中心</a:t>
              </a:r>
              <a:r>
                <a:rPr lang="en-US" altLang="zh-CN" sz="2400" b="1">
                  <a:latin typeface="Times New Roman" panose="02020603050405020304" pitchFamily="18" charset="0"/>
                </a:rPr>
                <a:t>2 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分销中心</a:t>
              </a:r>
              <a:r>
                <a:rPr lang="en-US" altLang="zh-CN" sz="2400" b="1">
                  <a:latin typeface="Times New Roman" panose="02020603050405020304" pitchFamily="18" charset="0"/>
                </a:rPr>
                <a:t>3     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产量</a:t>
              </a:r>
              <a:endParaRPr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工厂</a:t>
              </a:r>
              <a:r>
                <a:rPr lang="en-US" altLang="zh-CN" sz="2400" b="1">
                  <a:latin typeface="Times New Roman" panose="02020603050405020304" pitchFamily="18" charset="0"/>
                </a:rPr>
                <a:t>1                 3                  2                    7              5000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工厂</a:t>
              </a:r>
              <a:r>
                <a:rPr lang="en-US" altLang="zh-CN" sz="2400" b="1">
                  <a:latin typeface="Times New Roman" panose="02020603050405020304" pitchFamily="18" charset="0"/>
                </a:rPr>
                <a:t>2                 7                  5                    2              6000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需求量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6000             4000              1000         11000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cxnSp>
          <p:nvCxnSpPr>
            <p:cNvPr id="10248" name="AutoShape 6"/>
            <p:cNvCxnSpPr>
              <a:cxnSpLocks noChangeShapeType="1"/>
            </p:cNvCxnSpPr>
            <p:nvPr/>
          </p:nvCxnSpPr>
          <p:spPr bwMode="auto">
            <a:xfrm>
              <a:off x="857224" y="1570024"/>
              <a:ext cx="764386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49" name="AutoShape 10"/>
            <p:cNvCxnSpPr>
              <a:cxnSpLocks noChangeShapeType="1"/>
            </p:cNvCxnSpPr>
            <p:nvPr/>
          </p:nvCxnSpPr>
          <p:spPr bwMode="auto">
            <a:xfrm rot="5400000">
              <a:off x="1448568" y="2359721"/>
              <a:ext cx="1549505" cy="175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0" name="AutoShape 6"/>
            <p:cNvCxnSpPr>
              <a:cxnSpLocks noChangeShapeType="1"/>
            </p:cNvCxnSpPr>
            <p:nvPr/>
          </p:nvCxnSpPr>
          <p:spPr bwMode="auto">
            <a:xfrm>
              <a:off x="857224" y="1998652"/>
              <a:ext cx="764386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1" name="AutoShape 6"/>
            <p:cNvCxnSpPr>
              <a:cxnSpLocks noChangeShapeType="1"/>
            </p:cNvCxnSpPr>
            <p:nvPr/>
          </p:nvCxnSpPr>
          <p:spPr bwMode="auto">
            <a:xfrm>
              <a:off x="857224" y="2713032"/>
              <a:ext cx="764386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2" name="AutoShape 6"/>
            <p:cNvCxnSpPr>
              <a:cxnSpLocks noChangeShapeType="1"/>
            </p:cNvCxnSpPr>
            <p:nvPr/>
          </p:nvCxnSpPr>
          <p:spPr bwMode="auto">
            <a:xfrm>
              <a:off x="857224" y="3141660"/>
              <a:ext cx="764386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3" name="AutoShape 10"/>
            <p:cNvCxnSpPr>
              <a:cxnSpLocks noChangeShapeType="1"/>
            </p:cNvCxnSpPr>
            <p:nvPr/>
          </p:nvCxnSpPr>
          <p:spPr bwMode="auto">
            <a:xfrm rot="5400000">
              <a:off x="6503117" y="2337591"/>
              <a:ext cx="1549505" cy="175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副标题 2"/>
          <p:cNvSpPr txBox="1"/>
          <p:nvPr/>
        </p:nvSpPr>
        <p:spPr bwMode="auto">
          <a:xfrm>
            <a:off x="806582" y="3786187"/>
            <a:ext cx="7775575" cy="278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设工厂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供应分销中心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的数量为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1, 2;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1, 2, 3.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min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3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+ 2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+ 7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+ 7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+ 2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</a:t>
            </a: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5000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6000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6000,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4000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1000,    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ij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1, 2;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1,2,3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246" name="灯片编号占位符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57DCCF-B077-4B42-BABA-8C56F176273E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5661" y="1095127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</a:rPr>
              <a:t>饲料</a:t>
            </a:r>
            <a:r>
              <a:rPr lang="zh-CN" altLang="en-US" sz="4000" b="1" dirty="0" smtClean="0">
                <a:solidFill>
                  <a:srgbClr val="C00000"/>
                </a:solidFill>
              </a:rPr>
              <a:t>配方问题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副标题 2"/>
          <p:cNvSpPr>
            <a:spLocks noGrp="1"/>
          </p:cNvSpPr>
          <p:nvPr>
            <p:ph type="subTitle" idx="1"/>
          </p:nvPr>
        </p:nvSpPr>
        <p:spPr>
          <a:xfrm>
            <a:off x="654050" y="1460500"/>
            <a:ext cx="7804150" cy="1666875"/>
          </a:xfrm>
        </p:spPr>
        <p:txBody>
          <a:bodyPr/>
          <a:lstStyle/>
          <a:p>
            <a:pPr algn="l">
              <a:lnSpc>
                <a:spcPts val="35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头每天至少需要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个单位的营养素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种饲料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饲料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每千克含有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个单位的营养素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售价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要保证动物有足够营养且饲料成本最低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应如何配方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26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685800" y="3400425"/>
            <a:ext cx="7775575" cy="3228975"/>
            <a:chOff x="714348" y="2947278"/>
            <a:chExt cx="7775575" cy="3228984"/>
          </a:xfrm>
        </p:grpSpPr>
        <p:sp>
          <p:nvSpPr>
            <p:cNvPr id="7" name="副标题 2"/>
            <p:cNvSpPr txBox="1"/>
            <p:nvPr/>
          </p:nvSpPr>
          <p:spPr bwMode="auto">
            <a:xfrm>
              <a:off x="714348" y="2947278"/>
              <a:ext cx="7775575" cy="32289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设每头每天的饲料中含 </a:t>
              </a:r>
              <a:r>
                <a:rPr lang="en-US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2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千克饲料 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1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ts val="0"/>
                </a:spcBef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s.t                              ,    1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i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m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 0,   1 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j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273" name="Object 7"/>
            <p:cNvGraphicFramePr>
              <a:graphicFrameLocks noChangeAspect="1"/>
            </p:cNvGraphicFramePr>
            <p:nvPr/>
          </p:nvGraphicFramePr>
          <p:xfrm>
            <a:off x="2368300" y="3423264"/>
            <a:ext cx="2394200" cy="10058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Equation" r:id="rId1" imgW="1028065" imgH="444500" progId="Equation.3">
                    <p:embed/>
                  </p:oleObj>
                </mc:Choice>
                <mc:Fallback>
                  <p:oleObj name="Equation" r:id="rId1" imgW="1028065" imgH="444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300" y="3423264"/>
                          <a:ext cx="2394200" cy="10058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Object 9"/>
            <p:cNvGraphicFramePr>
              <a:graphicFrameLocks noChangeAspect="1"/>
            </p:cNvGraphicFramePr>
            <p:nvPr/>
          </p:nvGraphicFramePr>
          <p:xfrm>
            <a:off x="3032503" y="4429131"/>
            <a:ext cx="1744987" cy="966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8" name="Equation" r:id="rId3" imgW="786765" imgH="444500" progId="Equation.3">
                    <p:embed/>
                  </p:oleObj>
                </mc:Choice>
                <mc:Fallback>
                  <p:oleObj name="Equation" r:id="rId3" imgW="786765" imgH="4445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2503" y="4429131"/>
                          <a:ext cx="1744987" cy="966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1" name="灯片编号占位符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2C8740-D2F3-4B23-BE8D-4202447F88F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ctrTitle"/>
          </p:nvPr>
        </p:nvSpPr>
        <p:spPr>
          <a:xfrm>
            <a:off x="685800" y="331788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</a:rPr>
              <a:t>线性规划的一般形式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0" y="-171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0" y="-171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12293" name="组合 11"/>
          <p:cNvGrpSpPr/>
          <p:nvPr/>
        </p:nvGrpSpPr>
        <p:grpSpPr bwMode="auto">
          <a:xfrm>
            <a:off x="827088" y="1096963"/>
            <a:ext cx="7775575" cy="3268662"/>
            <a:chOff x="827557" y="1268761"/>
            <a:chExt cx="7775575" cy="3267744"/>
          </a:xfrm>
        </p:grpSpPr>
        <p:graphicFrame>
          <p:nvGraphicFramePr>
            <p:cNvPr id="12296" name="Object 5"/>
            <p:cNvGraphicFramePr>
              <a:graphicFrameLocks noChangeAspect="1"/>
            </p:cNvGraphicFramePr>
            <p:nvPr/>
          </p:nvGraphicFramePr>
          <p:xfrm>
            <a:off x="3270017" y="1500201"/>
            <a:ext cx="1159134" cy="1000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name="Equation" r:id="rId1" imgW="508000" imgH="444500" progId="Equation.3">
                    <p:embed/>
                  </p:oleObj>
                </mc:Choice>
                <mc:Fallback>
                  <p:oleObj name="Equation" r:id="rId1" imgW="508000" imgH="444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0017" y="1500201"/>
                          <a:ext cx="1159134" cy="1000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7"/>
            <p:cNvGraphicFramePr>
              <a:graphicFrameLocks noChangeAspect="1"/>
            </p:cNvGraphicFramePr>
            <p:nvPr/>
          </p:nvGraphicFramePr>
          <p:xfrm>
            <a:off x="2390807" y="2357440"/>
            <a:ext cx="2466972" cy="912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Equation" r:id="rId3" imgW="1180465" imgH="444500" progId="Equation.3">
                    <p:embed/>
                  </p:oleObj>
                </mc:Choice>
                <mc:Fallback>
                  <p:oleObj name="Equation" r:id="rId3" imgW="1180465" imgH="4445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0807" y="2357440"/>
                          <a:ext cx="2466972" cy="912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8" name="副标题 2"/>
            <p:cNvSpPr txBox="1"/>
            <p:nvPr/>
          </p:nvSpPr>
          <p:spPr bwMode="auto">
            <a:xfrm>
              <a:off x="827557" y="1268761"/>
              <a:ext cx="7775575" cy="3267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min(max)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                                      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目标函数</a:t>
              </a:r>
              <a:endPara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s.t.                                 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=1,2,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约束条件</a:t>
              </a:r>
              <a:endPara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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0,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{1,2,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}                    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非负条件</a:t>
              </a:r>
              <a:endPara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任意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{1,2,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                     </a:t>
              </a:r>
              <a:r>
                <a:rPr lang="zh-CN" altLang="en-US" sz="2400" b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自由变量</a:t>
              </a:r>
              <a:endPara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294" name="灯片编号占位符 1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18490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12B21C-4717-4C06-B63D-213A78C0325F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12295" name="矩形 1"/>
          <p:cNvSpPr>
            <a:spLocks noChangeArrowheads="1"/>
          </p:cNvSpPr>
          <p:nvPr/>
        </p:nvSpPr>
        <p:spPr bwMode="auto">
          <a:xfrm>
            <a:off x="1146175" y="4365625"/>
            <a:ext cx="6402388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可行解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满足约束条件和非负条件的变量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可行域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全体可行解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最优解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目标函数值最小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最大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最优值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最优解的目标函数值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6.1.2 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二维线性规划的图解法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副标题 2"/>
          <p:cNvSpPr>
            <a:spLocks noGrp="1"/>
          </p:cNvSpPr>
          <p:nvPr>
            <p:ph type="subTitle" idx="1"/>
          </p:nvPr>
        </p:nvSpPr>
        <p:spPr>
          <a:xfrm>
            <a:off x="557213" y="1509713"/>
            <a:ext cx="7775575" cy="4535487"/>
          </a:xfrm>
        </p:spPr>
        <p:txBody>
          <a:bodyPr/>
          <a:lstStyle/>
          <a:p>
            <a:pPr algn="l" eaLnBrk="1" hangingPunct="1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(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max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0.25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0.25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(0,0),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(0,240),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(120,180),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(200,100),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(200)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*=120,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*=180  (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*=4140.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408635-AB0A-486E-8A8E-214F4C3A403E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grpSp>
        <p:nvGrpSpPr>
          <p:cNvPr id="13317" name="组合 77"/>
          <p:cNvGrpSpPr/>
          <p:nvPr/>
        </p:nvGrpSpPr>
        <p:grpSpPr bwMode="auto">
          <a:xfrm>
            <a:off x="4071938" y="1671638"/>
            <a:ext cx="4714875" cy="3400425"/>
            <a:chOff x="4071934" y="1671649"/>
            <a:chExt cx="4714875" cy="3400425"/>
          </a:xfrm>
        </p:grpSpPr>
        <p:sp>
          <p:nvSpPr>
            <p:cNvPr id="50" name="任意多边形 49"/>
            <p:cNvSpPr/>
            <p:nvPr/>
          </p:nvSpPr>
          <p:spPr>
            <a:xfrm>
              <a:off x="4571996" y="3209936"/>
              <a:ext cx="1285875" cy="1517650"/>
            </a:xfrm>
            <a:custGeom>
              <a:avLst/>
              <a:gdLst>
                <a:gd name="connsiteX0" fmla="*/ 14748 w 1224116"/>
                <a:gd name="connsiteY0" fmla="*/ 0 h 1517611"/>
                <a:gd name="connsiteX1" fmla="*/ 29497 w 1224116"/>
                <a:gd name="connsiteY1" fmla="*/ 44245 h 1517611"/>
                <a:gd name="connsiteX2" fmla="*/ 58993 w 1224116"/>
                <a:gd name="connsiteY2" fmla="*/ 648929 h 1517611"/>
                <a:gd name="connsiteX3" fmla="*/ 44245 w 1224116"/>
                <a:gd name="connsiteY3" fmla="*/ 1047135 h 1517611"/>
                <a:gd name="connsiteX4" fmla="*/ 29497 w 1224116"/>
                <a:gd name="connsiteY4" fmla="*/ 1091380 h 1517611"/>
                <a:gd name="connsiteX5" fmla="*/ 44245 w 1224116"/>
                <a:gd name="connsiteY5" fmla="*/ 1460090 h 1517611"/>
                <a:gd name="connsiteX6" fmla="*/ 58993 w 1224116"/>
                <a:gd name="connsiteY6" fmla="*/ 1474838 h 1517611"/>
                <a:gd name="connsiteX7" fmla="*/ 339213 w 1224116"/>
                <a:gd name="connsiteY7" fmla="*/ 1474838 h 1517611"/>
                <a:gd name="connsiteX8" fmla="*/ 811161 w 1224116"/>
                <a:gd name="connsiteY8" fmla="*/ 1489587 h 1517611"/>
                <a:gd name="connsiteX9" fmla="*/ 1002890 w 1224116"/>
                <a:gd name="connsiteY9" fmla="*/ 1474838 h 1517611"/>
                <a:gd name="connsiteX10" fmla="*/ 1047135 w 1224116"/>
                <a:gd name="connsiteY10" fmla="*/ 1460090 h 1517611"/>
                <a:gd name="connsiteX11" fmla="*/ 1224116 w 1224116"/>
                <a:gd name="connsiteY11" fmla="*/ 1445342 h 1517611"/>
                <a:gd name="connsiteX12" fmla="*/ 1209368 w 1224116"/>
                <a:gd name="connsiteY12" fmla="*/ 1356851 h 1517611"/>
                <a:gd name="connsiteX13" fmla="*/ 1179871 w 1224116"/>
                <a:gd name="connsiteY13" fmla="*/ 1312606 h 1517611"/>
                <a:gd name="connsiteX14" fmla="*/ 1150374 w 1224116"/>
                <a:gd name="connsiteY14" fmla="*/ 1209367 h 1517611"/>
                <a:gd name="connsiteX15" fmla="*/ 1135626 w 1224116"/>
                <a:gd name="connsiteY15" fmla="*/ 899651 h 1517611"/>
                <a:gd name="connsiteX16" fmla="*/ 1061884 w 1224116"/>
                <a:gd name="connsiteY16" fmla="*/ 811161 h 1517611"/>
                <a:gd name="connsiteX17" fmla="*/ 988142 w 1224116"/>
                <a:gd name="connsiteY17" fmla="*/ 737419 h 1517611"/>
                <a:gd name="connsiteX18" fmla="*/ 914400 w 1224116"/>
                <a:gd name="connsiteY18" fmla="*/ 678426 h 1517611"/>
                <a:gd name="connsiteX19" fmla="*/ 884903 w 1224116"/>
                <a:gd name="connsiteY19" fmla="*/ 634180 h 1517611"/>
                <a:gd name="connsiteX20" fmla="*/ 840658 w 1224116"/>
                <a:gd name="connsiteY20" fmla="*/ 545690 h 1517611"/>
                <a:gd name="connsiteX21" fmla="*/ 796413 w 1224116"/>
                <a:gd name="connsiteY21" fmla="*/ 516193 h 1517611"/>
                <a:gd name="connsiteX22" fmla="*/ 766916 w 1224116"/>
                <a:gd name="connsiteY22" fmla="*/ 427703 h 1517611"/>
                <a:gd name="connsiteX23" fmla="*/ 722671 w 1224116"/>
                <a:gd name="connsiteY23" fmla="*/ 383458 h 1517611"/>
                <a:gd name="connsiteX24" fmla="*/ 707922 w 1224116"/>
                <a:gd name="connsiteY24" fmla="*/ 339213 h 1517611"/>
                <a:gd name="connsiteX25" fmla="*/ 619432 w 1224116"/>
                <a:gd name="connsiteY25" fmla="*/ 309716 h 1517611"/>
                <a:gd name="connsiteX26" fmla="*/ 575187 w 1224116"/>
                <a:gd name="connsiteY26" fmla="*/ 280219 h 1517611"/>
                <a:gd name="connsiteX27" fmla="*/ 471948 w 1224116"/>
                <a:gd name="connsiteY27" fmla="*/ 250722 h 1517611"/>
                <a:gd name="connsiteX28" fmla="*/ 427703 w 1224116"/>
                <a:gd name="connsiteY28" fmla="*/ 235974 h 1517611"/>
                <a:gd name="connsiteX29" fmla="*/ 368709 w 1224116"/>
                <a:gd name="connsiteY29" fmla="*/ 221226 h 1517611"/>
                <a:gd name="connsiteX30" fmla="*/ 280219 w 1224116"/>
                <a:gd name="connsiteY30" fmla="*/ 176980 h 1517611"/>
                <a:gd name="connsiteX31" fmla="*/ 235974 w 1224116"/>
                <a:gd name="connsiteY31" fmla="*/ 162232 h 1517611"/>
                <a:gd name="connsiteX32" fmla="*/ 191729 w 1224116"/>
                <a:gd name="connsiteY32" fmla="*/ 132735 h 1517611"/>
                <a:gd name="connsiteX33" fmla="*/ 147484 w 1224116"/>
                <a:gd name="connsiteY33" fmla="*/ 117987 h 1517611"/>
                <a:gd name="connsiteX34" fmla="*/ 117987 w 1224116"/>
                <a:gd name="connsiteY34" fmla="*/ 73742 h 1517611"/>
                <a:gd name="connsiteX35" fmla="*/ 0 w 1224116"/>
                <a:gd name="connsiteY35" fmla="*/ 58993 h 1517611"/>
                <a:gd name="connsiteX36" fmla="*/ 29497 w 1224116"/>
                <a:gd name="connsiteY36" fmla="*/ 58993 h 1517611"/>
                <a:gd name="connsiteX37" fmla="*/ 73742 w 1224116"/>
                <a:gd name="connsiteY37" fmla="*/ 58993 h 1517611"/>
                <a:gd name="connsiteX38" fmla="*/ 73742 w 1224116"/>
                <a:gd name="connsiteY38" fmla="*/ 58993 h 151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24116" h="1517611">
                  <a:moveTo>
                    <a:pt x="14748" y="0"/>
                  </a:moveTo>
                  <a:cubicBezTo>
                    <a:pt x="19664" y="14748"/>
                    <a:pt x="25226" y="29297"/>
                    <a:pt x="29497" y="44245"/>
                  </a:cubicBezTo>
                  <a:cubicBezTo>
                    <a:pt x="87498" y="247245"/>
                    <a:pt x="51588" y="374944"/>
                    <a:pt x="58993" y="648929"/>
                  </a:cubicBezTo>
                  <a:cubicBezTo>
                    <a:pt x="54077" y="781664"/>
                    <a:pt x="53080" y="914603"/>
                    <a:pt x="44245" y="1047135"/>
                  </a:cubicBezTo>
                  <a:cubicBezTo>
                    <a:pt x="43211" y="1062647"/>
                    <a:pt x="29497" y="1075834"/>
                    <a:pt x="29497" y="1091380"/>
                  </a:cubicBezTo>
                  <a:cubicBezTo>
                    <a:pt x="29497" y="1214382"/>
                    <a:pt x="34811" y="1337451"/>
                    <a:pt x="44245" y="1460090"/>
                  </a:cubicBezTo>
                  <a:cubicBezTo>
                    <a:pt x="44778" y="1467022"/>
                    <a:pt x="54077" y="1469922"/>
                    <a:pt x="58993" y="1474838"/>
                  </a:cubicBezTo>
                  <a:cubicBezTo>
                    <a:pt x="187308" y="1517611"/>
                    <a:pt x="40567" y="1474838"/>
                    <a:pt x="339213" y="1474838"/>
                  </a:cubicBezTo>
                  <a:cubicBezTo>
                    <a:pt x="496606" y="1474838"/>
                    <a:pt x="653845" y="1484671"/>
                    <a:pt x="811161" y="1489587"/>
                  </a:cubicBezTo>
                  <a:cubicBezTo>
                    <a:pt x="875071" y="1484671"/>
                    <a:pt x="939286" y="1482789"/>
                    <a:pt x="1002890" y="1474838"/>
                  </a:cubicBezTo>
                  <a:cubicBezTo>
                    <a:pt x="1018316" y="1472910"/>
                    <a:pt x="1031725" y="1462145"/>
                    <a:pt x="1047135" y="1460090"/>
                  </a:cubicBezTo>
                  <a:cubicBezTo>
                    <a:pt x="1105814" y="1452266"/>
                    <a:pt x="1165122" y="1450258"/>
                    <a:pt x="1224116" y="1445342"/>
                  </a:cubicBezTo>
                  <a:cubicBezTo>
                    <a:pt x="1219200" y="1415845"/>
                    <a:pt x="1218824" y="1385220"/>
                    <a:pt x="1209368" y="1356851"/>
                  </a:cubicBezTo>
                  <a:cubicBezTo>
                    <a:pt x="1203763" y="1340035"/>
                    <a:pt x="1187798" y="1328460"/>
                    <a:pt x="1179871" y="1312606"/>
                  </a:cubicBezTo>
                  <a:cubicBezTo>
                    <a:pt x="1169290" y="1291444"/>
                    <a:pt x="1155101" y="1228275"/>
                    <a:pt x="1150374" y="1209367"/>
                  </a:cubicBezTo>
                  <a:cubicBezTo>
                    <a:pt x="1134808" y="929171"/>
                    <a:pt x="1135626" y="1032523"/>
                    <a:pt x="1135626" y="899651"/>
                  </a:cubicBezTo>
                  <a:cubicBezTo>
                    <a:pt x="1062390" y="789799"/>
                    <a:pt x="1156516" y="924718"/>
                    <a:pt x="1061884" y="811161"/>
                  </a:cubicBezTo>
                  <a:cubicBezTo>
                    <a:pt x="1000432" y="737419"/>
                    <a:pt x="1069258" y="791497"/>
                    <a:pt x="988142" y="737419"/>
                  </a:cubicBezTo>
                  <a:cubicBezTo>
                    <a:pt x="903605" y="610615"/>
                    <a:pt x="1016170" y="759843"/>
                    <a:pt x="914400" y="678426"/>
                  </a:cubicBezTo>
                  <a:cubicBezTo>
                    <a:pt x="900559" y="667353"/>
                    <a:pt x="894735" y="648929"/>
                    <a:pt x="884903" y="634180"/>
                  </a:cubicBezTo>
                  <a:cubicBezTo>
                    <a:pt x="872908" y="598193"/>
                    <a:pt x="869249" y="574281"/>
                    <a:pt x="840658" y="545690"/>
                  </a:cubicBezTo>
                  <a:cubicBezTo>
                    <a:pt x="828124" y="533156"/>
                    <a:pt x="811161" y="526025"/>
                    <a:pt x="796413" y="516193"/>
                  </a:cubicBezTo>
                  <a:lnTo>
                    <a:pt x="766916" y="427703"/>
                  </a:lnTo>
                  <a:cubicBezTo>
                    <a:pt x="760320" y="407916"/>
                    <a:pt x="722671" y="383458"/>
                    <a:pt x="722671" y="383458"/>
                  </a:cubicBezTo>
                  <a:cubicBezTo>
                    <a:pt x="717755" y="368710"/>
                    <a:pt x="720572" y="348249"/>
                    <a:pt x="707922" y="339213"/>
                  </a:cubicBezTo>
                  <a:cubicBezTo>
                    <a:pt x="682621" y="321141"/>
                    <a:pt x="619432" y="309716"/>
                    <a:pt x="619432" y="309716"/>
                  </a:cubicBezTo>
                  <a:cubicBezTo>
                    <a:pt x="604684" y="299884"/>
                    <a:pt x="591041" y="288146"/>
                    <a:pt x="575187" y="280219"/>
                  </a:cubicBezTo>
                  <a:cubicBezTo>
                    <a:pt x="551617" y="268434"/>
                    <a:pt x="493994" y="257021"/>
                    <a:pt x="471948" y="250722"/>
                  </a:cubicBezTo>
                  <a:cubicBezTo>
                    <a:pt x="457000" y="246451"/>
                    <a:pt x="442651" y="240245"/>
                    <a:pt x="427703" y="235974"/>
                  </a:cubicBezTo>
                  <a:cubicBezTo>
                    <a:pt x="408213" y="230406"/>
                    <a:pt x="388199" y="226795"/>
                    <a:pt x="368709" y="221226"/>
                  </a:cubicBezTo>
                  <a:cubicBezTo>
                    <a:pt x="282213" y="196513"/>
                    <a:pt x="366399" y="220070"/>
                    <a:pt x="280219" y="176980"/>
                  </a:cubicBezTo>
                  <a:cubicBezTo>
                    <a:pt x="266314" y="170028"/>
                    <a:pt x="250722" y="167148"/>
                    <a:pt x="235974" y="162232"/>
                  </a:cubicBezTo>
                  <a:cubicBezTo>
                    <a:pt x="221226" y="152400"/>
                    <a:pt x="207583" y="140662"/>
                    <a:pt x="191729" y="132735"/>
                  </a:cubicBezTo>
                  <a:cubicBezTo>
                    <a:pt x="177824" y="125783"/>
                    <a:pt x="159623" y="127698"/>
                    <a:pt x="147484" y="117987"/>
                  </a:cubicBezTo>
                  <a:cubicBezTo>
                    <a:pt x="133643" y="106914"/>
                    <a:pt x="131828" y="84815"/>
                    <a:pt x="117987" y="73742"/>
                  </a:cubicBezTo>
                  <a:cubicBezTo>
                    <a:pt x="89834" y="51220"/>
                    <a:pt x="26973" y="58993"/>
                    <a:pt x="0" y="58993"/>
                  </a:cubicBezTo>
                  <a:lnTo>
                    <a:pt x="29497" y="58993"/>
                  </a:lnTo>
                  <a:lnTo>
                    <a:pt x="73742" y="58993"/>
                  </a:lnTo>
                  <a:lnTo>
                    <a:pt x="73742" y="58993"/>
                  </a:lnTo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3319" name="Text Box 6"/>
            <p:cNvSpPr txBox="1">
              <a:spLocks noChangeArrowheads="1"/>
            </p:cNvSpPr>
            <p:nvPr/>
          </p:nvSpPr>
          <p:spPr bwMode="auto">
            <a:xfrm>
              <a:off x="6171015" y="4297106"/>
              <a:ext cx="972731" cy="388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=4140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20" name="Text Box 7"/>
            <p:cNvSpPr txBox="1">
              <a:spLocks noChangeArrowheads="1"/>
            </p:cNvSpPr>
            <p:nvPr/>
          </p:nvSpPr>
          <p:spPr bwMode="auto">
            <a:xfrm>
              <a:off x="6463893" y="3861663"/>
              <a:ext cx="1965728" cy="394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0.25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+0.5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000" b="1">
                  <a:latin typeface="Times New Roman" panose="02020603050405020304" pitchFamily="18" charset="0"/>
                </a:rPr>
                <a:t>=120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21" name="Text Box 8"/>
            <p:cNvSpPr txBox="1">
              <a:spLocks noChangeArrowheads="1"/>
            </p:cNvSpPr>
            <p:nvPr/>
          </p:nvSpPr>
          <p:spPr bwMode="auto">
            <a:xfrm>
              <a:off x="4770990" y="2655608"/>
              <a:ext cx="1872694" cy="386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+0.5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000" b="1">
                  <a:latin typeface="Times New Roman" panose="02020603050405020304" pitchFamily="18" charset="0"/>
                </a:rPr>
                <a:t>=150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cxnSp>
          <p:nvCxnSpPr>
            <p:cNvPr id="13322" name="AutoShape 9"/>
            <p:cNvCxnSpPr>
              <a:cxnSpLocks noChangeShapeType="1"/>
            </p:cNvCxnSpPr>
            <p:nvPr/>
          </p:nvCxnSpPr>
          <p:spPr bwMode="auto">
            <a:xfrm flipV="1">
              <a:off x="4617872" y="4693653"/>
              <a:ext cx="3632125" cy="2147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3" name="AutoShape 10"/>
            <p:cNvCxnSpPr>
              <a:cxnSpLocks noChangeShapeType="1"/>
            </p:cNvCxnSpPr>
            <p:nvPr/>
          </p:nvCxnSpPr>
          <p:spPr bwMode="auto">
            <a:xfrm flipV="1">
              <a:off x="4617872" y="2103747"/>
              <a:ext cx="0" cy="261137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4" name="AutoShape 11"/>
            <p:cNvCxnSpPr>
              <a:cxnSpLocks noChangeShapeType="1"/>
            </p:cNvCxnSpPr>
            <p:nvPr/>
          </p:nvCxnSpPr>
          <p:spPr bwMode="auto">
            <a:xfrm>
              <a:off x="4617872" y="3208148"/>
              <a:ext cx="2874848" cy="148550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5" name="AutoShape 12"/>
            <p:cNvCxnSpPr>
              <a:cxnSpLocks noChangeShapeType="1"/>
            </p:cNvCxnSpPr>
            <p:nvPr/>
          </p:nvCxnSpPr>
          <p:spPr bwMode="auto">
            <a:xfrm>
              <a:off x="4617872" y="2809598"/>
              <a:ext cx="1758056" cy="190552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6" name="AutoShape 13"/>
            <p:cNvCxnSpPr>
              <a:cxnSpLocks noChangeShapeType="1"/>
            </p:cNvCxnSpPr>
            <p:nvPr/>
          </p:nvCxnSpPr>
          <p:spPr bwMode="auto">
            <a:xfrm flipV="1">
              <a:off x="5804783" y="3075297"/>
              <a:ext cx="0" cy="163982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7" name="AutoShape 14"/>
            <p:cNvCxnSpPr>
              <a:cxnSpLocks noChangeShapeType="1"/>
            </p:cNvCxnSpPr>
            <p:nvPr/>
          </p:nvCxnSpPr>
          <p:spPr bwMode="auto">
            <a:xfrm>
              <a:off x="4315726" y="3971700"/>
              <a:ext cx="1049224" cy="860171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8" name="AutoShape 15"/>
            <p:cNvCxnSpPr>
              <a:cxnSpLocks noChangeShapeType="1"/>
            </p:cNvCxnSpPr>
            <p:nvPr/>
          </p:nvCxnSpPr>
          <p:spPr bwMode="auto">
            <a:xfrm>
              <a:off x="4315726" y="3453719"/>
              <a:ext cx="1639492" cy="1378152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29" name="AutoShape 16"/>
            <p:cNvCxnSpPr>
              <a:cxnSpLocks noChangeShapeType="1"/>
            </p:cNvCxnSpPr>
            <p:nvPr/>
          </p:nvCxnSpPr>
          <p:spPr bwMode="auto">
            <a:xfrm>
              <a:off x="4875397" y="3208148"/>
              <a:ext cx="1457185" cy="1205044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30" name="Text Box 17"/>
            <p:cNvSpPr txBox="1">
              <a:spLocks noChangeArrowheads="1"/>
            </p:cNvSpPr>
            <p:nvPr/>
          </p:nvSpPr>
          <p:spPr bwMode="auto">
            <a:xfrm>
              <a:off x="4243058" y="4537990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3331" name="Text Box 18"/>
            <p:cNvSpPr txBox="1">
              <a:spLocks noChangeArrowheads="1"/>
            </p:cNvSpPr>
            <p:nvPr/>
          </p:nvSpPr>
          <p:spPr bwMode="auto">
            <a:xfrm>
              <a:off x="8302355" y="4376960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3332" name="Text Box 19"/>
            <p:cNvSpPr txBox="1">
              <a:spLocks noChangeArrowheads="1"/>
            </p:cNvSpPr>
            <p:nvPr/>
          </p:nvSpPr>
          <p:spPr bwMode="auto">
            <a:xfrm>
              <a:off x="4444730" y="1671649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3333" name="Text Box 20"/>
            <p:cNvSpPr txBox="1">
              <a:spLocks noChangeArrowheads="1"/>
            </p:cNvSpPr>
            <p:nvPr/>
          </p:nvSpPr>
          <p:spPr bwMode="auto">
            <a:xfrm>
              <a:off x="4324566" y="3114458"/>
              <a:ext cx="461748" cy="457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4" name="Text Box 21"/>
            <p:cNvSpPr txBox="1">
              <a:spLocks noChangeArrowheads="1"/>
            </p:cNvSpPr>
            <p:nvPr/>
          </p:nvSpPr>
          <p:spPr bwMode="auto">
            <a:xfrm>
              <a:off x="5252806" y="3213846"/>
              <a:ext cx="390753" cy="39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5" name="Text Box 22"/>
            <p:cNvSpPr txBox="1">
              <a:spLocks noChangeArrowheads="1"/>
            </p:cNvSpPr>
            <p:nvPr/>
          </p:nvSpPr>
          <p:spPr bwMode="auto">
            <a:xfrm>
              <a:off x="5802058" y="3859098"/>
              <a:ext cx="413016" cy="427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C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6" name="Text Box 23"/>
            <p:cNvSpPr txBox="1">
              <a:spLocks noChangeArrowheads="1"/>
            </p:cNvSpPr>
            <p:nvPr/>
          </p:nvSpPr>
          <p:spPr bwMode="auto">
            <a:xfrm>
              <a:off x="5803612" y="4351794"/>
              <a:ext cx="411462" cy="4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7" name="Text Box 24"/>
            <p:cNvSpPr txBox="1">
              <a:spLocks noChangeArrowheads="1"/>
            </p:cNvSpPr>
            <p:nvPr/>
          </p:nvSpPr>
          <p:spPr bwMode="auto">
            <a:xfrm>
              <a:off x="4919618" y="4685329"/>
              <a:ext cx="3081378" cy="379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100    200   300           480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8" name="Text Box 25"/>
            <p:cNvSpPr txBox="1">
              <a:spLocks noChangeArrowheads="1"/>
            </p:cNvSpPr>
            <p:nvPr/>
          </p:nvSpPr>
          <p:spPr bwMode="auto">
            <a:xfrm>
              <a:off x="4071934" y="2613210"/>
              <a:ext cx="576156" cy="714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300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240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39" name="Text Box 26"/>
            <p:cNvSpPr txBox="1">
              <a:spLocks noChangeArrowheads="1"/>
            </p:cNvSpPr>
            <p:nvPr/>
          </p:nvSpPr>
          <p:spPr bwMode="auto">
            <a:xfrm>
              <a:off x="4090073" y="3513541"/>
              <a:ext cx="719031" cy="528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160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40" name="Text Box 27"/>
            <p:cNvSpPr txBox="1">
              <a:spLocks noChangeArrowheads="1"/>
            </p:cNvSpPr>
            <p:nvPr/>
          </p:nvSpPr>
          <p:spPr bwMode="auto">
            <a:xfrm>
              <a:off x="4222749" y="4040469"/>
              <a:ext cx="492123" cy="430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80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3341" name="Text Box 28"/>
            <p:cNvSpPr txBox="1">
              <a:spLocks noChangeArrowheads="1"/>
            </p:cNvSpPr>
            <p:nvPr/>
          </p:nvSpPr>
          <p:spPr bwMode="auto">
            <a:xfrm>
              <a:off x="4558595" y="4228065"/>
              <a:ext cx="1013527" cy="385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=1200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42" name="Text Box 29"/>
            <p:cNvSpPr txBox="1">
              <a:spLocks noChangeArrowheads="1"/>
            </p:cNvSpPr>
            <p:nvPr/>
          </p:nvSpPr>
          <p:spPr bwMode="auto">
            <a:xfrm>
              <a:off x="4691815" y="3857967"/>
              <a:ext cx="1112968" cy="39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=2400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43" name="Text Box 31"/>
            <p:cNvSpPr txBox="1">
              <a:spLocks noChangeArrowheads="1"/>
            </p:cNvSpPr>
            <p:nvPr/>
          </p:nvSpPr>
          <p:spPr bwMode="auto">
            <a:xfrm>
              <a:off x="5821445" y="3122400"/>
              <a:ext cx="1322302" cy="49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0.25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=50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例</a:t>
            </a:r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 eaLnBrk="1" hangingPunct="1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中的目标函数改为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max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*=120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+200(1-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)=200-80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4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*=180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+100(1-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)=100+80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0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1  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线段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BC</a:t>
            </a:r>
            <a:endParaRPr lang="en-US" altLang="zh-CN" sz="24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*=3600.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47F8DD-C7D1-4B2D-BD06-28BFB6A7A70E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grpSp>
        <p:nvGrpSpPr>
          <p:cNvPr id="14341" name="组合 35"/>
          <p:cNvGrpSpPr/>
          <p:nvPr/>
        </p:nvGrpSpPr>
        <p:grpSpPr bwMode="auto">
          <a:xfrm>
            <a:off x="4071938" y="1285875"/>
            <a:ext cx="4714875" cy="3400425"/>
            <a:chOff x="4071934" y="1671649"/>
            <a:chExt cx="4714875" cy="3400425"/>
          </a:xfrm>
        </p:grpSpPr>
        <p:sp>
          <p:nvSpPr>
            <p:cNvPr id="50" name="任意多边形 49"/>
            <p:cNvSpPr/>
            <p:nvPr/>
          </p:nvSpPr>
          <p:spPr>
            <a:xfrm>
              <a:off x="4571996" y="3209937"/>
              <a:ext cx="1285875" cy="1517650"/>
            </a:xfrm>
            <a:custGeom>
              <a:avLst/>
              <a:gdLst>
                <a:gd name="connsiteX0" fmla="*/ 14748 w 1224116"/>
                <a:gd name="connsiteY0" fmla="*/ 0 h 1517611"/>
                <a:gd name="connsiteX1" fmla="*/ 29497 w 1224116"/>
                <a:gd name="connsiteY1" fmla="*/ 44245 h 1517611"/>
                <a:gd name="connsiteX2" fmla="*/ 58993 w 1224116"/>
                <a:gd name="connsiteY2" fmla="*/ 648929 h 1517611"/>
                <a:gd name="connsiteX3" fmla="*/ 44245 w 1224116"/>
                <a:gd name="connsiteY3" fmla="*/ 1047135 h 1517611"/>
                <a:gd name="connsiteX4" fmla="*/ 29497 w 1224116"/>
                <a:gd name="connsiteY4" fmla="*/ 1091380 h 1517611"/>
                <a:gd name="connsiteX5" fmla="*/ 44245 w 1224116"/>
                <a:gd name="connsiteY5" fmla="*/ 1460090 h 1517611"/>
                <a:gd name="connsiteX6" fmla="*/ 58993 w 1224116"/>
                <a:gd name="connsiteY6" fmla="*/ 1474838 h 1517611"/>
                <a:gd name="connsiteX7" fmla="*/ 339213 w 1224116"/>
                <a:gd name="connsiteY7" fmla="*/ 1474838 h 1517611"/>
                <a:gd name="connsiteX8" fmla="*/ 811161 w 1224116"/>
                <a:gd name="connsiteY8" fmla="*/ 1489587 h 1517611"/>
                <a:gd name="connsiteX9" fmla="*/ 1002890 w 1224116"/>
                <a:gd name="connsiteY9" fmla="*/ 1474838 h 1517611"/>
                <a:gd name="connsiteX10" fmla="*/ 1047135 w 1224116"/>
                <a:gd name="connsiteY10" fmla="*/ 1460090 h 1517611"/>
                <a:gd name="connsiteX11" fmla="*/ 1224116 w 1224116"/>
                <a:gd name="connsiteY11" fmla="*/ 1445342 h 1517611"/>
                <a:gd name="connsiteX12" fmla="*/ 1209368 w 1224116"/>
                <a:gd name="connsiteY12" fmla="*/ 1356851 h 1517611"/>
                <a:gd name="connsiteX13" fmla="*/ 1179871 w 1224116"/>
                <a:gd name="connsiteY13" fmla="*/ 1312606 h 1517611"/>
                <a:gd name="connsiteX14" fmla="*/ 1150374 w 1224116"/>
                <a:gd name="connsiteY14" fmla="*/ 1209367 h 1517611"/>
                <a:gd name="connsiteX15" fmla="*/ 1135626 w 1224116"/>
                <a:gd name="connsiteY15" fmla="*/ 899651 h 1517611"/>
                <a:gd name="connsiteX16" fmla="*/ 1061884 w 1224116"/>
                <a:gd name="connsiteY16" fmla="*/ 811161 h 1517611"/>
                <a:gd name="connsiteX17" fmla="*/ 988142 w 1224116"/>
                <a:gd name="connsiteY17" fmla="*/ 737419 h 1517611"/>
                <a:gd name="connsiteX18" fmla="*/ 914400 w 1224116"/>
                <a:gd name="connsiteY18" fmla="*/ 678426 h 1517611"/>
                <a:gd name="connsiteX19" fmla="*/ 884903 w 1224116"/>
                <a:gd name="connsiteY19" fmla="*/ 634180 h 1517611"/>
                <a:gd name="connsiteX20" fmla="*/ 840658 w 1224116"/>
                <a:gd name="connsiteY20" fmla="*/ 545690 h 1517611"/>
                <a:gd name="connsiteX21" fmla="*/ 796413 w 1224116"/>
                <a:gd name="connsiteY21" fmla="*/ 516193 h 1517611"/>
                <a:gd name="connsiteX22" fmla="*/ 766916 w 1224116"/>
                <a:gd name="connsiteY22" fmla="*/ 427703 h 1517611"/>
                <a:gd name="connsiteX23" fmla="*/ 722671 w 1224116"/>
                <a:gd name="connsiteY23" fmla="*/ 383458 h 1517611"/>
                <a:gd name="connsiteX24" fmla="*/ 707922 w 1224116"/>
                <a:gd name="connsiteY24" fmla="*/ 339213 h 1517611"/>
                <a:gd name="connsiteX25" fmla="*/ 619432 w 1224116"/>
                <a:gd name="connsiteY25" fmla="*/ 309716 h 1517611"/>
                <a:gd name="connsiteX26" fmla="*/ 575187 w 1224116"/>
                <a:gd name="connsiteY26" fmla="*/ 280219 h 1517611"/>
                <a:gd name="connsiteX27" fmla="*/ 471948 w 1224116"/>
                <a:gd name="connsiteY27" fmla="*/ 250722 h 1517611"/>
                <a:gd name="connsiteX28" fmla="*/ 427703 w 1224116"/>
                <a:gd name="connsiteY28" fmla="*/ 235974 h 1517611"/>
                <a:gd name="connsiteX29" fmla="*/ 368709 w 1224116"/>
                <a:gd name="connsiteY29" fmla="*/ 221226 h 1517611"/>
                <a:gd name="connsiteX30" fmla="*/ 280219 w 1224116"/>
                <a:gd name="connsiteY30" fmla="*/ 176980 h 1517611"/>
                <a:gd name="connsiteX31" fmla="*/ 235974 w 1224116"/>
                <a:gd name="connsiteY31" fmla="*/ 162232 h 1517611"/>
                <a:gd name="connsiteX32" fmla="*/ 191729 w 1224116"/>
                <a:gd name="connsiteY32" fmla="*/ 132735 h 1517611"/>
                <a:gd name="connsiteX33" fmla="*/ 147484 w 1224116"/>
                <a:gd name="connsiteY33" fmla="*/ 117987 h 1517611"/>
                <a:gd name="connsiteX34" fmla="*/ 117987 w 1224116"/>
                <a:gd name="connsiteY34" fmla="*/ 73742 h 1517611"/>
                <a:gd name="connsiteX35" fmla="*/ 0 w 1224116"/>
                <a:gd name="connsiteY35" fmla="*/ 58993 h 1517611"/>
                <a:gd name="connsiteX36" fmla="*/ 29497 w 1224116"/>
                <a:gd name="connsiteY36" fmla="*/ 58993 h 1517611"/>
                <a:gd name="connsiteX37" fmla="*/ 73742 w 1224116"/>
                <a:gd name="connsiteY37" fmla="*/ 58993 h 1517611"/>
                <a:gd name="connsiteX38" fmla="*/ 73742 w 1224116"/>
                <a:gd name="connsiteY38" fmla="*/ 58993 h 1517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224116" h="1517611">
                  <a:moveTo>
                    <a:pt x="14748" y="0"/>
                  </a:moveTo>
                  <a:cubicBezTo>
                    <a:pt x="19664" y="14748"/>
                    <a:pt x="25226" y="29297"/>
                    <a:pt x="29497" y="44245"/>
                  </a:cubicBezTo>
                  <a:cubicBezTo>
                    <a:pt x="87498" y="247245"/>
                    <a:pt x="51588" y="374944"/>
                    <a:pt x="58993" y="648929"/>
                  </a:cubicBezTo>
                  <a:cubicBezTo>
                    <a:pt x="54077" y="781664"/>
                    <a:pt x="53080" y="914603"/>
                    <a:pt x="44245" y="1047135"/>
                  </a:cubicBezTo>
                  <a:cubicBezTo>
                    <a:pt x="43211" y="1062647"/>
                    <a:pt x="29497" y="1075834"/>
                    <a:pt x="29497" y="1091380"/>
                  </a:cubicBezTo>
                  <a:cubicBezTo>
                    <a:pt x="29497" y="1214382"/>
                    <a:pt x="34811" y="1337451"/>
                    <a:pt x="44245" y="1460090"/>
                  </a:cubicBezTo>
                  <a:cubicBezTo>
                    <a:pt x="44778" y="1467022"/>
                    <a:pt x="54077" y="1469922"/>
                    <a:pt x="58993" y="1474838"/>
                  </a:cubicBezTo>
                  <a:cubicBezTo>
                    <a:pt x="187308" y="1517611"/>
                    <a:pt x="40567" y="1474838"/>
                    <a:pt x="339213" y="1474838"/>
                  </a:cubicBezTo>
                  <a:cubicBezTo>
                    <a:pt x="496606" y="1474838"/>
                    <a:pt x="653845" y="1484671"/>
                    <a:pt x="811161" y="1489587"/>
                  </a:cubicBezTo>
                  <a:cubicBezTo>
                    <a:pt x="875071" y="1484671"/>
                    <a:pt x="939286" y="1482789"/>
                    <a:pt x="1002890" y="1474838"/>
                  </a:cubicBezTo>
                  <a:cubicBezTo>
                    <a:pt x="1018316" y="1472910"/>
                    <a:pt x="1031725" y="1462145"/>
                    <a:pt x="1047135" y="1460090"/>
                  </a:cubicBezTo>
                  <a:cubicBezTo>
                    <a:pt x="1105814" y="1452266"/>
                    <a:pt x="1165122" y="1450258"/>
                    <a:pt x="1224116" y="1445342"/>
                  </a:cubicBezTo>
                  <a:cubicBezTo>
                    <a:pt x="1219200" y="1415845"/>
                    <a:pt x="1218824" y="1385220"/>
                    <a:pt x="1209368" y="1356851"/>
                  </a:cubicBezTo>
                  <a:cubicBezTo>
                    <a:pt x="1203763" y="1340035"/>
                    <a:pt x="1187798" y="1328460"/>
                    <a:pt x="1179871" y="1312606"/>
                  </a:cubicBezTo>
                  <a:cubicBezTo>
                    <a:pt x="1169290" y="1291444"/>
                    <a:pt x="1155101" y="1228275"/>
                    <a:pt x="1150374" y="1209367"/>
                  </a:cubicBezTo>
                  <a:cubicBezTo>
                    <a:pt x="1134808" y="929171"/>
                    <a:pt x="1135626" y="1032523"/>
                    <a:pt x="1135626" y="899651"/>
                  </a:cubicBezTo>
                  <a:cubicBezTo>
                    <a:pt x="1062390" y="789799"/>
                    <a:pt x="1156516" y="924718"/>
                    <a:pt x="1061884" y="811161"/>
                  </a:cubicBezTo>
                  <a:cubicBezTo>
                    <a:pt x="1000432" y="737419"/>
                    <a:pt x="1069258" y="791497"/>
                    <a:pt x="988142" y="737419"/>
                  </a:cubicBezTo>
                  <a:cubicBezTo>
                    <a:pt x="903605" y="610615"/>
                    <a:pt x="1016170" y="759843"/>
                    <a:pt x="914400" y="678426"/>
                  </a:cubicBezTo>
                  <a:cubicBezTo>
                    <a:pt x="900559" y="667353"/>
                    <a:pt x="894735" y="648929"/>
                    <a:pt x="884903" y="634180"/>
                  </a:cubicBezTo>
                  <a:cubicBezTo>
                    <a:pt x="872908" y="598193"/>
                    <a:pt x="869249" y="574281"/>
                    <a:pt x="840658" y="545690"/>
                  </a:cubicBezTo>
                  <a:cubicBezTo>
                    <a:pt x="828124" y="533156"/>
                    <a:pt x="811161" y="526025"/>
                    <a:pt x="796413" y="516193"/>
                  </a:cubicBezTo>
                  <a:lnTo>
                    <a:pt x="766916" y="427703"/>
                  </a:lnTo>
                  <a:cubicBezTo>
                    <a:pt x="760320" y="407916"/>
                    <a:pt x="722671" y="383458"/>
                    <a:pt x="722671" y="383458"/>
                  </a:cubicBezTo>
                  <a:cubicBezTo>
                    <a:pt x="717755" y="368710"/>
                    <a:pt x="720572" y="348249"/>
                    <a:pt x="707922" y="339213"/>
                  </a:cubicBezTo>
                  <a:cubicBezTo>
                    <a:pt x="682621" y="321141"/>
                    <a:pt x="619432" y="309716"/>
                    <a:pt x="619432" y="309716"/>
                  </a:cubicBezTo>
                  <a:cubicBezTo>
                    <a:pt x="604684" y="299884"/>
                    <a:pt x="591041" y="288146"/>
                    <a:pt x="575187" y="280219"/>
                  </a:cubicBezTo>
                  <a:cubicBezTo>
                    <a:pt x="551617" y="268434"/>
                    <a:pt x="493994" y="257021"/>
                    <a:pt x="471948" y="250722"/>
                  </a:cubicBezTo>
                  <a:cubicBezTo>
                    <a:pt x="457000" y="246451"/>
                    <a:pt x="442651" y="240245"/>
                    <a:pt x="427703" y="235974"/>
                  </a:cubicBezTo>
                  <a:cubicBezTo>
                    <a:pt x="408213" y="230406"/>
                    <a:pt x="388199" y="226795"/>
                    <a:pt x="368709" y="221226"/>
                  </a:cubicBezTo>
                  <a:cubicBezTo>
                    <a:pt x="282213" y="196513"/>
                    <a:pt x="366399" y="220070"/>
                    <a:pt x="280219" y="176980"/>
                  </a:cubicBezTo>
                  <a:cubicBezTo>
                    <a:pt x="266314" y="170028"/>
                    <a:pt x="250722" y="167148"/>
                    <a:pt x="235974" y="162232"/>
                  </a:cubicBezTo>
                  <a:cubicBezTo>
                    <a:pt x="221226" y="152400"/>
                    <a:pt x="207583" y="140662"/>
                    <a:pt x="191729" y="132735"/>
                  </a:cubicBezTo>
                  <a:cubicBezTo>
                    <a:pt x="177824" y="125783"/>
                    <a:pt x="159623" y="127698"/>
                    <a:pt x="147484" y="117987"/>
                  </a:cubicBezTo>
                  <a:cubicBezTo>
                    <a:pt x="133643" y="106914"/>
                    <a:pt x="131828" y="84815"/>
                    <a:pt x="117987" y="73742"/>
                  </a:cubicBezTo>
                  <a:cubicBezTo>
                    <a:pt x="89834" y="51220"/>
                    <a:pt x="26973" y="58993"/>
                    <a:pt x="0" y="58993"/>
                  </a:cubicBezTo>
                  <a:lnTo>
                    <a:pt x="29497" y="58993"/>
                  </a:lnTo>
                  <a:lnTo>
                    <a:pt x="73742" y="58993"/>
                  </a:lnTo>
                  <a:lnTo>
                    <a:pt x="73742" y="58993"/>
                  </a:lnTo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4343" name="Text Box 6"/>
            <p:cNvSpPr txBox="1">
              <a:spLocks noChangeArrowheads="1"/>
            </p:cNvSpPr>
            <p:nvPr/>
          </p:nvSpPr>
          <p:spPr bwMode="auto">
            <a:xfrm>
              <a:off x="4956591" y="3571876"/>
              <a:ext cx="972731" cy="388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=3600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44" name="Text Box 7"/>
            <p:cNvSpPr txBox="1">
              <a:spLocks noChangeArrowheads="1"/>
            </p:cNvSpPr>
            <p:nvPr/>
          </p:nvSpPr>
          <p:spPr bwMode="auto">
            <a:xfrm>
              <a:off x="6463893" y="3861663"/>
              <a:ext cx="1965728" cy="394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0.25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+0.5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000" b="1">
                  <a:latin typeface="Times New Roman" panose="02020603050405020304" pitchFamily="18" charset="0"/>
                </a:rPr>
                <a:t>=120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45" name="Text Box 8"/>
            <p:cNvSpPr txBox="1">
              <a:spLocks noChangeArrowheads="1"/>
            </p:cNvSpPr>
            <p:nvPr/>
          </p:nvSpPr>
          <p:spPr bwMode="auto">
            <a:xfrm>
              <a:off x="4770990" y="2655608"/>
              <a:ext cx="1872694" cy="386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+0.5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2000" b="1">
                  <a:latin typeface="Times New Roman" panose="02020603050405020304" pitchFamily="18" charset="0"/>
                </a:rPr>
                <a:t>=150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cxnSp>
          <p:nvCxnSpPr>
            <p:cNvPr id="14346" name="AutoShape 9"/>
            <p:cNvCxnSpPr>
              <a:cxnSpLocks noChangeShapeType="1"/>
            </p:cNvCxnSpPr>
            <p:nvPr/>
          </p:nvCxnSpPr>
          <p:spPr bwMode="auto">
            <a:xfrm flipV="1">
              <a:off x="4617872" y="4693653"/>
              <a:ext cx="3632125" cy="2147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47" name="AutoShape 10"/>
            <p:cNvCxnSpPr>
              <a:cxnSpLocks noChangeShapeType="1"/>
            </p:cNvCxnSpPr>
            <p:nvPr/>
          </p:nvCxnSpPr>
          <p:spPr bwMode="auto">
            <a:xfrm flipV="1">
              <a:off x="4617872" y="2103747"/>
              <a:ext cx="0" cy="261137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48" name="AutoShape 11"/>
            <p:cNvCxnSpPr>
              <a:cxnSpLocks noChangeShapeType="1"/>
            </p:cNvCxnSpPr>
            <p:nvPr/>
          </p:nvCxnSpPr>
          <p:spPr bwMode="auto">
            <a:xfrm>
              <a:off x="4617872" y="3208148"/>
              <a:ext cx="2874848" cy="148550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49" name="AutoShape 12"/>
            <p:cNvCxnSpPr>
              <a:cxnSpLocks noChangeShapeType="1"/>
            </p:cNvCxnSpPr>
            <p:nvPr/>
          </p:nvCxnSpPr>
          <p:spPr bwMode="auto">
            <a:xfrm>
              <a:off x="4617872" y="2809598"/>
              <a:ext cx="1758056" cy="1905526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0" name="AutoShape 13"/>
            <p:cNvCxnSpPr>
              <a:cxnSpLocks noChangeShapeType="1"/>
            </p:cNvCxnSpPr>
            <p:nvPr/>
          </p:nvCxnSpPr>
          <p:spPr bwMode="auto">
            <a:xfrm flipV="1">
              <a:off x="5804783" y="3075297"/>
              <a:ext cx="0" cy="163982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1" name="AutoShape 14"/>
            <p:cNvCxnSpPr>
              <a:cxnSpLocks noChangeShapeType="1"/>
            </p:cNvCxnSpPr>
            <p:nvPr/>
          </p:nvCxnSpPr>
          <p:spPr bwMode="auto">
            <a:xfrm rot="16200000" flipH="1">
              <a:off x="4409916" y="3876836"/>
              <a:ext cx="974243" cy="935826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2" name="AutoShape 15"/>
            <p:cNvCxnSpPr>
              <a:cxnSpLocks noChangeShapeType="1"/>
            </p:cNvCxnSpPr>
            <p:nvPr/>
          </p:nvCxnSpPr>
          <p:spPr bwMode="auto">
            <a:xfrm rot="16200000" flipH="1">
              <a:off x="4419298" y="3295950"/>
              <a:ext cx="1545747" cy="1526094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53" name="AutoShape 16"/>
            <p:cNvCxnSpPr>
              <a:cxnSpLocks noChangeShapeType="1"/>
              <a:endCxn id="14360" idx="3"/>
            </p:cNvCxnSpPr>
            <p:nvPr/>
          </p:nvCxnSpPr>
          <p:spPr bwMode="auto">
            <a:xfrm rot="16200000" flipH="1">
              <a:off x="4866614" y="3205828"/>
              <a:ext cx="1411038" cy="1285882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54" name="Text Box 17"/>
            <p:cNvSpPr txBox="1">
              <a:spLocks noChangeArrowheads="1"/>
            </p:cNvSpPr>
            <p:nvPr/>
          </p:nvSpPr>
          <p:spPr bwMode="auto">
            <a:xfrm>
              <a:off x="4243058" y="4537990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4355" name="Text Box 18"/>
            <p:cNvSpPr txBox="1">
              <a:spLocks noChangeArrowheads="1"/>
            </p:cNvSpPr>
            <p:nvPr/>
          </p:nvSpPr>
          <p:spPr bwMode="auto">
            <a:xfrm>
              <a:off x="8302355" y="4423713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4356" name="Text Box 19"/>
            <p:cNvSpPr txBox="1">
              <a:spLocks noChangeArrowheads="1"/>
            </p:cNvSpPr>
            <p:nvPr/>
          </p:nvSpPr>
          <p:spPr bwMode="auto">
            <a:xfrm>
              <a:off x="4444730" y="1671649"/>
              <a:ext cx="484454" cy="534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14357" name="Text Box 20"/>
            <p:cNvSpPr txBox="1">
              <a:spLocks noChangeArrowheads="1"/>
            </p:cNvSpPr>
            <p:nvPr/>
          </p:nvSpPr>
          <p:spPr bwMode="auto">
            <a:xfrm>
              <a:off x="4324566" y="3114458"/>
              <a:ext cx="461748" cy="457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A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58" name="Text Box 21"/>
            <p:cNvSpPr txBox="1">
              <a:spLocks noChangeArrowheads="1"/>
            </p:cNvSpPr>
            <p:nvPr/>
          </p:nvSpPr>
          <p:spPr bwMode="auto">
            <a:xfrm>
              <a:off x="5252806" y="3213846"/>
              <a:ext cx="390753" cy="399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B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59" name="Text Box 22"/>
            <p:cNvSpPr txBox="1">
              <a:spLocks noChangeArrowheads="1"/>
            </p:cNvSpPr>
            <p:nvPr/>
          </p:nvSpPr>
          <p:spPr bwMode="auto">
            <a:xfrm>
              <a:off x="5802058" y="3859098"/>
              <a:ext cx="413016" cy="427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C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0" name="Text Box 23"/>
            <p:cNvSpPr txBox="1">
              <a:spLocks noChangeArrowheads="1"/>
            </p:cNvSpPr>
            <p:nvPr/>
          </p:nvSpPr>
          <p:spPr bwMode="auto">
            <a:xfrm>
              <a:off x="5803612" y="4351794"/>
              <a:ext cx="411462" cy="404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latin typeface="Times New Roman" panose="02020603050405020304" pitchFamily="18" charset="0"/>
                </a:rPr>
                <a:t>D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1" name="Text Box 24"/>
            <p:cNvSpPr txBox="1">
              <a:spLocks noChangeArrowheads="1"/>
            </p:cNvSpPr>
            <p:nvPr/>
          </p:nvSpPr>
          <p:spPr bwMode="auto">
            <a:xfrm>
              <a:off x="4919618" y="4685329"/>
              <a:ext cx="3081378" cy="379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100    200   300           480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2" name="Text Box 25"/>
            <p:cNvSpPr txBox="1">
              <a:spLocks noChangeArrowheads="1"/>
            </p:cNvSpPr>
            <p:nvPr/>
          </p:nvSpPr>
          <p:spPr bwMode="auto">
            <a:xfrm>
              <a:off x="4071934" y="2613210"/>
              <a:ext cx="576156" cy="714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300</a:t>
              </a:r>
              <a:endParaRPr lang="en-US" altLang="zh-CN" sz="20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240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3" name="Text Box 26"/>
            <p:cNvSpPr txBox="1">
              <a:spLocks noChangeArrowheads="1"/>
            </p:cNvSpPr>
            <p:nvPr/>
          </p:nvSpPr>
          <p:spPr bwMode="auto">
            <a:xfrm>
              <a:off x="4071934" y="3286124"/>
              <a:ext cx="719031" cy="41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200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4" name="Text Box 27"/>
            <p:cNvSpPr txBox="1">
              <a:spLocks noChangeArrowheads="1"/>
            </p:cNvSpPr>
            <p:nvPr/>
          </p:nvSpPr>
          <p:spPr bwMode="auto">
            <a:xfrm>
              <a:off x="4071935" y="3857628"/>
              <a:ext cx="642938" cy="430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100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14365" name="Text Box 28"/>
            <p:cNvSpPr txBox="1">
              <a:spLocks noChangeArrowheads="1"/>
            </p:cNvSpPr>
            <p:nvPr/>
          </p:nvSpPr>
          <p:spPr bwMode="auto">
            <a:xfrm>
              <a:off x="4558595" y="4228065"/>
              <a:ext cx="1013527" cy="385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=1200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66" name="Text Box 29"/>
            <p:cNvSpPr txBox="1">
              <a:spLocks noChangeArrowheads="1"/>
            </p:cNvSpPr>
            <p:nvPr/>
          </p:nvSpPr>
          <p:spPr bwMode="auto">
            <a:xfrm>
              <a:off x="4691815" y="3857967"/>
              <a:ext cx="1112968" cy="398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=2400</a:t>
              </a:r>
              <a:endParaRPr lang="zh-CN" altLang="zh-CN" sz="20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367" name="Text Box 31"/>
            <p:cNvSpPr txBox="1">
              <a:spLocks noChangeArrowheads="1"/>
            </p:cNvSpPr>
            <p:nvPr/>
          </p:nvSpPr>
          <p:spPr bwMode="auto">
            <a:xfrm>
              <a:off x="5821445" y="3122400"/>
              <a:ext cx="1322302" cy="491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Times New Roman" panose="02020603050405020304" pitchFamily="18" charset="0"/>
                </a:rPr>
                <a:t>0.25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</a:rPr>
                <a:t>=50</a:t>
              </a:r>
              <a:endParaRPr lang="zh-CN" altLang="zh-CN" sz="20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副标题 2"/>
          <p:cNvSpPr>
            <a:spLocks noGrp="1"/>
          </p:cNvSpPr>
          <p:nvPr>
            <p:ph type="subTitle" idx="1"/>
          </p:nvPr>
        </p:nvSpPr>
        <p:spPr>
          <a:xfrm>
            <a:off x="684213" y="1412875"/>
            <a:ext cx="7775575" cy="3159125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s.t.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有可行解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目标函数值可以任意小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7A189D-F4C2-42A6-8D82-62DF9E08635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grpSp>
        <p:nvGrpSpPr>
          <p:cNvPr id="15365" name="组合 85"/>
          <p:cNvGrpSpPr/>
          <p:nvPr/>
        </p:nvGrpSpPr>
        <p:grpSpPr bwMode="auto">
          <a:xfrm>
            <a:off x="4714875" y="1428750"/>
            <a:ext cx="3929063" cy="2895600"/>
            <a:chOff x="3857620" y="1428736"/>
            <a:chExt cx="3929090" cy="2895881"/>
          </a:xfrm>
        </p:grpSpPr>
        <p:grpSp>
          <p:nvGrpSpPr>
            <p:cNvPr id="3" name="组合 52"/>
            <p:cNvGrpSpPr/>
            <p:nvPr/>
          </p:nvGrpSpPr>
          <p:grpSpPr>
            <a:xfrm>
              <a:off x="4500562" y="1928802"/>
              <a:ext cx="2728887" cy="2071702"/>
              <a:chOff x="4500562" y="1928802"/>
              <a:chExt cx="2728887" cy="2071702"/>
            </a:xfrm>
            <a:solidFill>
              <a:srgbClr val="FFFF00"/>
            </a:solidFill>
          </p:grpSpPr>
          <p:sp>
            <p:nvSpPr>
              <p:cNvPr id="48" name="矩形 47"/>
              <p:cNvSpPr/>
              <p:nvPr/>
            </p:nvSpPr>
            <p:spPr>
              <a:xfrm>
                <a:off x="5000628" y="2214554"/>
                <a:ext cx="428628" cy="17859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49" name="矩形 48"/>
              <p:cNvSpPr/>
              <p:nvPr/>
            </p:nvSpPr>
            <p:spPr>
              <a:xfrm rot="19033567">
                <a:off x="4943433" y="2681572"/>
                <a:ext cx="2286016" cy="6429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 rot="3616143">
                <a:off x="4801580" y="2550510"/>
                <a:ext cx="1033858" cy="135986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4500562" y="1928802"/>
                <a:ext cx="1857388" cy="121444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6357950" y="1928802"/>
                <a:ext cx="785818" cy="5000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5368" name="组合 53"/>
            <p:cNvGrpSpPr/>
            <p:nvPr/>
          </p:nvGrpSpPr>
          <p:grpSpPr bwMode="auto">
            <a:xfrm>
              <a:off x="3857620" y="1428736"/>
              <a:ext cx="3929090" cy="2895881"/>
              <a:chOff x="3857620" y="1428736"/>
              <a:chExt cx="3929090" cy="2895881"/>
            </a:xfrm>
          </p:grpSpPr>
          <p:sp>
            <p:nvSpPr>
              <p:cNvPr id="15369" name="Text Box 8"/>
              <p:cNvSpPr txBox="1">
                <a:spLocks noChangeArrowheads="1"/>
              </p:cNvSpPr>
              <p:nvPr/>
            </p:nvSpPr>
            <p:spPr bwMode="auto">
              <a:xfrm>
                <a:off x="3857620" y="3584887"/>
                <a:ext cx="1113321" cy="4156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+</a:t>
                </a:r>
                <a:r>
                  <a:rPr lang="en-US" altLang="zh-CN" sz="2000" b="1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>
                    <a:latin typeface="Times New Roman" panose="02020603050405020304" pitchFamily="18" charset="0"/>
                  </a:rPr>
                  <a:t>=2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70" name="Text Box 9"/>
              <p:cNvSpPr txBox="1">
                <a:spLocks noChangeArrowheads="1"/>
              </p:cNvSpPr>
              <p:nvPr/>
            </p:nvSpPr>
            <p:spPr bwMode="auto">
              <a:xfrm>
                <a:off x="6010202" y="3206817"/>
                <a:ext cx="990690" cy="423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-</a:t>
                </a: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=2</a:t>
                </a:r>
                <a:endParaRPr lang="zh-CN" altLang="zh-CN" sz="20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5371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4490464" y="3992503"/>
                <a:ext cx="2973719" cy="15182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72" name="AutoShape 11"/>
              <p:cNvCxnSpPr>
                <a:cxnSpLocks noChangeShapeType="1"/>
              </p:cNvCxnSpPr>
              <p:nvPr/>
            </p:nvCxnSpPr>
            <p:spPr bwMode="auto">
              <a:xfrm flipV="1">
                <a:off x="4490464" y="1817633"/>
                <a:ext cx="0" cy="219005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73" name="AutoShape 12"/>
              <p:cNvCxnSpPr>
                <a:cxnSpLocks noChangeShapeType="1"/>
              </p:cNvCxnSpPr>
              <p:nvPr/>
            </p:nvCxnSpPr>
            <p:spPr bwMode="auto">
              <a:xfrm>
                <a:off x="4490464" y="3123314"/>
                <a:ext cx="494750" cy="86918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74" name="AutoShape 13"/>
              <p:cNvCxnSpPr>
                <a:cxnSpLocks noChangeShapeType="1"/>
              </p:cNvCxnSpPr>
              <p:nvPr/>
            </p:nvCxnSpPr>
            <p:spPr bwMode="auto">
              <a:xfrm flipH="1">
                <a:off x="5478022" y="2566312"/>
                <a:ext cx="1522870" cy="144137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75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4490464" y="2855725"/>
                <a:ext cx="2501932" cy="1136778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76" name="Text Box 15"/>
              <p:cNvSpPr txBox="1">
                <a:spLocks noChangeArrowheads="1"/>
              </p:cNvSpPr>
              <p:nvPr/>
            </p:nvSpPr>
            <p:spPr bwMode="auto">
              <a:xfrm>
                <a:off x="4183593" y="3882431"/>
                <a:ext cx="396635" cy="377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O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77" name="Text Box 16"/>
              <p:cNvSpPr txBox="1">
                <a:spLocks noChangeArrowheads="1"/>
              </p:cNvSpPr>
              <p:nvPr/>
            </p:nvSpPr>
            <p:spPr bwMode="auto">
              <a:xfrm>
                <a:off x="7390075" y="3768564"/>
                <a:ext cx="396635" cy="377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x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78" name="Text Box 17"/>
              <p:cNvSpPr txBox="1">
                <a:spLocks noChangeArrowheads="1"/>
              </p:cNvSpPr>
              <p:nvPr/>
            </p:nvSpPr>
            <p:spPr bwMode="auto">
              <a:xfrm>
                <a:off x="4283796" y="1428736"/>
                <a:ext cx="396635" cy="3776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y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79" name="Text Box 18"/>
              <p:cNvSpPr txBox="1">
                <a:spLocks noChangeArrowheads="1"/>
              </p:cNvSpPr>
              <p:nvPr/>
            </p:nvSpPr>
            <p:spPr bwMode="auto">
              <a:xfrm>
                <a:off x="4158543" y="2462882"/>
                <a:ext cx="366366" cy="35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3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80" name="Text Box 19"/>
              <p:cNvSpPr txBox="1">
                <a:spLocks noChangeArrowheads="1"/>
              </p:cNvSpPr>
              <p:nvPr/>
            </p:nvSpPr>
            <p:spPr bwMode="auto">
              <a:xfrm>
                <a:off x="4141842" y="2910761"/>
                <a:ext cx="390372" cy="3738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81" name="Text Box 20"/>
              <p:cNvSpPr txBox="1">
                <a:spLocks noChangeArrowheads="1"/>
              </p:cNvSpPr>
              <p:nvPr/>
            </p:nvSpPr>
            <p:spPr bwMode="auto">
              <a:xfrm>
                <a:off x="4219665" y="3358640"/>
                <a:ext cx="423773" cy="3738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82" name="Text Box 22"/>
              <p:cNvSpPr txBox="1">
                <a:spLocks noChangeArrowheads="1"/>
              </p:cNvSpPr>
              <p:nvPr/>
            </p:nvSpPr>
            <p:spPr bwMode="auto">
              <a:xfrm>
                <a:off x="4974776" y="3320685"/>
                <a:ext cx="614784" cy="347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=0</a:t>
                </a:r>
                <a:endParaRPr lang="zh-CN" altLang="zh-CN" sz="20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15383" name="AutoShape 23"/>
              <p:cNvCxnSpPr>
                <a:cxnSpLocks noChangeShapeType="1"/>
              </p:cNvCxnSpPr>
              <p:nvPr/>
            </p:nvCxnSpPr>
            <p:spPr bwMode="auto">
              <a:xfrm>
                <a:off x="4440362" y="2667844"/>
                <a:ext cx="5010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4" name="AutoShape 24"/>
              <p:cNvCxnSpPr>
                <a:cxnSpLocks noChangeShapeType="1"/>
              </p:cNvCxnSpPr>
              <p:nvPr/>
            </p:nvCxnSpPr>
            <p:spPr bwMode="auto">
              <a:xfrm>
                <a:off x="4440362" y="3123314"/>
                <a:ext cx="5010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5" name="AutoShape 25"/>
              <p:cNvCxnSpPr>
                <a:cxnSpLocks noChangeShapeType="1"/>
              </p:cNvCxnSpPr>
              <p:nvPr/>
            </p:nvCxnSpPr>
            <p:spPr bwMode="auto">
              <a:xfrm>
                <a:off x="4440362" y="3571193"/>
                <a:ext cx="50101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6" name="AutoShape 26"/>
              <p:cNvCxnSpPr>
                <a:cxnSpLocks noChangeShapeType="1"/>
              </p:cNvCxnSpPr>
              <p:nvPr/>
            </p:nvCxnSpPr>
            <p:spPr bwMode="auto">
              <a:xfrm>
                <a:off x="4985214" y="4015277"/>
                <a:ext cx="0" cy="6262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7" name="AutoShape 27"/>
              <p:cNvCxnSpPr>
                <a:cxnSpLocks noChangeShapeType="1"/>
              </p:cNvCxnSpPr>
              <p:nvPr/>
            </p:nvCxnSpPr>
            <p:spPr bwMode="auto">
              <a:xfrm>
                <a:off x="5469526" y="3992503"/>
                <a:ext cx="0" cy="6262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8" name="AutoShape 28"/>
              <p:cNvCxnSpPr>
                <a:cxnSpLocks noChangeShapeType="1"/>
              </p:cNvCxnSpPr>
              <p:nvPr/>
            </p:nvCxnSpPr>
            <p:spPr bwMode="auto">
              <a:xfrm>
                <a:off x="5962189" y="4000094"/>
                <a:ext cx="0" cy="6262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9" name="AutoShape 29"/>
              <p:cNvCxnSpPr>
                <a:cxnSpLocks noChangeShapeType="1"/>
              </p:cNvCxnSpPr>
              <p:nvPr/>
            </p:nvCxnSpPr>
            <p:spPr bwMode="auto">
              <a:xfrm>
                <a:off x="6438151" y="4000094"/>
                <a:ext cx="0" cy="6262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0" name="AutoShape 30"/>
              <p:cNvCxnSpPr>
                <a:cxnSpLocks noChangeShapeType="1"/>
              </p:cNvCxnSpPr>
              <p:nvPr/>
            </p:nvCxnSpPr>
            <p:spPr bwMode="auto">
              <a:xfrm flipV="1">
                <a:off x="4490464" y="2423029"/>
                <a:ext cx="2501932" cy="1144369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1" name="AutoShape 31"/>
              <p:cNvCxnSpPr>
                <a:cxnSpLocks noChangeShapeType="1"/>
              </p:cNvCxnSpPr>
              <p:nvPr/>
            </p:nvCxnSpPr>
            <p:spPr bwMode="auto">
              <a:xfrm flipV="1">
                <a:off x="4490464" y="2121280"/>
                <a:ext cx="2168968" cy="990648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2" name="AutoShape 32"/>
              <p:cNvCxnSpPr>
                <a:cxnSpLocks noChangeShapeType="1"/>
              </p:cNvCxnSpPr>
              <p:nvPr/>
            </p:nvCxnSpPr>
            <p:spPr bwMode="auto">
              <a:xfrm flipV="1">
                <a:off x="4482113" y="2045368"/>
                <a:ext cx="1328728" cy="618680"/>
              </a:xfrm>
              <a:prstGeom prst="straightConnector1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93" name="Text Box 33"/>
              <p:cNvSpPr txBox="1">
                <a:spLocks noChangeArrowheads="1"/>
              </p:cNvSpPr>
              <p:nvPr/>
            </p:nvSpPr>
            <p:spPr bwMode="auto">
              <a:xfrm>
                <a:off x="5778484" y="3943161"/>
                <a:ext cx="366366" cy="35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3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94" name="Text Box 34"/>
              <p:cNvSpPr txBox="1">
                <a:spLocks noChangeArrowheads="1"/>
              </p:cNvSpPr>
              <p:nvPr/>
            </p:nvSpPr>
            <p:spPr bwMode="auto">
              <a:xfrm>
                <a:off x="5277471" y="3950752"/>
                <a:ext cx="390372" cy="3738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2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95" name="Text Box 35"/>
              <p:cNvSpPr txBox="1">
                <a:spLocks noChangeArrowheads="1"/>
              </p:cNvSpPr>
              <p:nvPr/>
            </p:nvSpPr>
            <p:spPr bwMode="auto">
              <a:xfrm>
                <a:off x="4784809" y="3950752"/>
                <a:ext cx="423773" cy="3738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1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96" name="Text Box 36"/>
              <p:cNvSpPr txBox="1">
                <a:spLocks noChangeArrowheads="1"/>
              </p:cNvSpPr>
              <p:nvPr/>
            </p:nvSpPr>
            <p:spPr bwMode="auto">
              <a:xfrm>
                <a:off x="6246096" y="3943161"/>
                <a:ext cx="366366" cy="3510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4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15397" name="Text Box 37"/>
              <p:cNvSpPr txBox="1">
                <a:spLocks noChangeArrowheads="1"/>
              </p:cNvSpPr>
              <p:nvPr/>
            </p:nvSpPr>
            <p:spPr bwMode="auto">
              <a:xfrm>
                <a:off x="4999826" y="2872806"/>
                <a:ext cx="786619" cy="413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=-2</a:t>
                </a:r>
                <a:endParaRPr lang="zh-CN" altLang="zh-CN" sz="20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398" name="Text Box 38"/>
              <p:cNvSpPr txBox="1">
                <a:spLocks noChangeArrowheads="1"/>
              </p:cNvSpPr>
              <p:nvPr/>
            </p:nvSpPr>
            <p:spPr bwMode="auto">
              <a:xfrm>
                <a:off x="4974776" y="2409744"/>
                <a:ext cx="954546" cy="447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=-4</a:t>
                </a:r>
                <a:r>
                  <a:rPr lang="en-US" altLang="zh-CN" sz="700">
                    <a:latin typeface="Times New Roman" panose="02020603050405020304" pitchFamily="18" charset="0"/>
                  </a:rPr>
                  <a:t>4</a:t>
                </a: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99" name="Text Box 39"/>
              <p:cNvSpPr txBox="1">
                <a:spLocks noChangeArrowheads="1"/>
              </p:cNvSpPr>
              <p:nvPr/>
            </p:nvSpPr>
            <p:spPr bwMode="auto">
              <a:xfrm>
                <a:off x="5008176" y="1923908"/>
                <a:ext cx="849707" cy="36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=-6</a:t>
                </a:r>
                <a:endParaRPr lang="zh-CN" altLang="zh-CN" sz="20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7" name="副标题 2"/>
          <p:cNvSpPr txBox="1"/>
          <p:nvPr/>
        </p:nvSpPr>
        <p:spPr bwMode="auto">
          <a:xfrm>
            <a:off x="642938" y="4984750"/>
            <a:ext cx="7143750" cy="658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en-US" sz="2400" b="1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 </a:t>
            </a:r>
            <a:r>
              <a:rPr 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改为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2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可行域为空集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无可行解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种可能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(a)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有唯一的最优解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(b)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有无穷多个最优解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(c)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但无最优解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目标函数值无界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(d)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更无最优解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可行域是一个凸多边形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可能无界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也可能是空集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如果有最优解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则一定可以在凸多边形的顶点取到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维线性规划也是如此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AA58F6-25B3-4200-9EA4-64AF8C1D9806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952500"/>
          </a:xfrm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6.2.1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min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=1,2,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=1,2,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灯片编号占位符 6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C66D7F-263F-4867-B588-E7CF9C0673D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17413" name="Rectangle 6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7414" name="Object 64"/>
          <p:cNvGraphicFramePr>
            <a:graphicFrameLocks noChangeAspect="1"/>
          </p:cNvGraphicFramePr>
          <p:nvPr/>
        </p:nvGraphicFramePr>
        <p:xfrm>
          <a:off x="3214688" y="2481263"/>
          <a:ext cx="11001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1" imgW="508000" imgH="444500" progId="Equation.3">
                  <p:embed/>
                </p:oleObj>
              </mc:Choice>
              <mc:Fallback>
                <p:oleObj name="Equation" r:id="rId1" imgW="508000" imgH="4445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481263"/>
                        <a:ext cx="110013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6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7416" name="Object 66"/>
          <p:cNvGraphicFramePr>
            <a:graphicFrameLocks noChangeAspect="1"/>
          </p:cNvGraphicFramePr>
          <p:nvPr/>
        </p:nvGraphicFramePr>
        <p:xfrm>
          <a:off x="2857500" y="3429000"/>
          <a:ext cx="20875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3" imgW="1066165" imgH="444500" progId="Equation.3">
                  <p:embed/>
                </p:oleObj>
              </mc:Choice>
              <mc:Fallback>
                <p:oleObj name="Equation" r:id="rId3" imgW="1066165" imgH="44450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429000"/>
                        <a:ext cx="20875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化成标准形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7" name="副标题 2"/>
          <p:cNvSpPr>
            <a:spLocks noGrp="1"/>
          </p:cNvSpPr>
          <p:nvPr>
            <p:ph type="subTitle" idx="1"/>
          </p:nvPr>
        </p:nvSpPr>
        <p:spPr>
          <a:xfrm>
            <a:off x="684213" y="1357313"/>
            <a:ext cx="7775575" cy="5143500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替换成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即取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&lt;0.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两边同时变号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改变成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改变成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AutoNum type="arabicParenBoth" startAt="3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松弛变量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替换成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AutoNum type="arabicParenBoth" startAt="3"/>
              <a:defRPr/>
            </a:pP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    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剩余变量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替换成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自由变量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替换成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  0,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 0. 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21A9EB-867D-4045-AAF3-F02ACBE0705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1843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8438" name="Object 7"/>
          <p:cNvGraphicFramePr>
            <a:graphicFrameLocks noChangeAspect="1"/>
          </p:cNvGraphicFramePr>
          <p:nvPr/>
        </p:nvGraphicFramePr>
        <p:xfrm>
          <a:off x="1214438" y="2428875"/>
          <a:ext cx="16827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1" imgW="786765" imgH="444500" progId="Equation.3">
                  <p:embed/>
                </p:oleObj>
              </mc:Choice>
              <mc:Fallback>
                <p:oleObj name="Equation" r:id="rId1" imgW="786765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428875"/>
                        <a:ext cx="16827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8440" name="Object 9"/>
          <p:cNvGraphicFramePr>
            <a:graphicFrameLocks noChangeAspect="1"/>
          </p:cNvGraphicFramePr>
          <p:nvPr/>
        </p:nvGraphicFramePr>
        <p:xfrm>
          <a:off x="1214438" y="3286125"/>
          <a:ext cx="22685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" imgW="1066165" imgH="444500" progId="Equation.3">
                  <p:embed/>
                </p:oleObj>
              </mc:Choice>
              <mc:Fallback>
                <p:oleObj name="Equation" r:id="rId3" imgW="1066165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3286125"/>
                        <a:ext cx="22685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4"/>
          <p:cNvGraphicFramePr>
            <a:graphicFrameLocks noChangeAspect="1"/>
          </p:cNvGraphicFramePr>
          <p:nvPr/>
        </p:nvGraphicFramePr>
        <p:xfrm>
          <a:off x="1285875" y="4143375"/>
          <a:ext cx="16827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5" imgW="786765" imgH="444500" progId="Equation.3">
                  <p:embed/>
                </p:oleObj>
              </mc:Choice>
              <mc:Fallback>
                <p:oleObj name="Equation" r:id="rId5" imgW="786765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143375"/>
                        <a:ext cx="16827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1303338" y="5000625"/>
          <a:ext cx="22685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7" imgW="1066165" imgH="444500" progId="Equation.3">
                  <p:embed/>
                </p:oleObj>
              </mc:Choice>
              <mc:Fallback>
                <p:oleObj name="Equation" r:id="rId7" imgW="1066165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000625"/>
                        <a:ext cx="22685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ctrTitle"/>
          </p:nvPr>
        </p:nvSpPr>
        <p:spPr>
          <a:xfrm>
            <a:off x="671513" y="23177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6.7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59" name="副标题 2"/>
          <p:cNvSpPr>
            <a:spLocks noGrp="1"/>
          </p:cNvSpPr>
          <p:nvPr>
            <p:ph type="subTitle" idx="1"/>
          </p:nvPr>
        </p:nvSpPr>
        <p:spPr>
          <a:xfrm>
            <a:off x="671513" y="1327150"/>
            <a:ext cx="7775575" cy="2447925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写出下述线性规划的标准形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max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4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        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0B2617-32D8-4EF1-8727-8DB93E080402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13" name="副标题 2"/>
          <p:cNvSpPr txBox="1"/>
          <p:nvPr/>
        </p:nvSpPr>
        <p:spPr bwMode="auto">
          <a:xfrm>
            <a:off x="671513" y="3968750"/>
            <a:ext cx="7775575" cy="2000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min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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+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</a:t>
            </a:r>
            <a:endParaRPr 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</a:t>
            </a: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+ 3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       =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=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30   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副标题 2"/>
          <p:cNvSpPr>
            <a:spLocks noGrp="1"/>
          </p:cNvSpPr>
          <p:nvPr>
            <p:ph type="subTitle" idx="1"/>
          </p:nvPr>
        </p:nvSpPr>
        <p:spPr>
          <a:xfrm>
            <a:off x="684213" y="3771900"/>
            <a:ext cx="2030412" cy="2443163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矩阵形式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s.t.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7A3CE8-6510-404C-A9A4-1536261E682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510" name="Object 5"/>
          <p:cNvGraphicFramePr>
            <a:graphicFrameLocks noChangeAspect="1"/>
          </p:cNvGraphicFramePr>
          <p:nvPr/>
        </p:nvGraphicFramePr>
        <p:xfrm>
          <a:off x="785813" y="1500188"/>
          <a:ext cx="3040062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Equation" r:id="rId1" imgW="1333500" imgH="939800" progId="Equation.3">
                  <p:embed/>
                </p:oleObj>
              </mc:Choice>
              <mc:Fallback>
                <p:oleObj name="Equation" r:id="rId1" imgW="1333500" imgH="93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500188"/>
                        <a:ext cx="3040062" cy="214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512" name="Object 7"/>
          <p:cNvGraphicFramePr>
            <a:graphicFrameLocks noChangeAspect="1"/>
          </p:cNvGraphicFramePr>
          <p:nvPr/>
        </p:nvGraphicFramePr>
        <p:xfrm>
          <a:off x="4000500" y="1571625"/>
          <a:ext cx="1236663" cy="202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3" imgW="571500" imgH="939165" progId="Equation.3">
                  <p:embed/>
                </p:oleObj>
              </mc:Choice>
              <mc:Fallback>
                <p:oleObj name="Equation" r:id="rId3" imgW="571500" imgH="9391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571625"/>
                        <a:ext cx="1236663" cy="202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514" name="Object 9"/>
          <p:cNvGraphicFramePr>
            <a:graphicFrameLocks noChangeAspect="1"/>
          </p:cNvGraphicFramePr>
          <p:nvPr/>
        </p:nvGraphicFramePr>
        <p:xfrm>
          <a:off x="5572125" y="1571625"/>
          <a:ext cx="1152525" cy="198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Equation" r:id="rId5" imgW="546100" imgH="939165" progId="Equation.3">
                  <p:embed/>
                </p:oleObj>
              </mc:Choice>
              <mc:Fallback>
                <p:oleObj name="Equation" r:id="rId5" imgW="546100" imgH="9391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1571625"/>
                        <a:ext cx="1152525" cy="198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516" name="Object 11"/>
          <p:cNvGraphicFramePr>
            <a:graphicFrameLocks noChangeAspect="1"/>
          </p:cNvGraphicFramePr>
          <p:nvPr/>
        </p:nvGraphicFramePr>
        <p:xfrm>
          <a:off x="7000875" y="1571625"/>
          <a:ext cx="1208088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" name="Equation" r:id="rId7" imgW="596900" imgH="939800" progId="Equation.3">
                  <p:embed/>
                </p:oleObj>
              </mc:Choice>
              <mc:Fallback>
                <p:oleObj name="Equation" r:id="rId7" imgW="596900" imgH="93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1571625"/>
                        <a:ext cx="1208088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2151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21519" name="组合 19"/>
          <p:cNvGrpSpPr/>
          <p:nvPr/>
        </p:nvGrpSpPr>
        <p:grpSpPr bwMode="auto">
          <a:xfrm>
            <a:off x="2898775" y="3771900"/>
            <a:ext cx="4173538" cy="2728913"/>
            <a:chOff x="2898791" y="3771916"/>
            <a:chExt cx="4173539" cy="2728918"/>
          </a:xfrm>
        </p:grpSpPr>
        <p:sp>
          <p:nvSpPr>
            <p:cNvPr id="13" name="副标题 2"/>
            <p:cNvSpPr txBox="1"/>
            <p:nvPr/>
          </p:nvSpPr>
          <p:spPr bwMode="auto">
            <a:xfrm>
              <a:off x="2898791" y="3771916"/>
              <a:ext cx="4173539" cy="27289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向量形式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min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</a:t>
              </a:r>
              <a:r>
                <a:rPr lang="en-US" sz="2400" b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s.t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      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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0, 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=1,2,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,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n</a:t>
              </a:r>
              <a:endParaRPr lang="zh-CN" alt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523" name="Object 13"/>
            <p:cNvGraphicFramePr>
              <a:graphicFrameLocks noChangeAspect="1"/>
            </p:cNvGraphicFramePr>
            <p:nvPr/>
          </p:nvGraphicFramePr>
          <p:xfrm>
            <a:off x="4214810" y="4214818"/>
            <a:ext cx="1159680" cy="1000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6" name="Equation" r:id="rId9" imgW="508000" imgH="444500" progId="Equation.3">
                    <p:embed/>
                  </p:oleObj>
                </mc:Choice>
                <mc:Fallback>
                  <p:oleObj name="Equation" r:id="rId9" imgW="508000" imgH="4445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810" y="4214818"/>
                          <a:ext cx="1159680" cy="1000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4" name="Object 15"/>
            <p:cNvGraphicFramePr>
              <a:graphicFrameLocks noChangeAspect="1"/>
            </p:cNvGraphicFramePr>
            <p:nvPr/>
          </p:nvGraphicFramePr>
          <p:xfrm>
            <a:off x="4214810" y="5072074"/>
            <a:ext cx="1614896" cy="928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7" name="Equation" r:id="rId11" imgW="761365" imgH="444500" progId="Equation.3">
                    <p:embed/>
                  </p:oleObj>
                </mc:Choice>
                <mc:Fallback>
                  <p:oleObj name="Equation" r:id="rId11" imgW="761365" imgH="4445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810" y="5072074"/>
                          <a:ext cx="1614896" cy="928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0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521" name="Object 17"/>
          <p:cNvGraphicFramePr>
            <a:graphicFrameLocks noChangeAspect="1"/>
          </p:cNvGraphicFramePr>
          <p:nvPr/>
        </p:nvGraphicFramePr>
        <p:xfrm>
          <a:off x="6884988" y="4286250"/>
          <a:ext cx="1330325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Equation" r:id="rId13" imgW="685800" imgH="1003300" progId="Equation.3">
                  <p:embed/>
                </p:oleObj>
              </mc:Choice>
              <mc:Fallback>
                <p:oleObj name="Equation" r:id="rId13" imgW="685800" imgH="1003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988" y="4286250"/>
                        <a:ext cx="1330325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6.2.2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标准形的可行解的性质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602537" cy="4729162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的秩为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个线性无关的列向量称作标准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500"/>
              </a:lnSpc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形的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                       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对应基中列向量的变量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称作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其余的变量称作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基变量构成的向量记作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非基变量构成的向量记作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等式约束变成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这个向量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满足约束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且非基变量全为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称作关于基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是一个基本解且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灯片编号占位符 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EF6406-4973-4613-9D54-06E24F93495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2534" name="Object 9"/>
          <p:cNvGraphicFramePr>
            <a:graphicFrameLocks noChangeAspect="1"/>
          </p:cNvGraphicFramePr>
          <p:nvPr/>
        </p:nvGraphicFramePr>
        <p:xfrm>
          <a:off x="3214688" y="2058988"/>
          <a:ext cx="2141537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1" imgW="1002665" imgH="241300" progId="Equation.3">
                  <p:embed/>
                </p:oleObj>
              </mc:Choice>
              <mc:Fallback>
                <p:oleObj name="Equation" r:id="rId1" imgW="1002665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058988"/>
                        <a:ext cx="2141537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2536" name="Object 11"/>
          <p:cNvGraphicFramePr>
            <a:graphicFrameLocks noChangeAspect="1"/>
          </p:cNvGraphicFramePr>
          <p:nvPr/>
        </p:nvGraphicFramePr>
        <p:xfrm>
          <a:off x="1476375" y="2425700"/>
          <a:ext cx="2146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3" imgW="901065" imgH="241300" progId="Equation.3">
                  <p:embed/>
                </p:oleObj>
              </mc:Choice>
              <mc:Fallback>
                <p:oleObj name="Equation" r:id="rId3" imgW="901065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425700"/>
                        <a:ext cx="2146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6.8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2300287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s.t. 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=120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=150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,5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A86982-1AE5-48EC-8E7B-6AF6A5F2085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5311775" y="2003425"/>
          <a:ext cx="336867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" imgW="1778000" imgH="698500" progId="Equation.3">
                  <p:embed/>
                </p:oleObj>
              </mc:Choice>
              <mc:Fallback>
                <p:oleObj name="Equation" r:id="rId1" imgW="1778000" imgH="698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2003425"/>
                        <a:ext cx="3368675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副标题 2"/>
          <p:cNvSpPr txBox="1"/>
          <p:nvPr/>
        </p:nvSpPr>
        <p:spPr bwMode="auto">
          <a:xfrm>
            <a:off x="714375" y="3771900"/>
            <a:ext cx="7775575" cy="2300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取基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基变量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非基变量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0.25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0.50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=150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0.25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=50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解得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=20.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=(200,100,20,0,0)</a:t>
            </a:r>
            <a:r>
              <a:rPr lang="en-US" sz="24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是基本可行解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是可行基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ctrTitle"/>
          </p:nvPr>
        </p:nvSpPr>
        <p:spPr>
          <a:xfrm>
            <a:off x="684213" y="32702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6.8 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副标题 2"/>
          <p:cNvSpPr>
            <a:spLocks noGrp="1"/>
          </p:cNvSpPr>
          <p:nvPr>
            <p:ph type="subTitle" idx="1"/>
          </p:nvPr>
        </p:nvSpPr>
        <p:spPr>
          <a:xfrm>
            <a:off x="681038" y="1341438"/>
            <a:ext cx="7775575" cy="4799012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取基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= 120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=150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=50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=200,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=140,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=(200,140,0,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20,0)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是基本解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但不是基本可行解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不是可行基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i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这个线性规划是例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中线性规划的标准形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是例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图中的顶点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 x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是直线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+0.5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=120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的交点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不在可行域内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BC9913-6F2C-4BA7-A1AB-403122F55B3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基本可行解的性质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是基本解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中非零分量对应的列向量线性无关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500"/>
              </a:lnSpc>
              <a:spcBef>
                <a:spcPts val="24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必要性  根据基本解的定义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这是显然的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5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充分性  设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的非零分量为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对应的列向量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5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线性无关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的秩为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必存在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5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     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线性无关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构成一个基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记作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是方程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而这个方程的解是唯一的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的基本解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765E60-920F-4C57-BA23-BFBDFFA1A40C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56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4351338" y="3094038"/>
          <a:ext cx="19288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1" imgW="939165" imgH="241300" progId="Equation.3">
                  <p:embed/>
                </p:oleObj>
              </mc:Choice>
              <mc:Fallback>
                <p:oleObj name="Equation" r:id="rId1" imgW="939165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3094038"/>
                        <a:ext cx="19288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8"/>
          <p:cNvGraphicFramePr>
            <a:graphicFrameLocks noChangeAspect="1"/>
          </p:cNvGraphicFramePr>
          <p:nvPr/>
        </p:nvGraphicFramePr>
        <p:xfrm>
          <a:off x="852488" y="3660775"/>
          <a:ext cx="18510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3" imgW="901065" imgH="241300" progId="Equation.3">
                  <p:embed/>
                </p:oleObj>
              </mc:Choice>
              <mc:Fallback>
                <p:oleObj name="Equation" r:id="rId3" imgW="901065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3660775"/>
                        <a:ext cx="18510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9"/>
          <p:cNvGraphicFramePr>
            <a:graphicFrameLocks noChangeAspect="1"/>
          </p:cNvGraphicFramePr>
          <p:nvPr/>
        </p:nvGraphicFramePr>
        <p:xfrm>
          <a:off x="6572250" y="3660775"/>
          <a:ext cx="16176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5" imgW="787400" imgH="241300" progId="Equation.3">
                  <p:embed/>
                </p:oleObj>
              </mc:Choice>
              <mc:Fallback>
                <p:oleObj name="Equation" r:id="rId5" imgW="7874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660775"/>
                        <a:ext cx="161766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0"/>
          <p:cNvGraphicFramePr>
            <a:graphicFrameLocks noChangeAspect="1"/>
          </p:cNvGraphicFramePr>
          <p:nvPr/>
        </p:nvGraphicFramePr>
        <p:xfrm>
          <a:off x="1454150" y="4225925"/>
          <a:ext cx="19034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7" imgW="927100" imgH="241300" progId="Equation.3">
                  <p:embed/>
                </p:oleObj>
              </mc:Choice>
              <mc:Fallback>
                <p:oleObj name="Equation" r:id="rId7" imgW="9271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4225925"/>
                        <a:ext cx="19034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ctrTitle"/>
          </p:nvPr>
        </p:nvSpPr>
        <p:spPr>
          <a:xfrm>
            <a:off x="688975" y="274638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基本可行解的性质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7" name="副标题 2"/>
          <p:cNvSpPr>
            <a:spLocks noGrp="1"/>
          </p:cNvSpPr>
          <p:nvPr>
            <p:ph type="subTitle" idx="1"/>
          </p:nvPr>
        </p:nvSpPr>
        <p:spPr>
          <a:xfrm>
            <a:off x="685800" y="1420813"/>
            <a:ext cx="7775575" cy="3943350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如果标准形有可行解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则必有基本可行解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设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构造出一个基本可行解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的非零分量为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如果对应的列向量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线性无关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是一个基本可行解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存在不全为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++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0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取 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== 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++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0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于是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对任意的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886063-2715-46F4-864C-781BD1AA91A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6630" name="Object 5"/>
          <p:cNvGraphicFramePr>
            <a:graphicFrameLocks noChangeAspect="1"/>
          </p:cNvGraphicFramePr>
          <p:nvPr/>
        </p:nvGraphicFramePr>
        <p:xfrm>
          <a:off x="1858963" y="5357813"/>
          <a:ext cx="54292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" imgW="2590800" imgH="444500" progId="Equation.3">
                  <p:embed/>
                </p:oleObj>
              </mc:Choice>
              <mc:Fallback>
                <p:oleObj name="Equation" r:id="rId1" imgW="25908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5357813"/>
                        <a:ext cx="54292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ctrTitle"/>
          </p:nvPr>
        </p:nvSpPr>
        <p:spPr>
          <a:xfrm>
            <a:off x="671513" y="258763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1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685A36-95B1-4C47-BD47-0B6633256BF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76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27653" name="组合 2"/>
          <p:cNvGrpSpPr/>
          <p:nvPr/>
        </p:nvGrpSpPr>
        <p:grpSpPr bwMode="auto">
          <a:xfrm>
            <a:off x="395288" y="1196975"/>
            <a:ext cx="7786687" cy="5170488"/>
            <a:chOff x="395536" y="1196752"/>
            <a:chExt cx="7786688" cy="5170646"/>
          </a:xfrm>
        </p:grpSpPr>
        <p:sp>
          <p:nvSpPr>
            <p:cNvPr id="27654" name="矩形 9"/>
            <p:cNvSpPr>
              <a:spLocks noChangeArrowheads="1"/>
            </p:cNvSpPr>
            <p:nvPr/>
          </p:nvSpPr>
          <p:spPr bwMode="auto">
            <a:xfrm>
              <a:off x="395536" y="1196752"/>
              <a:ext cx="7786688" cy="5170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记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为使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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成为一个可行解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要求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所有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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0.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ts val="60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0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不等式自然成立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 0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要求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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/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;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 0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要求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/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综上所述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要求当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 |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/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|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.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ts val="180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                                     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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取 </a:t>
              </a:r>
              <a:r>
                <a:rPr lang="zh-CN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*=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-             ,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(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2,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),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</a:t>
              </a:r>
              <a:r>
                <a:rPr lang="zh-CN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++</a:t>
              </a:r>
              <a:r>
                <a:rPr lang="zh-CN" altLang="en-US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P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且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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(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=1, 2,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),       = 0,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+1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.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ts val="120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=(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是可行解且比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至少少一个非零分量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上述过程至多进行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次一定可以得到一个基本可行解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655" name="Object 8"/>
            <p:cNvGraphicFramePr>
              <a:graphicFrameLocks noChangeAspect="1"/>
            </p:cNvGraphicFramePr>
            <p:nvPr/>
          </p:nvGraphicFramePr>
          <p:xfrm>
            <a:off x="1677058" y="3999913"/>
            <a:ext cx="1052505" cy="503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4" name="Equation" r:id="rId1" imgW="508000" imgH="241300" progId="Equation.3">
                    <p:embed/>
                  </p:oleObj>
                </mc:Choice>
                <mc:Fallback>
                  <p:oleObj name="Equation" r:id="rId1" imgW="508000" imgH="2413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7058" y="3999913"/>
                          <a:ext cx="1052505" cy="503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6" name="Object 6"/>
            <p:cNvGraphicFramePr>
              <a:graphicFrameLocks noChangeAspect="1"/>
            </p:cNvGraphicFramePr>
            <p:nvPr/>
          </p:nvGraphicFramePr>
          <p:xfrm>
            <a:off x="1537954" y="3372963"/>
            <a:ext cx="3975072" cy="608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5" name="Equation" r:id="rId3" imgW="1917065" imgH="292100" progId="Equation.3">
                    <p:embed/>
                  </p:oleObj>
                </mc:Choice>
                <mc:Fallback>
                  <p:oleObj name="Equation" r:id="rId3" imgW="1917065" imgH="292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7954" y="3372963"/>
                          <a:ext cx="3975072" cy="608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7" name="Object 9"/>
            <p:cNvGraphicFramePr>
              <a:graphicFrameLocks noChangeAspect="1"/>
            </p:cNvGraphicFramePr>
            <p:nvPr/>
          </p:nvGraphicFramePr>
          <p:xfrm>
            <a:off x="3712816" y="4966202"/>
            <a:ext cx="473072" cy="500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6" name="Equation" r:id="rId5" imgW="228600" imgH="241300" progId="Equation.3">
                    <p:embed/>
                  </p:oleObj>
                </mc:Choice>
                <mc:Fallback>
                  <p:oleObj name="Equation" r:id="rId5" imgW="228600" imgH="2413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2816" y="4966202"/>
                          <a:ext cx="473072" cy="5001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基本可行解的性质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24412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如果标准形有最优解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则必存在一个基本可行解是最优解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补充证明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在定理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是最优解时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也是最优解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对足够小的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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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24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FDD3BD-7CF0-4DA5-AB64-EF62C3169BDC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8678" name="Object 5"/>
          <p:cNvGraphicFramePr>
            <a:graphicFrameLocks noChangeAspect="1"/>
          </p:cNvGraphicFramePr>
          <p:nvPr/>
        </p:nvGraphicFramePr>
        <p:xfrm>
          <a:off x="1851025" y="3706813"/>
          <a:ext cx="57943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1" imgW="2921000" imgH="444500" progId="Equation.3">
                  <p:embed/>
                </p:oleObj>
              </mc:Choice>
              <mc:Fallback>
                <p:oleObj name="Equation" r:id="rId1" imgW="29210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3706813"/>
                        <a:ext cx="579437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825625" y="4579938"/>
          <a:ext cx="57943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3" imgW="2921000" imgH="444500" progId="Equation.3">
                  <p:embed/>
                </p:oleObj>
              </mc:Choice>
              <mc:Fallback>
                <p:oleObj name="Equation" r:id="rId3" imgW="29210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4579938"/>
                        <a:ext cx="57943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1331913" y="5435600"/>
          <a:ext cx="14605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5" imgW="735965" imgH="444500" progId="Equation.3">
                  <p:embed/>
                </p:oleObj>
              </mc:Choice>
              <mc:Fallback>
                <p:oleObj name="Equation" r:id="rId5" imgW="735965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435600"/>
                        <a:ext cx="14605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6340475" y="62134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00047B-CBCE-4A2F-A967-D8F0786DA602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2970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297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2970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29703" name="组合 20"/>
          <p:cNvGrpSpPr/>
          <p:nvPr/>
        </p:nvGrpSpPr>
        <p:grpSpPr bwMode="auto">
          <a:xfrm>
            <a:off x="725488" y="1604963"/>
            <a:ext cx="7775575" cy="4324350"/>
            <a:chOff x="725515" y="1604984"/>
            <a:chExt cx="7775575" cy="4324346"/>
          </a:xfrm>
        </p:grpSpPr>
        <p:sp>
          <p:nvSpPr>
            <p:cNvPr id="12" name="副标题 2"/>
            <p:cNvSpPr txBox="1"/>
            <p:nvPr/>
          </p:nvSpPr>
          <p:spPr bwMode="auto">
            <a:xfrm>
              <a:off x="725515" y="1604984"/>
              <a:ext cx="7775575" cy="432434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于是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得证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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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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*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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也是最优解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ts val="24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根据定理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解线性规划问题只需考虑标准形的基本可行解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有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行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列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至多有     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个基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故至多有 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个基本解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从而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线性规划成为一个组合优化问题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29705" name="组合 19"/>
            <p:cNvGrpSpPr/>
            <p:nvPr/>
          </p:nvGrpSpPr>
          <p:grpSpPr bwMode="auto">
            <a:xfrm>
              <a:off x="1142976" y="2071678"/>
              <a:ext cx="7305675" cy="2842723"/>
              <a:chOff x="1142976" y="2071678"/>
              <a:chExt cx="7305675" cy="2842723"/>
            </a:xfrm>
          </p:grpSpPr>
          <p:graphicFrame>
            <p:nvGraphicFramePr>
              <p:cNvPr id="29706" name="Object 9"/>
              <p:cNvGraphicFramePr>
                <a:graphicFrameLocks noChangeAspect="1"/>
              </p:cNvGraphicFramePr>
              <p:nvPr/>
            </p:nvGraphicFramePr>
            <p:xfrm>
              <a:off x="1142976" y="2071678"/>
              <a:ext cx="7305675" cy="868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15" name="Equation" r:id="rId1" imgW="3683000" imgH="444500" progId="Equation.3">
                      <p:embed/>
                    </p:oleObj>
                  </mc:Choice>
                  <mc:Fallback>
                    <p:oleObj name="Equation" r:id="rId1" imgW="3683000" imgH="44450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2976" y="2071678"/>
                            <a:ext cx="7305675" cy="8683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07" name="Object 10"/>
              <p:cNvGraphicFramePr>
                <a:graphicFrameLocks noChangeAspect="1"/>
              </p:cNvGraphicFramePr>
              <p:nvPr/>
            </p:nvGraphicFramePr>
            <p:xfrm>
              <a:off x="4022749" y="4365123"/>
              <a:ext cx="549278" cy="549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16" name="Equation" r:id="rId3" imgW="241300" imgH="241300" progId="Equation.3">
                      <p:embed/>
                    </p:oleObj>
                  </mc:Choice>
                  <mc:Fallback>
                    <p:oleObj name="Equation" r:id="rId3" imgW="241300" imgH="24130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2749" y="4365123"/>
                            <a:ext cx="549278" cy="549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08" name="Object 13"/>
              <p:cNvGraphicFramePr>
                <a:graphicFrameLocks noChangeAspect="1"/>
              </p:cNvGraphicFramePr>
              <p:nvPr/>
            </p:nvGraphicFramePr>
            <p:xfrm>
              <a:off x="6543032" y="4365123"/>
              <a:ext cx="549275" cy="549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717" name="Equation" r:id="rId5" imgW="241300" imgH="241300" progId="Equation.3">
                      <p:embed/>
                    </p:oleObj>
                  </mc:Choice>
                  <mc:Fallback>
                    <p:oleObj name="Equation" r:id="rId5" imgW="241300" imgH="241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43032" y="4365123"/>
                            <a:ext cx="549275" cy="549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 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45354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基本步骤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确定初始基本可行解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检查当前的基本可行解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若是最优解或无最优解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否则作基变换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用一个非基变量替换一个基变量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一个新的可行基和对应的基本可行解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且使目标函数值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下降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至少不升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B9B24A-B150-4833-B420-0EBE78987C5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6.3.1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确定初始基本可行解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7" name="副标题 2"/>
          <p:cNvSpPr>
            <a:spLocks noGrp="1"/>
          </p:cNvSpPr>
          <p:nvPr>
            <p:ph type="subTitle" idx="1"/>
          </p:nvPr>
        </p:nvSpPr>
        <p:spPr>
          <a:xfrm>
            <a:off x="684213" y="1557338"/>
            <a:ext cx="7775575" cy="3743325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暂时只考虑最简单的情况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设约束条件为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 2,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 2,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个松弛变量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 2,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 2,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 2,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初始基本可行解为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x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(0, 0,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E8A4EF-4A43-4E30-B495-3D527B5F350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副标题 2"/>
          <p:cNvSpPr>
            <a:spLocks noGrp="1"/>
          </p:cNvSpPr>
          <p:nvPr>
            <p:ph type="subTitle" idx="1"/>
          </p:nvPr>
        </p:nvSpPr>
        <p:spPr>
          <a:xfrm>
            <a:off x="468313" y="1571625"/>
            <a:ext cx="3390900" cy="2657475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0.25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0.25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1EDB6E-3EBF-4A08-9965-A7B0AB0E498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" name="副标题 2"/>
          <p:cNvSpPr txBox="1"/>
          <p:nvPr/>
        </p:nvSpPr>
        <p:spPr bwMode="auto">
          <a:xfrm>
            <a:off x="4178300" y="4500563"/>
            <a:ext cx="47148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作为基变量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(0)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(0, 0, 120, 150, 50)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4075113" y="1571625"/>
            <a:ext cx="4745037" cy="2657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标准形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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0.25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=120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   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=150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0.25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+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= 50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=1, 2,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 , 5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6.3.2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最优性检验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3349D3-4E3C-4A90-BE78-E874861C9902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3797" name="Object 7"/>
          <p:cNvGraphicFramePr>
            <a:graphicFrameLocks noChangeAspect="1"/>
          </p:cNvGraphicFramePr>
          <p:nvPr/>
        </p:nvGraphicFramePr>
        <p:xfrm>
          <a:off x="3460750" y="3730625"/>
          <a:ext cx="17827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1" name="Equation" r:id="rId1" imgW="850900" imgH="228600" progId="Equation.3">
                  <p:embed/>
                </p:oleObj>
              </mc:Choice>
              <mc:Fallback>
                <p:oleObj name="Equation" r:id="rId1" imgW="8509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730625"/>
                        <a:ext cx="17827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8"/>
          <p:cNvGraphicFramePr>
            <a:graphicFrameLocks noChangeAspect="1"/>
          </p:cNvGraphicFramePr>
          <p:nvPr/>
        </p:nvGraphicFramePr>
        <p:xfrm>
          <a:off x="3460750" y="4373563"/>
          <a:ext cx="36433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Equation" r:id="rId3" imgW="1739900" imgH="228600" progId="Equation.3">
                  <p:embed/>
                </p:oleObj>
              </mc:Choice>
              <mc:Fallback>
                <p:oleObj name="Equation" r:id="rId3" imgW="1739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4373563"/>
                        <a:ext cx="36433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9"/>
          <p:cNvGraphicFramePr>
            <a:graphicFrameLocks noChangeAspect="1"/>
          </p:cNvGraphicFramePr>
          <p:nvPr/>
        </p:nvGraphicFramePr>
        <p:xfrm>
          <a:off x="3486150" y="4945063"/>
          <a:ext cx="35909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3" name="Equation" r:id="rId5" imgW="1714500" imgH="228600" progId="Equation.3">
                  <p:embed/>
                </p:oleObj>
              </mc:Choice>
              <mc:Fallback>
                <p:oleObj name="Equation" r:id="rId5" imgW="1714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4945063"/>
                        <a:ext cx="35909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00" name="组合 1"/>
          <p:cNvGrpSpPr/>
          <p:nvPr/>
        </p:nvGrpSpPr>
        <p:grpSpPr bwMode="auto">
          <a:xfrm>
            <a:off x="757238" y="1444625"/>
            <a:ext cx="7775575" cy="4679950"/>
            <a:chOff x="685800" y="1444890"/>
            <a:chExt cx="7775575" cy="4679950"/>
          </a:xfrm>
        </p:grpSpPr>
        <p:sp>
          <p:nvSpPr>
            <p:cNvPr id="15" name="副标题 2"/>
            <p:cNvSpPr txBox="1"/>
            <p:nvPr/>
          </p:nvSpPr>
          <p:spPr bwMode="auto">
            <a:xfrm>
              <a:off x="685800" y="1444890"/>
              <a:ext cx="7775575" cy="46799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给定可行基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=(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</a:t>
              </a:r>
              <a:r>
                <a:rPr lang="en-US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(1)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P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</a:t>
              </a:r>
              <a:r>
                <a:rPr lang="en-US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(2)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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P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</a:t>
              </a:r>
              <a:r>
                <a:rPr lang="en-US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en-US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),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Ax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两边同乘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得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Ax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.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记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中对应非基变量的列构成的矩阵为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 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Nx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 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解得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 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 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Nx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代入目标函数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  <a:r>
                <a:rPr lang="en-US" sz="2400" b="1" i="1" baseline="30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=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=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= 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基本可行解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=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 </a:t>
              </a:r>
              <a:r>
                <a:rPr lang="en-US" sz="2400" b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       = 0,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目标函数值 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</a:t>
              </a:r>
              <a:r>
                <a:rPr lang="en-US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       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802" name="Object 11"/>
            <p:cNvGraphicFramePr>
              <a:graphicFrameLocks noChangeAspect="1"/>
            </p:cNvGraphicFramePr>
            <p:nvPr/>
          </p:nvGraphicFramePr>
          <p:xfrm>
            <a:off x="2389145" y="5588294"/>
            <a:ext cx="5588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4" name="Equation" r:id="rId7" imgW="266700" imgH="228600" progId="Equation.3">
                    <p:embed/>
                  </p:oleObj>
                </mc:Choice>
                <mc:Fallback>
                  <p:oleObj name="Equation" r:id="rId7" imgW="2667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9145" y="5588294"/>
                          <a:ext cx="558800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3" name="Object 12"/>
            <p:cNvGraphicFramePr>
              <a:graphicFrameLocks noChangeAspect="1"/>
            </p:cNvGraphicFramePr>
            <p:nvPr/>
          </p:nvGraphicFramePr>
          <p:xfrm>
            <a:off x="3797176" y="5588294"/>
            <a:ext cx="5588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5" name="Equation" r:id="rId9" imgW="266700" imgH="228600" progId="Equation.3">
                    <p:embed/>
                  </p:oleObj>
                </mc:Choice>
                <mc:Fallback>
                  <p:oleObj name="Equation" r:id="rId9" imgW="266700" imgH="2286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7176" y="5588294"/>
                          <a:ext cx="558800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13"/>
            <p:cNvGraphicFramePr>
              <a:graphicFrameLocks noChangeAspect="1"/>
            </p:cNvGraphicFramePr>
            <p:nvPr/>
          </p:nvGraphicFramePr>
          <p:xfrm>
            <a:off x="7077053" y="5635126"/>
            <a:ext cx="1011237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16" name="Equation" r:id="rId11" imgW="482600" imgH="228600" progId="Equation.3">
                    <p:embed/>
                  </p:oleObj>
                </mc:Choice>
                <mc:Fallback>
                  <p:oleObj name="Equation" r:id="rId11" imgW="4826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7053" y="5635126"/>
                          <a:ext cx="1011237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最优性检验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170951-39B1-42FA-ACF4-D11212E9934C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482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34821" name="组合 15"/>
          <p:cNvGrpSpPr/>
          <p:nvPr/>
        </p:nvGrpSpPr>
        <p:grpSpPr bwMode="auto">
          <a:xfrm>
            <a:off x="725488" y="1571625"/>
            <a:ext cx="7775575" cy="3786188"/>
            <a:chOff x="725515" y="1571612"/>
            <a:chExt cx="7775575" cy="3786214"/>
          </a:xfrm>
        </p:grpSpPr>
        <p:graphicFrame>
          <p:nvGraphicFramePr>
            <p:cNvPr id="34822" name="Object 10"/>
            <p:cNvGraphicFramePr>
              <a:graphicFrameLocks noChangeAspect="1"/>
            </p:cNvGraphicFramePr>
            <p:nvPr/>
          </p:nvGraphicFramePr>
          <p:xfrm>
            <a:off x="2357422" y="2071678"/>
            <a:ext cx="2952750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1" name="Equation" r:id="rId1" imgW="1409065" imgH="241300" progId="Equation.3">
                    <p:embed/>
                  </p:oleObj>
                </mc:Choice>
                <mc:Fallback>
                  <p:oleObj name="Equation" r:id="rId1" imgW="1409065" imgH="2413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422" y="2071678"/>
                          <a:ext cx="2952750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3" name="Object 6"/>
            <p:cNvGraphicFramePr>
              <a:graphicFrameLocks noChangeAspect="1"/>
            </p:cNvGraphicFramePr>
            <p:nvPr/>
          </p:nvGraphicFramePr>
          <p:xfrm>
            <a:off x="2405085" y="2714625"/>
            <a:ext cx="5453063" cy="500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2" name="Equation" r:id="rId3" imgW="2603500" imgH="241300" progId="Equation.3">
                    <p:embed/>
                  </p:oleObj>
                </mc:Choice>
                <mc:Fallback>
                  <p:oleObj name="Equation" r:id="rId3" imgW="2603500" imgH="2413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085" y="2714625"/>
                          <a:ext cx="5453063" cy="500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4" name="Object 8"/>
            <p:cNvGraphicFramePr>
              <a:graphicFrameLocks noChangeAspect="1"/>
            </p:cNvGraphicFramePr>
            <p:nvPr/>
          </p:nvGraphicFramePr>
          <p:xfrm>
            <a:off x="2428860" y="3330578"/>
            <a:ext cx="268763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3" name="Equation" r:id="rId5" imgW="1282700" imgH="254000" progId="Equation.3">
                    <p:embed/>
                  </p:oleObj>
                </mc:Choice>
                <mc:Fallback>
                  <p:oleObj name="Equation" r:id="rId5" imgW="1282700" imgH="254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3330578"/>
                          <a:ext cx="2687638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5" name="Object 9"/>
            <p:cNvGraphicFramePr>
              <a:graphicFrameLocks noChangeAspect="1"/>
            </p:cNvGraphicFramePr>
            <p:nvPr/>
          </p:nvGraphicFramePr>
          <p:xfrm>
            <a:off x="1798630" y="3929066"/>
            <a:ext cx="1701800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34" name="Equation" r:id="rId7" imgW="812165" imgH="228600" progId="Equation.3">
                    <p:embed/>
                  </p:oleObj>
                </mc:Choice>
                <mc:Fallback>
                  <p:oleObj name="Equation" r:id="rId7" imgW="812165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8630" y="3929066"/>
                          <a:ext cx="1701800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副标题 2"/>
            <p:cNvSpPr txBox="1"/>
            <p:nvPr/>
          </p:nvSpPr>
          <p:spPr bwMode="auto">
            <a:xfrm>
              <a:off x="725515" y="1571612"/>
              <a:ext cx="7775575" cy="37862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z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</a:t>
              </a:r>
              <a:r>
                <a:rPr lang="en-US" sz="2400" b="1" i="1" baseline="30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=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=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= 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记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</a:t>
              </a:r>
              <a:r>
                <a:rPr lang="en-US" altLang="zh-CN" sz="2400" b="1" i="1" baseline="30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                          </a:t>
              </a:r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检验数</a:t>
              </a:r>
              <a:endPara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=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z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+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</a:t>
              </a:r>
              <a:r>
                <a:rPr lang="en-US" altLang="zh-CN" sz="2400" b="1" i="1" baseline="30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T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x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 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     </a:t>
              </a:r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简化的目标函数</a:t>
              </a:r>
              <a:endParaRPr lang="zh-CN" altLang="en-US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ctrTitle"/>
          </p:nvPr>
        </p:nvSpPr>
        <p:spPr>
          <a:xfrm>
            <a:off x="687388" y="188913"/>
            <a:ext cx="7772400" cy="9525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最优性检验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3" name="副标题 2"/>
          <p:cNvSpPr>
            <a:spLocks noGrp="1"/>
          </p:cNvSpPr>
          <p:nvPr>
            <p:ph type="subTitle" idx="1"/>
          </p:nvPr>
        </p:nvSpPr>
        <p:spPr>
          <a:xfrm>
            <a:off x="563563" y="1374775"/>
            <a:ext cx="8020050" cy="4981575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给定基本可行解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若所有检验数大于等于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若存在检验数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且所有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则无最优解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如果 </a:t>
            </a:r>
            <a:r>
              <a:rPr lang="zh-CN" alt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则对任意可行解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如果存在检验数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 (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必对应非基变量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且所有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其余非基变量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0,         1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这是一个可行解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其目标函数值为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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得证无最优解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A533FC-34DE-4210-A802-0529721F86D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ctrTitle"/>
          </p:nvPr>
        </p:nvSpPr>
        <p:spPr>
          <a:xfrm>
            <a:off x="685800" y="333375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6.3.3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副标题 2"/>
          <p:cNvSpPr>
            <a:spLocks noGrp="1"/>
          </p:cNvSpPr>
          <p:nvPr>
            <p:ph type="subTitle" idx="1"/>
          </p:nvPr>
        </p:nvSpPr>
        <p:spPr>
          <a:xfrm>
            <a:off x="704850" y="1196975"/>
            <a:ext cx="7775575" cy="4608513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给定可行基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必是非基变量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用非基变量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替换基变量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新的基为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换出变量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是线性无关的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是线性无关的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只需证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可表成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的线性组合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endParaRPr lang="en-US" altLang="zh-CN" sz="2400" b="1" i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60E9FB-068D-4D26-BFA1-59A549C57A3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6870" name="Object 6"/>
          <p:cNvGraphicFramePr>
            <a:graphicFrameLocks noChangeAspect="1"/>
          </p:cNvGraphicFramePr>
          <p:nvPr/>
        </p:nvGraphicFramePr>
        <p:xfrm>
          <a:off x="1500188" y="5214938"/>
          <a:ext cx="217328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1" imgW="1002665" imgH="431800" progId="Equation.3">
                  <p:embed/>
                </p:oleObj>
              </mc:Choice>
              <mc:Fallback>
                <p:oleObj name="Equation" r:id="rId1" imgW="1002665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214938"/>
                        <a:ext cx="217328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8"/>
          <p:cNvGraphicFramePr>
            <a:graphicFrameLocks noChangeAspect="1"/>
          </p:cNvGraphicFramePr>
          <p:nvPr/>
        </p:nvGraphicFramePr>
        <p:xfrm>
          <a:off x="5715000" y="5286375"/>
          <a:ext cx="217328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3" imgW="1002665" imgH="431800" progId="Equation.3">
                  <p:embed/>
                </p:oleObj>
              </mc:Choice>
              <mc:Fallback>
                <p:oleObj name="Equation" r:id="rId3" imgW="1002665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286375"/>
                        <a:ext cx="217328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矩形 1"/>
          <p:cNvSpPr>
            <a:spLocks noChangeArrowheads="1"/>
          </p:cNvSpPr>
          <p:nvPr/>
        </p:nvSpPr>
        <p:spPr bwMode="auto">
          <a:xfrm>
            <a:off x="3873500" y="5313363"/>
            <a:ext cx="1627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两边同乘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ctrTitle"/>
          </p:nvPr>
        </p:nvSpPr>
        <p:spPr>
          <a:xfrm>
            <a:off x="687388" y="309563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基变换（续）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是一个基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要保证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是可行基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en-US" altLang="zh-CN" sz="2400" b="1" i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中对应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的列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(1),,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列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构成单位矩阵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用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替换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得到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将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替换成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即解出第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个方程中的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这只需用 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除第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个方程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再用第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个方程消去其它方程中的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5F1AD6-FDC9-4A3A-B1A4-514CBC8993C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789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2286000" y="1571625"/>
          <a:ext cx="34480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1" imgW="1701800" imgH="533400" progId="Equation.3">
                  <p:embed/>
                </p:oleObj>
              </mc:Choice>
              <mc:Fallback>
                <p:oleObj name="Equation" r:id="rId1" imgW="1701800" imgH="533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71625"/>
                        <a:ext cx="344805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ctrTitle"/>
          </p:nvPr>
        </p:nvSpPr>
        <p:spPr>
          <a:xfrm>
            <a:off x="685800" y="333375"/>
            <a:ext cx="7772400" cy="66675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基变换（续）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副标题 2"/>
          <p:cNvSpPr>
            <a:spLocks noGrp="1"/>
          </p:cNvSpPr>
          <p:nvPr>
            <p:ph type="subTitle" idx="1"/>
          </p:nvPr>
        </p:nvSpPr>
        <p:spPr>
          <a:xfrm>
            <a:off x="673100" y="1165225"/>
            <a:ext cx="7775575" cy="5373688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计算公式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lj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=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1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=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1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1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要保证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是可行的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只需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0,      1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    </a:t>
            </a:r>
            <a:endParaRPr lang="en-US" altLang="zh-CN" sz="2400" b="1" i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注意到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时不等式自然成立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只需当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min{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&gt;0,  1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   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用第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个方程消去简化的目标函数中的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=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   1 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endParaRPr lang="en-US" altLang="zh-CN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9BA5EE-7B51-41EA-AB2F-7D5BEBDE701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89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ctrTitle"/>
          </p:nvPr>
        </p:nvSpPr>
        <p:spPr>
          <a:xfrm>
            <a:off x="685800" y="309563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副标题 2"/>
          <p:cNvSpPr>
            <a:spLocks noGrp="1"/>
          </p:cNvSpPr>
          <p:nvPr>
            <p:ph type="subTitle" idx="1"/>
          </p:nvPr>
        </p:nvSpPr>
        <p:spPr>
          <a:xfrm>
            <a:off x="684213" y="1187450"/>
            <a:ext cx="8459787" cy="4802188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 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针对最小化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AutoNum type="arabicPeriod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设初始可行基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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 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    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</a:t>
            </a:r>
            <a:r>
              <a:rPr lang="en-US" sz="2400" b="1" i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1" i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C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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是最优解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0(1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m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则无最优解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min{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 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为换入变量、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为换出变量做基变换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对最大化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0,  3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0.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3431C-9ACB-4A17-B580-E9D1DD194B3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399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ctrTitle"/>
          </p:nvPr>
        </p:nvSpPr>
        <p:spPr>
          <a:xfrm>
            <a:off x="468313" y="45720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3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D9D681-308D-4D2E-BF1E-7E8A212CA11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09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40965" name="组合 35"/>
          <p:cNvGrpSpPr/>
          <p:nvPr/>
        </p:nvGrpSpPr>
        <p:grpSpPr bwMode="auto">
          <a:xfrm>
            <a:off x="1714500" y="2000250"/>
            <a:ext cx="5643563" cy="2714625"/>
            <a:chOff x="1714480" y="1857364"/>
            <a:chExt cx="5643602" cy="2714644"/>
          </a:xfrm>
        </p:grpSpPr>
        <p:sp>
          <p:nvSpPr>
            <p:cNvPr id="40967" name="Text Box 8"/>
            <p:cNvSpPr txBox="1">
              <a:spLocks noChangeArrowheads="1"/>
            </p:cNvSpPr>
            <p:nvPr/>
          </p:nvSpPr>
          <p:spPr bwMode="auto">
            <a:xfrm>
              <a:off x="1928794" y="1857364"/>
              <a:ext cx="5354022" cy="27146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c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c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b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︰    ︰       ︰      ︰    ︰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︰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mn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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968" name="组合 34"/>
            <p:cNvGrpSpPr/>
            <p:nvPr/>
          </p:nvGrpSpPr>
          <p:grpSpPr bwMode="auto">
            <a:xfrm>
              <a:off x="1714480" y="1928802"/>
              <a:ext cx="5643602" cy="2573356"/>
              <a:chOff x="1714480" y="1928802"/>
              <a:chExt cx="5643602" cy="2573356"/>
            </a:xfrm>
          </p:grpSpPr>
          <p:cxnSp>
            <p:nvCxnSpPr>
              <p:cNvPr id="40969" name="AutoShape 9"/>
              <p:cNvCxnSpPr>
                <a:cxnSpLocks noChangeShapeType="1"/>
              </p:cNvCxnSpPr>
              <p:nvPr/>
            </p:nvCxnSpPr>
            <p:spPr bwMode="auto">
              <a:xfrm>
                <a:off x="1714480" y="1928802"/>
                <a:ext cx="5572164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0" name="AutoShape 15"/>
              <p:cNvCxnSpPr>
                <a:cxnSpLocks noChangeShapeType="1"/>
              </p:cNvCxnSpPr>
              <p:nvPr/>
            </p:nvCxnSpPr>
            <p:spPr bwMode="auto">
              <a:xfrm rot="5400000">
                <a:off x="1535885" y="3392487"/>
                <a:ext cx="2214578" cy="1588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1" name="AutoShape 9"/>
              <p:cNvCxnSpPr>
                <a:cxnSpLocks noChangeShapeType="1"/>
              </p:cNvCxnSpPr>
              <p:nvPr/>
            </p:nvCxnSpPr>
            <p:spPr bwMode="auto">
              <a:xfrm>
                <a:off x="1785918" y="2285992"/>
                <a:ext cx="4857784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2" name="AutoShape 9"/>
              <p:cNvCxnSpPr>
                <a:cxnSpLocks noChangeShapeType="1"/>
              </p:cNvCxnSpPr>
              <p:nvPr/>
            </p:nvCxnSpPr>
            <p:spPr bwMode="auto">
              <a:xfrm>
                <a:off x="1785918" y="2643182"/>
                <a:ext cx="5572164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3" name="AutoShape 9"/>
              <p:cNvCxnSpPr>
                <a:cxnSpLocks noChangeShapeType="1"/>
              </p:cNvCxnSpPr>
              <p:nvPr/>
            </p:nvCxnSpPr>
            <p:spPr bwMode="auto">
              <a:xfrm>
                <a:off x="1785918" y="4143380"/>
                <a:ext cx="5572164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4" name="AutoShape 9"/>
              <p:cNvCxnSpPr>
                <a:cxnSpLocks noChangeShapeType="1"/>
              </p:cNvCxnSpPr>
              <p:nvPr/>
            </p:nvCxnSpPr>
            <p:spPr bwMode="auto">
              <a:xfrm>
                <a:off x="1857356" y="4500570"/>
                <a:ext cx="5500726" cy="15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5" name="AutoShape 15"/>
              <p:cNvCxnSpPr>
                <a:cxnSpLocks noChangeShapeType="1"/>
              </p:cNvCxnSpPr>
              <p:nvPr/>
            </p:nvCxnSpPr>
            <p:spPr bwMode="auto">
              <a:xfrm rot="5400000">
                <a:off x="2320908" y="3392487"/>
                <a:ext cx="2214578" cy="1588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6" name="AutoShape 15"/>
              <p:cNvCxnSpPr>
                <a:cxnSpLocks noChangeShapeType="1"/>
              </p:cNvCxnSpPr>
              <p:nvPr/>
            </p:nvCxnSpPr>
            <p:spPr bwMode="auto">
              <a:xfrm rot="16200000" flipH="1">
                <a:off x="2786049" y="3214686"/>
                <a:ext cx="2571768" cy="1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977" name="AutoShape 15"/>
              <p:cNvCxnSpPr>
                <a:cxnSpLocks noChangeShapeType="1"/>
              </p:cNvCxnSpPr>
              <p:nvPr/>
            </p:nvCxnSpPr>
            <p:spPr bwMode="auto">
              <a:xfrm rot="16200000" flipH="1">
                <a:off x="5357817" y="3214686"/>
                <a:ext cx="2571768" cy="1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40966" name="副标题 2"/>
          <p:cNvSpPr>
            <a:spLocks noGrp="1"/>
          </p:cNvSpPr>
          <p:nvPr>
            <p:ph type="subTitle" idx="1"/>
          </p:nvPr>
        </p:nvSpPr>
        <p:spPr>
          <a:xfrm>
            <a:off x="1755775" y="5199063"/>
            <a:ext cx="5673725" cy="587375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++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7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545EB3-3EED-4CC3-8DCA-8DF92E9E5C16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19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41989" name="组合 21"/>
          <p:cNvGrpSpPr/>
          <p:nvPr/>
        </p:nvGrpSpPr>
        <p:grpSpPr bwMode="auto">
          <a:xfrm>
            <a:off x="833438" y="1285875"/>
            <a:ext cx="7453312" cy="5214938"/>
            <a:chOff x="833438" y="1285875"/>
            <a:chExt cx="7453312" cy="5214938"/>
          </a:xfrm>
        </p:grpSpPr>
        <p:sp>
          <p:nvSpPr>
            <p:cNvPr id="41990" name="Text Box 8"/>
            <p:cNvSpPr txBox="1">
              <a:spLocks noChangeArrowheads="1"/>
            </p:cNvSpPr>
            <p:nvPr/>
          </p:nvSpPr>
          <p:spPr bwMode="auto">
            <a:xfrm>
              <a:off x="928708" y="1286510"/>
              <a:ext cx="7358042" cy="52143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                      -12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-15      0      0      0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  c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  b     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120      0.25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0.50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1      0      0         240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150      0.50    0.50     0      1      0         300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50      0.25       0       0      0      1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-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z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0       -12       -15      0      0      0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-15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240      0.50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1       2      0      0         480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30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0.25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0      -1      1      0         120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50      0.25       0       0      0      1          200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-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z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3600      -4.5       0      30     0      0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-15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180         0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1       4     -2     0   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-12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120         1         0      -4      4     0     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0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20         0         0        1    - 1    1   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-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z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4140         0        0       12    18    0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cxnSp>
          <p:nvCxnSpPr>
            <p:cNvPr id="41991" name="AutoShape 9"/>
            <p:cNvCxnSpPr>
              <a:cxnSpLocks noChangeShapeType="1"/>
            </p:cNvCxnSpPr>
            <p:nvPr/>
          </p:nvCxnSpPr>
          <p:spPr bwMode="auto">
            <a:xfrm>
              <a:off x="833438" y="1285875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2" name="AutoShape 15"/>
            <p:cNvCxnSpPr>
              <a:cxnSpLocks noChangeShapeType="1"/>
            </p:cNvCxnSpPr>
            <p:nvPr/>
          </p:nvCxnSpPr>
          <p:spPr bwMode="auto">
            <a:xfrm rot="5400000">
              <a:off x="-714070" y="4072233"/>
              <a:ext cx="4714301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3" name="AutoShape 9"/>
            <p:cNvCxnSpPr>
              <a:cxnSpLocks noChangeShapeType="1"/>
            </p:cNvCxnSpPr>
            <p:nvPr/>
          </p:nvCxnSpPr>
          <p:spPr bwMode="auto">
            <a:xfrm>
              <a:off x="857271" y="1714448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4" name="AutoShape 9"/>
            <p:cNvCxnSpPr>
              <a:cxnSpLocks noChangeShapeType="1"/>
            </p:cNvCxnSpPr>
            <p:nvPr/>
          </p:nvCxnSpPr>
          <p:spPr bwMode="auto">
            <a:xfrm>
              <a:off x="857271" y="2072227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5" name="AutoShape 9"/>
            <p:cNvCxnSpPr>
              <a:cxnSpLocks noChangeShapeType="1"/>
            </p:cNvCxnSpPr>
            <p:nvPr/>
          </p:nvCxnSpPr>
          <p:spPr bwMode="auto">
            <a:xfrm>
              <a:off x="857271" y="3143659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6" name="AutoShape 9"/>
            <p:cNvCxnSpPr>
              <a:cxnSpLocks noChangeShapeType="1"/>
            </p:cNvCxnSpPr>
            <p:nvPr/>
          </p:nvCxnSpPr>
          <p:spPr bwMode="auto">
            <a:xfrm>
              <a:off x="857271" y="3500168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7" name="AutoShape 9"/>
            <p:cNvCxnSpPr>
              <a:cxnSpLocks noChangeShapeType="1"/>
            </p:cNvCxnSpPr>
            <p:nvPr/>
          </p:nvCxnSpPr>
          <p:spPr bwMode="auto">
            <a:xfrm>
              <a:off x="857271" y="4643029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8" name="AutoShape 9"/>
            <p:cNvCxnSpPr>
              <a:cxnSpLocks noChangeShapeType="1"/>
            </p:cNvCxnSpPr>
            <p:nvPr/>
          </p:nvCxnSpPr>
          <p:spPr bwMode="auto">
            <a:xfrm>
              <a:off x="857271" y="5000173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9" name="AutoShape 9"/>
            <p:cNvCxnSpPr>
              <a:cxnSpLocks noChangeShapeType="1"/>
            </p:cNvCxnSpPr>
            <p:nvPr/>
          </p:nvCxnSpPr>
          <p:spPr bwMode="auto">
            <a:xfrm>
              <a:off x="857271" y="6072240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0" name="AutoShape 9"/>
            <p:cNvCxnSpPr>
              <a:cxnSpLocks noChangeShapeType="1"/>
            </p:cNvCxnSpPr>
            <p:nvPr/>
          </p:nvCxnSpPr>
          <p:spPr bwMode="auto">
            <a:xfrm>
              <a:off x="857271" y="6428749"/>
              <a:ext cx="7239000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1" name="AutoShape 15"/>
            <p:cNvCxnSpPr>
              <a:cxnSpLocks noChangeShapeType="1"/>
            </p:cNvCxnSpPr>
            <p:nvPr/>
          </p:nvCxnSpPr>
          <p:spPr bwMode="auto">
            <a:xfrm rot="5400000">
              <a:off x="-141777" y="4071439"/>
              <a:ext cx="4714301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2" name="AutoShape 15"/>
            <p:cNvCxnSpPr>
              <a:cxnSpLocks noChangeShapeType="1"/>
            </p:cNvCxnSpPr>
            <p:nvPr/>
          </p:nvCxnSpPr>
          <p:spPr bwMode="auto">
            <a:xfrm rot="16200000" flipH="1">
              <a:off x="643264" y="3857946"/>
              <a:ext cx="5142874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3" name="AutoShape 15"/>
            <p:cNvCxnSpPr>
              <a:cxnSpLocks noChangeShapeType="1"/>
            </p:cNvCxnSpPr>
            <p:nvPr/>
          </p:nvCxnSpPr>
          <p:spPr bwMode="auto">
            <a:xfrm rot="16200000" flipH="1">
              <a:off x="4358003" y="3857947"/>
              <a:ext cx="5142874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副标题 2"/>
          <p:cNvSpPr>
            <a:spLocks noGrp="1"/>
          </p:cNvSpPr>
          <p:nvPr>
            <p:ph type="subTitle" idx="1"/>
          </p:nvPr>
        </p:nvSpPr>
        <p:spPr>
          <a:xfrm>
            <a:off x="709613" y="13700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用单纯形法解下述线性规划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min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 引入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个松弛变量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得到标准形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min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= 1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 2, 3, 4 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701B32-75BE-4CB6-A050-2E7652E4551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30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6.9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58E8A3-BA14-4140-9189-DDC7593DEC0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40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44037" name="组合 34"/>
          <p:cNvGrpSpPr/>
          <p:nvPr/>
        </p:nvGrpSpPr>
        <p:grpSpPr bwMode="auto">
          <a:xfrm>
            <a:off x="1357313" y="1785938"/>
            <a:ext cx="6357937" cy="3000375"/>
            <a:chOff x="1357290" y="1785925"/>
            <a:chExt cx="6357982" cy="3000397"/>
          </a:xfrm>
        </p:grpSpPr>
        <p:sp>
          <p:nvSpPr>
            <p:cNvPr id="44039" name="Text Box 8"/>
            <p:cNvSpPr txBox="1">
              <a:spLocks noChangeArrowheads="1"/>
            </p:cNvSpPr>
            <p:nvPr/>
          </p:nvSpPr>
          <p:spPr bwMode="auto">
            <a:xfrm>
              <a:off x="1575660" y="1785925"/>
              <a:ext cx="6139612" cy="30003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                   1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-2      0      0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 c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b   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1        1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-1       1      0    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4       -2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0      1           4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 -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z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0        1     -2       0      0 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0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5       -1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0       1      1   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-2      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4       -2      1       0       1   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z 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8       -3      0       0       2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cxnSp>
          <p:nvCxnSpPr>
            <p:cNvPr id="44040" name="AutoShape 9"/>
            <p:cNvCxnSpPr>
              <a:cxnSpLocks noChangeShapeType="1"/>
            </p:cNvCxnSpPr>
            <p:nvPr/>
          </p:nvCxnSpPr>
          <p:spPr bwMode="auto">
            <a:xfrm>
              <a:off x="1357290" y="1855775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1" name="AutoShape 13"/>
            <p:cNvCxnSpPr>
              <a:cxnSpLocks noChangeShapeType="1"/>
            </p:cNvCxnSpPr>
            <p:nvPr/>
          </p:nvCxnSpPr>
          <p:spPr bwMode="auto">
            <a:xfrm rot="5400000">
              <a:off x="874320" y="3483341"/>
              <a:ext cx="2571768" cy="3419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2" name="AutoShape 9"/>
            <p:cNvCxnSpPr>
              <a:cxnSpLocks noChangeShapeType="1"/>
            </p:cNvCxnSpPr>
            <p:nvPr/>
          </p:nvCxnSpPr>
          <p:spPr bwMode="auto">
            <a:xfrm>
              <a:off x="1357290" y="2212965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3" name="AutoShape 9"/>
            <p:cNvCxnSpPr>
              <a:cxnSpLocks noChangeShapeType="1"/>
            </p:cNvCxnSpPr>
            <p:nvPr/>
          </p:nvCxnSpPr>
          <p:spPr bwMode="auto">
            <a:xfrm>
              <a:off x="1357290" y="2570155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4" name="AutoShape 9"/>
            <p:cNvCxnSpPr>
              <a:cxnSpLocks noChangeShapeType="1"/>
            </p:cNvCxnSpPr>
            <p:nvPr/>
          </p:nvCxnSpPr>
          <p:spPr bwMode="auto">
            <a:xfrm>
              <a:off x="1357290" y="3357561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5" name="AutoShape 9"/>
            <p:cNvCxnSpPr>
              <a:cxnSpLocks noChangeShapeType="1"/>
            </p:cNvCxnSpPr>
            <p:nvPr/>
          </p:nvCxnSpPr>
          <p:spPr bwMode="auto">
            <a:xfrm>
              <a:off x="1357290" y="3641725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6" name="AutoShape 9"/>
            <p:cNvCxnSpPr>
              <a:cxnSpLocks noChangeShapeType="1"/>
            </p:cNvCxnSpPr>
            <p:nvPr/>
          </p:nvCxnSpPr>
          <p:spPr bwMode="auto">
            <a:xfrm>
              <a:off x="1357290" y="4427543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7" name="AutoShape 9"/>
            <p:cNvCxnSpPr>
              <a:cxnSpLocks noChangeShapeType="1"/>
            </p:cNvCxnSpPr>
            <p:nvPr/>
          </p:nvCxnSpPr>
          <p:spPr bwMode="auto">
            <a:xfrm>
              <a:off x="1357290" y="4784733"/>
              <a:ext cx="6102791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8" name="AutoShape 13"/>
            <p:cNvCxnSpPr>
              <a:cxnSpLocks noChangeShapeType="1"/>
            </p:cNvCxnSpPr>
            <p:nvPr/>
          </p:nvCxnSpPr>
          <p:spPr bwMode="auto">
            <a:xfrm rot="5400000">
              <a:off x="1588700" y="3483341"/>
              <a:ext cx="2571768" cy="3419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9" name="AutoShape 13"/>
            <p:cNvCxnSpPr>
              <a:cxnSpLocks noChangeShapeType="1"/>
            </p:cNvCxnSpPr>
            <p:nvPr/>
          </p:nvCxnSpPr>
          <p:spPr bwMode="auto">
            <a:xfrm rot="5400000">
              <a:off x="2071670" y="3286124"/>
              <a:ext cx="2928958" cy="714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50" name="AutoShape 13"/>
            <p:cNvCxnSpPr>
              <a:cxnSpLocks noChangeShapeType="1"/>
            </p:cNvCxnSpPr>
            <p:nvPr/>
          </p:nvCxnSpPr>
          <p:spPr bwMode="auto">
            <a:xfrm rot="5400000">
              <a:off x="5000628" y="3286124"/>
              <a:ext cx="2928958" cy="714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3014" name="Text Box 8"/>
          <p:cNvSpPr txBox="1">
            <a:spLocks noChangeArrowheads="1"/>
          </p:cNvSpPr>
          <p:nvPr/>
        </p:nvSpPr>
        <p:spPr bwMode="auto">
          <a:xfrm>
            <a:off x="1357313" y="5143500"/>
            <a:ext cx="6138862" cy="6429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目标函数值没有下界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无最优解</a:t>
            </a:r>
            <a:endParaRPr lang="zh-CN" altLang="zh-CN" sz="2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6.3.5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人工变量和两阶段法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现考虑剩余的两种情况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               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               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对于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引入剩余变量转化成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 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0,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</a:rPr>
              <a:t>取所有松弛变量和人工变量作为基变量</a:t>
            </a:r>
            <a:r>
              <a:rPr lang="en-US" altLang="zh-CN" sz="2400" b="1" smtClean="0">
                <a:solidFill>
                  <a:schemeClr val="tx1"/>
                </a:solidFill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</a:rPr>
              <a:t>得到初始可行基</a:t>
            </a:r>
            <a:r>
              <a:rPr lang="en-US" altLang="zh-CN" sz="2400" b="1" smtClean="0">
                <a:solidFill>
                  <a:schemeClr val="tx1"/>
                </a:solidFill>
              </a:rPr>
              <a:t>.</a:t>
            </a:r>
            <a:endParaRPr lang="zh-CN" altLang="en-US" sz="2400" b="1" smtClean="0">
              <a:solidFill>
                <a:schemeClr val="tx1"/>
              </a:solidFill>
            </a:endParaRPr>
          </a:p>
          <a:p>
            <a:pPr algn="l"/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F8FEC0-8143-455C-AC08-6D29D79EB203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50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506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45063" name="Object 6"/>
          <p:cNvGraphicFramePr>
            <a:graphicFrameLocks noChangeAspect="1"/>
          </p:cNvGraphicFramePr>
          <p:nvPr/>
        </p:nvGraphicFramePr>
        <p:xfrm>
          <a:off x="1214438" y="2000250"/>
          <a:ext cx="167481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Equation" r:id="rId1" imgW="786765" imgH="444500" progId="Equation.3">
                  <p:embed/>
                </p:oleObj>
              </mc:Choice>
              <mc:Fallback>
                <p:oleObj name="Equation" r:id="rId1" imgW="786765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000250"/>
                        <a:ext cx="167481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1214438" y="2857500"/>
          <a:ext cx="167481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0" name="Equation" r:id="rId3" imgW="786765" imgH="444500" progId="Equation.3">
                  <p:embed/>
                </p:oleObj>
              </mc:Choice>
              <mc:Fallback>
                <p:oleObj name="Equation" r:id="rId3" imgW="786765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857500"/>
                        <a:ext cx="167481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2846388" y="4714875"/>
          <a:ext cx="229711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1" name="Equation" r:id="rId5" imgW="1078865" imgH="444500" progId="Equation.3">
                  <p:embed/>
                </p:oleObj>
              </mc:Choice>
              <mc:Fallback>
                <p:oleObj name="Equation" r:id="rId5" imgW="1078865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714875"/>
                        <a:ext cx="229711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ctrTitle"/>
          </p:nvPr>
        </p:nvSpPr>
        <p:spPr>
          <a:xfrm>
            <a:off x="665163" y="388938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6.10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3" name="副标题 2"/>
          <p:cNvSpPr>
            <a:spLocks noGrp="1"/>
          </p:cNvSpPr>
          <p:nvPr>
            <p:ph type="subTitle" idx="1"/>
          </p:nvPr>
        </p:nvSpPr>
        <p:spPr>
          <a:xfrm>
            <a:off x="665163" y="1571625"/>
            <a:ext cx="3101975" cy="2444750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1,2,3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7963EA-B6D5-4A8A-A804-8C9A187C11A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60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4071938" y="1571625"/>
            <a:ext cx="4316412" cy="314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引入松弛变量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剩余变量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标准形为</a:t>
            </a:r>
            <a:endParaRPr 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= 11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= 3 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+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= 1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5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6.10 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7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88FD6A-0B52-456C-BE0A-BECD9187B44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71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642938" y="1500188"/>
            <a:ext cx="7643812" cy="4786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再引入人工变量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= 11   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= 3  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1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7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anose="05050102010706020507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取基变量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(0)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= (0,0,0,11,0,3,1)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>
              <a:spcBef>
                <a:spcPct val="20000"/>
              </a:spcBef>
              <a:defRPr/>
            </a:pP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(0)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不对应标准形的可行解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只有当所有人工变量等于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才能舍去人工变量得到标准形的可行解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副标题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45434" y="3544607"/>
            <a:ext cx="5202019" cy="2607006"/>
          </a:xfrm>
          <a:prstGeom prst="rect">
            <a:avLst/>
          </a:prstGeom>
          <a:blipFill>
            <a:blip r:embed="rId1"/>
            <a:stretch>
              <a:fillRect l="-1876" t="-2570"/>
            </a:stretch>
          </a:blipFill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48131" name="标题 1"/>
          <p:cNvSpPr>
            <a:spLocks noGrp="1"/>
          </p:cNvSpPr>
          <p:nvPr>
            <p:ph type="ctrTitle"/>
          </p:nvPr>
        </p:nvSpPr>
        <p:spPr>
          <a:xfrm>
            <a:off x="685800" y="227013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两阶段法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7C5814-F5B3-4E93-AB41-57356A6B5F3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813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81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81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" name="副标题 2"/>
          <p:cNvSpPr txBox="1"/>
          <p:nvPr/>
        </p:nvSpPr>
        <p:spPr bwMode="auto">
          <a:xfrm>
            <a:off x="338138" y="1055688"/>
            <a:ext cx="3835400" cy="2444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设问题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endParaRPr 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400"/>
              </a:spcBef>
              <a:buFont typeface="Arial" panose="020B0604020202020204" pitchFamily="34" charset="0"/>
              <a:buNone/>
              <a:defRPr/>
            </a:pP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0,          1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其中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0,    1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72666" y="1475820"/>
            <a:ext cx="2777871" cy="508601"/>
          </a:xfrm>
          <a:prstGeom prst="rect">
            <a:avLst/>
          </a:prstGeom>
          <a:blipFill>
            <a:blip r:embed="rId2"/>
            <a:stretch>
              <a:fillRect l="-3289" t="-116667" b="-16785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6" name="矩形 1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1190" y="2014178"/>
            <a:ext cx="5394591" cy="508601"/>
          </a:xfrm>
          <a:prstGeom prst="rect">
            <a:avLst/>
          </a:prstGeom>
          <a:blipFill>
            <a:blip r:embed="rId3"/>
            <a:stretch>
              <a:fillRect l="-1695" t="-116667" b="-16785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79897" y="4723955"/>
            <a:ext cx="5791821" cy="1133002"/>
          </a:xfrm>
          <a:prstGeom prst="rect">
            <a:avLst/>
          </a:prstGeom>
          <a:blipFill>
            <a:blip r:embed="rId4"/>
            <a:stretch>
              <a:fillRect l="-1684" t="-11828" b="-6182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48140" name="矩形 4"/>
          <p:cNvSpPr>
            <a:spLocks noChangeArrowheads="1"/>
          </p:cNvSpPr>
          <p:nvPr/>
        </p:nvSpPr>
        <p:spPr bwMode="auto">
          <a:xfrm>
            <a:off x="1374775" y="5702300"/>
            <a:ext cx="27987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0,          1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0,          1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ctrTitle"/>
          </p:nvPr>
        </p:nvSpPr>
        <p:spPr>
          <a:xfrm>
            <a:off x="671513" y="309563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两阶段法（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续）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5" name="副标题 2"/>
          <p:cNvSpPr>
            <a:spLocks noGrp="1"/>
          </p:cNvSpPr>
          <p:nvPr>
            <p:ph type="subTitle" idx="1"/>
          </p:nvPr>
        </p:nvSpPr>
        <p:spPr>
          <a:xfrm>
            <a:off x="403225" y="1195388"/>
            <a:ext cx="8337550" cy="4829175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辅助问题必有最优解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设最优值为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种可能：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(1)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原问题无可行解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假如不然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是原问题的可行解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0,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0)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是辅助问题的可行解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矛盾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(2)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在最优解中所有的人工变量都是非基变量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变量都等于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删去人工变量得到是原问题的基本可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(3)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但基变量中含有人工变量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这种情况可以进一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步转化成情况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784E8C-B324-4A04-8B52-592C3BE7A0A6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491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ctrTitle"/>
          </p:nvPr>
        </p:nvSpPr>
        <p:spPr>
          <a:xfrm>
            <a:off x="685800" y="300038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两阶段法（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续）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79" name="副标题 2"/>
          <p:cNvSpPr>
            <a:spLocks noGrp="1"/>
          </p:cNvSpPr>
          <p:nvPr>
            <p:ph type="subTitle" idx="1"/>
          </p:nvPr>
        </p:nvSpPr>
        <p:spPr>
          <a:xfrm>
            <a:off x="649288" y="1354138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所有人工变量都等于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50000"/>
              </a:lnSpc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不出现在其它约束等式中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(a)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若所有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(1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则原问题中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个约束等式不是线性无关的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可以把这个等式删去，从而删去了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(b)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存在某个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可正可负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作换入变量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作换出变量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做基变换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经过基变换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的所有值均不改变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从而新的基本解是可行解且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总之，可以使基变量中的人工变量少一个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且保持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重复进行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最终总能变成情况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815833-81BC-4BD4-9FB7-1E7744EF581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01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01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0183" name="Object 1"/>
          <p:cNvGraphicFramePr>
            <a:graphicFrameLocks noChangeAspect="1"/>
          </p:cNvGraphicFramePr>
          <p:nvPr/>
        </p:nvGraphicFramePr>
        <p:xfrm>
          <a:off x="2484438" y="1773238"/>
          <a:ext cx="364648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Equation" r:id="rId1" imgW="1726565" imgH="533400" progId="Equation.3">
                  <p:embed/>
                </p:oleObj>
              </mc:Choice>
              <mc:Fallback>
                <p:oleObj name="Equation" r:id="rId1" imgW="1726565" imgH="533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773238"/>
                        <a:ext cx="3646487" cy="111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ctrTitle"/>
          </p:nvPr>
        </p:nvSpPr>
        <p:spPr>
          <a:xfrm>
            <a:off x="684213" y="3365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两阶段法（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续）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3" name="副标题 2"/>
          <p:cNvSpPr>
            <a:spLocks noGrp="1"/>
          </p:cNvSpPr>
          <p:nvPr>
            <p:ph type="subTitle" idx="1"/>
          </p:nvPr>
        </p:nvSpPr>
        <p:spPr>
          <a:xfrm>
            <a:off x="681038" y="1412875"/>
            <a:ext cx="7775575" cy="2087563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阶段一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引入人工变量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写出辅助问题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用单纯形法求解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若为情况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则原问题无可行解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若为情况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则进入阶段二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阶段二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删去人工变量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得到原问题的一个基本可行解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以这个解为初始基本可行解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用单纯形法解原问题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E0FB13-07DE-4662-92D8-88E4B42AE03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12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684213" y="3522663"/>
            <a:ext cx="7775575" cy="237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(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用两阶段法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阶段一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辅助问题为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min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s.t.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= 11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= 3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+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+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7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0,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1, 2,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,7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666750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6.10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7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38B293-4E46-4D49-B855-783B0F221DC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222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52229" name="组合 38"/>
          <p:cNvGrpSpPr/>
          <p:nvPr/>
        </p:nvGrpSpPr>
        <p:grpSpPr bwMode="auto">
          <a:xfrm>
            <a:off x="773113" y="1214438"/>
            <a:ext cx="7454900" cy="5143500"/>
            <a:chOff x="773753" y="1214422"/>
            <a:chExt cx="7453618" cy="5143537"/>
          </a:xfrm>
        </p:grpSpPr>
        <p:sp>
          <p:nvSpPr>
            <p:cNvPr id="52230" name="Text Box 8"/>
            <p:cNvSpPr txBox="1">
              <a:spLocks noChangeArrowheads="1"/>
            </p:cNvSpPr>
            <p:nvPr/>
          </p:nvSpPr>
          <p:spPr bwMode="auto">
            <a:xfrm>
              <a:off x="947114" y="1214422"/>
              <a:ext cx="7268224" cy="51435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0       0     0     0    1     1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b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11       1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-2      1     1     0     0     0         11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3      -4       1      2     0    -1     1     0        1.5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-2       0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0     0     0     1          1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-4       6      -1     -3     0     1     0     0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10      3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-2      0     1     0     0    -1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1       0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0     -1    1    -2          1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-2       0      1     0     0     0     1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-1       0      -1      0     0     1     0     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12      3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  0    1    -2     2    -5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0       1       0    0    -1     1    -2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-2       0      1     0     0     0     1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0       0       0      0     0     0     0     1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2231" name="AutoShape 9"/>
            <p:cNvCxnSpPr>
              <a:cxnSpLocks noChangeShapeType="1"/>
            </p:cNvCxnSpPr>
            <p:nvPr/>
          </p:nvCxnSpPr>
          <p:spPr bwMode="auto">
            <a:xfrm>
              <a:off x="773753" y="1285860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2" name="AutoShape 16"/>
            <p:cNvCxnSpPr>
              <a:cxnSpLocks noChangeShapeType="1"/>
            </p:cNvCxnSpPr>
            <p:nvPr/>
          </p:nvCxnSpPr>
          <p:spPr bwMode="auto">
            <a:xfrm rot="5400000">
              <a:off x="4541362" y="3816828"/>
              <a:ext cx="5072098" cy="1016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3" name="AutoShape 9"/>
            <p:cNvCxnSpPr>
              <a:cxnSpLocks noChangeShapeType="1"/>
            </p:cNvCxnSpPr>
            <p:nvPr/>
          </p:nvCxnSpPr>
          <p:spPr bwMode="auto">
            <a:xfrm>
              <a:off x="785786" y="1642415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4" name="AutoShape 9"/>
            <p:cNvCxnSpPr>
              <a:cxnSpLocks noChangeShapeType="1"/>
            </p:cNvCxnSpPr>
            <p:nvPr/>
          </p:nvCxnSpPr>
          <p:spPr bwMode="auto">
            <a:xfrm>
              <a:off x="785786" y="2000240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5" name="AutoShape 9"/>
            <p:cNvCxnSpPr>
              <a:cxnSpLocks noChangeShapeType="1"/>
            </p:cNvCxnSpPr>
            <p:nvPr/>
          </p:nvCxnSpPr>
          <p:spPr bwMode="auto">
            <a:xfrm>
              <a:off x="785786" y="3071810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6" name="AutoShape 9"/>
            <p:cNvCxnSpPr>
              <a:cxnSpLocks noChangeShapeType="1"/>
            </p:cNvCxnSpPr>
            <p:nvPr/>
          </p:nvCxnSpPr>
          <p:spPr bwMode="auto">
            <a:xfrm>
              <a:off x="785786" y="3428365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7" name="AutoShape 9"/>
            <p:cNvCxnSpPr>
              <a:cxnSpLocks noChangeShapeType="1"/>
            </p:cNvCxnSpPr>
            <p:nvPr/>
          </p:nvCxnSpPr>
          <p:spPr bwMode="auto">
            <a:xfrm>
              <a:off x="785786" y="4571373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8" name="AutoShape 9"/>
            <p:cNvCxnSpPr>
              <a:cxnSpLocks noChangeShapeType="1"/>
            </p:cNvCxnSpPr>
            <p:nvPr/>
          </p:nvCxnSpPr>
          <p:spPr bwMode="auto">
            <a:xfrm>
              <a:off x="785786" y="4928563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39" name="AutoShape 9"/>
            <p:cNvCxnSpPr>
              <a:cxnSpLocks noChangeShapeType="1"/>
            </p:cNvCxnSpPr>
            <p:nvPr/>
          </p:nvCxnSpPr>
          <p:spPr bwMode="auto">
            <a:xfrm>
              <a:off x="785786" y="6071571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0" name="AutoShape 9"/>
            <p:cNvCxnSpPr>
              <a:cxnSpLocks noChangeShapeType="1"/>
            </p:cNvCxnSpPr>
            <p:nvPr/>
          </p:nvCxnSpPr>
          <p:spPr bwMode="auto">
            <a:xfrm>
              <a:off x="785786" y="6357323"/>
              <a:ext cx="744158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1" name="AutoShape 16"/>
            <p:cNvCxnSpPr>
              <a:cxnSpLocks noChangeShapeType="1"/>
            </p:cNvCxnSpPr>
            <p:nvPr/>
          </p:nvCxnSpPr>
          <p:spPr bwMode="auto">
            <a:xfrm rot="5400000">
              <a:off x="326520" y="3816828"/>
              <a:ext cx="5072098" cy="1016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2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-142909" y="4000503"/>
              <a:ext cx="471490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243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-857287" y="4000504"/>
              <a:ext cx="471490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6.10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1" name="副标题 2"/>
          <p:cNvSpPr>
            <a:spLocks noGrp="1"/>
          </p:cNvSpPr>
          <p:nvPr>
            <p:ph type="subTitle" idx="1"/>
          </p:nvPr>
        </p:nvSpPr>
        <p:spPr>
          <a:xfrm>
            <a:off x="714375" y="1571625"/>
            <a:ext cx="7775575" cy="873125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阶段二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FABFB7-6377-4415-ACF1-0A5645346746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325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53254" name="组合 32"/>
          <p:cNvGrpSpPr/>
          <p:nvPr/>
        </p:nvGrpSpPr>
        <p:grpSpPr bwMode="auto">
          <a:xfrm>
            <a:off x="714375" y="2071688"/>
            <a:ext cx="6929438" cy="3722687"/>
            <a:chOff x="714348" y="1492252"/>
            <a:chExt cx="6929486" cy="3722699"/>
          </a:xfrm>
        </p:grpSpPr>
        <p:sp>
          <p:nvSpPr>
            <p:cNvPr id="53256" name="Text Box 8"/>
            <p:cNvSpPr txBox="1">
              <a:spLocks noChangeArrowheads="1"/>
            </p:cNvSpPr>
            <p:nvPr/>
          </p:nvSpPr>
          <p:spPr bwMode="auto">
            <a:xfrm>
              <a:off x="928662" y="1492252"/>
              <a:ext cx="6572296" cy="37226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-3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1       1      0        0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b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12 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0       0      1       -2           4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       0       1       0      0       -1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      -2       0       1      0        0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-2       -1       0       0      0        1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4         1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0       0    1/3    -2/3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       0       1       0      0       -1 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9        0       0       1    2/3    -4/3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        0       0       0     1/3     1/3  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257" name="AutoShape 9"/>
            <p:cNvCxnSpPr>
              <a:cxnSpLocks noChangeShapeType="1"/>
            </p:cNvCxnSpPr>
            <p:nvPr/>
          </p:nvCxnSpPr>
          <p:spPr bwMode="auto">
            <a:xfrm>
              <a:off x="714348" y="1500174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58" name="AutoShape 15"/>
            <p:cNvCxnSpPr>
              <a:cxnSpLocks noChangeShapeType="1"/>
            </p:cNvCxnSpPr>
            <p:nvPr/>
          </p:nvCxnSpPr>
          <p:spPr bwMode="auto">
            <a:xfrm rot="5400000">
              <a:off x="-178626" y="3536157"/>
              <a:ext cx="3286148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59" name="AutoShape 9"/>
            <p:cNvCxnSpPr>
              <a:cxnSpLocks noChangeShapeType="1"/>
            </p:cNvCxnSpPr>
            <p:nvPr/>
          </p:nvCxnSpPr>
          <p:spPr bwMode="auto">
            <a:xfrm>
              <a:off x="714348" y="1927214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0" name="AutoShape 9"/>
            <p:cNvCxnSpPr>
              <a:cxnSpLocks noChangeShapeType="1"/>
            </p:cNvCxnSpPr>
            <p:nvPr/>
          </p:nvCxnSpPr>
          <p:spPr bwMode="auto">
            <a:xfrm>
              <a:off x="714348" y="2284404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1" name="AutoShape 9"/>
            <p:cNvCxnSpPr>
              <a:cxnSpLocks noChangeShapeType="1"/>
            </p:cNvCxnSpPr>
            <p:nvPr/>
          </p:nvCxnSpPr>
          <p:spPr bwMode="auto">
            <a:xfrm>
              <a:off x="714348" y="3357562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2" name="AutoShape 9"/>
            <p:cNvCxnSpPr>
              <a:cxnSpLocks noChangeShapeType="1"/>
            </p:cNvCxnSpPr>
            <p:nvPr/>
          </p:nvCxnSpPr>
          <p:spPr bwMode="auto">
            <a:xfrm>
              <a:off x="714348" y="3713164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3" name="AutoShape 9"/>
            <p:cNvCxnSpPr>
              <a:cxnSpLocks noChangeShapeType="1"/>
            </p:cNvCxnSpPr>
            <p:nvPr/>
          </p:nvCxnSpPr>
          <p:spPr bwMode="auto">
            <a:xfrm>
              <a:off x="714348" y="4856172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4" name="AutoShape 9"/>
            <p:cNvCxnSpPr>
              <a:cxnSpLocks noChangeShapeType="1"/>
            </p:cNvCxnSpPr>
            <p:nvPr/>
          </p:nvCxnSpPr>
          <p:spPr bwMode="auto">
            <a:xfrm>
              <a:off x="714348" y="5213362"/>
              <a:ext cx="692948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5" name="AutoShape 15"/>
            <p:cNvCxnSpPr>
              <a:cxnSpLocks noChangeShapeType="1"/>
            </p:cNvCxnSpPr>
            <p:nvPr/>
          </p:nvCxnSpPr>
          <p:spPr bwMode="auto">
            <a:xfrm rot="5400000">
              <a:off x="464314" y="3536157"/>
              <a:ext cx="3286148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6" name="AutoShape 15"/>
            <p:cNvCxnSpPr>
              <a:cxnSpLocks noChangeShapeType="1"/>
            </p:cNvCxnSpPr>
            <p:nvPr/>
          </p:nvCxnSpPr>
          <p:spPr bwMode="auto">
            <a:xfrm rot="5400000">
              <a:off x="964381" y="3321844"/>
              <a:ext cx="3714777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67" name="AutoShape 15"/>
            <p:cNvCxnSpPr>
              <a:cxnSpLocks noChangeShapeType="1"/>
            </p:cNvCxnSpPr>
            <p:nvPr/>
          </p:nvCxnSpPr>
          <p:spPr bwMode="auto">
            <a:xfrm rot="5400000">
              <a:off x="4607718" y="3321844"/>
              <a:ext cx="3714777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" name="副标题 2"/>
          <p:cNvSpPr txBox="1"/>
          <p:nvPr/>
        </p:nvSpPr>
        <p:spPr bwMode="auto">
          <a:xfrm>
            <a:off x="642938" y="5984875"/>
            <a:ext cx="7775575" cy="51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最优解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*=4,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*=1,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*=9,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最优值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*=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6.11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2592387" cy="1873250"/>
          </a:xfrm>
        </p:spPr>
        <p:txBody>
          <a:bodyPr/>
          <a:lstStyle/>
          <a:p>
            <a:pPr algn="l"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3C9D13-9CAC-4226-AC93-E2EA06598BC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427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3851275" y="1357313"/>
            <a:ext cx="4530725" cy="2500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标准形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min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= 4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=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4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714375" y="3857625"/>
            <a:ext cx="4530725" cy="2500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阶段一    辅助问题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min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= 4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4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 =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0,   1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5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6.11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5" name="副标题 2"/>
          <p:cNvSpPr>
            <a:spLocks noGrp="1"/>
          </p:cNvSpPr>
          <p:nvPr>
            <p:ph type="subTitle" idx="1"/>
          </p:nvPr>
        </p:nvSpPr>
        <p:spPr>
          <a:xfrm>
            <a:off x="684213" y="5357813"/>
            <a:ext cx="4887912" cy="515937"/>
          </a:xfrm>
        </p:spPr>
        <p:txBody>
          <a:bodyPr/>
          <a:lstStyle/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*=1 &gt; 0,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原问题没有可行解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CA22B2-0898-4DC5-9D6D-D7CA9BB28253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53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55302" name="组合 32"/>
          <p:cNvGrpSpPr/>
          <p:nvPr/>
        </p:nvGrpSpPr>
        <p:grpSpPr bwMode="auto">
          <a:xfrm>
            <a:off x="714375" y="1643063"/>
            <a:ext cx="6715125" cy="3006725"/>
            <a:chOff x="714348" y="1643050"/>
            <a:chExt cx="6715172" cy="3006903"/>
          </a:xfrm>
        </p:grpSpPr>
        <p:sp>
          <p:nvSpPr>
            <p:cNvPr id="55303" name="Text Box 8"/>
            <p:cNvSpPr txBox="1">
              <a:spLocks noChangeArrowheads="1"/>
            </p:cNvSpPr>
            <p:nvPr/>
          </p:nvSpPr>
          <p:spPr bwMode="auto">
            <a:xfrm>
              <a:off x="1000100" y="1643050"/>
              <a:ext cx="6072230" cy="30003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0     0      0      1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b 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4  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1      1      0      0          2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3         1     -1      0     -1      1         3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-3        -1      1      0      1      0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2         1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1/2   1/2    0      0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  0    -3/2  -1/2  -1      1     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-1         0     3/2   1/2    1      0  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304" name="AutoShape 9"/>
            <p:cNvCxnSpPr>
              <a:cxnSpLocks noChangeShapeType="1"/>
            </p:cNvCxnSpPr>
            <p:nvPr/>
          </p:nvCxnSpPr>
          <p:spPr bwMode="auto">
            <a:xfrm>
              <a:off x="714348" y="1714488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05" name="AutoShape 13"/>
            <p:cNvCxnSpPr>
              <a:cxnSpLocks noChangeShapeType="1"/>
            </p:cNvCxnSpPr>
            <p:nvPr/>
          </p:nvCxnSpPr>
          <p:spPr bwMode="auto">
            <a:xfrm rot="5400000">
              <a:off x="246749" y="3318589"/>
              <a:ext cx="2578275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06" name="AutoShape 9"/>
            <p:cNvCxnSpPr>
              <a:cxnSpLocks noChangeShapeType="1"/>
            </p:cNvCxnSpPr>
            <p:nvPr/>
          </p:nvCxnSpPr>
          <p:spPr bwMode="auto">
            <a:xfrm>
              <a:off x="714348" y="2070090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07" name="AutoShape 9"/>
            <p:cNvCxnSpPr>
              <a:cxnSpLocks noChangeShapeType="1"/>
            </p:cNvCxnSpPr>
            <p:nvPr/>
          </p:nvCxnSpPr>
          <p:spPr bwMode="auto">
            <a:xfrm>
              <a:off x="714348" y="2427280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08" name="AutoShape 9"/>
            <p:cNvCxnSpPr>
              <a:cxnSpLocks noChangeShapeType="1"/>
            </p:cNvCxnSpPr>
            <p:nvPr/>
          </p:nvCxnSpPr>
          <p:spPr bwMode="auto">
            <a:xfrm>
              <a:off x="714348" y="3213098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09" name="AutoShape 9"/>
            <p:cNvCxnSpPr>
              <a:cxnSpLocks noChangeShapeType="1"/>
            </p:cNvCxnSpPr>
            <p:nvPr/>
          </p:nvCxnSpPr>
          <p:spPr bwMode="auto">
            <a:xfrm>
              <a:off x="714348" y="3498850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0" name="AutoShape 9"/>
            <p:cNvCxnSpPr>
              <a:cxnSpLocks noChangeShapeType="1"/>
            </p:cNvCxnSpPr>
            <p:nvPr/>
          </p:nvCxnSpPr>
          <p:spPr bwMode="auto">
            <a:xfrm>
              <a:off x="714348" y="4284668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1" name="AutoShape 9"/>
            <p:cNvCxnSpPr>
              <a:cxnSpLocks noChangeShapeType="1"/>
            </p:cNvCxnSpPr>
            <p:nvPr/>
          </p:nvCxnSpPr>
          <p:spPr bwMode="auto">
            <a:xfrm>
              <a:off x="714348" y="4641858"/>
              <a:ext cx="671517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2" name="AutoShape 13"/>
            <p:cNvCxnSpPr>
              <a:cxnSpLocks noChangeShapeType="1"/>
            </p:cNvCxnSpPr>
            <p:nvPr/>
          </p:nvCxnSpPr>
          <p:spPr bwMode="auto">
            <a:xfrm rot="5400000">
              <a:off x="889690" y="3325096"/>
              <a:ext cx="2578275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3" name="AutoShape 13"/>
            <p:cNvCxnSpPr>
              <a:cxnSpLocks noChangeShapeType="1"/>
            </p:cNvCxnSpPr>
            <p:nvPr/>
          </p:nvCxnSpPr>
          <p:spPr bwMode="auto">
            <a:xfrm rot="5400000">
              <a:off x="1428728" y="3143248"/>
              <a:ext cx="2928958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14" name="AutoShape 13"/>
            <p:cNvCxnSpPr>
              <a:cxnSpLocks noChangeShapeType="1"/>
            </p:cNvCxnSpPr>
            <p:nvPr/>
          </p:nvCxnSpPr>
          <p:spPr bwMode="auto">
            <a:xfrm rot="5400000">
              <a:off x="4786314" y="3143248"/>
              <a:ext cx="2928958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ctrTitle"/>
          </p:nvPr>
        </p:nvSpPr>
        <p:spPr>
          <a:xfrm>
            <a:off x="685800" y="309563"/>
            <a:ext cx="7772400" cy="865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6.12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3" name="副标题 2"/>
          <p:cNvSpPr>
            <a:spLocks noGrp="1"/>
          </p:cNvSpPr>
          <p:nvPr>
            <p:ph type="subTitle" idx="1"/>
          </p:nvPr>
        </p:nvSpPr>
        <p:spPr>
          <a:xfrm>
            <a:off x="696913" y="1279525"/>
            <a:ext cx="6899275" cy="2230438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+ 6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= 4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D325A2-62AE-403F-AA67-8E54D050E2B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684213" y="3724275"/>
            <a:ext cx="7416800" cy="2643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阶段一   辅助问题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 w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+ 6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= 12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2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      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= 4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3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+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</a:t>
            </a:r>
            <a:r>
              <a:rPr lang="en-US" sz="2400" b="1" i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en-US" sz="2400" b="1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0,  1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 </a:t>
            </a: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 7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666750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6.12 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47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8353F5-5AA6-47D2-8AB0-6370289C1D0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734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57349" name="组合 37"/>
          <p:cNvGrpSpPr/>
          <p:nvPr/>
        </p:nvGrpSpPr>
        <p:grpSpPr bwMode="auto">
          <a:xfrm>
            <a:off x="857250" y="1214438"/>
            <a:ext cx="7643813" cy="5214937"/>
            <a:chOff x="714348" y="1214422"/>
            <a:chExt cx="7643866" cy="5214974"/>
          </a:xfrm>
        </p:grpSpPr>
        <p:sp>
          <p:nvSpPr>
            <p:cNvPr id="57350" name="Text Box 8"/>
            <p:cNvSpPr txBox="1">
              <a:spLocks noChangeArrowheads="1"/>
            </p:cNvSpPr>
            <p:nvPr/>
          </p:nvSpPr>
          <p:spPr bwMode="auto">
            <a:xfrm>
              <a:off x="857224" y="1214422"/>
              <a:ext cx="7500990" cy="52149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0      0       0      1      1      1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b 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12        3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6      2      -1      1      0      0         4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4         2      0      1       0      0      1      0         2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-6      1       1      0      0      1         0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-16        -8      0    -4        0      0      0      0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12         0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12     1      -2      1      0     -1  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4         0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1/3   -2/3     0      1   -2/3        1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    1     -2    1/3    1/3     0      0    1/3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-16         0   -16   -4/3    8/3     0      0    8/3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 0       0       1    -3      1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        0      1   1/12   -1/6    0    1/4   -1/6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         1      0    1/2      0       0    1/2    0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0         0      0      0        0      0      4      0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351" name="AutoShape 9"/>
            <p:cNvCxnSpPr>
              <a:cxnSpLocks noChangeShapeType="1"/>
            </p:cNvCxnSpPr>
            <p:nvPr/>
          </p:nvCxnSpPr>
          <p:spPr bwMode="auto">
            <a:xfrm>
              <a:off x="714348" y="1285225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2" name="AutoShape 13"/>
            <p:cNvCxnSpPr>
              <a:cxnSpLocks noChangeShapeType="1"/>
            </p:cNvCxnSpPr>
            <p:nvPr/>
          </p:nvCxnSpPr>
          <p:spPr bwMode="auto">
            <a:xfrm rot="5400000">
              <a:off x="-992543" y="3992883"/>
              <a:ext cx="4714908" cy="1524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3" name="AutoShape 9"/>
            <p:cNvCxnSpPr>
              <a:cxnSpLocks noChangeShapeType="1"/>
            </p:cNvCxnSpPr>
            <p:nvPr/>
          </p:nvCxnSpPr>
          <p:spPr bwMode="auto">
            <a:xfrm>
              <a:off x="714348" y="1642415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4" name="AutoShape 9"/>
            <p:cNvCxnSpPr>
              <a:cxnSpLocks noChangeShapeType="1"/>
            </p:cNvCxnSpPr>
            <p:nvPr/>
          </p:nvCxnSpPr>
          <p:spPr bwMode="auto">
            <a:xfrm>
              <a:off x="714348" y="1999605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5" name="AutoShape 9"/>
            <p:cNvCxnSpPr>
              <a:cxnSpLocks noChangeShapeType="1"/>
            </p:cNvCxnSpPr>
            <p:nvPr/>
          </p:nvCxnSpPr>
          <p:spPr bwMode="auto">
            <a:xfrm>
              <a:off x="714348" y="2996949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6" name="AutoShape 9"/>
            <p:cNvCxnSpPr>
              <a:cxnSpLocks noChangeShapeType="1"/>
            </p:cNvCxnSpPr>
            <p:nvPr/>
          </p:nvCxnSpPr>
          <p:spPr bwMode="auto">
            <a:xfrm>
              <a:off x="714348" y="3428365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7" name="AutoShape 9"/>
            <p:cNvCxnSpPr>
              <a:cxnSpLocks noChangeShapeType="1"/>
            </p:cNvCxnSpPr>
            <p:nvPr/>
          </p:nvCxnSpPr>
          <p:spPr bwMode="auto">
            <a:xfrm>
              <a:off x="714348" y="4571373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8" name="AutoShape 9"/>
            <p:cNvCxnSpPr>
              <a:cxnSpLocks noChangeShapeType="1"/>
            </p:cNvCxnSpPr>
            <p:nvPr/>
          </p:nvCxnSpPr>
          <p:spPr bwMode="auto">
            <a:xfrm>
              <a:off x="714348" y="4928563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9" name="AutoShape 9"/>
            <p:cNvCxnSpPr>
              <a:cxnSpLocks noChangeShapeType="1"/>
            </p:cNvCxnSpPr>
            <p:nvPr/>
          </p:nvCxnSpPr>
          <p:spPr bwMode="auto">
            <a:xfrm>
              <a:off x="714348" y="6000768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0" name="AutoShape 9"/>
            <p:cNvCxnSpPr>
              <a:cxnSpLocks noChangeShapeType="1"/>
            </p:cNvCxnSpPr>
            <p:nvPr/>
          </p:nvCxnSpPr>
          <p:spPr bwMode="auto">
            <a:xfrm>
              <a:off x="714348" y="6357323"/>
              <a:ext cx="742955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1" name="AutoShape 13"/>
            <p:cNvCxnSpPr>
              <a:cxnSpLocks noChangeShapeType="1"/>
            </p:cNvCxnSpPr>
            <p:nvPr/>
          </p:nvCxnSpPr>
          <p:spPr bwMode="auto">
            <a:xfrm rot="5400000">
              <a:off x="-349601" y="3992883"/>
              <a:ext cx="4714908" cy="1524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2" name="AutoShape 13"/>
            <p:cNvCxnSpPr>
              <a:cxnSpLocks noChangeShapeType="1"/>
            </p:cNvCxnSpPr>
            <p:nvPr/>
          </p:nvCxnSpPr>
          <p:spPr bwMode="auto">
            <a:xfrm rot="16200000" flipH="1">
              <a:off x="321438" y="3821908"/>
              <a:ext cx="507209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3" name="AutoShape 13"/>
            <p:cNvCxnSpPr>
              <a:cxnSpLocks noChangeShapeType="1"/>
            </p:cNvCxnSpPr>
            <p:nvPr/>
          </p:nvCxnSpPr>
          <p:spPr bwMode="auto">
            <a:xfrm>
              <a:off x="7453482" y="1285227"/>
              <a:ext cx="72007" cy="507114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ctrTitle"/>
          </p:nvPr>
        </p:nvSpPr>
        <p:spPr>
          <a:xfrm>
            <a:off x="685800" y="404813"/>
            <a:ext cx="7772400" cy="666750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6.12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1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59288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AE13A0-093C-4D04-890E-BE3119009F1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8372" name="Rectangle 7"/>
          <p:cNvSpPr>
            <a:spLocks noChangeArrowheads="1"/>
          </p:cNvSpPr>
          <p:nvPr/>
        </p:nvSpPr>
        <p:spPr bwMode="auto">
          <a:xfrm>
            <a:off x="0" y="236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58373" name="组合 42"/>
          <p:cNvGrpSpPr/>
          <p:nvPr/>
        </p:nvGrpSpPr>
        <p:grpSpPr bwMode="auto">
          <a:xfrm>
            <a:off x="1285875" y="2879725"/>
            <a:ext cx="6357938" cy="3071813"/>
            <a:chOff x="857224" y="1214422"/>
            <a:chExt cx="6357982" cy="3071834"/>
          </a:xfrm>
        </p:grpSpPr>
        <p:sp>
          <p:nvSpPr>
            <p:cNvPr id="58376" name="Text Box 8"/>
            <p:cNvSpPr txBox="1">
              <a:spLocks noChangeArrowheads="1"/>
            </p:cNvSpPr>
            <p:nvPr/>
          </p:nvSpPr>
          <p:spPr bwMode="auto">
            <a:xfrm>
              <a:off x="1000100" y="1214422"/>
              <a:ext cx="6215106" cy="30718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3       -2       0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b 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3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         0        1     1/12  -1/16         12 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2         1        0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1/2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0             4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-5         0        0   -11/4    1/2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3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2/3      -1/6      1       0      -1/6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-2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4         2        0       1        0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6       11/2     0       0       1/2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377" name="AutoShape 9"/>
            <p:cNvCxnSpPr>
              <a:cxnSpLocks noChangeShapeType="1"/>
            </p:cNvCxnSpPr>
            <p:nvPr/>
          </p:nvCxnSpPr>
          <p:spPr bwMode="auto">
            <a:xfrm>
              <a:off x="857224" y="1285225"/>
              <a:ext cx="635798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78" name="AutoShape 13"/>
            <p:cNvCxnSpPr>
              <a:cxnSpLocks noChangeShapeType="1"/>
            </p:cNvCxnSpPr>
            <p:nvPr/>
          </p:nvCxnSpPr>
          <p:spPr bwMode="auto">
            <a:xfrm rot="5400000">
              <a:off x="221903" y="2921313"/>
              <a:ext cx="2571768" cy="1524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79" name="AutoShape 9"/>
            <p:cNvCxnSpPr>
              <a:cxnSpLocks noChangeShapeType="1"/>
            </p:cNvCxnSpPr>
            <p:nvPr/>
          </p:nvCxnSpPr>
          <p:spPr bwMode="auto">
            <a:xfrm>
              <a:off x="857224" y="2714620"/>
              <a:ext cx="628654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0" name="AutoShape 9"/>
            <p:cNvCxnSpPr>
              <a:cxnSpLocks noChangeShapeType="1"/>
            </p:cNvCxnSpPr>
            <p:nvPr/>
          </p:nvCxnSpPr>
          <p:spPr bwMode="auto">
            <a:xfrm>
              <a:off x="857224" y="3071175"/>
              <a:ext cx="635798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1" name="AutoShape 9"/>
            <p:cNvCxnSpPr>
              <a:cxnSpLocks noChangeShapeType="1"/>
            </p:cNvCxnSpPr>
            <p:nvPr/>
          </p:nvCxnSpPr>
          <p:spPr bwMode="auto">
            <a:xfrm>
              <a:off x="857224" y="1643050"/>
              <a:ext cx="628654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2" name="AutoShape 9"/>
            <p:cNvCxnSpPr>
              <a:cxnSpLocks noChangeShapeType="1"/>
            </p:cNvCxnSpPr>
            <p:nvPr/>
          </p:nvCxnSpPr>
          <p:spPr bwMode="auto">
            <a:xfrm>
              <a:off x="857224" y="1999605"/>
              <a:ext cx="635798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3" name="AutoShape 9"/>
            <p:cNvCxnSpPr>
              <a:cxnSpLocks noChangeShapeType="1"/>
            </p:cNvCxnSpPr>
            <p:nvPr/>
          </p:nvCxnSpPr>
          <p:spPr bwMode="auto">
            <a:xfrm>
              <a:off x="857224" y="3857628"/>
              <a:ext cx="628654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4" name="AutoShape 9"/>
            <p:cNvCxnSpPr>
              <a:cxnSpLocks noChangeShapeType="1"/>
            </p:cNvCxnSpPr>
            <p:nvPr/>
          </p:nvCxnSpPr>
          <p:spPr bwMode="auto">
            <a:xfrm>
              <a:off x="857224" y="4214183"/>
              <a:ext cx="6357982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5" name="AutoShape 13"/>
            <p:cNvCxnSpPr>
              <a:cxnSpLocks noChangeShapeType="1"/>
            </p:cNvCxnSpPr>
            <p:nvPr/>
          </p:nvCxnSpPr>
          <p:spPr bwMode="auto">
            <a:xfrm rot="5400000">
              <a:off x="936283" y="2921313"/>
              <a:ext cx="2571768" cy="15242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6" name="AutoShape 13"/>
            <p:cNvCxnSpPr>
              <a:cxnSpLocks noChangeShapeType="1"/>
            </p:cNvCxnSpPr>
            <p:nvPr/>
          </p:nvCxnSpPr>
          <p:spPr bwMode="auto">
            <a:xfrm rot="16200000" flipH="1">
              <a:off x="1464446" y="2750338"/>
              <a:ext cx="292895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87" name="AutoShape 13"/>
            <p:cNvCxnSpPr>
              <a:cxnSpLocks noChangeShapeType="1"/>
            </p:cNvCxnSpPr>
            <p:nvPr/>
          </p:nvCxnSpPr>
          <p:spPr bwMode="auto">
            <a:xfrm rot="16200000" flipH="1">
              <a:off x="4750594" y="2750339"/>
              <a:ext cx="292895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8374" name="副标题 2"/>
          <p:cNvSpPr>
            <a:spLocks noGrp="1"/>
          </p:cNvSpPr>
          <p:nvPr>
            <p:ph type="subTitle" idx="1"/>
          </p:nvPr>
        </p:nvSpPr>
        <p:spPr>
          <a:xfrm>
            <a:off x="611188" y="1268413"/>
            <a:ext cx="8002587" cy="1301750"/>
          </a:xfrm>
        </p:spPr>
        <p:txBody>
          <a:bodyPr/>
          <a:lstStyle/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*=0,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是基变量且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必为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原规划中第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个约束等式是另两个的线性组合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可以删去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阶段二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副标题 2"/>
          <p:cNvSpPr txBox="1"/>
          <p:nvPr/>
        </p:nvSpPr>
        <p:spPr bwMode="auto">
          <a:xfrm>
            <a:off x="725488" y="6007100"/>
            <a:ext cx="7775575" cy="51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最优解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*= 0,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*= 2/3,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*= 4,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*= 0,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最优值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z*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/>
              </a:rPr>
              <a:t>6.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6.13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5" name="副标题 2"/>
          <p:cNvSpPr>
            <a:spLocks noGrp="1"/>
          </p:cNvSpPr>
          <p:nvPr>
            <p:ph type="subTitle" idx="1"/>
          </p:nvPr>
        </p:nvSpPr>
        <p:spPr>
          <a:xfrm>
            <a:off x="911225" y="1817687"/>
            <a:ext cx="7775575" cy="2516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求解线性规划：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6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+ 3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+ 4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+ 3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04F09D-4174-4280-98C1-3D71B54EF86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5939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9398" name="Rectangle 11"/>
          <p:cNvSpPr>
            <a:spLocks noChangeArrowheads="1"/>
          </p:cNvSpPr>
          <p:nvPr/>
        </p:nvSpPr>
        <p:spPr bwMode="auto">
          <a:xfrm>
            <a:off x="5930900" y="3905250"/>
            <a:ext cx="3355975" cy="1739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6.13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19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51593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阶段一    引入人工变量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2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580056-DE55-4B90-808A-498E88B96B62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042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60422" name="组合 39"/>
          <p:cNvGrpSpPr/>
          <p:nvPr/>
        </p:nvGrpSpPr>
        <p:grpSpPr bwMode="auto">
          <a:xfrm>
            <a:off x="785813" y="2071688"/>
            <a:ext cx="7786687" cy="3786187"/>
            <a:chOff x="785786" y="2071678"/>
            <a:chExt cx="7786742" cy="3786214"/>
          </a:xfrm>
        </p:grpSpPr>
        <p:sp>
          <p:nvSpPr>
            <p:cNvPr id="60423" name="Text Box 8"/>
            <p:cNvSpPr txBox="1">
              <a:spLocks noChangeArrowheads="1"/>
            </p:cNvSpPr>
            <p:nvPr/>
          </p:nvSpPr>
          <p:spPr bwMode="auto">
            <a:xfrm>
              <a:off x="857224" y="2071678"/>
              <a:ext cx="7715304" cy="37862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0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0        0      0      1      1       1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b 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12         6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3      -4      3       1      0       0         4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6         0      -1       0      3       0      1       0         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    -6       0       4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0      0       1         0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-18         0      -2       0     -9       0      0       0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12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3      -8      0       1      0      -1  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6         6      -1      -4      0       0      1      -1         1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    -2       0     4/3     1       0      0      1/3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-18      -18      -2     12      0       0      0       3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424" name="AutoShape 9"/>
            <p:cNvCxnSpPr>
              <a:cxnSpLocks noChangeShapeType="1"/>
            </p:cNvCxnSpPr>
            <p:nvPr/>
          </p:nvCxnSpPr>
          <p:spPr bwMode="auto">
            <a:xfrm>
              <a:off x="785786" y="2143116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25" name="AutoShape 15"/>
            <p:cNvCxnSpPr>
              <a:cxnSpLocks noChangeShapeType="1"/>
            </p:cNvCxnSpPr>
            <p:nvPr/>
          </p:nvCxnSpPr>
          <p:spPr bwMode="auto">
            <a:xfrm rot="5400000">
              <a:off x="-214345" y="4143380"/>
              <a:ext cx="328614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26" name="AutoShape 9"/>
            <p:cNvCxnSpPr>
              <a:cxnSpLocks noChangeShapeType="1"/>
            </p:cNvCxnSpPr>
            <p:nvPr/>
          </p:nvCxnSpPr>
          <p:spPr bwMode="auto">
            <a:xfrm>
              <a:off x="785786" y="2498718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27" name="AutoShape 9"/>
            <p:cNvCxnSpPr>
              <a:cxnSpLocks noChangeShapeType="1"/>
            </p:cNvCxnSpPr>
            <p:nvPr/>
          </p:nvCxnSpPr>
          <p:spPr bwMode="auto">
            <a:xfrm>
              <a:off x="785786" y="2857496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28" name="AutoShape 9"/>
            <p:cNvCxnSpPr>
              <a:cxnSpLocks noChangeShapeType="1"/>
            </p:cNvCxnSpPr>
            <p:nvPr/>
          </p:nvCxnSpPr>
          <p:spPr bwMode="auto">
            <a:xfrm>
              <a:off x="785786" y="3927478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29" name="AutoShape 9"/>
            <p:cNvCxnSpPr>
              <a:cxnSpLocks noChangeShapeType="1"/>
            </p:cNvCxnSpPr>
            <p:nvPr/>
          </p:nvCxnSpPr>
          <p:spPr bwMode="auto">
            <a:xfrm>
              <a:off x="785786" y="4284668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0" name="AutoShape 9"/>
            <p:cNvCxnSpPr>
              <a:cxnSpLocks noChangeShapeType="1"/>
            </p:cNvCxnSpPr>
            <p:nvPr/>
          </p:nvCxnSpPr>
          <p:spPr bwMode="auto">
            <a:xfrm>
              <a:off x="785786" y="5427676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1" name="AutoShape 9"/>
            <p:cNvCxnSpPr>
              <a:cxnSpLocks noChangeShapeType="1"/>
            </p:cNvCxnSpPr>
            <p:nvPr/>
          </p:nvCxnSpPr>
          <p:spPr bwMode="auto">
            <a:xfrm>
              <a:off x="785786" y="5784866"/>
              <a:ext cx="7715304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2" name="AutoShape 15"/>
            <p:cNvCxnSpPr>
              <a:cxnSpLocks noChangeShapeType="1"/>
            </p:cNvCxnSpPr>
            <p:nvPr/>
          </p:nvCxnSpPr>
          <p:spPr bwMode="auto">
            <a:xfrm rot="5400000">
              <a:off x="428595" y="4143380"/>
              <a:ext cx="3286148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3" name="AutoShape 15"/>
            <p:cNvCxnSpPr>
              <a:cxnSpLocks noChangeShapeType="1"/>
            </p:cNvCxnSpPr>
            <p:nvPr/>
          </p:nvCxnSpPr>
          <p:spPr bwMode="auto">
            <a:xfrm rot="5400000">
              <a:off x="1035819" y="3964786"/>
              <a:ext cx="3643339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434" name="AutoShape 15"/>
            <p:cNvCxnSpPr>
              <a:cxnSpLocks noChangeShapeType="1"/>
            </p:cNvCxnSpPr>
            <p:nvPr/>
          </p:nvCxnSpPr>
          <p:spPr bwMode="auto">
            <a:xfrm rot="5400000">
              <a:off x="5964246" y="3963992"/>
              <a:ext cx="3643339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6.13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3" name="副标题 2"/>
          <p:cNvSpPr>
            <a:spLocks noGrp="1"/>
          </p:cNvSpPr>
          <p:nvPr>
            <p:ph type="subTitle" idx="1"/>
          </p:nvPr>
        </p:nvSpPr>
        <p:spPr>
          <a:xfrm>
            <a:off x="684213" y="5072063"/>
            <a:ext cx="7775575" cy="857250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在倒数第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个表中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是基变量且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22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为换出变量、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为换入变量作基变量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A9F6B4-3091-49FE-8D0F-FD936D7BFDB6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144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61446" name="组合 36"/>
          <p:cNvGrpSpPr/>
          <p:nvPr/>
        </p:nvGrpSpPr>
        <p:grpSpPr bwMode="auto">
          <a:xfrm>
            <a:off x="428625" y="1428750"/>
            <a:ext cx="8143875" cy="3357563"/>
            <a:chOff x="714348" y="1428737"/>
            <a:chExt cx="8143932" cy="3357586"/>
          </a:xfrm>
        </p:grpSpPr>
        <p:sp>
          <p:nvSpPr>
            <p:cNvPr id="61447" name="Text Box 8"/>
            <p:cNvSpPr txBox="1">
              <a:spLocks noChangeArrowheads="1"/>
            </p:cNvSpPr>
            <p:nvPr/>
          </p:nvSpPr>
          <p:spPr bwMode="auto">
            <a:xfrm>
              <a:off x="857224" y="1428737"/>
              <a:ext cx="8001056" cy="3357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b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1/4    -2/3      0      1/12     0       -1/12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0        0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-5/2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   0      -1/2      1       -1/2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        0      1/2        0       1       1/6      0        1/6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0        0      5/2        0       0       3/2      0        3/2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1        1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0      -2/3      0      1/30   1/10    -2/15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  0        1          0       0       1/5    -2/5      1/5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       0        0          0       1      1/15    1/5      1/15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0       0        0          0       0         1        1         1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448" name="AutoShape 9"/>
            <p:cNvCxnSpPr>
              <a:cxnSpLocks noChangeShapeType="1"/>
            </p:cNvCxnSpPr>
            <p:nvPr/>
          </p:nvCxnSpPr>
          <p:spPr bwMode="auto">
            <a:xfrm>
              <a:off x="714348" y="1500174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49" name="AutoShape 15"/>
            <p:cNvCxnSpPr>
              <a:cxnSpLocks noChangeShapeType="1"/>
            </p:cNvCxnSpPr>
            <p:nvPr/>
          </p:nvCxnSpPr>
          <p:spPr bwMode="auto">
            <a:xfrm rot="5400000">
              <a:off x="-211959" y="3140861"/>
              <a:ext cx="3143272" cy="477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0" name="AutoShape 9"/>
            <p:cNvCxnSpPr>
              <a:cxnSpLocks noChangeShapeType="1"/>
            </p:cNvCxnSpPr>
            <p:nvPr/>
          </p:nvCxnSpPr>
          <p:spPr bwMode="auto">
            <a:xfrm>
              <a:off x="714348" y="1857364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1" name="AutoShape 9"/>
            <p:cNvCxnSpPr>
              <a:cxnSpLocks noChangeShapeType="1"/>
            </p:cNvCxnSpPr>
            <p:nvPr/>
          </p:nvCxnSpPr>
          <p:spPr bwMode="auto">
            <a:xfrm>
              <a:off x="714348" y="2927346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2" name="AutoShape 9"/>
            <p:cNvCxnSpPr>
              <a:cxnSpLocks noChangeShapeType="1"/>
            </p:cNvCxnSpPr>
            <p:nvPr/>
          </p:nvCxnSpPr>
          <p:spPr bwMode="auto">
            <a:xfrm>
              <a:off x="714348" y="3284536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3" name="AutoShape 9"/>
            <p:cNvCxnSpPr>
              <a:cxnSpLocks noChangeShapeType="1"/>
            </p:cNvCxnSpPr>
            <p:nvPr/>
          </p:nvCxnSpPr>
          <p:spPr bwMode="auto">
            <a:xfrm>
              <a:off x="714348" y="4427544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4" name="AutoShape 9"/>
            <p:cNvCxnSpPr>
              <a:cxnSpLocks noChangeShapeType="1"/>
            </p:cNvCxnSpPr>
            <p:nvPr/>
          </p:nvCxnSpPr>
          <p:spPr bwMode="auto">
            <a:xfrm>
              <a:off x="714348" y="4713296"/>
              <a:ext cx="814393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5" name="AutoShape 15"/>
            <p:cNvCxnSpPr>
              <a:cxnSpLocks noChangeShapeType="1"/>
            </p:cNvCxnSpPr>
            <p:nvPr/>
          </p:nvCxnSpPr>
          <p:spPr bwMode="auto">
            <a:xfrm rot="5400000">
              <a:off x="430983" y="3140861"/>
              <a:ext cx="3143272" cy="477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6" name="AutoShape 15"/>
            <p:cNvCxnSpPr>
              <a:cxnSpLocks noChangeShapeType="1"/>
            </p:cNvCxnSpPr>
            <p:nvPr/>
          </p:nvCxnSpPr>
          <p:spPr bwMode="auto">
            <a:xfrm rot="5400000">
              <a:off x="997712" y="3140861"/>
              <a:ext cx="3143272" cy="477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457" name="AutoShape 15"/>
            <p:cNvCxnSpPr>
              <a:cxnSpLocks noChangeShapeType="1"/>
            </p:cNvCxnSpPr>
            <p:nvPr/>
          </p:nvCxnSpPr>
          <p:spPr bwMode="auto">
            <a:xfrm rot="5400000">
              <a:off x="6712753" y="3140861"/>
              <a:ext cx="3143272" cy="477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6.13 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39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659312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阶段二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最优解 </a:t>
            </a:r>
            <a:r>
              <a:rPr lang="zh-CN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*= 1,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* = 0,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* = 0, 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* = 2,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最优值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z*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=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1.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3ED0D0-BB5B-4AFA-9D8A-31B8C10E0FBF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246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62470" name="组合 28"/>
          <p:cNvGrpSpPr/>
          <p:nvPr/>
        </p:nvGrpSpPr>
        <p:grpSpPr bwMode="auto">
          <a:xfrm>
            <a:off x="1389063" y="2000250"/>
            <a:ext cx="6469062" cy="2286000"/>
            <a:chOff x="694687" y="2214554"/>
            <a:chExt cx="6468742" cy="2286016"/>
          </a:xfrm>
        </p:grpSpPr>
        <p:sp>
          <p:nvSpPr>
            <p:cNvPr id="62471" name="Text Box 8"/>
            <p:cNvSpPr txBox="1">
              <a:spLocks noChangeArrowheads="1"/>
            </p:cNvSpPr>
            <p:nvPr/>
          </p:nvSpPr>
          <p:spPr bwMode="auto">
            <a:xfrm>
              <a:off x="1000101" y="2214554"/>
              <a:ext cx="5857916" cy="22860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1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        1       -1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b  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1         1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0     -2/3      0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0         0       1        0        0   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-1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2         0       0        0       1    </a:t>
              </a:r>
              <a:endPara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         0       0      2/3      0    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472" name="AutoShape 9"/>
            <p:cNvCxnSpPr>
              <a:cxnSpLocks noChangeShapeType="1"/>
            </p:cNvCxnSpPr>
            <p:nvPr/>
          </p:nvCxnSpPr>
          <p:spPr bwMode="auto">
            <a:xfrm>
              <a:off x="694687" y="2285357"/>
              <a:ext cx="6449081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3" name="AutoShape 15"/>
            <p:cNvCxnSpPr>
              <a:cxnSpLocks noChangeShapeType="1"/>
            </p:cNvCxnSpPr>
            <p:nvPr/>
          </p:nvCxnSpPr>
          <p:spPr bwMode="auto">
            <a:xfrm rot="5400000">
              <a:off x="678629" y="3536157"/>
              <a:ext cx="178595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4" name="AutoShape 9"/>
            <p:cNvCxnSpPr>
              <a:cxnSpLocks noChangeShapeType="1"/>
            </p:cNvCxnSpPr>
            <p:nvPr/>
          </p:nvCxnSpPr>
          <p:spPr bwMode="auto">
            <a:xfrm>
              <a:off x="714348" y="2642547"/>
              <a:ext cx="6449081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5" name="AutoShape 9"/>
            <p:cNvCxnSpPr>
              <a:cxnSpLocks noChangeShapeType="1"/>
            </p:cNvCxnSpPr>
            <p:nvPr/>
          </p:nvCxnSpPr>
          <p:spPr bwMode="auto">
            <a:xfrm>
              <a:off x="714348" y="4429132"/>
              <a:ext cx="6449081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6" name="AutoShape 9"/>
            <p:cNvCxnSpPr>
              <a:cxnSpLocks noChangeShapeType="1"/>
            </p:cNvCxnSpPr>
            <p:nvPr/>
          </p:nvCxnSpPr>
          <p:spPr bwMode="auto">
            <a:xfrm>
              <a:off x="714348" y="4071942"/>
              <a:ext cx="6449081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7" name="AutoShape 15"/>
            <p:cNvCxnSpPr>
              <a:cxnSpLocks noChangeShapeType="1"/>
            </p:cNvCxnSpPr>
            <p:nvPr/>
          </p:nvCxnSpPr>
          <p:spPr bwMode="auto">
            <a:xfrm rot="5400000">
              <a:off x="1320777" y="3535363"/>
              <a:ext cx="178595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8" name="AutoShape 15"/>
            <p:cNvCxnSpPr>
              <a:cxnSpLocks noChangeShapeType="1"/>
            </p:cNvCxnSpPr>
            <p:nvPr/>
          </p:nvCxnSpPr>
          <p:spPr bwMode="auto">
            <a:xfrm rot="5400000">
              <a:off x="1857356" y="3357562"/>
              <a:ext cx="214314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79" name="AutoShape 15"/>
            <p:cNvCxnSpPr>
              <a:cxnSpLocks noChangeShapeType="1"/>
            </p:cNvCxnSpPr>
            <p:nvPr/>
          </p:nvCxnSpPr>
          <p:spPr bwMode="auto">
            <a:xfrm rot="5400000">
              <a:off x="4929984" y="3356768"/>
              <a:ext cx="214314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480" name="AutoShape 9"/>
            <p:cNvCxnSpPr>
              <a:cxnSpLocks noChangeShapeType="1"/>
            </p:cNvCxnSpPr>
            <p:nvPr/>
          </p:nvCxnSpPr>
          <p:spPr bwMode="auto">
            <a:xfrm>
              <a:off x="714348" y="3000372"/>
              <a:ext cx="6449081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ctrTitle"/>
          </p:nvPr>
        </p:nvSpPr>
        <p:spPr>
          <a:xfrm>
            <a:off x="661988" y="388938"/>
            <a:ext cx="7772400" cy="865187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6.3.6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单纯形法的有限终止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1" name="副标题 2"/>
          <p:cNvSpPr>
            <a:spLocks noGrp="1"/>
          </p:cNvSpPr>
          <p:nvPr>
            <p:ph type="subTitle" idx="1"/>
          </p:nvPr>
        </p:nvSpPr>
        <p:spPr>
          <a:xfrm>
            <a:off x="661988" y="1354138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如果基本可行解中基变量的值都大于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则称这个基本可行解是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否则称作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如果线性规划的所有基本可行解都是非退化的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则称这个线性规划是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如果线性规划有可行解并且是非退化的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则在计算的每一步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可行基不会重复出现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因此单纯形法在有限步内终止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如果不是非退化的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为换出变量时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基变换不改变目标函数值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这就可能使计算出现循环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计算永不终止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A55644-AF95-48A7-A886-6799CBE2D97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349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ctrTitle"/>
          </p:nvPr>
        </p:nvSpPr>
        <p:spPr>
          <a:xfrm>
            <a:off x="685800" y="52070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单纯形法出现循环的例子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8002587" cy="4802187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1955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Beal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给出一个例子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+ 20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+ 6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s.t.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+ 9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= 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 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作为初始基变量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并规定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当有多个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= max { |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|: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 },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作为换入变量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当有多个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同时取到最小值时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取对应的下标最小的基变量作为换出变量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计算经过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次基变换回到初始可行基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从而计算出现循环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永不终止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6D5A08-3E14-4923-9ECF-86A1F8ACB68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45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避免循环的方法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39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8002587" cy="4802187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1954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B. Dantzigt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提出字典序方法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1977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G. Bland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提出避免循环的两条十分简单的规则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Bland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endParaRPr lang="zh-CN" altLang="en-US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当有多个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取对应的非基变量中下标最小的作为换入变量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当有多个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同时取到最小值时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取对应的基变量中下标最小的作为换出变量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4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7DACE8-105A-4074-B57D-C39AFC00E1FA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55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ctrTitle"/>
          </p:nvPr>
        </p:nvSpPr>
        <p:spPr>
          <a:xfrm>
            <a:off x="669925" y="369888"/>
            <a:ext cx="7772400" cy="866775"/>
          </a:xfrm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 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对偶性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3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4CC9C6-8E60-45D9-A212-9E04846926C4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65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665163" y="1449388"/>
            <a:ext cx="7775575" cy="1657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6.4.1 </a:t>
            </a:r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对偶线性规划</a:t>
            </a:r>
            <a:endParaRPr lang="en-US" altLang="zh-CN" sz="4000" b="1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再看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6.1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公司甲用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种原料混合成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种清洁剂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种清洁剂应各配制多少才能使总价值最大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673100" y="5267325"/>
            <a:ext cx="7797800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公司乙急需这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种原料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打算向公司甲购买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应出什么价钱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66567" name="组合 20"/>
          <p:cNvGrpSpPr/>
          <p:nvPr/>
        </p:nvGrpSpPr>
        <p:grpSpPr bwMode="auto">
          <a:xfrm>
            <a:off x="785813" y="3214688"/>
            <a:ext cx="7429500" cy="1787525"/>
            <a:chOff x="785787" y="3284538"/>
            <a:chExt cx="7429552" cy="1787525"/>
          </a:xfrm>
        </p:grpSpPr>
        <p:sp>
          <p:nvSpPr>
            <p:cNvPr id="22" name="副标题 2"/>
            <p:cNvSpPr txBox="1"/>
            <p:nvPr/>
          </p:nvSpPr>
          <p:spPr bwMode="auto">
            <a:xfrm>
              <a:off x="785787" y="3284538"/>
              <a:ext cx="7429552" cy="17859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原料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3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售价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万元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吨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清洁剂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          0.25        0.50         0.25          12    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清洁剂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          0.50        0.50                          15</a:t>
              </a:r>
              <a:endPara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存量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吨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120          150           50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>
              <a:off x="785787" y="3284538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auto">
            <a:xfrm>
              <a:off x="785787" y="3713163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 bwMode="auto">
            <a:xfrm>
              <a:off x="785787" y="5068888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 bwMode="auto">
            <a:xfrm rot="5400000">
              <a:off x="1465248" y="4178300"/>
              <a:ext cx="1785938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 bwMode="auto">
            <a:xfrm rot="5400000">
              <a:off x="5106998" y="4176713"/>
              <a:ext cx="1785937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 bwMode="auto">
            <a:xfrm>
              <a:off x="785787" y="4640263"/>
              <a:ext cx="7429552" cy="15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ctrTitle"/>
          </p:nvPr>
        </p:nvSpPr>
        <p:spPr>
          <a:xfrm>
            <a:off x="684213" y="34607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7" name="副标题 2"/>
          <p:cNvSpPr>
            <a:spLocks noGrp="1"/>
          </p:cNvSpPr>
          <p:nvPr>
            <p:ph type="subTitle" idx="1"/>
          </p:nvPr>
        </p:nvSpPr>
        <p:spPr>
          <a:xfrm>
            <a:off x="4398963" y="1484313"/>
            <a:ext cx="4494212" cy="3816350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设公司乙出价原料每吨分别为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希望总价尽可能小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但又不 低于公司甲用这些原料生产清洁剂所产生的价值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120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+ 0.25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+ 0.50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CD16B5-383C-470B-966F-2EA3182CCA9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758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684213" y="1557338"/>
            <a:ext cx="3244850" cy="45354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设清洁剂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分别配制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lang="en-US" altLang="zh-CN" sz="2400" b="1" i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12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+ 15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s.t.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0.25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+ 0.50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0.25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</a:t>
            </a:r>
            <a:endParaRPr lang="en-US" altLang="zh-CN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0,  </a:t>
            </a:r>
            <a:r>
              <a:rPr lang="en-US" altLang="zh-CN" sz="2400" b="1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对偶线性规划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副标题 2"/>
          <p:cNvSpPr>
            <a:spLocks noGrp="1"/>
          </p:cNvSpPr>
          <p:nvPr>
            <p:ph type="subTitle" idx="1"/>
          </p:nvPr>
        </p:nvSpPr>
        <p:spPr>
          <a:xfrm>
            <a:off x="685800" y="155416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原始线性规划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对偶线性规划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max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s.t.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s.t.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对偶的对偶是原始线性规划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(D)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可改写成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)             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的对偶为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max –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               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s.t.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     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  (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2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B05303-4857-4236-B9CD-BF899DDA2DA9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86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ctrTitle"/>
          </p:nvPr>
        </p:nvSpPr>
        <p:spPr>
          <a:xfrm>
            <a:off x="698500" y="404813"/>
            <a:ext cx="7772400" cy="738187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6.14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5" name="副标题 2"/>
          <p:cNvSpPr>
            <a:spLocks noGrp="1"/>
          </p:cNvSpPr>
          <p:nvPr>
            <p:ph type="subTitle" idx="1"/>
          </p:nvPr>
        </p:nvSpPr>
        <p:spPr>
          <a:xfrm>
            <a:off x="684213" y="1285875"/>
            <a:ext cx="3744912" cy="2587625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写出下述线性规划的对偶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s.t.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8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63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D4022F-05C5-4170-93CE-616348A3AC55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6963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2"/>
          <p:cNvSpPr txBox="1"/>
          <p:nvPr/>
        </p:nvSpPr>
        <p:spPr bwMode="auto">
          <a:xfrm>
            <a:off x="4543425" y="1222375"/>
            <a:ext cx="4414838" cy="2730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,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/>
            </a:endParaRPr>
          </a:p>
          <a:p>
            <a:pPr eaLnBrk="1" hangingPunct="1">
              <a:defRPr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等价于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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  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  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714375" y="3841750"/>
            <a:ext cx="3744913" cy="287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对偶规划为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  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+ 8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 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副标题 2"/>
          <p:cNvSpPr txBox="1"/>
          <p:nvPr/>
        </p:nvSpPr>
        <p:spPr bwMode="auto">
          <a:xfrm>
            <a:off x="4500563" y="4127500"/>
            <a:ext cx="4500562" cy="2373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合并后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个不等式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min  5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+ 8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3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对偶规划的一般形式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59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F14190-55D7-4E2E-AEA9-2A1E1159305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066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06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066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70663" name="组合 15"/>
          <p:cNvGrpSpPr/>
          <p:nvPr/>
        </p:nvGrpSpPr>
        <p:grpSpPr bwMode="auto">
          <a:xfrm>
            <a:off x="357188" y="1484313"/>
            <a:ext cx="8329612" cy="4802187"/>
            <a:chOff x="642910" y="1500174"/>
            <a:chExt cx="8329643" cy="4802187"/>
          </a:xfrm>
        </p:grpSpPr>
        <p:sp>
          <p:nvSpPr>
            <p:cNvPr id="14" name="副标题 2"/>
            <p:cNvSpPr txBox="1"/>
            <p:nvPr/>
          </p:nvSpPr>
          <p:spPr bwMode="auto">
            <a:xfrm>
              <a:off x="642910" y="1500174"/>
              <a:ext cx="8329643" cy="48021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原始规划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对偶规划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max                                                   min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, 1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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0, 1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,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+1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任意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+1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</a:t>
              </a:r>
              <a:r>
                <a:rPr lang="en-US" sz="2400" b="1" i="1" baseline="-25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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0, 1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                     , 1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</a:t>
              </a:r>
              <a:r>
                <a:rPr lang="en-US" sz="2400" b="1" i="1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sz="2400" b="1" i="1" baseline="-25000" dirty="0" err="1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任意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+1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               , 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+1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 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 </a:t>
              </a:r>
              <a:r>
                <a:rPr lang="en-US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0665" name="Object 6"/>
            <p:cNvGraphicFramePr>
              <a:graphicFrameLocks noChangeAspect="1"/>
            </p:cNvGraphicFramePr>
            <p:nvPr/>
          </p:nvGraphicFramePr>
          <p:xfrm>
            <a:off x="6153887" y="2012950"/>
            <a:ext cx="973137" cy="858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7" name="Equation" r:id="rId1" imgW="482600" imgH="431800" progId="Equation.3">
                    <p:embed/>
                  </p:oleObj>
                </mc:Choice>
                <mc:Fallback>
                  <p:oleObj name="Equation" r:id="rId1" imgW="482600" imgH="431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3887" y="2012950"/>
                          <a:ext cx="973137" cy="858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6" name="Object 8"/>
            <p:cNvGraphicFramePr>
              <a:graphicFrameLocks noChangeAspect="1"/>
            </p:cNvGraphicFramePr>
            <p:nvPr/>
          </p:nvGraphicFramePr>
          <p:xfrm>
            <a:off x="1214414" y="2786058"/>
            <a:ext cx="1675644" cy="928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8" name="Equation" r:id="rId3" imgW="786765" imgH="444500" progId="Equation.3">
                    <p:embed/>
                  </p:oleObj>
                </mc:Choice>
                <mc:Fallback>
                  <p:oleObj name="Equation" r:id="rId3" imgW="786765" imgH="444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414" y="2786058"/>
                          <a:ext cx="1675644" cy="9286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7" name="Object 10"/>
            <p:cNvGraphicFramePr>
              <a:graphicFrameLocks noChangeAspect="1"/>
            </p:cNvGraphicFramePr>
            <p:nvPr/>
          </p:nvGraphicFramePr>
          <p:xfrm>
            <a:off x="1785918" y="1985963"/>
            <a:ext cx="1023937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79" name="Equation" r:id="rId5" imgW="508000" imgH="444500" progId="Equation.3">
                    <p:embed/>
                  </p:oleObj>
                </mc:Choice>
                <mc:Fallback>
                  <p:oleObj name="Equation" r:id="rId5" imgW="508000" imgH="4445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18" y="1985963"/>
                          <a:ext cx="1023937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8" name="Object 11"/>
            <p:cNvGraphicFramePr>
              <a:graphicFrameLocks noChangeAspect="1"/>
            </p:cNvGraphicFramePr>
            <p:nvPr/>
          </p:nvGraphicFramePr>
          <p:xfrm>
            <a:off x="1214414" y="3571876"/>
            <a:ext cx="1676400" cy="928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80" name="Equation" r:id="rId7" imgW="786765" imgH="444500" progId="Equation.3">
                    <p:embed/>
                  </p:oleObj>
                </mc:Choice>
                <mc:Fallback>
                  <p:oleObj name="Equation" r:id="rId7" imgW="786765" imgH="4445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414" y="3571876"/>
                          <a:ext cx="1676400" cy="928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69" name="Object 12"/>
            <p:cNvGraphicFramePr>
              <a:graphicFrameLocks noChangeAspect="1"/>
            </p:cNvGraphicFramePr>
            <p:nvPr/>
          </p:nvGraphicFramePr>
          <p:xfrm>
            <a:off x="5649829" y="4441825"/>
            <a:ext cx="1676400" cy="903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81" name="Equation" r:id="rId9" imgW="787400" imgH="431800" progId="Equation.3">
                    <p:embed/>
                  </p:oleObj>
                </mc:Choice>
                <mc:Fallback>
                  <p:oleObj name="Equation" r:id="rId9" imgW="787400" imgH="4318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9829" y="4441825"/>
                          <a:ext cx="1676400" cy="903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670" name="Object 13"/>
            <p:cNvGraphicFramePr>
              <a:graphicFrameLocks noChangeAspect="1"/>
            </p:cNvGraphicFramePr>
            <p:nvPr/>
          </p:nvGraphicFramePr>
          <p:xfrm>
            <a:off x="5649829" y="5240356"/>
            <a:ext cx="1676400" cy="903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682" name="Equation" r:id="rId11" imgW="787400" imgH="431800" progId="Equation.3">
                    <p:embed/>
                  </p:oleObj>
                </mc:Choice>
                <mc:Fallback>
                  <p:oleObj name="Equation" r:id="rId11" imgW="787400" imgH="4318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9829" y="5240356"/>
                          <a:ext cx="1676400" cy="903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3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是原始规划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是对偶规划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则恒有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6.6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分别是原始规划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和对偶规划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分别是它们的最优解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6.7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如果原始规划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则对偶规划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也有最优解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且它们的最优值相等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反之亦然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9B1DF9-2D01-4A1E-B73C-12424B3DFCA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16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ctrTitle"/>
          </p:nvPr>
        </p:nvSpPr>
        <p:spPr>
          <a:xfrm>
            <a:off x="560388" y="10477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6.7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7" name="副标题 2"/>
          <p:cNvSpPr>
            <a:spLocks noGrp="1"/>
          </p:cNvSpPr>
          <p:nvPr>
            <p:ph type="subTitle" idx="1"/>
          </p:nvPr>
        </p:nvSpPr>
        <p:spPr>
          <a:xfrm>
            <a:off x="557213" y="969963"/>
            <a:ext cx="7775575" cy="5751512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引入松弛变量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写成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max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                   A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s.t.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           E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单位矩阵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维向量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设最优解基为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检验数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最大化问题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分成两部分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和对应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在目标函数中的系数都为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0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–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 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0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0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，即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  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z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得证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A4734D-E4C4-4179-80E6-D1A49AFC19A8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ctrTitle"/>
          </p:nvPr>
        </p:nvSpPr>
        <p:spPr>
          <a:xfrm>
            <a:off x="685800" y="403225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原始规划和对偶规划解的可能情况</a:t>
            </a:r>
            <a:endParaRPr lang="zh-CN" altLang="en-US" sz="36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1" name="副标题 2"/>
          <p:cNvSpPr>
            <a:spLocks noGrp="1"/>
          </p:cNvSpPr>
          <p:nvPr>
            <p:ph type="subTitle" idx="1"/>
          </p:nvPr>
        </p:nvSpPr>
        <p:spPr>
          <a:xfrm>
            <a:off x="684213" y="1479550"/>
            <a:ext cx="7775575" cy="1301750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都有最优解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且最优值相等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一个有可行解且目标函数值无界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而另一个无可行解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400" b="1" smtClean="0">
                <a:solidFill>
                  <a:schemeClr val="tx1"/>
                </a:solidFill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</a:rPr>
              <a:t>都没有可行解</a:t>
            </a:r>
            <a:r>
              <a:rPr lang="en-US" altLang="zh-CN" sz="2400" b="1" smtClean="0">
                <a:solidFill>
                  <a:schemeClr val="tx1"/>
                </a:solidFill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04043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2DDD01-7B07-4E41-958D-D2940D4239D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3733" name="Rectangle 7"/>
          <p:cNvSpPr>
            <a:spLocks noChangeArrowheads="1"/>
          </p:cNvSpPr>
          <p:nvPr/>
        </p:nvSpPr>
        <p:spPr bwMode="auto">
          <a:xfrm>
            <a:off x="0" y="-315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73734" name="组合 36"/>
          <p:cNvGrpSpPr/>
          <p:nvPr/>
        </p:nvGrpSpPr>
        <p:grpSpPr bwMode="auto">
          <a:xfrm>
            <a:off x="785813" y="2925763"/>
            <a:ext cx="7215187" cy="2786062"/>
            <a:chOff x="428596" y="3382442"/>
            <a:chExt cx="7215238" cy="2786082"/>
          </a:xfrm>
        </p:grpSpPr>
        <p:sp>
          <p:nvSpPr>
            <p:cNvPr id="73736" name="Text Box 7"/>
            <p:cNvSpPr txBox="1">
              <a:spLocks noChangeArrowheads="1"/>
            </p:cNvSpPr>
            <p:nvPr/>
          </p:nvSpPr>
          <p:spPr bwMode="auto">
            <a:xfrm>
              <a:off x="758401" y="3382442"/>
              <a:ext cx="6881915" cy="27860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endParaRPr lang="en-US" altLang="zh-CN" sz="2400" b="1"/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/>
                <a:t>      </a:t>
              </a:r>
              <a:r>
                <a:rPr lang="zh-CN" altLang="en-US" sz="2400" b="1"/>
                <a:t>对偶规划                             有可行解    </a:t>
              </a:r>
              <a:endParaRPr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                                                       且无界</a:t>
              </a:r>
              <a:endParaRPr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  有最优解      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(1)              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        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>
                  <a:latin typeface="Times New Roman" panose="02020603050405020304" pitchFamily="18" charset="0"/>
                </a:rPr>
                <a:t>有可行解</a:t>
              </a:r>
              <a:endParaRPr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  且无界</a:t>
              </a:r>
              <a:endParaRPr lang="zh-CN" altLang="en-US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 无可行解                 </a:t>
              </a:r>
              <a:r>
                <a:rPr lang="zh-CN" altLang="en-US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 b="1">
                  <a:latin typeface="Times New Roman" panose="02020603050405020304" pitchFamily="18" charset="0"/>
                </a:rPr>
                <a:t>                </a:t>
              </a:r>
              <a:r>
                <a:rPr lang="en-US" altLang="zh-CN" sz="2400" b="1">
                  <a:latin typeface="Times New Roman" panose="02020603050405020304" pitchFamily="18" charset="0"/>
                </a:rPr>
                <a:t>(2)               (3)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73737" name="Text Box 9"/>
            <p:cNvSpPr txBox="1">
              <a:spLocks noChangeArrowheads="1"/>
            </p:cNvSpPr>
            <p:nvPr/>
          </p:nvSpPr>
          <p:spPr bwMode="auto">
            <a:xfrm>
              <a:off x="3357555" y="5023806"/>
              <a:ext cx="3786214" cy="54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       </a:t>
              </a:r>
              <a:r>
                <a:rPr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latin typeface="Times New Roman" panose="02020603050405020304" pitchFamily="18" charset="0"/>
                </a:rPr>
                <a:t>                 (2)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sp>
          <p:nvSpPr>
            <p:cNvPr id="73738" name="Text Box 10"/>
            <p:cNvSpPr txBox="1">
              <a:spLocks noChangeArrowheads="1"/>
            </p:cNvSpPr>
            <p:nvPr/>
          </p:nvSpPr>
          <p:spPr bwMode="auto">
            <a:xfrm>
              <a:off x="2855899" y="3923694"/>
              <a:ext cx="4572032" cy="50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有最优解                        无可行解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cxnSp>
          <p:nvCxnSpPr>
            <p:cNvPr id="73739" name="AutoShape 11"/>
            <p:cNvCxnSpPr>
              <a:cxnSpLocks noChangeShapeType="1"/>
            </p:cNvCxnSpPr>
            <p:nvPr/>
          </p:nvCxnSpPr>
          <p:spPr bwMode="auto">
            <a:xfrm>
              <a:off x="466653" y="3833500"/>
              <a:ext cx="2338253" cy="668414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0" name="AutoShape 11"/>
            <p:cNvCxnSpPr>
              <a:cxnSpLocks noChangeShapeType="1"/>
            </p:cNvCxnSpPr>
            <p:nvPr/>
          </p:nvCxnSpPr>
          <p:spPr bwMode="auto">
            <a:xfrm>
              <a:off x="428596" y="3771024"/>
              <a:ext cx="7211720" cy="15166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1" name="AutoShape 11"/>
            <p:cNvCxnSpPr>
              <a:cxnSpLocks noChangeShapeType="1"/>
            </p:cNvCxnSpPr>
            <p:nvPr/>
          </p:nvCxnSpPr>
          <p:spPr bwMode="auto">
            <a:xfrm>
              <a:off x="428596" y="4500570"/>
              <a:ext cx="721172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2" name="AutoShape 11"/>
            <p:cNvCxnSpPr>
              <a:cxnSpLocks noChangeShapeType="1"/>
            </p:cNvCxnSpPr>
            <p:nvPr/>
          </p:nvCxnSpPr>
          <p:spPr bwMode="auto">
            <a:xfrm>
              <a:off x="428596" y="6000768"/>
              <a:ext cx="7211720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3" name="AutoShape 16"/>
            <p:cNvCxnSpPr>
              <a:cxnSpLocks noChangeShapeType="1"/>
            </p:cNvCxnSpPr>
            <p:nvPr/>
          </p:nvCxnSpPr>
          <p:spPr bwMode="auto">
            <a:xfrm>
              <a:off x="2855899" y="3784604"/>
              <a:ext cx="795" cy="221695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4" name="AutoShape 16"/>
            <p:cNvCxnSpPr>
              <a:cxnSpLocks noChangeShapeType="1"/>
            </p:cNvCxnSpPr>
            <p:nvPr/>
          </p:nvCxnSpPr>
          <p:spPr bwMode="auto">
            <a:xfrm rot="5400000">
              <a:off x="3250397" y="4893479"/>
              <a:ext cx="2214578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5" name="AutoShape 16"/>
            <p:cNvCxnSpPr>
              <a:cxnSpLocks noChangeShapeType="1"/>
            </p:cNvCxnSpPr>
            <p:nvPr/>
          </p:nvCxnSpPr>
          <p:spPr bwMode="auto">
            <a:xfrm rot="5400000">
              <a:off x="4751389" y="4892685"/>
              <a:ext cx="2214578" cy="158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6" name="AutoShape 11"/>
            <p:cNvCxnSpPr>
              <a:cxnSpLocks noChangeShapeType="1"/>
            </p:cNvCxnSpPr>
            <p:nvPr/>
          </p:nvCxnSpPr>
          <p:spPr bwMode="auto">
            <a:xfrm flipV="1">
              <a:off x="428596" y="4857761"/>
              <a:ext cx="7215238" cy="714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747" name="AutoShape 11"/>
            <p:cNvCxnSpPr>
              <a:cxnSpLocks noChangeShapeType="1"/>
            </p:cNvCxnSpPr>
            <p:nvPr/>
          </p:nvCxnSpPr>
          <p:spPr bwMode="auto">
            <a:xfrm>
              <a:off x="466653" y="5572139"/>
              <a:ext cx="7177181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3735" name="文本框 11"/>
          <p:cNvSpPr txBox="1">
            <a:spLocks noChangeArrowheads="1"/>
          </p:cNvSpPr>
          <p:nvPr/>
        </p:nvSpPr>
        <p:spPr bwMode="auto">
          <a:xfrm>
            <a:off x="633413" y="3617913"/>
            <a:ext cx="1625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原始规划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互补松弛性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6.8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分别是原始规划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和对偶规划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分别是它们的最优解当且仅当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= 0,       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(*)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= 0,       1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(**)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,   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(*)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(**)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成立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6EA167-287F-4D51-A05C-54DA2824F61F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475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47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74759" name="Object 1"/>
          <p:cNvGraphicFramePr>
            <a:graphicFrameLocks noChangeAspect="1"/>
          </p:cNvGraphicFramePr>
          <p:nvPr/>
        </p:nvGraphicFramePr>
        <p:xfrm>
          <a:off x="2490788" y="2286000"/>
          <a:ext cx="21526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9" name="Equation" r:id="rId1" imgW="1015365" imgH="444500" progId="Equation.3">
                  <p:embed/>
                </p:oleObj>
              </mc:Choice>
              <mc:Fallback>
                <p:oleObj name="Equation" r:id="rId1" imgW="1015365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2286000"/>
                        <a:ext cx="21526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3"/>
          <p:cNvGraphicFramePr>
            <a:graphicFrameLocks noChangeAspect="1"/>
          </p:cNvGraphicFramePr>
          <p:nvPr/>
        </p:nvGraphicFramePr>
        <p:xfrm>
          <a:off x="2473325" y="3143250"/>
          <a:ext cx="22066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0" name="Equation" r:id="rId3" imgW="1040765" imgH="431800" progId="Equation.3">
                  <p:embed/>
                </p:oleObj>
              </mc:Choice>
              <mc:Fallback>
                <p:oleObj name="Equation" r:id="rId3" imgW="1040765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3143250"/>
                        <a:ext cx="22066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4"/>
          <p:cNvGraphicFramePr>
            <a:graphicFrameLocks noChangeAspect="1"/>
          </p:cNvGraphicFramePr>
          <p:nvPr/>
        </p:nvGraphicFramePr>
        <p:xfrm>
          <a:off x="1763713" y="4003675"/>
          <a:ext cx="26638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1" name="Equation" r:id="rId5" imgW="1256665" imgH="444500" progId="Equation.3">
                  <p:embed/>
                </p:oleObj>
              </mc:Choice>
              <mc:Fallback>
                <p:oleObj name="Equation" r:id="rId5" imgW="1256665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003675"/>
                        <a:ext cx="2663825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" name="Object 5"/>
          <p:cNvGraphicFramePr>
            <a:graphicFrameLocks noChangeAspect="1"/>
          </p:cNvGraphicFramePr>
          <p:nvPr/>
        </p:nvGraphicFramePr>
        <p:xfrm>
          <a:off x="5095875" y="3959225"/>
          <a:ext cx="26908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2" name="Equation" r:id="rId7" imgW="1269365" imgH="431800" progId="Equation.3">
                  <p:embed/>
                </p:oleObj>
              </mc:Choice>
              <mc:Fallback>
                <p:oleObj name="Equation" r:id="rId7" imgW="1269365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75" y="3959225"/>
                        <a:ext cx="26908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6"/>
          <p:cNvGraphicFramePr>
            <a:graphicFrameLocks noChangeAspect="1"/>
          </p:cNvGraphicFramePr>
          <p:nvPr/>
        </p:nvGraphicFramePr>
        <p:xfrm>
          <a:off x="3597275" y="4732338"/>
          <a:ext cx="226060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3" name="Equation" r:id="rId9" imgW="1066165" imgH="444500" progId="Equation.3">
                  <p:embed/>
                </p:oleObj>
              </mc:Choice>
              <mc:Fallback>
                <p:oleObj name="Equation" r:id="rId9" imgW="1066165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4732338"/>
                        <a:ext cx="2260600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6.8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79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C92E85-6B3F-4017-9F23-7E30E2EE1C5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578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578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75782" name="组合 12"/>
          <p:cNvGrpSpPr/>
          <p:nvPr/>
        </p:nvGrpSpPr>
        <p:grpSpPr bwMode="auto">
          <a:xfrm>
            <a:off x="714375" y="1714500"/>
            <a:ext cx="7972425" cy="3929063"/>
            <a:chOff x="714348" y="1714488"/>
            <a:chExt cx="7972425" cy="3929090"/>
          </a:xfrm>
        </p:grpSpPr>
        <p:sp>
          <p:nvSpPr>
            <p:cNvPr id="11" name="副标题 2"/>
            <p:cNvSpPr txBox="1"/>
            <p:nvPr/>
          </p:nvSpPr>
          <p:spPr bwMode="auto">
            <a:xfrm>
              <a:off x="714348" y="3571876"/>
              <a:ext cx="7972425" cy="207170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得证 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(*)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和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(**)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成立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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  <a:spcBef>
                  <a:spcPct val="2000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                               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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x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是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(P)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的最优解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, 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y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是 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(D)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的最优解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Symbol" panose="05050102010706020507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5784" name="Object 1"/>
            <p:cNvGraphicFramePr>
              <a:graphicFrameLocks noChangeAspect="1"/>
            </p:cNvGraphicFramePr>
            <p:nvPr/>
          </p:nvGraphicFramePr>
          <p:xfrm>
            <a:off x="2988706" y="1714488"/>
            <a:ext cx="5369508" cy="9286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2" name="Equation" r:id="rId1" imgW="2540000" imgH="444500" progId="Equation.3">
                    <p:embed/>
                  </p:oleObj>
                </mc:Choice>
                <mc:Fallback>
                  <p:oleObj name="Equation" r:id="rId1" imgW="2540000" imgH="444500" progId="Equation.3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8706" y="1714488"/>
                          <a:ext cx="5369508" cy="9286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85" name="Object 3"/>
            <p:cNvGraphicFramePr>
              <a:graphicFrameLocks noChangeAspect="1"/>
            </p:cNvGraphicFramePr>
            <p:nvPr/>
          </p:nvGraphicFramePr>
          <p:xfrm>
            <a:off x="1035050" y="1714500"/>
            <a:ext cx="2046288" cy="925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3" name="Equation" r:id="rId3" imgW="965200" imgH="444500" progId="Equation.3">
                    <p:embed/>
                  </p:oleObj>
                </mc:Choice>
                <mc:Fallback>
                  <p:oleObj name="Equation" r:id="rId3" imgW="965200" imgH="4445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050" y="1714500"/>
                          <a:ext cx="2046288" cy="925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86" name="Object 4"/>
            <p:cNvGraphicFramePr>
              <a:graphicFrameLocks noChangeAspect="1"/>
            </p:cNvGraphicFramePr>
            <p:nvPr/>
          </p:nvGraphicFramePr>
          <p:xfrm>
            <a:off x="2878143" y="2571750"/>
            <a:ext cx="2551113" cy="928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4" name="Equation" r:id="rId5" imgW="1205865" imgH="444500" progId="Equation.3">
                    <p:embed/>
                  </p:oleObj>
                </mc:Choice>
                <mc:Fallback>
                  <p:oleObj name="Equation" r:id="rId5" imgW="1205865" imgH="444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8143" y="2571750"/>
                          <a:ext cx="2551113" cy="928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787" name="Object 5"/>
            <p:cNvGraphicFramePr>
              <a:graphicFrameLocks noChangeAspect="1"/>
            </p:cNvGraphicFramePr>
            <p:nvPr/>
          </p:nvGraphicFramePr>
          <p:xfrm>
            <a:off x="3635869" y="3929063"/>
            <a:ext cx="2336800" cy="928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795" name="Equation" r:id="rId7" imgW="1104900" imgH="444500" progId="Equation.3">
                    <p:embed/>
                  </p:oleObj>
                </mc:Choice>
                <mc:Fallback>
                  <p:oleObj name="Equation" r:id="rId7" imgW="1104900" imgH="444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69" y="3929063"/>
                          <a:ext cx="2336800" cy="928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6.4.2 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3" name="副标题 2"/>
          <p:cNvSpPr>
            <a:spLocks noGrp="1"/>
          </p:cNvSpPr>
          <p:nvPr>
            <p:ph type="subTitle" idx="1"/>
          </p:nvPr>
        </p:nvSpPr>
        <p:spPr>
          <a:xfrm>
            <a:off x="512763" y="1484313"/>
            <a:ext cx="82073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原始规划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                         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对偶规划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                       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s.t.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s.t.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任意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的一个可行基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对应的可行解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恒有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w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只要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baseline="30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y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80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017735-E387-4B15-8E9E-96400274D084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68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7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设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是一个基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正则的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是正则的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从而只要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亦即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单纯形法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保持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是可行基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即保持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通过基变换使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逐步成为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变成正则基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即逐步使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   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是正则基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即保持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通过基变换使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逐步成为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变成可行基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即逐步使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   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6A6D7C-8668-4BAF-81AA-2A47E9711B07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78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51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7014D3-57DD-42EF-8FC4-C50A9CCD167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88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785813" y="1571625"/>
            <a:ext cx="7818437" cy="4714875"/>
          </a:xfrm>
        </p:spPr>
        <p:txBody>
          <a:bodyPr/>
          <a:lstStyle/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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则不存在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, (P)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无可行解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若存在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则以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为换出变量、 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为换入变量做基变换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必须保证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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0,         1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注意到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不等式自然成立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只要当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/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lj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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k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/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lk</a:t>
            </a:r>
            <a:endParaRPr lang="zh-CN" altLang="en-US" sz="2400" b="1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故应取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None/>
              <a:defRPr/>
            </a:pP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|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k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/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lk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= min{ |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</a:t>
            </a:r>
            <a:r>
              <a:rPr lang="en-US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/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lj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: </a:t>
            </a:r>
            <a:r>
              <a:rPr lang="en-US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</a:t>
            </a:r>
            <a:r>
              <a:rPr lang="en-US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lj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0}</a:t>
            </a:r>
            <a:endParaRPr lang="zh-CN" altLang="en-US" dirty="0"/>
          </a:p>
        </p:txBody>
      </p:sp>
      <p:sp>
        <p:nvSpPr>
          <p:cNvPr id="7885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78855" name="Object 6"/>
          <p:cNvGraphicFramePr>
            <a:graphicFrameLocks noChangeAspect="1"/>
          </p:cNvGraphicFramePr>
          <p:nvPr/>
        </p:nvGraphicFramePr>
        <p:xfrm>
          <a:off x="900113" y="2033588"/>
          <a:ext cx="168116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7" name="Equation" r:id="rId1" imgW="837565" imgH="444500" progId="Equation.3">
                  <p:embed/>
                </p:oleObj>
              </mc:Choice>
              <mc:Fallback>
                <p:oleObj name="Equation" r:id="rId1" imgW="837565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033588"/>
                        <a:ext cx="168116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5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 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对偶单纯形法 </a:t>
            </a:r>
            <a:endParaRPr lang="zh-CN" alt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取正则基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是最优解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若所有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(1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则无可行解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|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/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lk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= min{ |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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/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: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lj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0}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 </a:t>
            </a:r>
            <a:r>
              <a:rPr lang="en-US" altLang="zh-CN" sz="24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为换出变量、 </a:t>
            </a:r>
            <a:r>
              <a:rPr lang="en-US" altLang="zh-CN" sz="2400" b="1" i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为换入变量做基变换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6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CE75F9-C0A1-41DA-9540-F43774471C9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7987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 </a:t>
            </a:r>
            <a:r>
              <a:rPr lang="zh-CN" altLang="en-US" sz="40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整数线性规划的分支限界算法</a:t>
            </a:r>
            <a:endParaRPr lang="zh-CN" altLang="en-US" sz="40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99" name="副标题 2"/>
          <p:cNvSpPr>
            <a:spLocks noGrp="1"/>
          </p:cNvSpPr>
          <p:nvPr>
            <p:ph type="subTitle" idx="1"/>
          </p:nvPr>
        </p:nvSpPr>
        <p:spPr>
          <a:xfrm>
            <a:off x="796925" y="1500188"/>
            <a:ext cx="7775575" cy="4802187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整数线性规划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在线性规划上对变量增添整数的要求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纯整数线性规划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全整数线性规划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要求所有变量是整数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混合整数线性规划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只要求部分变量是整数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型整数线性规划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要求所有变量是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b="1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松弛规划 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简称松弛</a:t>
            </a:r>
            <a:r>
              <a:rPr lang="en-US" altLang="zh-CN" sz="2400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删去整数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要求后得到的线性规划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松弛规划的最优值是原整数规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划的最优值的界限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最小化的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最大化的上界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但通常不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是原整数规划的最优解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0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DD18B4-BE91-4D6F-AF13-7B22D5CC4C1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09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0902" name="组合 87"/>
          <p:cNvGrpSpPr/>
          <p:nvPr/>
        </p:nvGrpSpPr>
        <p:grpSpPr bwMode="auto">
          <a:xfrm>
            <a:off x="5122863" y="3551238"/>
            <a:ext cx="3449637" cy="2806700"/>
            <a:chOff x="4500562" y="3407978"/>
            <a:chExt cx="3449342" cy="2807104"/>
          </a:xfrm>
        </p:grpSpPr>
        <p:sp>
          <p:nvSpPr>
            <p:cNvPr id="69" name="等腰三角形 68"/>
            <p:cNvSpPr/>
            <p:nvPr/>
          </p:nvSpPr>
          <p:spPr>
            <a:xfrm rot="12331331">
              <a:off x="5718070" y="3789033"/>
              <a:ext cx="207945" cy="2052932"/>
            </a:xfrm>
            <a:prstGeom prst="triangl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grpSp>
          <p:nvGrpSpPr>
            <p:cNvPr id="80904" name="组合 70"/>
            <p:cNvGrpSpPr/>
            <p:nvPr/>
          </p:nvGrpSpPr>
          <p:grpSpPr bwMode="auto">
            <a:xfrm>
              <a:off x="4500562" y="3407978"/>
              <a:ext cx="3449342" cy="2807104"/>
              <a:chOff x="4837434" y="3311332"/>
              <a:chExt cx="3449342" cy="2807104"/>
            </a:xfrm>
          </p:grpSpPr>
          <p:cxnSp>
            <p:nvCxnSpPr>
              <p:cNvPr id="80905" name="AutoShape 7"/>
              <p:cNvCxnSpPr>
                <a:cxnSpLocks noChangeShapeType="1"/>
              </p:cNvCxnSpPr>
              <p:nvPr/>
            </p:nvCxnSpPr>
            <p:spPr bwMode="auto">
              <a:xfrm>
                <a:off x="5228275" y="5927742"/>
                <a:ext cx="2629873" cy="1588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906" name="AutoShape 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107653" y="4822042"/>
                <a:ext cx="2214579" cy="1588"/>
              </a:xfrm>
              <a:prstGeom prst="straightConnector1">
                <a:avLst/>
              </a:prstGeom>
              <a:noFill/>
              <a:ln w="63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0907" name="Text Box 17"/>
              <p:cNvSpPr txBox="1">
                <a:spLocks noChangeArrowheads="1"/>
              </p:cNvSpPr>
              <p:nvPr/>
            </p:nvSpPr>
            <p:spPr bwMode="auto">
              <a:xfrm>
                <a:off x="7837830" y="5643578"/>
                <a:ext cx="448946" cy="403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x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08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5498941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09" name="Text Box 17"/>
              <p:cNvSpPr txBox="1">
                <a:spLocks noChangeArrowheads="1"/>
              </p:cNvSpPr>
              <p:nvPr/>
            </p:nvSpPr>
            <p:spPr bwMode="auto">
              <a:xfrm>
                <a:off x="5072066" y="3311332"/>
                <a:ext cx="448946" cy="403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y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0" name="Text Box 17"/>
              <p:cNvSpPr txBox="1">
                <a:spLocks noChangeArrowheads="1"/>
              </p:cNvSpPr>
              <p:nvPr/>
            </p:nvSpPr>
            <p:spPr bwMode="auto">
              <a:xfrm>
                <a:off x="4837434" y="5715016"/>
                <a:ext cx="448946" cy="403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O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1" name="Text Box 17"/>
              <p:cNvSpPr txBox="1">
                <a:spLocks noChangeArrowheads="1"/>
              </p:cNvSpPr>
              <p:nvPr/>
            </p:nvSpPr>
            <p:spPr bwMode="auto">
              <a:xfrm>
                <a:off x="5286380" y="5525910"/>
                <a:ext cx="448946" cy="403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A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2" name="Text Box 17"/>
              <p:cNvSpPr txBox="1">
                <a:spLocks noChangeArrowheads="1"/>
              </p:cNvSpPr>
              <p:nvPr/>
            </p:nvSpPr>
            <p:spPr bwMode="auto">
              <a:xfrm>
                <a:off x="6051880" y="3786190"/>
                <a:ext cx="448946" cy="4034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B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3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5141751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4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4786322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5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4429132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6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4071942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0917" name="Text Box 19"/>
              <p:cNvSpPr txBox="1">
                <a:spLocks noChangeArrowheads="1"/>
              </p:cNvSpPr>
              <p:nvPr/>
            </p:nvSpPr>
            <p:spPr bwMode="auto">
              <a:xfrm>
                <a:off x="5000628" y="3714752"/>
                <a:ext cx="2571768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latin typeface="Times New Roman" panose="02020603050405020304" pitchFamily="18" charset="0"/>
                    <a:sym typeface="Symbol" panose="05050102010706020507" pitchFamily="18" charset="2"/>
                  </a:rPr>
                  <a:t>· · · · · ·</a:t>
                </a:r>
                <a:endParaRPr lang="zh-CN" altLang="zh-CN" sz="5400" b="1">
                  <a:latin typeface="Arial" panose="020B0604020202020204" pitchFamily="34" charset="0"/>
                </a:endParaRPr>
              </a:p>
            </p:txBody>
          </p:sp>
          <p:cxnSp>
            <p:nvCxnSpPr>
              <p:cNvPr id="80918" name="AutoShape 2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214942" y="4357694"/>
                <a:ext cx="1857388" cy="100013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919" name="AutoShape 2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107785" y="4464851"/>
                <a:ext cx="1857388" cy="78581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0920" name="Text Box 19"/>
              <p:cNvSpPr txBox="1">
                <a:spLocks noChangeArrowheads="1"/>
              </p:cNvSpPr>
              <p:nvPr/>
            </p:nvSpPr>
            <p:spPr bwMode="auto">
              <a:xfrm>
                <a:off x="5429256" y="5357826"/>
                <a:ext cx="500066" cy="430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5400" b="1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·</a:t>
                </a:r>
                <a:endParaRPr lang="zh-CN" altLang="zh-CN" sz="5400" b="1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ctrTitle"/>
          </p:nvPr>
        </p:nvSpPr>
        <p:spPr>
          <a:xfrm>
            <a:off x="660400" y="1460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分支限界法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3" name="副标题 2"/>
          <p:cNvSpPr>
            <a:spLocks noGrp="1"/>
          </p:cNvSpPr>
          <p:nvPr>
            <p:ph type="subTitle" idx="1"/>
          </p:nvPr>
        </p:nvSpPr>
        <p:spPr>
          <a:xfrm>
            <a:off x="660400" y="1011238"/>
            <a:ext cx="8026400" cy="5345112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记整数线性规划为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其松弛为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满足整数要求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zh-CN" altLang="en-US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不满足整数要求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上分别添加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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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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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记作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的最优解符合整数要求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那么这个解也是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的可行解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得到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的最优值的一个界限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最小化的上界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最大化的下界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该子问题的计算结束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如果子问题的最优解不满足整数要求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则继续分支计算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如果子问题的最优值超过界限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最小化大于界限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最大化小于界限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则往下计算不可能得到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计算结束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当没有待计算的子问题时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所有可行解中最好的是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ILP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的最优解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78563C-09EC-4AB1-A2E4-439DA346B962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192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ctrTitle"/>
          </p:nvPr>
        </p:nvSpPr>
        <p:spPr>
          <a:xfrm>
            <a:off x="685800" y="476250"/>
            <a:ext cx="7772400" cy="865188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6.15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7" name="副标题 2"/>
          <p:cNvSpPr>
            <a:spLocks noGrp="1"/>
          </p:cNvSpPr>
          <p:nvPr>
            <p:ph type="subTitle" idx="1"/>
          </p:nvPr>
        </p:nvSpPr>
        <p:spPr>
          <a:xfrm>
            <a:off x="684213" y="1484313"/>
            <a:ext cx="2530475" cy="2087562"/>
          </a:xfrm>
        </p:spPr>
        <p:txBody>
          <a:bodyPr/>
          <a:lstStyle/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 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3/2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2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整数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E49C75-B4B4-4CAC-9990-923CA54BD34B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29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2950" name="组合 96"/>
          <p:cNvGrpSpPr/>
          <p:nvPr/>
        </p:nvGrpSpPr>
        <p:grpSpPr bwMode="auto">
          <a:xfrm>
            <a:off x="3516313" y="1598613"/>
            <a:ext cx="5168900" cy="3946525"/>
            <a:chOff x="3650812" y="1571612"/>
            <a:chExt cx="4699896" cy="3500462"/>
          </a:xfrm>
        </p:grpSpPr>
        <p:sp>
          <p:nvSpPr>
            <p:cNvPr id="82951" name="Text Box 32"/>
            <p:cNvSpPr txBox="1">
              <a:spLocks noChangeArrowheads="1"/>
            </p:cNvSpPr>
            <p:nvPr/>
          </p:nvSpPr>
          <p:spPr bwMode="auto">
            <a:xfrm>
              <a:off x="3650812" y="4503946"/>
              <a:ext cx="563998" cy="568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O</a:t>
              </a:r>
              <a:endParaRPr lang="zh-CN" altLang="zh-CN" sz="2400" b="1">
                <a:latin typeface="Arial" panose="020B0604020202020204" pitchFamily="34" charset="0"/>
              </a:endParaRPr>
            </a:p>
          </p:txBody>
        </p:sp>
        <p:grpSp>
          <p:nvGrpSpPr>
            <p:cNvPr id="82952" name="组合 95"/>
            <p:cNvGrpSpPr/>
            <p:nvPr/>
          </p:nvGrpSpPr>
          <p:grpSpPr bwMode="auto">
            <a:xfrm>
              <a:off x="3857620" y="1571612"/>
              <a:ext cx="4493088" cy="3286148"/>
              <a:chOff x="3857620" y="1571612"/>
              <a:chExt cx="4493088" cy="3286148"/>
            </a:xfrm>
          </p:grpSpPr>
          <p:cxnSp>
            <p:nvCxnSpPr>
              <p:cNvPr id="82953" name="AutoShape 8"/>
              <p:cNvCxnSpPr>
                <a:cxnSpLocks noChangeShapeType="1"/>
              </p:cNvCxnSpPr>
              <p:nvPr/>
            </p:nvCxnSpPr>
            <p:spPr bwMode="auto">
              <a:xfrm>
                <a:off x="4015404" y="4572008"/>
                <a:ext cx="3805233" cy="7836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4" name="AutoShape 9"/>
              <p:cNvCxnSpPr>
                <a:cxnSpLocks noChangeShapeType="1"/>
              </p:cNvCxnSpPr>
              <p:nvPr/>
            </p:nvCxnSpPr>
            <p:spPr bwMode="auto">
              <a:xfrm flipV="1">
                <a:off x="4006043" y="2000388"/>
                <a:ext cx="0" cy="2553311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5" name="AutoShape 10"/>
              <p:cNvCxnSpPr>
                <a:cxnSpLocks noChangeShapeType="1"/>
              </p:cNvCxnSpPr>
              <p:nvPr/>
            </p:nvCxnSpPr>
            <p:spPr bwMode="auto">
              <a:xfrm>
                <a:off x="4015404" y="3935941"/>
                <a:ext cx="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6" name="AutoShape 11"/>
              <p:cNvCxnSpPr>
                <a:cxnSpLocks noChangeShapeType="1"/>
              </p:cNvCxnSpPr>
              <p:nvPr/>
            </p:nvCxnSpPr>
            <p:spPr bwMode="auto">
              <a:xfrm>
                <a:off x="4015404" y="3853661"/>
                <a:ext cx="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7" name="AutoShape 12"/>
              <p:cNvCxnSpPr>
                <a:cxnSpLocks noChangeShapeType="1"/>
              </p:cNvCxnSpPr>
              <p:nvPr/>
            </p:nvCxnSpPr>
            <p:spPr bwMode="auto">
              <a:xfrm>
                <a:off x="4015404" y="3935941"/>
                <a:ext cx="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8" name="AutoShape 13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000495" y="2786059"/>
                <a:ext cx="857258" cy="857256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59" name="AutoShape 14"/>
              <p:cNvCxnSpPr>
                <a:cxnSpLocks noChangeShapeType="1"/>
              </p:cNvCxnSpPr>
              <p:nvPr/>
            </p:nvCxnSpPr>
            <p:spPr bwMode="auto">
              <a:xfrm>
                <a:off x="4857752" y="2786058"/>
                <a:ext cx="2714644" cy="178595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60" name="AutoShape 1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861550" y="3782260"/>
                <a:ext cx="1563776" cy="158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61" name="AutoShape 1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545436" y="3812755"/>
                <a:ext cx="1481889" cy="158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62" name="AutoShape 17"/>
              <p:cNvCxnSpPr>
                <a:cxnSpLocks noChangeShapeType="1"/>
              </p:cNvCxnSpPr>
              <p:nvPr/>
            </p:nvCxnSpPr>
            <p:spPr bwMode="auto">
              <a:xfrm flipV="1">
                <a:off x="5929322" y="3457930"/>
                <a:ext cx="0" cy="1095769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963" name="AutoShape 18"/>
              <p:cNvCxnSpPr>
                <a:cxnSpLocks noChangeShapeType="1"/>
              </p:cNvCxnSpPr>
              <p:nvPr/>
            </p:nvCxnSpPr>
            <p:spPr bwMode="auto">
              <a:xfrm>
                <a:off x="5278432" y="3286124"/>
                <a:ext cx="293700" cy="0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964" name="Text Box 32"/>
              <p:cNvSpPr txBox="1">
                <a:spLocks noChangeArrowheads="1"/>
              </p:cNvSpPr>
              <p:nvPr/>
            </p:nvSpPr>
            <p:spPr bwMode="auto">
              <a:xfrm>
                <a:off x="7786710" y="4289632"/>
                <a:ext cx="563998" cy="568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x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cxnSp>
            <p:nvCxnSpPr>
              <p:cNvPr id="82965" name="AutoShape 34"/>
              <p:cNvCxnSpPr>
                <a:cxnSpLocks noChangeShapeType="1"/>
              </p:cNvCxnSpPr>
              <p:nvPr/>
            </p:nvCxnSpPr>
            <p:spPr bwMode="auto">
              <a:xfrm>
                <a:off x="4015404" y="3286124"/>
                <a:ext cx="2199670" cy="1285884"/>
              </a:xfrm>
              <a:prstGeom prst="straightConnector1">
                <a:avLst/>
              </a:prstGeom>
              <a:noFill/>
              <a:ln w="19050">
                <a:solidFill>
                  <a:srgbClr val="7030A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966" name="Text Box 22"/>
              <p:cNvSpPr txBox="1">
                <a:spLocks noChangeArrowheads="1"/>
              </p:cNvSpPr>
              <p:nvPr/>
            </p:nvSpPr>
            <p:spPr bwMode="auto">
              <a:xfrm>
                <a:off x="4516822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67" name="Text Box 22"/>
              <p:cNvSpPr txBox="1">
                <a:spLocks noChangeArrowheads="1"/>
              </p:cNvSpPr>
              <p:nvPr/>
            </p:nvSpPr>
            <p:spPr bwMode="auto">
              <a:xfrm>
                <a:off x="5159764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68" name="Text Box 22"/>
              <p:cNvSpPr txBox="1">
                <a:spLocks noChangeArrowheads="1"/>
              </p:cNvSpPr>
              <p:nvPr/>
            </p:nvSpPr>
            <p:spPr bwMode="auto">
              <a:xfrm>
                <a:off x="5802706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69" name="Text Box 22"/>
              <p:cNvSpPr txBox="1">
                <a:spLocks noChangeArrowheads="1"/>
              </p:cNvSpPr>
              <p:nvPr/>
            </p:nvSpPr>
            <p:spPr bwMode="auto">
              <a:xfrm>
                <a:off x="6445648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0" name="Text Box 22"/>
              <p:cNvSpPr txBox="1">
                <a:spLocks noChangeArrowheads="1"/>
              </p:cNvSpPr>
              <p:nvPr/>
            </p:nvSpPr>
            <p:spPr bwMode="auto">
              <a:xfrm>
                <a:off x="7088590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1" name="Text Box 22"/>
              <p:cNvSpPr txBox="1">
                <a:spLocks noChangeArrowheads="1"/>
              </p:cNvSpPr>
              <p:nvPr/>
            </p:nvSpPr>
            <p:spPr bwMode="auto">
              <a:xfrm>
                <a:off x="3857620" y="442913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2" name="Text Box 22"/>
              <p:cNvSpPr txBox="1">
                <a:spLocks noChangeArrowheads="1"/>
              </p:cNvSpPr>
              <p:nvPr/>
            </p:nvSpPr>
            <p:spPr bwMode="auto">
              <a:xfrm>
                <a:off x="4516822" y="378619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3" name="Text Box 22"/>
              <p:cNvSpPr txBox="1">
                <a:spLocks noChangeArrowheads="1"/>
              </p:cNvSpPr>
              <p:nvPr/>
            </p:nvSpPr>
            <p:spPr bwMode="auto">
              <a:xfrm>
                <a:off x="5159764" y="378619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4" name="Text Box 22"/>
              <p:cNvSpPr txBox="1">
                <a:spLocks noChangeArrowheads="1"/>
              </p:cNvSpPr>
              <p:nvPr/>
            </p:nvSpPr>
            <p:spPr bwMode="auto">
              <a:xfrm>
                <a:off x="5802706" y="378619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5" name="Text Box 22"/>
              <p:cNvSpPr txBox="1">
                <a:spLocks noChangeArrowheads="1"/>
              </p:cNvSpPr>
              <p:nvPr/>
            </p:nvSpPr>
            <p:spPr bwMode="auto">
              <a:xfrm>
                <a:off x="6445648" y="378619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76" name="Text Box 22"/>
              <p:cNvSpPr txBox="1">
                <a:spLocks noChangeArrowheads="1"/>
              </p:cNvSpPr>
              <p:nvPr/>
            </p:nvSpPr>
            <p:spPr bwMode="auto">
              <a:xfrm>
                <a:off x="3857620" y="378619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7" name="Text Box 22"/>
              <p:cNvSpPr txBox="1">
                <a:spLocks noChangeArrowheads="1"/>
              </p:cNvSpPr>
              <p:nvPr/>
            </p:nvSpPr>
            <p:spPr bwMode="auto">
              <a:xfrm>
                <a:off x="4516822" y="314324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78" name="Text Box 22"/>
              <p:cNvSpPr txBox="1">
                <a:spLocks noChangeArrowheads="1"/>
              </p:cNvSpPr>
              <p:nvPr/>
            </p:nvSpPr>
            <p:spPr bwMode="auto">
              <a:xfrm>
                <a:off x="5159764" y="314324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79" name="Text Box 22"/>
              <p:cNvSpPr txBox="1">
                <a:spLocks noChangeArrowheads="1"/>
              </p:cNvSpPr>
              <p:nvPr/>
            </p:nvSpPr>
            <p:spPr bwMode="auto">
              <a:xfrm>
                <a:off x="5802706" y="314324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80" name="Text Box 22"/>
              <p:cNvSpPr txBox="1">
                <a:spLocks noChangeArrowheads="1"/>
              </p:cNvSpPr>
              <p:nvPr/>
            </p:nvSpPr>
            <p:spPr bwMode="auto">
              <a:xfrm>
                <a:off x="3857620" y="314324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81" name="Text Box 22"/>
              <p:cNvSpPr txBox="1">
                <a:spLocks noChangeArrowheads="1"/>
              </p:cNvSpPr>
              <p:nvPr/>
            </p:nvSpPr>
            <p:spPr bwMode="auto">
              <a:xfrm>
                <a:off x="4516822" y="2500306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82" name="Text Box 22"/>
              <p:cNvSpPr txBox="1">
                <a:spLocks noChangeArrowheads="1"/>
              </p:cNvSpPr>
              <p:nvPr/>
            </p:nvSpPr>
            <p:spPr bwMode="auto">
              <a:xfrm>
                <a:off x="5159764" y="2500306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2983" name="Text Box 22"/>
              <p:cNvSpPr txBox="1">
                <a:spLocks noChangeArrowheads="1"/>
              </p:cNvSpPr>
              <p:nvPr/>
            </p:nvSpPr>
            <p:spPr bwMode="auto">
              <a:xfrm>
                <a:off x="3857620" y="2500306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cxnSp>
            <p:nvCxnSpPr>
              <p:cNvPr id="82984" name="AutoShape 19"/>
              <p:cNvCxnSpPr>
                <a:cxnSpLocks noChangeShapeType="1"/>
              </p:cNvCxnSpPr>
              <p:nvPr/>
            </p:nvCxnSpPr>
            <p:spPr bwMode="auto">
              <a:xfrm>
                <a:off x="5929322" y="3929066"/>
                <a:ext cx="642942" cy="1588"/>
              </a:xfrm>
              <a:prstGeom prst="straightConnector1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985" name="Text Box 32"/>
              <p:cNvSpPr txBox="1">
                <a:spLocks noChangeArrowheads="1"/>
              </p:cNvSpPr>
              <p:nvPr/>
            </p:nvSpPr>
            <p:spPr bwMode="auto">
              <a:xfrm>
                <a:off x="3865126" y="1571612"/>
                <a:ext cx="563998" cy="568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latin typeface="Times New Roman" panose="02020603050405020304" pitchFamily="18" charset="0"/>
                  </a:rPr>
                  <a:t>y</a:t>
                </a:r>
                <a:endParaRPr lang="zh-CN" altLang="zh-CN" sz="24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86" name="Text Box 32"/>
              <p:cNvSpPr txBox="1">
                <a:spLocks noChangeArrowheads="1"/>
              </p:cNvSpPr>
              <p:nvPr/>
            </p:nvSpPr>
            <p:spPr bwMode="auto">
              <a:xfrm>
                <a:off x="4643438" y="2432244"/>
                <a:ext cx="563998" cy="568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A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87" name="Text Box 22"/>
              <p:cNvSpPr txBox="1">
                <a:spLocks noChangeArrowheads="1"/>
              </p:cNvSpPr>
              <p:nvPr/>
            </p:nvSpPr>
            <p:spPr bwMode="auto">
              <a:xfrm>
                <a:off x="4714876" y="2652706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88" name="Text Box 22"/>
              <p:cNvSpPr txBox="1">
                <a:spLocks noChangeArrowheads="1"/>
              </p:cNvSpPr>
              <p:nvPr/>
            </p:nvSpPr>
            <p:spPr bwMode="auto">
              <a:xfrm>
                <a:off x="4516822" y="2860872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89" name="Text Box 22"/>
              <p:cNvSpPr txBox="1">
                <a:spLocks noChangeArrowheads="1"/>
              </p:cNvSpPr>
              <p:nvPr/>
            </p:nvSpPr>
            <p:spPr bwMode="auto">
              <a:xfrm>
                <a:off x="5159764" y="2932310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90" name="Text Box 22"/>
              <p:cNvSpPr txBox="1">
                <a:spLocks noChangeArrowheads="1"/>
              </p:cNvSpPr>
              <p:nvPr/>
            </p:nvSpPr>
            <p:spPr bwMode="auto">
              <a:xfrm>
                <a:off x="5500694" y="314324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91" name="Text Box 22"/>
              <p:cNvSpPr txBox="1">
                <a:spLocks noChangeArrowheads="1"/>
              </p:cNvSpPr>
              <p:nvPr/>
            </p:nvSpPr>
            <p:spPr bwMode="auto">
              <a:xfrm>
                <a:off x="5802706" y="3360938"/>
                <a:ext cx="340930" cy="28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40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  <a:endParaRPr lang="zh-CN" altLang="zh-CN" sz="1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992" name="Text Box 32"/>
              <p:cNvSpPr txBox="1">
                <a:spLocks noChangeArrowheads="1"/>
              </p:cNvSpPr>
              <p:nvPr/>
            </p:nvSpPr>
            <p:spPr bwMode="auto">
              <a:xfrm>
                <a:off x="4365192" y="2717996"/>
                <a:ext cx="563998" cy="568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B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3" name="Text Box 32"/>
              <p:cNvSpPr txBox="1">
                <a:spLocks noChangeArrowheads="1"/>
              </p:cNvSpPr>
              <p:nvPr/>
            </p:nvSpPr>
            <p:spPr bwMode="auto">
              <a:xfrm>
                <a:off x="5214942" y="2789434"/>
                <a:ext cx="563998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C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4" name="Text Box 32"/>
              <p:cNvSpPr txBox="1">
                <a:spLocks noChangeArrowheads="1"/>
              </p:cNvSpPr>
              <p:nvPr/>
            </p:nvSpPr>
            <p:spPr bwMode="auto">
              <a:xfrm>
                <a:off x="5579638" y="3003748"/>
                <a:ext cx="563998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D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5" name="Text Box 32"/>
              <p:cNvSpPr txBox="1">
                <a:spLocks noChangeArrowheads="1"/>
              </p:cNvSpPr>
              <p:nvPr/>
            </p:nvSpPr>
            <p:spPr bwMode="auto">
              <a:xfrm>
                <a:off x="4929190" y="3075186"/>
                <a:ext cx="563998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E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6" name="Text Box 32"/>
              <p:cNvSpPr txBox="1">
                <a:spLocks noChangeArrowheads="1"/>
              </p:cNvSpPr>
              <p:nvPr/>
            </p:nvSpPr>
            <p:spPr bwMode="auto">
              <a:xfrm>
                <a:off x="5936828" y="3214686"/>
                <a:ext cx="563998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F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7" name="Text Box 32"/>
              <p:cNvSpPr txBox="1">
                <a:spLocks noChangeArrowheads="1"/>
              </p:cNvSpPr>
              <p:nvPr/>
            </p:nvSpPr>
            <p:spPr bwMode="auto">
              <a:xfrm>
                <a:off x="6579770" y="3646690"/>
                <a:ext cx="563998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latin typeface="Times New Roman" panose="02020603050405020304" pitchFamily="18" charset="0"/>
                  </a:rPr>
                  <a:t>G</a:t>
                </a:r>
                <a:endParaRPr lang="zh-CN" altLang="zh-CN" sz="2000" b="1">
                  <a:latin typeface="Arial" panose="020B0604020202020204" pitchFamily="34" charset="0"/>
                </a:endParaRPr>
              </a:p>
            </p:txBody>
          </p:sp>
          <p:sp>
            <p:nvSpPr>
              <p:cNvPr id="82998" name="Text Box 32"/>
              <p:cNvSpPr txBox="1">
                <a:spLocks noChangeArrowheads="1"/>
              </p:cNvSpPr>
              <p:nvPr/>
            </p:nvSpPr>
            <p:spPr bwMode="auto">
              <a:xfrm>
                <a:off x="4731906" y="3571876"/>
                <a:ext cx="911664" cy="42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000" b="1">
                    <a:solidFill>
                      <a:srgbClr val="7030A0"/>
                    </a:solidFill>
                    <a:latin typeface="Times New Roman" panose="02020603050405020304" pitchFamily="18" charset="0"/>
                  </a:rPr>
                  <a:t>= -10</a:t>
                </a:r>
                <a:endParaRPr lang="zh-CN" altLang="zh-CN" sz="2000" b="1">
                  <a:solidFill>
                    <a:srgbClr val="7030A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ctrTitle"/>
          </p:nvPr>
        </p:nvSpPr>
        <p:spPr>
          <a:xfrm>
            <a:off x="5750719" y="559665"/>
            <a:ext cx="2936081" cy="595313"/>
          </a:xfrm>
        </p:spPr>
        <p:txBody>
          <a:bodyPr/>
          <a:lstStyle/>
          <a:p>
            <a:pPr eaLnBrk="1" hangingPunct="1"/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6.15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续</a:t>
            </a:r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971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EE3E5C-C62B-4108-B3BB-C44D5EFF17A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397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3973" name="组合 72"/>
          <p:cNvGrpSpPr/>
          <p:nvPr/>
        </p:nvGrpSpPr>
        <p:grpSpPr bwMode="auto">
          <a:xfrm>
            <a:off x="785813" y="642938"/>
            <a:ext cx="7429500" cy="5643562"/>
            <a:chOff x="785786" y="642918"/>
            <a:chExt cx="7429552" cy="5643602"/>
          </a:xfrm>
        </p:grpSpPr>
        <p:sp>
          <p:nvSpPr>
            <p:cNvPr id="83974" name="Text Box 8"/>
            <p:cNvSpPr txBox="1">
              <a:spLocks noChangeArrowheads="1"/>
            </p:cNvSpPr>
            <p:nvPr/>
          </p:nvSpPr>
          <p:spPr bwMode="auto">
            <a:xfrm>
              <a:off x="2571736" y="642918"/>
              <a:ext cx="1755721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     LP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>
                  <a:latin typeface="Times New Roman" panose="02020603050405020304" pitchFamily="18" charset="0"/>
                </a:rPr>
                <a:t>=13/10, </a:t>
              </a: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>
                  <a:latin typeface="Times New Roman" panose="02020603050405020304" pitchFamily="18" charset="0"/>
                </a:rPr>
                <a:t>=14/5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z</a:t>
              </a:r>
              <a:r>
                <a:rPr lang="en-US" altLang="zh-CN" sz="1800" b="1">
                  <a:latin typeface="Times New Roman" panose="02020603050405020304" pitchFamily="18" charset="0"/>
                </a:rPr>
                <a:t>= -179/10     </a:t>
              </a:r>
              <a:r>
                <a:rPr lang="en-US" altLang="zh-CN" sz="1800" b="1" i="1">
                  <a:solidFill>
                    <a:srgbClr val="00B050"/>
                  </a:solidFill>
                  <a:latin typeface="Times New Roman" panose="02020603050405020304" pitchFamily="18" charset="0"/>
                </a:rPr>
                <a:t>A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3975" name="AutoShape 19"/>
            <p:cNvCxnSpPr>
              <a:cxnSpLocks noChangeShapeType="1"/>
              <a:stCxn id="83979" idx="0"/>
            </p:cNvCxnSpPr>
            <p:nvPr/>
          </p:nvCxnSpPr>
          <p:spPr bwMode="auto">
            <a:xfrm rot="5400000" flipH="1" flipV="1">
              <a:off x="1893075" y="1035827"/>
              <a:ext cx="285752" cy="107157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76" name="AutoShape 20"/>
            <p:cNvCxnSpPr>
              <a:cxnSpLocks noChangeShapeType="1"/>
              <a:endCxn id="83980" idx="0"/>
            </p:cNvCxnSpPr>
            <p:nvPr/>
          </p:nvCxnSpPr>
          <p:spPr bwMode="auto">
            <a:xfrm>
              <a:off x="4286248" y="1428736"/>
              <a:ext cx="1143008" cy="2857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77" name="Text Box 27"/>
            <p:cNvSpPr txBox="1">
              <a:spLocks noChangeArrowheads="1"/>
            </p:cNvSpPr>
            <p:nvPr/>
          </p:nvSpPr>
          <p:spPr bwMode="auto">
            <a:xfrm>
              <a:off x="1624918" y="1271901"/>
              <a:ext cx="73250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zh-CN" sz="1800" b="1">
                  <a:latin typeface="Times New Roman" panose="02020603050405020304" pitchFamily="18" charset="0"/>
                </a:rPr>
                <a:t>1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78" name="Text Box 28"/>
            <p:cNvSpPr txBox="1">
              <a:spLocks noChangeArrowheads="1"/>
            </p:cNvSpPr>
            <p:nvPr/>
          </p:nvSpPr>
          <p:spPr bwMode="auto">
            <a:xfrm>
              <a:off x="4833450" y="1271901"/>
              <a:ext cx="66724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sz="1800" b="1">
                  <a:latin typeface="Times New Roman" panose="02020603050405020304" pitchFamily="18" charset="0"/>
                </a:rPr>
                <a:t>2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79" name="Text Box 8"/>
            <p:cNvSpPr txBox="1">
              <a:spLocks noChangeArrowheads="1"/>
            </p:cNvSpPr>
            <p:nvPr/>
          </p:nvSpPr>
          <p:spPr bwMode="auto">
            <a:xfrm>
              <a:off x="785786" y="1714488"/>
              <a:ext cx="1428760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LP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1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=1, </a:t>
              </a: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=5/2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 -31/2    </a:t>
              </a:r>
              <a:r>
                <a:rPr lang="en-US" altLang="zh-CN" sz="1800" b="1" i="1">
                  <a:solidFill>
                    <a:srgbClr val="00B050"/>
                  </a:solidFill>
                  <a:latin typeface="Times New Roman" panose="02020603050405020304" pitchFamily="18" charset="0"/>
                </a:rPr>
                <a:t>B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980" name="Text Box 8"/>
            <p:cNvSpPr txBox="1">
              <a:spLocks noChangeArrowheads="1"/>
            </p:cNvSpPr>
            <p:nvPr/>
          </p:nvSpPr>
          <p:spPr bwMode="auto">
            <a:xfrm>
              <a:off x="4714876" y="1714488"/>
              <a:ext cx="1428760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LP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=2, </a:t>
              </a: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=7/3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 -53/3    </a:t>
              </a:r>
              <a:r>
                <a:rPr lang="en-US" altLang="zh-CN" sz="1800" b="1" i="1">
                  <a:solidFill>
                    <a:srgbClr val="00B050"/>
                  </a:solidFill>
                  <a:latin typeface="Times New Roman" panose="02020603050405020304" pitchFamily="18" charset="0"/>
                </a:rPr>
                <a:t>C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981" name="Text Box 8"/>
            <p:cNvSpPr txBox="1">
              <a:spLocks noChangeArrowheads="1"/>
            </p:cNvSpPr>
            <p:nvPr/>
          </p:nvSpPr>
          <p:spPr bwMode="auto">
            <a:xfrm>
              <a:off x="2714612" y="2857510"/>
              <a:ext cx="1571636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 LP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=5/2, </a:t>
              </a: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=2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</a:t>
              </a:r>
              <a:r>
                <a:rPr lang="en-US" altLang="zh-CN" sz="1800" b="1">
                  <a:latin typeface="Times New Roman" panose="02020603050405020304" pitchFamily="18" charset="0"/>
                </a:rPr>
                <a:t>= -35/2    </a:t>
              </a:r>
              <a:r>
                <a:rPr lang="en-US" altLang="zh-CN" sz="1800" b="1" i="1">
                  <a:solidFill>
                    <a:srgbClr val="00B050"/>
                  </a:solidFill>
                  <a:latin typeface="Times New Roman" panose="02020603050405020304" pitchFamily="18" charset="0"/>
                </a:rPr>
                <a:t>D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Text Box 8"/>
            <p:cNvSpPr txBox="1">
              <a:spLocks noChangeArrowheads="1"/>
            </p:cNvSpPr>
            <p:nvPr/>
          </p:nvSpPr>
          <p:spPr bwMode="auto">
            <a:xfrm>
              <a:off x="6715139" y="2857496"/>
              <a:ext cx="1428760" cy="7858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1" hangingPunct="1">
                <a:lnSpc>
                  <a:spcPts val="1800"/>
                </a:lnSpc>
                <a:defRPr/>
              </a:pPr>
              <a:r>
                <a:rPr lang="en-US" altLang="zh-CN" b="1" dirty="0">
                  <a:latin typeface="Times New Roman" panose="02020603050405020304" pitchFamily="18" charset="0"/>
                </a:rPr>
                <a:t>      LP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22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50000"/>
                </a:lnSpc>
                <a:defRPr/>
              </a:pPr>
              <a:r>
                <a:rPr lang="en-US" altLang="zh-CN" b="1" dirty="0">
                  <a:latin typeface="+mn-ea"/>
                  <a:ea typeface="+mn-ea"/>
                </a:rPr>
                <a:t> </a:t>
              </a:r>
              <a:r>
                <a:rPr lang="zh-CN" altLang="en-US" b="1" dirty="0">
                  <a:latin typeface="+mn-ea"/>
                  <a:ea typeface="+mn-ea"/>
                </a:rPr>
                <a:t>无可行解</a:t>
              </a:r>
              <a:endParaRPr lang="zh-CN" altLang="zh-CN" b="1" dirty="0">
                <a:latin typeface="+mn-ea"/>
                <a:ea typeface="+mn-ea"/>
              </a:endParaRPr>
            </a:p>
          </p:txBody>
        </p:sp>
        <p:sp>
          <p:nvSpPr>
            <p:cNvPr id="83983" name="Text Box 8"/>
            <p:cNvSpPr txBox="1">
              <a:spLocks noChangeArrowheads="1"/>
            </p:cNvSpPr>
            <p:nvPr/>
          </p:nvSpPr>
          <p:spPr bwMode="auto">
            <a:xfrm>
              <a:off x="857224" y="4000518"/>
              <a:ext cx="1571636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 LP</a:t>
              </a:r>
              <a:r>
                <a:rPr lang="en-US" altLang="zh-CN" sz="1800" b="1" baseline="-25000">
                  <a:solidFill>
                    <a:srgbClr val="7030A0"/>
                  </a:solidFill>
                  <a:latin typeface="Times New Roman" panose="02020603050405020304" pitchFamily="18" charset="0"/>
                </a:rPr>
                <a:t>211</a:t>
              </a:r>
              <a:endParaRPr lang="en-US" altLang="zh-CN" sz="1800" b="1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solidFill>
                    <a:srgbClr val="7030A0"/>
                  </a:solidFill>
                  <a:latin typeface="Times New Roman" panose="02020603050405020304" pitchFamily="18" charset="0"/>
                </a:rPr>
                <a:t>211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=2, </a:t>
              </a: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solidFill>
                    <a:srgbClr val="7030A0"/>
                  </a:solidFill>
                  <a:latin typeface="Times New Roman" panose="02020603050405020304" pitchFamily="18" charset="0"/>
                </a:rPr>
                <a:t>211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=2</a:t>
              </a:r>
              <a:endParaRPr lang="en-US" altLang="zh-CN" sz="1800" b="1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solidFill>
                    <a:srgbClr val="7030A0"/>
                  </a:solidFill>
                  <a:latin typeface="Times New Roman" panose="02020603050405020304" pitchFamily="18" charset="0"/>
                </a:rPr>
                <a:t>211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= -16     </a:t>
              </a: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E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984" name="Text Box 8"/>
            <p:cNvSpPr txBox="1">
              <a:spLocks noChangeArrowheads="1"/>
            </p:cNvSpPr>
            <p:nvPr/>
          </p:nvSpPr>
          <p:spPr bwMode="auto">
            <a:xfrm>
              <a:off x="4643438" y="4000518"/>
              <a:ext cx="1785950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 LP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212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=3, </a:t>
              </a: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=5/3</a:t>
              </a:r>
              <a:endParaRPr lang="en-US" altLang="zh-CN" sz="18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latin typeface="Times New Roman" panose="02020603050405020304" pitchFamily="18" charset="0"/>
                </a:rPr>
                <a:t>212</a:t>
              </a:r>
              <a:r>
                <a:rPr lang="en-US" altLang="zh-CN" sz="1800" b="1">
                  <a:latin typeface="Times New Roman" panose="02020603050405020304" pitchFamily="18" charset="0"/>
                </a:rPr>
                <a:t>= -52/3      </a:t>
              </a:r>
              <a:r>
                <a:rPr lang="en-US" altLang="zh-CN" sz="1800" b="1" i="1">
                  <a:solidFill>
                    <a:srgbClr val="00B050"/>
                  </a:solidFill>
                  <a:latin typeface="Times New Roman" panose="02020603050405020304" pitchFamily="18" charset="0"/>
                </a:rPr>
                <a:t>F</a:t>
              </a:r>
              <a:endParaRPr lang="zh-CN" altLang="zh-CN" sz="1800" b="1" i="1">
                <a:solidFill>
                  <a:srgbClr val="00B05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985" name="Text Box 8"/>
            <p:cNvSpPr txBox="1">
              <a:spLocks noChangeArrowheads="1"/>
            </p:cNvSpPr>
            <p:nvPr/>
          </p:nvSpPr>
          <p:spPr bwMode="auto">
            <a:xfrm>
              <a:off x="2571736" y="5143526"/>
              <a:ext cx="1785950" cy="7858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       </a:t>
              </a: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LP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2121</a:t>
              </a:r>
              <a:endPara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2121</a:t>
              </a: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=4, </a:t>
              </a:r>
              <a:r>
                <a:rPr lang="en-US" altLang="zh-CN" sz="1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2121</a:t>
              </a: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ts val="18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2121</a:t>
              </a:r>
              <a:r>
                <a:rPr lang="en-US" altLang="zh-CN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 -17      </a:t>
              </a:r>
              <a:r>
                <a:rPr lang="en-US" altLang="zh-CN" sz="1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endParaRPr lang="zh-CN" altLang="zh-CN" sz="1800" b="1" i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Text Box 8"/>
            <p:cNvSpPr txBox="1">
              <a:spLocks noChangeArrowheads="1"/>
            </p:cNvSpPr>
            <p:nvPr/>
          </p:nvSpPr>
          <p:spPr bwMode="auto">
            <a:xfrm>
              <a:off x="6786578" y="5143512"/>
              <a:ext cx="1428760" cy="7858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algn="just" eaLnBrk="1" hangingPunct="1">
                <a:lnSpc>
                  <a:spcPts val="1800"/>
                </a:lnSpc>
                <a:defRPr/>
              </a:pPr>
              <a:r>
                <a:rPr lang="en-US" altLang="zh-CN" b="1" dirty="0">
                  <a:latin typeface="Times New Roman" panose="02020603050405020304" pitchFamily="18" charset="0"/>
                </a:rPr>
                <a:t>      LP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2122</a:t>
              </a:r>
              <a:endParaRPr lang="en-US" altLang="zh-CN" b="1" dirty="0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50000"/>
                </a:lnSpc>
                <a:defRPr/>
              </a:pPr>
              <a:r>
                <a:rPr lang="en-US" altLang="zh-CN" b="1" dirty="0">
                  <a:latin typeface="+mn-ea"/>
                  <a:ea typeface="+mn-ea"/>
                </a:rPr>
                <a:t> </a:t>
              </a:r>
              <a:r>
                <a:rPr lang="zh-CN" altLang="en-US" b="1" dirty="0">
                  <a:latin typeface="+mn-ea"/>
                  <a:ea typeface="+mn-ea"/>
                </a:rPr>
                <a:t>无可行解</a:t>
              </a:r>
              <a:endParaRPr lang="zh-CN" altLang="zh-CN" b="1" dirty="0">
                <a:latin typeface="+mn-ea"/>
                <a:ea typeface="+mn-ea"/>
              </a:endParaRPr>
            </a:p>
          </p:txBody>
        </p:sp>
        <p:cxnSp>
          <p:nvCxnSpPr>
            <p:cNvPr id="83987" name="AutoShape 19"/>
            <p:cNvCxnSpPr>
              <a:cxnSpLocks noChangeShapeType="1"/>
              <a:stCxn id="83981" idx="0"/>
            </p:cNvCxnSpPr>
            <p:nvPr/>
          </p:nvCxnSpPr>
          <p:spPr bwMode="auto">
            <a:xfrm rot="5400000" flipH="1" flipV="1">
              <a:off x="3929051" y="2071685"/>
              <a:ext cx="357204" cy="12144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88" name="AutoShape 20"/>
            <p:cNvCxnSpPr>
              <a:cxnSpLocks noChangeShapeType="1"/>
              <a:endCxn id="41" idx="0"/>
            </p:cNvCxnSpPr>
            <p:nvPr/>
          </p:nvCxnSpPr>
          <p:spPr bwMode="auto">
            <a:xfrm>
              <a:off x="6143636" y="2500306"/>
              <a:ext cx="1285884" cy="3572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89" name="Text Box 27"/>
            <p:cNvSpPr txBox="1">
              <a:spLocks noChangeArrowheads="1"/>
            </p:cNvSpPr>
            <p:nvPr/>
          </p:nvSpPr>
          <p:spPr bwMode="auto">
            <a:xfrm>
              <a:off x="3696620" y="2343471"/>
              <a:ext cx="73250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2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90" name="Text Box 28"/>
            <p:cNvSpPr txBox="1">
              <a:spLocks noChangeArrowheads="1"/>
            </p:cNvSpPr>
            <p:nvPr/>
          </p:nvSpPr>
          <p:spPr bwMode="auto">
            <a:xfrm>
              <a:off x="6690838" y="2343471"/>
              <a:ext cx="66724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3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cxnSp>
          <p:nvCxnSpPr>
            <p:cNvPr id="83991" name="AutoShape 19"/>
            <p:cNvCxnSpPr>
              <a:cxnSpLocks noChangeShapeType="1"/>
              <a:stCxn id="83983" idx="0"/>
            </p:cNvCxnSpPr>
            <p:nvPr/>
          </p:nvCxnSpPr>
          <p:spPr bwMode="auto">
            <a:xfrm rot="5400000" flipH="1" flipV="1">
              <a:off x="2004987" y="3281369"/>
              <a:ext cx="357205" cy="108109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92" name="AutoShape 20"/>
            <p:cNvCxnSpPr>
              <a:cxnSpLocks noChangeShapeType="1"/>
              <a:endCxn id="83984" idx="0"/>
            </p:cNvCxnSpPr>
            <p:nvPr/>
          </p:nvCxnSpPr>
          <p:spPr bwMode="auto">
            <a:xfrm>
              <a:off x="4286248" y="3643313"/>
              <a:ext cx="1250165" cy="3572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93" name="Text Box 27"/>
            <p:cNvSpPr txBox="1">
              <a:spLocks noChangeArrowheads="1"/>
            </p:cNvSpPr>
            <p:nvPr/>
          </p:nvSpPr>
          <p:spPr bwMode="auto">
            <a:xfrm>
              <a:off x="1777318" y="3486478"/>
              <a:ext cx="73250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2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94" name="Text Box 28"/>
            <p:cNvSpPr txBox="1">
              <a:spLocks noChangeArrowheads="1"/>
            </p:cNvSpPr>
            <p:nvPr/>
          </p:nvSpPr>
          <p:spPr bwMode="auto">
            <a:xfrm>
              <a:off x="4985850" y="3557917"/>
              <a:ext cx="66724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3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cxnSp>
          <p:nvCxnSpPr>
            <p:cNvPr id="83995" name="AutoShape 19"/>
            <p:cNvCxnSpPr>
              <a:cxnSpLocks noChangeShapeType="1"/>
            </p:cNvCxnSpPr>
            <p:nvPr/>
          </p:nvCxnSpPr>
          <p:spPr bwMode="auto">
            <a:xfrm rot="5400000" flipH="1" flipV="1">
              <a:off x="3857613" y="4357687"/>
              <a:ext cx="357204" cy="121444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96" name="AutoShape 20"/>
            <p:cNvCxnSpPr>
              <a:cxnSpLocks noChangeShapeType="1"/>
            </p:cNvCxnSpPr>
            <p:nvPr/>
          </p:nvCxnSpPr>
          <p:spPr bwMode="auto">
            <a:xfrm>
              <a:off x="6429388" y="4786322"/>
              <a:ext cx="928694" cy="3571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97" name="Text Box 27"/>
            <p:cNvSpPr txBox="1">
              <a:spLocks noChangeArrowheads="1"/>
            </p:cNvSpPr>
            <p:nvPr/>
          </p:nvSpPr>
          <p:spPr bwMode="auto">
            <a:xfrm>
              <a:off x="3625182" y="4629473"/>
              <a:ext cx="73250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1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98" name="Text Box 28"/>
            <p:cNvSpPr txBox="1">
              <a:spLocks noChangeArrowheads="1"/>
            </p:cNvSpPr>
            <p:nvPr/>
          </p:nvSpPr>
          <p:spPr bwMode="auto">
            <a:xfrm>
              <a:off x="6976590" y="4700925"/>
              <a:ext cx="667244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1800" b="1">
                  <a:latin typeface="Times New Roman" panose="02020603050405020304" pitchFamily="18" charset="0"/>
                  <a:sym typeface="Symbol" panose="05050102010706020507" pitchFamily="18" charset="2"/>
                </a:rPr>
                <a:t>2</a:t>
              </a:r>
              <a:endParaRPr lang="zh-CN" altLang="zh-CN" sz="1800" b="1">
                <a:latin typeface="Arial" panose="020B0604020202020204" pitchFamily="34" charset="0"/>
              </a:endParaRPr>
            </a:p>
          </p:txBody>
        </p:sp>
        <p:sp>
          <p:nvSpPr>
            <p:cNvPr id="83999" name="Text Box 27"/>
            <p:cNvSpPr txBox="1">
              <a:spLocks noChangeArrowheads="1"/>
            </p:cNvSpPr>
            <p:nvPr/>
          </p:nvSpPr>
          <p:spPr bwMode="auto">
            <a:xfrm>
              <a:off x="1267728" y="4772363"/>
              <a:ext cx="946818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= -16</a:t>
              </a:r>
              <a:endParaRPr lang="zh-CN" altLang="zh-CN" sz="1800" b="1">
                <a:solidFill>
                  <a:srgbClr val="7030A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000" name="Text Box 27"/>
            <p:cNvSpPr txBox="1">
              <a:spLocks noChangeArrowheads="1"/>
            </p:cNvSpPr>
            <p:nvPr/>
          </p:nvSpPr>
          <p:spPr bwMode="auto">
            <a:xfrm>
              <a:off x="2982240" y="5915371"/>
              <a:ext cx="946818" cy="371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7030A0"/>
                  </a:solidFill>
                  <a:latin typeface="Times New Roman" panose="02020603050405020304" pitchFamily="18" charset="0"/>
                </a:rPr>
                <a:t>u</a:t>
              </a:r>
              <a:r>
                <a:rPr lang="en-US" altLang="zh-CN" sz="1800" b="1">
                  <a:solidFill>
                    <a:srgbClr val="7030A0"/>
                  </a:solidFill>
                  <a:latin typeface="Times New Roman" panose="02020603050405020304" pitchFamily="18" charset="0"/>
                </a:rPr>
                <a:t>= -17</a:t>
              </a:r>
              <a:endParaRPr lang="zh-CN" altLang="zh-CN" sz="1800" b="1">
                <a:solidFill>
                  <a:srgbClr val="7030A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ctrTitle"/>
          </p:nvPr>
        </p:nvSpPr>
        <p:spPr>
          <a:xfrm>
            <a:off x="3033712" y="504826"/>
            <a:ext cx="2743200" cy="666750"/>
          </a:xfrm>
        </p:spPr>
        <p:txBody>
          <a:bodyPr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995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DD237-6FF8-4A60-B0E4-6E6345F6D74D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499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4997" name="组合 38"/>
          <p:cNvGrpSpPr/>
          <p:nvPr/>
        </p:nvGrpSpPr>
        <p:grpSpPr bwMode="auto">
          <a:xfrm>
            <a:off x="1047750" y="1622425"/>
            <a:ext cx="6572250" cy="4143375"/>
            <a:chOff x="714348" y="1643050"/>
            <a:chExt cx="6572296" cy="4143406"/>
          </a:xfrm>
        </p:grpSpPr>
        <p:sp>
          <p:nvSpPr>
            <p:cNvPr id="84998" name="Text Box 8"/>
            <p:cNvSpPr txBox="1">
              <a:spLocks noChangeArrowheads="1"/>
            </p:cNvSpPr>
            <p:nvPr/>
          </p:nvSpPr>
          <p:spPr bwMode="auto">
            <a:xfrm>
              <a:off x="857224" y="1643050"/>
              <a:ext cx="6429420" cy="41434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-3      -5      0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1.5        -1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1      0           1.5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11          2       3       0       1          11/3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0         -3      -5       0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1.5         -1       1       1       0            -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6.5     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0      -3       1          1.3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7.5        -8       0       5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2.8          0       1     0.4      0.2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1.3          1       0    -0.6     0.2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17.9        0       0      0.2     1.6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999" name="AutoShape 9"/>
            <p:cNvCxnSpPr>
              <a:cxnSpLocks noChangeShapeType="1"/>
            </p:cNvCxnSpPr>
            <p:nvPr/>
          </p:nvCxnSpPr>
          <p:spPr bwMode="auto">
            <a:xfrm>
              <a:off x="714348" y="1714488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0" name="AutoShape 20"/>
            <p:cNvCxnSpPr>
              <a:cxnSpLocks noChangeShapeType="1"/>
            </p:cNvCxnSpPr>
            <p:nvPr/>
          </p:nvCxnSpPr>
          <p:spPr bwMode="auto">
            <a:xfrm flipH="1">
              <a:off x="1393010" y="2070090"/>
              <a:ext cx="17858" cy="3716366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1" name="AutoShape 9"/>
            <p:cNvCxnSpPr>
              <a:cxnSpLocks noChangeShapeType="1"/>
            </p:cNvCxnSpPr>
            <p:nvPr/>
          </p:nvCxnSpPr>
          <p:spPr bwMode="auto">
            <a:xfrm>
              <a:off x="714348" y="2070090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2" name="AutoShape 9"/>
            <p:cNvCxnSpPr>
              <a:cxnSpLocks noChangeShapeType="1"/>
            </p:cNvCxnSpPr>
            <p:nvPr/>
          </p:nvCxnSpPr>
          <p:spPr bwMode="auto">
            <a:xfrm>
              <a:off x="714348" y="2427280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3" name="AutoShape 9"/>
            <p:cNvCxnSpPr>
              <a:cxnSpLocks noChangeShapeType="1"/>
            </p:cNvCxnSpPr>
            <p:nvPr/>
          </p:nvCxnSpPr>
          <p:spPr bwMode="auto">
            <a:xfrm>
              <a:off x="714348" y="3213098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4" name="AutoShape 9"/>
            <p:cNvCxnSpPr>
              <a:cxnSpLocks noChangeShapeType="1"/>
            </p:cNvCxnSpPr>
            <p:nvPr/>
          </p:nvCxnSpPr>
          <p:spPr bwMode="auto">
            <a:xfrm>
              <a:off x="714348" y="3500438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5" name="AutoShape 9"/>
            <p:cNvCxnSpPr>
              <a:cxnSpLocks noChangeShapeType="1"/>
            </p:cNvCxnSpPr>
            <p:nvPr/>
          </p:nvCxnSpPr>
          <p:spPr bwMode="auto">
            <a:xfrm>
              <a:off x="714348" y="4286256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6" name="AutoShape 9"/>
            <p:cNvCxnSpPr>
              <a:cxnSpLocks noChangeShapeType="1"/>
            </p:cNvCxnSpPr>
            <p:nvPr/>
          </p:nvCxnSpPr>
          <p:spPr bwMode="auto">
            <a:xfrm>
              <a:off x="714348" y="4641858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7" name="AutoShape 9"/>
            <p:cNvCxnSpPr>
              <a:cxnSpLocks noChangeShapeType="1"/>
            </p:cNvCxnSpPr>
            <p:nvPr/>
          </p:nvCxnSpPr>
          <p:spPr bwMode="auto">
            <a:xfrm>
              <a:off x="714348" y="5356238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8" name="AutoShape 9"/>
            <p:cNvCxnSpPr>
              <a:cxnSpLocks noChangeShapeType="1"/>
            </p:cNvCxnSpPr>
            <p:nvPr/>
          </p:nvCxnSpPr>
          <p:spPr bwMode="auto">
            <a:xfrm>
              <a:off x="714348" y="5715016"/>
              <a:ext cx="6572296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9" name="AutoShape 20"/>
            <p:cNvCxnSpPr>
              <a:cxnSpLocks noChangeShapeType="1"/>
            </p:cNvCxnSpPr>
            <p:nvPr/>
          </p:nvCxnSpPr>
          <p:spPr bwMode="auto">
            <a:xfrm>
              <a:off x="2082509" y="2071677"/>
              <a:ext cx="1" cy="371477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0" name="AutoShape 20"/>
            <p:cNvCxnSpPr>
              <a:cxnSpLocks noChangeShapeType="1"/>
            </p:cNvCxnSpPr>
            <p:nvPr/>
          </p:nvCxnSpPr>
          <p:spPr bwMode="auto">
            <a:xfrm rot="5400000">
              <a:off x="1018354" y="3714754"/>
              <a:ext cx="4000530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1" name="AutoShape 20"/>
            <p:cNvCxnSpPr>
              <a:cxnSpLocks noChangeShapeType="1"/>
            </p:cNvCxnSpPr>
            <p:nvPr/>
          </p:nvCxnSpPr>
          <p:spPr bwMode="auto">
            <a:xfrm rot="5400000">
              <a:off x="4071932" y="3714753"/>
              <a:ext cx="4000530" cy="1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ctrTitle"/>
          </p:nvPr>
        </p:nvSpPr>
        <p:spPr>
          <a:xfrm>
            <a:off x="693267" y="285750"/>
            <a:ext cx="2664296" cy="571500"/>
          </a:xfrm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4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19" name="副标题 2"/>
          <p:cNvSpPr>
            <a:spLocks noGrp="1"/>
          </p:cNvSpPr>
          <p:nvPr>
            <p:ph type="subTitle" idx="1"/>
          </p:nvPr>
        </p:nvSpPr>
        <p:spPr>
          <a:xfrm>
            <a:off x="6429375" y="1643063"/>
            <a:ext cx="2143125" cy="4000500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引入松弛变量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行减第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消去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用对偶单纯形法求解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20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291C73-9240-492C-94F5-F01CA24EDAB1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602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6022" name="组合 36"/>
          <p:cNvGrpSpPr/>
          <p:nvPr/>
        </p:nvGrpSpPr>
        <p:grpSpPr bwMode="auto">
          <a:xfrm>
            <a:off x="500063" y="928688"/>
            <a:ext cx="5857875" cy="5572125"/>
            <a:chOff x="500034" y="928670"/>
            <a:chExt cx="5857916" cy="5572165"/>
          </a:xfrm>
        </p:grpSpPr>
        <p:sp>
          <p:nvSpPr>
            <p:cNvPr id="86023" name="Text Box 7"/>
            <p:cNvSpPr txBox="1">
              <a:spLocks noChangeArrowheads="1"/>
            </p:cNvSpPr>
            <p:nvPr/>
          </p:nvSpPr>
          <p:spPr bwMode="auto">
            <a:xfrm>
              <a:off x="500034" y="928670"/>
              <a:ext cx="5857916" cy="55721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  -5      0         0         0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2.8       0        1      0.4      0.2       0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1.3       1        0     -0.6     0.2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lang="en-US" altLang="zh-CN" sz="2400" b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1        1        0        0         0        1</a:t>
              </a:r>
              <a:endParaRPr lang="en-US" altLang="zh-CN" sz="24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17.9       0        0      0.2     1.6        0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2.8        0        1      0.4     0.2        0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1.3        1        0    -0.6      0.2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-0.3        0        0      0.6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-0.2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17.9       0        0      0.2      1.6        0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        -        -        -8          -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2.5        0        1        1        0          1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1         1        0        0        0          1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1.5        0        0       -3       1         -5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15.5        0       0         5       0          8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024" name="AutoShape 8"/>
            <p:cNvCxnSpPr>
              <a:cxnSpLocks noChangeShapeType="1"/>
            </p:cNvCxnSpPr>
            <p:nvPr/>
          </p:nvCxnSpPr>
          <p:spPr bwMode="auto">
            <a:xfrm flipV="1">
              <a:off x="500034" y="1000108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5" name="AutoShape 17"/>
            <p:cNvCxnSpPr>
              <a:cxnSpLocks noChangeShapeType="1"/>
            </p:cNvCxnSpPr>
            <p:nvPr/>
          </p:nvCxnSpPr>
          <p:spPr bwMode="auto">
            <a:xfrm rot="5400000">
              <a:off x="-1607386" y="3893347"/>
              <a:ext cx="5143536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6" name="AutoShape 8"/>
            <p:cNvCxnSpPr>
              <a:cxnSpLocks noChangeShapeType="1"/>
            </p:cNvCxnSpPr>
            <p:nvPr/>
          </p:nvCxnSpPr>
          <p:spPr bwMode="auto">
            <a:xfrm flipV="1">
              <a:off x="500034" y="1357297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7" name="AutoShape 8"/>
            <p:cNvCxnSpPr>
              <a:cxnSpLocks noChangeShapeType="1"/>
            </p:cNvCxnSpPr>
            <p:nvPr/>
          </p:nvCxnSpPr>
          <p:spPr bwMode="auto">
            <a:xfrm flipV="1">
              <a:off x="500034" y="1714487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8" name="AutoShape 8"/>
            <p:cNvCxnSpPr>
              <a:cxnSpLocks noChangeShapeType="1"/>
            </p:cNvCxnSpPr>
            <p:nvPr/>
          </p:nvCxnSpPr>
          <p:spPr bwMode="auto">
            <a:xfrm flipV="1">
              <a:off x="500034" y="2786057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29" name="AutoShape 8"/>
            <p:cNvCxnSpPr>
              <a:cxnSpLocks noChangeShapeType="1"/>
            </p:cNvCxnSpPr>
            <p:nvPr/>
          </p:nvCxnSpPr>
          <p:spPr bwMode="auto">
            <a:xfrm flipV="1">
              <a:off x="500034" y="3143248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0" name="AutoShape 8"/>
            <p:cNvCxnSpPr>
              <a:cxnSpLocks noChangeShapeType="1"/>
            </p:cNvCxnSpPr>
            <p:nvPr/>
          </p:nvCxnSpPr>
          <p:spPr bwMode="auto">
            <a:xfrm flipV="1">
              <a:off x="500034" y="4286255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1" name="AutoShape 8"/>
            <p:cNvCxnSpPr>
              <a:cxnSpLocks noChangeShapeType="1"/>
            </p:cNvCxnSpPr>
            <p:nvPr/>
          </p:nvCxnSpPr>
          <p:spPr bwMode="auto">
            <a:xfrm flipV="1">
              <a:off x="500034" y="4643445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2" name="AutoShape 8"/>
            <p:cNvCxnSpPr>
              <a:cxnSpLocks noChangeShapeType="1"/>
            </p:cNvCxnSpPr>
            <p:nvPr/>
          </p:nvCxnSpPr>
          <p:spPr bwMode="auto">
            <a:xfrm flipV="1">
              <a:off x="500034" y="5000635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3" name="AutoShape 8"/>
            <p:cNvCxnSpPr>
              <a:cxnSpLocks noChangeShapeType="1"/>
            </p:cNvCxnSpPr>
            <p:nvPr/>
          </p:nvCxnSpPr>
          <p:spPr bwMode="auto">
            <a:xfrm flipV="1">
              <a:off x="500034" y="6143643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4" name="AutoShape 8"/>
            <p:cNvCxnSpPr>
              <a:cxnSpLocks noChangeShapeType="1"/>
            </p:cNvCxnSpPr>
            <p:nvPr/>
          </p:nvCxnSpPr>
          <p:spPr bwMode="auto">
            <a:xfrm flipV="1">
              <a:off x="500034" y="6500833"/>
              <a:ext cx="571504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5" name="AutoShape 17"/>
            <p:cNvCxnSpPr>
              <a:cxnSpLocks noChangeShapeType="1"/>
            </p:cNvCxnSpPr>
            <p:nvPr/>
          </p:nvCxnSpPr>
          <p:spPr bwMode="auto">
            <a:xfrm rot="5400000">
              <a:off x="-1107322" y="3893347"/>
              <a:ext cx="5143536" cy="71439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036" name="AutoShape 17"/>
            <p:cNvCxnSpPr>
              <a:cxnSpLocks noChangeShapeType="1"/>
            </p:cNvCxnSpPr>
            <p:nvPr/>
          </p:nvCxnSpPr>
          <p:spPr bwMode="auto">
            <a:xfrm rot="5400000">
              <a:off x="-428660" y="3714753"/>
              <a:ext cx="5500727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ctrTitle"/>
          </p:nvPr>
        </p:nvSpPr>
        <p:spPr>
          <a:xfrm>
            <a:off x="500062" y="357188"/>
            <a:ext cx="4359969" cy="666750"/>
          </a:xfrm>
        </p:spPr>
        <p:txBody>
          <a:bodyPr/>
          <a:lstStyle/>
          <a:p>
            <a:pPr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4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3" name="副标题 2"/>
          <p:cNvSpPr>
            <a:spLocks noGrp="1"/>
          </p:cNvSpPr>
          <p:nvPr>
            <p:ph type="subTitle" idx="1"/>
          </p:nvPr>
        </p:nvSpPr>
        <p:spPr>
          <a:xfrm>
            <a:off x="6875463" y="1484313"/>
            <a:ext cx="2036762" cy="3529012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引入剩余变量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/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2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第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行加第 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行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消去 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取</a:t>
            </a:r>
            <a:r>
              <a:rPr lang="en-US" altLang="zh-CN" sz="2400" b="1" i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作为基变量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>
              <a:spcBef>
                <a:spcPts val="1200"/>
              </a:spcBef>
            </a:pPr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用对偶单纯形法求解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4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6EBB5F-7368-4D09-8792-25EEBCD60C70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704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87046" name="组合 48"/>
          <p:cNvGrpSpPr/>
          <p:nvPr/>
        </p:nvGrpSpPr>
        <p:grpSpPr bwMode="auto">
          <a:xfrm>
            <a:off x="755650" y="1071563"/>
            <a:ext cx="6000750" cy="5572125"/>
            <a:chOff x="857224" y="1071546"/>
            <a:chExt cx="6000792" cy="5572167"/>
          </a:xfrm>
        </p:grpSpPr>
        <p:sp>
          <p:nvSpPr>
            <p:cNvPr id="87047" name="Text Box 7"/>
            <p:cNvSpPr txBox="1">
              <a:spLocks noChangeArrowheads="1"/>
            </p:cNvSpPr>
            <p:nvPr/>
          </p:nvSpPr>
          <p:spPr bwMode="auto">
            <a:xfrm>
              <a:off x="857224" y="1071546"/>
              <a:ext cx="5929354" cy="55721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-3      -5       0        0         0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2.8        0       1      0.4      0.2       0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1.3        1       0    -0.6      0.2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en-US" altLang="zh-CN" sz="2400" b="1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-2        -1       0       0         0         1</a:t>
              </a:r>
              <a:endParaRPr lang="en-US" altLang="zh-CN" sz="24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17.9        0       0      0.2      1.6       0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2.8        0       1      0.4      0.2       0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1.3        1       0    -0.6      0.2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-0.7        0       0    </a:t>
              </a:r>
              <a:r>
                <a:rPr lang="en-US" altLang="zh-CN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-0.6 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0.2        1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17.9        0       0      0.2      1.6        0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-        -     -1/3        -         -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7/3         0       1       0        1/3      2/3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2          1       0       0          0       -1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0    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7/6          0       0       0       -1/3    -1/6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-</a:t>
              </a: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53/3          0       0       0        5/3     1/3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048" name="AutoShape 8"/>
            <p:cNvCxnSpPr>
              <a:cxnSpLocks noChangeShapeType="1"/>
            </p:cNvCxnSpPr>
            <p:nvPr/>
          </p:nvCxnSpPr>
          <p:spPr bwMode="auto">
            <a:xfrm>
              <a:off x="857224" y="114298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49" name="AutoShape 17"/>
            <p:cNvCxnSpPr>
              <a:cxnSpLocks noChangeShapeType="1"/>
            </p:cNvCxnSpPr>
            <p:nvPr/>
          </p:nvCxnSpPr>
          <p:spPr bwMode="auto">
            <a:xfrm rot="5400000">
              <a:off x="-1237498" y="4023525"/>
              <a:ext cx="5143538" cy="968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0" name="AutoShape 8"/>
            <p:cNvCxnSpPr>
              <a:cxnSpLocks noChangeShapeType="1"/>
            </p:cNvCxnSpPr>
            <p:nvPr/>
          </p:nvCxnSpPr>
          <p:spPr bwMode="auto">
            <a:xfrm>
              <a:off x="857224" y="1498586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1" name="AutoShape 8"/>
            <p:cNvCxnSpPr>
              <a:cxnSpLocks noChangeShapeType="1"/>
            </p:cNvCxnSpPr>
            <p:nvPr/>
          </p:nvCxnSpPr>
          <p:spPr bwMode="auto">
            <a:xfrm>
              <a:off x="857224" y="185736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2" name="AutoShape 8"/>
            <p:cNvCxnSpPr>
              <a:cxnSpLocks noChangeShapeType="1"/>
            </p:cNvCxnSpPr>
            <p:nvPr/>
          </p:nvCxnSpPr>
          <p:spPr bwMode="auto">
            <a:xfrm>
              <a:off x="857224" y="2927346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3" name="AutoShape 8"/>
            <p:cNvCxnSpPr>
              <a:cxnSpLocks noChangeShapeType="1"/>
            </p:cNvCxnSpPr>
            <p:nvPr/>
          </p:nvCxnSpPr>
          <p:spPr bwMode="auto">
            <a:xfrm>
              <a:off x="857224" y="335597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4" name="AutoShape 8"/>
            <p:cNvCxnSpPr>
              <a:cxnSpLocks noChangeShapeType="1"/>
            </p:cNvCxnSpPr>
            <p:nvPr/>
          </p:nvCxnSpPr>
          <p:spPr bwMode="auto">
            <a:xfrm>
              <a:off x="857224" y="442754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5" name="AutoShape 8"/>
            <p:cNvCxnSpPr>
              <a:cxnSpLocks noChangeShapeType="1"/>
            </p:cNvCxnSpPr>
            <p:nvPr/>
          </p:nvCxnSpPr>
          <p:spPr bwMode="auto">
            <a:xfrm>
              <a:off x="857224" y="478473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6" name="AutoShape 8"/>
            <p:cNvCxnSpPr>
              <a:cxnSpLocks noChangeShapeType="1"/>
            </p:cNvCxnSpPr>
            <p:nvPr/>
          </p:nvCxnSpPr>
          <p:spPr bwMode="auto">
            <a:xfrm>
              <a:off x="857224" y="5141924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7" name="AutoShape 8"/>
            <p:cNvCxnSpPr>
              <a:cxnSpLocks noChangeShapeType="1"/>
            </p:cNvCxnSpPr>
            <p:nvPr/>
          </p:nvCxnSpPr>
          <p:spPr bwMode="auto">
            <a:xfrm>
              <a:off x="857224" y="6284932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8" name="AutoShape 8"/>
            <p:cNvCxnSpPr>
              <a:cxnSpLocks noChangeShapeType="1"/>
            </p:cNvCxnSpPr>
            <p:nvPr/>
          </p:nvCxnSpPr>
          <p:spPr bwMode="auto">
            <a:xfrm>
              <a:off x="857224" y="6642122"/>
              <a:ext cx="600079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59" name="AutoShape 17"/>
            <p:cNvCxnSpPr>
              <a:cxnSpLocks noChangeShapeType="1"/>
            </p:cNvCxnSpPr>
            <p:nvPr/>
          </p:nvCxnSpPr>
          <p:spPr bwMode="auto">
            <a:xfrm rot="5400000">
              <a:off x="-665994" y="4023525"/>
              <a:ext cx="5143538" cy="96837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060" name="AutoShape 17"/>
            <p:cNvCxnSpPr>
              <a:cxnSpLocks noChangeShapeType="1"/>
            </p:cNvCxnSpPr>
            <p:nvPr/>
          </p:nvCxnSpPr>
          <p:spPr bwMode="auto">
            <a:xfrm rot="5400000">
              <a:off x="71406" y="3857629"/>
              <a:ext cx="5500727" cy="71438"/>
            </a:xfrm>
            <a:prstGeom prst="straightConnector1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ctrTitle"/>
          </p:nvPr>
        </p:nvSpPr>
        <p:spPr>
          <a:xfrm>
            <a:off x="899592" y="428625"/>
            <a:ext cx="4174232" cy="738188"/>
          </a:xfrm>
        </p:spPr>
        <p:txBody>
          <a:bodyPr/>
          <a:lstStyle/>
          <a:p>
            <a:pPr algn="l" eaLnBrk="1" hangingPunct="1"/>
            <a:r>
              <a:rPr lang="en-US" altLang="zh-CN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altLang="zh-CN" sz="4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</a:t>
            </a:r>
            <a:endParaRPr lang="zh-CN" altLang="en-US" sz="40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67" name="副标题 2"/>
          <p:cNvSpPr>
            <a:spLocks noGrp="1"/>
          </p:cNvSpPr>
          <p:nvPr>
            <p:ph type="subTitle" idx="1"/>
          </p:nvPr>
        </p:nvSpPr>
        <p:spPr>
          <a:xfrm>
            <a:off x="755650" y="5929313"/>
            <a:ext cx="7316788" cy="428625"/>
          </a:xfrm>
        </p:spPr>
        <p:txBody>
          <a:bodyPr/>
          <a:lstStyle/>
          <a:p>
            <a:pPr algn="l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无可行解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68" name="灯片编号占位符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6936E9-E90E-4D96-8EC0-193E24FFA4BC}" type="slidenum">
              <a:rPr lang="zh-CN" altLang="en-US" sz="1200" smtClean="0">
                <a:solidFill>
                  <a:srgbClr val="898989"/>
                </a:solidFill>
              </a:rPr>
            </a:fld>
            <a:endParaRPr lang="zh-CN" altLang="en-US" sz="1200" smtClean="0">
              <a:solidFill>
                <a:srgbClr val="898989"/>
              </a:solidFill>
            </a:endParaRPr>
          </a:p>
        </p:txBody>
      </p:sp>
      <p:sp>
        <p:nvSpPr>
          <p:cNvPr id="8806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8070" name="Text Box 7"/>
          <p:cNvSpPr txBox="1">
            <a:spLocks noChangeArrowheads="1"/>
          </p:cNvSpPr>
          <p:nvPr/>
        </p:nvSpPr>
        <p:spPr bwMode="auto">
          <a:xfrm>
            <a:off x="785813" y="1285875"/>
            <a:ext cx="6643687" cy="45005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-3       -5     0         0         0       0</a:t>
            </a:r>
            <a:endParaRPr lang="en-US" altLang="zh-CN" sz="2400" b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-5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7/3        0        1      0       1/3      2/3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-3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2          1        0      0         0        -1 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0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7/6         0        0      0     -1/3     -1/6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altLang="zh-CN" sz="24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-3          0       -1      0         0         0       1</a:t>
            </a:r>
            <a:endParaRPr lang="en-US" altLang="zh-CN" sz="24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53/3       0       0       0      5/3       1/3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-5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7/3         0        1       0      1/3       2/3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-3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2           1        0       0        0        -1 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0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7/6          0       0        0    -1/3      -1/6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22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-2/3         0       0        0     1/3        2/3     1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-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53/3        0       0        0     5/3       1/3      0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071" name="AutoShape 8"/>
          <p:cNvCxnSpPr>
            <a:cxnSpLocks noChangeShapeType="1"/>
          </p:cNvCxnSpPr>
          <p:nvPr/>
        </p:nvCxnSpPr>
        <p:spPr bwMode="auto">
          <a:xfrm flipV="1">
            <a:off x="785813" y="1357313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2" name="AutoShape 15"/>
          <p:cNvCxnSpPr>
            <a:cxnSpLocks noChangeShapeType="1"/>
          </p:cNvCxnSpPr>
          <p:nvPr/>
        </p:nvCxnSpPr>
        <p:spPr bwMode="auto">
          <a:xfrm rot="5400000">
            <a:off x="-655637" y="3702050"/>
            <a:ext cx="3954462" cy="71438"/>
          </a:xfrm>
          <a:prstGeom prst="straightConnector1">
            <a:avLst/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3" name="AutoShape 8"/>
          <p:cNvCxnSpPr>
            <a:cxnSpLocks noChangeShapeType="1"/>
          </p:cNvCxnSpPr>
          <p:nvPr/>
        </p:nvCxnSpPr>
        <p:spPr bwMode="auto">
          <a:xfrm flipV="1">
            <a:off x="785813" y="1704975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4" name="AutoShape 8"/>
          <p:cNvCxnSpPr>
            <a:cxnSpLocks noChangeShapeType="1"/>
          </p:cNvCxnSpPr>
          <p:nvPr/>
        </p:nvCxnSpPr>
        <p:spPr bwMode="auto">
          <a:xfrm flipV="1">
            <a:off x="785813" y="2071688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5" name="AutoShape 8"/>
          <p:cNvCxnSpPr>
            <a:cxnSpLocks noChangeShapeType="1"/>
          </p:cNvCxnSpPr>
          <p:nvPr/>
        </p:nvCxnSpPr>
        <p:spPr bwMode="auto">
          <a:xfrm flipV="1">
            <a:off x="785813" y="3490913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6" name="AutoShape 8"/>
          <p:cNvCxnSpPr>
            <a:cxnSpLocks noChangeShapeType="1"/>
          </p:cNvCxnSpPr>
          <p:nvPr/>
        </p:nvCxnSpPr>
        <p:spPr bwMode="auto">
          <a:xfrm flipV="1">
            <a:off x="785813" y="3848100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7" name="AutoShape 8"/>
          <p:cNvCxnSpPr>
            <a:cxnSpLocks noChangeShapeType="1"/>
          </p:cNvCxnSpPr>
          <p:nvPr/>
        </p:nvCxnSpPr>
        <p:spPr bwMode="auto">
          <a:xfrm flipV="1">
            <a:off x="785813" y="5348288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8" name="AutoShape 8"/>
          <p:cNvCxnSpPr>
            <a:cxnSpLocks noChangeShapeType="1"/>
          </p:cNvCxnSpPr>
          <p:nvPr/>
        </p:nvCxnSpPr>
        <p:spPr bwMode="auto">
          <a:xfrm flipV="1">
            <a:off x="785813" y="5705475"/>
            <a:ext cx="6786562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79" name="AutoShape 15"/>
          <p:cNvCxnSpPr>
            <a:cxnSpLocks noChangeShapeType="1"/>
          </p:cNvCxnSpPr>
          <p:nvPr/>
        </p:nvCxnSpPr>
        <p:spPr bwMode="auto">
          <a:xfrm rot="5400000">
            <a:off x="-84137" y="3702050"/>
            <a:ext cx="3954462" cy="71438"/>
          </a:xfrm>
          <a:prstGeom prst="straightConnector1">
            <a:avLst/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080" name="AutoShape 15"/>
          <p:cNvCxnSpPr>
            <a:cxnSpLocks noChangeShapeType="1"/>
          </p:cNvCxnSpPr>
          <p:nvPr/>
        </p:nvCxnSpPr>
        <p:spPr bwMode="auto">
          <a:xfrm rot="5400000">
            <a:off x="571500" y="3500438"/>
            <a:ext cx="4357687" cy="71438"/>
          </a:xfrm>
          <a:prstGeom prst="straightConnector1">
            <a:avLst/>
          </a:prstGeom>
          <a:noFill/>
          <a:ln w="63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799d6b39-0560-4fa1-85b1-e4d1a6c0c6d6"/>
  <p:tag name="COMMONDATA" val="eyJoZGlkIjoiZDBmZTc0ODk3N2IyMzc2ODZhMDBiODE4YzYzZDNiND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33123</Words>
  <Application>WPS 演示</Application>
  <PresentationFormat>全屏显示(4:3)</PresentationFormat>
  <Paragraphs>1486</Paragraphs>
  <Slides>83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67</vt:i4>
      </vt:variant>
      <vt:variant>
        <vt:lpstr>幻灯片标题</vt:lpstr>
      </vt:variant>
      <vt:variant>
        <vt:i4>83</vt:i4>
      </vt:variant>
    </vt:vector>
  </HeadingPairs>
  <TitlesOfParts>
    <vt:vector size="160" baseType="lpstr">
      <vt:lpstr>Arial</vt:lpstr>
      <vt:lpstr>宋体</vt:lpstr>
      <vt:lpstr>Wingdings</vt:lpstr>
      <vt:lpstr>Calibri</vt:lpstr>
      <vt:lpstr>Times New Roman</vt:lpstr>
      <vt:lpstr>Symbol</vt:lpstr>
      <vt:lpstr>Symbol</vt:lpstr>
      <vt:lpstr>微软雅黑</vt:lpstr>
      <vt:lpstr>Arial Unicode MS</vt:lpstr>
      <vt:lpstr>Office 主题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第6章 线性规划</vt:lpstr>
      <vt:lpstr>第6章 线性规划 (续)</vt:lpstr>
      <vt:lpstr> 简要历史</vt:lpstr>
      <vt:lpstr>6.1 线性规划模型</vt:lpstr>
      <vt:lpstr>例1(续)</vt:lpstr>
      <vt:lpstr>投资组合问题</vt:lpstr>
      <vt:lpstr>例6.2 (续)</vt:lpstr>
      <vt:lpstr>运输问题</vt:lpstr>
      <vt:lpstr>饲料配方问题</vt:lpstr>
      <vt:lpstr>线性规划的一般形式</vt:lpstr>
      <vt:lpstr> 6.1.2  二维线性规划的图解法</vt:lpstr>
      <vt:lpstr> 例5</vt:lpstr>
      <vt:lpstr>例6.6</vt:lpstr>
      <vt:lpstr>性质</vt:lpstr>
      <vt:lpstr>6.2 标准形</vt:lpstr>
      <vt:lpstr>化成标准形</vt:lpstr>
      <vt:lpstr>例6.7</vt:lpstr>
      <vt:lpstr>标准形</vt:lpstr>
      <vt:lpstr>6.2.2 标准形的可行解的性质</vt:lpstr>
      <vt:lpstr>例6.8</vt:lpstr>
      <vt:lpstr>例6.8 (续)</vt:lpstr>
      <vt:lpstr>基本可行解的性质</vt:lpstr>
      <vt:lpstr>基本可行解的性质</vt:lpstr>
      <vt:lpstr>定理6.1 (续)</vt:lpstr>
      <vt:lpstr>基本可行解的性质</vt:lpstr>
      <vt:lpstr>定理6.2 (续)</vt:lpstr>
      <vt:lpstr>6.3  单纯形法</vt:lpstr>
      <vt:lpstr>6.3.1 确定初始基本可行解</vt:lpstr>
      <vt:lpstr>例</vt:lpstr>
      <vt:lpstr>6.3.2 最优性检验</vt:lpstr>
      <vt:lpstr>最优性检验</vt:lpstr>
      <vt:lpstr>最优性检验</vt:lpstr>
      <vt:lpstr>6.3.3 基变换</vt:lpstr>
      <vt:lpstr>基变换（续）</vt:lpstr>
      <vt:lpstr>基变换（续）</vt:lpstr>
      <vt:lpstr>单纯形法</vt:lpstr>
      <vt:lpstr>单纯形表</vt:lpstr>
      <vt:lpstr>例6.1(续)</vt:lpstr>
      <vt:lpstr>例6. 9</vt:lpstr>
      <vt:lpstr>例6.9 (续)</vt:lpstr>
      <vt:lpstr>6.3.5 人工变量和两阶段法</vt:lpstr>
      <vt:lpstr>例6.10</vt:lpstr>
      <vt:lpstr>例6.10 (续)</vt:lpstr>
      <vt:lpstr>两阶段法</vt:lpstr>
      <vt:lpstr>两阶段法（续）</vt:lpstr>
      <vt:lpstr>两阶段法（续）</vt:lpstr>
      <vt:lpstr>两阶段法（续）</vt:lpstr>
      <vt:lpstr>例6.10(续)</vt:lpstr>
      <vt:lpstr>例6.10(续)</vt:lpstr>
      <vt:lpstr>例6.11</vt:lpstr>
      <vt:lpstr>例6.11 (续)</vt:lpstr>
      <vt:lpstr>例6.12</vt:lpstr>
      <vt:lpstr>例6.12 (续)</vt:lpstr>
      <vt:lpstr>例6.12 (续)</vt:lpstr>
      <vt:lpstr>例6.13</vt:lpstr>
      <vt:lpstr>例6.13 (续)</vt:lpstr>
      <vt:lpstr>例6.13 (续)</vt:lpstr>
      <vt:lpstr>例6.13 (续)</vt:lpstr>
      <vt:lpstr>6.3.6 单纯形法的有限终止</vt:lpstr>
      <vt:lpstr>单纯形法出现循环的例子</vt:lpstr>
      <vt:lpstr>避免循环的方法</vt:lpstr>
      <vt:lpstr>6.4  对偶性</vt:lpstr>
      <vt:lpstr>实例</vt:lpstr>
      <vt:lpstr>对偶线性规划</vt:lpstr>
      <vt:lpstr>例6.14</vt:lpstr>
      <vt:lpstr>对偶规划的一般形式</vt:lpstr>
      <vt:lpstr>性质</vt:lpstr>
      <vt:lpstr>定理6.7证明</vt:lpstr>
      <vt:lpstr>原始规划和对偶规划解的可能情况</vt:lpstr>
      <vt:lpstr>互补松弛性</vt:lpstr>
      <vt:lpstr>定理6.8证明(续)</vt:lpstr>
      <vt:lpstr>6.4.2  对偶单纯形法</vt:lpstr>
      <vt:lpstr>对偶单纯形法</vt:lpstr>
      <vt:lpstr>对偶单纯形法</vt:lpstr>
      <vt:lpstr>对偶单纯形法</vt:lpstr>
      <vt:lpstr>6.5 整数线性规划的分支限界算法</vt:lpstr>
      <vt:lpstr>分支限界法</vt:lpstr>
      <vt:lpstr>例6.15</vt:lpstr>
      <vt:lpstr>例6.15(续)</vt:lpstr>
      <vt:lpstr>LP 的计算</vt:lpstr>
      <vt:lpstr>LP1 的计算</vt:lpstr>
      <vt:lpstr>LP2 的计算</vt:lpstr>
      <vt:lpstr>LP22的计算</vt:lpstr>
    </vt:vector>
  </TitlesOfParts>
  <Company>Beijing Universtiy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Zhang Li Ang</dc:creator>
  <cp:lastModifiedBy>魏黄</cp:lastModifiedBy>
  <cp:revision>358</cp:revision>
  <dcterms:created xsi:type="dcterms:W3CDTF">2010-12-08T08:34:00Z</dcterms:created>
  <dcterms:modified xsi:type="dcterms:W3CDTF">2023-05-09T15:25:50Z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F3E41532ABF442C8BD4DD77A0793EEF6</vt:lpwstr>
  </property>
  <property fmtid="{D5CDD505-2E9C-101B-9397-08002B2CF9AE}" pid="3" name="KSOProductBuildVer">
    <vt:lpwstr>2052-11.1.0.14036</vt:lpwstr>
  </property>
</Properties>
</file>