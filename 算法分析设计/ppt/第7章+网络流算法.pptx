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3"/>
    <p:sldId id="258" r:id="rId4"/>
    <p:sldId id="259" r:id="rId5"/>
    <p:sldId id="260" r:id="rId6"/>
    <p:sldId id="261" r:id="rId7"/>
    <p:sldId id="262" r:id="rId8"/>
    <p:sldId id="263" r:id="rId9"/>
    <p:sldId id="264" r:id="rId10"/>
    <p:sldId id="265" r:id="rId11"/>
    <p:sldId id="266" r:id="rId12"/>
    <p:sldId id="267" r:id="rId13"/>
    <p:sldId id="311" r:id="rId14"/>
    <p:sldId id="268" r:id="rId15"/>
    <p:sldId id="312" r:id="rId16"/>
    <p:sldId id="269" r:id="rId17"/>
    <p:sldId id="270" r:id="rId18"/>
    <p:sldId id="271" r:id="rId19"/>
    <p:sldId id="272" r:id="rId20"/>
    <p:sldId id="273" r:id="rId21"/>
    <p:sldId id="277" r:id="rId22"/>
    <p:sldId id="274" r:id="rId23"/>
    <p:sldId id="275" r:id="rId24"/>
    <p:sldId id="276" r:id="rId25"/>
    <p:sldId id="278" r:id="rId27"/>
    <p:sldId id="279" r:id="rId28"/>
    <p:sldId id="280" r:id="rId29"/>
    <p:sldId id="281" r:id="rId30"/>
    <p:sldId id="282" r:id="rId31"/>
    <p:sldId id="283" r:id="rId32"/>
    <p:sldId id="284" r:id="rId33"/>
    <p:sldId id="285" r:id="rId34"/>
    <p:sldId id="308" r:id="rId35"/>
    <p:sldId id="286" r:id="rId36"/>
    <p:sldId id="287" r:id="rId37"/>
    <p:sldId id="288" r:id="rId38"/>
    <p:sldId id="289" r:id="rId39"/>
    <p:sldId id="309" r:id="rId40"/>
    <p:sldId id="310" r:id="rId41"/>
    <p:sldId id="290" r:id="rId42"/>
    <p:sldId id="291" r:id="rId43"/>
    <p:sldId id="292" r:id="rId44"/>
    <p:sldId id="293" r:id="rId45"/>
    <p:sldId id="294" r:id="rId46"/>
    <p:sldId id="295" r:id="rId47"/>
    <p:sldId id="296" r:id="rId48"/>
    <p:sldId id="297" r:id="rId49"/>
    <p:sldId id="298" r:id="rId50"/>
    <p:sldId id="299" r:id="rId51"/>
    <p:sldId id="300" r:id="rId52"/>
    <p:sldId id="354" r:id="rId53"/>
    <p:sldId id="301" r:id="rId54"/>
    <p:sldId id="302" r:id="rId55"/>
    <p:sldId id="303" r:id="rId56"/>
    <p:sldId id="304" r:id="rId57"/>
    <p:sldId id="305" r:id="rId58"/>
    <p:sldId id="306" r:id="rId59"/>
    <p:sldId id="307" r:id="rId60"/>
    <p:sldId id="313" r:id="rId61"/>
    <p:sldId id="314" r:id="rId62"/>
    <p:sldId id="315" r:id="rId63"/>
    <p:sldId id="316" r:id="rId64"/>
    <p:sldId id="317" r:id="rId65"/>
    <p:sldId id="318" r:id="rId66"/>
    <p:sldId id="319" r:id="rId67"/>
    <p:sldId id="320" r:id="rId68"/>
    <p:sldId id="321" r:id="rId69"/>
    <p:sldId id="322" r:id="rId70"/>
    <p:sldId id="323" r:id="rId71"/>
    <p:sldId id="328" r:id="rId72"/>
    <p:sldId id="324" r:id="rId73"/>
    <p:sldId id="325" r:id="rId74"/>
    <p:sldId id="326" r:id="rId75"/>
    <p:sldId id="329" r:id="rId76"/>
    <p:sldId id="402" r:id="rId77"/>
    <p:sldId id="405" r:id="rId78"/>
    <p:sldId id="403" r:id="rId79"/>
    <p:sldId id="406" r:id="rId80"/>
    <p:sldId id="330" r:id="rId81"/>
    <p:sldId id="331" r:id="rId82"/>
    <p:sldId id="332" r:id="rId83"/>
    <p:sldId id="333" r:id="rId84"/>
    <p:sldId id="334" r:id="rId85"/>
    <p:sldId id="335" r:id="rId86"/>
    <p:sldId id="336" r:id="rId87"/>
    <p:sldId id="337" r:id="rId88"/>
    <p:sldId id="338" r:id="rId89"/>
    <p:sldId id="340" r:id="rId90"/>
    <p:sldId id="341" r:id="rId91"/>
    <p:sldId id="342" r:id="rId92"/>
    <p:sldId id="343" r:id="rId93"/>
    <p:sldId id="344" r:id="rId94"/>
    <p:sldId id="345" r:id="rId95"/>
    <p:sldId id="346" r:id="rId96"/>
    <p:sldId id="350" r:id="rId97"/>
    <p:sldId id="347" r:id="rId98"/>
    <p:sldId id="348" r:id="rId99"/>
    <p:sldId id="351" r:id="rId100"/>
    <p:sldId id="352" r:id="rId101"/>
    <p:sldId id="353" r:id="rId102"/>
  </p:sldIdLst>
  <p:sldSz cx="9144000" cy="6858000" type="screen4x3"/>
  <p:notesSz cx="6858000" cy="9144000"/>
  <p:custDataLst>
    <p:tags r:id="rId106"/>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EAB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50" autoAdjust="0"/>
    <p:restoredTop sz="92950" autoAdjust="0"/>
  </p:normalViewPr>
  <p:slideViewPr>
    <p:cSldViewPr>
      <p:cViewPr varScale="1">
        <p:scale>
          <a:sx n="63" d="100"/>
          <a:sy n="63" d="100"/>
        </p:scale>
        <p:origin x="1110" y="6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notesMaster" Target="notesMasters/notesMaster1.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6" Type="http://schemas.openxmlformats.org/officeDocument/2006/relationships/tags" Target="tags/tag2.xml"/><Relationship Id="rId105" Type="http://schemas.openxmlformats.org/officeDocument/2006/relationships/tableStyles" Target="tableStyles.xml"/><Relationship Id="rId104" Type="http://schemas.openxmlformats.org/officeDocument/2006/relationships/viewProps" Target="viewProps.xml"/><Relationship Id="rId103" Type="http://schemas.openxmlformats.org/officeDocument/2006/relationships/presProps" Target="presProps.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5" Type="http://schemas.openxmlformats.org/officeDocument/2006/relationships/image" Target="../media/image11.wmf"/><Relationship Id="rId4" Type="http://schemas.openxmlformats.org/officeDocument/2006/relationships/image" Target="../media/image10.wmf"/><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10.vml.rels><?xml version="1.0" encoding="UTF-8" standalone="yes"?>
<Relationships xmlns="http://schemas.openxmlformats.org/package/2006/relationships"><Relationship Id="rId6" Type="http://schemas.openxmlformats.org/officeDocument/2006/relationships/image" Target="../media/image31.wmf"/><Relationship Id="rId5" Type="http://schemas.openxmlformats.org/officeDocument/2006/relationships/image" Target="../media/image30.wmf"/><Relationship Id="rId4" Type="http://schemas.openxmlformats.org/officeDocument/2006/relationships/image" Target="../media/image29.wmf"/><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11.vml.rels><?xml version="1.0" encoding="UTF-8" standalone="yes"?>
<Relationships xmlns="http://schemas.openxmlformats.org/package/2006/relationships"><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5.vml.rels><?xml version="1.0" encoding="UTF-8" standalone="yes"?>
<Relationships xmlns="http://schemas.openxmlformats.org/package/2006/relationships"><Relationship Id="rId4" Type="http://schemas.openxmlformats.org/officeDocument/2006/relationships/image" Target="../media/image47.wmf"/><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6.vml.rels><?xml version="1.0" encoding="UTF-8" standalone="yes"?>
<Relationships xmlns="http://schemas.openxmlformats.org/package/2006/relationships"><Relationship Id="rId4" Type="http://schemas.openxmlformats.org/officeDocument/2006/relationships/image" Target="../media/image51.wmf"/><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59.wmf"/><Relationship Id="rId1" Type="http://schemas.openxmlformats.org/officeDocument/2006/relationships/image" Target="../media/image57.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22.vml.rels><?xml version="1.0" encoding="UTF-8" standalone="yes"?>
<Relationships xmlns="http://schemas.openxmlformats.org/package/2006/relationships"><Relationship Id="rId5" Type="http://schemas.openxmlformats.org/officeDocument/2006/relationships/image" Target="../media/image72.wmf"/><Relationship Id="rId4" Type="http://schemas.openxmlformats.org/officeDocument/2006/relationships/image" Target="../media/image71.wmf"/><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24.vml.rels><?xml version="1.0" encoding="UTF-8" standalone="yes"?>
<Relationships xmlns="http://schemas.openxmlformats.org/package/2006/relationships"><Relationship Id="rId5" Type="http://schemas.openxmlformats.org/officeDocument/2006/relationships/image" Target="../media/image78.wmf"/><Relationship Id="rId4" Type="http://schemas.openxmlformats.org/officeDocument/2006/relationships/image" Target="../media/image77.wmf"/><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s>
</file>

<file path=ppt/drawings/_rels/vmlDrawing25.vml.rels><?xml version="1.0" encoding="UTF-8" standalone="yes"?>
<Relationships xmlns="http://schemas.openxmlformats.org/package/2006/relationships"><Relationship Id="rId4" Type="http://schemas.openxmlformats.org/officeDocument/2006/relationships/image" Target="../media/image78.wmf"/><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image" Target="../media/image86.wmf"/></Relationships>
</file>

<file path=ppt/drawings/_rels/vmlDrawing28.vml.rels><?xml version="1.0" encoding="UTF-8" standalone="yes"?>
<Relationships xmlns="http://schemas.openxmlformats.org/package/2006/relationships"><Relationship Id="rId4" Type="http://schemas.openxmlformats.org/officeDocument/2006/relationships/image" Target="../media/image90.wmf"/><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92.wmf"/><Relationship Id="rId1" Type="http://schemas.openxmlformats.org/officeDocument/2006/relationships/image" Target="../media/image9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20204" pitchFamily="34" charset="0"/>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20204" pitchFamily="34" charset="0"/>
              </a:defRPr>
            </a:lvl1pPr>
          </a:lstStyle>
          <a:p>
            <a:pPr>
              <a:defRPr/>
            </a:pPr>
            <a:fld id="{8A514A97-8829-48D0-944A-55C03743F3BC}" type="datetimeFigureOut">
              <a:rPr lang="zh-CN" altLang="en-US"/>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20204" pitchFamily="34" charset="0"/>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a:defRPr/>
            </a:pPr>
            <a:fld id="{B914261C-502E-4E95-9C61-4D891C87D30F}"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66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smtClean="0"/>
          </a:p>
        </p:txBody>
      </p:sp>
      <p:sp>
        <p:nvSpPr>
          <p:cNvPr id="266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B586200-359D-46A7-9232-E09738272356}" type="slidenum">
              <a:rPr lang="zh-CN" altLang="en-US" smtClean="0"/>
            </a:fld>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32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smtClean="0"/>
          </a:p>
        </p:txBody>
      </p:sp>
      <p:sp>
        <p:nvSpPr>
          <p:cNvPr id="532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3A77416-0384-4905-9797-DC3EC56E1697}" type="slidenum">
              <a:rPr lang="zh-CN" altLang="en-US" smtClean="0"/>
            </a:fld>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14305EB5-71AA-4F7F-89A7-60AF676BA294}" type="datetime1">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E4B54A9-8F81-45B0-90E8-E1F6AE46B976}"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91A6CDB1-8885-4758-8E6F-FE7AF6C40380}" type="datetime1">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F36D17E-3F0D-47F8-AF13-362620D293F6}"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pPr>
              <a:defRPr/>
            </a:pPr>
            <a:fld id="{1B1BCC8D-1C5A-4FF1-B1A1-D2D763CF4CEE}" type="datetime1">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080B217-AB24-418E-8E0A-B3018EF275CF}"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E9616E72-0B3C-4CF8-A480-2B143C9F1727}" type="datetime1">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E4E6DFA-0B49-45F7-AC06-F0AC458ABADB}"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D165A55A-6C08-4BF9-9D9F-537E105DAF39}" type="datetime1">
              <a:rPr lang="zh-CN" altLang="en-US"/>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DDA538FA-2BC2-43D5-A85F-DB355FAF04AD}"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7148CC4A-F2F0-4609-814B-82C2F8E13943}" type="datetime1">
              <a:rPr lang="zh-CN" altLang="en-US"/>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E142850F-A707-40C8-9B72-601703D27738}"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C7E9F508-45EC-4D27-B8C1-0CD68E3BFDB5}" type="datetime1">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A959FC2D-3073-45B0-B252-DB8AAD64BB4F}"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p:cNvSpPr>
          <p:nvPr>
            <p:ph type="dt" sz="half" idx="10"/>
          </p:nvPr>
        </p:nvSpPr>
        <p:spPr/>
        <p:txBody>
          <a:bodyPr/>
          <a:lstStyle>
            <a:lvl1pPr>
              <a:defRPr/>
            </a:lvl1pPr>
          </a:lstStyle>
          <a:p>
            <a:pPr>
              <a:defRPr/>
            </a:pPr>
            <a:fld id="{91E886CE-E47F-4D85-A094-B9DC70B5F421}" type="datetime1">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BEB0C564-7084-418A-88D7-37E0708CF922}"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p:cNvSpPr>
          <p:nvPr>
            <p:ph type="dt" sz="half" idx="10"/>
          </p:nvPr>
        </p:nvSpPr>
        <p:spPr/>
        <p:txBody>
          <a:bodyPr/>
          <a:lstStyle>
            <a:lvl1pPr>
              <a:defRPr/>
            </a:lvl1pPr>
          </a:lstStyle>
          <a:p>
            <a:pPr>
              <a:defRPr/>
            </a:pPr>
            <a:fld id="{368BD27D-E4FB-4E55-80DD-00EFBDDB644B}" type="datetime1">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2DA19C20-19AD-4C39-ACEB-6E3C5C6EA652}"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916AD7D5-01BE-4B69-8C2F-09978F5D569B}" type="datetime1">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CA280A0-E31A-4A21-92BB-AA76F5254FA2}"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E6FA7FB4-D412-4EB6-B688-15977B4C33B5}" type="datetime1">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E6F6F54-00CD-41A0-8BD4-95F2F0B9F9B3}"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199122C5-1F71-4774-8B9A-14DB4AEF257F}" type="datetime1">
              <a:rPr lang="zh-CN" altLang="en-US"/>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Calibri" panose="020F0502020204030204" pitchFamily="34" charset="0"/>
              </a:defRPr>
            </a:lvl1pPr>
          </a:lstStyle>
          <a:p>
            <a:pPr>
              <a:defRPr/>
            </a:pPr>
            <a:fld id="{B5B320C1-971A-4EDF-9463-73A88C3ECEA6}"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xml"/><Relationship Id="rId4" Type="http://schemas.openxmlformats.org/officeDocument/2006/relationships/image" Target="../media/image3.wmf"/><Relationship Id="rId3" Type="http://schemas.openxmlformats.org/officeDocument/2006/relationships/oleObject" Target="../embeddings/oleObject2.bin"/><Relationship Id="rId2" Type="http://schemas.openxmlformats.org/officeDocument/2006/relationships/image" Target="../media/image2.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wmf"/><Relationship Id="rId1"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8.bin"/><Relationship Id="rId8" Type="http://schemas.openxmlformats.org/officeDocument/2006/relationships/image" Target="../media/image10.wmf"/><Relationship Id="rId7" Type="http://schemas.openxmlformats.org/officeDocument/2006/relationships/oleObject" Target="../embeddings/oleObject7.bin"/><Relationship Id="rId6" Type="http://schemas.openxmlformats.org/officeDocument/2006/relationships/image" Target="../media/image9.wmf"/><Relationship Id="rId5" Type="http://schemas.openxmlformats.org/officeDocument/2006/relationships/oleObject" Target="../embeddings/oleObject6.bin"/><Relationship Id="rId4" Type="http://schemas.openxmlformats.org/officeDocument/2006/relationships/image" Target="../media/image8.wmf"/><Relationship Id="rId3" Type="http://schemas.openxmlformats.org/officeDocument/2006/relationships/oleObject" Target="../embeddings/oleObject5.bin"/><Relationship Id="rId2" Type="http://schemas.openxmlformats.org/officeDocument/2006/relationships/image" Target="../media/image7.wmf"/><Relationship Id="rId12" Type="http://schemas.openxmlformats.org/officeDocument/2006/relationships/vmlDrawing" Target="../drawings/vmlDrawing3.vml"/><Relationship Id="rId11" Type="http://schemas.openxmlformats.org/officeDocument/2006/relationships/slideLayout" Target="../slideLayouts/slideLayout1.xml"/><Relationship Id="rId10" Type="http://schemas.openxmlformats.org/officeDocument/2006/relationships/image" Target="../media/image11.wmf"/><Relationship Id="rId1"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1.xml"/><Relationship Id="rId7" Type="http://schemas.openxmlformats.org/officeDocument/2006/relationships/image" Target="../media/image15.png"/><Relationship Id="rId6" Type="http://schemas.openxmlformats.org/officeDocument/2006/relationships/image" Target="../media/image14.wmf"/><Relationship Id="rId5" Type="http://schemas.openxmlformats.org/officeDocument/2006/relationships/oleObject" Target="../embeddings/oleObject11.bin"/><Relationship Id="rId4" Type="http://schemas.openxmlformats.org/officeDocument/2006/relationships/image" Target="../media/image13.wmf"/><Relationship Id="rId3" Type="http://schemas.openxmlformats.org/officeDocument/2006/relationships/oleObject" Target="../embeddings/oleObject10.bin"/><Relationship Id="rId2" Type="http://schemas.openxmlformats.org/officeDocument/2006/relationships/image" Target="../media/image12.wmf"/><Relationship Id="rId1" Type="http://schemas.openxmlformats.org/officeDocument/2006/relationships/oleObject" Target="../embeddings/oleObject9.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1.xml"/><Relationship Id="rId2" Type="http://schemas.openxmlformats.org/officeDocument/2006/relationships/image" Target="../media/image16.wmf"/><Relationship Id="rId1" Type="http://schemas.openxmlformats.org/officeDocument/2006/relationships/oleObject" Target="../embeddings/oleObject12.bin"/></Relationships>
</file>

<file path=ppt/slides/_rels/slide10.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1.xml"/><Relationship Id="rId3" Type="http://schemas.openxmlformats.org/officeDocument/2006/relationships/image" Target="../media/image18.wmf"/><Relationship Id="rId2" Type="http://schemas.openxmlformats.org/officeDocument/2006/relationships/oleObject" Target="../embeddings/oleObject13.bin"/><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1.xml"/><Relationship Id="rId2" Type="http://schemas.openxmlformats.org/officeDocument/2006/relationships/image" Target="../media/image19.wmf"/><Relationship Id="rId1" Type="http://schemas.openxmlformats.org/officeDocument/2006/relationships/oleObject" Target="../embeddings/oleObject14.bin"/></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1.xml"/><Relationship Id="rId2" Type="http://schemas.openxmlformats.org/officeDocument/2006/relationships/image" Target="../media/image20.wmf"/><Relationship Id="rId1" Type="http://schemas.openxmlformats.org/officeDocument/2006/relationships/oleObject" Target="../embeddings/oleObject15.bin"/></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5.png"/><Relationship Id="rId7" Type="http://schemas.openxmlformats.org/officeDocument/2006/relationships/image" Target="../media/image24.wmf"/><Relationship Id="rId6" Type="http://schemas.openxmlformats.org/officeDocument/2006/relationships/oleObject" Target="../embeddings/oleObject18.bin"/><Relationship Id="rId5" Type="http://schemas.openxmlformats.org/officeDocument/2006/relationships/image" Target="../media/image23.wmf"/><Relationship Id="rId4" Type="http://schemas.openxmlformats.org/officeDocument/2006/relationships/oleObject" Target="../embeddings/oleObject17.bin"/><Relationship Id="rId3" Type="http://schemas.openxmlformats.org/officeDocument/2006/relationships/image" Target="../media/image22.wmf"/><Relationship Id="rId2" Type="http://schemas.openxmlformats.org/officeDocument/2006/relationships/oleObject" Target="../embeddings/oleObject16.bin"/><Relationship Id="rId10" Type="http://schemas.openxmlformats.org/officeDocument/2006/relationships/vmlDrawing" Target="../drawings/vmlDrawing9.vml"/><Relationship Id="rId1"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23.bin"/><Relationship Id="rId8" Type="http://schemas.openxmlformats.org/officeDocument/2006/relationships/image" Target="../media/image29.wmf"/><Relationship Id="rId7" Type="http://schemas.openxmlformats.org/officeDocument/2006/relationships/oleObject" Target="../embeddings/oleObject22.bin"/><Relationship Id="rId6" Type="http://schemas.openxmlformats.org/officeDocument/2006/relationships/image" Target="../media/image28.wmf"/><Relationship Id="rId5" Type="http://schemas.openxmlformats.org/officeDocument/2006/relationships/oleObject" Target="../embeddings/oleObject21.bin"/><Relationship Id="rId4" Type="http://schemas.openxmlformats.org/officeDocument/2006/relationships/image" Target="../media/image27.wmf"/><Relationship Id="rId3" Type="http://schemas.openxmlformats.org/officeDocument/2006/relationships/oleObject" Target="../embeddings/oleObject20.bin"/><Relationship Id="rId2" Type="http://schemas.openxmlformats.org/officeDocument/2006/relationships/image" Target="../media/image26.wmf"/><Relationship Id="rId14" Type="http://schemas.openxmlformats.org/officeDocument/2006/relationships/vmlDrawing" Target="../drawings/vmlDrawing10.vml"/><Relationship Id="rId13" Type="http://schemas.openxmlformats.org/officeDocument/2006/relationships/slideLayout" Target="../slideLayouts/slideLayout1.xml"/><Relationship Id="rId12" Type="http://schemas.openxmlformats.org/officeDocument/2006/relationships/image" Target="../media/image31.wmf"/><Relationship Id="rId11" Type="http://schemas.openxmlformats.org/officeDocument/2006/relationships/oleObject" Target="../embeddings/oleObject24.bin"/><Relationship Id="rId10" Type="http://schemas.openxmlformats.org/officeDocument/2006/relationships/image" Target="../media/image30.wmf"/><Relationship Id="rId1" Type="http://schemas.openxmlformats.org/officeDocument/2006/relationships/oleObject" Target="../embeddings/oleObject19.bin"/></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29.bin"/><Relationship Id="rId8" Type="http://schemas.openxmlformats.org/officeDocument/2006/relationships/image" Target="../media/image35.wmf"/><Relationship Id="rId7" Type="http://schemas.openxmlformats.org/officeDocument/2006/relationships/oleObject" Target="../embeddings/oleObject28.bin"/><Relationship Id="rId6" Type="http://schemas.openxmlformats.org/officeDocument/2006/relationships/image" Target="../media/image34.wmf"/><Relationship Id="rId5" Type="http://schemas.openxmlformats.org/officeDocument/2006/relationships/oleObject" Target="../embeddings/oleObject27.bin"/><Relationship Id="rId4" Type="http://schemas.openxmlformats.org/officeDocument/2006/relationships/image" Target="../media/image33.wmf"/><Relationship Id="rId3" Type="http://schemas.openxmlformats.org/officeDocument/2006/relationships/oleObject" Target="../embeddings/oleObject26.bin"/><Relationship Id="rId2" Type="http://schemas.openxmlformats.org/officeDocument/2006/relationships/image" Target="../media/image32.wmf"/><Relationship Id="rId14" Type="http://schemas.openxmlformats.org/officeDocument/2006/relationships/vmlDrawing" Target="../drawings/vmlDrawing11.vml"/><Relationship Id="rId13" Type="http://schemas.openxmlformats.org/officeDocument/2006/relationships/slideLayout" Target="../slideLayouts/slideLayout1.xml"/><Relationship Id="rId12" Type="http://schemas.openxmlformats.org/officeDocument/2006/relationships/image" Target="../media/image37.wmf"/><Relationship Id="rId11" Type="http://schemas.openxmlformats.org/officeDocument/2006/relationships/oleObject" Target="../embeddings/oleObject30.bin"/><Relationship Id="rId10" Type="http://schemas.openxmlformats.org/officeDocument/2006/relationships/image" Target="../media/image36.wmf"/><Relationship Id="rId1" Type="http://schemas.openxmlformats.org/officeDocument/2006/relationships/oleObject" Target="../embeddings/oleObject25.bin"/></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vmlDrawing" Target="../drawings/vmlDrawing12.vml"/><Relationship Id="rId5" Type="http://schemas.openxmlformats.org/officeDocument/2006/relationships/slideLayout" Target="../slideLayouts/slideLayout1.xml"/><Relationship Id="rId4" Type="http://schemas.openxmlformats.org/officeDocument/2006/relationships/image" Target="../media/image39.wmf"/><Relationship Id="rId3" Type="http://schemas.openxmlformats.org/officeDocument/2006/relationships/oleObject" Target="../embeddings/oleObject32.bin"/><Relationship Id="rId2" Type="http://schemas.openxmlformats.org/officeDocument/2006/relationships/image" Target="../media/image38.wmf"/><Relationship Id="rId1" Type="http://schemas.openxmlformats.org/officeDocument/2006/relationships/oleObject" Target="../embeddings/oleObject31.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40.wmf"/><Relationship Id="rId1" Type="http://schemas.openxmlformats.org/officeDocument/2006/relationships/oleObject" Target="../embeddings/oleObject33.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2.xml"/><Relationship Id="rId4" Type="http://schemas.openxmlformats.org/officeDocument/2006/relationships/image" Target="../media/image43.wmf"/><Relationship Id="rId3" Type="http://schemas.openxmlformats.org/officeDocument/2006/relationships/oleObject" Target="../embeddings/oleObject35.bin"/><Relationship Id="rId2" Type="http://schemas.openxmlformats.org/officeDocument/2006/relationships/image" Target="../media/image42.wmf"/><Relationship Id="rId1" Type="http://schemas.openxmlformats.org/officeDocument/2006/relationships/oleObject" Target="../embeddings/oleObject34.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7.wmf"/><Relationship Id="rId7" Type="http://schemas.openxmlformats.org/officeDocument/2006/relationships/oleObject" Target="../embeddings/oleObject39.bin"/><Relationship Id="rId6" Type="http://schemas.openxmlformats.org/officeDocument/2006/relationships/image" Target="../media/image46.wmf"/><Relationship Id="rId5" Type="http://schemas.openxmlformats.org/officeDocument/2006/relationships/oleObject" Target="../embeddings/oleObject38.bin"/><Relationship Id="rId4" Type="http://schemas.openxmlformats.org/officeDocument/2006/relationships/image" Target="../media/image45.wmf"/><Relationship Id="rId3" Type="http://schemas.openxmlformats.org/officeDocument/2006/relationships/oleObject" Target="../embeddings/oleObject37.bin"/><Relationship Id="rId2" Type="http://schemas.openxmlformats.org/officeDocument/2006/relationships/image" Target="../media/image44.wmf"/><Relationship Id="rId10" Type="http://schemas.openxmlformats.org/officeDocument/2006/relationships/vmlDrawing" Target="../drawings/vmlDrawing15.vml"/><Relationship Id="rId1" Type="http://schemas.openxmlformats.org/officeDocument/2006/relationships/oleObject" Target="../embeddings/oleObject36.bin"/></Relationships>
</file>

<file path=ppt/slides/_rels/slide4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1.wmf"/><Relationship Id="rId7" Type="http://schemas.openxmlformats.org/officeDocument/2006/relationships/oleObject" Target="../embeddings/oleObject43.bin"/><Relationship Id="rId6" Type="http://schemas.openxmlformats.org/officeDocument/2006/relationships/image" Target="../media/image50.wmf"/><Relationship Id="rId5" Type="http://schemas.openxmlformats.org/officeDocument/2006/relationships/oleObject" Target="../embeddings/oleObject42.bin"/><Relationship Id="rId4" Type="http://schemas.openxmlformats.org/officeDocument/2006/relationships/image" Target="../media/image49.wmf"/><Relationship Id="rId3" Type="http://schemas.openxmlformats.org/officeDocument/2006/relationships/oleObject" Target="../embeddings/oleObject41.bin"/><Relationship Id="rId2" Type="http://schemas.openxmlformats.org/officeDocument/2006/relationships/image" Target="../media/image48.wmf"/><Relationship Id="rId10" Type="http://schemas.openxmlformats.org/officeDocument/2006/relationships/vmlDrawing" Target="../drawings/vmlDrawing16.vml"/><Relationship Id="rId1" Type="http://schemas.openxmlformats.org/officeDocument/2006/relationships/oleObject" Target="../embeddings/oleObject40.bin"/></Relationships>
</file>

<file path=ppt/slides/_rels/slide45.xml.rels><?xml version="1.0" encoding="UTF-8" standalone="yes"?>
<Relationships xmlns="http://schemas.openxmlformats.org/package/2006/relationships"><Relationship Id="rId6" Type="http://schemas.openxmlformats.org/officeDocument/2006/relationships/vmlDrawing" Target="../drawings/vmlDrawing17.vml"/><Relationship Id="rId5" Type="http://schemas.openxmlformats.org/officeDocument/2006/relationships/slideLayout" Target="../slideLayouts/slideLayout2.xml"/><Relationship Id="rId4" Type="http://schemas.openxmlformats.org/officeDocument/2006/relationships/image" Target="../media/image53.wmf"/><Relationship Id="rId3" Type="http://schemas.openxmlformats.org/officeDocument/2006/relationships/oleObject" Target="../embeddings/oleObject45.bin"/><Relationship Id="rId2" Type="http://schemas.openxmlformats.org/officeDocument/2006/relationships/image" Target="../media/image52.wmf"/><Relationship Id="rId1" Type="http://schemas.openxmlformats.org/officeDocument/2006/relationships/oleObject" Target="../embeddings/oleObject44.bin"/></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2.xml"/><Relationship Id="rId2" Type="http://schemas.openxmlformats.org/officeDocument/2006/relationships/image" Target="../media/image54.wmf"/><Relationship Id="rId1" Type="http://schemas.openxmlformats.org/officeDocument/2006/relationships/oleObject" Target="../embeddings/oleObject46.bin"/></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2.xml"/><Relationship Id="rId2" Type="http://schemas.openxmlformats.org/officeDocument/2006/relationships/image" Target="../media/image56.wmf"/><Relationship Id="rId1" Type="http://schemas.openxmlformats.org/officeDocument/2006/relationships/oleObject" Target="../embeddings/oleObject47.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7" Type="http://schemas.openxmlformats.org/officeDocument/2006/relationships/vmlDrawing" Target="../drawings/vmlDrawing20.vml"/><Relationship Id="rId6" Type="http://schemas.openxmlformats.org/officeDocument/2006/relationships/slideLayout" Target="../slideLayouts/slideLayout2.xml"/><Relationship Id="rId5" Type="http://schemas.openxmlformats.org/officeDocument/2006/relationships/image" Target="../media/image59.wmf"/><Relationship Id="rId4" Type="http://schemas.openxmlformats.org/officeDocument/2006/relationships/oleObject" Target="../embeddings/oleObject49.bin"/><Relationship Id="rId3" Type="http://schemas.openxmlformats.org/officeDocument/2006/relationships/image" Target="../media/image58.png"/><Relationship Id="rId2" Type="http://schemas.openxmlformats.org/officeDocument/2006/relationships/image" Target="../media/image57.wmf"/><Relationship Id="rId1" Type="http://schemas.openxmlformats.org/officeDocument/2006/relationships/oleObject" Target="../embeddings/oleObject48.bin"/></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2.xml"/><Relationship Id="rId2" Type="http://schemas.openxmlformats.org/officeDocument/2006/relationships/image" Target="../media/image61.wmf"/><Relationship Id="rId1" Type="http://schemas.openxmlformats.org/officeDocument/2006/relationships/oleObject" Target="../embeddings/oleObject50.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6.png"/><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tags" Target="../tags/tag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9" Type="http://schemas.openxmlformats.org/officeDocument/2006/relationships/oleObject" Target="../embeddings/oleObject55.bin"/><Relationship Id="rId8" Type="http://schemas.openxmlformats.org/officeDocument/2006/relationships/image" Target="../media/image71.wmf"/><Relationship Id="rId7" Type="http://schemas.openxmlformats.org/officeDocument/2006/relationships/oleObject" Target="../embeddings/oleObject54.bin"/><Relationship Id="rId6" Type="http://schemas.openxmlformats.org/officeDocument/2006/relationships/image" Target="../media/image70.wmf"/><Relationship Id="rId5" Type="http://schemas.openxmlformats.org/officeDocument/2006/relationships/oleObject" Target="../embeddings/oleObject53.bin"/><Relationship Id="rId4" Type="http://schemas.openxmlformats.org/officeDocument/2006/relationships/image" Target="../media/image69.wmf"/><Relationship Id="rId3" Type="http://schemas.openxmlformats.org/officeDocument/2006/relationships/oleObject" Target="../embeddings/oleObject52.bin"/><Relationship Id="rId2" Type="http://schemas.openxmlformats.org/officeDocument/2006/relationships/image" Target="../media/image68.wmf"/><Relationship Id="rId12" Type="http://schemas.openxmlformats.org/officeDocument/2006/relationships/vmlDrawing" Target="../drawings/vmlDrawing22.vml"/><Relationship Id="rId11" Type="http://schemas.openxmlformats.org/officeDocument/2006/relationships/slideLayout" Target="../slideLayouts/slideLayout2.xml"/><Relationship Id="rId10" Type="http://schemas.openxmlformats.org/officeDocument/2006/relationships/image" Target="../media/image72.wmf"/><Relationship Id="rId1" Type="http://schemas.openxmlformats.org/officeDocument/2006/relationships/oleObject" Target="../embeddings/oleObject51.bin"/></Relationships>
</file>

<file path=ppt/slides/_rels/slide83.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2.xml"/><Relationship Id="rId2" Type="http://schemas.openxmlformats.org/officeDocument/2006/relationships/image" Target="../media/image73.wmf"/><Relationship Id="rId1" Type="http://schemas.openxmlformats.org/officeDocument/2006/relationships/oleObject" Target="../embeddings/oleObject56.bin"/></Relationships>
</file>

<file path=ppt/slides/_rels/slide84.xml.rels><?xml version="1.0" encoding="UTF-8" standalone="yes"?>
<Relationships xmlns="http://schemas.openxmlformats.org/package/2006/relationships"><Relationship Id="rId9" Type="http://schemas.openxmlformats.org/officeDocument/2006/relationships/oleObject" Target="../embeddings/oleObject61.bin"/><Relationship Id="rId8" Type="http://schemas.openxmlformats.org/officeDocument/2006/relationships/image" Target="../media/image77.wmf"/><Relationship Id="rId7" Type="http://schemas.openxmlformats.org/officeDocument/2006/relationships/oleObject" Target="../embeddings/oleObject60.bin"/><Relationship Id="rId6" Type="http://schemas.openxmlformats.org/officeDocument/2006/relationships/image" Target="../media/image76.wmf"/><Relationship Id="rId5" Type="http://schemas.openxmlformats.org/officeDocument/2006/relationships/oleObject" Target="../embeddings/oleObject59.bin"/><Relationship Id="rId4" Type="http://schemas.openxmlformats.org/officeDocument/2006/relationships/image" Target="../media/image75.wmf"/><Relationship Id="rId3" Type="http://schemas.openxmlformats.org/officeDocument/2006/relationships/oleObject" Target="../embeddings/oleObject58.bin"/><Relationship Id="rId2" Type="http://schemas.openxmlformats.org/officeDocument/2006/relationships/image" Target="../media/image74.wmf"/><Relationship Id="rId12" Type="http://schemas.openxmlformats.org/officeDocument/2006/relationships/vmlDrawing" Target="../drawings/vmlDrawing24.vml"/><Relationship Id="rId11" Type="http://schemas.openxmlformats.org/officeDocument/2006/relationships/slideLayout" Target="../slideLayouts/slideLayout2.xml"/><Relationship Id="rId10" Type="http://schemas.openxmlformats.org/officeDocument/2006/relationships/image" Target="../media/image78.wmf"/><Relationship Id="rId1" Type="http://schemas.openxmlformats.org/officeDocument/2006/relationships/oleObject" Target="../embeddings/oleObject57.bin"/></Relationships>
</file>

<file path=ppt/slides/_rels/slide8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78.wmf"/><Relationship Id="rId7" Type="http://schemas.openxmlformats.org/officeDocument/2006/relationships/oleObject" Target="../embeddings/oleObject65.bin"/><Relationship Id="rId6" Type="http://schemas.openxmlformats.org/officeDocument/2006/relationships/image" Target="../media/image81.wmf"/><Relationship Id="rId5" Type="http://schemas.openxmlformats.org/officeDocument/2006/relationships/oleObject" Target="../embeddings/oleObject64.bin"/><Relationship Id="rId4" Type="http://schemas.openxmlformats.org/officeDocument/2006/relationships/image" Target="../media/image80.wmf"/><Relationship Id="rId3" Type="http://schemas.openxmlformats.org/officeDocument/2006/relationships/oleObject" Target="../embeddings/oleObject63.bin"/><Relationship Id="rId2" Type="http://schemas.openxmlformats.org/officeDocument/2006/relationships/image" Target="../media/image79.wmf"/><Relationship Id="rId10" Type="http://schemas.openxmlformats.org/officeDocument/2006/relationships/vmlDrawing" Target="../drawings/vmlDrawing25.vml"/><Relationship Id="rId1" Type="http://schemas.openxmlformats.org/officeDocument/2006/relationships/oleObject" Target="../embeddings/oleObject62.bin"/></Relationships>
</file>

<file path=ppt/slides/_rels/slide86.xml.rels><?xml version="1.0" encoding="UTF-8" standalone="yes"?>
<Relationships xmlns="http://schemas.openxmlformats.org/package/2006/relationships"><Relationship Id="rId9" Type="http://schemas.openxmlformats.org/officeDocument/2006/relationships/vmlDrawing" Target="../drawings/vmlDrawing26.vml"/><Relationship Id="rId8" Type="http://schemas.openxmlformats.org/officeDocument/2006/relationships/slideLayout" Target="../slideLayouts/slideLayout2.xml"/><Relationship Id="rId7" Type="http://schemas.openxmlformats.org/officeDocument/2006/relationships/image" Target="../media/image85.wmf"/><Relationship Id="rId6" Type="http://schemas.openxmlformats.org/officeDocument/2006/relationships/oleObject" Target="../embeddings/oleObject68.bin"/><Relationship Id="rId5" Type="http://schemas.openxmlformats.org/officeDocument/2006/relationships/image" Target="../media/image84.wmf"/><Relationship Id="rId4" Type="http://schemas.openxmlformats.org/officeDocument/2006/relationships/oleObject" Target="../embeddings/oleObject67.bin"/><Relationship Id="rId3" Type="http://schemas.openxmlformats.org/officeDocument/2006/relationships/image" Target="../media/image83.wmf"/><Relationship Id="rId2" Type="http://schemas.openxmlformats.org/officeDocument/2006/relationships/oleObject" Target="../embeddings/oleObject66.bin"/><Relationship Id="rId1" Type="http://schemas.openxmlformats.org/officeDocument/2006/relationships/image" Target="../media/image82.png"/></Relationships>
</file>

<file path=ppt/slides/_rels/slide87.xml.rels><?xml version="1.0" encoding="UTF-8" standalone="yes"?>
<Relationships xmlns="http://schemas.openxmlformats.org/package/2006/relationships"><Relationship Id="rId6" Type="http://schemas.openxmlformats.org/officeDocument/2006/relationships/vmlDrawing" Target="../drawings/vmlDrawing27.vml"/><Relationship Id="rId5" Type="http://schemas.openxmlformats.org/officeDocument/2006/relationships/slideLayout" Target="../slideLayouts/slideLayout2.xml"/><Relationship Id="rId4" Type="http://schemas.openxmlformats.org/officeDocument/2006/relationships/image" Target="../media/image73.wmf"/><Relationship Id="rId3" Type="http://schemas.openxmlformats.org/officeDocument/2006/relationships/oleObject" Target="../embeddings/oleObject70.bin"/><Relationship Id="rId2" Type="http://schemas.openxmlformats.org/officeDocument/2006/relationships/image" Target="../media/image86.wmf"/><Relationship Id="rId1" Type="http://schemas.openxmlformats.org/officeDocument/2006/relationships/oleObject" Target="../embeddings/oleObject69.bin"/></Relationships>
</file>

<file path=ppt/slides/_rels/slide8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90.wmf"/><Relationship Id="rId7" Type="http://schemas.openxmlformats.org/officeDocument/2006/relationships/oleObject" Target="../embeddings/oleObject74.bin"/><Relationship Id="rId6" Type="http://schemas.openxmlformats.org/officeDocument/2006/relationships/image" Target="../media/image89.wmf"/><Relationship Id="rId5" Type="http://schemas.openxmlformats.org/officeDocument/2006/relationships/oleObject" Target="../embeddings/oleObject73.bin"/><Relationship Id="rId4" Type="http://schemas.openxmlformats.org/officeDocument/2006/relationships/image" Target="../media/image88.wmf"/><Relationship Id="rId3" Type="http://schemas.openxmlformats.org/officeDocument/2006/relationships/oleObject" Target="../embeddings/oleObject72.bin"/><Relationship Id="rId2" Type="http://schemas.openxmlformats.org/officeDocument/2006/relationships/image" Target="../media/image87.wmf"/><Relationship Id="rId10" Type="http://schemas.openxmlformats.org/officeDocument/2006/relationships/vmlDrawing" Target="../drawings/vmlDrawing28.vml"/><Relationship Id="rId1" Type="http://schemas.openxmlformats.org/officeDocument/2006/relationships/oleObject" Target="../embeddings/oleObject71.bin"/></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6" Type="http://schemas.openxmlformats.org/officeDocument/2006/relationships/vmlDrawing" Target="../drawings/vmlDrawing29.vml"/><Relationship Id="rId5" Type="http://schemas.openxmlformats.org/officeDocument/2006/relationships/slideLayout" Target="../slideLayouts/slideLayout2.xml"/><Relationship Id="rId4" Type="http://schemas.openxmlformats.org/officeDocument/2006/relationships/image" Target="../media/image92.wmf"/><Relationship Id="rId3" Type="http://schemas.openxmlformats.org/officeDocument/2006/relationships/oleObject" Target="../embeddings/oleObject76.bin"/><Relationship Id="rId2" Type="http://schemas.openxmlformats.org/officeDocument/2006/relationships/image" Target="../media/image91.wmf"/><Relationship Id="rId1" Type="http://schemas.openxmlformats.org/officeDocument/2006/relationships/oleObject" Target="../embeddings/oleObject75.bin"/></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ctrTitle"/>
          </p:nvPr>
        </p:nvSpPr>
        <p:spPr>
          <a:xfrm>
            <a:off x="685800" y="476250"/>
            <a:ext cx="7772400" cy="865188"/>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第</a:t>
            </a:r>
            <a:r>
              <a:rPr lang="en-US" altLang="zh-CN" sz="4000" b="1" smtClean="0">
                <a:solidFill>
                  <a:srgbClr val="C00000"/>
                </a:solidFill>
                <a:latin typeface="Times New Roman" panose="02020603050405020304" pitchFamily="18" charset="0"/>
                <a:cs typeface="Times New Roman" panose="02020603050405020304" pitchFamily="18" charset="0"/>
              </a:rPr>
              <a:t>7</a:t>
            </a:r>
            <a:r>
              <a:rPr lang="zh-CN" altLang="en-US" sz="4000" b="1" smtClean="0">
                <a:solidFill>
                  <a:srgbClr val="C00000"/>
                </a:solidFill>
                <a:latin typeface="Times New Roman" panose="02020603050405020304" pitchFamily="18" charset="0"/>
                <a:cs typeface="Times New Roman" panose="02020603050405020304" pitchFamily="18" charset="0"/>
              </a:rPr>
              <a:t>章  网络流算法</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3075" name="副标题 2"/>
          <p:cNvSpPr>
            <a:spLocks noGrp="1"/>
          </p:cNvSpPr>
          <p:nvPr>
            <p:ph type="subTitle" idx="1"/>
          </p:nvPr>
        </p:nvSpPr>
        <p:spPr>
          <a:xfrm>
            <a:off x="684213" y="1557338"/>
            <a:ext cx="7775575" cy="3943350"/>
          </a:xfrm>
        </p:spPr>
        <p:txBody>
          <a:bodyPr/>
          <a:lstStyle/>
          <a:p>
            <a:pPr algn="l" eaLnBrk="1" hangingPunct="1"/>
            <a:r>
              <a:rPr lang="en-US" altLang="zh-CN" sz="2800" b="1" smtClean="0">
                <a:solidFill>
                  <a:schemeClr val="tx1"/>
                </a:solidFill>
                <a:latin typeface="Times New Roman" panose="02020603050405020304" pitchFamily="18" charset="0"/>
                <a:cs typeface="Times New Roman" panose="02020603050405020304" pitchFamily="18" charset="0"/>
              </a:rPr>
              <a:t>7.1 </a:t>
            </a:r>
            <a:r>
              <a:rPr lang="zh-CN" altLang="en-US" sz="2800" b="1" smtClean="0">
                <a:solidFill>
                  <a:schemeClr val="tx1"/>
                </a:solidFill>
                <a:latin typeface="Times New Roman" panose="02020603050405020304" pitchFamily="18" charset="0"/>
                <a:cs typeface="Times New Roman" panose="02020603050405020304" pitchFamily="18" charset="0"/>
              </a:rPr>
              <a:t>最大流问题</a:t>
            </a:r>
            <a:r>
              <a:rPr lang="en-US" altLang="zh-CN" sz="2800" b="1" smtClean="0">
                <a:solidFill>
                  <a:schemeClr val="tx1"/>
                </a:solidFill>
                <a:latin typeface="Times New Roman" panose="02020603050405020304" pitchFamily="18" charset="0"/>
                <a:cs typeface="Times New Roman" panose="02020603050405020304" pitchFamily="18" charset="0"/>
              </a:rPr>
              <a:t> </a:t>
            </a:r>
            <a:endParaRPr lang="en-US" altLang="zh-CN" sz="28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7.1.1 </a:t>
            </a:r>
            <a:r>
              <a:rPr lang="zh-CN" altLang="en-US" sz="2400" b="1" smtClean="0">
                <a:solidFill>
                  <a:schemeClr val="tx1"/>
                </a:solidFill>
                <a:latin typeface="Times New Roman" panose="02020603050405020304" pitchFamily="18" charset="0"/>
                <a:cs typeface="Times New Roman" panose="02020603050405020304" pitchFamily="18" charset="0"/>
              </a:rPr>
              <a:t>网络流及其性质</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7.1.2 Ford-Fulkerson</a:t>
            </a:r>
            <a:r>
              <a:rPr lang="zh-CN" altLang="en-US" sz="2400" b="1" smtClean="0">
                <a:solidFill>
                  <a:schemeClr val="tx1"/>
                </a:solidFill>
                <a:latin typeface="Times New Roman" panose="02020603050405020304" pitchFamily="18" charset="0"/>
                <a:cs typeface="Times New Roman" panose="02020603050405020304" pitchFamily="18" charset="0"/>
              </a:rPr>
              <a:t>算法</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7.1.3 Dinic</a:t>
            </a:r>
            <a:r>
              <a:rPr lang="zh-CN" altLang="en-US" sz="2400" b="1" smtClean="0">
                <a:solidFill>
                  <a:schemeClr val="tx1"/>
                </a:solidFill>
                <a:latin typeface="Times New Roman" panose="02020603050405020304" pitchFamily="18" charset="0"/>
                <a:cs typeface="Times New Roman" panose="02020603050405020304" pitchFamily="18" charset="0"/>
              </a:rPr>
              <a:t>有效算法</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spcBef>
                <a:spcPts val="1800"/>
              </a:spcBef>
            </a:pPr>
            <a:r>
              <a:rPr lang="en-US" altLang="zh-CN" sz="2800" b="1" smtClean="0">
                <a:solidFill>
                  <a:schemeClr val="tx1"/>
                </a:solidFill>
                <a:latin typeface="Times New Roman" panose="02020603050405020304" pitchFamily="18" charset="0"/>
                <a:cs typeface="Times New Roman" panose="02020603050405020304" pitchFamily="18" charset="0"/>
              </a:rPr>
              <a:t>7.2 </a:t>
            </a:r>
            <a:r>
              <a:rPr lang="zh-CN" altLang="en-US" sz="2800" b="1" smtClean="0">
                <a:solidFill>
                  <a:schemeClr val="tx1"/>
                </a:solidFill>
                <a:latin typeface="Times New Roman" panose="02020603050405020304" pitchFamily="18" charset="0"/>
                <a:cs typeface="Times New Roman" panose="02020603050405020304" pitchFamily="18" charset="0"/>
              </a:rPr>
              <a:t>最小费用流</a:t>
            </a:r>
            <a:endParaRPr lang="en-US" altLang="zh-CN" sz="28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7.2.1 Floyd</a:t>
            </a:r>
            <a:r>
              <a:rPr lang="zh-CN" altLang="en-US" sz="2400" b="1" smtClean="0">
                <a:solidFill>
                  <a:schemeClr val="tx1"/>
                </a:solidFill>
                <a:latin typeface="Times New Roman" panose="02020603050405020304" pitchFamily="18" charset="0"/>
                <a:cs typeface="Times New Roman" panose="02020603050405020304" pitchFamily="18" charset="0"/>
              </a:rPr>
              <a:t>算法</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7.2.2 </a:t>
            </a:r>
            <a:r>
              <a:rPr lang="zh-CN" altLang="en-US" sz="2400" b="1" smtClean="0">
                <a:solidFill>
                  <a:schemeClr val="tx1"/>
                </a:solidFill>
                <a:latin typeface="Times New Roman" panose="02020603050405020304" pitchFamily="18" charset="0"/>
                <a:cs typeface="Times New Roman" panose="02020603050405020304" pitchFamily="18" charset="0"/>
              </a:rPr>
              <a:t>最小费用流的负回路算法</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7.2.3 </a:t>
            </a:r>
            <a:r>
              <a:rPr lang="zh-CN" altLang="en-US" sz="2400" b="1" smtClean="0">
                <a:solidFill>
                  <a:schemeClr val="tx1"/>
                </a:solidFill>
                <a:latin typeface="Times New Roman" panose="02020603050405020304" pitchFamily="18" charset="0"/>
                <a:cs typeface="Times New Roman" panose="02020603050405020304" pitchFamily="18" charset="0"/>
              </a:rPr>
              <a:t>最小费用流的最短路径算法</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endParaRPr lang="zh-CN" altLang="en-US" sz="2800" b="1" smtClean="0">
              <a:solidFill>
                <a:schemeClr val="tx1"/>
              </a:solidFill>
              <a:latin typeface="Times New Roman" panose="02020603050405020304" pitchFamily="18" charset="0"/>
              <a:cs typeface="Times New Roman" panose="02020603050405020304" pitchFamily="18" charset="0"/>
            </a:endParaRPr>
          </a:p>
        </p:txBody>
      </p:sp>
      <p:sp>
        <p:nvSpPr>
          <p:cNvPr id="307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DB591841-B12D-4C4C-90A0-A0F52F177DD3}"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ctrTitle"/>
          </p:nvPr>
        </p:nvSpPr>
        <p:spPr>
          <a:xfrm>
            <a:off x="685800" y="476250"/>
            <a:ext cx="7772400" cy="865188"/>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第</a:t>
            </a:r>
            <a:r>
              <a:rPr lang="en-US" altLang="zh-CN" sz="4000" b="1" smtClean="0">
                <a:solidFill>
                  <a:srgbClr val="C00000"/>
                </a:solidFill>
                <a:latin typeface="Times New Roman" panose="02020603050405020304" pitchFamily="18" charset="0"/>
                <a:cs typeface="Times New Roman" panose="02020603050405020304" pitchFamily="18" charset="0"/>
              </a:rPr>
              <a:t>7</a:t>
            </a:r>
            <a:r>
              <a:rPr lang="zh-CN" altLang="en-US" sz="4000" b="1" smtClean="0">
                <a:solidFill>
                  <a:srgbClr val="C00000"/>
                </a:solidFill>
                <a:latin typeface="Times New Roman" panose="02020603050405020304" pitchFamily="18" charset="0"/>
                <a:cs typeface="Times New Roman" panose="02020603050405020304" pitchFamily="18" charset="0"/>
              </a:rPr>
              <a:t>章  网络流算法</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4099" name="副标题 2"/>
          <p:cNvSpPr>
            <a:spLocks noGrp="1"/>
          </p:cNvSpPr>
          <p:nvPr>
            <p:ph type="subTitle" idx="1"/>
          </p:nvPr>
        </p:nvSpPr>
        <p:spPr>
          <a:xfrm>
            <a:off x="684213" y="1557338"/>
            <a:ext cx="7775575" cy="4535487"/>
          </a:xfrm>
        </p:spPr>
        <p:txBody>
          <a:bodyPr/>
          <a:lstStyle/>
          <a:p>
            <a:pPr algn="l" eaLnBrk="1" hangingPunct="1"/>
            <a:r>
              <a:rPr lang="en-US" altLang="zh-CN" sz="2800" b="1" smtClean="0">
                <a:solidFill>
                  <a:schemeClr val="tx1"/>
                </a:solidFill>
                <a:latin typeface="Times New Roman" panose="02020603050405020304" pitchFamily="18" charset="0"/>
                <a:cs typeface="Times New Roman" panose="02020603050405020304" pitchFamily="18" charset="0"/>
              </a:rPr>
              <a:t>7.3 </a:t>
            </a:r>
            <a:r>
              <a:rPr lang="zh-CN" altLang="en-US" sz="2800" b="1" smtClean="0">
                <a:solidFill>
                  <a:schemeClr val="tx1"/>
                </a:solidFill>
                <a:latin typeface="Times New Roman" panose="02020603050405020304" pitchFamily="18" charset="0"/>
                <a:cs typeface="Times New Roman" panose="02020603050405020304" pitchFamily="18" charset="0"/>
              </a:rPr>
              <a:t>运输问题</a:t>
            </a:r>
            <a:endParaRPr lang="en-US" altLang="zh-CN" sz="28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7.3.1 </a:t>
            </a:r>
            <a:r>
              <a:rPr lang="zh-CN" altLang="en-US" sz="2400" b="1" smtClean="0">
                <a:solidFill>
                  <a:schemeClr val="tx1"/>
                </a:solidFill>
                <a:latin typeface="Times New Roman" panose="02020603050405020304" pitchFamily="18" charset="0"/>
                <a:cs typeface="Times New Roman" panose="02020603050405020304" pitchFamily="18" charset="0"/>
              </a:rPr>
              <a:t>确定初始调运方案</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7.3.2 </a:t>
            </a:r>
            <a:r>
              <a:rPr lang="zh-CN" altLang="en-US" sz="2400" b="1" smtClean="0">
                <a:solidFill>
                  <a:schemeClr val="tx1"/>
                </a:solidFill>
                <a:latin typeface="Times New Roman" panose="02020603050405020304" pitchFamily="18" charset="0"/>
                <a:cs typeface="Times New Roman" panose="02020603050405020304" pitchFamily="18" charset="0"/>
              </a:rPr>
              <a:t>改进调运方案</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7.3.3 </a:t>
            </a:r>
            <a:r>
              <a:rPr lang="zh-CN" altLang="en-US" sz="2400" b="1" smtClean="0">
                <a:solidFill>
                  <a:schemeClr val="tx1"/>
                </a:solidFill>
                <a:latin typeface="Times New Roman" panose="02020603050405020304" pitchFamily="18" charset="0"/>
                <a:cs typeface="Times New Roman" panose="02020603050405020304" pitchFamily="18" charset="0"/>
              </a:rPr>
              <a:t>表上作业法</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spcBef>
                <a:spcPts val="1800"/>
              </a:spcBef>
            </a:pPr>
            <a:r>
              <a:rPr lang="en-US" altLang="zh-CN" sz="2800" b="1" smtClean="0">
                <a:solidFill>
                  <a:schemeClr val="tx1"/>
                </a:solidFill>
                <a:latin typeface="Times New Roman" panose="02020603050405020304" pitchFamily="18" charset="0"/>
                <a:cs typeface="Times New Roman" panose="02020603050405020304" pitchFamily="18" charset="0"/>
              </a:rPr>
              <a:t>7.4 </a:t>
            </a:r>
            <a:r>
              <a:rPr lang="zh-CN" altLang="en-US" sz="2800" b="1" smtClean="0">
                <a:solidFill>
                  <a:schemeClr val="tx1"/>
                </a:solidFill>
                <a:latin typeface="Times New Roman" panose="02020603050405020304" pitchFamily="18" charset="0"/>
                <a:cs typeface="Times New Roman" panose="02020603050405020304" pitchFamily="18" charset="0"/>
              </a:rPr>
              <a:t>二部图匹配</a:t>
            </a:r>
            <a:endParaRPr lang="en-US" altLang="zh-CN" sz="28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7.4.1 </a:t>
            </a:r>
            <a:r>
              <a:rPr lang="zh-CN" altLang="en-US" sz="2400" b="1" smtClean="0">
                <a:solidFill>
                  <a:schemeClr val="tx1"/>
                </a:solidFill>
                <a:latin typeface="Times New Roman" panose="02020603050405020304" pitchFamily="18" charset="0"/>
                <a:cs typeface="Times New Roman" panose="02020603050405020304" pitchFamily="18" charset="0"/>
              </a:rPr>
              <a:t>二部图的最大匹配</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7.4.2 </a:t>
            </a:r>
            <a:r>
              <a:rPr lang="zh-CN" altLang="en-US" sz="2400" b="1" smtClean="0">
                <a:solidFill>
                  <a:schemeClr val="tx1"/>
                </a:solidFill>
                <a:latin typeface="Times New Roman" panose="02020603050405020304" pitchFamily="18" charset="0"/>
                <a:cs typeface="Times New Roman" panose="02020603050405020304" pitchFamily="18" charset="0"/>
              </a:rPr>
              <a:t>赋权二部图的匹配 </a:t>
            </a:r>
            <a:endParaRPr lang="zh-CN" altLang="en-US" sz="2400" b="1" smtClean="0">
              <a:solidFill>
                <a:schemeClr val="tx1"/>
              </a:solidFill>
              <a:latin typeface="Times New Roman" panose="02020603050405020304" pitchFamily="18" charset="0"/>
              <a:cs typeface="Times New Roman" panose="02020603050405020304" pitchFamily="18" charset="0"/>
            </a:endParaRPr>
          </a:p>
        </p:txBody>
      </p:sp>
      <p:sp>
        <p:nvSpPr>
          <p:cNvPr id="410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6B12E409-55BE-4A5E-BF97-6152139E41C9}"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副标题 7"/>
              <p:cNvSpPr>
                <a:spLocks noGrp="1"/>
              </p:cNvSpPr>
              <p:nvPr>
                <p:ph type="subTitle" idx="1"/>
              </p:nvPr>
            </p:nvSpPr>
            <p:spPr>
              <a:xfrm>
                <a:off x="391115" y="1040827"/>
                <a:ext cx="8295685" cy="5412509"/>
              </a:xfrm>
            </p:spPr>
            <p:txBody>
              <a:bodyPr/>
              <a:lstStyle/>
              <a:p>
                <a:r>
                  <a:rPr lang="en-US" altLang="zh-CN" b="1" dirty="0" smtClean="0">
                    <a:solidFill>
                      <a:srgbClr val="C00000"/>
                    </a:solidFill>
                    <a:latin typeface="Times New Roman" panose="02020603050405020304" pitchFamily="18" charset="0"/>
                    <a:cs typeface="Times New Roman" panose="02020603050405020304" pitchFamily="18" charset="0"/>
                  </a:rPr>
                  <a:t>7.1.1</a:t>
                </a:r>
                <a:r>
                  <a:rPr lang="en-US" altLang="zh-CN" b="1" dirty="0" smtClean="0">
                    <a:solidFill>
                      <a:srgbClr val="C00000"/>
                    </a:solidFill>
                  </a:rPr>
                  <a:t> </a:t>
                </a:r>
                <a:r>
                  <a:rPr lang="zh-CN" altLang="en-US" b="1" dirty="0" smtClean="0">
                    <a:solidFill>
                      <a:srgbClr val="C00000"/>
                    </a:solidFill>
                  </a:rPr>
                  <a:t>最大流问题</a:t>
                </a:r>
                <a:endParaRPr lang="en-US" altLang="zh-CN" b="1" dirty="0" smtClean="0">
                  <a:solidFill>
                    <a:srgbClr val="C00000"/>
                  </a:solidFill>
                </a:endParaRPr>
              </a:p>
              <a:p>
                <a:pPr algn="l">
                  <a:lnSpc>
                    <a:spcPts val="3200"/>
                  </a:lnSpc>
                </a:pPr>
                <a:r>
                  <a:rPr lang="zh-CN" altLang="zh-CN" sz="2400" b="1" dirty="0">
                    <a:solidFill>
                      <a:srgbClr val="C00000"/>
                    </a:solidFill>
                    <a:latin typeface="黑体" panose="02010609060101010101" pitchFamily="49" charset="-122"/>
                    <a:cs typeface="Times New Roman" panose="02020603050405020304" pitchFamily="18" charset="0"/>
                  </a:rPr>
                  <a:t>定义</a:t>
                </a:r>
                <a:r>
                  <a:rPr lang="en-US" altLang="zh-CN" sz="2400" b="1" dirty="0">
                    <a:solidFill>
                      <a:srgbClr val="C00000"/>
                    </a:solidFill>
                    <a:latin typeface="Times New Roman" panose="02020603050405020304" pitchFamily="18" charset="0"/>
                    <a:cs typeface="Times New Roman" panose="02020603050405020304" pitchFamily="18" charset="0"/>
                  </a:rPr>
                  <a:t>7.1  </a:t>
                </a:r>
                <a:r>
                  <a:rPr lang="zh-CN" altLang="en-US" sz="2400" b="1" dirty="0">
                    <a:solidFill>
                      <a:srgbClr val="C00000"/>
                    </a:solidFill>
                    <a:latin typeface="Times New Roman" panose="02020603050405020304" pitchFamily="18" charset="0"/>
                    <a:cs typeface="Times New Roman" panose="02020603050405020304" pitchFamily="18" charset="0"/>
                  </a:rPr>
                  <a:t>容量网络 </a:t>
                </a:r>
                <a:r>
                  <a:rPr lang="en-US" altLang="zh-CN" sz="2400" b="1" i="1" dirty="0">
                    <a:solidFill>
                      <a:schemeClr val="tx1"/>
                    </a:solidFill>
                    <a:latin typeface="Times New Roman" panose="02020603050405020304" pitchFamily="18" charset="0"/>
                    <a:cs typeface="Times New Roman" panose="02020603050405020304" pitchFamily="18" charset="0"/>
                  </a:rPr>
                  <a:t>N</a:t>
                </a:r>
                <a:r>
                  <a:rPr lang="en-US" altLang="zh-CN" sz="2400" b="1" dirty="0">
                    <a:solidFill>
                      <a:schemeClr val="tx1"/>
                    </a:solidFill>
                    <a:latin typeface="Times New Roman" panose="02020603050405020304" pitchFamily="18" charset="0"/>
                    <a:cs typeface="Times New Roman" panose="02020603050405020304" pitchFamily="18" charset="0"/>
                  </a:rPr>
                  <a:t>=&lt;</a:t>
                </a:r>
                <a:r>
                  <a:rPr lang="en-US" altLang="zh-CN" sz="2400" b="1" i="1" dirty="0">
                    <a:solidFill>
                      <a:schemeClr val="tx1"/>
                    </a:solidFill>
                    <a:latin typeface="Times New Roman" panose="02020603050405020304" pitchFamily="18" charset="0"/>
                    <a:cs typeface="Times New Roman" panose="02020603050405020304" pitchFamily="18" charset="0"/>
                  </a:rPr>
                  <a:t>V</a:t>
                </a:r>
                <a:r>
                  <a:rPr lang="en-US" altLang="zh-CN" sz="2400" b="1" dirty="0">
                    <a:solidFill>
                      <a:schemeClr val="tx1"/>
                    </a:solidFill>
                    <a:latin typeface="Times New Roman" panose="02020603050405020304" pitchFamily="18" charset="0"/>
                    <a:cs typeface="Times New Roman" panose="02020603050405020304" pitchFamily="18" charset="0"/>
                  </a:rPr>
                  <a:t>, </a:t>
                </a:r>
                <a:r>
                  <a:rPr lang="en-US" altLang="zh-CN" sz="2400" b="1" i="1" dirty="0">
                    <a:solidFill>
                      <a:schemeClr val="tx1"/>
                    </a:solidFill>
                    <a:latin typeface="Times New Roman" panose="02020603050405020304" pitchFamily="18" charset="0"/>
                    <a:cs typeface="Times New Roman" panose="02020603050405020304" pitchFamily="18" charset="0"/>
                  </a:rPr>
                  <a:t>E</a:t>
                </a:r>
                <a:r>
                  <a:rPr lang="en-US" altLang="zh-CN" sz="2400" b="1" dirty="0">
                    <a:solidFill>
                      <a:schemeClr val="tx1"/>
                    </a:solidFill>
                    <a:latin typeface="Times New Roman" panose="02020603050405020304" pitchFamily="18" charset="0"/>
                    <a:cs typeface="Times New Roman" panose="02020603050405020304" pitchFamily="18" charset="0"/>
                  </a:rPr>
                  <a:t>, </a:t>
                </a:r>
                <a:r>
                  <a:rPr lang="en-US" altLang="zh-CN" sz="2400" b="1" i="1" dirty="0">
                    <a:solidFill>
                      <a:schemeClr val="tx1"/>
                    </a:solidFill>
                    <a:latin typeface="Times New Roman" panose="02020603050405020304" pitchFamily="18" charset="0"/>
                    <a:cs typeface="Times New Roman" panose="02020603050405020304" pitchFamily="18" charset="0"/>
                  </a:rPr>
                  <a:t>c</a:t>
                </a:r>
                <a:r>
                  <a:rPr lang="en-US" altLang="zh-CN" sz="2400" b="1" dirty="0">
                    <a:solidFill>
                      <a:schemeClr val="tx1"/>
                    </a:solidFill>
                    <a:latin typeface="Times New Roman" panose="02020603050405020304" pitchFamily="18" charset="0"/>
                    <a:cs typeface="Times New Roman" panose="02020603050405020304" pitchFamily="18" charset="0"/>
                  </a:rPr>
                  <a:t>, </a:t>
                </a:r>
                <a:r>
                  <a:rPr lang="en-US" altLang="zh-CN" sz="2400" b="1" i="1" dirty="0">
                    <a:solidFill>
                      <a:schemeClr val="tx1"/>
                    </a:solidFill>
                    <a:latin typeface="Times New Roman" panose="02020603050405020304" pitchFamily="18" charset="0"/>
                    <a:cs typeface="Times New Roman" panose="02020603050405020304" pitchFamily="18" charset="0"/>
                  </a:rPr>
                  <a:t>s</a:t>
                </a:r>
                <a:r>
                  <a:rPr lang="en-US" altLang="zh-CN" sz="2400" b="1" dirty="0">
                    <a:solidFill>
                      <a:schemeClr val="tx1"/>
                    </a:solidFill>
                    <a:latin typeface="Times New Roman" panose="02020603050405020304" pitchFamily="18" charset="0"/>
                    <a:cs typeface="Times New Roman" panose="02020603050405020304" pitchFamily="18" charset="0"/>
                  </a:rPr>
                  <a:t>, </a:t>
                </a:r>
                <a:r>
                  <a:rPr lang="en-US" altLang="zh-CN" sz="2400" b="1" i="1" dirty="0">
                    <a:solidFill>
                      <a:schemeClr val="tx1"/>
                    </a:solidFill>
                    <a:latin typeface="Times New Roman" panose="02020603050405020304" pitchFamily="18" charset="0"/>
                    <a:cs typeface="Times New Roman" panose="02020603050405020304" pitchFamily="18" charset="0"/>
                  </a:rPr>
                  <a:t>t</a:t>
                </a:r>
                <a:r>
                  <a:rPr lang="en-US" altLang="zh-CN" sz="2400" b="1" dirty="0">
                    <a:solidFill>
                      <a:schemeClr val="tx1"/>
                    </a:solidFill>
                    <a:latin typeface="Times New Roman" panose="02020603050405020304" pitchFamily="18" charset="0"/>
                    <a:cs typeface="Times New Roman" panose="02020603050405020304" pitchFamily="18" charset="0"/>
                  </a:rPr>
                  <a:t>&gt;</a:t>
                </a:r>
                <a:r>
                  <a:rPr lang="zh-CN" altLang="en-US" sz="2400" b="1" dirty="0">
                    <a:solidFill>
                      <a:schemeClr val="tx1"/>
                    </a:solidFill>
                    <a:latin typeface="Times New Roman" panose="02020603050405020304" pitchFamily="18" charset="0"/>
                    <a:cs typeface="Times New Roman" panose="02020603050405020304" pitchFamily="18" charset="0"/>
                  </a:rPr>
                  <a:t>，其中</a:t>
                </a:r>
                <a:r>
                  <a:rPr lang="en-US" altLang="zh-CN" sz="2400" b="1" i="1" dirty="0">
                    <a:solidFill>
                      <a:schemeClr val="tx1"/>
                    </a:solidFill>
                    <a:latin typeface="Times New Roman" panose="02020603050405020304" pitchFamily="18" charset="0"/>
                    <a:cs typeface="Times New Roman" panose="02020603050405020304" pitchFamily="18" charset="0"/>
                  </a:rPr>
                  <a:t>N</a:t>
                </a:r>
                <a:r>
                  <a:rPr lang="en-US" altLang="zh-CN" sz="2400" b="1" dirty="0">
                    <a:solidFill>
                      <a:schemeClr val="tx1"/>
                    </a:solidFill>
                    <a:latin typeface="Times New Roman" panose="02020603050405020304" pitchFamily="18" charset="0"/>
                    <a:cs typeface="Times New Roman" panose="02020603050405020304" pitchFamily="18" charset="0"/>
                  </a:rPr>
                  <a:t>=&lt;</a:t>
                </a:r>
                <a:r>
                  <a:rPr lang="en-US" altLang="zh-CN" sz="2400" b="1" i="1" dirty="0">
                    <a:solidFill>
                      <a:schemeClr val="tx1"/>
                    </a:solidFill>
                    <a:latin typeface="Times New Roman" panose="02020603050405020304" pitchFamily="18" charset="0"/>
                    <a:cs typeface="Times New Roman" panose="02020603050405020304" pitchFamily="18" charset="0"/>
                  </a:rPr>
                  <a:t>V</a:t>
                </a:r>
                <a:r>
                  <a:rPr lang="en-US" altLang="zh-CN" sz="2400" b="1" dirty="0">
                    <a:solidFill>
                      <a:schemeClr val="tx1"/>
                    </a:solidFill>
                    <a:latin typeface="Times New Roman" panose="02020603050405020304" pitchFamily="18" charset="0"/>
                    <a:cs typeface="Times New Roman" panose="02020603050405020304" pitchFamily="18" charset="0"/>
                  </a:rPr>
                  <a:t>, </a:t>
                </a:r>
                <a:r>
                  <a:rPr lang="en-US" altLang="zh-CN" sz="2400" b="1" i="1" dirty="0">
                    <a:solidFill>
                      <a:schemeClr val="tx1"/>
                    </a:solidFill>
                    <a:latin typeface="Times New Roman" panose="02020603050405020304" pitchFamily="18" charset="0"/>
                    <a:cs typeface="Times New Roman" panose="02020603050405020304" pitchFamily="18" charset="0"/>
                  </a:rPr>
                  <a:t>E</a:t>
                </a:r>
                <a:r>
                  <a:rPr lang="en-US" altLang="zh-CN" sz="2400" b="1" dirty="0">
                    <a:solidFill>
                      <a:schemeClr val="tx1"/>
                    </a:solidFill>
                    <a:latin typeface="Times New Roman" panose="02020603050405020304" pitchFamily="18" charset="0"/>
                    <a:cs typeface="Times New Roman" panose="02020603050405020304" pitchFamily="18" charset="0"/>
                  </a:rPr>
                  <a:t>&gt;</a:t>
                </a:r>
                <a:r>
                  <a:rPr lang="zh-CN" altLang="en-US" sz="2400" b="1" dirty="0">
                    <a:solidFill>
                      <a:schemeClr val="tx1"/>
                    </a:solidFill>
                    <a:latin typeface="Times New Roman" panose="02020603050405020304" pitchFamily="18" charset="0"/>
                    <a:cs typeface="Times New Roman" panose="02020603050405020304" pitchFamily="18" charset="0"/>
                  </a:rPr>
                  <a:t>是有向连通图，记 </a:t>
                </a:r>
                <a:r>
                  <a:rPr lang="en-US" altLang="zh-CN" sz="2400" b="1" i="1" dirty="0">
                    <a:solidFill>
                      <a:schemeClr val="tx1"/>
                    </a:solidFill>
                    <a:latin typeface="Times New Roman" panose="02020603050405020304" pitchFamily="18" charset="0"/>
                    <a:cs typeface="Times New Roman" panose="02020603050405020304" pitchFamily="18" charset="0"/>
                  </a:rPr>
                  <a:t>n</a:t>
                </a:r>
                <a:r>
                  <a:rPr lang="en-US" altLang="zh-CN" sz="2400" b="1" dirty="0">
                    <a:solidFill>
                      <a:schemeClr val="tx1"/>
                    </a:solidFill>
                    <a:latin typeface="Times New Roman" panose="02020603050405020304" pitchFamily="18" charset="0"/>
                    <a:cs typeface="Times New Roman" panose="02020603050405020304" pitchFamily="18" charset="0"/>
                  </a:rPr>
                  <a:t>=|</a:t>
                </a:r>
                <a:r>
                  <a:rPr lang="en-US" altLang="zh-CN" sz="2400" b="1" i="1" dirty="0">
                    <a:solidFill>
                      <a:schemeClr val="tx1"/>
                    </a:solidFill>
                    <a:latin typeface="Times New Roman" panose="02020603050405020304" pitchFamily="18" charset="0"/>
                    <a:cs typeface="Times New Roman" panose="02020603050405020304" pitchFamily="18" charset="0"/>
                  </a:rPr>
                  <a:t>V</a:t>
                </a:r>
                <a:r>
                  <a:rPr lang="en-US" altLang="zh-CN" sz="2400" b="1" dirty="0">
                    <a:solidFill>
                      <a:schemeClr val="tx1"/>
                    </a:solidFill>
                    <a:latin typeface="Times New Roman" panose="02020603050405020304" pitchFamily="18" charset="0"/>
                    <a:cs typeface="Times New Roman" panose="02020603050405020304" pitchFamily="18" charset="0"/>
                  </a:rPr>
                  <a:t>|, </a:t>
                </a:r>
                <a:r>
                  <a:rPr lang="en-US" altLang="zh-CN" sz="2400" b="1" i="1" dirty="0">
                    <a:solidFill>
                      <a:schemeClr val="tx1"/>
                    </a:solidFill>
                    <a:latin typeface="Times New Roman" panose="02020603050405020304" pitchFamily="18" charset="0"/>
                    <a:cs typeface="Times New Roman" panose="02020603050405020304" pitchFamily="18" charset="0"/>
                  </a:rPr>
                  <a:t>m</a:t>
                </a:r>
                <a:r>
                  <a:rPr lang="en-US" altLang="zh-CN" sz="2400" b="1" dirty="0">
                    <a:solidFill>
                      <a:schemeClr val="tx1"/>
                    </a:solidFill>
                    <a:latin typeface="Times New Roman" panose="02020603050405020304" pitchFamily="18" charset="0"/>
                    <a:cs typeface="Times New Roman" panose="02020603050405020304" pitchFamily="18" charset="0"/>
                  </a:rPr>
                  <a:t>=|</a:t>
                </a:r>
                <a:r>
                  <a:rPr lang="en-US" altLang="zh-CN" sz="2400" b="1" i="1" dirty="0">
                    <a:solidFill>
                      <a:schemeClr val="tx1"/>
                    </a:solidFill>
                    <a:latin typeface="Times New Roman" panose="02020603050405020304" pitchFamily="18" charset="0"/>
                    <a:cs typeface="Times New Roman" panose="02020603050405020304" pitchFamily="18" charset="0"/>
                  </a:rPr>
                  <a:t>E</a:t>
                </a:r>
                <a:r>
                  <a:rPr lang="en-US" altLang="zh-CN" sz="2400" b="1" dirty="0">
                    <a:solidFill>
                      <a:schemeClr val="tx1"/>
                    </a:solidFill>
                    <a:latin typeface="Times New Roman" panose="02020603050405020304" pitchFamily="18" charset="0"/>
                    <a:cs typeface="Times New Roman" panose="02020603050405020304" pitchFamily="18" charset="0"/>
                  </a:rPr>
                  <a:t>|, </a:t>
                </a:r>
                <a:r>
                  <a:rPr lang="en-US" altLang="zh-CN" sz="2400" b="1" i="1" dirty="0">
                    <a:solidFill>
                      <a:schemeClr val="tx1"/>
                    </a:solidFill>
                    <a:latin typeface="Times New Roman" panose="02020603050405020304" pitchFamily="18" charset="0"/>
                    <a:cs typeface="Times New Roman" panose="02020603050405020304" pitchFamily="18" charset="0"/>
                  </a:rPr>
                  <a:t>c</a:t>
                </a:r>
                <a:r>
                  <a:rPr lang="en-US" altLang="zh-CN" sz="2400" b="1" dirty="0">
                    <a:solidFill>
                      <a:schemeClr val="tx1"/>
                    </a:solidFill>
                    <a:latin typeface="Times New Roman" panose="02020603050405020304" pitchFamily="18" charset="0"/>
                    <a:cs typeface="Times New Roman" panose="02020603050405020304" pitchFamily="18" charset="0"/>
                  </a:rPr>
                  <a:t>:</a:t>
                </a:r>
                <a:r>
                  <a:rPr lang="en-US" altLang="zh-CN" sz="2400" b="1" i="1" dirty="0">
                    <a:solidFill>
                      <a:schemeClr val="tx1"/>
                    </a:solidFill>
                    <a:latin typeface="Times New Roman" panose="02020603050405020304" pitchFamily="18" charset="0"/>
                    <a:cs typeface="Times New Roman" panose="02020603050405020304" pitchFamily="18" charset="0"/>
                  </a:rPr>
                  <a:t>E</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R</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是边的</a:t>
                </a:r>
                <a:r>
                  <a:rPr lang="zh-CN" altLang="en-US" sz="2400" b="1"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容量</a:t>
                </a:r>
                <a:r>
                  <a:rPr lang="zh-CN" altLang="en-US"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s </a:t>
                </a:r>
                <a:r>
                  <a:rPr lang="zh-CN" alt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和 </a:t>
                </a:r>
                <a:r>
                  <a:rPr lang="en-US" altLang="zh-CN" sz="2400" b="1" i="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t </a:t>
                </a:r>
                <a:r>
                  <a:rPr lang="zh-CN" alt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是</a:t>
                </a:r>
                <a:r>
                  <a:rPr lang="zh-CN" altLang="en-US"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两个特殊的顶点，</a:t>
                </a:r>
                <a:r>
                  <a:rPr lang="en-US" altLang="zh-CN" sz="2400" b="1" i="1" dirty="0">
                    <a:solidFill>
                      <a:schemeClr val="tx1"/>
                    </a:solidFill>
                    <a:latin typeface="Times New Roman" panose="02020603050405020304" pitchFamily="18" charset="0"/>
                    <a:cs typeface="Times New Roman" panose="02020603050405020304" pitchFamily="18" charset="0"/>
                  </a:rPr>
                  <a:t>s</a:t>
                </a:r>
                <a:r>
                  <a:rPr lang="zh-CN" altLang="en-US" sz="2400" b="1" dirty="0">
                    <a:solidFill>
                      <a:schemeClr val="tx1"/>
                    </a:solidFill>
                    <a:latin typeface="Times New Roman" panose="02020603050405020304" pitchFamily="18" charset="0"/>
                    <a:cs typeface="Times New Roman" panose="02020603050405020304" pitchFamily="18" charset="0"/>
                  </a:rPr>
                  <a:t>称作</a:t>
                </a:r>
                <a:r>
                  <a:rPr lang="zh-CN" altLang="en-US" sz="2400" b="1" dirty="0">
                    <a:solidFill>
                      <a:srgbClr val="C00000"/>
                    </a:solidFill>
                    <a:latin typeface="黑体" panose="02010609060101010101" pitchFamily="49" charset="-122"/>
                    <a:cs typeface="Times New Roman" panose="02020603050405020304" pitchFamily="18" charset="0"/>
                  </a:rPr>
                  <a:t>发点</a:t>
                </a:r>
                <a:r>
                  <a:rPr lang="en-US" altLang="zh-CN" sz="2400" b="1" dirty="0">
                    <a:solidFill>
                      <a:srgbClr val="C00000"/>
                    </a:solidFill>
                    <a:latin typeface="黑体" panose="02010609060101010101" pitchFamily="49" charset="-122"/>
                    <a:cs typeface="Times New Roman" panose="02020603050405020304" pitchFamily="18" charset="0"/>
                  </a:rPr>
                  <a:t>(</a:t>
                </a:r>
                <a:r>
                  <a:rPr lang="zh-CN" altLang="en-US" sz="2400" b="1" dirty="0">
                    <a:solidFill>
                      <a:srgbClr val="C00000"/>
                    </a:solidFill>
                    <a:latin typeface="黑体" panose="02010609060101010101" pitchFamily="49" charset="-122"/>
                    <a:cs typeface="Times New Roman" panose="02020603050405020304" pitchFamily="18" charset="0"/>
                  </a:rPr>
                  <a:t>源</a:t>
                </a:r>
                <a:r>
                  <a:rPr lang="en-US" altLang="zh-CN" sz="2400" b="1" dirty="0">
                    <a:solidFill>
                      <a:schemeClr val="tx1"/>
                    </a:solidFill>
                    <a:latin typeface="黑体" panose="02010609060101010101" pitchFamily="49" charset="-122"/>
                    <a:cs typeface="Times New Roman" panose="02020603050405020304" pitchFamily="18" charset="0"/>
                  </a:rPr>
                  <a:t>)</a:t>
                </a:r>
                <a:r>
                  <a:rPr lang="en-US" altLang="zh-CN" sz="2400" b="1" dirty="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t </a:t>
                </a:r>
                <a:r>
                  <a:rPr lang="zh-CN" altLang="en-US" sz="2400" b="1" dirty="0" smtClean="0">
                    <a:solidFill>
                      <a:schemeClr val="tx1"/>
                    </a:solidFill>
                    <a:latin typeface="Times New Roman" panose="02020603050405020304" pitchFamily="18" charset="0"/>
                    <a:cs typeface="Times New Roman" panose="02020603050405020304" pitchFamily="18" charset="0"/>
                  </a:rPr>
                  <a:t>称作</a:t>
                </a:r>
                <a:r>
                  <a:rPr lang="zh-CN" altLang="en-US" sz="2400" b="1" dirty="0">
                    <a:solidFill>
                      <a:srgbClr val="C00000"/>
                    </a:solidFill>
                    <a:latin typeface="黑体" panose="02010609060101010101" pitchFamily="49" charset="-122"/>
                    <a:cs typeface="Times New Roman" panose="02020603050405020304" pitchFamily="18" charset="0"/>
                  </a:rPr>
                  <a:t>收点</a:t>
                </a:r>
                <a:r>
                  <a:rPr lang="en-US" altLang="zh-CN" sz="2400" b="1" dirty="0">
                    <a:solidFill>
                      <a:srgbClr val="C00000"/>
                    </a:solidFill>
                    <a:latin typeface="黑体" panose="02010609060101010101" pitchFamily="49" charset="-122"/>
                    <a:cs typeface="Times New Roman" panose="02020603050405020304" pitchFamily="18" charset="0"/>
                  </a:rPr>
                  <a:t>(</a:t>
                </a:r>
                <a:r>
                  <a:rPr lang="zh-CN" altLang="en-US" sz="2400" b="1" dirty="0">
                    <a:solidFill>
                      <a:srgbClr val="C00000"/>
                    </a:solidFill>
                    <a:latin typeface="黑体" panose="02010609060101010101" pitchFamily="49" charset="-122"/>
                    <a:cs typeface="Times New Roman" panose="02020603050405020304" pitchFamily="18" charset="0"/>
                  </a:rPr>
                  <a:t>汇</a:t>
                </a:r>
                <a:r>
                  <a:rPr lang="en-US" altLang="zh-CN" sz="2400" b="1" dirty="0">
                    <a:solidFill>
                      <a:srgbClr val="C00000"/>
                    </a:solidFill>
                    <a:latin typeface="黑体" panose="02010609060101010101" pitchFamily="49" charset="-122"/>
                    <a:cs typeface="Times New Roman" panose="02020603050405020304" pitchFamily="18" charset="0"/>
                  </a:rPr>
                  <a:t>)</a:t>
                </a:r>
                <a:r>
                  <a:rPr lang="en-US" altLang="zh-CN" sz="2400" b="1" dirty="0">
                    <a:solidFill>
                      <a:schemeClr val="tx1"/>
                    </a:solidFill>
                    <a:latin typeface="Times New Roman" panose="02020603050405020304" pitchFamily="18" charset="0"/>
                    <a:cs typeface="Times New Roman" panose="02020603050405020304" pitchFamily="18" charset="0"/>
                  </a:rPr>
                  <a:t>,</a:t>
                </a:r>
                <a:r>
                  <a:rPr lang="zh-CN" altLang="en-US" sz="2400" b="1" dirty="0">
                    <a:solidFill>
                      <a:schemeClr val="tx1"/>
                    </a:solidFill>
                    <a:latin typeface="Times New Roman" panose="02020603050405020304" pitchFamily="18" charset="0"/>
                    <a:cs typeface="Times New Roman" panose="02020603050405020304" pitchFamily="18" charset="0"/>
                  </a:rPr>
                  <a:t>其余的顶点称作</a:t>
                </a:r>
                <a:r>
                  <a:rPr lang="zh-CN" altLang="en-US" sz="2400" b="1" dirty="0">
                    <a:solidFill>
                      <a:srgbClr val="C00000"/>
                    </a:solidFill>
                    <a:latin typeface="黑体" panose="02010609060101010101" pitchFamily="49" charset="-122"/>
                    <a:cs typeface="Times New Roman" panose="02020603050405020304" pitchFamily="18" charset="0"/>
                  </a:rPr>
                  <a:t>中间</a:t>
                </a:r>
                <a:r>
                  <a:rPr lang="zh-CN" altLang="en-US" sz="2400" b="1" dirty="0" smtClean="0">
                    <a:solidFill>
                      <a:srgbClr val="C00000"/>
                    </a:solidFill>
                    <a:latin typeface="黑体" panose="02010609060101010101" pitchFamily="49" charset="-122"/>
                    <a:cs typeface="Times New Roman" panose="02020603050405020304" pitchFamily="18" charset="0"/>
                  </a:rPr>
                  <a:t>点</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zh-CN" altLang="en-US"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a:solidFill>
                      <a:schemeClr val="tx1"/>
                    </a:solidFill>
                    <a:latin typeface="Times New Roman" panose="02020603050405020304" pitchFamily="18" charset="0"/>
                    <a:cs typeface="Times New Roman" panose="02020603050405020304" pitchFamily="18" charset="0"/>
                  </a:rPr>
                  <a:t>设 </a:t>
                </a:r>
                <a:r>
                  <a:rPr lang="en-US" altLang="zh-CN" sz="2400" b="1" i="1" dirty="0" smtClean="0">
                    <a:solidFill>
                      <a:schemeClr val="tx1"/>
                    </a:solidFill>
                    <a:latin typeface="Times New Roman" panose="02020603050405020304" pitchFamily="18" charset="0"/>
                    <a:cs typeface="Times New Roman" panose="02020603050405020304" pitchFamily="18" charset="0"/>
                  </a:rPr>
                  <a:t>f </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E</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solidFill>
                      <a:schemeClr val="tx1"/>
                    </a:solidFill>
                    <a:latin typeface="Times New Roman" panose="02020603050405020304" pitchFamily="18" charset="0"/>
                    <a:cs typeface="Times New Roman" panose="02020603050405020304" pitchFamily="18" charset="0"/>
                  </a:rPr>
                  <a:t>R</a:t>
                </a:r>
                <a:r>
                  <a:rPr lang="en-US" altLang="zh-CN" sz="2400" b="1" baseline="30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满足下述条件</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dirty="0">
                  <a:solidFill>
                    <a:schemeClr val="tx1"/>
                  </a:solidFill>
                  <a:sym typeface="Symbol" panose="05050102010706020507" pitchFamily="18" charset="2"/>
                </a:endParaRPr>
              </a:p>
              <a:p>
                <a:pPr lvl="0" indent="269875" algn="l">
                  <a:lnSpc>
                    <a:spcPts val="3200"/>
                  </a:lnSpc>
                  <a:spcBef>
                    <a:spcPct val="0"/>
                  </a:spcBef>
                </a:pP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(1) </a:t>
                </a:r>
                <a:r>
                  <a:rPr lang="zh-CN" altLang="en-US"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容量限制 </a:t>
                </a:r>
                <a:r>
                  <a:rPr lang="zh-CN" alt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a:solidFill>
                      <a:schemeClr val="tx1"/>
                    </a:solidFill>
                    <a:latin typeface="Times New Roman" panose="02020603050405020304" pitchFamily="18" charset="0"/>
                    <a:cs typeface="Times New Roman" panose="02020603050405020304" pitchFamily="18" charset="0"/>
                  </a:rPr>
                  <a:t>&lt;</a:t>
                </a:r>
                <a:r>
                  <a:rPr lang="en-US" altLang="zh-CN" sz="2400" b="1" i="1"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&gt;</a:t>
                </a:r>
                <a:r>
                  <a:rPr lang="en-US" altLang="zh-CN" sz="2400" b="1" i="1" dirty="0">
                    <a:solidFill>
                      <a:schemeClr val="tx1"/>
                    </a:solidFill>
                    <a:latin typeface="Times New Roman" panose="02020603050405020304" pitchFamily="18" charset="0"/>
                    <a:cs typeface="Times New Roman" panose="02020603050405020304" pitchFamily="18" charset="0"/>
                  </a:rPr>
                  <a:t>E</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f</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 </a:t>
                </a:r>
                <a:r>
                  <a:rPr lang="en-US" altLang="zh-CN" sz="2400" b="1" i="1" dirty="0" smtClean="0">
                    <a:solidFill>
                      <a:schemeClr val="tx1"/>
                    </a:solidFill>
                    <a:latin typeface="Times New Roman" panose="02020603050405020304" pitchFamily="18" charset="0"/>
                    <a:cs typeface="Times New Roman" panose="02020603050405020304" pitchFamily="18" charset="0"/>
                  </a:rPr>
                  <a:t>c</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400" b="1" dirty="0">
                  <a:solidFill>
                    <a:schemeClr val="tx1"/>
                  </a:solidFill>
                  <a:sym typeface="Symbol" panose="05050102010706020507" pitchFamily="18" charset="2"/>
                </a:endParaRPr>
              </a:p>
              <a:p>
                <a:pPr lvl="0" indent="269875" algn="l">
                  <a:lnSpc>
                    <a:spcPts val="3200"/>
                  </a:lnSpc>
                  <a:spcBef>
                    <a:spcPct val="0"/>
                  </a:spcBef>
                </a:pP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(2) </a:t>
                </a:r>
                <a:r>
                  <a:rPr lang="zh-CN" alt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平衡条件  </a:t>
                </a:r>
                <a:r>
                  <a:rPr lang="zh-CN" altLang="en-US"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solidFill>
                      <a:schemeClr val="tx1"/>
                    </a:solidFill>
                    <a:latin typeface="Times New Roman" panose="02020603050405020304" pitchFamily="18" charset="0"/>
                    <a:cs typeface="Times New Roman" panose="02020603050405020304" pitchFamily="18" charset="0"/>
                  </a:rPr>
                  <a:t>i</a:t>
                </a:r>
                <a:r>
                  <a:rPr lang="en-US" altLang="zh-CN" sz="2400" b="1"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smtClean="0">
                    <a:solidFill>
                      <a:schemeClr val="tx1"/>
                    </a:solidFill>
                    <a:latin typeface="Times New Roman" panose="02020603050405020304" pitchFamily="18" charset="0"/>
                    <a:cs typeface="Times New Roman" panose="02020603050405020304" pitchFamily="18" charset="0"/>
                  </a:rPr>
                  <a:t>V</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s</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t</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nary>
                      <m:naryPr>
                        <m:chr m:val="∑"/>
                        <m:supHide m:val="on"/>
                        <m:ctrlP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naryPr>
                      <m:sub>
                        <m:r>
                          <m:rPr>
                            <m:brk m:alnAt="7"/>
                          </m:rP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&lt;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𝒋</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𝒊</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&gt;∈</m:t>
                        </m:r>
                        <m:r>
                          <a:rPr lang="en-US" altLang="zh-CN" sz="24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𝑬</m:t>
                        </m:r>
                      </m:sub>
                      <m:sup/>
                      <m:e>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𝒇</m:t>
                        </m:r>
                        <m:d>
                          <m:dPr>
                            <m:ctrlP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dPr>
                          <m:e>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𝒋</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𝒊</m:t>
                            </m:r>
                          </m:e>
                        </m:d>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nary>
                          <m:naryPr>
                            <m:chr m:val="∑"/>
                            <m:supHide m:val="on"/>
                            <m:ctrlP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naryPr>
                          <m:sub>
                            <m:r>
                              <m:rPr>
                                <m:brk m:alnAt="7"/>
                              </m:rP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&lt;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𝒊</m:t>
                            </m:r>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𝒋</m:t>
                            </m:r>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&gt;∈</m:t>
                            </m:r>
                            <m:r>
                              <a:rPr lang="en-US" altLang="zh-CN" sz="24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𝑬</m:t>
                            </m:r>
                          </m:sub>
                          <m:sup/>
                          <m:e>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𝒇</m:t>
                            </m:r>
                            <m:d>
                              <m:dPr>
                                <m:ctrlP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dPr>
                              <m:e>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𝒊</m:t>
                                </m:r>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𝒋</m:t>
                                </m:r>
                              </m:e>
                            </m:d>
                          </m:e>
                        </m:nary>
                      </m:e>
                    </m:nary>
                  </m:oMath>
                </a14:m>
                <a:endPar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lvl="0" algn="l">
                  <a:lnSpc>
                    <a:spcPts val="3200"/>
                  </a:lnSpc>
                  <a:spcBef>
                    <a:spcPct val="0"/>
                  </a:spcBef>
                </a:pPr>
                <a:r>
                  <a:rPr lang="zh-CN" altLang="en-US" sz="2400" b="1" dirty="0" smtClean="0">
                    <a:solidFill>
                      <a:schemeClr val="tx1"/>
                    </a:solidFill>
                    <a:latin typeface="Times New Roman" panose="02020603050405020304" pitchFamily="18" charset="0"/>
                    <a:cs typeface="Times New Roman" panose="02020603050405020304" pitchFamily="18" charset="0"/>
                  </a:rPr>
                  <a:t>称 </a:t>
                </a:r>
                <a:r>
                  <a:rPr lang="en-US" altLang="zh-CN" sz="2400" b="1" i="1" dirty="0" smtClean="0">
                    <a:solidFill>
                      <a:schemeClr val="tx1"/>
                    </a:solidFill>
                    <a:latin typeface="Times New Roman" panose="02020603050405020304" pitchFamily="18" charset="0"/>
                    <a:cs typeface="Times New Roman" panose="02020603050405020304" pitchFamily="18" charset="0"/>
                  </a:rPr>
                  <a:t>f </a:t>
                </a:r>
                <a:r>
                  <a:rPr lang="zh-CN" altLang="en-US" sz="2400" b="1" dirty="0" smtClean="0">
                    <a:solidFill>
                      <a:schemeClr val="tx1"/>
                    </a:solidFill>
                    <a:latin typeface="Times New Roman" panose="02020603050405020304" pitchFamily="18" charset="0"/>
                    <a:cs typeface="Times New Roman" panose="02020603050405020304" pitchFamily="18" charset="0"/>
                  </a:rPr>
                  <a:t>是</a:t>
                </a:r>
                <a:r>
                  <a:rPr lang="en-US" altLang="zh-CN" sz="2400" b="1" i="1" dirty="0">
                    <a:solidFill>
                      <a:schemeClr val="tx1"/>
                    </a:solidFill>
                    <a:latin typeface="Times New Roman" panose="02020603050405020304" pitchFamily="18" charset="0"/>
                    <a:cs typeface="Times New Roman" panose="02020603050405020304" pitchFamily="18" charset="0"/>
                  </a:rPr>
                  <a:t>N</a:t>
                </a:r>
                <a:r>
                  <a:rPr lang="zh-CN" altLang="en-US" sz="2400" b="1" dirty="0">
                    <a:solidFill>
                      <a:schemeClr val="tx1"/>
                    </a:solidFill>
                    <a:latin typeface="Times New Roman" panose="02020603050405020304" pitchFamily="18" charset="0"/>
                    <a:cs typeface="Times New Roman" panose="02020603050405020304" pitchFamily="18" charset="0"/>
                  </a:rPr>
                  <a:t>上的一个</a:t>
                </a:r>
                <a:r>
                  <a:rPr lang="zh-CN" altLang="en-US" sz="2400" b="1" dirty="0">
                    <a:solidFill>
                      <a:srgbClr val="C00000"/>
                    </a:solidFill>
                    <a:latin typeface="黑体" panose="02010609060101010101" pitchFamily="49" charset="-122"/>
                    <a:cs typeface="Times New Roman" panose="02020603050405020304" pitchFamily="18" charset="0"/>
                  </a:rPr>
                  <a:t>可行流</a:t>
                </a:r>
                <a:r>
                  <a:rPr lang="en-US" altLang="zh-CN" sz="2400" b="1" dirty="0">
                    <a:solidFill>
                      <a:schemeClr val="tx1"/>
                    </a:solidFill>
                    <a:latin typeface="Times New Roman" panose="02020603050405020304" pitchFamily="18" charset="0"/>
                    <a:cs typeface="Times New Roman" panose="02020603050405020304" pitchFamily="18" charset="0"/>
                  </a:rPr>
                  <a:t>, </a:t>
                </a:r>
                <a:r>
                  <a:rPr lang="zh-CN" altLang="en-US" sz="2400" b="1" dirty="0">
                    <a:solidFill>
                      <a:schemeClr val="tx1"/>
                    </a:solidFill>
                    <a:latin typeface="Times New Roman" panose="02020603050405020304" pitchFamily="18" charset="0"/>
                    <a:cs typeface="Times New Roman" panose="02020603050405020304" pitchFamily="18" charset="0"/>
                  </a:rPr>
                  <a:t>称发</a:t>
                </a:r>
                <a:r>
                  <a:rPr lang="zh-CN" altLang="en-US" sz="2400" b="1" dirty="0" smtClean="0">
                    <a:solidFill>
                      <a:schemeClr val="tx1"/>
                    </a:solidFill>
                    <a:latin typeface="Times New Roman" panose="02020603050405020304" pitchFamily="18" charset="0"/>
                    <a:cs typeface="Times New Roman" panose="02020603050405020304" pitchFamily="18" charset="0"/>
                  </a:rPr>
                  <a:t>点 </a:t>
                </a:r>
                <a:r>
                  <a:rPr lang="en-US" altLang="zh-CN" sz="2400" b="1" i="1" dirty="0" smtClean="0">
                    <a:solidFill>
                      <a:schemeClr val="tx1"/>
                    </a:solidFill>
                    <a:latin typeface="Times New Roman" panose="02020603050405020304" pitchFamily="18" charset="0"/>
                    <a:cs typeface="Times New Roman" panose="02020603050405020304" pitchFamily="18" charset="0"/>
                  </a:rPr>
                  <a:t>s </a:t>
                </a:r>
                <a:r>
                  <a:rPr lang="zh-CN" altLang="en-US" sz="2400" b="1" dirty="0" smtClean="0">
                    <a:solidFill>
                      <a:schemeClr val="tx1"/>
                    </a:solidFill>
                    <a:latin typeface="Times New Roman" panose="02020603050405020304" pitchFamily="18" charset="0"/>
                    <a:cs typeface="Times New Roman" panose="02020603050405020304" pitchFamily="18" charset="0"/>
                  </a:rPr>
                  <a:t>的</a:t>
                </a:r>
                <a:r>
                  <a:rPr lang="zh-CN" altLang="en-US" sz="2400" b="1" dirty="0">
                    <a:solidFill>
                      <a:schemeClr val="tx1"/>
                    </a:solidFill>
                    <a:latin typeface="Times New Roman" panose="02020603050405020304" pitchFamily="18" charset="0"/>
                    <a:cs typeface="Times New Roman" panose="02020603050405020304" pitchFamily="18" charset="0"/>
                  </a:rPr>
                  <a:t>净流出量</a:t>
                </a:r>
                <a:r>
                  <a:rPr lang="zh-CN" altLang="en-US" sz="2400" b="1" dirty="0" smtClean="0">
                    <a:solidFill>
                      <a:schemeClr val="tx1"/>
                    </a:solidFill>
                    <a:latin typeface="Times New Roman" panose="02020603050405020304" pitchFamily="18" charset="0"/>
                    <a:cs typeface="Times New Roman" panose="02020603050405020304" pitchFamily="18" charset="0"/>
                  </a:rPr>
                  <a:t>为 </a:t>
                </a:r>
                <a:r>
                  <a:rPr lang="en-US" altLang="zh-CN" sz="2400" b="1" i="1" dirty="0" smtClean="0">
                    <a:solidFill>
                      <a:schemeClr val="tx1"/>
                    </a:solidFill>
                    <a:latin typeface="Times New Roman" panose="02020603050405020304" pitchFamily="18" charset="0"/>
                    <a:cs typeface="Times New Roman" panose="02020603050405020304" pitchFamily="18" charset="0"/>
                  </a:rPr>
                  <a:t>f </a:t>
                </a:r>
                <a:r>
                  <a:rPr lang="zh-CN" altLang="en-US" sz="2400" b="1" dirty="0" smtClean="0">
                    <a:solidFill>
                      <a:schemeClr val="tx1"/>
                    </a:solidFill>
                    <a:latin typeface="Times New Roman" panose="02020603050405020304" pitchFamily="18" charset="0"/>
                    <a:cs typeface="Times New Roman" panose="02020603050405020304" pitchFamily="18" charset="0"/>
                  </a:rPr>
                  <a:t>的</a:t>
                </a:r>
                <a:r>
                  <a:rPr lang="zh-CN" altLang="en-US" sz="2400" b="1" dirty="0">
                    <a:solidFill>
                      <a:srgbClr val="C00000"/>
                    </a:solidFill>
                    <a:latin typeface="黑体" panose="02010609060101010101" pitchFamily="49" charset="-122"/>
                    <a:cs typeface="Times New Roman" panose="02020603050405020304" pitchFamily="18" charset="0"/>
                  </a:rPr>
                  <a:t>流量</a:t>
                </a:r>
                <a:r>
                  <a:rPr lang="en-US" altLang="zh-CN" sz="2400" b="1" dirty="0">
                    <a:solidFill>
                      <a:schemeClr val="tx1"/>
                    </a:solidFill>
                    <a:latin typeface="Times New Roman" panose="02020603050405020304" pitchFamily="18" charset="0"/>
                    <a:cs typeface="Times New Roman" panose="02020603050405020304" pitchFamily="18" charset="0"/>
                  </a:rPr>
                  <a:t>, </a:t>
                </a:r>
                <a:r>
                  <a:rPr lang="zh-CN" altLang="en-US" sz="2400" b="1" dirty="0">
                    <a:solidFill>
                      <a:schemeClr val="tx1"/>
                    </a:solidFill>
                    <a:latin typeface="Times New Roman" panose="02020603050405020304" pitchFamily="18" charset="0"/>
                    <a:cs typeface="Times New Roman" panose="02020603050405020304" pitchFamily="18" charset="0"/>
                  </a:rPr>
                  <a:t>记</a:t>
                </a:r>
                <a:r>
                  <a:rPr lang="zh-CN" altLang="en-US" sz="2400" b="1" dirty="0" smtClean="0">
                    <a:solidFill>
                      <a:schemeClr val="tx1"/>
                    </a:solidFill>
                    <a:latin typeface="Times New Roman" panose="02020603050405020304" pitchFamily="18" charset="0"/>
                    <a:cs typeface="Times New Roman" panose="02020603050405020304" pitchFamily="18" charset="0"/>
                  </a:rPr>
                  <a:t>作 </a:t>
                </a:r>
                <a:r>
                  <a:rPr lang="en-US" altLang="zh-CN" sz="2400" b="1" i="1" dirty="0" smtClean="0">
                    <a:solidFill>
                      <a:schemeClr val="tx1"/>
                    </a:solidFill>
                    <a:latin typeface="Times New Roman" panose="02020603050405020304" pitchFamily="18" charset="0"/>
                    <a:cs typeface="Times New Roman" panose="02020603050405020304" pitchFamily="18" charset="0"/>
                  </a:rPr>
                  <a:t>v</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f</a:t>
                </a:r>
                <a:r>
                  <a:rPr lang="en-US" altLang="zh-CN" sz="2400" b="1" dirty="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即 </a:t>
                </a:r>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lvl="0" algn="l">
                  <a:lnSpc>
                    <a:spcPts val="3200"/>
                  </a:lnSpc>
                  <a:spcBef>
                    <a:spcPct val="0"/>
                  </a:spcBef>
                </a:pP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𝒗</m:t>
                    </m:r>
                    <m:d>
                      <m:dPr>
                        <m:ctrlP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dPr>
                      <m:e>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𝒇</m:t>
                        </m:r>
                      </m:e>
                    </m:d>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nary>
                      <m:naryPr>
                        <m:chr m:val="∑"/>
                        <m:supHide m:val="on"/>
                        <m:ctrlP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naryPr>
                      <m:sub>
                        <m:r>
                          <m:rPr>
                            <m:brk m:alnAt="7"/>
                          </m:rP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&lt;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𝒔</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𝒋</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&gt;∈</m:t>
                        </m:r>
                        <m:r>
                          <a:rPr lang="en-US" altLang="zh-CN" sz="24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𝑬</m:t>
                        </m:r>
                      </m:sub>
                      <m:sup/>
                      <m:e>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𝒇</m:t>
                        </m:r>
                        <m:d>
                          <m:dPr>
                            <m:ctrlP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dPr>
                          <m:e>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𝒔</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𝒋</m:t>
                            </m:r>
                          </m:e>
                        </m:d>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nary>
                          <m:naryPr>
                            <m:chr m:val="∑"/>
                            <m:supHide m:val="on"/>
                            <m:ctrlP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naryPr>
                          <m:sub>
                            <m:r>
                              <m:rPr>
                                <m:brk m:alnAt="7"/>
                              </m:rP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&lt;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𝒋</m:t>
                            </m:r>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𝒔</m:t>
                            </m:r>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&gt;∈</m:t>
                            </m:r>
                            <m:r>
                              <a:rPr lang="en-US" altLang="zh-CN" sz="24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𝑬</m:t>
                            </m:r>
                          </m:sub>
                          <m:sup/>
                          <m:e>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𝒇</m:t>
                            </m:r>
                            <m:d>
                              <m:dPr>
                                <m:ctrlP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dPr>
                              <m:e>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𝒋</m:t>
                                </m:r>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𝒔</m:t>
                                </m:r>
                              </m:e>
                            </m:d>
                          </m:e>
                        </m:nary>
                      </m:e>
                    </m:nary>
                  </m:oMath>
                </a14:m>
                <a:endPar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lvl="0" algn="l">
                  <a:lnSpc>
                    <a:spcPts val="3200"/>
                  </a:lnSpc>
                  <a:spcBef>
                    <a:spcPts val="1200"/>
                  </a:spcBef>
                </a:pPr>
                <a:r>
                  <a:rPr lang="zh-CN" alt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流量最大的流称作</a:t>
                </a:r>
                <a:r>
                  <a:rPr lang="zh-CN" altLang="en-US" sz="2400" b="1" dirty="0" smtClean="0">
                    <a:solidFill>
                      <a:srgbClr val="FF0000"/>
                    </a:solidFill>
                    <a:latin typeface="Times New Roman" panose="02020603050405020304" pitchFamily="18" charset="0"/>
                    <a:cs typeface="Times New Roman" panose="02020603050405020304" pitchFamily="18" charset="0"/>
                    <a:sym typeface="Symbol" panose="05050102010706020507" pitchFamily="18" charset="2"/>
                  </a:rPr>
                  <a:t>最大流</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lvl="0" algn="l">
                  <a:lnSpc>
                    <a:spcPts val="3200"/>
                  </a:lnSpc>
                  <a:spcBef>
                    <a:spcPct val="0"/>
                  </a:spcBef>
                </a:pPr>
                <a:r>
                  <a:rPr lang="zh-CN" alt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显然有    </a:t>
                </a:r>
                <a14:m>
                  <m:oMath xmlns:m="http://schemas.openxmlformats.org/officeDocument/2006/math">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𝒗</m:t>
                    </m:r>
                    <m:d>
                      <m:dPr>
                        <m:ctrlP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dPr>
                      <m:e>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𝒇</m:t>
                        </m:r>
                      </m:e>
                    </m:d>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nary>
                      <m:naryPr>
                        <m:chr m:val="∑"/>
                        <m:supHide m:val="on"/>
                        <m:ctrlP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naryPr>
                      <m:sub>
                        <m:r>
                          <m:rPr>
                            <m:brk m:alnAt="7"/>
                          </m:rP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&lt;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𝒋</m:t>
                        </m:r>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𝒕</m:t>
                        </m:r>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&gt;∈</m:t>
                        </m:r>
                        <m:r>
                          <a:rPr lang="en-US" altLang="zh-CN" sz="24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𝑬</m:t>
                        </m:r>
                      </m:sub>
                      <m:sup/>
                      <m:e>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𝒇</m:t>
                        </m:r>
                        <m:d>
                          <m:dPr>
                            <m:ctrlP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dPr>
                          <m:e>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𝒋</m:t>
                            </m:r>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𝒕</m:t>
                            </m:r>
                          </m:e>
                        </m:d>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nary>
                          <m:naryPr>
                            <m:chr m:val="∑"/>
                            <m:supHide m:val="on"/>
                            <m:ctrlP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naryPr>
                          <m:sub>
                            <m:r>
                              <m:rPr>
                                <m:brk m:alnAt="7"/>
                              </m:rP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&lt;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𝒕</m:t>
                            </m:r>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𝒋</m:t>
                            </m:r>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&gt;∈</m:t>
                            </m:r>
                            <m:r>
                              <a:rPr lang="en-US" altLang="zh-CN" sz="24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𝑬</m:t>
                            </m:r>
                          </m:sub>
                          <m:sup/>
                          <m:e>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𝒇</m:t>
                            </m:r>
                            <m:d>
                              <m:dPr>
                                <m:ctrlP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dPr>
                              <m:e>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𝒕</m:t>
                                </m:r>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𝒋</m:t>
                                </m:r>
                              </m:e>
                            </m:d>
                          </m:e>
                        </m:nary>
                      </m:e>
                    </m:nary>
                  </m:oMath>
                </a14:m>
                <a:endPar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lvl="0" algn="l">
                  <a:lnSpc>
                    <a:spcPts val="3200"/>
                  </a:lnSpc>
                  <a:spcBef>
                    <a:spcPct val="0"/>
                  </a:spcBef>
                </a:pPr>
                <a:endPar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lvl="0" algn="l">
                  <a:lnSpc>
                    <a:spcPts val="3200"/>
                  </a:lnSpc>
                  <a:spcBef>
                    <a:spcPct val="0"/>
                  </a:spcBef>
                </a:pPr>
                <a:endPar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algn="l">
                  <a:lnSpc>
                    <a:spcPts val="3200"/>
                  </a:lnSpc>
                </a:pPr>
                <a:endParaRPr lang="zh-CN" altLang="en-US" b="1" dirty="0">
                  <a:solidFill>
                    <a:srgbClr val="C00000"/>
                  </a:solidFill>
                </a:endParaRPr>
              </a:p>
            </p:txBody>
          </p:sp>
        </mc:Choice>
        <mc:Fallback>
          <p:sp>
            <p:nvSpPr>
              <p:cNvPr id="8" name="副标题 7"/>
              <p:cNvSpPr>
                <a:spLocks noRot="1" noChangeAspect="1" noMove="1" noResize="1" noEditPoints="1" noAdjustHandles="1" noChangeArrowheads="1" noChangeShapeType="1" noTextEdit="1"/>
              </p:cNvSpPr>
              <p:nvPr>
                <p:ph type="subTitle" idx="1"/>
              </p:nvPr>
            </p:nvSpPr>
            <p:spPr>
              <a:xfrm>
                <a:off x="391115" y="1040827"/>
                <a:ext cx="8295685" cy="5412509"/>
              </a:xfrm>
              <a:blipFill rotWithShape="1">
                <a:blip r:embed="rId1"/>
                <a:stretch>
                  <a:fillRect l="-7" t="-1" b="-20933"/>
                </a:stretch>
              </a:blipFill>
            </p:spPr>
            <p:txBody>
              <a:bodyPr/>
              <a:lstStyle/>
              <a:p>
                <a:r>
                  <a:rPr lang="zh-CN" altLang="en-US">
                    <a:noFill/>
                  </a:rPr>
                  <a:t> </a:t>
                </a:r>
              </a:p>
            </p:txBody>
          </p:sp>
        </mc:Fallback>
      </mc:AlternateContent>
      <p:sp>
        <p:nvSpPr>
          <p:cNvPr id="5122" name="标题 1"/>
          <p:cNvSpPr>
            <a:spLocks noGrp="1"/>
          </p:cNvSpPr>
          <p:nvPr>
            <p:ph type="ctrTitle"/>
          </p:nvPr>
        </p:nvSpPr>
        <p:spPr>
          <a:xfrm>
            <a:off x="685800" y="128191"/>
            <a:ext cx="7772400" cy="865188"/>
          </a:xfrm>
        </p:spPr>
        <p:txBody>
          <a:bodyPr/>
          <a:lstStyle/>
          <a:p>
            <a:pPr eaLnBrk="1" hangingPunct="1"/>
            <a:r>
              <a:rPr lang="en-US" altLang="zh-CN" sz="4000" b="1" dirty="0" smtClean="0">
                <a:solidFill>
                  <a:srgbClr val="C00000"/>
                </a:solidFill>
                <a:latin typeface="Times New Roman" panose="02020603050405020304" pitchFamily="18" charset="0"/>
                <a:cs typeface="Times New Roman" panose="02020603050405020304" pitchFamily="18" charset="0"/>
              </a:rPr>
              <a:t>7.1 </a:t>
            </a:r>
            <a:r>
              <a:rPr lang="zh-CN" altLang="en-US" sz="4000" b="1" dirty="0" smtClean="0">
                <a:solidFill>
                  <a:srgbClr val="C00000"/>
                </a:solidFill>
                <a:latin typeface="Times New Roman" panose="02020603050405020304" pitchFamily="18" charset="0"/>
                <a:cs typeface="Times New Roman" panose="02020603050405020304" pitchFamily="18" charset="0"/>
              </a:rPr>
              <a:t>最大流算法</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
        <p:nvSpPr>
          <p:cNvPr id="5124" name="Rectangle 5"/>
          <p:cNvSpPr>
            <a:spLocks noChangeArrowheads="1"/>
          </p:cNvSpPr>
          <p:nvPr/>
        </p:nvSpPr>
        <p:spPr bwMode="auto">
          <a:xfrm>
            <a:off x="0" y="-27384"/>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5125" name="灯片编号占位符 5"/>
          <p:cNvSpPr>
            <a:spLocks noGrp="1"/>
          </p:cNvSpPr>
          <p:nvPr>
            <p:ph type="sldNum" sz="quarter" idx="12"/>
          </p:nvPr>
        </p:nvSpPr>
        <p:spPr bwMode="auto">
          <a:xfrm>
            <a:off x="6553200" y="6328966"/>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38F6F48F-52E0-4AEA-AB4A-329E5236A929}"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ctrTitle"/>
          </p:nvPr>
        </p:nvSpPr>
        <p:spPr>
          <a:xfrm>
            <a:off x="685800" y="403225"/>
            <a:ext cx="7772400" cy="865188"/>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最大流问题</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6147" name="副标题 2"/>
          <p:cNvSpPr>
            <a:spLocks noGrp="1"/>
          </p:cNvSpPr>
          <p:nvPr>
            <p:ph type="subTitle" idx="1"/>
          </p:nvPr>
        </p:nvSpPr>
        <p:spPr>
          <a:xfrm>
            <a:off x="663575" y="1457325"/>
            <a:ext cx="7775575" cy="4535488"/>
          </a:xfrm>
        </p:spPr>
        <p:txBody>
          <a:bodyPr/>
          <a:lstStyle/>
          <a:p>
            <a:pPr algn="l"/>
            <a:r>
              <a:rPr lang="zh-CN" altLang="en-US" sz="2400" b="1" dirty="0" smtClean="0">
                <a:solidFill>
                  <a:srgbClr val="C00000"/>
                </a:solidFill>
                <a:latin typeface="Times New Roman" panose="02020603050405020304" pitchFamily="18" charset="0"/>
                <a:cs typeface="Times New Roman" panose="02020603050405020304" pitchFamily="18" charset="0"/>
              </a:rPr>
              <a:t>最大流问题</a:t>
            </a:r>
            <a:r>
              <a:rPr lang="zh-CN" altLang="en-US" sz="2400" b="1" dirty="0" smtClean="0">
                <a:solidFill>
                  <a:schemeClr val="tx1"/>
                </a:solidFill>
                <a:latin typeface="Times New Roman" panose="02020603050405020304" pitchFamily="18" charset="0"/>
                <a:cs typeface="Times New Roman" panose="02020603050405020304" pitchFamily="18" charset="0"/>
              </a:rPr>
              <a:t>  求给定容量网络上的最大流</a:t>
            </a:r>
            <a:r>
              <a:rPr lang="en-US" altLang="zh-CN" sz="2400" b="1" dirty="0" smtClean="0">
                <a:solidFill>
                  <a:schemeClr val="tx1"/>
                </a:solidFill>
                <a:latin typeface="Times New Roman" panose="02020603050405020304" pitchFamily="18" charset="0"/>
                <a:cs typeface="Times New Roman" panose="02020603050405020304" pitchFamily="18" charset="0"/>
              </a:rPr>
              <a:t>.</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spcBef>
                <a:spcPts val="1800"/>
              </a:spcBef>
            </a:pPr>
            <a:r>
              <a:rPr lang="zh-CN" altLang="en-US" sz="2400" b="1" dirty="0" smtClean="0">
                <a:solidFill>
                  <a:schemeClr val="tx1"/>
                </a:solidFill>
                <a:latin typeface="Times New Roman" panose="02020603050405020304" pitchFamily="18" charset="0"/>
                <a:cs typeface="Times New Roman" panose="02020603050405020304" pitchFamily="18" charset="0"/>
              </a:rPr>
              <a:t>可以表述成线性规划</a:t>
            </a:r>
            <a:r>
              <a:rPr lang="en-US" altLang="zh-CN" sz="2400" b="1" dirty="0" smtClean="0">
                <a:solidFill>
                  <a:schemeClr val="tx1"/>
                </a:solidFill>
                <a:latin typeface="Times New Roman" panose="02020603050405020304" pitchFamily="18" charset="0"/>
                <a:cs typeface="Times New Roman" panose="02020603050405020304" pitchFamily="18" charset="0"/>
              </a:rPr>
              <a:t>:</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r>
              <a:rPr lang="en-US" altLang="zh-CN" sz="2400" b="1" dirty="0" smtClean="0">
                <a:solidFill>
                  <a:schemeClr val="tx1"/>
                </a:solidFill>
                <a:latin typeface="Times New Roman" panose="02020603050405020304" pitchFamily="18" charset="0"/>
                <a:cs typeface="Times New Roman" panose="02020603050405020304" pitchFamily="18" charset="0"/>
              </a:rPr>
              <a:t>             max </a:t>
            </a:r>
            <a:r>
              <a:rPr lang="en-US" altLang="zh-CN" sz="2400" b="1" i="1" dirty="0" smtClean="0">
                <a:solidFill>
                  <a:schemeClr val="tx1"/>
                </a:solidFill>
                <a:latin typeface="Times New Roman" panose="02020603050405020304" pitchFamily="18" charset="0"/>
                <a:cs typeface="Times New Roman" panose="02020603050405020304" pitchFamily="18" charset="0"/>
              </a:rPr>
              <a:t>v</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f</a:t>
            </a:r>
            <a:r>
              <a:rPr lang="en-US" altLang="zh-CN" sz="2400" b="1" dirty="0" smtClean="0">
                <a:solidFill>
                  <a:schemeClr val="tx1"/>
                </a:solidFill>
                <a:latin typeface="Times New Roman" panose="02020603050405020304" pitchFamily="18" charset="0"/>
                <a:cs typeface="Times New Roman" panose="02020603050405020304" pitchFamily="18" charset="0"/>
              </a:rPr>
              <a:t>)</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dirty="0" err="1" smtClean="0">
                <a:solidFill>
                  <a:schemeClr val="tx1"/>
                </a:solidFill>
                <a:latin typeface="Times New Roman" panose="02020603050405020304" pitchFamily="18" charset="0"/>
                <a:cs typeface="Times New Roman" panose="02020603050405020304" pitchFamily="18" charset="0"/>
              </a:rPr>
              <a:t>s.t.</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f</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c</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                          &lt;</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j </a:t>
            </a:r>
            <a:r>
              <a:rPr lang="en-US" altLang="zh-CN" sz="2400" b="1" dirty="0" smtClean="0">
                <a:solidFill>
                  <a:schemeClr val="tx1"/>
                </a:solidFill>
                <a:latin typeface="Times New Roman" panose="02020603050405020304" pitchFamily="18" charset="0"/>
                <a:cs typeface="Times New Roman" panose="02020603050405020304" pitchFamily="18" charset="0"/>
              </a:rPr>
              <a:t>&gt;</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solidFill>
                  <a:schemeClr val="tx1"/>
                </a:solidFill>
                <a:latin typeface="Times New Roman" panose="02020603050405020304" pitchFamily="18" charset="0"/>
                <a:cs typeface="Times New Roman" panose="02020603050405020304" pitchFamily="18" charset="0"/>
              </a:rPr>
              <a:t>E</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r>
              <a:rPr lang="en-US" altLang="zh-CN" sz="2400" b="1" dirty="0" smtClean="0">
                <a:solidFill>
                  <a:schemeClr val="tx1"/>
                </a:solidFill>
                <a:latin typeface="Times New Roman" panose="02020603050405020304" pitchFamily="18" charset="0"/>
                <a:cs typeface="Times New Roman" panose="02020603050405020304" pitchFamily="18" charset="0"/>
              </a:rPr>
              <a:t>                                                           ,        </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err="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smtClean="0">
                <a:solidFill>
                  <a:schemeClr val="tx1"/>
                </a:solidFill>
                <a:latin typeface="Times New Roman" panose="02020603050405020304" pitchFamily="18" charset="0"/>
                <a:cs typeface="Times New Roman" panose="02020603050405020304" pitchFamily="18" charset="0"/>
              </a:rPr>
              <a:t>V</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t</a:t>
            </a:r>
            <a:r>
              <a:rPr lang="en-US" altLang="zh-CN" sz="2400" b="1" dirty="0" smtClean="0">
                <a:solidFill>
                  <a:schemeClr val="tx1"/>
                </a:solidFill>
                <a:latin typeface="Times New Roman" panose="02020603050405020304" pitchFamily="18" charset="0"/>
                <a:cs typeface="Times New Roman" panose="02020603050405020304" pitchFamily="18" charset="0"/>
              </a:rPr>
              <a:t>}      </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lnSpc>
                <a:spcPct val="200000"/>
              </a:lnSpc>
            </a:pPr>
            <a:r>
              <a:rPr lang="en-US" altLang="zh-CN" sz="2400" b="1" dirty="0" smtClean="0">
                <a:solidFill>
                  <a:schemeClr val="tx1"/>
                </a:solidFill>
                <a:latin typeface="Times New Roman" panose="02020603050405020304" pitchFamily="18" charset="0"/>
                <a:cs typeface="Times New Roman" panose="02020603050405020304" pitchFamily="18" charset="0"/>
              </a:rPr>
              <a:t>                </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spcBef>
                <a:spcPts val="1800"/>
              </a:spcBef>
            </a:pP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f</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solidFill>
                  <a:schemeClr val="tx1"/>
                </a:solidFill>
                <a:latin typeface="Times New Roman" panose="02020603050405020304" pitchFamily="18" charset="0"/>
                <a:cs typeface="Times New Roman" panose="02020603050405020304" pitchFamily="18" charset="0"/>
              </a:rPr>
              <a:t>0,    &lt;</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&gt;</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solidFill>
                  <a:schemeClr val="tx1"/>
                </a:solidFill>
                <a:latin typeface="Times New Roman" panose="02020603050405020304" pitchFamily="18" charset="0"/>
                <a:cs typeface="Times New Roman" panose="02020603050405020304" pitchFamily="18" charset="0"/>
              </a:rPr>
              <a:t>E</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v</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f</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solidFill>
                  <a:schemeClr val="tx1"/>
                </a:solidFill>
                <a:latin typeface="Times New Roman" panose="02020603050405020304" pitchFamily="18" charset="0"/>
                <a:cs typeface="Times New Roman" panose="02020603050405020304" pitchFamily="18" charset="0"/>
              </a:rPr>
              <a:t>0</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p:txBody>
      </p:sp>
      <p:sp>
        <p:nvSpPr>
          <p:cNvPr id="6148" name="Rectangle 5"/>
          <p:cNvSpPr>
            <a:spLocks noChangeArrowheads="1"/>
          </p:cNvSpPr>
          <p:nvPr/>
        </p:nvSpPr>
        <p:spPr bwMode="auto">
          <a:xfrm>
            <a:off x="0" y="115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6149" name="Object 4"/>
          <p:cNvGraphicFramePr>
            <a:graphicFrameLocks noChangeAspect="1"/>
          </p:cNvGraphicFramePr>
          <p:nvPr/>
        </p:nvGraphicFramePr>
        <p:xfrm>
          <a:off x="2085975" y="3473450"/>
          <a:ext cx="3278188" cy="642938"/>
        </p:xfrm>
        <a:graphic>
          <a:graphicData uri="http://schemas.openxmlformats.org/presentationml/2006/ole">
            <mc:AlternateContent xmlns:mc="http://schemas.openxmlformats.org/markup-compatibility/2006">
              <mc:Choice xmlns:v="urn:schemas-microsoft-com:vml" Requires="v">
                <p:oleObj spid="_x0000_s6154" name="Equation" r:id="rId1" imgW="1790700" imgH="355600" progId="Equation.3">
                  <p:embed/>
                </p:oleObj>
              </mc:Choice>
              <mc:Fallback>
                <p:oleObj name="Equation" r:id="rId1" imgW="1790700" imgH="355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5975" y="3473450"/>
                        <a:ext cx="3278188"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50" name="Object 6"/>
          <p:cNvGraphicFramePr>
            <a:graphicFrameLocks noChangeAspect="1"/>
          </p:cNvGraphicFramePr>
          <p:nvPr/>
        </p:nvGraphicFramePr>
        <p:xfrm>
          <a:off x="2246313" y="4202113"/>
          <a:ext cx="4486275" cy="693737"/>
        </p:xfrm>
        <a:graphic>
          <a:graphicData uri="http://schemas.openxmlformats.org/presentationml/2006/ole">
            <mc:AlternateContent xmlns:mc="http://schemas.openxmlformats.org/markup-compatibility/2006">
              <mc:Choice xmlns:v="urn:schemas-microsoft-com:vml" Requires="v">
                <p:oleObj spid="_x0000_s6155" name="Equation" r:id="rId3" imgW="2273300" imgH="355600" progId="Equation.3">
                  <p:embed/>
                </p:oleObj>
              </mc:Choice>
              <mc:Fallback>
                <p:oleObj name="Equation" r:id="rId3" imgW="2273300" imgH="355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6313" y="4202113"/>
                        <a:ext cx="4486275"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51" name="灯片编号占位符 6"/>
          <p:cNvSpPr>
            <a:spLocks noGrp="1"/>
          </p:cNvSpPr>
          <p:nvPr>
            <p:ph type="sldNum" sz="quarter" idx="12"/>
          </p:nvPr>
        </p:nvSpPr>
        <p:spPr bwMode="auto">
          <a:xfrm>
            <a:off x="6553200" y="6472238"/>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43525CCD-8896-4D93-87BA-1429CFF1C7DE}"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ctrTitle"/>
          </p:nvPr>
        </p:nvSpPr>
        <p:spPr>
          <a:xfrm>
            <a:off x="585736" y="389395"/>
            <a:ext cx="7772400" cy="865188"/>
          </a:xfrm>
        </p:spPr>
        <p:txBody>
          <a:bodyPr/>
          <a:lstStyle/>
          <a:p>
            <a:pPr eaLnBrk="1" hangingPunct="1"/>
            <a:r>
              <a:rPr lang="zh-CN" altLang="en-US" sz="4000" b="1" dirty="0" smtClean="0">
                <a:solidFill>
                  <a:srgbClr val="C00000"/>
                </a:solidFill>
                <a:latin typeface="Times New Roman" panose="02020603050405020304" pitchFamily="18" charset="0"/>
                <a:cs typeface="Times New Roman" panose="02020603050405020304" pitchFamily="18" charset="0"/>
              </a:rPr>
              <a:t>最小割集</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
        <p:nvSpPr>
          <p:cNvPr id="7172"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174"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7175" name="Object 6"/>
          <p:cNvGraphicFramePr>
            <a:graphicFrameLocks noChangeAspect="1"/>
          </p:cNvGraphicFramePr>
          <p:nvPr/>
        </p:nvGraphicFramePr>
        <p:xfrm>
          <a:off x="1691680" y="5091563"/>
          <a:ext cx="5632004" cy="790464"/>
        </p:xfrm>
        <a:graphic>
          <a:graphicData uri="http://schemas.openxmlformats.org/presentationml/2006/ole">
            <mc:AlternateContent xmlns:mc="http://schemas.openxmlformats.org/markup-compatibility/2006">
              <mc:Choice xmlns:v="urn:schemas-microsoft-com:vml" Requires="v">
                <p:oleObj spid="_x0000_s7205" name="Equation" r:id="rId1" imgW="2183765" imgH="355600" progId="Equation.3">
                  <p:embed/>
                </p:oleObj>
              </mc:Choice>
              <mc:Fallback>
                <p:oleObj name="Equation" r:id="rId1" imgW="2183765" imgH="3556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5091563"/>
                        <a:ext cx="5632004" cy="790464"/>
                      </a:xfrm>
                      <a:prstGeom prst="rect">
                        <a:avLst/>
                      </a:prstGeom>
                      <a:noFill/>
                      <a:ln>
                        <a:noFill/>
                      </a:ln>
                    </p:spPr>
                  </p:pic>
                </p:oleObj>
              </mc:Fallback>
            </mc:AlternateContent>
          </a:graphicData>
        </a:graphic>
      </p:graphicFrame>
      <p:sp>
        <p:nvSpPr>
          <p:cNvPr id="7176" name="灯片编号占位符 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7C7B2D11-BB45-422A-BD6D-5410C4146011}" type="slidenum">
              <a:rPr lang="zh-CN" altLang="en-US" sz="1200" smtClean="0">
                <a:solidFill>
                  <a:srgbClr val="898989"/>
                </a:solidFill>
              </a:rPr>
            </a:fld>
            <a:endParaRPr lang="zh-CN" altLang="en-US" sz="1200" smtClean="0">
              <a:solidFill>
                <a:srgbClr val="898989"/>
              </a:solidFill>
            </a:endParaRPr>
          </a:p>
        </p:txBody>
      </p:sp>
      <mc:AlternateContent xmlns:mc="http://schemas.openxmlformats.org/markup-compatibility/2006">
        <mc:Choice xmlns:a14="http://schemas.microsoft.com/office/drawing/2010/main" Requires="a14">
          <p:sp>
            <p:nvSpPr>
              <p:cNvPr id="2" name="文本框 1"/>
              <p:cNvSpPr txBox="1"/>
              <p:nvPr/>
            </p:nvSpPr>
            <p:spPr>
              <a:xfrm>
                <a:off x="611187" y="3997821"/>
                <a:ext cx="8075613" cy="830997"/>
              </a:xfrm>
              <a:prstGeom prst="rect">
                <a:avLst/>
              </a:prstGeom>
              <a:solidFill>
                <a:schemeClr val="bg1"/>
              </a:solidFill>
            </p:spPr>
            <p:txBody>
              <a:bodyPr wrap="square">
                <a:spAutoFit/>
              </a:bodyPr>
              <a:lstStyle/>
              <a:p>
                <a:pPr>
                  <a:defRPr/>
                </a:pPr>
                <a:r>
                  <a:rPr lang="zh-CN" altLang="en-US" sz="2400" b="1" spc="-100" dirty="0">
                    <a:solidFill>
                      <a:srgbClr val="C00000"/>
                    </a:solidFill>
                    <a:latin typeface="Times New Roman" panose="02020603050405020304" pitchFamily="18" charset="0"/>
                    <a:cs typeface="Times New Roman" panose="02020603050405020304" pitchFamily="18" charset="0"/>
                  </a:rPr>
                  <a:t>引理</a:t>
                </a:r>
                <a:r>
                  <a:rPr lang="en-US" altLang="zh-CN" sz="2400" b="1" spc="-100" dirty="0" smtClean="0">
                    <a:solidFill>
                      <a:srgbClr val="C00000"/>
                    </a:solidFill>
                    <a:latin typeface="Times New Roman" panose="02020603050405020304" pitchFamily="18" charset="0"/>
                    <a:cs typeface="Times New Roman" panose="02020603050405020304" pitchFamily="18" charset="0"/>
                  </a:rPr>
                  <a:t>7.1   </a:t>
                </a:r>
                <a:r>
                  <a:rPr lang="zh-CN" altLang="en-US" sz="2400" b="1" dirty="0" smtClean="0">
                    <a:latin typeface="Times New Roman" panose="02020603050405020304" pitchFamily="18" charset="0"/>
                    <a:cs typeface="Times New Roman" panose="02020603050405020304" pitchFamily="18" charset="0"/>
                  </a:rPr>
                  <a:t>设</a:t>
                </a:r>
                <a:r>
                  <a:rPr lang="zh-CN" altLang="en-US" sz="2400" b="1" dirty="0">
                    <a:latin typeface="Times New Roman" panose="02020603050405020304" pitchFamily="18" charset="0"/>
                    <a:cs typeface="Times New Roman" panose="02020603050405020304" pitchFamily="18" charset="0"/>
                  </a:rPr>
                  <a:t>容量网络 </a:t>
                </a:r>
                <a:r>
                  <a:rPr lang="en-US" altLang="zh-CN" sz="2400" b="1" i="1" dirty="0">
                    <a:latin typeface="Times New Roman" panose="02020603050405020304" pitchFamily="18" charset="0"/>
                    <a:cs typeface="Times New Roman" panose="02020603050405020304" pitchFamily="18" charset="0"/>
                  </a:rPr>
                  <a:t>N</a:t>
                </a:r>
                <a:r>
                  <a:rPr lang="en-US" altLang="zh-CN" sz="2400" b="1" dirty="0">
                    <a:latin typeface="Times New Roman" panose="02020603050405020304" pitchFamily="18" charset="0"/>
                    <a:cs typeface="Times New Roman" panose="02020603050405020304" pitchFamily="18" charset="0"/>
                  </a:rPr>
                  <a:t>=&lt;</a:t>
                </a:r>
                <a:r>
                  <a:rPr lang="en-US" altLang="zh-CN" sz="2400" b="1" i="1" dirty="0">
                    <a:latin typeface="Times New Roman" panose="02020603050405020304" pitchFamily="18" charset="0"/>
                    <a:cs typeface="Times New Roman" panose="02020603050405020304" pitchFamily="18" charset="0"/>
                  </a:rPr>
                  <a:t>V</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E</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c</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s</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t </a:t>
                </a:r>
                <a:r>
                  <a:rPr lang="en-US" altLang="zh-CN" sz="2400" b="1" dirty="0" smtClean="0">
                    <a:latin typeface="Times New Roman" panose="02020603050405020304" pitchFamily="18" charset="0"/>
                    <a:cs typeface="Times New Roman" panose="02020603050405020304" pitchFamily="18" charset="0"/>
                  </a:rPr>
                  <a:t>&gt;,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是 </a:t>
                </a:r>
                <a:r>
                  <a:rPr lang="en-US" altLang="zh-CN" sz="2400" b="1" i="1" dirty="0" smtClean="0">
                    <a:latin typeface="Times New Roman" panose="02020603050405020304" pitchFamily="18" charset="0"/>
                    <a:cs typeface="Times New Roman" panose="02020603050405020304" pitchFamily="18" charset="0"/>
                  </a:rPr>
                  <a:t>N</a:t>
                </a:r>
                <a:r>
                  <a:rPr lang="zh-CN" altLang="en-US" sz="2400" b="1" dirty="0" smtClean="0">
                    <a:latin typeface="Times New Roman" panose="02020603050405020304" pitchFamily="18" charset="0"/>
                    <a:cs typeface="Times New Roman" panose="02020603050405020304" pitchFamily="18" charset="0"/>
                  </a:rPr>
                  <a:t>上的一个可行流，</a:t>
                </a:r>
                <a:r>
                  <a:rPr lang="en-US" altLang="zh-CN" sz="2400" b="1" i="1" dirty="0">
                    <a:latin typeface="Times New Roman" panose="02020603050405020304" pitchFamily="18" charset="0"/>
                    <a:cs typeface="Times New Roman" panose="02020603050405020304" pitchFamily="18" charset="0"/>
                  </a:rPr>
                  <a:t> A</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V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且 </a:t>
                </a:r>
                <a:r>
                  <a:rPr lang="en-US" altLang="zh-CN" sz="2400" b="1" i="1" dirty="0" err="1">
                    <a:latin typeface="Times New Roman" panose="02020603050405020304" pitchFamily="18" charset="0"/>
                    <a:cs typeface="Times New Roman" panose="02020603050405020304" pitchFamily="18" charset="0"/>
                    <a:sym typeface="Symbol" panose="05050102010706020507" pitchFamily="18" charset="2"/>
                  </a:rPr>
                  <a:t>s</a:t>
                </a:r>
                <a:r>
                  <a:rPr lang="en-US" altLang="zh-CN"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A</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14:m>
                  <m:oMath xmlns:m="http://schemas.openxmlformats.org/officeDocument/2006/math">
                    <m:acc>
                      <m:accPr>
                        <m:chr m:val="̅"/>
                        <m:ctrlPr>
                          <a:rPr lang="en-US" altLang="zh-CN" sz="2400" b="1" i="1">
                            <a:latin typeface="Cambria Math" panose="02040503050406030204" pitchFamily="18" charset="0"/>
                            <a:cs typeface="Times New Roman" panose="02020603050405020304" pitchFamily="18" charset="0"/>
                            <a:sym typeface="Symbol" panose="05050102010706020507" pitchFamily="18" charset="2"/>
                          </a:rPr>
                        </m:ctrlPr>
                      </m:accPr>
                      <m:e>
                        <m:r>
                          <a:rPr lang="en-US" altLang="zh-CN" sz="2400" b="1" i="1">
                            <a:latin typeface="Cambria Math" panose="02040503050406030204" pitchFamily="18" charset="0"/>
                            <a:cs typeface="Times New Roman" panose="02020603050405020304" pitchFamily="18" charset="0"/>
                            <a:sym typeface="Symbol" panose="05050102010706020507" pitchFamily="18" charset="2"/>
                          </a:rPr>
                          <m:t>𝑨</m:t>
                        </m:r>
                      </m:e>
                    </m:acc>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oMath>
                </a14:m>
                <a:r>
                  <a:rPr lang="en-US" altLang="zh-CN" sz="2400" b="1" spc="-100" dirty="0" smtClean="0">
                    <a:solidFill>
                      <a:schemeClr val="tx1"/>
                    </a:solidFill>
                    <a:latin typeface="Times New Roman" panose="02020603050405020304" pitchFamily="18" charset="0"/>
                    <a:cs typeface="Times New Roman" panose="02020603050405020304" pitchFamily="18" charset="0"/>
                  </a:rPr>
                  <a:t>  </a:t>
                </a:r>
                <a:r>
                  <a:rPr lang="zh-CN" altLang="en-US" sz="2400" b="1" spc="-100" dirty="0" smtClean="0">
                    <a:solidFill>
                      <a:schemeClr val="tx1"/>
                    </a:solidFill>
                    <a:latin typeface="Times New Roman" panose="02020603050405020304" pitchFamily="18" charset="0"/>
                    <a:cs typeface="Times New Roman" panose="02020603050405020304" pitchFamily="18" charset="0"/>
                  </a:rPr>
                  <a:t>则</a:t>
                </a:r>
                <a:r>
                  <a:rPr lang="en-US" altLang="zh-CN" sz="2400" b="1" spc="-100" dirty="0" smtClean="0">
                    <a:solidFill>
                      <a:srgbClr val="C00000"/>
                    </a:solidFill>
                    <a:latin typeface="Times New Roman" panose="02020603050405020304" pitchFamily="18" charset="0"/>
                    <a:cs typeface="Times New Roman" panose="02020603050405020304" pitchFamily="18" charset="0"/>
                  </a:rPr>
                  <a:t> </a:t>
                </a:r>
                <a:endParaRPr lang="zh-CN" altLang="en-US" sz="2400" b="1" spc="-100" dirty="0">
                  <a:solidFill>
                    <a:srgbClr val="C00000"/>
                  </a:solidFill>
                  <a:latin typeface="Times New Roman" panose="02020603050405020304" pitchFamily="18" charset="0"/>
                  <a:cs typeface="Times New Roman" panose="020206030504050203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611187" y="3997821"/>
                <a:ext cx="8075613" cy="830997"/>
              </a:xfrm>
              <a:prstGeom prst="rect">
                <a:avLst/>
              </a:prstGeom>
              <a:blipFill rotWithShape="1">
                <a:blip r:embed="rId3"/>
                <a:stretch>
                  <a:fillRect l="-4" t="-60" b="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Rectangle 18"/>
              <p:cNvSpPr>
                <a:spLocks noChangeArrowheads="1"/>
              </p:cNvSpPr>
              <p:nvPr/>
            </p:nvSpPr>
            <p:spPr bwMode="auto">
              <a:xfrm>
                <a:off x="623506" y="1292052"/>
                <a:ext cx="8063294" cy="2808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nSpc>
                    <a:spcPts val="3300"/>
                  </a:lnSpc>
                  <a:spcAft>
                    <a:spcPts val="600"/>
                  </a:spcAft>
                </a:pPr>
                <a:r>
                  <a:rPr lang="zh-CN" altLang="zh-CN" sz="2400" b="1" dirty="0" smtClean="0">
                    <a:solidFill>
                      <a:srgbClr val="C00000"/>
                    </a:solidFill>
                    <a:latin typeface="黑体" panose="02010609060101010101" pitchFamily="49" charset="-122"/>
                    <a:cs typeface="Times New Roman" panose="02020603050405020304" pitchFamily="18" charset="0"/>
                  </a:rPr>
                  <a:t>定义</a:t>
                </a:r>
                <a:r>
                  <a:rPr lang="en-US" altLang="zh-CN" sz="2400" b="1" dirty="0">
                    <a:solidFill>
                      <a:srgbClr val="C00000"/>
                    </a:solidFill>
                    <a:latin typeface="Times New Roman" panose="02020603050405020304" pitchFamily="18" charset="0"/>
                    <a:cs typeface="Times New Roman" panose="02020603050405020304" pitchFamily="18" charset="0"/>
                  </a:rPr>
                  <a:t>7.2</a:t>
                </a:r>
                <a:r>
                  <a:rPr lang="en-US" altLang="zh-CN" sz="2400" dirty="0">
                    <a:solidFill>
                      <a:srgbClr val="C00000"/>
                    </a:solidFill>
                    <a:latin typeface="Times New Roman" panose="02020603050405020304" pitchFamily="18" charset="0"/>
                    <a:cs typeface="Times New Roman" panose="02020603050405020304" pitchFamily="18" charset="0"/>
                  </a:rPr>
                  <a:t> </a:t>
                </a:r>
                <a:r>
                  <a:rPr lang="en-US" altLang="zh-CN" sz="2400" dirty="0" smtClean="0">
                    <a:solidFill>
                      <a:srgbClr val="C00000"/>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设</a:t>
                </a:r>
                <a:r>
                  <a:rPr lang="zh-CN" altLang="en-US" sz="2400" b="1" dirty="0">
                    <a:solidFill>
                      <a:schemeClr val="tx1"/>
                    </a:solidFill>
                    <a:latin typeface="Times New Roman" panose="02020603050405020304" pitchFamily="18" charset="0"/>
                    <a:cs typeface="Times New Roman" panose="02020603050405020304" pitchFamily="18" charset="0"/>
                  </a:rPr>
                  <a:t>容量</a:t>
                </a:r>
                <a:r>
                  <a:rPr lang="zh-CN" altLang="en-US" sz="2400" b="1" dirty="0" smtClean="0">
                    <a:solidFill>
                      <a:schemeClr val="tx1"/>
                    </a:solidFill>
                    <a:latin typeface="Times New Roman" panose="02020603050405020304" pitchFamily="18" charset="0"/>
                    <a:cs typeface="Times New Roman" panose="02020603050405020304" pitchFamily="18" charset="0"/>
                  </a:rPr>
                  <a:t>网络 </a:t>
                </a:r>
                <a:r>
                  <a:rPr lang="en-US" altLang="zh-CN" sz="2400" b="1" i="1" dirty="0" smtClean="0">
                    <a:solidFill>
                      <a:schemeClr val="tx1"/>
                    </a:solidFill>
                    <a:latin typeface="Times New Roman" panose="02020603050405020304" pitchFamily="18" charset="0"/>
                    <a:cs typeface="Times New Roman" panose="02020603050405020304" pitchFamily="18" charset="0"/>
                  </a:rPr>
                  <a:t>N</a:t>
                </a:r>
                <a:r>
                  <a:rPr lang="en-US" altLang="zh-CN" sz="2400" b="1" dirty="0">
                    <a:solidFill>
                      <a:schemeClr val="tx1"/>
                    </a:solidFill>
                    <a:latin typeface="Times New Roman" panose="02020603050405020304" pitchFamily="18" charset="0"/>
                    <a:cs typeface="Times New Roman" panose="02020603050405020304" pitchFamily="18" charset="0"/>
                  </a:rPr>
                  <a:t>=&lt;</a:t>
                </a:r>
                <a:r>
                  <a:rPr lang="en-US" altLang="zh-CN" sz="2400" b="1" i="1" dirty="0">
                    <a:solidFill>
                      <a:schemeClr val="tx1"/>
                    </a:solidFill>
                    <a:latin typeface="Times New Roman" panose="02020603050405020304" pitchFamily="18" charset="0"/>
                    <a:cs typeface="Times New Roman" panose="02020603050405020304" pitchFamily="18" charset="0"/>
                  </a:rPr>
                  <a:t>V</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E</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c</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t </a:t>
                </a:r>
                <a:r>
                  <a:rPr lang="en-US" altLang="zh-CN" sz="2400" b="1" dirty="0" smtClean="0">
                    <a:solidFill>
                      <a:schemeClr val="tx1"/>
                    </a:solidFill>
                    <a:latin typeface="Times New Roman" panose="02020603050405020304" pitchFamily="18" charset="0"/>
                    <a:cs typeface="Times New Roman" panose="02020603050405020304" pitchFamily="18" charset="0"/>
                  </a:rPr>
                  <a:t>&gt;, </a:t>
                </a:r>
                <a:r>
                  <a:rPr lang="en-US" altLang="zh-CN" sz="2400" b="1" i="1" dirty="0">
                    <a:solidFill>
                      <a:schemeClr val="tx1"/>
                    </a:solidFill>
                    <a:latin typeface="Times New Roman" panose="02020603050405020304" pitchFamily="18" charset="0"/>
                    <a:cs typeface="Times New Roman" panose="02020603050405020304" pitchFamily="18" charset="0"/>
                  </a:rPr>
                  <a:t>A</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solidFill>
                      <a:schemeClr val="tx1"/>
                    </a:solidFill>
                    <a:latin typeface="Times New Roman" panose="02020603050405020304" pitchFamily="18" charset="0"/>
                    <a:cs typeface="Times New Roman" panose="02020603050405020304" pitchFamily="18" charset="0"/>
                  </a:rPr>
                  <a:t>V</a:t>
                </a:r>
                <a:r>
                  <a:rPr lang="zh-CN" alt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且 </a:t>
                </a:r>
                <a:r>
                  <a:rPr lang="en-US" altLang="zh-CN" sz="2400" b="1" i="1" dirty="0" err="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s</a:t>
                </a:r>
                <a:r>
                  <a:rPr lang="en-US" altLang="zh-CN" sz="2400" b="1"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solidFill>
                      <a:schemeClr val="tx1"/>
                    </a:solidFill>
                    <a:latin typeface="Times New Roman" panose="02020603050405020304" pitchFamily="18" charset="0"/>
                    <a:cs typeface="Times New Roman" panose="02020603050405020304" pitchFamily="18" charset="0"/>
                  </a:rPr>
                  <a:t>A</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t</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14:m>
                  <m:oMath xmlns:m="http://schemas.openxmlformats.org/officeDocument/2006/math">
                    <m:acc>
                      <m:accPr>
                        <m:chr m:val="̅"/>
                        <m:ctrlP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accPr>
                      <m:e>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𝑨</m:t>
                        </m:r>
                      </m:e>
                    </m:acc>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0"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 </m:t>
                    </m:r>
                  </m:oMath>
                </a14:m>
                <a:r>
                  <a:rPr lang="zh-CN" alt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称</a:t>
                </a:r>
                <a:endPar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lvl="0" indent="269875">
                  <a:lnSpc>
                    <a:spcPts val="3300"/>
                  </a:lnSpc>
                </a:pPr>
                <a:r>
                  <a:rPr kumimoji="0" lang="en-US" altLang="zh-CN" sz="2400" b="1" i="0" u="none" strike="noStrike" cap="none" normalizeH="0" baseline="0" dirty="0" smtClean="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     </a:t>
                </a:r>
                <a14:m>
                  <m:oMath xmlns:m="http://schemas.openxmlformats.org/officeDocument/2006/math">
                    <m:d>
                      <m:dPr>
                        <m:ctrlPr>
                          <a:rPr kumimoji="0" lang="en-US" altLang="zh-CN" sz="2400" b="1" i="1" u="none" strike="noStrike" cap="none" normalizeH="0" baseline="0" smtClean="0">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ctrlPr>
                      </m:dPr>
                      <m:e>
                        <m:r>
                          <a:rPr kumimoji="0" lang="en-US" altLang="zh-CN" sz="2400" b="1" i="1" u="none" strike="noStrike" cap="none" normalizeH="0" baseline="0" smtClean="0">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𝑨</m:t>
                        </m:r>
                        <m:r>
                          <a:rPr kumimoji="0" lang="en-US" altLang="zh-CN" sz="2400" b="1" i="1" u="none" strike="noStrike" cap="none" normalizeH="0" baseline="0" smtClean="0">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m:t>
                        </m:r>
                        <m:acc>
                          <m:accPr>
                            <m:chr m:val="̅"/>
                            <m:ctrlPr>
                              <a:rPr kumimoji="0" lang="en-US" altLang="zh-CN" sz="2400" b="1" i="1" u="none" strike="noStrike" cap="none" normalizeH="0" baseline="0" smtClean="0">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ctrlPr>
                          </m:accPr>
                          <m:e>
                            <m:r>
                              <a:rPr kumimoji="0" lang="en-US" altLang="zh-CN" sz="2400" b="1" i="1" u="none" strike="noStrike" cap="none" normalizeH="0" baseline="0" smtClean="0">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𝑨</m:t>
                            </m:r>
                          </m:e>
                        </m:acc>
                      </m:e>
                    </m:d>
                    <m:r>
                      <a:rPr kumimoji="0" lang="en-US" altLang="zh-CN" sz="2400" b="1" i="1" u="none" strike="noStrike" cap="none" normalizeH="0" baseline="0" smtClean="0">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a:latin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cs typeface="Times New Roman" panose="02020603050405020304" pitchFamily="18" charset="0"/>
                      </a:rPr>
                      <m:t>&lt;</m:t>
                    </m:r>
                    <m:r>
                      <a:rPr lang="en-US" altLang="zh-CN" sz="2400" b="1" i="1" smtClean="0">
                        <a:latin typeface="Cambria Math" panose="02040503050406030204" pitchFamily="18" charset="0"/>
                        <a:cs typeface="Times New Roman" panose="02020603050405020304" pitchFamily="18" charset="0"/>
                      </a:rPr>
                      <m:t>𝒊</m:t>
                    </m:r>
                    <m:r>
                      <a:rPr lang="en-US" altLang="zh-CN" sz="2400" b="1" i="1" smtClean="0">
                        <a:latin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cs typeface="Times New Roman" panose="02020603050405020304" pitchFamily="18" charset="0"/>
                      </a:rPr>
                      <m:t>𝒋</m:t>
                    </m:r>
                    <m:r>
                      <a:rPr lang="en-US" altLang="zh-CN" sz="2400" b="1" i="1" smtClean="0">
                        <a:latin typeface="Cambria Math" panose="02040503050406030204" pitchFamily="18" charset="0"/>
                        <a:cs typeface="Times New Roman" panose="02020603050405020304" pitchFamily="18" charset="0"/>
                      </a:rPr>
                      <m:t>&gt;|&lt;</m:t>
                    </m:r>
                    <m:r>
                      <a:rPr lang="en-US" altLang="zh-CN" sz="2400" b="1" i="1" smtClean="0">
                        <a:latin typeface="Cambria Math" panose="02040503050406030204" pitchFamily="18" charset="0"/>
                        <a:cs typeface="Times New Roman" panose="02020603050405020304" pitchFamily="18" charset="0"/>
                      </a:rPr>
                      <m:t>𝒊</m:t>
                    </m:r>
                    <m:r>
                      <a:rPr lang="en-US" altLang="zh-CN" sz="2400" b="1" i="1" smtClean="0">
                        <a:latin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cs typeface="Times New Roman" panose="02020603050405020304" pitchFamily="18" charset="0"/>
                      </a:rPr>
                      <m:t>𝒋</m:t>
                    </m:r>
                    <m:r>
                      <a:rPr lang="en-US" altLang="zh-CN" sz="2400" b="1" i="1" smtClean="0">
                        <a:latin typeface="Cambria Math" panose="02040503050406030204" pitchFamily="18" charset="0"/>
                        <a:cs typeface="Times New Roman" panose="02020603050405020304" pitchFamily="18" charset="0"/>
                      </a:rPr>
                      <m:t>&gt;∈</m:t>
                    </m:r>
                    <m:r>
                      <a:rPr kumimoji="0" lang="en-US" altLang="zh-CN" sz="2400" b="1"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t>𝑬</m:t>
                    </m:r>
                    <m:r>
                      <a:rPr lang="zh-CN" altLang="en-US" sz="2400" b="0" i="1">
                        <a:latin typeface="Cambria Math" panose="02040503050406030204" pitchFamily="18" charset="0"/>
                        <a:ea typeface="Cambria Math" panose="02040503050406030204" pitchFamily="18" charset="0"/>
                        <a:cs typeface="Times New Roman" panose="02020603050405020304" pitchFamily="18" charset="0"/>
                      </a:rPr>
                      <m:t>且</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𝒊</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𝑨</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𝒋</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kumimoji="0" lang="en-US" altLang="zh-CN" sz="2400" b="1"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kumimoji="0" lang="en-US" altLang="zh-CN" sz="2400" b="1"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t>𝑨</m:t>
                        </m:r>
                      </m:e>
                    </m:acc>
                    <m:r>
                      <a:rPr lang="en-US" altLang="zh-CN" sz="2400" b="1" i="1">
                        <a:latin typeface="Cambria Math" panose="02040503050406030204" pitchFamily="18" charset="0"/>
                        <a:cs typeface="Times New Roman" panose="02020603050405020304" pitchFamily="18" charset="0"/>
                      </a:rPr>
                      <m:t> </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kumimoji="0" lang="en-US" altLang="zh-CN" sz="2400" b="1" i="1" u="none" strike="noStrike" cap="none" normalizeH="0" baseline="0" dirty="0" smtClean="0">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endParaRPr>
              </a:p>
              <a:p>
                <a:pPr lvl="0">
                  <a:lnSpc>
                    <a:spcPts val="3300"/>
                  </a:lnSpc>
                  <a:spcBef>
                    <a:spcPts val="600"/>
                  </a:spcBef>
                </a:pPr>
                <a:r>
                  <a:rPr kumimoji="0" lang="zh-CN" altLang="en-US" sz="2400" b="1" u="none" strike="noStrike" cap="none" normalizeH="0" baseline="0" dirty="0" smtClean="0">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a:t>为 </a:t>
                </a:r>
                <a:r>
                  <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 </a:t>
                </a:r>
                <a:r>
                  <a:rPr kumimoji="0" lang="zh-CN" altLang="en-US" sz="2400" b="1" u="none" strike="noStrike" cap="none" normalizeH="0" baseline="0" dirty="0" smtClean="0">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a:t>的</a:t>
                </a:r>
                <a:r>
                  <a:rPr kumimoji="0" lang="zh-CN" altLang="en-US" sz="2400" b="1" u="none" strike="noStrike" cap="none" normalizeH="0" baseline="0" dirty="0" smtClean="0">
                    <a:ln>
                      <a:noFill/>
                    </a:ln>
                    <a:solidFill>
                      <a:srgbClr val="C00000"/>
                    </a:solidFill>
                    <a:effectLst/>
                    <a:latin typeface="Cambria Math" panose="02040503050406030204" pitchFamily="18" charset="0"/>
                    <a:ea typeface="宋体" panose="02010600030101010101" pitchFamily="2" charset="-122"/>
                    <a:cs typeface="Times New Roman" panose="02020603050405020304" pitchFamily="18" charset="0"/>
                  </a:rPr>
                  <a:t>割集</a:t>
                </a:r>
                <a:r>
                  <a:rPr kumimoji="0" lang="zh-CN" altLang="en-US" sz="2400" b="1" u="none" strike="noStrike" cap="none" normalizeH="0" baseline="0" dirty="0" smtClean="0">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a:t>，</a:t>
                </a:r>
                <a:r>
                  <a:rPr lang="en-US" altLang="zh-CN" sz="2400" b="1" dirty="0" smtClean="0">
                    <a:cs typeface="Times New Roman" panose="02020603050405020304" pitchFamily="18" charset="0"/>
                  </a:rPr>
                  <a:t> </a:t>
                </a:r>
                <a14:m>
                  <m:oMath xmlns:m="http://schemas.openxmlformats.org/officeDocument/2006/math">
                    <m:r>
                      <a:rPr lang="en-US" altLang="zh-CN" sz="2400" b="1" i="1" smtClean="0">
                        <a:latin typeface="Cambria Math" panose="02040503050406030204" pitchFamily="18" charset="0"/>
                        <a:cs typeface="Times New Roman" panose="02020603050405020304" pitchFamily="18" charset="0"/>
                      </a:rPr>
                      <m:t>𝒄</m:t>
                    </m:r>
                    <m:d>
                      <m:dPr>
                        <m:ctrlPr>
                          <a:rPr kumimoji="0" lang="en-US" altLang="zh-CN" sz="2400" b="1"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ctrlPr>
                      </m:dPr>
                      <m:e>
                        <m:r>
                          <a:rPr kumimoji="0" lang="en-US" altLang="zh-CN" sz="2400" b="1"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t>𝑨</m:t>
                        </m:r>
                        <m:r>
                          <a:rPr kumimoji="0" lang="en-US" altLang="zh-CN" sz="2400" b="1"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t>,</m:t>
                        </m:r>
                        <m:acc>
                          <m:accPr>
                            <m:chr m:val="̅"/>
                            <m:ctrlPr>
                              <a:rPr kumimoji="0" lang="en-US" altLang="zh-CN" sz="2400" b="1"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ctrlPr>
                          </m:accPr>
                          <m:e>
                            <m:r>
                              <a:rPr kumimoji="0" lang="en-US" altLang="zh-CN" sz="2400" b="1"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t>𝑨</m:t>
                            </m:r>
                          </m:e>
                        </m:acc>
                      </m:e>
                    </m:d>
                    <m:r>
                      <a:rPr kumimoji="0" lang="en-US" altLang="zh-CN" sz="2400" b="1" i="1" u="none" strike="noStrike" cap="none" normalizeH="0" baseline="0" dirty="0" smtClean="0">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m:t>
                    </m:r>
                    <m:nary>
                      <m:naryPr>
                        <m:chr m:val="∑"/>
                        <m:supHide m:val="on"/>
                        <m:ctrlPr>
                          <a:rPr lang="en-US" altLang="zh-CN" sz="2400" b="1" i="1" smtClean="0">
                            <a:latin typeface="Cambria Math" panose="02040503050406030204" pitchFamily="18" charset="0"/>
                            <a:cs typeface="Times New Roman" panose="02020603050405020304" pitchFamily="18" charset="0"/>
                          </a:rPr>
                        </m:ctrlPr>
                      </m:naryPr>
                      <m:sub>
                        <m:r>
                          <m:rPr>
                            <m:brk m:alnAt="7"/>
                          </m:rPr>
                          <a:rPr lang="en-US" altLang="zh-CN" sz="2400" b="1" i="1" smtClean="0">
                            <a:latin typeface="Cambria Math" panose="02040503050406030204" pitchFamily="18" charset="0"/>
                            <a:cs typeface="Times New Roman" panose="02020603050405020304" pitchFamily="18" charset="0"/>
                          </a:rPr>
                          <m:t>&lt;</m:t>
                        </m:r>
                        <m:r>
                          <a:rPr lang="en-US" altLang="zh-CN" sz="2400" b="1" i="1" smtClean="0">
                            <a:latin typeface="Cambria Math" panose="02040503050406030204" pitchFamily="18" charset="0"/>
                            <a:cs typeface="Times New Roman" panose="02020603050405020304" pitchFamily="18" charset="0"/>
                          </a:rPr>
                          <m:t>𝒊</m:t>
                        </m:r>
                        <m:r>
                          <a:rPr lang="en-US" altLang="zh-CN" sz="2400" b="1" i="1" smtClean="0">
                            <a:latin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cs typeface="Times New Roman" panose="02020603050405020304" pitchFamily="18" charset="0"/>
                          </a:rPr>
                          <m:t>𝒋</m:t>
                        </m:r>
                        <m:r>
                          <a:rPr lang="en-US" altLang="zh-CN" sz="2400" b="1" i="1" smtClean="0">
                            <a:latin typeface="Cambria Math" panose="02040503050406030204" pitchFamily="18" charset="0"/>
                            <a:cs typeface="Times New Roman" panose="02020603050405020304" pitchFamily="18" charset="0"/>
                          </a:rPr>
                          <m:t>&gt;∈(</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𝑨</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𝑨</m:t>
                            </m:r>
                          </m:e>
                        </m:acc>
                        <m:r>
                          <a:rPr lang="en-US" altLang="zh-CN" sz="2400" b="1" i="1" smtClean="0">
                            <a:latin typeface="Cambria Math" panose="02040503050406030204" pitchFamily="18" charset="0"/>
                            <a:cs typeface="Times New Roman" panose="02020603050405020304" pitchFamily="18" charset="0"/>
                          </a:rPr>
                          <m:t>)</m:t>
                        </m:r>
                      </m:sub>
                      <m:sup/>
                      <m:e>
                        <m:r>
                          <a:rPr lang="en-US" altLang="zh-CN" sz="2400" b="1" i="1" smtClean="0">
                            <a:latin typeface="Cambria Math" panose="02040503050406030204" pitchFamily="18" charset="0"/>
                            <a:cs typeface="Times New Roman" panose="02020603050405020304" pitchFamily="18" charset="0"/>
                          </a:rPr>
                          <m:t>𝒄</m:t>
                        </m:r>
                        <m:r>
                          <a:rPr lang="en-US" altLang="zh-CN" sz="2400" b="1" i="1" smtClean="0">
                            <a:latin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cs typeface="Times New Roman" panose="02020603050405020304" pitchFamily="18" charset="0"/>
                          </a:rPr>
                          <m:t>𝒊</m:t>
                        </m:r>
                        <m:r>
                          <a:rPr lang="en-US" altLang="zh-CN" sz="2400" b="1" i="1" smtClean="0">
                            <a:latin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cs typeface="Times New Roman" panose="02020603050405020304" pitchFamily="18" charset="0"/>
                          </a:rPr>
                          <m:t>𝒋</m:t>
                        </m:r>
                        <m:r>
                          <a:rPr lang="en-US" altLang="zh-CN" sz="2400" b="1" i="1" smtClean="0">
                            <a:latin typeface="Cambria Math" panose="02040503050406030204" pitchFamily="18" charset="0"/>
                            <a:cs typeface="Times New Roman" panose="02020603050405020304" pitchFamily="18" charset="0"/>
                          </a:rPr>
                          <m:t>)</m:t>
                        </m:r>
                      </m:e>
                    </m:nary>
                  </m:oMath>
                </a14:m>
                <a:r>
                  <a:rPr lang="zh-CN" altLang="en-US" sz="2400" b="1" dirty="0" smtClean="0">
                    <a:latin typeface="Times New Roman" panose="02020603050405020304" pitchFamily="18" charset="0"/>
                    <a:cs typeface="Times New Roman" panose="02020603050405020304" pitchFamily="18" charset="0"/>
                  </a:rPr>
                  <a:t> 为割集 </a:t>
                </a:r>
                <a14:m>
                  <m:oMath xmlns:m="http://schemas.openxmlformats.org/officeDocument/2006/math">
                    <m:r>
                      <a:rPr lang="en-US" altLang="zh-CN" sz="2400" b="1" i="1" smtClean="0">
                        <a:latin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cs typeface="Times New Roman" panose="02020603050405020304" pitchFamily="18" charset="0"/>
                      </a:rPr>
                      <m:t>𝑨</m:t>
                    </m:r>
                    <m:r>
                      <a:rPr lang="en-US" altLang="zh-CN" sz="2400" b="1" i="1" smtClean="0">
                        <a:latin typeface="Cambria Math" panose="02040503050406030204" pitchFamily="18" charset="0"/>
                        <a:cs typeface="Times New Roman" panose="02020603050405020304" pitchFamily="18" charset="0"/>
                      </a:rPr>
                      <m:t>,</m:t>
                    </m:r>
                    <m:acc>
                      <m:accPr>
                        <m:chr m:val="̅"/>
                        <m:ctrlPr>
                          <a:rPr lang="en-US" altLang="zh-CN" sz="2400" b="1" i="1" smtClean="0">
                            <a:latin typeface="Cambria Math" panose="02040503050406030204" pitchFamily="18" charset="0"/>
                            <a:cs typeface="Times New Roman" panose="02020603050405020304" pitchFamily="18" charset="0"/>
                          </a:rPr>
                        </m:ctrlPr>
                      </m:accPr>
                      <m:e>
                        <m:r>
                          <a:rPr lang="en-US" altLang="zh-CN" sz="2400" b="1" i="1" smtClean="0">
                            <a:latin typeface="Cambria Math" panose="02040503050406030204" pitchFamily="18" charset="0"/>
                            <a:cs typeface="Times New Roman" panose="02020603050405020304" pitchFamily="18" charset="0"/>
                          </a:rPr>
                          <m:t>𝑨</m:t>
                        </m:r>
                      </m:e>
                    </m:acc>
                    <m:r>
                      <a:rPr lang="en-US" altLang="zh-CN" sz="2400" b="1" i="1" smtClean="0">
                        <a:latin typeface="Cambria Math" panose="02040503050406030204" pitchFamily="18" charset="0"/>
                        <a:cs typeface="Times New Roman" panose="02020603050405020304" pitchFamily="18" charset="0"/>
                      </a:rPr>
                      <m:t>)</m:t>
                    </m:r>
                    <m:r>
                      <a:rPr lang="zh-CN" altLang="en-US" sz="2400" b="1" i="1" smtClean="0">
                        <a:latin typeface="Cambria Math" panose="02040503050406030204" pitchFamily="18" charset="0"/>
                        <a:cs typeface="Times New Roman" panose="02020603050405020304" pitchFamily="18" charset="0"/>
                      </a:rPr>
                      <m:t> </m:t>
                    </m:r>
                  </m:oMath>
                </a14:m>
                <a:r>
                  <a:rPr lang="zh-CN" altLang="en-US" sz="2400" b="1" dirty="0" smtClean="0">
                    <a:latin typeface="Times New Roman" panose="02020603050405020304" pitchFamily="18" charset="0"/>
                    <a:cs typeface="Times New Roman" panose="02020603050405020304" pitchFamily="18" charset="0"/>
                  </a:rPr>
                  <a:t>的</a:t>
                </a:r>
                <a:r>
                  <a:rPr lang="zh-CN" altLang="en-US" sz="2400" b="1" dirty="0" smtClean="0">
                    <a:solidFill>
                      <a:srgbClr val="C00000"/>
                    </a:solidFill>
                    <a:latin typeface="Times New Roman" panose="02020603050405020304" pitchFamily="18" charset="0"/>
                    <a:cs typeface="Times New Roman" panose="02020603050405020304" pitchFamily="18" charset="0"/>
                  </a:rPr>
                  <a:t>容量</a:t>
                </a:r>
                <a:r>
                  <a:rPr lang="en-US" altLang="zh-CN" sz="2400" b="1" dirty="0" smtClean="0">
                    <a:latin typeface="Times New Roman" panose="02020603050405020304" pitchFamily="18" charset="0"/>
                    <a:cs typeface="Times New Roman" panose="02020603050405020304" pitchFamily="18" charset="0"/>
                  </a:rPr>
                  <a:t>. </a:t>
                </a:r>
                <a:endPar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lvl="0">
                  <a:lnSpc>
                    <a:spcPts val="3300"/>
                  </a:lnSpc>
                  <a:spcBef>
                    <a:spcPts val="600"/>
                  </a:spcBef>
                </a:pPr>
                <a:r>
                  <a:rPr lang="zh-CN" altLang="en-US" sz="2400" b="1" dirty="0" smtClean="0">
                    <a:latin typeface="Times New Roman" panose="02020603050405020304" pitchFamily="18" charset="0"/>
                    <a:cs typeface="Times New Roman" panose="02020603050405020304" pitchFamily="18" charset="0"/>
                  </a:rPr>
                  <a:t>容量最小的割集称作</a:t>
                </a:r>
                <a:r>
                  <a:rPr lang="zh-CN" altLang="en-US" sz="2400" b="1" dirty="0" smtClean="0">
                    <a:solidFill>
                      <a:srgbClr val="FF0000"/>
                    </a:solidFill>
                    <a:latin typeface="Times New Roman" panose="02020603050405020304" pitchFamily="18" charset="0"/>
                    <a:cs typeface="Times New Roman" panose="02020603050405020304" pitchFamily="18" charset="0"/>
                  </a:rPr>
                  <a:t>最小割集</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a:latin typeface="Times New Roman" panose="02020603050405020304" pitchFamily="18" charset="0"/>
                  <a:cs typeface="Times New Roman" panose="02020603050405020304" pitchFamily="18" charset="0"/>
                </a:endParaRPr>
              </a:p>
              <a:p>
                <a:pPr marL="0" marR="0" lvl="0" indent="269875" algn="l" defTabSz="914400" rtl="0" eaLnBrk="0" fontAlgn="base" latinLnBrk="0" hangingPunct="0">
                  <a:lnSpc>
                    <a:spcPct val="100000"/>
                  </a:lnSpc>
                  <a:spcBef>
                    <a:spcPct val="0"/>
                  </a:spcBef>
                  <a:spcAft>
                    <a:spcPct val="0"/>
                  </a:spcAft>
                  <a:buClrTx/>
                  <a:buSzTx/>
                  <a:buFontTx/>
                  <a:buNone/>
                </a:pPr>
                <a:endParaRPr kumimoji="0" lang="en-US" altLang="zh-CN" sz="2400" b="1" i="0" u="none" strike="noStrike" cap="none" normalizeH="0" baseline="0" dirty="0" smtClean="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p:txBody>
          </p:sp>
        </mc:Choice>
        <mc:Fallback>
          <p:sp>
            <p:nvSpPr>
              <p:cNvPr id="9" name="Rectangle 18"/>
              <p:cNvSpPr>
                <a:spLocks noRot="1" noChangeAspect="1" noMove="1" noResize="1" noEditPoints="1" noAdjustHandles="1" noChangeArrowheads="1" noChangeShapeType="1" noTextEdit="1"/>
              </p:cNvSpPr>
              <p:nvPr/>
            </p:nvSpPr>
            <p:spPr bwMode="auto">
              <a:xfrm>
                <a:off x="623506" y="1292052"/>
                <a:ext cx="8063294" cy="2808461"/>
              </a:xfrm>
              <a:prstGeom prst="rect">
                <a:avLst/>
              </a:prstGeom>
              <a:blipFill rotWithShape="1">
                <a:blip r:embed="rId4"/>
                <a:stretch>
                  <a:fillRect l="-7" t="-16" b="1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ctrTitle"/>
          </p:nvPr>
        </p:nvSpPr>
        <p:spPr>
          <a:xfrm>
            <a:off x="677863" y="384175"/>
            <a:ext cx="7772400" cy="865188"/>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引理</a:t>
            </a:r>
            <a:r>
              <a:rPr lang="en-US" altLang="zh-CN" sz="4000" b="1" smtClean="0">
                <a:solidFill>
                  <a:srgbClr val="C00000"/>
                </a:solidFill>
                <a:latin typeface="Times New Roman" panose="02020603050405020304" pitchFamily="18" charset="0"/>
                <a:cs typeface="Times New Roman" panose="02020603050405020304" pitchFamily="18" charset="0"/>
              </a:rPr>
              <a:t>7.1</a:t>
            </a:r>
            <a:r>
              <a:rPr lang="zh-CN" altLang="en-US" sz="4000" b="1" smtClean="0">
                <a:solidFill>
                  <a:srgbClr val="C00000"/>
                </a:solidFill>
                <a:latin typeface="Times New Roman" panose="02020603050405020304" pitchFamily="18" charset="0"/>
                <a:cs typeface="Times New Roman" panose="02020603050405020304" pitchFamily="18" charset="0"/>
              </a:rPr>
              <a:t>证明</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8195" name="副标题 2"/>
          <p:cNvSpPr>
            <a:spLocks noGrp="1"/>
          </p:cNvSpPr>
          <p:nvPr>
            <p:ph type="subTitle" idx="1"/>
          </p:nvPr>
        </p:nvSpPr>
        <p:spPr>
          <a:xfrm>
            <a:off x="684213" y="1557338"/>
            <a:ext cx="7775575" cy="442912"/>
          </a:xfrm>
        </p:spPr>
        <p:txBody>
          <a:bodyPr/>
          <a:lstStyle/>
          <a:p>
            <a:pPr algn="l" eaLnBrk="1" hangingPunct="1"/>
            <a:r>
              <a:rPr lang="zh-CN" altLang="en-US" sz="2400" b="1" dirty="0" smtClean="0">
                <a:solidFill>
                  <a:schemeClr val="tx1"/>
                </a:solidFill>
                <a:latin typeface="Times New Roman" panose="02020603050405020304" pitchFamily="18" charset="0"/>
                <a:cs typeface="Times New Roman" panose="02020603050405020304" pitchFamily="18" charset="0"/>
              </a:rPr>
              <a:t>证</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p:txBody>
      </p:sp>
      <p:graphicFrame>
        <p:nvGraphicFramePr>
          <p:cNvPr id="8196" name="Object 4"/>
          <p:cNvGraphicFramePr>
            <a:graphicFrameLocks noChangeAspect="1"/>
          </p:cNvGraphicFramePr>
          <p:nvPr/>
        </p:nvGraphicFramePr>
        <p:xfrm>
          <a:off x="1771650" y="1571625"/>
          <a:ext cx="4179888" cy="714375"/>
        </p:xfrm>
        <a:graphic>
          <a:graphicData uri="http://schemas.openxmlformats.org/presentationml/2006/ole">
            <mc:AlternateContent xmlns:mc="http://schemas.openxmlformats.org/markup-compatibility/2006">
              <mc:Choice xmlns:v="urn:schemas-microsoft-com:vml" Requires="v">
                <p:oleObj spid="_x0000_s8207" name="Equation" r:id="rId1" imgW="2057400" imgH="355600" progId="Equation.3">
                  <p:embed/>
                </p:oleObj>
              </mc:Choice>
              <mc:Fallback>
                <p:oleObj name="Equation" r:id="rId1" imgW="2057400" imgH="355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1650" y="1571625"/>
                        <a:ext cx="417988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7" name="Object 6"/>
          <p:cNvGraphicFramePr>
            <a:graphicFrameLocks noChangeAspect="1"/>
          </p:cNvGraphicFramePr>
          <p:nvPr/>
        </p:nvGraphicFramePr>
        <p:xfrm>
          <a:off x="2786063" y="2928938"/>
          <a:ext cx="4438650" cy="995362"/>
        </p:xfrm>
        <a:graphic>
          <a:graphicData uri="http://schemas.openxmlformats.org/presentationml/2006/ole">
            <mc:AlternateContent xmlns:mc="http://schemas.openxmlformats.org/markup-compatibility/2006">
              <mc:Choice xmlns:v="urn:schemas-microsoft-com:vml" Requires="v">
                <p:oleObj spid="_x0000_s8208" name="Equation" r:id="rId3" imgW="2184400" imgH="495300" progId="Equation.3">
                  <p:embed/>
                </p:oleObj>
              </mc:Choice>
              <mc:Fallback>
                <p:oleObj name="Equation" r:id="rId3" imgW="2184400" imgH="4953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6063" y="2928938"/>
                        <a:ext cx="4438650" cy="99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8" name="Object 7"/>
          <p:cNvGraphicFramePr>
            <a:graphicFrameLocks noChangeAspect="1"/>
          </p:cNvGraphicFramePr>
          <p:nvPr/>
        </p:nvGraphicFramePr>
        <p:xfrm>
          <a:off x="2420938" y="2286000"/>
          <a:ext cx="3508375" cy="714375"/>
        </p:xfrm>
        <a:graphic>
          <a:graphicData uri="http://schemas.openxmlformats.org/presentationml/2006/ole">
            <mc:AlternateContent xmlns:mc="http://schemas.openxmlformats.org/markup-compatibility/2006">
              <mc:Choice xmlns:v="urn:schemas-microsoft-com:vml" Requires="v">
                <p:oleObj spid="_x0000_s8209" name="Equation" r:id="rId5" imgW="1726565" imgH="355600" progId="Equation.3">
                  <p:embed/>
                </p:oleObj>
              </mc:Choice>
              <mc:Fallback>
                <p:oleObj name="Equation" r:id="rId5" imgW="1726565" imgH="3556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0938" y="2286000"/>
                        <a:ext cx="350837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9" name="Object 8"/>
          <p:cNvGraphicFramePr>
            <a:graphicFrameLocks noChangeAspect="1"/>
          </p:cNvGraphicFramePr>
          <p:nvPr/>
        </p:nvGraphicFramePr>
        <p:xfrm>
          <a:off x="2500313" y="3933825"/>
          <a:ext cx="4129087" cy="995363"/>
        </p:xfrm>
        <a:graphic>
          <a:graphicData uri="http://schemas.openxmlformats.org/presentationml/2006/ole">
            <mc:AlternateContent xmlns:mc="http://schemas.openxmlformats.org/markup-compatibility/2006">
              <mc:Choice xmlns:v="urn:schemas-microsoft-com:vml" Requires="v">
                <p:oleObj spid="_x0000_s8210" name="Equation" r:id="rId7" imgW="2032000" imgH="495300" progId="Equation.3">
                  <p:embed/>
                </p:oleObj>
              </mc:Choice>
              <mc:Fallback>
                <p:oleObj name="Equation" r:id="rId7" imgW="2032000" imgH="4953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00313" y="3933825"/>
                        <a:ext cx="4129087" cy="99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0" name="Object 9"/>
          <p:cNvGraphicFramePr>
            <a:graphicFrameLocks noChangeAspect="1"/>
          </p:cNvGraphicFramePr>
          <p:nvPr/>
        </p:nvGraphicFramePr>
        <p:xfrm>
          <a:off x="2489200" y="5073650"/>
          <a:ext cx="4179888" cy="715963"/>
        </p:xfrm>
        <a:graphic>
          <a:graphicData uri="http://schemas.openxmlformats.org/presentationml/2006/ole">
            <mc:AlternateContent xmlns:mc="http://schemas.openxmlformats.org/markup-compatibility/2006">
              <mc:Choice xmlns:v="urn:schemas-microsoft-com:vml" Requires="v">
                <p:oleObj spid="_x0000_s8211" name="Equation" r:id="rId9" imgW="2057400" imgH="355600" progId="Equation.3">
                  <p:embed/>
                </p:oleObj>
              </mc:Choice>
              <mc:Fallback>
                <p:oleObj name="Equation" r:id="rId9" imgW="2057400" imgH="3556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89200" y="5073650"/>
                        <a:ext cx="4179888"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01" name="灯片编号占位符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51DC2AF2-AF7A-4E84-A94A-19D94EA5967C}"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ctrTitle"/>
          </p:nvPr>
        </p:nvSpPr>
        <p:spPr>
          <a:xfrm>
            <a:off x="685800" y="476250"/>
            <a:ext cx="7772400" cy="865188"/>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引理</a:t>
            </a:r>
            <a:r>
              <a:rPr lang="en-US" altLang="zh-CN" sz="4000" b="1" smtClean="0">
                <a:solidFill>
                  <a:srgbClr val="C00000"/>
                </a:solidFill>
                <a:latin typeface="Times New Roman" panose="02020603050405020304" pitchFamily="18" charset="0"/>
                <a:cs typeface="Times New Roman" panose="02020603050405020304" pitchFamily="18" charset="0"/>
              </a:rPr>
              <a:t>7.1</a:t>
            </a:r>
            <a:r>
              <a:rPr lang="zh-CN" altLang="en-US" sz="4000" b="1" smtClean="0">
                <a:solidFill>
                  <a:srgbClr val="C00000"/>
                </a:solidFill>
                <a:latin typeface="Times New Roman" panose="02020603050405020304" pitchFamily="18" charset="0"/>
                <a:cs typeface="Times New Roman" panose="02020603050405020304" pitchFamily="18" charset="0"/>
              </a:rPr>
              <a:t>证明（续）</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graphicFrame>
        <p:nvGraphicFramePr>
          <p:cNvPr id="9220" name="Object 5"/>
          <p:cNvGraphicFramePr>
            <a:graphicFrameLocks noChangeAspect="1"/>
          </p:cNvGraphicFramePr>
          <p:nvPr/>
        </p:nvGraphicFramePr>
        <p:xfrm>
          <a:off x="2697163" y="2436813"/>
          <a:ext cx="4178300" cy="920750"/>
        </p:xfrm>
        <a:graphic>
          <a:graphicData uri="http://schemas.openxmlformats.org/presentationml/2006/ole">
            <mc:AlternateContent xmlns:mc="http://schemas.openxmlformats.org/markup-compatibility/2006">
              <mc:Choice xmlns:v="urn:schemas-microsoft-com:vml" Requires="v">
                <p:oleObj spid="_x0000_s9253" name="Equation" r:id="rId1" imgW="2057400" imgH="457200" progId="Equation.3">
                  <p:embed/>
                </p:oleObj>
              </mc:Choice>
              <mc:Fallback>
                <p:oleObj name="Equation" r:id="rId1" imgW="2057400" imgH="4572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7163" y="2436813"/>
                        <a:ext cx="41783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21" name="Object 6"/>
          <p:cNvGraphicFramePr>
            <a:graphicFrameLocks noChangeAspect="1"/>
          </p:cNvGraphicFramePr>
          <p:nvPr/>
        </p:nvGraphicFramePr>
        <p:xfrm>
          <a:off x="2571750" y="3429000"/>
          <a:ext cx="3768725" cy="714375"/>
        </p:xfrm>
        <a:graphic>
          <a:graphicData uri="http://schemas.openxmlformats.org/presentationml/2006/ole">
            <mc:AlternateContent xmlns:mc="http://schemas.openxmlformats.org/markup-compatibility/2006">
              <mc:Choice xmlns:v="urn:schemas-microsoft-com:vml" Requires="v">
                <p:oleObj spid="_x0000_s9254" name="Equation" r:id="rId3" imgW="1853565" imgH="355600" progId="Equation.3">
                  <p:embed/>
                </p:oleObj>
              </mc:Choice>
              <mc:Fallback>
                <p:oleObj name="Equation" r:id="rId3" imgW="1853565" imgH="355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1750" y="3429000"/>
                        <a:ext cx="376872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2" name="灯片编号占位符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B58085D9-BC64-4255-BCB7-E367FA0A282F}" type="slidenum">
              <a:rPr lang="zh-CN" altLang="en-US" sz="1200" smtClean="0">
                <a:solidFill>
                  <a:srgbClr val="898989"/>
                </a:solidFill>
              </a:rPr>
            </a:fld>
            <a:endParaRPr lang="zh-CN" altLang="en-US" sz="1200" smtClean="0">
              <a:solidFill>
                <a:srgbClr val="898989"/>
              </a:solidFill>
            </a:endParaRPr>
          </a:p>
        </p:txBody>
      </p:sp>
      <p:grpSp>
        <p:nvGrpSpPr>
          <p:cNvPr id="9223" name="组合 4"/>
          <p:cNvGrpSpPr/>
          <p:nvPr/>
        </p:nvGrpSpPr>
        <p:grpSpPr bwMode="auto">
          <a:xfrm>
            <a:off x="2489200" y="1484313"/>
            <a:ext cx="4179888" cy="920750"/>
            <a:chOff x="2489200" y="1486074"/>
            <a:chExt cx="4179888" cy="920750"/>
          </a:xfrm>
        </p:grpSpPr>
        <p:graphicFrame>
          <p:nvGraphicFramePr>
            <p:cNvPr id="9226" name="Object 4"/>
            <p:cNvGraphicFramePr>
              <a:graphicFrameLocks noChangeAspect="1"/>
            </p:cNvGraphicFramePr>
            <p:nvPr/>
          </p:nvGraphicFramePr>
          <p:xfrm>
            <a:off x="2489200" y="1486074"/>
            <a:ext cx="4179888" cy="920750"/>
          </p:xfrm>
          <a:graphic>
            <a:graphicData uri="http://schemas.openxmlformats.org/presentationml/2006/ole">
              <mc:AlternateContent xmlns:mc="http://schemas.openxmlformats.org/markup-compatibility/2006">
                <mc:Choice xmlns:v="urn:schemas-microsoft-com:vml" Requires="v">
                  <p:oleObj spid="_x0000_s9255" name="Microsoft 公式 3.0" r:id="rId5" imgW="2057400" imgH="457200" progId="Equation.3">
                    <p:embed/>
                  </p:oleObj>
                </mc:Choice>
                <mc:Fallback>
                  <p:oleObj name="Microsoft 公式 3.0" r:id="rId5" imgW="2057400" imgH="457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89200" y="1486074"/>
                          <a:ext cx="4179888"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7" name="文本框 3"/>
            <p:cNvSpPr txBox="1">
              <a:spLocks noChangeArrowheads="1"/>
            </p:cNvSpPr>
            <p:nvPr/>
          </p:nvSpPr>
          <p:spPr bwMode="auto">
            <a:xfrm flipH="1">
              <a:off x="4550891" y="1577117"/>
              <a:ext cx="3600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a:latin typeface="Arial" panose="020B0604020202020204" pitchFamily="34" charset="0"/>
                </a:rPr>
                <a:t>|</a:t>
              </a:r>
              <a:endParaRPr lang="zh-CN" altLang="en-US" sz="1800">
                <a:latin typeface="Arial" panose="020B0604020202020204" pitchFamily="34" charset="0"/>
              </a:endParaRPr>
            </a:p>
          </p:txBody>
        </p:sp>
      </p:grpSp>
      <mc:AlternateContent xmlns:mc="http://schemas.openxmlformats.org/markup-compatibility/2006">
        <mc:Choice xmlns:a14="http://schemas.microsoft.com/office/drawing/2010/main" Requires="a14">
          <p:sp>
            <p:nvSpPr>
              <p:cNvPr id="7" name="Rectangle 20"/>
              <p:cNvSpPr>
                <a:spLocks noChangeArrowheads="1"/>
              </p:cNvSpPr>
              <p:nvPr/>
            </p:nvSpPr>
            <p:spPr bwMode="auto">
              <a:xfrm>
                <a:off x="598152" y="4436200"/>
                <a:ext cx="7905477"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algn="l" defTabSz="914400" rtl="0" eaLnBrk="0" fontAlgn="base" latinLnBrk="0" hangingPunct="0">
                  <a:lnSpc>
                    <a:spcPts val="3300"/>
                  </a:lnSpc>
                  <a:spcBef>
                    <a:spcPct val="0"/>
                  </a:spcBef>
                  <a:spcAft>
                    <a:spcPct val="0"/>
                  </a:spcAft>
                  <a:buClrTx/>
                  <a:buSzTx/>
                  <a:buFontTx/>
                  <a:buNone/>
                </a:pPr>
                <a:r>
                  <a:rPr kumimoji="0" lang="zh-CN" altLang="zh-CN" sz="2400" b="1" i="0" u="none" strike="noStrike" cap="none" normalizeH="0" baseline="0" dirty="0" smtClean="0">
                    <a:ln>
                      <a:noFill/>
                    </a:ln>
                    <a:solidFill>
                      <a:srgbClr val="C00000"/>
                    </a:solidFill>
                    <a:effectLst/>
                    <a:latin typeface="黑体" panose="02010609060101010101" pitchFamily="49" charset="-122"/>
                    <a:ea typeface="宋体" panose="02010600030101010101" pitchFamily="2" charset="-122"/>
                    <a:cs typeface="Times New Roman" panose="02020603050405020304" pitchFamily="18" charset="0"/>
                  </a:rPr>
                  <a:t>引理</a:t>
                </a:r>
                <a:r>
                  <a:rPr kumimoji="0" lang="en-US" altLang="zh-CN" sz="2400" b="1" i="0" u="none" strike="noStrike" cap="none" normalizeH="0" baseline="0" dirty="0" smtClean="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7.2  </a:t>
                </a: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设 </a:t>
                </a:r>
                <a:r>
                  <a:rPr kumimoji="0" lang="en-US" altLang="zh-CN" sz="24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 </a:t>
                </a: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是任一可行流</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d>
                      <m:dPr>
                        <m:ctrlPr>
                          <a:rPr kumimoji="0" lang="en-US" altLang="zh-CN" sz="2400" b="1" i="1" u="none" strike="noStrike" cap="none" normalizeH="0" baseline="0" smtClean="0">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ctrlPr>
                      </m:dPr>
                      <m:e>
                        <m:r>
                          <a:rPr kumimoji="0" lang="en-US" altLang="zh-CN" sz="2400" b="1" i="1" u="none" strike="noStrike" cap="none" normalizeH="0" baseline="0" smtClean="0">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𝑨</m:t>
                        </m:r>
                        <m:r>
                          <a:rPr kumimoji="0" lang="en-US" altLang="zh-CN" sz="2400" b="1" i="1" u="none" strike="noStrike" cap="none" normalizeH="0" baseline="0" smtClean="0">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m:t>
                        </m:r>
                        <m:acc>
                          <m:accPr>
                            <m:chr m:val="̅"/>
                            <m:ctrlPr>
                              <a:rPr kumimoji="0" lang="en-US" altLang="zh-CN" sz="2400" b="1" i="1" u="none" strike="noStrike" cap="none" normalizeH="0" baseline="0" smtClean="0">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ctrlPr>
                          </m:accPr>
                          <m:e>
                            <m:r>
                              <a:rPr kumimoji="0" lang="en-US" altLang="zh-CN" sz="2400" b="1" i="1" u="none" strike="noStrike" cap="none" normalizeH="0" baseline="0" smtClean="0">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𝑨</m:t>
                            </m:r>
                          </m:e>
                        </m:acc>
                      </m:e>
                    </m:d>
                  </m:oMath>
                </a14:m>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是任一割集，则</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9875" algn="l" defTabSz="914400" rtl="0" eaLnBrk="0" fontAlgn="base" latinLnBrk="0" hangingPunct="0">
                  <a:lnSpc>
                    <a:spcPts val="3300"/>
                  </a:lnSpc>
                  <a:spcBef>
                    <a:spcPct val="0"/>
                  </a:spcBef>
                  <a:spcAft>
                    <a:spcPct val="0"/>
                  </a:spcAft>
                  <a:buClrTx/>
                  <a:buSzTx/>
                  <a:buFontTx/>
                  <a:buNone/>
                </a:pPr>
                <a:r>
                  <a:rPr lang="en-US" altLang="zh-CN" sz="2400" b="1" dirty="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14:m>
                  <m:oMath xmlns:m="http://schemas.openxmlformats.org/officeDocument/2006/math">
                    <m:r>
                      <a:rPr lang="en-US" altLang="zh-CN" sz="2400" b="1" i="1" smtClean="0">
                        <a:latin typeface="Cambria Math" panose="02040503050406030204" pitchFamily="18" charset="0"/>
                        <a:cs typeface="Times New Roman" panose="02020603050405020304" pitchFamily="18" charset="0"/>
                      </a:rPr>
                      <m:t>𝒗</m:t>
                    </m:r>
                    <m:r>
                      <a:rPr lang="en-US" altLang="zh-CN" sz="2400" b="1" i="1" smtClean="0">
                        <a:latin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cs typeface="Times New Roman" panose="02020603050405020304" pitchFamily="18" charset="0"/>
                      </a:rPr>
                      <m:t>𝒇</m:t>
                    </m:r>
                    <m:r>
                      <a:rPr lang="en-US" altLang="zh-CN" sz="2400" b="1" i="1" smtClean="0">
                        <a:latin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𝒄</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𝑨</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𝑨</m:t>
                        </m:r>
                      </m:e>
                    </m:acc>
                    <m:r>
                      <a:rPr lang="en-US" altLang="zh-CN" sz="2400" b="1" i="1" smtClean="0">
                        <a:latin typeface="Cambria Math" panose="02040503050406030204" pitchFamily="18" charset="0"/>
                        <a:cs typeface="Times New Roman" panose="02020603050405020304" pitchFamily="18" charset="0"/>
                      </a:rPr>
                      <m:t>)</m:t>
                    </m:r>
                  </m:oMath>
                </a14:m>
                <a:endParaRPr kumimoji="0" lang="en-US" altLang="zh-CN" sz="2400" b="1" i="0" u="none" strike="noStrike" cap="none" normalizeH="0" baseline="0" dirty="0" smtClean="0">
                  <a:ln>
                    <a:noFill/>
                  </a:ln>
                  <a:solidFill>
                    <a:schemeClr val="tx1"/>
                  </a:solidFill>
                  <a:effectLst/>
                  <a:ea typeface="宋体" panose="02010600030101010101" pitchFamily="2" charset="-122"/>
                </a:endParaRPr>
              </a:p>
              <a:p>
                <a:pPr>
                  <a:lnSpc>
                    <a:spcPts val="3300"/>
                  </a:lnSpc>
                  <a:spcBef>
                    <a:spcPts val="600"/>
                  </a:spcBef>
                </a:pPr>
                <a:r>
                  <a:rPr lang="zh-CN" altLang="zh-CN" sz="2400" b="1" dirty="0">
                    <a:solidFill>
                      <a:srgbClr val="C00000"/>
                    </a:solidFill>
                    <a:latin typeface="黑体" panose="02010609060101010101" pitchFamily="49" charset="-122"/>
                    <a:cs typeface="Times New Roman" panose="02020603050405020304" pitchFamily="18" charset="0"/>
                  </a:rPr>
                  <a:t>引理</a:t>
                </a:r>
                <a:r>
                  <a:rPr lang="en-US" altLang="zh-CN" sz="2400" b="1" dirty="0" smtClean="0">
                    <a:solidFill>
                      <a:srgbClr val="C00000"/>
                    </a:solidFill>
                    <a:latin typeface="Times New Roman" panose="02020603050405020304" pitchFamily="18" charset="0"/>
                    <a:cs typeface="Times New Roman" panose="02020603050405020304" pitchFamily="18" charset="0"/>
                  </a:rPr>
                  <a:t>7.3  </a:t>
                </a:r>
                <a:r>
                  <a:rPr lang="zh-CN" altLang="en-US" sz="2400" b="1" dirty="0" smtClean="0">
                    <a:latin typeface="Times New Roman" panose="02020603050405020304" pitchFamily="18" charset="0"/>
                    <a:cs typeface="Times New Roman" panose="02020603050405020304" pitchFamily="18" charset="0"/>
                  </a:rPr>
                  <a:t>设 </a:t>
                </a:r>
                <a:r>
                  <a:rPr lang="en-US" altLang="zh-CN" sz="2400" b="1" i="1" dirty="0">
                    <a:latin typeface="Times New Roman" panose="02020603050405020304" pitchFamily="18" charset="0"/>
                    <a:cs typeface="Times New Roman" panose="02020603050405020304" pitchFamily="18" charset="0"/>
                  </a:rPr>
                  <a:t>f </a:t>
                </a:r>
                <a:r>
                  <a:rPr lang="zh-CN" altLang="en-US" sz="2400" b="1" dirty="0">
                    <a:latin typeface="Times New Roman" panose="02020603050405020304" pitchFamily="18" charset="0"/>
                    <a:cs typeface="Times New Roman" panose="02020603050405020304" pitchFamily="18" charset="0"/>
                  </a:rPr>
                  <a:t>是任一可行流</a:t>
                </a:r>
                <a:r>
                  <a:rPr lang="en-US" altLang="zh-CN" sz="2400" b="1" dirty="0">
                    <a:latin typeface="Times New Roman" panose="02020603050405020304" pitchFamily="18" charset="0"/>
                    <a:cs typeface="Times New Roman" panose="02020603050405020304" pitchFamily="18" charset="0"/>
                  </a:rPr>
                  <a:t>, </a:t>
                </a:r>
                <a14:m>
                  <m:oMath xmlns:m="http://schemas.openxmlformats.org/officeDocument/2006/math">
                    <m:d>
                      <m:dPr>
                        <m:ctrlPr>
                          <a:rPr lang="en-US" altLang="zh-CN" sz="2400" b="1" i="1">
                            <a:latin typeface="Cambria Math" panose="02040503050406030204" pitchFamily="18" charset="0"/>
                            <a:cs typeface="Times New Roman" panose="02020603050405020304" pitchFamily="18" charset="0"/>
                          </a:rPr>
                        </m:ctrlPr>
                      </m:dPr>
                      <m:e>
                        <m:r>
                          <a:rPr lang="en-US" altLang="zh-CN" sz="2400" b="1" i="1">
                            <a:latin typeface="Cambria Math" panose="02040503050406030204" pitchFamily="18" charset="0"/>
                            <a:cs typeface="Times New Roman" panose="02020603050405020304" pitchFamily="18" charset="0"/>
                          </a:rPr>
                          <m:t>𝑨</m:t>
                        </m:r>
                        <m:r>
                          <a:rPr lang="en-US" altLang="zh-CN" sz="2400" b="1" i="1">
                            <a:latin typeface="Cambria Math" panose="02040503050406030204" pitchFamily="18" charset="0"/>
                            <a:cs typeface="Times New Roman" panose="02020603050405020304" pitchFamily="18" charset="0"/>
                          </a:rPr>
                          <m:t>,</m:t>
                        </m:r>
                        <m:acc>
                          <m:accPr>
                            <m:chr m:val="̅"/>
                            <m:ctrlPr>
                              <a:rPr lang="en-US" altLang="zh-CN" sz="2400" b="1" i="1">
                                <a:latin typeface="Cambria Math" panose="02040503050406030204" pitchFamily="18" charset="0"/>
                                <a:cs typeface="Times New Roman" panose="02020603050405020304" pitchFamily="18" charset="0"/>
                              </a:rPr>
                            </m:ctrlPr>
                          </m:accPr>
                          <m:e>
                            <m:r>
                              <a:rPr lang="en-US" altLang="zh-CN" sz="2400" b="1" i="1">
                                <a:latin typeface="Cambria Math" panose="02040503050406030204" pitchFamily="18" charset="0"/>
                                <a:cs typeface="Times New Roman" panose="02020603050405020304" pitchFamily="18" charset="0"/>
                              </a:rPr>
                              <m:t>𝑨</m:t>
                            </m:r>
                          </m:e>
                        </m:acc>
                      </m:e>
                    </m:d>
                  </m:oMath>
                </a14:m>
                <a:r>
                  <a:rPr lang="zh-CN" altLang="en-US" sz="2400" b="1" dirty="0">
                    <a:latin typeface="Times New Roman" panose="02020603050405020304" pitchFamily="18" charset="0"/>
                    <a:cs typeface="Times New Roman" panose="02020603050405020304" pitchFamily="18" charset="0"/>
                  </a:rPr>
                  <a:t>是任一割集</a:t>
                </a:r>
                <a:r>
                  <a:rPr lang="zh-CN" altLang="en-US" sz="2400" b="1" dirty="0" smtClean="0">
                    <a:latin typeface="Times New Roman" panose="02020603050405020304" pitchFamily="18" charset="0"/>
                    <a:cs typeface="Times New Roman" panose="02020603050405020304" pitchFamily="18" charset="0"/>
                  </a:rPr>
                  <a:t>，如果 </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 </a:t>
                </a:r>
                <a:r>
                  <a:rPr lang="en-US" altLang="zh-CN" sz="2400" b="1" dirty="0" smtClean="0">
                    <a:latin typeface="Times New Roman" panose="02020603050405020304" pitchFamily="18" charset="0"/>
                    <a:cs typeface="Times New Roman" panose="02020603050405020304" pitchFamily="18" charset="0"/>
                  </a:rPr>
                  <a:t>) = </a:t>
                </a:r>
                <a14:m>
                  <m:oMath xmlns:m="http://schemas.openxmlformats.org/officeDocument/2006/math">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𝒄</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𝑨</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𝑨</m:t>
                        </m:r>
                      </m:e>
                    </m:acc>
                    <m:r>
                      <a:rPr lang="en-US" altLang="zh-CN" sz="2400" b="1" i="1" smtClean="0">
                        <a:latin typeface="Cambria Math" panose="02040503050406030204" pitchFamily="18" charset="0"/>
                        <a:cs typeface="Times New Roman" panose="02020603050405020304" pitchFamily="18" charset="0"/>
                      </a:rPr>
                      <m:t>)</m:t>
                    </m:r>
                  </m:oMath>
                </a14:m>
                <a:r>
                  <a:rPr lang="zh-CN" altLang="en-US" sz="2400" b="1" dirty="0" smtClean="0"/>
                  <a:t>，则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t>是最大流，</a:t>
                </a:r>
                <a14:m>
                  <m:oMath xmlns:m="http://schemas.openxmlformats.org/officeDocument/2006/math">
                    <m:d>
                      <m:dPr>
                        <m:ctrlPr>
                          <a:rPr lang="en-US" altLang="zh-CN" sz="2400" b="1" i="1" smtClean="0">
                            <a:latin typeface="Cambria Math" panose="02040503050406030204" pitchFamily="18" charset="0"/>
                            <a:cs typeface="Times New Roman" panose="02020603050405020304" pitchFamily="18" charset="0"/>
                          </a:rPr>
                        </m:ctrlPr>
                      </m:dPr>
                      <m:e>
                        <m:r>
                          <a:rPr lang="en-US" altLang="zh-CN" sz="2400" b="1" i="1">
                            <a:latin typeface="Cambria Math" panose="02040503050406030204" pitchFamily="18" charset="0"/>
                            <a:cs typeface="Times New Roman" panose="02020603050405020304" pitchFamily="18" charset="0"/>
                          </a:rPr>
                          <m:t>𝑨</m:t>
                        </m:r>
                        <m:r>
                          <a:rPr lang="en-US" altLang="zh-CN" sz="2400" b="1" i="1">
                            <a:latin typeface="Cambria Math" panose="02040503050406030204" pitchFamily="18" charset="0"/>
                            <a:cs typeface="Times New Roman" panose="02020603050405020304" pitchFamily="18" charset="0"/>
                          </a:rPr>
                          <m:t>,</m:t>
                        </m:r>
                        <m:acc>
                          <m:accPr>
                            <m:chr m:val="̅"/>
                            <m:ctrlPr>
                              <a:rPr lang="en-US" altLang="zh-CN" sz="2400" b="1" i="1">
                                <a:latin typeface="Cambria Math" panose="02040503050406030204" pitchFamily="18" charset="0"/>
                                <a:cs typeface="Times New Roman" panose="02020603050405020304" pitchFamily="18" charset="0"/>
                              </a:rPr>
                            </m:ctrlPr>
                          </m:accPr>
                          <m:e>
                            <m:r>
                              <a:rPr lang="en-US" altLang="zh-CN" sz="2400" b="1" i="1">
                                <a:latin typeface="Cambria Math" panose="02040503050406030204" pitchFamily="18" charset="0"/>
                                <a:cs typeface="Times New Roman" panose="02020603050405020304" pitchFamily="18" charset="0"/>
                              </a:rPr>
                              <m:t>𝑨</m:t>
                            </m:r>
                          </m:e>
                        </m:acc>
                      </m:e>
                    </m:d>
                  </m:oMath>
                </a14:m>
                <a:r>
                  <a:rPr lang="zh-CN" altLang="en-US" sz="2400" b="1" dirty="0" smtClean="0">
                    <a:latin typeface="Times New Roman" panose="02020603050405020304" pitchFamily="18" charset="0"/>
                    <a:cs typeface="Times New Roman" panose="02020603050405020304" pitchFamily="18" charset="0"/>
                  </a:rPr>
                  <a:t>是最小割集</a:t>
                </a:r>
                <a:r>
                  <a:rPr lang="en-US" altLang="zh-CN" sz="2400" b="1" dirty="0" smtClean="0">
                    <a:latin typeface="Times New Roman" panose="02020603050405020304" pitchFamily="18" charset="0"/>
                    <a:cs typeface="Times New Roman" panose="02020603050405020304" pitchFamily="18" charset="0"/>
                  </a:rPr>
                  <a:t>. </a:t>
                </a:r>
                <a:endParaRPr kumimoji="0" lang="en-US" altLang="zh-CN" sz="2400" b="1" i="0" u="none" strike="noStrike" cap="none" normalizeH="0" baseline="0" dirty="0" smtClean="0">
                  <a:ln>
                    <a:noFill/>
                  </a:ln>
                  <a:solidFill>
                    <a:schemeClr val="tx1"/>
                  </a:solidFill>
                  <a:effectLst/>
                  <a:ea typeface="宋体" panose="02010600030101010101" pitchFamily="2" charset="-122"/>
                </a:endParaRPr>
              </a:p>
            </p:txBody>
          </p:sp>
        </mc:Choice>
        <mc:Fallback>
          <p:sp>
            <p:nvSpPr>
              <p:cNvPr id="7" name="Rectangle 20"/>
              <p:cNvSpPr>
                <a:spLocks noRot="1" noChangeAspect="1" noMove="1" noResize="1" noEditPoints="1" noAdjustHandles="1" noChangeArrowheads="1" noChangeShapeType="1" noTextEdit="1"/>
              </p:cNvSpPr>
              <p:nvPr/>
            </p:nvSpPr>
            <p:spPr bwMode="auto">
              <a:xfrm>
                <a:off x="598152" y="4436200"/>
                <a:ext cx="7905477" cy="1862048"/>
              </a:xfrm>
              <a:prstGeom prst="rect">
                <a:avLst/>
              </a:prstGeom>
              <a:blipFill rotWithShape="1">
                <a:blip r:embed="rId7"/>
                <a:stretch>
                  <a:fillRect l="-8" t="-5" r="4" b="1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ctrTitle"/>
          </p:nvPr>
        </p:nvSpPr>
        <p:spPr>
          <a:xfrm>
            <a:off x="663575" y="343545"/>
            <a:ext cx="7772400" cy="865187"/>
          </a:xfrm>
        </p:spPr>
        <p:txBody>
          <a:bodyPr/>
          <a:lstStyle/>
          <a:p>
            <a:pPr eaLnBrk="1" hangingPunct="1"/>
            <a:r>
              <a:rPr lang="en-US" altLang="zh-CN" sz="4000" b="1" dirty="0" smtClean="0">
                <a:solidFill>
                  <a:srgbClr val="C00000"/>
                </a:solidFill>
                <a:latin typeface="Times New Roman" panose="02020603050405020304" pitchFamily="18" charset="0"/>
                <a:cs typeface="Times New Roman" panose="02020603050405020304" pitchFamily="18" charset="0"/>
              </a:rPr>
              <a:t>7.1.2 Ford-Fulkerson</a:t>
            </a:r>
            <a:r>
              <a:rPr lang="zh-CN" altLang="en-US" sz="4000" b="1" dirty="0" smtClean="0">
                <a:solidFill>
                  <a:srgbClr val="C00000"/>
                </a:solidFill>
                <a:latin typeface="Times New Roman" panose="02020603050405020304" pitchFamily="18" charset="0"/>
                <a:cs typeface="Times New Roman" panose="02020603050405020304" pitchFamily="18" charset="0"/>
              </a:rPr>
              <a:t>算法</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
        <p:nvSpPr>
          <p:cNvPr id="10243" name="副标题 2"/>
          <p:cNvSpPr>
            <a:spLocks noGrp="1"/>
          </p:cNvSpPr>
          <p:nvPr>
            <p:ph type="subTitle" idx="1"/>
          </p:nvPr>
        </p:nvSpPr>
        <p:spPr>
          <a:xfrm>
            <a:off x="660400" y="1412776"/>
            <a:ext cx="7775575" cy="4535487"/>
          </a:xfrm>
        </p:spPr>
        <p:txBody>
          <a:bodyPr/>
          <a:lstStyle/>
          <a:p>
            <a:pPr algn="l">
              <a:lnSpc>
                <a:spcPts val="3200"/>
              </a:lnSpc>
            </a:pPr>
            <a:r>
              <a:rPr lang="zh-CN" altLang="en-US" sz="2400" b="1" dirty="0" smtClean="0">
                <a:solidFill>
                  <a:srgbClr val="C00000"/>
                </a:solidFill>
                <a:latin typeface="Times New Roman" panose="02020603050405020304" pitchFamily="18" charset="0"/>
                <a:cs typeface="Times New Roman" panose="02020603050405020304" pitchFamily="18" charset="0"/>
              </a:rPr>
              <a:t>定义</a:t>
            </a:r>
            <a:r>
              <a:rPr lang="en-US" altLang="zh-CN" sz="2400" b="1" dirty="0" smtClean="0">
                <a:solidFill>
                  <a:srgbClr val="C00000"/>
                </a:solidFill>
                <a:latin typeface="Times New Roman" panose="02020603050405020304" pitchFamily="18" charset="0"/>
                <a:cs typeface="Times New Roman" panose="02020603050405020304" pitchFamily="18" charset="0"/>
              </a:rPr>
              <a:t>7.3</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设</a:t>
            </a:r>
            <a:r>
              <a:rPr lang="zh-CN" altLang="en-US" sz="2400" b="1" dirty="0" smtClean="0">
                <a:solidFill>
                  <a:schemeClr val="tx1"/>
                </a:solidFill>
                <a:latin typeface="Times New Roman" panose="02020603050405020304" pitchFamily="18" charset="0"/>
                <a:cs typeface="Times New Roman" panose="02020603050405020304" pitchFamily="18" charset="0"/>
              </a:rPr>
              <a:t>容量网络 </a:t>
            </a:r>
            <a:r>
              <a:rPr lang="en-US" altLang="zh-CN" sz="2400" b="1" i="1" dirty="0" smtClean="0">
                <a:solidFill>
                  <a:schemeClr val="tx1"/>
                </a:solidFill>
                <a:latin typeface="Times New Roman" panose="02020603050405020304" pitchFamily="18" charset="0"/>
                <a:cs typeface="Times New Roman" panose="02020603050405020304" pitchFamily="18" charset="0"/>
              </a:rPr>
              <a:t>N </a:t>
            </a:r>
            <a:r>
              <a:rPr lang="en-US" altLang="zh-CN" sz="2400" b="1" dirty="0" smtClean="0">
                <a:solidFill>
                  <a:schemeClr val="tx1"/>
                </a:solidFill>
                <a:latin typeface="Times New Roman" panose="02020603050405020304" pitchFamily="18" charset="0"/>
                <a:cs typeface="Times New Roman" panose="02020603050405020304" pitchFamily="18" charset="0"/>
              </a:rPr>
              <a:t>= &lt;</a:t>
            </a:r>
            <a:r>
              <a:rPr lang="en-US" altLang="zh-CN" sz="2400" b="1" i="1" dirty="0" smtClean="0">
                <a:solidFill>
                  <a:schemeClr val="tx1"/>
                </a:solidFill>
                <a:latin typeface="Times New Roman" panose="02020603050405020304" pitchFamily="18" charset="0"/>
                <a:cs typeface="Times New Roman" panose="02020603050405020304" pitchFamily="18" charset="0"/>
              </a:rPr>
              <a:t>V</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E</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c</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t </a:t>
            </a:r>
            <a:r>
              <a:rPr lang="en-US" altLang="zh-CN" sz="2400" b="1" dirty="0" smtClean="0">
                <a:solidFill>
                  <a:schemeClr val="tx1"/>
                </a:solidFill>
                <a:latin typeface="Times New Roman" panose="02020603050405020304" pitchFamily="18" charset="0"/>
                <a:cs typeface="Times New Roman" panose="02020603050405020304" pitchFamily="18" charset="0"/>
              </a:rPr>
              <a:t>&gt;,  </a:t>
            </a:r>
            <a:r>
              <a:rPr lang="en-US" altLang="zh-CN" sz="2400" b="1" i="1" dirty="0" smtClean="0">
                <a:solidFill>
                  <a:schemeClr val="tx1"/>
                </a:solidFill>
                <a:latin typeface="Times New Roman" panose="02020603050405020304" pitchFamily="18" charset="0"/>
                <a:cs typeface="Times New Roman" panose="02020603050405020304" pitchFamily="18" charset="0"/>
              </a:rPr>
              <a:t>f </a:t>
            </a:r>
            <a:r>
              <a:rPr lang="zh-CN" altLang="en-US" sz="2400" b="1" dirty="0" smtClean="0">
                <a:solidFill>
                  <a:schemeClr val="tx1"/>
                </a:solidFill>
                <a:latin typeface="Times New Roman" panose="02020603050405020304" pitchFamily="18" charset="0"/>
                <a:cs typeface="Times New Roman" panose="02020603050405020304" pitchFamily="18" charset="0"/>
              </a:rPr>
              <a:t>是 </a:t>
            </a:r>
            <a:r>
              <a:rPr lang="en-US" altLang="zh-CN" sz="2400" b="1" i="1" dirty="0" smtClean="0">
                <a:solidFill>
                  <a:schemeClr val="tx1"/>
                </a:solidFill>
                <a:latin typeface="Times New Roman" panose="02020603050405020304" pitchFamily="18" charset="0"/>
                <a:cs typeface="Times New Roman" panose="02020603050405020304" pitchFamily="18" charset="0"/>
              </a:rPr>
              <a:t>N </a:t>
            </a:r>
            <a:r>
              <a:rPr lang="zh-CN" altLang="en-US" sz="2400" b="1" dirty="0" smtClean="0">
                <a:solidFill>
                  <a:schemeClr val="tx1"/>
                </a:solidFill>
                <a:latin typeface="Times New Roman" panose="02020603050405020304" pitchFamily="18" charset="0"/>
                <a:cs typeface="Times New Roman" panose="02020603050405020304" pitchFamily="18" charset="0"/>
              </a:rPr>
              <a:t>上的一个可行流</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N </a:t>
            </a:r>
            <a:r>
              <a:rPr lang="zh-CN" altLang="en-US" sz="2400" b="1" dirty="0" smtClean="0">
                <a:solidFill>
                  <a:schemeClr val="tx1"/>
                </a:solidFill>
                <a:latin typeface="Times New Roman" panose="02020603050405020304" pitchFamily="18" charset="0"/>
                <a:cs typeface="Times New Roman" panose="02020603050405020304" pitchFamily="18" charset="0"/>
              </a:rPr>
              <a:t>中流量等于容量的边称作</a:t>
            </a:r>
            <a:r>
              <a:rPr lang="zh-CN" altLang="en-US" sz="2400" b="1" dirty="0" smtClean="0">
                <a:solidFill>
                  <a:srgbClr val="C00000"/>
                </a:solidFill>
                <a:latin typeface="Times New Roman" panose="02020603050405020304" pitchFamily="18" charset="0"/>
                <a:cs typeface="Times New Roman" panose="02020603050405020304" pitchFamily="18" charset="0"/>
              </a:rPr>
              <a:t>饱和边 </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流量小于容量的边称作</a:t>
            </a:r>
            <a:r>
              <a:rPr lang="zh-CN" altLang="en-US" sz="2400" b="1" dirty="0" smtClean="0">
                <a:solidFill>
                  <a:srgbClr val="C00000"/>
                </a:solidFill>
                <a:latin typeface="Times New Roman" panose="02020603050405020304" pitchFamily="18" charset="0"/>
                <a:cs typeface="Times New Roman" panose="02020603050405020304" pitchFamily="18" charset="0"/>
              </a:rPr>
              <a:t>非饱和边</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流量等于 </a:t>
            </a:r>
            <a:r>
              <a:rPr lang="en-US" altLang="zh-CN" sz="2400" b="1" dirty="0" smtClean="0">
                <a:solidFill>
                  <a:schemeClr val="tx1"/>
                </a:solidFill>
                <a:latin typeface="Times New Roman" panose="02020603050405020304" pitchFamily="18" charset="0"/>
                <a:cs typeface="Times New Roman" panose="02020603050405020304" pitchFamily="18" charset="0"/>
              </a:rPr>
              <a:t>0 </a:t>
            </a:r>
            <a:r>
              <a:rPr lang="zh-CN" altLang="en-US" sz="2400" b="1" dirty="0" smtClean="0">
                <a:solidFill>
                  <a:schemeClr val="tx1"/>
                </a:solidFill>
                <a:latin typeface="Times New Roman" panose="02020603050405020304" pitchFamily="18" charset="0"/>
                <a:cs typeface="Times New Roman" panose="02020603050405020304" pitchFamily="18" charset="0"/>
              </a:rPr>
              <a:t>的边称作</a:t>
            </a:r>
            <a:r>
              <a:rPr lang="zh-CN" altLang="en-US" sz="2400" b="1" dirty="0" smtClean="0">
                <a:solidFill>
                  <a:srgbClr val="C00000"/>
                </a:solidFill>
                <a:latin typeface="Times New Roman" panose="02020603050405020304" pitchFamily="18" charset="0"/>
                <a:cs typeface="Times New Roman" panose="02020603050405020304" pitchFamily="18" charset="0"/>
              </a:rPr>
              <a:t>零流边</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流量大于 </a:t>
            </a:r>
            <a:r>
              <a:rPr lang="en-US" altLang="zh-CN" sz="2400" b="1" dirty="0" smtClean="0">
                <a:solidFill>
                  <a:schemeClr val="tx1"/>
                </a:solidFill>
                <a:latin typeface="Times New Roman" panose="02020603050405020304" pitchFamily="18" charset="0"/>
                <a:cs typeface="Times New Roman" panose="02020603050405020304" pitchFamily="18" charset="0"/>
              </a:rPr>
              <a:t>0 </a:t>
            </a:r>
            <a:r>
              <a:rPr lang="zh-CN" altLang="en-US" sz="2400" b="1" dirty="0" smtClean="0">
                <a:solidFill>
                  <a:schemeClr val="tx1"/>
                </a:solidFill>
                <a:latin typeface="Times New Roman" panose="02020603050405020304" pitchFamily="18" charset="0"/>
                <a:cs typeface="Times New Roman" panose="02020603050405020304" pitchFamily="18" charset="0"/>
              </a:rPr>
              <a:t>的边称作</a:t>
            </a:r>
            <a:r>
              <a:rPr lang="zh-CN" altLang="en-US" sz="2400" b="1" dirty="0" smtClean="0">
                <a:solidFill>
                  <a:srgbClr val="C00000"/>
                </a:solidFill>
                <a:latin typeface="Times New Roman" panose="02020603050405020304" pitchFamily="18" charset="0"/>
                <a:cs typeface="Times New Roman" panose="02020603050405020304" pitchFamily="18" charset="0"/>
              </a:rPr>
              <a:t>非零流边</a:t>
            </a:r>
            <a:r>
              <a:rPr lang="en-US" altLang="zh-CN" sz="2400" b="1" dirty="0" smtClean="0">
                <a:solidFill>
                  <a:schemeClr val="tx1"/>
                </a:solidFill>
                <a:latin typeface="Times New Roman" panose="02020603050405020304" pitchFamily="18" charset="0"/>
                <a:cs typeface="Times New Roman" panose="02020603050405020304" pitchFamily="18" charset="0"/>
              </a:rPr>
              <a:t>.</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lnSpc>
                <a:spcPts val="3200"/>
              </a:lnSpc>
              <a:spcBef>
                <a:spcPts val="1800"/>
              </a:spcBef>
            </a:pPr>
            <a:r>
              <a:rPr lang="zh-CN" altLang="en-US" sz="2400" b="1" dirty="0" smtClean="0">
                <a:solidFill>
                  <a:schemeClr val="tx1"/>
                </a:solidFill>
                <a:latin typeface="Times New Roman" panose="02020603050405020304" pitchFamily="18" charset="0"/>
                <a:cs typeface="Times New Roman" panose="02020603050405020304" pitchFamily="18" charset="0"/>
              </a:rPr>
              <a:t>不考虑边的方向</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N</a:t>
            </a:r>
            <a:r>
              <a:rPr lang="zh-CN" altLang="en-US" sz="2400" b="1" dirty="0" smtClean="0">
                <a:solidFill>
                  <a:schemeClr val="tx1"/>
                </a:solidFill>
                <a:latin typeface="Times New Roman" panose="02020603050405020304" pitchFamily="18" charset="0"/>
                <a:cs typeface="Times New Roman" panose="02020603050405020304" pitchFamily="18" charset="0"/>
              </a:rPr>
              <a:t>中从顶点 </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i="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到 </a:t>
            </a:r>
            <a:r>
              <a:rPr lang="en-US" altLang="zh-CN" sz="2400" b="1" i="1" dirty="0" smtClean="0">
                <a:solidFill>
                  <a:schemeClr val="tx1"/>
                </a:solidFill>
                <a:latin typeface="Times New Roman" panose="02020603050405020304" pitchFamily="18" charset="0"/>
                <a:cs typeface="Times New Roman" panose="02020603050405020304" pitchFamily="18" charset="0"/>
              </a:rPr>
              <a:t>j </a:t>
            </a:r>
            <a:r>
              <a:rPr lang="zh-CN" altLang="en-US" sz="2400" b="1" dirty="0" smtClean="0">
                <a:solidFill>
                  <a:schemeClr val="tx1"/>
                </a:solidFill>
                <a:latin typeface="Times New Roman" panose="02020603050405020304" pitchFamily="18" charset="0"/>
                <a:cs typeface="Times New Roman" panose="02020603050405020304" pitchFamily="18" charset="0"/>
              </a:rPr>
              <a:t>的一条边不重复的路径称作 </a:t>
            </a:r>
            <a:r>
              <a:rPr lang="en-US" altLang="zh-CN" sz="2400" b="1" i="1" dirty="0" err="1" smtClean="0">
                <a:solidFill>
                  <a:srgbClr val="C00000"/>
                </a:solidFill>
                <a:latin typeface="Times New Roman" panose="02020603050405020304" pitchFamily="18" charset="0"/>
                <a:cs typeface="Times New Roman" panose="02020603050405020304" pitchFamily="18" charset="0"/>
              </a:rPr>
              <a:t>i</a:t>
            </a:r>
            <a:r>
              <a:rPr lang="en-US" altLang="zh-CN" sz="2400" b="1" dirty="0" smtClean="0">
                <a:solidFill>
                  <a:srgbClr val="C00000"/>
                </a:solidFill>
                <a:latin typeface="Times New Roman" panose="02020603050405020304" pitchFamily="18" charset="0"/>
                <a:cs typeface="Times New Roman" panose="02020603050405020304" pitchFamily="18" charset="0"/>
              </a:rPr>
              <a:t>-</a:t>
            </a:r>
            <a:r>
              <a:rPr lang="en-US" altLang="zh-CN" sz="2400" b="1" i="1" dirty="0" smtClean="0">
                <a:solidFill>
                  <a:srgbClr val="C00000"/>
                </a:solidFill>
                <a:latin typeface="Times New Roman" panose="02020603050405020304" pitchFamily="18" charset="0"/>
                <a:cs typeface="Times New Roman" panose="02020603050405020304" pitchFamily="18" charset="0"/>
              </a:rPr>
              <a:t>j </a:t>
            </a:r>
            <a:r>
              <a:rPr lang="zh-CN" altLang="en-US" sz="2400" b="1" dirty="0" smtClean="0">
                <a:solidFill>
                  <a:srgbClr val="C00000"/>
                </a:solidFill>
                <a:latin typeface="Times New Roman" panose="02020603050405020304" pitchFamily="18" charset="0"/>
                <a:cs typeface="Times New Roman" panose="02020603050405020304" pitchFamily="18" charset="0"/>
              </a:rPr>
              <a:t>链</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j </a:t>
            </a:r>
            <a:r>
              <a:rPr lang="zh-CN" altLang="en-US" sz="2400" b="1" dirty="0" smtClean="0">
                <a:solidFill>
                  <a:schemeClr val="tx1"/>
                </a:solidFill>
                <a:latin typeface="Times New Roman" panose="02020603050405020304" pitchFamily="18" charset="0"/>
                <a:cs typeface="Times New Roman" panose="02020603050405020304" pitchFamily="18" charset="0"/>
              </a:rPr>
              <a:t>链的方向是从 </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i="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到 </a:t>
            </a:r>
            <a:r>
              <a:rPr lang="en-US" altLang="zh-CN" sz="2400" b="1" i="1" dirty="0"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  </a:t>
            </a:r>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a:lnSpc>
                <a:spcPts val="3200"/>
              </a:lnSpc>
              <a:spcBef>
                <a:spcPts val="600"/>
              </a:spcBef>
            </a:pPr>
            <a:r>
              <a:rPr lang="zh-CN" altLang="en-US" sz="2400" b="1" dirty="0" smtClean="0">
                <a:solidFill>
                  <a:schemeClr val="tx1"/>
                </a:solidFill>
                <a:latin typeface="Times New Roman" panose="02020603050405020304" pitchFamily="18" charset="0"/>
                <a:cs typeface="Times New Roman" panose="02020603050405020304" pitchFamily="18" charset="0"/>
              </a:rPr>
              <a:t>链中与链的方向一致的边称作</a:t>
            </a:r>
            <a:r>
              <a:rPr lang="zh-CN" altLang="en-US" sz="2400" b="1" dirty="0" smtClean="0">
                <a:solidFill>
                  <a:srgbClr val="C00000"/>
                </a:solidFill>
                <a:latin typeface="Times New Roman" panose="02020603050405020304" pitchFamily="18" charset="0"/>
                <a:cs typeface="Times New Roman" panose="02020603050405020304" pitchFamily="18" charset="0"/>
              </a:rPr>
              <a:t>前向边</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与链的方向相反的边称作</a:t>
            </a:r>
            <a:r>
              <a:rPr lang="zh-CN" altLang="en-US" sz="2400" b="1" dirty="0" smtClean="0">
                <a:solidFill>
                  <a:srgbClr val="C00000"/>
                </a:solidFill>
                <a:latin typeface="Times New Roman" panose="02020603050405020304" pitchFamily="18" charset="0"/>
                <a:cs typeface="Times New Roman" panose="02020603050405020304" pitchFamily="18" charset="0"/>
              </a:rPr>
              <a:t>后向边</a:t>
            </a:r>
            <a:r>
              <a:rPr lang="en-US" altLang="zh-CN" sz="2400" b="1" dirty="0" smtClean="0">
                <a:solidFill>
                  <a:schemeClr val="tx1"/>
                </a:solidFill>
                <a:latin typeface="Times New Roman" panose="02020603050405020304" pitchFamily="18" charset="0"/>
                <a:cs typeface="Times New Roman" panose="02020603050405020304" pitchFamily="18" charset="0"/>
              </a:rPr>
              <a:t>. </a:t>
            </a:r>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a:lnSpc>
                <a:spcPts val="3200"/>
              </a:lnSpc>
            </a:pPr>
            <a:r>
              <a:rPr lang="zh-CN" altLang="en-US" sz="2400" b="1" dirty="0" smtClean="0">
                <a:solidFill>
                  <a:schemeClr val="tx1"/>
                </a:solidFill>
                <a:latin typeface="Times New Roman" panose="02020603050405020304" pitchFamily="18" charset="0"/>
                <a:cs typeface="Times New Roman" panose="02020603050405020304" pitchFamily="18" charset="0"/>
              </a:rPr>
              <a:t>如果链中所有前向边都是非饱和的</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所有后向边都是非零流的</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则称这条链为 </a:t>
            </a:r>
            <a:r>
              <a:rPr lang="en-US" altLang="zh-CN" sz="2400" b="1" i="1" dirty="0" err="1" smtClean="0">
                <a:solidFill>
                  <a:srgbClr val="C00000"/>
                </a:solidFill>
                <a:latin typeface="Times New Roman" panose="02020603050405020304" pitchFamily="18" charset="0"/>
                <a:cs typeface="Times New Roman" panose="02020603050405020304" pitchFamily="18" charset="0"/>
              </a:rPr>
              <a:t>i</a:t>
            </a:r>
            <a:r>
              <a:rPr lang="en-US" altLang="zh-CN" sz="2400" b="1" dirty="0" smtClean="0">
                <a:solidFill>
                  <a:srgbClr val="C00000"/>
                </a:solidFill>
                <a:latin typeface="Times New Roman" panose="02020603050405020304" pitchFamily="18" charset="0"/>
                <a:cs typeface="Times New Roman" panose="02020603050405020304" pitchFamily="18" charset="0"/>
              </a:rPr>
              <a:t>-</a:t>
            </a:r>
            <a:r>
              <a:rPr lang="en-US" altLang="zh-CN" sz="2400" b="1" i="1" dirty="0" smtClean="0">
                <a:solidFill>
                  <a:srgbClr val="C00000"/>
                </a:solidFill>
                <a:latin typeface="Times New Roman" panose="02020603050405020304" pitchFamily="18" charset="0"/>
                <a:cs typeface="Times New Roman" panose="02020603050405020304" pitchFamily="18" charset="0"/>
              </a:rPr>
              <a:t>j </a:t>
            </a:r>
            <a:r>
              <a:rPr lang="zh-CN" altLang="en-US" sz="2400" b="1" dirty="0" smtClean="0">
                <a:solidFill>
                  <a:srgbClr val="C00000"/>
                </a:solidFill>
                <a:latin typeface="Times New Roman" panose="02020603050405020304" pitchFamily="18" charset="0"/>
                <a:cs typeface="Times New Roman" panose="02020603050405020304" pitchFamily="18" charset="0"/>
              </a:rPr>
              <a:t>增广链</a:t>
            </a:r>
            <a:r>
              <a:rPr lang="en-US" altLang="zh-CN" sz="2400" b="1" dirty="0" smtClean="0">
                <a:solidFill>
                  <a:schemeClr val="tx1"/>
                </a:solidFill>
                <a:latin typeface="Times New Roman" panose="02020603050405020304" pitchFamily="18" charset="0"/>
                <a:cs typeface="Times New Roman" panose="02020603050405020304" pitchFamily="18" charset="0"/>
              </a:rPr>
              <a:t>. </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p:txBody>
      </p:sp>
      <p:sp>
        <p:nvSpPr>
          <p:cNvPr id="1024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DB07E72-8CF3-41A9-99C8-813CDF78CD8C}"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ctrTitle"/>
          </p:nvPr>
        </p:nvSpPr>
        <p:spPr>
          <a:xfrm>
            <a:off x="685800" y="476250"/>
            <a:ext cx="7772400" cy="865188"/>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最大流的性质</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11267" name="副标题 2"/>
          <p:cNvSpPr>
            <a:spLocks noGrp="1"/>
          </p:cNvSpPr>
          <p:nvPr>
            <p:ph type="subTitle" idx="1"/>
          </p:nvPr>
        </p:nvSpPr>
        <p:spPr>
          <a:xfrm>
            <a:off x="684213" y="1341438"/>
            <a:ext cx="7775575" cy="4895850"/>
          </a:xfrm>
        </p:spPr>
        <p:txBody>
          <a:bodyPr/>
          <a:lstStyle/>
          <a:p>
            <a:pPr algn="l"/>
            <a:r>
              <a:rPr lang="zh-CN" altLang="en-US" sz="2400" b="1" dirty="0" smtClean="0">
                <a:solidFill>
                  <a:schemeClr val="tx1"/>
                </a:solidFill>
                <a:latin typeface="Times New Roman" panose="02020603050405020304" pitchFamily="18" charset="0"/>
                <a:cs typeface="Times New Roman" panose="02020603050405020304" pitchFamily="18" charset="0"/>
              </a:rPr>
              <a:t>设 </a:t>
            </a:r>
            <a:r>
              <a:rPr lang="en-US" altLang="zh-CN" sz="2400" b="1" i="1" dirty="0" smtClean="0">
                <a:solidFill>
                  <a:schemeClr val="tx1"/>
                </a:solidFill>
                <a:latin typeface="Times New Roman" panose="02020603050405020304" pitchFamily="18" charset="0"/>
                <a:cs typeface="Times New Roman" panose="02020603050405020304" pitchFamily="18" charset="0"/>
              </a:rPr>
              <a:t>P </a:t>
            </a:r>
            <a:r>
              <a:rPr lang="zh-CN" altLang="en-US" sz="2400" b="1" dirty="0" smtClean="0">
                <a:solidFill>
                  <a:schemeClr val="tx1"/>
                </a:solidFill>
                <a:latin typeface="Times New Roman" panose="02020603050405020304" pitchFamily="18" charset="0"/>
                <a:cs typeface="Times New Roman" panose="02020603050405020304" pitchFamily="18" charset="0"/>
              </a:rPr>
              <a:t>是一条关于可行流 </a:t>
            </a:r>
            <a:r>
              <a:rPr lang="en-US" altLang="zh-CN" sz="2400" b="1" i="1" dirty="0" smtClean="0">
                <a:solidFill>
                  <a:schemeClr val="tx1"/>
                </a:solidFill>
                <a:latin typeface="Times New Roman" panose="02020603050405020304" pitchFamily="18" charset="0"/>
                <a:cs typeface="Times New Roman" panose="02020603050405020304" pitchFamily="18" charset="0"/>
              </a:rPr>
              <a:t>f </a:t>
            </a:r>
            <a:r>
              <a:rPr lang="zh-CN" altLang="en-US" sz="2400" b="1" dirty="0" smtClean="0">
                <a:solidFill>
                  <a:schemeClr val="tx1"/>
                </a:solidFill>
                <a:latin typeface="Times New Roman" panose="02020603050405020304" pitchFamily="18" charset="0"/>
                <a:cs typeface="Times New Roman" panose="02020603050405020304" pitchFamily="18" charset="0"/>
              </a:rPr>
              <a:t>的 </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t </a:t>
            </a:r>
            <a:r>
              <a:rPr lang="zh-CN" altLang="en-US" sz="2400" b="1" dirty="0" smtClean="0">
                <a:solidFill>
                  <a:schemeClr val="tx1"/>
                </a:solidFill>
                <a:latin typeface="Times New Roman" panose="02020603050405020304" pitchFamily="18" charset="0"/>
                <a:cs typeface="Times New Roman" panose="02020603050405020304" pitchFamily="18" charset="0"/>
              </a:rPr>
              <a:t>增广链</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令 </a:t>
            </a:r>
            <a:r>
              <a:rPr lang="en-US" altLang="zh-CN" sz="2400" b="1" i="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等于 </a:t>
            </a:r>
            <a:r>
              <a:rPr lang="en-US" altLang="zh-CN" sz="2400" b="1" i="1" dirty="0" smtClean="0">
                <a:solidFill>
                  <a:schemeClr val="tx1"/>
                </a:solidFill>
                <a:latin typeface="Times New Roman" panose="02020603050405020304" pitchFamily="18" charset="0"/>
                <a:cs typeface="Times New Roman" panose="02020603050405020304" pitchFamily="18" charset="0"/>
              </a:rPr>
              <a:t>P </a:t>
            </a:r>
            <a:r>
              <a:rPr lang="zh-CN" altLang="en-US" sz="2400" b="1" dirty="0" smtClean="0">
                <a:solidFill>
                  <a:schemeClr val="tx1"/>
                </a:solidFill>
                <a:latin typeface="Times New Roman" panose="02020603050405020304" pitchFamily="18" charset="0"/>
                <a:cs typeface="Times New Roman" panose="02020603050405020304" pitchFamily="18" charset="0"/>
              </a:rPr>
              <a:t>上所有前向边的容量与流量之差以及所有后向边的流量的最小值</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令</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f</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仍</a:t>
            </a:r>
            <a:r>
              <a:rPr lang="zh-CN" altLang="en-US" sz="2400" b="1" dirty="0" smtClean="0">
                <a:solidFill>
                  <a:schemeClr val="tx1"/>
                </a:solidFill>
                <a:latin typeface="Times New Roman" panose="02020603050405020304" pitchFamily="18" charset="0"/>
                <a:cs typeface="Times New Roman" panose="02020603050405020304" pitchFamily="18" charset="0"/>
              </a:rPr>
              <a:t>是可行流 </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且 </a:t>
            </a:r>
            <a:r>
              <a:rPr lang="en-US" altLang="zh-CN" sz="2400" b="1" i="1" dirty="0" smtClean="0">
                <a:solidFill>
                  <a:schemeClr val="tx1"/>
                </a:solidFill>
                <a:latin typeface="Times New Roman" panose="02020603050405020304" pitchFamily="18" charset="0"/>
                <a:cs typeface="Times New Roman" panose="02020603050405020304" pitchFamily="18" charset="0"/>
              </a:rPr>
              <a:t>v</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f </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 v</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f</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如果 </a:t>
            </a:r>
            <a:r>
              <a:rPr lang="en-US" altLang="zh-CN" sz="2400" b="1" i="1" dirty="0" smtClean="0">
                <a:solidFill>
                  <a:schemeClr val="tx1"/>
                </a:solidFill>
                <a:latin typeface="Times New Roman" panose="02020603050405020304" pitchFamily="18" charset="0"/>
                <a:cs typeface="Times New Roman" panose="02020603050405020304" pitchFamily="18" charset="0"/>
              </a:rPr>
              <a:t>f </a:t>
            </a:r>
            <a:r>
              <a:rPr lang="zh-CN" altLang="en-US" sz="2400" b="1" dirty="0" smtClean="0">
                <a:solidFill>
                  <a:schemeClr val="tx1"/>
                </a:solidFill>
                <a:latin typeface="Times New Roman" panose="02020603050405020304" pitchFamily="18" charset="0"/>
                <a:cs typeface="Times New Roman" panose="02020603050405020304" pitchFamily="18" charset="0"/>
              </a:rPr>
              <a:t>是最大流</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则不存在关于 </a:t>
            </a:r>
            <a:r>
              <a:rPr lang="en-US" altLang="zh-CN" sz="2400" b="1" i="1" dirty="0" smtClean="0">
                <a:solidFill>
                  <a:schemeClr val="tx1"/>
                </a:solidFill>
                <a:latin typeface="Times New Roman" panose="02020603050405020304" pitchFamily="18" charset="0"/>
                <a:cs typeface="Times New Roman" panose="02020603050405020304" pitchFamily="18" charset="0"/>
              </a:rPr>
              <a:t>f </a:t>
            </a:r>
            <a:r>
              <a:rPr lang="zh-CN" altLang="en-US" sz="2400" b="1" dirty="0" smtClean="0">
                <a:solidFill>
                  <a:schemeClr val="tx1"/>
                </a:solidFill>
                <a:latin typeface="Times New Roman" panose="02020603050405020304" pitchFamily="18" charset="0"/>
                <a:cs typeface="Times New Roman" panose="02020603050405020304" pitchFamily="18" charset="0"/>
              </a:rPr>
              <a:t>的 </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t </a:t>
            </a:r>
            <a:r>
              <a:rPr lang="zh-CN" altLang="en-US" sz="2400" b="1" dirty="0" smtClean="0">
                <a:solidFill>
                  <a:schemeClr val="tx1"/>
                </a:solidFill>
                <a:latin typeface="Times New Roman" panose="02020603050405020304" pitchFamily="18" charset="0"/>
                <a:cs typeface="Times New Roman" panose="02020603050405020304" pitchFamily="18" charset="0"/>
              </a:rPr>
              <a:t>增广链</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反过来也成立 </a:t>
            </a:r>
            <a:r>
              <a:rPr lang="en-US" altLang="zh-CN" sz="2400" b="1" dirty="0" smtClean="0">
                <a:solidFill>
                  <a:schemeClr val="tx1"/>
                </a:solidFill>
                <a:latin typeface="Times New Roman" panose="02020603050405020304" pitchFamily="18" charset="0"/>
                <a:cs typeface="Times New Roman" panose="02020603050405020304" pitchFamily="18" charset="0"/>
              </a:rPr>
              <a:t>.       </a:t>
            </a:r>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a:r>
              <a:rPr lang="zh-CN" altLang="en-US" sz="2400" b="1" dirty="0" smtClean="0">
                <a:solidFill>
                  <a:srgbClr val="C00000"/>
                </a:solidFill>
                <a:latin typeface="Times New Roman" panose="02020603050405020304" pitchFamily="18" charset="0"/>
                <a:cs typeface="Times New Roman" panose="02020603050405020304" pitchFamily="18" charset="0"/>
              </a:rPr>
              <a:t>定理</a:t>
            </a:r>
            <a:r>
              <a:rPr lang="en-US" altLang="zh-CN" sz="2400" b="1" dirty="0" smtClean="0">
                <a:solidFill>
                  <a:srgbClr val="C00000"/>
                </a:solidFill>
                <a:latin typeface="Times New Roman" panose="02020603050405020304" pitchFamily="18" charset="0"/>
                <a:cs typeface="Times New Roman" panose="02020603050405020304" pitchFamily="18" charset="0"/>
              </a:rPr>
              <a:t>7.1</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可行流 </a:t>
            </a:r>
            <a:r>
              <a:rPr lang="en-US" altLang="zh-CN" sz="2400" b="1" i="1" dirty="0" smtClean="0">
                <a:solidFill>
                  <a:schemeClr val="tx1"/>
                </a:solidFill>
                <a:latin typeface="Times New Roman" panose="02020603050405020304" pitchFamily="18" charset="0"/>
                <a:cs typeface="Times New Roman" panose="02020603050405020304" pitchFamily="18" charset="0"/>
              </a:rPr>
              <a:t>f </a:t>
            </a:r>
            <a:r>
              <a:rPr lang="zh-CN" altLang="en-US" sz="2400" b="1" dirty="0" smtClean="0">
                <a:solidFill>
                  <a:schemeClr val="tx1"/>
                </a:solidFill>
                <a:latin typeface="Times New Roman" panose="02020603050405020304" pitchFamily="18" charset="0"/>
                <a:cs typeface="Times New Roman" panose="02020603050405020304" pitchFamily="18" charset="0"/>
              </a:rPr>
              <a:t>是最大流 </a:t>
            </a:r>
            <a:r>
              <a:rPr lang="zh-CN" alt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solidFill>
                  <a:schemeClr val="tx1"/>
                </a:solidFill>
                <a:latin typeface="Times New Roman" panose="02020603050405020304" pitchFamily="18" charset="0"/>
                <a:cs typeface="Times New Roman" panose="02020603050405020304" pitchFamily="18" charset="0"/>
              </a:rPr>
              <a:t>不存在关于 </a:t>
            </a:r>
            <a:r>
              <a:rPr lang="en-US" altLang="zh-CN" sz="2400" b="1" i="1" dirty="0" smtClean="0">
                <a:solidFill>
                  <a:schemeClr val="tx1"/>
                </a:solidFill>
                <a:latin typeface="Times New Roman" panose="02020603050405020304" pitchFamily="18" charset="0"/>
                <a:cs typeface="Times New Roman" panose="02020603050405020304" pitchFamily="18" charset="0"/>
              </a:rPr>
              <a:t>f </a:t>
            </a:r>
            <a:r>
              <a:rPr lang="zh-CN" altLang="en-US" sz="2400" b="1" dirty="0" smtClean="0">
                <a:solidFill>
                  <a:schemeClr val="tx1"/>
                </a:solidFill>
                <a:latin typeface="Times New Roman" panose="02020603050405020304" pitchFamily="18" charset="0"/>
                <a:cs typeface="Times New Roman" panose="02020603050405020304" pitchFamily="18" charset="0"/>
              </a:rPr>
              <a:t>的 </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t </a:t>
            </a:r>
            <a:r>
              <a:rPr lang="zh-CN" altLang="en-US" sz="2400" b="1" dirty="0" smtClean="0">
                <a:solidFill>
                  <a:schemeClr val="tx1"/>
                </a:solidFill>
                <a:latin typeface="Times New Roman" panose="02020603050405020304" pitchFamily="18" charset="0"/>
                <a:cs typeface="Times New Roman" panose="02020603050405020304" pitchFamily="18" charset="0"/>
              </a:rPr>
              <a:t>增广链</a:t>
            </a:r>
            <a:r>
              <a:rPr lang="en-US" altLang="zh-CN" sz="2400" b="1" dirty="0" smtClean="0">
                <a:solidFill>
                  <a:schemeClr val="tx1"/>
                </a:solidFill>
                <a:latin typeface="Times New Roman" panose="02020603050405020304" pitchFamily="18" charset="0"/>
                <a:cs typeface="Times New Roman" panose="02020603050405020304" pitchFamily="18" charset="0"/>
              </a:rPr>
              <a:t>.</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p:txBody>
      </p:sp>
      <p:sp>
        <p:nvSpPr>
          <p:cNvPr id="11268"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11269" name="Object 4"/>
          <p:cNvGraphicFramePr>
            <a:graphicFrameLocks noChangeAspect="1"/>
          </p:cNvGraphicFramePr>
          <p:nvPr/>
        </p:nvGraphicFramePr>
        <p:xfrm>
          <a:off x="1843088" y="2392363"/>
          <a:ext cx="5772150" cy="1357312"/>
        </p:xfrm>
        <a:graphic>
          <a:graphicData uri="http://schemas.openxmlformats.org/presentationml/2006/ole">
            <mc:AlternateContent xmlns:mc="http://schemas.openxmlformats.org/markup-compatibility/2006">
              <mc:Choice xmlns:v="urn:schemas-microsoft-com:vml" Requires="v">
                <p:oleObj spid="_x0000_s11287" name="Equation" r:id="rId1" imgW="3035300" imgH="711200" progId="Equation.3">
                  <p:embed/>
                </p:oleObj>
              </mc:Choice>
              <mc:Fallback>
                <p:oleObj name="Equation" r:id="rId1" imgW="3035300" imgH="711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3088" y="2392363"/>
                        <a:ext cx="5772150"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1270" name="组合 24"/>
          <p:cNvGrpSpPr/>
          <p:nvPr/>
        </p:nvGrpSpPr>
        <p:grpSpPr bwMode="auto">
          <a:xfrm>
            <a:off x="2627313" y="3792538"/>
            <a:ext cx="3505200" cy="376237"/>
            <a:chOff x="2928926" y="3766502"/>
            <a:chExt cx="3505213" cy="376878"/>
          </a:xfrm>
        </p:grpSpPr>
        <p:grpSp>
          <p:nvGrpSpPr>
            <p:cNvPr id="11272" name="组合 20"/>
            <p:cNvGrpSpPr/>
            <p:nvPr/>
          </p:nvGrpSpPr>
          <p:grpSpPr bwMode="auto">
            <a:xfrm>
              <a:off x="2928926" y="4000504"/>
              <a:ext cx="3505213" cy="142876"/>
              <a:chOff x="2995613" y="3901123"/>
              <a:chExt cx="1527175" cy="64135"/>
            </a:xfrm>
          </p:grpSpPr>
          <p:sp>
            <p:nvSpPr>
              <p:cNvPr id="11277" name="Oval 7"/>
              <p:cNvSpPr>
                <a:spLocks noChangeArrowheads="1"/>
              </p:cNvSpPr>
              <p:nvPr/>
            </p:nvSpPr>
            <p:spPr bwMode="auto">
              <a:xfrm>
                <a:off x="2995613" y="3901123"/>
                <a:ext cx="59055" cy="53975"/>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1278" name="Oval 8"/>
              <p:cNvSpPr>
                <a:spLocks noChangeArrowheads="1"/>
              </p:cNvSpPr>
              <p:nvPr/>
            </p:nvSpPr>
            <p:spPr bwMode="auto">
              <a:xfrm>
                <a:off x="3361373" y="3906203"/>
                <a:ext cx="59055" cy="53975"/>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1279" name="Oval 9"/>
              <p:cNvSpPr>
                <a:spLocks noChangeArrowheads="1"/>
              </p:cNvSpPr>
              <p:nvPr/>
            </p:nvSpPr>
            <p:spPr bwMode="auto">
              <a:xfrm>
                <a:off x="3727133" y="3906203"/>
                <a:ext cx="59055" cy="53975"/>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11280" name="AutoShape 10"/>
              <p:cNvCxnSpPr>
                <a:cxnSpLocks noChangeShapeType="1"/>
              </p:cNvCxnSpPr>
              <p:nvPr/>
            </p:nvCxnSpPr>
            <p:spPr bwMode="auto">
              <a:xfrm>
                <a:off x="3054668" y="3926523"/>
                <a:ext cx="306705"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11281" name="AutoShape 11"/>
              <p:cNvCxnSpPr>
                <a:cxnSpLocks noChangeShapeType="1"/>
              </p:cNvCxnSpPr>
              <p:nvPr/>
            </p:nvCxnSpPr>
            <p:spPr bwMode="auto">
              <a:xfrm>
                <a:off x="3430588" y="3931603"/>
                <a:ext cx="306705"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sp>
            <p:nvSpPr>
              <p:cNvPr id="11282" name="Oval 12"/>
              <p:cNvSpPr>
                <a:spLocks noChangeArrowheads="1"/>
              </p:cNvSpPr>
              <p:nvPr/>
            </p:nvSpPr>
            <p:spPr bwMode="auto">
              <a:xfrm>
                <a:off x="4092893" y="3911283"/>
                <a:ext cx="59055" cy="53975"/>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1283" name="Oval 13"/>
              <p:cNvSpPr>
                <a:spLocks noChangeArrowheads="1"/>
              </p:cNvSpPr>
              <p:nvPr/>
            </p:nvSpPr>
            <p:spPr bwMode="auto">
              <a:xfrm>
                <a:off x="4463733" y="3911283"/>
                <a:ext cx="59055" cy="53975"/>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11284" name="AutoShape 14"/>
              <p:cNvCxnSpPr>
                <a:cxnSpLocks noChangeShapeType="1"/>
              </p:cNvCxnSpPr>
              <p:nvPr/>
            </p:nvCxnSpPr>
            <p:spPr bwMode="auto">
              <a:xfrm>
                <a:off x="3781108" y="3931603"/>
                <a:ext cx="311785" cy="5715"/>
              </a:xfrm>
              <a:prstGeom prst="straightConnector1">
                <a:avLst/>
              </a:prstGeom>
              <a:noFill/>
              <a:ln w="3175">
                <a:solidFill>
                  <a:srgbClr val="000000"/>
                </a:solidFill>
                <a:round/>
                <a:headEnd type="arrow" w="med" len="med"/>
              </a:ln>
              <a:extLst>
                <a:ext uri="{909E8E84-426E-40DD-AFC4-6F175D3DCCD1}">
                  <a14:hiddenFill xmlns:a14="http://schemas.microsoft.com/office/drawing/2010/main">
                    <a:noFill/>
                  </a14:hiddenFill>
                </a:ext>
              </a:extLst>
            </p:spPr>
          </p:cxnSp>
          <p:cxnSp>
            <p:nvCxnSpPr>
              <p:cNvPr id="11285" name="AutoShape 15"/>
              <p:cNvCxnSpPr>
                <a:cxnSpLocks noChangeShapeType="1"/>
              </p:cNvCxnSpPr>
              <p:nvPr/>
            </p:nvCxnSpPr>
            <p:spPr bwMode="auto">
              <a:xfrm>
                <a:off x="4162108" y="3936683"/>
                <a:ext cx="306705"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grpSp>
        <p:sp>
          <p:nvSpPr>
            <p:cNvPr id="11273" name="Text Box 19"/>
            <p:cNvSpPr txBox="1">
              <a:spLocks noChangeArrowheads="1"/>
            </p:cNvSpPr>
            <p:nvPr/>
          </p:nvSpPr>
          <p:spPr bwMode="auto">
            <a:xfrm>
              <a:off x="3143240" y="3766502"/>
              <a:ext cx="597537" cy="30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400" b="1"/>
                <a:t>+</a:t>
              </a:r>
              <a:r>
                <a:rPr lang="en-US" altLang="zh-CN" sz="2400" b="1" i="1">
                  <a:latin typeface="Times New Roman" panose="02020603050405020304" pitchFamily="18" charset="0"/>
                  <a:sym typeface="Symbol" panose="05050102010706020507" pitchFamily="18" charset="2"/>
                </a:rPr>
                <a:t></a:t>
              </a:r>
              <a:endParaRPr lang="zh-CN" altLang="zh-CN" sz="2400" b="1">
                <a:latin typeface="Arial" panose="020B0604020202020204" pitchFamily="34" charset="0"/>
              </a:endParaRPr>
            </a:p>
          </p:txBody>
        </p:sp>
        <p:sp>
          <p:nvSpPr>
            <p:cNvPr id="11274" name="Text Box 19"/>
            <p:cNvSpPr txBox="1">
              <a:spLocks noChangeArrowheads="1"/>
            </p:cNvSpPr>
            <p:nvPr/>
          </p:nvSpPr>
          <p:spPr bwMode="auto">
            <a:xfrm>
              <a:off x="4045901" y="3786190"/>
              <a:ext cx="597537" cy="30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400" b="1"/>
                <a:t>+</a:t>
              </a:r>
              <a:r>
                <a:rPr lang="en-US" altLang="zh-CN" sz="2400" b="1" i="1">
                  <a:latin typeface="Times New Roman" panose="02020603050405020304" pitchFamily="18" charset="0"/>
                  <a:sym typeface="Symbol" panose="05050102010706020507" pitchFamily="18" charset="2"/>
                </a:rPr>
                <a:t></a:t>
              </a:r>
              <a:endParaRPr lang="zh-CN" altLang="zh-CN" sz="2400" b="1">
                <a:latin typeface="Arial" panose="020B0604020202020204" pitchFamily="34" charset="0"/>
              </a:endParaRPr>
            </a:p>
          </p:txBody>
        </p:sp>
        <p:sp>
          <p:nvSpPr>
            <p:cNvPr id="11275" name="Text Box 19"/>
            <p:cNvSpPr txBox="1">
              <a:spLocks noChangeArrowheads="1"/>
            </p:cNvSpPr>
            <p:nvPr/>
          </p:nvSpPr>
          <p:spPr bwMode="auto">
            <a:xfrm>
              <a:off x="4903157" y="3786190"/>
              <a:ext cx="597537" cy="30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400" b="1">
                  <a:sym typeface="Symbol" panose="05050102010706020507" pitchFamily="18" charset="2"/>
                </a:rPr>
                <a:t>-</a:t>
              </a:r>
              <a:r>
                <a:rPr lang="en-US" altLang="zh-CN" sz="2400" b="1" i="1">
                  <a:latin typeface="Times New Roman" panose="02020603050405020304" pitchFamily="18" charset="0"/>
                  <a:sym typeface="Symbol" panose="05050102010706020507" pitchFamily="18" charset="2"/>
                </a:rPr>
                <a:t></a:t>
              </a:r>
              <a:endParaRPr lang="zh-CN" altLang="zh-CN" sz="2400" b="1">
                <a:latin typeface="Arial" panose="020B0604020202020204" pitchFamily="34" charset="0"/>
              </a:endParaRPr>
            </a:p>
          </p:txBody>
        </p:sp>
        <p:sp>
          <p:nvSpPr>
            <p:cNvPr id="11276" name="Text Box 19"/>
            <p:cNvSpPr txBox="1">
              <a:spLocks noChangeArrowheads="1"/>
            </p:cNvSpPr>
            <p:nvPr/>
          </p:nvSpPr>
          <p:spPr bwMode="auto">
            <a:xfrm>
              <a:off x="5617537" y="3786190"/>
              <a:ext cx="597537" cy="30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400" b="1"/>
                <a:t>+</a:t>
              </a:r>
              <a:r>
                <a:rPr lang="en-US" altLang="zh-CN" sz="2400" b="1" i="1">
                  <a:latin typeface="Times New Roman" panose="02020603050405020304" pitchFamily="18" charset="0"/>
                  <a:sym typeface="Symbol" panose="05050102010706020507" pitchFamily="18" charset="2"/>
                </a:rPr>
                <a:t></a:t>
              </a:r>
              <a:endParaRPr lang="zh-CN" altLang="zh-CN" sz="2400" b="1">
                <a:latin typeface="Arial" panose="020B0604020202020204" pitchFamily="34" charset="0"/>
              </a:endParaRPr>
            </a:p>
          </p:txBody>
        </p:sp>
      </p:grpSp>
      <p:sp>
        <p:nvSpPr>
          <p:cNvPr id="11271" name="灯片编号占位符 2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69D1BE1-97BF-409E-8DDF-3C03BC6D8F49}"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副标题 1"/>
              <p:cNvSpPr>
                <a:spLocks noGrp="1"/>
              </p:cNvSpPr>
              <p:nvPr>
                <p:ph type="subTitle" idx="1"/>
              </p:nvPr>
            </p:nvSpPr>
            <p:spPr>
              <a:xfrm>
                <a:off x="581224" y="1054925"/>
                <a:ext cx="7896026" cy="2904469"/>
              </a:xfrm>
            </p:spPr>
            <p:txBody>
              <a:bodyPr/>
              <a:lstStyle/>
              <a:p>
                <a:pPr lvl="0" algn="l">
                  <a:lnSpc>
                    <a:spcPts val="3300"/>
                  </a:lnSpc>
                  <a:spcBef>
                    <a:spcPct val="0"/>
                  </a:spcBef>
                </a:pPr>
                <a:r>
                  <a:rPr lang="zh-CN" altLang="en-US" sz="2400" b="1" dirty="0" smtClean="0">
                    <a:solidFill>
                      <a:schemeClr val="tx1"/>
                    </a:solidFill>
                    <a:latin typeface="Times New Roman" panose="02020603050405020304" pitchFamily="18" charset="0"/>
                    <a:cs typeface="Times New Roman" panose="02020603050405020304" pitchFamily="18" charset="0"/>
                  </a:rPr>
                  <a:t>证明</a:t>
                </a:r>
                <a:r>
                  <a:rPr lang="zh-CN" altLang="zh-CN" sz="2400" b="1" dirty="0" smtClean="0">
                    <a:solidFill>
                      <a:schemeClr val="tx1"/>
                    </a:solidFill>
                    <a:latin typeface="Times New Roman" panose="02020603050405020304" pitchFamily="18" charset="0"/>
                    <a:cs typeface="Times New Roman" panose="02020603050405020304" pitchFamily="18" charset="0"/>
                  </a:rPr>
                  <a:t>充分性</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假设</a:t>
                </a:r>
                <a:r>
                  <a:rPr lang="zh-CN" altLang="en-US" sz="2400" b="1" dirty="0">
                    <a:solidFill>
                      <a:schemeClr val="tx1"/>
                    </a:solidFill>
                    <a:latin typeface="Times New Roman" panose="02020603050405020304" pitchFamily="18" charset="0"/>
                    <a:cs typeface="Times New Roman" panose="02020603050405020304" pitchFamily="18" charset="0"/>
                  </a:rPr>
                  <a:t>不存在</a:t>
                </a:r>
                <a:r>
                  <a:rPr lang="zh-CN" altLang="en-US" sz="2400" b="1" dirty="0" smtClean="0">
                    <a:solidFill>
                      <a:schemeClr val="tx1"/>
                    </a:solidFill>
                    <a:latin typeface="Times New Roman" panose="02020603050405020304" pitchFamily="18" charset="0"/>
                    <a:cs typeface="Times New Roman" panose="02020603050405020304" pitchFamily="18" charset="0"/>
                  </a:rPr>
                  <a:t>关于 </a:t>
                </a:r>
                <a:r>
                  <a:rPr lang="en-US" altLang="zh-CN" sz="2400" b="1" i="1" dirty="0" smtClean="0">
                    <a:solidFill>
                      <a:schemeClr val="tx1"/>
                    </a:solidFill>
                    <a:latin typeface="Times New Roman" panose="02020603050405020304" pitchFamily="18" charset="0"/>
                    <a:cs typeface="Times New Roman" panose="02020603050405020304" pitchFamily="18" charset="0"/>
                  </a:rPr>
                  <a:t>f </a:t>
                </a:r>
                <a:r>
                  <a:rPr lang="zh-CN" altLang="en-US" sz="2400" b="1" dirty="0" smtClean="0">
                    <a:solidFill>
                      <a:schemeClr val="tx1"/>
                    </a:solidFill>
                    <a:latin typeface="Times New Roman" panose="02020603050405020304" pitchFamily="18" charset="0"/>
                    <a:cs typeface="Times New Roman" panose="02020603050405020304" pitchFamily="18" charset="0"/>
                  </a:rPr>
                  <a:t>的 </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t </a:t>
                </a:r>
                <a:r>
                  <a:rPr lang="zh-CN" altLang="en-US" sz="2400" b="1" dirty="0" smtClean="0">
                    <a:solidFill>
                      <a:schemeClr val="tx1"/>
                    </a:solidFill>
                    <a:latin typeface="Times New Roman" panose="02020603050405020304" pitchFamily="18" charset="0"/>
                    <a:cs typeface="Times New Roman" panose="02020603050405020304" pitchFamily="18" charset="0"/>
                  </a:rPr>
                  <a:t>增广</a:t>
                </a:r>
                <a:r>
                  <a:rPr lang="zh-CN" altLang="en-US" sz="2400" b="1" dirty="0">
                    <a:solidFill>
                      <a:schemeClr val="tx1"/>
                    </a:solidFill>
                    <a:latin typeface="Times New Roman" panose="02020603050405020304" pitchFamily="18" charset="0"/>
                    <a:cs typeface="Times New Roman" panose="02020603050405020304" pitchFamily="18" charset="0"/>
                  </a:rPr>
                  <a:t>链</a:t>
                </a:r>
                <a:r>
                  <a:rPr lang="en-US" altLang="zh-CN" sz="2400" b="1" dirty="0">
                    <a:solidFill>
                      <a:schemeClr val="tx1"/>
                    </a:solidFill>
                    <a:latin typeface="Times New Roman" panose="02020603050405020304" pitchFamily="18" charset="0"/>
                    <a:cs typeface="Times New Roman" panose="02020603050405020304" pitchFamily="18" charset="0"/>
                  </a:rPr>
                  <a:t>. </a:t>
                </a:r>
                <a:r>
                  <a:rPr lang="zh-CN" altLang="en-US" sz="2400" b="1" dirty="0">
                    <a:solidFill>
                      <a:schemeClr val="tx1"/>
                    </a:solidFill>
                    <a:latin typeface="Times New Roman" panose="02020603050405020304" pitchFamily="18" charset="0"/>
                    <a:cs typeface="Times New Roman" panose="02020603050405020304" pitchFamily="18" charset="0"/>
                  </a:rPr>
                  <a:t>令</a:t>
                </a:r>
                <a:endParaRPr lang="zh-CN" altLang="en-US" sz="2400" b="1" dirty="0">
                  <a:solidFill>
                    <a:schemeClr val="tx1"/>
                  </a:solidFill>
                </a:endParaRPr>
              </a:p>
              <a:p>
                <a:pPr lvl="0" indent="269875" algn="l">
                  <a:lnSpc>
                    <a:spcPts val="3300"/>
                  </a:lnSpc>
                  <a:spcBef>
                    <a:spcPct val="0"/>
                  </a:spcBef>
                </a:pPr>
                <a:r>
                  <a:rPr lang="zh-CN" altLang="en-US" sz="2400" b="1" dirty="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A </a:t>
                </a:r>
                <a:r>
                  <a:rPr lang="en-US" altLang="zh-CN" sz="2400" b="1" dirty="0" smtClean="0">
                    <a:solidFill>
                      <a:schemeClr val="tx1"/>
                    </a:solidFill>
                    <a:latin typeface="Times New Roman" panose="02020603050405020304" pitchFamily="18" charset="0"/>
                    <a:cs typeface="Times New Roman" panose="02020603050405020304" pitchFamily="18" charset="0"/>
                  </a:rPr>
                  <a:t>= { </a:t>
                </a:r>
                <a:r>
                  <a:rPr lang="en-US" altLang="zh-CN" sz="2400" b="1" i="1" dirty="0" err="1">
                    <a:solidFill>
                      <a:schemeClr val="tx1"/>
                    </a:solidFill>
                    <a:latin typeface="Times New Roman" panose="02020603050405020304" pitchFamily="18" charset="0"/>
                    <a:cs typeface="Times New Roman" panose="02020603050405020304" pitchFamily="18" charset="0"/>
                  </a:rPr>
                  <a:t>j</a:t>
                </a:r>
                <a:r>
                  <a:rPr lang="en-US" altLang="zh-CN" sz="2400" b="1"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solidFill>
                      <a:schemeClr val="tx1"/>
                    </a:solidFill>
                    <a:latin typeface="Times New Roman" panose="02020603050405020304" pitchFamily="18" charset="0"/>
                    <a:cs typeface="Times New Roman" panose="02020603050405020304" pitchFamily="18" charset="0"/>
                  </a:rPr>
                  <a:t>V</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 </a:t>
                </a:r>
                <a:r>
                  <a:rPr lang="zh-CN" altLang="en-US"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存在</a:t>
                </a:r>
                <a:r>
                  <a:rPr lang="zh-CN" alt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关于 </a:t>
                </a:r>
                <a:r>
                  <a:rPr lang="en-US" altLang="zh-CN" sz="2400" b="1" i="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f </a:t>
                </a:r>
                <a:r>
                  <a:rPr lang="zh-CN" alt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的 </a:t>
                </a:r>
                <a:r>
                  <a:rPr lang="en-US" altLang="zh-CN" sz="2400" b="1" i="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s</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j </a:t>
                </a:r>
                <a:r>
                  <a:rPr lang="zh-CN" alt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增广链 </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algn="l">
                  <a:lnSpc>
                    <a:spcPts val="3300"/>
                  </a:lnSpc>
                  <a:spcBef>
                    <a:spcPct val="0"/>
                  </a:spcBef>
                </a:pPr>
                <a:r>
                  <a:rPr lang="en-US" altLang="zh-CN" sz="2400" b="1" i="1" dirty="0" err="1">
                    <a:solidFill>
                      <a:schemeClr val="tx1"/>
                    </a:solidFill>
                    <a:latin typeface="Times New Roman" panose="02020603050405020304" pitchFamily="18" charset="0"/>
                    <a:cs typeface="Times New Roman" panose="02020603050405020304" pitchFamily="18" charset="0"/>
                  </a:rPr>
                  <a:t>s</a:t>
                </a:r>
                <a:r>
                  <a:rPr lang="en-US" altLang="zh-CN" sz="2400" b="1"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solidFill>
                      <a:schemeClr val="tx1"/>
                    </a:solidFill>
                    <a:latin typeface="Times New Roman" panose="02020603050405020304" pitchFamily="18" charset="0"/>
                    <a:cs typeface="Times New Roman" panose="02020603050405020304" pitchFamily="18" charset="0"/>
                  </a:rPr>
                  <a:t>A</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t</a:t>
                </a:r>
                <a:r>
                  <a:rPr lang="en-US" altLang="zh-CN" sz="2400" b="1"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solidFill>
                      <a:schemeClr val="tx1"/>
                    </a:solidFill>
                    <a:latin typeface="Times New Roman" panose="02020603050405020304" pitchFamily="18" charset="0"/>
                    <a:cs typeface="Times New Roman" panose="02020603050405020304" pitchFamily="18" charset="0"/>
                  </a:rPr>
                  <a:t>A</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a:solidFill>
                      <a:schemeClr val="tx1"/>
                    </a:solidFill>
                    <a:latin typeface="Times New Roman" panose="02020603050405020304" pitchFamily="18" charset="0"/>
                    <a:cs typeface="Times New Roman" panose="02020603050405020304" pitchFamily="18" charset="0"/>
                  </a:rPr>
                  <a:t>&lt;</a:t>
                </a:r>
                <a:r>
                  <a:rPr lang="en-US" altLang="zh-CN" sz="2400" b="1" i="1"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&gt;</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14:m>
                  <m:oMath xmlns:m="http://schemas.openxmlformats.org/officeDocument/2006/math">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𝑨</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acc>
                      <m:accPr>
                        <m:chr m:val="̅"/>
                        <m:ctrlP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accPr>
                      <m:e>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𝑨</m:t>
                        </m:r>
                      </m:e>
                    </m:acc>
                  </m:oMath>
                </a14:m>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a:solidFill>
                      <a:schemeClr val="tx1"/>
                    </a:solidFill>
                    <a:latin typeface="Times New Roman" panose="02020603050405020304" pitchFamily="18" charset="0"/>
                    <a:cs typeface="Times New Roman" panose="02020603050405020304" pitchFamily="18" charset="0"/>
                  </a:rPr>
                  <a:t>必</a:t>
                </a:r>
                <a:r>
                  <a:rPr lang="zh-CN" altLang="en-US" sz="2400" b="1" dirty="0" smtClean="0">
                    <a:solidFill>
                      <a:schemeClr val="tx1"/>
                    </a:solidFill>
                    <a:latin typeface="Times New Roman" panose="02020603050405020304" pitchFamily="18" charset="0"/>
                    <a:cs typeface="Times New Roman" panose="02020603050405020304" pitchFamily="18" charset="0"/>
                  </a:rPr>
                  <a:t>有 </a:t>
                </a:r>
                <a:r>
                  <a:rPr lang="en-US" altLang="zh-CN" sz="2400" b="1" i="1" dirty="0" smtClean="0">
                    <a:solidFill>
                      <a:schemeClr val="tx1"/>
                    </a:solidFill>
                    <a:latin typeface="Times New Roman" panose="02020603050405020304" pitchFamily="18" charset="0"/>
                    <a:cs typeface="Times New Roman" panose="02020603050405020304" pitchFamily="18" charset="0"/>
                  </a:rPr>
                  <a:t>f</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 = </a:t>
                </a:r>
                <a:r>
                  <a:rPr lang="en-US" altLang="zh-CN" sz="2400" b="1" i="1" dirty="0" smtClean="0">
                    <a:solidFill>
                      <a:schemeClr val="tx1"/>
                    </a:solidFill>
                    <a:latin typeface="Times New Roman" panose="02020603050405020304" pitchFamily="18" charset="0"/>
                    <a:cs typeface="Times New Roman" panose="02020603050405020304" pitchFamily="18" charset="0"/>
                  </a:rPr>
                  <a:t>c</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j</a:t>
                </a:r>
                <a:r>
                  <a:rPr lang="en-US" altLang="zh-CN" sz="2400" b="1" dirty="0">
                    <a:solidFill>
                      <a:schemeClr val="tx1"/>
                    </a:solidFill>
                    <a:latin typeface="Times New Roman" panose="02020603050405020304" pitchFamily="18" charset="0"/>
                    <a:cs typeface="Times New Roman" panose="02020603050405020304" pitchFamily="18" charset="0"/>
                  </a:rPr>
                  <a:t>). </a:t>
                </a:r>
                <a:r>
                  <a:rPr lang="zh-CN" altLang="en-US" sz="2400" b="1" dirty="0">
                    <a:solidFill>
                      <a:schemeClr val="tx1"/>
                    </a:solidFill>
                    <a:latin typeface="Times New Roman" panose="02020603050405020304" pitchFamily="18" charset="0"/>
                    <a:cs typeface="Times New Roman" panose="02020603050405020304" pitchFamily="18" charset="0"/>
                  </a:rPr>
                  <a:t>否则</a:t>
                </a:r>
                <a:r>
                  <a:rPr lang="en-US" altLang="zh-CN" sz="2400" b="1" dirty="0">
                    <a:solidFill>
                      <a:schemeClr val="tx1"/>
                    </a:solidFill>
                    <a:latin typeface="Times New Roman" panose="02020603050405020304" pitchFamily="18" charset="0"/>
                    <a:cs typeface="Times New Roman" panose="02020603050405020304" pitchFamily="18" charset="0"/>
                  </a:rPr>
                  <a:t>, </a:t>
                </a:r>
                <a:r>
                  <a:rPr lang="zh-CN" altLang="en-US" sz="2400" b="1" dirty="0">
                    <a:solidFill>
                      <a:schemeClr val="tx1"/>
                    </a:solidFill>
                    <a:latin typeface="Times New Roman" panose="02020603050405020304" pitchFamily="18" charset="0"/>
                    <a:cs typeface="Times New Roman" panose="02020603050405020304" pitchFamily="18" charset="0"/>
                  </a:rPr>
                  <a:t>可以</a:t>
                </a:r>
                <a:r>
                  <a:rPr lang="zh-CN" altLang="en-US" sz="2400" b="1" dirty="0" smtClean="0">
                    <a:solidFill>
                      <a:schemeClr val="tx1"/>
                    </a:solidFill>
                    <a:latin typeface="Times New Roman" panose="02020603050405020304" pitchFamily="18" charset="0"/>
                    <a:cs typeface="Times New Roman" panose="02020603050405020304" pitchFamily="18" charset="0"/>
                  </a:rPr>
                  <a:t>把 </a:t>
                </a:r>
                <a:r>
                  <a:rPr lang="en-US" altLang="zh-CN" sz="2400" b="1" i="1" dirty="0" smtClean="0">
                    <a:solidFill>
                      <a:schemeClr val="tx1"/>
                    </a:solidFill>
                    <a:latin typeface="Times New Roman" panose="02020603050405020304" pitchFamily="18" charset="0"/>
                    <a:cs typeface="Times New Roman" panose="02020603050405020304" pitchFamily="18" charset="0"/>
                  </a:rPr>
                  <a:t>s-t </a:t>
                </a:r>
                <a:r>
                  <a:rPr lang="zh-CN" altLang="en-US" sz="2400" b="1" dirty="0" smtClean="0">
                    <a:solidFill>
                      <a:schemeClr val="tx1"/>
                    </a:solidFill>
                    <a:latin typeface="Times New Roman" panose="02020603050405020304" pitchFamily="18" charset="0"/>
                    <a:cs typeface="Times New Roman" panose="02020603050405020304" pitchFamily="18" charset="0"/>
                  </a:rPr>
                  <a:t>增广</a:t>
                </a:r>
                <a:r>
                  <a:rPr lang="zh-CN" altLang="en-US" sz="2400" b="1" dirty="0">
                    <a:solidFill>
                      <a:schemeClr val="tx1"/>
                    </a:solidFill>
                    <a:latin typeface="Times New Roman" panose="02020603050405020304" pitchFamily="18" charset="0"/>
                    <a:cs typeface="Times New Roman" panose="02020603050405020304" pitchFamily="18" charset="0"/>
                  </a:rPr>
                  <a:t>链通过非饱和</a:t>
                </a:r>
                <a:r>
                  <a:rPr lang="zh-CN" altLang="en-US" sz="2400" b="1" dirty="0" smtClean="0">
                    <a:solidFill>
                      <a:schemeClr val="tx1"/>
                    </a:solidFill>
                    <a:latin typeface="Times New Roman" panose="02020603050405020304" pitchFamily="18" charset="0"/>
                    <a:cs typeface="Times New Roman" panose="02020603050405020304" pitchFamily="18" charset="0"/>
                  </a:rPr>
                  <a:t>的 </a:t>
                </a:r>
                <a:r>
                  <a:rPr lang="en-US" altLang="zh-CN" sz="2400" b="1" dirty="0" smtClean="0">
                    <a:solidFill>
                      <a:schemeClr val="tx1"/>
                    </a:solidFill>
                    <a:latin typeface="Times New Roman" panose="02020603050405020304" pitchFamily="18" charset="0"/>
                    <a:cs typeface="Times New Roman" panose="02020603050405020304" pitchFamily="18" charset="0"/>
                  </a:rPr>
                  <a:t>&lt;</a:t>
                </a:r>
                <a:r>
                  <a:rPr lang="en-US" altLang="zh-CN" sz="2400" b="1" i="1" dirty="0" err="1">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j </a:t>
                </a:r>
                <a:r>
                  <a:rPr lang="en-US" altLang="zh-CN" sz="2400" b="1" dirty="0" smtClean="0">
                    <a:solidFill>
                      <a:schemeClr val="tx1"/>
                    </a:solidFill>
                    <a:latin typeface="Times New Roman" panose="02020603050405020304" pitchFamily="18" charset="0"/>
                    <a:cs typeface="Times New Roman" panose="02020603050405020304" pitchFamily="18" charset="0"/>
                  </a:rPr>
                  <a:t>&gt; </a:t>
                </a:r>
                <a:r>
                  <a:rPr lang="zh-CN" altLang="en-US" sz="2400" b="1" dirty="0" smtClean="0">
                    <a:solidFill>
                      <a:schemeClr val="tx1"/>
                    </a:solidFill>
                    <a:latin typeface="Times New Roman" panose="02020603050405020304" pitchFamily="18" charset="0"/>
                    <a:cs typeface="Times New Roman" panose="02020603050405020304" pitchFamily="18" charset="0"/>
                  </a:rPr>
                  <a:t>延</a:t>
                </a:r>
                <a:r>
                  <a:rPr lang="zh-CN" altLang="en-US" sz="2400" b="1" dirty="0">
                    <a:solidFill>
                      <a:schemeClr val="tx1"/>
                    </a:solidFill>
                    <a:latin typeface="Times New Roman" panose="02020603050405020304" pitchFamily="18" charset="0"/>
                    <a:cs typeface="Times New Roman" panose="02020603050405020304" pitchFamily="18" charset="0"/>
                  </a:rPr>
                  <a:t>审</a:t>
                </a:r>
                <a:r>
                  <a:rPr lang="zh-CN" altLang="en-US" sz="2400" b="1" dirty="0" smtClean="0">
                    <a:solidFill>
                      <a:schemeClr val="tx1"/>
                    </a:solidFill>
                    <a:latin typeface="Times New Roman" panose="02020603050405020304" pitchFamily="18" charset="0"/>
                    <a:cs typeface="Times New Roman" panose="02020603050405020304" pitchFamily="18" charset="0"/>
                  </a:rPr>
                  <a:t>到 </a:t>
                </a:r>
                <a:r>
                  <a:rPr lang="en-US" altLang="zh-CN" sz="2400" b="1" i="1" dirty="0" smtClean="0">
                    <a:solidFill>
                      <a:schemeClr val="tx1"/>
                    </a:solidFill>
                    <a:latin typeface="Times New Roman" panose="02020603050405020304" pitchFamily="18" charset="0"/>
                    <a:cs typeface="Times New Roman" panose="02020603050405020304" pitchFamily="18" charset="0"/>
                  </a:rPr>
                  <a:t>j</a:t>
                </a:r>
                <a:r>
                  <a:rPr lang="zh-CN" altLang="en-US" sz="2400" b="1" dirty="0">
                    <a:solidFill>
                      <a:schemeClr val="tx1"/>
                    </a:solidFill>
                    <a:latin typeface="Times New Roman" panose="02020603050405020304" pitchFamily="18" charset="0"/>
                    <a:cs typeface="Times New Roman" panose="02020603050405020304" pitchFamily="18" charset="0"/>
                  </a:rPr>
                  <a:t>，</a:t>
                </a:r>
                <a:r>
                  <a:rPr lang="zh-CN" altLang="en-US" sz="2400" b="1" dirty="0" smtClean="0">
                    <a:solidFill>
                      <a:schemeClr val="tx1"/>
                    </a:solidFill>
                    <a:latin typeface="Times New Roman" panose="02020603050405020304" pitchFamily="18" charset="0"/>
                    <a:cs typeface="Times New Roman" panose="02020603050405020304" pitchFamily="18" charset="0"/>
                  </a:rPr>
                  <a:t>与 </a:t>
                </a:r>
                <a:r>
                  <a:rPr lang="en-US" altLang="zh-CN" sz="2400" b="1" i="1" dirty="0" smtClean="0">
                    <a:solidFill>
                      <a:schemeClr val="tx1"/>
                    </a:solidFill>
                    <a:latin typeface="Times New Roman" panose="02020603050405020304" pitchFamily="18" charset="0"/>
                    <a:cs typeface="Times New Roman" panose="02020603050405020304" pitchFamily="18" charset="0"/>
                  </a:rPr>
                  <a:t>j </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A </a:t>
                </a:r>
                <a:r>
                  <a:rPr lang="zh-CN" alt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矛盾</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algn="l">
                  <a:lnSpc>
                    <a:spcPts val="3300"/>
                  </a:lnSpc>
                  <a:spcBef>
                    <a:spcPct val="0"/>
                  </a:spcBef>
                </a:pP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tx1"/>
                    </a:solidFill>
                    <a:latin typeface="Times New Roman" panose="02020603050405020304" pitchFamily="18" charset="0"/>
                    <a:cs typeface="Times New Roman" panose="02020603050405020304" pitchFamily="18" charset="0"/>
                  </a:rPr>
                  <a:t>&lt;</a:t>
                </a:r>
                <a:r>
                  <a:rPr lang="en-US" altLang="zh-CN" sz="2400" b="1" i="1"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&gt;</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14:m>
                  <m:oMath xmlns:m="http://schemas.openxmlformats.org/officeDocument/2006/math">
                    <m:d>
                      <m:dPr>
                        <m:ctrlP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dPr>
                      <m:e>
                        <m:acc>
                          <m:accPr>
                            <m:chr m:val="̅"/>
                            <m:ctrlP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accPr>
                          <m:e>
                            <m:r>
                              <a:rPr lang="en-US" altLang="zh-CN" sz="2400" b="1" i="1">
                                <a:solidFill>
                                  <a:schemeClr val="tx1"/>
                                </a:solidFill>
                                <a:latin typeface="Cambria Math" panose="02040503050406030204" pitchFamily="18" charset="0"/>
                                <a:cs typeface="Times New Roman" panose="02020603050405020304" pitchFamily="18" charset="0"/>
                                <a:sym typeface="Symbol" panose="05050102010706020507" pitchFamily="18" charset="2"/>
                              </a:rPr>
                              <m:t>𝑨</m:t>
                            </m:r>
                          </m:e>
                        </m:acc>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𝑨</m:t>
                        </m:r>
                      </m:e>
                    </m:d>
                  </m:oMath>
                </a14:m>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a:solidFill>
                      <a:schemeClr val="tx1"/>
                    </a:solidFill>
                    <a:latin typeface="Times New Roman" panose="02020603050405020304" pitchFamily="18" charset="0"/>
                    <a:cs typeface="Times New Roman" panose="02020603050405020304" pitchFamily="18" charset="0"/>
                  </a:rPr>
                  <a:t>必</a:t>
                </a:r>
                <a:r>
                  <a:rPr lang="zh-CN" altLang="en-US" sz="2400" b="1" dirty="0" smtClean="0">
                    <a:solidFill>
                      <a:schemeClr val="tx1"/>
                    </a:solidFill>
                    <a:latin typeface="Times New Roman" panose="02020603050405020304" pitchFamily="18" charset="0"/>
                    <a:cs typeface="Times New Roman" panose="02020603050405020304" pitchFamily="18" charset="0"/>
                  </a:rPr>
                  <a:t>有 </a:t>
                </a:r>
                <a:r>
                  <a:rPr lang="en-US" altLang="zh-CN" sz="2400" b="1" i="1" dirty="0" smtClean="0">
                    <a:solidFill>
                      <a:schemeClr val="tx1"/>
                    </a:solidFill>
                    <a:latin typeface="Times New Roman" panose="02020603050405020304" pitchFamily="18" charset="0"/>
                    <a:cs typeface="Times New Roman" panose="02020603050405020304" pitchFamily="18" charset="0"/>
                  </a:rPr>
                  <a:t>f </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 = 0</a:t>
                </a:r>
                <a:r>
                  <a:rPr lang="en-US" altLang="zh-CN" sz="2400" b="1" dirty="0">
                    <a:solidFill>
                      <a:schemeClr val="tx1"/>
                    </a:solidFill>
                    <a:latin typeface="Times New Roman" panose="02020603050405020304" pitchFamily="18" charset="0"/>
                    <a:cs typeface="Times New Roman" panose="02020603050405020304" pitchFamily="18" charset="0"/>
                  </a:rPr>
                  <a:t>. </a:t>
                </a:r>
                <a:r>
                  <a:rPr lang="zh-CN" altLang="en-US" sz="2400" b="1" dirty="0">
                    <a:solidFill>
                      <a:schemeClr val="tx1"/>
                    </a:solidFill>
                    <a:latin typeface="Times New Roman" panose="02020603050405020304" pitchFamily="18" charset="0"/>
                    <a:cs typeface="Times New Roman" panose="02020603050405020304" pitchFamily="18" charset="0"/>
                  </a:rPr>
                  <a:t>否则</a:t>
                </a:r>
                <a:r>
                  <a:rPr lang="en-US" altLang="zh-CN" sz="2400" b="1" dirty="0">
                    <a:solidFill>
                      <a:schemeClr val="tx1"/>
                    </a:solidFill>
                    <a:latin typeface="Times New Roman" panose="02020603050405020304" pitchFamily="18" charset="0"/>
                    <a:cs typeface="Times New Roman" panose="02020603050405020304" pitchFamily="18" charset="0"/>
                  </a:rPr>
                  <a:t>, </a:t>
                </a:r>
                <a:r>
                  <a:rPr lang="zh-CN" altLang="en-US" sz="2400" b="1" dirty="0">
                    <a:solidFill>
                      <a:schemeClr val="tx1"/>
                    </a:solidFill>
                    <a:latin typeface="Times New Roman" panose="02020603050405020304" pitchFamily="18" charset="0"/>
                    <a:cs typeface="Times New Roman" panose="02020603050405020304" pitchFamily="18" charset="0"/>
                  </a:rPr>
                  <a:t>可以</a:t>
                </a:r>
                <a:r>
                  <a:rPr lang="zh-CN" altLang="en-US" sz="2400" b="1" dirty="0" smtClean="0">
                    <a:solidFill>
                      <a:schemeClr val="tx1"/>
                    </a:solidFill>
                    <a:latin typeface="Times New Roman" panose="02020603050405020304" pitchFamily="18" charset="0"/>
                    <a:cs typeface="Times New Roman" panose="02020603050405020304" pitchFamily="18" charset="0"/>
                  </a:rPr>
                  <a:t>把 </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I </a:t>
                </a:r>
                <a:r>
                  <a:rPr lang="zh-CN" altLang="en-US" sz="2400" b="1" dirty="0" smtClean="0">
                    <a:solidFill>
                      <a:schemeClr val="tx1"/>
                    </a:solidFill>
                    <a:latin typeface="Times New Roman" panose="02020603050405020304" pitchFamily="18" charset="0"/>
                    <a:cs typeface="Times New Roman" panose="02020603050405020304" pitchFamily="18" charset="0"/>
                  </a:rPr>
                  <a:t>增广链 </a:t>
                </a:r>
                <a:r>
                  <a:rPr lang="en-US" altLang="zh-CN" sz="2400" b="1" i="1" dirty="0" smtClean="0">
                    <a:solidFill>
                      <a:schemeClr val="tx1"/>
                    </a:solidFill>
                    <a:latin typeface="Times New Roman" panose="02020603050405020304" pitchFamily="18" charset="0"/>
                    <a:cs typeface="Times New Roman" panose="02020603050405020304" pitchFamily="18" charset="0"/>
                  </a:rPr>
                  <a:t>P </a:t>
                </a:r>
                <a:r>
                  <a:rPr lang="zh-CN" altLang="en-US" sz="2400" b="1" dirty="0" smtClean="0">
                    <a:solidFill>
                      <a:schemeClr val="tx1"/>
                    </a:solidFill>
                    <a:latin typeface="Times New Roman" panose="02020603050405020304" pitchFamily="18" charset="0"/>
                    <a:cs typeface="Times New Roman" panose="02020603050405020304" pitchFamily="18" charset="0"/>
                  </a:rPr>
                  <a:t>通过</a:t>
                </a:r>
                <a:r>
                  <a:rPr lang="zh-CN" altLang="en-US" sz="2400" b="1" dirty="0">
                    <a:solidFill>
                      <a:schemeClr val="tx1"/>
                    </a:solidFill>
                    <a:latin typeface="Times New Roman" panose="02020603050405020304" pitchFamily="18" charset="0"/>
                    <a:cs typeface="Times New Roman" panose="02020603050405020304" pitchFamily="18" charset="0"/>
                  </a:rPr>
                  <a:t>非零</a:t>
                </a:r>
                <a:r>
                  <a:rPr lang="zh-CN" altLang="en-US" sz="2400" b="1" dirty="0" smtClean="0">
                    <a:solidFill>
                      <a:schemeClr val="tx1"/>
                    </a:solidFill>
                    <a:latin typeface="Times New Roman" panose="02020603050405020304" pitchFamily="18" charset="0"/>
                    <a:cs typeface="Times New Roman" panose="02020603050405020304" pitchFamily="18" charset="0"/>
                  </a:rPr>
                  <a:t>流 </a:t>
                </a:r>
                <a:r>
                  <a:rPr lang="en-US" altLang="zh-CN" sz="2400" b="1" dirty="0" smtClean="0">
                    <a:solidFill>
                      <a:schemeClr val="tx1"/>
                    </a:solidFill>
                    <a:latin typeface="Times New Roman" panose="02020603050405020304" pitchFamily="18" charset="0"/>
                    <a:cs typeface="Times New Roman" panose="02020603050405020304" pitchFamily="18" charset="0"/>
                  </a:rPr>
                  <a:t>&lt;</a:t>
                </a:r>
                <a:r>
                  <a:rPr lang="en-US" altLang="zh-CN" sz="2400" b="1" i="1" dirty="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a:solidFill>
                      <a:schemeClr val="tx1"/>
                    </a:solidFill>
                    <a:latin typeface="Times New Roman" panose="02020603050405020304" pitchFamily="18" charset="0"/>
                    <a:cs typeface="Times New Roman" panose="02020603050405020304" pitchFamily="18" charset="0"/>
                  </a:rPr>
                  <a:t>&gt;</a:t>
                </a:r>
                <a:r>
                  <a:rPr lang="zh-CN" altLang="en-US" sz="2400" b="1" dirty="0">
                    <a:solidFill>
                      <a:schemeClr val="tx1"/>
                    </a:solidFill>
                    <a:latin typeface="Times New Roman" panose="02020603050405020304" pitchFamily="18" charset="0"/>
                    <a:cs typeface="Times New Roman" panose="02020603050405020304" pitchFamily="18" charset="0"/>
                  </a:rPr>
                  <a:t>（后向边）延伸</a:t>
                </a:r>
                <a:r>
                  <a:rPr lang="zh-CN" altLang="en-US" sz="2400" b="1" dirty="0" smtClean="0">
                    <a:solidFill>
                      <a:schemeClr val="tx1"/>
                    </a:solidFill>
                    <a:latin typeface="Times New Roman" panose="02020603050405020304" pitchFamily="18" charset="0"/>
                    <a:cs typeface="Times New Roman" panose="02020603050405020304" pitchFamily="18" charset="0"/>
                  </a:rPr>
                  <a:t>到 </a:t>
                </a:r>
                <a:r>
                  <a:rPr lang="en-US" altLang="zh-CN" sz="2400" b="1" i="1" dirty="0" smtClean="0">
                    <a:solidFill>
                      <a:schemeClr val="tx1"/>
                    </a:solidFill>
                    <a:latin typeface="Times New Roman" panose="02020603050405020304" pitchFamily="18" charset="0"/>
                    <a:cs typeface="Times New Roman" panose="02020603050405020304" pitchFamily="18" charset="0"/>
                  </a:rPr>
                  <a:t>j</a:t>
                </a:r>
                <a:r>
                  <a:rPr lang="en-US" altLang="zh-CN" sz="2400" b="1" dirty="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与 </a:t>
                </a:r>
                <a:r>
                  <a:rPr lang="en-US" altLang="zh-CN" sz="2400" b="1" i="1" dirty="0" err="1" smtClean="0">
                    <a:solidFill>
                      <a:schemeClr val="tx1"/>
                    </a:solidFill>
                    <a:latin typeface="Times New Roman" panose="02020603050405020304" pitchFamily="18" charset="0"/>
                    <a:cs typeface="Times New Roman" panose="02020603050405020304" pitchFamily="18" charset="0"/>
                  </a:rPr>
                  <a:t>j</a:t>
                </a:r>
                <a:r>
                  <a:rPr lang="en-US" altLang="zh-CN" sz="2400" b="1"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solidFill>
                      <a:schemeClr val="tx1"/>
                    </a:solidFill>
                    <a:latin typeface="Times New Roman" panose="02020603050405020304" pitchFamily="18" charset="0"/>
                    <a:cs typeface="Times New Roman" panose="02020603050405020304" pitchFamily="18" charset="0"/>
                  </a:rPr>
                  <a:t>A</a:t>
                </a:r>
                <a:r>
                  <a:rPr lang="zh-CN" altLang="en-US"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矛盾</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algn="l">
                  <a:lnSpc>
                    <a:spcPts val="3300"/>
                  </a:lnSpc>
                  <a:spcBef>
                    <a:spcPct val="0"/>
                  </a:spcBef>
                </a:pPr>
                <a:r>
                  <a:rPr lang="zh-CN" altLang="en-US"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于</a:t>
                </a:r>
                <a:r>
                  <a:rPr lang="zh-CN" alt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是</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根据引理</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7.1,</a:t>
                </a:r>
                <a:r>
                  <a:rPr lang="en-US" altLang="zh-CN" sz="2400" b="1" dirty="0">
                    <a:solidFill>
                      <a:schemeClr val="tx1"/>
                    </a:solidFill>
                    <a:latin typeface="Arial" panose="020B0604020202020204" pitchFamily="34" charset="0"/>
                    <a:sym typeface="Symbol" panose="05050102010706020507" pitchFamily="18" charset="2"/>
                  </a:rPr>
                  <a:t> </a:t>
                </a:r>
                <a:r>
                  <a:rPr lang="en-US" altLang="zh-CN" sz="2400" b="1" dirty="0" smtClean="0">
                    <a:solidFill>
                      <a:schemeClr val="tx1"/>
                    </a:solidFill>
                    <a:latin typeface="Arial" panose="020B0604020202020204" pitchFamily="34" charset="0"/>
                    <a:sym typeface="Symbol" panose="05050102010706020507" pitchFamily="18" charset="2"/>
                  </a:rPr>
                  <a:t> </a:t>
                </a:r>
                <a:endPar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indent="269875" algn="l">
                  <a:spcBef>
                    <a:spcPct val="0"/>
                  </a:spcBef>
                </a:pPr>
                <a:endParaRPr lang="en-US" altLang="zh-CN" sz="24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indent="269875" algn="l">
                  <a:spcBef>
                    <a:spcPct val="0"/>
                  </a:spcBef>
                </a:pPr>
                <a:endParaRPr lang="en-US" altLang="zh-CN" sz="24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lvl="0" indent="269875" algn="l">
                  <a:spcBef>
                    <a:spcPct val="0"/>
                  </a:spcBef>
                </a:pPr>
                <a:endParaRPr lang="en-US" altLang="zh-CN" sz="2400" dirty="0">
                  <a:solidFill>
                    <a:schemeClr val="tx1"/>
                  </a:solidFill>
                  <a:sym typeface="Symbol" panose="05050102010706020507" pitchFamily="18" charset="2"/>
                </a:endParaRPr>
              </a:p>
              <a:p>
                <a:pPr algn="l"/>
                <a:endParaRPr lang="zh-CN" altLang="en-US" sz="2400" dirty="0"/>
              </a:p>
            </p:txBody>
          </p:sp>
        </mc:Choice>
        <mc:Fallback>
          <p:sp>
            <p:nvSpPr>
              <p:cNvPr id="2" name="副标题 1"/>
              <p:cNvSpPr>
                <a:spLocks noRot="1" noChangeAspect="1" noMove="1" noResize="1" noEditPoints="1" noAdjustHandles="1" noChangeArrowheads="1" noChangeShapeType="1" noTextEdit="1"/>
              </p:cNvSpPr>
              <p:nvPr>
                <p:ph type="subTitle" idx="1"/>
              </p:nvPr>
            </p:nvSpPr>
            <p:spPr>
              <a:xfrm>
                <a:off x="581224" y="1054925"/>
                <a:ext cx="7896026" cy="2904469"/>
              </a:xfrm>
              <a:blipFill rotWithShape="1">
                <a:blip r:embed="rId1"/>
                <a:stretch>
                  <a:fillRect l="-3" t="-7" b="-55460"/>
                </a:stretch>
              </a:blipFill>
            </p:spPr>
            <p:txBody>
              <a:bodyPr/>
              <a:lstStyle/>
              <a:p>
                <a:r>
                  <a:rPr lang="zh-CN" altLang="en-US">
                    <a:noFill/>
                  </a:rPr>
                  <a:t> </a:t>
                </a:r>
              </a:p>
            </p:txBody>
          </p:sp>
        </mc:Fallback>
      </mc:AlternateContent>
      <p:graphicFrame>
        <p:nvGraphicFramePr>
          <p:cNvPr id="12292" name="Object 4"/>
          <p:cNvGraphicFramePr>
            <a:graphicFrameLocks noChangeAspect="1"/>
          </p:cNvGraphicFramePr>
          <p:nvPr/>
        </p:nvGraphicFramePr>
        <p:xfrm>
          <a:off x="1475656" y="4050438"/>
          <a:ext cx="5702300" cy="714375"/>
        </p:xfrm>
        <a:graphic>
          <a:graphicData uri="http://schemas.openxmlformats.org/presentationml/2006/ole">
            <mc:AlternateContent xmlns:mc="http://schemas.openxmlformats.org/markup-compatibility/2006">
              <mc:Choice xmlns:v="urn:schemas-microsoft-com:vml" Requires="v">
                <p:oleObj spid="_x0000_s12321" name="Equation" r:id="rId2" imgW="2806700" imgH="355600" progId="Equation.3">
                  <p:embed/>
                </p:oleObj>
              </mc:Choice>
              <mc:Fallback>
                <p:oleObj name="Equation" r:id="rId2" imgW="2806700" imgH="3556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4050438"/>
                        <a:ext cx="570230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3"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91606D57-36A4-4E18-AF9F-52FD83CCEBE0}" type="slidenum">
              <a:rPr lang="zh-CN" altLang="en-US" sz="1200" smtClean="0">
                <a:solidFill>
                  <a:srgbClr val="898989"/>
                </a:solidFill>
              </a:rPr>
            </a:fld>
            <a:endParaRPr lang="zh-CN" altLang="en-US" sz="1200" smtClean="0">
              <a:solidFill>
                <a:srgbClr val="898989"/>
              </a:solidFill>
            </a:endParaRPr>
          </a:p>
        </p:txBody>
      </p:sp>
      <p:sp>
        <p:nvSpPr>
          <p:cNvPr id="12294" name="矩形 1"/>
          <p:cNvSpPr>
            <a:spLocks noChangeArrowheads="1"/>
          </p:cNvSpPr>
          <p:nvPr/>
        </p:nvSpPr>
        <p:spPr bwMode="auto">
          <a:xfrm>
            <a:off x="615544" y="5346176"/>
            <a:ext cx="7861706" cy="96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ts val="3400"/>
              </a:lnSpc>
              <a:spcBef>
                <a:spcPct val="0"/>
              </a:spcBef>
              <a:buFontTx/>
              <a:buNone/>
            </a:pPr>
            <a:r>
              <a:rPr lang="zh-CN" altLang="en-US" sz="2400" b="1" dirty="0">
                <a:solidFill>
                  <a:srgbClr val="C00000"/>
                </a:solidFill>
                <a:latin typeface="Times New Roman" panose="02020603050405020304" pitchFamily="18" charset="0"/>
                <a:cs typeface="Times New Roman" panose="02020603050405020304" pitchFamily="18" charset="0"/>
              </a:rPr>
              <a:t>定理</a:t>
            </a:r>
            <a:r>
              <a:rPr lang="en-US" altLang="zh-CN" sz="2400" b="1" dirty="0">
                <a:solidFill>
                  <a:srgbClr val="C00000"/>
                </a:solidFill>
                <a:latin typeface="Times New Roman" panose="02020603050405020304" pitchFamily="18" charset="0"/>
                <a:cs typeface="Times New Roman" panose="02020603050405020304" pitchFamily="18" charset="0"/>
              </a:rPr>
              <a:t>7.2 (</a:t>
            </a:r>
            <a:r>
              <a:rPr lang="zh-CN" altLang="en-US" sz="2400" b="1" dirty="0">
                <a:solidFill>
                  <a:srgbClr val="C00000"/>
                </a:solidFill>
                <a:latin typeface="Times New Roman" panose="02020603050405020304" pitchFamily="18" charset="0"/>
                <a:cs typeface="Times New Roman" panose="02020603050405020304" pitchFamily="18" charset="0"/>
              </a:rPr>
              <a:t>最大流最小割集定理</a:t>
            </a:r>
            <a:r>
              <a:rPr lang="en-US" altLang="zh-CN" sz="2400" b="1" dirty="0">
                <a:solidFill>
                  <a:srgbClr val="C00000"/>
                </a:solidFill>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容量网络的最大流的流量等于最小割集的容量</a:t>
            </a:r>
            <a:r>
              <a:rPr lang="en-US" altLang="zh-CN" sz="2400" b="1" dirty="0">
                <a:latin typeface="Times New Roman" panose="02020603050405020304" pitchFamily="18" charset="0"/>
                <a:cs typeface="Times New Roman" panose="02020603050405020304" pitchFamily="18" charset="0"/>
              </a:rPr>
              <a:t>.</a:t>
            </a:r>
            <a:endParaRPr lang="zh-CN" altLang="en-US" sz="2400" b="1" dirty="0">
              <a:latin typeface="Times New Roman" panose="02020603050405020304" pitchFamily="18" charset="0"/>
              <a:cs typeface="Times New Roman" panose="02020603050405020304" pitchFamily="18" charset="0"/>
            </a:endParaRPr>
          </a:p>
        </p:txBody>
      </p:sp>
      <p:sp>
        <p:nvSpPr>
          <p:cNvPr id="25" name="矩形 24"/>
          <p:cNvSpPr/>
          <p:nvPr/>
        </p:nvSpPr>
        <p:spPr>
          <a:xfrm>
            <a:off x="615544" y="4764813"/>
            <a:ext cx="4304383" cy="461665"/>
          </a:xfrm>
          <a:prstGeom prst="rect">
            <a:avLst/>
          </a:prstGeom>
        </p:spPr>
        <p:txBody>
          <a:bodyPr wrap="none">
            <a:spAutoFit/>
          </a:bodyPr>
          <a:lstStyle/>
          <a:p>
            <a:r>
              <a:rPr lang="zh-CN" altLang="zh-CN" sz="2400" b="1" dirty="0">
                <a:latin typeface="Times New Roman" panose="02020603050405020304" pitchFamily="18" charset="0"/>
                <a:cs typeface="Times New Roman" panose="02020603050405020304" pitchFamily="18" charset="0"/>
              </a:rPr>
              <a:t>又由引理</a:t>
            </a:r>
            <a:r>
              <a:rPr lang="en-US" altLang="zh-CN" sz="2400" b="1" dirty="0">
                <a:latin typeface="Times New Roman" panose="02020603050405020304" pitchFamily="18" charset="0"/>
              </a:rPr>
              <a:t>7.3, </a:t>
            </a:r>
            <a:r>
              <a:rPr lang="zh-CN" altLang="zh-CN" sz="2400" b="1" dirty="0">
                <a:latin typeface="Times New Roman" panose="02020603050405020304" pitchFamily="18" charset="0"/>
                <a:cs typeface="Times New Roman" panose="02020603050405020304" pitchFamily="18" charset="0"/>
              </a:rPr>
              <a:t>得</a:t>
            </a:r>
            <a:r>
              <a:rPr lang="zh-CN" altLang="zh-CN" sz="2400" b="1" dirty="0" smtClean="0">
                <a:latin typeface="Times New Roman" panose="02020603050405020304" pitchFamily="18" charset="0"/>
                <a:cs typeface="Times New Roman" panose="02020603050405020304" pitchFamily="18" charset="0"/>
              </a:rPr>
              <a:t>证</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rPr>
              <a:t>f </a:t>
            </a:r>
            <a:r>
              <a:rPr lang="zh-CN" altLang="zh-CN" sz="2400" b="1" dirty="0" smtClean="0">
                <a:latin typeface="Times New Roman" panose="02020603050405020304" pitchFamily="18" charset="0"/>
                <a:cs typeface="Times New Roman" panose="02020603050405020304" pitchFamily="18" charset="0"/>
              </a:rPr>
              <a:t>是</a:t>
            </a:r>
            <a:r>
              <a:rPr lang="zh-CN" altLang="zh-CN" sz="2400" b="1" dirty="0">
                <a:latin typeface="Times New Roman" panose="02020603050405020304" pitchFamily="18" charset="0"/>
                <a:cs typeface="Times New Roman" panose="02020603050405020304" pitchFamily="18" charset="0"/>
              </a:rPr>
              <a:t>最大</a:t>
            </a:r>
            <a:r>
              <a:rPr lang="zh-CN" altLang="zh-CN" sz="2400" b="1" dirty="0" smtClean="0">
                <a:latin typeface="Times New Roman" panose="02020603050405020304" pitchFamily="18" charset="0"/>
                <a:cs typeface="Times New Roman" panose="02020603050405020304" pitchFamily="18" charset="0"/>
              </a:rPr>
              <a:t>流</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a:p>
        </p:txBody>
      </p:sp>
      <p:sp>
        <p:nvSpPr>
          <p:cNvPr id="31" name="标题 1"/>
          <p:cNvSpPr>
            <a:spLocks noGrp="1"/>
          </p:cNvSpPr>
          <p:nvPr>
            <p:ph type="ctrTitle"/>
          </p:nvPr>
        </p:nvSpPr>
        <p:spPr>
          <a:xfrm>
            <a:off x="704850" y="236538"/>
            <a:ext cx="7772400" cy="865187"/>
          </a:xfrm>
        </p:spPr>
        <p:txBody>
          <a:bodyPr/>
          <a:lstStyle/>
          <a:p>
            <a:pPr eaLnBrk="1" hangingPunct="1"/>
            <a:r>
              <a:rPr lang="zh-CN" altLang="en-US" sz="4000" b="1" dirty="0" smtClean="0">
                <a:solidFill>
                  <a:srgbClr val="C00000"/>
                </a:solidFill>
                <a:latin typeface="Times New Roman" panose="02020603050405020304" pitchFamily="18" charset="0"/>
                <a:cs typeface="Times New Roman" panose="02020603050405020304" pitchFamily="18" charset="0"/>
              </a:rPr>
              <a:t>定理</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ctrTitle"/>
          </p:nvPr>
        </p:nvSpPr>
        <p:spPr>
          <a:xfrm>
            <a:off x="704850" y="236538"/>
            <a:ext cx="7772400" cy="865187"/>
          </a:xfrm>
        </p:spPr>
        <p:txBody>
          <a:bodyPr/>
          <a:lstStyle/>
          <a:p>
            <a:pPr eaLnBrk="1" hangingPunct="1"/>
            <a:r>
              <a:rPr lang="en-US" altLang="zh-CN" sz="4000" b="1" dirty="0" smtClean="0">
                <a:solidFill>
                  <a:srgbClr val="C00000"/>
                </a:solidFill>
                <a:latin typeface="Times New Roman" panose="02020603050405020304" pitchFamily="18" charset="0"/>
                <a:cs typeface="Times New Roman" panose="02020603050405020304" pitchFamily="18" charset="0"/>
              </a:rPr>
              <a:t>FF</a:t>
            </a:r>
            <a:r>
              <a:rPr lang="zh-CN" altLang="en-US" sz="4000" b="1" dirty="0" smtClean="0">
                <a:solidFill>
                  <a:srgbClr val="C00000"/>
                </a:solidFill>
                <a:latin typeface="Times New Roman" panose="02020603050405020304" pitchFamily="18" charset="0"/>
                <a:cs typeface="Times New Roman" panose="02020603050405020304" pitchFamily="18" charset="0"/>
              </a:rPr>
              <a:t>算法</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
        <p:nvSpPr>
          <p:cNvPr id="13315" name="副标题 2"/>
          <p:cNvSpPr>
            <a:spLocks noGrp="1"/>
          </p:cNvSpPr>
          <p:nvPr>
            <p:ph type="subTitle" idx="1"/>
          </p:nvPr>
        </p:nvSpPr>
        <p:spPr>
          <a:xfrm>
            <a:off x="701675" y="1101725"/>
            <a:ext cx="7775575" cy="5014913"/>
          </a:xfrm>
        </p:spPr>
        <p:txBody>
          <a:bodyPr/>
          <a:lstStyle/>
          <a:p>
            <a:pPr algn="l"/>
            <a:r>
              <a:rPr lang="en-US" altLang="zh-CN" sz="2400" b="1" dirty="0" smtClean="0">
                <a:solidFill>
                  <a:srgbClr val="C00000"/>
                </a:solidFill>
                <a:latin typeface="Times New Roman" panose="02020603050405020304" pitchFamily="18" charset="0"/>
                <a:cs typeface="Times New Roman" panose="02020603050405020304" pitchFamily="18" charset="0"/>
              </a:rPr>
              <a:t>FF</a:t>
            </a:r>
            <a:r>
              <a:rPr lang="zh-CN" altLang="en-US" sz="2400" b="1" dirty="0" smtClean="0">
                <a:solidFill>
                  <a:srgbClr val="C00000"/>
                </a:solidFill>
                <a:latin typeface="Times New Roman" panose="02020603050405020304" pitchFamily="18" charset="0"/>
                <a:cs typeface="Times New Roman" panose="02020603050405020304" pitchFamily="18" charset="0"/>
              </a:rPr>
              <a:t>算法基本步 骤</a:t>
            </a:r>
            <a:r>
              <a:rPr lang="en-US" altLang="zh-CN" sz="2400" b="1" dirty="0" smtClean="0">
                <a:solidFill>
                  <a:schemeClr val="tx1"/>
                </a:solidFill>
                <a:latin typeface="Times New Roman" panose="02020603050405020304" pitchFamily="18" charset="0"/>
                <a:cs typeface="Times New Roman" panose="02020603050405020304" pitchFamily="18" charset="0"/>
              </a:rPr>
              <a:t>: </a:t>
            </a:r>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a:lnSpc>
                <a:spcPts val="3200"/>
              </a:lnSpc>
            </a:pPr>
            <a:r>
              <a:rPr lang="zh-CN" altLang="en-US" sz="2400" b="1" dirty="0" smtClean="0">
                <a:solidFill>
                  <a:schemeClr val="tx1"/>
                </a:solidFill>
                <a:latin typeface="Times New Roman" panose="02020603050405020304" pitchFamily="18" charset="0"/>
                <a:cs typeface="Times New Roman" panose="02020603050405020304" pitchFamily="18" charset="0"/>
              </a:rPr>
              <a:t>从给定的初始可行流 </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zh-CN" altLang="en-US" sz="2400" b="1" dirty="0" smtClean="0">
                <a:solidFill>
                  <a:schemeClr val="tx1"/>
                </a:solidFill>
                <a:latin typeface="Times New Roman" panose="02020603050405020304" pitchFamily="18" charset="0"/>
                <a:cs typeface="Times New Roman" panose="02020603050405020304" pitchFamily="18" charset="0"/>
              </a:rPr>
              <a:t>通常取零流</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开始</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寻找关于当前可行流的 </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t </a:t>
            </a:r>
            <a:r>
              <a:rPr lang="zh-CN" altLang="en-US" sz="2400" b="1" dirty="0" smtClean="0">
                <a:solidFill>
                  <a:schemeClr val="tx1"/>
                </a:solidFill>
                <a:latin typeface="Times New Roman" panose="02020603050405020304" pitchFamily="18" charset="0"/>
                <a:cs typeface="Times New Roman" panose="02020603050405020304" pitchFamily="18" charset="0"/>
              </a:rPr>
              <a:t>增广链</a:t>
            </a:r>
            <a:r>
              <a:rPr lang="en-US" altLang="zh-CN" sz="2400" b="1" i="1" dirty="0" smtClean="0">
                <a:solidFill>
                  <a:schemeClr val="tx1"/>
                </a:solidFill>
                <a:latin typeface="Times New Roman" panose="02020603050405020304" pitchFamily="18" charset="0"/>
                <a:cs typeface="Times New Roman" panose="02020603050405020304" pitchFamily="18" charset="0"/>
              </a:rPr>
              <a:t>P</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修改链上的流量</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得到一个新的可行流</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重复进行</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直到不存在 </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t </a:t>
            </a:r>
            <a:r>
              <a:rPr lang="zh-CN" altLang="en-US" sz="2400" b="1" dirty="0" smtClean="0">
                <a:solidFill>
                  <a:schemeClr val="tx1"/>
                </a:solidFill>
                <a:latin typeface="Times New Roman" panose="02020603050405020304" pitchFamily="18" charset="0"/>
                <a:cs typeface="Times New Roman" panose="02020603050405020304" pitchFamily="18" charset="0"/>
              </a:rPr>
              <a:t>增广链为止</a:t>
            </a:r>
            <a:r>
              <a:rPr lang="en-US" altLang="zh-CN" sz="2400" b="1" dirty="0" smtClean="0">
                <a:solidFill>
                  <a:schemeClr val="tx1"/>
                </a:solidFill>
                <a:latin typeface="Times New Roman" panose="02020603050405020304" pitchFamily="18" charset="0"/>
                <a:cs typeface="Times New Roman" panose="02020603050405020304" pitchFamily="18" charset="0"/>
              </a:rPr>
              <a:t>.</a:t>
            </a:r>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a:lnSpc>
                <a:spcPts val="3200"/>
              </a:lnSpc>
              <a:spcBef>
                <a:spcPts val="1800"/>
              </a:spcBef>
            </a:pPr>
            <a:r>
              <a:rPr lang="zh-CN" altLang="en-US" sz="2400" b="1" dirty="0" smtClean="0">
                <a:solidFill>
                  <a:srgbClr val="C00000"/>
                </a:solidFill>
                <a:latin typeface="Times New Roman" panose="02020603050405020304" pitchFamily="18" charset="0"/>
                <a:cs typeface="Times New Roman" panose="02020603050405020304" pitchFamily="18" charset="0"/>
              </a:rPr>
              <a:t>用标号法寻找 </a:t>
            </a:r>
            <a:r>
              <a:rPr lang="en-US" altLang="zh-CN" sz="2400" b="1" i="1" dirty="0" smtClean="0">
                <a:solidFill>
                  <a:srgbClr val="C00000"/>
                </a:solidFill>
                <a:latin typeface="Times New Roman" panose="02020603050405020304" pitchFamily="18" charset="0"/>
                <a:cs typeface="Times New Roman" panose="02020603050405020304" pitchFamily="18" charset="0"/>
              </a:rPr>
              <a:t>s</a:t>
            </a:r>
            <a:r>
              <a:rPr lang="en-US" altLang="zh-CN" sz="2400" b="1" dirty="0" smtClean="0">
                <a:solidFill>
                  <a:srgbClr val="C00000"/>
                </a:solidFill>
                <a:latin typeface="Times New Roman" panose="02020603050405020304" pitchFamily="18" charset="0"/>
                <a:cs typeface="Times New Roman" panose="02020603050405020304" pitchFamily="18" charset="0"/>
              </a:rPr>
              <a:t>-</a:t>
            </a:r>
            <a:r>
              <a:rPr lang="en-US" altLang="zh-CN" sz="2400" b="1" i="1" dirty="0" smtClean="0">
                <a:solidFill>
                  <a:srgbClr val="C00000"/>
                </a:solidFill>
                <a:latin typeface="Times New Roman" panose="02020603050405020304" pitchFamily="18" charset="0"/>
                <a:cs typeface="Times New Roman" panose="02020603050405020304" pitchFamily="18" charset="0"/>
              </a:rPr>
              <a:t>t </a:t>
            </a:r>
            <a:r>
              <a:rPr lang="zh-CN" altLang="en-US" sz="2400" b="1" dirty="0" smtClean="0">
                <a:solidFill>
                  <a:srgbClr val="C00000"/>
                </a:solidFill>
                <a:latin typeface="Times New Roman" panose="02020603050405020304" pitchFamily="18" charset="0"/>
                <a:cs typeface="Times New Roman" panose="02020603050405020304" pitchFamily="18" charset="0"/>
              </a:rPr>
              <a:t>增广链</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从 </a:t>
            </a:r>
            <a:r>
              <a:rPr lang="en-US" altLang="zh-CN" sz="2400" b="1" i="1" dirty="0" smtClean="0">
                <a:solidFill>
                  <a:schemeClr val="tx1"/>
                </a:solidFill>
                <a:latin typeface="Times New Roman" panose="02020603050405020304" pitchFamily="18" charset="0"/>
                <a:cs typeface="Times New Roman" panose="02020603050405020304" pitchFamily="18" charset="0"/>
              </a:rPr>
              <a:t>s </a:t>
            </a:r>
            <a:r>
              <a:rPr lang="zh-CN" altLang="en-US" sz="2400" b="1" dirty="0" smtClean="0">
                <a:solidFill>
                  <a:schemeClr val="tx1"/>
                </a:solidFill>
                <a:latin typeface="Times New Roman" panose="02020603050405020304" pitchFamily="18" charset="0"/>
                <a:cs typeface="Times New Roman" panose="02020603050405020304" pitchFamily="18" charset="0"/>
              </a:rPr>
              <a:t>开始</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逐个给顶点作标号</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直到 </a:t>
            </a:r>
            <a:r>
              <a:rPr lang="en-US" altLang="zh-CN" sz="2400" b="1" i="1" dirty="0" smtClean="0">
                <a:solidFill>
                  <a:schemeClr val="tx1"/>
                </a:solidFill>
                <a:latin typeface="Times New Roman" panose="02020603050405020304" pitchFamily="18" charset="0"/>
                <a:cs typeface="Times New Roman" panose="02020603050405020304" pitchFamily="18" charset="0"/>
              </a:rPr>
              <a:t>t </a:t>
            </a:r>
            <a:r>
              <a:rPr lang="zh-CN" altLang="en-US" sz="2400" b="1" dirty="0" smtClean="0">
                <a:solidFill>
                  <a:schemeClr val="tx1"/>
                </a:solidFill>
                <a:latin typeface="Times New Roman" panose="02020603050405020304" pitchFamily="18" charset="0"/>
                <a:cs typeface="Times New Roman" panose="02020603050405020304" pitchFamily="18" charset="0"/>
              </a:rPr>
              <a:t>得到标号为止</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顶点 </a:t>
            </a:r>
            <a:r>
              <a:rPr lang="en-US" altLang="zh-CN" sz="2400" b="1" i="1" dirty="0" smtClean="0">
                <a:solidFill>
                  <a:schemeClr val="tx1"/>
                </a:solidFill>
                <a:latin typeface="Times New Roman" panose="02020603050405020304" pitchFamily="18" charset="0"/>
                <a:cs typeface="Times New Roman" panose="02020603050405020304" pitchFamily="18" charset="0"/>
              </a:rPr>
              <a:t>j </a:t>
            </a:r>
            <a:r>
              <a:rPr lang="zh-CN" altLang="en-US" sz="2400" b="1" dirty="0" smtClean="0">
                <a:solidFill>
                  <a:schemeClr val="tx1"/>
                </a:solidFill>
                <a:latin typeface="Times New Roman" panose="02020603050405020304" pitchFamily="18" charset="0"/>
                <a:cs typeface="Times New Roman" panose="02020603050405020304" pitchFamily="18" charset="0"/>
              </a:rPr>
              <a:t>得到标号表示已找到从 </a:t>
            </a:r>
            <a:r>
              <a:rPr lang="en-US" altLang="zh-CN" sz="2400" b="1" i="1" dirty="0" smtClean="0">
                <a:solidFill>
                  <a:schemeClr val="tx1"/>
                </a:solidFill>
                <a:latin typeface="Times New Roman" panose="02020603050405020304" pitchFamily="18" charset="0"/>
                <a:cs typeface="Times New Roman" panose="02020603050405020304" pitchFamily="18" charset="0"/>
              </a:rPr>
              <a:t>s </a:t>
            </a:r>
            <a:r>
              <a:rPr lang="zh-CN" altLang="en-US" sz="2400" b="1" dirty="0" smtClean="0">
                <a:solidFill>
                  <a:schemeClr val="tx1"/>
                </a:solidFill>
                <a:latin typeface="Times New Roman" panose="02020603050405020304" pitchFamily="18" charset="0"/>
                <a:cs typeface="Times New Roman" panose="02020603050405020304" pitchFamily="18" charset="0"/>
              </a:rPr>
              <a:t>到 </a:t>
            </a:r>
            <a:r>
              <a:rPr lang="en-US" altLang="zh-CN" sz="2400" b="1" i="1" dirty="0" smtClean="0">
                <a:solidFill>
                  <a:schemeClr val="tx1"/>
                </a:solidFill>
                <a:latin typeface="Times New Roman" panose="02020603050405020304" pitchFamily="18" charset="0"/>
                <a:cs typeface="Times New Roman" panose="02020603050405020304" pitchFamily="18" charset="0"/>
              </a:rPr>
              <a:t>j</a:t>
            </a:r>
            <a:r>
              <a:rPr lang="zh-CN" altLang="en-US" sz="2400" b="1" dirty="0" smtClean="0">
                <a:solidFill>
                  <a:schemeClr val="tx1"/>
                </a:solidFill>
                <a:latin typeface="Times New Roman" panose="02020603050405020304" pitchFamily="18" charset="0"/>
                <a:cs typeface="Times New Roman" panose="02020603050405020304" pitchFamily="18" charset="0"/>
              </a:rPr>
              <a:t>的增广链</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标号为 </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err="1" smtClean="0">
                <a:solidFill>
                  <a:schemeClr val="tx1"/>
                </a:solidFill>
                <a:latin typeface="Times New Roman" panose="02020603050405020304" pitchFamily="18" charset="0"/>
                <a:cs typeface="Times New Roman" panose="02020603050405020304" pitchFamily="18" charset="0"/>
              </a:rPr>
              <a:t>l</a:t>
            </a:r>
            <a:r>
              <a:rPr lang="en-US" altLang="zh-CN" sz="2400" b="1" i="1" baseline="-25000" dirty="0" err="1"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其中 </a:t>
            </a:r>
            <a:r>
              <a:rPr lang="en-US" altLang="zh-CN" sz="2400" b="1" i="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smtClean="0">
                <a:solidFill>
                  <a:schemeClr val="tx1"/>
                </a:solidFill>
                <a:latin typeface="Times New Roman" panose="02020603050405020304" pitchFamily="18" charset="0"/>
                <a:cs typeface="Times New Roman" panose="02020603050405020304" pitchFamily="18" charset="0"/>
              </a:rPr>
              <a:t>j </a:t>
            </a:r>
            <a:r>
              <a:rPr lang="zh-CN" altLang="en-US" sz="2400" b="1" dirty="0" smtClean="0">
                <a:solidFill>
                  <a:schemeClr val="tx1"/>
                </a:solidFill>
                <a:latin typeface="Times New Roman" panose="02020603050405020304" pitchFamily="18" charset="0"/>
                <a:cs typeface="Times New Roman" panose="02020603050405020304" pitchFamily="18" charset="0"/>
              </a:rPr>
              <a:t>等于这条到 </a:t>
            </a:r>
            <a:r>
              <a:rPr lang="en-US" altLang="zh-CN" sz="2400" b="1" i="1" dirty="0" smtClean="0">
                <a:solidFill>
                  <a:schemeClr val="tx1"/>
                </a:solidFill>
                <a:latin typeface="Times New Roman" panose="02020603050405020304" pitchFamily="18" charset="0"/>
                <a:cs typeface="Times New Roman" panose="02020603050405020304" pitchFamily="18" charset="0"/>
              </a:rPr>
              <a:t>j </a:t>
            </a:r>
            <a:r>
              <a:rPr lang="zh-CN" altLang="en-US" sz="2400" b="1" dirty="0" smtClean="0">
                <a:solidFill>
                  <a:schemeClr val="tx1"/>
                </a:solidFill>
                <a:latin typeface="Times New Roman" panose="02020603050405020304" pitchFamily="18" charset="0"/>
                <a:cs typeface="Times New Roman" panose="02020603050405020304" pitchFamily="18" charset="0"/>
              </a:rPr>
              <a:t>的链上所有前向边的容量与流量之差以及所有后向边的流量的最小值</a:t>
            </a:r>
            <a:r>
              <a:rPr lang="en-US" altLang="zh-CN" sz="2400" b="1" dirty="0" smtClean="0">
                <a:solidFill>
                  <a:schemeClr val="tx1"/>
                </a:solidFill>
                <a:latin typeface="Times New Roman" panose="02020603050405020304" pitchFamily="18" charset="0"/>
                <a:cs typeface="Times New Roman" panose="02020603050405020304" pitchFamily="18" charset="0"/>
              </a:rPr>
              <a:t>. </a:t>
            </a:r>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a:lnSpc>
                <a:spcPts val="3200"/>
              </a:lnSpc>
            </a:pPr>
            <a:r>
              <a:rPr lang="en-US" altLang="zh-CN" sz="2400" b="1" i="1" dirty="0" err="1" smtClean="0">
                <a:solidFill>
                  <a:schemeClr val="tx1"/>
                </a:solidFill>
                <a:latin typeface="Times New Roman" panose="02020603050405020304" pitchFamily="18" charset="0"/>
                <a:cs typeface="Times New Roman" panose="02020603050405020304" pitchFamily="18" charset="0"/>
              </a:rPr>
              <a:t>l</a:t>
            </a:r>
            <a:r>
              <a:rPr lang="en-US" altLang="zh-CN" sz="2400" b="1" i="1" baseline="-25000" dirty="0" err="1"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i="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或 </a:t>
            </a:r>
            <a:r>
              <a:rPr lang="en-US" altLang="zh-CN" sz="2400" b="1" i="1" dirty="0" err="1" smtClean="0">
                <a:solidFill>
                  <a:schemeClr val="tx1"/>
                </a:solidFill>
                <a:latin typeface="Times New Roman" panose="02020603050405020304" pitchFamily="18" charset="0"/>
                <a:cs typeface="Times New Roman" panose="02020603050405020304" pitchFamily="18" charset="0"/>
              </a:rPr>
              <a:t>l</a:t>
            </a:r>
            <a:r>
              <a:rPr lang="en-US" altLang="zh-CN" sz="2400" b="1" i="1" baseline="-25000" dirty="0" err="1"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err="1" smtClean="0">
                <a:solidFill>
                  <a:schemeClr val="tx1"/>
                </a:solidFill>
                <a:latin typeface="Times New Roman" panose="02020603050405020304" pitchFamily="18" charset="0"/>
                <a:cs typeface="Times New Roman" panose="02020603050405020304" pitchFamily="18" charset="0"/>
              </a:rPr>
              <a:t>l</a:t>
            </a:r>
            <a:r>
              <a:rPr lang="en-US" altLang="zh-CN" sz="2400" b="1" i="1" baseline="-25000" dirty="0" err="1"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i="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表示链是从 </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i="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到 </a:t>
            </a:r>
            <a:r>
              <a:rPr lang="en-US" altLang="zh-CN" sz="2400" b="1" i="1" dirty="0" smtClean="0">
                <a:solidFill>
                  <a:schemeClr val="tx1"/>
                </a:solidFill>
                <a:latin typeface="Times New Roman" panose="02020603050405020304" pitchFamily="18" charset="0"/>
                <a:cs typeface="Times New Roman" panose="02020603050405020304" pitchFamily="18" charset="0"/>
              </a:rPr>
              <a:t>j </a:t>
            </a:r>
            <a:r>
              <a:rPr lang="zh-CN" altLang="en-US" sz="2400" b="1" dirty="0" smtClean="0">
                <a:solidFill>
                  <a:schemeClr val="tx1"/>
                </a:solidFill>
                <a:latin typeface="Times New Roman" panose="02020603050405020304" pitchFamily="18" charset="0"/>
                <a:cs typeface="Times New Roman" panose="02020603050405020304" pitchFamily="18" charset="0"/>
              </a:rPr>
              <a:t>且</a:t>
            </a:r>
            <a:r>
              <a:rPr lang="en-US" altLang="zh-CN" sz="2400" b="1" dirty="0" smtClean="0">
                <a:solidFill>
                  <a:schemeClr val="tx1"/>
                </a:solidFill>
                <a:latin typeface="Times New Roman" panose="02020603050405020304" pitchFamily="18" charset="0"/>
                <a:cs typeface="Times New Roman" panose="02020603050405020304" pitchFamily="18" charset="0"/>
              </a:rPr>
              <a:t>&lt;</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&gt;</a:t>
            </a:r>
            <a:r>
              <a:rPr lang="zh-CN" altLang="en-US" sz="2400" b="1" dirty="0" smtClean="0">
                <a:solidFill>
                  <a:schemeClr val="tx1"/>
                </a:solidFill>
                <a:latin typeface="Times New Roman" panose="02020603050405020304" pitchFamily="18" charset="0"/>
                <a:cs typeface="Times New Roman" panose="02020603050405020304" pitchFamily="18" charset="0"/>
              </a:rPr>
              <a:t>是前向边</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err="1" smtClean="0">
                <a:solidFill>
                  <a:schemeClr val="tx1"/>
                </a:solidFill>
                <a:latin typeface="Times New Roman" panose="02020603050405020304" pitchFamily="18" charset="0"/>
                <a:cs typeface="Times New Roman" panose="02020603050405020304" pitchFamily="18" charset="0"/>
              </a:rPr>
              <a:t>l</a:t>
            </a:r>
            <a:r>
              <a:rPr lang="en-US" altLang="zh-CN" sz="2400" b="1" i="1" baseline="-25000" dirty="0" err="1"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i="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表示链是从 </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i="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到 </a:t>
            </a:r>
            <a:r>
              <a:rPr lang="en-US" altLang="zh-CN" sz="2400" b="1" i="1" dirty="0" smtClean="0">
                <a:solidFill>
                  <a:schemeClr val="tx1"/>
                </a:solidFill>
                <a:latin typeface="Times New Roman" panose="02020603050405020304" pitchFamily="18" charset="0"/>
                <a:cs typeface="Times New Roman" panose="02020603050405020304" pitchFamily="18" charset="0"/>
              </a:rPr>
              <a:t>j </a:t>
            </a:r>
            <a:r>
              <a:rPr lang="zh-CN" altLang="en-US" sz="2400" b="1" dirty="0" smtClean="0">
                <a:solidFill>
                  <a:schemeClr val="tx1"/>
                </a:solidFill>
                <a:latin typeface="Times New Roman" panose="02020603050405020304" pitchFamily="18" charset="0"/>
                <a:cs typeface="Times New Roman" panose="02020603050405020304" pitchFamily="18" charset="0"/>
              </a:rPr>
              <a:t>的且</a:t>
            </a:r>
            <a:r>
              <a:rPr lang="en-US" altLang="zh-CN" sz="2400" b="1" dirty="0" smtClean="0">
                <a:solidFill>
                  <a:schemeClr val="tx1"/>
                </a:solidFill>
                <a:latin typeface="Times New Roman" panose="02020603050405020304" pitchFamily="18" charset="0"/>
                <a:cs typeface="Times New Roman" panose="02020603050405020304" pitchFamily="18" charset="0"/>
              </a:rPr>
              <a:t>&lt;</a:t>
            </a:r>
            <a:r>
              <a:rPr lang="en-US" altLang="zh-CN" sz="2400" b="1" i="1" dirty="0"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&gt; </a:t>
            </a:r>
            <a:r>
              <a:rPr lang="zh-CN" altLang="en-US" sz="2400" b="1" dirty="0" smtClean="0">
                <a:solidFill>
                  <a:schemeClr val="tx1"/>
                </a:solidFill>
                <a:latin typeface="Times New Roman" panose="02020603050405020304" pitchFamily="18" charset="0"/>
                <a:cs typeface="Times New Roman" panose="02020603050405020304" pitchFamily="18" charset="0"/>
              </a:rPr>
              <a:t>是后向边</a:t>
            </a:r>
            <a:r>
              <a:rPr lang="en-US" altLang="zh-CN" sz="2400" b="1" dirty="0" smtClean="0">
                <a:solidFill>
                  <a:schemeClr val="tx1"/>
                </a:solidFill>
                <a:latin typeface="Times New Roman" panose="02020603050405020304" pitchFamily="18" charset="0"/>
                <a:cs typeface="Times New Roman" panose="02020603050405020304" pitchFamily="18" charset="0"/>
              </a:rPr>
              <a:t>.  </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p:txBody>
      </p:sp>
      <p:sp>
        <p:nvSpPr>
          <p:cNvPr id="1331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AED280AC-69A5-4ACC-ABF4-3D1722543F9F}"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ctrTitle"/>
          </p:nvPr>
        </p:nvSpPr>
        <p:spPr>
          <a:xfrm>
            <a:off x="685800" y="476250"/>
            <a:ext cx="7772400" cy="865188"/>
          </a:xfrm>
        </p:spPr>
        <p:txBody>
          <a:bodyPr/>
          <a:lstStyle/>
          <a:p>
            <a:pPr eaLnBrk="1" hangingPunct="1"/>
            <a:r>
              <a:rPr lang="en-US" altLang="zh-CN" sz="4000" b="1" smtClean="0">
                <a:solidFill>
                  <a:srgbClr val="C00000"/>
                </a:solidFill>
                <a:latin typeface="Times New Roman" panose="02020603050405020304" pitchFamily="18" charset="0"/>
                <a:cs typeface="Times New Roman" panose="02020603050405020304" pitchFamily="18" charset="0"/>
              </a:rPr>
              <a:t>FF</a:t>
            </a:r>
            <a:r>
              <a:rPr lang="zh-CN" altLang="en-US" sz="4000" b="1" smtClean="0">
                <a:solidFill>
                  <a:srgbClr val="C00000"/>
                </a:solidFill>
                <a:latin typeface="Times New Roman" panose="02020603050405020304" pitchFamily="18" charset="0"/>
                <a:cs typeface="Times New Roman" panose="02020603050405020304" pitchFamily="18" charset="0"/>
              </a:rPr>
              <a:t>算法设计思想</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14339" name="副标题 2"/>
          <p:cNvSpPr>
            <a:spLocks noGrp="1"/>
          </p:cNvSpPr>
          <p:nvPr>
            <p:ph type="subTitle" idx="1"/>
          </p:nvPr>
        </p:nvSpPr>
        <p:spPr>
          <a:xfrm>
            <a:off x="684213" y="1557338"/>
            <a:ext cx="7781925" cy="4535487"/>
          </a:xfrm>
        </p:spPr>
        <p:txBody>
          <a:bodyPr/>
          <a:lstStyle/>
          <a:p>
            <a:pPr algn="l"/>
            <a:r>
              <a:rPr lang="zh-CN" altLang="en-US" sz="2400" b="1" smtClean="0">
                <a:solidFill>
                  <a:schemeClr val="tx1"/>
                </a:solidFill>
                <a:latin typeface="Times New Roman" panose="02020603050405020304" pitchFamily="18" charset="0"/>
                <a:cs typeface="Times New Roman" panose="02020603050405020304" pitchFamily="18" charset="0"/>
              </a:rPr>
              <a:t>顶点分</a:t>
            </a:r>
            <a:r>
              <a:rPr lang="en-US" altLang="zh-CN" sz="2400" b="1" smtClean="0">
                <a:solidFill>
                  <a:schemeClr val="tx1"/>
                </a:solidFill>
                <a:latin typeface="Times New Roman" panose="02020603050405020304" pitchFamily="18" charset="0"/>
                <a:cs typeface="Times New Roman" panose="02020603050405020304" pitchFamily="18" charset="0"/>
              </a:rPr>
              <a:t>3 </a:t>
            </a:r>
            <a:r>
              <a:rPr lang="zh-CN" altLang="en-US" sz="2400" b="1" smtClean="0">
                <a:solidFill>
                  <a:schemeClr val="tx1"/>
                </a:solidFill>
                <a:latin typeface="Times New Roman" panose="02020603050405020304" pitchFamily="18" charset="0"/>
                <a:cs typeface="Times New Roman" panose="02020603050405020304" pitchFamily="18" charset="0"/>
              </a:rPr>
              <a:t>类</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已标号已检查的</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已标号未检查的</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未标号的</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spcBef>
                <a:spcPts val="1800"/>
              </a:spcBef>
            </a:pPr>
            <a:r>
              <a:rPr lang="zh-CN" altLang="en-US" sz="2400" b="1" smtClean="0">
                <a:solidFill>
                  <a:schemeClr val="tx1"/>
                </a:solidFill>
                <a:latin typeface="Times New Roman" panose="02020603050405020304" pitchFamily="18" charset="0"/>
                <a:cs typeface="Times New Roman" panose="02020603050405020304" pitchFamily="18" charset="0"/>
              </a:rPr>
              <a:t>开始时</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给 </a:t>
            </a:r>
            <a:r>
              <a:rPr lang="en-US" altLang="zh-CN" sz="2400" b="1" i="1" smtClean="0">
                <a:solidFill>
                  <a:schemeClr val="tx1"/>
                </a:solidFill>
                <a:latin typeface="Times New Roman" panose="02020603050405020304" pitchFamily="18" charset="0"/>
                <a:cs typeface="Times New Roman" panose="02020603050405020304" pitchFamily="18" charset="0"/>
              </a:rPr>
              <a:t>s </a:t>
            </a:r>
            <a:r>
              <a:rPr lang="zh-CN" altLang="en-US" sz="2400" b="1" smtClean="0">
                <a:solidFill>
                  <a:schemeClr val="tx1"/>
                </a:solidFill>
                <a:latin typeface="Times New Roman" panose="02020603050405020304" pitchFamily="18" charset="0"/>
                <a:cs typeface="Times New Roman" panose="02020603050405020304" pitchFamily="18" charset="0"/>
              </a:rPr>
              <a:t>标号</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s </a:t>
            </a:r>
            <a:r>
              <a:rPr lang="zh-CN" altLang="en-US" sz="2400" b="1" smtClean="0">
                <a:solidFill>
                  <a:schemeClr val="tx1"/>
                </a:solidFill>
                <a:latin typeface="Times New Roman" panose="02020603050405020304" pitchFamily="18" charset="0"/>
                <a:cs typeface="Times New Roman" panose="02020603050405020304" pitchFamily="18" charset="0"/>
              </a:rPr>
              <a:t>是已标号未检查的</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其余顶点都是未标号的</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spcBef>
                <a:spcPts val="1800"/>
              </a:spcBef>
            </a:pPr>
            <a:r>
              <a:rPr lang="zh-CN" altLang="en-US" sz="2400" b="1" smtClean="0">
                <a:solidFill>
                  <a:schemeClr val="tx1"/>
                </a:solidFill>
                <a:latin typeface="Times New Roman" panose="02020603050405020304" pitchFamily="18" charset="0"/>
                <a:cs typeface="Times New Roman" panose="02020603050405020304" pitchFamily="18" charset="0"/>
              </a:rPr>
              <a:t>每一步取一个已标号未检查的顶点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对所有的顶点 </a:t>
            </a:r>
            <a:r>
              <a:rPr lang="en-US" altLang="zh-CN" sz="2400" b="1" i="1"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r>
              <a:rPr lang="zh-CN" altLang="en-US" sz="2400" b="1" smtClean="0">
                <a:solidFill>
                  <a:schemeClr val="tx1"/>
                </a:solidFill>
                <a:latin typeface="Times New Roman" panose="02020603050405020304" pitchFamily="18" charset="0"/>
                <a:cs typeface="Times New Roman" panose="02020603050405020304" pitchFamily="18" charset="0"/>
              </a:rPr>
              <a:t>若 </a:t>
            </a:r>
            <a:r>
              <a:rPr lang="en-US" altLang="zh-CN" sz="2400" b="1" smtClean="0">
                <a:solidFill>
                  <a:schemeClr val="tx1"/>
                </a:solidFill>
                <a:latin typeface="Times New Roman" panose="02020603050405020304" pitchFamily="18" charset="0"/>
                <a:cs typeface="Times New Roman" panose="02020603050405020304" pitchFamily="18" charset="0"/>
              </a:rPr>
              <a:t>&lt;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&gt;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E </a:t>
            </a:r>
            <a:r>
              <a:rPr lang="zh-CN" altLang="en-US" sz="2400" b="1" smtClean="0">
                <a:solidFill>
                  <a:schemeClr val="tx1"/>
                </a:solidFill>
                <a:latin typeface="Times New Roman" panose="02020603050405020304" pitchFamily="18" charset="0"/>
                <a:cs typeface="Times New Roman" panose="02020603050405020304" pitchFamily="18" charset="0"/>
              </a:rPr>
              <a:t>且 </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 &lt; </a:t>
            </a:r>
            <a:r>
              <a:rPr lang="en-US" altLang="zh-CN" sz="2400" b="1" i="1" smtClean="0">
                <a:solidFill>
                  <a:schemeClr val="tx1"/>
                </a:solidFill>
                <a:latin typeface="Times New Roman" panose="02020603050405020304" pitchFamily="18" charset="0"/>
                <a:cs typeface="Times New Roman" panose="02020603050405020304" pitchFamily="18" charset="0"/>
              </a:rPr>
              <a:t>c</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则给 </a:t>
            </a:r>
            <a:r>
              <a:rPr lang="en-US" altLang="zh-CN" sz="2400" b="1" i="1" smtClean="0">
                <a:solidFill>
                  <a:schemeClr val="tx1"/>
                </a:solidFill>
                <a:latin typeface="Times New Roman" panose="02020603050405020304" pitchFamily="18" charset="0"/>
                <a:cs typeface="Times New Roman" panose="02020603050405020304" pitchFamily="18" charset="0"/>
              </a:rPr>
              <a:t>j </a:t>
            </a:r>
            <a:r>
              <a:rPr lang="zh-CN" altLang="en-US" sz="2400" b="1" smtClean="0">
                <a:solidFill>
                  <a:schemeClr val="tx1"/>
                </a:solidFill>
                <a:latin typeface="Times New Roman" panose="02020603050405020304" pitchFamily="18" charset="0"/>
                <a:cs typeface="Times New Roman" panose="02020603050405020304" pitchFamily="18" charset="0"/>
              </a:rPr>
              <a:t>标号 </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其中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baseline="-25000" smtClean="0">
                <a:solidFill>
                  <a:schemeClr val="tx1"/>
                </a:solidFill>
                <a:latin typeface="Times New Roman" panose="02020603050405020304" pitchFamily="18" charset="0"/>
                <a:cs typeface="Times New Roman" panose="02020603050405020304" pitchFamily="18" charset="0"/>
              </a:rPr>
              <a:t>j </a:t>
            </a:r>
            <a:r>
              <a:rPr lang="en-US" altLang="zh-CN" sz="2400" b="1" smtClean="0">
                <a:solidFill>
                  <a:schemeClr val="tx1"/>
                </a:solidFill>
                <a:latin typeface="Times New Roman" panose="02020603050405020304" pitchFamily="18" charset="0"/>
                <a:cs typeface="Times New Roman" panose="02020603050405020304" pitchFamily="18" charset="0"/>
              </a:rPr>
              <a:t>= min{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c</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r>
              <a:rPr lang="zh-CN" altLang="en-US" sz="2400" b="1" smtClean="0">
                <a:solidFill>
                  <a:schemeClr val="tx1"/>
                </a:solidFill>
                <a:latin typeface="Times New Roman" panose="02020603050405020304" pitchFamily="18" charset="0"/>
                <a:cs typeface="Times New Roman" panose="02020603050405020304" pitchFamily="18" charset="0"/>
              </a:rPr>
              <a:t>若 </a:t>
            </a:r>
            <a:r>
              <a:rPr lang="en-US" altLang="zh-CN" sz="2400" b="1" smtClean="0">
                <a:solidFill>
                  <a:schemeClr val="tx1"/>
                </a:solidFill>
                <a:latin typeface="Times New Roman" panose="02020603050405020304" pitchFamily="18" charset="0"/>
                <a:cs typeface="Times New Roman" panose="02020603050405020304" pitchFamily="18" charset="0"/>
              </a:rPr>
              <a:t>&lt;</a:t>
            </a:r>
            <a:r>
              <a:rPr lang="en-US" altLang="zh-CN" sz="2400" b="1" i="1"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i </a:t>
            </a:r>
            <a:r>
              <a:rPr lang="en-US" altLang="zh-CN" sz="2400" b="1" smtClean="0">
                <a:solidFill>
                  <a:schemeClr val="tx1"/>
                </a:solidFill>
                <a:latin typeface="Times New Roman" panose="02020603050405020304" pitchFamily="18" charset="0"/>
                <a:cs typeface="Times New Roman" panose="02020603050405020304" pitchFamily="18" charset="0"/>
              </a:rPr>
              <a:t>&gt;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E</a:t>
            </a:r>
            <a:r>
              <a:rPr lang="zh-CN" altLang="en-US" sz="2400" b="1" smtClean="0">
                <a:solidFill>
                  <a:schemeClr val="tx1"/>
                </a:solidFill>
                <a:latin typeface="Times New Roman" panose="02020603050405020304" pitchFamily="18" charset="0"/>
                <a:cs typeface="Times New Roman" panose="02020603050405020304" pitchFamily="18" charset="0"/>
              </a:rPr>
              <a:t>且 </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&gt; 0, </a:t>
            </a:r>
            <a:r>
              <a:rPr lang="zh-CN" altLang="en-US" sz="2400" b="1" smtClean="0">
                <a:solidFill>
                  <a:schemeClr val="tx1"/>
                </a:solidFill>
                <a:latin typeface="Times New Roman" panose="02020603050405020304" pitchFamily="18" charset="0"/>
                <a:cs typeface="Times New Roman" panose="02020603050405020304" pitchFamily="18" charset="0"/>
              </a:rPr>
              <a:t>则给 </a:t>
            </a:r>
            <a:r>
              <a:rPr lang="en-US" altLang="zh-CN" sz="2400" b="1" i="1" smtClean="0">
                <a:solidFill>
                  <a:schemeClr val="tx1"/>
                </a:solidFill>
                <a:latin typeface="Times New Roman" panose="02020603050405020304" pitchFamily="18" charset="0"/>
                <a:cs typeface="Times New Roman" panose="02020603050405020304" pitchFamily="18" charset="0"/>
              </a:rPr>
              <a:t>j </a:t>
            </a:r>
            <a:r>
              <a:rPr lang="zh-CN" altLang="en-US" sz="2400" b="1" smtClean="0">
                <a:solidFill>
                  <a:schemeClr val="tx1"/>
                </a:solidFill>
                <a:latin typeface="Times New Roman" panose="02020603050405020304" pitchFamily="18" charset="0"/>
                <a:cs typeface="Times New Roman" panose="02020603050405020304" pitchFamily="18" charset="0"/>
              </a:rPr>
              <a:t>标号 </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其中</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baseline="-25000" smtClean="0">
                <a:solidFill>
                  <a:schemeClr val="tx1"/>
                </a:solidFill>
                <a:latin typeface="Times New Roman" panose="02020603050405020304" pitchFamily="18" charset="0"/>
                <a:cs typeface="Times New Roman" panose="02020603050405020304" pitchFamily="18" charset="0"/>
              </a:rPr>
              <a:t>j </a:t>
            </a:r>
            <a:r>
              <a:rPr lang="en-US" altLang="zh-CN" sz="2400" b="1" smtClean="0">
                <a:solidFill>
                  <a:schemeClr val="tx1"/>
                </a:solidFill>
                <a:latin typeface="Times New Roman" panose="02020603050405020304" pitchFamily="18" charset="0"/>
                <a:cs typeface="Times New Roman" panose="02020603050405020304" pitchFamily="18" charset="0"/>
              </a:rPr>
              <a:t>= min{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spcBef>
                <a:spcPts val="1200"/>
              </a:spcBef>
            </a:pPr>
            <a:r>
              <a:rPr lang="zh-CN" altLang="en-US" sz="2400" b="1" smtClean="0">
                <a:solidFill>
                  <a:schemeClr val="tx1"/>
                </a:solidFill>
                <a:latin typeface="Times New Roman" panose="02020603050405020304" pitchFamily="18" charset="0"/>
                <a:cs typeface="Times New Roman" panose="02020603050405020304" pitchFamily="18" charset="0"/>
              </a:rPr>
              <a:t>直到不存在已标号未检查的顶点为止</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zh-CN" altLang="en-US" sz="2400" b="1" smtClean="0">
              <a:solidFill>
                <a:schemeClr val="tx1"/>
              </a:solidFill>
              <a:latin typeface="Times New Roman" panose="02020603050405020304" pitchFamily="18" charset="0"/>
              <a:cs typeface="Times New Roman" panose="02020603050405020304" pitchFamily="18" charset="0"/>
            </a:endParaRPr>
          </a:p>
        </p:txBody>
      </p:sp>
      <p:sp>
        <p:nvSpPr>
          <p:cNvPr id="1434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6FE273FA-B0FC-4E46-B7B8-AFA130E3A381}"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ctrTitle"/>
          </p:nvPr>
        </p:nvSpPr>
        <p:spPr>
          <a:xfrm>
            <a:off x="539750" y="333375"/>
            <a:ext cx="7989888" cy="865188"/>
          </a:xfrm>
        </p:spPr>
        <p:txBody>
          <a:bodyPr/>
          <a:lstStyle/>
          <a:p>
            <a:pPr eaLnBrk="1" hangingPunct="1"/>
            <a:r>
              <a:rPr lang="en-US" altLang="zh-CN" sz="4000" b="1" smtClean="0">
                <a:solidFill>
                  <a:srgbClr val="C00000"/>
                </a:solidFill>
                <a:latin typeface="Times New Roman" panose="02020603050405020304" pitchFamily="18" charset="0"/>
                <a:cs typeface="Times New Roman" panose="02020603050405020304" pitchFamily="18" charset="0"/>
              </a:rPr>
              <a:t>FF</a:t>
            </a:r>
            <a:r>
              <a:rPr lang="zh-CN" altLang="en-US" sz="4000" b="1" smtClean="0">
                <a:solidFill>
                  <a:srgbClr val="C00000"/>
                </a:solidFill>
                <a:latin typeface="Times New Roman" panose="02020603050405020304" pitchFamily="18" charset="0"/>
                <a:cs typeface="Times New Roman" panose="02020603050405020304" pitchFamily="18" charset="0"/>
              </a:rPr>
              <a:t>算法</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3076" name="副标题 2"/>
          <p:cNvSpPr>
            <a:spLocks noGrp="1"/>
          </p:cNvSpPr>
          <p:nvPr>
            <p:ph type="subTitle" idx="1"/>
          </p:nvPr>
        </p:nvSpPr>
        <p:spPr>
          <a:xfrm>
            <a:off x="754063" y="1216115"/>
            <a:ext cx="8389937" cy="4824412"/>
          </a:xfrm>
        </p:spPr>
        <p:txBody>
          <a:bodyPr/>
          <a:lstStyle/>
          <a:p>
            <a:pPr algn="l">
              <a:buFont typeface="Arial" panose="020B0604020202020204" pitchFamily="34" charset="0"/>
              <a:buNone/>
              <a:defRPr/>
            </a:pPr>
            <a:r>
              <a:rPr lang="zh-CN" altLang="en-US" sz="2400" b="1" dirty="0" smtClean="0">
                <a:solidFill>
                  <a:srgbClr val="C00000"/>
                </a:solidFill>
                <a:latin typeface="Times New Roman" panose="02020603050405020304" pitchFamily="18" charset="0"/>
                <a:cs typeface="Times New Roman" panose="02020603050405020304" pitchFamily="18" charset="0"/>
              </a:rPr>
              <a:t>算法</a:t>
            </a:r>
            <a:r>
              <a:rPr lang="en-US" altLang="zh-CN" sz="2400" b="1" dirty="0" smtClean="0">
                <a:solidFill>
                  <a:srgbClr val="C00000"/>
                </a:solidFill>
                <a:latin typeface="Times New Roman" panose="02020603050405020304" pitchFamily="18" charset="0"/>
                <a:cs typeface="Times New Roman" panose="02020603050405020304" pitchFamily="18" charset="0"/>
              </a:rPr>
              <a:t>7.1  </a:t>
            </a:r>
            <a:r>
              <a:rPr lang="en-US" sz="2400" b="1" dirty="0" smtClean="0">
                <a:solidFill>
                  <a:srgbClr val="C00000"/>
                </a:solidFill>
                <a:latin typeface="Times New Roman" panose="02020603050405020304" pitchFamily="18" charset="0"/>
                <a:cs typeface="Times New Roman" panose="02020603050405020304" pitchFamily="18" charset="0"/>
              </a:rPr>
              <a:t>Ford-Fulkerson</a:t>
            </a:r>
            <a:r>
              <a:rPr lang="zh-CN" altLang="en-US" sz="2400" b="1" dirty="0" smtClean="0">
                <a:solidFill>
                  <a:srgbClr val="C00000"/>
                </a:solidFill>
                <a:latin typeface="Times New Roman" panose="02020603050405020304" pitchFamily="18" charset="0"/>
                <a:cs typeface="Times New Roman" panose="02020603050405020304" pitchFamily="18" charset="0"/>
              </a:rPr>
              <a:t>算法</a:t>
            </a:r>
            <a:endParaRPr lang="zh-CN" altLang="en-US" sz="2400" b="1" dirty="0" smtClean="0">
              <a:solidFill>
                <a:srgbClr val="C00000"/>
              </a:solidFill>
              <a:latin typeface="Times New Roman" panose="02020603050405020304" pitchFamily="18" charset="0"/>
              <a:cs typeface="Times New Roman" panose="02020603050405020304" pitchFamily="18" charset="0"/>
            </a:endParaRPr>
          </a:p>
          <a:p>
            <a:pPr algn="l">
              <a:buFont typeface="Arial" panose="020B0604020202020204" pitchFamily="34" charset="0"/>
              <a:buNone/>
              <a:defRPr/>
            </a:pPr>
            <a:r>
              <a:rPr lang="en-US" sz="2400" b="1" dirty="0" smtClean="0">
                <a:solidFill>
                  <a:schemeClr val="tx1"/>
                </a:solidFill>
                <a:latin typeface="Times New Roman" panose="02020603050405020304" pitchFamily="18" charset="0"/>
                <a:cs typeface="Times New Roman" panose="02020603050405020304" pitchFamily="18" charset="0"/>
              </a:rPr>
              <a:t>1.  </a:t>
            </a:r>
            <a:r>
              <a:rPr lang="en-US" sz="2400" b="1" i="1" dirty="0" smtClean="0">
                <a:solidFill>
                  <a:schemeClr val="tx1"/>
                </a:solidFill>
                <a:latin typeface="Times New Roman" panose="02020603050405020304" pitchFamily="18" charset="0"/>
                <a:cs typeface="Times New Roman" panose="02020603050405020304" pitchFamily="18" charset="0"/>
              </a:rPr>
              <a:t>f</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 </a:t>
            </a:r>
            <a:r>
              <a:rPr lang="en-US" sz="2400" b="1" dirty="0" smtClean="0">
                <a:solidFill>
                  <a:schemeClr val="tx1"/>
                </a:solidFill>
                <a:latin typeface="Times New Roman" panose="02020603050405020304" pitchFamily="18" charset="0"/>
                <a:cs typeface="Times New Roman" panose="02020603050405020304" pitchFamily="18" charset="0"/>
              </a:rPr>
              <a:t>0                              //</a:t>
            </a:r>
            <a:r>
              <a:rPr lang="zh-CN" altLang="en-US" sz="2400" b="1" dirty="0" smtClean="0">
                <a:solidFill>
                  <a:schemeClr val="tx1"/>
                </a:solidFill>
                <a:latin typeface="Times New Roman" panose="02020603050405020304" pitchFamily="18" charset="0"/>
                <a:cs typeface="Times New Roman" panose="02020603050405020304" pitchFamily="18" charset="0"/>
              </a:rPr>
              <a:t>取零流作为初始可行流</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None/>
              <a:defRPr/>
            </a:pPr>
            <a:r>
              <a:rPr lang="en-US" sz="2400" b="1" dirty="0" smtClean="0">
                <a:solidFill>
                  <a:schemeClr val="tx1"/>
                </a:solidFill>
                <a:latin typeface="Times New Roman" panose="02020603050405020304" pitchFamily="18" charset="0"/>
                <a:cs typeface="Times New Roman" panose="02020603050405020304" pitchFamily="18" charset="0"/>
              </a:rPr>
              <a:t>2.</a:t>
            </a:r>
            <a:r>
              <a:rPr lang="en-US" sz="2400" b="1" i="1" dirty="0" smtClean="0">
                <a:solidFill>
                  <a:schemeClr val="tx1"/>
                </a:solidFill>
                <a:latin typeface="Times New Roman" panose="02020603050405020304" pitchFamily="18" charset="0"/>
                <a:cs typeface="Times New Roman" panose="02020603050405020304" pitchFamily="18" charset="0"/>
              </a:rPr>
              <a:t> T</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dirty="0" smtClean="0">
                <a:solidFill>
                  <a:schemeClr val="tx1"/>
                </a:solidFill>
                <a:latin typeface="Times New Roman" panose="02020603050405020304" pitchFamily="18" charset="0"/>
                <a:cs typeface="Times New Roman" panose="02020603050405020304" pitchFamily="18" charset="0"/>
              </a:rPr>
              <a:t>{</a:t>
            </a:r>
            <a:r>
              <a:rPr lang="en-US" sz="2400" b="1" i="1" dirty="0" smtClean="0">
                <a:solidFill>
                  <a:schemeClr val="tx1"/>
                </a:solidFill>
                <a:latin typeface="Times New Roman" panose="02020603050405020304" pitchFamily="18" charset="0"/>
                <a:cs typeface="Times New Roman" panose="02020603050405020304" pitchFamily="18" charset="0"/>
              </a:rPr>
              <a:t>s</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rPr>
              <a:t>R</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i="1" dirty="0" smtClean="0">
                <a:solidFill>
                  <a:schemeClr val="tx1"/>
                </a:solidFill>
                <a:latin typeface="Times New Roman" panose="02020603050405020304" pitchFamily="18" charset="0"/>
                <a:cs typeface="Times New Roman" panose="02020603050405020304" pitchFamily="18" charset="0"/>
              </a:rPr>
              <a:t>V</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sz="2400" b="1" dirty="0" smtClean="0">
                <a:solidFill>
                  <a:schemeClr val="tx1"/>
                </a:solidFill>
                <a:latin typeface="Times New Roman" panose="02020603050405020304" pitchFamily="18" charset="0"/>
                <a:cs typeface="Times New Roman" panose="02020603050405020304" pitchFamily="18" charset="0"/>
              </a:rPr>
              <a:t>{</a:t>
            </a:r>
            <a:r>
              <a:rPr lang="en-US" sz="2400" b="1" i="1" dirty="0" smtClean="0">
                <a:solidFill>
                  <a:schemeClr val="tx1"/>
                </a:solidFill>
                <a:latin typeface="Times New Roman" panose="02020603050405020304" pitchFamily="18" charset="0"/>
                <a:cs typeface="Times New Roman" panose="02020603050405020304" pitchFamily="18" charset="0"/>
              </a:rPr>
              <a:t>s</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rPr>
              <a:t>l</a:t>
            </a:r>
            <a:r>
              <a:rPr lang="en-US" sz="2400" b="1" i="1" baseline="-25000" dirty="0" smtClean="0">
                <a:solidFill>
                  <a:schemeClr val="tx1"/>
                </a:solidFill>
                <a:latin typeface="Times New Roman" panose="02020603050405020304" pitchFamily="18" charset="0"/>
                <a:cs typeface="Times New Roman" panose="02020603050405020304" pitchFamily="18" charset="0"/>
              </a:rPr>
              <a:t>s</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i="1" baseline="-25000" dirty="0" smtClean="0">
                <a:solidFill>
                  <a:schemeClr val="tx1"/>
                </a:solidFill>
                <a:latin typeface="Times New Roman" panose="02020603050405020304" pitchFamily="18" charset="0"/>
                <a:cs typeface="Times New Roman" panose="02020603050405020304" pitchFamily="18" charset="0"/>
              </a:rPr>
              <a:t>s</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dirty="0" smtClean="0">
                <a:solidFill>
                  <a:schemeClr val="tx1"/>
                </a:solidFill>
                <a:latin typeface="Times New Roman" panose="02020603050405020304" pitchFamily="18" charset="0"/>
                <a:cs typeface="Times New Roman" panose="02020603050405020304" pitchFamily="18" charset="0"/>
              </a:rPr>
              <a:t>+</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dirty="0" smtClean="0">
                <a:solidFill>
                  <a:schemeClr val="tx1"/>
                </a:solidFill>
                <a:latin typeface="Times New Roman" panose="02020603050405020304" pitchFamily="18" charset="0"/>
                <a:cs typeface="Times New Roman" panose="02020603050405020304" pitchFamily="18" charset="0"/>
              </a:rPr>
              <a:t>       </a:t>
            </a:r>
            <a:endParaRPr lang="en-US" sz="2400" b="1" dirty="0" smtClean="0">
              <a:solidFill>
                <a:schemeClr val="tx1"/>
              </a:solidFill>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None/>
              <a:defRPr/>
            </a:pP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rPr>
              <a:t>T</a:t>
            </a:r>
            <a:r>
              <a:rPr lang="zh-CN" altLang="en-US" sz="2400" b="1" dirty="0" smtClean="0">
                <a:solidFill>
                  <a:schemeClr val="tx1"/>
                </a:solidFill>
                <a:latin typeface="Times New Roman" panose="02020603050405020304" pitchFamily="18" charset="0"/>
                <a:cs typeface="Times New Roman" panose="02020603050405020304" pitchFamily="18" charset="0"/>
              </a:rPr>
              <a:t>是已标号未检查的顶点集</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rPr>
              <a:t>R</a:t>
            </a:r>
            <a:r>
              <a:rPr lang="zh-CN" altLang="en-US" sz="2400" b="1" dirty="0" smtClean="0">
                <a:solidFill>
                  <a:schemeClr val="tx1"/>
                </a:solidFill>
                <a:latin typeface="Times New Roman" panose="02020603050405020304" pitchFamily="18" charset="0"/>
                <a:cs typeface="Times New Roman" panose="02020603050405020304" pitchFamily="18" charset="0"/>
              </a:rPr>
              <a:t>是未标号的顶点集</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buFont typeface="Arial" panose="020B0604020202020204" pitchFamily="34" charset="0"/>
              <a:buNone/>
              <a:defRPr/>
            </a:pPr>
            <a:r>
              <a:rPr lang="en-US" sz="2400" b="1" dirty="0" smtClean="0">
                <a:solidFill>
                  <a:schemeClr val="tx1"/>
                </a:solidFill>
                <a:latin typeface="Times New Roman" panose="02020603050405020304" pitchFamily="18" charset="0"/>
                <a:cs typeface="Times New Roman" panose="02020603050405020304" pitchFamily="18" charset="0"/>
              </a:rPr>
              <a:t>3.  while </a:t>
            </a:r>
            <a:r>
              <a:rPr lang="en-US" sz="2400" b="1" i="1" dirty="0" smtClean="0">
                <a:solidFill>
                  <a:schemeClr val="tx1"/>
                </a:solidFill>
                <a:latin typeface="Times New Roman" panose="02020603050405020304" pitchFamily="18" charset="0"/>
                <a:cs typeface="Times New Roman" panose="02020603050405020304" pitchFamily="18" charset="0"/>
              </a:rPr>
              <a:t>T</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 </a:t>
            </a:r>
            <a:r>
              <a:rPr lang="en-US" sz="2400" b="1" dirty="0" smtClean="0">
                <a:solidFill>
                  <a:schemeClr val="tx1"/>
                </a:solidFill>
                <a:latin typeface="Times New Roman" panose="02020603050405020304" pitchFamily="18" charset="0"/>
                <a:cs typeface="Times New Roman" panose="02020603050405020304" pitchFamily="18" charset="0"/>
              </a:rPr>
              <a:t>  do</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buFont typeface="Arial" panose="020B0604020202020204" pitchFamily="34" charset="0"/>
              <a:buNone/>
              <a:defRPr/>
            </a:pPr>
            <a:r>
              <a:rPr lang="en-US" sz="2400" b="1" dirty="0" smtClean="0">
                <a:solidFill>
                  <a:schemeClr val="tx1"/>
                </a:solidFill>
                <a:latin typeface="Times New Roman" panose="02020603050405020304" pitchFamily="18" charset="0"/>
                <a:cs typeface="Times New Roman" panose="02020603050405020304" pitchFamily="18" charset="0"/>
              </a:rPr>
              <a:t>4.      </a:t>
            </a:r>
            <a:r>
              <a:rPr lang="zh-CN" altLang="en-US" sz="2400" b="1" dirty="0" smtClean="0">
                <a:solidFill>
                  <a:schemeClr val="tx1"/>
                </a:solidFill>
                <a:latin typeface="Times New Roman" panose="02020603050405020304" pitchFamily="18" charset="0"/>
                <a:cs typeface="Times New Roman" panose="02020603050405020304" pitchFamily="18" charset="0"/>
              </a:rPr>
              <a:t>取</a:t>
            </a:r>
            <a:r>
              <a:rPr lang="en-US" sz="2400" b="1" i="1" dirty="0" err="1" smtClean="0">
                <a:solidFill>
                  <a:schemeClr val="tx1"/>
                </a:solidFill>
                <a:latin typeface="Times New Roman" panose="02020603050405020304" pitchFamily="18" charset="0"/>
                <a:cs typeface="Times New Roman" panose="02020603050405020304" pitchFamily="18" charset="0"/>
              </a:rPr>
              <a:t>i</a:t>
            </a:r>
            <a:r>
              <a:rPr lang="en-US" sz="2400" b="1" dirty="0" err="1"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i="1" dirty="0" err="1" smtClean="0">
                <a:solidFill>
                  <a:schemeClr val="tx1"/>
                </a:solidFill>
                <a:latin typeface="Times New Roman" panose="02020603050405020304" pitchFamily="18" charset="0"/>
                <a:cs typeface="Times New Roman" panose="02020603050405020304" pitchFamily="18" charset="0"/>
              </a:rPr>
              <a:t>T</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rPr>
              <a:t>T</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i="1" dirty="0" smtClean="0">
                <a:solidFill>
                  <a:schemeClr val="tx1"/>
                </a:solidFill>
                <a:latin typeface="Times New Roman" panose="02020603050405020304" pitchFamily="18" charset="0"/>
                <a:cs typeface="Times New Roman" panose="02020603050405020304" pitchFamily="18" charset="0"/>
              </a:rPr>
              <a:t>T</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sz="2400" b="1" dirty="0" smtClean="0">
                <a:solidFill>
                  <a:schemeClr val="tx1"/>
                </a:solidFill>
                <a:latin typeface="Times New Roman" panose="02020603050405020304" pitchFamily="18" charset="0"/>
                <a:cs typeface="Times New Roman" panose="02020603050405020304" pitchFamily="18" charset="0"/>
              </a:rPr>
              <a:t>{</a:t>
            </a:r>
            <a:r>
              <a:rPr lang="en-US" sz="2400" b="1" i="1" dirty="0" err="1" smtClean="0">
                <a:solidFill>
                  <a:schemeClr val="tx1"/>
                </a:solidFill>
                <a:latin typeface="Times New Roman" panose="02020603050405020304" pitchFamily="18" charset="0"/>
                <a:cs typeface="Times New Roman" panose="02020603050405020304" pitchFamily="18" charset="0"/>
              </a:rPr>
              <a:t>i</a:t>
            </a:r>
            <a:r>
              <a:rPr lang="en-US"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检查顶点</a:t>
            </a:r>
            <a:r>
              <a:rPr lang="en-US" sz="2400" b="1" i="1" dirty="0" err="1" smtClean="0">
                <a:solidFill>
                  <a:schemeClr val="tx1"/>
                </a:solidFill>
                <a:latin typeface="Times New Roman" panose="02020603050405020304" pitchFamily="18" charset="0"/>
                <a:cs typeface="Times New Roman" panose="02020603050405020304" pitchFamily="18" charset="0"/>
              </a:rPr>
              <a:t>i</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buFont typeface="Arial" panose="020B0604020202020204" pitchFamily="34" charset="0"/>
              <a:buNone/>
              <a:defRPr/>
            </a:pPr>
            <a:r>
              <a:rPr lang="en-US" sz="2400" b="1" dirty="0" smtClean="0">
                <a:solidFill>
                  <a:schemeClr val="tx1"/>
                </a:solidFill>
                <a:latin typeface="Times New Roman" panose="02020603050405020304" pitchFamily="18" charset="0"/>
                <a:cs typeface="Times New Roman" panose="02020603050405020304" pitchFamily="18" charset="0"/>
              </a:rPr>
              <a:t>5.      for </a:t>
            </a:r>
            <a:r>
              <a:rPr lang="zh-CN" altLang="en-US" sz="2400" b="1" dirty="0" smtClean="0">
                <a:solidFill>
                  <a:schemeClr val="tx1"/>
                </a:solidFill>
                <a:latin typeface="Times New Roman" panose="02020603050405020304" pitchFamily="18" charset="0"/>
                <a:cs typeface="Times New Roman" panose="02020603050405020304" pitchFamily="18" charset="0"/>
              </a:rPr>
              <a:t>所有</a:t>
            </a:r>
            <a:r>
              <a:rPr lang="en-US" sz="2400" b="1" i="1" dirty="0" smtClean="0">
                <a:solidFill>
                  <a:schemeClr val="tx1"/>
                </a:solidFill>
                <a:latin typeface="Times New Roman" panose="02020603050405020304" pitchFamily="18" charset="0"/>
                <a:cs typeface="Times New Roman" panose="02020603050405020304" pitchFamily="18" charset="0"/>
              </a:rPr>
              <a:t>R</a:t>
            </a:r>
            <a:r>
              <a:rPr lang="zh-CN" altLang="en-US" sz="2400" b="1" dirty="0" smtClean="0">
                <a:solidFill>
                  <a:schemeClr val="tx1"/>
                </a:solidFill>
                <a:latin typeface="Times New Roman" panose="02020603050405020304" pitchFamily="18" charset="0"/>
                <a:cs typeface="Times New Roman" panose="02020603050405020304" pitchFamily="18" charset="0"/>
              </a:rPr>
              <a:t>中与 </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sz="2400" b="1" i="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邻接的 </a:t>
            </a:r>
            <a:r>
              <a:rPr lang="en-US" sz="2400" b="1" i="1" dirty="0" smtClean="0">
                <a:solidFill>
                  <a:schemeClr val="tx1"/>
                </a:solidFill>
                <a:latin typeface="Times New Roman" panose="02020603050405020304" pitchFamily="18" charset="0"/>
                <a:cs typeface="Times New Roman" panose="02020603050405020304" pitchFamily="18" charset="0"/>
              </a:rPr>
              <a:t>j</a:t>
            </a:r>
            <a:r>
              <a:rPr lang="en-US" sz="2400" b="1" dirty="0" smtClean="0">
                <a:solidFill>
                  <a:schemeClr val="tx1"/>
                </a:solidFill>
                <a:latin typeface="Times New Roman" panose="02020603050405020304" pitchFamily="18" charset="0"/>
                <a:cs typeface="Times New Roman" panose="02020603050405020304" pitchFamily="18" charset="0"/>
              </a:rPr>
              <a:t> do</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buFont typeface="Arial" panose="020B0604020202020204" pitchFamily="34" charset="0"/>
              <a:buNone/>
              <a:defRPr/>
            </a:pPr>
            <a:r>
              <a:rPr lang="en-US" sz="2400" b="1" dirty="0" smtClean="0">
                <a:solidFill>
                  <a:schemeClr val="tx1"/>
                </a:solidFill>
                <a:latin typeface="Times New Roman" panose="02020603050405020304" pitchFamily="18" charset="0"/>
                <a:cs typeface="Times New Roman" panose="02020603050405020304" pitchFamily="18" charset="0"/>
              </a:rPr>
              <a:t>6.         if &lt;</a:t>
            </a:r>
            <a:r>
              <a:rPr lang="en-US" sz="2400" b="1" i="1" dirty="0" err="1" smtClean="0">
                <a:solidFill>
                  <a:schemeClr val="tx1"/>
                </a:solidFill>
                <a:latin typeface="Times New Roman" panose="02020603050405020304" pitchFamily="18" charset="0"/>
                <a:cs typeface="Times New Roman" panose="02020603050405020304" pitchFamily="18" charset="0"/>
              </a:rPr>
              <a:t>i</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rPr>
              <a:t>j</a:t>
            </a:r>
            <a:r>
              <a:rPr lang="en-US" sz="2400" b="1" dirty="0" smtClean="0">
                <a:solidFill>
                  <a:schemeClr val="tx1"/>
                </a:solidFill>
                <a:latin typeface="Times New Roman" panose="02020603050405020304" pitchFamily="18" charset="0"/>
                <a:cs typeface="Times New Roman" panose="02020603050405020304" pitchFamily="18" charset="0"/>
              </a:rPr>
              <a:t>&gt;</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i="1" dirty="0" smtClean="0">
                <a:solidFill>
                  <a:schemeClr val="tx1"/>
                </a:solidFill>
                <a:latin typeface="Times New Roman" panose="02020603050405020304" pitchFamily="18" charset="0"/>
                <a:cs typeface="Times New Roman" panose="02020603050405020304" pitchFamily="18" charset="0"/>
              </a:rPr>
              <a:t>E</a:t>
            </a:r>
            <a:r>
              <a:rPr lang="zh-CN" altLang="en-US" sz="2400" b="1" dirty="0" smtClean="0">
                <a:solidFill>
                  <a:schemeClr val="tx1"/>
                </a:solidFill>
                <a:latin typeface="Times New Roman" panose="02020603050405020304" pitchFamily="18" charset="0"/>
                <a:cs typeface="Times New Roman" panose="02020603050405020304" pitchFamily="18" charset="0"/>
              </a:rPr>
              <a:t>且 </a:t>
            </a:r>
            <a:r>
              <a:rPr lang="en-US" sz="2400" b="1" i="1" dirty="0" smtClean="0">
                <a:solidFill>
                  <a:schemeClr val="tx1"/>
                </a:solidFill>
                <a:latin typeface="Times New Roman" panose="02020603050405020304" pitchFamily="18" charset="0"/>
                <a:cs typeface="Times New Roman" panose="02020603050405020304" pitchFamily="18" charset="0"/>
              </a:rPr>
              <a:t>f</a:t>
            </a:r>
            <a:r>
              <a:rPr lang="en-US" sz="2400" b="1" dirty="0" smtClean="0">
                <a:solidFill>
                  <a:schemeClr val="tx1"/>
                </a:solidFill>
                <a:latin typeface="Times New Roman" panose="02020603050405020304" pitchFamily="18" charset="0"/>
                <a:cs typeface="Times New Roman" panose="02020603050405020304" pitchFamily="18" charset="0"/>
              </a:rPr>
              <a:t>(</a:t>
            </a:r>
            <a:r>
              <a:rPr lang="en-US" sz="2400" b="1" i="1" dirty="0" err="1" smtClean="0">
                <a:solidFill>
                  <a:schemeClr val="tx1"/>
                </a:solidFill>
                <a:latin typeface="Times New Roman" panose="02020603050405020304" pitchFamily="18" charset="0"/>
                <a:cs typeface="Times New Roman" panose="02020603050405020304" pitchFamily="18" charset="0"/>
              </a:rPr>
              <a:t>i</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rPr>
              <a:t>j</a:t>
            </a:r>
            <a:r>
              <a:rPr lang="en-US" sz="2400" b="1" dirty="0" smtClean="0">
                <a:solidFill>
                  <a:schemeClr val="tx1"/>
                </a:solidFill>
                <a:latin typeface="Times New Roman" panose="02020603050405020304" pitchFamily="18" charset="0"/>
                <a:cs typeface="Times New Roman" panose="02020603050405020304" pitchFamily="18" charset="0"/>
              </a:rPr>
              <a:t>) &lt; </a:t>
            </a:r>
            <a:r>
              <a:rPr lang="en-US" sz="2400" b="1" i="1" dirty="0" smtClean="0">
                <a:solidFill>
                  <a:schemeClr val="tx1"/>
                </a:solidFill>
                <a:latin typeface="Times New Roman" panose="02020603050405020304" pitchFamily="18" charset="0"/>
                <a:cs typeface="Times New Roman" panose="02020603050405020304" pitchFamily="18" charset="0"/>
              </a:rPr>
              <a:t>c</a:t>
            </a:r>
            <a:r>
              <a:rPr lang="en-US" sz="2400" b="1" dirty="0" smtClean="0">
                <a:solidFill>
                  <a:schemeClr val="tx1"/>
                </a:solidFill>
                <a:latin typeface="Times New Roman" panose="02020603050405020304" pitchFamily="18" charset="0"/>
                <a:cs typeface="Times New Roman" panose="02020603050405020304" pitchFamily="18" charset="0"/>
              </a:rPr>
              <a:t>(</a:t>
            </a:r>
            <a:r>
              <a:rPr lang="en-US" sz="2400" b="1" i="1" dirty="0" err="1" smtClean="0">
                <a:solidFill>
                  <a:schemeClr val="tx1"/>
                </a:solidFill>
                <a:latin typeface="Times New Roman" panose="02020603050405020304" pitchFamily="18" charset="0"/>
                <a:cs typeface="Times New Roman" panose="02020603050405020304" pitchFamily="18" charset="0"/>
              </a:rPr>
              <a:t>i</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rPr>
              <a:t>j</a:t>
            </a:r>
            <a:r>
              <a:rPr lang="en-US" sz="2400" b="1" dirty="0" smtClean="0">
                <a:solidFill>
                  <a:schemeClr val="tx1"/>
                </a:solidFill>
                <a:latin typeface="Times New Roman" panose="02020603050405020304" pitchFamily="18" charset="0"/>
                <a:cs typeface="Times New Roman" panose="02020603050405020304" pitchFamily="18" charset="0"/>
              </a:rPr>
              <a:t>) then</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buFont typeface="Arial" panose="020B0604020202020204" pitchFamily="34" charset="0"/>
              <a:buNone/>
              <a:defRPr/>
            </a:pPr>
            <a:r>
              <a:rPr lang="en-US" sz="2400" b="1" dirty="0" smtClean="0">
                <a:solidFill>
                  <a:schemeClr val="tx1"/>
                </a:solidFill>
                <a:latin typeface="Times New Roman" panose="02020603050405020304" pitchFamily="18" charset="0"/>
                <a:cs typeface="Times New Roman" panose="02020603050405020304" pitchFamily="18" charset="0"/>
              </a:rPr>
              <a:t>7.             </a:t>
            </a:r>
            <a:r>
              <a:rPr lang="en-US" sz="2400" b="1" i="1" dirty="0" err="1" smtClean="0">
                <a:solidFill>
                  <a:schemeClr val="tx1"/>
                </a:solidFill>
                <a:latin typeface="Times New Roman" panose="02020603050405020304" pitchFamily="18" charset="0"/>
                <a:cs typeface="Times New Roman" panose="02020603050405020304" pitchFamily="18" charset="0"/>
              </a:rPr>
              <a:t>l</a:t>
            </a:r>
            <a:r>
              <a:rPr lang="en-US" sz="2400" b="1" i="1" baseline="-25000" dirty="0" err="1" smtClean="0">
                <a:solidFill>
                  <a:schemeClr val="tx1"/>
                </a:solidFill>
                <a:latin typeface="Times New Roman" panose="02020603050405020304" pitchFamily="18" charset="0"/>
                <a:cs typeface="Times New Roman" panose="02020603050405020304" pitchFamily="18" charset="0"/>
              </a:rPr>
              <a:t>j</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dirty="0" smtClean="0">
                <a:solidFill>
                  <a:schemeClr val="tx1"/>
                </a:solidFill>
                <a:latin typeface="Times New Roman" panose="02020603050405020304" pitchFamily="18" charset="0"/>
                <a:cs typeface="Times New Roman" panose="02020603050405020304" pitchFamily="18" charset="0"/>
              </a:rPr>
              <a:t>+</a:t>
            </a:r>
            <a:r>
              <a:rPr lang="en-US" sz="2400" b="1" i="1" dirty="0" err="1" smtClean="0">
                <a:solidFill>
                  <a:schemeClr val="tx1"/>
                </a:solidFill>
                <a:latin typeface="Times New Roman" panose="02020603050405020304" pitchFamily="18" charset="0"/>
                <a:cs typeface="Times New Roman" panose="02020603050405020304" pitchFamily="18" charset="0"/>
              </a:rPr>
              <a:t>i</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i="1" baseline="-25000" dirty="0" err="1" smtClean="0">
                <a:solidFill>
                  <a:schemeClr val="tx1"/>
                </a:solidFill>
                <a:latin typeface="Times New Roman" panose="02020603050405020304" pitchFamily="18" charset="0"/>
                <a:cs typeface="Times New Roman" panose="02020603050405020304" pitchFamily="18" charset="0"/>
              </a:rPr>
              <a:t>j</a:t>
            </a:r>
            <a:r>
              <a:rPr lang="en-US" sz="2400" b="1" dirty="0" err="1"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dirty="0" err="1" smtClean="0">
                <a:solidFill>
                  <a:schemeClr val="tx1"/>
                </a:solidFill>
                <a:latin typeface="Times New Roman" panose="02020603050405020304" pitchFamily="18" charset="0"/>
                <a:cs typeface="Times New Roman" panose="02020603050405020304" pitchFamily="18" charset="0"/>
              </a:rPr>
              <a:t>min</a:t>
            </a:r>
            <a:r>
              <a:rPr lang="en-US" sz="2400" b="1" dirty="0" smtClean="0">
                <a:solidFill>
                  <a:schemeClr val="tx1"/>
                </a:solidFill>
                <a:latin typeface="Times New Roman" panose="02020603050405020304" pitchFamily="18" charset="0"/>
                <a:cs typeface="Times New Roman" panose="02020603050405020304" pitchFamily="18" charset="0"/>
              </a:rPr>
              <a:t>{</a:t>
            </a:r>
            <a:r>
              <a:rPr lang="en-US" sz="2400" b="1" i="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i="1" baseline="-25000" dirty="0" err="1" smtClean="0">
                <a:solidFill>
                  <a:schemeClr val="tx1"/>
                </a:solidFill>
                <a:latin typeface="Times New Roman" panose="02020603050405020304" pitchFamily="18" charset="0"/>
                <a:cs typeface="Times New Roman" panose="02020603050405020304" pitchFamily="18" charset="0"/>
              </a:rPr>
              <a:t>i</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rPr>
              <a:t>c</a:t>
            </a:r>
            <a:r>
              <a:rPr lang="en-US" sz="2400" b="1" dirty="0" smtClean="0">
                <a:solidFill>
                  <a:schemeClr val="tx1"/>
                </a:solidFill>
                <a:latin typeface="Times New Roman" panose="02020603050405020304" pitchFamily="18" charset="0"/>
                <a:cs typeface="Times New Roman" panose="02020603050405020304" pitchFamily="18" charset="0"/>
              </a:rPr>
              <a:t>(</a:t>
            </a:r>
            <a:r>
              <a:rPr lang="en-US" sz="2400" b="1" i="1" dirty="0" err="1" smtClean="0">
                <a:solidFill>
                  <a:schemeClr val="tx1"/>
                </a:solidFill>
                <a:latin typeface="Times New Roman" panose="02020603050405020304" pitchFamily="18" charset="0"/>
                <a:cs typeface="Times New Roman" panose="02020603050405020304" pitchFamily="18" charset="0"/>
              </a:rPr>
              <a:t>i</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rPr>
              <a:t>j</a:t>
            </a:r>
            <a:r>
              <a:rPr lang="en-US" sz="2400" b="1" dirty="0" smtClean="0">
                <a:solidFill>
                  <a:schemeClr val="tx1"/>
                </a:solidFill>
                <a:latin typeface="Times New Roman" panose="02020603050405020304" pitchFamily="18" charset="0"/>
                <a:cs typeface="Times New Roman" panose="02020603050405020304" pitchFamily="18" charset="0"/>
              </a:rPr>
              <a:t>)</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sz="2400" b="1" i="1" dirty="0" smtClean="0">
                <a:solidFill>
                  <a:schemeClr val="tx1"/>
                </a:solidFill>
                <a:latin typeface="Times New Roman" panose="02020603050405020304" pitchFamily="18" charset="0"/>
                <a:cs typeface="Times New Roman" panose="02020603050405020304" pitchFamily="18" charset="0"/>
              </a:rPr>
              <a:t>f</a:t>
            </a:r>
            <a:r>
              <a:rPr lang="en-US" sz="2400" b="1" dirty="0" smtClean="0">
                <a:solidFill>
                  <a:schemeClr val="tx1"/>
                </a:solidFill>
                <a:latin typeface="Times New Roman" panose="02020603050405020304" pitchFamily="18" charset="0"/>
                <a:cs typeface="Times New Roman" panose="02020603050405020304" pitchFamily="18" charset="0"/>
              </a:rPr>
              <a:t>(</a:t>
            </a:r>
            <a:r>
              <a:rPr lang="en-US" sz="2400" b="1" i="1" dirty="0" err="1" smtClean="0">
                <a:solidFill>
                  <a:schemeClr val="tx1"/>
                </a:solidFill>
                <a:latin typeface="Times New Roman" panose="02020603050405020304" pitchFamily="18" charset="0"/>
                <a:cs typeface="Times New Roman" panose="02020603050405020304" pitchFamily="18" charset="0"/>
              </a:rPr>
              <a:t>i</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rPr>
              <a:t>j</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rPr>
              <a:t>R</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i="1" dirty="0" smtClean="0">
                <a:solidFill>
                  <a:schemeClr val="tx1"/>
                </a:solidFill>
                <a:latin typeface="Times New Roman" panose="02020603050405020304" pitchFamily="18" charset="0"/>
                <a:cs typeface="Times New Roman" panose="02020603050405020304" pitchFamily="18" charset="0"/>
              </a:rPr>
              <a:t>R</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sz="2400" b="1" dirty="0" smtClean="0">
                <a:solidFill>
                  <a:schemeClr val="tx1"/>
                </a:solidFill>
                <a:latin typeface="Times New Roman" panose="02020603050405020304" pitchFamily="18" charset="0"/>
                <a:cs typeface="Times New Roman" panose="02020603050405020304" pitchFamily="18" charset="0"/>
              </a:rPr>
              <a:t>{</a:t>
            </a:r>
            <a:r>
              <a:rPr lang="en-US" sz="2400" b="1" i="1" dirty="0" smtClean="0">
                <a:solidFill>
                  <a:schemeClr val="tx1"/>
                </a:solidFill>
                <a:latin typeface="Times New Roman" panose="02020603050405020304" pitchFamily="18" charset="0"/>
                <a:cs typeface="Times New Roman" panose="02020603050405020304" pitchFamily="18" charset="0"/>
              </a:rPr>
              <a:t>j</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rPr>
              <a:t>T</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i="1" dirty="0" smtClean="0">
                <a:solidFill>
                  <a:schemeClr val="tx1"/>
                </a:solidFill>
                <a:latin typeface="Times New Roman" panose="02020603050405020304" pitchFamily="18" charset="0"/>
                <a:cs typeface="Times New Roman" panose="02020603050405020304" pitchFamily="18" charset="0"/>
              </a:rPr>
              <a:t>T</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dirty="0" smtClean="0">
                <a:solidFill>
                  <a:schemeClr val="tx1"/>
                </a:solidFill>
                <a:latin typeface="Times New Roman" panose="02020603050405020304" pitchFamily="18" charset="0"/>
                <a:cs typeface="Times New Roman" panose="02020603050405020304" pitchFamily="18" charset="0"/>
              </a:rPr>
              <a:t>{</a:t>
            </a:r>
            <a:r>
              <a:rPr lang="en-US" sz="2400" b="1" i="1" dirty="0" smtClean="0">
                <a:solidFill>
                  <a:schemeClr val="tx1"/>
                </a:solidFill>
                <a:latin typeface="Times New Roman" panose="02020603050405020304" pitchFamily="18" charset="0"/>
                <a:cs typeface="Times New Roman" panose="02020603050405020304" pitchFamily="18" charset="0"/>
              </a:rPr>
              <a:t>j</a:t>
            </a:r>
            <a:r>
              <a:rPr lang="en-US" sz="2400" b="1" dirty="0" smtClean="0">
                <a:solidFill>
                  <a:schemeClr val="tx1"/>
                </a:solidFill>
                <a:latin typeface="Times New Roman" panose="02020603050405020304" pitchFamily="18" charset="0"/>
                <a:cs typeface="Times New Roman" panose="02020603050405020304" pitchFamily="18" charset="0"/>
              </a:rPr>
              <a:t>}</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buFont typeface="Arial" panose="020B0604020202020204" pitchFamily="34" charset="0"/>
              <a:buNone/>
              <a:defRPr/>
            </a:pPr>
            <a:r>
              <a:rPr lang="en-US" sz="2400" b="1" dirty="0" smtClean="0">
                <a:solidFill>
                  <a:schemeClr val="tx1"/>
                </a:solidFill>
                <a:latin typeface="Times New Roman" panose="02020603050405020304" pitchFamily="18" charset="0"/>
                <a:cs typeface="Times New Roman" panose="02020603050405020304" pitchFamily="18" charset="0"/>
              </a:rPr>
              <a:t>8.             </a:t>
            </a:r>
            <a:r>
              <a:rPr lang="en-US" altLang="zh-CN" sz="2400" b="1" dirty="0" smtClean="0">
                <a:solidFill>
                  <a:schemeClr val="tx1"/>
                </a:solidFill>
                <a:latin typeface="Times New Roman" panose="02020603050405020304" pitchFamily="18" charset="0"/>
                <a:cs typeface="Times New Roman" panose="02020603050405020304" pitchFamily="18" charset="0"/>
              </a:rPr>
              <a:t>i</a:t>
            </a:r>
            <a:r>
              <a:rPr lang="en-US" sz="2400" b="1" dirty="0" smtClean="0">
                <a:solidFill>
                  <a:schemeClr val="tx1"/>
                </a:solidFill>
                <a:latin typeface="Times New Roman" panose="02020603050405020304" pitchFamily="18" charset="0"/>
                <a:cs typeface="Times New Roman" panose="02020603050405020304" pitchFamily="18" charset="0"/>
              </a:rPr>
              <a:t>f  </a:t>
            </a:r>
            <a:r>
              <a:rPr lang="en-US" sz="2400" b="1" i="1" dirty="0" smtClean="0">
                <a:solidFill>
                  <a:schemeClr val="tx1"/>
                </a:solidFill>
                <a:latin typeface="Times New Roman" panose="02020603050405020304" pitchFamily="18" charset="0"/>
                <a:cs typeface="Times New Roman" panose="02020603050405020304" pitchFamily="18" charset="0"/>
              </a:rPr>
              <a:t>j </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rPr>
              <a:t>t</a:t>
            </a:r>
            <a:r>
              <a:rPr lang="en-US" sz="2400" b="1" dirty="0" smtClean="0">
                <a:solidFill>
                  <a:schemeClr val="tx1"/>
                </a:solidFill>
                <a:latin typeface="Times New Roman" panose="02020603050405020304" pitchFamily="18" charset="0"/>
                <a:cs typeface="Times New Roman" panose="02020603050405020304" pitchFamily="18" charset="0"/>
              </a:rPr>
              <a:t> then </a:t>
            </a:r>
            <a:r>
              <a:rPr lang="en-US" sz="2400" b="1" dirty="0" err="1" smtClean="0">
                <a:solidFill>
                  <a:schemeClr val="tx1"/>
                </a:solidFill>
                <a:latin typeface="Times New Roman" panose="02020603050405020304" pitchFamily="18" charset="0"/>
                <a:cs typeface="Times New Roman" panose="02020603050405020304" pitchFamily="18" charset="0"/>
              </a:rPr>
              <a:t>goto</a:t>
            </a:r>
            <a:r>
              <a:rPr lang="en-US" sz="2400" b="1" dirty="0" smtClean="0">
                <a:solidFill>
                  <a:schemeClr val="tx1"/>
                </a:solidFill>
                <a:latin typeface="Times New Roman" panose="02020603050405020304" pitchFamily="18" charset="0"/>
                <a:cs typeface="Times New Roman" panose="02020603050405020304" pitchFamily="18" charset="0"/>
              </a:rPr>
              <a:t> 13           //</a:t>
            </a:r>
            <a:r>
              <a:rPr lang="zh-CN" altLang="en-US" sz="2400" b="1" dirty="0" smtClean="0">
                <a:solidFill>
                  <a:schemeClr val="tx1"/>
                </a:solidFill>
                <a:latin typeface="Times New Roman" panose="02020603050405020304" pitchFamily="18" charset="0"/>
                <a:cs typeface="Times New Roman" panose="02020603050405020304" pitchFamily="18" charset="0"/>
              </a:rPr>
              <a:t>已找到一条</a:t>
            </a:r>
            <a:r>
              <a:rPr lang="en-US" sz="2400" b="1" i="1" dirty="0" smtClean="0">
                <a:solidFill>
                  <a:schemeClr val="tx1"/>
                </a:solidFill>
                <a:latin typeface="Times New Roman" panose="02020603050405020304" pitchFamily="18" charset="0"/>
                <a:cs typeface="Times New Roman" panose="02020603050405020304" pitchFamily="18" charset="0"/>
              </a:rPr>
              <a:t>s</a:t>
            </a:r>
            <a:r>
              <a:rPr lang="en-US" sz="2400" b="1" dirty="0" smtClean="0">
                <a:solidFill>
                  <a:schemeClr val="tx1"/>
                </a:solidFill>
                <a:latin typeface="Times New Roman" panose="02020603050405020304" pitchFamily="18" charset="0"/>
                <a:cs typeface="Times New Roman" panose="02020603050405020304" pitchFamily="18" charset="0"/>
              </a:rPr>
              <a:t>-</a:t>
            </a:r>
            <a:r>
              <a:rPr lang="en-US" sz="2400" b="1" i="1" dirty="0" smtClean="0">
                <a:solidFill>
                  <a:schemeClr val="tx1"/>
                </a:solidFill>
                <a:latin typeface="Times New Roman" panose="02020603050405020304" pitchFamily="18" charset="0"/>
                <a:cs typeface="Times New Roman" panose="02020603050405020304" pitchFamily="18" charset="0"/>
              </a:rPr>
              <a:t>t</a:t>
            </a:r>
            <a:r>
              <a:rPr lang="zh-CN" altLang="en-US" sz="2400" b="1" dirty="0" smtClean="0">
                <a:solidFill>
                  <a:schemeClr val="tx1"/>
                </a:solidFill>
                <a:latin typeface="Times New Roman" panose="02020603050405020304" pitchFamily="18" charset="0"/>
                <a:cs typeface="Times New Roman" panose="02020603050405020304" pitchFamily="18" charset="0"/>
              </a:rPr>
              <a:t>增广链</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buFont typeface="Arial" panose="020B0604020202020204" pitchFamily="34" charset="0"/>
              <a:buNone/>
              <a:defRPr/>
            </a:pPr>
            <a:r>
              <a:rPr lang="en-US" sz="2400" b="1" dirty="0" smtClean="0">
                <a:solidFill>
                  <a:schemeClr val="tx1"/>
                </a:solidFill>
                <a:latin typeface="Times New Roman" panose="02020603050405020304" pitchFamily="18" charset="0"/>
                <a:cs typeface="Times New Roman" panose="02020603050405020304" pitchFamily="18" charset="0"/>
              </a:rPr>
              <a:t>9.         if &lt;</a:t>
            </a:r>
            <a:r>
              <a:rPr lang="en-US" sz="2400" b="1" i="1" dirty="0" err="1" smtClean="0">
                <a:solidFill>
                  <a:schemeClr val="tx1"/>
                </a:solidFill>
                <a:latin typeface="Times New Roman" panose="02020603050405020304" pitchFamily="18" charset="0"/>
                <a:cs typeface="Times New Roman" panose="02020603050405020304" pitchFamily="18" charset="0"/>
              </a:rPr>
              <a:t>j</a:t>
            </a:r>
            <a:r>
              <a:rPr lang="en-US" sz="2400" b="1" dirty="0" err="1" smtClean="0">
                <a:solidFill>
                  <a:schemeClr val="tx1"/>
                </a:solidFill>
                <a:latin typeface="Times New Roman" panose="02020603050405020304" pitchFamily="18" charset="0"/>
                <a:cs typeface="Times New Roman" panose="02020603050405020304" pitchFamily="18" charset="0"/>
              </a:rPr>
              <a:t>,</a:t>
            </a:r>
            <a:r>
              <a:rPr lang="en-US" sz="2400" b="1" i="1" dirty="0" err="1" smtClean="0">
                <a:solidFill>
                  <a:schemeClr val="tx1"/>
                </a:solidFill>
                <a:latin typeface="Times New Roman" panose="02020603050405020304" pitchFamily="18" charset="0"/>
                <a:cs typeface="Times New Roman" panose="02020603050405020304" pitchFamily="18" charset="0"/>
              </a:rPr>
              <a:t>i</a:t>
            </a:r>
            <a:r>
              <a:rPr lang="en-US" sz="2400" b="1" dirty="0" smtClean="0">
                <a:solidFill>
                  <a:schemeClr val="tx1"/>
                </a:solidFill>
                <a:latin typeface="Times New Roman" panose="02020603050405020304" pitchFamily="18" charset="0"/>
                <a:cs typeface="Times New Roman" panose="02020603050405020304" pitchFamily="18" charset="0"/>
              </a:rPr>
              <a:t>&gt;</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i="1" dirty="0" smtClean="0">
                <a:solidFill>
                  <a:schemeClr val="tx1"/>
                </a:solidFill>
                <a:latin typeface="Times New Roman" panose="02020603050405020304" pitchFamily="18" charset="0"/>
                <a:cs typeface="Times New Roman" panose="02020603050405020304" pitchFamily="18" charset="0"/>
              </a:rPr>
              <a:t>E</a:t>
            </a:r>
            <a:r>
              <a:rPr lang="zh-CN" altLang="en-US" sz="2400" b="1" dirty="0" smtClean="0">
                <a:solidFill>
                  <a:schemeClr val="tx1"/>
                </a:solidFill>
                <a:latin typeface="Times New Roman" panose="02020603050405020304" pitchFamily="18" charset="0"/>
                <a:cs typeface="Times New Roman" panose="02020603050405020304" pitchFamily="18" charset="0"/>
              </a:rPr>
              <a:t>且 </a:t>
            </a:r>
            <a:r>
              <a:rPr lang="en-US" sz="2400" b="1" i="1" dirty="0" smtClean="0">
                <a:solidFill>
                  <a:schemeClr val="tx1"/>
                </a:solidFill>
                <a:latin typeface="Times New Roman" panose="02020603050405020304" pitchFamily="18" charset="0"/>
                <a:cs typeface="Times New Roman" panose="02020603050405020304" pitchFamily="18" charset="0"/>
              </a:rPr>
              <a:t>f</a:t>
            </a:r>
            <a:r>
              <a:rPr lang="en-US" sz="2400" b="1" dirty="0" smtClean="0">
                <a:solidFill>
                  <a:schemeClr val="tx1"/>
                </a:solidFill>
                <a:latin typeface="Times New Roman" panose="02020603050405020304" pitchFamily="18" charset="0"/>
                <a:cs typeface="Times New Roman" panose="02020603050405020304" pitchFamily="18" charset="0"/>
              </a:rPr>
              <a:t>(</a:t>
            </a:r>
            <a:r>
              <a:rPr lang="en-US" sz="2400" b="1" i="1" dirty="0" smtClean="0">
                <a:solidFill>
                  <a:schemeClr val="tx1"/>
                </a:solidFill>
                <a:latin typeface="Times New Roman" panose="02020603050405020304" pitchFamily="18" charset="0"/>
                <a:cs typeface="Times New Roman" panose="02020603050405020304" pitchFamily="18" charset="0"/>
              </a:rPr>
              <a:t>j</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err="1" smtClean="0">
                <a:solidFill>
                  <a:schemeClr val="tx1"/>
                </a:solidFill>
                <a:latin typeface="Times New Roman" panose="02020603050405020304" pitchFamily="18" charset="0"/>
                <a:cs typeface="Times New Roman" panose="02020603050405020304" pitchFamily="18" charset="0"/>
              </a:rPr>
              <a:t>i</a:t>
            </a:r>
            <a:r>
              <a:rPr lang="en-US" sz="2400" b="1" dirty="0" smtClean="0">
                <a:solidFill>
                  <a:schemeClr val="tx1"/>
                </a:solidFill>
                <a:latin typeface="Times New Roman" panose="02020603050405020304" pitchFamily="18" charset="0"/>
                <a:cs typeface="Times New Roman" panose="02020603050405020304" pitchFamily="18" charset="0"/>
              </a:rPr>
              <a:t>) &gt; 0  then</a:t>
            </a:r>
            <a:endParaRPr lang="en-US" altLang="zh-CN" sz="2400" b="1" dirty="0" smtClean="0">
              <a:solidFill>
                <a:schemeClr val="tx1"/>
              </a:solidFill>
              <a:latin typeface="Times New Roman" panose="02020603050405020304" pitchFamily="18" charset="0"/>
              <a:cs typeface="Times New Roman" panose="02020603050405020304" pitchFamily="18" charset="0"/>
            </a:endParaRPr>
          </a:p>
        </p:txBody>
      </p:sp>
      <p:sp>
        <p:nvSpPr>
          <p:cNvPr id="1536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31B2FBB-93A7-4EFF-85F0-8D5D3D65154B}"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ctrTitle"/>
          </p:nvPr>
        </p:nvSpPr>
        <p:spPr>
          <a:xfrm>
            <a:off x="539750" y="476250"/>
            <a:ext cx="7989888" cy="865188"/>
          </a:xfrm>
        </p:spPr>
        <p:txBody>
          <a:bodyPr/>
          <a:lstStyle/>
          <a:p>
            <a:pPr eaLnBrk="1" hangingPunct="1"/>
            <a:r>
              <a:rPr lang="en-US" altLang="zh-CN" sz="4000" b="1" smtClean="0">
                <a:solidFill>
                  <a:srgbClr val="C00000"/>
                </a:solidFill>
                <a:latin typeface="Times New Roman" panose="02020603050405020304" pitchFamily="18" charset="0"/>
                <a:cs typeface="Times New Roman" panose="02020603050405020304" pitchFamily="18" charset="0"/>
              </a:rPr>
              <a:t>FF</a:t>
            </a:r>
            <a:r>
              <a:rPr lang="zh-CN" altLang="en-US" sz="4000" b="1" smtClean="0">
                <a:solidFill>
                  <a:srgbClr val="C00000"/>
                </a:solidFill>
                <a:latin typeface="Times New Roman" panose="02020603050405020304" pitchFamily="18" charset="0"/>
                <a:cs typeface="Times New Roman" panose="02020603050405020304" pitchFamily="18" charset="0"/>
              </a:rPr>
              <a:t>算法（续）</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16387" name="副标题 2"/>
          <p:cNvSpPr>
            <a:spLocks noGrp="1"/>
          </p:cNvSpPr>
          <p:nvPr>
            <p:ph type="subTitle" idx="1"/>
          </p:nvPr>
        </p:nvSpPr>
        <p:spPr>
          <a:xfrm>
            <a:off x="752475" y="1531938"/>
            <a:ext cx="7775575" cy="4824412"/>
          </a:xfrm>
        </p:spPr>
        <p:txBody>
          <a:bodyPr/>
          <a:lstStyle/>
          <a:p>
            <a:pPr algn="l"/>
            <a:r>
              <a:rPr lang="en-US" altLang="zh-CN" sz="2400" b="1" smtClean="0">
                <a:solidFill>
                  <a:schemeClr val="tx1"/>
                </a:solidFill>
                <a:latin typeface="Times New Roman" panose="02020603050405020304" pitchFamily="18" charset="0"/>
                <a:cs typeface="Times New Roman" panose="02020603050405020304" pitchFamily="18" charset="0"/>
              </a:rPr>
              <a:t>10.             </a:t>
            </a:r>
            <a:r>
              <a:rPr lang="en-US" altLang="zh-CN" sz="2400" b="1" i="1" smtClean="0">
                <a:solidFill>
                  <a:schemeClr val="tx1"/>
                </a:solidFill>
                <a:latin typeface="Times New Roman" panose="02020603050405020304" pitchFamily="18" charset="0"/>
                <a:cs typeface="Times New Roman" panose="02020603050405020304" pitchFamily="18" charset="0"/>
              </a:rPr>
              <a:t>l</a:t>
            </a:r>
            <a:r>
              <a:rPr lang="en-US" altLang="zh-CN" sz="2400" b="1" i="1" baseline="-25000"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min{</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R</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R</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en-US" altLang="zh-CN" sz="2400" b="1" smtClean="0">
                <a:solidFill>
                  <a:schemeClr val="tx1"/>
                </a:solidFill>
                <a:latin typeface="Times New Roman" panose="02020603050405020304" pitchFamily="18" charset="0"/>
                <a:cs typeface="Times New Roman" panose="02020603050405020304" pitchFamily="18" charset="0"/>
              </a:rPr>
              <a:t>11.             if  </a:t>
            </a:r>
            <a:r>
              <a:rPr lang="en-US" altLang="zh-CN" sz="2400" b="1" i="1" smtClean="0">
                <a:solidFill>
                  <a:schemeClr val="tx1"/>
                </a:solidFill>
                <a:latin typeface="Times New Roman" panose="02020603050405020304" pitchFamily="18" charset="0"/>
                <a:cs typeface="Times New Roman" panose="02020603050405020304" pitchFamily="18" charset="0"/>
              </a:rPr>
              <a:t>j </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t</a:t>
            </a:r>
            <a:r>
              <a:rPr lang="en-US" altLang="zh-CN" sz="2400" b="1" smtClean="0">
                <a:solidFill>
                  <a:schemeClr val="tx1"/>
                </a:solidFill>
                <a:latin typeface="Times New Roman" panose="02020603050405020304" pitchFamily="18" charset="0"/>
                <a:cs typeface="Times New Roman" panose="02020603050405020304" pitchFamily="18" charset="0"/>
              </a:rPr>
              <a:t> then goto 13        //</a:t>
            </a:r>
            <a:r>
              <a:rPr lang="zh-CN" altLang="en-US" sz="2400" b="1" smtClean="0">
                <a:solidFill>
                  <a:schemeClr val="tx1"/>
                </a:solidFill>
                <a:latin typeface="Times New Roman" panose="02020603050405020304" pitchFamily="18" charset="0"/>
                <a:cs typeface="Times New Roman" panose="02020603050405020304" pitchFamily="18" charset="0"/>
              </a:rPr>
              <a:t>已找到一条 </a:t>
            </a:r>
            <a:r>
              <a:rPr lang="en-US" altLang="zh-CN" sz="2400" b="1" i="1" smtClean="0">
                <a:solidFill>
                  <a:schemeClr val="tx1"/>
                </a:solidFill>
                <a:latin typeface="Times New Roman" panose="02020603050405020304" pitchFamily="18" charset="0"/>
                <a:cs typeface="Times New Roman" panose="02020603050405020304" pitchFamily="18" charset="0"/>
              </a:rPr>
              <a:t>s</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t</a:t>
            </a:r>
            <a:r>
              <a:rPr lang="zh-CN" altLang="en-US" sz="2400" b="1" smtClean="0">
                <a:solidFill>
                  <a:schemeClr val="tx1"/>
                </a:solidFill>
                <a:latin typeface="Times New Roman" panose="02020603050405020304" pitchFamily="18" charset="0"/>
                <a:cs typeface="Times New Roman" panose="02020603050405020304" pitchFamily="18" charset="0"/>
              </a:rPr>
              <a:t>增广链</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en-US" altLang="zh-CN" sz="2400" b="1" smtClean="0">
                <a:solidFill>
                  <a:schemeClr val="tx1"/>
                </a:solidFill>
                <a:latin typeface="Times New Roman" panose="02020603050405020304" pitchFamily="18" charset="0"/>
                <a:cs typeface="Times New Roman" panose="02020603050405020304" pitchFamily="18" charset="0"/>
              </a:rPr>
              <a:t>12.  reture </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不存在 </a:t>
            </a:r>
            <a:r>
              <a:rPr lang="en-US" altLang="zh-CN" sz="2400" b="1" i="1" smtClean="0">
                <a:solidFill>
                  <a:schemeClr val="tx1"/>
                </a:solidFill>
                <a:latin typeface="Times New Roman" panose="02020603050405020304" pitchFamily="18" charset="0"/>
                <a:cs typeface="Times New Roman" panose="02020603050405020304" pitchFamily="18" charset="0"/>
              </a:rPr>
              <a:t>s</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t </a:t>
            </a:r>
            <a:r>
              <a:rPr lang="zh-CN" altLang="en-US" sz="2400" b="1" smtClean="0">
                <a:solidFill>
                  <a:schemeClr val="tx1"/>
                </a:solidFill>
                <a:latin typeface="Times New Roman" panose="02020603050405020304" pitchFamily="18" charset="0"/>
                <a:cs typeface="Times New Roman" panose="02020603050405020304" pitchFamily="18" charset="0"/>
              </a:rPr>
              <a:t>增广链</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计算结束</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en-US" altLang="zh-CN" sz="2400" b="1" smtClean="0">
                <a:solidFill>
                  <a:schemeClr val="tx1"/>
                </a:solidFill>
                <a:latin typeface="Times New Roman" panose="02020603050405020304" pitchFamily="18" charset="0"/>
                <a:cs typeface="Times New Roman" panose="02020603050405020304" pitchFamily="18" charset="0"/>
              </a:rPr>
              <a:t>13.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t</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沿增广链回溯</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修改流量</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en-US" altLang="zh-CN" sz="2400" b="1" smtClean="0">
                <a:solidFill>
                  <a:schemeClr val="tx1"/>
                </a:solidFill>
                <a:latin typeface="Times New Roman" panose="02020603050405020304" pitchFamily="18" charset="0"/>
                <a:cs typeface="Times New Roman" panose="02020603050405020304" pitchFamily="18" charset="0"/>
              </a:rPr>
              <a:t>14.  if  </a:t>
            </a:r>
            <a:r>
              <a:rPr lang="en-US" altLang="zh-CN" sz="2400" b="1" i="1" smtClean="0">
                <a:solidFill>
                  <a:schemeClr val="tx1"/>
                </a:solidFill>
                <a:latin typeface="Times New Roman" panose="02020603050405020304" pitchFamily="18" charset="0"/>
                <a:cs typeface="Times New Roman" panose="02020603050405020304" pitchFamily="18" charset="0"/>
              </a:rPr>
              <a:t>l</a:t>
            </a:r>
            <a:r>
              <a:rPr lang="en-US" altLang="zh-CN" sz="2400" b="1" i="1" baseline="-25000"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  then goto 2          //</a:t>
            </a:r>
            <a:r>
              <a:rPr lang="zh-CN" altLang="en-US" sz="2400" b="1" smtClean="0">
                <a:solidFill>
                  <a:schemeClr val="tx1"/>
                </a:solidFill>
                <a:latin typeface="Times New Roman" panose="02020603050405020304" pitchFamily="18" charset="0"/>
                <a:cs typeface="Times New Roman" panose="02020603050405020304" pitchFamily="18" charset="0"/>
              </a:rPr>
              <a:t>重新开始下一阶段标号</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en-US" altLang="zh-CN" sz="2400" b="1" smtClean="0">
                <a:solidFill>
                  <a:schemeClr val="tx1"/>
                </a:solidFill>
                <a:latin typeface="Times New Roman" panose="02020603050405020304" pitchFamily="18" charset="0"/>
                <a:cs typeface="Times New Roman" panose="02020603050405020304" pitchFamily="18" charset="0"/>
              </a:rPr>
              <a:t>15.  if  </a:t>
            </a:r>
            <a:r>
              <a:rPr lang="en-US" altLang="zh-CN" sz="2400" b="1" i="1" smtClean="0">
                <a:solidFill>
                  <a:schemeClr val="tx1"/>
                </a:solidFill>
                <a:latin typeface="Times New Roman" panose="02020603050405020304" pitchFamily="18" charset="0"/>
                <a:cs typeface="Times New Roman" panose="02020603050405020304" pitchFamily="18" charset="0"/>
              </a:rPr>
              <a:t>l</a:t>
            </a:r>
            <a:r>
              <a:rPr lang="en-US" altLang="zh-CN" sz="2400" b="1" i="1" baseline="-25000"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then</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en-US" altLang="zh-CN" sz="2400" b="1" smtClean="0">
                <a:solidFill>
                  <a:schemeClr val="tx1"/>
                </a:solidFill>
                <a:latin typeface="Times New Roman" panose="02020603050405020304" pitchFamily="18" charset="0"/>
                <a:cs typeface="Times New Roman" panose="02020603050405020304" pitchFamily="18" charset="0"/>
              </a:rPr>
              <a:t>16.        </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rPr>
              <a:t>i</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en-US" altLang="zh-CN" sz="2400" b="1" smtClean="0">
                <a:solidFill>
                  <a:schemeClr val="tx1"/>
                </a:solidFill>
                <a:latin typeface="Times New Roman" panose="02020603050405020304" pitchFamily="18" charset="0"/>
                <a:cs typeface="Times New Roman" panose="02020603050405020304" pitchFamily="18" charset="0"/>
              </a:rPr>
              <a:t>17.  if  </a:t>
            </a:r>
            <a:r>
              <a:rPr lang="en-US" altLang="zh-CN" sz="2400" b="1" i="1" smtClean="0">
                <a:solidFill>
                  <a:schemeClr val="tx1"/>
                </a:solidFill>
                <a:latin typeface="Times New Roman" panose="02020603050405020304" pitchFamily="18" charset="0"/>
                <a:cs typeface="Times New Roman" panose="02020603050405020304" pitchFamily="18" charset="0"/>
              </a:rPr>
              <a:t>l</a:t>
            </a:r>
            <a:r>
              <a:rPr lang="en-US" altLang="zh-CN" sz="2400" b="1" i="1" baseline="-25000"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then</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en-US" altLang="zh-CN" sz="2400" b="1" smtClean="0">
                <a:solidFill>
                  <a:schemeClr val="tx1"/>
                </a:solidFill>
                <a:latin typeface="Times New Roman" panose="02020603050405020304" pitchFamily="18" charset="0"/>
                <a:cs typeface="Times New Roman" panose="02020603050405020304" pitchFamily="18" charset="0"/>
              </a:rPr>
              <a:t>18.        </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en-US" altLang="zh-CN" sz="2400" b="1" smtClean="0">
                <a:solidFill>
                  <a:schemeClr val="tx1"/>
                </a:solidFill>
                <a:latin typeface="Times New Roman" panose="02020603050405020304" pitchFamily="18" charset="0"/>
                <a:cs typeface="Times New Roman" panose="02020603050405020304" pitchFamily="18" charset="0"/>
              </a:rPr>
              <a:t>19.  goto 14 </a:t>
            </a:r>
            <a:endParaRPr lang="en-US" altLang="zh-CN" sz="2400" b="1" smtClean="0">
              <a:solidFill>
                <a:schemeClr val="tx1"/>
              </a:solidFill>
              <a:latin typeface="Times New Roman" panose="02020603050405020304" pitchFamily="18" charset="0"/>
              <a:cs typeface="Times New Roman" panose="02020603050405020304" pitchFamily="18" charset="0"/>
            </a:endParaRPr>
          </a:p>
        </p:txBody>
      </p:sp>
      <p:sp>
        <p:nvSpPr>
          <p:cNvPr id="1638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A2357445-12EF-488A-8D38-29C2A93FBCD5}"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ctrTitle"/>
          </p:nvPr>
        </p:nvSpPr>
        <p:spPr>
          <a:xfrm>
            <a:off x="611188" y="476250"/>
            <a:ext cx="7991475" cy="865188"/>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例</a:t>
            </a:r>
            <a:endParaRPr lang="zh-CN" altLang="en-US" sz="4000" b="1" smtClean="0">
              <a:latin typeface="Times New Roman" panose="02020603050405020304" pitchFamily="18" charset="0"/>
              <a:cs typeface="Times New Roman" panose="02020603050405020304" pitchFamily="18" charset="0"/>
            </a:endParaRPr>
          </a:p>
        </p:txBody>
      </p:sp>
      <p:sp>
        <p:nvSpPr>
          <p:cNvPr id="17411" name="副标题 2"/>
          <p:cNvSpPr>
            <a:spLocks noGrp="1"/>
          </p:cNvSpPr>
          <p:nvPr>
            <p:ph type="subTitle" idx="1"/>
          </p:nvPr>
        </p:nvSpPr>
        <p:spPr>
          <a:xfrm>
            <a:off x="571500" y="1357313"/>
            <a:ext cx="7920038" cy="2643187"/>
          </a:xfrm>
        </p:spPr>
        <p:txBody>
          <a:bodyPr/>
          <a:lstStyle/>
          <a:p>
            <a:pPr algn="l"/>
            <a:r>
              <a:rPr lang="zh-CN" altLang="en-US" sz="2400" b="1" dirty="0" smtClean="0">
                <a:solidFill>
                  <a:srgbClr val="C00000"/>
                </a:solidFill>
                <a:latin typeface="Times New Roman" panose="02020603050405020304" pitchFamily="18" charset="0"/>
                <a:cs typeface="Times New Roman" panose="02020603050405020304" pitchFamily="18" charset="0"/>
              </a:rPr>
              <a:t>例</a:t>
            </a:r>
            <a:r>
              <a:rPr lang="en-US" altLang="zh-CN" sz="2400" b="1" dirty="0" smtClean="0">
                <a:solidFill>
                  <a:srgbClr val="C00000"/>
                </a:solidFill>
                <a:latin typeface="Times New Roman" panose="02020603050405020304" pitchFamily="18" charset="0"/>
                <a:cs typeface="Times New Roman" panose="02020603050405020304" pitchFamily="18" charset="0"/>
              </a:rPr>
              <a:t>7.1</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应用</a:t>
            </a:r>
            <a:r>
              <a:rPr lang="en-US" altLang="zh-CN" sz="2400" b="1" dirty="0" smtClean="0">
                <a:solidFill>
                  <a:schemeClr val="tx1"/>
                </a:solidFill>
                <a:latin typeface="Times New Roman" panose="02020603050405020304" pitchFamily="18" charset="0"/>
                <a:cs typeface="Times New Roman" panose="02020603050405020304" pitchFamily="18" charset="0"/>
              </a:rPr>
              <a:t>FF</a:t>
            </a:r>
            <a:r>
              <a:rPr lang="zh-CN" altLang="en-US" sz="2400" b="1" dirty="0" smtClean="0">
                <a:solidFill>
                  <a:schemeClr val="tx1"/>
                </a:solidFill>
                <a:latin typeface="Times New Roman" panose="02020603050405020304" pitchFamily="18" charset="0"/>
                <a:cs typeface="Times New Roman" panose="02020603050405020304" pitchFamily="18" charset="0"/>
              </a:rPr>
              <a:t>算法</a:t>
            </a:r>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a:r>
              <a:rPr lang="zh-CN" altLang="en-US" sz="2400" b="1" dirty="0" smtClean="0">
                <a:solidFill>
                  <a:schemeClr val="tx1"/>
                </a:solidFill>
                <a:latin typeface="Times New Roman" panose="02020603050405020304" pitchFamily="18" charset="0"/>
                <a:cs typeface="Times New Roman" panose="02020603050405020304" pitchFamily="18" charset="0"/>
              </a:rPr>
              <a:t>解</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p:txBody>
      </p:sp>
      <p:grpSp>
        <p:nvGrpSpPr>
          <p:cNvPr id="17412" name="组合 54"/>
          <p:cNvGrpSpPr/>
          <p:nvPr/>
        </p:nvGrpSpPr>
        <p:grpSpPr bwMode="auto">
          <a:xfrm>
            <a:off x="3468688" y="1285875"/>
            <a:ext cx="3175000" cy="2143125"/>
            <a:chOff x="2714612" y="2357430"/>
            <a:chExt cx="3174482" cy="2143140"/>
          </a:xfrm>
        </p:grpSpPr>
        <p:sp>
          <p:nvSpPr>
            <p:cNvPr id="17488" name="Oval 5"/>
            <p:cNvSpPr>
              <a:spLocks noChangeArrowheads="1"/>
            </p:cNvSpPr>
            <p:nvPr/>
          </p:nvSpPr>
          <p:spPr bwMode="auto">
            <a:xfrm>
              <a:off x="2758380" y="3277989"/>
              <a:ext cx="239406" cy="233003"/>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7489" name="Oval 6"/>
            <p:cNvSpPr>
              <a:spLocks noChangeArrowheads="1"/>
            </p:cNvSpPr>
            <p:nvPr/>
          </p:nvSpPr>
          <p:spPr bwMode="auto">
            <a:xfrm>
              <a:off x="3634199" y="2564974"/>
              <a:ext cx="239406" cy="233003"/>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7490" name="Oval 7"/>
            <p:cNvSpPr>
              <a:spLocks noChangeArrowheads="1"/>
            </p:cNvSpPr>
            <p:nvPr/>
          </p:nvSpPr>
          <p:spPr bwMode="auto">
            <a:xfrm>
              <a:off x="3220350" y="4052117"/>
              <a:ext cx="239406" cy="233003"/>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7491" name="Oval 8"/>
            <p:cNvSpPr>
              <a:spLocks noChangeArrowheads="1"/>
            </p:cNvSpPr>
            <p:nvPr/>
          </p:nvSpPr>
          <p:spPr bwMode="auto">
            <a:xfrm>
              <a:off x="4211660" y="4041932"/>
              <a:ext cx="239406" cy="233003"/>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7492" name="Oval 9"/>
            <p:cNvSpPr>
              <a:spLocks noChangeArrowheads="1"/>
            </p:cNvSpPr>
            <p:nvPr/>
          </p:nvSpPr>
          <p:spPr bwMode="auto">
            <a:xfrm>
              <a:off x="4789121" y="2554789"/>
              <a:ext cx="239406" cy="233003"/>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7493" name="Oval 10"/>
            <p:cNvSpPr>
              <a:spLocks noChangeArrowheads="1"/>
            </p:cNvSpPr>
            <p:nvPr/>
          </p:nvSpPr>
          <p:spPr bwMode="auto">
            <a:xfrm>
              <a:off x="5462826" y="3420592"/>
              <a:ext cx="239406" cy="233003"/>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17494" name="AutoShape 11"/>
            <p:cNvCxnSpPr>
              <a:cxnSpLocks noChangeShapeType="1"/>
            </p:cNvCxnSpPr>
            <p:nvPr/>
          </p:nvCxnSpPr>
          <p:spPr bwMode="auto">
            <a:xfrm flipV="1">
              <a:off x="2997787" y="2787793"/>
              <a:ext cx="636410" cy="543673"/>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7495" name="AutoShape 12"/>
            <p:cNvCxnSpPr>
              <a:cxnSpLocks noChangeShapeType="1"/>
            </p:cNvCxnSpPr>
            <p:nvPr/>
          </p:nvCxnSpPr>
          <p:spPr bwMode="auto">
            <a:xfrm>
              <a:off x="2949665" y="3510992"/>
              <a:ext cx="300761" cy="541127"/>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7496" name="AutoShape 13"/>
            <p:cNvCxnSpPr>
              <a:cxnSpLocks noChangeShapeType="1"/>
            </p:cNvCxnSpPr>
            <p:nvPr/>
          </p:nvCxnSpPr>
          <p:spPr bwMode="auto">
            <a:xfrm flipV="1">
              <a:off x="3325015" y="2797977"/>
              <a:ext cx="413847" cy="1254140"/>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7497" name="AutoShape 14"/>
            <p:cNvCxnSpPr>
              <a:cxnSpLocks noChangeShapeType="1"/>
            </p:cNvCxnSpPr>
            <p:nvPr/>
          </p:nvCxnSpPr>
          <p:spPr bwMode="auto">
            <a:xfrm>
              <a:off x="3873603" y="2663014"/>
              <a:ext cx="915517" cy="0"/>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7498" name="AutoShape 15"/>
            <p:cNvCxnSpPr>
              <a:cxnSpLocks noChangeShapeType="1"/>
            </p:cNvCxnSpPr>
            <p:nvPr/>
          </p:nvCxnSpPr>
          <p:spPr bwMode="auto">
            <a:xfrm>
              <a:off x="3815858" y="2787793"/>
              <a:ext cx="476405" cy="1254140"/>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7499" name="AutoShape 16"/>
            <p:cNvCxnSpPr>
              <a:cxnSpLocks noChangeShapeType="1"/>
            </p:cNvCxnSpPr>
            <p:nvPr/>
          </p:nvCxnSpPr>
          <p:spPr bwMode="auto">
            <a:xfrm flipH="1">
              <a:off x="4380085" y="2787793"/>
              <a:ext cx="500467" cy="1254140"/>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7500" name="AutoShape 17"/>
            <p:cNvCxnSpPr>
              <a:cxnSpLocks noChangeShapeType="1"/>
            </p:cNvCxnSpPr>
            <p:nvPr/>
          </p:nvCxnSpPr>
          <p:spPr bwMode="auto">
            <a:xfrm>
              <a:off x="5028527" y="2787793"/>
              <a:ext cx="455953" cy="632799"/>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7501" name="AutoShape 18"/>
            <p:cNvCxnSpPr>
              <a:cxnSpLocks noChangeShapeType="1"/>
            </p:cNvCxnSpPr>
            <p:nvPr/>
          </p:nvCxnSpPr>
          <p:spPr bwMode="auto">
            <a:xfrm flipV="1">
              <a:off x="4451066" y="3596299"/>
              <a:ext cx="1011760" cy="539853"/>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7502" name="AutoShape 25"/>
            <p:cNvCxnSpPr>
              <a:cxnSpLocks noChangeShapeType="1"/>
            </p:cNvCxnSpPr>
            <p:nvPr/>
          </p:nvCxnSpPr>
          <p:spPr bwMode="auto">
            <a:xfrm>
              <a:off x="3459757" y="4166709"/>
              <a:ext cx="751903" cy="0"/>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sp>
          <p:nvSpPr>
            <p:cNvPr id="17503" name="Text Box 33"/>
            <p:cNvSpPr txBox="1">
              <a:spLocks noChangeArrowheads="1"/>
            </p:cNvSpPr>
            <p:nvPr/>
          </p:nvSpPr>
          <p:spPr bwMode="auto">
            <a:xfrm>
              <a:off x="4071934" y="2357430"/>
              <a:ext cx="459838"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a:t>
              </a:r>
              <a:endParaRPr lang="zh-CN" altLang="zh-CN" sz="1800" b="1">
                <a:latin typeface="Arial" panose="020B0604020202020204" pitchFamily="34" charset="0"/>
              </a:endParaRPr>
            </a:p>
          </p:txBody>
        </p:sp>
        <p:sp>
          <p:nvSpPr>
            <p:cNvPr id="17504" name="Text Box 33"/>
            <p:cNvSpPr txBox="1">
              <a:spLocks noChangeArrowheads="1"/>
            </p:cNvSpPr>
            <p:nvPr/>
          </p:nvSpPr>
          <p:spPr bwMode="auto">
            <a:xfrm>
              <a:off x="3112030" y="2786058"/>
              <a:ext cx="459838"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8</a:t>
              </a:r>
              <a:endParaRPr lang="zh-CN" altLang="zh-CN" sz="1800" b="1">
                <a:latin typeface="Arial" panose="020B0604020202020204" pitchFamily="34" charset="0"/>
              </a:endParaRPr>
            </a:p>
          </p:txBody>
        </p:sp>
        <p:sp>
          <p:nvSpPr>
            <p:cNvPr id="17505" name="Text Box 33"/>
            <p:cNvSpPr txBox="1">
              <a:spLocks noChangeArrowheads="1"/>
            </p:cNvSpPr>
            <p:nvPr/>
          </p:nvSpPr>
          <p:spPr bwMode="auto">
            <a:xfrm>
              <a:off x="3254906" y="3286124"/>
              <a:ext cx="459838"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a:t>
              </a:r>
              <a:endParaRPr lang="zh-CN" altLang="zh-CN" sz="1800" b="1">
                <a:latin typeface="Arial" panose="020B0604020202020204" pitchFamily="34" charset="0"/>
              </a:endParaRPr>
            </a:p>
          </p:txBody>
        </p:sp>
        <p:sp>
          <p:nvSpPr>
            <p:cNvPr id="17506" name="Text Box 33"/>
            <p:cNvSpPr txBox="1">
              <a:spLocks noChangeArrowheads="1"/>
            </p:cNvSpPr>
            <p:nvPr/>
          </p:nvSpPr>
          <p:spPr bwMode="auto">
            <a:xfrm>
              <a:off x="2714612" y="3643314"/>
              <a:ext cx="459838"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cs typeface="Times New Roman" panose="02020603050405020304" pitchFamily="18" charset="0"/>
                </a:rPr>
                <a:t>12</a:t>
              </a:r>
              <a:endParaRPr lang="zh-CN" altLang="zh-CN" sz="1800" b="1">
                <a:latin typeface="Times New Roman" panose="02020603050405020304" pitchFamily="18" charset="0"/>
                <a:cs typeface="Times New Roman" panose="02020603050405020304" pitchFamily="18" charset="0"/>
              </a:endParaRPr>
            </a:p>
          </p:txBody>
        </p:sp>
        <p:sp>
          <p:nvSpPr>
            <p:cNvPr id="17507" name="Text Box 33"/>
            <p:cNvSpPr txBox="1">
              <a:spLocks noChangeArrowheads="1"/>
            </p:cNvSpPr>
            <p:nvPr/>
          </p:nvSpPr>
          <p:spPr bwMode="auto">
            <a:xfrm>
              <a:off x="3683534" y="4143380"/>
              <a:ext cx="459838"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a:t>
              </a:r>
              <a:endParaRPr lang="zh-CN" altLang="zh-CN" sz="1800" b="1">
                <a:latin typeface="Arial" panose="020B0604020202020204" pitchFamily="34" charset="0"/>
              </a:endParaRPr>
            </a:p>
          </p:txBody>
        </p:sp>
        <p:sp>
          <p:nvSpPr>
            <p:cNvPr id="17508" name="Text Box 33"/>
            <p:cNvSpPr txBox="1">
              <a:spLocks noChangeArrowheads="1"/>
            </p:cNvSpPr>
            <p:nvPr/>
          </p:nvSpPr>
          <p:spPr bwMode="auto">
            <a:xfrm>
              <a:off x="3826410" y="3286124"/>
              <a:ext cx="459838"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6</a:t>
              </a:r>
              <a:endParaRPr lang="zh-CN" altLang="zh-CN" sz="1800" b="1">
                <a:latin typeface="Arial" panose="020B0604020202020204" pitchFamily="34" charset="0"/>
              </a:endParaRPr>
            </a:p>
          </p:txBody>
        </p:sp>
        <p:sp>
          <p:nvSpPr>
            <p:cNvPr id="17509" name="Text Box 33"/>
            <p:cNvSpPr txBox="1">
              <a:spLocks noChangeArrowheads="1"/>
            </p:cNvSpPr>
            <p:nvPr/>
          </p:nvSpPr>
          <p:spPr bwMode="auto">
            <a:xfrm>
              <a:off x="4612228" y="3286124"/>
              <a:ext cx="459838"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a:t>
              </a:r>
              <a:endParaRPr lang="zh-CN" altLang="zh-CN" sz="1800" b="1">
                <a:latin typeface="Arial" panose="020B0604020202020204" pitchFamily="34" charset="0"/>
              </a:endParaRPr>
            </a:p>
          </p:txBody>
        </p:sp>
        <p:sp>
          <p:nvSpPr>
            <p:cNvPr id="17510" name="Text Box 33"/>
            <p:cNvSpPr txBox="1">
              <a:spLocks noChangeArrowheads="1"/>
            </p:cNvSpPr>
            <p:nvPr/>
          </p:nvSpPr>
          <p:spPr bwMode="auto">
            <a:xfrm>
              <a:off x="5214942" y="2857496"/>
              <a:ext cx="459838"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a:t>
              </a:r>
              <a:endParaRPr lang="zh-CN" altLang="zh-CN" sz="1800" b="1">
                <a:latin typeface="Arial" panose="020B0604020202020204" pitchFamily="34" charset="0"/>
              </a:endParaRPr>
            </a:p>
          </p:txBody>
        </p:sp>
        <p:sp>
          <p:nvSpPr>
            <p:cNvPr id="17511" name="Text Box 33"/>
            <p:cNvSpPr txBox="1">
              <a:spLocks noChangeArrowheads="1"/>
            </p:cNvSpPr>
            <p:nvPr/>
          </p:nvSpPr>
          <p:spPr bwMode="auto">
            <a:xfrm>
              <a:off x="4969418" y="3786190"/>
              <a:ext cx="459838"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8</a:t>
              </a:r>
              <a:endParaRPr lang="zh-CN" altLang="zh-CN" sz="1800" b="1">
                <a:latin typeface="Arial" panose="020B0604020202020204" pitchFamily="34" charset="0"/>
              </a:endParaRPr>
            </a:p>
          </p:txBody>
        </p:sp>
        <p:sp>
          <p:nvSpPr>
            <p:cNvPr id="17512" name="Text Box 33"/>
            <p:cNvSpPr txBox="1">
              <a:spLocks noChangeArrowheads="1"/>
            </p:cNvSpPr>
            <p:nvPr/>
          </p:nvSpPr>
          <p:spPr bwMode="auto">
            <a:xfrm>
              <a:off x="2754840" y="3214686"/>
              <a:ext cx="459838"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i="1">
                  <a:latin typeface="Times New Roman" panose="02020603050405020304" pitchFamily="18" charset="0"/>
                </a:rPr>
                <a:t>s</a:t>
              </a:r>
              <a:endParaRPr lang="zh-CN" altLang="zh-CN" sz="1800" b="1" i="1">
                <a:latin typeface="Arial" panose="020B0604020202020204" pitchFamily="34" charset="0"/>
              </a:endParaRPr>
            </a:p>
          </p:txBody>
        </p:sp>
        <p:sp>
          <p:nvSpPr>
            <p:cNvPr id="17513" name="Text Box 33"/>
            <p:cNvSpPr txBox="1">
              <a:spLocks noChangeArrowheads="1"/>
            </p:cNvSpPr>
            <p:nvPr/>
          </p:nvSpPr>
          <p:spPr bwMode="auto">
            <a:xfrm>
              <a:off x="3612096" y="2500306"/>
              <a:ext cx="459838"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a:t>
              </a:r>
              <a:endParaRPr lang="zh-CN" altLang="zh-CN" sz="1800" b="1">
                <a:latin typeface="Arial" panose="020B0604020202020204" pitchFamily="34" charset="0"/>
              </a:endParaRPr>
            </a:p>
          </p:txBody>
        </p:sp>
        <p:sp>
          <p:nvSpPr>
            <p:cNvPr id="17514" name="Text Box 33"/>
            <p:cNvSpPr txBox="1">
              <a:spLocks noChangeArrowheads="1"/>
            </p:cNvSpPr>
            <p:nvPr/>
          </p:nvSpPr>
          <p:spPr bwMode="auto">
            <a:xfrm>
              <a:off x="3214678" y="4000504"/>
              <a:ext cx="459838"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a:t>
              </a:r>
              <a:endParaRPr lang="zh-CN" altLang="zh-CN" sz="1800" b="1">
                <a:latin typeface="Arial" panose="020B0604020202020204" pitchFamily="34" charset="0"/>
              </a:endParaRPr>
            </a:p>
          </p:txBody>
        </p:sp>
        <p:sp>
          <p:nvSpPr>
            <p:cNvPr id="17515" name="Text Box 33"/>
            <p:cNvSpPr txBox="1">
              <a:spLocks noChangeArrowheads="1"/>
            </p:cNvSpPr>
            <p:nvPr/>
          </p:nvSpPr>
          <p:spPr bwMode="auto">
            <a:xfrm>
              <a:off x="4183600" y="4000504"/>
              <a:ext cx="459838"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3</a:t>
              </a:r>
              <a:endParaRPr lang="zh-CN" altLang="zh-CN" sz="1800" b="1">
                <a:latin typeface="Arial" panose="020B0604020202020204" pitchFamily="34" charset="0"/>
              </a:endParaRPr>
            </a:p>
          </p:txBody>
        </p:sp>
        <p:sp>
          <p:nvSpPr>
            <p:cNvPr id="17516" name="Text Box 33"/>
            <p:cNvSpPr txBox="1">
              <a:spLocks noChangeArrowheads="1"/>
            </p:cNvSpPr>
            <p:nvPr/>
          </p:nvSpPr>
          <p:spPr bwMode="auto">
            <a:xfrm>
              <a:off x="4755104" y="2500306"/>
              <a:ext cx="459838"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4</a:t>
              </a:r>
              <a:endParaRPr lang="zh-CN" altLang="zh-CN" sz="1800" b="1">
                <a:latin typeface="Arial" panose="020B0604020202020204" pitchFamily="34" charset="0"/>
              </a:endParaRPr>
            </a:p>
          </p:txBody>
        </p:sp>
        <p:sp>
          <p:nvSpPr>
            <p:cNvPr id="17517" name="Text Box 33"/>
            <p:cNvSpPr txBox="1">
              <a:spLocks noChangeArrowheads="1"/>
            </p:cNvSpPr>
            <p:nvPr/>
          </p:nvSpPr>
          <p:spPr bwMode="auto">
            <a:xfrm>
              <a:off x="5429256" y="3357562"/>
              <a:ext cx="459838"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i="1">
                  <a:latin typeface="Times New Roman" panose="02020603050405020304" pitchFamily="18" charset="0"/>
                </a:rPr>
                <a:t>t</a:t>
              </a:r>
              <a:endParaRPr lang="zh-CN" altLang="zh-CN" sz="1800" b="1" i="1">
                <a:latin typeface="Arial" panose="020B0604020202020204" pitchFamily="34" charset="0"/>
              </a:endParaRPr>
            </a:p>
          </p:txBody>
        </p:sp>
      </p:grpSp>
      <p:grpSp>
        <p:nvGrpSpPr>
          <p:cNvPr id="3" name="组合 72"/>
          <p:cNvGrpSpPr/>
          <p:nvPr/>
        </p:nvGrpSpPr>
        <p:grpSpPr bwMode="auto">
          <a:xfrm>
            <a:off x="500063" y="3571875"/>
            <a:ext cx="4286250" cy="2428875"/>
            <a:chOff x="1142976" y="3571876"/>
            <a:chExt cx="4286280" cy="2428892"/>
          </a:xfrm>
        </p:grpSpPr>
        <p:sp>
          <p:nvSpPr>
            <p:cNvPr id="17452" name="Oval 5"/>
            <p:cNvSpPr>
              <a:spLocks noChangeArrowheads="1"/>
            </p:cNvSpPr>
            <p:nvPr/>
          </p:nvSpPr>
          <p:spPr bwMode="auto">
            <a:xfrm>
              <a:off x="1726527" y="4635320"/>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7453" name="Oval 6"/>
            <p:cNvSpPr>
              <a:spLocks noChangeArrowheads="1"/>
            </p:cNvSpPr>
            <p:nvPr/>
          </p:nvSpPr>
          <p:spPr bwMode="auto">
            <a:xfrm>
              <a:off x="2602489" y="3922310"/>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7454" name="Oval 7"/>
            <p:cNvSpPr>
              <a:spLocks noChangeArrowheads="1"/>
            </p:cNvSpPr>
            <p:nvPr/>
          </p:nvSpPr>
          <p:spPr bwMode="auto">
            <a:xfrm>
              <a:off x="2188573" y="5409442"/>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7455" name="Oval 8"/>
            <p:cNvSpPr>
              <a:spLocks noChangeArrowheads="1"/>
            </p:cNvSpPr>
            <p:nvPr/>
          </p:nvSpPr>
          <p:spPr bwMode="auto">
            <a:xfrm>
              <a:off x="3180044" y="5399257"/>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7456" name="Oval 9"/>
            <p:cNvSpPr>
              <a:spLocks noChangeArrowheads="1"/>
            </p:cNvSpPr>
            <p:nvPr/>
          </p:nvSpPr>
          <p:spPr bwMode="auto">
            <a:xfrm>
              <a:off x="3757600" y="3912125"/>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7457" name="Oval 10"/>
            <p:cNvSpPr>
              <a:spLocks noChangeArrowheads="1"/>
            </p:cNvSpPr>
            <p:nvPr/>
          </p:nvSpPr>
          <p:spPr bwMode="auto">
            <a:xfrm>
              <a:off x="4431414" y="4777922"/>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17458" name="AutoShape 11"/>
            <p:cNvCxnSpPr>
              <a:cxnSpLocks noChangeShapeType="1"/>
            </p:cNvCxnSpPr>
            <p:nvPr/>
          </p:nvCxnSpPr>
          <p:spPr bwMode="auto">
            <a:xfrm flipV="1">
              <a:off x="1965973" y="4145127"/>
              <a:ext cx="636514" cy="543669"/>
            </a:xfrm>
            <a:prstGeom prst="straightConnector1">
              <a:avLst/>
            </a:prstGeom>
            <a:noFill/>
            <a:ln w="19050">
              <a:solidFill>
                <a:srgbClr val="FF0000"/>
              </a:solidFill>
              <a:round/>
              <a:tailEnd type="arrow" w="med" len="med"/>
            </a:ln>
            <a:extLst>
              <a:ext uri="{909E8E84-426E-40DD-AFC4-6F175D3DCCD1}">
                <a14:hiddenFill xmlns:a14="http://schemas.microsoft.com/office/drawing/2010/main">
                  <a:noFill/>
                </a14:hiddenFill>
              </a:ext>
            </a:extLst>
          </p:spPr>
        </p:cxnSp>
        <p:cxnSp>
          <p:nvCxnSpPr>
            <p:cNvPr id="17459" name="AutoShape 12"/>
            <p:cNvCxnSpPr>
              <a:cxnSpLocks noChangeShapeType="1"/>
            </p:cNvCxnSpPr>
            <p:nvPr/>
          </p:nvCxnSpPr>
          <p:spPr bwMode="auto">
            <a:xfrm>
              <a:off x="1917843" y="4868321"/>
              <a:ext cx="300810" cy="541123"/>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7460" name="AutoShape 13"/>
            <p:cNvCxnSpPr>
              <a:cxnSpLocks noChangeShapeType="1"/>
            </p:cNvCxnSpPr>
            <p:nvPr/>
          </p:nvCxnSpPr>
          <p:spPr bwMode="auto">
            <a:xfrm flipV="1">
              <a:off x="2293255" y="4155311"/>
              <a:ext cx="413915" cy="1254131"/>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7461" name="AutoShape 14"/>
            <p:cNvCxnSpPr>
              <a:cxnSpLocks noChangeShapeType="1"/>
            </p:cNvCxnSpPr>
            <p:nvPr/>
          </p:nvCxnSpPr>
          <p:spPr bwMode="auto">
            <a:xfrm>
              <a:off x="2841932" y="4020349"/>
              <a:ext cx="915666" cy="0"/>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7462" name="AutoShape 15"/>
            <p:cNvCxnSpPr>
              <a:cxnSpLocks noChangeShapeType="1"/>
            </p:cNvCxnSpPr>
            <p:nvPr/>
          </p:nvCxnSpPr>
          <p:spPr bwMode="auto">
            <a:xfrm>
              <a:off x="2784178" y="4145127"/>
              <a:ext cx="476483" cy="1254131"/>
            </a:xfrm>
            <a:prstGeom prst="straightConnector1">
              <a:avLst/>
            </a:prstGeom>
            <a:noFill/>
            <a:ln w="19050">
              <a:solidFill>
                <a:srgbClr val="FF0000"/>
              </a:solidFill>
              <a:round/>
              <a:tailEnd type="arrow" w="med" len="med"/>
            </a:ln>
            <a:extLst>
              <a:ext uri="{909E8E84-426E-40DD-AFC4-6F175D3DCCD1}">
                <a14:hiddenFill xmlns:a14="http://schemas.microsoft.com/office/drawing/2010/main">
                  <a:noFill/>
                </a14:hiddenFill>
              </a:ext>
            </a:extLst>
          </p:spPr>
        </p:cxnSp>
        <p:cxnSp>
          <p:nvCxnSpPr>
            <p:cNvPr id="17463" name="AutoShape 16"/>
            <p:cNvCxnSpPr>
              <a:cxnSpLocks noChangeShapeType="1"/>
            </p:cNvCxnSpPr>
            <p:nvPr/>
          </p:nvCxnSpPr>
          <p:spPr bwMode="auto">
            <a:xfrm flipH="1">
              <a:off x="3348497" y="4145127"/>
              <a:ext cx="500549" cy="1254131"/>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7464" name="AutoShape 17"/>
            <p:cNvCxnSpPr>
              <a:cxnSpLocks noChangeShapeType="1"/>
            </p:cNvCxnSpPr>
            <p:nvPr/>
          </p:nvCxnSpPr>
          <p:spPr bwMode="auto">
            <a:xfrm>
              <a:off x="3997045" y="4145127"/>
              <a:ext cx="456027" cy="632795"/>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7465" name="AutoShape 18"/>
            <p:cNvCxnSpPr>
              <a:cxnSpLocks noChangeShapeType="1"/>
            </p:cNvCxnSpPr>
            <p:nvPr/>
          </p:nvCxnSpPr>
          <p:spPr bwMode="auto">
            <a:xfrm flipV="1">
              <a:off x="3419489" y="4953627"/>
              <a:ext cx="1011925" cy="539849"/>
            </a:xfrm>
            <a:prstGeom prst="straightConnector1">
              <a:avLst/>
            </a:prstGeom>
            <a:noFill/>
            <a:ln w="19050">
              <a:solidFill>
                <a:srgbClr val="FF0000"/>
              </a:solidFill>
              <a:round/>
              <a:tailEnd type="arrow" w="med" len="med"/>
            </a:ln>
            <a:extLst>
              <a:ext uri="{909E8E84-426E-40DD-AFC4-6F175D3DCCD1}">
                <a14:hiddenFill xmlns:a14="http://schemas.microsoft.com/office/drawing/2010/main">
                  <a:noFill/>
                </a14:hiddenFill>
              </a:ext>
            </a:extLst>
          </p:spPr>
        </p:cxnSp>
        <p:cxnSp>
          <p:nvCxnSpPr>
            <p:cNvPr id="17466" name="AutoShape 25"/>
            <p:cNvCxnSpPr>
              <a:cxnSpLocks noChangeShapeType="1"/>
            </p:cNvCxnSpPr>
            <p:nvPr/>
          </p:nvCxnSpPr>
          <p:spPr bwMode="auto">
            <a:xfrm>
              <a:off x="2428019" y="5524033"/>
              <a:ext cx="752026" cy="0"/>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sp>
          <p:nvSpPr>
            <p:cNvPr id="17467" name="Text Box 33"/>
            <p:cNvSpPr txBox="1">
              <a:spLocks noChangeArrowheads="1"/>
            </p:cNvSpPr>
            <p:nvPr/>
          </p:nvSpPr>
          <p:spPr bwMode="auto">
            <a:xfrm>
              <a:off x="3000364" y="3714767"/>
              <a:ext cx="603011" cy="3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10,0</a:t>
              </a:r>
              <a:endParaRPr lang="zh-CN" altLang="zh-CN" sz="1800" b="1">
                <a:latin typeface="Arial" panose="020B0604020202020204" pitchFamily="34" charset="0"/>
              </a:endParaRPr>
            </a:p>
          </p:txBody>
        </p:sp>
        <p:sp>
          <p:nvSpPr>
            <p:cNvPr id="17468" name="Text Box 33"/>
            <p:cNvSpPr txBox="1">
              <a:spLocks noChangeArrowheads="1"/>
            </p:cNvSpPr>
            <p:nvPr/>
          </p:nvSpPr>
          <p:spPr bwMode="auto">
            <a:xfrm>
              <a:off x="1857356" y="4143392"/>
              <a:ext cx="634377"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8,0</a:t>
              </a:r>
              <a:endParaRPr lang="zh-CN" altLang="zh-CN" sz="1800" b="1">
                <a:latin typeface="Arial" panose="020B0604020202020204" pitchFamily="34" charset="0"/>
              </a:endParaRPr>
            </a:p>
          </p:txBody>
        </p:sp>
        <p:sp>
          <p:nvSpPr>
            <p:cNvPr id="17469" name="Text Box 33"/>
            <p:cNvSpPr txBox="1">
              <a:spLocks noChangeArrowheads="1"/>
            </p:cNvSpPr>
            <p:nvPr/>
          </p:nvSpPr>
          <p:spPr bwMode="auto">
            <a:xfrm>
              <a:off x="2080258" y="4572008"/>
              <a:ext cx="634354"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2,0</a:t>
              </a:r>
              <a:endParaRPr lang="zh-CN" altLang="zh-CN" sz="1800" b="1">
                <a:latin typeface="Arial" panose="020B0604020202020204" pitchFamily="34" charset="0"/>
              </a:endParaRPr>
            </a:p>
          </p:txBody>
        </p:sp>
        <p:sp>
          <p:nvSpPr>
            <p:cNvPr id="17470" name="Text Box 33"/>
            <p:cNvSpPr txBox="1">
              <a:spLocks noChangeArrowheads="1"/>
            </p:cNvSpPr>
            <p:nvPr/>
          </p:nvSpPr>
          <p:spPr bwMode="auto">
            <a:xfrm>
              <a:off x="1682752" y="5000642"/>
              <a:ext cx="746108" cy="35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cs typeface="Times New Roman" panose="02020603050405020304" pitchFamily="18" charset="0"/>
                </a:rPr>
                <a:t>12,0</a:t>
              </a:r>
              <a:endParaRPr lang="zh-CN" altLang="zh-CN" sz="1800" b="1">
                <a:latin typeface="Times New Roman" panose="02020603050405020304" pitchFamily="18" charset="0"/>
                <a:cs typeface="Times New Roman" panose="02020603050405020304" pitchFamily="18" charset="0"/>
              </a:endParaRPr>
            </a:p>
          </p:txBody>
        </p:sp>
        <p:sp>
          <p:nvSpPr>
            <p:cNvPr id="17471" name="Text Box 33"/>
            <p:cNvSpPr txBox="1">
              <a:spLocks noChangeArrowheads="1"/>
            </p:cNvSpPr>
            <p:nvPr/>
          </p:nvSpPr>
          <p:spPr bwMode="auto">
            <a:xfrm>
              <a:off x="2500298" y="5500705"/>
              <a:ext cx="634284"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10,0</a:t>
              </a:r>
              <a:endParaRPr lang="zh-CN" altLang="zh-CN" sz="1800" b="1">
                <a:latin typeface="Arial" panose="020B0604020202020204" pitchFamily="34" charset="0"/>
              </a:endParaRPr>
            </a:p>
          </p:txBody>
        </p:sp>
        <p:sp>
          <p:nvSpPr>
            <p:cNvPr id="17472" name="Text Box 33"/>
            <p:cNvSpPr txBox="1">
              <a:spLocks noChangeArrowheads="1"/>
            </p:cNvSpPr>
            <p:nvPr/>
          </p:nvSpPr>
          <p:spPr bwMode="auto">
            <a:xfrm>
              <a:off x="2643174" y="4643455"/>
              <a:ext cx="634261"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6,0</a:t>
              </a:r>
              <a:endParaRPr lang="zh-CN" altLang="zh-CN" sz="1800" b="1">
                <a:latin typeface="Arial" panose="020B0604020202020204" pitchFamily="34" charset="0"/>
              </a:endParaRPr>
            </a:p>
          </p:txBody>
        </p:sp>
        <p:sp>
          <p:nvSpPr>
            <p:cNvPr id="17473" name="Text Box 33"/>
            <p:cNvSpPr txBox="1">
              <a:spLocks noChangeArrowheads="1"/>
            </p:cNvSpPr>
            <p:nvPr/>
          </p:nvSpPr>
          <p:spPr bwMode="auto">
            <a:xfrm>
              <a:off x="3580678" y="4643455"/>
              <a:ext cx="634132"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2,0</a:t>
              </a:r>
              <a:endParaRPr lang="zh-CN" altLang="zh-CN" sz="1800" b="1">
                <a:latin typeface="Arial" panose="020B0604020202020204" pitchFamily="34" charset="0"/>
              </a:endParaRPr>
            </a:p>
          </p:txBody>
        </p:sp>
        <p:sp>
          <p:nvSpPr>
            <p:cNvPr id="17474" name="Text Box 33"/>
            <p:cNvSpPr txBox="1">
              <a:spLocks noChangeArrowheads="1"/>
            </p:cNvSpPr>
            <p:nvPr/>
          </p:nvSpPr>
          <p:spPr bwMode="auto">
            <a:xfrm>
              <a:off x="4183490" y="4214830"/>
              <a:ext cx="674262"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10,0</a:t>
              </a:r>
              <a:endParaRPr lang="zh-CN" altLang="zh-CN" sz="1800" b="1">
                <a:latin typeface="Arial" panose="020B0604020202020204" pitchFamily="34" charset="0"/>
              </a:endParaRPr>
            </a:p>
          </p:txBody>
        </p:sp>
        <p:sp>
          <p:nvSpPr>
            <p:cNvPr id="17475" name="Text Box 33"/>
            <p:cNvSpPr txBox="1">
              <a:spLocks noChangeArrowheads="1"/>
            </p:cNvSpPr>
            <p:nvPr/>
          </p:nvSpPr>
          <p:spPr bwMode="auto">
            <a:xfrm>
              <a:off x="3937926" y="5143516"/>
              <a:ext cx="705512" cy="428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8,0</a:t>
              </a:r>
              <a:endParaRPr lang="zh-CN" altLang="zh-CN" sz="1800" b="1">
                <a:latin typeface="Arial" panose="020B0604020202020204" pitchFamily="34" charset="0"/>
              </a:endParaRPr>
            </a:p>
          </p:txBody>
        </p:sp>
        <p:sp>
          <p:nvSpPr>
            <p:cNvPr id="17476" name="Text Box 33"/>
            <p:cNvSpPr txBox="1">
              <a:spLocks noChangeArrowheads="1"/>
            </p:cNvSpPr>
            <p:nvPr/>
          </p:nvSpPr>
          <p:spPr bwMode="auto">
            <a:xfrm>
              <a:off x="1722987" y="4572017"/>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i="1">
                  <a:latin typeface="Times New Roman" panose="02020603050405020304" pitchFamily="18" charset="0"/>
                </a:rPr>
                <a:t>s</a:t>
              </a:r>
              <a:endParaRPr lang="zh-CN" altLang="zh-CN" sz="1800" b="1" i="1">
                <a:latin typeface="Arial" panose="020B0604020202020204" pitchFamily="34" charset="0"/>
              </a:endParaRPr>
            </a:p>
          </p:txBody>
        </p:sp>
        <p:sp>
          <p:nvSpPr>
            <p:cNvPr id="17477" name="Text Box 33"/>
            <p:cNvSpPr txBox="1">
              <a:spLocks noChangeArrowheads="1"/>
            </p:cNvSpPr>
            <p:nvPr/>
          </p:nvSpPr>
          <p:spPr bwMode="auto">
            <a:xfrm>
              <a:off x="2580382" y="3857642"/>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a:t>
              </a:r>
              <a:endParaRPr lang="zh-CN" altLang="zh-CN" sz="1800" b="1">
                <a:latin typeface="Arial" panose="020B0604020202020204" pitchFamily="34" charset="0"/>
              </a:endParaRPr>
            </a:p>
          </p:txBody>
        </p:sp>
        <p:sp>
          <p:nvSpPr>
            <p:cNvPr id="17478" name="Text Box 33"/>
            <p:cNvSpPr txBox="1">
              <a:spLocks noChangeArrowheads="1"/>
            </p:cNvSpPr>
            <p:nvPr/>
          </p:nvSpPr>
          <p:spPr bwMode="auto">
            <a:xfrm>
              <a:off x="2182900" y="5357830"/>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a:t>
              </a:r>
              <a:endParaRPr lang="zh-CN" altLang="zh-CN" sz="1800" b="1">
                <a:latin typeface="Arial" panose="020B0604020202020204" pitchFamily="34" charset="0"/>
              </a:endParaRPr>
            </a:p>
          </p:txBody>
        </p:sp>
        <p:sp>
          <p:nvSpPr>
            <p:cNvPr id="17479" name="Text Box 33"/>
            <p:cNvSpPr txBox="1">
              <a:spLocks noChangeArrowheads="1"/>
            </p:cNvSpPr>
            <p:nvPr/>
          </p:nvSpPr>
          <p:spPr bwMode="auto">
            <a:xfrm>
              <a:off x="3151980" y="5357830"/>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3</a:t>
              </a:r>
              <a:endParaRPr lang="zh-CN" altLang="zh-CN" sz="1800" b="1">
                <a:latin typeface="Arial" panose="020B0604020202020204" pitchFamily="34" charset="0"/>
              </a:endParaRPr>
            </a:p>
          </p:txBody>
        </p:sp>
        <p:sp>
          <p:nvSpPr>
            <p:cNvPr id="17480" name="Text Box 33"/>
            <p:cNvSpPr txBox="1">
              <a:spLocks noChangeArrowheads="1"/>
            </p:cNvSpPr>
            <p:nvPr/>
          </p:nvSpPr>
          <p:spPr bwMode="auto">
            <a:xfrm>
              <a:off x="3723577" y="3857642"/>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4</a:t>
              </a:r>
              <a:endParaRPr lang="zh-CN" altLang="zh-CN" sz="1800" b="1">
                <a:latin typeface="Arial" panose="020B0604020202020204" pitchFamily="34" charset="0"/>
              </a:endParaRPr>
            </a:p>
          </p:txBody>
        </p:sp>
        <p:sp>
          <p:nvSpPr>
            <p:cNvPr id="17481" name="Text Box 33"/>
            <p:cNvSpPr txBox="1">
              <a:spLocks noChangeArrowheads="1"/>
            </p:cNvSpPr>
            <p:nvPr/>
          </p:nvSpPr>
          <p:spPr bwMode="auto">
            <a:xfrm>
              <a:off x="4397839" y="4714892"/>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i="1">
                  <a:latin typeface="Times New Roman" panose="02020603050405020304" pitchFamily="18" charset="0"/>
                </a:rPr>
                <a:t>t</a:t>
              </a:r>
              <a:endParaRPr lang="zh-CN" altLang="zh-CN" sz="1800" b="1" i="1">
                <a:latin typeface="Arial" panose="020B0604020202020204" pitchFamily="34" charset="0"/>
              </a:endParaRPr>
            </a:p>
          </p:txBody>
        </p:sp>
        <p:sp>
          <p:nvSpPr>
            <p:cNvPr id="17482" name="Text Box 33"/>
            <p:cNvSpPr txBox="1">
              <a:spLocks noChangeArrowheads="1"/>
            </p:cNvSpPr>
            <p:nvPr/>
          </p:nvSpPr>
          <p:spPr bwMode="auto">
            <a:xfrm>
              <a:off x="1142976" y="4286256"/>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zh-CN" altLang="en-US" sz="1800" b="1">
                  <a:latin typeface="Times New Roman" panose="02020603050405020304" pitchFamily="18" charset="0"/>
                  <a:sym typeface="Symbol" panose="05050102010706020507" pitchFamily="18" charset="2"/>
                </a:rPr>
                <a:t></a:t>
              </a:r>
              <a:r>
                <a:rPr lang="en-US" altLang="zh-CN" sz="1800" b="1">
                  <a:latin typeface="Times New Roman" panose="02020603050405020304" pitchFamily="18" charset="0"/>
                  <a:sym typeface="Symbol" panose="05050102010706020507" pitchFamily="18" charset="2"/>
                </a:rPr>
                <a:t>,+</a:t>
              </a:r>
              <a:r>
                <a:rPr lang="zh-CN" altLang="en-US" sz="1800" b="1">
                  <a:latin typeface="Times New Roman" panose="02020603050405020304" pitchFamily="18" charset="0"/>
                  <a:sym typeface="Symbol" panose="05050102010706020507" pitchFamily="18" charset="2"/>
                </a:rPr>
                <a:t></a:t>
              </a:r>
              <a:r>
                <a:rPr lang="en-US" altLang="zh-CN" sz="1800" b="1">
                  <a:latin typeface="Times New Roman" panose="02020603050405020304" pitchFamily="18" charset="0"/>
                  <a:sym typeface="Symbol" panose="05050102010706020507" pitchFamily="18" charset="2"/>
                </a:rPr>
                <a:t>)</a:t>
              </a:r>
              <a:endParaRPr lang="zh-CN" altLang="zh-CN" sz="1800" b="1">
                <a:latin typeface="Arial" panose="020B0604020202020204" pitchFamily="34" charset="0"/>
              </a:endParaRPr>
            </a:p>
          </p:txBody>
        </p:sp>
        <p:sp>
          <p:nvSpPr>
            <p:cNvPr id="17483" name="Text Box 33"/>
            <p:cNvSpPr txBox="1">
              <a:spLocks noChangeArrowheads="1"/>
            </p:cNvSpPr>
            <p:nvPr/>
          </p:nvSpPr>
          <p:spPr bwMode="auto">
            <a:xfrm>
              <a:off x="2151673" y="3571876"/>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i="1">
                  <a:latin typeface="Times New Roman" panose="02020603050405020304" pitchFamily="18" charset="0"/>
                  <a:sym typeface="Symbol" panose="05050102010706020507" pitchFamily="18" charset="2"/>
                </a:rPr>
                <a:t>s</a:t>
              </a:r>
              <a:r>
                <a:rPr lang="en-US" altLang="zh-CN" sz="1800" b="1">
                  <a:latin typeface="Times New Roman" panose="02020603050405020304" pitchFamily="18" charset="0"/>
                  <a:sym typeface="Symbol" panose="05050102010706020507" pitchFamily="18" charset="2"/>
                </a:rPr>
                <a:t>,8)</a:t>
              </a:r>
              <a:endParaRPr lang="zh-CN" altLang="zh-CN" sz="1800" b="1">
                <a:latin typeface="Arial" panose="020B0604020202020204" pitchFamily="34" charset="0"/>
              </a:endParaRPr>
            </a:p>
          </p:txBody>
        </p:sp>
        <p:sp>
          <p:nvSpPr>
            <p:cNvPr id="17484" name="Text Box 33"/>
            <p:cNvSpPr txBox="1">
              <a:spLocks noChangeArrowheads="1"/>
            </p:cNvSpPr>
            <p:nvPr/>
          </p:nvSpPr>
          <p:spPr bwMode="auto">
            <a:xfrm>
              <a:off x="3794747" y="3571888"/>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a:latin typeface="Times New Roman" panose="02020603050405020304" pitchFamily="18" charset="0"/>
                  <a:sym typeface="Symbol" panose="05050102010706020507" pitchFamily="18" charset="2"/>
                </a:rPr>
                <a:t>1,8)</a:t>
              </a:r>
              <a:endParaRPr lang="zh-CN" altLang="zh-CN" sz="1800" b="1">
                <a:latin typeface="Arial" panose="020B0604020202020204" pitchFamily="34" charset="0"/>
              </a:endParaRPr>
            </a:p>
          </p:txBody>
        </p:sp>
        <p:sp>
          <p:nvSpPr>
            <p:cNvPr id="17485" name="Text Box 33"/>
            <p:cNvSpPr txBox="1">
              <a:spLocks noChangeArrowheads="1"/>
            </p:cNvSpPr>
            <p:nvPr/>
          </p:nvSpPr>
          <p:spPr bwMode="auto">
            <a:xfrm>
              <a:off x="1723045" y="5643590"/>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i="1">
                  <a:latin typeface="Times New Roman" panose="02020603050405020304" pitchFamily="18" charset="0"/>
                  <a:sym typeface="Symbol" panose="05050102010706020507" pitchFamily="18" charset="2"/>
                </a:rPr>
                <a:t>s</a:t>
              </a:r>
              <a:r>
                <a:rPr lang="en-US" altLang="zh-CN" sz="1800" b="1">
                  <a:latin typeface="Times New Roman" panose="02020603050405020304" pitchFamily="18" charset="0"/>
                  <a:sym typeface="Symbol" panose="05050102010706020507" pitchFamily="18" charset="2"/>
                </a:rPr>
                <a:t>,12)</a:t>
              </a:r>
              <a:endParaRPr lang="zh-CN" altLang="zh-CN" sz="1800" b="1">
                <a:latin typeface="Arial" panose="020B0604020202020204" pitchFamily="34" charset="0"/>
              </a:endParaRPr>
            </a:p>
          </p:txBody>
        </p:sp>
        <p:sp>
          <p:nvSpPr>
            <p:cNvPr id="17486" name="Text Box 33"/>
            <p:cNvSpPr txBox="1">
              <a:spLocks noChangeArrowheads="1"/>
            </p:cNvSpPr>
            <p:nvPr/>
          </p:nvSpPr>
          <p:spPr bwMode="auto">
            <a:xfrm>
              <a:off x="3223243" y="5572140"/>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a:latin typeface="Times New Roman" panose="02020603050405020304" pitchFamily="18" charset="0"/>
                  <a:sym typeface="Symbol" panose="05050102010706020507" pitchFamily="18" charset="2"/>
                </a:rPr>
                <a:t>1,6)</a:t>
              </a:r>
              <a:endParaRPr lang="zh-CN" altLang="zh-CN" sz="1800" b="1">
                <a:latin typeface="Arial" panose="020B0604020202020204" pitchFamily="34" charset="0"/>
              </a:endParaRPr>
            </a:p>
          </p:txBody>
        </p:sp>
        <p:sp>
          <p:nvSpPr>
            <p:cNvPr id="17487" name="Text Box 33"/>
            <p:cNvSpPr txBox="1">
              <a:spLocks noChangeArrowheads="1"/>
            </p:cNvSpPr>
            <p:nvPr/>
          </p:nvSpPr>
          <p:spPr bwMode="auto">
            <a:xfrm>
              <a:off x="4652003" y="4714896"/>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a:latin typeface="Times New Roman" panose="02020603050405020304" pitchFamily="18" charset="0"/>
                  <a:sym typeface="Symbol" panose="05050102010706020507" pitchFamily="18" charset="2"/>
                </a:rPr>
                <a:t>3,6)</a:t>
              </a:r>
              <a:endParaRPr lang="zh-CN" altLang="zh-CN" sz="1800" b="1">
                <a:latin typeface="Arial" panose="020B0604020202020204" pitchFamily="34" charset="0"/>
              </a:endParaRPr>
            </a:p>
          </p:txBody>
        </p:sp>
      </p:grpSp>
      <p:grpSp>
        <p:nvGrpSpPr>
          <p:cNvPr id="4" name="组合 110"/>
          <p:cNvGrpSpPr/>
          <p:nvPr/>
        </p:nvGrpSpPr>
        <p:grpSpPr bwMode="auto">
          <a:xfrm>
            <a:off x="4572000" y="3571875"/>
            <a:ext cx="4286250" cy="2428875"/>
            <a:chOff x="4572000" y="3571876"/>
            <a:chExt cx="4286280" cy="2428892"/>
          </a:xfrm>
        </p:grpSpPr>
        <p:sp>
          <p:nvSpPr>
            <p:cNvPr id="17416" name="Oval 5"/>
            <p:cNvSpPr>
              <a:spLocks noChangeArrowheads="1"/>
            </p:cNvSpPr>
            <p:nvPr/>
          </p:nvSpPr>
          <p:spPr bwMode="auto">
            <a:xfrm>
              <a:off x="5155551" y="4635320"/>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7417" name="Oval 6"/>
            <p:cNvSpPr>
              <a:spLocks noChangeArrowheads="1"/>
            </p:cNvSpPr>
            <p:nvPr/>
          </p:nvSpPr>
          <p:spPr bwMode="auto">
            <a:xfrm>
              <a:off x="6031513" y="3922310"/>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7418" name="Oval 7"/>
            <p:cNvSpPr>
              <a:spLocks noChangeArrowheads="1"/>
            </p:cNvSpPr>
            <p:nvPr/>
          </p:nvSpPr>
          <p:spPr bwMode="auto">
            <a:xfrm>
              <a:off x="5617597" y="5409442"/>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7419" name="Oval 8"/>
            <p:cNvSpPr>
              <a:spLocks noChangeArrowheads="1"/>
            </p:cNvSpPr>
            <p:nvPr/>
          </p:nvSpPr>
          <p:spPr bwMode="auto">
            <a:xfrm>
              <a:off x="6609068" y="5399257"/>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7420" name="Oval 9"/>
            <p:cNvSpPr>
              <a:spLocks noChangeArrowheads="1"/>
            </p:cNvSpPr>
            <p:nvPr/>
          </p:nvSpPr>
          <p:spPr bwMode="auto">
            <a:xfrm>
              <a:off x="7186624" y="3912125"/>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7421" name="Oval 10"/>
            <p:cNvSpPr>
              <a:spLocks noChangeArrowheads="1"/>
            </p:cNvSpPr>
            <p:nvPr/>
          </p:nvSpPr>
          <p:spPr bwMode="auto">
            <a:xfrm>
              <a:off x="7860438" y="4777922"/>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17422" name="AutoShape 11"/>
            <p:cNvCxnSpPr>
              <a:cxnSpLocks noChangeShapeType="1"/>
            </p:cNvCxnSpPr>
            <p:nvPr/>
          </p:nvCxnSpPr>
          <p:spPr bwMode="auto">
            <a:xfrm flipV="1">
              <a:off x="5394997" y="4145127"/>
              <a:ext cx="636514" cy="543669"/>
            </a:xfrm>
            <a:prstGeom prst="straightConnector1">
              <a:avLst/>
            </a:prstGeom>
            <a:noFill/>
            <a:ln w="19050">
              <a:solidFill>
                <a:schemeClr val="tx1"/>
              </a:solidFill>
              <a:round/>
              <a:tailEnd type="arrow" w="med" len="med"/>
            </a:ln>
            <a:extLst>
              <a:ext uri="{909E8E84-426E-40DD-AFC4-6F175D3DCCD1}">
                <a14:hiddenFill xmlns:a14="http://schemas.microsoft.com/office/drawing/2010/main">
                  <a:noFill/>
                </a14:hiddenFill>
              </a:ext>
            </a:extLst>
          </p:spPr>
        </p:cxnSp>
        <p:cxnSp>
          <p:nvCxnSpPr>
            <p:cNvPr id="17423" name="AutoShape 12"/>
            <p:cNvCxnSpPr>
              <a:cxnSpLocks noChangeShapeType="1"/>
            </p:cNvCxnSpPr>
            <p:nvPr/>
          </p:nvCxnSpPr>
          <p:spPr bwMode="auto">
            <a:xfrm>
              <a:off x="5346867" y="4857760"/>
              <a:ext cx="300810" cy="541123"/>
            </a:xfrm>
            <a:prstGeom prst="straightConnector1">
              <a:avLst/>
            </a:prstGeom>
            <a:noFill/>
            <a:ln w="19050">
              <a:solidFill>
                <a:srgbClr val="FF0000"/>
              </a:solidFill>
              <a:round/>
              <a:tailEnd type="arrow" w="med" len="med"/>
            </a:ln>
            <a:extLst>
              <a:ext uri="{909E8E84-426E-40DD-AFC4-6F175D3DCCD1}">
                <a14:hiddenFill xmlns:a14="http://schemas.microsoft.com/office/drawing/2010/main">
                  <a:noFill/>
                </a14:hiddenFill>
              </a:ext>
            </a:extLst>
          </p:spPr>
        </p:cxnSp>
        <p:cxnSp>
          <p:nvCxnSpPr>
            <p:cNvPr id="17424" name="AutoShape 13"/>
            <p:cNvCxnSpPr>
              <a:cxnSpLocks noChangeShapeType="1"/>
            </p:cNvCxnSpPr>
            <p:nvPr/>
          </p:nvCxnSpPr>
          <p:spPr bwMode="auto">
            <a:xfrm flipV="1">
              <a:off x="5722279" y="4155311"/>
              <a:ext cx="413915" cy="1254131"/>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7425" name="AutoShape 14"/>
            <p:cNvCxnSpPr>
              <a:cxnSpLocks noChangeShapeType="1"/>
            </p:cNvCxnSpPr>
            <p:nvPr/>
          </p:nvCxnSpPr>
          <p:spPr bwMode="auto">
            <a:xfrm>
              <a:off x="6270956" y="4020349"/>
              <a:ext cx="915666" cy="0"/>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7426" name="AutoShape 15"/>
            <p:cNvCxnSpPr>
              <a:cxnSpLocks noChangeShapeType="1"/>
            </p:cNvCxnSpPr>
            <p:nvPr/>
          </p:nvCxnSpPr>
          <p:spPr bwMode="auto">
            <a:xfrm>
              <a:off x="6213202" y="4145127"/>
              <a:ext cx="476483" cy="1254131"/>
            </a:xfrm>
            <a:prstGeom prst="straightConnector1">
              <a:avLst/>
            </a:prstGeom>
            <a:noFill/>
            <a:ln w="19050">
              <a:solidFill>
                <a:schemeClr val="tx1"/>
              </a:solidFill>
              <a:round/>
              <a:tailEnd type="arrow" w="med" len="med"/>
            </a:ln>
            <a:extLst>
              <a:ext uri="{909E8E84-426E-40DD-AFC4-6F175D3DCCD1}">
                <a14:hiddenFill xmlns:a14="http://schemas.microsoft.com/office/drawing/2010/main">
                  <a:noFill/>
                </a14:hiddenFill>
              </a:ext>
            </a:extLst>
          </p:spPr>
        </p:cxnSp>
        <p:cxnSp>
          <p:nvCxnSpPr>
            <p:cNvPr id="17427" name="AutoShape 16"/>
            <p:cNvCxnSpPr>
              <a:cxnSpLocks noChangeShapeType="1"/>
            </p:cNvCxnSpPr>
            <p:nvPr/>
          </p:nvCxnSpPr>
          <p:spPr bwMode="auto">
            <a:xfrm flipH="1">
              <a:off x="6777521" y="4145127"/>
              <a:ext cx="500549" cy="1254131"/>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7428" name="AutoShape 17"/>
            <p:cNvCxnSpPr>
              <a:cxnSpLocks noChangeShapeType="1"/>
            </p:cNvCxnSpPr>
            <p:nvPr/>
          </p:nvCxnSpPr>
          <p:spPr bwMode="auto">
            <a:xfrm>
              <a:off x="7426069" y="4145127"/>
              <a:ext cx="456027" cy="632795"/>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7429" name="AutoShape 18"/>
            <p:cNvCxnSpPr>
              <a:cxnSpLocks noChangeShapeType="1"/>
            </p:cNvCxnSpPr>
            <p:nvPr/>
          </p:nvCxnSpPr>
          <p:spPr bwMode="auto">
            <a:xfrm flipV="1">
              <a:off x="6848513" y="4953627"/>
              <a:ext cx="1011925" cy="539849"/>
            </a:xfrm>
            <a:prstGeom prst="straightConnector1">
              <a:avLst/>
            </a:prstGeom>
            <a:noFill/>
            <a:ln w="19050">
              <a:solidFill>
                <a:srgbClr val="FF0000"/>
              </a:solidFill>
              <a:round/>
              <a:tailEnd type="arrow" w="med" len="med"/>
            </a:ln>
            <a:extLst>
              <a:ext uri="{909E8E84-426E-40DD-AFC4-6F175D3DCCD1}">
                <a14:hiddenFill xmlns:a14="http://schemas.microsoft.com/office/drawing/2010/main">
                  <a:noFill/>
                </a14:hiddenFill>
              </a:ext>
            </a:extLst>
          </p:spPr>
        </p:cxnSp>
        <p:cxnSp>
          <p:nvCxnSpPr>
            <p:cNvPr id="17430" name="AutoShape 25"/>
            <p:cNvCxnSpPr>
              <a:cxnSpLocks noChangeShapeType="1"/>
            </p:cNvCxnSpPr>
            <p:nvPr/>
          </p:nvCxnSpPr>
          <p:spPr bwMode="auto">
            <a:xfrm>
              <a:off x="5857043" y="5524033"/>
              <a:ext cx="752026" cy="0"/>
            </a:xfrm>
            <a:prstGeom prst="straightConnector1">
              <a:avLst/>
            </a:prstGeom>
            <a:noFill/>
            <a:ln w="19050">
              <a:solidFill>
                <a:srgbClr val="FF0000"/>
              </a:solidFill>
              <a:round/>
              <a:tailEnd type="arrow" w="med" len="med"/>
            </a:ln>
            <a:extLst>
              <a:ext uri="{909E8E84-426E-40DD-AFC4-6F175D3DCCD1}">
                <a14:hiddenFill xmlns:a14="http://schemas.microsoft.com/office/drawing/2010/main">
                  <a:noFill/>
                </a14:hiddenFill>
              </a:ext>
            </a:extLst>
          </p:spPr>
        </p:cxnSp>
        <p:sp>
          <p:nvSpPr>
            <p:cNvPr id="17431" name="Text Box 33"/>
            <p:cNvSpPr txBox="1">
              <a:spLocks noChangeArrowheads="1"/>
            </p:cNvSpPr>
            <p:nvPr/>
          </p:nvSpPr>
          <p:spPr bwMode="auto">
            <a:xfrm>
              <a:off x="6429388" y="3714767"/>
              <a:ext cx="603011" cy="3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10,0</a:t>
              </a:r>
              <a:endParaRPr lang="zh-CN" altLang="zh-CN" sz="1800" b="1">
                <a:latin typeface="Arial" panose="020B0604020202020204" pitchFamily="34" charset="0"/>
              </a:endParaRPr>
            </a:p>
          </p:txBody>
        </p:sp>
        <p:sp>
          <p:nvSpPr>
            <p:cNvPr id="17432" name="Text Box 33"/>
            <p:cNvSpPr txBox="1">
              <a:spLocks noChangeArrowheads="1"/>
            </p:cNvSpPr>
            <p:nvPr/>
          </p:nvSpPr>
          <p:spPr bwMode="auto">
            <a:xfrm>
              <a:off x="5286380" y="4143392"/>
              <a:ext cx="634377"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8,6</a:t>
              </a:r>
              <a:endParaRPr lang="zh-CN" altLang="zh-CN" sz="1800" b="1">
                <a:latin typeface="Arial" panose="020B0604020202020204" pitchFamily="34" charset="0"/>
              </a:endParaRPr>
            </a:p>
          </p:txBody>
        </p:sp>
        <p:sp>
          <p:nvSpPr>
            <p:cNvPr id="17433" name="Text Box 33"/>
            <p:cNvSpPr txBox="1">
              <a:spLocks noChangeArrowheads="1"/>
            </p:cNvSpPr>
            <p:nvPr/>
          </p:nvSpPr>
          <p:spPr bwMode="auto">
            <a:xfrm>
              <a:off x="5509282" y="4572008"/>
              <a:ext cx="634354"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2,0</a:t>
              </a:r>
              <a:endParaRPr lang="zh-CN" altLang="zh-CN" sz="1800" b="1">
                <a:latin typeface="Arial" panose="020B0604020202020204" pitchFamily="34" charset="0"/>
              </a:endParaRPr>
            </a:p>
          </p:txBody>
        </p:sp>
        <p:sp>
          <p:nvSpPr>
            <p:cNvPr id="17434" name="Text Box 33"/>
            <p:cNvSpPr txBox="1">
              <a:spLocks noChangeArrowheads="1"/>
            </p:cNvSpPr>
            <p:nvPr/>
          </p:nvSpPr>
          <p:spPr bwMode="auto">
            <a:xfrm>
              <a:off x="4968900" y="5000642"/>
              <a:ext cx="746108" cy="35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cs typeface="Times New Roman" panose="02020603050405020304" pitchFamily="18" charset="0"/>
                </a:rPr>
                <a:t>12,0</a:t>
              </a:r>
              <a:endParaRPr lang="zh-CN" altLang="zh-CN" sz="1800" b="1">
                <a:latin typeface="Times New Roman" panose="02020603050405020304" pitchFamily="18" charset="0"/>
                <a:cs typeface="Times New Roman" panose="02020603050405020304" pitchFamily="18" charset="0"/>
              </a:endParaRPr>
            </a:p>
          </p:txBody>
        </p:sp>
        <p:sp>
          <p:nvSpPr>
            <p:cNvPr id="17435" name="Text Box 33"/>
            <p:cNvSpPr txBox="1">
              <a:spLocks noChangeArrowheads="1"/>
            </p:cNvSpPr>
            <p:nvPr/>
          </p:nvSpPr>
          <p:spPr bwMode="auto">
            <a:xfrm>
              <a:off x="5929322" y="5500702"/>
              <a:ext cx="634284"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10,0</a:t>
              </a:r>
              <a:endParaRPr lang="zh-CN" altLang="zh-CN" sz="1800" b="1">
                <a:latin typeface="Arial" panose="020B0604020202020204" pitchFamily="34" charset="0"/>
              </a:endParaRPr>
            </a:p>
          </p:txBody>
        </p:sp>
        <p:sp>
          <p:nvSpPr>
            <p:cNvPr id="17436" name="Text Box 33"/>
            <p:cNvSpPr txBox="1">
              <a:spLocks noChangeArrowheads="1"/>
            </p:cNvSpPr>
            <p:nvPr/>
          </p:nvSpPr>
          <p:spPr bwMode="auto">
            <a:xfrm>
              <a:off x="6072198" y="4643455"/>
              <a:ext cx="634261"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6,6</a:t>
              </a:r>
              <a:endParaRPr lang="zh-CN" altLang="zh-CN" sz="1800" b="1">
                <a:latin typeface="Arial" panose="020B0604020202020204" pitchFamily="34" charset="0"/>
              </a:endParaRPr>
            </a:p>
          </p:txBody>
        </p:sp>
        <p:sp>
          <p:nvSpPr>
            <p:cNvPr id="17437" name="Text Box 33"/>
            <p:cNvSpPr txBox="1">
              <a:spLocks noChangeArrowheads="1"/>
            </p:cNvSpPr>
            <p:nvPr/>
          </p:nvSpPr>
          <p:spPr bwMode="auto">
            <a:xfrm>
              <a:off x="7009702" y="4643455"/>
              <a:ext cx="634132"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2,0</a:t>
              </a:r>
              <a:endParaRPr lang="zh-CN" altLang="zh-CN" sz="1800" b="1">
                <a:latin typeface="Arial" panose="020B0604020202020204" pitchFamily="34" charset="0"/>
              </a:endParaRPr>
            </a:p>
          </p:txBody>
        </p:sp>
        <p:sp>
          <p:nvSpPr>
            <p:cNvPr id="17438" name="Text Box 33"/>
            <p:cNvSpPr txBox="1">
              <a:spLocks noChangeArrowheads="1"/>
            </p:cNvSpPr>
            <p:nvPr/>
          </p:nvSpPr>
          <p:spPr bwMode="auto">
            <a:xfrm>
              <a:off x="7612514" y="4214830"/>
              <a:ext cx="674262"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10,0</a:t>
              </a:r>
              <a:endParaRPr lang="zh-CN" altLang="zh-CN" sz="1800" b="1">
                <a:latin typeface="Arial" panose="020B0604020202020204" pitchFamily="34" charset="0"/>
              </a:endParaRPr>
            </a:p>
          </p:txBody>
        </p:sp>
        <p:sp>
          <p:nvSpPr>
            <p:cNvPr id="17439" name="Text Box 33"/>
            <p:cNvSpPr txBox="1">
              <a:spLocks noChangeArrowheads="1"/>
            </p:cNvSpPr>
            <p:nvPr/>
          </p:nvSpPr>
          <p:spPr bwMode="auto">
            <a:xfrm>
              <a:off x="7366950" y="5143516"/>
              <a:ext cx="705512" cy="428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8,6</a:t>
              </a:r>
              <a:endParaRPr lang="zh-CN" altLang="zh-CN" sz="1800" b="1">
                <a:latin typeface="Arial" panose="020B0604020202020204" pitchFamily="34" charset="0"/>
              </a:endParaRPr>
            </a:p>
          </p:txBody>
        </p:sp>
        <p:sp>
          <p:nvSpPr>
            <p:cNvPr id="17440" name="Text Box 33"/>
            <p:cNvSpPr txBox="1">
              <a:spLocks noChangeArrowheads="1"/>
            </p:cNvSpPr>
            <p:nvPr/>
          </p:nvSpPr>
          <p:spPr bwMode="auto">
            <a:xfrm>
              <a:off x="5152011" y="4572017"/>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i="1">
                  <a:latin typeface="Times New Roman" panose="02020603050405020304" pitchFamily="18" charset="0"/>
                </a:rPr>
                <a:t>s</a:t>
              </a:r>
              <a:endParaRPr lang="zh-CN" altLang="zh-CN" sz="1800" b="1" i="1">
                <a:latin typeface="Arial" panose="020B0604020202020204" pitchFamily="34" charset="0"/>
              </a:endParaRPr>
            </a:p>
          </p:txBody>
        </p:sp>
        <p:sp>
          <p:nvSpPr>
            <p:cNvPr id="17441" name="Text Box 33"/>
            <p:cNvSpPr txBox="1">
              <a:spLocks noChangeArrowheads="1"/>
            </p:cNvSpPr>
            <p:nvPr/>
          </p:nvSpPr>
          <p:spPr bwMode="auto">
            <a:xfrm>
              <a:off x="6009406" y="3857642"/>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a:t>
              </a:r>
              <a:endParaRPr lang="zh-CN" altLang="zh-CN" sz="1800" b="1">
                <a:latin typeface="Arial" panose="020B0604020202020204" pitchFamily="34" charset="0"/>
              </a:endParaRPr>
            </a:p>
          </p:txBody>
        </p:sp>
        <p:sp>
          <p:nvSpPr>
            <p:cNvPr id="17442" name="Text Box 33"/>
            <p:cNvSpPr txBox="1">
              <a:spLocks noChangeArrowheads="1"/>
            </p:cNvSpPr>
            <p:nvPr/>
          </p:nvSpPr>
          <p:spPr bwMode="auto">
            <a:xfrm>
              <a:off x="5611924" y="5357830"/>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a:t>
              </a:r>
              <a:endParaRPr lang="zh-CN" altLang="zh-CN" sz="1800" b="1">
                <a:latin typeface="Arial" panose="020B0604020202020204" pitchFamily="34" charset="0"/>
              </a:endParaRPr>
            </a:p>
          </p:txBody>
        </p:sp>
        <p:sp>
          <p:nvSpPr>
            <p:cNvPr id="17443" name="Text Box 33"/>
            <p:cNvSpPr txBox="1">
              <a:spLocks noChangeArrowheads="1"/>
            </p:cNvSpPr>
            <p:nvPr/>
          </p:nvSpPr>
          <p:spPr bwMode="auto">
            <a:xfrm>
              <a:off x="6581004" y="5357830"/>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3</a:t>
              </a:r>
              <a:endParaRPr lang="zh-CN" altLang="zh-CN" sz="1800" b="1">
                <a:latin typeface="Arial" panose="020B0604020202020204" pitchFamily="34" charset="0"/>
              </a:endParaRPr>
            </a:p>
          </p:txBody>
        </p:sp>
        <p:sp>
          <p:nvSpPr>
            <p:cNvPr id="17444" name="Text Box 33"/>
            <p:cNvSpPr txBox="1">
              <a:spLocks noChangeArrowheads="1"/>
            </p:cNvSpPr>
            <p:nvPr/>
          </p:nvSpPr>
          <p:spPr bwMode="auto">
            <a:xfrm>
              <a:off x="7152601" y="3857642"/>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4</a:t>
              </a:r>
              <a:endParaRPr lang="zh-CN" altLang="zh-CN" sz="1800" b="1">
                <a:latin typeface="Arial" panose="020B0604020202020204" pitchFamily="34" charset="0"/>
              </a:endParaRPr>
            </a:p>
          </p:txBody>
        </p:sp>
        <p:sp>
          <p:nvSpPr>
            <p:cNvPr id="17445" name="Text Box 33"/>
            <p:cNvSpPr txBox="1">
              <a:spLocks noChangeArrowheads="1"/>
            </p:cNvSpPr>
            <p:nvPr/>
          </p:nvSpPr>
          <p:spPr bwMode="auto">
            <a:xfrm>
              <a:off x="7826863" y="4714892"/>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i="1">
                  <a:latin typeface="Times New Roman" panose="02020603050405020304" pitchFamily="18" charset="0"/>
                </a:rPr>
                <a:t>t</a:t>
              </a:r>
              <a:endParaRPr lang="zh-CN" altLang="zh-CN" sz="1800" b="1" i="1">
                <a:latin typeface="Arial" panose="020B0604020202020204" pitchFamily="34" charset="0"/>
              </a:endParaRPr>
            </a:p>
          </p:txBody>
        </p:sp>
        <p:sp>
          <p:nvSpPr>
            <p:cNvPr id="17446" name="Text Box 33"/>
            <p:cNvSpPr txBox="1">
              <a:spLocks noChangeArrowheads="1"/>
            </p:cNvSpPr>
            <p:nvPr/>
          </p:nvSpPr>
          <p:spPr bwMode="auto">
            <a:xfrm>
              <a:off x="4572000" y="4286256"/>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zh-CN" altLang="en-US" sz="1800" b="1">
                  <a:latin typeface="Times New Roman" panose="02020603050405020304" pitchFamily="18" charset="0"/>
                  <a:sym typeface="Symbol" panose="05050102010706020507" pitchFamily="18" charset="2"/>
                </a:rPr>
                <a:t></a:t>
              </a:r>
              <a:r>
                <a:rPr lang="en-US" altLang="zh-CN" sz="1800" b="1">
                  <a:latin typeface="Times New Roman" panose="02020603050405020304" pitchFamily="18" charset="0"/>
                  <a:sym typeface="Symbol" panose="05050102010706020507" pitchFamily="18" charset="2"/>
                </a:rPr>
                <a:t>,+</a:t>
              </a:r>
              <a:r>
                <a:rPr lang="zh-CN" altLang="en-US" sz="1800" b="1">
                  <a:latin typeface="Times New Roman" panose="02020603050405020304" pitchFamily="18" charset="0"/>
                  <a:sym typeface="Symbol" panose="05050102010706020507" pitchFamily="18" charset="2"/>
                </a:rPr>
                <a:t></a:t>
              </a:r>
              <a:r>
                <a:rPr lang="en-US" altLang="zh-CN" sz="1800" b="1">
                  <a:latin typeface="Times New Roman" panose="02020603050405020304" pitchFamily="18" charset="0"/>
                  <a:sym typeface="Symbol" panose="05050102010706020507" pitchFamily="18" charset="2"/>
                </a:rPr>
                <a:t>)</a:t>
              </a:r>
              <a:endParaRPr lang="zh-CN" altLang="zh-CN" sz="1800" b="1">
                <a:latin typeface="Arial" panose="020B0604020202020204" pitchFamily="34" charset="0"/>
              </a:endParaRPr>
            </a:p>
          </p:txBody>
        </p:sp>
        <p:sp>
          <p:nvSpPr>
            <p:cNvPr id="17447" name="Text Box 33"/>
            <p:cNvSpPr txBox="1">
              <a:spLocks noChangeArrowheads="1"/>
            </p:cNvSpPr>
            <p:nvPr/>
          </p:nvSpPr>
          <p:spPr bwMode="auto">
            <a:xfrm>
              <a:off x="5580697" y="3571876"/>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i="1">
                  <a:latin typeface="Times New Roman" panose="02020603050405020304" pitchFamily="18" charset="0"/>
                  <a:sym typeface="Symbol" panose="05050102010706020507" pitchFamily="18" charset="2"/>
                </a:rPr>
                <a:t>s</a:t>
              </a:r>
              <a:r>
                <a:rPr lang="en-US" altLang="zh-CN" sz="1800" b="1">
                  <a:latin typeface="Times New Roman" panose="02020603050405020304" pitchFamily="18" charset="0"/>
                  <a:sym typeface="Symbol" panose="05050102010706020507" pitchFamily="18" charset="2"/>
                </a:rPr>
                <a:t>,2)</a:t>
              </a:r>
              <a:endParaRPr lang="zh-CN" altLang="zh-CN" sz="1800" b="1">
                <a:latin typeface="Arial" panose="020B0604020202020204" pitchFamily="34" charset="0"/>
              </a:endParaRPr>
            </a:p>
          </p:txBody>
        </p:sp>
        <p:sp>
          <p:nvSpPr>
            <p:cNvPr id="17448" name="Text Box 33"/>
            <p:cNvSpPr txBox="1">
              <a:spLocks noChangeArrowheads="1"/>
            </p:cNvSpPr>
            <p:nvPr/>
          </p:nvSpPr>
          <p:spPr bwMode="auto">
            <a:xfrm>
              <a:off x="7223771" y="3571888"/>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a:latin typeface="Times New Roman" panose="02020603050405020304" pitchFamily="18" charset="0"/>
                  <a:sym typeface="Symbol" panose="05050102010706020507" pitchFamily="18" charset="2"/>
                </a:rPr>
                <a:t>1,2)</a:t>
              </a:r>
              <a:endParaRPr lang="zh-CN" altLang="zh-CN" sz="1800" b="1">
                <a:latin typeface="Arial" panose="020B0604020202020204" pitchFamily="34" charset="0"/>
              </a:endParaRPr>
            </a:p>
          </p:txBody>
        </p:sp>
        <p:sp>
          <p:nvSpPr>
            <p:cNvPr id="17449" name="Text Box 33"/>
            <p:cNvSpPr txBox="1">
              <a:spLocks noChangeArrowheads="1"/>
            </p:cNvSpPr>
            <p:nvPr/>
          </p:nvSpPr>
          <p:spPr bwMode="auto">
            <a:xfrm>
              <a:off x="5152069" y="5643590"/>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i="1">
                  <a:latin typeface="Times New Roman" panose="02020603050405020304" pitchFamily="18" charset="0"/>
                  <a:sym typeface="Symbol" panose="05050102010706020507" pitchFamily="18" charset="2"/>
                </a:rPr>
                <a:t>s</a:t>
              </a:r>
              <a:r>
                <a:rPr lang="en-US" altLang="zh-CN" sz="1800" b="1">
                  <a:latin typeface="Times New Roman" panose="02020603050405020304" pitchFamily="18" charset="0"/>
                  <a:sym typeface="Symbol" panose="05050102010706020507" pitchFamily="18" charset="2"/>
                </a:rPr>
                <a:t>,12)</a:t>
              </a:r>
              <a:endParaRPr lang="zh-CN" altLang="zh-CN" sz="1800" b="1">
                <a:latin typeface="Arial" panose="020B0604020202020204" pitchFamily="34" charset="0"/>
              </a:endParaRPr>
            </a:p>
          </p:txBody>
        </p:sp>
        <p:sp>
          <p:nvSpPr>
            <p:cNvPr id="17450" name="Text Box 33"/>
            <p:cNvSpPr txBox="1">
              <a:spLocks noChangeArrowheads="1"/>
            </p:cNvSpPr>
            <p:nvPr/>
          </p:nvSpPr>
          <p:spPr bwMode="auto">
            <a:xfrm>
              <a:off x="6652267" y="5572140"/>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a:latin typeface="Times New Roman" panose="02020603050405020304" pitchFamily="18" charset="0"/>
                  <a:sym typeface="Symbol" panose="05050102010706020507" pitchFamily="18" charset="2"/>
                </a:rPr>
                <a:t>2,10)</a:t>
              </a:r>
              <a:endParaRPr lang="zh-CN" altLang="zh-CN" sz="1800" b="1">
                <a:latin typeface="Arial" panose="020B0604020202020204" pitchFamily="34" charset="0"/>
              </a:endParaRPr>
            </a:p>
          </p:txBody>
        </p:sp>
        <p:sp>
          <p:nvSpPr>
            <p:cNvPr id="17451" name="Text Box 33"/>
            <p:cNvSpPr txBox="1">
              <a:spLocks noChangeArrowheads="1"/>
            </p:cNvSpPr>
            <p:nvPr/>
          </p:nvSpPr>
          <p:spPr bwMode="auto">
            <a:xfrm>
              <a:off x="8081027" y="4714896"/>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a:latin typeface="Times New Roman" panose="02020603050405020304" pitchFamily="18" charset="0"/>
                  <a:sym typeface="Symbol" panose="05050102010706020507" pitchFamily="18" charset="2"/>
                </a:rPr>
                <a:t>3,2)</a:t>
              </a:r>
              <a:endParaRPr lang="zh-CN" altLang="zh-CN" sz="1800" b="1">
                <a:latin typeface="Arial" panose="020B0604020202020204" pitchFamily="34" charset="0"/>
              </a:endParaRPr>
            </a:p>
          </p:txBody>
        </p:sp>
      </p:grpSp>
      <p:sp>
        <p:nvSpPr>
          <p:cNvPr id="17415" name="灯片编号占位符 1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C9B1EE40-CD71-4429-9CAA-83A83AAE78C2}"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ctrTitle"/>
          </p:nvPr>
        </p:nvSpPr>
        <p:spPr>
          <a:xfrm>
            <a:off x="685800" y="476250"/>
            <a:ext cx="1885950" cy="595313"/>
          </a:xfrm>
        </p:spPr>
        <p:txBody>
          <a:bodyPr/>
          <a:lstStyle/>
          <a:p>
            <a:pPr algn="l" eaLnBrk="1" hangingPunct="1"/>
            <a:r>
              <a:rPr lang="zh-CN" altLang="en-US" sz="2800" b="1" dirty="0" smtClean="0">
                <a:solidFill>
                  <a:srgbClr val="C00000"/>
                </a:solidFill>
                <a:latin typeface="Times New Roman" panose="02020603050405020304" pitchFamily="18" charset="0"/>
                <a:cs typeface="Times New Roman" panose="02020603050405020304" pitchFamily="18" charset="0"/>
              </a:rPr>
              <a:t>例</a:t>
            </a:r>
            <a:r>
              <a:rPr lang="en-US" altLang="zh-CN" sz="2800" b="1" dirty="0" smtClean="0">
                <a:solidFill>
                  <a:srgbClr val="C00000"/>
                </a:solidFill>
                <a:latin typeface="Times New Roman" panose="02020603050405020304" pitchFamily="18" charset="0"/>
                <a:cs typeface="Times New Roman" panose="02020603050405020304" pitchFamily="18" charset="0"/>
              </a:rPr>
              <a:t>7.1 (</a:t>
            </a:r>
            <a:r>
              <a:rPr lang="zh-CN" altLang="en-US" sz="2800" b="1" dirty="0" smtClean="0">
                <a:solidFill>
                  <a:srgbClr val="C00000"/>
                </a:solidFill>
                <a:latin typeface="Times New Roman" panose="02020603050405020304" pitchFamily="18" charset="0"/>
                <a:cs typeface="Times New Roman" panose="02020603050405020304" pitchFamily="18" charset="0"/>
              </a:rPr>
              <a:t>续</a:t>
            </a:r>
            <a:r>
              <a:rPr lang="en-US" altLang="zh-CN" sz="2800" b="1" dirty="0" smtClean="0">
                <a:solidFill>
                  <a:srgbClr val="C00000"/>
                </a:solidFill>
                <a:latin typeface="Times New Roman" panose="02020603050405020304" pitchFamily="18" charset="0"/>
                <a:cs typeface="Times New Roman" panose="02020603050405020304" pitchFamily="18" charset="0"/>
              </a:rPr>
              <a:t>)</a:t>
            </a:r>
            <a:endParaRPr lang="zh-CN" altLang="en-US" sz="2800" b="1" dirty="0" smtClean="0">
              <a:solidFill>
                <a:srgbClr val="C00000"/>
              </a:solidFill>
              <a:latin typeface="Times New Roman" panose="02020603050405020304" pitchFamily="18" charset="0"/>
              <a:cs typeface="Times New Roman" panose="02020603050405020304" pitchFamily="18" charset="0"/>
            </a:endParaRPr>
          </a:p>
        </p:txBody>
      </p:sp>
      <p:grpSp>
        <p:nvGrpSpPr>
          <p:cNvPr id="18435" name="组合 41"/>
          <p:cNvGrpSpPr/>
          <p:nvPr/>
        </p:nvGrpSpPr>
        <p:grpSpPr bwMode="auto">
          <a:xfrm>
            <a:off x="500063" y="1214438"/>
            <a:ext cx="4286250" cy="2428875"/>
            <a:chOff x="500034" y="1214422"/>
            <a:chExt cx="4286280" cy="2428892"/>
          </a:xfrm>
        </p:grpSpPr>
        <p:sp>
          <p:nvSpPr>
            <p:cNvPr id="18546" name="Oval 5"/>
            <p:cNvSpPr>
              <a:spLocks noChangeArrowheads="1"/>
            </p:cNvSpPr>
            <p:nvPr/>
          </p:nvSpPr>
          <p:spPr bwMode="auto">
            <a:xfrm>
              <a:off x="1083585" y="2277866"/>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547" name="Oval 6"/>
            <p:cNvSpPr>
              <a:spLocks noChangeArrowheads="1"/>
            </p:cNvSpPr>
            <p:nvPr/>
          </p:nvSpPr>
          <p:spPr bwMode="auto">
            <a:xfrm>
              <a:off x="1959547" y="1564856"/>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548" name="Oval 7"/>
            <p:cNvSpPr>
              <a:spLocks noChangeArrowheads="1"/>
            </p:cNvSpPr>
            <p:nvPr/>
          </p:nvSpPr>
          <p:spPr bwMode="auto">
            <a:xfrm>
              <a:off x="1545631" y="3051988"/>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549" name="Oval 8"/>
            <p:cNvSpPr>
              <a:spLocks noChangeArrowheads="1"/>
            </p:cNvSpPr>
            <p:nvPr/>
          </p:nvSpPr>
          <p:spPr bwMode="auto">
            <a:xfrm>
              <a:off x="2537102" y="3041803"/>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550" name="Oval 9"/>
            <p:cNvSpPr>
              <a:spLocks noChangeArrowheads="1"/>
            </p:cNvSpPr>
            <p:nvPr/>
          </p:nvSpPr>
          <p:spPr bwMode="auto">
            <a:xfrm>
              <a:off x="3114658" y="1554671"/>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551" name="Oval 10"/>
            <p:cNvSpPr>
              <a:spLocks noChangeArrowheads="1"/>
            </p:cNvSpPr>
            <p:nvPr/>
          </p:nvSpPr>
          <p:spPr bwMode="auto">
            <a:xfrm>
              <a:off x="3788472" y="2420468"/>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18552" name="AutoShape 11"/>
            <p:cNvCxnSpPr>
              <a:cxnSpLocks noChangeShapeType="1"/>
            </p:cNvCxnSpPr>
            <p:nvPr/>
          </p:nvCxnSpPr>
          <p:spPr bwMode="auto">
            <a:xfrm flipV="1">
              <a:off x="1323031" y="1787673"/>
              <a:ext cx="636514" cy="543669"/>
            </a:xfrm>
            <a:prstGeom prst="straightConnector1">
              <a:avLst/>
            </a:prstGeom>
            <a:noFill/>
            <a:ln w="19050">
              <a:solidFill>
                <a:srgbClr val="FF0000"/>
              </a:solidFill>
              <a:round/>
              <a:tailEnd type="arrow" w="med" len="med"/>
            </a:ln>
            <a:extLst>
              <a:ext uri="{909E8E84-426E-40DD-AFC4-6F175D3DCCD1}">
                <a14:hiddenFill xmlns:a14="http://schemas.microsoft.com/office/drawing/2010/main">
                  <a:noFill/>
                </a14:hiddenFill>
              </a:ext>
            </a:extLst>
          </p:spPr>
        </p:cxnSp>
        <p:cxnSp>
          <p:nvCxnSpPr>
            <p:cNvPr id="18553" name="AutoShape 12"/>
            <p:cNvCxnSpPr>
              <a:cxnSpLocks noChangeShapeType="1"/>
            </p:cNvCxnSpPr>
            <p:nvPr/>
          </p:nvCxnSpPr>
          <p:spPr bwMode="auto">
            <a:xfrm>
              <a:off x="1274901" y="2500306"/>
              <a:ext cx="300810" cy="541123"/>
            </a:xfrm>
            <a:prstGeom prst="straightConnector1">
              <a:avLst/>
            </a:prstGeom>
            <a:noFill/>
            <a:ln w="19050">
              <a:solidFill>
                <a:schemeClr val="tx1"/>
              </a:solidFill>
              <a:round/>
              <a:tailEnd type="arrow" w="med" len="med"/>
            </a:ln>
            <a:extLst>
              <a:ext uri="{909E8E84-426E-40DD-AFC4-6F175D3DCCD1}">
                <a14:hiddenFill xmlns:a14="http://schemas.microsoft.com/office/drawing/2010/main">
                  <a:noFill/>
                </a14:hiddenFill>
              </a:ext>
            </a:extLst>
          </p:spPr>
        </p:cxnSp>
        <p:cxnSp>
          <p:nvCxnSpPr>
            <p:cNvPr id="18554" name="AutoShape 13"/>
            <p:cNvCxnSpPr>
              <a:cxnSpLocks noChangeShapeType="1"/>
            </p:cNvCxnSpPr>
            <p:nvPr/>
          </p:nvCxnSpPr>
          <p:spPr bwMode="auto">
            <a:xfrm flipV="1">
              <a:off x="1650313" y="1797857"/>
              <a:ext cx="413915" cy="1254131"/>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8555" name="AutoShape 14"/>
            <p:cNvCxnSpPr>
              <a:cxnSpLocks noChangeShapeType="1"/>
            </p:cNvCxnSpPr>
            <p:nvPr/>
          </p:nvCxnSpPr>
          <p:spPr bwMode="auto">
            <a:xfrm>
              <a:off x="2198990" y="1662895"/>
              <a:ext cx="915666" cy="0"/>
            </a:xfrm>
            <a:prstGeom prst="straightConnector1">
              <a:avLst/>
            </a:prstGeom>
            <a:noFill/>
            <a:ln w="19050">
              <a:solidFill>
                <a:srgbClr val="FF0000"/>
              </a:solidFill>
              <a:round/>
              <a:tailEnd type="arrow" w="med" len="med"/>
            </a:ln>
            <a:extLst>
              <a:ext uri="{909E8E84-426E-40DD-AFC4-6F175D3DCCD1}">
                <a14:hiddenFill xmlns:a14="http://schemas.microsoft.com/office/drawing/2010/main">
                  <a:noFill/>
                </a14:hiddenFill>
              </a:ext>
            </a:extLst>
          </p:spPr>
        </p:cxnSp>
        <p:cxnSp>
          <p:nvCxnSpPr>
            <p:cNvPr id="18556" name="AutoShape 15"/>
            <p:cNvCxnSpPr>
              <a:cxnSpLocks noChangeShapeType="1"/>
            </p:cNvCxnSpPr>
            <p:nvPr/>
          </p:nvCxnSpPr>
          <p:spPr bwMode="auto">
            <a:xfrm>
              <a:off x="2141236" y="1787673"/>
              <a:ext cx="476483" cy="1254131"/>
            </a:xfrm>
            <a:prstGeom prst="straightConnector1">
              <a:avLst/>
            </a:prstGeom>
            <a:noFill/>
            <a:ln w="19050">
              <a:solidFill>
                <a:schemeClr val="tx1"/>
              </a:solidFill>
              <a:round/>
              <a:tailEnd type="arrow" w="med" len="med"/>
            </a:ln>
            <a:extLst>
              <a:ext uri="{909E8E84-426E-40DD-AFC4-6F175D3DCCD1}">
                <a14:hiddenFill xmlns:a14="http://schemas.microsoft.com/office/drawing/2010/main">
                  <a:noFill/>
                </a14:hiddenFill>
              </a:ext>
            </a:extLst>
          </p:spPr>
        </p:cxnSp>
        <p:cxnSp>
          <p:nvCxnSpPr>
            <p:cNvPr id="18557" name="AutoShape 16"/>
            <p:cNvCxnSpPr>
              <a:cxnSpLocks noChangeShapeType="1"/>
            </p:cNvCxnSpPr>
            <p:nvPr/>
          </p:nvCxnSpPr>
          <p:spPr bwMode="auto">
            <a:xfrm flipH="1">
              <a:off x="2705555" y="1787673"/>
              <a:ext cx="500549" cy="1254131"/>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8558" name="AutoShape 17"/>
            <p:cNvCxnSpPr>
              <a:cxnSpLocks noChangeShapeType="1"/>
            </p:cNvCxnSpPr>
            <p:nvPr/>
          </p:nvCxnSpPr>
          <p:spPr bwMode="auto">
            <a:xfrm>
              <a:off x="3354103" y="1787673"/>
              <a:ext cx="456027" cy="632795"/>
            </a:xfrm>
            <a:prstGeom prst="straightConnector1">
              <a:avLst/>
            </a:prstGeom>
            <a:noFill/>
            <a:ln w="19050">
              <a:solidFill>
                <a:srgbClr val="FF0000"/>
              </a:solidFill>
              <a:round/>
              <a:tailEnd type="arrow" w="med" len="med"/>
            </a:ln>
            <a:extLst>
              <a:ext uri="{909E8E84-426E-40DD-AFC4-6F175D3DCCD1}">
                <a14:hiddenFill xmlns:a14="http://schemas.microsoft.com/office/drawing/2010/main">
                  <a:noFill/>
                </a14:hiddenFill>
              </a:ext>
            </a:extLst>
          </p:spPr>
        </p:cxnSp>
        <p:cxnSp>
          <p:nvCxnSpPr>
            <p:cNvPr id="18559" name="AutoShape 18"/>
            <p:cNvCxnSpPr>
              <a:cxnSpLocks noChangeShapeType="1"/>
            </p:cNvCxnSpPr>
            <p:nvPr/>
          </p:nvCxnSpPr>
          <p:spPr bwMode="auto">
            <a:xfrm flipV="1">
              <a:off x="2776547" y="2596173"/>
              <a:ext cx="1011925" cy="539849"/>
            </a:xfrm>
            <a:prstGeom prst="straightConnector1">
              <a:avLst/>
            </a:prstGeom>
            <a:noFill/>
            <a:ln w="19050">
              <a:solidFill>
                <a:schemeClr val="tx1"/>
              </a:solidFill>
              <a:round/>
              <a:tailEnd type="arrow" w="med" len="med"/>
            </a:ln>
            <a:extLst>
              <a:ext uri="{909E8E84-426E-40DD-AFC4-6F175D3DCCD1}">
                <a14:hiddenFill xmlns:a14="http://schemas.microsoft.com/office/drawing/2010/main">
                  <a:noFill/>
                </a14:hiddenFill>
              </a:ext>
            </a:extLst>
          </p:spPr>
        </p:cxnSp>
        <p:cxnSp>
          <p:nvCxnSpPr>
            <p:cNvPr id="18560" name="AutoShape 25"/>
            <p:cNvCxnSpPr>
              <a:cxnSpLocks noChangeShapeType="1"/>
            </p:cNvCxnSpPr>
            <p:nvPr/>
          </p:nvCxnSpPr>
          <p:spPr bwMode="auto">
            <a:xfrm>
              <a:off x="1785077" y="3166579"/>
              <a:ext cx="752026" cy="0"/>
            </a:xfrm>
            <a:prstGeom prst="straightConnector1">
              <a:avLst/>
            </a:prstGeom>
            <a:noFill/>
            <a:ln w="19050">
              <a:solidFill>
                <a:schemeClr val="tx1"/>
              </a:solidFill>
              <a:round/>
              <a:tailEnd type="arrow" w="med" len="med"/>
            </a:ln>
            <a:extLst>
              <a:ext uri="{909E8E84-426E-40DD-AFC4-6F175D3DCCD1}">
                <a14:hiddenFill xmlns:a14="http://schemas.microsoft.com/office/drawing/2010/main">
                  <a:noFill/>
                </a14:hiddenFill>
              </a:ext>
            </a:extLst>
          </p:spPr>
        </p:cxnSp>
        <p:sp>
          <p:nvSpPr>
            <p:cNvPr id="18561" name="Text Box 33"/>
            <p:cNvSpPr txBox="1">
              <a:spLocks noChangeArrowheads="1"/>
            </p:cNvSpPr>
            <p:nvPr/>
          </p:nvSpPr>
          <p:spPr bwMode="auto">
            <a:xfrm>
              <a:off x="2357422" y="1357313"/>
              <a:ext cx="603011" cy="3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10,0</a:t>
              </a:r>
              <a:endParaRPr lang="zh-CN" altLang="zh-CN" sz="1800" b="1">
                <a:latin typeface="Arial" panose="020B0604020202020204" pitchFamily="34" charset="0"/>
              </a:endParaRPr>
            </a:p>
          </p:txBody>
        </p:sp>
        <p:sp>
          <p:nvSpPr>
            <p:cNvPr id="18562" name="Text Box 33"/>
            <p:cNvSpPr txBox="1">
              <a:spLocks noChangeArrowheads="1"/>
            </p:cNvSpPr>
            <p:nvPr/>
          </p:nvSpPr>
          <p:spPr bwMode="auto">
            <a:xfrm>
              <a:off x="1214414" y="1785938"/>
              <a:ext cx="634377"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8,6</a:t>
              </a:r>
              <a:endParaRPr lang="zh-CN" altLang="zh-CN" sz="1800" b="1">
                <a:latin typeface="Arial" panose="020B0604020202020204" pitchFamily="34" charset="0"/>
              </a:endParaRPr>
            </a:p>
          </p:txBody>
        </p:sp>
        <p:sp>
          <p:nvSpPr>
            <p:cNvPr id="18563" name="Text Box 33"/>
            <p:cNvSpPr txBox="1">
              <a:spLocks noChangeArrowheads="1"/>
            </p:cNvSpPr>
            <p:nvPr/>
          </p:nvSpPr>
          <p:spPr bwMode="auto">
            <a:xfrm>
              <a:off x="1437316" y="2214554"/>
              <a:ext cx="634354"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2,0</a:t>
              </a:r>
              <a:endParaRPr lang="zh-CN" altLang="zh-CN" sz="1800" b="1">
                <a:latin typeface="Arial" panose="020B0604020202020204" pitchFamily="34" charset="0"/>
              </a:endParaRPr>
            </a:p>
          </p:txBody>
        </p:sp>
        <p:sp>
          <p:nvSpPr>
            <p:cNvPr id="18564" name="Text Box 33"/>
            <p:cNvSpPr txBox="1">
              <a:spLocks noChangeArrowheads="1"/>
            </p:cNvSpPr>
            <p:nvPr/>
          </p:nvSpPr>
          <p:spPr bwMode="auto">
            <a:xfrm>
              <a:off x="896934" y="2643188"/>
              <a:ext cx="746108" cy="35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cs typeface="Times New Roman" panose="02020603050405020304" pitchFamily="18" charset="0"/>
                </a:rPr>
                <a:t>12,2</a:t>
              </a:r>
              <a:endParaRPr lang="zh-CN" altLang="zh-CN" sz="1800" b="1">
                <a:latin typeface="Times New Roman" panose="02020603050405020304" pitchFamily="18" charset="0"/>
                <a:cs typeface="Times New Roman" panose="02020603050405020304" pitchFamily="18" charset="0"/>
              </a:endParaRPr>
            </a:p>
          </p:txBody>
        </p:sp>
        <p:sp>
          <p:nvSpPr>
            <p:cNvPr id="18565" name="Text Box 33"/>
            <p:cNvSpPr txBox="1">
              <a:spLocks noChangeArrowheads="1"/>
            </p:cNvSpPr>
            <p:nvPr/>
          </p:nvSpPr>
          <p:spPr bwMode="auto">
            <a:xfrm>
              <a:off x="1857356" y="3143248"/>
              <a:ext cx="634284"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10,2</a:t>
              </a:r>
              <a:endParaRPr lang="zh-CN" altLang="zh-CN" sz="1800" b="1">
                <a:latin typeface="Arial" panose="020B0604020202020204" pitchFamily="34" charset="0"/>
              </a:endParaRPr>
            </a:p>
          </p:txBody>
        </p:sp>
        <p:sp>
          <p:nvSpPr>
            <p:cNvPr id="18566" name="Text Box 33"/>
            <p:cNvSpPr txBox="1">
              <a:spLocks noChangeArrowheads="1"/>
            </p:cNvSpPr>
            <p:nvPr/>
          </p:nvSpPr>
          <p:spPr bwMode="auto">
            <a:xfrm>
              <a:off x="2000232" y="2286001"/>
              <a:ext cx="634261"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6,6</a:t>
              </a:r>
              <a:endParaRPr lang="zh-CN" altLang="zh-CN" sz="1800" b="1">
                <a:latin typeface="Arial" panose="020B0604020202020204" pitchFamily="34" charset="0"/>
              </a:endParaRPr>
            </a:p>
          </p:txBody>
        </p:sp>
        <p:sp>
          <p:nvSpPr>
            <p:cNvPr id="18567" name="Text Box 33"/>
            <p:cNvSpPr txBox="1">
              <a:spLocks noChangeArrowheads="1"/>
            </p:cNvSpPr>
            <p:nvPr/>
          </p:nvSpPr>
          <p:spPr bwMode="auto">
            <a:xfrm>
              <a:off x="2937736" y="2286001"/>
              <a:ext cx="634132"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2,0</a:t>
              </a:r>
              <a:endParaRPr lang="zh-CN" altLang="zh-CN" sz="1800" b="1">
                <a:latin typeface="Arial" panose="020B0604020202020204" pitchFamily="34" charset="0"/>
              </a:endParaRPr>
            </a:p>
          </p:txBody>
        </p:sp>
        <p:sp>
          <p:nvSpPr>
            <p:cNvPr id="18568" name="Text Box 33"/>
            <p:cNvSpPr txBox="1">
              <a:spLocks noChangeArrowheads="1"/>
            </p:cNvSpPr>
            <p:nvPr/>
          </p:nvSpPr>
          <p:spPr bwMode="auto">
            <a:xfrm>
              <a:off x="3540548" y="1857376"/>
              <a:ext cx="674262"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10,0</a:t>
              </a:r>
              <a:endParaRPr lang="zh-CN" altLang="zh-CN" sz="1800" b="1">
                <a:latin typeface="Arial" panose="020B0604020202020204" pitchFamily="34" charset="0"/>
              </a:endParaRPr>
            </a:p>
          </p:txBody>
        </p:sp>
        <p:sp>
          <p:nvSpPr>
            <p:cNvPr id="18569" name="Text Box 33"/>
            <p:cNvSpPr txBox="1">
              <a:spLocks noChangeArrowheads="1"/>
            </p:cNvSpPr>
            <p:nvPr/>
          </p:nvSpPr>
          <p:spPr bwMode="auto">
            <a:xfrm>
              <a:off x="3294984" y="2786062"/>
              <a:ext cx="705512" cy="428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8,8</a:t>
              </a:r>
              <a:endParaRPr lang="zh-CN" altLang="zh-CN" sz="1800" b="1">
                <a:latin typeface="Arial" panose="020B0604020202020204" pitchFamily="34" charset="0"/>
              </a:endParaRPr>
            </a:p>
          </p:txBody>
        </p:sp>
        <p:sp>
          <p:nvSpPr>
            <p:cNvPr id="18570" name="Text Box 33"/>
            <p:cNvSpPr txBox="1">
              <a:spLocks noChangeArrowheads="1"/>
            </p:cNvSpPr>
            <p:nvPr/>
          </p:nvSpPr>
          <p:spPr bwMode="auto">
            <a:xfrm>
              <a:off x="1080045" y="2214563"/>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i="1">
                  <a:latin typeface="Times New Roman" panose="02020603050405020304" pitchFamily="18" charset="0"/>
                </a:rPr>
                <a:t>s</a:t>
              </a:r>
              <a:endParaRPr lang="zh-CN" altLang="zh-CN" sz="1800" b="1" i="1">
                <a:latin typeface="Arial" panose="020B0604020202020204" pitchFamily="34" charset="0"/>
              </a:endParaRPr>
            </a:p>
          </p:txBody>
        </p:sp>
        <p:sp>
          <p:nvSpPr>
            <p:cNvPr id="18571" name="Text Box 33"/>
            <p:cNvSpPr txBox="1">
              <a:spLocks noChangeArrowheads="1"/>
            </p:cNvSpPr>
            <p:nvPr/>
          </p:nvSpPr>
          <p:spPr bwMode="auto">
            <a:xfrm>
              <a:off x="1937440" y="1500188"/>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a:t>
              </a:r>
              <a:endParaRPr lang="zh-CN" altLang="zh-CN" sz="1800" b="1">
                <a:latin typeface="Arial" panose="020B0604020202020204" pitchFamily="34" charset="0"/>
              </a:endParaRPr>
            </a:p>
          </p:txBody>
        </p:sp>
        <p:sp>
          <p:nvSpPr>
            <p:cNvPr id="18572" name="Text Box 33"/>
            <p:cNvSpPr txBox="1">
              <a:spLocks noChangeArrowheads="1"/>
            </p:cNvSpPr>
            <p:nvPr/>
          </p:nvSpPr>
          <p:spPr bwMode="auto">
            <a:xfrm>
              <a:off x="1539958" y="3000376"/>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a:t>
              </a:r>
              <a:endParaRPr lang="zh-CN" altLang="zh-CN" sz="1800" b="1">
                <a:latin typeface="Arial" panose="020B0604020202020204" pitchFamily="34" charset="0"/>
              </a:endParaRPr>
            </a:p>
          </p:txBody>
        </p:sp>
        <p:sp>
          <p:nvSpPr>
            <p:cNvPr id="18573" name="Text Box 33"/>
            <p:cNvSpPr txBox="1">
              <a:spLocks noChangeArrowheads="1"/>
            </p:cNvSpPr>
            <p:nvPr/>
          </p:nvSpPr>
          <p:spPr bwMode="auto">
            <a:xfrm>
              <a:off x="2509038" y="3000376"/>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3</a:t>
              </a:r>
              <a:endParaRPr lang="zh-CN" altLang="zh-CN" sz="1800" b="1">
                <a:latin typeface="Arial" panose="020B0604020202020204" pitchFamily="34" charset="0"/>
              </a:endParaRPr>
            </a:p>
          </p:txBody>
        </p:sp>
        <p:sp>
          <p:nvSpPr>
            <p:cNvPr id="18574" name="Text Box 33"/>
            <p:cNvSpPr txBox="1">
              <a:spLocks noChangeArrowheads="1"/>
            </p:cNvSpPr>
            <p:nvPr/>
          </p:nvSpPr>
          <p:spPr bwMode="auto">
            <a:xfrm>
              <a:off x="3080635" y="1500188"/>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4</a:t>
              </a:r>
              <a:endParaRPr lang="zh-CN" altLang="zh-CN" sz="1800" b="1">
                <a:latin typeface="Arial" panose="020B0604020202020204" pitchFamily="34" charset="0"/>
              </a:endParaRPr>
            </a:p>
          </p:txBody>
        </p:sp>
        <p:sp>
          <p:nvSpPr>
            <p:cNvPr id="18575" name="Text Box 33"/>
            <p:cNvSpPr txBox="1">
              <a:spLocks noChangeArrowheads="1"/>
            </p:cNvSpPr>
            <p:nvPr/>
          </p:nvSpPr>
          <p:spPr bwMode="auto">
            <a:xfrm>
              <a:off x="3754897" y="2357438"/>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i="1">
                  <a:latin typeface="Times New Roman" panose="02020603050405020304" pitchFamily="18" charset="0"/>
                </a:rPr>
                <a:t>t</a:t>
              </a:r>
              <a:endParaRPr lang="zh-CN" altLang="zh-CN" sz="1800" b="1" i="1">
                <a:latin typeface="Arial" panose="020B0604020202020204" pitchFamily="34" charset="0"/>
              </a:endParaRPr>
            </a:p>
          </p:txBody>
        </p:sp>
        <p:sp>
          <p:nvSpPr>
            <p:cNvPr id="18576" name="Text Box 33"/>
            <p:cNvSpPr txBox="1">
              <a:spLocks noChangeArrowheads="1"/>
            </p:cNvSpPr>
            <p:nvPr/>
          </p:nvSpPr>
          <p:spPr bwMode="auto">
            <a:xfrm>
              <a:off x="500034" y="1928802"/>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zh-CN" altLang="en-US" sz="1800" b="1">
                  <a:latin typeface="Times New Roman" panose="02020603050405020304" pitchFamily="18" charset="0"/>
                  <a:sym typeface="Symbol" panose="05050102010706020507" pitchFamily="18" charset="2"/>
                </a:rPr>
                <a:t></a:t>
              </a:r>
              <a:r>
                <a:rPr lang="en-US" altLang="zh-CN" sz="1800" b="1">
                  <a:latin typeface="Times New Roman" panose="02020603050405020304" pitchFamily="18" charset="0"/>
                  <a:sym typeface="Symbol" panose="05050102010706020507" pitchFamily="18" charset="2"/>
                </a:rPr>
                <a:t>,+</a:t>
              </a:r>
              <a:r>
                <a:rPr lang="zh-CN" altLang="en-US" sz="1800" b="1">
                  <a:latin typeface="Times New Roman" panose="02020603050405020304" pitchFamily="18" charset="0"/>
                  <a:sym typeface="Symbol" panose="05050102010706020507" pitchFamily="18" charset="2"/>
                </a:rPr>
                <a:t></a:t>
              </a:r>
              <a:r>
                <a:rPr lang="en-US" altLang="zh-CN" sz="1800" b="1">
                  <a:latin typeface="Times New Roman" panose="02020603050405020304" pitchFamily="18" charset="0"/>
                  <a:sym typeface="Symbol" panose="05050102010706020507" pitchFamily="18" charset="2"/>
                </a:rPr>
                <a:t>)</a:t>
              </a:r>
              <a:endParaRPr lang="zh-CN" altLang="zh-CN" sz="1800" b="1">
                <a:latin typeface="Arial" panose="020B0604020202020204" pitchFamily="34" charset="0"/>
              </a:endParaRPr>
            </a:p>
          </p:txBody>
        </p:sp>
        <p:sp>
          <p:nvSpPr>
            <p:cNvPr id="18577" name="Text Box 33"/>
            <p:cNvSpPr txBox="1">
              <a:spLocks noChangeArrowheads="1"/>
            </p:cNvSpPr>
            <p:nvPr/>
          </p:nvSpPr>
          <p:spPr bwMode="auto">
            <a:xfrm>
              <a:off x="1508731" y="1214422"/>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i="1">
                  <a:latin typeface="Times New Roman" panose="02020603050405020304" pitchFamily="18" charset="0"/>
                  <a:sym typeface="Symbol" panose="05050102010706020507" pitchFamily="18" charset="2"/>
                </a:rPr>
                <a:t>s</a:t>
              </a:r>
              <a:r>
                <a:rPr lang="en-US" altLang="zh-CN" sz="1800" b="1">
                  <a:latin typeface="Times New Roman" panose="02020603050405020304" pitchFamily="18" charset="0"/>
                  <a:sym typeface="Symbol" panose="05050102010706020507" pitchFamily="18" charset="2"/>
                </a:rPr>
                <a:t>,2)</a:t>
              </a:r>
              <a:endParaRPr lang="zh-CN" altLang="zh-CN" sz="1800" b="1">
                <a:latin typeface="Arial" panose="020B0604020202020204" pitchFamily="34" charset="0"/>
              </a:endParaRPr>
            </a:p>
          </p:txBody>
        </p:sp>
        <p:sp>
          <p:nvSpPr>
            <p:cNvPr id="18578" name="Text Box 33"/>
            <p:cNvSpPr txBox="1">
              <a:spLocks noChangeArrowheads="1"/>
            </p:cNvSpPr>
            <p:nvPr/>
          </p:nvSpPr>
          <p:spPr bwMode="auto">
            <a:xfrm>
              <a:off x="3151805" y="1214434"/>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a:latin typeface="Times New Roman" panose="02020603050405020304" pitchFamily="18" charset="0"/>
                  <a:sym typeface="Symbol" panose="05050102010706020507" pitchFamily="18" charset="2"/>
                </a:rPr>
                <a:t>1,2)</a:t>
              </a:r>
              <a:endParaRPr lang="zh-CN" altLang="zh-CN" sz="1800" b="1">
                <a:latin typeface="Arial" panose="020B0604020202020204" pitchFamily="34" charset="0"/>
              </a:endParaRPr>
            </a:p>
          </p:txBody>
        </p:sp>
        <p:sp>
          <p:nvSpPr>
            <p:cNvPr id="18579" name="Text Box 33"/>
            <p:cNvSpPr txBox="1">
              <a:spLocks noChangeArrowheads="1"/>
            </p:cNvSpPr>
            <p:nvPr/>
          </p:nvSpPr>
          <p:spPr bwMode="auto">
            <a:xfrm>
              <a:off x="1080103" y="3286136"/>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i="1">
                  <a:latin typeface="Times New Roman" panose="02020603050405020304" pitchFamily="18" charset="0"/>
                  <a:sym typeface="Symbol" panose="05050102010706020507" pitchFamily="18" charset="2"/>
                </a:rPr>
                <a:t>s</a:t>
              </a:r>
              <a:r>
                <a:rPr lang="en-US" altLang="zh-CN" sz="1800" b="1">
                  <a:latin typeface="Times New Roman" panose="02020603050405020304" pitchFamily="18" charset="0"/>
                  <a:sym typeface="Symbol" panose="05050102010706020507" pitchFamily="18" charset="2"/>
                </a:rPr>
                <a:t>,10)</a:t>
              </a:r>
              <a:endParaRPr lang="zh-CN" altLang="zh-CN" sz="1800" b="1">
                <a:latin typeface="Arial" panose="020B0604020202020204" pitchFamily="34" charset="0"/>
              </a:endParaRPr>
            </a:p>
          </p:txBody>
        </p:sp>
        <p:sp>
          <p:nvSpPr>
            <p:cNvPr id="18580" name="Text Box 33"/>
            <p:cNvSpPr txBox="1">
              <a:spLocks noChangeArrowheads="1"/>
            </p:cNvSpPr>
            <p:nvPr/>
          </p:nvSpPr>
          <p:spPr bwMode="auto">
            <a:xfrm>
              <a:off x="2580301" y="3214686"/>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a:latin typeface="Times New Roman" panose="02020603050405020304" pitchFamily="18" charset="0"/>
                  <a:sym typeface="Symbol" panose="05050102010706020507" pitchFamily="18" charset="2"/>
                </a:rPr>
                <a:t>2,8)</a:t>
              </a:r>
              <a:endParaRPr lang="zh-CN" altLang="zh-CN" sz="1800" b="1">
                <a:latin typeface="Arial" panose="020B0604020202020204" pitchFamily="34" charset="0"/>
              </a:endParaRPr>
            </a:p>
          </p:txBody>
        </p:sp>
        <p:sp>
          <p:nvSpPr>
            <p:cNvPr id="18581" name="Text Box 33"/>
            <p:cNvSpPr txBox="1">
              <a:spLocks noChangeArrowheads="1"/>
            </p:cNvSpPr>
            <p:nvPr/>
          </p:nvSpPr>
          <p:spPr bwMode="auto">
            <a:xfrm>
              <a:off x="4009061" y="2357442"/>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(4</a:t>
              </a:r>
              <a:r>
                <a:rPr lang="en-US" altLang="zh-CN" sz="1800" b="1">
                  <a:latin typeface="Times New Roman" panose="02020603050405020304" pitchFamily="18" charset="0"/>
                  <a:sym typeface="Symbol" panose="05050102010706020507" pitchFamily="18" charset="2"/>
                </a:rPr>
                <a:t>,2)</a:t>
              </a:r>
              <a:endParaRPr lang="zh-CN" altLang="zh-CN" sz="1800" b="1">
                <a:latin typeface="Arial" panose="020B0604020202020204" pitchFamily="34" charset="0"/>
              </a:endParaRPr>
            </a:p>
          </p:txBody>
        </p:sp>
      </p:grpSp>
      <p:grpSp>
        <p:nvGrpSpPr>
          <p:cNvPr id="3" name="组合 79"/>
          <p:cNvGrpSpPr/>
          <p:nvPr/>
        </p:nvGrpSpPr>
        <p:grpSpPr bwMode="auto">
          <a:xfrm>
            <a:off x="4572000" y="1214438"/>
            <a:ext cx="4286250" cy="2428875"/>
            <a:chOff x="4572000" y="1214422"/>
            <a:chExt cx="4286280" cy="2428892"/>
          </a:xfrm>
        </p:grpSpPr>
        <p:sp>
          <p:nvSpPr>
            <p:cNvPr id="18510" name="Oval 5"/>
            <p:cNvSpPr>
              <a:spLocks noChangeArrowheads="1"/>
            </p:cNvSpPr>
            <p:nvPr/>
          </p:nvSpPr>
          <p:spPr bwMode="auto">
            <a:xfrm>
              <a:off x="5155551" y="2277866"/>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511" name="Oval 6"/>
            <p:cNvSpPr>
              <a:spLocks noChangeArrowheads="1"/>
            </p:cNvSpPr>
            <p:nvPr/>
          </p:nvSpPr>
          <p:spPr bwMode="auto">
            <a:xfrm>
              <a:off x="6031513" y="1564856"/>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512" name="Oval 7"/>
            <p:cNvSpPr>
              <a:spLocks noChangeArrowheads="1"/>
            </p:cNvSpPr>
            <p:nvPr/>
          </p:nvSpPr>
          <p:spPr bwMode="auto">
            <a:xfrm>
              <a:off x="5617597" y="3051988"/>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513" name="Oval 8"/>
            <p:cNvSpPr>
              <a:spLocks noChangeArrowheads="1"/>
            </p:cNvSpPr>
            <p:nvPr/>
          </p:nvSpPr>
          <p:spPr bwMode="auto">
            <a:xfrm>
              <a:off x="6609068" y="3041803"/>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514" name="Oval 9"/>
            <p:cNvSpPr>
              <a:spLocks noChangeArrowheads="1"/>
            </p:cNvSpPr>
            <p:nvPr/>
          </p:nvSpPr>
          <p:spPr bwMode="auto">
            <a:xfrm>
              <a:off x="7186624" y="1554671"/>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515" name="Oval 10"/>
            <p:cNvSpPr>
              <a:spLocks noChangeArrowheads="1"/>
            </p:cNvSpPr>
            <p:nvPr/>
          </p:nvSpPr>
          <p:spPr bwMode="auto">
            <a:xfrm>
              <a:off x="7860438" y="2420468"/>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18516" name="AutoShape 11"/>
            <p:cNvCxnSpPr>
              <a:cxnSpLocks noChangeShapeType="1"/>
            </p:cNvCxnSpPr>
            <p:nvPr/>
          </p:nvCxnSpPr>
          <p:spPr bwMode="auto">
            <a:xfrm flipV="1">
              <a:off x="5394997" y="1787673"/>
              <a:ext cx="636514" cy="543669"/>
            </a:xfrm>
            <a:prstGeom prst="straightConnector1">
              <a:avLst/>
            </a:prstGeom>
            <a:noFill/>
            <a:ln w="19050">
              <a:solidFill>
                <a:schemeClr val="tx1"/>
              </a:solidFill>
              <a:round/>
              <a:tailEnd type="arrow" w="med" len="med"/>
            </a:ln>
            <a:extLst>
              <a:ext uri="{909E8E84-426E-40DD-AFC4-6F175D3DCCD1}">
                <a14:hiddenFill xmlns:a14="http://schemas.microsoft.com/office/drawing/2010/main">
                  <a:noFill/>
                </a14:hiddenFill>
              </a:ext>
            </a:extLst>
          </p:spPr>
        </p:cxnSp>
        <p:cxnSp>
          <p:nvCxnSpPr>
            <p:cNvPr id="18517" name="AutoShape 12"/>
            <p:cNvCxnSpPr>
              <a:cxnSpLocks noChangeShapeType="1"/>
            </p:cNvCxnSpPr>
            <p:nvPr/>
          </p:nvCxnSpPr>
          <p:spPr bwMode="auto">
            <a:xfrm>
              <a:off x="5346867" y="2500306"/>
              <a:ext cx="300810" cy="541123"/>
            </a:xfrm>
            <a:prstGeom prst="straightConnector1">
              <a:avLst/>
            </a:prstGeom>
            <a:noFill/>
            <a:ln w="19050">
              <a:solidFill>
                <a:srgbClr val="FF0000"/>
              </a:solidFill>
              <a:round/>
              <a:tailEnd type="arrow" w="med" len="med"/>
            </a:ln>
            <a:extLst>
              <a:ext uri="{909E8E84-426E-40DD-AFC4-6F175D3DCCD1}">
                <a14:hiddenFill xmlns:a14="http://schemas.microsoft.com/office/drawing/2010/main">
                  <a:noFill/>
                </a14:hiddenFill>
              </a:ext>
            </a:extLst>
          </p:spPr>
        </p:cxnSp>
        <p:cxnSp>
          <p:nvCxnSpPr>
            <p:cNvPr id="18518" name="AutoShape 13"/>
            <p:cNvCxnSpPr>
              <a:cxnSpLocks noChangeShapeType="1"/>
            </p:cNvCxnSpPr>
            <p:nvPr/>
          </p:nvCxnSpPr>
          <p:spPr bwMode="auto">
            <a:xfrm flipV="1">
              <a:off x="5722279" y="1797857"/>
              <a:ext cx="413915" cy="1254131"/>
            </a:xfrm>
            <a:prstGeom prst="straightConnector1">
              <a:avLst/>
            </a:prstGeom>
            <a:noFill/>
            <a:ln w="19050">
              <a:solidFill>
                <a:srgbClr val="FF0000"/>
              </a:solidFill>
              <a:round/>
              <a:tailEnd type="arrow" w="med" len="med"/>
            </a:ln>
            <a:extLst>
              <a:ext uri="{909E8E84-426E-40DD-AFC4-6F175D3DCCD1}">
                <a14:hiddenFill xmlns:a14="http://schemas.microsoft.com/office/drawing/2010/main">
                  <a:noFill/>
                </a14:hiddenFill>
              </a:ext>
            </a:extLst>
          </p:spPr>
        </p:cxnSp>
        <p:cxnSp>
          <p:nvCxnSpPr>
            <p:cNvPr id="18519" name="AutoShape 14"/>
            <p:cNvCxnSpPr>
              <a:cxnSpLocks noChangeShapeType="1"/>
            </p:cNvCxnSpPr>
            <p:nvPr/>
          </p:nvCxnSpPr>
          <p:spPr bwMode="auto">
            <a:xfrm>
              <a:off x="6270956" y="1662895"/>
              <a:ext cx="915666" cy="0"/>
            </a:xfrm>
            <a:prstGeom prst="straightConnector1">
              <a:avLst/>
            </a:prstGeom>
            <a:noFill/>
            <a:ln w="19050">
              <a:solidFill>
                <a:srgbClr val="FF0000"/>
              </a:solidFill>
              <a:round/>
              <a:tailEnd type="arrow" w="med" len="med"/>
            </a:ln>
            <a:extLst>
              <a:ext uri="{909E8E84-426E-40DD-AFC4-6F175D3DCCD1}">
                <a14:hiddenFill xmlns:a14="http://schemas.microsoft.com/office/drawing/2010/main">
                  <a:noFill/>
                </a14:hiddenFill>
              </a:ext>
            </a:extLst>
          </p:spPr>
        </p:cxnSp>
        <p:cxnSp>
          <p:nvCxnSpPr>
            <p:cNvPr id="18520" name="AutoShape 15"/>
            <p:cNvCxnSpPr>
              <a:cxnSpLocks noChangeShapeType="1"/>
            </p:cNvCxnSpPr>
            <p:nvPr/>
          </p:nvCxnSpPr>
          <p:spPr bwMode="auto">
            <a:xfrm>
              <a:off x="6213202" y="1787673"/>
              <a:ext cx="476483" cy="1254131"/>
            </a:xfrm>
            <a:prstGeom prst="straightConnector1">
              <a:avLst/>
            </a:prstGeom>
            <a:noFill/>
            <a:ln w="19050">
              <a:solidFill>
                <a:schemeClr val="tx1"/>
              </a:solidFill>
              <a:round/>
              <a:tailEnd type="arrow" w="med" len="med"/>
            </a:ln>
            <a:extLst>
              <a:ext uri="{909E8E84-426E-40DD-AFC4-6F175D3DCCD1}">
                <a14:hiddenFill xmlns:a14="http://schemas.microsoft.com/office/drawing/2010/main">
                  <a:noFill/>
                </a14:hiddenFill>
              </a:ext>
            </a:extLst>
          </p:spPr>
        </p:cxnSp>
        <p:cxnSp>
          <p:nvCxnSpPr>
            <p:cNvPr id="18521" name="AutoShape 16"/>
            <p:cNvCxnSpPr>
              <a:cxnSpLocks noChangeShapeType="1"/>
            </p:cNvCxnSpPr>
            <p:nvPr/>
          </p:nvCxnSpPr>
          <p:spPr bwMode="auto">
            <a:xfrm flipH="1">
              <a:off x="6777521" y="1787673"/>
              <a:ext cx="500549" cy="1254131"/>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8522" name="AutoShape 17"/>
            <p:cNvCxnSpPr>
              <a:cxnSpLocks noChangeShapeType="1"/>
            </p:cNvCxnSpPr>
            <p:nvPr/>
          </p:nvCxnSpPr>
          <p:spPr bwMode="auto">
            <a:xfrm>
              <a:off x="7426069" y="1787673"/>
              <a:ext cx="456027" cy="632795"/>
            </a:xfrm>
            <a:prstGeom prst="straightConnector1">
              <a:avLst/>
            </a:prstGeom>
            <a:noFill/>
            <a:ln w="19050">
              <a:solidFill>
                <a:srgbClr val="FF0000"/>
              </a:solidFill>
              <a:round/>
              <a:tailEnd type="arrow" w="med" len="med"/>
            </a:ln>
            <a:extLst>
              <a:ext uri="{909E8E84-426E-40DD-AFC4-6F175D3DCCD1}">
                <a14:hiddenFill xmlns:a14="http://schemas.microsoft.com/office/drawing/2010/main">
                  <a:noFill/>
                </a14:hiddenFill>
              </a:ext>
            </a:extLst>
          </p:spPr>
        </p:cxnSp>
        <p:cxnSp>
          <p:nvCxnSpPr>
            <p:cNvPr id="18523" name="AutoShape 18"/>
            <p:cNvCxnSpPr>
              <a:cxnSpLocks noChangeShapeType="1"/>
            </p:cNvCxnSpPr>
            <p:nvPr/>
          </p:nvCxnSpPr>
          <p:spPr bwMode="auto">
            <a:xfrm flipV="1">
              <a:off x="6848513" y="2596173"/>
              <a:ext cx="1011925" cy="539849"/>
            </a:xfrm>
            <a:prstGeom prst="straightConnector1">
              <a:avLst/>
            </a:prstGeom>
            <a:noFill/>
            <a:ln w="19050">
              <a:solidFill>
                <a:schemeClr val="tx1"/>
              </a:solidFill>
              <a:round/>
              <a:tailEnd type="arrow" w="med" len="med"/>
            </a:ln>
            <a:extLst>
              <a:ext uri="{909E8E84-426E-40DD-AFC4-6F175D3DCCD1}">
                <a14:hiddenFill xmlns:a14="http://schemas.microsoft.com/office/drawing/2010/main">
                  <a:noFill/>
                </a14:hiddenFill>
              </a:ext>
            </a:extLst>
          </p:spPr>
        </p:cxnSp>
        <p:cxnSp>
          <p:nvCxnSpPr>
            <p:cNvPr id="18524" name="AutoShape 25"/>
            <p:cNvCxnSpPr>
              <a:cxnSpLocks noChangeShapeType="1"/>
            </p:cNvCxnSpPr>
            <p:nvPr/>
          </p:nvCxnSpPr>
          <p:spPr bwMode="auto">
            <a:xfrm>
              <a:off x="5857043" y="3166579"/>
              <a:ext cx="752026" cy="0"/>
            </a:xfrm>
            <a:prstGeom prst="straightConnector1">
              <a:avLst/>
            </a:prstGeom>
            <a:noFill/>
            <a:ln w="19050">
              <a:solidFill>
                <a:schemeClr val="tx1"/>
              </a:solidFill>
              <a:round/>
              <a:tailEnd type="arrow" w="med" len="med"/>
            </a:ln>
            <a:extLst>
              <a:ext uri="{909E8E84-426E-40DD-AFC4-6F175D3DCCD1}">
                <a14:hiddenFill xmlns:a14="http://schemas.microsoft.com/office/drawing/2010/main">
                  <a:noFill/>
                </a14:hiddenFill>
              </a:ext>
            </a:extLst>
          </p:spPr>
        </p:cxnSp>
        <p:sp>
          <p:nvSpPr>
            <p:cNvPr id="18525" name="Text Box 33"/>
            <p:cNvSpPr txBox="1">
              <a:spLocks noChangeArrowheads="1"/>
            </p:cNvSpPr>
            <p:nvPr/>
          </p:nvSpPr>
          <p:spPr bwMode="auto">
            <a:xfrm>
              <a:off x="6429388" y="1357313"/>
              <a:ext cx="603011" cy="3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10,2</a:t>
              </a:r>
              <a:endParaRPr lang="zh-CN" altLang="zh-CN" sz="1800" b="1">
                <a:latin typeface="Arial" panose="020B0604020202020204" pitchFamily="34" charset="0"/>
              </a:endParaRPr>
            </a:p>
          </p:txBody>
        </p:sp>
        <p:sp>
          <p:nvSpPr>
            <p:cNvPr id="18526" name="Text Box 33"/>
            <p:cNvSpPr txBox="1">
              <a:spLocks noChangeArrowheads="1"/>
            </p:cNvSpPr>
            <p:nvPr/>
          </p:nvSpPr>
          <p:spPr bwMode="auto">
            <a:xfrm>
              <a:off x="5286380" y="1785938"/>
              <a:ext cx="634377"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8,8</a:t>
              </a:r>
              <a:endParaRPr lang="zh-CN" altLang="zh-CN" sz="1800" b="1">
                <a:latin typeface="Arial" panose="020B0604020202020204" pitchFamily="34" charset="0"/>
              </a:endParaRPr>
            </a:p>
          </p:txBody>
        </p:sp>
        <p:sp>
          <p:nvSpPr>
            <p:cNvPr id="18527" name="Text Box 33"/>
            <p:cNvSpPr txBox="1">
              <a:spLocks noChangeArrowheads="1"/>
            </p:cNvSpPr>
            <p:nvPr/>
          </p:nvSpPr>
          <p:spPr bwMode="auto">
            <a:xfrm>
              <a:off x="5509282" y="2214554"/>
              <a:ext cx="634354"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2,0</a:t>
              </a:r>
              <a:endParaRPr lang="zh-CN" altLang="zh-CN" sz="1800" b="1">
                <a:latin typeface="Arial" panose="020B0604020202020204" pitchFamily="34" charset="0"/>
              </a:endParaRPr>
            </a:p>
          </p:txBody>
        </p:sp>
        <p:sp>
          <p:nvSpPr>
            <p:cNvPr id="18528" name="Text Box 33"/>
            <p:cNvSpPr txBox="1">
              <a:spLocks noChangeArrowheads="1"/>
            </p:cNvSpPr>
            <p:nvPr/>
          </p:nvSpPr>
          <p:spPr bwMode="auto">
            <a:xfrm>
              <a:off x="4968900" y="2643188"/>
              <a:ext cx="746108" cy="35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cs typeface="Times New Roman" panose="02020603050405020304" pitchFamily="18" charset="0"/>
                </a:rPr>
                <a:t>12,2</a:t>
              </a:r>
              <a:endParaRPr lang="zh-CN" altLang="zh-CN" sz="1800" b="1">
                <a:latin typeface="Times New Roman" panose="02020603050405020304" pitchFamily="18" charset="0"/>
                <a:cs typeface="Times New Roman" panose="02020603050405020304" pitchFamily="18" charset="0"/>
              </a:endParaRPr>
            </a:p>
          </p:txBody>
        </p:sp>
        <p:sp>
          <p:nvSpPr>
            <p:cNvPr id="18529" name="Text Box 33"/>
            <p:cNvSpPr txBox="1">
              <a:spLocks noChangeArrowheads="1"/>
            </p:cNvSpPr>
            <p:nvPr/>
          </p:nvSpPr>
          <p:spPr bwMode="auto">
            <a:xfrm>
              <a:off x="5929322" y="3143248"/>
              <a:ext cx="634284"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10,2</a:t>
              </a:r>
              <a:endParaRPr lang="zh-CN" altLang="zh-CN" sz="1800" b="1">
                <a:latin typeface="Arial" panose="020B0604020202020204" pitchFamily="34" charset="0"/>
              </a:endParaRPr>
            </a:p>
          </p:txBody>
        </p:sp>
        <p:sp>
          <p:nvSpPr>
            <p:cNvPr id="18530" name="Text Box 33"/>
            <p:cNvSpPr txBox="1">
              <a:spLocks noChangeArrowheads="1"/>
            </p:cNvSpPr>
            <p:nvPr/>
          </p:nvSpPr>
          <p:spPr bwMode="auto">
            <a:xfrm>
              <a:off x="6072198" y="2286001"/>
              <a:ext cx="634261"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6,6</a:t>
              </a:r>
              <a:endParaRPr lang="zh-CN" altLang="zh-CN" sz="1800" b="1">
                <a:latin typeface="Arial" panose="020B0604020202020204" pitchFamily="34" charset="0"/>
              </a:endParaRPr>
            </a:p>
          </p:txBody>
        </p:sp>
        <p:sp>
          <p:nvSpPr>
            <p:cNvPr id="18531" name="Text Box 33"/>
            <p:cNvSpPr txBox="1">
              <a:spLocks noChangeArrowheads="1"/>
            </p:cNvSpPr>
            <p:nvPr/>
          </p:nvSpPr>
          <p:spPr bwMode="auto">
            <a:xfrm>
              <a:off x="7009702" y="2286001"/>
              <a:ext cx="634132"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2,0</a:t>
              </a:r>
              <a:endParaRPr lang="zh-CN" altLang="zh-CN" sz="1800" b="1">
                <a:latin typeface="Arial" panose="020B0604020202020204" pitchFamily="34" charset="0"/>
              </a:endParaRPr>
            </a:p>
          </p:txBody>
        </p:sp>
        <p:sp>
          <p:nvSpPr>
            <p:cNvPr id="18532" name="Text Box 33"/>
            <p:cNvSpPr txBox="1">
              <a:spLocks noChangeArrowheads="1"/>
            </p:cNvSpPr>
            <p:nvPr/>
          </p:nvSpPr>
          <p:spPr bwMode="auto">
            <a:xfrm>
              <a:off x="7612514" y="1857376"/>
              <a:ext cx="674262"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10,2</a:t>
              </a:r>
              <a:endParaRPr lang="zh-CN" altLang="zh-CN" sz="1800" b="1">
                <a:latin typeface="Arial" panose="020B0604020202020204" pitchFamily="34" charset="0"/>
              </a:endParaRPr>
            </a:p>
          </p:txBody>
        </p:sp>
        <p:sp>
          <p:nvSpPr>
            <p:cNvPr id="18533" name="Text Box 33"/>
            <p:cNvSpPr txBox="1">
              <a:spLocks noChangeArrowheads="1"/>
            </p:cNvSpPr>
            <p:nvPr/>
          </p:nvSpPr>
          <p:spPr bwMode="auto">
            <a:xfrm>
              <a:off x="7366950" y="2786062"/>
              <a:ext cx="705512" cy="428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8,8</a:t>
              </a:r>
              <a:endParaRPr lang="zh-CN" altLang="zh-CN" sz="1800" b="1">
                <a:latin typeface="Arial" panose="020B0604020202020204" pitchFamily="34" charset="0"/>
              </a:endParaRPr>
            </a:p>
          </p:txBody>
        </p:sp>
        <p:sp>
          <p:nvSpPr>
            <p:cNvPr id="18534" name="Text Box 33"/>
            <p:cNvSpPr txBox="1">
              <a:spLocks noChangeArrowheads="1"/>
            </p:cNvSpPr>
            <p:nvPr/>
          </p:nvSpPr>
          <p:spPr bwMode="auto">
            <a:xfrm>
              <a:off x="5152011" y="2214563"/>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i="1">
                  <a:latin typeface="Times New Roman" panose="02020603050405020304" pitchFamily="18" charset="0"/>
                </a:rPr>
                <a:t>s</a:t>
              </a:r>
              <a:endParaRPr lang="zh-CN" altLang="zh-CN" sz="1800" b="1" i="1">
                <a:latin typeface="Arial" panose="020B0604020202020204" pitchFamily="34" charset="0"/>
              </a:endParaRPr>
            </a:p>
          </p:txBody>
        </p:sp>
        <p:sp>
          <p:nvSpPr>
            <p:cNvPr id="18535" name="Text Box 33"/>
            <p:cNvSpPr txBox="1">
              <a:spLocks noChangeArrowheads="1"/>
            </p:cNvSpPr>
            <p:nvPr/>
          </p:nvSpPr>
          <p:spPr bwMode="auto">
            <a:xfrm>
              <a:off x="6009406" y="1500188"/>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a:t>
              </a:r>
              <a:endParaRPr lang="zh-CN" altLang="zh-CN" sz="1800" b="1">
                <a:latin typeface="Arial" panose="020B0604020202020204" pitchFamily="34" charset="0"/>
              </a:endParaRPr>
            </a:p>
          </p:txBody>
        </p:sp>
        <p:sp>
          <p:nvSpPr>
            <p:cNvPr id="18536" name="Text Box 33"/>
            <p:cNvSpPr txBox="1">
              <a:spLocks noChangeArrowheads="1"/>
            </p:cNvSpPr>
            <p:nvPr/>
          </p:nvSpPr>
          <p:spPr bwMode="auto">
            <a:xfrm>
              <a:off x="5611924" y="3000376"/>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a:t>
              </a:r>
              <a:endParaRPr lang="zh-CN" altLang="zh-CN" sz="1800" b="1">
                <a:latin typeface="Arial" panose="020B0604020202020204" pitchFamily="34" charset="0"/>
              </a:endParaRPr>
            </a:p>
          </p:txBody>
        </p:sp>
        <p:sp>
          <p:nvSpPr>
            <p:cNvPr id="18537" name="Text Box 33"/>
            <p:cNvSpPr txBox="1">
              <a:spLocks noChangeArrowheads="1"/>
            </p:cNvSpPr>
            <p:nvPr/>
          </p:nvSpPr>
          <p:spPr bwMode="auto">
            <a:xfrm>
              <a:off x="6581004" y="3000376"/>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3</a:t>
              </a:r>
              <a:endParaRPr lang="zh-CN" altLang="zh-CN" sz="1800" b="1">
                <a:latin typeface="Arial" panose="020B0604020202020204" pitchFamily="34" charset="0"/>
              </a:endParaRPr>
            </a:p>
          </p:txBody>
        </p:sp>
        <p:sp>
          <p:nvSpPr>
            <p:cNvPr id="18538" name="Text Box 33"/>
            <p:cNvSpPr txBox="1">
              <a:spLocks noChangeArrowheads="1"/>
            </p:cNvSpPr>
            <p:nvPr/>
          </p:nvSpPr>
          <p:spPr bwMode="auto">
            <a:xfrm>
              <a:off x="7152601" y="1500188"/>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4</a:t>
              </a:r>
              <a:endParaRPr lang="zh-CN" altLang="zh-CN" sz="1800" b="1">
                <a:latin typeface="Arial" panose="020B0604020202020204" pitchFamily="34" charset="0"/>
              </a:endParaRPr>
            </a:p>
          </p:txBody>
        </p:sp>
        <p:sp>
          <p:nvSpPr>
            <p:cNvPr id="18539" name="Text Box 33"/>
            <p:cNvSpPr txBox="1">
              <a:spLocks noChangeArrowheads="1"/>
            </p:cNvSpPr>
            <p:nvPr/>
          </p:nvSpPr>
          <p:spPr bwMode="auto">
            <a:xfrm>
              <a:off x="7826863" y="2357438"/>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i="1">
                  <a:latin typeface="Times New Roman" panose="02020603050405020304" pitchFamily="18" charset="0"/>
                </a:rPr>
                <a:t>t</a:t>
              </a:r>
              <a:endParaRPr lang="zh-CN" altLang="zh-CN" sz="1800" b="1" i="1">
                <a:latin typeface="Arial" panose="020B0604020202020204" pitchFamily="34" charset="0"/>
              </a:endParaRPr>
            </a:p>
          </p:txBody>
        </p:sp>
        <p:sp>
          <p:nvSpPr>
            <p:cNvPr id="18540" name="Text Box 33"/>
            <p:cNvSpPr txBox="1">
              <a:spLocks noChangeArrowheads="1"/>
            </p:cNvSpPr>
            <p:nvPr/>
          </p:nvSpPr>
          <p:spPr bwMode="auto">
            <a:xfrm>
              <a:off x="4572000" y="1928802"/>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zh-CN" altLang="en-US" sz="1800" b="1">
                  <a:latin typeface="Times New Roman" panose="02020603050405020304" pitchFamily="18" charset="0"/>
                  <a:sym typeface="Symbol" panose="05050102010706020507" pitchFamily="18" charset="2"/>
                </a:rPr>
                <a:t></a:t>
              </a:r>
              <a:r>
                <a:rPr lang="en-US" altLang="zh-CN" sz="1800" b="1">
                  <a:latin typeface="Times New Roman" panose="02020603050405020304" pitchFamily="18" charset="0"/>
                  <a:sym typeface="Symbol" panose="05050102010706020507" pitchFamily="18" charset="2"/>
                </a:rPr>
                <a:t>,+</a:t>
              </a:r>
              <a:r>
                <a:rPr lang="zh-CN" altLang="en-US" sz="1800" b="1">
                  <a:latin typeface="Times New Roman" panose="02020603050405020304" pitchFamily="18" charset="0"/>
                  <a:sym typeface="Symbol" panose="05050102010706020507" pitchFamily="18" charset="2"/>
                </a:rPr>
                <a:t></a:t>
              </a:r>
              <a:r>
                <a:rPr lang="en-US" altLang="zh-CN" sz="1800" b="1">
                  <a:latin typeface="Times New Roman" panose="02020603050405020304" pitchFamily="18" charset="0"/>
                  <a:sym typeface="Symbol" panose="05050102010706020507" pitchFamily="18" charset="2"/>
                </a:rPr>
                <a:t>)</a:t>
              </a:r>
              <a:endParaRPr lang="zh-CN" altLang="zh-CN" sz="1800" b="1">
                <a:latin typeface="Arial" panose="020B0604020202020204" pitchFamily="34" charset="0"/>
              </a:endParaRPr>
            </a:p>
          </p:txBody>
        </p:sp>
        <p:sp>
          <p:nvSpPr>
            <p:cNvPr id="18541" name="Text Box 33"/>
            <p:cNvSpPr txBox="1">
              <a:spLocks noChangeArrowheads="1"/>
            </p:cNvSpPr>
            <p:nvPr/>
          </p:nvSpPr>
          <p:spPr bwMode="auto">
            <a:xfrm>
              <a:off x="5580697" y="1214422"/>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a:t>
              </a:r>
              <a:r>
                <a:rPr lang="en-US" altLang="zh-CN" sz="1800" b="1">
                  <a:latin typeface="Times New Roman" panose="02020603050405020304" pitchFamily="18" charset="0"/>
                  <a:sym typeface="Symbol" panose="05050102010706020507" pitchFamily="18" charset="2"/>
                </a:rPr>
                <a:t>,2)</a:t>
              </a:r>
              <a:endParaRPr lang="zh-CN" altLang="zh-CN" sz="1800" b="1">
                <a:latin typeface="Arial" panose="020B0604020202020204" pitchFamily="34" charset="0"/>
              </a:endParaRPr>
            </a:p>
          </p:txBody>
        </p:sp>
        <p:sp>
          <p:nvSpPr>
            <p:cNvPr id="18542" name="Text Box 33"/>
            <p:cNvSpPr txBox="1">
              <a:spLocks noChangeArrowheads="1"/>
            </p:cNvSpPr>
            <p:nvPr/>
          </p:nvSpPr>
          <p:spPr bwMode="auto">
            <a:xfrm>
              <a:off x="7223771" y="1214434"/>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a:latin typeface="Times New Roman" panose="02020603050405020304" pitchFamily="18" charset="0"/>
                  <a:sym typeface="Symbol" panose="05050102010706020507" pitchFamily="18" charset="2"/>
                </a:rPr>
                <a:t>1,2)</a:t>
              </a:r>
              <a:endParaRPr lang="zh-CN" altLang="zh-CN" sz="1800" b="1">
                <a:latin typeface="Arial" panose="020B0604020202020204" pitchFamily="34" charset="0"/>
              </a:endParaRPr>
            </a:p>
          </p:txBody>
        </p:sp>
        <p:sp>
          <p:nvSpPr>
            <p:cNvPr id="18543" name="Text Box 33"/>
            <p:cNvSpPr txBox="1">
              <a:spLocks noChangeArrowheads="1"/>
            </p:cNvSpPr>
            <p:nvPr/>
          </p:nvSpPr>
          <p:spPr bwMode="auto">
            <a:xfrm>
              <a:off x="5152069" y="3286136"/>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i="1">
                  <a:latin typeface="Times New Roman" panose="02020603050405020304" pitchFamily="18" charset="0"/>
                  <a:sym typeface="Symbol" panose="05050102010706020507" pitchFamily="18" charset="2"/>
                </a:rPr>
                <a:t>s</a:t>
              </a:r>
              <a:r>
                <a:rPr lang="en-US" altLang="zh-CN" sz="1800" b="1">
                  <a:latin typeface="Times New Roman" panose="02020603050405020304" pitchFamily="18" charset="0"/>
                  <a:sym typeface="Symbol" panose="05050102010706020507" pitchFamily="18" charset="2"/>
                </a:rPr>
                <a:t>,10)</a:t>
              </a:r>
              <a:endParaRPr lang="zh-CN" altLang="zh-CN" sz="1800" b="1">
                <a:latin typeface="Arial" panose="020B0604020202020204" pitchFamily="34" charset="0"/>
              </a:endParaRPr>
            </a:p>
          </p:txBody>
        </p:sp>
        <p:sp>
          <p:nvSpPr>
            <p:cNvPr id="18544" name="Text Box 33"/>
            <p:cNvSpPr txBox="1">
              <a:spLocks noChangeArrowheads="1"/>
            </p:cNvSpPr>
            <p:nvPr/>
          </p:nvSpPr>
          <p:spPr bwMode="auto">
            <a:xfrm>
              <a:off x="6652267" y="3214686"/>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a:latin typeface="Times New Roman" panose="02020603050405020304" pitchFamily="18" charset="0"/>
                  <a:sym typeface="Symbol" panose="05050102010706020507" pitchFamily="18" charset="2"/>
                </a:rPr>
                <a:t>2,8)</a:t>
              </a:r>
              <a:endParaRPr lang="zh-CN" altLang="zh-CN" sz="1800" b="1">
                <a:latin typeface="Arial" panose="020B0604020202020204" pitchFamily="34" charset="0"/>
              </a:endParaRPr>
            </a:p>
          </p:txBody>
        </p:sp>
        <p:sp>
          <p:nvSpPr>
            <p:cNvPr id="18545" name="Text Box 33"/>
            <p:cNvSpPr txBox="1">
              <a:spLocks noChangeArrowheads="1"/>
            </p:cNvSpPr>
            <p:nvPr/>
          </p:nvSpPr>
          <p:spPr bwMode="auto">
            <a:xfrm>
              <a:off x="8081027" y="2357442"/>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(4</a:t>
              </a:r>
              <a:r>
                <a:rPr lang="en-US" altLang="zh-CN" sz="1800" b="1">
                  <a:latin typeface="Times New Roman" panose="02020603050405020304" pitchFamily="18" charset="0"/>
                  <a:sym typeface="Symbol" panose="05050102010706020507" pitchFamily="18" charset="2"/>
                </a:rPr>
                <a:t>,2)</a:t>
              </a:r>
              <a:endParaRPr lang="zh-CN" altLang="zh-CN" sz="1800" b="1">
                <a:latin typeface="Arial" panose="020B0604020202020204" pitchFamily="34" charset="0"/>
              </a:endParaRPr>
            </a:p>
          </p:txBody>
        </p:sp>
      </p:grpSp>
      <p:grpSp>
        <p:nvGrpSpPr>
          <p:cNvPr id="4" name="组合 148"/>
          <p:cNvGrpSpPr/>
          <p:nvPr/>
        </p:nvGrpSpPr>
        <p:grpSpPr bwMode="auto">
          <a:xfrm>
            <a:off x="500063" y="3857625"/>
            <a:ext cx="4286250" cy="2428875"/>
            <a:chOff x="500063" y="3857625"/>
            <a:chExt cx="4286250" cy="2428875"/>
          </a:xfrm>
        </p:grpSpPr>
        <p:grpSp>
          <p:nvGrpSpPr>
            <p:cNvPr id="18473" name="组合 117"/>
            <p:cNvGrpSpPr/>
            <p:nvPr/>
          </p:nvGrpSpPr>
          <p:grpSpPr bwMode="auto">
            <a:xfrm>
              <a:off x="500063" y="3857625"/>
              <a:ext cx="3714750" cy="2428875"/>
              <a:chOff x="500034" y="3857628"/>
              <a:chExt cx="3714776" cy="2428892"/>
            </a:xfrm>
          </p:grpSpPr>
          <p:sp>
            <p:nvSpPr>
              <p:cNvPr id="18475" name="Oval 5"/>
              <p:cNvSpPr>
                <a:spLocks noChangeArrowheads="1"/>
              </p:cNvSpPr>
              <p:nvPr/>
            </p:nvSpPr>
            <p:spPr bwMode="auto">
              <a:xfrm>
                <a:off x="1083585" y="4921072"/>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476" name="Oval 6"/>
              <p:cNvSpPr>
                <a:spLocks noChangeArrowheads="1"/>
              </p:cNvSpPr>
              <p:nvPr/>
            </p:nvSpPr>
            <p:spPr bwMode="auto">
              <a:xfrm>
                <a:off x="1959547" y="4208062"/>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477" name="Oval 7"/>
              <p:cNvSpPr>
                <a:spLocks noChangeArrowheads="1"/>
              </p:cNvSpPr>
              <p:nvPr/>
            </p:nvSpPr>
            <p:spPr bwMode="auto">
              <a:xfrm>
                <a:off x="1545631" y="5695194"/>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478" name="Oval 8"/>
              <p:cNvSpPr>
                <a:spLocks noChangeArrowheads="1"/>
              </p:cNvSpPr>
              <p:nvPr/>
            </p:nvSpPr>
            <p:spPr bwMode="auto">
              <a:xfrm>
                <a:off x="2537102" y="5685009"/>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479" name="Oval 9"/>
              <p:cNvSpPr>
                <a:spLocks noChangeArrowheads="1"/>
              </p:cNvSpPr>
              <p:nvPr/>
            </p:nvSpPr>
            <p:spPr bwMode="auto">
              <a:xfrm>
                <a:off x="3114658" y="4197877"/>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480" name="Oval 10"/>
              <p:cNvSpPr>
                <a:spLocks noChangeArrowheads="1"/>
              </p:cNvSpPr>
              <p:nvPr/>
            </p:nvSpPr>
            <p:spPr bwMode="auto">
              <a:xfrm>
                <a:off x="3788472" y="5063674"/>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18481" name="AutoShape 11"/>
              <p:cNvCxnSpPr>
                <a:cxnSpLocks noChangeShapeType="1"/>
              </p:cNvCxnSpPr>
              <p:nvPr/>
            </p:nvCxnSpPr>
            <p:spPr bwMode="auto">
              <a:xfrm flipV="1">
                <a:off x="1323031" y="4430879"/>
                <a:ext cx="636514" cy="543669"/>
              </a:xfrm>
              <a:prstGeom prst="straightConnector1">
                <a:avLst/>
              </a:prstGeom>
              <a:noFill/>
              <a:ln w="19050">
                <a:solidFill>
                  <a:schemeClr val="tx1"/>
                </a:solidFill>
                <a:round/>
                <a:tailEnd type="arrow" w="med" len="med"/>
              </a:ln>
              <a:extLst>
                <a:ext uri="{909E8E84-426E-40DD-AFC4-6F175D3DCCD1}">
                  <a14:hiddenFill xmlns:a14="http://schemas.microsoft.com/office/drawing/2010/main">
                    <a:noFill/>
                  </a14:hiddenFill>
                </a:ext>
              </a:extLst>
            </p:spPr>
          </p:cxnSp>
          <p:cxnSp>
            <p:nvCxnSpPr>
              <p:cNvPr id="18482" name="AutoShape 12"/>
              <p:cNvCxnSpPr>
                <a:cxnSpLocks noChangeShapeType="1"/>
              </p:cNvCxnSpPr>
              <p:nvPr/>
            </p:nvCxnSpPr>
            <p:spPr bwMode="auto">
              <a:xfrm>
                <a:off x="1274901" y="5143512"/>
                <a:ext cx="300810" cy="541123"/>
              </a:xfrm>
              <a:prstGeom prst="straightConnector1">
                <a:avLst/>
              </a:prstGeom>
              <a:noFill/>
              <a:ln w="19050">
                <a:solidFill>
                  <a:srgbClr val="FF0000"/>
                </a:solidFill>
                <a:round/>
                <a:tailEnd type="arrow" w="med" len="med"/>
              </a:ln>
              <a:extLst>
                <a:ext uri="{909E8E84-426E-40DD-AFC4-6F175D3DCCD1}">
                  <a14:hiddenFill xmlns:a14="http://schemas.microsoft.com/office/drawing/2010/main">
                    <a:noFill/>
                  </a14:hiddenFill>
                </a:ext>
              </a:extLst>
            </p:spPr>
          </p:cxnSp>
          <p:cxnSp>
            <p:nvCxnSpPr>
              <p:cNvPr id="18483" name="AutoShape 13"/>
              <p:cNvCxnSpPr>
                <a:cxnSpLocks noChangeShapeType="1"/>
              </p:cNvCxnSpPr>
              <p:nvPr/>
            </p:nvCxnSpPr>
            <p:spPr bwMode="auto">
              <a:xfrm flipV="1">
                <a:off x="1650313" y="4441063"/>
                <a:ext cx="413915" cy="1254131"/>
              </a:xfrm>
              <a:prstGeom prst="straightConnector1">
                <a:avLst/>
              </a:prstGeom>
              <a:noFill/>
              <a:ln w="19050">
                <a:solidFill>
                  <a:schemeClr val="tx1"/>
                </a:solidFill>
                <a:round/>
                <a:tailEnd type="arrow" w="med" len="med"/>
              </a:ln>
              <a:extLst>
                <a:ext uri="{909E8E84-426E-40DD-AFC4-6F175D3DCCD1}">
                  <a14:hiddenFill xmlns:a14="http://schemas.microsoft.com/office/drawing/2010/main">
                    <a:noFill/>
                  </a14:hiddenFill>
                </a:ext>
              </a:extLst>
            </p:spPr>
          </p:cxnSp>
          <p:cxnSp>
            <p:nvCxnSpPr>
              <p:cNvPr id="18484" name="AutoShape 14"/>
              <p:cNvCxnSpPr>
                <a:cxnSpLocks noChangeShapeType="1"/>
              </p:cNvCxnSpPr>
              <p:nvPr/>
            </p:nvCxnSpPr>
            <p:spPr bwMode="auto">
              <a:xfrm>
                <a:off x="2198990" y="4306101"/>
                <a:ext cx="915666" cy="0"/>
              </a:xfrm>
              <a:prstGeom prst="straightConnector1">
                <a:avLst/>
              </a:prstGeom>
              <a:noFill/>
              <a:ln w="19050">
                <a:solidFill>
                  <a:srgbClr val="FF0000"/>
                </a:solidFill>
                <a:round/>
                <a:tailEnd type="arrow" w="med" len="med"/>
              </a:ln>
              <a:extLst>
                <a:ext uri="{909E8E84-426E-40DD-AFC4-6F175D3DCCD1}">
                  <a14:hiddenFill xmlns:a14="http://schemas.microsoft.com/office/drawing/2010/main">
                    <a:noFill/>
                  </a14:hiddenFill>
                </a:ext>
              </a:extLst>
            </p:spPr>
          </p:cxnSp>
          <p:cxnSp>
            <p:nvCxnSpPr>
              <p:cNvPr id="18485" name="AutoShape 15"/>
              <p:cNvCxnSpPr>
                <a:cxnSpLocks noChangeShapeType="1"/>
              </p:cNvCxnSpPr>
              <p:nvPr/>
            </p:nvCxnSpPr>
            <p:spPr bwMode="auto">
              <a:xfrm>
                <a:off x="2141236" y="4430879"/>
                <a:ext cx="476483" cy="1254131"/>
              </a:xfrm>
              <a:prstGeom prst="straightConnector1">
                <a:avLst/>
              </a:prstGeom>
              <a:noFill/>
              <a:ln w="19050">
                <a:solidFill>
                  <a:srgbClr val="FF0000"/>
                </a:solidFill>
                <a:round/>
                <a:tailEnd type="arrow" w="med" len="med"/>
              </a:ln>
              <a:extLst>
                <a:ext uri="{909E8E84-426E-40DD-AFC4-6F175D3DCCD1}">
                  <a14:hiddenFill xmlns:a14="http://schemas.microsoft.com/office/drawing/2010/main">
                    <a:noFill/>
                  </a14:hiddenFill>
                </a:ext>
              </a:extLst>
            </p:spPr>
          </p:cxnSp>
          <p:cxnSp>
            <p:nvCxnSpPr>
              <p:cNvPr id="18486" name="AutoShape 16"/>
              <p:cNvCxnSpPr>
                <a:cxnSpLocks noChangeShapeType="1"/>
              </p:cNvCxnSpPr>
              <p:nvPr/>
            </p:nvCxnSpPr>
            <p:spPr bwMode="auto">
              <a:xfrm flipH="1">
                <a:off x="2705555" y="4430879"/>
                <a:ext cx="500549" cy="1254131"/>
              </a:xfrm>
              <a:prstGeom prst="straightConnector1">
                <a:avLst/>
              </a:prstGeom>
              <a:noFill/>
              <a:ln w="19050">
                <a:solidFill>
                  <a:srgbClr val="000000"/>
                </a:solidFill>
                <a:round/>
                <a:tailEnd type="arrow" w="med" len="med"/>
              </a:ln>
              <a:extLst>
                <a:ext uri="{909E8E84-426E-40DD-AFC4-6F175D3DCCD1}">
                  <a14:hiddenFill xmlns:a14="http://schemas.microsoft.com/office/drawing/2010/main">
                    <a:noFill/>
                  </a14:hiddenFill>
                </a:ext>
              </a:extLst>
            </p:spPr>
          </p:cxnSp>
          <p:cxnSp>
            <p:nvCxnSpPr>
              <p:cNvPr id="18487" name="AutoShape 17"/>
              <p:cNvCxnSpPr>
                <a:cxnSpLocks noChangeShapeType="1"/>
              </p:cNvCxnSpPr>
              <p:nvPr/>
            </p:nvCxnSpPr>
            <p:spPr bwMode="auto">
              <a:xfrm>
                <a:off x="3354103" y="4430879"/>
                <a:ext cx="456027" cy="632795"/>
              </a:xfrm>
              <a:prstGeom prst="straightConnector1">
                <a:avLst/>
              </a:prstGeom>
              <a:noFill/>
              <a:ln w="19050">
                <a:solidFill>
                  <a:srgbClr val="FF0000"/>
                </a:solidFill>
                <a:round/>
                <a:tailEnd type="arrow" w="med" len="med"/>
              </a:ln>
              <a:extLst>
                <a:ext uri="{909E8E84-426E-40DD-AFC4-6F175D3DCCD1}">
                  <a14:hiddenFill xmlns:a14="http://schemas.microsoft.com/office/drawing/2010/main">
                    <a:noFill/>
                  </a14:hiddenFill>
                </a:ext>
              </a:extLst>
            </p:spPr>
          </p:cxnSp>
          <p:cxnSp>
            <p:nvCxnSpPr>
              <p:cNvPr id="18488" name="AutoShape 18"/>
              <p:cNvCxnSpPr>
                <a:cxnSpLocks noChangeShapeType="1"/>
              </p:cNvCxnSpPr>
              <p:nvPr/>
            </p:nvCxnSpPr>
            <p:spPr bwMode="auto">
              <a:xfrm flipV="1">
                <a:off x="2776547" y="5239379"/>
                <a:ext cx="1011925" cy="539849"/>
              </a:xfrm>
              <a:prstGeom prst="straightConnector1">
                <a:avLst/>
              </a:prstGeom>
              <a:noFill/>
              <a:ln w="19050">
                <a:solidFill>
                  <a:schemeClr val="tx1"/>
                </a:solidFill>
                <a:round/>
                <a:tailEnd type="arrow" w="med" len="med"/>
              </a:ln>
              <a:extLst>
                <a:ext uri="{909E8E84-426E-40DD-AFC4-6F175D3DCCD1}">
                  <a14:hiddenFill xmlns:a14="http://schemas.microsoft.com/office/drawing/2010/main">
                    <a:noFill/>
                  </a14:hiddenFill>
                </a:ext>
              </a:extLst>
            </p:spPr>
          </p:cxnSp>
          <p:cxnSp>
            <p:nvCxnSpPr>
              <p:cNvPr id="18489" name="AutoShape 25"/>
              <p:cNvCxnSpPr>
                <a:cxnSpLocks noChangeShapeType="1"/>
              </p:cNvCxnSpPr>
              <p:nvPr/>
            </p:nvCxnSpPr>
            <p:spPr bwMode="auto">
              <a:xfrm>
                <a:off x="1785077" y="5809785"/>
                <a:ext cx="752026" cy="0"/>
              </a:xfrm>
              <a:prstGeom prst="straightConnector1">
                <a:avLst/>
              </a:prstGeom>
              <a:noFill/>
              <a:ln w="19050">
                <a:solidFill>
                  <a:srgbClr val="FF0000"/>
                </a:solidFill>
                <a:round/>
                <a:tailEnd type="arrow" w="med" len="med"/>
              </a:ln>
              <a:extLst>
                <a:ext uri="{909E8E84-426E-40DD-AFC4-6F175D3DCCD1}">
                  <a14:hiddenFill xmlns:a14="http://schemas.microsoft.com/office/drawing/2010/main">
                    <a:noFill/>
                  </a14:hiddenFill>
                </a:ext>
              </a:extLst>
            </p:spPr>
          </p:cxnSp>
          <p:sp>
            <p:nvSpPr>
              <p:cNvPr id="18490" name="Text Box 33"/>
              <p:cNvSpPr txBox="1">
                <a:spLocks noChangeArrowheads="1"/>
              </p:cNvSpPr>
              <p:nvPr/>
            </p:nvSpPr>
            <p:spPr bwMode="auto">
              <a:xfrm>
                <a:off x="2357422" y="4000519"/>
                <a:ext cx="603011" cy="3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10,4</a:t>
                </a:r>
                <a:endParaRPr lang="zh-CN" altLang="zh-CN" sz="1800" b="1">
                  <a:latin typeface="Arial" panose="020B0604020202020204" pitchFamily="34" charset="0"/>
                </a:endParaRPr>
              </a:p>
            </p:txBody>
          </p:sp>
          <p:sp>
            <p:nvSpPr>
              <p:cNvPr id="18491" name="Text Box 33"/>
              <p:cNvSpPr txBox="1">
                <a:spLocks noChangeArrowheads="1"/>
              </p:cNvSpPr>
              <p:nvPr/>
            </p:nvSpPr>
            <p:spPr bwMode="auto">
              <a:xfrm>
                <a:off x="1214414" y="4429144"/>
                <a:ext cx="634377"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8,8</a:t>
                </a:r>
                <a:endParaRPr lang="zh-CN" altLang="zh-CN" sz="1800" b="1">
                  <a:latin typeface="Arial" panose="020B0604020202020204" pitchFamily="34" charset="0"/>
                </a:endParaRPr>
              </a:p>
            </p:txBody>
          </p:sp>
          <p:sp>
            <p:nvSpPr>
              <p:cNvPr id="18492" name="Text Box 33"/>
              <p:cNvSpPr txBox="1">
                <a:spLocks noChangeArrowheads="1"/>
              </p:cNvSpPr>
              <p:nvPr/>
            </p:nvSpPr>
            <p:spPr bwMode="auto">
              <a:xfrm>
                <a:off x="1437316" y="4857760"/>
                <a:ext cx="634354"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2,2</a:t>
                </a:r>
                <a:endParaRPr lang="zh-CN" altLang="zh-CN" sz="1800" b="1">
                  <a:latin typeface="Arial" panose="020B0604020202020204" pitchFamily="34" charset="0"/>
                </a:endParaRPr>
              </a:p>
            </p:txBody>
          </p:sp>
          <p:sp>
            <p:nvSpPr>
              <p:cNvPr id="18493" name="Text Box 33"/>
              <p:cNvSpPr txBox="1">
                <a:spLocks noChangeArrowheads="1"/>
              </p:cNvSpPr>
              <p:nvPr/>
            </p:nvSpPr>
            <p:spPr bwMode="auto">
              <a:xfrm>
                <a:off x="896934" y="5286394"/>
                <a:ext cx="746108" cy="35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cs typeface="Times New Roman" panose="02020603050405020304" pitchFamily="18" charset="0"/>
                  </a:rPr>
                  <a:t>12,4</a:t>
                </a:r>
                <a:endParaRPr lang="zh-CN" altLang="zh-CN" sz="1800" b="1">
                  <a:latin typeface="Times New Roman" panose="02020603050405020304" pitchFamily="18" charset="0"/>
                  <a:cs typeface="Times New Roman" panose="02020603050405020304" pitchFamily="18" charset="0"/>
                </a:endParaRPr>
              </a:p>
            </p:txBody>
          </p:sp>
          <p:sp>
            <p:nvSpPr>
              <p:cNvPr id="18494" name="Text Box 33"/>
              <p:cNvSpPr txBox="1">
                <a:spLocks noChangeArrowheads="1"/>
              </p:cNvSpPr>
              <p:nvPr/>
            </p:nvSpPr>
            <p:spPr bwMode="auto">
              <a:xfrm>
                <a:off x="1857356" y="5786454"/>
                <a:ext cx="634284"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10,2</a:t>
                </a:r>
                <a:endParaRPr lang="zh-CN" altLang="zh-CN" sz="1800" b="1">
                  <a:latin typeface="Arial" panose="020B0604020202020204" pitchFamily="34" charset="0"/>
                </a:endParaRPr>
              </a:p>
            </p:txBody>
          </p:sp>
          <p:sp>
            <p:nvSpPr>
              <p:cNvPr id="18495" name="Text Box 33"/>
              <p:cNvSpPr txBox="1">
                <a:spLocks noChangeArrowheads="1"/>
              </p:cNvSpPr>
              <p:nvPr/>
            </p:nvSpPr>
            <p:spPr bwMode="auto">
              <a:xfrm>
                <a:off x="2000232" y="4929207"/>
                <a:ext cx="634261"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6,6</a:t>
                </a:r>
                <a:endParaRPr lang="zh-CN" altLang="zh-CN" sz="1800" b="1">
                  <a:latin typeface="Arial" panose="020B0604020202020204" pitchFamily="34" charset="0"/>
                </a:endParaRPr>
              </a:p>
            </p:txBody>
          </p:sp>
          <p:sp>
            <p:nvSpPr>
              <p:cNvPr id="18496" name="Text Box 33"/>
              <p:cNvSpPr txBox="1">
                <a:spLocks noChangeArrowheads="1"/>
              </p:cNvSpPr>
              <p:nvPr/>
            </p:nvSpPr>
            <p:spPr bwMode="auto">
              <a:xfrm>
                <a:off x="2937736" y="4929207"/>
                <a:ext cx="634132"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2,0</a:t>
                </a:r>
                <a:endParaRPr lang="zh-CN" altLang="zh-CN" sz="1800" b="1">
                  <a:latin typeface="Arial" panose="020B0604020202020204" pitchFamily="34" charset="0"/>
                </a:endParaRPr>
              </a:p>
            </p:txBody>
          </p:sp>
          <p:sp>
            <p:nvSpPr>
              <p:cNvPr id="18497" name="Text Box 33"/>
              <p:cNvSpPr txBox="1">
                <a:spLocks noChangeArrowheads="1"/>
              </p:cNvSpPr>
              <p:nvPr/>
            </p:nvSpPr>
            <p:spPr bwMode="auto">
              <a:xfrm>
                <a:off x="3540548" y="4500582"/>
                <a:ext cx="674262"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10,4</a:t>
                </a:r>
                <a:endParaRPr lang="zh-CN" altLang="zh-CN" sz="1800" b="1">
                  <a:latin typeface="Arial" panose="020B0604020202020204" pitchFamily="34" charset="0"/>
                </a:endParaRPr>
              </a:p>
            </p:txBody>
          </p:sp>
          <p:sp>
            <p:nvSpPr>
              <p:cNvPr id="18498" name="Text Box 33"/>
              <p:cNvSpPr txBox="1">
                <a:spLocks noChangeArrowheads="1"/>
              </p:cNvSpPr>
              <p:nvPr/>
            </p:nvSpPr>
            <p:spPr bwMode="auto">
              <a:xfrm>
                <a:off x="3294984" y="5429268"/>
                <a:ext cx="705512" cy="428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8,8</a:t>
                </a:r>
                <a:endParaRPr lang="zh-CN" altLang="zh-CN" sz="1800" b="1">
                  <a:latin typeface="Arial" panose="020B0604020202020204" pitchFamily="34" charset="0"/>
                </a:endParaRPr>
              </a:p>
            </p:txBody>
          </p:sp>
          <p:sp>
            <p:nvSpPr>
              <p:cNvPr id="18499" name="Text Box 33"/>
              <p:cNvSpPr txBox="1">
                <a:spLocks noChangeArrowheads="1"/>
              </p:cNvSpPr>
              <p:nvPr/>
            </p:nvSpPr>
            <p:spPr bwMode="auto">
              <a:xfrm>
                <a:off x="1080045" y="4857769"/>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i="1">
                    <a:latin typeface="Times New Roman" panose="02020603050405020304" pitchFamily="18" charset="0"/>
                  </a:rPr>
                  <a:t>s</a:t>
                </a:r>
                <a:endParaRPr lang="zh-CN" altLang="zh-CN" sz="1800" b="1" i="1">
                  <a:latin typeface="Arial" panose="020B0604020202020204" pitchFamily="34" charset="0"/>
                </a:endParaRPr>
              </a:p>
            </p:txBody>
          </p:sp>
          <p:sp>
            <p:nvSpPr>
              <p:cNvPr id="18500" name="Text Box 33"/>
              <p:cNvSpPr txBox="1">
                <a:spLocks noChangeArrowheads="1"/>
              </p:cNvSpPr>
              <p:nvPr/>
            </p:nvSpPr>
            <p:spPr bwMode="auto">
              <a:xfrm>
                <a:off x="1937440" y="4143394"/>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a:t>
                </a:r>
                <a:endParaRPr lang="zh-CN" altLang="zh-CN" sz="1800" b="1">
                  <a:latin typeface="Arial" panose="020B0604020202020204" pitchFamily="34" charset="0"/>
                </a:endParaRPr>
              </a:p>
            </p:txBody>
          </p:sp>
          <p:sp>
            <p:nvSpPr>
              <p:cNvPr id="18501" name="Text Box 33"/>
              <p:cNvSpPr txBox="1">
                <a:spLocks noChangeArrowheads="1"/>
              </p:cNvSpPr>
              <p:nvPr/>
            </p:nvSpPr>
            <p:spPr bwMode="auto">
              <a:xfrm>
                <a:off x="1539958" y="5643582"/>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a:t>
                </a:r>
                <a:endParaRPr lang="zh-CN" altLang="zh-CN" sz="1800" b="1">
                  <a:latin typeface="Arial" panose="020B0604020202020204" pitchFamily="34" charset="0"/>
                </a:endParaRPr>
              </a:p>
            </p:txBody>
          </p:sp>
          <p:sp>
            <p:nvSpPr>
              <p:cNvPr id="18502" name="Text Box 33"/>
              <p:cNvSpPr txBox="1">
                <a:spLocks noChangeArrowheads="1"/>
              </p:cNvSpPr>
              <p:nvPr/>
            </p:nvSpPr>
            <p:spPr bwMode="auto">
              <a:xfrm>
                <a:off x="2509038" y="5643582"/>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3</a:t>
                </a:r>
                <a:endParaRPr lang="zh-CN" altLang="zh-CN" sz="1800" b="1">
                  <a:latin typeface="Arial" panose="020B0604020202020204" pitchFamily="34" charset="0"/>
                </a:endParaRPr>
              </a:p>
            </p:txBody>
          </p:sp>
          <p:sp>
            <p:nvSpPr>
              <p:cNvPr id="18503" name="Text Box 33"/>
              <p:cNvSpPr txBox="1">
                <a:spLocks noChangeArrowheads="1"/>
              </p:cNvSpPr>
              <p:nvPr/>
            </p:nvSpPr>
            <p:spPr bwMode="auto">
              <a:xfrm>
                <a:off x="3080635" y="4143394"/>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4</a:t>
                </a:r>
                <a:endParaRPr lang="zh-CN" altLang="zh-CN" sz="1800" b="1">
                  <a:latin typeface="Arial" panose="020B0604020202020204" pitchFamily="34" charset="0"/>
                </a:endParaRPr>
              </a:p>
            </p:txBody>
          </p:sp>
          <p:sp>
            <p:nvSpPr>
              <p:cNvPr id="18504" name="Text Box 33"/>
              <p:cNvSpPr txBox="1">
                <a:spLocks noChangeArrowheads="1"/>
              </p:cNvSpPr>
              <p:nvPr/>
            </p:nvSpPr>
            <p:spPr bwMode="auto">
              <a:xfrm>
                <a:off x="3754897" y="5000644"/>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i="1">
                    <a:latin typeface="Times New Roman" panose="02020603050405020304" pitchFamily="18" charset="0"/>
                  </a:rPr>
                  <a:t>t</a:t>
                </a:r>
                <a:endParaRPr lang="zh-CN" altLang="zh-CN" sz="1800" b="1" i="1">
                  <a:latin typeface="Arial" panose="020B0604020202020204" pitchFamily="34" charset="0"/>
                </a:endParaRPr>
              </a:p>
            </p:txBody>
          </p:sp>
          <p:sp>
            <p:nvSpPr>
              <p:cNvPr id="18505" name="Text Box 33"/>
              <p:cNvSpPr txBox="1">
                <a:spLocks noChangeArrowheads="1"/>
              </p:cNvSpPr>
              <p:nvPr/>
            </p:nvSpPr>
            <p:spPr bwMode="auto">
              <a:xfrm>
                <a:off x="500034" y="4572008"/>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zh-CN" altLang="en-US" sz="1800" b="1">
                    <a:latin typeface="Times New Roman" panose="02020603050405020304" pitchFamily="18" charset="0"/>
                    <a:sym typeface="Symbol" panose="05050102010706020507" pitchFamily="18" charset="2"/>
                  </a:rPr>
                  <a:t></a:t>
                </a:r>
                <a:r>
                  <a:rPr lang="en-US" altLang="zh-CN" sz="1800" b="1">
                    <a:latin typeface="Times New Roman" panose="02020603050405020304" pitchFamily="18" charset="0"/>
                    <a:sym typeface="Symbol" panose="05050102010706020507" pitchFamily="18" charset="2"/>
                  </a:rPr>
                  <a:t>,+</a:t>
                </a:r>
                <a:r>
                  <a:rPr lang="zh-CN" altLang="en-US" sz="1800" b="1">
                    <a:latin typeface="Times New Roman" panose="02020603050405020304" pitchFamily="18" charset="0"/>
                    <a:sym typeface="Symbol" panose="05050102010706020507" pitchFamily="18" charset="2"/>
                  </a:rPr>
                  <a:t></a:t>
                </a:r>
                <a:r>
                  <a:rPr lang="en-US" altLang="zh-CN" sz="1800" b="1">
                    <a:latin typeface="Times New Roman" panose="02020603050405020304" pitchFamily="18" charset="0"/>
                    <a:sym typeface="Symbol" panose="05050102010706020507" pitchFamily="18" charset="2"/>
                  </a:rPr>
                  <a:t>)</a:t>
                </a:r>
                <a:endParaRPr lang="zh-CN" altLang="zh-CN" sz="1800" b="1">
                  <a:latin typeface="Arial" panose="020B0604020202020204" pitchFamily="34" charset="0"/>
                </a:endParaRPr>
              </a:p>
            </p:txBody>
          </p:sp>
          <p:sp>
            <p:nvSpPr>
              <p:cNvPr id="18506" name="Text Box 33"/>
              <p:cNvSpPr txBox="1">
                <a:spLocks noChangeArrowheads="1"/>
              </p:cNvSpPr>
              <p:nvPr/>
            </p:nvSpPr>
            <p:spPr bwMode="auto">
              <a:xfrm>
                <a:off x="1508731" y="3857628"/>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(-3</a:t>
                </a:r>
                <a:r>
                  <a:rPr lang="en-US" altLang="zh-CN" sz="1800" b="1">
                    <a:latin typeface="Times New Roman" panose="02020603050405020304" pitchFamily="18" charset="0"/>
                    <a:sym typeface="Symbol" panose="05050102010706020507" pitchFamily="18" charset="2"/>
                  </a:rPr>
                  <a:t>,6)</a:t>
                </a:r>
                <a:endParaRPr lang="zh-CN" altLang="zh-CN" sz="1800" b="1">
                  <a:latin typeface="Arial" panose="020B0604020202020204" pitchFamily="34" charset="0"/>
                </a:endParaRPr>
              </a:p>
            </p:txBody>
          </p:sp>
          <p:sp>
            <p:nvSpPr>
              <p:cNvPr id="18507" name="Text Box 33"/>
              <p:cNvSpPr txBox="1">
                <a:spLocks noChangeArrowheads="1"/>
              </p:cNvSpPr>
              <p:nvPr/>
            </p:nvSpPr>
            <p:spPr bwMode="auto">
              <a:xfrm>
                <a:off x="3151805" y="3857640"/>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a:latin typeface="Times New Roman" panose="02020603050405020304" pitchFamily="18" charset="0"/>
                    <a:sym typeface="Symbol" panose="05050102010706020507" pitchFamily="18" charset="2"/>
                  </a:rPr>
                  <a:t>1,6)</a:t>
                </a:r>
                <a:endParaRPr lang="zh-CN" altLang="zh-CN" sz="1800" b="1">
                  <a:latin typeface="Arial" panose="020B0604020202020204" pitchFamily="34" charset="0"/>
                </a:endParaRPr>
              </a:p>
            </p:txBody>
          </p:sp>
          <p:sp>
            <p:nvSpPr>
              <p:cNvPr id="18508" name="Text Box 33"/>
              <p:cNvSpPr txBox="1">
                <a:spLocks noChangeArrowheads="1"/>
              </p:cNvSpPr>
              <p:nvPr/>
            </p:nvSpPr>
            <p:spPr bwMode="auto">
              <a:xfrm>
                <a:off x="1080103" y="5929342"/>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i="1">
                    <a:latin typeface="Times New Roman" panose="02020603050405020304" pitchFamily="18" charset="0"/>
                    <a:sym typeface="Symbol" panose="05050102010706020507" pitchFamily="18" charset="2"/>
                  </a:rPr>
                  <a:t>s</a:t>
                </a:r>
                <a:r>
                  <a:rPr lang="en-US" altLang="zh-CN" sz="1800" b="1">
                    <a:latin typeface="Times New Roman" panose="02020603050405020304" pitchFamily="18" charset="0"/>
                    <a:sym typeface="Symbol" panose="05050102010706020507" pitchFamily="18" charset="2"/>
                  </a:rPr>
                  <a:t>,8)</a:t>
                </a:r>
                <a:endParaRPr lang="zh-CN" altLang="zh-CN" sz="1800" b="1">
                  <a:latin typeface="Arial" panose="020B0604020202020204" pitchFamily="34" charset="0"/>
                </a:endParaRPr>
              </a:p>
            </p:txBody>
          </p:sp>
          <p:sp>
            <p:nvSpPr>
              <p:cNvPr id="18509" name="Text Box 33"/>
              <p:cNvSpPr txBox="1">
                <a:spLocks noChangeArrowheads="1"/>
              </p:cNvSpPr>
              <p:nvPr/>
            </p:nvSpPr>
            <p:spPr bwMode="auto">
              <a:xfrm>
                <a:off x="2580301" y="5857892"/>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a:latin typeface="Times New Roman" panose="02020603050405020304" pitchFamily="18" charset="0"/>
                    <a:sym typeface="Symbol" panose="05050102010706020507" pitchFamily="18" charset="2"/>
                  </a:rPr>
                  <a:t>2,8)</a:t>
                </a:r>
                <a:endParaRPr lang="zh-CN" altLang="zh-CN" sz="1800" b="1">
                  <a:latin typeface="Arial" panose="020B0604020202020204" pitchFamily="34" charset="0"/>
                </a:endParaRPr>
              </a:p>
            </p:txBody>
          </p:sp>
        </p:grpSp>
        <p:sp>
          <p:nvSpPr>
            <p:cNvPr id="18474" name="Text Box 33"/>
            <p:cNvSpPr txBox="1">
              <a:spLocks noChangeArrowheads="1"/>
            </p:cNvSpPr>
            <p:nvPr/>
          </p:nvSpPr>
          <p:spPr bwMode="auto">
            <a:xfrm>
              <a:off x="4008438" y="5000625"/>
              <a:ext cx="77787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(4</a:t>
              </a:r>
              <a:r>
                <a:rPr lang="en-US" altLang="zh-CN" sz="1800" b="1">
                  <a:latin typeface="Times New Roman" panose="02020603050405020304" pitchFamily="18" charset="0"/>
                  <a:sym typeface="Symbol" panose="05050102010706020507" pitchFamily="18" charset="2"/>
                </a:rPr>
                <a:t>,6)</a:t>
              </a:r>
              <a:endParaRPr lang="zh-CN" altLang="zh-CN" sz="1800" b="1">
                <a:latin typeface="Arial" panose="020B0604020202020204" pitchFamily="34" charset="0"/>
              </a:endParaRPr>
            </a:p>
          </p:txBody>
        </p:sp>
      </p:grpSp>
      <p:grpSp>
        <p:nvGrpSpPr>
          <p:cNvPr id="6" name="组合 154"/>
          <p:cNvGrpSpPr/>
          <p:nvPr/>
        </p:nvGrpSpPr>
        <p:grpSpPr bwMode="auto">
          <a:xfrm>
            <a:off x="4572000" y="4000500"/>
            <a:ext cx="3857625" cy="2286000"/>
            <a:chOff x="4572000" y="4000505"/>
            <a:chExt cx="3857652" cy="2286015"/>
          </a:xfrm>
        </p:grpSpPr>
        <p:sp>
          <p:nvSpPr>
            <p:cNvPr id="18440" name="Oval 5"/>
            <p:cNvSpPr>
              <a:spLocks noChangeArrowheads="1"/>
            </p:cNvSpPr>
            <p:nvPr/>
          </p:nvSpPr>
          <p:spPr bwMode="auto">
            <a:xfrm>
              <a:off x="5155551" y="4921072"/>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441" name="Oval 6"/>
            <p:cNvSpPr>
              <a:spLocks noChangeArrowheads="1"/>
            </p:cNvSpPr>
            <p:nvPr/>
          </p:nvSpPr>
          <p:spPr bwMode="auto">
            <a:xfrm>
              <a:off x="6031513" y="4208062"/>
              <a:ext cx="239445" cy="233001"/>
            </a:xfrm>
            <a:prstGeom prst="ellipse">
              <a:avLst/>
            </a:prstGeom>
            <a:solidFill>
              <a:srgbClr val="FFFFFF"/>
            </a:solidFill>
            <a:ln w="19050">
              <a:solidFill>
                <a:srgbClr val="FF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442" name="Oval 7"/>
            <p:cNvSpPr>
              <a:spLocks noChangeArrowheads="1"/>
            </p:cNvSpPr>
            <p:nvPr/>
          </p:nvSpPr>
          <p:spPr bwMode="auto">
            <a:xfrm>
              <a:off x="5617597" y="5695194"/>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443" name="Oval 8"/>
            <p:cNvSpPr>
              <a:spLocks noChangeArrowheads="1"/>
            </p:cNvSpPr>
            <p:nvPr/>
          </p:nvSpPr>
          <p:spPr bwMode="auto">
            <a:xfrm>
              <a:off x="6609068" y="5685009"/>
              <a:ext cx="239445" cy="23300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444" name="Oval 9"/>
            <p:cNvSpPr>
              <a:spLocks noChangeArrowheads="1"/>
            </p:cNvSpPr>
            <p:nvPr/>
          </p:nvSpPr>
          <p:spPr bwMode="auto">
            <a:xfrm>
              <a:off x="7186624" y="4197877"/>
              <a:ext cx="239445" cy="233001"/>
            </a:xfrm>
            <a:prstGeom prst="ellipse">
              <a:avLst/>
            </a:prstGeom>
            <a:solidFill>
              <a:srgbClr val="FFFFFF"/>
            </a:solidFill>
            <a:ln w="19050">
              <a:solidFill>
                <a:srgbClr val="FF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445" name="Oval 10"/>
            <p:cNvSpPr>
              <a:spLocks noChangeArrowheads="1"/>
            </p:cNvSpPr>
            <p:nvPr/>
          </p:nvSpPr>
          <p:spPr bwMode="auto">
            <a:xfrm>
              <a:off x="7860438" y="5063674"/>
              <a:ext cx="239445" cy="233001"/>
            </a:xfrm>
            <a:prstGeom prst="ellipse">
              <a:avLst/>
            </a:prstGeom>
            <a:solidFill>
              <a:srgbClr val="FFFFFF"/>
            </a:solidFill>
            <a:ln w="19050">
              <a:solidFill>
                <a:srgbClr val="FF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18446" name="AutoShape 11"/>
            <p:cNvCxnSpPr>
              <a:cxnSpLocks noChangeShapeType="1"/>
            </p:cNvCxnSpPr>
            <p:nvPr/>
          </p:nvCxnSpPr>
          <p:spPr bwMode="auto">
            <a:xfrm flipV="1">
              <a:off x="5394997" y="4430879"/>
              <a:ext cx="636514" cy="543669"/>
            </a:xfrm>
            <a:prstGeom prst="straightConnector1">
              <a:avLst/>
            </a:prstGeom>
            <a:noFill/>
            <a:ln w="19050">
              <a:solidFill>
                <a:srgbClr val="0070C0"/>
              </a:solidFill>
              <a:round/>
              <a:tailEnd type="arrow" w="med" len="med"/>
            </a:ln>
            <a:extLst>
              <a:ext uri="{909E8E84-426E-40DD-AFC4-6F175D3DCCD1}">
                <a14:hiddenFill xmlns:a14="http://schemas.microsoft.com/office/drawing/2010/main">
                  <a:noFill/>
                </a14:hiddenFill>
              </a:ext>
            </a:extLst>
          </p:spPr>
        </p:cxnSp>
        <p:cxnSp>
          <p:nvCxnSpPr>
            <p:cNvPr id="18447" name="AutoShape 12"/>
            <p:cNvCxnSpPr>
              <a:cxnSpLocks noChangeShapeType="1"/>
            </p:cNvCxnSpPr>
            <p:nvPr/>
          </p:nvCxnSpPr>
          <p:spPr bwMode="auto">
            <a:xfrm>
              <a:off x="5346867" y="5143512"/>
              <a:ext cx="300810" cy="541123"/>
            </a:xfrm>
            <a:prstGeom prst="straightConnector1">
              <a:avLst/>
            </a:prstGeom>
            <a:noFill/>
            <a:ln w="19050">
              <a:solidFill>
                <a:schemeClr val="tx1"/>
              </a:solidFill>
              <a:round/>
              <a:tailEnd type="arrow" w="med" len="med"/>
            </a:ln>
            <a:extLst>
              <a:ext uri="{909E8E84-426E-40DD-AFC4-6F175D3DCCD1}">
                <a14:hiddenFill xmlns:a14="http://schemas.microsoft.com/office/drawing/2010/main">
                  <a:noFill/>
                </a14:hiddenFill>
              </a:ext>
            </a:extLst>
          </p:spPr>
        </p:cxnSp>
        <p:cxnSp>
          <p:nvCxnSpPr>
            <p:cNvPr id="18448" name="AutoShape 13"/>
            <p:cNvCxnSpPr>
              <a:cxnSpLocks noChangeShapeType="1"/>
            </p:cNvCxnSpPr>
            <p:nvPr/>
          </p:nvCxnSpPr>
          <p:spPr bwMode="auto">
            <a:xfrm flipV="1">
              <a:off x="5722279" y="4441063"/>
              <a:ext cx="413915" cy="1254131"/>
            </a:xfrm>
            <a:prstGeom prst="straightConnector1">
              <a:avLst/>
            </a:prstGeom>
            <a:noFill/>
            <a:ln w="19050">
              <a:solidFill>
                <a:srgbClr val="0070C0"/>
              </a:solidFill>
              <a:round/>
              <a:tailEnd type="arrow" w="med" len="med"/>
            </a:ln>
            <a:extLst>
              <a:ext uri="{909E8E84-426E-40DD-AFC4-6F175D3DCCD1}">
                <a14:hiddenFill xmlns:a14="http://schemas.microsoft.com/office/drawing/2010/main">
                  <a:noFill/>
                </a14:hiddenFill>
              </a:ext>
            </a:extLst>
          </p:spPr>
        </p:cxnSp>
        <p:cxnSp>
          <p:nvCxnSpPr>
            <p:cNvPr id="18449" name="AutoShape 14"/>
            <p:cNvCxnSpPr>
              <a:cxnSpLocks noChangeShapeType="1"/>
            </p:cNvCxnSpPr>
            <p:nvPr/>
          </p:nvCxnSpPr>
          <p:spPr bwMode="auto">
            <a:xfrm>
              <a:off x="6270956" y="4306101"/>
              <a:ext cx="915666" cy="0"/>
            </a:xfrm>
            <a:prstGeom prst="straightConnector1">
              <a:avLst/>
            </a:prstGeom>
            <a:noFill/>
            <a:ln w="19050">
              <a:solidFill>
                <a:schemeClr val="tx1"/>
              </a:solidFill>
              <a:round/>
              <a:tailEnd type="arrow" w="med" len="med"/>
            </a:ln>
            <a:extLst>
              <a:ext uri="{909E8E84-426E-40DD-AFC4-6F175D3DCCD1}">
                <a14:hiddenFill xmlns:a14="http://schemas.microsoft.com/office/drawing/2010/main">
                  <a:noFill/>
                </a14:hiddenFill>
              </a:ext>
            </a:extLst>
          </p:spPr>
        </p:cxnSp>
        <p:cxnSp>
          <p:nvCxnSpPr>
            <p:cNvPr id="18450" name="AutoShape 15"/>
            <p:cNvCxnSpPr>
              <a:cxnSpLocks noChangeShapeType="1"/>
            </p:cNvCxnSpPr>
            <p:nvPr/>
          </p:nvCxnSpPr>
          <p:spPr bwMode="auto">
            <a:xfrm>
              <a:off x="6213202" y="4430879"/>
              <a:ext cx="476483" cy="1254131"/>
            </a:xfrm>
            <a:prstGeom prst="straightConnector1">
              <a:avLst/>
            </a:prstGeom>
            <a:noFill/>
            <a:ln w="19050">
              <a:solidFill>
                <a:srgbClr val="EAB200"/>
              </a:solidFill>
              <a:round/>
              <a:tailEnd type="arrow" w="med" len="med"/>
            </a:ln>
            <a:extLst>
              <a:ext uri="{909E8E84-426E-40DD-AFC4-6F175D3DCCD1}">
                <a14:hiddenFill xmlns:a14="http://schemas.microsoft.com/office/drawing/2010/main">
                  <a:noFill/>
                </a14:hiddenFill>
              </a:ext>
            </a:extLst>
          </p:spPr>
        </p:cxnSp>
        <p:cxnSp>
          <p:nvCxnSpPr>
            <p:cNvPr id="18451" name="AutoShape 16"/>
            <p:cNvCxnSpPr>
              <a:cxnSpLocks noChangeShapeType="1"/>
            </p:cNvCxnSpPr>
            <p:nvPr/>
          </p:nvCxnSpPr>
          <p:spPr bwMode="auto">
            <a:xfrm flipH="1">
              <a:off x="6777521" y="4430879"/>
              <a:ext cx="500549" cy="1254131"/>
            </a:xfrm>
            <a:prstGeom prst="straightConnector1">
              <a:avLst/>
            </a:prstGeom>
            <a:noFill/>
            <a:ln w="19050">
              <a:solidFill>
                <a:srgbClr val="EAB200"/>
              </a:solidFill>
              <a:round/>
              <a:tailEnd type="arrow" w="med" len="med"/>
            </a:ln>
            <a:extLst>
              <a:ext uri="{909E8E84-426E-40DD-AFC4-6F175D3DCCD1}">
                <a14:hiddenFill xmlns:a14="http://schemas.microsoft.com/office/drawing/2010/main">
                  <a:noFill/>
                </a14:hiddenFill>
              </a:ext>
            </a:extLst>
          </p:spPr>
        </p:cxnSp>
        <p:cxnSp>
          <p:nvCxnSpPr>
            <p:cNvPr id="18452" name="AutoShape 17"/>
            <p:cNvCxnSpPr>
              <a:cxnSpLocks noChangeShapeType="1"/>
            </p:cNvCxnSpPr>
            <p:nvPr/>
          </p:nvCxnSpPr>
          <p:spPr bwMode="auto">
            <a:xfrm>
              <a:off x="7426069" y="4430879"/>
              <a:ext cx="456027" cy="632795"/>
            </a:xfrm>
            <a:prstGeom prst="straightConnector1">
              <a:avLst/>
            </a:prstGeom>
            <a:noFill/>
            <a:ln w="19050">
              <a:solidFill>
                <a:schemeClr val="tx1"/>
              </a:solidFill>
              <a:round/>
              <a:tailEnd type="arrow" w="med" len="med"/>
            </a:ln>
            <a:extLst>
              <a:ext uri="{909E8E84-426E-40DD-AFC4-6F175D3DCCD1}">
                <a14:hiddenFill xmlns:a14="http://schemas.microsoft.com/office/drawing/2010/main">
                  <a:noFill/>
                </a14:hiddenFill>
              </a:ext>
            </a:extLst>
          </p:spPr>
        </p:cxnSp>
        <p:cxnSp>
          <p:nvCxnSpPr>
            <p:cNvPr id="18453" name="AutoShape 18"/>
            <p:cNvCxnSpPr>
              <a:cxnSpLocks noChangeShapeType="1"/>
            </p:cNvCxnSpPr>
            <p:nvPr/>
          </p:nvCxnSpPr>
          <p:spPr bwMode="auto">
            <a:xfrm flipV="1">
              <a:off x="6848513" y="5239379"/>
              <a:ext cx="1011925" cy="539849"/>
            </a:xfrm>
            <a:prstGeom prst="straightConnector1">
              <a:avLst/>
            </a:prstGeom>
            <a:noFill/>
            <a:ln w="19050">
              <a:solidFill>
                <a:srgbClr val="0070C0"/>
              </a:solidFill>
              <a:round/>
              <a:tailEnd type="arrow" w="med" len="med"/>
            </a:ln>
            <a:extLst>
              <a:ext uri="{909E8E84-426E-40DD-AFC4-6F175D3DCCD1}">
                <a14:hiddenFill xmlns:a14="http://schemas.microsoft.com/office/drawing/2010/main">
                  <a:noFill/>
                </a14:hiddenFill>
              </a:ext>
            </a:extLst>
          </p:spPr>
        </p:cxnSp>
        <p:cxnSp>
          <p:nvCxnSpPr>
            <p:cNvPr id="18454" name="AutoShape 25"/>
            <p:cNvCxnSpPr>
              <a:cxnSpLocks noChangeShapeType="1"/>
            </p:cNvCxnSpPr>
            <p:nvPr/>
          </p:nvCxnSpPr>
          <p:spPr bwMode="auto">
            <a:xfrm>
              <a:off x="5857043" y="5809785"/>
              <a:ext cx="752026" cy="0"/>
            </a:xfrm>
            <a:prstGeom prst="straightConnector1">
              <a:avLst/>
            </a:prstGeom>
            <a:noFill/>
            <a:ln w="19050">
              <a:solidFill>
                <a:schemeClr val="tx1"/>
              </a:solidFill>
              <a:round/>
              <a:tailEnd type="arrow" w="med" len="med"/>
            </a:ln>
            <a:extLst>
              <a:ext uri="{909E8E84-426E-40DD-AFC4-6F175D3DCCD1}">
                <a14:hiddenFill xmlns:a14="http://schemas.microsoft.com/office/drawing/2010/main">
                  <a:noFill/>
                </a14:hiddenFill>
              </a:ext>
            </a:extLst>
          </p:spPr>
        </p:cxnSp>
        <p:sp>
          <p:nvSpPr>
            <p:cNvPr id="18455" name="Text Box 33"/>
            <p:cNvSpPr txBox="1">
              <a:spLocks noChangeArrowheads="1"/>
            </p:cNvSpPr>
            <p:nvPr/>
          </p:nvSpPr>
          <p:spPr bwMode="auto">
            <a:xfrm>
              <a:off x="6357950" y="4000505"/>
              <a:ext cx="714380"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10,10</a:t>
              </a:r>
              <a:endParaRPr lang="zh-CN" altLang="zh-CN" sz="1800" b="1">
                <a:latin typeface="Arial" panose="020B0604020202020204" pitchFamily="34" charset="0"/>
              </a:endParaRPr>
            </a:p>
          </p:txBody>
        </p:sp>
        <p:sp>
          <p:nvSpPr>
            <p:cNvPr id="18456" name="Text Box 33"/>
            <p:cNvSpPr txBox="1">
              <a:spLocks noChangeArrowheads="1"/>
            </p:cNvSpPr>
            <p:nvPr/>
          </p:nvSpPr>
          <p:spPr bwMode="auto">
            <a:xfrm>
              <a:off x="5286380" y="4429144"/>
              <a:ext cx="634377"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8,8</a:t>
              </a:r>
              <a:endParaRPr lang="zh-CN" altLang="zh-CN" sz="1800" b="1">
                <a:latin typeface="Arial" panose="020B0604020202020204" pitchFamily="34" charset="0"/>
              </a:endParaRPr>
            </a:p>
          </p:txBody>
        </p:sp>
        <p:sp>
          <p:nvSpPr>
            <p:cNvPr id="18457" name="Text Box 33"/>
            <p:cNvSpPr txBox="1">
              <a:spLocks noChangeArrowheads="1"/>
            </p:cNvSpPr>
            <p:nvPr/>
          </p:nvSpPr>
          <p:spPr bwMode="auto">
            <a:xfrm>
              <a:off x="5509282" y="4857760"/>
              <a:ext cx="634354"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2,2</a:t>
              </a:r>
              <a:endParaRPr lang="zh-CN" altLang="zh-CN" sz="1800" b="1">
                <a:latin typeface="Arial" panose="020B0604020202020204" pitchFamily="34" charset="0"/>
              </a:endParaRPr>
            </a:p>
          </p:txBody>
        </p:sp>
        <p:sp>
          <p:nvSpPr>
            <p:cNvPr id="18458" name="Text Box 33"/>
            <p:cNvSpPr txBox="1">
              <a:spLocks noChangeArrowheads="1"/>
            </p:cNvSpPr>
            <p:nvPr/>
          </p:nvSpPr>
          <p:spPr bwMode="auto">
            <a:xfrm>
              <a:off x="4857752" y="5286394"/>
              <a:ext cx="746108" cy="35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cs typeface="Times New Roman" panose="02020603050405020304" pitchFamily="18" charset="0"/>
                </a:rPr>
                <a:t>12,10</a:t>
              </a:r>
              <a:endParaRPr lang="zh-CN" altLang="zh-CN" sz="1800" b="1">
                <a:latin typeface="Times New Roman" panose="02020603050405020304" pitchFamily="18" charset="0"/>
                <a:cs typeface="Times New Roman" panose="02020603050405020304" pitchFamily="18" charset="0"/>
              </a:endParaRPr>
            </a:p>
          </p:txBody>
        </p:sp>
        <p:sp>
          <p:nvSpPr>
            <p:cNvPr id="18459" name="Text Box 33"/>
            <p:cNvSpPr txBox="1">
              <a:spLocks noChangeArrowheads="1"/>
            </p:cNvSpPr>
            <p:nvPr/>
          </p:nvSpPr>
          <p:spPr bwMode="auto">
            <a:xfrm>
              <a:off x="5929322" y="5786454"/>
              <a:ext cx="634284"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10,8</a:t>
              </a:r>
              <a:endParaRPr lang="zh-CN" altLang="zh-CN" sz="1800" b="1">
                <a:latin typeface="Arial" panose="020B0604020202020204" pitchFamily="34" charset="0"/>
              </a:endParaRPr>
            </a:p>
          </p:txBody>
        </p:sp>
        <p:sp>
          <p:nvSpPr>
            <p:cNvPr id="18460" name="Text Box 33"/>
            <p:cNvSpPr txBox="1">
              <a:spLocks noChangeArrowheads="1"/>
            </p:cNvSpPr>
            <p:nvPr/>
          </p:nvSpPr>
          <p:spPr bwMode="auto">
            <a:xfrm>
              <a:off x="6072198" y="4929207"/>
              <a:ext cx="634261"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6,0</a:t>
              </a:r>
              <a:endParaRPr lang="zh-CN" altLang="zh-CN" sz="1800" b="1">
                <a:latin typeface="Arial" panose="020B0604020202020204" pitchFamily="34" charset="0"/>
              </a:endParaRPr>
            </a:p>
          </p:txBody>
        </p:sp>
        <p:sp>
          <p:nvSpPr>
            <p:cNvPr id="18461" name="Text Box 33"/>
            <p:cNvSpPr txBox="1">
              <a:spLocks noChangeArrowheads="1"/>
            </p:cNvSpPr>
            <p:nvPr/>
          </p:nvSpPr>
          <p:spPr bwMode="auto">
            <a:xfrm>
              <a:off x="7009702" y="4929207"/>
              <a:ext cx="634132"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2,0</a:t>
              </a:r>
              <a:endParaRPr lang="zh-CN" altLang="zh-CN" sz="1800" b="1">
                <a:latin typeface="Arial" panose="020B0604020202020204" pitchFamily="34" charset="0"/>
              </a:endParaRPr>
            </a:p>
          </p:txBody>
        </p:sp>
        <p:sp>
          <p:nvSpPr>
            <p:cNvPr id="18462" name="Text Box 33"/>
            <p:cNvSpPr txBox="1">
              <a:spLocks noChangeArrowheads="1"/>
            </p:cNvSpPr>
            <p:nvPr/>
          </p:nvSpPr>
          <p:spPr bwMode="auto">
            <a:xfrm>
              <a:off x="7612514" y="4500582"/>
              <a:ext cx="817138"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10,10</a:t>
              </a:r>
              <a:endParaRPr lang="zh-CN" altLang="zh-CN" sz="1800" b="1">
                <a:latin typeface="Arial" panose="020B0604020202020204" pitchFamily="34" charset="0"/>
              </a:endParaRPr>
            </a:p>
          </p:txBody>
        </p:sp>
        <p:sp>
          <p:nvSpPr>
            <p:cNvPr id="18463" name="Text Box 33"/>
            <p:cNvSpPr txBox="1">
              <a:spLocks noChangeArrowheads="1"/>
            </p:cNvSpPr>
            <p:nvPr/>
          </p:nvSpPr>
          <p:spPr bwMode="auto">
            <a:xfrm>
              <a:off x="7366950" y="5429268"/>
              <a:ext cx="705512" cy="428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8,8</a:t>
              </a:r>
              <a:endParaRPr lang="zh-CN" altLang="zh-CN" sz="1800" b="1">
                <a:latin typeface="Arial" panose="020B0604020202020204" pitchFamily="34" charset="0"/>
              </a:endParaRPr>
            </a:p>
          </p:txBody>
        </p:sp>
        <p:sp>
          <p:nvSpPr>
            <p:cNvPr id="18464" name="Text Box 33"/>
            <p:cNvSpPr txBox="1">
              <a:spLocks noChangeArrowheads="1"/>
            </p:cNvSpPr>
            <p:nvPr/>
          </p:nvSpPr>
          <p:spPr bwMode="auto">
            <a:xfrm>
              <a:off x="5152011" y="4857769"/>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i="1">
                  <a:latin typeface="Times New Roman" panose="02020603050405020304" pitchFamily="18" charset="0"/>
                </a:rPr>
                <a:t>s</a:t>
              </a:r>
              <a:endParaRPr lang="zh-CN" altLang="zh-CN" sz="1800" b="1" i="1">
                <a:latin typeface="Arial" panose="020B0604020202020204" pitchFamily="34" charset="0"/>
              </a:endParaRPr>
            </a:p>
          </p:txBody>
        </p:sp>
        <p:sp>
          <p:nvSpPr>
            <p:cNvPr id="18465" name="Text Box 33"/>
            <p:cNvSpPr txBox="1">
              <a:spLocks noChangeArrowheads="1"/>
            </p:cNvSpPr>
            <p:nvPr/>
          </p:nvSpPr>
          <p:spPr bwMode="auto">
            <a:xfrm>
              <a:off x="6009406" y="4143394"/>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1</a:t>
              </a:r>
              <a:endParaRPr lang="zh-CN" altLang="zh-CN" sz="1800" b="1">
                <a:latin typeface="Arial" panose="020B0604020202020204" pitchFamily="34" charset="0"/>
              </a:endParaRPr>
            </a:p>
          </p:txBody>
        </p:sp>
        <p:sp>
          <p:nvSpPr>
            <p:cNvPr id="18466" name="Text Box 33"/>
            <p:cNvSpPr txBox="1">
              <a:spLocks noChangeArrowheads="1"/>
            </p:cNvSpPr>
            <p:nvPr/>
          </p:nvSpPr>
          <p:spPr bwMode="auto">
            <a:xfrm>
              <a:off x="5611924" y="5643582"/>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2</a:t>
              </a:r>
              <a:endParaRPr lang="zh-CN" altLang="zh-CN" sz="1800" b="1">
                <a:latin typeface="Arial" panose="020B0604020202020204" pitchFamily="34" charset="0"/>
              </a:endParaRPr>
            </a:p>
          </p:txBody>
        </p:sp>
        <p:sp>
          <p:nvSpPr>
            <p:cNvPr id="18467" name="Text Box 33"/>
            <p:cNvSpPr txBox="1">
              <a:spLocks noChangeArrowheads="1"/>
            </p:cNvSpPr>
            <p:nvPr/>
          </p:nvSpPr>
          <p:spPr bwMode="auto">
            <a:xfrm>
              <a:off x="6581004" y="5643582"/>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3</a:t>
              </a:r>
              <a:endParaRPr lang="zh-CN" altLang="zh-CN" sz="1800" b="1">
                <a:latin typeface="Arial" panose="020B0604020202020204" pitchFamily="34" charset="0"/>
              </a:endParaRPr>
            </a:p>
          </p:txBody>
        </p:sp>
        <p:sp>
          <p:nvSpPr>
            <p:cNvPr id="18468" name="Text Box 33"/>
            <p:cNvSpPr txBox="1">
              <a:spLocks noChangeArrowheads="1"/>
            </p:cNvSpPr>
            <p:nvPr/>
          </p:nvSpPr>
          <p:spPr bwMode="auto">
            <a:xfrm>
              <a:off x="7152601" y="4143394"/>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4</a:t>
              </a:r>
              <a:endParaRPr lang="zh-CN" altLang="zh-CN" sz="1800" b="1">
                <a:latin typeface="Arial" panose="020B0604020202020204" pitchFamily="34" charset="0"/>
              </a:endParaRPr>
            </a:p>
          </p:txBody>
        </p:sp>
        <p:sp>
          <p:nvSpPr>
            <p:cNvPr id="18469" name="Text Box 33"/>
            <p:cNvSpPr txBox="1">
              <a:spLocks noChangeArrowheads="1"/>
            </p:cNvSpPr>
            <p:nvPr/>
          </p:nvSpPr>
          <p:spPr bwMode="auto">
            <a:xfrm>
              <a:off x="7826863" y="5000644"/>
              <a:ext cx="45991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i="1">
                  <a:latin typeface="Times New Roman" panose="02020603050405020304" pitchFamily="18" charset="0"/>
                </a:rPr>
                <a:t>t</a:t>
              </a:r>
              <a:endParaRPr lang="zh-CN" altLang="zh-CN" sz="1800" b="1" i="1">
                <a:latin typeface="Arial" panose="020B0604020202020204" pitchFamily="34" charset="0"/>
              </a:endParaRPr>
            </a:p>
          </p:txBody>
        </p:sp>
        <p:sp>
          <p:nvSpPr>
            <p:cNvPr id="18470" name="Text Box 33"/>
            <p:cNvSpPr txBox="1">
              <a:spLocks noChangeArrowheads="1"/>
            </p:cNvSpPr>
            <p:nvPr/>
          </p:nvSpPr>
          <p:spPr bwMode="auto">
            <a:xfrm>
              <a:off x="4572000" y="4572008"/>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zh-CN" altLang="en-US" sz="1800" b="1">
                  <a:latin typeface="Times New Roman" panose="02020603050405020304" pitchFamily="18" charset="0"/>
                  <a:sym typeface="Symbol" panose="05050102010706020507" pitchFamily="18" charset="2"/>
                </a:rPr>
                <a:t></a:t>
              </a:r>
              <a:r>
                <a:rPr lang="en-US" altLang="zh-CN" sz="1800" b="1">
                  <a:latin typeface="Times New Roman" panose="02020603050405020304" pitchFamily="18" charset="0"/>
                  <a:sym typeface="Symbol" panose="05050102010706020507" pitchFamily="18" charset="2"/>
                </a:rPr>
                <a:t>,+</a:t>
              </a:r>
              <a:r>
                <a:rPr lang="zh-CN" altLang="en-US" sz="1800" b="1">
                  <a:latin typeface="Times New Roman" panose="02020603050405020304" pitchFamily="18" charset="0"/>
                  <a:sym typeface="Symbol" panose="05050102010706020507" pitchFamily="18" charset="2"/>
                </a:rPr>
                <a:t></a:t>
              </a:r>
              <a:r>
                <a:rPr lang="en-US" altLang="zh-CN" sz="1800" b="1">
                  <a:latin typeface="Times New Roman" panose="02020603050405020304" pitchFamily="18" charset="0"/>
                  <a:sym typeface="Symbol" panose="05050102010706020507" pitchFamily="18" charset="2"/>
                </a:rPr>
                <a:t>)</a:t>
              </a:r>
              <a:endParaRPr lang="zh-CN" altLang="zh-CN" sz="1800" b="1">
                <a:latin typeface="Arial" panose="020B0604020202020204" pitchFamily="34" charset="0"/>
              </a:endParaRPr>
            </a:p>
          </p:txBody>
        </p:sp>
        <p:sp>
          <p:nvSpPr>
            <p:cNvPr id="18471" name="Text Box 33"/>
            <p:cNvSpPr txBox="1">
              <a:spLocks noChangeArrowheads="1"/>
            </p:cNvSpPr>
            <p:nvPr/>
          </p:nvSpPr>
          <p:spPr bwMode="auto">
            <a:xfrm>
              <a:off x="5152069" y="5929342"/>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i="1">
                  <a:latin typeface="Times New Roman" panose="02020603050405020304" pitchFamily="18" charset="0"/>
                  <a:sym typeface="Symbol" panose="05050102010706020507" pitchFamily="18" charset="2"/>
                </a:rPr>
                <a:t>s</a:t>
              </a:r>
              <a:r>
                <a:rPr lang="en-US" altLang="zh-CN" sz="1800" b="1">
                  <a:latin typeface="Times New Roman" panose="02020603050405020304" pitchFamily="18" charset="0"/>
                  <a:sym typeface="Symbol" panose="05050102010706020507" pitchFamily="18" charset="2"/>
                </a:rPr>
                <a:t>,2)</a:t>
              </a:r>
              <a:endParaRPr lang="zh-CN" altLang="zh-CN" sz="1800" b="1">
                <a:latin typeface="Arial" panose="020B0604020202020204" pitchFamily="34" charset="0"/>
              </a:endParaRPr>
            </a:p>
          </p:txBody>
        </p:sp>
        <p:sp>
          <p:nvSpPr>
            <p:cNvPr id="18472" name="Text Box 33"/>
            <p:cNvSpPr txBox="1">
              <a:spLocks noChangeArrowheads="1"/>
            </p:cNvSpPr>
            <p:nvPr/>
          </p:nvSpPr>
          <p:spPr bwMode="auto">
            <a:xfrm>
              <a:off x="6652267" y="5857892"/>
              <a:ext cx="777253" cy="3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a:latin typeface="Times New Roman" panose="02020603050405020304" pitchFamily="18" charset="0"/>
                </a:rPr>
                <a:t>(</a:t>
              </a:r>
              <a:r>
                <a:rPr lang="en-US" altLang="zh-CN" sz="1800" b="1">
                  <a:latin typeface="Times New Roman" panose="02020603050405020304" pitchFamily="18" charset="0"/>
                  <a:sym typeface="Symbol" panose="05050102010706020507" pitchFamily="18" charset="2"/>
                </a:rPr>
                <a:t>2,2)</a:t>
              </a:r>
              <a:endParaRPr lang="zh-CN" altLang="zh-CN" sz="1800" b="1">
                <a:latin typeface="Arial" panose="020B0604020202020204" pitchFamily="34" charset="0"/>
              </a:endParaRPr>
            </a:p>
          </p:txBody>
        </p:sp>
      </p:grpSp>
      <p:sp>
        <p:nvSpPr>
          <p:cNvPr id="18439" name="灯片编号占位符 14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6902064A-028C-4D3A-8A94-E4767F030CD4}"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ctrTitle"/>
          </p:nvPr>
        </p:nvSpPr>
        <p:spPr>
          <a:xfrm>
            <a:off x="687388" y="314325"/>
            <a:ext cx="7772400" cy="865188"/>
          </a:xfrm>
        </p:spPr>
        <p:txBody>
          <a:bodyPr/>
          <a:lstStyle/>
          <a:p>
            <a:pPr eaLnBrk="1" hangingPunct="1">
              <a:defRPr/>
            </a:pPr>
            <a:r>
              <a:rPr lang="en-US" sz="4000" b="1" dirty="0" smtClean="0">
                <a:solidFill>
                  <a:srgbClr val="C00000"/>
                </a:solidFill>
                <a:latin typeface="Times New Roman" panose="02020603050405020304" pitchFamily="18" charset="0"/>
                <a:ea typeface="+mn-ea"/>
                <a:cs typeface="Times New Roman" panose="02020603050405020304" pitchFamily="18" charset="0"/>
              </a:rPr>
              <a:t>FF</a:t>
            </a:r>
            <a:r>
              <a:rPr lang="zh-CN" altLang="en-US" sz="4000" b="1" dirty="0" smtClean="0">
                <a:solidFill>
                  <a:srgbClr val="C00000"/>
                </a:solidFill>
                <a:latin typeface="+mn-ea"/>
                <a:ea typeface="+mn-ea"/>
              </a:rPr>
              <a:t>算法的运行时间和有限终止性</a:t>
            </a:r>
            <a:endParaRPr lang="zh-CN" altLang="en-US" sz="4000" b="1" dirty="0" smtClean="0">
              <a:solidFill>
                <a:srgbClr val="C00000"/>
              </a:solidFill>
              <a:latin typeface="+mn-ea"/>
              <a:ea typeface="+mn-ea"/>
              <a:cs typeface="Times New Roman" panose="02020603050405020304" pitchFamily="18" charset="0"/>
            </a:endParaRPr>
          </a:p>
        </p:txBody>
      </p:sp>
      <p:sp>
        <p:nvSpPr>
          <p:cNvPr id="19459" name="副标题 2"/>
          <p:cNvSpPr>
            <a:spLocks noGrp="1"/>
          </p:cNvSpPr>
          <p:nvPr>
            <p:ph type="subTitle" idx="1"/>
          </p:nvPr>
        </p:nvSpPr>
        <p:spPr>
          <a:xfrm>
            <a:off x="684213" y="1341438"/>
            <a:ext cx="8002587" cy="5014912"/>
          </a:xfrm>
        </p:spPr>
        <p:txBody>
          <a:bodyPr/>
          <a:lstStyle/>
          <a:p>
            <a:pPr algn="l"/>
            <a:r>
              <a:rPr lang="zh-CN" altLang="en-US" sz="2400" b="1" smtClean="0">
                <a:solidFill>
                  <a:srgbClr val="C00000"/>
                </a:solidFill>
                <a:latin typeface="Times New Roman" panose="02020603050405020304" pitchFamily="18" charset="0"/>
                <a:cs typeface="Times New Roman" panose="02020603050405020304" pitchFamily="18" charset="0"/>
              </a:rPr>
              <a:t>假设所有容量都是正整数</a:t>
            </a:r>
            <a:r>
              <a:rPr lang="en-US" altLang="zh-CN" sz="2400" b="1" smtClean="0">
                <a:solidFill>
                  <a:srgbClr val="C00000"/>
                </a:solidFill>
                <a:latin typeface="Times New Roman" panose="02020603050405020304" pitchFamily="18" charset="0"/>
                <a:cs typeface="Times New Roman" panose="02020603050405020304" pitchFamily="18" charset="0"/>
              </a:rPr>
              <a:t>, </a:t>
            </a:r>
            <a:r>
              <a:rPr lang="zh-CN" altLang="en-US" sz="2400" b="1" smtClean="0">
                <a:solidFill>
                  <a:srgbClr val="C00000"/>
                </a:solidFill>
                <a:latin typeface="Times New Roman" panose="02020603050405020304" pitchFamily="18" charset="0"/>
                <a:cs typeface="Times New Roman" panose="02020603050405020304" pitchFamily="18" charset="0"/>
              </a:rPr>
              <a:t>则算法的时间复杂度为 </a:t>
            </a:r>
            <a:r>
              <a:rPr lang="en-US" altLang="zh-CN" sz="2400" b="1" i="1" smtClean="0">
                <a:solidFill>
                  <a:srgbClr val="C00000"/>
                </a:solidFill>
                <a:latin typeface="Times New Roman" panose="02020603050405020304" pitchFamily="18" charset="0"/>
                <a:cs typeface="Times New Roman" panose="02020603050405020304" pitchFamily="18" charset="0"/>
              </a:rPr>
              <a:t>O</a:t>
            </a:r>
            <a:r>
              <a:rPr lang="en-US" altLang="zh-CN" sz="2400" b="1" smtClean="0">
                <a:solidFill>
                  <a:srgbClr val="C00000"/>
                </a:solidFill>
                <a:latin typeface="Times New Roman" panose="02020603050405020304" pitchFamily="18" charset="0"/>
                <a:cs typeface="Times New Roman" panose="02020603050405020304" pitchFamily="18" charset="0"/>
              </a:rPr>
              <a:t>(</a:t>
            </a:r>
            <a:r>
              <a:rPr lang="en-US" altLang="zh-CN" sz="2400" b="1" i="1" smtClean="0">
                <a:solidFill>
                  <a:srgbClr val="C00000"/>
                </a:solidFill>
                <a:latin typeface="Times New Roman" panose="02020603050405020304" pitchFamily="18" charset="0"/>
                <a:cs typeface="Times New Roman" panose="02020603050405020304" pitchFamily="18" charset="0"/>
              </a:rPr>
              <a:t>mC</a:t>
            </a:r>
            <a:r>
              <a:rPr lang="en-US" altLang="zh-CN" sz="2400" b="1" smtClean="0">
                <a:solidFill>
                  <a:srgbClr val="C00000"/>
                </a:solidFill>
                <a:latin typeface="Times New Roman" panose="02020603050405020304" pitchFamily="18" charset="0"/>
                <a:cs typeface="Times New Roman" panose="02020603050405020304" pitchFamily="18" charset="0"/>
              </a:rPr>
              <a:t>).</a:t>
            </a:r>
            <a:endParaRPr lang="en-US" altLang="zh-CN" sz="2400" b="1" smtClean="0">
              <a:solidFill>
                <a:srgbClr val="C00000"/>
              </a:solidFill>
              <a:latin typeface="Times New Roman" panose="02020603050405020304" pitchFamily="18" charset="0"/>
              <a:cs typeface="Times New Roman" panose="02020603050405020304" pitchFamily="18" charset="0"/>
            </a:endParaRPr>
          </a:p>
          <a:p>
            <a:pPr algn="l">
              <a:lnSpc>
                <a:spcPct val="150000"/>
              </a:lnSpc>
              <a:spcBef>
                <a:spcPts val="1800"/>
              </a:spcBef>
            </a:pPr>
            <a:r>
              <a:rPr lang="zh-CN" altLang="en-US" sz="2400" b="1" smtClean="0">
                <a:solidFill>
                  <a:schemeClr val="tx1"/>
                </a:solidFill>
                <a:latin typeface="Times New Roman" panose="02020603050405020304" pitchFamily="18" charset="0"/>
                <a:cs typeface="Times New Roman" panose="02020603050405020304" pitchFamily="18" charset="0"/>
              </a:rPr>
              <a:t>令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lnSpc>
                <a:spcPts val="3200"/>
              </a:lnSpc>
              <a:spcBef>
                <a:spcPts val="1800"/>
              </a:spcBef>
            </a:pPr>
            <a:r>
              <a:rPr lang="zh-CN" altLang="en-US" sz="2400" b="1" smtClean="0">
                <a:solidFill>
                  <a:schemeClr val="tx1"/>
                </a:solidFill>
                <a:latin typeface="Times New Roman" panose="02020603050405020304" pitchFamily="18" charset="0"/>
                <a:cs typeface="Times New Roman" panose="02020603050405020304" pitchFamily="18" charset="0"/>
              </a:rPr>
              <a:t>最大流量 </a:t>
            </a:r>
            <a:r>
              <a:rPr lang="en-US" altLang="zh-CN" sz="2400" b="1" i="1" smtClean="0">
                <a:solidFill>
                  <a:schemeClr val="tx1"/>
                </a:solidFill>
                <a:latin typeface="Times New Roman" panose="02020603050405020304" pitchFamily="18" charset="0"/>
                <a:cs typeface="Times New Roman" panose="02020603050405020304" pitchFamily="18" charset="0"/>
              </a:rPr>
              <a:t>v</a:t>
            </a:r>
            <a:r>
              <a:rPr lang="en-US" altLang="zh-CN" sz="2400" b="1" baseline="30000" smtClean="0">
                <a:solidFill>
                  <a:schemeClr val="tx1"/>
                </a:solidFill>
                <a:latin typeface="Times New Roman" panose="02020603050405020304" pitchFamily="18" charset="0"/>
                <a:cs typeface="Times New Roman" panose="02020603050405020304" pitchFamily="18" charset="0"/>
              </a:rPr>
              <a: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rPr>
              <a:t>C</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计算中每次的修改量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smtClean="0">
                <a:solidFill>
                  <a:schemeClr val="tx1"/>
                </a:solidFill>
                <a:latin typeface="Times New Roman" panose="02020603050405020304" pitchFamily="18" charset="0"/>
                <a:cs typeface="Times New Roman" panose="02020603050405020304" pitchFamily="18" charset="0"/>
              </a:rPr>
              <a:t>也是正整数</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每个阶段流量至少增加 </a:t>
            </a:r>
            <a:r>
              <a:rPr lang="en-US" altLang="zh-CN" sz="2400" b="1" smtClean="0">
                <a:solidFill>
                  <a:schemeClr val="tx1"/>
                </a:solidFill>
                <a:latin typeface="Times New Roman" panose="02020603050405020304" pitchFamily="18" charset="0"/>
                <a:cs typeface="Times New Roman" panose="02020603050405020304" pitchFamily="18" charset="0"/>
              </a:rPr>
              <a:t>1,  </a:t>
            </a:r>
            <a:r>
              <a:rPr lang="zh-CN" altLang="en-US" sz="2400" b="1" smtClean="0">
                <a:solidFill>
                  <a:schemeClr val="tx1"/>
                </a:solidFill>
                <a:latin typeface="Times New Roman" panose="02020603050405020304" pitchFamily="18" charset="0"/>
                <a:cs typeface="Times New Roman" panose="02020603050405020304" pitchFamily="18" charset="0"/>
              </a:rPr>
              <a:t>至多有</a:t>
            </a:r>
            <a:r>
              <a:rPr lang="en-US" altLang="zh-CN" sz="2400" b="1" i="1" smtClean="0">
                <a:solidFill>
                  <a:schemeClr val="tx1"/>
                </a:solidFill>
                <a:latin typeface="Times New Roman" panose="02020603050405020304" pitchFamily="18" charset="0"/>
                <a:cs typeface="Times New Roman" panose="02020603050405020304" pitchFamily="18" charset="0"/>
              </a:rPr>
              <a:t>C</a:t>
            </a:r>
            <a:r>
              <a:rPr lang="zh-CN" altLang="en-US" sz="2400" b="1" smtClean="0">
                <a:solidFill>
                  <a:schemeClr val="tx1"/>
                </a:solidFill>
                <a:latin typeface="Times New Roman" panose="02020603050405020304" pitchFamily="18" charset="0"/>
                <a:cs typeface="Times New Roman" panose="02020603050405020304" pitchFamily="18" charset="0"/>
              </a:rPr>
              <a:t>个阶段</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而每个阶段标号和修改增广链上的流量可在</a:t>
            </a:r>
            <a:r>
              <a:rPr lang="en-US" altLang="zh-CN" sz="2400" b="1" i="1" smtClean="0">
                <a:solidFill>
                  <a:schemeClr val="tx1"/>
                </a:solidFill>
                <a:latin typeface="Times New Roman" panose="02020603050405020304" pitchFamily="18" charset="0"/>
                <a:cs typeface="Times New Roman" panose="02020603050405020304" pitchFamily="18" charset="0"/>
              </a:rPr>
              <a:t>O</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m</a:t>
            </a:r>
            <a:r>
              <a:rPr lang="en-US" altLang="zh-CN" sz="2400" b="1" smtClean="0">
                <a:solidFill>
                  <a:schemeClr val="tx1"/>
                </a:solidFill>
                <a:latin typeface="Times New Roman" panose="02020603050405020304" pitchFamily="18" charset="0"/>
                <a:cs typeface="Times New Roman" panose="02020603050405020304" pitchFamily="18" charset="0"/>
              </a:rPr>
              <a:t>)</a:t>
            </a:r>
            <a:r>
              <a:rPr lang="zh-CN" altLang="en-US" sz="2400" b="1" smtClean="0">
                <a:solidFill>
                  <a:schemeClr val="tx1"/>
                </a:solidFill>
                <a:latin typeface="Times New Roman" panose="02020603050405020304" pitchFamily="18" charset="0"/>
                <a:cs typeface="Times New Roman" panose="02020603050405020304" pitchFamily="18" charset="0"/>
              </a:rPr>
              <a:t>步内完成</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spcBef>
                <a:spcPts val="1800"/>
              </a:spcBef>
            </a:pPr>
            <a:r>
              <a:rPr lang="zh-CN" altLang="en-US" sz="2400" b="1" smtClean="0">
                <a:solidFill>
                  <a:schemeClr val="tx1"/>
                </a:solidFill>
                <a:latin typeface="Times New Roman" panose="02020603050405020304" pitchFamily="18" charset="0"/>
                <a:cs typeface="Times New Roman" panose="02020603050405020304" pitchFamily="18" charset="0"/>
              </a:rPr>
              <a:t>用计算机计算</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数的表示都有一定的精度</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以其精度为单位</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每个数都可看作整数</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因此</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上面的分析仍然有效</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算法总会在有限步内终止</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spcBef>
                <a:spcPts val="1800"/>
              </a:spcBef>
            </a:pPr>
            <a:r>
              <a:rPr lang="zh-CN" altLang="en-US" sz="2400" b="1" smtClean="0">
                <a:solidFill>
                  <a:schemeClr val="tx1"/>
                </a:solidFill>
                <a:latin typeface="Times New Roman" panose="02020603050405020304" pitchFamily="18" charset="0"/>
                <a:cs typeface="Times New Roman" panose="02020603050405020304" pitchFamily="18" charset="0"/>
              </a:rPr>
              <a:t>但在理论上</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当容量为无理数时</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可能越来越来小</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趋向于 </a:t>
            </a:r>
            <a:r>
              <a:rPr lang="en-US" altLang="zh-CN" sz="2400" b="1" smtClean="0">
                <a:solidFill>
                  <a:schemeClr val="tx1"/>
                </a:solidFill>
                <a:latin typeface="Times New Roman" panose="02020603050405020304" pitchFamily="18" charset="0"/>
                <a:cs typeface="Times New Roman" panose="02020603050405020304" pitchFamily="18" charset="0"/>
              </a:rPr>
              <a:t>0. </a:t>
            </a:r>
            <a:r>
              <a:rPr lang="zh-CN" altLang="en-US" sz="2400" b="1" smtClean="0">
                <a:solidFill>
                  <a:schemeClr val="tx1"/>
                </a:solidFill>
                <a:latin typeface="Times New Roman" panose="02020603050405020304" pitchFamily="18" charset="0"/>
                <a:cs typeface="Times New Roman" panose="02020603050405020304" pitchFamily="18" charset="0"/>
              </a:rPr>
              <a:t>实际上已给出这样的例子</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算法不能在有限步终止</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zh-CN" altLang="en-US" sz="2400" b="1" smtClean="0">
              <a:solidFill>
                <a:schemeClr val="tx1"/>
              </a:solidFill>
              <a:latin typeface="Times New Roman" panose="02020603050405020304" pitchFamily="18" charset="0"/>
              <a:cs typeface="Times New Roman" panose="02020603050405020304" pitchFamily="18" charset="0"/>
            </a:endParaRPr>
          </a:p>
        </p:txBody>
      </p:sp>
      <p:sp>
        <p:nvSpPr>
          <p:cNvPr id="19460"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19461" name="Object 4"/>
          <p:cNvGraphicFramePr>
            <a:graphicFrameLocks noChangeAspect="1"/>
          </p:cNvGraphicFramePr>
          <p:nvPr/>
        </p:nvGraphicFramePr>
        <p:xfrm>
          <a:off x="2771775" y="1973263"/>
          <a:ext cx="2170113" cy="785812"/>
        </p:xfrm>
        <a:graphic>
          <a:graphicData uri="http://schemas.openxmlformats.org/presentationml/2006/ole">
            <mc:AlternateContent xmlns:mc="http://schemas.openxmlformats.org/markup-compatibility/2006">
              <mc:Choice xmlns:v="urn:schemas-microsoft-com:vml" Requires="v">
                <p:oleObj spid="_x0000_s19464" name="Equation" r:id="rId1" imgW="977265" imgH="355600" progId="Equation.3">
                  <p:embed/>
                </p:oleObj>
              </mc:Choice>
              <mc:Fallback>
                <p:oleObj name="Equation" r:id="rId1" imgW="977265" imgH="355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775" y="1973263"/>
                        <a:ext cx="2170113"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554464CF-2031-4473-8AE9-1351A9116036}"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ctrTitle"/>
          </p:nvPr>
        </p:nvSpPr>
        <p:spPr>
          <a:xfrm>
            <a:off x="681038" y="263525"/>
            <a:ext cx="7772400" cy="865188"/>
          </a:xfrm>
        </p:spPr>
        <p:txBody>
          <a:bodyPr/>
          <a:lstStyle/>
          <a:p>
            <a:pPr eaLnBrk="1" hangingPunct="1"/>
            <a:r>
              <a:rPr lang="en-US" altLang="zh-CN" sz="4000" b="1" smtClean="0">
                <a:solidFill>
                  <a:srgbClr val="C00000"/>
                </a:solidFill>
                <a:latin typeface="Times New Roman" panose="02020603050405020304" pitchFamily="18" charset="0"/>
                <a:cs typeface="Times New Roman" panose="02020603050405020304" pitchFamily="18" charset="0"/>
              </a:rPr>
              <a:t>7.1.3 Dinic</a:t>
            </a:r>
            <a:r>
              <a:rPr lang="zh-CN" altLang="en-US" sz="4000" b="1" smtClean="0">
                <a:solidFill>
                  <a:srgbClr val="C00000"/>
                </a:solidFill>
                <a:latin typeface="Times New Roman" panose="02020603050405020304" pitchFamily="18" charset="0"/>
                <a:cs typeface="Times New Roman" panose="02020603050405020304" pitchFamily="18" charset="0"/>
              </a:rPr>
              <a:t>有效算法</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20483" name="副标题 2"/>
          <p:cNvSpPr>
            <a:spLocks noGrp="1"/>
          </p:cNvSpPr>
          <p:nvPr>
            <p:ph type="subTitle" idx="1"/>
          </p:nvPr>
        </p:nvSpPr>
        <p:spPr>
          <a:xfrm>
            <a:off x="684213" y="1393825"/>
            <a:ext cx="7775575" cy="4843463"/>
          </a:xfrm>
        </p:spPr>
        <p:txBody>
          <a:bodyPr/>
          <a:lstStyle/>
          <a:p>
            <a:pPr algn="l" eaLnBrk="1" hangingPunct="1"/>
            <a:r>
              <a:rPr lang="zh-CN" altLang="en-US" sz="2400" b="1" dirty="0" smtClean="0">
                <a:solidFill>
                  <a:schemeClr val="tx1"/>
                </a:solidFill>
                <a:latin typeface="Times New Roman" panose="02020603050405020304" pitchFamily="18" charset="0"/>
                <a:cs typeface="Times New Roman" panose="02020603050405020304" pitchFamily="18" charset="0"/>
              </a:rPr>
              <a:t>两点改进</a:t>
            </a:r>
            <a:r>
              <a:rPr lang="en-US" altLang="zh-CN" sz="2400" b="1" dirty="0" smtClean="0">
                <a:solidFill>
                  <a:schemeClr val="tx1"/>
                </a:solidFill>
                <a:latin typeface="Times New Roman" panose="02020603050405020304" pitchFamily="18" charset="0"/>
                <a:cs typeface="Times New Roman" panose="02020603050405020304" pitchFamily="18" charset="0"/>
              </a:rPr>
              <a:t>: </a:t>
            </a:r>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dirty="0" smtClean="0">
                <a:solidFill>
                  <a:schemeClr val="tx1"/>
                </a:solidFill>
                <a:latin typeface="Times New Roman" panose="02020603050405020304" pitchFamily="18" charset="0"/>
                <a:cs typeface="Times New Roman" panose="02020603050405020304" pitchFamily="18" charset="0"/>
              </a:rPr>
              <a:t>1. </a:t>
            </a:r>
            <a:r>
              <a:rPr lang="zh-CN" altLang="en-US" sz="2400" b="1" dirty="0" smtClean="0">
                <a:solidFill>
                  <a:schemeClr val="tx1"/>
                </a:solidFill>
                <a:latin typeface="Times New Roman" panose="02020603050405020304" pitchFamily="18" charset="0"/>
                <a:cs typeface="Times New Roman" panose="02020603050405020304" pitchFamily="18" charset="0"/>
              </a:rPr>
              <a:t>每次求最短的 </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t </a:t>
            </a:r>
            <a:r>
              <a:rPr lang="zh-CN" altLang="en-US" sz="2400" b="1" dirty="0" smtClean="0">
                <a:solidFill>
                  <a:schemeClr val="tx1"/>
                </a:solidFill>
                <a:latin typeface="Times New Roman" panose="02020603050405020304" pitchFamily="18" charset="0"/>
                <a:cs typeface="Times New Roman" panose="02020603050405020304" pitchFamily="18" charset="0"/>
              </a:rPr>
              <a:t>增广链</a:t>
            </a:r>
            <a:r>
              <a:rPr lang="en-US" altLang="zh-CN" sz="2400" b="1" dirty="0" smtClean="0">
                <a:solidFill>
                  <a:schemeClr val="tx1"/>
                </a:solidFill>
                <a:latin typeface="Times New Roman" panose="02020603050405020304" pitchFamily="18" charset="0"/>
                <a:cs typeface="Times New Roman" panose="02020603050405020304" pitchFamily="18" charset="0"/>
              </a:rPr>
              <a:t>.  </a:t>
            </a:r>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dirty="0" smtClean="0">
                <a:solidFill>
                  <a:schemeClr val="tx1"/>
                </a:solidFill>
                <a:latin typeface="Times New Roman" panose="02020603050405020304" pitchFamily="18" charset="0"/>
                <a:cs typeface="Times New Roman" panose="02020603050405020304" pitchFamily="18" charset="0"/>
              </a:rPr>
              <a:t>2. </a:t>
            </a:r>
            <a:r>
              <a:rPr lang="zh-CN" altLang="en-US" sz="2400" b="1" dirty="0" smtClean="0">
                <a:solidFill>
                  <a:schemeClr val="tx1"/>
                </a:solidFill>
                <a:latin typeface="Times New Roman" panose="02020603050405020304" pitchFamily="18" charset="0"/>
                <a:cs typeface="Times New Roman" panose="02020603050405020304" pitchFamily="18" charset="0"/>
              </a:rPr>
              <a:t>一次标号尽可能修改多条 </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t </a:t>
            </a:r>
            <a:r>
              <a:rPr lang="zh-CN" altLang="en-US" sz="2400" b="1" dirty="0" smtClean="0">
                <a:solidFill>
                  <a:schemeClr val="tx1"/>
                </a:solidFill>
                <a:latin typeface="Times New Roman" panose="02020603050405020304" pitchFamily="18" charset="0"/>
                <a:cs typeface="Times New Roman" panose="02020603050405020304" pitchFamily="18" charset="0"/>
              </a:rPr>
              <a:t>增广链上的流量</a:t>
            </a:r>
            <a:r>
              <a:rPr lang="en-US" altLang="zh-CN" sz="2400" b="1" dirty="0" smtClean="0">
                <a:solidFill>
                  <a:schemeClr val="tx1"/>
                </a:solidFill>
                <a:latin typeface="Times New Roman" panose="02020603050405020304" pitchFamily="18" charset="0"/>
                <a:cs typeface="Times New Roman" panose="02020603050405020304" pitchFamily="18" charset="0"/>
              </a:rPr>
              <a:t>. </a:t>
            </a:r>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a:spcBef>
                <a:spcPts val="1800"/>
              </a:spcBef>
            </a:pPr>
            <a:r>
              <a:rPr lang="zh-CN" altLang="en-US" sz="2400" b="1" dirty="0" smtClean="0">
                <a:solidFill>
                  <a:srgbClr val="C00000"/>
                </a:solidFill>
                <a:latin typeface="Times New Roman" panose="02020603050405020304" pitchFamily="18" charset="0"/>
                <a:cs typeface="Times New Roman" panose="02020603050405020304" pitchFamily="18" charset="0"/>
              </a:rPr>
              <a:t>定义</a:t>
            </a:r>
            <a:r>
              <a:rPr lang="en-US" altLang="zh-CN" sz="2400" b="1" dirty="0" smtClean="0">
                <a:solidFill>
                  <a:srgbClr val="C00000"/>
                </a:solidFill>
                <a:latin typeface="Times New Roman" panose="02020603050405020304" pitchFamily="18" charset="0"/>
                <a:cs typeface="Times New Roman" panose="02020603050405020304" pitchFamily="18" charset="0"/>
              </a:rPr>
              <a:t>7.4</a:t>
            </a:r>
            <a:r>
              <a:rPr lang="zh-CN" altLang="en-US" sz="2400" b="1" dirty="0" smtClean="0">
                <a:solidFill>
                  <a:srgbClr val="C00000"/>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关于 </a:t>
            </a:r>
            <a:r>
              <a:rPr lang="en-US" altLang="zh-CN" sz="2400" b="1" i="1" dirty="0" smtClean="0">
                <a:solidFill>
                  <a:schemeClr val="tx1"/>
                </a:solidFill>
                <a:latin typeface="Times New Roman" panose="02020603050405020304" pitchFamily="18" charset="0"/>
                <a:cs typeface="Times New Roman" panose="02020603050405020304" pitchFamily="18" charset="0"/>
              </a:rPr>
              <a:t>f </a:t>
            </a:r>
            <a:r>
              <a:rPr lang="zh-CN" altLang="en-US" sz="2400" b="1" dirty="0" smtClean="0">
                <a:solidFill>
                  <a:schemeClr val="tx1"/>
                </a:solidFill>
                <a:latin typeface="Times New Roman" panose="02020603050405020304" pitchFamily="18" charset="0"/>
                <a:cs typeface="Times New Roman" panose="02020603050405020304" pitchFamily="18" charset="0"/>
              </a:rPr>
              <a:t>的</a:t>
            </a:r>
            <a:r>
              <a:rPr lang="zh-CN" altLang="en-US" sz="2400" b="1" dirty="0" smtClean="0">
                <a:solidFill>
                  <a:srgbClr val="C00000"/>
                </a:solidFill>
                <a:latin typeface="Times New Roman" panose="02020603050405020304" pitchFamily="18" charset="0"/>
                <a:cs typeface="Times New Roman" panose="02020603050405020304" pitchFamily="18" charset="0"/>
              </a:rPr>
              <a:t>辅助网络 </a:t>
            </a:r>
            <a:r>
              <a:rPr lang="en-US" altLang="zh-CN" sz="2400" b="1" i="1" dirty="0" smtClean="0">
                <a:solidFill>
                  <a:schemeClr val="tx1"/>
                </a:solidFill>
                <a:latin typeface="Times New Roman" panose="02020603050405020304" pitchFamily="18" charset="0"/>
                <a:cs typeface="Times New Roman" panose="02020603050405020304" pitchFamily="18" charset="0"/>
              </a:rPr>
              <a:t>N</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f</a:t>
            </a:r>
            <a:r>
              <a:rPr lang="en-US" altLang="zh-CN" sz="2400" b="1" dirty="0" smtClean="0">
                <a:solidFill>
                  <a:schemeClr val="tx1"/>
                </a:solidFill>
                <a:latin typeface="Times New Roman" panose="02020603050405020304" pitchFamily="18" charset="0"/>
                <a:cs typeface="Times New Roman" panose="02020603050405020304" pitchFamily="18" charset="0"/>
              </a:rPr>
              <a:t>) = &lt;</a:t>
            </a:r>
            <a:r>
              <a:rPr lang="en-US" altLang="zh-CN" sz="2400" b="1" i="1" dirty="0" smtClean="0">
                <a:solidFill>
                  <a:schemeClr val="tx1"/>
                </a:solidFill>
                <a:latin typeface="Times New Roman" panose="02020603050405020304" pitchFamily="18" charset="0"/>
                <a:cs typeface="Times New Roman" panose="02020603050405020304" pitchFamily="18" charset="0"/>
              </a:rPr>
              <a:t>V</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E</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f</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ac</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t</a:t>
            </a:r>
            <a:r>
              <a:rPr lang="en-US" altLang="zh-CN" sz="2400" b="1" dirty="0" smtClean="0">
                <a:solidFill>
                  <a:schemeClr val="tx1"/>
                </a:solidFill>
                <a:latin typeface="Times New Roman" panose="02020603050405020304" pitchFamily="18" charset="0"/>
                <a:cs typeface="Times New Roman" panose="02020603050405020304" pitchFamily="18" charset="0"/>
              </a:rPr>
              <a:t>&gt;, </a:t>
            </a:r>
            <a:r>
              <a:rPr lang="zh-CN" altLang="en-US" sz="2400" b="1" dirty="0" smtClean="0">
                <a:solidFill>
                  <a:schemeClr val="tx1"/>
                </a:solidFill>
                <a:latin typeface="Times New Roman" panose="02020603050405020304" pitchFamily="18" charset="0"/>
                <a:cs typeface="Times New Roman" panose="02020603050405020304" pitchFamily="18" charset="0"/>
              </a:rPr>
              <a:t>其中</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E</a:t>
            </a:r>
            <a:r>
              <a:rPr lang="en-US" altLang="zh-CN" sz="2400" b="1" baseline="30000" dirty="0" smtClean="0">
                <a:solidFill>
                  <a:schemeClr val="tx1"/>
                </a:solidFill>
                <a:latin typeface="Times New Roman" panose="02020603050405020304" pitchFamily="18" charset="0"/>
                <a:cs typeface="Times New Roman" panose="02020603050405020304" pitchFamily="18" charset="0"/>
              </a:rPr>
              <a:t>+</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f</a:t>
            </a:r>
            <a:r>
              <a:rPr lang="en-US" altLang="zh-CN" sz="2400" b="1" dirty="0" smtClean="0">
                <a:solidFill>
                  <a:schemeClr val="tx1"/>
                </a:solidFill>
                <a:latin typeface="Times New Roman" panose="02020603050405020304" pitchFamily="18" charset="0"/>
                <a:cs typeface="Times New Roman" panose="02020603050405020304" pitchFamily="18" charset="0"/>
              </a:rPr>
              <a:t>) = { &lt;</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&gt; | &lt;</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&gt;</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solidFill>
                  <a:schemeClr val="tx1"/>
                </a:solidFill>
                <a:latin typeface="Times New Roman" panose="02020603050405020304" pitchFamily="18" charset="0"/>
                <a:cs typeface="Times New Roman" panose="02020603050405020304" pitchFamily="18" charset="0"/>
              </a:rPr>
              <a:t>E</a:t>
            </a:r>
            <a:r>
              <a:rPr lang="zh-CN" altLang="en-US" sz="2400" b="1" dirty="0" smtClean="0">
                <a:solidFill>
                  <a:schemeClr val="tx1"/>
                </a:solidFill>
                <a:latin typeface="Times New Roman" panose="02020603050405020304" pitchFamily="18" charset="0"/>
                <a:cs typeface="Times New Roman" panose="02020603050405020304" pitchFamily="18" charset="0"/>
              </a:rPr>
              <a:t>且 </a:t>
            </a:r>
            <a:r>
              <a:rPr lang="en-US" altLang="zh-CN" sz="2400" b="1" i="1" dirty="0" smtClean="0">
                <a:solidFill>
                  <a:schemeClr val="tx1"/>
                </a:solidFill>
                <a:latin typeface="Times New Roman" panose="02020603050405020304" pitchFamily="18" charset="0"/>
                <a:cs typeface="Times New Roman" panose="02020603050405020304" pitchFamily="18" charset="0"/>
              </a:rPr>
              <a:t>f</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 &lt; </a:t>
            </a:r>
            <a:r>
              <a:rPr lang="en-US" altLang="zh-CN" sz="2400" b="1" i="1" dirty="0" smtClean="0">
                <a:solidFill>
                  <a:schemeClr val="tx1"/>
                </a:solidFill>
                <a:latin typeface="Times New Roman" panose="02020603050405020304" pitchFamily="18" charset="0"/>
                <a:cs typeface="Times New Roman" panose="02020603050405020304" pitchFamily="18" charset="0"/>
              </a:rPr>
              <a:t>c</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 }</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E</a:t>
            </a:r>
            <a:r>
              <a:rPr lang="en-US" altLang="zh-CN" sz="2400" b="1" baseline="30000"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f</a:t>
            </a:r>
            <a:r>
              <a:rPr lang="en-US" altLang="zh-CN" sz="2400" b="1" dirty="0" smtClean="0">
                <a:solidFill>
                  <a:schemeClr val="tx1"/>
                </a:solidFill>
                <a:latin typeface="Times New Roman" panose="02020603050405020304" pitchFamily="18" charset="0"/>
                <a:cs typeface="Times New Roman" panose="02020603050405020304" pitchFamily="18" charset="0"/>
              </a:rPr>
              <a:t>) = { &lt;</a:t>
            </a:r>
            <a:r>
              <a:rPr lang="en-US" altLang="zh-CN" sz="2400" b="1" i="1" dirty="0"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&gt; | &lt;</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&gt;</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solidFill>
                  <a:schemeClr val="tx1"/>
                </a:solidFill>
                <a:latin typeface="Times New Roman" panose="02020603050405020304" pitchFamily="18" charset="0"/>
                <a:cs typeface="Times New Roman" panose="02020603050405020304" pitchFamily="18" charset="0"/>
              </a:rPr>
              <a:t>E</a:t>
            </a:r>
            <a:r>
              <a:rPr lang="zh-CN" altLang="en-US" sz="2400" b="1" dirty="0" smtClean="0">
                <a:solidFill>
                  <a:schemeClr val="tx1"/>
                </a:solidFill>
                <a:latin typeface="Times New Roman" panose="02020603050405020304" pitchFamily="18" charset="0"/>
                <a:cs typeface="Times New Roman" panose="02020603050405020304" pitchFamily="18" charset="0"/>
              </a:rPr>
              <a:t>且 </a:t>
            </a:r>
            <a:r>
              <a:rPr lang="en-US" altLang="zh-CN" sz="2400" b="1" i="1" dirty="0" smtClean="0">
                <a:solidFill>
                  <a:schemeClr val="tx1"/>
                </a:solidFill>
                <a:latin typeface="Times New Roman" panose="02020603050405020304" pitchFamily="18" charset="0"/>
                <a:cs typeface="Times New Roman" panose="02020603050405020304" pitchFamily="18" charset="0"/>
              </a:rPr>
              <a:t>f</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err="1" smtClean="0">
                <a:solidFill>
                  <a:schemeClr val="tx1"/>
                </a:solidFill>
                <a:latin typeface="Times New Roman" panose="02020603050405020304" pitchFamily="18" charset="0"/>
                <a:cs typeface="Times New Roman" panose="02020603050405020304" pitchFamily="18" charset="0"/>
              </a:rPr>
              <a:t>i</a:t>
            </a:r>
            <a:r>
              <a:rPr lang="en-US" altLang="zh-CN" sz="2400" b="1" dirty="0" err="1" smtClean="0">
                <a:solidFill>
                  <a:schemeClr val="tx1"/>
                </a:solidFill>
                <a:latin typeface="Times New Roman" panose="02020603050405020304" pitchFamily="18" charset="0"/>
                <a:cs typeface="Times New Roman" panose="02020603050405020304" pitchFamily="18" charset="0"/>
              </a:rPr>
              <a:t>,</a:t>
            </a:r>
            <a:r>
              <a:rPr lang="en-US" altLang="zh-CN" sz="2400" b="1" i="1" dirty="0" err="1" smtClean="0">
                <a:solidFill>
                  <a:schemeClr val="tx1"/>
                </a:solidFill>
                <a:latin typeface="Times New Roman" panose="02020603050405020304" pitchFamily="18" charset="0"/>
                <a:cs typeface="Times New Roman" panose="02020603050405020304" pitchFamily="18" charset="0"/>
              </a:rPr>
              <a:t>j</a:t>
            </a:r>
            <a:r>
              <a:rPr lang="en-US" altLang="zh-CN" sz="2400" b="1" dirty="0" smtClean="0">
                <a:solidFill>
                  <a:schemeClr val="tx1"/>
                </a:solidFill>
                <a:latin typeface="Times New Roman" panose="02020603050405020304" pitchFamily="18" charset="0"/>
                <a:cs typeface="Times New Roman" panose="02020603050405020304" pitchFamily="18" charset="0"/>
              </a:rPr>
              <a:t>) &gt; 0 }</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E</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f</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 E</a:t>
            </a:r>
            <a:r>
              <a:rPr lang="en-US" altLang="zh-CN" sz="2400" b="1" baseline="30000" dirty="0" smtClean="0">
                <a:solidFill>
                  <a:schemeClr val="tx1"/>
                </a:solidFill>
                <a:latin typeface="Times New Roman" panose="02020603050405020304" pitchFamily="18" charset="0"/>
                <a:cs typeface="Times New Roman" panose="02020603050405020304" pitchFamily="18" charset="0"/>
              </a:rPr>
              <a:t>+</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f</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E</a:t>
            </a:r>
            <a:r>
              <a:rPr lang="en-US" altLang="zh-CN" sz="2400" b="1" baseline="30000"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f</a:t>
            </a:r>
            <a:r>
              <a:rPr lang="en-US" altLang="zh-CN" sz="2400" b="1" dirty="0" smtClean="0">
                <a:solidFill>
                  <a:schemeClr val="tx1"/>
                </a:solidFill>
                <a:latin typeface="Times New Roman" panose="02020603050405020304" pitchFamily="18" charset="0"/>
                <a:cs typeface="Times New Roman" panose="02020603050405020304" pitchFamily="18" charset="0"/>
              </a:rPr>
              <a:t>)</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r>
              <a:rPr lang="en-US" altLang="zh-CN" sz="2400" b="1" dirty="0" smtClean="0">
                <a:solidFill>
                  <a:schemeClr val="tx1"/>
                </a:solidFill>
                <a:latin typeface="Times New Roman" panose="02020603050405020304" pitchFamily="18" charset="0"/>
                <a:cs typeface="Times New Roman" panose="02020603050405020304" pitchFamily="18" charset="0"/>
              </a:rPr>
              <a:t>             </a:t>
            </a:r>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spcBef>
                <a:spcPts val="1800"/>
              </a:spcBef>
            </a:pPr>
            <a:r>
              <a:rPr lang="en-US" altLang="zh-CN" sz="2400" b="1" i="1" dirty="0" smtClean="0">
                <a:solidFill>
                  <a:schemeClr val="tx1"/>
                </a:solidFill>
                <a:latin typeface="Times New Roman" panose="02020603050405020304" pitchFamily="18" charset="0"/>
                <a:cs typeface="Times New Roman" panose="02020603050405020304" pitchFamily="18" charset="0"/>
              </a:rPr>
              <a:t>ac </a:t>
            </a:r>
            <a:r>
              <a:rPr lang="zh-CN" altLang="en-US" sz="2400" b="1" dirty="0" smtClean="0">
                <a:solidFill>
                  <a:schemeClr val="tx1"/>
                </a:solidFill>
                <a:latin typeface="Times New Roman" panose="02020603050405020304" pitchFamily="18" charset="0"/>
                <a:cs typeface="Times New Roman" panose="02020603050405020304" pitchFamily="18" charset="0"/>
              </a:rPr>
              <a:t>称作</a:t>
            </a:r>
            <a:r>
              <a:rPr lang="zh-CN" altLang="en-US" sz="2400" b="1" dirty="0" smtClean="0">
                <a:solidFill>
                  <a:srgbClr val="C00000"/>
                </a:solidFill>
                <a:latin typeface="Times New Roman" panose="02020603050405020304" pitchFamily="18" charset="0"/>
                <a:cs typeface="Times New Roman" panose="02020603050405020304" pitchFamily="18" charset="0"/>
              </a:rPr>
              <a:t>辅助容量</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N</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f</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也是容量网络</a:t>
            </a:r>
            <a:r>
              <a:rPr lang="en-US" altLang="zh-CN" sz="2400" b="1" dirty="0" smtClean="0">
                <a:solidFill>
                  <a:schemeClr val="tx1"/>
                </a:solidFill>
                <a:latin typeface="Times New Roman" panose="02020603050405020304" pitchFamily="18" charset="0"/>
                <a:cs typeface="Times New Roman" panose="02020603050405020304" pitchFamily="18" charset="0"/>
              </a:rPr>
              <a:t>.</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p:txBody>
      </p:sp>
      <p:sp>
        <p:nvSpPr>
          <p:cNvPr id="20484"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20485" name="Object 4"/>
          <p:cNvGraphicFramePr>
            <a:graphicFrameLocks noChangeAspect="1"/>
          </p:cNvGraphicFramePr>
          <p:nvPr/>
        </p:nvGraphicFramePr>
        <p:xfrm>
          <a:off x="1701800" y="4668838"/>
          <a:ext cx="5888038" cy="1000125"/>
        </p:xfrm>
        <a:graphic>
          <a:graphicData uri="http://schemas.openxmlformats.org/presentationml/2006/ole">
            <mc:AlternateContent xmlns:mc="http://schemas.openxmlformats.org/markup-compatibility/2006">
              <mc:Choice xmlns:v="urn:schemas-microsoft-com:vml" Requires="v">
                <p:oleObj spid="_x0000_s20488" name="Equation" r:id="rId1" imgW="2971800" imgH="508000" progId="Equation.3">
                  <p:embed/>
                </p:oleObj>
              </mc:Choice>
              <mc:Fallback>
                <p:oleObj name="Equation" r:id="rId1" imgW="2971800" imgH="5080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1800" y="4668838"/>
                        <a:ext cx="5888038"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6"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C790742B-97EB-4169-ACFA-4A29158CB307}"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ctrTitle"/>
          </p:nvPr>
        </p:nvSpPr>
        <p:spPr>
          <a:xfrm>
            <a:off x="685800" y="188640"/>
            <a:ext cx="7772400" cy="865188"/>
          </a:xfrm>
        </p:spPr>
        <p:txBody>
          <a:bodyPr/>
          <a:lstStyle/>
          <a:p>
            <a:pPr eaLnBrk="1" hangingPunct="1"/>
            <a:r>
              <a:rPr lang="zh-CN" altLang="en-US" sz="4000" b="1" dirty="0" smtClean="0">
                <a:solidFill>
                  <a:srgbClr val="C00000"/>
                </a:solidFill>
                <a:latin typeface="Times New Roman" panose="02020603050405020304" pitchFamily="18" charset="0"/>
                <a:cs typeface="Times New Roman" panose="02020603050405020304" pitchFamily="18" charset="0"/>
              </a:rPr>
              <a:t>引理</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
        <p:nvSpPr>
          <p:cNvPr id="21508"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1512" name="灯片编号占位符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95CE54C7-3320-4E93-9533-0C144A20DED0}" type="slidenum">
              <a:rPr lang="zh-CN" altLang="en-US" sz="1200" smtClean="0">
                <a:solidFill>
                  <a:srgbClr val="898989"/>
                </a:solidFill>
              </a:rPr>
            </a:fld>
            <a:endParaRPr lang="zh-CN" altLang="en-US" sz="1200" smtClean="0">
              <a:solidFill>
                <a:srgbClr val="898989"/>
              </a:solidFill>
            </a:endParaRPr>
          </a:p>
        </p:txBody>
      </p:sp>
      <mc:AlternateContent xmlns:mc="http://schemas.openxmlformats.org/markup-compatibility/2006">
        <mc:Choice xmlns:a14="http://schemas.microsoft.com/office/drawing/2010/main" Requires="a14">
          <p:sp>
            <p:nvSpPr>
              <p:cNvPr id="10" name="Rectangle 21"/>
              <p:cNvSpPr>
                <a:spLocks noChangeArrowheads="1"/>
              </p:cNvSpPr>
              <p:nvPr/>
            </p:nvSpPr>
            <p:spPr bwMode="auto">
              <a:xfrm>
                <a:off x="539552" y="1071336"/>
                <a:ext cx="8238014"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algn="l" defTabSz="914400" rtl="0" eaLnBrk="0" fontAlgn="base" latinLnBrk="0" hangingPunct="0">
                  <a:lnSpc>
                    <a:spcPct val="100000"/>
                  </a:lnSpc>
                  <a:spcBef>
                    <a:spcPct val="0"/>
                  </a:spcBef>
                  <a:spcAft>
                    <a:spcPct val="0"/>
                  </a:spcAft>
                  <a:buClrTx/>
                  <a:buSzTx/>
                  <a:buFontTx/>
                  <a:buNone/>
                </a:pPr>
                <a:r>
                  <a:rPr kumimoji="0" lang="zh-CN" altLang="zh-CN" sz="2400" b="1" i="0" u="none" strike="noStrike" cap="none" normalizeH="0" baseline="0" dirty="0" smtClean="0">
                    <a:ln>
                      <a:noFill/>
                    </a:ln>
                    <a:solidFill>
                      <a:srgbClr val="C00000"/>
                    </a:solidFill>
                    <a:effectLst/>
                    <a:latin typeface="黑体" panose="02010609060101010101" pitchFamily="49" charset="-122"/>
                    <a:ea typeface="宋体" panose="02010600030101010101" pitchFamily="2" charset="-122"/>
                    <a:cs typeface="Times New Roman" panose="02020603050405020304" pitchFamily="18" charset="0"/>
                  </a:rPr>
                  <a:t>引理</a:t>
                </a:r>
                <a:r>
                  <a:rPr kumimoji="0" lang="en-US" altLang="zh-CN" sz="2400" b="1" i="0" u="none" strike="noStrike" cap="none" normalizeH="0" baseline="0" dirty="0" smtClean="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7.4  </a:t>
                </a: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设 </a:t>
                </a:r>
                <a:r>
                  <a:rPr kumimoji="0" lang="en-US" altLang="zh-CN" sz="24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 </a:t>
                </a: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的最大流量为 </a:t>
                </a:r>
                <a:r>
                  <a:rPr kumimoji="0" lang="en-US" altLang="zh-CN" sz="24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400" b="1"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 </a:t>
                </a: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是可行流</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则 </a:t>
                </a:r>
                <a:r>
                  <a:rPr kumimoji="0" lang="en-US" altLang="zh-CN" sz="24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的最大流量为 </a:t>
                </a:r>
                <a:r>
                  <a:rPr kumimoji="0" lang="en-US" altLang="zh-CN" sz="24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400" b="1"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400" b="1" i="0" u="none" strike="noStrike" cap="none" normalizeH="0" baseline="0" dirty="0" smtClean="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p>
                <a:pPr>
                  <a:spcBef>
                    <a:spcPts val="1200"/>
                  </a:spcBef>
                </a:pPr>
                <a:r>
                  <a:rPr kumimoji="0" lang="zh-CN" altLang="en-US" sz="2400" b="1" i="0" u="none" strike="noStrike" cap="none" normalizeH="0" baseline="0" dirty="0" smtClean="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证</a:t>
                </a: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 </a:t>
                </a: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中割集</a:t>
                </a:r>
                <a14:m>
                  <m:oMath xmlns:m="http://schemas.openxmlformats.org/officeDocument/2006/math">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𝑨</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acc>
                      <m:accPr>
                        <m:chr m:val="̅"/>
                        <m:ctrlP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accPr>
                      <m:e>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𝑨</m:t>
                        </m:r>
                      </m:e>
                    </m:acc>
                  </m:oMath>
                </a14:m>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也是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中割集</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把它记作</a:t>
                </a:r>
                <a14:m>
                  <m:oMath xmlns:m="http://schemas.openxmlformats.org/officeDocument/2006/math">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𝑨</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acc>
                      <m:accPr>
                        <m:chr m:val="̅"/>
                        <m:ctrlP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accPr>
                      <m:e>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𝑨</m:t>
                        </m:r>
                      </m:e>
                    </m:acc>
                  </m:oMath>
                </a14:m>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dirty="0" smtClean="0">
                    <a:solidFill>
                      <a:schemeClr val="tx1"/>
                    </a:solidFill>
                    <a:cs typeface="Times New Roman" panose="02020603050405020304" pitchFamily="18" charset="0"/>
                    <a:sym typeface="Symbol" panose="05050102010706020507" pitchFamily="18" charset="2"/>
                  </a:rPr>
                  <a:t> </a:t>
                </a:r>
                <a14:m>
                  <m:oMath xmlns:m="http://schemas.openxmlformats.org/officeDocument/2006/math">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𝑨</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acc>
                      <m:accPr>
                        <m:chr m:val="̅"/>
                        <m:ctrlP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accPr>
                      <m:e>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𝑨</m:t>
                        </m:r>
                      </m:e>
                    </m:acc>
                  </m:oMath>
                </a14:m>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a:t>
                </a:r>
                <a:r>
                  <a:rPr lang="zh-CN" altLang="en-US" sz="2400" b="1" dirty="0" smtClean="0">
                    <a:solidFill>
                      <a:schemeClr val="tx1"/>
                    </a:solidFill>
                    <a:latin typeface="Times New Roman" panose="02020603050405020304" pitchFamily="18" charset="0"/>
                    <a:cs typeface="Times New Roman" panose="02020603050405020304" pitchFamily="18" charset="0"/>
                  </a:rPr>
                  <a:t>由</a:t>
                </a:r>
                <a14:m>
                  <m:oMath xmlns:m="http://schemas.openxmlformats.org/officeDocument/2006/math">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𝑨</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acc>
                      <m:accPr>
                        <m:chr m:val="̅"/>
                        <m:ctrlP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accPr>
                      <m:e>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𝑨</m:t>
                        </m:r>
                      </m:e>
                    </m:acc>
                  </m:oMath>
                </a14:m>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中关于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的非饱和边 </a:t>
                </a:r>
                <a:r>
                  <a:rPr lang="en-US" altLang="zh-CN" sz="2400" b="1" i="1" dirty="0" smtClean="0">
                    <a:latin typeface="Times New Roman" panose="02020603050405020304" pitchFamily="18" charset="0"/>
                    <a:cs typeface="Times New Roman" panose="02020603050405020304" pitchFamily="18" charset="0"/>
                  </a:rPr>
                  <a:t>E</a:t>
                </a:r>
                <a:r>
                  <a:rPr lang="en-US" altLang="zh-CN" sz="2400" b="1" baseline="-30000" dirty="0" smtClean="0">
                    <a:latin typeface="Times New Roman" panose="02020603050405020304" pitchFamily="18" charset="0"/>
                    <a:cs typeface="Times New Roman" panose="02020603050405020304" pitchFamily="18" charset="0"/>
                  </a:rPr>
                  <a:t>1</a:t>
                </a:r>
                <a:r>
                  <a:rPr lang="zh-CN" altLang="en-US" sz="2400" b="1" dirty="0" smtClean="0">
                    <a:latin typeface="Times New Roman" panose="02020603050405020304" pitchFamily="18" charset="0"/>
                    <a:cs typeface="Times New Roman" panose="02020603050405020304" pitchFamily="18" charset="0"/>
                  </a:rPr>
                  <a:t>和 </a:t>
                </a:r>
                <a14:m>
                  <m:oMath xmlns:m="http://schemas.openxmlformats.org/officeDocument/2006/math">
                    <m:r>
                      <a:rPr lang="en-US" altLang="zh-CN" sz="2400" b="1" i="1" dirty="0"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acc>
                      <m:accPr>
                        <m:chr m:val="̅"/>
                        <m:ctrlP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accPr>
                      <m:e>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𝑨</m:t>
                        </m:r>
                      </m:e>
                    </m:acc>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𝑨</m:t>
                    </m:r>
                  </m:oMath>
                </a14:m>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中关于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的非零流的反向边 </a:t>
                </a:r>
                <a:r>
                  <a:rPr lang="en-US" altLang="zh-CN" sz="2400" b="1" i="1" dirty="0" smtClean="0">
                    <a:latin typeface="Times New Roman" panose="02020603050405020304" pitchFamily="18" charset="0"/>
                    <a:cs typeface="Times New Roman" panose="02020603050405020304" pitchFamily="18" charset="0"/>
                  </a:rPr>
                  <a:t>E</a:t>
                </a:r>
                <a:r>
                  <a:rPr lang="en-US" altLang="zh-CN" sz="2400" b="1" baseline="-30000" dirty="0" smtClean="0">
                    <a:latin typeface="Times New Roman" panose="02020603050405020304" pitchFamily="18" charset="0"/>
                    <a:cs typeface="Times New Roman" panose="02020603050405020304" pitchFamily="18" charset="0"/>
                  </a:rPr>
                  <a:t>2</a:t>
                </a:r>
                <a:r>
                  <a:rPr lang="zh-CN" altLang="en-US" sz="2400" b="1" dirty="0" smtClean="0">
                    <a:latin typeface="Times New Roman" panose="02020603050405020304" pitchFamily="18" charset="0"/>
                    <a:cs typeface="Times New Roman" panose="02020603050405020304" pitchFamily="18" charset="0"/>
                  </a:rPr>
                  <a:t>两部分组成</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 </a:t>
                </a:r>
                <a14:m>
                  <m:oMath xmlns:m="http://schemas.openxmlformats.org/officeDocument/2006/math">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𝑨</m:t>
                    </m:r>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acc>
                      <m:accPr>
                        <m:chr m:val="̅"/>
                        <m:ctrlP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accPr>
                      <m:e>
                        <m:r>
                          <a:rPr lang="en-US" altLang="zh-CN" sz="2400" b="1" i="1" smtClean="0">
                            <a:solidFill>
                              <a:schemeClr val="tx1"/>
                            </a:solidFill>
                            <a:latin typeface="Cambria Math" panose="02040503050406030204" pitchFamily="18" charset="0"/>
                            <a:cs typeface="Times New Roman" panose="02020603050405020304" pitchFamily="18" charset="0"/>
                            <a:sym typeface="Symbol" panose="05050102010706020507" pitchFamily="18" charset="2"/>
                          </a:rPr>
                          <m:t>𝑨</m:t>
                        </m:r>
                      </m:e>
                    </m:acc>
                  </m:oMath>
                </a14:m>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a:t>
                </a:r>
                <a:r>
                  <a:rPr lang="en-US" altLang="zh-CN" sz="2400" b="1" dirty="0" smtClean="0">
                    <a:solidFill>
                      <a:schemeClr val="tx1"/>
                    </a:solidFill>
                    <a:cs typeface="Times New Roman" panose="02020603050405020304" pitchFamily="18" charset="0"/>
                    <a:sym typeface="Symbol" panose="05050102010706020507" pitchFamily="18" charset="2"/>
                  </a:rPr>
                  <a:t> </a:t>
                </a:r>
                <a:r>
                  <a:rPr lang="zh-CN" altLang="en-US" sz="2400" b="1" dirty="0" smtClean="0">
                    <a:solidFill>
                      <a:schemeClr val="tx1"/>
                    </a:solidFill>
                    <a:cs typeface="Times New Roman" panose="02020603050405020304" pitchFamily="18" charset="0"/>
                    <a:sym typeface="Symbol" panose="05050102010706020507" pitchFamily="18" charset="2"/>
                  </a:rPr>
                  <a:t>的容量</a:t>
                </a:r>
                <a:endParaRPr kumimoji="0" lang="en-US" altLang="zh-CN" sz="2400" b="1" i="0" u="none" strike="noStrike" cap="none" normalizeH="0" baseline="0" dirty="0" smtClean="0">
                  <a:ln>
                    <a:noFill/>
                  </a:ln>
                  <a:solidFill>
                    <a:schemeClr val="tx1"/>
                  </a:solidFill>
                  <a:effectLst/>
                  <a:ea typeface="宋体" panose="02010600030101010101" pitchFamily="2" charset="-122"/>
                </a:endParaRPr>
              </a:p>
            </p:txBody>
          </p:sp>
        </mc:Choice>
        <mc:Fallback>
          <p:sp>
            <p:nvSpPr>
              <p:cNvPr id="10" name="Rectangle 21"/>
              <p:cNvSpPr>
                <a:spLocks noRot="1" noChangeAspect="1" noMove="1" noResize="1" noEditPoints="1" noAdjustHandles="1" noChangeArrowheads="1" noChangeShapeType="1" noTextEdit="1"/>
              </p:cNvSpPr>
              <p:nvPr/>
            </p:nvSpPr>
            <p:spPr bwMode="auto">
              <a:xfrm>
                <a:off x="539552" y="1071336"/>
                <a:ext cx="8238014" cy="2092881"/>
              </a:xfrm>
              <a:prstGeom prst="rect">
                <a:avLst/>
              </a:prstGeom>
              <a:blipFill rotWithShape="1">
                <a:blip r:embed="rId1"/>
                <a:stretch>
                  <a:fillRect l="-5" t="-3099" r="7" b="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6" name="Rectangle 27"/>
          <p:cNvSpPr>
            <a:spLocks noChangeArrowheads="1"/>
          </p:cNvSpPr>
          <p:nvPr/>
        </p:nvSpPr>
        <p:spPr bwMode="auto">
          <a:xfrm>
            <a:off x="0" y="1477090"/>
            <a:ext cx="22794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p:txBody>
      </p:sp>
      <p:grpSp>
        <p:nvGrpSpPr>
          <p:cNvPr id="18" name="组合 17"/>
          <p:cNvGrpSpPr/>
          <p:nvPr/>
        </p:nvGrpSpPr>
        <p:grpSpPr>
          <a:xfrm>
            <a:off x="1380619" y="3212976"/>
            <a:ext cx="6731794" cy="2787757"/>
            <a:chOff x="1475656" y="3269894"/>
            <a:chExt cx="6731794" cy="2787757"/>
          </a:xfrm>
        </p:grpSpPr>
        <p:graphicFrame>
          <p:nvGraphicFramePr>
            <p:cNvPr id="21509" name="Object 5"/>
            <p:cNvGraphicFramePr>
              <a:graphicFrameLocks noChangeAspect="1"/>
            </p:cNvGraphicFramePr>
            <p:nvPr/>
          </p:nvGraphicFramePr>
          <p:xfrm>
            <a:off x="1475656" y="3269894"/>
            <a:ext cx="5691187" cy="714375"/>
          </p:xfrm>
          <a:graphic>
            <a:graphicData uri="http://schemas.openxmlformats.org/presentationml/2006/ole">
              <mc:AlternateContent xmlns:mc="http://schemas.openxmlformats.org/markup-compatibility/2006">
                <mc:Choice xmlns:v="urn:schemas-microsoft-com:vml" Requires="v">
                  <p:oleObj spid="_x0000_s21538" name="Equation" r:id="rId2" imgW="2959100" imgH="368300" progId="Equation.3">
                    <p:embed/>
                  </p:oleObj>
                </mc:Choice>
                <mc:Fallback>
                  <p:oleObj name="Equation" r:id="rId2" imgW="2959100" imgH="3683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3269894"/>
                          <a:ext cx="5691187"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10" name="Object 7"/>
            <p:cNvGraphicFramePr>
              <a:graphicFrameLocks noChangeAspect="1"/>
            </p:cNvGraphicFramePr>
            <p:nvPr/>
          </p:nvGraphicFramePr>
          <p:xfrm>
            <a:off x="2662313" y="3963739"/>
            <a:ext cx="4738687" cy="690562"/>
          </p:xfrm>
          <a:graphic>
            <a:graphicData uri="http://schemas.openxmlformats.org/presentationml/2006/ole">
              <mc:AlternateContent xmlns:mc="http://schemas.openxmlformats.org/markup-compatibility/2006">
                <mc:Choice xmlns:v="urn:schemas-microsoft-com:vml" Requires="v">
                  <p:oleObj spid="_x0000_s21539" name="Equation" r:id="rId4" imgW="2463800" imgH="355600" progId="Equation.3">
                    <p:embed/>
                  </p:oleObj>
                </mc:Choice>
                <mc:Fallback>
                  <p:oleObj name="Equation" r:id="rId4" imgW="2463800" imgH="3556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2313" y="3963739"/>
                          <a:ext cx="4738687"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11" name="Object 8"/>
            <p:cNvGraphicFramePr>
              <a:graphicFrameLocks noChangeAspect="1"/>
            </p:cNvGraphicFramePr>
            <p:nvPr/>
          </p:nvGraphicFramePr>
          <p:xfrm>
            <a:off x="2662313" y="4604301"/>
            <a:ext cx="5545137" cy="962025"/>
          </p:xfrm>
          <a:graphic>
            <a:graphicData uri="http://schemas.openxmlformats.org/presentationml/2006/ole">
              <mc:AlternateContent xmlns:mc="http://schemas.openxmlformats.org/markup-compatibility/2006">
                <mc:Choice xmlns:v="urn:schemas-microsoft-com:vml" Requires="v">
                  <p:oleObj spid="_x0000_s21540" name="Equation" r:id="rId6" imgW="2882900" imgH="495300" progId="Equation.3">
                    <p:embed/>
                  </p:oleObj>
                </mc:Choice>
                <mc:Fallback>
                  <p:oleObj name="Equation" r:id="rId6" imgW="2882900" imgH="4953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62313" y="4604301"/>
                          <a:ext cx="5545137"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mc:Choice xmlns:a14="http://schemas.microsoft.com/office/drawing/2010/main" Requires="a14">
            <p:sp>
              <p:nvSpPr>
                <p:cNvPr id="17" name="文本框 16"/>
                <p:cNvSpPr txBox="1"/>
                <p:nvPr/>
              </p:nvSpPr>
              <p:spPr>
                <a:xfrm>
                  <a:off x="2662313" y="5687550"/>
                  <a:ext cx="2294154" cy="37010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𝒄</m:t>
                        </m:r>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𝑨</m:t>
                            </m:r>
                            <m:r>
                              <a:rPr lang="en-US" altLang="zh-CN" sz="2400" b="1" i="1" smtClean="0">
                                <a:latin typeface="Cambria Math" panose="02040503050406030204" pitchFamily="18" charset="0"/>
                              </a:rPr>
                              <m:t>,</m:t>
                            </m:r>
                            <m:acc>
                              <m:accPr>
                                <m:chr m:val="̅"/>
                                <m:ctrlPr>
                                  <a:rPr lang="en-US" altLang="zh-CN" sz="2400" b="1" i="1" smtClean="0">
                                    <a:latin typeface="Cambria Math" panose="02040503050406030204" pitchFamily="18" charset="0"/>
                                  </a:rPr>
                                </m:ctrlPr>
                              </m:accPr>
                              <m:e>
                                <m:r>
                                  <a:rPr lang="en-US" altLang="zh-CN" sz="2400" b="1" i="1" smtClean="0">
                                    <a:latin typeface="Cambria Math" panose="02040503050406030204" pitchFamily="18" charset="0"/>
                                  </a:rPr>
                                  <m:t>𝑨</m:t>
                                </m:r>
                              </m:e>
                            </m:acc>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𝒗</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𝒇</m:t>
                        </m:r>
                        <m:r>
                          <a:rPr lang="en-US" altLang="zh-CN" sz="2400" b="0" i="1" smtClean="0">
                            <a:latin typeface="Cambria Math" panose="02040503050406030204" pitchFamily="18" charset="0"/>
                          </a:rPr>
                          <m:t>)</m:t>
                        </m:r>
                      </m:oMath>
                    </m:oMathPara>
                  </a14:m>
                  <a:endParaRPr lang="zh-CN" altLang="en-US" sz="2400" dirty="0"/>
                </a:p>
              </p:txBody>
            </p:sp>
          </mc:Choice>
          <mc:Fallback>
            <p:sp>
              <p:nvSpPr>
                <p:cNvPr id="17" name="文本框 16"/>
                <p:cNvSpPr txBox="1">
                  <a:spLocks noRot="1" noChangeAspect="1" noMove="1" noResize="1" noEditPoints="1" noAdjustHandles="1" noChangeArrowheads="1" noChangeShapeType="1" noTextEdit="1"/>
                </p:cNvSpPr>
                <p:nvPr/>
              </p:nvSpPr>
              <p:spPr>
                <a:xfrm>
                  <a:off x="2662313" y="5687550"/>
                  <a:ext cx="2294154" cy="370101"/>
                </a:xfrm>
                <a:prstGeom prst="rect">
                  <a:avLst/>
                </a:prstGeom>
                <a:blipFill rotWithShape="1">
                  <a:blip r:embed="rId8"/>
                </a:blipFill>
              </p:spPr>
              <p:txBody>
                <a:bodyPr/>
                <a:lstStyle/>
                <a:p>
                  <a:r>
                    <a:rPr lang="zh-CN" altLang="en-US">
                      <a:noFill/>
                    </a:rPr>
                    <a:t> </a:t>
                  </a:r>
                </a:p>
              </p:txBody>
            </p:sp>
          </mc:Fallback>
        </mc:AlternateContent>
      </p:grpSp>
      <p:sp>
        <p:nvSpPr>
          <p:cNvPr id="19" name="文本框 18"/>
          <p:cNvSpPr txBox="1"/>
          <p:nvPr/>
        </p:nvSpPr>
        <p:spPr>
          <a:xfrm>
            <a:off x="539552" y="6021288"/>
            <a:ext cx="8147248" cy="461665"/>
          </a:xfrm>
          <a:prstGeom prst="rect">
            <a:avLst/>
          </a:prstGeom>
          <a:noFill/>
        </p:spPr>
        <p:txBody>
          <a:bodyPr wrap="square" rtlCol="0">
            <a:spAutoFit/>
          </a:bodyPr>
          <a:lstStyle/>
          <a:p>
            <a:r>
              <a:rPr lang="zh-CN" altLang="en-US" sz="2400" b="1" dirty="0" smtClean="0"/>
              <a:t>由最大流最小割定理</a:t>
            </a:r>
            <a:r>
              <a:rPr lang="zh-CN" altLang="zh-CN" sz="2400" b="1" dirty="0"/>
              <a:t>得</a:t>
            </a:r>
            <a:r>
              <a:rPr lang="zh-CN" altLang="zh-CN" sz="2400" b="1" dirty="0" smtClean="0"/>
              <a:t>证</a:t>
            </a:r>
            <a:r>
              <a:rPr lang="en-US" altLang="zh-CN" sz="2400" b="1" dirty="0" smtClean="0"/>
              <a:t>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的</a:t>
            </a:r>
            <a:r>
              <a:rPr lang="zh-CN" altLang="zh-CN" sz="2400" b="1" dirty="0">
                <a:latin typeface="Times New Roman" panose="02020603050405020304" pitchFamily="18" charset="0"/>
                <a:cs typeface="Times New Roman" panose="02020603050405020304" pitchFamily="18" charset="0"/>
              </a:rPr>
              <a:t>最大流量等于</a:t>
            </a:r>
            <a:r>
              <a:rPr lang="en-US" altLang="zh-CN" sz="2400" b="1" i="1" dirty="0">
                <a:latin typeface="Times New Roman" panose="02020603050405020304" pitchFamily="18" charset="0"/>
                <a:cs typeface="Times New Roman" panose="02020603050405020304" pitchFamily="18" charset="0"/>
              </a:rPr>
              <a:t>v</a:t>
            </a:r>
            <a:r>
              <a:rPr lang="en-US" altLang="zh-CN" sz="2400" b="1" baseline="30000"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a:latin typeface="Times New Roman" panose="02020603050405020304" pitchFamily="18" charset="0"/>
                <a:cs typeface="Times New Roman" panose="02020603050405020304" pitchFamily="18" charset="0"/>
              </a:rPr>
              <a:t>).</a:t>
            </a:r>
            <a:endParaRPr lang="zh-CN" altLang="en-US" sz="24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xfrm>
            <a:off x="457200" y="274638"/>
            <a:ext cx="8229600" cy="1082675"/>
          </a:xfrm>
        </p:spPr>
        <p:txBody>
          <a:bodyPr/>
          <a:lstStyle/>
          <a:p>
            <a:r>
              <a:rPr lang="zh-CN" altLang="en-US" sz="4000" b="1" smtClean="0">
                <a:solidFill>
                  <a:srgbClr val="C00000"/>
                </a:solidFill>
              </a:rPr>
              <a:t>引理</a:t>
            </a:r>
            <a:endParaRPr lang="zh-CN" altLang="en-US" sz="4000" b="1" smtClean="0">
              <a:solidFill>
                <a:srgbClr val="C00000"/>
              </a:solidFill>
            </a:endParaRPr>
          </a:p>
        </p:txBody>
      </p:sp>
      <p:sp>
        <p:nvSpPr>
          <p:cNvPr id="22531" name="内容占位符 2"/>
          <p:cNvSpPr>
            <a:spLocks noGrp="1"/>
          </p:cNvSpPr>
          <p:nvPr>
            <p:ph idx="1"/>
          </p:nvPr>
        </p:nvSpPr>
        <p:spPr>
          <a:xfrm>
            <a:off x="457200" y="1285875"/>
            <a:ext cx="8363272" cy="5095875"/>
          </a:xfrm>
        </p:spPr>
        <p:txBody>
          <a:bodyPr/>
          <a:lstStyle/>
          <a:p>
            <a:pPr marL="0" indent="0">
              <a:lnSpc>
                <a:spcPts val="3200"/>
              </a:lnSpc>
              <a:buFont typeface="Arial" panose="020B0604020202020204" pitchFamily="34" charset="0"/>
              <a:buNone/>
              <a:defRPr/>
            </a:pPr>
            <a:r>
              <a:rPr lang="zh-CN" altLang="en-US" sz="2400" b="1" dirty="0" smtClean="0">
                <a:solidFill>
                  <a:srgbClr val="C00000"/>
                </a:solidFill>
                <a:latin typeface="Times New Roman" panose="02020603050405020304" pitchFamily="18" charset="0"/>
                <a:cs typeface="Times New Roman" panose="02020603050405020304" pitchFamily="18" charset="0"/>
              </a:rPr>
              <a:t>定义</a:t>
            </a:r>
            <a:r>
              <a:rPr lang="en-US" altLang="zh-CN" sz="2400" b="1" dirty="0" smtClean="0">
                <a:solidFill>
                  <a:srgbClr val="C00000"/>
                </a:solidFill>
                <a:latin typeface="Times New Roman" panose="02020603050405020304" pitchFamily="18" charset="0"/>
                <a:cs typeface="Times New Roman" panose="02020603050405020304" pitchFamily="18" charset="0"/>
              </a:rPr>
              <a:t>7.5</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设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是</a:t>
            </a:r>
            <a:r>
              <a:rPr lang="en-US" altLang="zh-CN" sz="2400" b="1" i="1" dirty="0" smtClean="0">
                <a:latin typeface="Times New Roman" panose="02020603050405020304" pitchFamily="18" charset="0"/>
                <a:cs typeface="Times New Roman" panose="02020603050405020304" pitchFamily="18" charset="0"/>
              </a:rPr>
              <a:t>N</a:t>
            </a:r>
            <a:r>
              <a:rPr lang="zh-CN" altLang="en-US" sz="2400" b="1" dirty="0" smtClean="0">
                <a:latin typeface="Times New Roman" panose="02020603050405020304" pitchFamily="18" charset="0"/>
                <a:cs typeface="Times New Roman" panose="02020603050405020304" pitchFamily="18" charset="0"/>
              </a:rPr>
              <a:t>上的一个可行流</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是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上的一个可行流</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定义 </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如下</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&gt;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这里规定</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当 </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&gt;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时</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 0.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zh-CN" altLang="en-US" sz="2400" b="1" dirty="0" smtClean="0">
                <a:solidFill>
                  <a:srgbClr val="C00000"/>
                </a:solidFill>
                <a:latin typeface="Times New Roman" panose="02020603050405020304" pitchFamily="18" charset="0"/>
                <a:cs typeface="Times New Roman" panose="02020603050405020304" pitchFamily="18" charset="0"/>
              </a:rPr>
              <a:t>引理</a:t>
            </a:r>
            <a:r>
              <a:rPr lang="en-US" altLang="zh-CN" sz="2400" b="1" dirty="0" smtClean="0">
                <a:solidFill>
                  <a:srgbClr val="C00000"/>
                </a:solidFill>
                <a:latin typeface="Times New Roman" panose="02020603050405020304" pitchFamily="18" charset="0"/>
                <a:cs typeface="Times New Roman" panose="02020603050405020304" pitchFamily="18" charset="0"/>
              </a:rPr>
              <a:t>7.5  </a:t>
            </a:r>
            <a:r>
              <a:rPr lang="zh-CN" altLang="en-US" sz="2400" b="1" dirty="0" smtClean="0">
                <a:latin typeface="Times New Roman" panose="02020603050405020304" pitchFamily="18" charset="0"/>
                <a:cs typeface="Times New Roman" panose="02020603050405020304" pitchFamily="18" charset="0"/>
              </a:rPr>
              <a:t>设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是 </a:t>
            </a:r>
            <a:r>
              <a:rPr lang="en-US" altLang="zh-CN" sz="2400" b="1" i="1" dirty="0" smtClean="0">
                <a:latin typeface="Times New Roman" panose="02020603050405020304" pitchFamily="18" charset="0"/>
                <a:cs typeface="Times New Roman" panose="02020603050405020304" pitchFamily="18" charset="0"/>
              </a:rPr>
              <a:t>N</a:t>
            </a:r>
            <a:r>
              <a:rPr lang="zh-CN" altLang="en-US" sz="2400" b="1" dirty="0" smtClean="0">
                <a:latin typeface="Times New Roman" panose="02020603050405020304" pitchFamily="18" charset="0"/>
                <a:cs typeface="Times New Roman" panose="02020603050405020304" pitchFamily="18" charset="0"/>
              </a:rPr>
              <a:t>上的一个可行流</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是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上的一个可行流</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则 </a:t>
            </a:r>
            <a:r>
              <a:rPr lang="en-US" altLang="zh-CN" sz="2400" b="1" i="1" dirty="0" smtClean="0">
                <a:latin typeface="Times New Roman" panose="02020603050405020304" pitchFamily="18" charset="0"/>
                <a:cs typeface="Times New Roman" panose="02020603050405020304" pitchFamily="18" charset="0"/>
              </a:rPr>
              <a:t>f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是 </a:t>
            </a:r>
            <a:r>
              <a:rPr lang="en-US" altLang="zh-CN" sz="2400" b="1" i="1" dirty="0" smtClean="0">
                <a:latin typeface="Times New Roman" panose="02020603050405020304" pitchFamily="18" charset="0"/>
                <a:cs typeface="Times New Roman" panose="02020603050405020304" pitchFamily="18" charset="0"/>
              </a:rPr>
              <a:t>N </a:t>
            </a:r>
            <a:r>
              <a:rPr lang="zh-CN" altLang="en-US" sz="2400" b="1" dirty="0" smtClean="0">
                <a:latin typeface="Times New Roman" panose="02020603050405020304" pitchFamily="18" charset="0"/>
                <a:cs typeface="Times New Roman" panose="02020603050405020304" pitchFamily="18" charset="0"/>
              </a:rPr>
              <a:t>上的可行流</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且 </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f</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defRPr/>
            </a:pPr>
            <a:r>
              <a:rPr lang="zh-CN" altLang="en-US" sz="2400" b="1" dirty="0" smtClean="0">
                <a:solidFill>
                  <a:srgbClr val="C00000"/>
                </a:solidFill>
                <a:latin typeface="Times New Roman" panose="02020603050405020304" pitchFamily="18" charset="0"/>
                <a:cs typeface="Times New Roman" panose="02020603050405020304" pitchFamily="18" charset="0"/>
              </a:rPr>
              <a:t>证</a:t>
            </a:r>
            <a:r>
              <a:rPr lang="zh-CN" altLang="en-US" sz="2400" b="1" dirty="0" smtClean="0">
                <a:latin typeface="Times New Roman" panose="02020603050405020304" pitchFamily="18" charset="0"/>
                <a:cs typeface="Times New Roman" panose="02020603050405020304" pitchFamily="18" charset="0"/>
              </a:rPr>
              <a:t>  容量限制 </a:t>
            </a:r>
            <a:endParaRPr lang="en-US" altLang="zh-CN" sz="2400" b="1" dirty="0" smtClean="0">
              <a:latin typeface="Times New Roman" panose="02020603050405020304" pitchFamily="18" charset="0"/>
              <a:cs typeface="Times New Roman" panose="02020603050405020304" pitchFamily="18" charset="0"/>
            </a:endParaRPr>
          </a:p>
          <a:p>
            <a:pPr>
              <a:spcBef>
                <a:spcPts val="600"/>
              </a:spcBef>
              <a:buFont typeface="Arial" panose="020B0604020202020204" pitchFamily="34" charset="0"/>
              <a:buNone/>
              <a:defRPr/>
            </a:pP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&gt;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   0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c</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0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c</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推出</a:t>
            </a:r>
            <a:r>
              <a:rPr lang="en-US" altLang="zh-CN" sz="2400" b="1" dirty="0" smtClean="0">
                <a:latin typeface="Times New Roman" panose="02020603050405020304" pitchFamily="18" charset="0"/>
                <a:cs typeface="Times New Roman" panose="02020603050405020304" pitchFamily="18" charset="0"/>
              </a:rPr>
              <a:t>              0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c</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endParaRPr lang="zh-CN" altLang="en-US" sz="2400" b="1" dirty="0" smtClean="0">
              <a:latin typeface="Times New Roman" panose="02020603050405020304" pitchFamily="18" charset="0"/>
              <a:cs typeface="Times New Roman" panose="02020603050405020304" pitchFamily="18" charset="0"/>
            </a:endParaRPr>
          </a:p>
        </p:txBody>
      </p:sp>
      <p:sp>
        <p:nvSpPr>
          <p:cNvPr id="2253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732E998-A0BE-44BB-A3CA-C05FB5747CEE}"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ctrTitle"/>
          </p:nvPr>
        </p:nvSpPr>
        <p:spPr>
          <a:xfrm>
            <a:off x="685800" y="476250"/>
            <a:ext cx="7772400" cy="595313"/>
          </a:xfrm>
        </p:spPr>
        <p:txBody>
          <a:bodyPr/>
          <a:lstStyle/>
          <a:p>
            <a:pPr eaLnBrk="1" hangingPunct="1"/>
            <a:r>
              <a:rPr lang="zh-CN" altLang="en-US" sz="4000" b="1" dirty="0" smtClean="0">
                <a:solidFill>
                  <a:srgbClr val="C00000"/>
                </a:solidFill>
                <a:latin typeface="Times New Roman" panose="02020603050405020304" pitchFamily="18" charset="0"/>
                <a:cs typeface="Times New Roman" panose="02020603050405020304" pitchFamily="18" charset="0"/>
              </a:rPr>
              <a:t>引理证明（续）</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
        <p:nvSpPr>
          <p:cNvPr id="23555" name="副标题 2"/>
          <p:cNvSpPr>
            <a:spLocks noGrp="1"/>
          </p:cNvSpPr>
          <p:nvPr>
            <p:ph type="subTitle" idx="1"/>
          </p:nvPr>
        </p:nvSpPr>
        <p:spPr>
          <a:xfrm>
            <a:off x="684213" y="1143000"/>
            <a:ext cx="7775575" cy="5286375"/>
          </a:xfrm>
        </p:spPr>
        <p:txBody>
          <a:bodyPr/>
          <a:lstStyle/>
          <a:p>
            <a:pPr algn="l"/>
            <a:r>
              <a:rPr lang="zh-CN" altLang="en-US" sz="2400" b="1" smtClean="0">
                <a:solidFill>
                  <a:schemeClr val="tx1"/>
                </a:solidFill>
                <a:latin typeface="Times New Roman" panose="02020603050405020304" pitchFamily="18" charset="0"/>
                <a:cs typeface="Times New Roman" panose="02020603050405020304" pitchFamily="18" charset="0"/>
              </a:rPr>
              <a:t>平衡条件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E</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s</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t</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而</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zh-CN" altLang="en-US" sz="2400" b="1" smtClean="0">
              <a:solidFill>
                <a:schemeClr val="tx1"/>
              </a:solidFill>
              <a:latin typeface="Times New Roman" panose="02020603050405020304" pitchFamily="18" charset="0"/>
              <a:cs typeface="Times New Roman" panose="02020603050405020304" pitchFamily="18" charset="0"/>
            </a:endParaRPr>
          </a:p>
        </p:txBody>
      </p:sp>
      <p:sp>
        <p:nvSpPr>
          <p:cNvPr id="2355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523584DB-4B90-47BF-8892-8A41CAD89A24}" type="slidenum">
              <a:rPr lang="zh-CN" altLang="en-US" sz="1200" smtClean="0">
                <a:solidFill>
                  <a:srgbClr val="898989"/>
                </a:solidFill>
              </a:rPr>
            </a:fld>
            <a:endParaRPr lang="zh-CN" altLang="en-US" sz="1200" smtClean="0">
              <a:solidFill>
                <a:srgbClr val="898989"/>
              </a:solidFill>
            </a:endParaRPr>
          </a:p>
        </p:txBody>
      </p:sp>
      <p:sp>
        <p:nvSpPr>
          <p:cNvPr id="23557"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23558" name="Object 4"/>
          <p:cNvGraphicFramePr>
            <a:graphicFrameLocks noChangeAspect="1"/>
          </p:cNvGraphicFramePr>
          <p:nvPr/>
        </p:nvGraphicFramePr>
        <p:xfrm>
          <a:off x="1635125" y="1571625"/>
          <a:ext cx="5080000" cy="642938"/>
        </p:xfrm>
        <a:graphic>
          <a:graphicData uri="http://schemas.openxmlformats.org/presentationml/2006/ole">
            <mc:AlternateContent xmlns:mc="http://schemas.openxmlformats.org/markup-compatibility/2006">
              <mc:Choice xmlns:v="urn:schemas-microsoft-com:vml" Requires="v">
                <p:oleObj spid="_x0000_s23578" name="Equation" r:id="rId1" imgW="2781300" imgH="355600" progId="Equation.3">
                  <p:embed/>
                </p:oleObj>
              </mc:Choice>
              <mc:Fallback>
                <p:oleObj name="Equation" r:id="rId1" imgW="2781300" imgH="355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5125" y="1571625"/>
                        <a:ext cx="50800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559" name="Object 6"/>
          <p:cNvGraphicFramePr>
            <a:graphicFrameLocks noChangeAspect="1"/>
          </p:cNvGraphicFramePr>
          <p:nvPr/>
        </p:nvGraphicFramePr>
        <p:xfrm>
          <a:off x="3000375" y="2214563"/>
          <a:ext cx="4872038" cy="804862"/>
        </p:xfrm>
        <a:graphic>
          <a:graphicData uri="http://schemas.openxmlformats.org/presentationml/2006/ole">
            <mc:AlternateContent xmlns:mc="http://schemas.openxmlformats.org/markup-compatibility/2006">
              <mc:Choice xmlns:v="urn:schemas-microsoft-com:vml" Requires="v">
                <p:oleObj spid="_x0000_s23579" name="Equation" r:id="rId3" imgW="2667000" imgH="444500" progId="Equation.3">
                  <p:embed/>
                </p:oleObj>
              </mc:Choice>
              <mc:Fallback>
                <p:oleObj name="Equation" r:id="rId3" imgW="2667000" imgH="4445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0375" y="2214563"/>
                        <a:ext cx="4872038" cy="80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560" name="Object 7"/>
          <p:cNvGraphicFramePr>
            <a:graphicFrameLocks noChangeAspect="1"/>
          </p:cNvGraphicFramePr>
          <p:nvPr/>
        </p:nvGraphicFramePr>
        <p:xfrm>
          <a:off x="1643063" y="3000375"/>
          <a:ext cx="5080000" cy="642938"/>
        </p:xfrm>
        <a:graphic>
          <a:graphicData uri="http://schemas.openxmlformats.org/presentationml/2006/ole">
            <mc:AlternateContent xmlns:mc="http://schemas.openxmlformats.org/markup-compatibility/2006">
              <mc:Choice xmlns:v="urn:schemas-microsoft-com:vml" Requires="v">
                <p:oleObj spid="_x0000_s23580" name="Equation" r:id="rId5" imgW="2781300" imgH="355600" progId="Equation.3">
                  <p:embed/>
                </p:oleObj>
              </mc:Choice>
              <mc:Fallback>
                <p:oleObj name="Equation" r:id="rId5" imgW="2781300" imgH="3556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3063" y="3000375"/>
                        <a:ext cx="50800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561" name="Object 8"/>
          <p:cNvGraphicFramePr>
            <a:graphicFrameLocks noChangeAspect="1"/>
          </p:cNvGraphicFramePr>
          <p:nvPr/>
        </p:nvGraphicFramePr>
        <p:xfrm>
          <a:off x="3114675" y="3714750"/>
          <a:ext cx="4756150" cy="804863"/>
        </p:xfrm>
        <a:graphic>
          <a:graphicData uri="http://schemas.openxmlformats.org/presentationml/2006/ole">
            <mc:AlternateContent xmlns:mc="http://schemas.openxmlformats.org/markup-compatibility/2006">
              <mc:Choice xmlns:v="urn:schemas-microsoft-com:vml" Requires="v">
                <p:oleObj spid="_x0000_s23581" name="Equation" r:id="rId7" imgW="2603500" imgH="444500" progId="Equation.3">
                  <p:embed/>
                </p:oleObj>
              </mc:Choice>
              <mc:Fallback>
                <p:oleObj name="Equation" r:id="rId7" imgW="2603500" imgH="4445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14675" y="3714750"/>
                        <a:ext cx="4756150"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2"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23563" name="Object 9"/>
          <p:cNvGraphicFramePr>
            <a:graphicFrameLocks noChangeAspect="1"/>
          </p:cNvGraphicFramePr>
          <p:nvPr/>
        </p:nvGraphicFramePr>
        <p:xfrm>
          <a:off x="1476375" y="4572000"/>
          <a:ext cx="6381750" cy="833438"/>
        </p:xfrm>
        <a:graphic>
          <a:graphicData uri="http://schemas.openxmlformats.org/presentationml/2006/ole">
            <mc:AlternateContent xmlns:mc="http://schemas.openxmlformats.org/markup-compatibility/2006">
              <mc:Choice xmlns:v="urn:schemas-microsoft-com:vml" Requires="v">
                <p:oleObj spid="_x0000_s23582" name="Equation" r:id="rId9" imgW="3403600" imgH="444500" progId="Equation.3">
                  <p:embed/>
                </p:oleObj>
              </mc:Choice>
              <mc:Fallback>
                <p:oleObj name="Equation" r:id="rId9" imgW="3403600" imgH="4445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76375" y="4572000"/>
                        <a:ext cx="6381750"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4" name="Rectangle 1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23565" name="Object 11"/>
          <p:cNvGraphicFramePr>
            <a:graphicFrameLocks noChangeAspect="1"/>
          </p:cNvGraphicFramePr>
          <p:nvPr/>
        </p:nvGraphicFramePr>
        <p:xfrm>
          <a:off x="3000375" y="5643563"/>
          <a:ext cx="3916363" cy="684212"/>
        </p:xfrm>
        <a:graphic>
          <a:graphicData uri="http://schemas.openxmlformats.org/presentationml/2006/ole">
            <mc:AlternateContent xmlns:mc="http://schemas.openxmlformats.org/markup-compatibility/2006">
              <mc:Choice xmlns:v="urn:schemas-microsoft-com:vml" Requires="v">
                <p:oleObj spid="_x0000_s23583" name="Equation" r:id="rId11" imgW="2005965" imgH="355600" progId="Equation.3">
                  <p:embed/>
                </p:oleObj>
              </mc:Choice>
              <mc:Fallback>
                <p:oleObj name="Equation" r:id="rId11" imgW="2005965" imgH="3556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00375" y="5643563"/>
                        <a:ext cx="3916363"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ctrTitle"/>
          </p:nvPr>
        </p:nvSpPr>
        <p:spPr>
          <a:xfrm>
            <a:off x="685800" y="333375"/>
            <a:ext cx="7772400" cy="865188"/>
          </a:xfrm>
        </p:spPr>
        <p:txBody>
          <a:bodyPr/>
          <a:lstStyle/>
          <a:p>
            <a:pPr eaLnBrk="1" hangingPunct="1"/>
            <a:r>
              <a:rPr lang="zh-CN" altLang="en-US" sz="4000" b="1" dirty="0" smtClean="0">
                <a:solidFill>
                  <a:srgbClr val="C00000"/>
                </a:solidFill>
                <a:latin typeface="Times New Roman" panose="02020603050405020304" pitchFamily="18" charset="0"/>
                <a:cs typeface="Times New Roman" panose="02020603050405020304" pitchFamily="18" charset="0"/>
                <a:sym typeface="Symbol" panose="05050102010706020507" pitchFamily="18" charset="2"/>
              </a:rPr>
              <a:t>引理证明（续）</a:t>
            </a:r>
            <a:endParaRPr lang="zh-CN" altLang="en-US" sz="4000" b="1" dirty="0" smtClean="0">
              <a:latin typeface="Times New Roman" panose="02020603050405020304" pitchFamily="18" charset="0"/>
              <a:cs typeface="Times New Roman" panose="02020603050405020304" pitchFamily="18" charset="0"/>
            </a:endParaRPr>
          </a:p>
        </p:txBody>
      </p:sp>
      <p:sp>
        <p:nvSpPr>
          <p:cNvPr id="24579" name="副标题 2"/>
          <p:cNvSpPr>
            <a:spLocks noGrp="1"/>
          </p:cNvSpPr>
          <p:nvPr>
            <p:ph type="subTitle" idx="1"/>
          </p:nvPr>
        </p:nvSpPr>
        <p:spPr>
          <a:xfrm>
            <a:off x="684213" y="1268413"/>
            <a:ext cx="7775575" cy="5375275"/>
          </a:xfrm>
        </p:spPr>
        <p:txBody>
          <a:bodyPr/>
          <a:lstStyle/>
          <a:p>
            <a:pPr algn="l">
              <a:lnSpc>
                <a:spcPct val="150000"/>
              </a:lnSpc>
            </a:pPr>
            <a:r>
              <a:rPr lang="zh-CN" altLang="en-US" sz="2400" b="1" smtClean="0">
                <a:solidFill>
                  <a:schemeClr val="tx1"/>
                </a:solidFill>
                <a:latin typeface="Times New Roman" panose="02020603050405020304" pitchFamily="18" charset="0"/>
                <a:cs typeface="Times New Roman" panose="02020603050405020304" pitchFamily="18" charset="0"/>
              </a:rPr>
              <a:t>得</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lnSpc>
                <a:spcPct val="150000"/>
              </a:lnSpc>
            </a:pPr>
            <a:r>
              <a:rPr lang="zh-CN" altLang="en-US" sz="2400" b="1" smtClean="0">
                <a:solidFill>
                  <a:schemeClr val="tx1"/>
                </a:solidFill>
                <a:latin typeface="Times New Roman" panose="02020603050405020304" pitchFamily="18" charset="0"/>
                <a:cs typeface="Times New Roman" panose="02020603050405020304" pitchFamily="18" charset="0"/>
              </a:rPr>
              <a:t>得证 </a:t>
            </a:r>
            <a:r>
              <a:rPr lang="en-US" altLang="zh-CN" sz="2400" b="1" i="1" smtClean="0">
                <a:solidFill>
                  <a:schemeClr val="tx1"/>
                </a:solidFill>
                <a:latin typeface="Times New Roman" panose="02020603050405020304" pitchFamily="18" charset="0"/>
                <a:cs typeface="Times New Roman" panose="02020603050405020304" pitchFamily="18" charset="0"/>
              </a:rPr>
              <a:t>f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f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g </a:t>
            </a:r>
            <a:r>
              <a:rPr lang="zh-CN" altLang="en-US"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是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N </a:t>
            </a:r>
            <a:r>
              <a:rPr lang="zh-CN" altLang="en-US"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上的可行流</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f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的流量</a:t>
            </a:r>
            <a:endPar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algn="l">
              <a:lnSpc>
                <a:spcPct val="150000"/>
              </a:lnSpc>
            </a:pPr>
            <a:endPar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algn="l">
              <a:lnSpc>
                <a:spcPct val="150000"/>
              </a:lnSpc>
            </a:pPr>
            <a:endPar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algn="l">
              <a:lnSpc>
                <a:spcPct val="150000"/>
              </a:lnSpc>
            </a:pPr>
            <a:endPar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algn="l">
              <a:lnSpc>
                <a:spcPct val="150000"/>
              </a:lnSpc>
            </a:pPr>
            <a:endPar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algn="l">
              <a:lnSpc>
                <a:spcPct val="150000"/>
              </a:lnSpc>
            </a:pPr>
            <a:endPar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algn="l">
              <a:lnSpc>
                <a:spcPct val="150000"/>
              </a:lnSpc>
            </a:pP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v</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f</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v</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g</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p:txBody>
      </p:sp>
      <p:sp>
        <p:nvSpPr>
          <p:cNvPr id="2458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556D631B-3DC1-4354-AC41-AF70FB53E476}" type="slidenum">
              <a:rPr lang="zh-CN" altLang="en-US" sz="1200" smtClean="0">
                <a:solidFill>
                  <a:srgbClr val="898989"/>
                </a:solidFill>
              </a:rPr>
            </a:fld>
            <a:endParaRPr lang="zh-CN" altLang="en-US" sz="1200" smtClean="0">
              <a:solidFill>
                <a:srgbClr val="898989"/>
              </a:solidFill>
            </a:endParaRPr>
          </a:p>
        </p:txBody>
      </p:sp>
      <p:sp>
        <p:nvSpPr>
          <p:cNvPr id="24581"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24582" name="Object 4"/>
          <p:cNvGraphicFramePr>
            <a:graphicFrameLocks noChangeAspect="1"/>
          </p:cNvGraphicFramePr>
          <p:nvPr/>
        </p:nvGraphicFramePr>
        <p:xfrm>
          <a:off x="1979613" y="1295400"/>
          <a:ext cx="3735387" cy="704850"/>
        </p:xfrm>
        <a:graphic>
          <a:graphicData uri="http://schemas.openxmlformats.org/presentationml/2006/ole">
            <mc:AlternateContent xmlns:mc="http://schemas.openxmlformats.org/markup-compatibility/2006">
              <mc:Choice xmlns:v="urn:schemas-microsoft-com:vml" Requires="v">
                <p:oleObj spid="_x0000_s24601" name="Equation" r:id="rId1" imgW="1866265" imgH="355600" progId="Equation.3">
                  <p:embed/>
                </p:oleObj>
              </mc:Choice>
              <mc:Fallback>
                <p:oleObj name="Equation" r:id="rId1" imgW="1866265" imgH="355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1295400"/>
                        <a:ext cx="3735387"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3"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24584" name="Object 7"/>
          <p:cNvGraphicFramePr>
            <a:graphicFrameLocks noChangeAspect="1"/>
          </p:cNvGraphicFramePr>
          <p:nvPr/>
        </p:nvGraphicFramePr>
        <p:xfrm>
          <a:off x="914400" y="2428875"/>
          <a:ext cx="4943475" cy="714375"/>
        </p:xfrm>
        <a:graphic>
          <a:graphicData uri="http://schemas.openxmlformats.org/presentationml/2006/ole">
            <mc:AlternateContent xmlns:mc="http://schemas.openxmlformats.org/markup-compatibility/2006">
              <mc:Choice xmlns:v="urn:schemas-microsoft-com:vml" Requires="v">
                <p:oleObj spid="_x0000_s24602" name="Equation" r:id="rId3" imgW="2438400" imgH="355600" progId="Equation.3">
                  <p:embed/>
                </p:oleObj>
              </mc:Choice>
              <mc:Fallback>
                <p:oleObj name="Equation" r:id="rId3" imgW="2438400" imgH="3556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428875"/>
                        <a:ext cx="494347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5" name="Object 9"/>
          <p:cNvGraphicFramePr>
            <a:graphicFrameLocks noChangeAspect="1"/>
          </p:cNvGraphicFramePr>
          <p:nvPr/>
        </p:nvGraphicFramePr>
        <p:xfrm>
          <a:off x="2187575" y="3071813"/>
          <a:ext cx="4170363" cy="714375"/>
        </p:xfrm>
        <a:graphic>
          <a:graphicData uri="http://schemas.openxmlformats.org/presentationml/2006/ole">
            <mc:AlternateContent xmlns:mc="http://schemas.openxmlformats.org/markup-compatibility/2006">
              <mc:Choice xmlns:v="urn:schemas-microsoft-com:vml" Requires="v">
                <p:oleObj spid="_x0000_s24603" name="Equation" r:id="rId5" imgW="2057400" imgH="355600" progId="Equation.3">
                  <p:embed/>
                </p:oleObj>
              </mc:Choice>
              <mc:Fallback>
                <p:oleObj name="Equation" r:id="rId5" imgW="2057400" imgH="3556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87575" y="3071813"/>
                        <a:ext cx="417036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6" name="Object 8"/>
          <p:cNvGraphicFramePr>
            <a:graphicFrameLocks noChangeAspect="1"/>
          </p:cNvGraphicFramePr>
          <p:nvPr/>
        </p:nvGraphicFramePr>
        <p:xfrm>
          <a:off x="1689100" y="3695700"/>
          <a:ext cx="4895850" cy="804863"/>
        </p:xfrm>
        <a:graphic>
          <a:graphicData uri="http://schemas.openxmlformats.org/presentationml/2006/ole">
            <mc:AlternateContent xmlns:mc="http://schemas.openxmlformats.org/markup-compatibility/2006">
              <mc:Choice xmlns:v="urn:schemas-microsoft-com:vml" Requires="v">
                <p:oleObj spid="_x0000_s24604" name="Equation" r:id="rId7" imgW="2679700" imgH="444500" progId="Equation.3">
                  <p:embed/>
                </p:oleObj>
              </mc:Choice>
              <mc:Fallback>
                <p:oleObj name="Equation" r:id="rId7" imgW="2679700" imgH="4445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89100" y="3695700"/>
                        <a:ext cx="4895850"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7" name="Object 11"/>
          <p:cNvGraphicFramePr>
            <a:graphicFrameLocks noChangeAspect="1"/>
          </p:cNvGraphicFramePr>
          <p:nvPr/>
        </p:nvGraphicFramePr>
        <p:xfrm>
          <a:off x="2200275" y="4410075"/>
          <a:ext cx="4872038" cy="804863"/>
        </p:xfrm>
        <a:graphic>
          <a:graphicData uri="http://schemas.openxmlformats.org/presentationml/2006/ole">
            <mc:AlternateContent xmlns:mc="http://schemas.openxmlformats.org/markup-compatibility/2006">
              <mc:Choice xmlns:v="urn:schemas-microsoft-com:vml" Requires="v">
                <p:oleObj spid="_x0000_s24605" name="Equation" r:id="rId9" imgW="2667000" imgH="444500" progId="Equation.3">
                  <p:embed/>
                </p:oleObj>
              </mc:Choice>
              <mc:Fallback>
                <p:oleObj name="Equation" r:id="rId9" imgW="2667000" imgH="4445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00275" y="4410075"/>
                        <a:ext cx="4872038"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8" name="Object 12"/>
          <p:cNvGraphicFramePr>
            <a:graphicFrameLocks noChangeAspect="1"/>
          </p:cNvGraphicFramePr>
          <p:nvPr/>
        </p:nvGraphicFramePr>
        <p:xfrm>
          <a:off x="1706563" y="5203825"/>
          <a:ext cx="6937375" cy="644525"/>
        </p:xfrm>
        <a:graphic>
          <a:graphicData uri="http://schemas.openxmlformats.org/presentationml/2006/ole">
            <mc:AlternateContent xmlns:mc="http://schemas.openxmlformats.org/markup-compatibility/2006">
              <mc:Choice xmlns:v="urn:schemas-microsoft-com:vml" Requires="v">
                <p:oleObj spid="_x0000_s24606" name="Equation" r:id="rId11" imgW="3797300" imgH="355600" progId="Equation.3">
                  <p:embed/>
                </p:oleObj>
              </mc:Choice>
              <mc:Fallback>
                <p:oleObj name="Equation" r:id="rId11" imgW="3797300" imgH="35560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06563" y="5203825"/>
                        <a:ext cx="6937375"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ctrTitle"/>
          </p:nvPr>
        </p:nvSpPr>
        <p:spPr>
          <a:xfrm>
            <a:off x="685800" y="476250"/>
            <a:ext cx="7772400" cy="865188"/>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分层辅助网络</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25603" name="副标题 2"/>
          <p:cNvSpPr>
            <a:spLocks noGrp="1"/>
          </p:cNvSpPr>
          <p:nvPr>
            <p:ph type="subTitle" idx="1"/>
          </p:nvPr>
        </p:nvSpPr>
        <p:spPr>
          <a:xfrm>
            <a:off x="684213" y="1557338"/>
            <a:ext cx="7775575" cy="4535487"/>
          </a:xfrm>
        </p:spPr>
        <p:txBody>
          <a:bodyPr/>
          <a:lstStyle/>
          <a:p>
            <a:pPr algn="l"/>
            <a:r>
              <a:rPr lang="zh-CN" altLang="en-US" sz="2400" b="1" smtClean="0">
                <a:solidFill>
                  <a:srgbClr val="C00000"/>
                </a:solidFill>
                <a:latin typeface="Times New Roman" panose="02020603050405020304" pitchFamily="18" charset="0"/>
                <a:cs typeface="Times New Roman" panose="02020603050405020304" pitchFamily="18" charset="0"/>
              </a:rPr>
              <a:t>分层辅助网络  </a:t>
            </a:r>
            <a:r>
              <a:rPr lang="en-US" altLang="zh-CN" sz="2400" b="1" i="1" smtClean="0">
                <a:solidFill>
                  <a:schemeClr val="tx1"/>
                </a:solidFill>
                <a:latin typeface="Times New Roman" panose="02020603050405020304" pitchFamily="18" charset="0"/>
                <a:cs typeface="Times New Roman" panose="02020603050405020304" pitchFamily="18" charset="0"/>
              </a:rPr>
              <a:t>AN</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 = &lt;</a:t>
            </a:r>
            <a:r>
              <a:rPr lang="en-US" altLang="zh-CN" sz="2400" b="1" i="1" smtClean="0">
                <a:solidFill>
                  <a:schemeClr val="tx1"/>
                </a:solidFill>
                <a:latin typeface="Times New Roman" panose="02020603050405020304" pitchFamily="18" charset="0"/>
                <a:cs typeface="Times New Roman" panose="02020603050405020304" pitchFamily="18" charset="0"/>
              </a:rPr>
              <a:t>V</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AE</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ac</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s</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t </a:t>
            </a:r>
            <a:r>
              <a:rPr lang="en-US" altLang="zh-CN" sz="2400" b="1" smtClean="0">
                <a:solidFill>
                  <a:schemeClr val="tx1"/>
                </a:solidFill>
                <a:latin typeface="Times New Roman" panose="02020603050405020304" pitchFamily="18" charset="0"/>
                <a:cs typeface="Times New Roman" panose="02020603050405020304" pitchFamily="18" charset="0"/>
              </a:rPr>
              <a:t>&gt;, </a:t>
            </a:r>
            <a:r>
              <a:rPr lang="zh-CN" altLang="en-US" sz="2400" b="1" smtClean="0">
                <a:solidFill>
                  <a:schemeClr val="tx1"/>
                </a:solidFill>
                <a:latin typeface="Times New Roman" panose="02020603050405020304" pitchFamily="18" charset="0"/>
                <a:cs typeface="Times New Roman" panose="02020603050405020304" pitchFamily="18" charset="0"/>
              </a:rPr>
              <a:t>其中</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lnSpc>
                <a:spcPct val="150000"/>
              </a:lnSpc>
            </a:pP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en-US" altLang="zh-CN" sz="2400" b="1" smtClean="0">
                <a:solidFill>
                  <a:schemeClr val="tx1"/>
                </a:solidFill>
                <a:latin typeface="Times New Roman" panose="02020603050405020304" pitchFamily="18" charset="0"/>
                <a:cs typeface="Times New Roman" panose="02020603050405020304" pitchFamily="18" charset="0"/>
              </a:rPr>
              <a:t> </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lnSpc>
                <a:spcPct val="150000"/>
              </a:lnSpc>
            </a:pPr>
            <a:endParaRPr lang="en-US" altLang="zh-CN" sz="2400" b="1" i="1" smtClean="0">
              <a:solidFill>
                <a:schemeClr val="tx1"/>
              </a:solidFill>
              <a:latin typeface="Times New Roman" panose="02020603050405020304" pitchFamily="18" charset="0"/>
              <a:cs typeface="Times New Roman" panose="02020603050405020304" pitchFamily="18" charset="0"/>
            </a:endParaRPr>
          </a:p>
          <a:p>
            <a:pPr algn="l">
              <a:spcBef>
                <a:spcPts val="1200"/>
              </a:spcBef>
            </a:pPr>
            <a:r>
              <a:rPr lang="en-US" altLang="zh-CN" sz="2400" b="1" i="1" smtClean="0">
                <a:solidFill>
                  <a:schemeClr val="tx1"/>
                </a:solidFill>
                <a:latin typeface="Times New Roman" panose="02020603050405020304" pitchFamily="18" charset="0"/>
                <a:cs typeface="Times New Roman" panose="02020603050405020304" pitchFamily="18" charset="0"/>
              </a:rPr>
              <a:t>     V</a:t>
            </a:r>
            <a:r>
              <a:rPr lang="en-US" altLang="zh-CN" sz="2400" b="1" i="1" baseline="-25000" smtClean="0">
                <a:solidFill>
                  <a:schemeClr val="tx1"/>
                </a:solidFill>
                <a:latin typeface="Times New Roman" panose="02020603050405020304" pitchFamily="18" charset="0"/>
                <a:cs typeface="Times New Roman" panose="02020603050405020304" pitchFamily="18" charset="0"/>
              </a:rPr>
              <a:t>k</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f </a:t>
            </a:r>
            <a:r>
              <a:rPr lang="en-US" altLang="zh-CN" sz="2400" b="1" smtClean="0">
                <a:solidFill>
                  <a:schemeClr val="tx1"/>
                </a:solidFill>
                <a:latin typeface="Times New Roman" panose="02020603050405020304" pitchFamily="18" charset="0"/>
                <a:cs typeface="Times New Roman" panose="02020603050405020304" pitchFamily="18" charset="0"/>
              </a:rPr>
              <a:t>) = {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V</a:t>
            </a:r>
            <a:r>
              <a:rPr lang="en-US" altLang="zh-CN" sz="2400" b="1" smtClean="0">
                <a:solidFill>
                  <a:schemeClr val="tx1"/>
                </a:solidFill>
                <a:latin typeface="Times New Roman" panose="02020603050405020304" pitchFamily="18" charset="0"/>
                <a:cs typeface="Times New Roman" panose="02020603050405020304" pitchFamily="18" charset="0"/>
              </a:rPr>
              <a:t> | </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 </a:t>
            </a:r>
            <a:r>
              <a:rPr lang="en-US" altLang="zh-CN" sz="2400" b="1" i="1" smtClean="0">
                <a:solidFill>
                  <a:schemeClr val="tx1"/>
                </a:solidFill>
                <a:latin typeface="Times New Roman" panose="02020603050405020304" pitchFamily="18" charset="0"/>
                <a:cs typeface="Times New Roman" panose="02020603050405020304" pitchFamily="18" charset="0"/>
              </a:rPr>
              <a:t>k </a:t>
            </a:r>
            <a:r>
              <a:rPr lang="en-US" altLang="zh-CN" sz="2400" b="1" smtClean="0">
                <a:solidFill>
                  <a:schemeClr val="tx1"/>
                </a:solidFill>
                <a:latin typeface="Times New Roman" panose="02020603050405020304" pitchFamily="18" charset="0"/>
                <a:cs typeface="Times New Roman" panose="02020603050405020304" pitchFamily="18" charset="0"/>
              </a:rPr>
              <a:t>},        0</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rPr>
              <a:t>k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1</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spcBef>
                <a:spcPts val="1200"/>
              </a:spcBef>
            </a:pP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V</a:t>
            </a:r>
            <a:r>
              <a:rPr lang="en-US" altLang="zh-CN" sz="2400" b="1" i="1" baseline="-25000" smtClean="0">
                <a:solidFill>
                  <a:schemeClr val="tx1"/>
                </a:solidFill>
                <a:latin typeface="Times New Roman" panose="02020603050405020304" pitchFamily="18" charset="0"/>
                <a:cs typeface="Times New Roman" panose="02020603050405020304" pitchFamily="18" charset="0"/>
              </a:rPr>
              <a:t>d</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 = { </a:t>
            </a:r>
            <a:r>
              <a:rPr lang="en-US" altLang="zh-CN" sz="2400" b="1" i="1" smtClean="0">
                <a:solidFill>
                  <a:schemeClr val="tx1"/>
                </a:solidFill>
                <a:latin typeface="Times New Roman" panose="02020603050405020304" pitchFamily="18" charset="0"/>
                <a:cs typeface="Times New Roman" panose="02020603050405020304" pitchFamily="18" charset="0"/>
              </a:rPr>
              <a:t>t </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zh-CN" altLang="en-US" sz="2400" b="1" smtClean="0">
              <a:solidFill>
                <a:schemeClr val="tx1"/>
              </a:solidFill>
              <a:latin typeface="Times New Roman" panose="02020603050405020304" pitchFamily="18" charset="0"/>
              <a:cs typeface="Times New Roman" panose="02020603050405020304" pitchFamily="18" charset="0"/>
            </a:endParaRPr>
          </a:p>
        </p:txBody>
      </p:sp>
      <p:sp>
        <p:nvSpPr>
          <p:cNvPr id="2560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3C7A5E7C-83A0-42EE-9625-0E4D1A3558BE}" type="slidenum">
              <a:rPr lang="zh-CN" altLang="en-US" sz="1200" smtClean="0">
                <a:solidFill>
                  <a:srgbClr val="898989"/>
                </a:solidFill>
              </a:rPr>
            </a:fld>
            <a:endParaRPr lang="zh-CN" altLang="en-US" sz="1200" smtClean="0">
              <a:solidFill>
                <a:srgbClr val="898989"/>
              </a:solidFill>
            </a:endParaRPr>
          </a:p>
        </p:txBody>
      </p:sp>
      <p:sp>
        <p:nvSpPr>
          <p:cNvPr id="25605"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25606" name="Object 5"/>
          <p:cNvGraphicFramePr>
            <a:graphicFrameLocks noChangeAspect="1"/>
          </p:cNvGraphicFramePr>
          <p:nvPr/>
        </p:nvGraphicFramePr>
        <p:xfrm>
          <a:off x="1187450" y="2035175"/>
          <a:ext cx="2093913" cy="863600"/>
        </p:xfrm>
        <a:graphic>
          <a:graphicData uri="http://schemas.openxmlformats.org/presentationml/2006/ole">
            <mc:AlternateContent xmlns:mc="http://schemas.openxmlformats.org/markup-compatibility/2006">
              <mc:Choice xmlns:v="urn:schemas-microsoft-com:vml" Requires="v">
                <p:oleObj spid="_x0000_s25611" name="Equation" r:id="rId1" imgW="1091565" imgH="444500" progId="Equation.3">
                  <p:embed/>
                </p:oleObj>
              </mc:Choice>
              <mc:Fallback>
                <p:oleObj name="Equation" r:id="rId1" imgW="1091565" imgH="4445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2035175"/>
                        <a:ext cx="2093913"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07"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25608" name="Object 7"/>
          <p:cNvGraphicFramePr>
            <a:graphicFrameLocks noChangeAspect="1"/>
          </p:cNvGraphicFramePr>
          <p:nvPr/>
        </p:nvGraphicFramePr>
        <p:xfrm>
          <a:off x="1123950" y="2887663"/>
          <a:ext cx="7332663" cy="920750"/>
        </p:xfrm>
        <a:graphic>
          <a:graphicData uri="http://schemas.openxmlformats.org/presentationml/2006/ole">
            <mc:AlternateContent xmlns:mc="http://schemas.openxmlformats.org/markup-compatibility/2006">
              <mc:Choice xmlns:v="urn:schemas-microsoft-com:vml" Requires="v">
                <p:oleObj spid="_x0000_s25612" name="Equation" r:id="rId3" imgW="3835400" imgH="444500" progId="Equation.3">
                  <p:embed/>
                </p:oleObj>
              </mc:Choice>
              <mc:Fallback>
                <p:oleObj name="Equation" r:id="rId3" imgW="3835400" imgH="4445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3950" y="2887663"/>
                        <a:ext cx="7332663"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457200" y="274638"/>
            <a:ext cx="1723174" cy="725487"/>
          </a:xfrm>
        </p:spPr>
        <p:txBody>
          <a:bodyPr/>
          <a:lstStyle/>
          <a:p>
            <a:pPr algn="l"/>
            <a:r>
              <a:rPr lang="zh-CN" altLang="en-US" sz="4000" b="1" dirty="0" smtClean="0">
                <a:solidFill>
                  <a:srgbClr val="C00000"/>
                </a:solidFill>
                <a:latin typeface="Times New Roman" panose="02020603050405020304" pitchFamily="18" charset="0"/>
                <a:cs typeface="Times New Roman" panose="02020603050405020304" pitchFamily="18" charset="0"/>
              </a:rPr>
              <a:t>例</a:t>
            </a:r>
            <a:r>
              <a:rPr lang="en-US" altLang="zh-CN" sz="4000" b="1" dirty="0" smtClean="0">
                <a:solidFill>
                  <a:srgbClr val="C00000"/>
                </a:solidFill>
                <a:latin typeface="Times New Roman" panose="02020603050405020304" pitchFamily="18" charset="0"/>
                <a:cs typeface="Times New Roman" panose="02020603050405020304" pitchFamily="18" charset="0"/>
              </a:rPr>
              <a:t>7.2</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
        <p:nvSpPr>
          <p:cNvPr id="2765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67C4B0A-20AD-46B1-9CA2-BF6293A2222B}" type="slidenum">
              <a:rPr lang="zh-CN" altLang="en-US" sz="1200" smtClean="0">
                <a:solidFill>
                  <a:srgbClr val="898989"/>
                </a:solidFill>
              </a:rPr>
            </a:fld>
            <a:endParaRPr lang="zh-CN" altLang="en-US" sz="1200" smtClean="0">
              <a:solidFill>
                <a:srgbClr val="898989"/>
              </a:solidFill>
            </a:endParaRPr>
          </a:p>
        </p:txBody>
      </p:sp>
      <p:grpSp>
        <p:nvGrpSpPr>
          <p:cNvPr id="27652" name="组合 240"/>
          <p:cNvGrpSpPr/>
          <p:nvPr/>
        </p:nvGrpSpPr>
        <p:grpSpPr bwMode="auto">
          <a:xfrm>
            <a:off x="2643188" y="428625"/>
            <a:ext cx="5659437" cy="2357438"/>
            <a:chOff x="2643188" y="428625"/>
            <a:chExt cx="5357812" cy="2357438"/>
          </a:xfrm>
        </p:grpSpPr>
        <p:sp>
          <p:nvSpPr>
            <p:cNvPr id="27820" name="Text Box 51"/>
            <p:cNvSpPr txBox="1">
              <a:spLocks noChangeArrowheads="1"/>
            </p:cNvSpPr>
            <p:nvPr/>
          </p:nvSpPr>
          <p:spPr bwMode="auto">
            <a:xfrm>
              <a:off x="2643188" y="1143000"/>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8,3</a:t>
              </a:r>
              <a:endParaRPr lang="zh-CN" altLang="zh-CN" sz="1600" b="1">
                <a:latin typeface="Arial" panose="020B0604020202020204" pitchFamily="34" charset="0"/>
              </a:endParaRPr>
            </a:p>
          </p:txBody>
        </p:sp>
        <p:sp>
          <p:nvSpPr>
            <p:cNvPr id="27821" name="Oval 6"/>
            <p:cNvSpPr>
              <a:spLocks noChangeArrowheads="1"/>
            </p:cNvSpPr>
            <p:nvPr/>
          </p:nvSpPr>
          <p:spPr bwMode="auto">
            <a:xfrm>
              <a:off x="2661495" y="1538283"/>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822" name="Oval 7"/>
            <p:cNvSpPr>
              <a:spLocks noChangeArrowheads="1"/>
            </p:cNvSpPr>
            <p:nvPr/>
          </p:nvSpPr>
          <p:spPr bwMode="auto">
            <a:xfrm>
              <a:off x="3193556" y="1006930"/>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823" name="Oval 8"/>
            <p:cNvSpPr>
              <a:spLocks noChangeArrowheads="1"/>
            </p:cNvSpPr>
            <p:nvPr/>
          </p:nvSpPr>
          <p:spPr bwMode="auto">
            <a:xfrm>
              <a:off x="3824181" y="475578"/>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824" name="Oval 9"/>
            <p:cNvSpPr>
              <a:spLocks noChangeArrowheads="1"/>
            </p:cNvSpPr>
            <p:nvPr/>
          </p:nvSpPr>
          <p:spPr bwMode="auto">
            <a:xfrm>
              <a:off x="3210600" y="2060474"/>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825" name="Oval 10"/>
            <p:cNvSpPr>
              <a:spLocks noChangeArrowheads="1"/>
            </p:cNvSpPr>
            <p:nvPr/>
          </p:nvSpPr>
          <p:spPr bwMode="auto">
            <a:xfrm>
              <a:off x="3790093" y="2546020"/>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826" name="Oval 11"/>
            <p:cNvSpPr>
              <a:spLocks noChangeArrowheads="1"/>
            </p:cNvSpPr>
            <p:nvPr/>
          </p:nvSpPr>
          <p:spPr bwMode="auto">
            <a:xfrm>
              <a:off x="3807137" y="1565765"/>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827" name="Oval 12"/>
            <p:cNvSpPr>
              <a:spLocks noChangeArrowheads="1"/>
            </p:cNvSpPr>
            <p:nvPr/>
          </p:nvSpPr>
          <p:spPr bwMode="auto">
            <a:xfrm>
              <a:off x="4522982" y="997768"/>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828" name="Oval 13"/>
            <p:cNvSpPr>
              <a:spLocks noChangeArrowheads="1"/>
            </p:cNvSpPr>
            <p:nvPr/>
          </p:nvSpPr>
          <p:spPr bwMode="auto">
            <a:xfrm>
              <a:off x="4548547" y="2087958"/>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829" name="Oval 14"/>
            <p:cNvSpPr>
              <a:spLocks noChangeArrowheads="1"/>
            </p:cNvSpPr>
            <p:nvPr/>
          </p:nvSpPr>
          <p:spPr bwMode="auto">
            <a:xfrm>
              <a:off x="5162129" y="1574927"/>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830" name="Oval 15"/>
            <p:cNvSpPr>
              <a:spLocks noChangeArrowheads="1"/>
            </p:cNvSpPr>
            <p:nvPr/>
          </p:nvSpPr>
          <p:spPr bwMode="auto">
            <a:xfrm>
              <a:off x="5903540" y="1016091"/>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831" name="Oval 16"/>
            <p:cNvSpPr>
              <a:spLocks noChangeArrowheads="1"/>
            </p:cNvSpPr>
            <p:nvPr/>
          </p:nvSpPr>
          <p:spPr bwMode="auto">
            <a:xfrm>
              <a:off x="5920584" y="2069636"/>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832" name="Oval 17"/>
            <p:cNvSpPr>
              <a:spLocks noChangeArrowheads="1"/>
            </p:cNvSpPr>
            <p:nvPr/>
          </p:nvSpPr>
          <p:spPr bwMode="auto">
            <a:xfrm>
              <a:off x="6517122" y="1574927"/>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833" name="Oval 18"/>
            <p:cNvSpPr>
              <a:spLocks noChangeArrowheads="1"/>
            </p:cNvSpPr>
            <p:nvPr/>
          </p:nvSpPr>
          <p:spPr bwMode="auto">
            <a:xfrm>
              <a:off x="5145085" y="2546020"/>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27834" name="AutoShape 19"/>
            <p:cNvCxnSpPr>
              <a:cxnSpLocks noChangeShapeType="1"/>
            </p:cNvCxnSpPr>
            <p:nvPr/>
          </p:nvCxnSpPr>
          <p:spPr bwMode="auto">
            <a:xfrm flipV="1">
              <a:off x="2810068" y="1207333"/>
              <a:ext cx="392010" cy="349272"/>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835" name="AutoShape 20"/>
            <p:cNvCxnSpPr>
              <a:cxnSpLocks noChangeShapeType="1"/>
            </p:cNvCxnSpPr>
            <p:nvPr/>
          </p:nvCxnSpPr>
          <p:spPr bwMode="auto">
            <a:xfrm flipV="1">
              <a:off x="3398083" y="659946"/>
              <a:ext cx="434620" cy="38362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836" name="AutoShape 21"/>
            <p:cNvCxnSpPr>
              <a:cxnSpLocks noChangeShapeType="1"/>
            </p:cNvCxnSpPr>
            <p:nvPr/>
          </p:nvCxnSpPr>
          <p:spPr bwMode="auto">
            <a:xfrm>
              <a:off x="2810068" y="1729523"/>
              <a:ext cx="400532" cy="381337"/>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837" name="AutoShape 22"/>
            <p:cNvCxnSpPr>
              <a:cxnSpLocks noChangeShapeType="1"/>
            </p:cNvCxnSpPr>
            <p:nvPr/>
          </p:nvCxnSpPr>
          <p:spPr bwMode="auto">
            <a:xfrm>
              <a:off x="3389561" y="2260877"/>
              <a:ext cx="400532"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838" name="AutoShape 23"/>
            <p:cNvCxnSpPr>
              <a:cxnSpLocks noChangeShapeType="1"/>
            </p:cNvCxnSpPr>
            <p:nvPr/>
          </p:nvCxnSpPr>
          <p:spPr bwMode="auto">
            <a:xfrm>
              <a:off x="3389561" y="1207333"/>
              <a:ext cx="417576" cy="376755"/>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839" name="AutoShape 24"/>
            <p:cNvCxnSpPr>
              <a:cxnSpLocks noChangeShapeType="1"/>
            </p:cNvCxnSpPr>
            <p:nvPr/>
          </p:nvCxnSpPr>
          <p:spPr bwMode="auto">
            <a:xfrm>
              <a:off x="4020186" y="659946"/>
              <a:ext cx="528361" cy="38362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840" name="AutoShape 25"/>
            <p:cNvCxnSpPr>
              <a:cxnSpLocks noChangeShapeType="1"/>
            </p:cNvCxnSpPr>
            <p:nvPr/>
          </p:nvCxnSpPr>
          <p:spPr bwMode="auto">
            <a:xfrm flipV="1">
              <a:off x="3398083" y="1747846"/>
              <a:ext cx="409054" cy="363015"/>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841" name="AutoShape 26"/>
            <p:cNvCxnSpPr>
              <a:cxnSpLocks noChangeShapeType="1"/>
            </p:cNvCxnSpPr>
            <p:nvPr/>
          </p:nvCxnSpPr>
          <p:spPr bwMode="auto">
            <a:xfrm flipV="1">
              <a:off x="4003142" y="1170687"/>
              <a:ext cx="545406" cy="42599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842" name="AutoShape 27"/>
            <p:cNvCxnSpPr>
              <a:cxnSpLocks noChangeShapeType="1"/>
            </p:cNvCxnSpPr>
            <p:nvPr/>
          </p:nvCxnSpPr>
          <p:spPr bwMode="auto">
            <a:xfrm flipV="1">
              <a:off x="3341625" y="685141"/>
              <a:ext cx="566711" cy="137533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843" name="AutoShape 28"/>
            <p:cNvCxnSpPr>
              <a:cxnSpLocks noChangeShapeType="1"/>
            </p:cNvCxnSpPr>
            <p:nvPr/>
          </p:nvCxnSpPr>
          <p:spPr bwMode="auto">
            <a:xfrm>
              <a:off x="4718987" y="1118010"/>
              <a:ext cx="1184553"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844" name="AutoShape 29"/>
            <p:cNvCxnSpPr>
              <a:cxnSpLocks noChangeShapeType="1"/>
            </p:cNvCxnSpPr>
            <p:nvPr/>
          </p:nvCxnSpPr>
          <p:spPr bwMode="auto">
            <a:xfrm>
              <a:off x="4003142" y="1683716"/>
              <a:ext cx="1158987"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845" name="AutoShape 30"/>
            <p:cNvCxnSpPr>
              <a:cxnSpLocks noChangeShapeType="1"/>
            </p:cNvCxnSpPr>
            <p:nvPr/>
          </p:nvCxnSpPr>
          <p:spPr bwMode="auto">
            <a:xfrm>
              <a:off x="3986098" y="1747846"/>
              <a:ext cx="579494" cy="40195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846" name="AutoShape 31"/>
            <p:cNvCxnSpPr>
              <a:cxnSpLocks noChangeShapeType="1"/>
            </p:cNvCxnSpPr>
            <p:nvPr/>
          </p:nvCxnSpPr>
          <p:spPr bwMode="auto">
            <a:xfrm flipV="1">
              <a:off x="3986098" y="2260877"/>
              <a:ext cx="562450"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847" name="AutoShape 32"/>
            <p:cNvCxnSpPr>
              <a:cxnSpLocks noChangeShapeType="1"/>
            </p:cNvCxnSpPr>
            <p:nvPr/>
          </p:nvCxnSpPr>
          <p:spPr bwMode="auto">
            <a:xfrm>
              <a:off x="4718987" y="2260877"/>
              <a:ext cx="443142"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848" name="AutoShape 33"/>
            <p:cNvCxnSpPr>
              <a:cxnSpLocks noChangeShapeType="1"/>
            </p:cNvCxnSpPr>
            <p:nvPr/>
          </p:nvCxnSpPr>
          <p:spPr bwMode="auto">
            <a:xfrm flipV="1">
              <a:off x="5341091" y="1216494"/>
              <a:ext cx="579494" cy="380192"/>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849" name="AutoShape 34"/>
            <p:cNvCxnSpPr>
              <a:cxnSpLocks noChangeShapeType="1"/>
            </p:cNvCxnSpPr>
            <p:nvPr/>
          </p:nvCxnSpPr>
          <p:spPr bwMode="auto">
            <a:xfrm>
              <a:off x="5341091" y="1747846"/>
              <a:ext cx="579494" cy="363015"/>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850" name="AutoShape 35"/>
            <p:cNvCxnSpPr>
              <a:cxnSpLocks noChangeShapeType="1"/>
            </p:cNvCxnSpPr>
            <p:nvPr/>
          </p:nvCxnSpPr>
          <p:spPr bwMode="auto">
            <a:xfrm flipV="1">
              <a:off x="5341091" y="2260877"/>
              <a:ext cx="579494"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851" name="AutoShape 36"/>
            <p:cNvCxnSpPr>
              <a:cxnSpLocks noChangeShapeType="1"/>
            </p:cNvCxnSpPr>
            <p:nvPr/>
          </p:nvCxnSpPr>
          <p:spPr bwMode="auto">
            <a:xfrm>
              <a:off x="6099545" y="1170687"/>
              <a:ext cx="417576" cy="42599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852" name="AutoShape 37"/>
            <p:cNvCxnSpPr>
              <a:cxnSpLocks noChangeShapeType="1"/>
            </p:cNvCxnSpPr>
            <p:nvPr/>
          </p:nvCxnSpPr>
          <p:spPr bwMode="auto">
            <a:xfrm flipV="1">
              <a:off x="6099545" y="1747846"/>
              <a:ext cx="417576" cy="363015"/>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sp>
          <p:nvSpPr>
            <p:cNvPr id="27853" name="Text Box 44"/>
            <p:cNvSpPr txBox="1">
              <a:spLocks noChangeArrowheads="1"/>
            </p:cNvSpPr>
            <p:nvPr/>
          </p:nvSpPr>
          <p:spPr bwMode="auto">
            <a:xfrm>
              <a:off x="4430305" y="941656"/>
              <a:ext cx="407989" cy="36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700">
                  <a:latin typeface="Times New Roman" panose="02020603050405020304" pitchFamily="18" charset="0"/>
                </a:rPr>
                <a:t>6</a:t>
              </a:r>
              <a:endParaRPr lang="zh-CN" altLang="zh-CN" sz="1800">
                <a:latin typeface="Arial" panose="020B0604020202020204" pitchFamily="34" charset="0"/>
              </a:endParaRPr>
            </a:p>
          </p:txBody>
        </p:sp>
        <p:sp>
          <p:nvSpPr>
            <p:cNvPr id="27854" name="Text Box 51"/>
            <p:cNvSpPr txBox="1">
              <a:spLocks noChangeArrowheads="1"/>
            </p:cNvSpPr>
            <p:nvPr/>
          </p:nvSpPr>
          <p:spPr bwMode="auto">
            <a:xfrm>
              <a:off x="3143250" y="642938"/>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3,2</a:t>
              </a:r>
              <a:endParaRPr lang="zh-CN" altLang="zh-CN" sz="1600" b="1">
                <a:latin typeface="Arial" panose="020B0604020202020204" pitchFamily="34" charset="0"/>
              </a:endParaRPr>
            </a:p>
          </p:txBody>
        </p:sp>
        <p:sp>
          <p:nvSpPr>
            <p:cNvPr id="27855" name="Text Box 51"/>
            <p:cNvSpPr txBox="1">
              <a:spLocks noChangeArrowheads="1"/>
            </p:cNvSpPr>
            <p:nvPr/>
          </p:nvSpPr>
          <p:spPr bwMode="auto">
            <a:xfrm>
              <a:off x="2643188" y="1842382"/>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7,3</a:t>
              </a:r>
              <a:endParaRPr lang="zh-CN" altLang="zh-CN" sz="1600" b="1">
                <a:latin typeface="Arial" panose="020B0604020202020204" pitchFamily="34" charset="0"/>
              </a:endParaRPr>
            </a:p>
          </p:txBody>
        </p:sp>
        <p:sp>
          <p:nvSpPr>
            <p:cNvPr id="27856" name="Text Box 51"/>
            <p:cNvSpPr txBox="1">
              <a:spLocks noChangeArrowheads="1"/>
            </p:cNvSpPr>
            <p:nvPr/>
          </p:nvSpPr>
          <p:spPr bwMode="auto">
            <a:xfrm>
              <a:off x="3143250" y="1214438"/>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3,1</a:t>
              </a:r>
              <a:endParaRPr lang="zh-CN" altLang="zh-CN" sz="1600" b="1">
                <a:latin typeface="Arial" panose="020B0604020202020204" pitchFamily="34" charset="0"/>
              </a:endParaRPr>
            </a:p>
          </p:txBody>
        </p:sp>
        <p:sp>
          <p:nvSpPr>
            <p:cNvPr id="27857" name="Text Box 51"/>
            <p:cNvSpPr txBox="1">
              <a:spLocks noChangeArrowheads="1"/>
            </p:cNvSpPr>
            <p:nvPr/>
          </p:nvSpPr>
          <p:spPr bwMode="auto">
            <a:xfrm>
              <a:off x="3571875" y="1842382"/>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3,1</a:t>
              </a:r>
              <a:endParaRPr lang="zh-CN" altLang="zh-CN" sz="1600" b="1">
                <a:latin typeface="Arial" panose="020B0604020202020204" pitchFamily="34" charset="0"/>
              </a:endParaRPr>
            </a:p>
          </p:txBody>
        </p:sp>
        <p:sp>
          <p:nvSpPr>
            <p:cNvPr id="27858" name="Text Box 51"/>
            <p:cNvSpPr txBox="1">
              <a:spLocks noChangeArrowheads="1"/>
            </p:cNvSpPr>
            <p:nvPr/>
          </p:nvSpPr>
          <p:spPr bwMode="auto">
            <a:xfrm>
              <a:off x="3714750" y="913695"/>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3,0</a:t>
              </a:r>
              <a:endParaRPr lang="zh-CN" altLang="zh-CN" sz="1600" b="1">
                <a:latin typeface="Arial" panose="020B0604020202020204" pitchFamily="34" charset="0"/>
              </a:endParaRPr>
            </a:p>
          </p:txBody>
        </p:sp>
        <p:sp>
          <p:nvSpPr>
            <p:cNvPr id="27859" name="Text Box 51"/>
            <p:cNvSpPr txBox="1">
              <a:spLocks noChangeArrowheads="1"/>
            </p:cNvSpPr>
            <p:nvPr/>
          </p:nvSpPr>
          <p:spPr bwMode="auto">
            <a:xfrm>
              <a:off x="4214813" y="571500"/>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6,2</a:t>
              </a:r>
              <a:endParaRPr lang="zh-CN" altLang="zh-CN" sz="1600" b="1">
                <a:latin typeface="Arial" panose="020B0604020202020204" pitchFamily="34" charset="0"/>
              </a:endParaRPr>
            </a:p>
          </p:txBody>
        </p:sp>
        <p:sp>
          <p:nvSpPr>
            <p:cNvPr id="27860" name="Text Box 51"/>
            <p:cNvSpPr txBox="1">
              <a:spLocks noChangeArrowheads="1"/>
            </p:cNvSpPr>
            <p:nvPr/>
          </p:nvSpPr>
          <p:spPr bwMode="auto">
            <a:xfrm>
              <a:off x="3857625" y="1143000"/>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2,0</a:t>
              </a:r>
              <a:endParaRPr lang="zh-CN" altLang="zh-CN" sz="1600" b="1">
                <a:latin typeface="Arial" panose="020B0604020202020204" pitchFamily="34" charset="0"/>
              </a:endParaRPr>
            </a:p>
          </p:txBody>
        </p:sp>
        <p:sp>
          <p:nvSpPr>
            <p:cNvPr id="27861" name="Text Box 51"/>
            <p:cNvSpPr txBox="1">
              <a:spLocks noChangeArrowheads="1"/>
            </p:cNvSpPr>
            <p:nvPr/>
          </p:nvSpPr>
          <p:spPr bwMode="auto">
            <a:xfrm>
              <a:off x="5000625" y="842257"/>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5,2</a:t>
              </a:r>
              <a:endParaRPr lang="zh-CN" altLang="zh-CN" sz="1600" b="1">
                <a:latin typeface="Arial" panose="020B0604020202020204" pitchFamily="34" charset="0"/>
              </a:endParaRPr>
            </a:p>
          </p:txBody>
        </p:sp>
        <p:sp>
          <p:nvSpPr>
            <p:cNvPr id="27862" name="Text Box 51"/>
            <p:cNvSpPr txBox="1">
              <a:spLocks noChangeArrowheads="1"/>
            </p:cNvSpPr>
            <p:nvPr/>
          </p:nvSpPr>
          <p:spPr bwMode="auto">
            <a:xfrm>
              <a:off x="4500563" y="1413757"/>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6,2</a:t>
              </a:r>
              <a:endParaRPr lang="zh-CN" altLang="zh-CN" sz="1600" b="1">
                <a:latin typeface="Arial" panose="020B0604020202020204" pitchFamily="34" charset="0"/>
              </a:endParaRPr>
            </a:p>
          </p:txBody>
        </p:sp>
        <p:sp>
          <p:nvSpPr>
            <p:cNvPr id="27863" name="Text Box 51"/>
            <p:cNvSpPr txBox="1">
              <a:spLocks noChangeArrowheads="1"/>
            </p:cNvSpPr>
            <p:nvPr/>
          </p:nvSpPr>
          <p:spPr bwMode="auto">
            <a:xfrm>
              <a:off x="4357688" y="1770945"/>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2,0</a:t>
              </a:r>
              <a:endParaRPr lang="zh-CN" altLang="zh-CN" sz="1600" b="1">
                <a:latin typeface="Arial" panose="020B0604020202020204" pitchFamily="34" charset="0"/>
              </a:endParaRPr>
            </a:p>
          </p:txBody>
        </p:sp>
        <p:sp>
          <p:nvSpPr>
            <p:cNvPr id="27864" name="Text Box 51"/>
            <p:cNvSpPr txBox="1">
              <a:spLocks noChangeArrowheads="1"/>
            </p:cNvSpPr>
            <p:nvPr/>
          </p:nvSpPr>
          <p:spPr bwMode="auto">
            <a:xfrm>
              <a:off x="3143250" y="2342445"/>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5,2</a:t>
              </a:r>
              <a:endParaRPr lang="zh-CN" altLang="zh-CN" sz="1600" b="1">
                <a:latin typeface="Arial" panose="020B0604020202020204" pitchFamily="34" charset="0"/>
              </a:endParaRPr>
            </a:p>
          </p:txBody>
        </p:sp>
        <p:sp>
          <p:nvSpPr>
            <p:cNvPr id="27865" name="Text Box 51"/>
            <p:cNvSpPr txBox="1">
              <a:spLocks noChangeArrowheads="1"/>
            </p:cNvSpPr>
            <p:nvPr/>
          </p:nvSpPr>
          <p:spPr bwMode="auto">
            <a:xfrm>
              <a:off x="4214813" y="2357438"/>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5,2</a:t>
              </a:r>
              <a:endParaRPr lang="zh-CN" altLang="zh-CN" sz="1600" b="1">
                <a:latin typeface="Arial" panose="020B0604020202020204" pitchFamily="34" charset="0"/>
              </a:endParaRPr>
            </a:p>
          </p:txBody>
        </p:sp>
        <p:sp>
          <p:nvSpPr>
            <p:cNvPr id="27866" name="Text Box 51"/>
            <p:cNvSpPr txBox="1">
              <a:spLocks noChangeArrowheads="1"/>
            </p:cNvSpPr>
            <p:nvPr/>
          </p:nvSpPr>
          <p:spPr bwMode="auto">
            <a:xfrm>
              <a:off x="4572000" y="2357438"/>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4,2</a:t>
              </a:r>
              <a:endParaRPr lang="zh-CN" altLang="zh-CN" sz="1600" b="1">
                <a:latin typeface="Arial" panose="020B0604020202020204" pitchFamily="34" charset="0"/>
              </a:endParaRPr>
            </a:p>
          </p:txBody>
        </p:sp>
        <p:sp>
          <p:nvSpPr>
            <p:cNvPr id="27867" name="Text Box 51"/>
            <p:cNvSpPr txBox="1">
              <a:spLocks noChangeArrowheads="1"/>
            </p:cNvSpPr>
            <p:nvPr/>
          </p:nvSpPr>
          <p:spPr bwMode="auto">
            <a:xfrm>
              <a:off x="5153024" y="1214438"/>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4,1</a:t>
              </a:r>
              <a:endParaRPr lang="zh-CN" altLang="zh-CN" sz="1600" b="1">
                <a:latin typeface="Arial" panose="020B0604020202020204" pitchFamily="34" charset="0"/>
              </a:endParaRPr>
            </a:p>
          </p:txBody>
        </p:sp>
        <p:sp>
          <p:nvSpPr>
            <p:cNvPr id="27868" name="Text Box 51"/>
            <p:cNvSpPr txBox="1">
              <a:spLocks noChangeArrowheads="1"/>
            </p:cNvSpPr>
            <p:nvPr/>
          </p:nvSpPr>
          <p:spPr bwMode="auto">
            <a:xfrm>
              <a:off x="5214938" y="1842382"/>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1,1</a:t>
              </a:r>
              <a:endParaRPr lang="zh-CN" altLang="zh-CN" sz="1600" b="1">
                <a:latin typeface="Arial" panose="020B0604020202020204" pitchFamily="34" charset="0"/>
              </a:endParaRPr>
            </a:p>
          </p:txBody>
        </p:sp>
        <p:sp>
          <p:nvSpPr>
            <p:cNvPr id="27869" name="Text Box 51"/>
            <p:cNvSpPr txBox="1">
              <a:spLocks noChangeArrowheads="1"/>
            </p:cNvSpPr>
            <p:nvPr/>
          </p:nvSpPr>
          <p:spPr bwMode="auto">
            <a:xfrm>
              <a:off x="6286500" y="1199445"/>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9,3</a:t>
              </a:r>
              <a:endParaRPr lang="zh-CN" altLang="zh-CN" sz="1600" b="1">
                <a:latin typeface="Arial" panose="020B0604020202020204" pitchFamily="34" charset="0"/>
              </a:endParaRPr>
            </a:p>
          </p:txBody>
        </p:sp>
        <p:sp>
          <p:nvSpPr>
            <p:cNvPr id="27870" name="Text Box 51"/>
            <p:cNvSpPr txBox="1">
              <a:spLocks noChangeArrowheads="1"/>
            </p:cNvSpPr>
            <p:nvPr/>
          </p:nvSpPr>
          <p:spPr bwMode="auto">
            <a:xfrm>
              <a:off x="6286500" y="1842382"/>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3,3</a:t>
              </a:r>
              <a:endParaRPr lang="zh-CN" altLang="zh-CN" sz="1600" b="1">
                <a:latin typeface="Arial" panose="020B0604020202020204" pitchFamily="34" charset="0"/>
              </a:endParaRPr>
            </a:p>
          </p:txBody>
        </p:sp>
        <p:sp>
          <p:nvSpPr>
            <p:cNvPr id="27871" name="Text Box 51"/>
            <p:cNvSpPr txBox="1">
              <a:spLocks noChangeArrowheads="1"/>
            </p:cNvSpPr>
            <p:nvPr/>
          </p:nvSpPr>
          <p:spPr bwMode="auto">
            <a:xfrm>
              <a:off x="5572125" y="2342445"/>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5,2</a:t>
              </a:r>
              <a:endParaRPr lang="zh-CN" altLang="zh-CN" sz="1600" b="1">
                <a:latin typeface="Arial" panose="020B0604020202020204" pitchFamily="34" charset="0"/>
              </a:endParaRPr>
            </a:p>
          </p:txBody>
        </p:sp>
        <p:sp>
          <p:nvSpPr>
            <p:cNvPr id="27872" name="Text Box 51"/>
            <p:cNvSpPr txBox="1">
              <a:spLocks noChangeArrowheads="1"/>
            </p:cNvSpPr>
            <p:nvPr/>
          </p:nvSpPr>
          <p:spPr bwMode="auto">
            <a:xfrm>
              <a:off x="3795712" y="428625"/>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3</a:t>
              </a:r>
              <a:endParaRPr lang="zh-CN" altLang="zh-CN" sz="1400" b="1">
                <a:latin typeface="Arial" panose="020B0604020202020204" pitchFamily="34" charset="0"/>
              </a:endParaRPr>
            </a:p>
          </p:txBody>
        </p:sp>
        <p:sp>
          <p:nvSpPr>
            <p:cNvPr id="27873" name="Text Box 51"/>
            <p:cNvSpPr txBox="1">
              <a:spLocks noChangeArrowheads="1"/>
            </p:cNvSpPr>
            <p:nvPr/>
          </p:nvSpPr>
          <p:spPr bwMode="auto">
            <a:xfrm>
              <a:off x="3143250" y="1000125"/>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a:t>
              </a:r>
              <a:endParaRPr lang="zh-CN" altLang="zh-CN" sz="1400" b="1">
                <a:latin typeface="Arial" panose="020B0604020202020204" pitchFamily="34" charset="0"/>
              </a:endParaRPr>
            </a:p>
          </p:txBody>
        </p:sp>
        <p:sp>
          <p:nvSpPr>
            <p:cNvPr id="27874" name="Text Box 51"/>
            <p:cNvSpPr txBox="1">
              <a:spLocks noChangeArrowheads="1"/>
            </p:cNvSpPr>
            <p:nvPr/>
          </p:nvSpPr>
          <p:spPr bwMode="auto">
            <a:xfrm>
              <a:off x="3143250" y="2000250"/>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2</a:t>
              </a:r>
              <a:endParaRPr lang="zh-CN" altLang="zh-CN" sz="1400" b="1">
                <a:latin typeface="Arial" panose="020B0604020202020204" pitchFamily="34" charset="0"/>
              </a:endParaRPr>
            </a:p>
          </p:txBody>
        </p:sp>
        <p:sp>
          <p:nvSpPr>
            <p:cNvPr id="27875" name="Text Box 51"/>
            <p:cNvSpPr txBox="1">
              <a:spLocks noChangeArrowheads="1"/>
            </p:cNvSpPr>
            <p:nvPr/>
          </p:nvSpPr>
          <p:spPr bwMode="auto">
            <a:xfrm>
              <a:off x="3786188" y="1500188"/>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4</a:t>
              </a:r>
              <a:endParaRPr lang="zh-CN" altLang="zh-CN" sz="1400" b="1">
                <a:latin typeface="Arial" panose="020B0604020202020204" pitchFamily="34" charset="0"/>
              </a:endParaRPr>
            </a:p>
          </p:txBody>
        </p:sp>
        <p:sp>
          <p:nvSpPr>
            <p:cNvPr id="27876" name="Text Box 51"/>
            <p:cNvSpPr txBox="1">
              <a:spLocks noChangeArrowheads="1"/>
            </p:cNvSpPr>
            <p:nvPr/>
          </p:nvSpPr>
          <p:spPr bwMode="auto">
            <a:xfrm>
              <a:off x="3786188" y="2500313"/>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5</a:t>
              </a:r>
              <a:endParaRPr lang="zh-CN" altLang="zh-CN" sz="1400" b="1">
                <a:latin typeface="Arial" panose="020B0604020202020204" pitchFamily="34" charset="0"/>
              </a:endParaRPr>
            </a:p>
          </p:txBody>
        </p:sp>
        <p:sp>
          <p:nvSpPr>
            <p:cNvPr id="27877" name="Text Box 51"/>
            <p:cNvSpPr txBox="1">
              <a:spLocks noChangeArrowheads="1"/>
            </p:cNvSpPr>
            <p:nvPr/>
          </p:nvSpPr>
          <p:spPr bwMode="auto">
            <a:xfrm>
              <a:off x="4510087" y="928688"/>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6</a:t>
              </a:r>
              <a:endParaRPr lang="zh-CN" altLang="zh-CN" sz="1400" b="1">
                <a:latin typeface="Arial" panose="020B0604020202020204" pitchFamily="34" charset="0"/>
              </a:endParaRPr>
            </a:p>
          </p:txBody>
        </p:sp>
        <p:sp>
          <p:nvSpPr>
            <p:cNvPr id="27878" name="Text Box 51"/>
            <p:cNvSpPr txBox="1">
              <a:spLocks noChangeArrowheads="1"/>
            </p:cNvSpPr>
            <p:nvPr/>
          </p:nvSpPr>
          <p:spPr bwMode="auto">
            <a:xfrm>
              <a:off x="4510087" y="2071688"/>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7</a:t>
              </a:r>
              <a:endParaRPr lang="zh-CN" altLang="zh-CN" sz="1400" b="1">
                <a:latin typeface="Arial" panose="020B0604020202020204" pitchFamily="34" charset="0"/>
              </a:endParaRPr>
            </a:p>
          </p:txBody>
        </p:sp>
        <p:sp>
          <p:nvSpPr>
            <p:cNvPr id="27879" name="Text Box 51"/>
            <p:cNvSpPr txBox="1">
              <a:spLocks noChangeArrowheads="1"/>
            </p:cNvSpPr>
            <p:nvPr/>
          </p:nvSpPr>
          <p:spPr bwMode="auto">
            <a:xfrm>
              <a:off x="5153024" y="1571625"/>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8</a:t>
              </a:r>
              <a:endParaRPr lang="zh-CN" altLang="zh-CN" sz="1400" b="1">
                <a:latin typeface="Arial" panose="020B0604020202020204" pitchFamily="34" charset="0"/>
              </a:endParaRPr>
            </a:p>
          </p:txBody>
        </p:sp>
        <p:sp>
          <p:nvSpPr>
            <p:cNvPr id="27880" name="Text Box 51"/>
            <p:cNvSpPr txBox="1">
              <a:spLocks noChangeArrowheads="1"/>
            </p:cNvSpPr>
            <p:nvPr/>
          </p:nvSpPr>
          <p:spPr bwMode="auto">
            <a:xfrm>
              <a:off x="5143500" y="2500313"/>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9</a:t>
              </a:r>
              <a:endParaRPr lang="zh-CN" altLang="zh-CN" sz="1400" b="1">
                <a:latin typeface="Arial" panose="020B0604020202020204" pitchFamily="34" charset="0"/>
              </a:endParaRPr>
            </a:p>
          </p:txBody>
        </p:sp>
        <p:sp>
          <p:nvSpPr>
            <p:cNvPr id="27881" name="Text Box 51"/>
            <p:cNvSpPr txBox="1">
              <a:spLocks noChangeArrowheads="1"/>
            </p:cNvSpPr>
            <p:nvPr/>
          </p:nvSpPr>
          <p:spPr bwMode="auto">
            <a:xfrm>
              <a:off x="5867399" y="1000125"/>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10</a:t>
              </a:r>
              <a:endParaRPr lang="zh-CN" altLang="zh-CN" sz="1400" b="1">
                <a:latin typeface="Arial" panose="020B0604020202020204" pitchFamily="34" charset="0"/>
              </a:endParaRPr>
            </a:p>
          </p:txBody>
        </p:sp>
        <p:sp>
          <p:nvSpPr>
            <p:cNvPr id="27882" name="Text Box 51"/>
            <p:cNvSpPr txBox="1">
              <a:spLocks noChangeArrowheads="1"/>
            </p:cNvSpPr>
            <p:nvPr/>
          </p:nvSpPr>
          <p:spPr bwMode="auto">
            <a:xfrm>
              <a:off x="5857875" y="2000250"/>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11</a:t>
              </a:r>
              <a:endParaRPr lang="zh-CN" altLang="zh-CN" sz="1400" b="1">
                <a:latin typeface="Arial" panose="020B0604020202020204" pitchFamily="34" charset="0"/>
              </a:endParaRPr>
            </a:p>
          </p:txBody>
        </p:sp>
        <p:sp>
          <p:nvSpPr>
            <p:cNvPr id="27883" name="Text Box 51"/>
            <p:cNvSpPr txBox="1">
              <a:spLocks noChangeArrowheads="1"/>
            </p:cNvSpPr>
            <p:nvPr/>
          </p:nvSpPr>
          <p:spPr bwMode="auto">
            <a:xfrm>
              <a:off x="2643188" y="1500188"/>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s</a:t>
              </a:r>
              <a:endParaRPr lang="zh-CN" altLang="zh-CN" sz="1400" b="1" i="1">
                <a:latin typeface="Arial" panose="020B0604020202020204" pitchFamily="34" charset="0"/>
              </a:endParaRPr>
            </a:p>
          </p:txBody>
        </p:sp>
        <p:sp>
          <p:nvSpPr>
            <p:cNvPr id="27884" name="Text Box 51"/>
            <p:cNvSpPr txBox="1">
              <a:spLocks noChangeArrowheads="1"/>
            </p:cNvSpPr>
            <p:nvPr/>
          </p:nvSpPr>
          <p:spPr bwMode="auto">
            <a:xfrm>
              <a:off x="6510337" y="1500188"/>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t</a:t>
              </a:r>
              <a:endParaRPr lang="zh-CN" altLang="zh-CN" sz="1400" b="1" i="1">
                <a:latin typeface="Arial" panose="020B0604020202020204" pitchFamily="34" charset="0"/>
              </a:endParaRPr>
            </a:p>
          </p:txBody>
        </p:sp>
        <p:sp>
          <p:nvSpPr>
            <p:cNvPr id="27885" name="Text Box 51"/>
            <p:cNvSpPr txBox="1">
              <a:spLocks noChangeArrowheads="1"/>
            </p:cNvSpPr>
            <p:nvPr/>
          </p:nvSpPr>
          <p:spPr bwMode="auto">
            <a:xfrm>
              <a:off x="7091360" y="1500188"/>
              <a:ext cx="90964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2000" b="1" i="1">
                  <a:latin typeface="Times New Roman" panose="02020603050405020304" pitchFamily="18" charset="0"/>
                </a:rPr>
                <a:t>N </a:t>
              </a:r>
              <a:r>
                <a:rPr lang="zh-CN" altLang="en-US" sz="2000" b="1">
                  <a:latin typeface="Times New Roman" panose="02020603050405020304" pitchFamily="18" charset="0"/>
                </a:rPr>
                <a:t>与 </a:t>
              </a:r>
              <a:r>
                <a:rPr lang="en-US" altLang="zh-CN" sz="2000" b="1" i="1">
                  <a:latin typeface="Times New Roman" panose="02020603050405020304" pitchFamily="18" charset="0"/>
                </a:rPr>
                <a:t>f</a:t>
              </a:r>
              <a:r>
                <a:rPr lang="en-US" altLang="zh-CN" sz="2000" b="1" baseline="-25000">
                  <a:latin typeface="Times New Roman" panose="02020603050405020304" pitchFamily="18" charset="0"/>
                </a:rPr>
                <a:t>1</a:t>
              </a:r>
              <a:endParaRPr lang="zh-CN" altLang="zh-CN" sz="2000" b="1">
                <a:latin typeface="Arial" panose="020B0604020202020204" pitchFamily="34" charset="0"/>
              </a:endParaRPr>
            </a:p>
          </p:txBody>
        </p:sp>
      </p:grpSp>
      <p:grpSp>
        <p:nvGrpSpPr>
          <p:cNvPr id="3" name="组合 242"/>
          <p:cNvGrpSpPr/>
          <p:nvPr/>
        </p:nvGrpSpPr>
        <p:grpSpPr bwMode="auto">
          <a:xfrm>
            <a:off x="357188" y="2357438"/>
            <a:ext cx="4572000" cy="3143250"/>
            <a:chOff x="357188" y="2428875"/>
            <a:chExt cx="4572000" cy="3143250"/>
          </a:xfrm>
        </p:grpSpPr>
        <p:sp>
          <p:nvSpPr>
            <p:cNvPr id="27713" name="Text Box 51"/>
            <p:cNvSpPr txBox="1">
              <a:spLocks noChangeArrowheads="1"/>
            </p:cNvSpPr>
            <p:nvPr/>
          </p:nvSpPr>
          <p:spPr bwMode="auto">
            <a:xfrm>
              <a:off x="857276" y="3500439"/>
              <a:ext cx="35718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5</a:t>
              </a:r>
              <a:endParaRPr lang="zh-CN" altLang="zh-CN" sz="1600" b="1">
                <a:latin typeface="Arial" panose="020B0604020202020204" pitchFamily="34" charset="0"/>
              </a:endParaRPr>
            </a:p>
          </p:txBody>
        </p:sp>
        <p:sp>
          <p:nvSpPr>
            <p:cNvPr id="27714" name="Oval 6"/>
            <p:cNvSpPr>
              <a:spLocks noChangeArrowheads="1"/>
            </p:cNvSpPr>
            <p:nvPr/>
          </p:nvSpPr>
          <p:spPr bwMode="auto">
            <a:xfrm>
              <a:off x="590578" y="3752851"/>
              <a:ext cx="195261"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715" name="Oval 7"/>
            <p:cNvSpPr>
              <a:spLocks noChangeArrowheads="1"/>
            </p:cNvSpPr>
            <p:nvPr/>
          </p:nvSpPr>
          <p:spPr bwMode="auto">
            <a:xfrm>
              <a:off x="1122387" y="3221039"/>
              <a:ext cx="195262"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716" name="Oval 8"/>
            <p:cNvSpPr>
              <a:spLocks noChangeArrowheads="1"/>
            </p:cNvSpPr>
            <p:nvPr/>
          </p:nvSpPr>
          <p:spPr bwMode="auto">
            <a:xfrm>
              <a:off x="1752620" y="2690815"/>
              <a:ext cx="195261"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717" name="Oval 9"/>
            <p:cNvSpPr>
              <a:spLocks noChangeArrowheads="1"/>
            </p:cNvSpPr>
            <p:nvPr/>
          </p:nvSpPr>
          <p:spPr bwMode="auto">
            <a:xfrm>
              <a:off x="1138262" y="4275139"/>
              <a:ext cx="196849"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718" name="Oval 10"/>
            <p:cNvSpPr>
              <a:spLocks noChangeArrowheads="1"/>
            </p:cNvSpPr>
            <p:nvPr/>
          </p:nvSpPr>
          <p:spPr bwMode="auto">
            <a:xfrm>
              <a:off x="1717695" y="4760914"/>
              <a:ext cx="196849"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719" name="Oval 11"/>
            <p:cNvSpPr>
              <a:spLocks noChangeArrowheads="1"/>
            </p:cNvSpPr>
            <p:nvPr/>
          </p:nvSpPr>
          <p:spPr bwMode="auto">
            <a:xfrm>
              <a:off x="1735157" y="3779839"/>
              <a:ext cx="196849"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720" name="Oval 12"/>
            <p:cNvSpPr>
              <a:spLocks noChangeArrowheads="1"/>
            </p:cNvSpPr>
            <p:nvPr/>
          </p:nvSpPr>
          <p:spPr bwMode="auto">
            <a:xfrm>
              <a:off x="2451115" y="3213102"/>
              <a:ext cx="196849"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721" name="Oval 13"/>
            <p:cNvSpPr>
              <a:spLocks noChangeArrowheads="1"/>
            </p:cNvSpPr>
            <p:nvPr/>
          </p:nvSpPr>
          <p:spPr bwMode="auto">
            <a:xfrm>
              <a:off x="2476515" y="4302126"/>
              <a:ext cx="196849"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722" name="Oval 14"/>
            <p:cNvSpPr>
              <a:spLocks noChangeArrowheads="1"/>
            </p:cNvSpPr>
            <p:nvPr/>
          </p:nvSpPr>
          <p:spPr bwMode="auto">
            <a:xfrm>
              <a:off x="3090873" y="3789364"/>
              <a:ext cx="195262"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723" name="Oval 15"/>
            <p:cNvSpPr>
              <a:spLocks noChangeArrowheads="1"/>
            </p:cNvSpPr>
            <p:nvPr/>
          </p:nvSpPr>
          <p:spPr bwMode="auto">
            <a:xfrm>
              <a:off x="3832231" y="3230564"/>
              <a:ext cx="195261"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724" name="Oval 16"/>
            <p:cNvSpPr>
              <a:spLocks noChangeArrowheads="1"/>
            </p:cNvSpPr>
            <p:nvPr/>
          </p:nvSpPr>
          <p:spPr bwMode="auto">
            <a:xfrm>
              <a:off x="3848106" y="4284664"/>
              <a:ext cx="196849"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725" name="Oval 17"/>
            <p:cNvSpPr>
              <a:spLocks noChangeArrowheads="1"/>
            </p:cNvSpPr>
            <p:nvPr/>
          </p:nvSpPr>
          <p:spPr bwMode="auto">
            <a:xfrm>
              <a:off x="4445001" y="3789364"/>
              <a:ext cx="196849"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726" name="Oval 18"/>
            <p:cNvSpPr>
              <a:spLocks noChangeArrowheads="1"/>
            </p:cNvSpPr>
            <p:nvPr/>
          </p:nvSpPr>
          <p:spPr bwMode="auto">
            <a:xfrm>
              <a:off x="3073411" y="4760914"/>
              <a:ext cx="195261"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27727" name="AutoShape 19"/>
            <p:cNvCxnSpPr>
              <a:cxnSpLocks noChangeShapeType="1"/>
            </p:cNvCxnSpPr>
            <p:nvPr/>
          </p:nvCxnSpPr>
          <p:spPr bwMode="auto">
            <a:xfrm flipV="1">
              <a:off x="738214" y="3422651"/>
              <a:ext cx="392110" cy="34925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728" name="AutoShape 20"/>
            <p:cNvCxnSpPr>
              <a:cxnSpLocks noChangeShapeType="1"/>
            </p:cNvCxnSpPr>
            <p:nvPr/>
          </p:nvCxnSpPr>
          <p:spPr bwMode="auto">
            <a:xfrm flipV="1">
              <a:off x="1327173" y="2874965"/>
              <a:ext cx="433384" cy="382587"/>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729" name="AutoShape 21"/>
            <p:cNvCxnSpPr>
              <a:cxnSpLocks noChangeShapeType="1"/>
            </p:cNvCxnSpPr>
            <p:nvPr/>
          </p:nvCxnSpPr>
          <p:spPr bwMode="auto">
            <a:xfrm>
              <a:off x="738214" y="3943351"/>
              <a:ext cx="400047" cy="38258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730" name="AutoShape 22"/>
            <p:cNvCxnSpPr>
              <a:cxnSpLocks noChangeShapeType="1"/>
            </p:cNvCxnSpPr>
            <p:nvPr/>
          </p:nvCxnSpPr>
          <p:spPr bwMode="auto">
            <a:xfrm>
              <a:off x="1317648" y="4475164"/>
              <a:ext cx="400047" cy="344487"/>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731" name="AutoShape 23"/>
            <p:cNvCxnSpPr>
              <a:cxnSpLocks noChangeShapeType="1"/>
            </p:cNvCxnSpPr>
            <p:nvPr/>
          </p:nvCxnSpPr>
          <p:spPr bwMode="auto">
            <a:xfrm>
              <a:off x="1317648" y="3422651"/>
              <a:ext cx="417509" cy="37623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732" name="AutoShape 24"/>
            <p:cNvCxnSpPr>
              <a:cxnSpLocks noChangeShapeType="1"/>
            </p:cNvCxnSpPr>
            <p:nvPr/>
          </p:nvCxnSpPr>
          <p:spPr bwMode="auto">
            <a:xfrm>
              <a:off x="1947881" y="2874965"/>
              <a:ext cx="528634" cy="382587"/>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733" name="AutoShape 25"/>
            <p:cNvCxnSpPr>
              <a:cxnSpLocks noChangeShapeType="1"/>
            </p:cNvCxnSpPr>
            <p:nvPr/>
          </p:nvCxnSpPr>
          <p:spPr bwMode="auto">
            <a:xfrm flipV="1">
              <a:off x="1327173" y="3962401"/>
              <a:ext cx="407984" cy="36353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734" name="AutoShape 26"/>
            <p:cNvCxnSpPr>
              <a:cxnSpLocks noChangeShapeType="1"/>
            </p:cNvCxnSpPr>
            <p:nvPr/>
          </p:nvCxnSpPr>
          <p:spPr bwMode="auto">
            <a:xfrm flipV="1">
              <a:off x="1932006" y="3384551"/>
              <a:ext cx="544509" cy="42703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735" name="AutoShape 27"/>
            <p:cNvCxnSpPr>
              <a:cxnSpLocks noChangeShapeType="1"/>
            </p:cNvCxnSpPr>
            <p:nvPr/>
          </p:nvCxnSpPr>
          <p:spPr bwMode="auto">
            <a:xfrm flipV="1">
              <a:off x="1270024" y="2900365"/>
              <a:ext cx="566733" cy="1374774"/>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736" name="AutoShape 28"/>
            <p:cNvCxnSpPr>
              <a:cxnSpLocks noChangeShapeType="1"/>
            </p:cNvCxnSpPr>
            <p:nvPr/>
          </p:nvCxnSpPr>
          <p:spPr bwMode="auto">
            <a:xfrm>
              <a:off x="2647964" y="3332164"/>
              <a:ext cx="1184267"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737" name="AutoShape 29"/>
            <p:cNvCxnSpPr>
              <a:cxnSpLocks noChangeShapeType="1"/>
            </p:cNvCxnSpPr>
            <p:nvPr/>
          </p:nvCxnSpPr>
          <p:spPr bwMode="auto">
            <a:xfrm>
              <a:off x="1932006" y="3898901"/>
              <a:ext cx="1158867"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738" name="AutoShape 30"/>
            <p:cNvCxnSpPr>
              <a:cxnSpLocks noChangeShapeType="1"/>
            </p:cNvCxnSpPr>
            <p:nvPr/>
          </p:nvCxnSpPr>
          <p:spPr bwMode="auto">
            <a:xfrm>
              <a:off x="1914544" y="3962401"/>
              <a:ext cx="579433" cy="40163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739" name="AutoShape 31"/>
            <p:cNvCxnSpPr>
              <a:cxnSpLocks noChangeShapeType="1"/>
            </p:cNvCxnSpPr>
            <p:nvPr/>
          </p:nvCxnSpPr>
          <p:spPr bwMode="auto">
            <a:xfrm flipV="1">
              <a:off x="1914544" y="4475164"/>
              <a:ext cx="561971" cy="344487"/>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740" name="AutoShape 32"/>
            <p:cNvCxnSpPr>
              <a:cxnSpLocks noChangeShapeType="1"/>
            </p:cNvCxnSpPr>
            <p:nvPr/>
          </p:nvCxnSpPr>
          <p:spPr bwMode="auto">
            <a:xfrm>
              <a:off x="2647964" y="4475164"/>
              <a:ext cx="442909" cy="344487"/>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741" name="AutoShape 33"/>
            <p:cNvCxnSpPr>
              <a:cxnSpLocks noChangeShapeType="1"/>
            </p:cNvCxnSpPr>
            <p:nvPr/>
          </p:nvCxnSpPr>
          <p:spPr bwMode="auto">
            <a:xfrm flipV="1">
              <a:off x="3268672" y="3430589"/>
              <a:ext cx="579434" cy="38100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742" name="AutoShape 34"/>
            <p:cNvCxnSpPr>
              <a:cxnSpLocks noChangeShapeType="1"/>
            </p:cNvCxnSpPr>
            <p:nvPr/>
          </p:nvCxnSpPr>
          <p:spPr bwMode="auto">
            <a:xfrm>
              <a:off x="3268672" y="3962401"/>
              <a:ext cx="579434" cy="363538"/>
            </a:xfrm>
            <a:prstGeom prst="straightConnector1">
              <a:avLst/>
            </a:prstGeom>
            <a:noFill/>
            <a:ln w="3175">
              <a:solidFill>
                <a:srgbClr val="000000"/>
              </a:solidFill>
              <a:round/>
              <a:headEnd type="arrow" w="med" len="med"/>
            </a:ln>
            <a:extLst>
              <a:ext uri="{909E8E84-426E-40DD-AFC4-6F175D3DCCD1}">
                <a14:hiddenFill xmlns:a14="http://schemas.microsoft.com/office/drawing/2010/main">
                  <a:noFill/>
                </a14:hiddenFill>
              </a:ext>
            </a:extLst>
          </p:spPr>
        </p:cxnSp>
        <p:cxnSp>
          <p:nvCxnSpPr>
            <p:cNvPr id="27743" name="AutoShape 35"/>
            <p:cNvCxnSpPr>
              <a:cxnSpLocks noChangeShapeType="1"/>
            </p:cNvCxnSpPr>
            <p:nvPr/>
          </p:nvCxnSpPr>
          <p:spPr bwMode="auto">
            <a:xfrm flipV="1">
              <a:off x="3268672" y="4475164"/>
              <a:ext cx="579434" cy="344487"/>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744" name="AutoShape 36"/>
            <p:cNvCxnSpPr>
              <a:cxnSpLocks noChangeShapeType="1"/>
            </p:cNvCxnSpPr>
            <p:nvPr/>
          </p:nvCxnSpPr>
          <p:spPr bwMode="auto">
            <a:xfrm>
              <a:off x="4027491" y="3384551"/>
              <a:ext cx="417510" cy="42703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745" name="AutoShape 37"/>
            <p:cNvCxnSpPr>
              <a:cxnSpLocks noChangeShapeType="1"/>
            </p:cNvCxnSpPr>
            <p:nvPr/>
          </p:nvCxnSpPr>
          <p:spPr bwMode="auto">
            <a:xfrm flipV="1">
              <a:off x="4027491" y="3962401"/>
              <a:ext cx="417510" cy="363538"/>
            </a:xfrm>
            <a:prstGeom prst="straightConnector1">
              <a:avLst/>
            </a:prstGeom>
            <a:noFill/>
            <a:ln w="3175">
              <a:solidFill>
                <a:srgbClr val="000000"/>
              </a:solidFill>
              <a:round/>
              <a:headEnd type="arrow" w="med" len="med"/>
            </a:ln>
            <a:extLst>
              <a:ext uri="{909E8E84-426E-40DD-AFC4-6F175D3DCCD1}">
                <a14:hiddenFill xmlns:a14="http://schemas.microsoft.com/office/drawing/2010/main">
                  <a:noFill/>
                </a14:hiddenFill>
              </a:ext>
            </a:extLst>
          </p:spPr>
        </p:cxnSp>
        <p:sp>
          <p:nvSpPr>
            <p:cNvPr id="27746" name="Text Box 44"/>
            <p:cNvSpPr txBox="1">
              <a:spLocks noChangeArrowheads="1"/>
            </p:cNvSpPr>
            <p:nvPr/>
          </p:nvSpPr>
          <p:spPr bwMode="auto">
            <a:xfrm>
              <a:off x="2359041" y="3155952"/>
              <a:ext cx="407984"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700">
                  <a:latin typeface="Times New Roman" panose="02020603050405020304" pitchFamily="18" charset="0"/>
                </a:rPr>
                <a:t>6</a:t>
              </a:r>
              <a:endParaRPr lang="zh-CN" altLang="zh-CN" sz="1800">
                <a:latin typeface="Arial" panose="020B0604020202020204" pitchFamily="34" charset="0"/>
              </a:endParaRPr>
            </a:p>
          </p:txBody>
        </p:sp>
        <p:sp>
          <p:nvSpPr>
            <p:cNvPr id="27747" name="Text Box 51"/>
            <p:cNvSpPr txBox="1">
              <a:spLocks noChangeArrowheads="1"/>
            </p:cNvSpPr>
            <p:nvPr/>
          </p:nvSpPr>
          <p:spPr bwMode="auto">
            <a:xfrm>
              <a:off x="1071587" y="2857502"/>
              <a:ext cx="357186"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7748" name="Text Box 51"/>
            <p:cNvSpPr txBox="1">
              <a:spLocks noChangeArrowheads="1"/>
            </p:cNvSpPr>
            <p:nvPr/>
          </p:nvSpPr>
          <p:spPr bwMode="auto">
            <a:xfrm>
              <a:off x="571528" y="4129089"/>
              <a:ext cx="285722" cy="300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27749" name="Text Box 51"/>
            <p:cNvSpPr txBox="1">
              <a:spLocks noChangeArrowheads="1"/>
            </p:cNvSpPr>
            <p:nvPr/>
          </p:nvSpPr>
          <p:spPr bwMode="auto">
            <a:xfrm>
              <a:off x="1428774" y="3643315"/>
              <a:ext cx="285726" cy="285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7750" name="Text Box 51"/>
            <p:cNvSpPr txBox="1">
              <a:spLocks noChangeArrowheads="1"/>
            </p:cNvSpPr>
            <p:nvPr/>
          </p:nvSpPr>
          <p:spPr bwMode="auto">
            <a:xfrm>
              <a:off x="1357313" y="3914775"/>
              <a:ext cx="357167" cy="300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7751" name="Text Box 51"/>
            <p:cNvSpPr txBox="1">
              <a:spLocks noChangeArrowheads="1"/>
            </p:cNvSpPr>
            <p:nvPr/>
          </p:nvSpPr>
          <p:spPr bwMode="auto">
            <a:xfrm>
              <a:off x="1643083" y="3128965"/>
              <a:ext cx="357186"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27752" name="Text Box 51"/>
            <p:cNvSpPr txBox="1">
              <a:spLocks noChangeArrowheads="1"/>
            </p:cNvSpPr>
            <p:nvPr/>
          </p:nvSpPr>
          <p:spPr bwMode="auto">
            <a:xfrm>
              <a:off x="2286016" y="2714627"/>
              <a:ext cx="35718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7753" name="Text Box 51"/>
            <p:cNvSpPr txBox="1">
              <a:spLocks noChangeArrowheads="1"/>
            </p:cNvSpPr>
            <p:nvPr/>
          </p:nvSpPr>
          <p:spPr bwMode="auto">
            <a:xfrm>
              <a:off x="2000268" y="3357564"/>
              <a:ext cx="35718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7754" name="Text Box 51"/>
            <p:cNvSpPr txBox="1">
              <a:spLocks noChangeArrowheads="1"/>
            </p:cNvSpPr>
            <p:nvPr/>
          </p:nvSpPr>
          <p:spPr bwMode="auto">
            <a:xfrm>
              <a:off x="3071823" y="2857502"/>
              <a:ext cx="28574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7755" name="Text Box 51"/>
            <p:cNvSpPr txBox="1">
              <a:spLocks noChangeArrowheads="1"/>
            </p:cNvSpPr>
            <p:nvPr/>
          </p:nvSpPr>
          <p:spPr bwMode="auto">
            <a:xfrm>
              <a:off x="2428890" y="3500444"/>
              <a:ext cx="357173" cy="300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7756" name="Text Box 51"/>
            <p:cNvSpPr txBox="1">
              <a:spLocks noChangeArrowheads="1"/>
            </p:cNvSpPr>
            <p:nvPr/>
          </p:nvSpPr>
          <p:spPr bwMode="auto">
            <a:xfrm>
              <a:off x="2143126" y="3929072"/>
              <a:ext cx="357172" cy="300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7757" name="Text Box 51"/>
            <p:cNvSpPr txBox="1">
              <a:spLocks noChangeArrowheads="1"/>
            </p:cNvSpPr>
            <p:nvPr/>
          </p:nvSpPr>
          <p:spPr bwMode="auto">
            <a:xfrm>
              <a:off x="1214462" y="4700590"/>
              <a:ext cx="357164" cy="300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7758" name="Text Box 51"/>
            <p:cNvSpPr txBox="1">
              <a:spLocks noChangeArrowheads="1"/>
            </p:cNvSpPr>
            <p:nvPr/>
          </p:nvSpPr>
          <p:spPr bwMode="auto">
            <a:xfrm>
              <a:off x="2286017" y="4643439"/>
              <a:ext cx="357171" cy="285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7759" name="Text Box 51"/>
            <p:cNvSpPr txBox="1">
              <a:spLocks noChangeArrowheads="1"/>
            </p:cNvSpPr>
            <p:nvPr/>
          </p:nvSpPr>
          <p:spPr bwMode="auto">
            <a:xfrm>
              <a:off x="2500327" y="4572001"/>
              <a:ext cx="285736" cy="285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7760" name="Text Box 51"/>
            <p:cNvSpPr txBox="1">
              <a:spLocks noChangeArrowheads="1"/>
            </p:cNvSpPr>
            <p:nvPr/>
          </p:nvSpPr>
          <p:spPr bwMode="auto">
            <a:xfrm>
              <a:off x="3652848" y="3643315"/>
              <a:ext cx="276215" cy="357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1</a:t>
              </a:r>
              <a:endParaRPr lang="zh-CN" altLang="zh-CN" sz="1600" b="1">
                <a:latin typeface="Arial" panose="020B0604020202020204" pitchFamily="34" charset="0"/>
              </a:endParaRPr>
            </a:p>
          </p:txBody>
        </p:sp>
        <p:sp>
          <p:nvSpPr>
            <p:cNvPr id="27761" name="Text Box 51"/>
            <p:cNvSpPr txBox="1">
              <a:spLocks noChangeArrowheads="1"/>
            </p:cNvSpPr>
            <p:nvPr/>
          </p:nvSpPr>
          <p:spPr bwMode="auto">
            <a:xfrm>
              <a:off x="3357573" y="4057650"/>
              <a:ext cx="357178" cy="300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1</a:t>
              </a:r>
              <a:endParaRPr lang="zh-CN" altLang="zh-CN" sz="1600" b="1">
                <a:latin typeface="Arial" panose="020B0604020202020204" pitchFamily="34" charset="0"/>
              </a:endParaRPr>
            </a:p>
          </p:txBody>
        </p:sp>
        <p:sp>
          <p:nvSpPr>
            <p:cNvPr id="27762" name="Text Box 51"/>
            <p:cNvSpPr txBox="1">
              <a:spLocks noChangeArrowheads="1"/>
            </p:cNvSpPr>
            <p:nvPr/>
          </p:nvSpPr>
          <p:spPr bwMode="auto">
            <a:xfrm>
              <a:off x="4357690" y="3286130"/>
              <a:ext cx="285748" cy="30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27763" name="Text Box 51"/>
            <p:cNvSpPr txBox="1">
              <a:spLocks noChangeArrowheads="1"/>
            </p:cNvSpPr>
            <p:nvPr/>
          </p:nvSpPr>
          <p:spPr bwMode="auto">
            <a:xfrm>
              <a:off x="4214815" y="4057650"/>
              <a:ext cx="285748" cy="300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27764" name="Text Box 51"/>
            <p:cNvSpPr txBox="1">
              <a:spLocks noChangeArrowheads="1"/>
            </p:cNvSpPr>
            <p:nvPr/>
          </p:nvSpPr>
          <p:spPr bwMode="auto">
            <a:xfrm>
              <a:off x="3643320" y="4700590"/>
              <a:ext cx="357181" cy="300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7765" name="Text Box 51"/>
            <p:cNvSpPr txBox="1">
              <a:spLocks noChangeArrowheads="1"/>
            </p:cNvSpPr>
            <p:nvPr/>
          </p:nvSpPr>
          <p:spPr bwMode="auto">
            <a:xfrm>
              <a:off x="1724045" y="2643190"/>
              <a:ext cx="41909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3</a:t>
              </a:r>
              <a:endParaRPr lang="zh-CN" altLang="zh-CN" sz="1400" b="1">
                <a:latin typeface="Arial" panose="020B0604020202020204" pitchFamily="34" charset="0"/>
              </a:endParaRPr>
            </a:p>
          </p:txBody>
        </p:sp>
        <p:sp>
          <p:nvSpPr>
            <p:cNvPr id="27766" name="Text Box 51"/>
            <p:cNvSpPr txBox="1">
              <a:spLocks noChangeArrowheads="1"/>
            </p:cNvSpPr>
            <p:nvPr/>
          </p:nvSpPr>
          <p:spPr bwMode="auto">
            <a:xfrm>
              <a:off x="1071587" y="3214689"/>
              <a:ext cx="41909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a:t>
              </a:r>
              <a:endParaRPr lang="zh-CN" altLang="zh-CN" sz="1400" b="1">
                <a:latin typeface="Arial" panose="020B0604020202020204" pitchFamily="34" charset="0"/>
              </a:endParaRPr>
            </a:p>
          </p:txBody>
        </p:sp>
        <p:sp>
          <p:nvSpPr>
            <p:cNvPr id="27767" name="Text Box 51"/>
            <p:cNvSpPr txBox="1">
              <a:spLocks noChangeArrowheads="1"/>
            </p:cNvSpPr>
            <p:nvPr/>
          </p:nvSpPr>
          <p:spPr bwMode="auto">
            <a:xfrm>
              <a:off x="1071587" y="4214814"/>
              <a:ext cx="41909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2</a:t>
              </a:r>
              <a:endParaRPr lang="zh-CN" altLang="zh-CN" sz="1400" b="1">
                <a:latin typeface="Arial" panose="020B0604020202020204" pitchFamily="34" charset="0"/>
              </a:endParaRPr>
            </a:p>
          </p:txBody>
        </p:sp>
        <p:sp>
          <p:nvSpPr>
            <p:cNvPr id="27768" name="Text Box 51"/>
            <p:cNvSpPr txBox="1">
              <a:spLocks noChangeArrowheads="1"/>
            </p:cNvSpPr>
            <p:nvPr/>
          </p:nvSpPr>
          <p:spPr bwMode="auto">
            <a:xfrm>
              <a:off x="1714520" y="3714751"/>
              <a:ext cx="41909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4</a:t>
              </a:r>
              <a:endParaRPr lang="zh-CN" altLang="zh-CN" sz="1400" b="1">
                <a:latin typeface="Arial" panose="020B0604020202020204" pitchFamily="34" charset="0"/>
              </a:endParaRPr>
            </a:p>
          </p:txBody>
        </p:sp>
        <p:sp>
          <p:nvSpPr>
            <p:cNvPr id="27769" name="Text Box 51"/>
            <p:cNvSpPr txBox="1">
              <a:spLocks noChangeArrowheads="1"/>
            </p:cNvSpPr>
            <p:nvPr/>
          </p:nvSpPr>
          <p:spPr bwMode="auto">
            <a:xfrm>
              <a:off x="1714520" y="4714876"/>
              <a:ext cx="41909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5</a:t>
              </a:r>
              <a:endParaRPr lang="zh-CN" altLang="zh-CN" sz="1400" b="1">
                <a:latin typeface="Arial" panose="020B0604020202020204" pitchFamily="34" charset="0"/>
              </a:endParaRPr>
            </a:p>
          </p:txBody>
        </p:sp>
        <p:sp>
          <p:nvSpPr>
            <p:cNvPr id="27770" name="Text Box 51"/>
            <p:cNvSpPr txBox="1">
              <a:spLocks noChangeArrowheads="1"/>
            </p:cNvSpPr>
            <p:nvPr/>
          </p:nvSpPr>
          <p:spPr bwMode="auto">
            <a:xfrm>
              <a:off x="2438415" y="3143252"/>
              <a:ext cx="41909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6</a:t>
              </a:r>
              <a:endParaRPr lang="zh-CN" altLang="zh-CN" sz="1400" b="1">
                <a:latin typeface="Arial" panose="020B0604020202020204" pitchFamily="34" charset="0"/>
              </a:endParaRPr>
            </a:p>
          </p:txBody>
        </p:sp>
        <p:sp>
          <p:nvSpPr>
            <p:cNvPr id="27771" name="Text Box 51"/>
            <p:cNvSpPr txBox="1">
              <a:spLocks noChangeArrowheads="1"/>
            </p:cNvSpPr>
            <p:nvPr/>
          </p:nvSpPr>
          <p:spPr bwMode="auto">
            <a:xfrm>
              <a:off x="2438415" y="4286251"/>
              <a:ext cx="41909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7</a:t>
              </a:r>
              <a:endParaRPr lang="zh-CN" altLang="zh-CN" sz="1400" b="1">
                <a:latin typeface="Arial" panose="020B0604020202020204" pitchFamily="34" charset="0"/>
              </a:endParaRPr>
            </a:p>
          </p:txBody>
        </p:sp>
        <p:sp>
          <p:nvSpPr>
            <p:cNvPr id="27772" name="Text Box 51"/>
            <p:cNvSpPr txBox="1">
              <a:spLocks noChangeArrowheads="1"/>
            </p:cNvSpPr>
            <p:nvPr/>
          </p:nvSpPr>
          <p:spPr bwMode="auto">
            <a:xfrm>
              <a:off x="3081348" y="3786189"/>
              <a:ext cx="41909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8</a:t>
              </a:r>
              <a:endParaRPr lang="zh-CN" altLang="zh-CN" sz="1400" b="1">
                <a:latin typeface="Arial" panose="020B0604020202020204" pitchFamily="34" charset="0"/>
              </a:endParaRPr>
            </a:p>
          </p:txBody>
        </p:sp>
        <p:sp>
          <p:nvSpPr>
            <p:cNvPr id="27773" name="Text Box 51"/>
            <p:cNvSpPr txBox="1">
              <a:spLocks noChangeArrowheads="1"/>
            </p:cNvSpPr>
            <p:nvPr/>
          </p:nvSpPr>
          <p:spPr bwMode="auto">
            <a:xfrm>
              <a:off x="3071823" y="4714876"/>
              <a:ext cx="41909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9</a:t>
              </a:r>
              <a:endParaRPr lang="zh-CN" altLang="zh-CN" sz="1400" b="1">
                <a:latin typeface="Arial" panose="020B0604020202020204" pitchFamily="34" charset="0"/>
              </a:endParaRPr>
            </a:p>
          </p:txBody>
        </p:sp>
        <p:sp>
          <p:nvSpPr>
            <p:cNvPr id="27774" name="Text Box 51"/>
            <p:cNvSpPr txBox="1">
              <a:spLocks noChangeArrowheads="1"/>
            </p:cNvSpPr>
            <p:nvPr/>
          </p:nvSpPr>
          <p:spPr bwMode="auto">
            <a:xfrm>
              <a:off x="3795718" y="3214689"/>
              <a:ext cx="41909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10</a:t>
              </a:r>
              <a:endParaRPr lang="zh-CN" altLang="zh-CN" sz="1400" b="1">
                <a:latin typeface="Arial" panose="020B0604020202020204" pitchFamily="34" charset="0"/>
              </a:endParaRPr>
            </a:p>
          </p:txBody>
        </p:sp>
        <p:sp>
          <p:nvSpPr>
            <p:cNvPr id="27775" name="Text Box 51"/>
            <p:cNvSpPr txBox="1">
              <a:spLocks noChangeArrowheads="1"/>
            </p:cNvSpPr>
            <p:nvPr/>
          </p:nvSpPr>
          <p:spPr bwMode="auto">
            <a:xfrm>
              <a:off x="3786193" y="4214814"/>
              <a:ext cx="41909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11</a:t>
              </a:r>
              <a:endParaRPr lang="zh-CN" altLang="zh-CN" sz="1400" b="1">
                <a:latin typeface="Arial" panose="020B0604020202020204" pitchFamily="34" charset="0"/>
              </a:endParaRPr>
            </a:p>
          </p:txBody>
        </p:sp>
        <p:sp>
          <p:nvSpPr>
            <p:cNvPr id="27776" name="Text Box 51"/>
            <p:cNvSpPr txBox="1">
              <a:spLocks noChangeArrowheads="1"/>
            </p:cNvSpPr>
            <p:nvPr/>
          </p:nvSpPr>
          <p:spPr bwMode="auto">
            <a:xfrm>
              <a:off x="571528" y="3714751"/>
              <a:ext cx="41909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s</a:t>
              </a:r>
              <a:endParaRPr lang="zh-CN" altLang="zh-CN" sz="1400" b="1" i="1">
                <a:latin typeface="Arial" panose="020B0604020202020204" pitchFamily="34" charset="0"/>
              </a:endParaRPr>
            </a:p>
          </p:txBody>
        </p:sp>
        <p:sp>
          <p:nvSpPr>
            <p:cNvPr id="27777" name="Text Box 51"/>
            <p:cNvSpPr txBox="1">
              <a:spLocks noChangeArrowheads="1"/>
            </p:cNvSpPr>
            <p:nvPr/>
          </p:nvSpPr>
          <p:spPr bwMode="auto">
            <a:xfrm>
              <a:off x="4438651" y="3714751"/>
              <a:ext cx="41909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t</a:t>
              </a:r>
              <a:endParaRPr lang="zh-CN" altLang="zh-CN" sz="1400" b="1" i="1">
                <a:latin typeface="Arial" panose="020B0604020202020204" pitchFamily="34" charset="0"/>
              </a:endParaRPr>
            </a:p>
          </p:txBody>
        </p:sp>
        <p:sp>
          <p:nvSpPr>
            <p:cNvPr id="27778" name="Text Box 51"/>
            <p:cNvSpPr txBox="1">
              <a:spLocks noChangeArrowheads="1"/>
            </p:cNvSpPr>
            <p:nvPr/>
          </p:nvSpPr>
          <p:spPr bwMode="auto">
            <a:xfrm>
              <a:off x="2090755" y="5143500"/>
              <a:ext cx="90963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2000" b="1" i="1">
                  <a:latin typeface="Times New Roman" panose="02020603050405020304" pitchFamily="18" charset="0"/>
                </a:rPr>
                <a:t>N</a:t>
              </a:r>
              <a:r>
                <a:rPr lang="en-US" altLang="zh-CN" sz="2000" b="1">
                  <a:latin typeface="Times New Roman" panose="02020603050405020304" pitchFamily="18" charset="0"/>
                </a:rPr>
                <a:t>(</a:t>
              </a:r>
              <a:r>
                <a:rPr lang="en-US" altLang="zh-CN" sz="2000" b="1" i="1">
                  <a:latin typeface="Times New Roman" panose="02020603050405020304" pitchFamily="18" charset="0"/>
                </a:rPr>
                <a:t>f</a:t>
              </a:r>
              <a:r>
                <a:rPr lang="en-US" altLang="zh-CN" sz="2000" b="1" baseline="-25000">
                  <a:latin typeface="Times New Roman" panose="02020603050405020304" pitchFamily="18" charset="0"/>
                </a:rPr>
                <a:t>1</a:t>
              </a:r>
              <a:r>
                <a:rPr lang="en-US" altLang="zh-CN" sz="2000" b="1">
                  <a:latin typeface="Times New Roman" panose="02020603050405020304" pitchFamily="18" charset="0"/>
                </a:rPr>
                <a:t>)</a:t>
              </a:r>
              <a:endParaRPr lang="zh-CN" altLang="zh-CN" sz="2000" b="1">
                <a:latin typeface="Arial" panose="020B0604020202020204" pitchFamily="34" charset="0"/>
              </a:endParaRPr>
            </a:p>
          </p:txBody>
        </p:sp>
        <p:sp>
          <p:nvSpPr>
            <p:cNvPr id="179" name="弧形 178"/>
            <p:cNvSpPr/>
            <p:nvPr/>
          </p:nvSpPr>
          <p:spPr bwMode="auto">
            <a:xfrm rot="15876609">
              <a:off x="631825" y="3357563"/>
              <a:ext cx="1057275" cy="996950"/>
            </a:xfrm>
            <a:prstGeom prst="arc">
              <a:avLst>
                <a:gd name="adj1" fmla="val 16915927"/>
                <a:gd name="adj2" fmla="val 0"/>
              </a:avLst>
            </a:pr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80" name="弧形 179"/>
            <p:cNvSpPr/>
            <p:nvPr/>
          </p:nvSpPr>
          <p:spPr bwMode="auto">
            <a:xfrm rot="16200000">
              <a:off x="1231900" y="2857500"/>
              <a:ext cx="1057275" cy="996950"/>
            </a:xfrm>
            <a:prstGeom prst="arc">
              <a:avLst>
                <a:gd name="adj1" fmla="val 16915927"/>
                <a:gd name="adj2" fmla="val 0"/>
              </a:avLst>
            </a:pr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81" name="弧形 180"/>
            <p:cNvSpPr/>
            <p:nvPr/>
          </p:nvSpPr>
          <p:spPr bwMode="auto">
            <a:xfrm rot="20825426">
              <a:off x="1455738" y="2827337"/>
              <a:ext cx="1057275" cy="995363"/>
            </a:xfrm>
            <a:prstGeom prst="arc">
              <a:avLst>
                <a:gd name="adj1" fmla="val 16915927"/>
                <a:gd name="adj2" fmla="val 0"/>
              </a:avLst>
            </a:pr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82" name="弧形 181"/>
            <p:cNvSpPr/>
            <p:nvPr/>
          </p:nvSpPr>
          <p:spPr bwMode="auto">
            <a:xfrm rot="20825426">
              <a:off x="812800" y="3398837"/>
              <a:ext cx="1057275" cy="995363"/>
            </a:xfrm>
            <a:prstGeom prst="arc">
              <a:avLst>
                <a:gd name="adj1" fmla="val 16915927"/>
                <a:gd name="adj2" fmla="val 0"/>
              </a:avLst>
            </a:pr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83" name="弧形 182"/>
            <p:cNvSpPr/>
            <p:nvPr/>
          </p:nvSpPr>
          <p:spPr bwMode="auto">
            <a:xfrm rot="10621025">
              <a:off x="668338" y="3395662"/>
              <a:ext cx="1057275" cy="995363"/>
            </a:xfrm>
            <a:prstGeom prst="arc">
              <a:avLst>
                <a:gd name="adj1" fmla="val 16915927"/>
                <a:gd name="adj2" fmla="val 0"/>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84" name="弧形 183"/>
            <p:cNvSpPr/>
            <p:nvPr/>
          </p:nvSpPr>
          <p:spPr bwMode="auto">
            <a:xfrm rot="10324431">
              <a:off x="1274763" y="3905250"/>
              <a:ext cx="1057275" cy="996950"/>
            </a:xfrm>
            <a:prstGeom prst="arc">
              <a:avLst>
                <a:gd name="adj1" fmla="val 16915927"/>
                <a:gd name="adj2" fmla="val 0"/>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85" name="弧形 184"/>
            <p:cNvSpPr/>
            <p:nvPr/>
          </p:nvSpPr>
          <p:spPr bwMode="auto">
            <a:xfrm rot="6187237">
              <a:off x="1452563" y="3708400"/>
              <a:ext cx="1200150" cy="1079500"/>
            </a:xfrm>
            <a:prstGeom prst="arc">
              <a:avLst>
                <a:gd name="adj1" fmla="val 16915927"/>
                <a:gd name="adj2" fmla="val 0"/>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86" name="弧形 185"/>
            <p:cNvSpPr/>
            <p:nvPr/>
          </p:nvSpPr>
          <p:spPr bwMode="auto">
            <a:xfrm rot="10324431">
              <a:off x="2598738" y="3925887"/>
              <a:ext cx="1057275" cy="925513"/>
            </a:xfrm>
            <a:prstGeom prst="arc">
              <a:avLst>
                <a:gd name="adj1" fmla="val 16915927"/>
                <a:gd name="adj2" fmla="val 0"/>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87" name="弧形 186"/>
            <p:cNvSpPr/>
            <p:nvPr/>
          </p:nvSpPr>
          <p:spPr bwMode="auto">
            <a:xfrm rot="6187237">
              <a:off x="2847181" y="3739356"/>
              <a:ext cx="1201738" cy="1079500"/>
            </a:xfrm>
            <a:prstGeom prst="arc">
              <a:avLst>
                <a:gd name="adj1" fmla="val 16915927"/>
                <a:gd name="adj2" fmla="val 0"/>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88" name="弧形 187"/>
            <p:cNvSpPr/>
            <p:nvPr/>
          </p:nvSpPr>
          <p:spPr bwMode="auto">
            <a:xfrm rot="21282254">
              <a:off x="3455988" y="3332162"/>
              <a:ext cx="1057275" cy="996950"/>
            </a:xfrm>
            <a:prstGeom prst="arc">
              <a:avLst>
                <a:gd name="adj1" fmla="val 16915927"/>
                <a:gd name="adj2" fmla="val 0"/>
              </a:avLst>
            </a:pr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89" name="弧形 188"/>
            <p:cNvSpPr/>
            <p:nvPr/>
          </p:nvSpPr>
          <p:spPr bwMode="auto">
            <a:xfrm rot="6187237">
              <a:off x="2774157" y="2672555"/>
              <a:ext cx="1263650" cy="1071563"/>
            </a:xfrm>
            <a:prstGeom prst="arc">
              <a:avLst>
                <a:gd name="adj1" fmla="val 16915927"/>
                <a:gd name="adj2" fmla="val 0"/>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90" name="弧形 189"/>
            <p:cNvSpPr/>
            <p:nvPr/>
          </p:nvSpPr>
          <p:spPr bwMode="auto">
            <a:xfrm rot="17307804">
              <a:off x="3029743" y="2623344"/>
              <a:ext cx="1192213" cy="2425700"/>
            </a:xfrm>
            <a:prstGeom prst="arc">
              <a:avLst>
                <a:gd name="adj1" fmla="val 16915927"/>
                <a:gd name="adj2" fmla="val 0"/>
              </a:avLst>
            </a:pr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91" name="弧形 190"/>
            <p:cNvSpPr/>
            <p:nvPr/>
          </p:nvSpPr>
          <p:spPr bwMode="auto">
            <a:xfrm rot="17200033">
              <a:off x="2314575" y="3225800"/>
              <a:ext cx="1193800" cy="2425700"/>
            </a:xfrm>
            <a:prstGeom prst="arc">
              <a:avLst>
                <a:gd name="adj1" fmla="val 16915927"/>
                <a:gd name="adj2" fmla="val 0"/>
              </a:avLst>
            </a:pr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27792" name="Text Box 51"/>
            <p:cNvSpPr txBox="1">
              <a:spLocks noChangeArrowheads="1"/>
            </p:cNvSpPr>
            <p:nvPr/>
          </p:nvSpPr>
          <p:spPr bwMode="auto">
            <a:xfrm>
              <a:off x="642965" y="3214689"/>
              <a:ext cx="357186"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27793" name="Text Box 51"/>
            <p:cNvSpPr txBox="1">
              <a:spLocks noChangeArrowheads="1"/>
            </p:cNvSpPr>
            <p:nvPr/>
          </p:nvSpPr>
          <p:spPr bwMode="auto">
            <a:xfrm>
              <a:off x="1428772" y="3000377"/>
              <a:ext cx="35718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1</a:t>
              </a:r>
              <a:endParaRPr lang="zh-CN" altLang="zh-CN" sz="1600" b="1">
                <a:latin typeface="Arial" panose="020B0604020202020204" pitchFamily="34" charset="0"/>
              </a:endParaRPr>
            </a:p>
          </p:txBody>
        </p:sp>
        <p:sp>
          <p:nvSpPr>
            <p:cNvPr id="27794" name="Text Box 51"/>
            <p:cNvSpPr txBox="1">
              <a:spLocks noChangeArrowheads="1"/>
            </p:cNvSpPr>
            <p:nvPr/>
          </p:nvSpPr>
          <p:spPr bwMode="auto">
            <a:xfrm>
              <a:off x="1928831" y="2928940"/>
              <a:ext cx="357186"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a:t>
              </a:r>
              <a:endParaRPr lang="zh-CN" altLang="zh-CN" sz="1600" b="1">
                <a:latin typeface="Arial" panose="020B0604020202020204" pitchFamily="34" charset="0"/>
              </a:endParaRPr>
            </a:p>
          </p:txBody>
        </p:sp>
        <p:sp>
          <p:nvSpPr>
            <p:cNvPr id="27795" name="Text Box 51"/>
            <p:cNvSpPr txBox="1">
              <a:spLocks noChangeArrowheads="1"/>
            </p:cNvSpPr>
            <p:nvPr/>
          </p:nvSpPr>
          <p:spPr bwMode="auto">
            <a:xfrm>
              <a:off x="3071823" y="3271839"/>
              <a:ext cx="28574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27796" name="Text Box 51"/>
            <p:cNvSpPr txBox="1">
              <a:spLocks noChangeArrowheads="1"/>
            </p:cNvSpPr>
            <p:nvPr/>
          </p:nvSpPr>
          <p:spPr bwMode="auto">
            <a:xfrm>
              <a:off x="1714500" y="3429001"/>
              <a:ext cx="285726" cy="285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1</a:t>
              </a:r>
              <a:endParaRPr lang="zh-CN" altLang="zh-CN" sz="1600" b="1">
                <a:latin typeface="Arial" panose="020B0604020202020204" pitchFamily="34" charset="0"/>
              </a:endParaRPr>
            </a:p>
          </p:txBody>
        </p:sp>
        <p:sp>
          <p:nvSpPr>
            <p:cNvPr id="157" name="弧形 156"/>
            <p:cNvSpPr/>
            <p:nvPr/>
          </p:nvSpPr>
          <p:spPr bwMode="auto">
            <a:xfrm rot="4671655">
              <a:off x="857250" y="3462337"/>
              <a:ext cx="793750" cy="1079500"/>
            </a:xfrm>
            <a:prstGeom prst="arc">
              <a:avLst>
                <a:gd name="adj1" fmla="val 16915927"/>
                <a:gd name="adj2" fmla="val 0"/>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27798" name="Text Box 51"/>
            <p:cNvSpPr txBox="1">
              <a:spLocks noChangeArrowheads="1"/>
            </p:cNvSpPr>
            <p:nvPr/>
          </p:nvSpPr>
          <p:spPr bwMode="auto">
            <a:xfrm>
              <a:off x="1571626" y="4129089"/>
              <a:ext cx="357167" cy="300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1</a:t>
              </a:r>
              <a:endParaRPr lang="zh-CN" altLang="zh-CN" sz="1600" b="1">
                <a:latin typeface="Arial" panose="020B0604020202020204" pitchFamily="34" charset="0"/>
              </a:endParaRPr>
            </a:p>
          </p:txBody>
        </p:sp>
        <p:sp>
          <p:nvSpPr>
            <p:cNvPr id="27799" name="Text Box 51"/>
            <p:cNvSpPr txBox="1">
              <a:spLocks noChangeArrowheads="1"/>
            </p:cNvSpPr>
            <p:nvPr/>
          </p:nvSpPr>
          <p:spPr bwMode="auto">
            <a:xfrm>
              <a:off x="857250" y="3914775"/>
              <a:ext cx="285722" cy="300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a:t>
              </a:r>
              <a:endParaRPr lang="zh-CN" altLang="zh-CN" sz="1600" b="1">
                <a:latin typeface="Arial" panose="020B0604020202020204" pitchFamily="34" charset="0"/>
              </a:endParaRPr>
            </a:p>
          </p:txBody>
        </p:sp>
        <p:sp>
          <p:nvSpPr>
            <p:cNvPr id="27800" name="Text Box 51"/>
            <p:cNvSpPr txBox="1">
              <a:spLocks noChangeArrowheads="1"/>
            </p:cNvSpPr>
            <p:nvPr/>
          </p:nvSpPr>
          <p:spPr bwMode="auto">
            <a:xfrm>
              <a:off x="1428774" y="4429138"/>
              <a:ext cx="357164" cy="300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27801" name="Text Box 51"/>
            <p:cNvSpPr txBox="1">
              <a:spLocks noChangeArrowheads="1"/>
            </p:cNvSpPr>
            <p:nvPr/>
          </p:nvSpPr>
          <p:spPr bwMode="auto">
            <a:xfrm>
              <a:off x="2000267" y="4429125"/>
              <a:ext cx="357171" cy="285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27802" name="Text Box 51"/>
            <p:cNvSpPr txBox="1">
              <a:spLocks noChangeArrowheads="1"/>
            </p:cNvSpPr>
            <p:nvPr/>
          </p:nvSpPr>
          <p:spPr bwMode="auto">
            <a:xfrm>
              <a:off x="2786077" y="4429138"/>
              <a:ext cx="285736" cy="285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7803" name="Text Box 51"/>
            <p:cNvSpPr txBox="1">
              <a:spLocks noChangeArrowheads="1"/>
            </p:cNvSpPr>
            <p:nvPr/>
          </p:nvSpPr>
          <p:spPr bwMode="auto">
            <a:xfrm>
              <a:off x="3357563" y="4429138"/>
              <a:ext cx="357181" cy="300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27804" name="Text Box 51"/>
            <p:cNvSpPr txBox="1">
              <a:spLocks noChangeArrowheads="1"/>
            </p:cNvSpPr>
            <p:nvPr/>
          </p:nvSpPr>
          <p:spPr bwMode="auto">
            <a:xfrm>
              <a:off x="4000502" y="3486152"/>
              <a:ext cx="285748" cy="30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6</a:t>
              </a:r>
              <a:endParaRPr lang="zh-CN" altLang="zh-CN" sz="1600" b="1">
                <a:latin typeface="Arial" panose="020B0604020202020204" pitchFamily="34" charset="0"/>
              </a:endParaRPr>
            </a:p>
          </p:txBody>
        </p:sp>
        <p:sp>
          <p:nvSpPr>
            <p:cNvPr id="27805" name="Text Box 51"/>
            <p:cNvSpPr txBox="1">
              <a:spLocks noChangeArrowheads="1"/>
            </p:cNvSpPr>
            <p:nvPr/>
          </p:nvSpPr>
          <p:spPr bwMode="auto">
            <a:xfrm>
              <a:off x="3367098" y="3357568"/>
              <a:ext cx="276215" cy="357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27806" name="Text Box 51"/>
            <p:cNvSpPr txBox="1">
              <a:spLocks noChangeArrowheads="1"/>
            </p:cNvSpPr>
            <p:nvPr/>
          </p:nvSpPr>
          <p:spPr bwMode="auto">
            <a:xfrm>
              <a:off x="2428876" y="3843340"/>
              <a:ext cx="357173" cy="300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a:t>
              </a:r>
              <a:endParaRPr lang="zh-CN" altLang="zh-CN" sz="1600" b="1">
                <a:latin typeface="Arial" panose="020B0604020202020204" pitchFamily="34" charset="0"/>
              </a:endParaRPr>
            </a:p>
          </p:txBody>
        </p:sp>
        <p:sp>
          <p:nvSpPr>
            <p:cNvPr id="27807" name="Text Box 51"/>
            <p:cNvSpPr txBox="1">
              <a:spLocks noChangeArrowheads="1"/>
            </p:cNvSpPr>
            <p:nvPr/>
          </p:nvSpPr>
          <p:spPr bwMode="auto">
            <a:xfrm>
              <a:off x="357188" y="3714760"/>
              <a:ext cx="357186"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solidFill>
                    <a:srgbClr val="FF0000"/>
                  </a:solidFill>
                  <a:latin typeface="Times New Roman" panose="02020603050405020304" pitchFamily="18" charset="0"/>
                </a:rPr>
                <a:t>0</a:t>
              </a:r>
              <a:endParaRPr lang="zh-CN" altLang="zh-CN" sz="1600" b="1">
                <a:solidFill>
                  <a:srgbClr val="FF0000"/>
                </a:solidFill>
                <a:latin typeface="Arial" panose="020B0604020202020204" pitchFamily="34" charset="0"/>
              </a:endParaRPr>
            </a:p>
          </p:txBody>
        </p:sp>
        <p:sp>
          <p:nvSpPr>
            <p:cNvPr id="27808" name="Text Box 51"/>
            <p:cNvSpPr txBox="1">
              <a:spLocks noChangeArrowheads="1"/>
            </p:cNvSpPr>
            <p:nvPr/>
          </p:nvSpPr>
          <p:spPr bwMode="auto">
            <a:xfrm>
              <a:off x="928690" y="4357702"/>
              <a:ext cx="357186"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solidFill>
                    <a:srgbClr val="FF0000"/>
                  </a:solidFill>
                  <a:latin typeface="Times New Roman" panose="02020603050405020304" pitchFamily="18" charset="0"/>
                </a:rPr>
                <a:t>1</a:t>
              </a:r>
              <a:endParaRPr lang="zh-CN" altLang="zh-CN" sz="1600" b="1">
                <a:solidFill>
                  <a:srgbClr val="FF0000"/>
                </a:solidFill>
                <a:latin typeface="Arial" panose="020B0604020202020204" pitchFamily="34" charset="0"/>
              </a:endParaRPr>
            </a:p>
          </p:txBody>
        </p:sp>
        <p:sp>
          <p:nvSpPr>
            <p:cNvPr id="27809" name="Text Box 51"/>
            <p:cNvSpPr txBox="1">
              <a:spLocks noChangeArrowheads="1"/>
            </p:cNvSpPr>
            <p:nvPr/>
          </p:nvSpPr>
          <p:spPr bwMode="auto">
            <a:xfrm>
              <a:off x="928688" y="3000379"/>
              <a:ext cx="357186"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solidFill>
                    <a:srgbClr val="FF0000"/>
                  </a:solidFill>
                  <a:latin typeface="Times New Roman" panose="02020603050405020304" pitchFamily="18" charset="0"/>
                </a:rPr>
                <a:t>1</a:t>
              </a:r>
              <a:endParaRPr lang="zh-CN" altLang="zh-CN" sz="1600" b="1">
                <a:solidFill>
                  <a:srgbClr val="FF0000"/>
                </a:solidFill>
                <a:latin typeface="Arial" panose="020B0604020202020204" pitchFamily="34" charset="0"/>
              </a:endParaRPr>
            </a:p>
          </p:txBody>
        </p:sp>
        <p:sp>
          <p:nvSpPr>
            <p:cNvPr id="27810" name="Text Box 51"/>
            <p:cNvSpPr txBox="1">
              <a:spLocks noChangeArrowheads="1"/>
            </p:cNvSpPr>
            <p:nvPr/>
          </p:nvSpPr>
          <p:spPr bwMode="auto">
            <a:xfrm>
              <a:off x="1643065" y="2428875"/>
              <a:ext cx="357186"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solidFill>
                    <a:srgbClr val="FF0000"/>
                  </a:solidFill>
                  <a:latin typeface="Times New Roman" panose="02020603050405020304" pitchFamily="18" charset="0"/>
                </a:rPr>
                <a:t>2</a:t>
              </a:r>
              <a:endParaRPr lang="zh-CN" altLang="zh-CN" sz="1600" b="1">
                <a:solidFill>
                  <a:srgbClr val="FF0000"/>
                </a:solidFill>
                <a:latin typeface="Arial" panose="020B0604020202020204" pitchFamily="34" charset="0"/>
              </a:endParaRPr>
            </a:p>
          </p:txBody>
        </p:sp>
        <p:sp>
          <p:nvSpPr>
            <p:cNvPr id="27811" name="Text Box 51"/>
            <p:cNvSpPr txBox="1">
              <a:spLocks noChangeArrowheads="1"/>
            </p:cNvSpPr>
            <p:nvPr/>
          </p:nvSpPr>
          <p:spPr bwMode="auto">
            <a:xfrm>
              <a:off x="1714500" y="3929072"/>
              <a:ext cx="357186"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solidFill>
                    <a:srgbClr val="FF0000"/>
                  </a:solidFill>
                  <a:latin typeface="Times New Roman" panose="02020603050405020304" pitchFamily="18" charset="0"/>
                </a:rPr>
                <a:t>2</a:t>
              </a:r>
              <a:endParaRPr lang="zh-CN" altLang="zh-CN" sz="1600" b="1">
                <a:solidFill>
                  <a:srgbClr val="FF0000"/>
                </a:solidFill>
                <a:latin typeface="Arial" panose="020B0604020202020204" pitchFamily="34" charset="0"/>
              </a:endParaRPr>
            </a:p>
          </p:txBody>
        </p:sp>
        <p:sp>
          <p:nvSpPr>
            <p:cNvPr id="27812" name="Text Box 51"/>
            <p:cNvSpPr txBox="1">
              <a:spLocks noChangeArrowheads="1"/>
            </p:cNvSpPr>
            <p:nvPr/>
          </p:nvSpPr>
          <p:spPr bwMode="auto">
            <a:xfrm>
              <a:off x="1714500" y="4929205"/>
              <a:ext cx="357186"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solidFill>
                    <a:srgbClr val="FF0000"/>
                  </a:solidFill>
                  <a:latin typeface="Times New Roman" panose="02020603050405020304" pitchFamily="18" charset="0"/>
                </a:rPr>
                <a:t>2</a:t>
              </a:r>
              <a:endParaRPr lang="zh-CN" altLang="zh-CN" sz="1600" b="1">
                <a:solidFill>
                  <a:srgbClr val="FF0000"/>
                </a:solidFill>
                <a:latin typeface="Arial" panose="020B0604020202020204" pitchFamily="34" charset="0"/>
              </a:endParaRPr>
            </a:p>
          </p:txBody>
        </p:sp>
        <p:sp>
          <p:nvSpPr>
            <p:cNvPr id="27813" name="Text Box 51"/>
            <p:cNvSpPr txBox="1">
              <a:spLocks noChangeArrowheads="1"/>
            </p:cNvSpPr>
            <p:nvPr/>
          </p:nvSpPr>
          <p:spPr bwMode="auto">
            <a:xfrm>
              <a:off x="2428876" y="2928941"/>
              <a:ext cx="357186"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solidFill>
                    <a:srgbClr val="FF0000"/>
                  </a:solidFill>
                  <a:latin typeface="Times New Roman" panose="02020603050405020304" pitchFamily="18" charset="0"/>
                </a:rPr>
                <a:t>3</a:t>
              </a:r>
              <a:endParaRPr lang="zh-CN" altLang="zh-CN" sz="1600" b="1">
                <a:solidFill>
                  <a:srgbClr val="FF0000"/>
                </a:solidFill>
                <a:latin typeface="Arial" panose="020B0604020202020204" pitchFamily="34" charset="0"/>
              </a:endParaRPr>
            </a:p>
          </p:txBody>
        </p:sp>
        <p:sp>
          <p:nvSpPr>
            <p:cNvPr id="27814" name="Text Box 51"/>
            <p:cNvSpPr txBox="1">
              <a:spLocks noChangeArrowheads="1"/>
            </p:cNvSpPr>
            <p:nvPr/>
          </p:nvSpPr>
          <p:spPr bwMode="auto">
            <a:xfrm>
              <a:off x="3000377" y="3500444"/>
              <a:ext cx="357186"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solidFill>
                    <a:srgbClr val="FF0000"/>
                  </a:solidFill>
                  <a:latin typeface="Times New Roman" panose="02020603050405020304" pitchFamily="18" charset="0"/>
                </a:rPr>
                <a:t>3</a:t>
              </a:r>
              <a:endParaRPr lang="zh-CN" altLang="zh-CN" sz="1600" b="1">
                <a:solidFill>
                  <a:srgbClr val="FF0000"/>
                </a:solidFill>
                <a:latin typeface="Arial" panose="020B0604020202020204" pitchFamily="34" charset="0"/>
              </a:endParaRPr>
            </a:p>
          </p:txBody>
        </p:sp>
        <p:sp>
          <p:nvSpPr>
            <p:cNvPr id="27815" name="Text Box 51"/>
            <p:cNvSpPr txBox="1">
              <a:spLocks noChangeArrowheads="1"/>
            </p:cNvSpPr>
            <p:nvPr/>
          </p:nvSpPr>
          <p:spPr bwMode="auto">
            <a:xfrm>
              <a:off x="2500315" y="4071950"/>
              <a:ext cx="357186"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solidFill>
                    <a:srgbClr val="FF0000"/>
                  </a:solidFill>
                  <a:latin typeface="Times New Roman" panose="02020603050405020304" pitchFamily="18" charset="0"/>
                </a:rPr>
                <a:t>3</a:t>
              </a:r>
              <a:endParaRPr lang="zh-CN" altLang="zh-CN" sz="1600" b="1">
                <a:solidFill>
                  <a:srgbClr val="FF0000"/>
                </a:solidFill>
                <a:latin typeface="Arial" panose="020B0604020202020204" pitchFamily="34" charset="0"/>
              </a:endParaRPr>
            </a:p>
          </p:txBody>
        </p:sp>
        <p:sp>
          <p:nvSpPr>
            <p:cNvPr id="27816" name="Text Box 51"/>
            <p:cNvSpPr txBox="1">
              <a:spLocks noChangeArrowheads="1"/>
            </p:cNvSpPr>
            <p:nvPr/>
          </p:nvSpPr>
          <p:spPr bwMode="auto">
            <a:xfrm>
              <a:off x="3929065" y="3000381"/>
              <a:ext cx="357186"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solidFill>
                    <a:srgbClr val="FF0000"/>
                  </a:solidFill>
                  <a:latin typeface="Times New Roman" panose="02020603050405020304" pitchFamily="18" charset="0"/>
                </a:rPr>
                <a:t>4</a:t>
              </a:r>
              <a:endParaRPr lang="zh-CN" altLang="zh-CN" sz="1600" b="1">
                <a:solidFill>
                  <a:srgbClr val="FF0000"/>
                </a:solidFill>
                <a:latin typeface="Arial" panose="020B0604020202020204" pitchFamily="34" charset="0"/>
              </a:endParaRPr>
            </a:p>
          </p:txBody>
        </p:sp>
        <p:sp>
          <p:nvSpPr>
            <p:cNvPr id="27817" name="Text Box 51"/>
            <p:cNvSpPr txBox="1">
              <a:spLocks noChangeArrowheads="1"/>
            </p:cNvSpPr>
            <p:nvPr/>
          </p:nvSpPr>
          <p:spPr bwMode="auto">
            <a:xfrm>
              <a:off x="3143251" y="4857767"/>
              <a:ext cx="357186"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solidFill>
                    <a:srgbClr val="FF0000"/>
                  </a:solidFill>
                  <a:latin typeface="Times New Roman" panose="02020603050405020304" pitchFamily="18" charset="0"/>
                </a:rPr>
                <a:t>4</a:t>
              </a:r>
              <a:endParaRPr lang="zh-CN" altLang="zh-CN" sz="1600" b="1">
                <a:solidFill>
                  <a:srgbClr val="FF0000"/>
                </a:solidFill>
                <a:latin typeface="Arial" panose="020B0604020202020204" pitchFamily="34" charset="0"/>
              </a:endParaRPr>
            </a:p>
          </p:txBody>
        </p:sp>
        <p:sp>
          <p:nvSpPr>
            <p:cNvPr id="27818" name="Text Box 51"/>
            <p:cNvSpPr txBox="1">
              <a:spLocks noChangeArrowheads="1"/>
            </p:cNvSpPr>
            <p:nvPr/>
          </p:nvSpPr>
          <p:spPr bwMode="auto">
            <a:xfrm>
              <a:off x="4572002" y="3714760"/>
              <a:ext cx="357186"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solidFill>
                    <a:srgbClr val="FF0000"/>
                  </a:solidFill>
                  <a:latin typeface="Times New Roman" panose="02020603050405020304" pitchFamily="18" charset="0"/>
                </a:rPr>
                <a:t>5</a:t>
              </a:r>
              <a:endParaRPr lang="zh-CN" altLang="zh-CN" sz="1600" b="1">
                <a:solidFill>
                  <a:srgbClr val="FF0000"/>
                </a:solidFill>
                <a:latin typeface="Arial" panose="020B0604020202020204" pitchFamily="34" charset="0"/>
              </a:endParaRPr>
            </a:p>
          </p:txBody>
        </p:sp>
        <p:sp>
          <p:nvSpPr>
            <p:cNvPr id="27819" name="Text Box 51"/>
            <p:cNvSpPr txBox="1">
              <a:spLocks noChangeArrowheads="1"/>
            </p:cNvSpPr>
            <p:nvPr/>
          </p:nvSpPr>
          <p:spPr bwMode="auto">
            <a:xfrm>
              <a:off x="4000502" y="4286262"/>
              <a:ext cx="357186"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solidFill>
                    <a:srgbClr val="FF0000"/>
                  </a:solidFill>
                  <a:latin typeface="Times New Roman" panose="02020603050405020304" pitchFamily="18" charset="0"/>
                </a:rPr>
                <a:t>5</a:t>
              </a:r>
              <a:endParaRPr lang="zh-CN" altLang="zh-CN" sz="1600" b="1">
                <a:solidFill>
                  <a:srgbClr val="FF0000"/>
                </a:solidFill>
                <a:latin typeface="Arial" panose="020B0604020202020204" pitchFamily="34" charset="0"/>
              </a:endParaRPr>
            </a:p>
          </p:txBody>
        </p:sp>
      </p:grpSp>
      <p:grpSp>
        <p:nvGrpSpPr>
          <p:cNvPr id="5" name="组合 241"/>
          <p:cNvGrpSpPr/>
          <p:nvPr/>
        </p:nvGrpSpPr>
        <p:grpSpPr bwMode="auto">
          <a:xfrm>
            <a:off x="4429125" y="3643313"/>
            <a:ext cx="4286250" cy="2786062"/>
            <a:chOff x="4572000" y="3643314"/>
            <a:chExt cx="4286250" cy="2786062"/>
          </a:xfrm>
        </p:grpSpPr>
        <p:sp>
          <p:nvSpPr>
            <p:cNvPr id="27655" name="Text Box 51"/>
            <p:cNvSpPr txBox="1">
              <a:spLocks noChangeArrowheads="1"/>
            </p:cNvSpPr>
            <p:nvPr/>
          </p:nvSpPr>
          <p:spPr bwMode="auto">
            <a:xfrm>
              <a:off x="4857750" y="4500565"/>
              <a:ext cx="35718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5</a:t>
              </a:r>
              <a:endParaRPr lang="zh-CN" altLang="zh-CN" sz="1600" b="1">
                <a:latin typeface="Arial" panose="020B0604020202020204" pitchFamily="34" charset="0"/>
              </a:endParaRPr>
            </a:p>
          </p:txBody>
        </p:sp>
        <p:sp>
          <p:nvSpPr>
            <p:cNvPr id="27656" name="Oval 6"/>
            <p:cNvSpPr>
              <a:spLocks noChangeArrowheads="1"/>
            </p:cNvSpPr>
            <p:nvPr/>
          </p:nvSpPr>
          <p:spPr bwMode="auto">
            <a:xfrm>
              <a:off x="4591050" y="4752978"/>
              <a:ext cx="195262"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657" name="Oval 7"/>
            <p:cNvSpPr>
              <a:spLocks noChangeArrowheads="1"/>
            </p:cNvSpPr>
            <p:nvPr/>
          </p:nvSpPr>
          <p:spPr bwMode="auto">
            <a:xfrm>
              <a:off x="5122862" y="4221165"/>
              <a:ext cx="195263"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658" name="Oval 8"/>
            <p:cNvSpPr>
              <a:spLocks noChangeArrowheads="1"/>
            </p:cNvSpPr>
            <p:nvPr/>
          </p:nvSpPr>
          <p:spPr bwMode="auto">
            <a:xfrm>
              <a:off x="5753100" y="3690939"/>
              <a:ext cx="195262"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659" name="Oval 9"/>
            <p:cNvSpPr>
              <a:spLocks noChangeArrowheads="1"/>
            </p:cNvSpPr>
            <p:nvPr/>
          </p:nvSpPr>
          <p:spPr bwMode="auto">
            <a:xfrm>
              <a:off x="5138737" y="5275266"/>
              <a:ext cx="196850"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660" name="Oval 10"/>
            <p:cNvSpPr>
              <a:spLocks noChangeArrowheads="1"/>
            </p:cNvSpPr>
            <p:nvPr/>
          </p:nvSpPr>
          <p:spPr bwMode="auto">
            <a:xfrm>
              <a:off x="5718175" y="5761042"/>
              <a:ext cx="196850"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661" name="Oval 11"/>
            <p:cNvSpPr>
              <a:spLocks noChangeArrowheads="1"/>
            </p:cNvSpPr>
            <p:nvPr/>
          </p:nvSpPr>
          <p:spPr bwMode="auto">
            <a:xfrm>
              <a:off x="5735637" y="4779966"/>
              <a:ext cx="196850"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662" name="Oval 12"/>
            <p:cNvSpPr>
              <a:spLocks noChangeArrowheads="1"/>
            </p:cNvSpPr>
            <p:nvPr/>
          </p:nvSpPr>
          <p:spPr bwMode="auto">
            <a:xfrm>
              <a:off x="6451600" y="4213227"/>
              <a:ext cx="196850"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663" name="Oval 13"/>
            <p:cNvSpPr>
              <a:spLocks noChangeArrowheads="1"/>
            </p:cNvSpPr>
            <p:nvPr/>
          </p:nvSpPr>
          <p:spPr bwMode="auto">
            <a:xfrm>
              <a:off x="6477000" y="5302253"/>
              <a:ext cx="196850"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664" name="Oval 14"/>
            <p:cNvSpPr>
              <a:spLocks noChangeArrowheads="1"/>
            </p:cNvSpPr>
            <p:nvPr/>
          </p:nvSpPr>
          <p:spPr bwMode="auto">
            <a:xfrm>
              <a:off x="7091362" y="4789491"/>
              <a:ext cx="195263"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665" name="Oval 15"/>
            <p:cNvSpPr>
              <a:spLocks noChangeArrowheads="1"/>
            </p:cNvSpPr>
            <p:nvPr/>
          </p:nvSpPr>
          <p:spPr bwMode="auto">
            <a:xfrm>
              <a:off x="7832725" y="4230690"/>
              <a:ext cx="195262"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666" name="Oval 17"/>
            <p:cNvSpPr>
              <a:spLocks noChangeArrowheads="1"/>
            </p:cNvSpPr>
            <p:nvPr/>
          </p:nvSpPr>
          <p:spPr bwMode="auto">
            <a:xfrm>
              <a:off x="8445500" y="4789491"/>
              <a:ext cx="196850"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667" name="Oval 18"/>
            <p:cNvSpPr>
              <a:spLocks noChangeArrowheads="1"/>
            </p:cNvSpPr>
            <p:nvPr/>
          </p:nvSpPr>
          <p:spPr bwMode="auto">
            <a:xfrm>
              <a:off x="7073900" y="5761042"/>
              <a:ext cx="195262"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27668" name="AutoShape 19"/>
            <p:cNvCxnSpPr>
              <a:cxnSpLocks noChangeShapeType="1"/>
            </p:cNvCxnSpPr>
            <p:nvPr/>
          </p:nvCxnSpPr>
          <p:spPr bwMode="auto">
            <a:xfrm flipV="1">
              <a:off x="4738687" y="4422777"/>
              <a:ext cx="392113" cy="349251"/>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669" name="AutoShape 20"/>
            <p:cNvCxnSpPr>
              <a:cxnSpLocks noChangeShapeType="1"/>
            </p:cNvCxnSpPr>
            <p:nvPr/>
          </p:nvCxnSpPr>
          <p:spPr bwMode="auto">
            <a:xfrm flipV="1">
              <a:off x="5327650" y="3875089"/>
              <a:ext cx="433387" cy="38258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670" name="AutoShape 21"/>
            <p:cNvCxnSpPr>
              <a:cxnSpLocks noChangeShapeType="1"/>
            </p:cNvCxnSpPr>
            <p:nvPr/>
          </p:nvCxnSpPr>
          <p:spPr bwMode="auto">
            <a:xfrm>
              <a:off x="4738687" y="4943478"/>
              <a:ext cx="400050" cy="38258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671" name="AutoShape 22"/>
            <p:cNvCxnSpPr>
              <a:cxnSpLocks noChangeShapeType="1"/>
            </p:cNvCxnSpPr>
            <p:nvPr/>
          </p:nvCxnSpPr>
          <p:spPr bwMode="auto">
            <a:xfrm>
              <a:off x="5318125" y="5475292"/>
              <a:ext cx="400050" cy="344487"/>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672" name="AutoShape 23"/>
            <p:cNvCxnSpPr>
              <a:cxnSpLocks noChangeShapeType="1"/>
            </p:cNvCxnSpPr>
            <p:nvPr/>
          </p:nvCxnSpPr>
          <p:spPr bwMode="auto">
            <a:xfrm>
              <a:off x="5318125" y="4422777"/>
              <a:ext cx="417512" cy="37623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673" name="AutoShape 24"/>
            <p:cNvCxnSpPr>
              <a:cxnSpLocks noChangeShapeType="1"/>
            </p:cNvCxnSpPr>
            <p:nvPr/>
          </p:nvCxnSpPr>
          <p:spPr bwMode="auto">
            <a:xfrm>
              <a:off x="5948362" y="3875089"/>
              <a:ext cx="528638" cy="38258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674" name="AutoShape 25"/>
            <p:cNvCxnSpPr>
              <a:cxnSpLocks noChangeShapeType="1"/>
            </p:cNvCxnSpPr>
            <p:nvPr/>
          </p:nvCxnSpPr>
          <p:spPr bwMode="auto">
            <a:xfrm flipV="1">
              <a:off x="5327650" y="4962528"/>
              <a:ext cx="407987" cy="36353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675" name="AutoShape 26"/>
            <p:cNvCxnSpPr>
              <a:cxnSpLocks noChangeShapeType="1"/>
            </p:cNvCxnSpPr>
            <p:nvPr/>
          </p:nvCxnSpPr>
          <p:spPr bwMode="auto">
            <a:xfrm flipV="1">
              <a:off x="5932487" y="4384677"/>
              <a:ext cx="544513" cy="42703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676" name="AutoShape 27"/>
            <p:cNvCxnSpPr>
              <a:cxnSpLocks noChangeShapeType="1"/>
            </p:cNvCxnSpPr>
            <p:nvPr/>
          </p:nvCxnSpPr>
          <p:spPr bwMode="auto">
            <a:xfrm flipV="1">
              <a:off x="5270500" y="3900489"/>
              <a:ext cx="566737" cy="1374777"/>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677" name="AutoShape 28"/>
            <p:cNvCxnSpPr>
              <a:cxnSpLocks noChangeShapeType="1"/>
            </p:cNvCxnSpPr>
            <p:nvPr/>
          </p:nvCxnSpPr>
          <p:spPr bwMode="auto">
            <a:xfrm>
              <a:off x="6648450" y="4332290"/>
              <a:ext cx="1184275"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678" name="AutoShape 29"/>
            <p:cNvCxnSpPr>
              <a:cxnSpLocks noChangeShapeType="1"/>
            </p:cNvCxnSpPr>
            <p:nvPr/>
          </p:nvCxnSpPr>
          <p:spPr bwMode="auto">
            <a:xfrm>
              <a:off x="5932487" y="4899028"/>
              <a:ext cx="1158875"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679" name="AutoShape 30"/>
            <p:cNvCxnSpPr>
              <a:cxnSpLocks noChangeShapeType="1"/>
            </p:cNvCxnSpPr>
            <p:nvPr/>
          </p:nvCxnSpPr>
          <p:spPr bwMode="auto">
            <a:xfrm>
              <a:off x="5915025" y="4962528"/>
              <a:ext cx="579437" cy="40163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680" name="AutoShape 31"/>
            <p:cNvCxnSpPr>
              <a:cxnSpLocks noChangeShapeType="1"/>
            </p:cNvCxnSpPr>
            <p:nvPr/>
          </p:nvCxnSpPr>
          <p:spPr bwMode="auto">
            <a:xfrm flipV="1">
              <a:off x="5915025" y="5475292"/>
              <a:ext cx="561975" cy="344487"/>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681" name="AutoShape 32"/>
            <p:cNvCxnSpPr>
              <a:cxnSpLocks noChangeShapeType="1"/>
            </p:cNvCxnSpPr>
            <p:nvPr/>
          </p:nvCxnSpPr>
          <p:spPr bwMode="auto">
            <a:xfrm>
              <a:off x="6648450" y="5475292"/>
              <a:ext cx="442912" cy="344487"/>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682" name="AutoShape 33"/>
            <p:cNvCxnSpPr>
              <a:cxnSpLocks noChangeShapeType="1"/>
            </p:cNvCxnSpPr>
            <p:nvPr/>
          </p:nvCxnSpPr>
          <p:spPr bwMode="auto">
            <a:xfrm flipV="1">
              <a:off x="7269162" y="4430715"/>
              <a:ext cx="579438" cy="381001"/>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7683" name="AutoShape 36"/>
            <p:cNvCxnSpPr>
              <a:cxnSpLocks noChangeShapeType="1"/>
            </p:cNvCxnSpPr>
            <p:nvPr/>
          </p:nvCxnSpPr>
          <p:spPr bwMode="auto">
            <a:xfrm>
              <a:off x="8027987" y="4384677"/>
              <a:ext cx="417513" cy="42703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sp>
          <p:nvSpPr>
            <p:cNvPr id="27684" name="Text Box 44"/>
            <p:cNvSpPr txBox="1">
              <a:spLocks noChangeArrowheads="1"/>
            </p:cNvSpPr>
            <p:nvPr/>
          </p:nvSpPr>
          <p:spPr bwMode="auto">
            <a:xfrm>
              <a:off x="6359525" y="4156077"/>
              <a:ext cx="407987" cy="368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700">
                  <a:latin typeface="Times New Roman" panose="02020603050405020304" pitchFamily="18" charset="0"/>
                </a:rPr>
                <a:t>6</a:t>
              </a:r>
              <a:endParaRPr lang="zh-CN" altLang="zh-CN" sz="1800">
                <a:latin typeface="Arial" panose="020B0604020202020204" pitchFamily="34" charset="0"/>
              </a:endParaRPr>
            </a:p>
          </p:txBody>
        </p:sp>
        <p:sp>
          <p:nvSpPr>
            <p:cNvPr id="27685" name="Text Box 51"/>
            <p:cNvSpPr txBox="1">
              <a:spLocks noChangeArrowheads="1"/>
            </p:cNvSpPr>
            <p:nvPr/>
          </p:nvSpPr>
          <p:spPr bwMode="auto">
            <a:xfrm>
              <a:off x="5429252" y="4643441"/>
              <a:ext cx="285728" cy="285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7686" name="Text Box 51"/>
            <p:cNvSpPr txBox="1">
              <a:spLocks noChangeArrowheads="1"/>
            </p:cNvSpPr>
            <p:nvPr/>
          </p:nvSpPr>
          <p:spPr bwMode="auto">
            <a:xfrm>
              <a:off x="5357790" y="4914902"/>
              <a:ext cx="357169" cy="300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7687" name="Text Box 51"/>
            <p:cNvSpPr txBox="1">
              <a:spLocks noChangeArrowheads="1"/>
            </p:cNvSpPr>
            <p:nvPr/>
          </p:nvSpPr>
          <p:spPr bwMode="auto">
            <a:xfrm>
              <a:off x="5643562" y="4129090"/>
              <a:ext cx="3571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27688" name="Text Box 51"/>
            <p:cNvSpPr txBox="1">
              <a:spLocks noChangeArrowheads="1"/>
            </p:cNvSpPr>
            <p:nvPr/>
          </p:nvSpPr>
          <p:spPr bwMode="auto">
            <a:xfrm>
              <a:off x="6000750" y="4357690"/>
              <a:ext cx="35718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7689" name="Text Box 51"/>
            <p:cNvSpPr txBox="1">
              <a:spLocks noChangeArrowheads="1"/>
            </p:cNvSpPr>
            <p:nvPr/>
          </p:nvSpPr>
          <p:spPr bwMode="auto">
            <a:xfrm>
              <a:off x="6143608" y="4929199"/>
              <a:ext cx="357174" cy="300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7690" name="Text Box 51"/>
            <p:cNvSpPr txBox="1">
              <a:spLocks noChangeArrowheads="1"/>
            </p:cNvSpPr>
            <p:nvPr/>
          </p:nvSpPr>
          <p:spPr bwMode="auto">
            <a:xfrm>
              <a:off x="5724525" y="3643314"/>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3</a:t>
              </a:r>
              <a:endParaRPr lang="zh-CN" altLang="zh-CN" sz="1400" b="1">
                <a:latin typeface="Arial" panose="020B0604020202020204" pitchFamily="34" charset="0"/>
              </a:endParaRPr>
            </a:p>
          </p:txBody>
        </p:sp>
        <p:sp>
          <p:nvSpPr>
            <p:cNvPr id="27691" name="Text Box 51"/>
            <p:cNvSpPr txBox="1">
              <a:spLocks noChangeArrowheads="1"/>
            </p:cNvSpPr>
            <p:nvPr/>
          </p:nvSpPr>
          <p:spPr bwMode="auto">
            <a:xfrm>
              <a:off x="5072062" y="4214815"/>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a:t>
              </a:r>
              <a:endParaRPr lang="zh-CN" altLang="zh-CN" sz="1400" b="1">
                <a:latin typeface="Arial" panose="020B0604020202020204" pitchFamily="34" charset="0"/>
              </a:endParaRPr>
            </a:p>
          </p:txBody>
        </p:sp>
        <p:sp>
          <p:nvSpPr>
            <p:cNvPr id="27692" name="Text Box 51"/>
            <p:cNvSpPr txBox="1">
              <a:spLocks noChangeArrowheads="1"/>
            </p:cNvSpPr>
            <p:nvPr/>
          </p:nvSpPr>
          <p:spPr bwMode="auto">
            <a:xfrm>
              <a:off x="5072062" y="5214941"/>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2</a:t>
              </a:r>
              <a:endParaRPr lang="zh-CN" altLang="zh-CN" sz="1400" b="1">
                <a:latin typeface="Arial" panose="020B0604020202020204" pitchFamily="34" charset="0"/>
              </a:endParaRPr>
            </a:p>
          </p:txBody>
        </p:sp>
        <p:sp>
          <p:nvSpPr>
            <p:cNvPr id="27693" name="Text Box 51"/>
            <p:cNvSpPr txBox="1">
              <a:spLocks noChangeArrowheads="1"/>
            </p:cNvSpPr>
            <p:nvPr/>
          </p:nvSpPr>
          <p:spPr bwMode="auto">
            <a:xfrm>
              <a:off x="5715000" y="4714878"/>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4</a:t>
              </a:r>
              <a:endParaRPr lang="zh-CN" altLang="zh-CN" sz="1400" b="1">
                <a:latin typeface="Arial" panose="020B0604020202020204" pitchFamily="34" charset="0"/>
              </a:endParaRPr>
            </a:p>
          </p:txBody>
        </p:sp>
        <p:sp>
          <p:nvSpPr>
            <p:cNvPr id="27694" name="Text Box 51"/>
            <p:cNvSpPr txBox="1">
              <a:spLocks noChangeArrowheads="1"/>
            </p:cNvSpPr>
            <p:nvPr/>
          </p:nvSpPr>
          <p:spPr bwMode="auto">
            <a:xfrm>
              <a:off x="5715000" y="5715004"/>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5</a:t>
              </a:r>
              <a:endParaRPr lang="zh-CN" altLang="zh-CN" sz="1400" b="1">
                <a:latin typeface="Arial" panose="020B0604020202020204" pitchFamily="34" charset="0"/>
              </a:endParaRPr>
            </a:p>
          </p:txBody>
        </p:sp>
        <p:sp>
          <p:nvSpPr>
            <p:cNvPr id="27695" name="Text Box 51"/>
            <p:cNvSpPr txBox="1">
              <a:spLocks noChangeArrowheads="1"/>
            </p:cNvSpPr>
            <p:nvPr/>
          </p:nvSpPr>
          <p:spPr bwMode="auto">
            <a:xfrm>
              <a:off x="6438900" y="4143377"/>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6</a:t>
              </a:r>
              <a:endParaRPr lang="zh-CN" altLang="zh-CN" sz="1400" b="1">
                <a:latin typeface="Arial" panose="020B0604020202020204" pitchFamily="34" charset="0"/>
              </a:endParaRPr>
            </a:p>
          </p:txBody>
        </p:sp>
        <p:sp>
          <p:nvSpPr>
            <p:cNvPr id="27696" name="Text Box 51"/>
            <p:cNvSpPr txBox="1">
              <a:spLocks noChangeArrowheads="1"/>
            </p:cNvSpPr>
            <p:nvPr/>
          </p:nvSpPr>
          <p:spPr bwMode="auto">
            <a:xfrm>
              <a:off x="6438900" y="5286378"/>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7</a:t>
              </a:r>
              <a:endParaRPr lang="zh-CN" altLang="zh-CN" sz="1400" b="1">
                <a:latin typeface="Arial" panose="020B0604020202020204" pitchFamily="34" charset="0"/>
              </a:endParaRPr>
            </a:p>
          </p:txBody>
        </p:sp>
        <p:sp>
          <p:nvSpPr>
            <p:cNvPr id="27697" name="Text Box 51"/>
            <p:cNvSpPr txBox="1">
              <a:spLocks noChangeArrowheads="1"/>
            </p:cNvSpPr>
            <p:nvPr/>
          </p:nvSpPr>
          <p:spPr bwMode="auto">
            <a:xfrm>
              <a:off x="7081837" y="4786316"/>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8</a:t>
              </a:r>
              <a:endParaRPr lang="zh-CN" altLang="zh-CN" sz="1400" b="1">
                <a:latin typeface="Arial" panose="020B0604020202020204" pitchFamily="34" charset="0"/>
              </a:endParaRPr>
            </a:p>
          </p:txBody>
        </p:sp>
        <p:sp>
          <p:nvSpPr>
            <p:cNvPr id="27698" name="Text Box 51"/>
            <p:cNvSpPr txBox="1">
              <a:spLocks noChangeArrowheads="1"/>
            </p:cNvSpPr>
            <p:nvPr/>
          </p:nvSpPr>
          <p:spPr bwMode="auto">
            <a:xfrm>
              <a:off x="7072312" y="5715004"/>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9</a:t>
              </a:r>
              <a:endParaRPr lang="zh-CN" altLang="zh-CN" sz="1400" b="1">
                <a:latin typeface="Arial" panose="020B0604020202020204" pitchFamily="34" charset="0"/>
              </a:endParaRPr>
            </a:p>
          </p:txBody>
        </p:sp>
        <p:sp>
          <p:nvSpPr>
            <p:cNvPr id="27699" name="Text Box 51"/>
            <p:cNvSpPr txBox="1">
              <a:spLocks noChangeArrowheads="1"/>
            </p:cNvSpPr>
            <p:nvPr/>
          </p:nvSpPr>
          <p:spPr bwMode="auto">
            <a:xfrm>
              <a:off x="7739211" y="4214815"/>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10</a:t>
              </a:r>
              <a:endParaRPr lang="zh-CN" altLang="zh-CN" sz="1400" b="1">
                <a:latin typeface="Arial" panose="020B0604020202020204" pitchFamily="34" charset="0"/>
              </a:endParaRPr>
            </a:p>
          </p:txBody>
        </p:sp>
        <p:sp>
          <p:nvSpPr>
            <p:cNvPr id="27700" name="Text Box 51"/>
            <p:cNvSpPr txBox="1">
              <a:spLocks noChangeArrowheads="1"/>
            </p:cNvSpPr>
            <p:nvPr/>
          </p:nvSpPr>
          <p:spPr bwMode="auto">
            <a:xfrm>
              <a:off x="4572000" y="4714878"/>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s</a:t>
              </a:r>
              <a:endParaRPr lang="zh-CN" altLang="zh-CN" sz="1400" b="1" i="1">
                <a:latin typeface="Arial" panose="020B0604020202020204" pitchFamily="34" charset="0"/>
              </a:endParaRPr>
            </a:p>
          </p:txBody>
        </p:sp>
        <p:sp>
          <p:nvSpPr>
            <p:cNvPr id="27701" name="Text Box 51"/>
            <p:cNvSpPr txBox="1">
              <a:spLocks noChangeArrowheads="1"/>
            </p:cNvSpPr>
            <p:nvPr/>
          </p:nvSpPr>
          <p:spPr bwMode="auto">
            <a:xfrm>
              <a:off x="8439150" y="4714878"/>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t</a:t>
              </a:r>
              <a:endParaRPr lang="zh-CN" altLang="zh-CN" sz="1400" b="1" i="1">
                <a:latin typeface="Arial" panose="020B0604020202020204" pitchFamily="34" charset="0"/>
              </a:endParaRPr>
            </a:p>
          </p:txBody>
        </p:sp>
        <p:sp>
          <p:nvSpPr>
            <p:cNvPr id="27702" name="Text Box 51"/>
            <p:cNvSpPr txBox="1">
              <a:spLocks noChangeArrowheads="1"/>
            </p:cNvSpPr>
            <p:nvPr/>
          </p:nvSpPr>
          <p:spPr bwMode="auto">
            <a:xfrm>
              <a:off x="5929294" y="6000750"/>
              <a:ext cx="909638" cy="428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2000" b="1" i="1">
                  <a:latin typeface="Times New Roman" panose="02020603050405020304" pitchFamily="18" charset="0"/>
                </a:rPr>
                <a:t>AN</a:t>
              </a:r>
              <a:r>
                <a:rPr lang="en-US" altLang="zh-CN" sz="2000" b="1">
                  <a:latin typeface="Times New Roman" panose="02020603050405020304" pitchFamily="18" charset="0"/>
                </a:rPr>
                <a:t>(</a:t>
              </a:r>
              <a:r>
                <a:rPr lang="en-US" altLang="zh-CN" sz="2000" b="1" i="1">
                  <a:latin typeface="Times New Roman" panose="02020603050405020304" pitchFamily="18" charset="0"/>
                </a:rPr>
                <a:t>f</a:t>
              </a:r>
              <a:r>
                <a:rPr lang="en-US" altLang="zh-CN" sz="2000" b="1" baseline="-25000">
                  <a:latin typeface="Times New Roman" panose="02020603050405020304" pitchFamily="18" charset="0"/>
                </a:rPr>
                <a:t>1</a:t>
              </a:r>
              <a:r>
                <a:rPr lang="en-US" altLang="zh-CN" sz="2000" b="1">
                  <a:latin typeface="Times New Roman" panose="02020603050405020304" pitchFamily="18" charset="0"/>
                </a:rPr>
                <a:t>)</a:t>
              </a:r>
              <a:endParaRPr lang="zh-CN" altLang="zh-CN" sz="2000" b="1">
                <a:latin typeface="Arial" panose="020B0604020202020204" pitchFamily="34" charset="0"/>
              </a:endParaRPr>
            </a:p>
          </p:txBody>
        </p:sp>
        <p:sp>
          <p:nvSpPr>
            <p:cNvPr id="27703" name="Text Box 51"/>
            <p:cNvSpPr txBox="1">
              <a:spLocks noChangeArrowheads="1"/>
            </p:cNvSpPr>
            <p:nvPr/>
          </p:nvSpPr>
          <p:spPr bwMode="auto">
            <a:xfrm>
              <a:off x="5429250" y="4000502"/>
              <a:ext cx="35718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1</a:t>
              </a:r>
              <a:endParaRPr lang="zh-CN" altLang="zh-CN" sz="1600" b="1">
                <a:latin typeface="Arial" panose="020B0604020202020204" pitchFamily="34" charset="0"/>
              </a:endParaRPr>
            </a:p>
          </p:txBody>
        </p:sp>
        <p:sp>
          <p:nvSpPr>
            <p:cNvPr id="27704" name="Text Box 51"/>
            <p:cNvSpPr txBox="1">
              <a:spLocks noChangeArrowheads="1"/>
            </p:cNvSpPr>
            <p:nvPr/>
          </p:nvSpPr>
          <p:spPr bwMode="auto">
            <a:xfrm>
              <a:off x="5929312" y="3929064"/>
              <a:ext cx="35718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a:t>
              </a:r>
              <a:endParaRPr lang="zh-CN" altLang="zh-CN" sz="1600" b="1">
                <a:latin typeface="Arial" panose="020B0604020202020204" pitchFamily="34" charset="0"/>
              </a:endParaRPr>
            </a:p>
          </p:txBody>
        </p:sp>
        <p:sp>
          <p:nvSpPr>
            <p:cNvPr id="27705" name="Text Box 51"/>
            <p:cNvSpPr txBox="1">
              <a:spLocks noChangeArrowheads="1"/>
            </p:cNvSpPr>
            <p:nvPr/>
          </p:nvSpPr>
          <p:spPr bwMode="auto">
            <a:xfrm>
              <a:off x="6929426" y="4071922"/>
              <a:ext cx="2857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27706" name="Text Box 51"/>
            <p:cNvSpPr txBox="1">
              <a:spLocks noChangeArrowheads="1"/>
            </p:cNvSpPr>
            <p:nvPr/>
          </p:nvSpPr>
          <p:spPr bwMode="auto">
            <a:xfrm>
              <a:off x="4857724" y="4914902"/>
              <a:ext cx="285724" cy="300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a:t>
              </a:r>
              <a:endParaRPr lang="zh-CN" altLang="zh-CN" sz="1600" b="1">
                <a:latin typeface="Arial" panose="020B0604020202020204" pitchFamily="34" charset="0"/>
              </a:endParaRPr>
            </a:p>
          </p:txBody>
        </p:sp>
        <p:sp>
          <p:nvSpPr>
            <p:cNvPr id="27707" name="Text Box 51"/>
            <p:cNvSpPr txBox="1">
              <a:spLocks noChangeArrowheads="1"/>
            </p:cNvSpPr>
            <p:nvPr/>
          </p:nvSpPr>
          <p:spPr bwMode="auto">
            <a:xfrm>
              <a:off x="5429252" y="5429266"/>
              <a:ext cx="357166" cy="300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27708" name="Text Box 51"/>
            <p:cNvSpPr txBox="1">
              <a:spLocks noChangeArrowheads="1"/>
            </p:cNvSpPr>
            <p:nvPr/>
          </p:nvSpPr>
          <p:spPr bwMode="auto">
            <a:xfrm>
              <a:off x="6000749" y="5429253"/>
              <a:ext cx="357173" cy="285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27709" name="Text Box 51"/>
            <p:cNvSpPr txBox="1">
              <a:spLocks noChangeArrowheads="1"/>
            </p:cNvSpPr>
            <p:nvPr/>
          </p:nvSpPr>
          <p:spPr bwMode="auto">
            <a:xfrm>
              <a:off x="6786564" y="5429266"/>
              <a:ext cx="285738" cy="285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7710" name="Text Box 51"/>
            <p:cNvSpPr txBox="1">
              <a:spLocks noChangeArrowheads="1"/>
            </p:cNvSpPr>
            <p:nvPr/>
          </p:nvSpPr>
          <p:spPr bwMode="auto">
            <a:xfrm>
              <a:off x="8000998" y="4486278"/>
              <a:ext cx="285750" cy="30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6</a:t>
              </a:r>
              <a:endParaRPr lang="zh-CN" altLang="zh-CN" sz="1600" b="1">
                <a:latin typeface="Arial" panose="020B0604020202020204" pitchFamily="34" charset="0"/>
              </a:endParaRPr>
            </a:p>
          </p:txBody>
        </p:sp>
        <p:sp>
          <p:nvSpPr>
            <p:cNvPr id="27711" name="Text Box 51"/>
            <p:cNvSpPr txBox="1">
              <a:spLocks noChangeArrowheads="1"/>
            </p:cNvSpPr>
            <p:nvPr/>
          </p:nvSpPr>
          <p:spPr bwMode="auto">
            <a:xfrm>
              <a:off x="7367589" y="4357694"/>
              <a:ext cx="276217" cy="35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27712" name="Text Box 51"/>
            <p:cNvSpPr txBox="1">
              <a:spLocks noChangeArrowheads="1"/>
            </p:cNvSpPr>
            <p:nvPr/>
          </p:nvSpPr>
          <p:spPr bwMode="auto">
            <a:xfrm>
              <a:off x="6429360" y="4643426"/>
              <a:ext cx="357175" cy="300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a:t>
              </a:r>
              <a:endParaRPr lang="zh-CN" altLang="zh-CN" sz="1600" b="1">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1+#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Dinic</a:t>
            </a:r>
            <a:r>
              <a:rPr lang="zh-CN" altLang="en-US" sz="4000" b="1" smtClean="0">
                <a:solidFill>
                  <a:srgbClr val="C00000"/>
                </a:solidFill>
                <a:latin typeface="Times New Roman" panose="02020603050405020304" pitchFamily="18" charset="0"/>
                <a:cs typeface="Times New Roman" panose="02020603050405020304" pitchFamily="18" charset="0"/>
              </a:rPr>
              <a:t>算法</a:t>
            </a:r>
            <a:endParaRPr lang="zh-CN" altLang="en-US" sz="4000" smtClean="0">
              <a:solidFill>
                <a:srgbClr val="C00000"/>
              </a:solidFill>
              <a:latin typeface="Times New Roman" panose="02020603050405020304" pitchFamily="18" charset="0"/>
              <a:cs typeface="Times New Roman" panose="02020603050405020304" pitchFamily="18" charset="0"/>
            </a:endParaRPr>
          </a:p>
        </p:txBody>
      </p:sp>
      <p:sp>
        <p:nvSpPr>
          <p:cNvPr id="28675" name="内容占位符 2"/>
          <p:cNvSpPr>
            <a:spLocks noGrp="1"/>
          </p:cNvSpPr>
          <p:nvPr>
            <p:ph idx="1"/>
          </p:nvPr>
        </p:nvSpPr>
        <p:spPr>
          <a:xfrm>
            <a:off x="407988" y="1268413"/>
            <a:ext cx="8258175" cy="4829175"/>
          </a:xfrm>
        </p:spPr>
        <p:txBody>
          <a:bodyPr/>
          <a:lstStyle/>
          <a:p>
            <a:pPr>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前向增广链</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关于 </a:t>
            </a:r>
            <a:r>
              <a:rPr lang="en-US" altLang="zh-CN" sz="2400" b="1" i="1" smtClean="0">
                <a:latin typeface="Times New Roman" panose="02020603050405020304" pitchFamily="18" charset="0"/>
                <a:cs typeface="Times New Roman" panose="02020603050405020304" pitchFamily="18" charset="0"/>
              </a:rPr>
              <a:t>f </a:t>
            </a:r>
            <a:r>
              <a:rPr lang="zh-CN" altLang="en-US" sz="2400" b="1" smtClean="0">
                <a:latin typeface="Times New Roman" panose="02020603050405020304" pitchFamily="18" charset="0"/>
                <a:cs typeface="Times New Roman" panose="02020603050405020304" pitchFamily="18" charset="0"/>
              </a:rPr>
              <a:t>的不含后向边的增广链</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spcBef>
                <a:spcPct val="0"/>
              </a:spcBef>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极大流</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不存在前向增广链的可行流</a:t>
            </a:r>
            <a:r>
              <a:rPr lang="en-US" altLang="zh-CN"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最大流必是极大流</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但极大流不一定是最大流</a:t>
            </a:r>
            <a:r>
              <a:rPr lang="en-US" altLang="zh-CN"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中间点 </a:t>
            </a:r>
            <a:r>
              <a:rPr lang="en-US" altLang="zh-CN" sz="2400" b="1" i="1" smtClean="0">
                <a:solidFill>
                  <a:srgbClr val="C00000"/>
                </a:solidFill>
                <a:latin typeface="Times New Roman" panose="02020603050405020304" pitchFamily="18" charset="0"/>
                <a:cs typeface="Times New Roman" panose="02020603050405020304" pitchFamily="18" charset="0"/>
              </a:rPr>
              <a:t>i </a:t>
            </a:r>
            <a:r>
              <a:rPr lang="zh-CN" altLang="en-US" sz="2400" b="1" smtClean="0">
                <a:solidFill>
                  <a:srgbClr val="C00000"/>
                </a:solidFill>
                <a:latin typeface="Times New Roman" panose="02020603050405020304" pitchFamily="18" charset="0"/>
                <a:cs typeface="Times New Roman" panose="02020603050405020304" pitchFamily="18" charset="0"/>
              </a:rPr>
              <a:t>的流通量 </a:t>
            </a:r>
            <a:r>
              <a:rPr lang="en-US" altLang="zh-CN" sz="2400" b="1" i="1" smtClean="0">
                <a:solidFill>
                  <a:srgbClr val="C00000"/>
                </a:solidFill>
                <a:latin typeface="Times New Roman" panose="02020603050405020304" pitchFamily="18" charset="0"/>
                <a:cs typeface="Times New Roman" panose="02020603050405020304" pitchFamily="18" charset="0"/>
              </a:rPr>
              <a:t>th</a:t>
            </a:r>
            <a:r>
              <a:rPr lang="en-US" altLang="zh-CN" sz="2400" b="1" smtClean="0">
                <a:solidFill>
                  <a:srgbClr val="C00000"/>
                </a:solidFill>
                <a:latin typeface="Times New Roman" panose="02020603050405020304" pitchFamily="18" charset="0"/>
                <a:cs typeface="Times New Roman" panose="02020603050405020304" pitchFamily="18" charset="0"/>
              </a:rPr>
              <a:t>(</a:t>
            </a:r>
            <a:r>
              <a:rPr lang="en-US" altLang="zh-CN" sz="2400" b="1" i="1" smtClean="0">
                <a:solidFill>
                  <a:srgbClr val="C00000"/>
                </a:solidFill>
                <a:latin typeface="Times New Roman" panose="02020603050405020304" pitchFamily="18" charset="0"/>
                <a:cs typeface="Times New Roman" panose="02020603050405020304" pitchFamily="18" charset="0"/>
              </a:rPr>
              <a:t>i</a:t>
            </a:r>
            <a:r>
              <a:rPr lang="en-US" altLang="zh-CN" sz="2400" b="1" smtClean="0">
                <a:solidFill>
                  <a:srgbClr val="C00000"/>
                </a:solidFill>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以 </a:t>
            </a:r>
            <a:r>
              <a:rPr lang="en-US" altLang="zh-CN" sz="2400" b="1" i="1"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为终点的边的容量之和与以 </a:t>
            </a:r>
            <a:r>
              <a:rPr lang="en-US" altLang="zh-CN" sz="2400" b="1" i="1"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为</a:t>
            </a:r>
            <a:endParaRPr lang="en-US" altLang="zh-CN" sz="2400" b="1" smtClean="0">
              <a:latin typeface="Times New Roman" panose="02020603050405020304" pitchFamily="18" charset="0"/>
              <a:cs typeface="Times New Roman" panose="02020603050405020304" pitchFamily="18" charset="0"/>
            </a:endParaRPr>
          </a:p>
          <a:p>
            <a:pPr>
              <a:spcBef>
                <a:spcPct val="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始点的边的容量之和中的小者</a:t>
            </a:r>
            <a:r>
              <a:rPr lang="en-US" altLang="zh-CN"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en-US" altLang="zh-CN" sz="2400" b="1" smtClean="0">
                <a:solidFill>
                  <a:srgbClr val="C00000"/>
                </a:solidFill>
                <a:latin typeface="Times New Roman" panose="02020603050405020304" pitchFamily="18" charset="0"/>
                <a:cs typeface="Times New Roman" panose="02020603050405020304" pitchFamily="18" charset="0"/>
              </a:rPr>
              <a:t>Dinic</a:t>
            </a:r>
            <a:r>
              <a:rPr lang="zh-CN" altLang="en-US" sz="2400" b="1" smtClean="0">
                <a:solidFill>
                  <a:srgbClr val="C00000"/>
                </a:solidFill>
                <a:latin typeface="Times New Roman" panose="02020603050405020304" pitchFamily="18" charset="0"/>
                <a:cs typeface="Times New Roman" panose="02020603050405020304" pitchFamily="18" charset="0"/>
              </a:rPr>
              <a:t>算法</a:t>
            </a:r>
            <a:r>
              <a:rPr lang="zh-CN" altLang="en-US" sz="2400" b="1" smtClean="0">
                <a:latin typeface="Times New Roman" panose="02020603050405020304" pitchFamily="18" charset="0"/>
                <a:cs typeface="Times New Roman" panose="02020603050405020304" pitchFamily="18" charset="0"/>
              </a:rPr>
              <a:t>的关键步骤是求 </a:t>
            </a:r>
            <a:r>
              <a:rPr lang="en-US" altLang="zh-CN" sz="2400" b="1" i="1" smtClean="0">
                <a:latin typeface="Times New Roman" panose="02020603050405020304" pitchFamily="18" charset="0"/>
                <a:cs typeface="Times New Roman" panose="02020603050405020304" pitchFamily="18" charset="0"/>
              </a:rPr>
              <a:t>AN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中的极大流</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即在 </a:t>
            </a:r>
            <a:r>
              <a:rPr lang="en-US" altLang="zh-CN" sz="2400" b="1" i="1" smtClean="0">
                <a:latin typeface="Times New Roman" panose="02020603050405020304" pitchFamily="18" charset="0"/>
                <a:cs typeface="Times New Roman" panose="02020603050405020304" pitchFamily="18" charset="0"/>
              </a:rPr>
              <a:t>AN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中</a:t>
            </a:r>
            <a:endParaRPr lang="en-US" altLang="zh-CN" sz="2400" b="1"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找尽可能多的从 </a:t>
            </a:r>
            <a:r>
              <a:rPr lang="en-US" altLang="zh-CN" sz="2400" b="1" i="1" smtClean="0">
                <a:latin typeface="Times New Roman" panose="02020603050405020304" pitchFamily="18" charset="0"/>
                <a:cs typeface="Times New Roman" panose="02020603050405020304" pitchFamily="18" charset="0"/>
              </a:rPr>
              <a:t>s </a:t>
            </a:r>
            <a:r>
              <a:rPr lang="zh-CN" altLang="en-US" sz="2400" b="1" smtClean="0">
                <a:latin typeface="Times New Roman" panose="02020603050405020304" pitchFamily="18" charset="0"/>
                <a:cs typeface="Times New Roman" panose="02020603050405020304" pitchFamily="18" charset="0"/>
              </a:rPr>
              <a:t>到 </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的最短路径并给出这些路径上的流量</a:t>
            </a:r>
            <a:r>
              <a:rPr lang="en-US" altLang="zh-CN"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删去流通量为 </a:t>
            </a:r>
            <a:r>
              <a:rPr lang="en-US" altLang="zh-CN" sz="2400" b="1" smtClean="0">
                <a:latin typeface="Times New Roman" panose="02020603050405020304" pitchFamily="18" charset="0"/>
                <a:cs typeface="Times New Roman" panose="02020603050405020304" pitchFamily="18" charset="0"/>
              </a:rPr>
              <a:t>0 </a:t>
            </a:r>
            <a:r>
              <a:rPr lang="zh-CN" altLang="en-US" sz="2400" b="1" smtClean="0">
                <a:latin typeface="Times New Roman" panose="02020603050405020304" pitchFamily="18" charset="0"/>
                <a:cs typeface="Times New Roman" panose="02020603050405020304" pitchFamily="18" charset="0"/>
              </a:rPr>
              <a:t>的顶点及关联的边</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找到流通量最小的顶点 </a:t>
            </a:r>
            <a:endParaRPr lang="en-US" altLang="zh-CN" sz="2400" b="1"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k</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从 </a:t>
            </a:r>
            <a:r>
              <a:rPr lang="en-US" altLang="zh-CN" sz="2400" b="1" i="1" smtClean="0">
                <a:latin typeface="Times New Roman" panose="02020603050405020304" pitchFamily="18" charset="0"/>
                <a:cs typeface="Times New Roman" panose="02020603050405020304" pitchFamily="18" charset="0"/>
              </a:rPr>
              <a:t>k </a:t>
            </a:r>
            <a:r>
              <a:rPr lang="zh-CN" altLang="en-US" sz="2400" b="1" smtClean="0">
                <a:latin typeface="Times New Roman" panose="02020603050405020304" pitchFamily="18" charset="0"/>
                <a:cs typeface="Times New Roman" panose="02020603050405020304" pitchFamily="18" charset="0"/>
              </a:rPr>
              <a:t>开始向后和向前安排流量 </a:t>
            </a:r>
            <a:r>
              <a:rPr lang="en-US" altLang="zh-CN" sz="2400" b="1" i="1" smtClean="0">
                <a:latin typeface="Times New Roman" panose="02020603050405020304" pitchFamily="18" charset="0"/>
                <a:cs typeface="Times New Roman" panose="02020603050405020304" pitchFamily="18" charset="0"/>
              </a:rPr>
              <a:t>th</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k</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直到 </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和 </a:t>
            </a:r>
            <a:r>
              <a:rPr lang="en-US" altLang="zh-CN" sz="2400" b="1" i="1" smtClean="0">
                <a:latin typeface="Times New Roman" panose="02020603050405020304" pitchFamily="18" charset="0"/>
                <a:cs typeface="Times New Roman" panose="02020603050405020304" pitchFamily="18" charset="0"/>
              </a:rPr>
              <a:t>s</a:t>
            </a:r>
            <a:r>
              <a:rPr lang="zh-CN" altLang="en-US" sz="2400" b="1" smtClean="0">
                <a:latin typeface="Times New Roman" panose="02020603050405020304" pitchFamily="18" charset="0"/>
                <a:cs typeface="Times New Roman" panose="02020603050405020304" pitchFamily="18" charset="0"/>
              </a:rPr>
              <a:t>为止</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修改</a:t>
            </a:r>
            <a:endParaRPr lang="en-US" altLang="zh-CN" sz="2400" b="1"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相关边的容量</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重复进行</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直到 </a:t>
            </a:r>
            <a:r>
              <a:rPr lang="en-US" altLang="zh-CN" sz="2400" b="1" i="1" smtClean="0">
                <a:latin typeface="Times New Roman" panose="02020603050405020304" pitchFamily="18" charset="0"/>
                <a:cs typeface="Times New Roman" panose="02020603050405020304" pitchFamily="18" charset="0"/>
              </a:rPr>
              <a:t>s </a:t>
            </a:r>
            <a:r>
              <a:rPr lang="zh-CN" altLang="en-US" sz="2400" b="1" smtClean="0">
                <a:latin typeface="Times New Roman" panose="02020603050405020304" pitchFamily="18" charset="0"/>
                <a:cs typeface="Times New Roman" panose="02020603050405020304" pitchFamily="18" charset="0"/>
              </a:rPr>
              <a:t>和 </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不连通为止</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得到 </a:t>
            </a:r>
            <a:r>
              <a:rPr lang="en-US" altLang="zh-CN" sz="2400" b="1" i="1" smtClean="0">
                <a:latin typeface="Times New Roman" panose="02020603050405020304" pitchFamily="18" charset="0"/>
                <a:cs typeface="Times New Roman" panose="02020603050405020304" pitchFamily="18" charset="0"/>
              </a:rPr>
              <a:t>AN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的极大流 </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令 </a:t>
            </a:r>
            <a:r>
              <a:rPr lang="en-US" altLang="zh-CN" sz="2400" b="1" i="1" smtClean="0">
                <a:latin typeface="Times New Roman" panose="02020603050405020304" pitchFamily="18" charset="0"/>
                <a:cs typeface="Times New Roman" panose="02020603050405020304" pitchFamily="18" charset="0"/>
              </a:rPr>
              <a:t>f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f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g</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endParaRPr lang="zh-CN" altLang="en-US" sz="2400" b="1" smtClean="0">
              <a:latin typeface="Times New Roman" panose="02020603050405020304" pitchFamily="18" charset="0"/>
              <a:cs typeface="Times New Roman" panose="02020603050405020304" pitchFamily="18" charset="0"/>
            </a:endParaRPr>
          </a:p>
        </p:txBody>
      </p:sp>
      <p:sp>
        <p:nvSpPr>
          <p:cNvPr id="2867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78B8B8C8-93FF-4875-8617-A14013ED62E0}" type="slidenum">
              <a:rPr lang="zh-CN" altLang="en-US" sz="1200" smtClean="0">
                <a:solidFill>
                  <a:srgbClr val="898989"/>
                </a:solidFill>
              </a:rPr>
            </a:fld>
            <a:endParaRPr lang="zh-CN" altLang="en-US" sz="1200" smtClean="0">
              <a:solidFill>
                <a:srgbClr val="898989"/>
              </a:solidFill>
            </a:endParaRPr>
          </a:p>
        </p:txBody>
      </p:sp>
      <p:grpSp>
        <p:nvGrpSpPr>
          <p:cNvPr id="28677" name="组合 30"/>
          <p:cNvGrpSpPr/>
          <p:nvPr/>
        </p:nvGrpSpPr>
        <p:grpSpPr bwMode="auto">
          <a:xfrm>
            <a:off x="6921500" y="1428750"/>
            <a:ext cx="1793875" cy="1274763"/>
            <a:chOff x="5421603" y="3248953"/>
            <a:chExt cx="1793603" cy="1274954"/>
          </a:xfrm>
        </p:grpSpPr>
        <p:sp>
          <p:nvSpPr>
            <p:cNvPr id="28678" name="Oval 6"/>
            <p:cNvSpPr>
              <a:spLocks noChangeArrowheads="1"/>
            </p:cNvSpPr>
            <p:nvPr/>
          </p:nvSpPr>
          <p:spPr bwMode="auto">
            <a:xfrm>
              <a:off x="5438495" y="3768860"/>
              <a:ext cx="225734" cy="21623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8679" name="Oval 8"/>
            <p:cNvSpPr>
              <a:spLocks noChangeArrowheads="1"/>
            </p:cNvSpPr>
            <p:nvPr/>
          </p:nvSpPr>
          <p:spPr bwMode="auto">
            <a:xfrm>
              <a:off x="6037181" y="4203691"/>
              <a:ext cx="225734" cy="21623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8680" name="Text Box 9"/>
            <p:cNvSpPr txBox="1">
              <a:spLocks noChangeArrowheads="1"/>
            </p:cNvSpPr>
            <p:nvPr/>
          </p:nvSpPr>
          <p:spPr bwMode="auto">
            <a:xfrm>
              <a:off x="5919407" y="4169425"/>
              <a:ext cx="439200" cy="354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48000"/>
                </a:lnSpc>
                <a:spcBef>
                  <a:spcPct val="0"/>
                </a:spcBef>
                <a:buFontTx/>
                <a:buNone/>
              </a:pPr>
              <a:r>
                <a:rPr lang="en-US" altLang="zh-CN" sz="700">
                  <a:latin typeface="Times New Roman" panose="02020603050405020304" pitchFamily="18" charset="0"/>
                </a:rPr>
                <a:t>2</a:t>
              </a:r>
              <a:endParaRPr lang="zh-CN" altLang="zh-CN" sz="1800">
                <a:latin typeface="Arial" panose="020B0604020202020204" pitchFamily="34" charset="0"/>
              </a:endParaRPr>
            </a:p>
          </p:txBody>
        </p:sp>
        <p:sp>
          <p:nvSpPr>
            <p:cNvPr id="28681" name="Oval 10"/>
            <p:cNvSpPr>
              <a:spLocks noChangeArrowheads="1"/>
            </p:cNvSpPr>
            <p:nvPr/>
          </p:nvSpPr>
          <p:spPr bwMode="auto">
            <a:xfrm>
              <a:off x="6046995" y="3248953"/>
              <a:ext cx="225734" cy="21623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8682" name="Oval 12"/>
            <p:cNvSpPr>
              <a:spLocks noChangeArrowheads="1"/>
            </p:cNvSpPr>
            <p:nvPr/>
          </p:nvSpPr>
          <p:spPr bwMode="auto">
            <a:xfrm>
              <a:off x="6775158" y="3768860"/>
              <a:ext cx="225734" cy="21623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28683" name="AutoShape 14"/>
            <p:cNvCxnSpPr>
              <a:cxnSpLocks noChangeShapeType="1"/>
            </p:cNvCxnSpPr>
            <p:nvPr/>
          </p:nvCxnSpPr>
          <p:spPr bwMode="auto">
            <a:xfrm flipV="1">
              <a:off x="5664229" y="3414378"/>
              <a:ext cx="403622" cy="354482"/>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8684" name="AutoShape 15"/>
            <p:cNvCxnSpPr>
              <a:cxnSpLocks noChangeShapeType="1"/>
            </p:cNvCxnSpPr>
            <p:nvPr/>
          </p:nvCxnSpPr>
          <p:spPr bwMode="auto">
            <a:xfrm>
              <a:off x="5634786" y="3956735"/>
              <a:ext cx="402395" cy="284767"/>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8685" name="AutoShape 16"/>
            <p:cNvCxnSpPr>
              <a:cxnSpLocks noChangeShapeType="1"/>
            </p:cNvCxnSpPr>
            <p:nvPr/>
          </p:nvCxnSpPr>
          <p:spPr bwMode="auto">
            <a:xfrm>
              <a:off x="6164770" y="3465187"/>
              <a:ext cx="0" cy="738504"/>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8686" name="AutoShape 17"/>
            <p:cNvCxnSpPr>
              <a:cxnSpLocks noChangeShapeType="1"/>
            </p:cNvCxnSpPr>
            <p:nvPr/>
          </p:nvCxnSpPr>
          <p:spPr bwMode="auto">
            <a:xfrm>
              <a:off x="6272729" y="3414378"/>
              <a:ext cx="529984" cy="354482"/>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8687" name="AutoShape 18"/>
            <p:cNvCxnSpPr>
              <a:cxnSpLocks noChangeShapeType="1"/>
            </p:cNvCxnSpPr>
            <p:nvPr/>
          </p:nvCxnSpPr>
          <p:spPr bwMode="auto">
            <a:xfrm flipV="1">
              <a:off x="6282544" y="3956735"/>
              <a:ext cx="520170" cy="36275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sp>
          <p:nvSpPr>
            <p:cNvPr id="28688" name="Text Box 19"/>
            <p:cNvSpPr txBox="1">
              <a:spLocks noChangeArrowheads="1"/>
            </p:cNvSpPr>
            <p:nvPr/>
          </p:nvSpPr>
          <p:spPr bwMode="auto">
            <a:xfrm>
              <a:off x="5493041" y="3379569"/>
              <a:ext cx="436281" cy="335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1,1</a:t>
              </a:r>
              <a:endParaRPr lang="zh-CN" altLang="zh-CN" sz="1400" b="1">
                <a:latin typeface="Arial" panose="020B0604020202020204" pitchFamily="34" charset="0"/>
              </a:endParaRPr>
            </a:p>
          </p:txBody>
        </p:sp>
        <p:sp>
          <p:nvSpPr>
            <p:cNvPr id="28689" name="Text Box 19"/>
            <p:cNvSpPr txBox="1">
              <a:spLocks noChangeArrowheads="1"/>
            </p:cNvSpPr>
            <p:nvPr/>
          </p:nvSpPr>
          <p:spPr bwMode="auto">
            <a:xfrm>
              <a:off x="5850231" y="3736759"/>
              <a:ext cx="436281" cy="335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1,1</a:t>
              </a:r>
              <a:endParaRPr lang="zh-CN" altLang="zh-CN" sz="1400" b="1">
                <a:latin typeface="Arial" panose="020B0604020202020204" pitchFamily="34" charset="0"/>
              </a:endParaRPr>
            </a:p>
          </p:txBody>
        </p:sp>
        <p:sp>
          <p:nvSpPr>
            <p:cNvPr id="28690" name="Text Box 19"/>
            <p:cNvSpPr txBox="1">
              <a:spLocks noChangeArrowheads="1"/>
            </p:cNvSpPr>
            <p:nvPr/>
          </p:nvSpPr>
          <p:spPr bwMode="auto">
            <a:xfrm>
              <a:off x="6493173" y="4071942"/>
              <a:ext cx="436281" cy="335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1,1</a:t>
              </a:r>
              <a:endParaRPr lang="zh-CN" altLang="zh-CN" sz="1400" b="1">
                <a:latin typeface="Arial" panose="020B0604020202020204" pitchFamily="34" charset="0"/>
              </a:endParaRPr>
            </a:p>
          </p:txBody>
        </p:sp>
        <p:sp>
          <p:nvSpPr>
            <p:cNvPr id="28691" name="Text Box 19"/>
            <p:cNvSpPr txBox="1">
              <a:spLocks noChangeArrowheads="1"/>
            </p:cNvSpPr>
            <p:nvPr/>
          </p:nvSpPr>
          <p:spPr bwMode="auto">
            <a:xfrm>
              <a:off x="5500694" y="4022511"/>
              <a:ext cx="436281" cy="335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1,0</a:t>
              </a:r>
              <a:endParaRPr lang="zh-CN" altLang="zh-CN" sz="1400" b="1">
                <a:latin typeface="Arial" panose="020B0604020202020204" pitchFamily="34" charset="0"/>
              </a:endParaRPr>
            </a:p>
          </p:txBody>
        </p:sp>
        <p:sp>
          <p:nvSpPr>
            <p:cNvPr id="28692" name="Text Box 19"/>
            <p:cNvSpPr txBox="1">
              <a:spLocks noChangeArrowheads="1"/>
            </p:cNvSpPr>
            <p:nvPr/>
          </p:nvSpPr>
          <p:spPr bwMode="auto">
            <a:xfrm>
              <a:off x="6421735" y="3379569"/>
              <a:ext cx="436281" cy="335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1,0</a:t>
              </a:r>
              <a:endParaRPr lang="zh-CN" altLang="zh-CN" sz="1400" b="1">
                <a:latin typeface="Arial" panose="020B0604020202020204" pitchFamily="34" charset="0"/>
              </a:endParaRPr>
            </a:p>
          </p:txBody>
        </p:sp>
        <p:sp>
          <p:nvSpPr>
            <p:cNvPr id="28693" name="Text Box 19"/>
            <p:cNvSpPr txBox="1">
              <a:spLocks noChangeArrowheads="1"/>
            </p:cNvSpPr>
            <p:nvPr/>
          </p:nvSpPr>
          <p:spPr bwMode="auto">
            <a:xfrm>
              <a:off x="5421603" y="3736759"/>
              <a:ext cx="436281" cy="335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s</a:t>
              </a:r>
              <a:endParaRPr lang="zh-CN" altLang="zh-CN" sz="1400" b="1" i="1">
                <a:latin typeface="Arial" panose="020B0604020202020204" pitchFamily="34" charset="0"/>
              </a:endParaRPr>
            </a:p>
          </p:txBody>
        </p:sp>
        <p:sp>
          <p:nvSpPr>
            <p:cNvPr id="28694" name="Text Box 19"/>
            <p:cNvSpPr txBox="1">
              <a:spLocks noChangeArrowheads="1"/>
            </p:cNvSpPr>
            <p:nvPr/>
          </p:nvSpPr>
          <p:spPr bwMode="auto">
            <a:xfrm>
              <a:off x="6778925" y="3714752"/>
              <a:ext cx="436281" cy="335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t</a:t>
              </a:r>
              <a:endParaRPr lang="zh-CN" altLang="zh-CN" sz="1400" b="1" i="1">
                <a:latin typeface="Arial" panose="020B0604020202020204" pitchFamily="34" charset="0"/>
              </a:endParaRPr>
            </a:p>
          </p:txBody>
        </p:sp>
      </p:gr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457200" y="274638"/>
            <a:ext cx="1614488" cy="654050"/>
          </a:xfrm>
        </p:spPr>
        <p:txBody>
          <a:bodyPr/>
          <a:lstStyle/>
          <a:p>
            <a:pPr algn="l"/>
            <a:r>
              <a:rPr lang="zh-CN" altLang="en-US" sz="2800" b="1" smtClean="0">
                <a:solidFill>
                  <a:srgbClr val="C00000"/>
                </a:solidFill>
                <a:latin typeface="Times New Roman" panose="02020603050405020304" pitchFamily="18" charset="0"/>
                <a:cs typeface="Times New Roman" panose="02020603050405020304" pitchFamily="18" charset="0"/>
              </a:rPr>
              <a:t>例</a:t>
            </a:r>
            <a:r>
              <a:rPr lang="en-US" altLang="zh-CN" sz="2800" b="1" smtClean="0">
                <a:solidFill>
                  <a:srgbClr val="C00000"/>
                </a:solidFill>
                <a:latin typeface="Times New Roman" panose="02020603050405020304" pitchFamily="18" charset="0"/>
                <a:cs typeface="Times New Roman" panose="02020603050405020304" pitchFamily="18" charset="0"/>
              </a:rPr>
              <a:t>2 (</a:t>
            </a:r>
            <a:r>
              <a:rPr lang="zh-CN" altLang="en-US" sz="2800" b="1" smtClean="0">
                <a:solidFill>
                  <a:srgbClr val="C00000"/>
                </a:solidFill>
                <a:latin typeface="Times New Roman" panose="02020603050405020304" pitchFamily="18" charset="0"/>
                <a:cs typeface="Times New Roman" panose="02020603050405020304" pitchFamily="18" charset="0"/>
              </a:rPr>
              <a:t>续</a:t>
            </a:r>
            <a:r>
              <a:rPr lang="en-US" altLang="zh-CN" sz="2800" b="1" smtClean="0">
                <a:solidFill>
                  <a:srgbClr val="C00000"/>
                </a:solidFill>
                <a:latin typeface="Times New Roman" panose="02020603050405020304" pitchFamily="18" charset="0"/>
                <a:cs typeface="Times New Roman" panose="02020603050405020304" pitchFamily="18" charset="0"/>
              </a:rPr>
              <a:t>)</a:t>
            </a:r>
            <a:endParaRPr lang="zh-CN" altLang="en-US" sz="2800" smtClean="0">
              <a:solidFill>
                <a:srgbClr val="C00000"/>
              </a:solidFill>
              <a:latin typeface="Times New Roman" panose="02020603050405020304" pitchFamily="18" charset="0"/>
              <a:cs typeface="Times New Roman" panose="02020603050405020304" pitchFamily="18" charset="0"/>
            </a:endParaRPr>
          </a:p>
        </p:txBody>
      </p:sp>
      <p:sp>
        <p:nvSpPr>
          <p:cNvPr id="28675" name="内容占位符 2"/>
          <p:cNvSpPr>
            <a:spLocks noGrp="1"/>
          </p:cNvSpPr>
          <p:nvPr>
            <p:ph idx="1"/>
          </p:nvPr>
        </p:nvSpPr>
        <p:spPr>
          <a:xfrm>
            <a:off x="5178425" y="3087688"/>
            <a:ext cx="3354388" cy="1928812"/>
          </a:xfrm>
        </p:spPr>
        <p:txBody>
          <a:bodyPr/>
          <a:lstStyle/>
          <a:p>
            <a:pPr marL="0" indent="0" algn="just">
              <a:buFont typeface="Arial" panose="020B0604020202020204" pitchFamily="34" charset="0"/>
              <a:buNone/>
            </a:pPr>
            <a:r>
              <a:rPr lang="zh-CN" altLang="en-US" sz="2400" b="1" smtClean="0"/>
              <a:t>有多条边离开</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进入</a:t>
            </a:r>
            <a:r>
              <a:rPr lang="en-US" altLang="zh-CN" sz="2400" b="1" smtClean="0">
                <a:latin typeface="Times New Roman" panose="02020603050405020304" pitchFamily="18" charset="0"/>
                <a:cs typeface="Times New Roman" panose="02020603050405020304" pitchFamily="18" charset="0"/>
              </a:rPr>
              <a:t>)</a:t>
            </a:r>
            <a:r>
              <a:rPr lang="zh-CN" altLang="en-US" sz="2400" b="1" smtClean="0"/>
              <a:t>一个顶点时</a:t>
            </a:r>
            <a:r>
              <a:rPr lang="en-US" altLang="zh-CN" sz="2400" b="1" smtClean="0"/>
              <a:t>,</a:t>
            </a:r>
            <a:r>
              <a:rPr lang="zh-CN" altLang="en-US" sz="2400" b="1" smtClean="0"/>
              <a:t>安排流的原则是得到流的边要末成为饱和边</a:t>
            </a:r>
            <a:r>
              <a:rPr lang="en-US" altLang="zh-CN" sz="2400" b="1" smtClean="0"/>
              <a:t>, </a:t>
            </a:r>
            <a:r>
              <a:rPr lang="zh-CN" altLang="en-US" sz="2400" b="1" smtClean="0"/>
              <a:t>要末已用完流量</a:t>
            </a:r>
            <a:r>
              <a:rPr lang="en-US" altLang="zh-CN" sz="2400" b="1" smtClean="0"/>
              <a:t>.</a:t>
            </a:r>
            <a:endParaRPr lang="zh-CN" altLang="en-US" sz="2400" b="1" smtClean="0">
              <a:latin typeface="Times New Roman" panose="02020603050405020304" pitchFamily="18" charset="0"/>
              <a:cs typeface="Times New Roman" panose="02020603050405020304" pitchFamily="18" charset="0"/>
            </a:endParaRPr>
          </a:p>
        </p:txBody>
      </p:sp>
      <p:sp>
        <p:nvSpPr>
          <p:cNvPr id="2970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A9966B8-7D00-4D3E-93C7-77E9C46A1CE0}" type="slidenum">
              <a:rPr lang="zh-CN" altLang="en-US" sz="1200" smtClean="0">
                <a:solidFill>
                  <a:srgbClr val="898989"/>
                </a:solidFill>
              </a:rPr>
            </a:fld>
            <a:endParaRPr lang="zh-CN" altLang="en-US" sz="1200" smtClean="0">
              <a:solidFill>
                <a:srgbClr val="898989"/>
              </a:solidFill>
            </a:endParaRPr>
          </a:p>
        </p:txBody>
      </p:sp>
      <p:grpSp>
        <p:nvGrpSpPr>
          <p:cNvPr id="29701" name="组合 64"/>
          <p:cNvGrpSpPr/>
          <p:nvPr/>
        </p:nvGrpSpPr>
        <p:grpSpPr bwMode="auto">
          <a:xfrm>
            <a:off x="1571625" y="428625"/>
            <a:ext cx="5410200" cy="2357438"/>
            <a:chOff x="1571604" y="428624"/>
            <a:chExt cx="5410232" cy="2357440"/>
          </a:xfrm>
        </p:grpSpPr>
        <p:sp>
          <p:nvSpPr>
            <p:cNvPr id="29780" name="Text Box 51"/>
            <p:cNvSpPr txBox="1">
              <a:spLocks noChangeArrowheads="1"/>
            </p:cNvSpPr>
            <p:nvPr/>
          </p:nvSpPr>
          <p:spPr bwMode="auto">
            <a:xfrm>
              <a:off x="1857354" y="1285875"/>
              <a:ext cx="35718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5</a:t>
              </a:r>
              <a:endParaRPr lang="zh-CN" altLang="zh-CN" sz="1600" b="1">
                <a:latin typeface="Arial" panose="020B0604020202020204" pitchFamily="34" charset="0"/>
              </a:endParaRPr>
            </a:p>
          </p:txBody>
        </p:sp>
        <p:sp>
          <p:nvSpPr>
            <p:cNvPr id="29781" name="Oval 6"/>
            <p:cNvSpPr>
              <a:spLocks noChangeArrowheads="1"/>
            </p:cNvSpPr>
            <p:nvPr/>
          </p:nvSpPr>
          <p:spPr bwMode="auto">
            <a:xfrm>
              <a:off x="1590654" y="1538288"/>
              <a:ext cx="195262"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82" name="Oval 7"/>
            <p:cNvSpPr>
              <a:spLocks noChangeArrowheads="1"/>
            </p:cNvSpPr>
            <p:nvPr/>
          </p:nvSpPr>
          <p:spPr bwMode="auto">
            <a:xfrm>
              <a:off x="2122466" y="1006475"/>
              <a:ext cx="195263" cy="209550"/>
            </a:xfrm>
            <a:prstGeom prst="ellipse">
              <a:avLst/>
            </a:prstGeom>
            <a:solidFill>
              <a:srgbClr val="FFFFFF"/>
            </a:solidFill>
            <a:ln w="3175">
              <a:solidFill>
                <a:srgbClr val="FF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83" name="Oval 8"/>
            <p:cNvSpPr>
              <a:spLocks noChangeArrowheads="1"/>
            </p:cNvSpPr>
            <p:nvPr/>
          </p:nvSpPr>
          <p:spPr bwMode="auto">
            <a:xfrm>
              <a:off x="2752704" y="476249"/>
              <a:ext cx="195262"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84" name="Oval 9"/>
            <p:cNvSpPr>
              <a:spLocks noChangeArrowheads="1"/>
            </p:cNvSpPr>
            <p:nvPr/>
          </p:nvSpPr>
          <p:spPr bwMode="auto">
            <a:xfrm>
              <a:off x="2138341" y="2060576"/>
              <a:ext cx="196850"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85" name="Oval 10"/>
            <p:cNvSpPr>
              <a:spLocks noChangeArrowheads="1"/>
            </p:cNvSpPr>
            <p:nvPr/>
          </p:nvSpPr>
          <p:spPr bwMode="auto">
            <a:xfrm>
              <a:off x="2717779" y="2546352"/>
              <a:ext cx="196850" cy="209550"/>
            </a:xfrm>
            <a:prstGeom prst="ellipse">
              <a:avLst/>
            </a:prstGeom>
            <a:solidFill>
              <a:srgbClr val="FFFFFF"/>
            </a:solidFill>
            <a:ln w="3175">
              <a:solidFill>
                <a:srgbClr val="00B0F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86" name="Oval 11"/>
            <p:cNvSpPr>
              <a:spLocks noChangeArrowheads="1"/>
            </p:cNvSpPr>
            <p:nvPr/>
          </p:nvSpPr>
          <p:spPr bwMode="auto">
            <a:xfrm>
              <a:off x="2735241" y="1565276"/>
              <a:ext cx="196850"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87" name="Oval 12"/>
            <p:cNvSpPr>
              <a:spLocks noChangeArrowheads="1"/>
            </p:cNvSpPr>
            <p:nvPr/>
          </p:nvSpPr>
          <p:spPr bwMode="auto">
            <a:xfrm>
              <a:off x="3451204" y="998537"/>
              <a:ext cx="196850"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88" name="Oval 13"/>
            <p:cNvSpPr>
              <a:spLocks noChangeArrowheads="1"/>
            </p:cNvSpPr>
            <p:nvPr/>
          </p:nvSpPr>
          <p:spPr bwMode="auto">
            <a:xfrm>
              <a:off x="3476604" y="2087563"/>
              <a:ext cx="196850" cy="209550"/>
            </a:xfrm>
            <a:prstGeom prst="ellipse">
              <a:avLst/>
            </a:prstGeom>
            <a:solidFill>
              <a:srgbClr val="FFFFFF"/>
            </a:solidFill>
            <a:ln w="3175">
              <a:solidFill>
                <a:srgbClr val="00B0F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89" name="Oval 14"/>
            <p:cNvSpPr>
              <a:spLocks noChangeArrowheads="1"/>
            </p:cNvSpPr>
            <p:nvPr/>
          </p:nvSpPr>
          <p:spPr bwMode="auto">
            <a:xfrm>
              <a:off x="4090966" y="1574801"/>
              <a:ext cx="195263"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90" name="Oval 15"/>
            <p:cNvSpPr>
              <a:spLocks noChangeArrowheads="1"/>
            </p:cNvSpPr>
            <p:nvPr/>
          </p:nvSpPr>
          <p:spPr bwMode="auto">
            <a:xfrm>
              <a:off x="4832329" y="1016000"/>
              <a:ext cx="195262"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91" name="Oval 17"/>
            <p:cNvSpPr>
              <a:spLocks noChangeArrowheads="1"/>
            </p:cNvSpPr>
            <p:nvPr/>
          </p:nvSpPr>
          <p:spPr bwMode="auto">
            <a:xfrm>
              <a:off x="5445104" y="1574801"/>
              <a:ext cx="196850"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92" name="Oval 18"/>
            <p:cNvSpPr>
              <a:spLocks noChangeArrowheads="1"/>
            </p:cNvSpPr>
            <p:nvPr/>
          </p:nvSpPr>
          <p:spPr bwMode="auto">
            <a:xfrm>
              <a:off x="4073504" y="2546352"/>
              <a:ext cx="195262" cy="209550"/>
            </a:xfrm>
            <a:prstGeom prst="ellipse">
              <a:avLst/>
            </a:prstGeom>
            <a:solidFill>
              <a:srgbClr val="FFFFFF"/>
            </a:solidFill>
            <a:ln w="3175">
              <a:solidFill>
                <a:srgbClr val="00B0F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29793" name="AutoShape 19"/>
            <p:cNvCxnSpPr>
              <a:cxnSpLocks noChangeShapeType="1"/>
            </p:cNvCxnSpPr>
            <p:nvPr/>
          </p:nvCxnSpPr>
          <p:spPr bwMode="auto">
            <a:xfrm flipV="1">
              <a:off x="1738291" y="1208087"/>
              <a:ext cx="392113" cy="349251"/>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794" name="AutoShape 20"/>
            <p:cNvCxnSpPr>
              <a:cxnSpLocks noChangeShapeType="1"/>
            </p:cNvCxnSpPr>
            <p:nvPr/>
          </p:nvCxnSpPr>
          <p:spPr bwMode="auto">
            <a:xfrm flipV="1">
              <a:off x="2327254" y="660399"/>
              <a:ext cx="433387" cy="38258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795" name="AutoShape 21"/>
            <p:cNvCxnSpPr>
              <a:cxnSpLocks noChangeShapeType="1"/>
            </p:cNvCxnSpPr>
            <p:nvPr/>
          </p:nvCxnSpPr>
          <p:spPr bwMode="auto">
            <a:xfrm>
              <a:off x="1738291" y="1728788"/>
              <a:ext cx="400050" cy="38258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796" name="AutoShape 22"/>
            <p:cNvCxnSpPr>
              <a:cxnSpLocks noChangeShapeType="1"/>
            </p:cNvCxnSpPr>
            <p:nvPr/>
          </p:nvCxnSpPr>
          <p:spPr bwMode="auto">
            <a:xfrm>
              <a:off x="2317729" y="2260602"/>
              <a:ext cx="400050" cy="344487"/>
            </a:xfrm>
            <a:prstGeom prst="straightConnector1">
              <a:avLst/>
            </a:prstGeom>
            <a:noFill/>
            <a:ln w="3175">
              <a:solidFill>
                <a:srgbClr val="00B0F0"/>
              </a:solidFill>
              <a:round/>
              <a:tailEnd type="arrow" w="med" len="med"/>
            </a:ln>
            <a:extLst>
              <a:ext uri="{909E8E84-426E-40DD-AFC4-6F175D3DCCD1}">
                <a14:hiddenFill xmlns:a14="http://schemas.microsoft.com/office/drawing/2010/main">
                  <a:noFill/>
                </a14:hiddenFill>
              </a:ext>
            </a:extLst>
          </p:spPr>
        </p:cxnSp>
        <p:cxnSp>
          <p:nvCxnSpPr>
            <p:cNvPr id="29797" name="AutoShape 23"/>
            <p:cNvCxnSpPr>
              <a:cxnSpLocks noChangeShapeType="1"/>
            </p:cNvCxnSpPr>
            <p:nvPr/>
          </p:nvCxnSpPr>
          <p:spPr bwMode="auto">
            <a:xfrm>
              <a:off x="2317729" y="1208087"/>
              <a:ext cx="417512" cy="37623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798" name="AutoShape 24"/>
            <p:cNvCxnSpPr>
              <a:cxnSpLocks noChangeShapeType="1"/>
            </p:cNvCxnSpPr>
            <p:nvPr/>
          </p:nvCxnSpPr>
          <p:spPr bwMode="auto">
            <a:xfrm>
              <a:off x="2947966" y="660399"/>
              <a:ext cx="528638" cy="38258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799" name="AutoShape 25"/>
            <p:cNvCxnSpPr>
              <a:cxnSpLocks noChangeShapeType="1"/>
            </p:cNvCxnSpPr>
            <p:nvPr/>
          </p:nvCxnSpPr>
          <p:spPr bwMode="auto">
            <a:xfrm flipV="1">
              <a:off x="2327254" y="1747838"/>
              <a:ext cx="407987" cy="36353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800" name="AutoShape 26"/>
            <p:cNvCxnSpPr>
              <a:cxnSpLocks noChangeShapeType="1"/>
            </p:cNvCxnSpPr>
            <p:nvPr/>
          </p:nvCxnSpPr>
          <p:spPr bwMode="auto">
            <a:xfrm flipV="1">
              <a:off x="2932091" y="1169987"/>
              <a:ext cx="544513" cy="42703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801" name="AutoShape 27"/>
            <p:cNvCxnSpPr>
              <a:cxnSpLocks noChangeShapeType="1"/>
            </p:cNvCxnSpPr>
            <p:nvPr/>
          </p:nvCxnSpPr>
          <p:spPr bwMode="auto">
            <a:xfrm flipV="1">
              <a:off x="2270104" y="685799"/>
              <a:ext cx="566737" cy="1374777"/>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802" name="AutoShape 28"/>
            <p:cNvCxnSpPr>
              <a:cxnSpLocks noChangeShapeType="1"/>
            </p:cNvCxnSpPr>
            <p:nvPr/>
          </p:nvCxnSpPr>
          <p:spPr bwMode="auto">
            <a:xfrm>
              <a:off x="3648054" y="1117600"/>
              <a:ext cx="1184275"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803" name="AutoShape 29"/>
            <p:cNvCxnSpPr>
              <a:cxnSpLocks noChangeShapeType="1"/>
            </p:cNvCxnSpPr>
            <p:nvPr/>
          </p:nvCxnSpPr>
          <p:spPr bwMode="auto">
            <a:xfrm>
              <a:off x="2932091" y="1684338"/>
              <a:ext cx="1158875"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804" name="AutoShape 30"/>
            <p:cNvCxnSpPr>
              <a:cxnSpLocks noChangeShapeType="1"/>
            </p:cNvCxnSpPr>
            <p:nvPr/>
          </p:nvCxnSpPr>
          <p:spPr bwMode="auto">
            <a:xfrm>
              <a:off x="2914629" y="1747838"/>
              <a:ext cx="579437" cy="401639"/>
            </a:xfrm>
            <a:prstGeom prst="straightConnector1">
              <a:avLst/>
            </a:prstGeom>
            <a:noFill/>
            <a:ln w="3175">
              <a:solidFill>
                <a:srgbClr val="00B0F0"/>
              </a:solidFill>
              <a:round/>
              <a:tailEnd type="arrow" w="med" len="med"/>
            </a:ln>
            <a:extLst>
              <a:ext uri="{909E8E84-426E-40DD-AFC4-6F175D3DCCD1}">
                <a14:hiddenFill xmlns:a14="http://schemas.microsoft.com/office/drawing/2010/main">
                  <a:noFill/>
                </a14:hiddenFill>
              </a:ext>
            </a:extLst>
          </p:spPr>
        </p:cxnSp>
        <p:cxnSp>
          <p:nvCxnSpPr>
            <p:cNvPr id="29805" name="AutoShape 31"/>
            <p:cNvCxnSpPr>
              <a:cxnSpLocks noChangeShapeType="1"/>
            </p:cNvCxnSpPr>
            <p:nvPr/>
          </p:nvCxnSpPr>
          <p:spPr bwMode="auto">
            <a:xfrm flipV="1">
              <a:off x="2914629" y="2260602"/>
              <a:ext cx="561975" cy="344487"/>
            </a:xfrm>
            <a:prstGeom prst="straightConnector1">
              <a:avLst/>
            </a:prstGeom>
            <a:noFill/>
            <a:ln w="3175">
              <a:solidFill>
                <a:srgbClr val="00B0F0"/>
              </a:solidFill>
              <a:round/>
              <a:tailEnd type="arrow" w="med" len="med"/>
            </a:ln>
            <a:extLst>
              <a:ext uri="{909E8E84-426E-40DD-AFC4-6F175D3DCCD1}">
                <a14:hiddenFill xmlns:a14="http://schemas.microsoft.com/office/drawing/2010/main">
                  <a:noFill/>
                </a14:hiddenFill>
              </a:ext>
            </a:extLst>
          </p:spPr>
        </p:cxnSp>
        <p:cxnSp>
          <p:nvCxnSpPr>
            <p:cNvPr id="29806" name="AutoShape 32"/>
            <p:cNvCxnSpPr>
              <a:cxnSpLocks noChangeShapeType="1"/>
            </p:cNvCxnSpPr>
            <p:nvPr/>
          </p:nvCxnSpPr>
          <p:spPr bwMode="auto">
            <a:xfrm>
              <a:off x="3648054" y="2260602"/>
              <a:ext cx="442912" cy="344487"/>
            </a:xfrm>
            <a:prstGeom prst="straightConnector1">
              <a:avLst/>
            </a:prstGeom>
            <a:noFill/>
            <a:ln w="3175">
              <a:solidFill>
                <a:srgbClr val="00B0F0"/>
              </a:solidFill>
              <a:round/>
              <a:tailEnd type="arrow" w="med" len="med"/>
            </a:ln>
            <a:extLst>
              <a:ext uri="{909E8E84-426E-40DD-AFC4-6F175D3DCCD1}">
                <a14:hiddenFill xmlns:a14="http://schemas.microsoft.com/office/drawing/2010/main">
                  <a:noFill/>
                </a14:hiddenFill>
              </a:ext>
            </a:extLst>
          </p:spPr>
        </p:cxnSp>
        <p:cxnSp>
          <p:nvCxnSpPr>
            <p:cNvPr id="29807" name="AutoShape 33"/>
            <p:cNvCxnSpPr>
              <a:cxnSpLocks noChangeShapeType="1"/>
            </p:cNvCxnSpPr>
            <p:nvPr/>
          </p:nvCxnSpPr>
          <p:spPr bwMode="auto">
            <a:xfrm flipV="1">
              <a:off x="4268766" y="1216025"/>
              <a:ext cx="579438" cy="381001"/>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808" name="AutoShape 36"/>
            <p:cNvCxnSpPr>
              <a:cxnSpLocks noChangeShapeType="1"/>
            </p:cNvCxnSpPr>
            <p:nvPr/>
          </p:nvCxnSpPr>
          <p:spPr bwMode="auto">
            <a:xfrm>
              <a:off x="5027591" y="1169987"/>
              <a:ext cx="417513" cy="42703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sp>
          <p:nvSpPr>
            <p:cNvPr id="29809" name="Text Box 42"/>
            <p:cNvSpPr txBox="1">
              <a:spLocks noChangeArrowheads="1"/>
            </p:cNvSpPr>
            <p:nvPr/>
          </p:nvSpPr>
          <p:spPr bwMode="auto">
            <a:xfrm>
              <a:off x="2643166" y="1509713"/>
              <a:ext cx="407988" cy="368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700">
                  <a:latin typeface="Times New Roman" panose="02020603050405020304" pitchFamily="18" charset="0"/>
                </a:rPr>
                <a:t>4</a:t>
              </a:r>
              <a:endParaRPr lang="zh-CN" altLang="zh-CN" sz="1800">
                <a:latin typeface="Arial" panose="020B0604020202020204" pitchFamily="34" charset="0"/>
              </a:endParaRPr>
            </a:p>
          </p:txBody>
        </p:sp>
        <p:sp>
          <p:nvSpPr>
            <p:cNvPr id="29810" name="Text Box 44"/>
            <p:cNvSpPr txBox="1">
              <a:spLocks noChangeArrowheads="1"/>
            </p:cNvSpPr>
            <p:nvPr/>
          </p:nvSpPr>
          <p:spPr bwMode="auto">
            <a:xfrm>
              <a:off x="3359129" y="941387"/>
              <a:ext cx="407987" cy="368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700">
                  <a:latin typeface="Times New Roman" panose="02020603050405020304" pitchFamily="18" charset="0"/>
                </a:rPr>
                <a:t>6</a:t>
              </a:r>
              <a:endParaRPr lang="zh-CN" altLang="zh-CN" sz="1800">
                <a:latin typeface="Arial" panose="020B0604020202020204" pitchFamily="34" charset="0"/>
              </a:endParaRPr>
            </a:p>
          </p:txBody>
        </p:sp>
        <p:sp>
          <p:nvSpPr>
            <p:cNvPr id="29811" name="Text Box 51"/>
            <p:cNvSpPr txBox="1">
              <a:spLocks noChangeArrowheads="1"/>
            </p:cNvSpPr>
            <p:nvPr/>
          </p:nvSpPr>
          <p:spPr bwMode="auto">
            <a:xfrm>
              <a:off x="2428856" y="1428751"/>
              <a:ext cx="285728" cy="285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9812" name="Text Box 51"/>
            <p:cNvSpPr txBox="1">
              <a:spLocks noChangeArrowheads="1"/>
            </p:cNvSpPr>
            <p:nvPr/>
          </p:nvSpPr>
          <p:spPr bwMode="auto">
            <a:xfrm>
              <a:off x="2357394" y="1700212"/>
              <a:ext cx="357169" cy="300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9813" name="Text Box 51"/>
            <p:cNvSpPr txBox="1">
              <a:spLocks noChangeArrowheads="1"/>
            </p:cNvSpPr>
            <p:nvPr/>
          </p:nvSpPr>
          <p:spPr bwMode="auto">
            <a:xfrm>
              <a:off x="2643166" y="914400"/>
              <a:ext cx="3571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29814" name="Text Box 51"/>
            <p:cNvSpPr txBox="1">
              <a:spLocks noChangeArrowheads="1"/>
            </p:cNvSpPr>
            <p:nvPr/>
          </p:nvSpPr>
          <p:spPr bwMode="auto">
            <a:xfrm>
              <a:off x="3000354" y="1143000"/>
              <a:ext cx="35718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9815" name="Text Box 51"/>
            <p:cNvSpPr txBox="1">
              <a:spLocks noChangeArrowheads="1"/>
            </p:cNvSpPr>
            <p:nvPr/>
          </p:nvSpPr>
          <p:spPr bwMode="auto">
            <a:xfrm>
              <a:off x="3143212" y="1714509"/>
              <a:ext cx="357174" cy="300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solidFill>
                    <a:srgbClr val="00B0F0"/>
                  </a:solidFill>
                  <a:latin typeface="Times New Roman" panose="02020603050405020304" pitchFamily="18" charset="0"/>
                </a:rPr>
                <a:t>2</a:t>
              </a:r>
              <a:endParaRPr lang="zh-CN" altLang="zh-CN" sz="1600" b="1">
                <a:solidFill>
                  <a:srgbClr val="00B0F0"/>
                </a:solidFill>
                <a:latin typeface="Arial" panose="020B0604020202020204" pitchFamily="34" charset="0"/>
              </a:endParaRPr>
            </a:p>
          </p:txBody>
        </p:sp>
        <p:sp>
          <p:nvSpPr>
            <p:cNvPr id="29816" name="Text Box 51"/>
            <p:cNvSpPr txBox="1">
              <a:spLocks noChangeArrowheads="1"/>
            </p:cNvSpPr>
            <p:nvPr/>
          </p:nvSpPr>
          <p:spPr bwMode="auto">
            <a:xfrm>
              <a:off x="2724129" y="428624"/>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3</a:t>
              </a:r>
              <a:endParaRPr lang="zh-CN" altLang="zh-CN" sz="1400" b="1">
                <a:latin typeface="Arial" panose="020B0604020202020204" pitchFamily="34" charset="0"/>
              </a:endParaRPr>
            </a:p>
          </p:txBody>
        </p:sp>
        <p:sp>
          <p:nvSpPr>
            <p:cNvPr id="29817" name="Text Box 51"/>
            <p:cNvSpPr txBox="1">
              <a:spLocks noChangeArrowheads="1"/>
            </p:cNvSpPr>
            <p:nvPr/>
          </p:nvSpPr>
          <p:spPr bwMode="auto">
            <a:xfrm>
              <a:off x="2071666" y="1000125"/>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solidFill>
                    <a:srgbClr val="FF0000"/>
                  </a:solidFill>
                  <a:latin typeface="Times New Roman" panose="02020603050405020304" pitchFamily="18" charset="0"/>
                </a:rPr>
                <a:t>1</a:t>
              </a:r>
              <a:endParaRPr lang="zh-CN" altLang="zh-CN" sz="1400" b="1">
                <a:solidFill>
                  <a:srgbClr val="FF0000"/>
                </a:solidFill>
                <a:latin typeface="Arial" panose="020B0604020202020204" pitchFamily="34" charset="0"/>
              </a:endParaRPr>
            </a:p>
          </p:txBody>
        </p:sp>
        <p:sp>
          <p:nvSpPr>
            <p:cNvPr id="29818" name="Text Box 51"/>
            <p:cNvSpPr txBox="1">
              <a:spLocks noChangeArrowheads="1"/>
            </p:cNvSpPr>
            <p:nvPr/>
          </p:nvSpPr>
          <p:spPr bwMode="auto">
            <a:xfrm>
              <a:off x="2071666" y="2000251"/>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2</a:t>
              </a:r>
              <a:endParaRPr lang="zh-CN" altLang="zh-CN" sz="1400" b="1">
                <a:latin typeface="Arial" panose="020B0604020202020204" pitchFamily="34" charset="0"/>
              </a:endParaRPr>
            </a:p>
          </p:txBody>
        </p:sp>
        <p:sp>
          <p:nvSpPr>
            <p:cNvPr id="29819" name="Text Box 51"/>
            <p:cNvSpPr txBox="1">
              <a:spLocks noChangeArrowheads="1"/>
            </p:cNvSpPr>
            <p:nvPr/>
          </p:nvSpPr>
          <p:spPr bwMode="auto">
            <a:xfrm>
              <a:off x="2714604" y="1500188"/>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4</a:t>
              </a:r>
              <a:endParaRPr lang="zh-CN" altLang="zh-CN" sz="1400" b="1">
                <a:latin typeface="Arial" panose="020B0604020202020204" pitchFamily="34" charset="0"/>
              </a:endParaRPr>
            </a:p>
          </p:txBody>
        </p:sp>
        <p:sp>
          <p:nvSpPr>
            <p:cNvPr id="29820" name="Text Box 51"/>
            <p:cNvSpPr txBox="1">
              <a:spLocks noChangeArrowheads="1"/>
            </p:cNvSpPr>
            <p:nvPr/>
          </p:nvSpPr>
          <p:spPr bwMode="auto">
            <a:xfrm>
              <a:off x="2714604" y="2500314"/>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solidFill>
                    <a:srgbClr val="00B0F0"/>
                  </a:solidFill>
                  <a:latin typeface="Times New Roman" panose="02020603050405020304" pitchFamily="18" charset="0"/>
                </a:rPr>
                <a:t>5</a:t>
              </a:r>
              <a:endParaRPr lang="zh-CN" altLang="zh-CN" sz="1400" b="1">
                <a:solidFill>
                  <a:srgbClr val="00B0F0"/>
                </a:solidFill>
                <a:latin typeface="Arial" panose="020B0604020202020204" pitchFamily="34" charset="0"/>
              </a:endParaRPr>
            </a:p>
          </p:txBody>
        </p:sp>
        <p:sp>
          <p:nvSpPr>
            <p:cNvPr id="29821" name="Text Box 51"/>
            <p:cNvSpPr txBox="1">
              <a:spLocks noChangeArrowheads="1"/>
            </p:cNvSpPr>
            <p:nvPr/>
          </p:nvSpPr>
          <p:spPr bwMode="auto">
            <a:xfrm>
              <a:off x="3438504" y="928687"/>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6</a:t>
              </a:r>
              <a:endParaRPr lang="zh-CN" altLang="zh-CN" sz="1400" b="1">
                <a:latin typeface="Arial" panose="020B0604020202020204" pitchFamily="34" charset="0"/>
              </a:endParaRPr>
            </a:p>
          </p:txBody>
        </p:sp>
        <p:sp>
          <p:nvSpPr>
            <p:cNvPr id="29822" name="Text Box 51"/>
            <p:cNvSpPr txBox="1">
              <a:spLocks noChangeArrowheads="1"/>
            </p:cNvSpPr>
            <p:nvPr/>
          </p:nvSpPr>
          <p:spPr bwMode="auto">
            <a:xfrm>
              <a:off x="3438504" y="2071688"/>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solidFill>
                    <a:srgbClr val="00B0F0"/>
                  </a:solidFill>
                  <a:latin typeface="Times New Roman" panose="02020603050405020304" pitchFamily="18" charset="0"/>
                </a:rPr>
                <a:t>7</a:t>
              </a:r>
              <a:endParaRPr lang="zh-CN" altLang="zh-CN" sz="1400" b="1">
                <a:solidFill>
                  <a:srgbClr val="00B0F0"/>
                </a:solidFill>
                <a:latin typeface="Arial" panose="020B0604020202020204" pitchFamily="34" charset="0"/>
              </a:endParaRPr>
            </a:p>
          </p:txBody>
        </p:sp>
        <p:sp>
          <p:nvSpPr>
            <p:cNvPr id="29823" name="Text Box 51"/>
            <p:cNvSpPr txBox="1">
              <a:spLocks noChangeArrowheads="1"/>
            </p:cNvSpPr>
            <p:nvPr/>
          </p:nvSpPr>
          <p:spPr bwMode="auto">
            <a:xfrm>
              <a:off x="4081441" y="1571626"/>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8</a:t>
              </a:r>
              <a:endParaRPr lang="zh-CN" altLang="zh-CN" sz="1400" b="1">
                <a:latin typeface="Arial" panose="020B0604020202020204" pitchFamily="34" charset="0"/>
              </a:endParaRPr>
            </a:p>
          </p:txBody>
        </p:sp>
        <p:sp>
          <p:nvSpPr>
            <p:cNvPr id="29824" name="Text Box 51"/>
            <p:cNvSpPr txBox="1">
              <a:spLocks noChangeArrowheads="1"/>
            </p:cNvSpPr>
            <p:nvPr/>
          </p:nvSpPr>
          <p:spPr bwMode="auto">
            <a:xfrm>
              <a:off x="4071916" y="2500314"/>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solidFill>
                    <a:srgbClr val="00B0F0"/>
                  </a:solidFill>
                  <a:latin typeface="Times New Roman" panose="02020603050405020304" pitchFamily="18" charset="0"/>
                </a:rPr>
                <a:t>9</a:t>
              </a:r>
              <a:endParaRPr lang="zh-CN" altLang="zh-CN" sz="1400" b="1">
                <a:solidFill>
                  <a:srgbClr val="00B0F0"/>
                </a:solidFill>
                <a:latin typeface="Arial" panose="020B0604020202020204" pitchFamily="34" charset="0"/>
              </a:endParaRPr>
            </a:p>
          </p:txBody>
        </p:sp>
        <p:sp>
          <p:nvSpPr>
            <p:cNvPr id="29825" name="Text Box 51"/>
            <p:cNvSpPr txBox="1">
              <a:spLocks noChangeArrowheads="1"/>
            </p:cNvSpPr>
            <p:nvPr/>
          </p:nvSpPr>
          <p:spPr bwMode="auto">
            <a:xfrm>
              <a:off x="4795816" y="1000125"/>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10</a:t>
              </a:r>
              <a:endParaRPr lang="zh-CN" altLang="zh-CN" sz="1400" b="1">
                <a:latin typeface="Arial" panose="020B0604020202020204" pitchFamily="34" charset="0"/>
              </a:endParaRPr>
            </a:p>
          </p:txBody>
        </p:sp>
        <p:sp>
          <p:nvSpPr>
            <p:cNvPr id="29826" name="Text Box 51"/>
            <p:cNvSpPr txBox="1">
              <a:spLocks noChangeArrowheads="1"/>
            </p:cNvSpPr>
            <p:nvPr/>
          </p:nvSpPr>
          <p:spPr bwMode="auto">
            <a:xfrm>
              <a:off x="1571604" y="1500188"/>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s</a:t>
              </a:r>
              <a:endParaRPr lang="zh-CN" altLang="zh-CN" sz="1400" b="1" i="1">
                <a:latin typeface="Arial" panose="020B0604020202020204" pitchFamily="34" charset="0"/>
              </a:endParaRPr>
            </a:p>
          </p:txBody>
        </p:sp>
        <p:sp>
          <p:nvSpPr>
            <p:cNvPr id="29827" name="Text Box 51"/>
            <p:cNvSpPr txBox="1">
              <a:spLocks noChangeArrowheads="1"/>
            </p:cNvSpPr>
            <p:nvPr/>
          </p:nvSpPr>
          <p:spPr bwMode="auto">
            <a:xfrm>
              <a:off x="5438754" y="1500188"/>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t</a:t>
              </a:r>
              <a:endParaRPr lang="zh-CN" altLang="zh-CN" sz="1400" b="1" i="1">
                <a:latin typeface="Arial" panose="020B0604020202020204" pitchFamily="34" charset="0"/>
              </a:endParaRPr>
            </a:p>
          </p:txBody>
        </p:sp>
        <p:sp>
          <p:nvSpPr>
            <p:cNvPr id="29828" name="Text Box 51"/>
            <p:cNvSpPr txBox="1">
              <a:spLocks noChangeArrowheads="1"/>
            </p:cNvSpPr>
            <p:nvPr/>
          </p:nvSpPr>
          <p:spPr bwMode="auto">
            <a:xfrm>
              <a:off x="6072198" y="1500174"/>
              <a:ext cx="909638" cy="428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2000" b="1" i="1">
                  <a:latin typeface="Times New Roman" panose="02020603050405020304" pitchFamily="18" charset="0"/>
                </a:rPr>
                <a:t>AN</a:t>
              </a:r>
              <a:r>
                <a:rPr lang="en-US" altLang="zh-CN" sz="2000" b="1">
                  <a:latin typeface="Times New Roman" panose="02020603050405020304" pitchFamily="18" charset="0"/>
                </a:rPr>
                <a:t>(</a:t>
              </a:r>
              <a:r>
                <a:rPr lang="en-US" altLang="zh-CN" sz="2000" b="1" i="1">
                  <a:latin typeface="Times New Roman" panose="02020603050405020304" pitchFamily="18" charset="0"/>
                </a:rPr>
                <a:t>f</a:t>
              </a:r>
              <a:r>
                <a:rPr lang="en-US" altLang="zh-CN" sz="2000" b="1" baseline="-25000">
                  <a:latin typeface="Times New Roman" panose="02020603050405020304" pitchFamily="18" charset="0"/>
                </a:rPr>
                <a:t>1</a:t>
              </a:r>
              <a:r>
                <a:rPr lang="en-US" altLang="zh-CN" sz="2000" b="1">
                  <a:latin typeface="Times New Roman" panose="02020603050405020304" pitchFamily="18" charset="0"/>
                </a:rPr>
                <a:t>)</a:t>
              </a:r>
              <a:endParaRPr lang="zh-CN" altLang="zh-CN" sz="2000" b="1">
                <a:latin typeface="Arial" panose="020B0604020202020204" pitchFamily="34" charset="0"/>
              </a:endParaRPr>
            </a:p>
          </p:txBody>
        </p:sp>
        <p:sp>
          <p:nvSpPr>
            <p:cNvPr id="29829" name="Text Box 51"/>
            <p:cNvSpPr txBox="1">
              <a:spLocks noChangeArrowheads="1"/>
            </p:cNvSpPr>
            <p:nvPr/>
          </p:nvSpPr>
          <p:spPr bwMode="auto">
            <a:xfrm>
              <a:off x="2428854" y="785812"/>
              <a:ext cx="35718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1</a:t>
              </a:r>
              <a:endParaRPr lang="zh-CN" altLang="zh-CN" sz="1600" b="1">
                <a:latin typeface="Arial" panose="020B0604020202020204" pitchFamily="34" charset="0"/>
              </a:endParaRPr>
            </a:p>
          </p:txBody>
        </p:sp>
        <p:sp>
          <p:nvSpPr>
            <p:cNvPr id="29830" name="Text Box 51"/>
            <p:cNvSpPr txBox="1">
              <a:spLocks noChangeArrowheads="1"/>
            </p:cNvSpPr>
            <p:nvPr/>
          </p:nvSpPr>
          <p:spPr bwMode="auto">
            <a:xfrm>
              <a:off x="2928916" y="714374"/>
              <a:ext cx="35718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a:t>
              </a:r>
              <a:endParaRPr lang="zh-CN" altLang="zh-CN" sz="1600" b="1">
                <a:latin typeface="Arial" panose="020B0604020202020204" pitchFamily="34" charset="0"/>
              </a:endParaRPr>
            </a:p>
          </p:txBody>
        </p:sp>
        <p:sp>
          <p:nvSpPr>
            <p:cNvPr id="29831" name="Text Box 51"/>
            <p:cNvSpPr txBox="1">
              <a:spLocks noChangeArrowheads="1"/>
            </p:cNvSpPr>
            <p:nvPr/>
          </p:nvSpPr>
          <p:spPr bwMode="auto">
            <a:xfrm>
              <a:off x="3929030" y="857232"/>
              <a:ext cx="2857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29832" name="Text Box 51"/>
            <p:cNvSpPr txBox="1">
              <a:spLocks noChangeArrowheads="1"/>
            </p:cNvSpPr>
            <p:nvPr/>
          </p:nvSpPr>
          <p:spPr bwMode="auto">
            <a:xfrm>
              <a:off x="1857328" y="1700212"/>
              <a:ext cx="285724" cy="300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a:t>
              </a:r>
              <a:endParaRPr lang="zh-CN" altLang="zh-CN" sz="1600" b="1">
                <a:latin typeface="Arial" panose="020B0604020202020204" pitchFamily="34" charset="0"/>
              </a:endParaRPr>
            </a:p>
          </p:txBody>
        </p:sp>
        <p:sp>
          <p:nvSpPr>
            <p:cNvPr id="29833" name="Text Box 51"/>
            <p:cNvSpPr txBox="1">
              <a:spLocks noChangeArrowheads="1"/>
            </p:cNvSpPr>
            <p:nvPr/>
          </p:nvSpPr>
          <p:spPr bwMode="auto">
            <a:xfrm>
              <a:off x="2428856" y="2214576"/>
              <a:ext cx="357166" cy="300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solidFill>
                    <a:srgbClr val="00B0F0"/>
                  </a:solidFill>
                  <a:latin typeface="Times New Roman" panose="02020603050405020304" pitchFamily="18" charset="0"/>
                </a:rPr>
                <a:t>3</a:t>
              </a:r>
              <a:endParaRPr lang="zh-CN" altLang="zh-CN" sz="1600" b="1">
                <a:solidFill>
                  <a:srgbClr val="00B0F0"/>
                </a:solidFill>
                <a:latin typeface="Arial" panose="020B0604020202020204" pitchFamily="34" charset="0"/>
              </a:endParaRPr>
            </a:p>
          </p:txBody>
        </p:sp>
        <p:sp>
          <p:nvSpPr>
            <p:cNvPr id="29834" name="Text Box 51"/>
            <p:cNvSpPr txBox="1">
              <a:spLocks noChangeArrowheads="1"/>
            </p:cNvSpPr>
            <p:nvPr/>
          </p:nvSpPr>
          <p:spPr bwMode="auto">
            <a:xfrm>
              <a:off x="3000353" y="2214563"/>
              <a:ext cx="357173" cy="285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solidFill>
                    <a:srgbClr val="00B0F0"/>
                  </a:solidFill>
                  <a:latin typeface="Times New Roman" panose="02020603050405020304" pitchFamily="18" charset="0"/>
                </a:rPr>
                <a:t>3</a:t>
              </a:r>
              <a:endParaRPr lang="zh-CN" altLang="zh-CN" sz="1600" b="1">
                <a:solidFill>
                  <a:srgbClr val="00B0F0"/>
                </a:solidFill>
                <a:latin typeface="Arial" panose="020B0604020202020204" pitchFamily="34" charset="0"/>
              </a:endParaRPr>
            </a:p>
          </p:txBody>
        </p:sp>
        <p:sp>
          <p:nvSpPr>
            <p:cNvPr id="29835" name="Text Box 51"/>
            <p:cNvSpPr txBox="1">
              <a:spLocks noChangeArrowheads="1"/>
            </p:cNvSpPr>
            <p:nvPr/>
          </p:nvSpPr>
          <p:spPr bwMode="auto">
            <a:xfrm>
              <a:off x="3786168" y="2214576"/>
              <a:ext cx="285738" cy="285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solidFill>
                    <a:srgbClr val="00B0F0"/>
                  </a:solidFill>
                  <a:latin typeface="Times New Roman" panose="02020603050405020304" pitchFamily="18" charset="0"/>
                </a:rPr>
                <a:t>2</a:t>
              </a:r>
              <a:endParaRPr lang="zh-CN" altLang="zh-CN" sz="1600" b="1">
                <a:solidFill>
                  <a:srgbClr val="00B0F0"/>
                </a:solidFill>
                <a:latin typeface="Arial" panose="020B0604020202020204" pitchFamily="34" charset="0"/>
              </a:endParaRPr>
            </a:p>
          </p:txBody>
        </p:sp>
        <p:sp>
          <p:nvSpPr>
            <p:cNvPr id="29836" name="Text Box 51"/>
            <p:cNvSpPr txBox="1">
              <a:spLocks noChangeArrowheads="1"/>
            </p:cNvSpPr>
            <p:nvPr/>
          </p:nvSpPr>
          <p:spPr bwMode="auto">
            <a:xfrm>
              <a:off x="5000602" y="1271588"/>
              <a:ext cx="285750" cy="30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6</a:t>
              </a:r>
              <a:endParaRPr lang="zh-CN" altLang="zh-CN" sz="1600" b="1">
                <a:latin typeface="Arial" panose="020B0604020202020204" pitchFamily="34" charset="0"/>
              </a:endParaRPr>
            </a:p>
          </p:txBody>
        </p:sp>
        <p:sp>
          <p:nvSpPr>
            <p:cNvPr id="29837" name="Text Box 51"/>
            <p:cNvSpPr txBox="1">
              <a:spLocks noChangeArrowheads="1"/>
            </p:cNvSpPr>
            <p:nvPr/>
          </p:nvSpPr>
          <p:spPr bwMode="auto">
            <a:xfrm>
              <a:off x="4367193" y="1143004"/>
              <a:ext cx="276217" cy="35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29838" name="Text Box 51"/>
            <p:cNvSpPr txBox="1">
              <a:spLocks noChangeArrowheads="1"/>
            </p:cNvSpPr>
            <p:nvPr/>
          </p:nvSpPr>
          <p:spPr bwMode="auto">
            <a:xfrm>
              <a:off x="3428964" y="1428736"/>
              <a:ext cx="357175" cy="300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a:t>
              </a:r>
              <a:endParaRPr lang="zh-CN" altLang="zh-CN" sz="1600" b="1">
                <a:latin typeface="Arial" panose="020B0604020202020204" pitchFamily="34" charset="0"/>
              </a:endParaRPr>
            </a:p>
          </p:txBody>
        </p:sp>
      </p:grpSp>
      <p:grpSp>
        <p:nvGrpSpPr>
          <p:cNvPr id="3" name="组合 125"/>
          <p:cNvGrpSpPr/>
          <p:nvPr/>
        </p:nvGrpSpPr>
        <p:grpSpPr bwMode="auto">
          <a:xfrm>
            <a:off x="642938" y="2786063"/>
            <a:ext cx="4286250" cy="1857375"/>
            <a:chOff x="642910" y="2786058"/>
            <a:chExt cx="4286250" cy="1857377"/>
          </a:xfrm>
        </p:grpSpPr>
        <p:sp>
          <p:nvSpPr>
            <p:cNvPr id="29736" name="Text Box 51"/>
            <p:cNvSpPr txBox="1">
              <a:spLocks noChangeArrowheads="1"/>
            </p:cNvSpPr>
            <p:nvPr/>
          </p:nvSpPr>
          <p:spPr bwMode="auto">
            <a:xfrm>
              <a:off x="642910" y="3500438"/>
              <a:ext cx="500066"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5,</a:t>
              </a:r>
              <a:r>
                <a:rPr lang="en-US" altLang="zh-CN" sz="1600" b="1">
                  <a:solidFill>
                    <a:srgbClr val="FF0000"/>
                  </a:solidFill>
                  <a:latin typeface="Times New Roman" panose="02020603050405020304" pitchFamily="18" charset="0"/>
                </a:rPr>
                <a:t>3</a:t>
              </a:r>
              <a:endParaRPr lang="zh-CN" altLang="zh-CN" sz="1600" b="1">
                <a:solidFill>
                  <a:srgbClr val="FF0000"/>
                </a:solidFill>
                <a:latin typeface="Arial" panose="020B0604020202020204" pitchFamily="34" charset="0"/>
              </a:endParaRPr>
            </a:p>
          </p:txBody>
        </p:sp>
        <p:sp>
          <p:nvSpPr>
            <p:cNvPr id="29737" name="Oval 6"/>
            <p:cNvSpPr>
              <a:spLocks noChangeArrowheads="1"/>
            </p:cNvSpPr>
            <p:nvPr/>
          </p:nvSpPr>
          <p:spPr bwMode="auto">
            <a:xfrm>
              <a:off x="661960" y="3895722"/>
              <a:ext cx="195262"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38" name="Oval 7"/>
            <p:cNvSpPr>
              <a:spLocks noChangeArrowheads="1"/>
            </p:cNvSpPr>
            <p:nvPr/>
          </p:nvSpPr>
          <p:spPr bwMode="auto">
            <a:xfrm>
              <a:off x="1193772" y="3363909"/>
              <a:ext cx="195263" cy="209550"/>
            </a:xfrm>
            <a:prstGeom prst="ellipse">
              <a:avLst/>
            </a:prstGeom>
            <a:solidFill>
              <a:srgbClr val="FFFFFF"/>
            </a:solidFill>
            <a:ln w="3175">
              <a:solidFill>
                <a:srgbClr val="FF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39" name="Oval 8"/>
            <p:cNvSpPr>
              <a:spLocks noChangeArrowheads="1"/>
            </p:cNvSpPr>
            <p:nvPr/>
          </p:nvSpPr>
          <p:spPr bwMode="auto">
            <a:xfrm>
              <a:off x="1824010" y="2833683"/>
              <a:ext cx="195262" cy="209550"/>
            </a:xfrm>
            <a:prstGeom prst="ellipse">
              <a:avLst/>
            </a:prstGeom>
            <a:solidFill>
              <a:srgbClr val="FFFFFF"/>
            </a:solidFill>
            <a:ln w="3175">
              <a:solidFill>
                <a:schemeClr val="tx1"/>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40" name="Oval 9"/>
            <p:cNvSpPr>
              <a:spLocks noChangeArrowheads="1"/>
            </p:cNvSpPr>
            <p:nvPr/>
          </p:nvSpPr>
          <p:spPr bwMode="auto">
            <a:xfrm>
              <a:off x="1209647" y="4418010"/>
              <a:ext cx="196850"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41" name="Oval 11"/>
            <p:cNvSpPr>
              <a:spLocks noChangeArrowheads="1"/>
            </p:cNvSpPr>
            <p:nvPr/>
          </p:nvSpPr>
          <p:spPr bwMode="auto">
            <a:xfrm>
              <a:off x="1806547" y="3922710"/>
              <a:ext cx="196850"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42" name="Oval 12"/>
            <p:cNvSpPr>
              <a:spLocks noChangeArrowheads="1"/>
            </p:cNvSpPr>
            <p:nvPr/>
          </p:nvSpPr>
          <p:spPr bwMode="auto">
            <a:xfrm>
              <a:off x="2522510" y="3355971"/>
              <a:ext cx="196850"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43" name="Oval 14"/>
            <p:cNvSpPr>
              <a:spLocks noChangeArrowheads="1"/>
            </p:cNvSpPr>
            <p:nvPr/>
          </p:nvSpPr>
          <p:spPr bwMode="auto">
            <a:xfrm>
              <a:off x="3162272" y="3932235"/>
              <a:ext cx="195263"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44" name="Oval 15"/>
            <p:cNvSpPr>
              <a:spLocks noChangeArrowheads="1"/>
            </p:cNvSpPr>
            <p:nvPr/>
          </p:nvSpPr>
          <p:spPr bwMode="auto">
            <a:xfrm>
              <a:off x="3903635" y="3373434"/>
              <a:ext cx="195262"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45" name="Oval 17"/>
            <p:cNvSpPr>
              <a:spLocks noChangeArrowheads="1"/>
            </p:cNvSpPr>
            <p:nvPr/>
          </p:nvSpPr>
          <p:spPr bwMode="auto">
            <a:xfrm>
              <a:off x="4516410" y="3932235"/>
              <a:ext cx="196850"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29746" name="AutoShape 19"/>
            <p:cNvCxnSpPr>
              <a:cxnSpLocks noChangeShapeType="1"/>
            </p:cNvCxnSpPr>
            <p:nvPr/>
          </p:nvCxnSpPr>
          <p:spPr bwMode="auto">
            <a:xfrm flipV="1">
              <a:off x="809597" y="3565521"/>
              <a:ext cx="392113" cy="349251"/>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747" name="AutoShape 20"/>
            <p:cNvCxnSpPr>
              <a:cxnSpLocks noChangeShapeType="1"/>
            </p:cNvCxnSpPr>
            <p:nvPr/>
          </p:nvCxnSpPr>
          <p:spPr bwMode="auto">
            <a:xfrm flipV="1">
              <a:off x="1398560" y="3017833"/>
              <a:ext cx="433387" cy="38258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748" name="AutoShape 21"/>
            <p:cNvCxnSpPr>
              <a:cxnSpLocks noChangeShapeType="1"/>
            </p:cNvCxnSpPr>
            <p:nvPr/>
          </p:nvCxnSpPr>
          <p:spPr bwMode="auto">
            <a:xfrm>
              <a:off x="809597" y="4086222"/>
              <a:ext cx="400050" cy="38258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749" name="AutoShape 23"/>
            <p:cNvCxnSpPr>
              <a:cxnSpLocks noChangeShapeType="1"/>
            </p:cNvCxnSpPr>
            <p:nvPr/>
          </p:nvCxnSpPr>
          <p:spPr bwMode="auto">
            <a:xfrm>
              <a:off x="1389035" y="3565521"/>
              <a:ext cx="417512" cy="37623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750" name="AutoShape 24"/>
            <p:cNvCxnSpPr>
              <a:cxnSpLocks noChangeShapeType="1"/>
            </p:cNvCxnSpPr>
            <p:nvPr/>
          </p:nvCxnSpPr>
          <p:spPr bwMode="auto">
            <a:xfrm>
              <a:off x="2019272" y="3017833"/>
              <a:ext cx="528638" cy="38258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751" name="AutoShape 25"/>
            <p:cNvCxnSpPr>
              <a:cxnSpLocks noChangeShapeType="1"/>
            </p:cNvCxnSpPr>
            <p:nvPr/>
          </p:nvCxnSpPr>
          <p:spPr bwMode="auto">
            <a:xfrm flipV="1">
              <a:off x="1398560" y="4105272"/>
              <a:ext cx="407987" cy="36353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752" name="AutoShape 26"/>
            <p:cNvCxnSpPr>
              <a:cxnSpLocks noChangeShapeType="1"/>
            </p:cNvCxnSpPr>
            <p:nvPr/>
          </p:nvCxnSpPr>
          <p:spPr bwMode="auto">
            <a:xfrm flipV="1">
              <a:off x="2003397" y="3527421"/>
              <a:ext cx="544513" cy="42703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753" name="AutoShape 27"/>
            <p:cNvCxnSpPr>
              <a:cxnSpLocks noChangeShapeType="1"/>
            </p:cNvCxnSpPr>
            <p:nvPr/>
          </p:nvCxnSpPr>
          <p:spPr bwMode="auto">
            <a:xfrm flipV="1">
              <a:off x="1341410" y="3043233"/>
              <a:ext cx="566737" cy="1374777"/>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754" name="AutoShape 28"/>
            <p:cNvCxnSpPr>
              <a:cxnSpLocks noChangeShapeType="1"/>
            </p:cNvCxnSpPr>
            <p:nvPr/>
          </p:nvCxnSpPr>
          <p:spPr bwMode="auto">
            <a:xfrm>
              <a:off x="2719360" y="3475034"/>
              <a:ext cx="1184275"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755" name="AutoShape 29"/>
            <p:cNvCxnSpPr>
              <a:cxnSpLocks noChangeShapeType="1"/>
            </p:cNvCxnSpPr>
            <p:nvPr/>
          </p:nvCxnSpPr>
          <p:spPr bwMode="auto">
            <a:xfrm>
              <a:off x="2003397" y="4041772"/>
              <a:ext cx="1158875"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756" name="AutoShape 33"/>
            <p:cNvCxnSpPr>
              <a:cxnSpLocks noChangeShapeType="1"/>
            </p:cNvCxnSpPr>
            <p:nvPr/>
          </p:nvCxnSpPr>
          <p:spPr bwMode="auto">
            <a:xfrm flipV="1">
              <a:off x="3340072" y="3573459"/>
              <a:ext cx="579438" cy="381001"/>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757" name="AutoShape 36"/>
            <p:cNvCxnSpPr>
              <a:cxnSpLocks noChangeShapeType="1"/>
            </p:cNvCxnSpPr>
            <p:nvPr/>
          </p:nvCxnSpPr>
          <p:spPr bwMode="auto">
            <a:xfrm>
              <a:off x="4098897" y="3527421"/>
              <a:ext cx="417513" cy="42703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sp>
          <p:nvSpPr>
            <p:cNvPr id="29758" name="Text Box 42"/>
            <p:cNvSpPr txBox="1">
              <a:spLocks noChangeArrowheads="1"/>
            </p:cNvSpPr>
            <p:nvPr/>
          </p:nvSpPr>
          <p:spPr bwMode="auto">
            <a:xfrm>
              <a:off x="1714472" y="3867147"/>
              <a:ext cx="407988" cy="368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700">
                  <a:latin typeface="Times New Roman" panose="02020603050405020304" pitchFamily="18" charset="0"/>
                </a:rPr>
                <a:t>4</a:t>
              </a:r>
              <a:endParaRPr lang="zh-CN" altLang="zh-CN" sz="1800">
                <a:latin typeface="Arial" panose="020B0604020202020204" pitchFamily="34" charset="0"/>
              </a:endParaRPr>
            </a:p>
          </p:txBody>
        </p:sp>
        <p:sp>
          <p:nvSpPr>
            <p:cNvPr id="29759" name="Text Box 44"/>
            <p:cNvSpPr txBox="1">
              <a:spLocks noChangeArrowheads="1"/>
            </p:cNvSpPr>
            <p:nvPr/>
          </p:nvSpPr>
          <p:spPr bwMode="auto">
            <a:xfrm>
              <a:off x="2430435" y="3298821"/>
              <a:ext cx="407987" cy="368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700">
                  <a:latin typeface="Times New Roman" panose="02020603050405020304" pitchFamily="18" charset="0"/>
                </a:rPr>
                <a:t>6</a:t>
              </a:r>
              <a:endParaRPr lang="zh-CN" altLang="zh-CN" sz="1800">
                <a:latin typeface="Arial" panose="020B0604020202020204" pitchFamily="34" charset="0"/>
              </a:endParaRPr>
            </a:p>
          </p:txBody>
        </p:sp>
        <p:sp>
          <p:nvSpPr>
            <p:cNvPr id="29760" name="Text Box 51"/>
            <p:cNvSpPr txBox="1">
              <a:spLocks noChangeArrowheads="1"/>
            </p:cNvSpPr>
            <p:nvPr/>
          </p:nvSpPr>
          <p:spPr bwMode="auto">
            <a:xfrm>
              <a:off x="1142976" y="3571876"/>
              <a:ext cx="500070" cy="357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r>
                <a:rPr lang="en-US" altLang="zh-CN" sz="1600" b="1">
                  <a:solidFill>
                    <a:srgbClr val="FF0000"/>
                  </a:solidFill>
                  <a:latin typeface="Times New Roman" panose="02020603050405020304" pitchFamily="18" charset="0"/>
                </a:rPr>
                <a:t>2</a:t>
              </a:r>
              <a:endParaRPr lang="zh-CN" altLang="zh-CN" sz="1600" b="1">
                <a:solidFill>
                  <a:srgbClr val="FF0000"/>
                </a:solidFill>
                <a:latin typeface="Arial" panose="020B0604020202020204" pitchFamily="34" charset="0"/>
              </a:endParaRPr>
            </a:p>
          </p:txBody>
        </p:sp>
        <p:sp>
          <p:nvSpPr>
            <p:cNvPr id="29761" name="Text Box 51"/>
            <p:cNvSpPr txBox="1">
              <a:spLocks noChangeArrowheads="1"/>
            </p:cNvSpPr>
            <p:nvPr/>
          </p:nvSpPr>
          <p:spPr bwMode="auto">
            <a:xfrm>
              <a:off x="1428700" y="4057646"/>
              <a:ext cx="357169" cy="300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9762" name="Text Box 51"/>
            <p:cNvSpPr txBox="1">
              <a:spLocks noChangeArrowheads="1"/>
            </p:cNvSpPr>
            <p:nvPr/>
          </p:nvSpPr>
          <p:spPr bwMode="auto">
            <a:xfrm>
              <a:off x="1714472" y="3271834"/>
              <a:ext cx="500074" cy="300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solidFill>
                  <a:srgbClr val="FF0000"/>
                </a:solidFill>
                <a:latin typeface="Arial" panose="020B0604020202020204" pitchFamily="34" charset="0"/>
              </a:endParaRPr>
            </a:p>
          </p:txBody>
        </p:sp>
        <p:sp>
          <p:nvSpPr>
            <p:cNvPr id="29763" name="Text Box 51"/>
            <p:cNvSpPr txBox="1">
              <a:spLocks noChangeArrowheads="1"/>
            </p:cNvSpPr>
            <p:nvPr/>
          </p:nvSpPr>
          <p:spPr bwMode="auto">
            <a:xfrm>
              <a:off x="1928784" y="3500434"/>
              <a:ext cx="500076" cy="285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r>
                <a:rPr lang="en-US" altLang="zh-CN" sz="1600" b="1">
                  <a:solidFill>
                    <a:srgbClr val="FF0000"/>
                  </a:solidFill>
                  <a:latin typeface="Times New Roman" panose="02020603050405020304" pitchFamily="18" charset="0"/>
                </a:rPr>
                <a:t>2</a:t>
              </a:r>
              <a:endParaRPr lang="zh-CN" altLang="zh-CN" sz="1600" b="1">
                <a:solidFill>
                  <a:srgbClr val="FF0000"/>
                </a:solidFill>
                <a:latin typeface="Arial" panose="020B0604020202020204" pitchFamily="34" charset="0"/>
              </a:endParaRPr>
            </a:p>
          </p:txBody>
        </p:sp>
        <p:sp>
          <p:nvSpPr>
            <p:cNvPr id="29764" name="Text Box 51"/>
            <p:cNvSpPr txBox="1">
              <a:spLocks noChangeArrowheads="1"/>
            </p:cNvSpPr>
            <p:nvPr/>
          </p:nvSpPr>
          <p:spPr bwMode="auto">
            <a:xfrm>
              <a:off x="1795435" y="2786058"/>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3</a:t>
              </a:r>
              <a:endParaRPr lang="zh-CN" altLang="zh-CN" sz="1400" b="1">
                <a:latin typeface="Arial" panose="020B0604020202020204" pitchFamily="34" charset="0"/>
              </a:endParaRPr>
            </a:p>
          </p:txBody>
        </p:sp>
        <p:sp>
          <p:nvSpPr>
            <p:cNvPr id="29765" name="Text Box 51"/>
            <p:cNvSpPr txBox="1">
              <a:spLocks noChangeArrowheads="1"/>
            </p:cNvSpPr>
            <p:nvPr/>
          </p:nvSpPr>
          <p:spPr bwMode="auto">
            <a:xfrm>
              <a:off x="1142972" y="3357559"/>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solidFill>
                    <a:srgbClr val="FF0000"/>
                  </a:solidFill>
                  <a:latin typeface="Times New Roman" panose="02020603050405020304" pitchFamily="18" charset="0"/>
                </a:rPr>
                <a:t>1</a:t>
              </a:r>
              <a:endParaRPr lang="zh-CN" altLang="zh-CN" sz="1400" b="1">
                <a:solidFill>
                  <a:srgbClr val="FF0000"/>
                </a:solidFill>
                <a:latin typeface="Arial" panose="020B0604020202020204" pitchFamily="34" charset="0"/>
              </a:endParaRPr>
            </a:p>
          </p:txBody>
        </p:sp>
        <p:sp>
          <p:nvSpPr>
            <p:cNvPr id="29766" name="Text Box 51"/>
            <p:cNvSpPr txBox="1">
              <a:spLocks noChangeArrowheads="1"/>
            </p:cNvSpPr>
            <p:nvPr/>
          </p:nvSpPr>
          <p:spPr bwMode="auto">
            <a:xfrm>
              <a:off x="1142972" y="4357685"/>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2</a:t>
              </a:r>
              <a:endParaRPr lang="zh-CN" altLang="zh-CN" sz="1400" b="1">
                <a:latin typeface="Arial" panose="020B0604020202020204" pitchFamily="34" charset="0"/>
              </a:endParaRPr>
            </a:p>
          </p:txBody>
        </p:sp>
        <p:sp>
          <p:nvSpPr>
            <p:cNvPr id="29767" name="Text Box 51"/>
            <p:cNvSpPr txBox="1">
              <a:spLocks noChangeArrowheads="1"/>
            </p:cNvSpPr>
            <p:nvPr/>
          </p:nvSpPr>
          <p:spPr bwMode="auto">
            <a:xfrm>
              <a:off x="1785910" y="3857622"/>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4</a:t>
              </a:r>
              <a:endParaRPr lang="zh-CN" altLang="zh-CN" sz="1400" b="1">
                <a:latin typeface="Arial" panose="020B0604020202020204" pitchFamily="34" charset="0"/>
              </a:endParaRPr>
            </a:p>
          </p:txBody>
        </p:sp>
        <p:sp>
          <p:nvSpPr>
            <p:cNvPr id="29768" name="Text Box 51"/>
            <p:cNvSpPr txBox="1">
              <a:spLocks noChangeArrowheads="1"/>
            </p:cNvSpPr>
            <p:nvPr/>
          </p:nvSpPr>
          <p:spPr bwMode="auto">
            <a:xfrm>
              <a:off x="2509810" y="3286121"/>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6</a:t>
              </a:r>
              <a:endParaRPr lang="zh-CN" altLang="zh-CN" sz="1400" b="1">
                <a:latin typeface="Arial" panose="020B0604020202020204" pitchFamily="34" charset="0"/>
              </a:endParaRPr>
            </a:p>
          </p:txBody>
        </p:sp>
        <p:sp>
          <p:nvSpPr>
            <p:cNvPr id="29769" name="Text Box 51"/>
            <p:cNvSpPr txBox="1">
              <a:spLocks noChangeArrowheads="1"/>
            </p:cNvSpPr>
            <p:nvPr/>
          </p:nvSpPr>
          <p:spPr bwMode="auto">
            <a:xfrm>
              <a:off x="3152747" y="3929060"/>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8</a:t>
              </a:r>
              <a:endParaRPr lang="zh-CN" altLang="zh-CN" sz="1400" b="1">
                <a:latin typeface="Arial" panose="020B0604020202020204" pitchFamily="34" charset="0"/>
              </a:endParaRPr>
            </a:p>
          </p:txBody>
        </p:sp>
        <p:sp>
          <p:nvSpPr>
            <p:cNvPr id="29770" name="Text Box 51"/>
            <p:cNvSpPr txBox="1">
              <a:spLocks noChangeArrowheads="1"/>
            </p:cNvSpPr>
            <p:nvPr/>
          </p:nvSpPr>
          <p:spPr bwMode="auto">
            <a:xfrm>
              <a:off x="3867122" y="3357559"/>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10</a:t>
              </a:r>
              <a:endParaRPr lang="zh-CN" altLang="zh-CN" sz="1400" b="1">
                <a:latin typeface="Arial" panose="020B0604020202020204" pitchFamily="34" charset="0"/>
              </a:endParaRPr>
            </a:p>
          </p:txBody>
        </p:sp>
        <p:sp>
          <p:nvSpPr>
            <p:cNvPr id="29771" name="Text Box 51"/>
            <p:cNvSpPr txBox="1">
              <a:spLocks noChangeArrowheads="1"/>
            </p:cNvSpPr>
            <p:nvPr/>
          </p:nvSpPr>
          <p:spPr bwMode="auto">
            <a:xfrm>
              <a:off x="642910" y="3857622"/>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s</a:t>
              </a:r>
              <a:endParaRPr lang="zh-CN" altLang="zh-CN" sz="1400" b="1" i="1">
                <a:latin typeface="Arial" panose="020B0604020202020204" pitchFamily="34" charset="0"/>
              </a:endParaRPr>
            </a:p>
          </p:txBody>
        </p:sp>
        <p:sp>
          <p:nvSpPr>
            <p:cNvPr id="29772" name="Text Box 51"/>
            <p:cNvSpPr txBox="1">
              <a:spLocks noChangeArrowheads="1"/>
            </p:cNvSpPr>
            <p:nvPr/>
          </p:nvSpPr>
          <p:spPr bwMode="auto">
            <a:xfrm>
              <a:off x="4510060" y="3857622"/>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t</a:t>
              </a:r>
              <a:endParaRPr lang="zh-CN" altLang="zh-CN" sz="1400" b="1" i="1">
                <a:latin typeface="Arial" panose="020B0604020202020204" pitchFamily="34" charset="0"/>
              </a:endParaRPr>
            </a:p>
          </p:txBody>
        </p:sp>
        <p:sp>
          <p:nvSpPr>
            <p:cNvPr id="29773" name="Text Box 51"/>
            <p:cNvSpPr txBox="1">
              <a:spLocks noChangeArrowheads="1"/>
            </p:cNvSpPr>
            <p:nvPr/>
          </p:nvSpPr>
          <p:spPr bwMode="auto">
            <a:xfrm>
              <a:off x="1214414" y="3000370"/>
              <a:ext cx="500072" cy="285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1,</a:t>
              </a:r>
              <a:r>
                <a:rPr lang="en-US" altLang="zh-CN" sz="1600" b="1">
                  <a:solidFill>
                    <a:srgbClr val="FF0000"/>
                  </a:solidFill>
                  <a:latin typeface="Times New Roman" panose="02020603050405020304" pitchFamily="18" charset="0"/>
                </a:rPr>
                <a:t>1</a:t>
              </a:r>
              <a:endParaRPr lang="zh-CN" altLang="zh-CN" sz="1600" b="1">
                <a:solidFill>
                  <a:srgbClr val="FF0000"/>
                </a:solidFill>
                <a:latin typeface="Arial" panose="020B0604020202020204" pitchFamily="34" charset="0"/>
              </a:endParaRPr>
            </a:p>
          </p:txBody>
        </p:sp>
        <p:sp>
          <p:nvSpPr>
            <p:cNvPr id="29774" name="Text Box 51"/>
            <p:cNvSpPr txBox="1">
              <a:spLocks noChangeArrowheads="1"/>
            </p:cNvSpPr>
            <p:nvPr/>
          </p:nvSpPr>
          <p:spPr bwMode="auto">
            <a:xfrm>
              <a:off x="2214536" y="3000370"/>
              <a:ext cx="571514" cy="285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a:t>
              </a:r>
              <a:r>
                <a:rPr lang="en-US" altLang="zh-CN" sz="1600" b="1">
                  <a:solidFill>
                    <a:srgbClr val="FF0000"/>
                  </a:solidFill>
                  <a:latin typeface="Times New Roman" panose="02020603050405020304" pitchFamily="18" charset="0"/>
                </a:rPr>
                <a:t>1</a:t>
              </a:r>
              <a:endParaRPr lang="zh-CN" altLang="zh-CN" sz="1600" b="1">
                <a:solidFill>
                  <a:srgbClr val="FF0000"/>
                </a:solidFill>
                <a:latin typeface="Arial" panose="020B0604020202020204" pitchFamily="34" charset="0"/>
              </a:endParaRPr>
            </a:p>
          </p:txBody>
        </p:sp>
        <p:sp>
          <p:nvSpPr>
            <p:cNvPr id="29775" name="Text Box 51"/>
            <p:cNvSpPr txBox="1">
              <a:spLocks noChangeArrowheads="1"/>
            </p:cNvSpPr>
            <p:nvPr/>
          </p:nvSpPr>
          <p:spPr bwMode="auto">
            <a:xfrm>
              <a:off x="3000336" y="3214666"/>
              <a:ext cx="500094" cy="285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r>
                <a:rPr lang="en-US" altLang="zh-CN" sz="1600" b="1">
                  <a:solidFill>
                    <a:srgbClr val="FF0000"/>
                  </a:solidFill>
                  <a:latin typeface="Times New Roman" panose="02020603050405020304" pitchFamily="18" charset="0"/>
                </a:rPr>
                <a:t>3</a:t>
              </a:r>
              <a:endParaRPr lang="zh-CN" altLang="zh-CN" sz="1600" b="1">
                <a:solidFill>
                  <a:srgbClr val="FF0000"/>
                </a:solidFill>
                <a:latin typeface="Arial" panose="020B0604020202020204" pitchFamily="34" charset="0"/>
              </a:endParaRPr>
            </a:p>
          </p:txBody>
        </p:sp>
        <p:sp>
          <p:nvSpPr>
            <p:cNvPr id="29776" name="Text Box 51"/>
            <p:cNvSpPr txBox="1">
              <a:spLocks noChangeArrowheads="1"/>
            </p:cNvSpPr>
            <p:nvPr/>
          </p:nvSpPr>
          <p:spPr bwMode="auto">
            <a:xfrm>
              <a:off x="928634" y="4057646"/>
              <a:ext cx="285724" cy="300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a:t>
              </a:r>
              <a:endParaRPr lang="zh-CN" altLang="zh-CN" sz="1600" b="1">
                <a:latin typeface="Arial" panose="020B0604020202020204" pitchFamily="34" charset="0"/>
              </a:endParaRPr>
            </a:p>
          </p:txBody>
        </p:sp>
        <p:sp>
          <p:nvSpPr>
            <p:cNvPr id="29777" name="Text Box 51"/>
            <p:cNvSpPr txBox="1">
              <a:spLocks noChangeArrowheads="1"/>
            </p:cNvSpPr>
            <p:nvPr/>
          </p:nvSpPr>
          <p:spPr bwMode="auto">
            <a:xfrm>
              <a:off x="4214810" y="3500438"/>
              <a:ext cx="500092" cy="30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6,</a:t>
              </a:r>
              <a:r>
                <a:rPr lang="en-US" altLang="zh-CN" sz="1600" b="1">
                  <a:solidFill>
                    <a:srgbClr val="FF0000"/>
                  </a:solidFill>
                  <a:latin typeface="Times New Roman" panose="02020603050405020304" pitchFamily="18" charset="0"/>
                </a:rPr>
                <a:t>3</a:t>
              </a:r>
              <a:endParaRPr lang="zh-CN" altLang="zh-CN" sz="1600" b="1">
                <a:solidFill>
                  <a:srgbClr val="FF0000"/>
                </a:solidFill>
                <a:latin typeface="Arial" panose="020B0604020202020204" pitchFamily="34" charset="0"/>
              </a:endParaRPr>
            </a:p>
          </p:txBody>
        </p:sp>
        <p:sp>
          <p:nvSpPr>
            <p:cNvPr id="29778" name="Text Box 51"/>
            <p:cNvSpPr txBox="1">
              <a:spLocks noChangeArrowheads="1"/>
            </p:cNvSpPr>
            <p:nvPr/>
          </p:nvSpPr>
          <p:spPr bwMode="auto">
            <a:xfrm>
              <a:off x="3438499" y="3500438"/>
              <a:ext cx="276217" cy="35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29779" name="Text Box 51"/>
            <p:cNvSpPr txBox="1">
              <a:spLocks noChangeArrowheads="1"/>
            </p:cNvSpPr>
            <p:nvPr/>
          </p:nvSpPr>
          <p:spPr bwMode="auto">
            <a:xfrm>
              <a:off x="2500270" y="3786170"/>
              <a:ext cx="357175" cy="300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a:t>
              </a:r>
              <a:endParaRPr lang="zh-CN" altLang="zh-CN" sz="1600" b="1">
                <a:latin typeface="Arial" panose="020B0604020202020204" pitchFamily="34" charset="0"/>
              </a:endParaRPr>
            </a:p>
          </p:txBody>
        </p:sp>
      </p:grpSp>
      <p:grpSp>
        <p:nvGrpSpPr>
          <p:cNvPr id="5" name="组合 171"/>
          <p:cNvGrpSpPr/>
          <p:nvPr/>
        </p:nvGrpSpPr>
        <p:grpSpPr bwMode="auto">
          <a:xfrm>
            <a:off x="642938" y="4643438"/>
            <a:ext cx="4286250" cy="1857375"/>
            <a:chOff x="642910" y="4643457"/>
            <a:chExt cx="4286250" cy="1857377"/>
          </a:xfrm>
        </p:grpSpPr>
        <p:sp>
          <p:nvSpPr>
            <p:cNvPr id="29704" name="Oval 6"/>
            <p:cNvSpPr>
              <a:spLocks noChangeArrowheads="1"/>
            </p:cNvSpPr>
            <p:nvPr/>
          </p:nvSpPr>
          <p:spPr bwMode="auto">
            <a:xfrm>
              <a:off x="661960" y="5753121"/>
              <a:ext cx="195262"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05" name="Oval 8"/>
            <p:cNvSpPr>
              <a:spLocks noChangeArrowheads="1"/>
            </p:cNvSpPr>
            <p:nvPr/>
          </p:nvSpPr>
          <p:spPr bwMode="auto">
            <a:xfrm>
              <a:off x="1824010" y="4691082"/>
              <a:ext cx="195262" cy="209550"/>
            </a:xfrm>
            <a:prstGeom prst="ellipse">
              <a:avLst/>
            </a:prstGeom>
            <a:solidFill>
              <a:srgbClr val="FFFFFF"/>
            </a:solidFill>
            <a:ln w="3175">
              <a:solidFill>
                <a:srgbClr val="00B0F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06" name="Oval 9"/>
            <p:cNvSpPr>
              <a:spLocks noChangeArrowheads="1"/>
            </p:cNvSpPr>
            <p:nvPr/>
          </p:nvSpPr>
          <p:spPr bwMode="auto">
            <a:xfrm>
              <a:off x="1209647" y="6275409"/>
              <a:ext cx="196850"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07" name="Oval 11"/>
            <p:cNvSpPr>
              <a:spLocks noChangeArrowheads="1"/>
            </p:cNvSpPr>
            <p:nvPr/>
          </p:nvSpPr>
          <p:spPr bwMode="auto">
            <a:xfrm>
              <a:off x="1806547" y="5780109"/>
              <a:ext cx="196850" cy="209550"/>
            </a:xfrm>
            <a:prstGeom prst="ellipse">
              <a:avLst/>
            </a:prstGeom>
            <a:solidFill>
              <a:srgbClr val="FFFFFF"/>
            </a:solidFill>
            <a:ln w="3175">
              <a:solidFill>
                <a:srgbClr val="FF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08" name="Oval 12"/>
            <p:cNvSpPr>
              <a:spLocks noChangeArrowheads="1"/>
            </p:cNvSpPr>
            <p:nvPr/>
          </p:nvSpPr>
          <p:spPr bwMode="auto">
            <a:xfrm>
              <a:off x="2522510" y="5213370"/>
              <a:ext cx="196850" cy="209550"/>
            </a:xfrm>
            <a:prstGeom prst="ellipse">
              <a:avLst/>
            </a:prstGeom>
            <a:solidFill>
              <a:srgbClr val="FFFFFF"/>
            </a:solidFill>
            <a:ln w="3175">
              <a:solidFill>
                <a:srgbClr val="00B0F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09" name="Oval 14"/>
            <p:cNvSpPr>
              <a:spLocks noChangeArrowheads="1"/>
            </p:cNvSpPr>
            <p:nvPr/>
          </p:nvSpPr>
          <p:spPr bwMode="auto">
            <a:xfrm>
              <a:off x="3162272" y="5789634"/>
              <a:ext cx="195263"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10" name="Oval 15"/>
            <p:cNvSpPr>
              <a:spLocks noChangeArrowheads="1"/>
            </p:cNvSpPr>
            <p:nvPr/>
          </p:nvSpPr>
          <p:spPr bwMode="auto">
            <a:xfrm>
              <a:off x="3903635" y="5230833"/>
              <a:ext cx="195262"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711" name="Oval 17"/>
            <p:cNvSpPr>
              <a:spLocks noChangeArrowheads="1"/>
            </p:cNvSpPr>
            <p:nvPr/>
          </p:nvSpPr>
          <p:spPr bwMode="auto">
            <a:xfrm>
              <a:off x="4516410" y="5789634"/>
              <a:ext cx="196850"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29712" name="AutoShape 21"/>
            <p:cNvCxnSpPr>
              <a:cxnSpLocks noChangeShapeType="1"/>
            </p:cNvCxnSpPr>
            <p:nvPr/>
          </p:nvCxnSpPr>
          <p:spPr bwMode="auto">
            <a:xfrm>
              <a:off x="809597" y="5943621"/>
              <a:ext cx="400050" cy="38258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713" name="AutoShape 24"/>
            <p:cNvCxnSpPr>
              <a:cxnSpLocks noChangeShapeType="1"/>
            </p:cNvCxnSpPr>
            <p:nvPr/>
          </p:nvCxnSpPr>
          <p:spPr bwMode="auto">
            <a:xfrm>
              <a:off x="2019272" y="4875232"/>
              <a:ext cx="528638" cy="382588"/>
            </a:xfrm>
            <a:prstGeom prst="straightConnector1">
              <a:avLst/>
            </a:prstGeom>
            <a:noFill/>
            <a:ln w="3175">
              <a:solidFill>
                <a:srgbClr val="00B0F0"/>
              </a:solidFill>
              <a:round/>
              <a:tailEnd type="arrow" w="med" len="med"/>
            </a:ln>
            <a:extLst>
              <a:ext uri="{909E8E84-426E-40DD-AFC4-6F175D3DCCD1}">
                <a14:hiddenFill xmlns:a14="http://schemas.microsoft.com/office/drawing/2010/main">
                  <a:noFill/>
                </a14:hiddenFill>
              </a:ext>
            </a:extLst>
          </p:spPr>
        </p:cxnSp>
        <p:cxnSp>
          <p:nvCxnSpPr>
            <p:cNvPr id="29714" name="AutoShape 25"/>
            <p:cNvCxnSpPr>
              <a:cxnSpLocks noChangeShapeType="1"/>
            </p:cNvCxnSpPr>
            <p:nvPr/>
          </p:nvCxnSpPr>
          <p:spPr bwMode="auto">
            <a:xfrm flipV="1">
              <a:off x="1398560" y="5962671"/>
              <a:ext cx="407987" cy="36353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715" name="AutoShape 27"/>
            <p:cNvCxnSpPr>
              <a:cxnSpLocks noChangeShapeType="1"/>
            </p:cNvCxnSpPr>
            <p:nvPr/>
          </p:nvCxnSpPr>
          <p:spPr bwMode="auto">
            <a:xfrm flipV="1">
              <a:off x="1341410" y="4900632"/>
              <a:ext cx="566737" cy="1374777"/>
            </a:xfrm>
            <a:prstGeom prst="straightConnector1">
              <a:avLst/>
            </a:prstGeom>
            <a:noFill/>
            <a:ln w="3175">
              <a:solidFill>
                <a:srgbClr val="00B0F0"/>
              </a:solidFill>
              <a:round/>
              <a:tailEnd type="arrow" w="med" len="med"/>
            </a:ln>
            <a:extLst>
              <a:ext uri="{909E8E84-426E-40DD-AFC4-6F175D3DCCD1}">
                <a14:hiddenFill xmlns:a14="http://schemas.microsoft.com/office/drawing/2010/main">
                  <a:noFill/>
                </a14:hiddenFill>
              </a:ext>
            </a:extLst>
          </p:spPr>
        </p:cxnSp>
        <p:cxnSp>
          <p:nvCxnSpPr>
            <p:cNvPr id="29716" name="AutoShape 29"/>
            <p:cNvCxnSpPr>
              <a:cxnSpLocks noChangeShapeType="1"/>
            </p:cNvCxnSpPr>
            <p:nvPr/>
          </p:nvCxnSpPr>
          <p:spPr bwMode="auto">
            <a:xfrm>
              <a:off x="2003397" y="5899171"/>
              <a:ext cx="1158875"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717" name="AutoShape 33"/>
            <p:cNvCxnSpPr>
              <a:cxnSpLocks noChangeShapeType="1"/>
            </p:cNvCxnSpPr>
            <p:nvPr/>
          </p:nvCxnSpPr>
          <p:spPr bwMode="auto">
            <a:xfrm flipV="1">
              <a:off x="3340072" y="5430858"/>
              <a:ext cx="579438" cy="381001"/>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29718" name="AutoShape 36"/>
            <p:cNvCxnSpPr>
              <a:cxnSpLocks noChangeShapeType="1"/>
            </p:cNvCxnSpPr>
            <p:nvPr/>
          </p:nvCxnSpPr>
          <p:spPr bwMode="auto">
            <a:xfrm>
              <a:off x="4098897" y="5384820"/>
              <a:ext cx="417513" cy="42703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sp>
          <p:nvSpPr>
            <p:cNvPr id="29719" name="Text Box 42"/>
            <p:cNvSpPr txBox="1">
              <a:spLocks noChangeArrowheads="1"/>
            </p:cNvSpPr>
            <p:nvPr/>
          </p:nvSpPr>
          <p:spPr bwMode="auto">
            <a:xfrm>
              <a:off x="1714472" y="5724546"/>
              <a:ext cx="407988" cy="368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700">
                  <a:latin typeface="Times New Roman" panose="02020603050405020304" pitchFamily="18" charset="0"/>
                </a:rPr>
                <a:t>4</a:t>
              </a:r>
              <a:endParaRPr lang="zh-CN" altLang="zh-CN" sz="1800">
                <a:latin typeface="Arial" panose="020B0604020202020204" pitchFamily="34" charset="0"/>
              </a:endParaRPr>
            </a:p>
          </p:txBody>
        </p:sp>
        <p:sp>
          <p:nvSpPr>
            <p:cNvPr id="29720" name="Text Box 44"/>
            <p:cNvSpPr txBox="1">
              <a:spLocks noChangeArrowheads="1"/>
            </p:cNvSpPr>
            <p:nvPr/>
          </p:nvSpPr>
          <p:spPr bwMode="auto">
            <a:xfrm>
              <a:off x="2430435" y="5156220"/>
              <a:ext cx="407987" cy="368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700">
                  <a:latin typeface="Times New Roman" panose="02020603050405020304" pitchFamily="18" charset="0"/>
                </a:rPr>
                <a:t>6</a:t>
              </a:r>
              <a:endParaRPr lang="zh-CN" altLang="zh-CN" sz="1800">
                <a:latin typeface="Arial" panose="020B0604020202020204" pitchFamily="34" charset="0"/>
              </a:endParaRPr>
            </a:p>
          </p:txBody>
        </p:sp>
        <p:sp>
          <p:nvSpPr>
            <p:cNvPr id="29721" name="Text Box 51"/>
            <p:cNvSpPr txBox="1">
              <a:spLocks noChangeArrowheads="1"/>
            </p:cNvSpPr>
            <p:nvPr/>
          </p:nvSpPr>
          <p:spPr bwMode="auto">
            <a:xfrm>
              <a:off x="1428700" y="5915045"/>
              <a:ext cx="357169" cy="300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29722" name="Text Box 51"/>
            <p:cNvSpPr txBox="1">
              <a:spLocks noChangeArrowheads="1"/>
            </p:cNvSpPr>
            <p:nvPr/>
          </p:nvSpPr>
          <p:spPr bwMode="auto">
            <a:xfrm>
              <a:off x="1714472" y="5129233"/>
              <a:ext cx="500074" cy="300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solidFill>
                    <a:srgbClr val="00B0F0"/>
                  </a:solidFill>
                  <a:latin typeface="Times New Roman" panose="02020603050405020304" pitchFamily="18" charset="0"/>
                </a:rPr>
                <a:t>3</a:t>
              </a:r>
              <a:endParaRPr lang="zh-CN" altLang="zh-CN" sz="1600" b="1">
                <a:solidFill>
                  <a:srgbClr val="00B0F0"/>
                </a:solidFill>
                <a:latin typeface="Arial" panose="020B0604020202020204" pitchFamily="34" charset="0"/>
              </a:endParaRPr>
            </a:p>
          </p:txBody>
        </p:sp>
        <p:sp>
          <p:nvSpPr>
            <p:cNvPr id="29723" name="Text Box 51"/>
            <p:cNvSpPr txBox="1">
              <a:spLocks noChangeArrowheads="1"/>
            </p:cNvSpPr>
            <p:nvPr/>
          </p:nvSpPr>
          <p:spPr bwMode="auto">
            <a:xfrm>
              <a:off x="1795435" y="4643457"/>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solidFill>
                    <a:srgbClr val="00B0F0"/>
                  </a:solidFill>
                  <a:latin typeface="Times New Roman" panose="02020603050405020304" pitchFamily="18" charset="0"/>
                </a:rPr>
                <a:t>3</a:t>
              </a:r>
              <a:endParaRPr lang="zh-CN" altLang="zh-CN" sz="1400" b="1">
                <a:solidFill>
                  <a:srgbClr val="00B0F0"/>
                </a:solidFill>
                <a:latin typeface="Arial" panose="020B0604020202020204" pitchFamily="34" charset="0"/>
              </a:endParaRPr>
            </a:p>
          </p:txBody>
        </p:sp>
        <p:sp>
          <p:nvSpPr>
            <p:cNvPr id="29724" name="Text Box 51"/>
            <p:cNvSpPr txBox="1">
              <a:spLocks noChangeArrowheads="1"/>
            </p:cNvSpPr>
            <p:nvPr/>
          </p:nvSpPr>
          <p:spPr bwMode="auto">
            <a:xfrm>
              <a:off x="1142972" y="6215084"/>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2</a:t>
              </a:r>
              <a:endParaRPr lang="zh-CN" altLang="zh-CN" sz="1400" b="1">
                <a:latin typeface="Arial" panose="020B0604020202020204" pitchFamily="34" charset="0"/>
              </a:endParaRPr>
            </a:p>
          </p:txBody>
        </p:sp>
        <p:sp>
          <p:nvSpPr>
            <p:cNvPr id="29725" name="Text Box 51"/>
            <p:cNvSpPr txBox="1">
              <a:spLocks noChangeArrowheads="1"/>
            </p:cNvSpPr>
            <p:nvPr/>
          </p:nvSpPr>
          <p:spPr bwMode="auto">
            <a:xfrm>
              <a:off x="1785910" y="5715021"/>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solidFill>
                    <a:srgbClr val="FF0000"/>
                  </a:solidFill>
                  <a:latin typeface="Times New Roman" panose="02020603050405020304" pitchFamily="18" charset="0"/>
                </a:rPr>
                <a:t>4</a:t>
              </a:r>
              <a:endParaRPr lang="zh-CN" altLang="zh-CN" sz="1400" b="1">
                <a:solidFill>
                  <a:srgbClr val="FF0000"/>
                </a:solidFill>
                <a:latin typeface="Arial" panose="020B0604020202020204" pitchFamily="34" charset="0"/>
              </a:endParaRPr>
            </a:p>
          </p:txBody>
        </p:sp>
        <p:sp>
          <p:nvSpPr>
            <p:cNvPr id="29726" name="Text Box 51"/>
            <p:cNvSpPr txBox="1">
              <a:spLocks noChangeArrowheads="1"/>
            </p:cNvSpPr>
            <p:nvPr/>
          </p:nvSpPr>
          <p:spPr bwMode="auto">
            <a:xfrm>
              <a:off x="2509810" y="5143520"/>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solidFill>
                    <a:srgbClr val="00B0F0"/>
                  </a:solidFill>
                  <a:latin typeface="Times New Roman" panose="02020603050405020304" pitchFamily="18" charset="0"/>
                </a:rPr>
                <a:t>6</a:t>
              </a:r>
              <a:endParaRPr lang="zh-CN" altLang="zh-CN" sz="1400" b="1">
                <a:solidFill>
                  <a:srgbClr val="00B0F0"/>
                </a:solidFill>
                <a:latin typeface="Arial" panose="020B0604020202020204" pitchFamily="34" charset="0"/>
              </a:endParaRPr>
            </a:p>
          </p:txBody>
        </p:sp>
        <p:sp>
          <p:nvSpPr>
            <p:cNvPr id="29727" name="Text Box 51"/>
            <p:cNvSpPr txBox="1">
              <a:spLocks noChangeArrowheads="1"/>
            </p:cNvSpPr>
            <p:nvPr/>
          </p:nvSpPr>
          <p:spPr bwMode="auto">
            <a:xfrm>
              <a:off x="3152747" y="5786459"/>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8</a:t>
              </a:r>
              <a:endParaRPr lang="zh-CN" altLang="zh-CN" sz="1400" b="1">
                <a:latin typeface="Arial" panose="020B0604020202020204" pitchFamily="34" charset="0"/>
              </a:endParaRPr>
            </a:p>
          </p:txBody>
        </p:sp>
        <p:sp>
          <p:nvSpPr>
            <p:cNvPr id="29728" name="Text Box 51"/>
            <p:cNvSpPr txBox="1">
              <a:spLocks noChangeArrowheads="1"/>
            </p:cNvSpPr>
            <p:nvPr/>
          </p:nvSpPr>
          <p:spPr bwMode="auto">
            <a:xfrm>
              <a:off x="3867122" y="5214958"/>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10</a:t>
              </a:r>
              <a:endParaRPr lang="zh-CN" altLang="zh-CN" sz="1400" b="1">
                <a:latin typeface="Arial" panose="020B0604020202020204" pitchFamily="34" charset="0"/>
              </a:endParaRPr>
            </a:p>
          </p:txBody>
        </p:sp>
        <p:sp>
          <p:nvSpPr>
            <p:cNvPr id="29729" name="Text Box 51"/>
            <p:cNvSpPr txBox="1">
              <a:spLocks noChangeArrowheads="1"/>
            </p:cNvSpPr>
            <p:nvPr/>
          </p:nvSpPr>
          <p:spPr bwMode="auto">
            <a:xfrm>
              <a:off x="642910" y="5715021"/>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s</a:t>
              </a:r>
              <a:endParaRPr lang="zh-CN" altLang="zh-CN" sz="1400" b="1" i="1">
                <a:latin typeface="Arial" panose="020B0604020202020204" pitchFamily="34" charset="0"/>
              </a:endParaRPr>
            </a:p>
          </p:txBody>
        </p:sp>
        <p:sp>
          <p:nvSpPr>
            <p:cNvPr id="29730" name="Text Box 51"/>
            <p:cNvSpPr txBox="1">
              <a:spLocks noChangeArrowheads="1"/>
            </p:cNvSpPr>
            <p:nvPr/>
          </p:nvSpPr>
          <p:spPr bwMode="auto">
            <a:xfrm>
              <a:off x="4510060" y="5715021"/>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t</a:t>
              </a:r>
              <a:endParaRPr lang="zh-CN" altLang="zh-CN" sz="1400" b="1" i="1">
                <a:latin typeface="Arial" panose="020B0604020202020204" pitchFamily="34" charset="0"/>
              </a:endParaRPr>
            </a:p>
          </p:txBody>
        </p:sp>
        <p:sp>
          <p:nvSpPr>
            <p:cNvPr id="29731" name="Text Box 51"/>
            <p:cNvSpPr txBox="1">
              <a:spLocks noChangeArrowheads="1"/>
            </p:cNvSpPr>
            <p:nvPr/>
          </p:nvSpPr>
          <p:spPr bwMode="auto">
            <a:xfrm>
              <a:off x="2214536" y="4857769"/>
              <a:ext cx="571514" cy="285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solidFill>
                    <a:srgbClr val="00B0F0"/>
                  </a:solidFill>
                  <a:latin typeface="Times New Roman" panose="02020603050405020304" pitchFamily="18" charset="0"/>
                </a:rPr>
                <a:t>3</a:t>
              </a:r>
              <a:endParaRPr lang="zh-CN" altLang="zh-CN" sz="1600" b="1">
                <a:solidFill>
                  <a:srgbClr val="00B0F0"/>
                </a:solidFill>
                <a:latin typeface="Arial" panose="020B0604020202020204" pitchFamily="34" charset="0"/>
              </a:endParaRPr>
            </a:p>
          </p:txBody>
        </p:sp>
        <p:sp>
          <p:nvSpPr>
            <p:cNvPr id="29732" name="Text Box 51"/>
            <p:cNvSpPr txBox="1">
              <a:spLocks noChangeArrowheads="1"/>
            </p:cNvSpPr>
            <p:nvPr/>
          </p:nvSpPr>
          <p:spPr bwMode="auto">
            <a:xfrm>
              <a:off x="928634" y="5915045"/>
              <a:ext cx="285724" cy="300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a:t>
              </a:r>
              <a:endParaRPr lang="zh-CN" altLang="zh-CN" sz="1600" b="1">
                <a:latin typeface="Arial" panose="020B0604020202020204" pitchFamily="34" charset="0"/>
              </a:endParaRPr>
            </a:p>
          </p:txBody>
        </p:sp>
        <p:sp>
          <p:nvSpPr>
            <p:cNvPr id="29733" name="Text Box 51"/>
            <p:cNvSpPr txBox="1">
              <a:spLocks noChangeArrowheads="1"/>
            </p:cNvSpPr>
            <p:nvPr/>
          </p:nvSpPr>
          <p:spPr bwMode="auto">
            <a:xfrm>
              <a:off x="4214810" y="5357837"/>
              <a:ext cx="500092" cy="30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solidFill>
                  <a:srgbClr val="FF0000"/>
                </a:solidFill>
                <a:latin typeface="Arial" panose="020B0604020202020204" pitchFamily="34" charset="0"/>
              </a:endParaRPr>
            </a:p>
          </p:txBody>
        </p:sp>
        <p:sp>
          <p:nvSpPr>
            <p:cNvPr id="29734" name="Text Box 51"/>
            <p:cNvSpPr txBox="1">
              <a:spLocks noChangeArrowheads="1"/>
            </p:cNvSpPr>
            <p:nvPr/>
          </p:nvSpPr>
          <p:spPr bwMode="auto">
            <a:xfrm>
              <a:off x="3438499" y="5357837"/>
              <a:ext cx="276217" cy="35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29735" name="Text Box 51"/>
            <p:cNvSpPr txBox="1">
              <a:spLocks noChangeArrowheads="1"/>
            </p:cNvSpPr>
            <p:nvPr/>
          </p:nvSpPr>
          <p:spPr bwMode="auto">
            <a:xfrm>
              <a:off x="2500270" y="5643569"/>
              <a:ext cx="357175" cy="300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a:t>
              </a:r>
              <a:endParaRPr lang="zh-CN" altLang="zh-CN" sz="1600" b="1">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8675">
                                            <p:txEl>
                                              <p:pRg st="0" end="0"/>
                                            </p:txEl>
                                          </p:spTgt>
                                        </p:tgtEl>
                                        <p:attrNameLst>
                                          <p:attrName>style.visibility</p:attrName>
                                        </p:attrNameLst>
                                      </p:cBhvr>
                                      <p:to>
                                        <p:strVal val="visible"/>
                                      </p:to>
                                    </p:set>
                                    <p:anim calcmode="lin" valueType="num">
                                      <p:cBhvr additive="base">
                                        <p:cTn id="13" dur="500" fill="hold"/>
                                        <p:tgtEl>
                                          <p:spTgt spid="28675">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86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xfrm>
            <a:off x="457200" y="274638"/>
            <a:ext cx="1471613" cy="725487"/>
          </a:xfrm>
        </p:spPr>
        <p:txBody>
          <a:bodyPr/>
          <a:lstStyle/>
          <a:p>
            <a:pPr algn="l"/>
            <a:r>
              <a:rPr lang="zh-CN" altLang="en-US" sz="2800" b="1" smtClean="0">
                <a:solidFill>
                  <a:srgbClr val="C00000"/>
                </a:solidFill>
                <a:latin typeface="Times New Roman" panose="02020603050405020304" pitchFamily="18" charset="0"/>
                <a:cs typeface="Times New Roman" panose="02020603050405020304" pitchFamily="18" charset="0"/>
              </a:rPr>
              <a:t>例</a:t>
            </a:r>
            <a:r>
              <a:rPr lang="en-US" altLang="zh-CN" sz="2800" b="1" smtClean="0">
                <a:solidFill>
                  <a:srgbClr val="C00000"/>
                </a:solidFill>
                <a:latin typeface="Times New Roman" panose="02020603050405020304" pitchFamily="18" charset="0"/>
                <a:cs typeface="Times New Roman" panose="02020603050405020304" pitchFamily="18" charset="0"/>
              </a:rPr>
              <a:t>2(</a:t>
            </a:r>
            <a:r>
              <a:rPr lang="zh-CN" altLang="en-US" sz="2800" b="1" smtClean="0">
                <a:solidFill>
                  <a:srgbClr val="C00000"/>
                </a:solidFill>
                <a:latin typeface="Times New Roman" panose="02020603050405020304" pitchFamily="18" charset="0"/>
                <a:cs typeface="Times New Roman" panose="02020603050405020304" pitchFamily="18" charset="0"/>
              </a:rPr>
              <a:t>续</a:t>
            </a:r>
            <a:r>
              <a:rPr lang="en-US" altLang="zh-CN" sz="2800" b="1" smtClean="0">
                <a:solidFill>
                  <a:srgbClr val="C00000"/>
                </a:solidFill>
                <a:latin typeface="Times New Roman" panose="02020603050405020304" pitchFamily="18" charset="0"/>
                <a:cs typeface="Times New Roman" panose="02020603050405020304" pitchFamily="18" charset="0"/>
              </a:rPr>
              <a:t>)</a:t>
            </a:r>
            <a:endParaRPr lang="zh-CN" altLang="en-US" sz="2800" smtClean="0">
              <a:solidFill>
                <a:srgbClr val="C00000"/>
              </a:solidFill>
              <a:latin typeface="Times New Roman" panose="02020603050405020304" pitchFamily="18" charset="0"/>
              <a:cs typeface="Times New Roman" panose="02020603050405020304" pitchFamily="18" charset="0"/>
            </a:endParaRPr>
          </a:p>
        </p:txBody>
      </p:sp>
      <p:sp>
        <p:nvSpPr>
          <p:cNvPr id="30723" name="灯片编号占位符 2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4516AE3B-13EB-4EF1-979A-593162A63D44}" type="slidenum">
              <a:rPr lang="zh-CN" altLang="en-US" sz="1200" smtClean="0">
                <a:solidFill>
                  <a:srgbClr val="898989"/>
                </a:solidFill>
              </a:rPr>
            </a:fld>
            <a:endParaRPr lang="zh-CN" altLang="en-US" sz="1200" smtClean="0">
              <a:solidFill>
                <a:srgbClr val="898989"/>
              </a:solidFill>
            </a:endParaRPr>
          </a:p>
        </p:txBody>
      </p:sp>
      <p:grpSp>
        <p:nvGrpSpPr>
          <p:cNvPr id="30724" name="组合 69"/>
          <p:cNvGrpSpPr/>
          <p:nvPr/>
        </p:nvGrpSpPr>
        <p:grpSpPr bwMode="auto">
          <a:xfrm>
            <a:off x="2643188" y="500063"/>
            <a:ext cx="4286250" cy="1285875"/>
            <a:chOff x="2143138" y="1071543"/>
            <a:chExt cx="4286250" cy="1285876"/>
          </a:xfrm>
        </p:grpSpPr>
        <p:sp>
          <p:nvSpPr>
            <p:cNvPr id="30801" name="Oval 6"/>
            <p:cNvSpPr>
              <a:spLocks noChangeArrowheads="1"/>
            </p:cNvSpPr>
            <p:nvPr/>
          </p:nvSpPr>
          <p:spPr bwMode="auto">
            <a:xfrm>
              <a:off x="2162188" y="1609706"/>
              <a:ext cx="195262"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802" name="Oval 9"/>
            <p:cNvSpPr>
              <a:spLocks noChangeArrowheads="1"/>
            </p:cNvSpPr>
            <p:nvPr/>
          </p:nvSpPr>
          <p:spPr bwMode="auto">
            <a:xfrm>
              <a:off x="2709875" y="2131994"/>
              <a:ext cx="196850"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803" name="Oval 11"/>
            <p:cNvSpPr>
              <a:spLocks noChangeArrowheads="1"/>
            </p:cNvSpPr>
            <p:nvPr/>
          </p:nvSpPr>
          <p:spPr bwMode="auto">
            <a:xfrm>
              <a:off x="3306775" y="1636694"/>
              <a:ext cx="196850" cy="209550"/>
            </a:xfrm>
            <a:prstGeom prst="ellipse">
              <a:avLst/>
            </a:prstGeom>
            <a:solidFill>
              <a:srgbClr val="FFFFFF"/>
            </a:solidFill>
            <a:ln w="3175">
              <a:solidFill>
                <a:srgbClr val="FF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804" name="Oval 14"/>
            <p:cNvSpPr>
              <a:spLocks noChangeArrowheads="1"/>
            </p:cNvSpPr>
            <p:nvPr/>
          </p:nvSpPr>
          <p:spPr bwMode="auto">
            <a:xfrm>
              <a:off x="4662500" y="1646219"/>
              <a:ext cx="195263"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805" name="Oval 15"/>
            <p:cNvSpPr>
              <a:spLocks noChangeArrowheads="1"/>
            </p:cNvSpPr>
            <p:nvPr/>
          </p:nvSpPr>
          <p:spPr bwMode="auto">
            <a:xfrm>
              <a:off x="5403863" y="1087418"/>
              <a:ext cx="195262"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806" name="Oval 17"/>
            <p:cNvSpPr>
              <a:spLocks noChangeArrowheads="1"/>
            </p:cNvSpPr>
            <p:nvPr/>
          </p:nvSpPr>
          <p:spPr bwMode="auto">
            <a:xfrm>
              <a:off x="6016638" y="1646219"/>
              <a:ext cx="196850"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30807" name="AutoShape 21"/>
            <p:cNvCxnSpPr>
              <a:cxnSpLocks noChangeShapeType="1"/>
            </p:cNvCxnSpPr>
            <p:nvPr/>
          </p:nvCxnSpPr>
          <p:spPr bwMode="auto">
            <a:xfrm>
              <a:off x="2309825" y="1800206"/>
              <a:ext cx="400050" cy="38258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808" name="AutoShape 25"/>
            <p:cNvCxnSpPr>
              <a:cxnSpLocks noChangeShapeType="1"/>
            </p:cNvCxnSpPr>
            <p:nvPr/>
          </p:nvCxnSpPr>
          <p:spPr bwMode="auto">
            <a:xfrm flipV="1">
              <a:off x="2898788" y="1819256"/>
              <a:ext cx="407987" cy="36353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809" name="AutoShape 29"/>
            <p:cNvCxnSpPr>
              <a:cxnSpLocks noChangeShapeType="1"/>
            </p:cNvCxnSpPr>
            <p:nvPr/>
          </p:nvCxnSpPr>
          <p:spPr bwMode="auto">
            <a:xfrm>
              <a:off x="3503625" y="1755756"/>
              <a:ext cx="1158875"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810" name="AutoShape 33"/>
            <p:cNvCxnSpPr>
              <a:cxnSpLocks noChangeShapeType="1"/>
            </p:cNvCxnSpPr>
            <p:nvPr/>
          </p:nvCxnSpPr>
          <p:spPr bwMode="auto">
            <a:xfrm flipV="1">
              <a:off x="4840300" y="1287443"/>
              <a:ext cx="579438" cy="381001"/>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811" name="AutoShape 36"/>
            <p:cNvCxnSpPr>
              <a:cxnSpLocks noChangeShapeType="1"/>
            </p:cNvCxnSpPr>
            <p:nvPr/>
          </p:nvCxnSpPr>
          <p:spPr bwMode="auto">
            <a:xfrm>
              <a:off x="5599125" y="1241405"/>
              <a:ext cx="417513" cy="42703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sp>
          <p:nvSpPr>
            <p:cNvPr id="30812" name="Text Box 42"/>
            <p:cNvSpPr txBox="1">
              <a:spLocks noChangeArrowheads="1"/>
            </p:cNvSpPr>
            <p:nvPr/>
          </p:nvSpPr>
          <p:spPr bwMode="auto">
            <a:xfrm>
              <a:off x="3214700" y="1581131"/>
              <a:ext cx="407988" cy="368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700">
                  <a:latin typeface="Times New Roman" panose="02020603050405020304" pitchFamily="18" charset="0"/>
                </a:rPr>
                <a:t>4</a:t>
              </a:r>
              <a:endParaRPr lang="zh-CN" altLang="zh-CN" sz="1800">
                <a:latin typeface="Arial" panose="020B0604020202020204" pitchFamily="34" charset="0"/>
              </a:endParaRPr>
            </a:p>
          </p:txBody>
        </p:sp>
        <p:sp>
          <p:nvSpPr>
            <p:cNvPr id="30813" name="Text Box 51"/>
            <p:cNvSpPr txBox="1">
              <a:spLocks noChangeArrowheads="1"/>
            </p:cNvSpPr>
            <p:nvPr/>
          </p:nvSpPr>
          <p:spPr bwMode="auto">
            <a:xfrm>
              <a:off x="3071804" y="1914506"/>
              <a:ext cx="571502" cy="300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r>
                <a:rPr lang="en-US" altLang="zh-CN" sz="1600" b="1">
                  <a:solidFill>
                    <a:srgbClr val="FF0000"/>
                  </a:solidFill>
                  <a:latin typeface="Times New Roman" panose="02020603050405020304" pitchFamily="18" charset="0"/>
                </a:rPr>
                <a:t>2</a:t>
              </a:r>
              <a:endParaRPr lang="zh-CN" altLang="zh-CN" sz="1600" b="1">
                <a:solidFill>
                  <a:srgbClr val="FF0000"/>
                </a:solidFill>
                <a:latin typeface="Arial" panose="020B0604020202020204" pitchFamily="34" charset="0"/>
              </a:endParaRPr>
            </a:p>
          </p:txBody>
        </p:sp>
        <p:sp>
          <p:nvSpPr>
            <p:cNvPr id="30814" name="Text Box 51"/>
            <p:cNvSpPr txBox="1">
              <a:spLocks noChangeArrowheads="1"/>
            </p:cNvSpPr>
            <p:nvPr/>
          </p:nvSpPr>
          <p:spPr bwMode="auto">
            <a:xfrm>
              <a:off x="2643200" y="2071669"/>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2</a:t>
              </a:r>
              <a:endParaRPr lang="zh-CN" altLang="zh-CN" sz="1400" b="1">
                <a:latin typeface="Arial" panose="020B0604020202020204" pitchFamily="34" charset="0"/>
              </a:endParaRPr>
            </a:p>
          </p:txBody>
        </p:sp>
        <p:sp>
          <p:nvSpPr>
            <p:cNvPr id="30815" name="Text Box 51"/>
            <p:cNvSpPr txBox="1">
              <a:spLocks noChangeArrowheads="1"/>
            </p:cNvSpPr>
            <p:nvPr/>
          </p:nvSpPr>
          <p:spPr bwMode="auto">
            <a:xfrm>
              <a:off x="3286138" y="1571606"/>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solidFill>
                    <a:srgbClr val="FF0000"/>
                  </a:solidFill>
                  <a:latin typeface="Times New Roman" panose="02020603050405020304" pitchFamily="18" charset="0"/>
                </a:rPr>
                <a:t>4</a:t>
              </a:r>
              <a:endParaRPr lang="zh-CN" altLang="zh-CN" sz="1400" b="1">
                <a:solidFill>
                  <a:srgbClr val="FF0000"/>
                </a:solidFill>
                <a:latin typeface="Arial" panose="020B0604020202020204" pitchFamily="34" charset="0"/>
              </a:endParaRPr>
            </a:p>
          </p:txBody>
        </p:sp>
        <p:sp>
          <p:nvSpPr>
            <p:cNvPr id="30816" name="Text Box 51"/>
            <p:cNvSpPr txBox="1">
              <a:spLocks noChangeArrowheads="1"/>
            </p:cNvSpPr>
            <p:nvPr/>
          </p:nvSpPr>
          <p:spPr bwMode="auto">
            <a:xfrm>
              <a:off x="4652975" y="1643044"/>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8</a:t>
              </a:r>
              <a:endParaRPr lang="zh-CN" altLang="zh-CN" sz="1400" b="1">
                <a:latin typeface="Arial" panose="020B0604020202020204" pitchFamily="34" charset="0"/>
              </a:endParaRPr>
            </a:p>
          </p:txBody>
        </p:sp>
        <p:sp>
          <p:nvSpPr>
            <p:cNvPr id="30817" name="Text Box 51"/>
            <p:cNvSpPr txBox="1">
              <a:spLocks noChangeArrowheads="1"/>
            </p:cNvSpPr>
            <p:nvPr/>
          </p:nvSpPr>
          <p:spPr bwMode="auto">
            <a:xfrm>
              <a:off x="5367350" y="1071543"/>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10</a:t>
              </a:r>
              <a:endParaRPr lang="zh-CN" altLang="zh-CN" sz="1400" b="1">
                <a:latin typeface="Arial" panose="020B0604020202020204" pitchFamily="34" charset="0"/>
              </a:endParaRPr>
            </a:p>
          </p:txBody>
        </p:sp>
        <p:sp>
          <p:nvSpPr>
            <p:cNvPr id="30818" name="Text Box 51"/>
            <p:cNvSpPr txBox="1">
              <a:spLocks noChangeArrowheads="1"/>
            </p:cNvSpPr>
            <p:nvPr/>
          </p:nvSpPr>
          <p:spPr bwMode="auto">
            <a:xfrm>
              <a:off x="2143138" y="1571606"/>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s</a:t>
              </a:r>
              <a:endParaRPr lang="zh-CN" altLang="zh-CN" sz="1400" b="1" i="1">
                <a:latin typeface="Arial" panose="020B0604020202020204" pitchFamily="34" charset="0"/>
              </a:endParaRPr>
            </a:p>
          </p:txBody>
        </p:sp>
        <p:sp>
          <p:nvSpPr>
            <p:cNvPr id="30819" name="Text Box 51"/>
            <p:cNvSpPr txBox="1">
              <a:spLocks noChangeArrowheads="1"/>
            </p:cNvSpPr>
            <p:nvPr/>
          </p:nvSpPr>
          <p:spPr bwMode="auto">
            <a:xfrm>
              <a:off x="6010288" y="1571606"/>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t</a:t>
              </a:r>
              <a:endParaRPr lang="zh-CN" altLang="zh-CN" sz="1400" b="1" i="1">
                <a:latin typeface="Arial" panose="020B0604020202020204" pitchFamily="34" charset="0"/>
              </a:endParaRPr>
            </a:p>
          </p:txBody>
        </p:sp>
        <p:sp>
          <p:nvSpPr>
            <p:cNvPr id="30820" name="Text Box 51"/>
            <p:cNvSpPr txBox="1">
              <a:spLocks noChangeArrowheads="1"/>
            </p:cNvSpPr>
            <p:nvPr/>
          </p:nvSpPr>
          <p:spPr bwMode="auto">
            <a:xfrm>
              <a:off x="2428862" y="1771631"/>
              <a:ext cx="500064" cy="300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a:t>
              </a:r>
              <a:r>
                <a:rPr lang="en-US" altLang="zh-CN" sz="1600" b="1">
                  <a:solidFill>
                    <a:srgbClr val="FF0000"/>
                  </a:solidFill>
                  <a:latin typeface="Times New Roman" panose="02020603050405020304" pitchFamily="18" charset="0"/>
                </a:rPr>
                <a:t>2</a:t>
              </a:r>
              <a:endParaRPr lang="zh-CN" altLang="zh-CN" sz="1600" b="1">
                <a:solidFill>
                  <a:srgbClr val="FF0000"/>
                </a:solidFill>
                <a:latin typeface="Arial" panose="020B0604020202020204" pitchFamily="34" charset="0"/>
              </a:endParaRPr>
            </a:p>
          </p:txBody>
        </p:sp>
        <p:sp>
          <p:nvSpPr>
            <p:cNvPr id="30821" name="Text Box 51"/>
            <p:cNvSpPr txBox="1">
              <a:spLocks noChangeArrowheads="1"/>
            </p:cNvSpPr>
            <p:nvPr/>
          </p:nvSpPr>
          <p:spPr bwMode="auto">
            <a:xfrm>
              <a:off x="5715038" y="1214422"/>
              <a:ext cx="500092" cy="30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r>
                <a:rPr lang="en-US" altLang="zh-CN" sz="1600" b="1">
                  <a:solidFill>
                    <a:srgbClr val="FF0000"/>
                  </a:solidFill>
                  <a:latin typeface="Times New Roman" panose="02020603050405020304" pitchFamily="18" charset="0"/>
                </a:rPr>
                <a:t>2</a:t>
              </a:r>
              <a:endParaRPr lang="zh-CN" altLang="zh-CN" sz="1600" b="1">
                <a:solidFill>
                  <a:srgbClr val="FF0000"/>
                </a:solidFill>
                <a:latin typeface="Arial" panose="020B0604020202020204" pitchFamily="34" charset="0"/>
              </a:endParaRPr>
            </a:p>
          </p:txBody>
        </p:sp>
        <p:sp>
          <p:nvSpPr>
            <p:cNvPr id="30822" name="Text Box 51"/>
            <p:cNvSpPr txBox="1">
              <a:spLocks noChangeArrowheads="1"/>
            </p:cNvSpPr>
            <p:nvPr/>
          </p:nvSpPr>
          <p:spPr bwMode="auto">
            <a:xfrm>
              <a:off x="4786314" y="1214422"/>
              <a:ext cx="490529"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r>
                <a:rPr lang="en-US" altLang="zh-CN" sz="1600" b="1">
                  <a:solidFill>
                    <a:srgbClr val="FF0000"/>
                  </a:solidFill>
                  <a:latin typeface="Times New Roman" panose="02020603050405020304" pitchFamily="18" charset="0"/>
                </a:rPr>
                <a:t>2</a:t>
              </a:r>
              <a:endParaRPr lang="zh-CN" altLang="zh-CN" sz="1600" b="1">
                <a:solidFill>
                  <a:srgbClr val="FF0000"/>
                </a:solidFill>
                <a:latin typeface="Arial" panose="020B0604020202020204" pitchFamily="34" charset="0"/>
              </a:endParaRPr>
            </a:p>
          </p:txBody>
        </p:sp>
        <p:sp>
          <p:nvSpPr>
            <p:cNvPr id="30823" name="Text Box 51"/>
            <p:cNvSpPr txBox="1">
              <a:spLocks noChangeArrowheads="1"/>
            </p:cNvSpPr>
            <p:nvPr/>
          </p:nvSpPr>
          <p:spPr bwMode="auto">
            <a:xfrm>
              <a:off x="3786182" y="1500154"/>
              <a:ext cx="571502" cy="357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a:t>
              </a:r>
              <a:r>
                <a:rPr lang="en-US" altLang="zh-CN" sz="1600" b="1">
                  <a:solidFill>
                    <a:srgbClr val="FF0000"/>
                  </a:solidFill>
                  <a:latin typeface="Times New Roman" panose="02020603050405020304" pitchFamily="18" charset="0"/>
                </a:rPr>
                <a:t>2</a:t>
              </a:r>
              <a:endParaRPr lang="zh-CN" altLang="zh-CN" sz="1600" b="1">
                <a:solidFill>
                  <a:srgbClr val="FF0000"/>
                </a:solidFill>
                <a:latin typeface="Arial" panose="020B0604020202020204" pitchFamily="34" charset="0"/>
              </a:endParaRPr>
            </a:p>
          </p:txBody>
        </p:sp>
      </p:grpSp>
      <p:grpSp>
        <p:nvGrpSpPr>
          <p:cNvPr id="3" name="组合 94"/>
          <p:cNvGrpSpPr/>
          <p:nvPr/>
        </p:nvGrpSpPr>
        <p:grpSpPr bwMode="auto">
          <a:xfrm>
            <a:off x="2643188" y="2071688"/>
            <a:ext cx="4286250" cy="1285875"/>
            <a:chOff x="2643174" y="2071686"/>
            <a:chExt cx="4286250" cy="1285876"/>
          </a:xfrm>
        </p:grpSpPr>
        <p:sp>
          <p:nvSpPr>
            <p:cNvPr id="30785" name="Oval 6"/>
            <p:cNvSpPr>
              <a:spLocks noChangeArrowheads="1"/>
            </p:cNvSpPr>
            <p:nvPr/>
          </p:nvSpPr>
          <p:spPr bwMode="auto">
            <a:xfrm>
              <a:off x="2662224" y="2609849"/>
              <a:ext cx="195262"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786" name="Oval 9"/>
            <p:cNvSpPr>
              <a:spLocks noChangeArrowheads="1"/>
            </p:cNvSpPr>
            <p:nvPr/>
          </p:nvSpPr>
          <p:spPr bwMode="auto">
            <a:xfrm>
              <a:off x="3209911" y="3132137"/>
              <a:ext cx="196850"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787" name="Oval 14"/>
            <p:cNvSpPr>
              <a:spLocks noChangeArrowheads="1"/>
            </p:cNvSpPr>
            <p:nvPr/>
          </p:nvSpPr>
          <p:spPr bwMode="auto">
            <a:xfrm>
              <a:off x="5162536" y="2646362"/>
              <a:ext cx="195263"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788" name="Oval 15"/>
            <p:cNvSpPr>
              <a:spLocks noChangeArrowheads="1"/>
            </p:cNvSpPr>
            <p:nvPr/>
          </p:nvSpPr>
          <p:spPr bwMode="auto">
            <a:xfrm>
              <a:off x="5903899" y="2087561"/>
              <a:ext cx="195262"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789" name="Oval 17"/>
            <p:cNvSpPr>
              <a:spLocks noChangeArrowheads="1"/>
            </p:cNvSpPr>
            <p:nvPr/>
          </p:nvSpPr>
          <p:spPr bwMode="auto">
            <a:xfrm>
              <a:off x="6516674" y="2646362"/>
              <a:ext cx="196850" cy="2095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30790" name="AutoShape 21"/>
            <p:cNvCxnSpPr>
              <a:cxnSpLocks noChangeShapeType="1"/>
            </p:cNvCxnSpPr>
            <p:nvPr/>
          </p:nvCxnSpPr>
          <p:spPr bwMode="auto">
            <a:xfrm>
              <a:off x="2809861" y="2800349"/>
              <a:ext cx="400050" cy="38258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791" name="AutoShape 33"/>
            <p:cNvCxnSpPr>
              <a:cxnSpLocks noChangeShapeType="1"/>
            </p:cNvCxnSpPr>
            <p:nvPr/>
          </p:nvCxnSpPr>
          <p:spPr bwMode="auto">
            <a:xfrm flipV="1">
              <a:off x="5340336" y="2287586"/>
              <a:ext cx="579438" cy="381001"/>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792" name="AutoShape 36"/>
            <p:cNvCxnSpPr>
              <a:cxnSpLocks noChangeShapeType="1"/>
            </p:cNvCxnSpPr>
            <p:nvPr/>
          </p:nvCxnSpPr>
          <p:spPr bwMode="auto">
            <a:xfrm>
              <a:off x="6099161" y="2241548"/>
              <a:ext cx="417513" cy="42703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sp>
          <p:nvSpPr>
            <p:cNvPr id="30793" name="Text Box 51"/>
            <p:cNvSpPr txBox="1">
              <a:spLocks noChangeArrowheads="1"/>
            </p:cNvSpPr>
            <p:nvPr/>
          </p:nvSpPr>
          <p:spPr bwMode="auto">
            <a:xfrm>
              <a:off x="3143236" y="3071812"/>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2</a:t>
              </a:r>
              <a:endParaRPr lang="zh-CN" altLang="zh-CN" sz="1400" b="1">
                <a:latin typeface="Arial" panose="020B0604020202020204" pitchFamily="34" charset="0"/>
              </a:endParaRPr>
            </a:p>
          </p:txBody>
        </p:sp>
        <p:sp>
          <p:nvSpPr>
            <p:cNvPr id="30794" name="Text Box 51"/>
            <p:cNvSpPr txBox="1">
              <a:spLocks noChangeArrowheads="1"/>
            </p:cNvSpPr>
            <p:nvPr/>
          </p:nvSpPr>
          <p:spPr bwMode="auto">
            <a:xfrm>
              <a:off x="5153011" y="2643187"/>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8</a:t>
              </a:r>
              <a:endParaRPr lang="zh-CN" altLang="zh-CN" sz="1400" b="1">
                <a:latin typeface="Arial" panose="020B0604020202020204" pitchFamily="34" charset="0"/>
              </a:endParaRPr>
            </a:p>
          </p:txBody>
        </p:sp>
        <p:sp>
          <p:nvSpPr>
            <p:cNvPr id="30795" name="Text Box 51"/>
            <p:cNvSpPr txBox="1">
              <a:spLocks noChangeArrowheads="1"/>
            </p:cNvSpPr>
            <p:nvPr/>
          </p:nvSpPr>
          <p:spPr bwMode="auto">
            <a:xfrm>
              <a:off x="5867386" y="2071686"/>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10</a:t>
              </a:r>
              <a:endParaRPr lang="zh-CN" altLang="zh-CN" sz="1400" b="1">
                <a:latin typeface="Arial" panose="020B0604020202020204" pitchFamily="34" charset="0"/>
              </a:endParaRPr>
            </a:p>
          </p:txBody>
        </p:sp>
        <p:sp>
          <p:nvSpPr>
            <p:cNvPr id="30796" name="Text Box 51"/>
            <p:cNvSpPr txBox="1">
              <a:spLocks noChangeArrowheads="1"/>
            </p:cNvSpPr>
            <p:nvPr/>
          </p:nvSpPr>
          <p:spPr bwMode="auto">
            <a:xfrm>
              <a:off x="2643174" y="2571749"/>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s</a:t>
              </a:r>
              <a:endParaRPr lang="zh-CN" altLang="zh-CN" sz="1400" b="1" i="1">
                <a:latin typeface="Arial" panose="020B0604020202020204" pitchFamily="34" charset="0"/>
              </a:endParaRPr>
            </a:p>
          </p:txBody>
        </p:sp>
        <p:sp>
          <p:nvSpPr>
            <p:cNvPr id="30797" name="Text Box 51"/>
            <p:cNvSpPr txBox="1">
              <a:spLocks noChangeArrowheads="1"/>
            </p:cNvSpPr>
            <p:nvPr/>
          </p:nvSpPr>
          <p:spPr bwMode="auto">
            <a:xfrm>
              <a:off x="6510324" y="2571749"/>
              <a:ext cx="4191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t</a:t>
              </a:r>
              <a:endParaRPr lang="zh-CN" altLang="zh-CN" sz="1400" b="1" i="1">
                <a:latin typeface="Arial" panose="020B0604020202020204" pitchFamily="34" charset="0"/>
              </a:endParaRPr>
            </a:p>
          </p:txBody>
        </p:sp>
        <p:sp>
          <p:nvSpPr>
            <p:cNvPr id="30798" name="Text Box 51"/>
            <p:cNvSpPr txBox="1">
              <a:spLocks noChangeArrowheads="1"/>
            </p:cNvSpPr>
            <p:nvPr/>
          </p:nvSpPr>
          <p:spPr bwMode="auto">
            <a:xfrm>
              <a:off x="2928898" y="2771774"/>
              <a:ext cx="500064" cy="300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solidFill>
                  <a:srgbClr val="FF0000"/>
                </a:solidFill>
                <a:latin typeface="Arial" panose="020B0604020202020204" pitchFamily="34" charset="0"/>
              </a:endParaRPr>
            </a:p>
          </p:txBody>
        </p:sp>
        <p:sp>
          <p:nvSpPr>
            <p:cNvPr id="30799" name="Text Box 51"/>
            <p:cNvSpPr txBox="1">
              <a:spLocks noChangeArrowheads="1"/>
            </p:cNvSpPr>
            <p:nvPr/>
          </p:nvSpPr>
          <p:spPr bwMode="auto">
            <a:xfrm>
              <a:off x="6215074" y="2214565"/>
              <a:ext cx="500092" cy="30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1</a:t>
              </a:r>
              <a:endParaRPr lang="zh-CN" altLang="zh-CN" sz="1600" b="1">
                <a:solidFill>
                  <a:srgbClr val="FF0000"/>
                </a:solidFill>
                <a:latin typeface="Arial" panose="020B0604020202020204" pitchFamily="34" charset="0"/>
              </a:endParaRPr>
            </a:p>
          </p:txBody>
        </p:sp>
        <p:sp>
          <p:nvSpPr>
            <p:cNvPr id="30800" name="Text Box 51"/>
            <p:cNvSpPr txBox="1">
              <a:spLocks noChangeArrowheads="1"/>
            </p:cNvSpPr>
            <p:nvPr/>
          </p:nvSpPr>
          <p:spPr bwMode="auto">
            <a:xfrm>
              <a:off x="5438793" y="2214565"/>
              <a:ext cx="490529"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1</a:t>
              </a:r>
              <a:endParaRPr lang="zh-CN" altLang="zh-CN" sz="1600" b="1">
                <a:solidFill>
                  <a:srgbClr val="FF0000"/>
                </a:solidFill>
                <a:latin typeface="Arial" panose="020B0604020202020204" pitchFamily="34" charset="0"/>
              </a:endParaRPr>
            </a:p>
          </p:txBody>
        </p:sp>
      </p:grpSp>
      <p:grpSp>
        <p:nvGrpSpPr>
          <p:cNvPr id="4" name="组合 164"/>
          <p:cNvGrpSpPr/>
          <p:nvPr/>
        </p:nvGrpSpPr>
        <p:grpSpPr bwMode="auto">
          <a:xfrm>
            <a:off x="1571625" y="3714750"/>
            <a:ext cx="6429375" cy="2357438"/>
            <a:chOff x="1571604" y="3714768"/>
            <a:chExt cx="6429420" cy="2357438"/>
          </a:xfrm>
        </p:grpSpPr>
        <p:sp>
          <p:nvSpPr>
            <p:cNvPr id="30727" name="Text Box 51"/>
            <p:cNvSpPr txBox="1">
              <a:spLocks noChangeArrowheads="1"/>
            </p:cNvSpPr>
            <p:nvPr/>
          </p:nvSpPr>
          <p:spPr bwMode="auto">
            <a:xfrm>
              <a:off x="1571604" y="4429143"/>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5,3</a:t>
              </a:r>
              <a:endParaRPr lang="zh-CN" altLang="zh-CN" sz="1600" b="1">
                <a:latin typeface="Arial" panose="020B0604020202020204" pitchFamily="34" charset="0"/>
              </a:endParaRPr>
            </a:p>
          </p:txBody>
        </p:sp>
        <p:sp>
          <p:nvSpPr>
            <p:cNvPr id="30728" name="Oval 6"/>
            <p:cNvSpPr>
              <a:spLocks noChangeArrowheads="1"/>
            </p:cNvSpPr>
            <p:nvPr/>
          </p:nvSpPr>
          <p:spPr bwMode="auto">
            <a:xfrm>
              <a:off x="1589911" y="4824426"/>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729" name="Oval 7"/>
            <p:cNvSpPr>
              <a:spLocks noChangeArrowheads="1"/>
            </p:cNvSpPr>
            <p:nvPr/>
          </p:nvSpPr>
          <p:spPr bwMode="auto">
            <a:xfrm>
              <a:off x="2121972" y="4293073"/>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730" name="Oval 8"/>
            <p:cNvSpPr>
              <a:spLocks noChangeArrowheads="1"/>
            </p:cNvSpPr>
            <p:nvPr/>
          </p:nvSpPr>
          <p:spPr bwMode="auto">
            <a:xfrm>
              <a:off x="2752597" y="3761721"/>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731" name="Oval 9"/>
            <p:cNvSpPr>
              <a:spLocks noChangeArrowheads="1"/>
            </p:cNvSpPr>
            <p:nvPr/>
          </p:nvSpPr>
          <p:spPr bwMode="auto">
            <a:xfrm>
              <a:off x="2139016" y="5346617"/>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732" name="Oval 10"/>
            <p:cNvSpPr>
              <a:spLocks noChangeArrowheads="1"/>
            </p:cNvSpPr>
            <p:nvPr/>
          </p:nvSpPr>
          <p:spPr bwMode="auto">
            <a:xfrm>
              <a:off x="2718509" y="5832163"/>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733" name="Oval 11"/>
            <p:cNvSpPr>
              <a:spLocks noChangeArrowheads="1"/>
            </p:cNvSpPr>
            <p:nvPr/>
          </p:nvSpPr>
          <p:spPr bwMode="auto">
            <a:xfrm>
              <a:off x="2735553" y="4851908"/>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734" name="Oval 12"/>
            <p:cNvSpPr>
              <a:spLocks noChangeArrowheads="1"/>
            </p:cNvSpPr>
            <p:nvPr/>
          </p:nvSpPr>
          <p:spPr bwMode="auto">
            <a:xfrm>
              <a:off x="3451398" y="4283911"/>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735" name="Oval 13"/>
            <p:cNvSpPr>
              <a:spLocks noChangeArrowheads="1"/>
            </p:cNvSpPr>
            <p:nvPr/>
          </p:nvSpPr>
          <p:spPr bwMode="auto">
            <a:xfrm>
              <a:off x="3476963" y="5374101"/>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736" name="Oval 14"/>
            <p:cNvSpPr>
              <a:spLocks noChangeArrowheads="1"/>
            </p:cNvSpPr>
            <p:nvPr/>
          </p:nvSpPr>
          <p:spPr bwMode="auto">
            <a:xfrm>
              <a:off x="4090545" y="4861070"/>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737" name="Oval 15"/>
            <p:cNvSpPr>
              <a:spLocks noChangeArrowheads="1"/>
            </p:cNvSpPr>
            <p:nvPr/>
          </p:nvSpPr>
          <p:spPr bwMode="auto">
            <a:xfrm>
              <a:off x="4831956" y="4302234"/>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738" name="Oval 17"/>
            <p:cNvSpPr>
              <a:spLocks noChangeArrowheads="1"/>
            </p:cNvSpPr>
            <p:nvPr/>
          </p:nvSpPr>
          <p:spPr bwMode="auto">
            <a:xfrm>
              <a:off x="5445538" y="4861070"/>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739" name="Oval 18"/>
            <p:cNvSpPr>
              <a:spLocks noChangeArrowheads="1"/>
            </p:cNvSpPr>
            <p:nvPr/>
          </p:nvSpPr>
          <p:spPr bwMode="auto">
            <a:xfrm>
              <a:off x="4073501" y="5832163"/>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30740" name="AutoShape 19"/>
            <p:cNvCxnSpPr>
              <a:cxnSpLocks noChangeShapeType="1"/>
            </p:cNvCxnSpPr>
            <p:nvPr/>
          </p:nvCxnSpPr>
          <p:spPr bwMode="auto">
            <a:xfrm flipV="1">
              <a:off x="1738484" y="4493476"/>
              <a:ext cx="392010" cy="349272"/>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741" name="AutoShape 20"/>
            <p:cNvCxnSpPr>
              <a:cxnSpLocks noChangeShapeType="1"/>
            </p:cNvCxnSpPr>
            <p:nvPr/>
          </p:nvCxnSpPr>
          <p:spPr bwMode="auto">
            <a:xfrm flipV="1">
              <a:off x="2326499" y="3946089"/>
              <a:ext cx="434620" cy="38362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742" name="AutoShape 21"/>
            <p:cNvCxnSpPr>
              <a:cxnSpLocks noChangeShapeType="1"/>
            </p:cNvCxnSpPr>
            <p:nvPr/>
          </p:nvCxnSpPr>
          <p:spPr bwMode="auto">
            <a:xfrm>
              <a:off x="1738484" y="5015666"/>
              <a:ext cx="400532" cy="381337"/>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743" name="AutoShape 22"/>
            <p:cNvCxnSpPr>
              <a:cxnSpLocks noChangeShapeType="1"/>
            </p:cNvCxnSpPr>
            <p:nvPr/>
          </p:nvCxnSpPr>
          <p:spPr bwMode="auto">
            <a:xfrm>
              <a:off x="2317977" y="5547020"/>
              <a:ext cx="400532"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744" name="AutoShape 23"/>
            <p:cNvCxnSpPr>
              <a:cxnSpLocks noChangeShapeType="1"/>
            </p:cNvCxnSpPr>
            <p:nvPr/>
          </p:nvCxnSpPr>
          <p:spPr bwMode="auto">
            <a:xfrm>
              <a:off x="2317977" y="4493476"/>
              <a:ext cx="417576" cy="376755"/>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745" name="AutoShape 24"/>
            <p:cNvCxnSpPr>
              <a:cxnSpLocks noChangeShapeType="1"/>
            </p:cNvCxnSpPr>
            <p:nvPr/>
          </p:nvCxnSpPr>
          <p:spPr bwMode="auto">
            <a:xfrm>
              <a:off x="2948602" y="3946089"/>
              <a:ext cx="528361" cy="38362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746" name="AutoShape 25"/>
            <p:cNvCxnSpPr>
              <a:cxnSpLocks noChangeShapeType="1"/>
            </p:cNvCxnSpPr>
            <p:nvPr/>
          </p:nvCxnSpPr>
          <p:spPr bwMode="auto">
            <a:xfrm flipV="1">
              <a:off x="2326499" y="5033989"/>
              <a:ext cx="409054" cy="363015"/>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747" name="AutoShape 26"/>
            <p:cNvCxnSpPr>
              <a:cxnSpLocks noChangeShapeType="1"/>
            </p:cNvCxnSpPr>
            <p:nvPr/>
          </p:nvCxnSpPr>
          <p:spPr bwMode="auto">
            <a:xfrm flipV="1">
              <a:off x="2931558" y="4456830"/>
              <a:ext cx="545406" cy="42599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748" name="AutoShape 27"/>
            <p:cNvCxnSpPr>
              <a:cxnSpLocks noChangeShapeType="1"/>
            </p:cNvCxnSpPr>
            <p:nvPr/>
          </p:nvCxnSpPr>
          <p:spPr bwMode="auto">
            <a:xfrm flipV="1">
              <a:off x="2270041" y="3971284"/>
              <a:ext cx="566711" cy="137533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749" name="AutoShape 28"/>
            <p:cNvCxnSpPr>
              <a:cxnSpLocks noChangeShapeType="1"/>
            </p:cNvCxnSpPr>
            <p:nvPr/>
          </p:nvCxnSpPr>
          <p:spPr bwMode="auto">
            <a:xfrm>
              <a:off x="3647403" y="4404153"/>
              <a:ext cx="1184553"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750" name="AutoShape 29"/>
            <p:cNvCxnSpPr>
              <a:cxnSpLocks noChangeShapeType="1"/>
            </p:cNvCxnSpPr>
            <p:nvPr/>
          </p:nvCxnSpPr>
          <p:spPr bwMode="auto">
            <a:xfrm>
              <a:off x="2931558" y="4969859"/>
              <a:ext cx="1158987"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751" name="AutoShape 30"/>
            <p:cNvCxnSpPr>
              <a:cxnSpLocks noChangeShapeType="1"/>
            </p:cNvCxnSpPr>
            <p:nvPr/>
          </p:nvCxnSpPr>
          <p:spPr bwMode="auto">
            <a:xfrm>
              <a:off x="2914514" y="5033989"/>
              <a:ext cx="579494" cy="40195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752" name="AutoShape 31"/>
            <p:cNvCxnSpPr>
              <a:cxnSpLocks noChangeShapeType="1"/>
            </p:cNvCxnSpPr>
            <p:nvPr/>
          </p:nvCxnSpPr>
          <p:spPr bwMode="auto">
            <a:xfrm flipV="1">
              <a:off x="2914514" y="5547020"/>
              <a:ext cx="562450"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753" name="AutoShape 32"/>
            <p:cNvCxnSpPr>
              <a:cxnSpLocks noChangeShapeType="1"/>
            </p:cNvCxnSpPr>
            <p:nvPr/>
          </p:nvCxnSpPr>
          <p:spPr bwMode="auto">
            <a:xfrm>
              <a:off x="3647403" y="5547020"/>
              <a:ext cx="443142"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754" name="AutoShape 33"/>
            <p:cNvCxnSpPr>
              <a:cxnSpLocks noChangeShapeType="1"/>
            </p:cNvCxnSpPr>
            <p:nvPr/>
          </p:nvCxnSpPr>
          <p:spPr bwMode="auto">
            <a:xfrm flipV="1">
              <a:off x="4269507" y="4502637"/>
              <a:ext cx="579494" cy="380192"/>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0755" name="AutoShape 36"/>
            <p:cNvCxnSpPr>
              <a:cxnSpLocks noChangeShapeType="1"/>
            </p:cNvCxnSpPr>
            <p:nvPr/>
          </p:nvCxnSpPr>
          <p:spPr bwMode="auto">
            <a:xfrm>
              <a:off x="5027961" y="4456830"/>
              <a:ext cx="417576" cy="42599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sp>
          <p:nvSpPr>
            <p:cNvPr id="30756" name="Text Box 44"/>
            <p:cNvSpPr txBox="1">
              <a:spLocks noChangeArrowheads="1"/>
            </p:cNvSpPr>
            <p:nvPr/>
          </p:nvSpPr>
          <p:spPr bwMode="auto">
            <a:xfrm>
              <a:off x="3358721" y="4227799"/>
              <a:ext cx="407989" cy="36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700">
                  <a:latin typeface="Times New Roman" panose="02020603050405020304" pitchFamily="18" charset="0"/>
                </a:rPr>
                <a:t>6</a:t>
              </a:r>
              <a:endParaRPr lang="zh-CN" altLang="zh-CN" sz="1800">
                <a:latin typeface="Arial" panose="020B0604020202020204" pitchFamily="34" charset="0"/>
              </a:endParaRPr>
            </a:p>
          </p:txBody>
        </p:sp>
        <p:sp>
          <p:nvSpPr>
            <p:cNvPr id="30757" name="Text Box 51"/>
            <p:cNvSpPr txBox="1">
              <a:spLocks noChangeArrowheads="1"/>
            </p:cNvSpPr>
            <p:nvPr/>
          </p:nvSpPr>
          <p:spPr bwMode="auto">
            <a:xfrm>
              <a:off x="2071666" y="3929081"/>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1,1</a:t>
              </a:r>
              <a:endParaRPr lang="zh-CN" altLang="zh-CN" sz="1600" b="1">
                <a:latin typeface="Arial" panose="020B0604020202020204" pitchFamily="34" charset="0"/>
              </a:endParaRPr>
            </a:p>
          </p:txBody>
        </p:sp>
        <p:sp>
          <p:nvSpPr>
            <p:cNvPr id="30758" name="Text Box 51"/>
            <p:cNvSpPr txBox="1">
              <a:spLocks noChangeArrowheads="1"/>
            </p:cNvSpPr>
            <p:nvPr/>
          </p:nvSpPr>
          <p:spPr bwMode="auto">
            <a:xfrm>
              <a:off x="1571604" y="5128525"/>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4,2</a:t>
              </a:r>
              <a:endParaRPr lang="zh-CN" altLang="zh-CN" sz="1600" b="1">
                <a:latin typeface="Arial" panose="020B0604020202020204" pitchFamily="34" charset="0"/>
              </a:endParaRPr>
            </a:p>
          </p:txBody>
        </p:sp>
        <p:sp>
          <p:nvSpPr>
            <p:cNvPr id="30759" name="Text Box 51"/>
            <p:cNvSpPr txBox="1">
              <a:spLocks noChangeArrowheads="1"/>
            </p:cNvSpPr>
            <p:nvPr/>
          </p:nvSpPr>
          <p:spPr bwMode="auto">
            <a:xfrm>
              <a:off x="2071666" y="4500581"/>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2,2</a:t>
              </a:r>
              <a:endParaRPr lang="zh-CN" altLang="zh-CN" sz="1600" b="1">
                <a:latin typeface="Arial" panose="020B0604020202020204" pitchFamily="34" charset="0"/>
              </a:endParaRPr>
            </a:p>
          </p:txBody>
        </p:sp>
        <p:sp>
          <p:nvSpPr>
            <p:cNvPr id="30760" name="Text Box 51"/>
            <p:cNvSpPr txBox="1">
              <a:spLocks noChangeArrowheads="1"/>
            </p:cNvSpPr>
            <p:nvPr/>
          </p:nvSpPr>
          <p:spPr bwMode="auto">
            <a:xfrm>
              <a:off x="2500291" y="5128525"/>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2,2</a:t>
              </a:r>
              <a:endParaRPr lang="zh-CN" altLang="zh-CN" sz="1600" b="1">
                <a:latin typeface="Arial" panose="020B0604020202020204" pitchFamily="34" charset="0"/>
              </a:endParaRPr>
            </a:p>
          </p:txBody>
        </p:sp>
        <p:sp>
          <p:nvSpPr>
            <p:cNvPr id="30761" name="Text Box 51"/>
            <p:cNvSpPr txBox="1">
              <a:spLocks noChangeArrowheads="1"/>
            </p:cNvSpPr>
            <p:nvPr/>
          </p:nvSpPr>
          <p:spPr bwMode="auto">
            <a:xfrm>
              <a:off x="2643166" y="4199838"/>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3,0</a:t>
              </a:r>
              <a:endParaRPr lang="zh-CN" altLang="zh-CN" sz="1600" b="1">
                <a:latin typeface="Arial" panose="020B0604020202020204" pitchFamily="34" charset="0"/>
              </a:endParaRPr>
            </a:p>
          </p:txBody>
        </p:sp>
        <p:sp>
          <p:nvSpPr>
            <p:cNvPr id="30762" name="Text Box 51"/>
            <p:cNvSpPr txBox="1">
              <a:spLocks noChangeArrowheads="1"/>
            </p:cNvSpPr>
            <p:nvPr/>
          </p:nvSpPr>
          <p:spPr bwMode="auto">
            <a:xfrm>
              <a:off x="3143229" y="3857643"/>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4,1</a:t>
              </a:r>
              <a:endParaRPr lang="zh-CN" altLang="zh-CN" sz="1600" b="1">
                <a:latin typeface="Arial" panose="020B0604020202020204" pitchFamily="34" charset="0"/>
              </a:endParaRPr>
            </a:p>
          </p:txBody>
        </p:sp>
        <p:sp>
          <p:nvSpPr>
            <p:cNvPr id="30763" name="Text Box 51"/>
            <p:cNvSpPr txBox="1">
              <a:spLocks noChangeArrowheads="1"/>
            </p:cNvSpPr>
            <p:nvPr/>
          </p:nvSpPr>
          <p:spPr bwMode="auto">
            <a:xfrm>
              <a:off x="2786041" y="4485579"/>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2,2</a:t>
              </a:r>
              <a:endParaRPr lang="zh-CN" altLang="zh-CN" sz="1600" b="1">
                <a:latin typeface="Arial" panose="020B0604020202020204" pitchFamily="34" charset="0"/>
              </a:endParaRPr>
            </a:p>
          </p:txBody>
        </p:sp>
        <p:sp>
          <p:nvSpPr>
            <p:cNvPr id="30764" name="Text Box 51"/>
            <p:cNvSpPr txBox="1">
              <a:spLocks noChangeArrowheads="1"/>
            </p:cNvSpPr>
            <p:nvPr/>
          </p:nvSpPr>
          <p:spPr bwMode="auto">
            <a:xfrm>
              <a:off x="3929041" y="4128400"/>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3,3</a:t>
              </a:r>
              <a:endParaRPr lang="zh-CN" altLang="zh-CN" sz="1600" b="1">
                <a:latin typeface="Arial" panose="020B0604020202020204" pitchFamily="34" charset="0"/>
              </a:endParaRPr>
            </a:p>
          </p:txBody>
        </p:sp>
        <p:sp>
          <p:nvSpPr>
            <p:cNvPr id="30765" name="Text Box 51"/>
            <p:cNvSpPr txBox="1">
              <a:spLocks noChangeArrowheads="1"/>
            </p:cNvSpPr>
            <p:nvPr/>
          </p:nvSpPr>
          <p:spPr bwMode="auto">
            <a:xfrm>
              <a:off x="3428979" y="4699900"/>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4,2</a:t>
              </a:r>
              <a:endParaRPr lang="zh-CN" altLang="zh-CN" sz="1600" b="1">
                <a:latin typeface="Arial" panose="020B0604020202020204" pitchFamily="34" charset="0"/>
              </a:endParaRPr>
            </a:p>
          </p:txBody>
        </p:sp>
        <p:sp>
          <p:nvSpPr>
            <p:cNvPr id="30766" name="Text Box 51"/>
            <p:cNvSpPr txBox="1">
              <a:spLocks noChangeArrowheads="1"/>
            </p:cNvSpPr>
            <p:nvPr/>
          </p:nvSpPr>
          <p:spPr bwMode="auto">
            <a:xfrm>
              <a:off x="3143240" y="5000636"/>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2,0</a:t>
              </a:r>
              <a:endParaRPr lang="zh-CN" altLang="zh-CN" sz="1600" b="1">
                <a:latin typeface="Arial" panose="020B0604020202020204" pitchFamily="34" charset="0"/>
              </a:endParaRPr>
            </a:p>
          </p:txBody>
        </p:sp>
        <p:sp>
          <p:nvSpPr>
            <p:cNvPr id="30767" name="Text Box 51"/>
            <p:cNvSpPr txBox="1">
              <a:spLocks noChangeArrowheads="1"/>
            </p:cNvSpPr>
            <p:nvPr/>
          </p:nvSpPr>
          <p:spPr bwMode="auto">
            <a:xfrm>
              <a:off x="2071666" y="5628588"/>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3,0</a:t>
              </a:r>
              <a:endParaRPr lang="zh-CN" altLang="zh-CN" sz="1600" b="1">
                <a:latin typeface="Arial" panose="020B0604020202020204" pitchFamily="34" charset="0"/>
              </a:endParaRPr>
            </a:p>
          </p:txBody>
        </p:sp>
        <p:sp>
          <p:nvSpPr>
            <p:cNvPr id="30768" name="Text Box 51"/>
            <p:cNvSpPr txBox="1">
              <a:spLocks noChangeArrowheads="1"/>
            </p:cNvSpPr>
            <p:nvPr/>
          </p:nvSpPr>
          <p:spPr bwMode="auto">
            <a:xfrm>
              <a:off x="3143229" y="5643581"/>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3,0</a:t>
              </a:r>
              <a:endParaRPr lang="zh-CN" altLang="zh-CN" sz="1600" b="1">
                <a:latin typeface="Arial" panose="020B0604020202020204" pitchFamily="34" charset="0"/>
              </a:endParaRPr>
            </a:p>
          </p:txBody>
        </p:sp>
        <p:sp>
          <p:nvSpPr>
            <p:cNvPr id="30769" name="Text Box 51"/>
            <p:cNvSpPr txBox="1">
              <a:spLocks noChangeArrowheads="1"/>
            </p:cNvSpPr>
            <p:nvPr/>
          </p:nvSpPr>
          <p:spPr bwMode="auto">
            <a:xfrm>
              <a:off x="3714744" y="5429264"/>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2,0</a:t>
              </a:r>
              <a:endParaRPr lang="zh-CN" altLang="zh-CN" sz="1600" b="1">
                <a:latin typeface="Arial" panose="020B0604020202020204" pitchFamily="34" charset="0"/>
              </a:endParaRPr>
            </a:p>
          </p:txBody>
        </p:sp>
        <p:sp>
          <p:nvSpPr>
            <p:cNvPr id="30770" name="Text Box 51"/>
            <p:cNvSpPr txBox="1">
              <a:spLocks noChangeArrowheads="1"/>
            </p:cNvSpPr>
            <p:nvPr/>
          </p:nvSpPr>
          <p:spPr bwMode="auto">
            <a:xfrm>
              <a:off x="4081440" y="4500581"/>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3,2</a:t>
              </a:r>
              <a:endParaRPr lang="zh-CN" altLang="zh-CN" sz="1600" b="1">
                <a:latin typeface="Arial" panose="020B0604020202020204" pitchFamily="34" charset="0"/>
              </a:endParaRPr>
            </a:p>
          </p:txBody>
        </p:sp>
        <p:sp>
          <p:nvSpPr>
            <p:cNvPr id="30771" name="Text Box 51"/>
            <p:cNvSpPr txBox="1">
              <a:spLocks noChangeArrowheads="1"/>
            </p:cNvSpPr>
            <p:nvPr/>
          </p:nvSpPr>
          <p:spPr bwMode="auto">
            <a:xfrm>
              <a:off x="5214916" y="4485588"/>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6,5</a:t>
              </a:r>
              <a:endParaRPr lang="zh-CN" altLang="zh-CN" sz="1600" b="1">
                <a:latin typeface="Arial" panose="020B0604020202020204" pitchFamily="34" charset="0"/>
              </a:endParaRPr>
            </a:p>
          </p:txBody>
        </p:sp>
        <p:sp>
          <p:nvSpPr>
            <p:cNvPr id="30772" name="Text Box 51"/>
            <p:cNvSpPr txBox="1">
              <a:spLocks noChangeArrowheads="1"/>
            </p:cNvSpPr>
            <p:nvPr/>
          </p:nvSpPr>
          <p:spPr bwMode="auto">
            <a:xfrm>
              <a:off x="2724128" y="3714768"/>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3</a:t>
              </a:r>
              <a:endParaRPr lang="zh-CN" altLang="zh-CN" sz="1400" b="1">
                <a:latin typeface="Arial" panose="020B0604020202020204" pitchFamily="34" charset="0"/>
              </a:endParaRPr>
            </a:p>
          </p:txBody>
        </p:sp>
        <p:sp>
          <p:nvSpPr>
            <p:cNvPr id="30773" name="Text Box 51"/>
            <p:cNvSpPr txBox="1">
              <a:spLocks noChangeArrowheads="1"/>
            </p:cNvSpPr>
            <p:nvPr/>
          </p:nvSpPr>
          <p:spPr bwMode="auto">
            <a:xfrm>
              <a:off x="2071666" y="4286268"/>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a:t>
              </a:r>
              <a:endParaRPr lang="zh-CN" altLang="zh-CN" sz="1400" b="1">
                <a:latin typeface="Arial" panose="020B0604020202020204" pitchFamily="34" charset="0"/>
              </a:endParaRPr>
            </a:p>
          </p:txBody>
        </p:sp>
        <p:sp>
          <p:nvSpPr>
            <p:cNvPr id="30774" name="Text Box 51"/>
            <p:cNvSpPr txBox="1">
              <a:spLocks noChangeArrowheads="1"/>
            </p:cNvSpPr>
            <p:nvPr/>
          </p:nvSpPr>
          <p:spPr bwMode="auto">
            <a:xfrm>
              <a:off x="2071666" y="5286393"/>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2</a:t>
              </a:r>
              <a:endParaRPr lang="zh-CN" altLang="zh-CN" sz="1400" b="1">
                <a:latin typeface="Arial" panose="020B0604020202020204" pitchFamily="34" charset="0"/>
              </a:endParaRPr>
            </a:p>
          </p:txBody>
        </p:sp>
        <p:sp>
          <p:nvSpPr>
            <p:cNvPr id="30775" name="Text Box 51"/>
            <p:cNvSpPr txBox="1">
              <a:spLocks noChangeArrowheads="1"/>
            </p:cNvSpPr>
            <p:nvPr/>
          </p:nvSpPr>
          <p:spPr bwMode="auto">
            <a:xfrm>
              <a:off x="2714604" y="4786331"/>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4</a:t>
              </a:r>
              <a:endParaRPr lang="zh-CN" altLang="zh-CN" sz="1400" b="1">
                <a:latin typeface="Arial" panose="020B0604020202020204" pitchFamily="34" charset="0"/>
              </a:endParaRPr>
            </a:p>
          </p:txBody>
        </p:sp>
        <p:sp>
          <p:nvSpPr>
            <p:cNvPr id="30776" name="Text Box 51"/>
            <p:cNvSpPr txBox="1">
              <a:spLocks noChangeArrowheads="1"/>
            </p:cNvSpPr>
            <p:nvPr/>
          </p:nvSpPr>
          <p:spPr bwMode="auto">
            <a:xfrm>
              <a:off x="2714604" y="5786456"/>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5</a:t>
              </a:r>
              <a:endParaRPr lang="zh-CN" altLang="zh-CN" sz="1400" b="1">
                <a:latin typeface="Arial" panose="020B0604020202020204" pitchFamily="34" charset="0"/>
              </a:endParaRPr>
            </a:p>
          </p:txBody>
        </p:sp>
        <p:sp>
          <p:nvSpPr>
            <p:cNvPr id="30777" name="Text Box 51"/>
            <p:cNvSpPr txBox="1">
              <a:spLocks noChangeArrowheads="1"/>
            </p:cNvSpPr>
            <p:nvPr/>
          </p:nvSpPr>
          <p:spPr bwMode="auto">
            <a:xfrm>
              <a:off x="3438503" y="4214831"/>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6</a:t>
              </a:r>
              <a:endParaRPr lang="zh-CN" altLang="zh-CN" sz="1400" b="1">
                <a:latin typeface="Arial" panose="020B0604020202020204" pitchFamily="34" charset="0"/>
              </a:endParaRPr>
            </a:p>
          </p:txBody>
        </p:sp>
        <p:sp>
          <p:nvSpPr>
            <p:cNvPr id="30778" name="Text Box 51"/>
            <p:cNvSpPr txBox="1">
              <a:spLocks noChangeArrowheads="1"/>
            </p:cNvSpPr>
            <p:nvPr/>
          </p:nvSpPr>
          <p:spPr bwMode="auto">
            <a:xfrm>
              <a:off x="3438503" y="5357831"/>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7</a:t>
              </a:r>
              <a:endParaRPr lang="zh-CN" altLang="zh-CN" sz="1400" b="1">
                <a:latin typeface="Arial" panose="020B0604020202020204" pitchFamily="34" charset="0"/>
              </a:endParaRPr>
            </a:p>
          </p:txBody>
        </p:sp>
        <p:sp>
          <p:nvSpPr>
            <p:cNvPr id="30779" name="Text Box 51"/>
            <p:cNvSpPr txBox="1">
              <a:spLocks noChangeArrowheads="1"/>
            </p:cNvSpPr>
            <p:nvPr/>
          </p:nvSpPr>
          <p:spPr bwMode="auto">
            <a:xfrm>
              <a:off x="4081440" y="4857768"/>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8</a:t>
              </a:r>
              <a:endParaRPr lang="zh-CN" altLang="zh-CN" sz="1400" b="1">
                <a:latin typeface="Arial" panose="020B0604020202020204" pitchFamily="34" charset="0"/>
              </a:endParaRPr>
            </a:p>
          </p:txBody>
        </p:sp>
        <p:sp>
          <p:nvSpPr>
            <p:cNvPr id="30780" name="Text Box 51"/>
            <p:cNvSpPr txBox="1">
              <a:spLocks noChangeArrowheads="1"/>
            </p:cNvSpPr>
            <p:nvPr/>
          </p:nvSpPr>
          <p:spPr bwMode="auto">
            <a:xfrm>
              <a:off x="4071916" y="5786456"/>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9</a:t>
              </a:r>
              <a:endParaRPr lang="zh-CN" altLang="zh-CN" sz="1400" b="1">
                <a:latin typeface="Arial" panose="020B0604020202020204" pitchFamily="34" charset="0"/>
              </a:endParaRPr>
            </a:p>
          </p:txBody>
        </p:sp>
        <p:sp>
          <p:nvSpPr>
            <p:cNvPr id="30781" name="Text Box 51"/>
            <p:cNvSpPr txBox="1">
              <a:spLocks noChangeArrowheads="1"/>
            </p:cNvSpPr>
            <p:nvPr/>
          </p:nvSpPr>
          <p:spPr bwMode="auto">
            <a:xfrm>
              <a:off x="4795815" y="4286268"/>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10</a:t>
              </a:r>
              <a:endParaRPr lang="zh-CN" altLang="zh-CN" sz="1400" b="1">
                <a:latin typeface="Arial" panose="020B0604020202020204" pitchFamily="34" charset="0"/>
              </a:endParaRPr>
            </a:p>
          </p:txBody>
        </p:sp>
        <p:sp>
          <p:nvSpPr>
            <p:cNvPr id="30782" name="Text Box 51"/>
            <p:cNvSpPr txBox="1">
              <a:spLocks noChangeArrowheads="1"/>
            </p:cNvSpPr>
            <p:nvPr/>
          </p:nvSpPr>
          <p:spPr bwMode="auto">
            <a:xfrm>
              <a:off x="1571604" y="4786331"/>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s</a:t>
              </a:r>
              <a:endParaRPr lang="zh-CN" altLang="zh-CN" sz="1400" b="1" i="1">
                <a:latin typeface="Arial" panose="020B0604020202020204" pitchFamily="34" charset="0"/>
              </a:endParaRPr>
            </a:p>
          </p:txBody>
        </p:sp>
        <p:sp>
          <p:nvSpPr>
            <p:cNvPr id="30783" name="Text Box 51"/>
            <p:cNvSpPr txBox="1">
              <a:spLocks noChangeArrowheads="1"/>
            </p:cNvSpPr>
            <p:nvPr/>
          </p:nvSpPr>
          <p:spPr bwMode="auto">
            <a:xfrm>
              <a:off x="5438753" y="4786331"/>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t</a:t>
              </a:r>
              <a:endParaRPr lang="zh-CN" altLang="zh-CN" sz="1400" b="1" i="1">
                <a:latin typeface="Arial" panose="020B0604020202020204" pitchFamily="34" charset="0"/>
              </a:endParaRPr>
            </a:p>
          </p:txBody>
        </p:sp>
        <p:sp>
          <p:nvSpPr>
            <p:cNvPr id="163" name="Text Box 51"/>
            <p:cNvSpPr txBox="1">
              <a:spLocks noChangeArrowheads="1"/>
            </p:cNvSpPr>
            <p:nvPr/>
          </p:nvSpPr>
          <p:spPr bwMode="auto">
            <a:xfrm>
              <a:off x="6234125" y="4786331"/>
              <a:ext cx="1766899" cy="857250"/>
            </a:xfrm>
            <a:prstGeom prst="rect">
              <a:avLst/>
            </a:prstGeom>
            <a:noFill/>
            <a:ln w="9525">
              <a:noFill/>
              <a:miter lim="800000"/>
            </a:ln>
          </p:spPr>
          <p:txBody>
            <a:bodyPr/>
            <a:lstStyle/>
            <a:p>
              <a:pPr algn="just" eaLnBrk="1" hangingPunct="1">
                <a:defRPr/>
              </a:pPr>
              <a:r>
                <a:rPr lang="en-US" altLang="zh-CN" sz="2000" b="1" i="1" dirty="0">
                  <a:latin typeface="Times New Roman" panose="02020603050405020304" pitchFamily="18" charset="0"/>
                  <a:ea typeface="+mn-ea"/>
                  <a:cs typeface="Times New Roman" panose="02020603050405020304" pitchFamily="18" charset="0"/>
                </a:rPr>
                <a:t>AN</a:t>
              </a:r>
              <a:r>
                <a:rPr lang="en-US" altLang="zh-CN" sz="2000" b="1" dirty="0">
                  <a:latin typeface="Times New Roman" panose="02020603050405020304" pitchFamily="18" charset="0"/>
                  <a:ea typeface="+mn-ea"/>
                  <a:cs typeface="Times New Roman" panose="02020603050405020304" pitchFamily="18" charset="0"/>
                </a:rPr>
                <a:t>(</a:t>
              </a:r>
              <a:r>
                <a:rPr lang="en-US" altLang="zh-CN" sz="2000" b="1" i="1" dirty="0">
                  <a:latin typeface="Times New Roman" panose="02020603050405020304" pitchFamily="18" charset="0"/>
                  <a:ea typeface="+mn-ea"/>
                  <a:cs typeface="Times New Roman" panose="02020603050405020304" pitchFamily="18" charset="0"/>
                </a:rPr>
                <a:t>f</a:t>
              </a:r>
              <a:r>
                <a:rPr lang="en-US" altLang="zh-CN" sz="2000" b="1" baseline="-25000" dirty="0">
                  <a:latin typeface="Times New Roman" panose="02020603050405020304" pitchFamily="18" charset="0"/>
                  <a:ea typeface="+mn-ea"/>
                  <a:cs typeface="Times New Roman" panose="02020603050405020304" pitchFamily="18" charset="0"/>
                </a:rPr>
                <a:t>1</a:t>
              </a:r>
              <a:r>
                <a:rPr lang="en-US" altLang="zh-CN" sz="2000" b="1" dirty="0">
                  <a:latin typeface="Times New Roman" panose="02020603050405020304" pitchFamily="18" charset="0"/>
                  <a:ea typeface="+mn-ea"/>
                  <a:cs typeface="Times New Roman" panose="02020603050405020304" pitchFamily="18" charset="0"/>
                </a:rPr>
                <a:t>) </a:t>
              </a:r>
              <a:r>
                <a:rPr lang="zh-CN" altLang="en-US" sz="2000" b="1" dirty="0">
                  <a:latin typeface="Times New Roman" panose="02020603050405020304" pitchFamily="18" charset="0"/>
                  <a:ea typeface="+mn-ea"/>
                  <a:cs typeface="Times New Roman" panose="02020603050405020304" pitchFamily="18" charset="0"/>
                </a:rPr>
                <a:t>与</a:t>
              </a:r>
              <a:endParaRPr lang="en-US" altLang="zh-CN" sz="2000" b="1" dirty="0">
                <a:latin typeface="Times New Roman" panose="02020603050405020304" pitchFamily="18" charset="0"/>
                <a:ea typeface="+mn-ea"/>
                <a:cs typeface="Times New Roman" panose="02020603050405020304" pitchFamily="18" charset="0"/>
              </a:endParaRPr>
            </a:p>
            <a:p>
              <a:pPr algn="just" eaLnBrk="1" hangingPunct="1">
                <a:defRPr/>
              </a:pPr>
              <a:r>
                <a:rPr lang="zh-CN" altLang="en-US" sz="2000" b="1" dirty="0">
                  <a:latin typeface="+mn-ea"/>
                  <a:ea typeface="+mn-ea"/>
                </a:rPr>
                <a:t>极大流 </a:t>
              </a:r>
              <a:r>
                <a:rPr lang="en-US" altLang="zh-CN" sz="2000" b="1" i="1" dirty="0">
                  <a:latin typeface="Times New Roman" panose="02020603050405020304" pitchFamily="18" charset="0"/>
                  <a:ea typeface="+mn-ea"/>
                  <a:cs typeface="Times New Roman" panose="02020603050405020304" pitchFamily="18" charset="0"/>
                </a:rPr>
                <a:t>g</a:t>
              </a:r>
              <a:r>
                <a:rPr lang="en-US" altLang="zh-CN" sz="2000" b="1" baseline="-25000" dirty="0">
                  <a:latin typeface="Times New Roman" panose="02020603050405020304" pitchFamily="18" charset="0"/>
                  <a:ea typeface="+mn-ea"/>
                  <a:cs typeface="Times New Roman" panose="02020603050405020304" pitchFamily="18" charset="0"/>
                </a:rPr>
                <a:t>1</a:t>
              </a:r>
              <a:endParaRPr lang="zh-CN" altLang="zh-CN" sz="2000" b="1" dirty="0">
                <a:latin typeface="Times New Roman" panose="02020603050405020304" pitchFamily="18" charset="0"/>
                <a:ea typeface="+mn-ea"/>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428625" y="357188"/>
            <a:ext cx="1471613" cy="654050"/>
          </a:xfrm>
        </p:spPr>
        <p:txBody>
          <a:bodyPr/>
          <a:lstStyle/>
          <a:p>
            <a:pPr algn="l"/>
            <a:r>
              <a:rPr lang="en-US" altLang="zh-CN" sz="2800" b="1" smtClean="0">
                <a:solidFill>
                  <a:srgbClr val="C00000"/>
                </a:solidFill>
                <a:latin typeface="Times New Roman" panose="02020603050405020304" pitchFamily="18" charset="0"/>
                <a:cs typeface="Times New Roman" panose="02020603050405020304" pitchFamily="18" charset="0"/>
              </a:rPr>
              <a:t> </a:t>
            </a:r>
            <a:r>
              <a:rPr lang="zh-CN" altLang="en-US" sz="2800" b="1" smtClean="0">
                <a:solidFill>
                  <a:srgbClr val="C00000"/>
                </a:solidFill>
                <a:latin typeface="Times New Roman" panose="02020603050405020304" pitchFamily="18" charset="0"/>
                <a:cs typeface="Times New Roman" panose="02020603050405020304" pitchFamily="18" charset="0"/>
              </a:rPr>
              <a:t>例</a:t>
            </a:r>
            <a:r>
              <a:rPr lang="en-US" altLang="zh-CN" sz="2800" b="1" smtClean="0">
                <a:solidFill>
                  <a:srgbClr val="C00000"/>
                </a:solidFill>
                <a:latin typeface="Times New Roman" panose="02020603050405020304" pitchFamily="18" charset="0"/>
                <a:cs typeface="Times New Roman" panose="02020603050405020304" pitchFamily="18" charset="0"/>
              </a:rPr>
              <a:t>2(</a:t>
            </a:r>
            <a:r>
              <a:rPr lang="zh-CN" altLang="en-US" sz="2800" b="1" smtClean="0">
                <a:solidFill>
                  <a:srgbClr val="C00000"/>
                </a:solidFill>
                <a:latin typeface="Times New Roman" panose="02020603050405020304" pitchFamily="18" charset="0"/>
                <a:cs typeface="Times New Roman" panose="02020603050405020304" pitchFamily="18" charset="0"/>
              </a:rPr>
              <a:t>续</a:t>
            </a:r>
            <a:r>
              <a:rPr lang="en-US" altLang="zh-CN" sz="2800" b="1" smtClean="0">
                <a:solidFill>
                  <a:srgbClr val="C00000"/>
                </a:solidFill>
                <a:latin typeface="Times New Roman" panose="02020603050405020304" pitchFamily="18" charset="0"/>
                <a:cs typeface="Times New Roman" panose="02020603050405020304" pitchFamily="18" charset="0"/>
              </a:rPr>
              <a:t>)</a:t>
            </a:r>
            <a:endParaRPr lang="zh-CN" altLang="en-US" sz="2800" smtClean="0">
              <a:solidFill>
                <a:srgbClr val="C00000"/>
              </a:solidFill>
              <a:latin typeface="Times New Roman" panose="02020603050405020304" pitchFamily="18" charset="0"/>
              <a:cs typeface="Times New Roman" panose="02020603050405020304" pitchFamily="18" charset="0"/>
            </a:endParaRPr>
          </a:p>
        </p:txBody>
      </p:sp>
      <p:sp>
        <p:nvSpPr>
          <p:cNvPr id="3174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7AC09363-62E1-470B-92A0-C068215C7F50}" type="slidenum">
              <a:rPr lang="zh-CN" altLang="en-US" sz="1200" smtClean="0">
                <a:solidFill>
                  <a:srgbClr val="898989"/>
                </a:solidFill>
              </a:rPr>
            </a:fld>
            <a:endParaRPr lang="zh-CN" altLang="en-US" sz="1200" smtClean="0">
              <a:solidFill>
                <a:srgbClr val="898989"/>
              </a:solidFill>
            </a:endParaRPr>
          </a:p>
        </p:txBody>
      </p:sp>
      <p:grpSp>
        <p:nvGrpSpPr>
          <p:cNvPr id="31748" name="组合 205"/>
          <p:cNvGrpSpPr/>
          <p:nvPr/>
        </p:nvGrpSpPr>
        <p:grpSpPr bwMode="auto">
          <a:xfrm>
            <a:off x="2000250" y="857250"/>
            <a:ext cx="5715000" cy="2357438"/>
            <a:chOff x="2000232" y="857248"/>
            <a:chExt cx="5715040" cy="2357438"/>
          </a:xfrm>
        </p:grpSpPr>
        <p:sp>
          <p:nvSpPr>
            <p:cNvPr id="31802" name="Text Box 51"/>
            <p:cNvSpPr txBox="1">
              <a:spLocks noChangeArrowheads="1"/>
            </p:cNvSpPr>
            <p:nvPr/>
          </p:nvSpPr>
          <p:spPr bwMode="auto">
            <a:xfrm>
              <a:off x="2000232" y="1571623"/>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8,6</a:t>
              </a:r>
              <a:endParaRPr lang="zh-CN" altLang="zh-CN" sz="1600" b="1">
                <a:latin typeface="Arial" panose="020B0604020202020204" pitchFamily="34" charset="0"/>
              </a:endParaRPr>
            </a:p>
          </p:txBody>
        </p:sp>
        <p:sp>
          <p:nvSpPr>
            <p:cNvPr id="31803" name="Oval 6"/>
            <p:cNvSpPr>
              <a:spLocks noChangeArrowheads="1"/>
            </p:cNvSpPr>
            <p:nvPr/>
          </p:nvSpPr>
          <p:spPr bwMode="auto">
            <a:xfrm>
              <a:off x="2018539" y="1966906"/>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804" name="Oval 7"/>
            <p:cNvSpPr>
              <a:spLocks noChangeArrowheads="1"/>
            </p:cNvSpPr>
            <p:nvPr/>
          </p:nvSpPr>
          <p:spPr bwMode="auto">
            <a:xfrm>
              <a:off x="2550600" y="1435553"/>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805" name="Oval 8"/>
            <p:cNvSpPr>
              <a:spLocks noChangeArrowheads="1"/>
            </p:cNvSpPr>
            <p:nvPr/>
          </p:nvSpPr>
          <p:spPr bwMode="auto">
            <a:xfrm>
              <a:off x="3181225" y="904201"/>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806" name="Oval 9"/>
            <p:cNvSpPr>
              <a:spLocks noChangeArrowheads="1"/>
            </p:cNvSpPr>
            <p:nvPr/>
          </p:nvSpPr>
          <p:spPr bwMode="auto">
            <a:xfrm>
              <a:off x="2567644" y="2489097"/>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807" name="Oval 10"/>
            <p:cNvSpPr>
              <a:spLocks noChangeArrowheads="1"/>
            </p:cNvSpPr>
            <p:nvPr/>
          </p:nvSpPr>
          <p:spPr bwMode="auto">
            <a:xfrm>
              <a:off x="3147137" y="2974643"/>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808" name="Oval 11"/>
            <p:cNvSpPr>
              <a:spLocks noChangeArrowheads="1"/>
            </p:cNvSpPr>
            <p:nvPr/>
          </p:nvSpPr>
          <p:spPr bwMode="auto">
            <a:xfrm>
              <a:off x="3164181" y="1994388"/>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809" name="Oval 12"/>
            <p:cNvSpPr>
              <a:spLocks noChangeArrowheads="1"/>
            </p:cNvSpPr>
            <p:nvPr/>
          </p:nvSpPr>
          <p:spPr bwMode="auto">
            <a:xfrm>
              <a:off x="3880026" y="1426391"/>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810" name="Oval 13"/>
            <p:cNvSpPr>
              <a:spLocks noChangeArrowheads="1"/>
            </p:cNvSpPr>
            <p:nvPr/>
          </p:nvSpPr>
          <p:spPr bwMode="auto">
            <a:xfrm>
              <a:off x="3905591" y="2516581"/>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811" name="Oval 14"/>
            <p:cNvSpPr>
              <a:spLocks noChangeArrowheads="1"/>
            </p:cNvSpPr>
            <p:nvPr/>
          </p:nvSpPr>
          <p:spPr bwMode="auto">
            <a:xfrm>
              <a:off x="4519173" y="2003550"/>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812" name="Oval 15"/>
            <p:cNvSpPr>
              <a:spLocks noChangeArrowheads="1"/>
            </p:cNvSpPr>
            <p:nvPr/>
          </p:nvSpPr>
          <p:spPr bwMode="auto">
            <a:xfrm>
              <a:off x="5260584" y="1444714"/>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813" name="Oval 16"/>
            <p:cNvSpPr>
              <a:spLocks noChangeArrowheads="1"/>
            </p:cNvSpPr>
            <p:nvPr/>
          </p:nvSpPr>
          <p:spPr bwMode="auto">
            <a:xfrm>
              <a:off x="5277628" y="2498259"/>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814" name="Oval 17"/>
            <p:cNvSpPr>
              <a:spLocks noChangeArrowheads="1"/>
            </p:cNvSpPr>
            <p:nvPr/>
          </p:nvSpPr>
          <p:spPr bwMode="auto">
            <a:xfrm>
              <a:off x="5874166" y="2003550"/>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815" name="Oval 18"/>
            <p:cNvSpPr>
              <a:spLocks noChangeArrowheads="1"/>
            </p:cNvSpPr>
            <p:nvPr/>
          </p:nvSpPr>
          <p:spPr bwMode="auto">
            <a:xfrm>
              <a:off x="4502129" y="2974643"/>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31816" name="AutoShape 19"/>
            <p:cNvCxnSpPr>
              <a:cxnSpLocks noChangeShapeType="1"/>
            </p:cNvCxnSpPr>
            <p:nvPr/>
          </p:nvCxnSpPr>
          <p:spPr bwMode="auto">
            <a:xfrm flipV="1">
              <a:off x="2167112" y="1635956"/>
              <a:ext cx="392010" cy="349272"/>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817" name="AutoShape 20"/>
            <p:cNvCxnSpPr>
              <a:cxnSpLocks noChangeShapeType="1"/>
            </p:cNvCxnSpPr>
            <p:nvPr/>
          </p:nvCxnSpPr>
          <p:spPr bwMode="auto">
            <a:xfrm flipV="1">
              <a:off x="2755127" y="1088569"/>
              <a:ext cx="434620" cy="38362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818" name="AutoShape 21"/>
            <p:cNvCxnSpPr>
              <a:cxnSpLocks noChangeShapeType="1"/>
            </p:cNvCxnSpPr>
            <p:nvPr/>
          </p:nvCxnSpPr>
          <p:spPr bwMode="auto">
            <a:xfrm>
              <a:off x="2167112" y="2158146"/>
              <a:ext cx="400532" cy="381337"/>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819" name="AutoShape 22"/>
            <p:cNvCxnSpPr>
              <a:cxnSpLocks noChangeShapeType="1"/>
            </p:cNvCxnSpPr>
            <p:nvPr/>
          </p:nvCxnSpPr>
          <p:spPr bwMode="auto">
            <a:xfrm>
              <a:off x="2746605" y="2689500"/>
              <a:ext cx="400532"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820" name="AutoShape 23"/>
            <p:cNvCxnSpPr>
              <a:cxnSpLocks noChangeShapeType="1"/>
            </p:cNvCxnSpPr>
            <p:nvPr/>
          </p:nvCxnSpPr>
          <p:spPr bwMode="auto">
            <a:xfrm>
              <a:off x="2746605" y="1635956"/>
              <a:ext cx="417576" cy="376755"/>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821" name="AutoShape 24"/>
            <p:cNvCxnSpPr>
              <a:cxnSpLocks noChangeShapeType="1"/>
            </p:cNvCxnSpPr>
            <p:nvPr/>
          </p:nvCxnSpPr>
          <p:spPr bwMode="auto">
            <a:xfrm>
              <a:off x="3377230" y="1088569"/>
              <a:ext cx="528361" cy="38362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822" name="AutoShape 25"/>
            <p:cNvCxnSpPr>
              <a:cxnSpLocks noChangeShapeType="1"/>
            </p:cNvCxnSpPr>
            <p:nvPr/>
          </p:nvCxnSpPr>
          <p:spPr bwMode="auto">
            <a:xfrm flipV="1">
              <a:off x="2755127" y="2176469"/>
              <a:ext cx="409054" cy="363015"/>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823" name="AutoShape 26"/>
            <p:cNvCxnSpPr>
              <a:cxnSpLocks noChangeShapeType="1"/>
            </p:cNvCxnSpPr>
            <p:nvPr/>
          </p:nvCxnSpPr>
          <p:spPr bwMode="auto">
            <a:xfrm flipV="1">
              <a:off x="3360186" y="1599310"/>
              <a:ext cx="545406" cy="42599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824" name="AutoShape 27"/>
            <p:cNvCxnSpPr>
              <a:cxnSpLocks noChangeShapeType="1"/>
            </p:cNvCxnSpPr>
            <p:nvPr/>
          </p:nvCxnSpPr>
          <p:spPr bwMode="auto">
            <a:xfrm flipV="1">
              <a:off x="2698669" y="1113764"/>
              <a:ext cx="566711" cy="137533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825" name="AutoShape 28"/>
            <p:cNvCxnSpPr>
              <a:cxnSpLocks noChangeShapeType="1"/>
            </p:cNvCxnSpPr>
            <p:nvPr/>
          </p:nvCxnSpPr>
          <p:spPr bwMode="auto">
            <a:xfrm>
              <a:off x="4076031" y="1546633"/>
              <a:ext cx="1184553"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826" name="AutoShape 29"/>
            <p:cNvCxnSpPr>
              <a:cxnSpLocks noChangeShapeType="1"/>
            </p:cNvCxnSpPr>
            <p:nvPr/>
          </p:nvCxnSpPr>
          <p:spPr bwMode="auto">
            <a:xfrm>
              <a:off x="3360186" y="2112339"/>
              <a:ext cx="1158987"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827" name="AutoShape 30"/>
            <p:cNvCxnSpPr>
              <a:cxnSpLocks noChangeShapeType="1"/>
            </p:cNvCxnSpPr>
            <p:nvPr/>
          </p:nvCxnSpPr>
          <p:spPr bwMode="auto">
            <a:xfrm>
              <a:off x="3343142" y="2176469"/>
              <a:ext cx="579494" cy="40195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828" name="AutoShape 31"/>
            <p:cNvCxnSpPr>
              <a:cxnSpLocks noChangeShapeType="1"/>
            </p:cNvCxnSpPr>
            <p:nvPr/>
          </p:nvCxnSpPr>
          <p:spPr bwMode="auto">
            <a:xfrm flipV="1">
              <a:off x="3343142" y="2689500"/>
              <a:ext cx="562450"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829" name="AutoShape 32"/>
            <p:cNvCxnSpPr>
              <a:cxnSpLocks noChangeShapeType="1"/>
            </p:cNvCxnSpPr>
            <p:nvPr/>
          </p:nvCxnSpPr>
          <p:spPr bwMode="auto">
            <a:xfrm>
              <a:off x="4076031" y="2689500"/>
              <a:ext cx="443142"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830" name="AutoShape 33"/>
            <p:cNvCxnSpPr>
              <a:cxnSpLocks noChangeShapeType="1"/>
            </p:cNvCxnSpPr>
            <p:nvPr/>
          </p:nvCxnSpPr>
          <p:spPr bwMode="auto">
            <a:xfrm flipV="1">
              <a:off x="4698135" y="1645117"/>
              <a:ext cx="579494" cy="380192"/>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831" name="AutoShape 34"/>
            <p:cNvCxnSpPr>
              <a:cxnSpLocks noChangeShapeType="1"/>
            </p:cNvCxnSpPr>
            <p:nvPr/>
          </p:nvCxnSpPr>
          <p:spPr bwMode="auto">
            <a:xfrm>
              <a:off x="4698135" y="2176469"/>
              <a:ext cx="579494" cy="363015"/>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832" name="AutoShape 35"/>
            <p:cNvCxnSpPr>
              <a:cxnSpLocks noChangeShapeType="1"/>
            </p:cNvCxnSpPr>
            <p:nvPr/>
          </p:nvCxnSpPr>
          <p:spPr bwMode="auto">
            <a:xfrm flipV="1">
              <a:off x="4698135" y="2689500"/>
              <a:ext cx="579494"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833" name="AutoShape 36"/>
            <p:cNvCxnSpPr>
              <a:cxnSpLocks noChangeShapeType="1"/>
            </p:cNvCxnSpPr>
            <p:nvPr/>
          </p:nvCxnSpPr>
          <p:spPr bwMode="auto">
            <a:xfrm>
              <a:off x="5456589" y="1599310"/>
              <a:ext cx="417576" cy="42599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834" name="AutoShape 37"/>
            <p:cNvCxnSpPr>
              <a:cxnSpLocks noChangeShapeType="1"/>
            </p:cNvCxnSpPr>
            <p:nvPr/>
          </p:nvCxnSpPr>
          <p:spPr bwMode="auto">
            <a:xfrm flipV="1">
              <a:off x="5456589" y="2176469"/>
              <a:ext cx="417576" cy="363015"/>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sp>
          <p:nvSpPr>
            <p:cNvPr id="31835" name="Text Box 44"/>
            <p:cNvSpPr txBox="1">
              <a:spLocks noChangeArrowheads="1"/>
            </p:cNvSpPr>
            <p:nvPr/>
          </p:nvSpPr>
          <p:spPr bwMode="auto">
            <a:xfrm>
              <a:off x="3787349" y="1370279"/>
              <a:ext cx="407989" cy="36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700">
                  <a:latin typeface="Times New Roman" panose="02020603050405020304" pitchFamily="18" charset="0"/>
                </a:rPr>
                <a:t>6</a:t>
              </a:r>
              <a:endParaRPr lang="zh-CN" altLang="zh-CN" sz="1800">
                <a:latin typeface="Arial" panose="020B0604020202020204" pitchFamily="34" charset="0"/>
              </a:endParaRPr>
            </a:p>
          </p:txBody>
        </p:sp>
        <p:sp>
          <p:nvSpPr>
            <p:cNvPr id="31836" name="Text Box 51"/>
            <p:cNvSpPr txBox="1">
              <a:spLocks noChangeArrowheads="1"/>
            </p:cNvSpPr>
            <p:nvPr/>
          </p:nvSpPr>
          <p:spPr bwMode="auto">
            <a:xfrm>
              <a:off x="2500294" y="1071561"/>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3,3</a:t>
              </a:r>
              <a:endParaRPr lang="zh-CN" altLang="zh-CN" sz="1600" b="1">
                <a:latin typeface="Arial" panose="020B0604020202020204" pitchFamily="34" charset="0"/>
              </a:endParaRPr>
            </a:p>
          </p:txBody>
        </p:sp>
        <p:sp>
          <p:nvSpPr>
            <p:cNvPr id="31837" name="Text Box 51"/>
            <p:cNvSpPr txBox="1">
              <a:spLocks noChangeArrowheads="1"/>
            </p:cNvSpPr>
            <p:nvPr/>
          </p:nvSpPr>
          <p:spPr bwMode="auto">
            <a:xfrm>
              <a:off x="2000232" y="2271005"/>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7,5</a:t>
              </a:r>
              <a:endParaRPr lang="zh-CN" altLang="zh-CN" sz="1600" b="1">
                <a:latin typeface="Arial" panose="020B0604020202020204" pitchFamily="34" charset="0"/>
              </a:endParaRPr>
            </a:p>
          </p:txBody>
        </p:sp>
        <p:sp>
          <p:nvSpPr>
            <p:cNvPr id="31838" name="Text Box 51"/>
            <p:cNvSpPr txBox="1">
              <a:spLocks noChangeArrowheads="1"/>
            </p:cNvSpPr>
            <p:nvPr/>
          </p:nvSpPr>
          <p:spPr bwMode="auto">
            <a:xfrm>
              <a:off x="2500294" y="1643061"/>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3,3</a:t>
              </a:r>
              <a:endParaRPr lang="zh-CN" altLang="zh-CN" sz="1600" b="1">
                <a:latin typeface="Arial" panose="020B0604020202020204" pitchFamily="34" charset="0"/>
              </a:endParaRPr>
            </a:p>
          </p:txBody>
        </p:sp>
        <p:sp>
          <p:nvSpPr>
            <p:cNvPr id="31839" name="Text Box 51"/>
            <p:cNvSpPr txBox="1">
              <a:spLocks noChangeArrowheads="1"/>
            </p:cNvSpPr>
            <p:nvPr/>
          </p:nvSpPr>
          <p:spPr bwMode="auto">
            <a:xfrm>
              <a:off x="2928919" y="2271005"/>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3,3</a:t>
              </a:r>
              <a:endParaRPr lang="zh-CN" altLang="zh-CN" sz="1600" b="1">
                <a:latin typeface="Arial" panose="020B0604020202020204" pitchFamily="34" charset="0"/>
              </a:endParaRPr>
            </a:p>
          </p:txBody>
        </p:sp>
        <p:sp>
          <p:nvSpPr>
            <p:cNvPr id="31840" name="Text Box 51"/>
            <p:cNvSpPr txBox="1">
              <a:spLocks noChangeArrowheads="1"/>
            </p:cNvSpPr>
            <p:nvPr/>
          </p:nvSpPr>
          <p:spPr bwMode="auto">
            <a:xfrm>
              <a:off x="3071794" y="1342318"/>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3,0</a:t>
              </a:r>
              <a:endParaRPr lang="zh-CN" altLang="zh-CN" sz="1600" b="1">
                <a:latin typeface="Arial" panose="020B0604020202020204" pitchFamily="34" charset="0"/>
              </a:endParaRPr>
            </a:p>
          </p:txBody>
        </p:sp>
        <p:sp>
          <p:nvSpPr>
            <p:cNvPr id="31841" name="Text Box 51"/>
            <p:cNvSpPr txBox="1">
              <a:spLocks noChangeArrowheads="1"/>
            </p:cNvSpPr>
            <p:nvPr/>
          </p:nvSpPr>
          <p:spPr bwMode="auto">
            <a:xfrm>
              <a:off x="3571857" y="1000123"/>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6,3</a:t>
              </a:r>
              <a:endParaRPr lang="zh-CN" altLang="zh-CN" sz="1600" b="1">
                <a:latin typeface="Arial" panose="020B0604020202020204" pitchFamily="34" charset="0"/>
              </a:endParaRPr>
            </a:p>
          </p:txBody>
        </p:sp>
        <p:sp>
          <p:nvSpPr>
            <p:cNvPr id="31842" name="Text Box 51"/>
            <p:cNvSpPr txBox="1">
              <a:spLocks noChangeArrowheads="1"/>
            </p:cNvSpPr>
            <p:nvPr/>
          </p:nvSpPr>
          <p:spPr bwMode="auto">
            <a:xfrm>
              <a:off x="3286120" y="1571623"/>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2,2</a:t>
              </a:r>
              <a:endParaRPr lang="zh-CN" altLang="zh-CN" sz="1600" b="1">
                <a:latin typeface="Arial" panose="020B0604020202020204" pitchFamily="34" charset="0"/>
              </a:endParaRPr>
            </a:p>
          </p:txBody>
        </p:sp>
        <p:sp>
          <p:nvSpPr>
            <p:cNvPr id="31843" name="Text Box 51"/>
            <p:cNvSpPr txBox="1">
              <a:spLocks noChangeArrowheads="1"/>
            </p:cNvSpPr>
            <p:nvPr/>
          </p:nvSpPr>
          <p:spPr bwMode="auto">
            <a:xfrm>
              <a:off x="4357669" y="1270880"/>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5,5</a:t>
              </a:r>
              <a:endParaRPr lang="zh-CN" altLang="zh-CN" sz="1600" b="1">
                <a:latin typeface="Arial" panose="020B0604020202020204" pitchFamily="34" charset="0"/>
              </a:endParaRPr>
            </a:p>
          </p:txBody>
        </p:sp>
        <p:sp>
          <p:nvSpPr>
            <p:cNvPr id="31844" name="Text Box 51"/>
            <p:cNvSpPr txBox="1">
              <a:spLocks noChangeArrowheads="1"/>
            </p:cNvSpPr>
            <p:nvPr/>
          </p:nvSpPr>
          <p:spPr bwMode="auto">
            <a:xfrm>
              <a:off x="3857607" y="1842380"/>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6,4</a:t>
              </a:r>
              <a:endParaRPr lang="zh-CN" altLang="zh-CN" sz="1600" b="1">
                <a:latin typeface="Arial" panose="020B0604020202020204" pitchFamily="34" charset="0"/>
              </a:endParaRPr>
            </a:p>
          </p:txBody>
        </p:sp>
        <p:sp>
          <p:nvSpPr>
            <p:cNvPr id="31845" name="Text Box 51"/>
            <p:cNvSpPr txBox="1">
              <a:spLocks noChangeArrowheads="1"/>
            </p:cNvSpPr>
            <p:nvPr/>
          </p:nvSpPr>
          <p:spPr bwMode="auto">
            <a:xfrm>
              <a:off x="3714732" y="2199568"/>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2,0</a:t>
              </a:r>
              <a:endParaRPr lang="zh-CN" altLang="zh-CN" sz="1600" b="1">
                <a:latin typeface="Arial" panose="020B0604020202020204" pitchFamily="34" charset="0"/>
              </a:endParaRPr>
            </a:p>
          </p:txBody>
        </p:sp>
        <p:sp>
          <p:nvSpPr>
            <p:cNvPr id="31846" name="Text Box 51"/>
            <p:cNvSpPr txBox="1">
              <a:spLocks noChangeArrowheads="1"/>
            </p:cNvSpPr>
            <p:nvPr/>
          </p:nvSpPr>
          <p:spPr bwMode="auto">
            <a:xfrm>
              <a:off x="2500294" y="2771068"/>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5,2</a:t>
              </a:r>
              <a:endParaRPr lang="zh-CN" altLang="zh-CN" sz="1600" b="1">
                <a:latin typeface="Arial" panose="020B0604020202020204" pitchFamily="34" charset="0"/>
              </a:endParaRPr>
            </a:p>
          </p:txBody>
        </p:sp>
        <p:sp>
          <p:nvSpPr>
            <p:cNvPr id="31847" name="Text Box 51"/>
            <p:cNvSpPr txBox="1">
              <a:spLocks noChangeArrowheads="1"/>
            </p:cNvSpPr>
            <p:nvPr/>
          </p:nvSpPr>
          <p:spPr bwMode="auto">
            <a:xfrm>
              <a:off x="3571857" y="2786061"/>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5,2</a:t>
              </a:r>
              <a:endParaRPr lang="zh-CN" altLang="zh-CN" sz="1600" b="1">
                <a:latin typeface="Arial" panose="020B0604020202020204" pitchFamily="34" charset="0"/>
              </a:endParaRPr>
            </a:p>
          </p:txBody>
        </p:sp>
        <p:sp>
          <p:nvSpPr>
            <p:cNvPr id="31848" name="Text Box 51"/>
            <p:cNvSpPr txBox="1">
              <a:spLocks noChangeArrowheads="1"/>
            </p:cNvSpPr>
            <p:nvPr/>
          </p:nvSpPr>
          <p:spPr bwMode="auto">
            <a:xfrm>
              <a:off x="3929044" y="2786061"/>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4,2</a:t>
              </a:r>
              <a:endParaRPr lang="zh-CN" altLang="zh-CN" sz="1600" b="1">
                <a:latin typeface="Arial" panose="020B0604020202020204" pitchFamily="34" charset="0"/>
              </a:endParaRPr>
            </a:p>
          </p:txBody>
        </p:sp>
        <p:sp>
          <p:nvSpPr>
            <p:cNvPr id="31849" name="Text Box 51"/>
            <p:cNvSpPr txBox="1">
              <a:spLocks noChangeArrowheads="1"/>
            </p:cNvSpPr>
            <p:nvPr/>
          </p:nvSpPr>
          <p:spPr bwMode="auto">
            <a:xfrm>
              <a:off x="4510068" y="1643061"/>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4,3</a:t>
              </a:r>
              <a:endParaRPr lang="zh-CN" altLang="zh-CN" sz="1600" b="1">
                <a:latin typeface="Arial" panose="020B0604020202020204" pitchFamily="34" charset="0"/>
              </a:endParaRPr>
            </a:p>
          </p:txBody>
        </p:sp>
        <p:sp>
          <p:nvSpPr>
            <p:cNvPr id="31850" name="Text Box 51"/>
            <p:cNvSpPr txBox="1">
              <a:spLocks noChangeArrowheads="1"/>
            </p:cNvSpPr>
            <p:nvPr/>
          </p:nvSpPr>
          <p:spPr bwMode="auto">
            <a:xfrm>
              <a:off x="4571982" y="2271005"/>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1,1</a:t>
              </a:r>
              <a:endParaRPr lang="zh-CN" altLang="zh-CN" sz="1600" b="1">
                <a:latin typeface="Arial" panose="020B0604020202020204" pitchFamily="34" charset="0"/>
              </a:endParaRPr>
            </a:p>
          </p:txBody>
        </p:sp>
        <p:sp>
          <p:nvSpPr>
            <p:cNvPr id="31851" name="Text Box 51"/>
            <p:cNvSpPr txBox="1">
              <a:spLocks noChangeArrowheads="1"/>
            </p:cNvSpPr>
            <p:nvPr/>
          </p:nvSpPr>
          <p:spPr bwMode="auto">
            <a:xfrm>
              <a:off x="5643544" y="1628068"/>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9,8</a:t>
              </a:r>
              <a:endParaRPr lang="zh-CN" altLang="zh-CN" sz="1600" b="1">
                <a:latin typeface="Arial" panose="020B0604020202020204" pitchFamily="34" charset="0"/>
              </a:endParaRPr>
            </a:p>
          </p:txBody>
        </p:sp>
        <p:sp>
          <p:nvSpPr>
            <p:cNvPr id="31852" name="Text Box 51"/>
            <p:cNvSpPr txBox="1">
              <a:spLocks noChangeArrowheads="1"/>
            </p:cNvSpPr>
            <p:nvPr/>
          </p:nvSpPr>
          <p:spPr bwMode="auto">
            <a:xfrm>
              <a:off x="5643544" y="2271005"/>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3,3</a:t>
              </a:r>
              <a:endParaRPr lang="zh-CN" altLang="zh-CN" sz="1600" b="1">
                <a:latin typeface="Arial" panose="020B0604020202020204" pitchFamily="34" charset="0"/>
              </a:endParaRPr>
            </a:p>
          </p:txBody>
        </p:sp>
        <p:sp>
          <p:nvSpPr>
            <p:cNvPr id="31853" name="Text Box 51"/>
            <p:cNvSpPr txBox="1">
              <a:spLocks noChangeArrowheads="1"/>
            </p:cNvSpPr>
            <p:nvPr/>
          </p:nvSpPr>
          <p:spPr bwMode="auto">
            <a:xfrm>
              <a:off x="4929169" y="2771068"/>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5,2</a:t>
              </a:r>
              <a:endParaRPr lang="zh-CN" altLang="zh-CN" sz="1600" b="1">
                <a:latin typeface="Arial" panose="020B0604020202020204" pitchFamily="34" charset="0"/>
              </a:endParaRPr>
            </a:p>
          </p:txBody>
        </p:sp>
        <p:sp>
          <p:nvSpPr>
            <p:cNvPr id="31854" name="Text Box 51"/>
            <p:cNvSpPr txBox="1">
              <a:spLocks noChangeArrowheads="1"/>
            </p:cNvSpPr>
            <p:nvPr/>
          </p:nvSpPr>
          <p:spPr bwMode="auto">
            <a:xfrm>
              <a:off x="3152756" y="857248"/>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3</a:t>
              </a:r>
              <a:endParaRPr lang="zh-CN" altLang="zh-CN" sz="1400" b="1">
                <a:latin typeface="Arial" panose="020B0604020202020204" pitchFamily="34" charset="0"/>
              </a:endParaRPr>
            </a:p>
          </p:txBody>
        </p:sp>
        <p:sp>
          <p:nvSpPr>
            <p:cNvPr id="31855" name="Text Box 51"/>
            <p:cNvSpPr txBox="1">
              <a:spLocks noChangeArrowheads="1"/>
            </p:cNvSpPr>
            <p:nvPr/>
          </p:nvSpPr>
          <p:spPr bwMode="auto">
            <a:xfrm>
              <a:off x="2500294" y="1428748"/>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a:t>
              </a:r>
              <a:endParaRPr lang="zh-CN" altLang="zh-CN" sz="1400" b="1">
                <a:latin typeface="Arial" panose="020B0604020202020204" pitchFamily="34" charset="0"/>
              </a:endParaRPr>
            </a:p>
          </p:txBody>
        </p:sp>
        <p:sp>
          <p:nvSpPr>
            <p:cNvPr id="31856" name="Text Box 51"/>
            <p:cNvSpPr txBox="1">
              <a:spLocks noChangeArrowheads="1"/>
            </p:cNvSpPr>
            <p:nvPr/>
          </p:nvSpPr>
          <p:spPr bwMode="auto">
            <a:xfrm>
              <a:off x="2500294" y="2428873"/>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2</a:t>
              </a:r>
              <a:endParaRPr lang="zh-CN" altLang="zh-CN" sz="1400" b="1">
                <a:latin typeface="Arial" panose="020B0604020202020204" pitchFamily="34" charset="0"/>
              </a:endParaRPr>
            </a:p>
          </p:txBody>
        </p:sp>
        <p:sp>
          <p:nvSpPr>
            <p:cNvPr id="31857" name="Text Box 51"/>
            <p:cNvSpPr txBox="1">
              <a:spLocks noChangeArrowheads="1"/>
            </p:cNvSpPr>
            <p:nvPr/>
          </p:nvSpPr>
          <p:spPr bwMode="auto">
            <a:xfrm>
              <a:off x="3143232" y="1928811"/>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4</a:t>
              </a:r>
              <a:endParaRPr lang="zh-CN" altLang="zh-CN" sz="1400" b="1">
                <a:latin typeface="Arial" panose="020B0604020202020204" pitchFamily="34" charset="0"/>
              </a:endParaRPr>
            </a:p>
          </p:txBody>
        </p:sp>
        <p:sp>
          <p:nvSpPr>
            <p:cNvPr id="31858" name="Text Box 51"/>
            <p:cNvSpPr txBox="1">
              <a:spLocks noChangeArrowheads="1"/>
            </p:cNvSpPr>
            <p:nvPr/>
          </p:nvSpPr>
          <p:spPr bwMode="auto">
            <a:xfrm>
              <a:off x="3143232" y="2928936"/>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5</a:t>
              </a:r>
              <a:endParaRPr lang="zh-CN" altLang="zh-CN" sz="1400" b="1">
                <a:latin typeface="Arial" panose="020B0604020202020204" pitchFamily="34" charset="0"/>
              </a:endParaRPr>
            </a:p>
          </p:txBody>
        </p:sp>
        <p:sp>
          <p:nvSpPr>
            <p:cNvPr id="31859" name="Text Box 51"/>
            <p:cNvSpPr txBox="1">
              <a:spLocks noChangeArrowheads="1"/>
            </p:cNvSpPr>
            <p:nvPr/>
          </p:nvSpPr>
          <p:spPr bwMode="auto">
            <a:xfrm>
              <a:off x="3867131" y="1357311"/>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6</a:t>
              </a:r>
              <a:endParaRPr lang="zh-CN" altLang="zh-CN" sz="1400" b="1">
                <a:latin typeface="Arial" panose="020B0604020202020204" pitchFamily="34" charset="0"/>
              </a:endParaRPr>
            </a:p>
          </p:txBody>
        </p:sp>
        <p:sp>
          <p:nvSpPr>
            <p:cNvPr id="31860" name="Text Box 51"/>
            <p:cNvSpPr txBox="1">
              <a:spLocks noChangeArrowheads="1"/>
            </p:cNvSpPr>
            <p:nvPr/>
          </p:nvSpPr>
          <p:spPr bwMode="auto">
            <a:xfrm>
              <a:off x="3867131" y="2500311"/>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7</a:t>
              </a:r>
              <a:endParaRPr lang="zh-CN" altLang="zh-CN" sz="1400" b="1">
                <a:latin typeface="Arial" panose="020B0604020202020204" pitchFamily="34" charset="0"/>
              </a:endParaRPr>
            </a:p>
          </p:txBody>
        </p:sp>
        <p:sp>
          <p:nvSpPr>
            <p:cNvPr id="31861" name="Text Box 51"/>
            <p:cNvSpPr txBox="1">
              <a:spLocks noChangeArrowheads="1"/>
            </p:cNvSpPr>
            <p:nvPr/>
          </p:nvSpPr>
          <p:spPr bwMode="auto">
            <a:xfrm>
              <a:off x="4510068" y="2000248"/>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8</a:t>
              </a:r>
              <a:endParaRPr lang="zh-CN" altLang="zh-CN" sz="1400" b="1">
                <a:latin typeface="Arial" panose="020B0604020202020204" pitchFamily="34" charset="0"/>
              </a:endParaRPr>
            </a:p>
          </p:txBody>
        </p:sp>
        <p:sp>
          <p:nvSpPr>
            <p:cNvPr id="31862" name="Text Box 51"/>
            <p:cNvSpPr txBox="1">
              <a:spLocks noChangeArrowheads="1"/>
            </p:cNvSpPr>
            <p:nvPr/>
          </p:nvSpPr>
          <p:spPr bwMode="auto">
            <a:xfrm>
              <a:off x="4500544" y="2928936"/>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9</a:t>
              </a:r>
              <a:endParaRPr lang="zh-CN" altLang="zh-CN" sz="1400" b="1">
                <a:latin typeface="Arial" panose="020B0604020202020204" pitchFamily="34" charset="0"/>
              </a:endParaRPr>
            </a:p>
          </p:txBody>
        </p:sp>
        <p:sp>
          <p:nvSpPr>
            <p:cNvPr id="31863" name="Text Box 51"/>
            <p:cNvSpPr txBox="1">
              <a:spLocks noChangeArrowheads="1"/>
            </p:cNvSpPr>
            <p:nvPr/>
          </p:nvSpPr>
          <p:spPr bwMode="auto">
            <a:xfrm>
              <a:off x="5224443" y="1428748"/>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10</a:t>
              </a:r>
              <a:endParaRPr lang="zh-CN" altLang="zh-CN" sz="1400" b="1">
                <a:latin typeface="Arial" panose="020B0604020202020204" pitchFamily="34" charset="0"/>
              </a:endParaRPr>
            </a:p>
          </p:txBody>
        </p:sp>
        <p:sp>
          <p:nvSpPr>
            <p:cNvPr id="31864" name="Text Box 51"/>
            <p:cNvSpPr txBox="1">
              <a:spLocks noChangeArrowheads="1"/>
            </p:cNvSpPr>
            <p:nvPr/>
          </p:nvSpPr>
          <p:spPr bwMode="auto">
            <a:xfrm>
              <a:off x="5214919" y="2428873"/>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11</a:t>
              </a:r>
              <a:endParaRPr lang="zh-CN" altLang="zh-CN" sz="1400" b="1">
                <a:latin typeface="Arial" panose="020B0604020202020204" pitchFamily="34" charset="0"/>
              </a:endParaRPr>
            </a:p>
          </p:txBody>
        </p:sp>
        <p:sp>
          <p:nvSpPr>
            <p:cNvPr id="31865" name="Text Box 51"/>
            <p:cNvSpPr txBox="1">
              <a:spLocks noChangeArrowheads="1"/>
            </p:cNvSpPr>
            <p:nvPr/>
          </p:nvSpPr>
          <p:spPr bwMode="auto">
            <a:xfrm>
              <a:off x="2000232" y="1928811"/>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s</a:t>
              </a:r>
              <a:endParaRPr lang="zh-CN" altLang="zh-CN" sz="1400" b="1" i="1">
                <a:latin typeface="Arial" panose="020B0604020202020204" pitchFamily="34" charset="0"/>
              </a:endParaRPr>
            </a:p>
          </p:txBody>
        </p:sp>
        <p:sp>
          <p:nvSpPr>
            <p:cNvPr id="31866" name="Text Box 51"/>
            <p:cNvSpPr txBox="1">
              <a:spLocks noChangeArrowheads="1"/>
            </p:cNvSpPr>
            <p:nvPr/>
          </p:nvSpPr>
          <p:spPr bwMode="auto">
            <a:xfrm>
              <a:off x="5867381" y="1928811"/>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t</a:t>
              </a:r>
              <a:endParaRPr lang="zh-CN" altLang="zh-CN" sz="1400" b="1" i="1">
                <a:latin typeface="Arial" panose="020B0604020202020204" pitchFamily="34" charset="0"/>
              </a:endParaRPr>
            </a:p>
          </p:txBody>
        </p:sp>
        <p:sp>
          <p:nvSpPr>
            <p:cNvPr id="31867" name="Text Box 51"/>
            <p:cNvSpPr txBox="1">
              <a:spLocks noChangeArrowheads="1"/>
            </p:cNvSpPr>
            <p:nvPr/>
          </p:nvSpPr>
          <p:spPr bwMode="auto">
            <a:xfrm>
              <a:off x="6448404" y="1928811"/>
              <a:ext cx="1266868" cy="500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2000" b="1" i="1">
                  <a:latin typeface="Times New Roman" panose="02020603050405020304" pitchFamily="18" charset="0"/>
                </a:rPr>
                <a:t>f</a:t>
              </a:r>
              <a:r>
                <a:rPr lang="en-US" altLang="zh-CN" sz="2000" b="1" baseline="-25000">
                  <a:latin typeface="Times New Roman" panose="02020603050405020304" pitchFamily="18" charset="0"/>
                </a:rPr>
                <a:t>2</a:t>
              </a:r>
              <a:r>
                <a:rPr lang="en-US" altLang="zh-CN" sz="2000" b="1" i="1">
                  <a:latin typeface="Times New Roman" panose="02020603050405020304" pitchFamily="18" charset="0"/>
                </a:rPr>
                <a:t>= f</a:t>
              </a:r>
              <a:r>
                <a:rPr lang="en-US" altLang="zh-CN" sz="2000" b="1" baseline="-25000">
                  <a:latin typeface="Times New Roman" panose="02020603050405020304" pitchFamily="18" charset="0"/>
                </a:rPr>
                <a:t>1 </a:t>
              </a:r>
              <a:r>
                <a:rPr lang="en-US" altLang="zh-CN" sz="2000" b="1" i="1">
                  <a:latin typeface="Times New Roman" panose="02020603050405020304" pitchFamily="18" charset="0"/>
                </a:rPr>
                <a:t>+g</a:t>
              </a:r>
              <a:r>
                <a:rPr lang="en-US" altLang="zh-CN" sz="2000" b="1" baseline="-25000">
                  <a:latin typeface="Times New Roman" panose="02020603050405020304" pitchFamily="18" charset="0"/>
                </a:rPr>
                <a:t>1</a:t>
              </a:r>
              <a:endParaRPr lang="zh-CN" altLang="zh-CN" sz="2000" b="1">
                <a:latin typeface="Arial" panose="020B0604020202020204" pitchFamily="34" charset="0"/>
              </a:endParaRPr>
            </a:p>
          </p:txBody>
        </p:sp>
      </p:grpSp>
      <p:grpSp>
        <p:nvGrpSpPr>
          <p:cNvPr id="3" name="组合 204"/>
          <p:cNvGrpSpPr/>
          <p:nvPr/>
        </p:nvGrpSpPr>
        <p:grpSpPr bwMode="auto">
          <a:xfrm>
            <a:off x="2000250" y="3571875"/>
            <a:ext cx="5786438" cy="2357438"/>
            <a:chOff x="2000232" y="3571892"/>
            <a:chExt cx="5786478" cy="2357438"/>
          </a:xfrm>
        </p:grpSpPr>
        <p:sp>
          <p:nvSpPr>
            <p:cNvPr id="135" name="Text Box 51"/>
            <p:cNvSpPr txBox="1">
              <a:spLocks noChangeArrowheads="1"/>
            </p:cNvSpPr>
            <p:nvPr/>
          </p:nvSpPr>
          <p:spPr bwMode="auto">
            <a:xfrm>
              <a:off x="6429388" y="4572017"/>
              <a:ext cx="1357322" cy="857250"/>
            </a:xfrm>
            <a:prstGeom prst="rect">
              <a:avLst/>
            </a:prstGeom>
            <a:noFill/>
            <a:ln w="9525">
              <a:noFill/>
              <a:miter lim="800000"/>
            </a:ln>
          </p:spPr>
          <p:txBody>
            <a:bodyPr/>
            <a:lstStyle/>
            <a:p>
              <a:pPr algn="just" eaLnBrk="1" hangingPunct="1">
                <a:defRPr/>
              </a:pPr>
              <a:r>
                <a:rPr lang="en-US" altLang="zh-CN" sz="2000" b="1" i="1" dirty="0">
                  <a:latin typeface="Times New Roman" panose="02020603050405020304" pitchFamily="18" charset="0"/>
                  <a:ea typeface="+mn-ea"/>
                  <a:cs typeface="Times New Roman" panose="02020603050405020304" pitchFamily="18" charset="0"/>
                </a:rPr>
                <a:t>AN</a:t>
              </a:r>
              <a:r>
                <a:rPr lang="en-US" altLang="zh-CN" sz="2000" b="1" dirty="0">
                  <a:latin typeface="Times New Roman" panose="02020603050405020304" pitchFamily="18" charset="0"/>
                  <a:ea typeface="+mn-ea"/>
                  <a:cs typeface="Times New Roman" panose="02020603050405020304" pitchFamily="18" charset="0"/>
                </a:rPr>
                <a:t>(</a:t>
              </a:r>
              <a:r>
                <a:rPr lang="en-US" altLang="zh-CN" sz="2000" b="1" i="1" dirty="0">
                  <a:latin typeface="Times New Roman" panose="02020603050405020304" pitchFamily="18" charset="0"/>
                  <a:ea typeface="+mn-ea"/>
                  <a:cs typeface="Times New Roman" panose="02020603050405020304" pitchFamily="18" charset="0"/>
                </a:rPr>
                <a:t>f</a:t>
              </a:r>
              <a:r>
                <a:rPr lang="en-US" altLang="zh-CN" sz="2000" b="1" baseline="-25000" dirty="0">
                  <a:latin typeface="Times New Roman" panose="02020603050405020304" pitchFamily="18" charset="0"/>
                  <a:ea typeface="+mn-ea"/>
                  <a:cs typeface="Times New Roman" panose="02020603050405020304" pitchFamily="18" charset="0"/>
                </a:rPr>
                <a:t>2</a:t>
              </a:r>
              <a:r>
                <a:rPr lang="en-US" altLang="zh-CN" sz="2000" b="1" dirty="0">
                  <a:latin typeface="Times New Roman" panose="02020603050405020304" pitchFamily="18" charset="0"/>
                  <a:ea typeface="+mn-ea"/>
                  <a:cs typeface="Times New Roman" panose="02020603050405020304" pitchFamily="18" charset="0"/>
                </a:rPr>
                <a:t>)</a:t>
              </a:r>
              <a:r>
                <a:rPr lang="zh-CN" altLang="en-US" sz="2000" b="1" dirty="0">
                  <a:latin typeface="Times New Roman" panose="02020603050405020304" pitchFamily="18" charset="0"/>
                  <a:ea typeface="+mn-ea"/>
                  <a:cs typeface="Times New Roman" panose="02020603050405020304" pitchFamily="18" charset="0"/>
                </a:rPr>
                <a:t>与</a:t>
              </a:r>
              <a:endParaRPr lang="en-US" altLang="zh-CN" sz="2000" b="1" dirty="0">
                <a:latin typeface="Times New Roman" panose="02020603050405020304" pitchFamily="18" charset="0"/>
                <a:ea typeface="+mn-ea"/>
                <a:cs typeface="Times New Roman" panose="02020603050405020304" pitchFamily="18" charset="0"/>
              </a:endParaRPr>
            </a:p>
            <a:p>
              <a:pPr algn="just" eaLnBrk="1" hangingPunct="1">
                <a:defRPr/>
              </a:pPr>
              <a:r>
                <a:rPr lang="zh-CN" altLang="en-US" sz="2000" b="1" dirty="0">
                  <a:latin typeface="+mn-ea"/>
                  <a:ea typeface="+mn-ea"/>
                </a:rPr>
                <a:t>极大流</a:t>
              </a:r>
              <a:r>
                <a:rPr lang="en-US" altLang="zh-CN" sz="2000" b="1" i="1" dirty="0">
                  <a:latin typeface="Times New Roman" panose="02020603050405020304" pitchFamily="18" charset="0"/>
                  <a:ea typeface="+mn-ea"/>
                  <a:cs typeface="Times New Roman" panose="02020603050405020304" pitchFamily="18" charset="0"/>
                </a:rPr>
                <a:t>g</a:t>
              </a:r>
              <a:r>
                <a:rPr lang="en-US" altLang="zh-CN" sz="2000" b="1" baseline="-25000" dirty="0">
                  <a:latin typeface="Times New Roman" panose="02020603050405020304" pitchFamily="18" charset="0"/>
                  <a:ea typeface="+mn-ea"/>
                  <a:cs typeface="Times New Roman" panose="02020603050405020304" pitchFamily="18" charset="0"/>
                </a:rPr>
                <a:t>2</a:t>
              </a:r>
              <a:endParaRPr lang="zh-CN" altLang="zh-CN" sz="2000" b="1" dirty="0">
                <a:latin typeface="Times New Roman" panose="02020603050405020304" pitchFamily="18" charset="0"/>
                <a:ea typeface="+mn-ea"/>
                <a:cs typeface="Times New Roman" panose="02020603050405020304" pitchFamily="18" charset="0"/>
              </a:endParaRPr>
            </a:p>
          </p:txBody>
        </p:sp>
        <p:sp>
          <p:nvSpPr>
            <p:cNvPr id="31751" name="Text Box 51"/>
            <p:cNvSpPr txBox="1">
              <a:spLocks noChangeArrowheads="1"/>
            </p:cNvSpPr>
            <p:nvPr/>
          </p:nvSpPr>
          <p:spPr bwMode="auto">
            <a:xfrm>
              <a:off x="2000232" y="4286267"/>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2,0</a:t>
              </a:r>
              <a:endParaRPr lang="zh-CN" altLang="zh-CN" sz="1600" b="1">
                <a:latin typeface="Arial" panose="020B0604020202020204" pitchFamily="34" charset="0"/>
              </a:endParaRPr>
            </a:p>
          </p:txBody>
        </p:sp>
        <p:sp>
          <p:nvSpPr>
            <p:cNvPr id="31752" name="Oval 6"/>
            <p:cNvSpPr>
              <a:spLocks noChangeArrowheads="1"/>
            </p:cNvSpPr>
            <p:nvPr/>
          </p:nvSpPr>
          <p:spPr bwMode="auto">
            <a:xfrm>
              <a:off x="2018539" y="4681550"/>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753" name="Oval 7"/>
            <p:cNvSpPr>
              <a:spLocks noChangeArrowheads="1"/>
            </p:cNvSpPr>
            <p:nvPr/>
          </p:nvSpPr>
          <p:spPr bwMode="auto">
            <a:xfrm>
              <a:off x="2550600" y="4150197"/>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754" name="Oval 8"/>
            <p:cNvSpPr>
              <a:spLocks noChangeArrowheads="1"/>
            </p:cNvSpPr>
            <p:nvPr/>
          </p:nvSpPr>
          <p:spPr bwMode="auto">
            <a:xfrm>
              <a:off x="3181225" y="3618845"/>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755" name="Oval 9"/>
            <p:cNvSpPr>
              <a:spLocks noChangeArrowheads="1"/>
            </p:cNvSpPr>
            <p:nvPr/>
          </p:nvSpPr>
          <p:spPr bwMode="auto">
            <a:xfrm>
              <a:off x="2567644" y="5203741"/>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756" name="Oval 10"/>
            <p:cNvSpPr>
              <a:spLocks noChangeArrowheads="1"/>
            </p:cNvSpPr>
            <p:nvPr/>
          </p:nvSpPr>
          <p:spPr bwMode="auto">
            <a:xfrm>
              <a:off x="3147137" y="5689287"/>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757" name="Oval 11"/>
            <p:cNvSpPr>
              <a:spLocks noChangeArrowheads="1"/>
            </p:cNvSpPr>
            <p:nvPr/>
          </p:nvSpPr>
          <p:spPr bwMode="auto">
            <a:xfrm>
              <a:off x="3164181" y="4709032"/>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758" name="Oval 12"/>
            <p:cNvSpPr>
              <a:spLocks noChangeArrowheads="1"/>
            </p:cNvSpPr>
            <p:nvPr/>
          </p:nvSpPr>
          <p:spPr bwMode="auto">
            <a:xfrm>
              <a:off x="3880026" y="4141035"/>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759" name="Oval 13"/>
            <p:cNvSpPr>
              <a:spLocks noChangeArrowheads="1"/>
            </p:cNvSpPr>
            <p:nvPr/>
          </p:nvSpPr>
          <p:spPr bwMode="auto">
            <a:xfrm>
              <a:off x="3905591" y="5231225"/>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760" name="Oval 14"/>
            <p:cNvSpPr>
              <a:spLocks noChangeArrowheads="1"/>
            </p:cNvSpPr>
            <p:nvPr/>
          </p:nvSpPr>
          <p:spPr bwMode="auto">
            <a:xfrm>
              <a:off x="4519173" y="4718194"/>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761" name="Oval 15"/>
            <p:cNvSpPr>
              <a:spLocks noChangeArrowheads="1"/>
            </p:cNvSpPr>
            <p:nvPr/>
          </p:nvSpPr>
          <p:spPr bwMode="auto">
            <a:xfrm>
              <a:off x="5260584" y="4159358"/>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762" name="Oval 16"/>
            <p:cNvSpPr>
              <a:spLocks noChangeArrowheads="1"/>
            </p:cNvSpPr>
            <p:nvPr/>
          </p:nvSpPr>
          <p:spPr bwMode="auto">
            <a:xfrm>
              <a:off x="5277628" y="5212903"/>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763" name="Oval 17"/>
            <p:cNvSpPr>
              <a:spLocks noChangeArrowheads="1"/>
            </p:cNvSpPr>
            <p:nvPr/>
          </p:nvSpPr>
          <p:spPr bwMode="auto">
            <a:xfrm>
              <a:off x="5874166" y="4718194"/>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764" name="Oval 18"/>
            <p:cNvSpPr>
              <a:spLocks noChangeArrowheads="1"/>
            </p:cNvSpPr>
            <p:nvPr/>
          </p:nvSpPr>
          <p:spPr bwMode="auto">
            <a:xfrm>
              <a:off x="4502129" y="5689287"/>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31765" name="AutoShape 19"/>
            <p:cNvCxnSpPr>
              <a:cxnSpLocks noChangeShapeType="1"/>
            </p:cNvCxnSpPr>
            <p:nvPr/>
          </p:nvCxnSpPr>
          <p:spPr bwMode="auto">
            <a:xfrm flipV="1">
              <a:off x="2167112" y="4350600"/>
              <a:ext cx="392010" cy="349272"/>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766" name="AutoShape 21"/>
            <p:cNvCxnSpPr>
              <a:cxnSpLocks noChangeShapeType="1"/>
            </p:cNvCxnSpPr>
            <p:nvPr/>
          </p:nvCxnSpPr>
          <p:spPr bwMode="auto">
            <a:xfrm>
              <a:off x="2167112" y="4872790"/>
              <a:ext cx="400532" cy="381337"/>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767" name="AutoShape 22"/>
            <p:cNvCxnSpPr>
              <a:cxnSpLocks noChangeShapeType="1"/>
            </p:cNvCxnSpPr>
            <p:nvPr/>
          </p:nvCxnSpPr>
          <p:spPr bwMode="auto">
            <a:xfrm>
              <a:off x="2746605" y="5404144"/>
              <a:ext cx="400532"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768" name="AutoShape 24"/>
            <p:cNvCxnSpPr>
              <a:cxnSpLocks noChangeShapeType="1"/>
            </p:cNvCxnSpPr>
            <p:nvPr/>
          </p:nvCxnSpPr>
          <p:spPr bwMode="auto">
            <a:xfrm>
              <a:off x="3377230" y="3803213"/>
              <a:ext cx="528361" cy="38362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769" name="AutoShape 26"/>
            <p:cNvCxnSpPr>
              <a:cxnSpLocks noChangeShapeType="1"/>
            </p:cNvCxnSpPr>
            <p:nvPr/>
          </p:nvCxnSpPr>
          <p:spPr bwMode="auto">
            <a:xfrm flipV="1">
              <a:off x="3360186" y="4313954"/>
              <a:ext cx="545406" cy="425998"/>
            </a:xfrm>
            <a:prstGeom prst="straightConnector1">
              <a:avLst/>
            </a:prstGeom>
            <a:noFill/>
            <a:ln w="3175">
              <a:solidFill>
                <a:srgbClr val="000000"/>
              </a:solidFill>
              <a:round/>
              <a:headEnd type="arrow" w="med" len="med"/>
            </a:ln>
            <a:extLst>
              <a:ext uri="{909E8E84-426E-40DD-AFC4-6F175D3DCCD1}">
                <a14:hiddenFill xmlns:a14="http://schemas.microsoft.com/office/drawing/2010/main">
                  <a:noFill/>
                </a14:hiddenFill>
              </a:ext>
            </a:extLst>
          </p:spPr>
        </p:cxnSp>
        <p:cxnSp>
          <p:nvCxnSpPr>
            <p:cNvPr id="31770" name="AutoShape 27"/>
            <p:cNvCxnSpPr>
              <a:cxnSpLocks noChangeShapeType="1"/>
            </p:cNvCxnSpPr>
            <p:nvPr/>
          </p:nvCxnSpPr>
          <p:spPr bwMode="auto">
            <a:xfrm flipV="1">
              <a:off x="2698669" y="3828408"/>
              <a:ext cx="566711" cy="137533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771" name="AutoShape 29"/>
            <p:cNvCxnSpPr>
              <a:cxnSpLocks noChangeShapeType="1"/>
            </p:cNvCxnSpPr>
            <p:nvPr/>
          </p:nvCxnSpPr>
          <p:spPr bwMode="auto">
            <a:xfrm>
              <a:off x="3360186" y="4826983"/>
              <a:ext cx="1158987"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772" name="AutoShape 31"/>
            <p:cNvCxnSpPr>
              <a:cxnSpLocks noChangeShapeType="1"/>
            </p:cNvCxnSpPr>
            <p:nvPr/>
          </p:nvCxnSpPr>
          <p:spPr bwMode="auto">
            <a:xfrm flipV="1">
              <a:off x="3343142" y="5404144"/>
              <a:ext cx="562450"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773" name="AutoShape 32"/>
            <p:cNvCxnSpPr>
              <a:cxnSpLocks noChangeShapeType="1"/>
            </p:cNvCxnSpPr>
            <p:nvPr/>
          </p:nvCxnSpPr>
          <p:spPr bwMode="auto">
            <a:xfrm>
              <a:off x="4076031" y="5404144"/>
              <a:ext cx="443142"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774" name="AutoShape 33"/>
            <p:cNvCxnSpPr>
              <a:cxnSpLocks noChangeShapeType="1"/>
            </p:cNvCxnSpPr>
            <p:nvPr/>
          </p:nvCxnSpPr>
          <p:spPr bwMode="auto">
            <a:xfrm flipV="1">
              <a:off x="4698135" y="4359761"/>
              <a:ext cx="579494" cy="380192"/>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775" name="AutoShape 35"/>
            <p:cNvCxnSpPr>
              <a:cxnSpLocks noChangeShapeType="1"/>
            </p:cNvCxnSpPr>
            <p:nvPr/>
          </p:nvCxnSpPr>
          <p:spPr bwMode="auto">
            <a:xfrm flipV="1">
              <a:off x="4698135" y="5404144"/>
              <a:ext cx="579494"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1776" name="AutoShape 36"/>
            <p:cNvCxnSpPr>
              <a:cxnSpLocks noChangeShapeType="1"/>
            </p:cNvCxnSpPr>
            <p:nvPr/>
          </p:nvCxnSpPr>
          <p:spPr bwMode="auto">
            <a:xfrm>
              <a:off x="5456589" y="4313954"/>
              <a:ext cx="417576" cy="42599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sp>
          <p:nvSpPr>
            <p:cNvPr id="31777" name="Text Box 44"/>
            <p:cNvSpPr txBox="1">
              <a:spLocks noChangeArrowheads="1"/>
            </p:cNvSpPr>
            <p:nvPr/>
          </p:nvSpPr>
          <p:spPr bwMode="auto">
            <a:xfrm>
              <a:off x="3787349" y="4084923"/>
              <a:ext cx="407989" cy="36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700">
                  <a:latin typeface="Times New Roman" panose="02020603050405020304" pitchFamily="18" charset="0"/>
                </a:rPr>
                <a:t>6</a:t>
              </a:r>
              <a:endParaRPr lang="zh-CN" altLang="zh-CN" sz="1800">
                <a:latin typeface="Arial" panose="020B0604020202020204" pitchFamily="34" charset="0"/>
              </a:endParaRPr>
            </a:p>
          </p:txBody>
        </p:sp>
        <p:sp>
          <p:nvSpPr>
            <p:cNvPr id="31778" name="Text Box 51"/>
            <p:cNvSpPr txBox="1">
              <a:spLocks noChangeArrowheads="1"/>
            </p:cNvSpPr>
            <p:nvPr/>
          </p:nvSpPr>
          <p:spPr bwMode="auto">
            <a:xfrm>
              <a:off x="2000232" y="4985649"/>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2,1</a:t>
              </a:r>
              <a:endParaRPr lang="zh-CN" altLang="zh-CN" sz="1600" b="1">
                <a:latin typeface="Arial" panose="020B0604020202020204" pitchFamily="34" charset="0"/>
              </a:endParaRPr>
            </a:p>
          </p:txBody>
        </p:sp>
        <p:sp>
          <p:nvSpPr>
            <p:cNvPr id="31779" name="Text Box 51"/>
            <p:cNvSpPr txBox="1">
              <a:spLocks noChangeArrowheads="1"/>
            </p:cNvSpPr>
            <p:nvPr/>
          </p:nvSpPr>
          <p:spPr bwMode="auto">
            <a:xfrm>
              <a:off x="3071794" y="4056962"/>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3,1</a:t>
              </a:r>
              <a:endParaRPr lang="zh-CN" altLang="zh-CN" sz="1600" b="1">
                <a:latin typeface="Arial" panose="020B0604020202020204" pitchFamily="34" charset="0"/>
              </a:endParaRPr>
            </a:p>
          </p:txBody>
        </p:sp>
        <p:sp>
          <p:nvSpPr>
            <p:cNvPr id="31780" name="Text Box 51"/>
            <p:cNvSpPr txBox="1">
              <a:spLocks noChangeArrowheads="1"/>
            </p:cNvSpPr>
            <p:nvPr/>
          </p:nvSpPr>
          <p:spPr bwMode="auto">
            <a:xfrm>
              <a:off x="3571857" y="3714767"/>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3,1</a:t>
              </a:r>
              <a:endParaRPr lang="zh-CN" altLang="zh-CN" sz="1600" b="1">
                <a:latin typeface="Arial" panose="020B0604020202020204" pitchFamily="34" charset="0"/>
              </a:endParaRPr>
            </a:p>
          </p:txBody>
        </p:sp>
        <p:sp>
          <p:nvSpPr>
            <p:cNvPr id="31781" name="Text Box 51"/>
            <p:cNvSpPr txBox="1">
              <a:spLocks noChangeArrowheads="1"/>
            </p:cNvSpPr>
            <p:nvPr/>
          </p:nvSpPr>
          <p:spPr bwMode="auto">
            <a:xfrm>
              <a:off x="3286120" y="4286267"/>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2,1</a:t>
              </a:r>
              <a:endParaRPr lang="zh-CN" altLang="zh-CN" sz="1600" b="1">
                <a:latin typeface="Arial" panose="020B0604020202020204" pitchFamily="34" charset="0"/>
              </a:endParaRPr>
            </a:p>
          </p:txBody>
        </p:sp>
        <p:sp>
          <p:nvSpPr>
            <p:cNvPr id="31782" name="Text Box 51"/>
            <p:cNvSpPr txBox="1">
              <a:spLocks noChangeArrowheads="1"/>
            </p:cNvSpPr>
            <p:nvPr/>
          </p:nvSpPr>
          <p:spPr bwMode="auto">
            <a:xfrm>
              <a:off x="3857607" y="4557024"/>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2,1</a:t>
              </a:r>
              <a:endParaRPr lang="zh-CN" altLang="zh-CN" sz="1600" b="1">
                <a:latin typeface="Arial" panose="020B0604020202020204" pitchFamily="34" charset="0"/>
              </a:endParaRPr>
            </a:p>
          </p:txBody>
        </p:sp>
        <p:sp>
          <p:nvSpPr>
            <p:cNvPr id="31783" name="Text Box 51"/>
            <p:cNvSpPr txBox="1">
              <a:spLocks noChangeArrowheads="1"/>
            </p:cNvSpPr>
            <p:nvPr/>
          </p:nvSpPr>
          <p:spPr bwMode="auto">
            <a:xfrm>
              <a:off x="2500294" y="5485712"/>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3,0</a:t>
              </a:r>
              <a:endParaRPr lang="zh-CN" altLang="zh-CN" sz="1600" b="1">
                <a:latin typeface="Arial" panose="020B0604020202020204" pitchFamily="34" charset="0"/>
              </a:endParaRPr>
            </a:p>
          </p:txBody>
        </p:sp>
        <p:sp>
          <p:nvSpPr>
            <p:cNvPr id="31784" name="Text Box 51"/>
            <p:cNvSpPr txBox="1">
              <a:spLocks noChangeArrowheads="1"/>
            </p:cNvSpPr>
            <p:nvPr/>
          </p:nvSpPr>
          <p:spPr bwMode="auto">
            <a:xfrm>
              <a:off x="3571857" y="5500705"/>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3,0</a:t>
              </a:r>
              <a:endParaRPr lang="zh-CN" altLang="zh-CN" sz="1600" b="1">
                <a:latin typeface="Arial" panose="020B0604020202020204" pitchFamily="34" charset="0"/>
              </a:endParaRPr>
            </a:p>
          </p:txBody>
        </p:sp>
        <p:sp>
          <p:nvSpPr>
            <p:cNvPr id="31785" name="Text Box 51"/>
            <p:cNvSpPr txBox="1">
              <a:spLocks noChangeArrowheads="1"/>
            </p:cNvSpPr>
            <p:nvPr/>
          </p:nvSpPr>
          <p:spPr bwMode="auto">
            <a:xfrm>
              <a:off x="4214810" y="5357826"/>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2,0</a:t>
              </a:r>
              <a:endParaRPr lang="zh-CN" altLang="zh-CN" sz="1600" b="1">
                <a:latin typeface="Arial" panose="020B0604020202020204" pitchFamily="34" charset="0"/>
              </a:endParaRPr>
            </a:p>
          </p:txBody>
        </p:sp>
        <p:sp>
          <p:nvSpPr>
            <p:cNvPr id="31786" name="Text Box 51"/>
            <p:cNvSpPr txBox="1">
              <a:spLocks noChangeArrowheads="1"/>
            </p:cNvSpPr>
            <p:nvPr/>
          </p:nvSpPr>
          <p:spPr bwMode="auto">
            <a:xfrm>
              <a:off x="4510068" y="4357705"/>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1,1</a:t>
              </a:r>
              <a:endParaRPr lang="zh-CN" altLang="zh-CN" sz="1600" b="1">
                <a:latin typeface="Arial" panose="020B0604020202020204" pitchFamily="34" charset="0"/>
              </a:endParaRPr>
            </a:p>
          </p:txBody>
        </p:sp>
        <p:sp>
          <p:nvSpPr>
            <p:cNvPr id="31787" name="Text Box 51"/>
            <p:cNvSpPr txBox="1">
              <a:spLocks noChangeArrowheads="1"/>
            </p:cNvSpPr>
            <p:nvPr/>
          </p:nvSpPr>
          <p:spPr bwMode="auto">
            <a:xfrm>
              <a:off x="5643544" y="4342712"/>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2,1</a:t>
              </a:r>
              <a:endParaRPr lang="zh-CN" altLang="zh-CN" sz="1600" b="1">
                <a:latin typeface="Arial" panose="020B0604020202020204" pitchFamily="34" charset="0"/>
              </a:endParaRPr>
            </a:p>
          </p:txBody>
        </p:sp>
        <p:sp>
          <p:nvSpPr>
            <p:cNvPr id="31788" name="Text Box 51"/>
            <p:cNvSpPr txBox="1">
              <a:spLocks noChangeArrowheads="1"/>
            </p:cNvSpPr>
            <p:nvPr/>
          </p:nvSpPr>
          <p:spPr bwMode="auto">
            <a:xfrm>
              <a:off x="4929169" y="5485712"/>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3,0</a:t>
              </a:r>
              <a:endParaRPr lang="zh-CN" altLang="zh-CN" sz="1600" b="1">
                <a:latin typeface="Arial" panose="020B0604020202020204" pitchFamily="34" charset="0"/>
              </a:endParaRPr>
            </a:p>
          </p:txBody>
        </p:sp>
        <p:sp>
          <p:nvSpPr>
            <p:cNvPr id="31789" name="Text Box 51"/>
            <p:cNvSpPr txBox="1">
              <a:spLocks noChangeArrowheads="1"/>
            </p:cNvSpPr>
            <p:nvPr/>
          </p:nvSpPr>
          <p:spPr bwMode="auto">
            <a:xfrm>
              <a:off x="3152756" y="3571892"/>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3</a:t>
              </a:r>
              <a:endParaRPr lang="zh-CN" altLang="zh-CN" sz="1400" b="1">
                <a:latin typeface="Arial" panose="020B0604020202020204" pitchFamily="34" charset="0"/>
              </a:endParaRPr>
            </a:p>
          </p:txBody>
        </p:sp>
        <p:sp>
          <p:nvSpPr>
            <p:cNvPr id="31790" name="Text Box 51"/>
            <p:cNvSpPr txBox="1">
              <a:spLocks noChangeArrowheads="1"/>
            </p:cNvSpPr>
            <p:nvPr/>
          </p:nvSpPr>
          <p:spPr bwMode="auto">
            <a:xfrm>
              <a:off x="2500294" y="4143392"/>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a:t>
              </a:r>
              <a:endParaRPr lang="zh-CN" altLang="zh-CN" sz="1400" b="1">
                <a:latin typeface="Arial" panose="020B0604020202020204" pitchFamily="34" charset="0"/>
              </a:endParaRPr>
            </a:p>
          </p:txBody>
        </p:sp>
        <p:sp>
          <p:nvSpPr>
            <p:cNvPr id="31791" name="Text Box 51"/>
            <p:cNvSpPr txBox="1">
              <a:spLocks noChangeArrowheads="1"/>
            </p:cNvSpPr>
            <p:nvPr/>
          </p:nvSpPr>
          <p:spPr bwMode="auto">
            <a:xfrm>
              <a:off x="2500294" y="5143517"/>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2</a:t>
              </a:r>
              <a:endParaRPr lang="zh-CN" altLang="zh-CN" sz="1400" b="1">
                <a:latin typeface="Arial" panose="020B0604020202020204" pitchFamily="34" charset="0"/>
              </a:endParaRPr>
            </a:p>
          </p:txBody>
        </p:sp>
        <p:sp>
          <p:nvSpPr>
            <p:cNvPr id="31792" name="Text Box 51"/>
            <p:cNvSpPr txBox="1">
              <a:spLocks noChangeArrowheads="1"/>
            </p:cNvSpPr>
            <p:nvPr/>
          </p:nvSpPr>
          <p:spPr bwMode="auto">
            <a:xfrm>
              <a:off x="3143232" y="4643455"/>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4</a:t>
              </a:r>
              <a:endParaRPr lang="zh-CN" altLang="zh-CN" sz="1400" b="1">
                <a:latin typeface="Arial" panose="020B0604020202020204" pitchFamily="34" charset="0"/>
              </a:endParaRPr>
            </a:p>
          </p:txBody>
        </p:sp>
        <p:sp>
          <p:nvSpPr>
            <p:cNvPr id="31793" name="Text Box 51"/>
            <p:cNvSpPr txBox="1">
              <a:spLocks noChangeArrowheads="1"/>
            </p:cNvSpPr>
            <p:nvPr/>
          </p:nvSpPr>
          <p:spPr bwMode="auto">
            <a:xfrm>
              <a:off x="3143232" y="5643580"/>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5</a:t>
              </a:r>
              <a:endParaRPr lang="zh-CN" altLang="zh-CN" sz="1400" b="1">
                <a:latin typeface="Arial" panose="020B0604020202020204" pitchFamily="34" charset="0"/>
              </a:endParaRPr>
            </a:p>
          </p:txBody>
        </p:sp>
        <p:sp>
          <p:nvSpPr>
            <p:cNvPr id="31794" name="Text Box 51"/>
            <p:cNvSpPr txBox="1">
              <a:spLocks noChangeArrowheads="1"/>
            </p:cNvSpPr>
            <p:nvPr/>
          </p:nvSpPr>
          <p:spPr bwMode="auto">
            <a:xfrm>
              <a:off x="3867131" y="4071955"/>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6</a:t>
              </a:r>
              <a:endParaRPr lang="zh-CN" altLang="zh-CN" sz="1400" b="1">
                <a:latin typeface="Arial" panose="020B0604020202020204" pitchFamily="34" charset="0"/>
              </a:endParaRPr>
            </a:p>
          </p:txBody>
        </p:sp>
        <p:sp>
          <p:nvSpPr>
            <p:cNvPr id="31795" name="Text Box 51"/>
            <p:cNvSpPr txBox="1">
              <a:spLocks noChangeArrowheads="1"/>
            </p:cNvSpPr>
            <p:nvPr/>
          </p:nvSpPr>
          <p:spPr bwMode="auto">
            <a:xfrm>
              <a:off x="3867131" y="5214955"/>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7</a:t>
              </a:r>
              <a:endParaRPr lang="zh-CN" altLang="zh-CN" sz="1400" b="1">
                <a:latin typeface="Arial" panose="020B0604020202020204" pitchFamily="34" charset="0"/>
              </a:endParaRPr>
            </a:p>
          </p:txBody>
        </p:sp>
        <p:sp>
          <p:nvSpPr>
            <p:cNvPr id="31796" name="Text Box 51"/>
            <p:cNvSpPr txBox="1">
              <a:spLocks noChangeArrowheads="1"/>
            </p:cNvSpPr>
            <p:nvPr/>
          </p:nvSpPr>
          <p:spPr bwMode="auto">
            <a:xfrm>
              <a:off x="4510068" y="4714892"/>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8</a:t>
              </a:r>
              <a:endParaRPr lang="zh-CN" altLang="zh-CN" sz="1400" b="1">
                <a:latin typeface="Arial" panose="020B0604020202020204" pitchFamily="34" charset="0"/>
              </a:endParaRPr>
            </a:p>
          </p:txBody>
        </p:sp>
        <p:sp>
          <p:nvSpPr>
            <p:cNvPr id="31797" name="Text Box 51"/>
            <p:cNvSpPr txBox="1">
              <a:spLocks noChangeArrowheads="1"/>
            </p:cNvSpPr>
            <p:nvPr/>
          </p:nvSpPr>
          <p:spPr bwMode="auto">
            <a:xfrm>
              <a:off x="4500544" y="5643580"/>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9</a:t>
              </a:r>
              <a:endParaRPr lang="zh-CN" altLang="zh-CN" sz="1400" b="1">
                <a:latin typeface="Arial" panose="020B0604020202020204" pitchFamily="34" charset="0"/>
              </a:endParaRPr>
            </a:p>
          </p:txBody>
        </p:sp>
        <p:sp>
          <p:nvSpPr>
            <p:cNvPr id="31798" name="Text Box 51"/>
            <p:cNvSpPr txBox="1">
              <a:spLocks noChangeArrowheads="1"/>
            </p:cNvSpPr>
            <p:nvPr/>
          </p:nvSpPr>
          <p:spPr bwMode="auto">
            <a:xfrm>
              <a:off x="5224443" y="4143392"/>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10</a:t>
              </a:r>
              <a:endParaRPr lang="zh-CN" altLang="zh-CN" sz="1400" b="1">
                <a:latin typeface="Arial" panose="020B0604020202020204" pitchFamily="34" charset="0"/>
              </a:endParaRPr>
            </a:p>
          </p:txBody>
        </p:sp>
        <p:sp>
          <p:nvSpPr>
            <p:cNvPr id="31799" name="Text Box 51"/>
            <p:cNvSpPr txBox="1">
              <a:spLocks noChangeArrowheads="1"/>
            </p:cNvSpPr>
            <p:nvPr/>
          </p:nvSpPr>
          <p:spPr bwMode="auto">
            <a:xfrm>
              <a:off x="5214919" y="5143517"/>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11</a:t>
              </a:r>
              <a:endParaRPr lang="zh-CN" altLang="zh-CN" sz="1400" b="1">
                <a:latin typeface="Arial" panose="020B0604020202020204" pitchFamily="34" charset="0"/>
              </a:endParaRPr>
            </a:p>
          </p:txBody>
        </p:sp>
        <p:sp>
          <p:nvSpPr>
            <p:cNvPr id="31800" name="Text Box 51"/>
            <p:cNvSpPr txBox="1">
              <a:spLocks noChangeArrowheads="1"/>
            </p:cNvSpPr>
            <p:nvPr/>
          </p:nvSpPr>
          <p:spPr bwMode="auto">
            <a:xfrm>
              <a:off x="2000232" y="4643455"/>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s</a:t>
              </a:r>
              <a:endParaRPr lang="zh-CN" altLang="zh-CN" sz="1400" b="1" i="1">
                <a:latin typeface="Arial" panose="020B0604020202020204" pitchFamily="34" charset="0"/>
              </a:endParaRPr>
            </a:p>
          </p:txBody>
        </p:sp>
        <p:sp>
          <p:nvSpPr>
            <p:cNvPr id="31801" name="Text Box 51"/>
            <p:cNvSpPr txBox="1">
              <a:spLocks noChangeArrowheads="1"/>
            </p:cNvSpPr>
            <p:nvPr/>
          </p:nvSpPr>
          <p:spPr bwMode="auto">
            <a:xfrm>
              <a:off x="5867381" y="4643455"/>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t</a:t>
              </a:r>
              <a:endParaRPr lang="zh-CN" altLang="zh-CN" sz="1400" b="1" i="1">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457200" y="274638"/>
            <a:ext cx="1614488" cy="582612"/>
          </a:xfrm>
        </p:spPr>
        <p:txBody>
          <a:bodyPr/>
          <a:lstStyle/>
          <a:p>
            <a:pPr algn="l"/>
            <a:r>
              <a:rPr lang="zh-CN" altLang="en-US" sz="2800" b="1" smtClean="0">
                <a:solidFill>
                  <a:srgbClr val="C00000"/>
                </a:solidFill>
                <a:latin typeface="Times New Roman" panose="02020603050405020304" pitchFamily="18" charset="0"/>
                <a:cs typeface="Times New Roman" panose="02020603050405020304" pitchFamily="18" charset="0"/>
              </a:rPr>
              <a:t>例</a:t>
            </a:r>
            <a:r>
              <a:rPr lang="en-US" altLang="zh-CN" sz="2800" b="1" smtClean="0">
                <a:solidFill>
                  <a:srgbClr val="C00000"/>
                </a:solidFill>
                <a:latin typeface="Times New Roman" panose="02020603050405020304" pitchFamily="18" charset="0"/>
                <a:cs typeface="Times New Roman" panose="02020603050405020304" pitchFamily="18" charset="0"/>
              </a:rPr>
              <a:t>2(</a:t>
            </a:r>
            <a:r>
              <a:rPr lang="zh-CN" altLang="en-US" sz="2800" b="1" smtClean="0">
                <a:solidFill>
                  <a:srgbClr val="C00000"/>
                </a:solidFill>
                <a:latin typeface="Times New Roman" panose="02020603050405020304" pitchFamily="18" charset="0"/>
                <a:cs typeface="Times New Roman" panose="02020603050405020304" pitchFamily="18" charset="0"/>
              </a:rPr>
              <a:t>续</a:t>
            </a:r>
            <a:r>
              <a:rPr lang="en-US" altLang="zh-CN" sz="2800" b="1" smtClean="0">
                <a:solidFill>
                  <a:srgbClr val="C00000"/>
                </a:solidFill>
                <a:latin typeface="Times New Roman" panose="02020603050405020304" pitchFamily="18" charset="0"/>
                <a:cs typeface="Times New Roman" panose="02020603050405020304" pitchFamily="18" charset="0"/>
              </a:rPr>
              <a:t>)</a:t>
            </a:r>
            <a:endParaRPr lang="zh-CN" altLang="en-US" sz="2800" b="1" smtClean="0">
              <a:solidFill>
                <a:srgbClr val="C00000"/>
              </a:solidFill>
              <a:latin typeface="Times New Roman" panose="02020603050405020304" pitchFamily="18" charset="0"/>
              <a:cs typeface="Times New Roman" panose="02020603050405020304" pitchFamily="18" charset="0"/>
            </a:endParaRPr>
          </a:p>
        </p:txBody>
      </p:sp>
      <p:sp>
        <p:nvSpPr>
          <p:cNvPr id="3277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609FD0E-CBE1-4D59-8F39-7405DEB1DA93}" type="slidenum">
              <a:rPr lang="zh-CN" altLang="en-US" sz="1200" smtClean="0">
                <a:solidFill>
                  <a:srgbClr val="898989"/>
                </a:solidFill>
              </a:rPr>
            </a:fld>
            <a:endParaRPr lang="zh-CN" altLang="en-US" sz="1200" smtClean="0">
              <a:solidFill>
                <a:srgbClr val="898989"/>
              </a:solidFill>
            </a:endParaRPr>
          </a:p>
        </p:txBody>
      </p:sp>
      <p:grpSp>
        <p:nvGrpSpPr>
          <p:cNvPr id="32772" name="组合 5"/>
          <p:cNvGrpSpPr/>
          <p:nvPr/>
        </p:nvGrpSpPr>
        <p:grpSpPr bwMode="auto">
          <a:xfrm>
            <a:off x="1857375" y="857250"/>
            <a:ext cx="5715000" cy="2357438"/>
            <a:chOff x="2571736" y="428625"/>
            <a:chExt cx="5715040" cy="2357438"/>
          </a:xfrm>
        </p:grpSpPr>
        <p:sp>
          <p:nvSpPr>
            <p:cNvPr id="32819" name="Text Box 51"/>
            <p:cNvSpPr txBox="1">
              <a:spLocks noChangeArrowheads="1"/>
            </p:cNvSpPr>
            <p:nvPr/>
          </p:nvSpPr>
          <p:spPr bwMode="auto">
            <a:xfrm>
              <a:off x="2571736" y="1143000"/>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8,6</a:t>
              </a:r>
              <a:endParaRPr lang="zh-CN" altLang="zh-CN" sz="1600" b="1">
                <a:latin typeface="Arial" panose="020B0604020202020204" pitchFamily="34" charset="0"/>
              </a:endParaRPr>
            </a:p>
          </p:txBody>
        </p:sp>
        <p:sp>
          <p:nvSpPr>
            <p:cNvPr id="32820" name="Oval 6"/>
            <p:cNvSpPr>
              <a:spLocks noChangeArrowheads="1"/>
            </p:cNvSpPr>
            <p:nvPr/>
          </p:nvSpPr>
          <p:spPr bwMode="auto">
            <a:xfrm>
              <a:off x="2590043" y="1538283"/>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821" name="Oval 7"/>
            <p:cNvSpPr>
              <a:spLocks noChangeArrowheads="1"/>
            </p:cNvSpPr>
            <p:nvPr/>
          </p:nvSpPr>
          <p:spPr bwMode="auto">
            <a:xfrm>
              <a:off x="3122104" y="1006930"/>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822" name="Oval 8"/>
            <p:cNvSpPr>
              <a:spLocks noChangeArrowheads="1"/>
            </p:cNvSpPr>
            <p:nvPr/>
          </p:nvSpPr>
          <p:spPr bwMode="auto">
            <a:xfrm>
              <a:off x="3752729" y="475578"/>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823" name="Oval 9"/>
            <p:cNvSpPr>
              <a:spLocks noChangeArrowheads="1"/>
            </p:cNvSpPr>
            <p:nvPr/>
          </p:nvSpPr>
          <p:spPr bwMode="auto">
            <a:xfrm>
              <a:off x="3139148" y="2060474"/>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824" name="Oval 10"/>
            <p:cNvSpPr>
              <a:spLocks noChangeArrowheads="1"/>
            </p:cNvSpPr>
            <p:nvPr/>
          </p:nvSpPr>
          <p:spPr bwMode="auto">
            <a:xfrm>
              <a:off x="3718641" y="2546020"/>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825" name="Oval 11"/>
            <p:cNvSpPr>
              <a:spLocks noChangeArrowheads="1"/>
            </p:cNvSpPr>
            <p:nvPr/>
          </p:nvSpPr>
          <p:spPr bwMode="auto">
            <a:xfrm>
              <a:off x="3735685" y="1565765"/>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826" name="Oval 12"/>
            <p:cNvSpPr>
              <a:spLocks noChangeArrowheads="1"/>
            </p:cNvSpPr>
            <p:nvPr/>
          </p:nvSpPr>
          <p:spPr bwMode="auto">
            <a:xfrm>
              <a:off x="4451530" y="997768"/>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827" name="Oval 13"/>
            <p:cNvSpPr>
              <a:spLocks noChangeArrowheads="1"/>
            </p:cNvSpPr>
            <p:nvPr/>
          </p:nvSpPr>
          <p:spPr bwMode="auto">
            <a:xfrm>
              <a:off x="4477095" y="2087958"/>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828" name="Oval 14"/>
            <p:cNvSpPr>
              <a:spLocks noChangeArrowheads="1"/>
            </p:cNvSpPr>
            <p:nvPr/>
          </p:nvSpPr>
          <p:spPr bwMode="auto">
            <a:xfrm>
              <a:off x="5090677" y="1574927"/>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829" name="Oval 15"/>
            <p:cNvSpPr>
              <a:spLocks noChangeArrowheads="1"/>
            </p:cNvSpPr>
            <p:nvPr/>
          </p:nvSpPr>
          <p:spPr bwMode="auto">
            <a:xfrm>
              <a:off x="5832088" y="1016091"/>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830" name="Oval 16"/>
            <p:cNvSpPr>
              <a:spLocks noChangeArrowheads="1"/>
            </p:cNvSpPr>
            <p:nvPr/>
          </p:nvSpPr>
          <p:spPr bwMode="auto">
            <a:xfrm>
              <a:off x="5849132" y="2069636"/>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831" name="Oval 17"/>
            <p:cNvSpPr>
              <a:spLocks noChangeArrowheads="1"/>
            </p:cNvSpPr>
            <p:nvPr/>
          </p:nvSpPr>
          <p:spPr bwMode="auto">
            <a:xfrm>
              <a:off x="6445670" y="1574927"/>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832" name="Oval 18"/>
            <p:cNvSpPr>
              <a:spLocks noChangeArrowheads="1"/>
            </p:cNvSpPr>
            <p:nvPr/>
          </p:nvSpPr>
          <p:spPr bwMode="auto">
            <a:xfrm>
              <a:off x="5073633" y="2546020"/>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32833" name="AutoShape 19"/>
            <p:cNvCxnSpPr>
              <a:cxnSpLocks noChangeShapeType="1"/>
            </p:cNvCxnSpPr>
            <p:nvPr/>
          </p:nvCxnSpPr>
          <p:spPr bwMode="auto">
            <a:xfrm flipV="1">
              <a:off x="2738616" y="1207333"/>
              <a:ext cx="392010" cy="349272"/>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834" name="AutoShape 20"/>
            <p:cNvCxnSpPr>
              <a:cxnSpLocks noChangeShapeType="1"/>
            </p:cNvCxnSpPr>
            <p:nvPr/>
          </p:nvCxnSpPr>
          <p:spPr bwMode="auto">
            <a:xfrm flipV="1">
              <a:off x="3326631" y="659946"/>
              <a:ext cx="434620" cy="38362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835" name="AutoShape 21"/>
            <p:cNvCxnSpPr>
              <a:cxnSpLocks noChangeShapeType="1"/>
            </p:cNvCxnSpPr>
            <p:nvPr/>
          </p:nvCxnSpPr>
          <p:spPr bwMode="auto">
            <a:xfrm>
              <a:off x="2738616" y="1729523"/>
              <a:ext cx="400532" cy="381337"/>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836" name="AutoShape 22"/>
            <p:cNvCxnSpPr>
              <a:cxnSpLocks noChangeShapeType="1"/>
            </p:cNvCxnSpPr>
            <p:nvPr/>
          </p:nvCxnSpPr>
          <p:spPr bwMode="auto">
            <a:xfrm>
              <a:off x="3318109" y="2260877"/>
              <a:ext cx="400532"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837" name="AutoShape 23"/>
            <p:cNvCxnSpPr>
              <a:cxnSpLocks noChangeShapeType="1"/>
            </p:cNvCxnSpPr>
            <p:nvPr/>
          </p:nvCxnSpPr>
          <p:spPr bwMode="auto">
            <a:xfrm>
              <a:off x="3318109" y="1207333"/>
              <a:ext cx="417576" cy="376755"/>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838" name="AutoShape 24"/>
            <p:cNvCxnSpPr>
              <a:cxnSpLocks noChangeShapeType="1"/>
            </p:cNvCxnSpPr>
            <p:nvPr/>
          </p:nvCxnSpPr>
          <p:spPr bwMode="auto">
            <a:xfrm>
              <a:off x="3948734" y="659946"/>
              <a:ext cx="528361" cy="38362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839" name="AutoShape 25"/>
            <p:cNvCxnSpPr>
              <a:cxnSpLocks noChangeShapeType="1"/>
            </p:cNvCxnSpPr>
            <p:nvPr/>
          </p:nvCxnSpPr>
          <p:spPr bwMode="auto">
            <a:xfrm flipV="1">
              <a:off x="3326631" y="1747846"/>
              <a:ext cx="409054" cy="363015"/>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840" name="AutoShape 26"/>
            <p:cNvCxnSpPr>
              <a:cxnSpLocks noChangeShapeType="1"/>
            </p:cNvCxnSpPr>
            <p:nvPr/>
          </p:nvCxnSpPr>
          <p:spPr bwMode="auto">
            <a:xfrm flipV="1">
              <a:off x="3931690" y="1170687"/>
              <a:ext cx="545406" cy="42599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841" name="AutoShape 27"/>
            <p:cNvCxnSpPr>
              <a:cxnSpLocks noChangeShapeType="1"/>
            </p:cNvCxnSpPr>
            <p:nvPr/>
          </p:nvCxnSpPr>
          <p:spPr bwMode="auto">
            <a:xfrm flipV="1">
              <a:off x="3270173" y="685141"/>
              <a:ext cx="566711" cy="137533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842" name="AutoShape 28"/>
            <p:cNvCxnSpPr>
              <a:cxnSpLocks noChangeShapeType="1"/>
            </p:cNvCxnSpPr>
            <p:nvPr/>
          </p:nvCxnSpPr>
          <p:spPr bwMode="auto">
            <a:xfrm>
              <a:off x="4647535" y="1118010"/>
              <a:ext cx="1184553"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843" name="AutoShape 29"/>
            <p:cNvCxnSpPr>
              <a:cxnSpLocks noChangeShapeType="1"/>
            </p:cNvCxnSpPr>
            <p:nvPr/>
          </p:nvCxnSpPr>
          <p:spPr bwMode="auto">
            <a:xfrm>
              <a:off x="3931690" y="1683716"/>
              <a:ext cx="1158987"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844" name="AutoShape 30"/>
            <p:cNvCxnSpPr>
              <a:cxnSpLocks noChangeShapeType="1"/>
            </p:cNvCxnSpPr>
            <p:nvPr/>
          </p:nvCxnSpPr>
          <p:spPr bwMode="auto">
            <a:xfrm>
              <a:off x="3914646" y="1747846"/>
              <a:ext cx="579494" cy="40195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845" name="AutoShape 31"/>
            <p:cNvCxnSpPr>
              <a:cxnSpLocks noChangeShapeType="1"/>
            </p:cNvCxnSpPr>
            <p:nvPr/>
          </p:nvCxnSpPr>
          <p:spPr bwMode="auto">
            <a:xfrm flipV="1">
              <a:off x="3914646" y="2260877"/>
              <a:ext cx="562450"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846" name="AutoShape 32"/>
            <p:cNvCxnSpPr>
              <a:cxnSpLocks noChangeShapeType="1"/>
            </p:cNvCxnSpPr>
            <p:nvPr/>
          </p:nvCxnSpPr>
          <p:spPr bwMode="auto">
            <a:xfrm>
              <a:off x="4647535" y="2260877"/>
              <a:ext cx="443142"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847" name="AutoShape 33"/>
            <p:cNvCxnSpPr>
              <a:cxnSpLocks noChangeShapeType="1"/>
            </p:cNvCxnSpPr>
            <p:nvPr/>
          </p:nvCxnSpPr>
          <p:spPr bwMode="auto">
            <a:xfrm flipV="1">
              <a:off x="5269639" y="1216494"/>
              <a:ext cx="579494" cy="380192"/>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848" name="AutoShape 34"/>
            <p:cNvCxnSpPr>
              <a:cxnSpLocks noChangeShapeType="1"/>
            </p:cNvCxnSpPr>
            <p:nvPr/>
          </p:nvCxnSpPr>
          <p:spPr bwMode="auto">
            <a:xfrm>
              <a:off x="5269639" y="1747846"/>
              <a:ext cx="579494" cy="363015"/>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849" name="AutoShape 35"/>
            <p:cNvCxnSpPr>
              <a:cxnSpLocks noChangeShapeType="1"/>
            </p:cNvCxnSpPr>
            <p:nvPr/>
          </p:nvCxnSpPr>
          <p:spPr bwMode="auto">
            <a:xfrm flipV="1">
              <a:off x="5269639" y="2260877"/>
              <a:ext cx="579494"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850" name="AutoShape 36"/>
            <p:cNvCxnSpPr>
              <a:cxnSpLocks noChangeShapeType="1"/>
            </p:cNvCxnSpPr>
            <p:nvPr/>
          </p:nvCxnSpPr>
          <p:spPr bwMode="auto">
            <a:xfrm>
              <a:off x="6028093" y="1170687"/>
              <a:ext cx="417576" cy="42599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851" name="AutoShape 37"/>
            <p:cNvCxnSpPr>
              <a:cxnSpLocks noChangeShapeType="1"/>
            </p:cNvCxnSpPr>
            <p:nvPr/>
          </p:nvCxnSpPr>
          <p:spPr bwMode="auto">
            <a:xfrm flipV="1">
              <a:off x="6028093" y="1747846"/>
              <a:ext cx="417576" cy="363015"/>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sp>
          <p:nvSpPr>
            <p:cNvPr id="32852" name="Text Box 42"/>
            <p:cNvSpPr txBox="1">
              <a:spLocks noChangeArrowheads="1"/>
            </p:cNvSpPr>
            <p:nvPr/>
          </p:nvSpPr>
          <p:spPr bwMode="auto">
            <a:xfrm>
              <a:off x="3643008" y="1509655"/>
              <a:ext cx="407989" cy="36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700">
                  <a:latin typeface="Times New Roman" panose="02020603050405020304" pitchFamily="18" charset="0"/>
                </a:rPr>
                <a:t>4</a:t>
              </a:r>
              <a:endParaRPr lang="zh-CN" altLang="zh-CN" sz="1800">
                <a:latin typeface="Arial" panose="020B0604020202020204" pitchFamily="34" charset="0"/>
              </a:endParaRPr>
            </a:p>
          </p:txBody>
        </p:sp>
        <p:sp>
          <p:nvSpPr>
            <p:cNvPr id="32853" name="Text Box 44"/>
            <p:cNvSpPr txBox="1">
              <a:spLocks noChangeArrowheads="1"/>
            </p:cNvSpPr>
            <p:nvPr/>
          </p:nvSpPr>
          <p:spPr bwMode="auto">
            <a:xfrm>
              <a:off x="4358853" y="941656"/>
              <a:ext cx="407989" cy="36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700">
                  <a:latin typeface="Times New Roman" panose="02020603050405020304" pitchFamily="18" charset="0"/>
                </a:rPr>
                <a:t>6</a:t>
              </a:r>
              <a:endParaRPr lang="zh-CN" altLang="zh-CN" sz="1800">
                <a:latin typeface="Arial" panose="020B0604020202020204" pitchFamily="34" charset="0"/>
              </a:endParaRPr>
            </a:p>
          </p:txBody>
        </p:sp>
        <p:sp>
          <p:nvSpPr>
            <p:cNvPr id="32854" name="Text Box 51"/>
            <p:cNvSpPr txBox="1">
              <a:spLocks noChangeArrowheads="1"/>
            </p:cNvSpPr>
            <p:nvPr/>
          </p:nvSpPr>
          <p:spPr bwMode="auto">
            <a:xfrm>
              <a:off x="3071798" y="642938"/>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3,3</a:t>
              </a:r>
              <a:endParaRPr lang="zh-CN" altLang="zh-CN" sz="1600" b="1">
                <a:latin typeface="Arial" panose="020B0604020202020204" pitchFamily="34" charset="0"/>
              </a:endParaRPr>
            </a:p>
          </p:txBody>
        </p:sp>
        <p:sp>
          <p:nvSpPr>
            <p:cNvPr id="32855" name="Text Box 51"/>
            <p:cNvSpPr txBox="1">
              <a:spLocks noChangeArrowheads="1"/>
            </p:cNvSpPr>
            <p:nvPr/>
          </p:nvSpPr>
          <p:spPr bwMode="auto">
            <a:xfrm>
              <a:off x="2571736" y="1842382"/>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7,6</a:t>
              </a:r>
              <a:endParaRPr lang="zh-CN" altLang="zh-CN" sz="1600" b="1">
                <a:latin typeface="Arial" panose="020B0604020202020204" pitchFamily="34" charset="0"/>
              </a:endParaRPr>
            </a:p>
          </p:txBody>
        </p:sp>
        <p:sp>
          <p:nvSpPr>
            <p:cNvPr id="32856" name="Text Box 51"/>
            <p:cNvSpPr txBox="1">
              <a:spLocks noChangeArrowheads="1"/>
            </p:cNvSpPr>
            <p:nvPr/>
          </p:nvSpPr>
          <p:spPr bwMode="auto">
            <a:xfrm>
              <a:off x="3071798" y="1214438"/>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3,3</a:t>
              </a:r>
              <a:endParaRPr lang="zh-CN" altLang="zh-CN" sz="1600" b="1">
                <a:latin typeface="Arial" panose="020B0604020202020204" pitchFamily="34" charset="0"/>
              </a:endParaRPr>
            </a:p>
          </p:txBody>
        </p:sp>
        <p:sp>
          <p:nvSpPr>
            <p:cNvPr id="32857" name="Text Box 51"/>
            <p:cNvSpPr txBox="1">
              <a:spLocks noChangeArrowheads="1"/>
            </p:cNvSpPr>
            <p:nvPr/>
          </p:nvSpPr>
          <p:spPr bwMode="auto">
            <a:xfrm>
              <a:off x="3500423" y="1842382"/>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3,3</a:t>
              </a:r>
              <a:endParaRPr lang="zh-CN" altLang="zh-CN" sz="1600" b="1">
                <a:latin typeface="Arial" panose="020B0604020202020204" pitchFamily="34" charset="0"/>
              </a:endParaRPr>
            </a:p>
          </p:txBody>
        </p:sp>
        <p:sp>
          <p:nvSpPr>
            <p:cNvPr id="32858" name="Text Box 51"/>
            <p:cNvSpPr txBox="1">
              <a:spLocks noChangeArrowheads="1"/>
            </p:cNvSpPr>
            <p:nvPr/>
          </p:nvSpPr>
          <p:spPr bwMode="auto">
            <a:xfrm>
              <a:off x="3643298" y="913695"/>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3,1</a:t>
              </a:r>
              <a:endParaRPr lang="zh-CN" altLang="zh-CN" sz="1600" b="1">
                <a:latin typeface="Arial" panose="020B0604020202020204" pitchFamily="34" charset="0"/>
              </a:endParaRPr>
            </a:p>
          </p:txBody>
        </p:sp>
        <p:sp>
          <p:nvSpPr>
            <p:cNvPr id="32859" name="Text Box 51"/>
            <p:cNvSpPr txBox="1">
              <a:spLocks noChangeArrowheads="1"/>
            </p:cNvSpPr>
            <p:nvPr/>
          </p:nvSpPr>
          <p:spPr bwMode="auto">
            <a:xfrm>
              <a:off x="4143361" y="571500"/>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6,4</a:t>
              </a:r>
              <a:endParaRPr lang="zh-CN" altLang="zh-CN" sz="1600" b="1">
                <a:latin typeface="Arial" panose="020B0604020202020204" pitchFamily="34" charset="0"/>
              </a:endParaRPr>
            </a:p>
          </p:txBody>
        </p:sp>
        <p:sp>
          <p:nvSpPr>
            <p:cNvPr id="32860" name="Text Box 51"/>
            <p:cNvSpPr txBox="1">
              <a:spLocks noChangeArrowheads="1"/>
            </p:cNvSpPr>
            <p:nvPr/>
          </p:nvSpPr>
          <p:spPr bwMode="auto">
            <a:xfrm>
              <a:off x="3857624" y="1143000"/>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2,1</a:t>
              </a:r>
              <a:endParaRPr lang="zh-CN" altLang="zh-CN" sz="1600" b="1">
                <a:latin typeface="Arial" panose="020B0604020202020204" pitchFamily="34" charset="0"/>
              </a:endParaRPr>
            </a:p>
          </p:txBody>
        </p:sp>
        <p:sp>
          <p:nvSpPr>
            <p:cNvPr id="32861" name="Text Box 51"/>
            <p:cNvSpPr txBox="1">
              <a:spLocks noChangeArrowheads="1"/>
            </p:cNvSpPr>
            <p:nvPr/>
          </p:nvSpPr>
          <p:spPr bwMode="auto">
            <a:xfrm>
              <a:off x="4929173" y="842257"/>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5,5</a:t>
              </a:r>
              <a:endParaRPr lang="zh-CN" altLang="zh-CN" sz="1600" b="1">
                <a:latin typeface="Arial" panose="020B0604020202020204" pitchFamily="34" charset="0"/>
              </a:endParaRPr>
            </a:p>
          </p:txBody>
        </p:sp>
        <p:sp>
          <p:nvSpPr>
            <p:cNvPr id="32862" name="Text Box 51"/>
            <p:cNvSpPr txBox="1">
              <a:spLocks noChangeArrowheads="1"/>
            </p:cNvSpPr>
            <p:nvPr/>
          </p:nvSpPr>
          <p:spPr bwMode="auto">
            <a:xfrm>
              <a:off x="4429111" y="1413757"/>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6,5</a:t>
              </a:r>
              <a:endParaRPr lang="zh-CN" altLang="zh-CN" sz="1600" b="1">
                <a:latin typeface="Arial" panose="020B0604020202020204" pitchFamily="34" charset="0"/>
              </a:endParaRPr>
            </a:p>
          </p:txBody>
        </p:sp>
        <p:sp>
          <p:nvSpPr>
            <p:cNvPr id="32863" name="Text Box 51"/>
            <p:cNvSpPr txBox="1">
              <a:spLocks noChangeArrowheads="1"/>
            </p:cNvSpPr>
            <p:nvPr/>
          </p:nvSpPr>
          <p:spPr bwMode="auto">
            <a:xfrm>
              <a:off x="4286236" y="1770945"/>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2,0</a:t>
              </a:r>
              <a:endParaRPr lang="zh-CN" altLang="zh-CN" sz="1600" b="1">
                <a:latin typeface="Arial" panose="020B0604020202020204" pitchFamily="34" charset="0"/>
              </a:endParaRPr>
            </a:p>
          </p:txBody>
        </p:sp>
        <p:sp>
          <p:nvSpPr>
            <p:cNvPr id="32864" name="Text Box 51"/>
            <p:cNvSpPr txBox="1">
              <a:spLocks noChangeArrowheads="1"/>
            </p:cNvSpPr>
            <p:nvPr/>
          </p:nvSpPr>
          <p:spPr bwMode="auto">
            <a:xfrm>
              <a:off x="3071798" y="2342445"/>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5,2</a:t>
              </a:r>
              <a:endParaRPr lang="zh-CN" altLang="zh-CN" sz="1600" b="1">
                <a:latin typeface="Arial" panose="020B0604020202020204" pitchFamily="34" charset="0"/>
              </a:endParaRPr>
            </a:p>
          </p:txBody>
        </p:sp>
        <p:sp>
          <p:nvSpPr>
            <p:cNvPr id="32865" name="Text Box 51"/>
            <p:cNvSpPr txBox="1">
              <a:spLocks noChangeArrowheads="1"/>
            </p:cNvSpPr>
            <p:nvPr/>
          </p:nvSpPr>
          <p:spPr bwMode="auto">
            <a:xfrm>
              <a:off x="4143361" y="2357438"/>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5,2</a:t>
              </a:r>
              <a:endParaRPr lang="zh-CN" altLang="zh-CN" sz="1600" b="1">
                <a:latin typeface="Arial" panose="020B0604020202020204" pitchFamily="34" charset="0"/>
              </a:endParaRPr>
            </a:p>
          </p:txBody>
        </p:sp>
        <p:sp>
          <p:nvSpPr>
            <p:cNvPr id="32866" name="Text Box 51"/>
            <p:cNvSpPr txBox="1">
              <a:spLocks noChangeArrowheads="1"/>
            </p:cNvSpPr>
            <p:nvPr/>
          </p:nvSpPr>
          <p:spPr bwMode="auto">
            <a:xfrm>
              <a:off x="4500548" y="2357438"/>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4,2</a:t>
              </a:r>
              <a:endParaRPr lang="zh-CN" altLang="zh-CN" sz="1600" b="1">
                <a:latin typeface="Arial" panose="020B0604020202020204" pitchFamily="34" charset="0"/>
              </a:endParaRPr>
            </a:p>
          </p:txBody>
        </p:sp>
        <p:sp>
          <p:nvSpPr>
            <p:cNvPr id="32867" name="Text Box 51"/>
            <p:cNvSpPr txBox="1">
              <a:spLocks noChangeArrowheads="1"/>
            </p:cNvSpPr>
            <p:nvPr/>
          </p:nvSpPr>
          <p:spPr bwMode="auto">
            <a:xfrm>
              <a:off x="5081572" y="1214438"/>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4,4</a:t>
              </a:r>
              <a:endParaRPr lang="zh-CN" altLang="zh-CN" sz="1600" b="1">
                <a:latin typeface="Arial" panose="020B0604020202020204" pitchFamily="34" charset="0"/>
              </a:endParaRPr>
            </a:p>
          </p:txBody>
        </p:sp>
        <p:sp>
          <p:nvSpPr>
            <p:cNvPr id="32868" name="Text Box 51"/>
            <p:cNvSpPr txBox="1">
              <a:spLocks noChangeArrowheads="1"/>
            </p:cNvSpPr>
            <p:nvPr/>
          </p:nvSpPr>
          <p:spPr bwMode="auto">
            <a:xfrm>
              <a:off x="5143486" y="1842382"/>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1,1</a:t>
              </a:r>
              <a:endParaRPr lang="zh-CN" altLang="zh-CN" sz="1600" b="1">
                <a:latin typeface="Arial" panose="020B0604020202020204" pitchFamily="34" charset="0"/>
              </a:endParaRPr>
            </a:p>
          </p:txBody>
        </p:sp>
        <p:sp>
          <p:nvSpPr>
            <p:cNvPr id="32869" name="Text Box 51"/>
            <p:cNvSpPr txBox="1">
              <a:spLocks noChangeArrowheads="1"/>
            </p:cNvSpPr>
            <p:nvPr/>
          </p:nvSpPr>
          <p:spPr bwMode="auto">
            <a:xfrm>
              <a:off x="6215048" y="1199445"/>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9,9</a:t>
              </a:r>
              <a:endParaRPr lang="zh-CN" altLang="zh-CN" sz="1600" b="1">
                <a:latin typeface="Arial" panose="020B0604020202020204" pitchFamily="34" charset="0"/>
              </a:endParaRPr>
            </a:p>
          </p:txBody>
        </p:sp>
        <p:sp>
          <p:nvSpPr>
            <p:cNvPr id="32870" name="Text Box 51"/>
            <p:cNvSpPr txBox="1">
              <a:spLocks noChangeArrowheads="1"/>
            </p:cNvSpPr>
            <p:nvPr/>
          </p:nvSpPr>
          <p:spPr bwMode="auto">
            <a:xfrm>
              <a:off x="6215048" y="1842382"/>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3,3</a:t>
              </a:r>
              <a:endParaRPr lang="zh-CN" altLang="zh-CN" sz="1600" b="1">
                <a:latin typeface="Arial" panose="020B0604020202020204" pitchFamily="34" charset="0"/>
              </a:endParaRPr>
            </a:p>
          </p:txBody>
        </p:sp>
        <p:sp>
          <p:nvSpPr>
            <p:cNvPr id="32871" name="Text Box 51"/>
            <p:cNvSpPr txBox="1">
              <a:spLocks noChangeArrowheads="1"/>
            </p:cNvSpPr>
            <p:nvPr/>
          </p:nvSpPr>
          <p:spPr bwMode="auto">
            <a:xfrm>
              <a:off x="5500673" y="2342445"/>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5,2</a:t>
              </a:r>
              <a:endParaRPr lang="zh-CN" altLang="zh-CN" sz="1600" b="1">
                <a:latin typeface="Arial" panose="020B0604020202020204" pitchFamily="34" charset="0"/>
              </a:endParaRPr>
            </a:p>
          </p:txBody>
        </p:sp>
        <p:sp>
          <p:nvSpPr>
            <p:cNvPr id="32872" name="Text Box 51"/>
            <p:cNvSpPr txBox="1">
              <a:spLocks noChangeArrowheads="1"/>
            </p:cNvSpPr>
            <p:nvPr/>
          </p:nvSpPr>
          <p:spPr bwMode="auto">
            <a:xfrm>
              <a:off x="3724260" y="428625"/>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3</a:t>
              </a:r>
              <a:endParaRPr lang="zh-CN" altLang="zh-CN" sz="1400" b="1">
                <a:latin typeface="Arial" panose="020B0604020202020204" pitchFamily="34" charset="0"/>
              </a:endParaRPr>
            </a:p>
          </p:txBody>
        </p:sp>
        <p:sp>
          <p:nvSpPr>
            <p:cNvPr id="32873" name="Text Box 51"/>
            <p:cNvSpPr txBox="1">
              <a:spLocks noChangeArrowheads="1"/>
            </p:cNvSpPr>
            <p:nvPr/>
          </p:nvSpPr>
          <p:spPr bwMode="auto">
            <a:xfrm>
              <a:off x="3071798" y="1000125"/>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a:t>
              </a:r>
              <a:endParaRPr lang="zh-CN" altLang="zh-CN" sz="1400" b="1">
                <a:latin typeface="Arial" panose="020B0604020202020204" pitchFamily="34" charset="0"/>
              </a:endParaRPr>
            </a:p>
          </p:txBody>
        </p:sp>
        <p:sp>
          <p:nvSpPr>
            <p:cNvPr id="32874" name="Text Box 51"/>
            <p:cNvSpPr txBox="1">
              <a:spLocks noChangeArrowheads="1"/>
            </p:cNvSpPr>
            <p:nvPr/>
          </p:nvSpPr>
          <p:spPr bwMode="auto">
            <a:xfrm>
              <a:off x="3071798" y="2000250"/>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2</a:t>
              </a:r>
              <a:endParaRPr lang="zh-CN" altLang="zh-CN" sz="1400" b="1">
                <a:latin typeface="Arial" panose="020B0604020202020204" pitchFamily="34" charset="0"/>
              </a:endParaRPr>
            </a:p>
          </p:txBody>
        </p:sp>
        <p:sp>
          <p:nvSpPr>
            <p:cNvPr id="32875" name="Text Box 51"/>
            <p:cNvSpPr txBox="1">
              <a:spLocks noChangeArrowheads="1"/>
            </p:cNvSpPr>
            <p:nvPr/>
          </p:nvSpPr>
          <p:spPr bwMode="auto">
            <a:xfrm>
              <a:off x="3714736" y="1500188"/>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4</a:t>
              </a:r>
              <a:endParaRPr lang="zh-CN" altLang="zh-CN" sz="1400" b="1">
                <a:latin typeface="Arial" panose="020B0604020202020204" pitchFamily="34" charset="0"/>
              </a:endParaRPr>
            </a:p>
          </p:txBody>
        </p:sp>
        <p:sp>
          <p:nvSpPr>
            <p:cNvPr id="32876" name="Text Box 51"/>
            <p:cNvSpPr txBox="1">
              <a:spLocks noChangeArrowheads="1"/>
            </p:cNvSpPr>
            <p:nvPr/>
          </p:nvSpPr>
          <p:spPr bwMode="auto">
            <a:xfrm>
              <a:off x="3714736" y="2500313"/>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5</a:t>
              </a:r>
              <a:endParaRPr lang="zh-CN" altLang="zh-CN" sz="1400" b="1">
                <a:latin typeface="Arial" panose="020B0604020202020204" pitchFamily="34" charset="0"/>
              </a:endParaRPr>
            </a:p>
          </p:txBody>
        </p:sp>
        <p:sp>
          <p:nvSpPr>
            <p:cNvPr id="32877" name="Text Box 51"/>
            <p:cNvSpPr txBox="1">
              <a:spLocks noChangeArrowheads="1"/>
            </p:cNvSpPr>
            <p:nvPr/>
          </p:nvSpPr>
          <p:spPr bwMode="auto">
            <a:xfrm>
              <a:off x="4438635" y="928688"/>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6</a:t>
              </a:r>
              <a:endParaRPr lang="zh-CN" altLang="zh-CN" sz="1400" b="1">
                <a:latin typeface="Arial" panose="020B0604020202020204" pitchFamily="34" charset="0"/>
              </a:endParaRPr>
            </a:p>
          </p:txBody>
        </p:sp>
        <p:sp>
          <p:nvSpPr>
            <p:cNvPr id="32878" name="Text Box 51"/>
            <p:cNvSpPr txBox="1">
              <a:spLocks noChangeArrowheads="1"/>
            </p:cNvSpPr>
            <p:nvPr/>
          </p:nvSpPr>
          <p:spPr bwMode="auto">
            <a:xfrm>
              <a:off x="4438635" y="2071688"/>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7</a:t>
              </a:r>
              <a:endParaRPr lang="zh-CN" altLang="zh-CN" sz="1400" b="1">
                <a:latin typeface="Arial" panose="020B0604020202020204" pitchFamily="34" charset="0"/>
              </a:endParaRPr>
            </a:p>
          </p:txBody>
        </p:sp>
        <p:sp>
          <p:nvSpPr>
            <p:cNvPr id="32879" name="Text Box 51"/>
            <p:cNvSpPr txBox="1">
              <a:spLocks noChangeArrowheads="1"/>
            </p:cNvSpPr>
            <p:nvPr/>
          </p:nvSpPr>
          <p:spPr bwMode="auto">
            <a:xfrm>
              <a:off x="5081572" y="1571625"/>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8</a:t>
              </a:r>
              <a:endParaRPr lang="zh-CN" altLang="zh-CN" sz="1400" b="1">
                <a:latin typeface="Arial" panose="020B0604020202020204" pitchFamily="34" charset="0"/>
              </a:endParaRPr>
            </a:p>
          </p:txBody>
        </p:sp>
        <p:sp>
          <p:nvSpPr>
            <p:cNvPr id="32880" name="Text Box 51"/>
            <p:cNvSpPr txBox="1">
              <a:spLocks noChangeArrowheads="1"/>
            </p:cNvSpPr>
            <p:nvPr/>
          </p:nvSpPr>
          <p:spPr bwMode="auto">
            <a:xfrm>
              <a:off x="5072048" y="2500313"/>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9</a:t>
              </a:r>
              <a:endParaRPr lang="zh-CN" altLang="zh-CN" sz="1400" b="1">
                <a:latin typeface="Arial" panose="020B0604020202020204" pitchFamily="34" charset="0"/>
              </a:endParaRPr>
            </a:p>
          </p:txBody>
        </p:sp>
        <p:sp>
          <p:nvSpPr>
            <p:cNvPr id="32881" name="Text Box 51"/>
            <p:cNvSpPr txBox="1">
              <a:spLocks noChangeArrowheads="1"/>
            </p:cNvSpPr>
            <p:nvPr/>
          </p:nvSpPr>
          <p:spPr bwMode="auto">
            <a:xfrm>
              <a:off x="5795947" y="1000125"/>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10</a:t>
              </a:r>
              <a:endParaRPr lang="zh-CN" altLang="zh-CN" sz="1400" b="1">
                <a:latin typeface="Arial" panose="020B0604020202020204" pitchFamily="34" charset="0"/>
              </a:endParaRPr>
            </a:p>
          </p:txBody>
        </p:sp>
        <p:sp>
          <p:nvSpPr>
            <p:cNvPr id="32882" name="Text Box 51"/>
            <p:cNvSpPr txBox="1">
              <a:spLocks noChangeArrowheads="1"/>
            </p:cNvSpPr>
            <p:nvPr/>
          </p:nvSpPr>
          <p:spPr bwMode="auto">
            <a:xfrm>
              <a:off x="5786423" y="2000250"/>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11</a:t>
              </a:r>
              <a:endParaRPr lang="zh-CN" altLang="zh-CN" sz="1400" b="1">
                <a:latin typeface="Arial" panose="020B0604020202020204" pitchFamily="34" charset="0"/>
              </a:endParaRPr>
            </a:p>
          </p:txBody>
        </p:sp>
        <p:sp>
          <p:nvSpPr>
            <p:cNvPr id="32883" name="Text Box 51"/>
            <p:cNvSpPr txBox="1">
              <a:spLocks noChangeArrowheads="1"/>
            </p:cNvSpPr>
            <p:nvPr/>
          </p:nvSpPr>
          <p:spPr bwMode="auto">
            <a:xfrm>
              <a:off x="2571736" y="1500188"/>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s</a:t>
              </a:r>
              <a:endParaRPr lang="zh-CN" altLang="zh-CN" sz="1400" b="1" i="1">
                <a:latin typeface="Arial" panose="020B0604020202020204" pitchFamily="34" charset="0"/>
              </a:endParaRPr>
            </a:p>
          </p:txBody>
        </p:sp>
        <p:sp>
          <p:nvSpPr>
            <p:cNvPr id="32884" name="Text Box 51"/>
            <p:cNvSpPr txBox="1">
              <a:spLocks noChangeArrowheads="1"/>
            </p:cNvSpPr>
            <p:nvPr/>
          </p:nvSpPr>
          <p:spPr bwMode="auto">
            <a:xfrm>
              <a:off x="6438885" y="1500188"/>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t</a:t>
              </a:r>
              <a:endParaRPr lang="zh-CN" altLang="zh-CN" sz="1400" b="1" i="1">
                <a:latin typeface="Arial" panose="020B0604020202020204" pitchFamily="34" charset="0"/>
              </a:endParaRPr>
            </a:p>
          </p:txBody>
        </p:sp>
        <p:sp>
          <p:nvSpPr>
            <p:cNvPr id="32885" name="Text Box 51"/>
            <p:cNvSpPr txBox="1">
              <a:spLocks noChangeArrowheads="1"/>
            </p:cNvSpPr>
            <p:nvPr/>
          </p:nvSpPr>
          <p:spPr bwMode="auto">
            <a:xfrm>
              <a:off x="7019908" y="1500188"/>
              <a:ext cx="1266868" cy="500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2000" b="1" i="1">
                  <a:latin typeface="Times New Roman" panose="02020603050405020304" pitchFamily="18" charset="0"/>
                </a:rPr>
                <a:t>f</a:t>
              </a:r>
              <a:r>
                <a:rPr lang="en-US" altLang="zh-CN" sz="2000" b="1" baseline="-25000">
                  <a:latin typeface="Times New Roman" panose="02020603050405020304" pitchFamily="18" charset="0"/>
                </a:rPr>
                <a:t>3</a:t>
              </a:r>
              <a:r>
                <a:rPr lang="en-US" altLang="zh-CN" sz="2000" b="1" i="1">
                  <a:latin typeface="Times New Roman" panose="02020603050405020304" pitchFamily="18" charset="0"/>
                </a:rPr>
                <a:t>= f</a:t>
              </a:r>
              <a:r>
                <a:rPr lang="en-US" altLang="zh-CN" sz="2000" b="1" baseline="-25000">
                  <a:latin typeface="Times New Roman" panose="02020603050405020304" pitchFamily="18" charset="0"/>
                </a:rPr>
                <a:t>2 </a:t>
              </a:r>
              <a:r>
                <a:rPr lang="en-US" altLang="zh-CN" sz="2000" b="1" i="1">
                  <a:latin typeface="Times New Roman" panose="02020603050405020304" pitchFamily="18" charset="0"/>
                </a:rPr>
                <a:t>+g</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grpSp>
      <p:grpSp>
        <p:nvGrpSpPr>
          <p:cNvPr id="3" name="组合 127"/>
          <p:cNvGrpSpPr/>
          <p:nvPr/>
        </p:nvGrpSpPr>
        <p:grpSpPr bwMode="auto">
          <a:xfrm>
            <a:off x="2000250" y="3571875"/>
            <a:ext cx="5500688" cy="2357438"/>
            <a:chOff x="2000232" y="3571892"/>
            <a:chExt cx="5500726" cy="2357438"/>
          </a:xfrm>
        </p:grpSpPr>
        <p:sp>
          <p:nvSpPr>
            <p:cNvPr id="75" name="Text Box 51"/>
            <p:cNvSpPr txBox="1">
              <a:spLocks noChangeArrowheads="1"/>
            </p:cNvSpPr>
            <p:nvPr/>
          </p:nvSpPr>
          <p:spPr bwMode="auto">
            <a:xfrm>
              <a:off x="6429388" y="4572017"/>
              <a:ext cx="1071570" cy="500063"/>
            </a:xfrm>
            <a:prstGeom prst="rect">
              <a:avLst/>
            </a:prstGeom>
            <a:noFill/>
            <a:ln w="9525">
              <a:noFill/>
              <a:miter lim="800000"/>
            </a:ln>
          </p:spPr>
          <p:txBody>
            <a:bodyPr/>
            <a:lstStyle/>
            <a:p>
              <a:pPr algn="just" eaLnBrk="1" hangingPunct="1">
                <a:defRPr/>
              </a:pPr>
              <a:r>
                <a:rPr lang="en-US" altLang="zh-CN" sz="2000" b="1" i="1" dirty="0">
                  <a:latin typeface="Times New Roman" panose="02020603050405020304" pitchFamily="18" charset="0"/>
                  <a:ea typeface="+mn-ea"/>
                  <a:cs typeface="Times New Roman" panose="02020603050405020304" pitchFamily="18" charset="0"/>
                </a:rPr>
                <a:t>AN</a:t>
              </a:r>
              <a:r>
                <a:rPr lang="en-US" altLang="zh-CN" sz="2000" b="1" dirty="0">
                  <a:latin typeface="Times New Roman" panose="02020603050405020304" pitchFamily="18" charset="0"/>
                  <a:ea typeface="+mn-ea"/>
                  <a:cs typeface="Times New Roman" panose="02020603050405020304" pitchFamily="18" charset="0"/>
                </a:rPr>
                <a:t>(</a:t>
              </a:r>
              <a:r>
                <a:rPr lang="en-US" altLang="zh-CN" sz="2000" b="1" i="1" dirty="0">
                  <a:latin typeface="Times New Roman" panose="02020603050405020304" pitchFamily="18" charset="0"/>
                  <a:ea typeface="+mn-ea"/>
                  <a:cs typeface="Times New Roman" panose="02020603050405020304" pitchFamily="18" charset="0"/>
                </a:rPr>
                <a:t>f</a:t>
              </a:r>
              <a:r>
                <a:rPr lang="en-US" altLang="zh-CN" sz="2000" b="1" baseline="-25000" dirty="0">
                  <a:latin typeface="Times New Roman" panose="02020603050405020304" pitchFamily="18" charset="0"/>
                  <a:ea typeface="+mn-ea"/>
                  <a:cs typeface="Times New Roman" panose="02020603050405020304" pitchFamily="18" charset="0"/>
                </a:rPr>
                <a:t>3</a:t>
              </a:r>
              <a:r>
                <a:rPr lang="en-US" altLang="zh-CN" sz="2000" b="1" dirty="0">
                  <a:latin typeface="Times New Roman" panose="02020603050405020304" pitchFamily="18" charset="0"/>
                  <a:ea typeface="+mn-ea"/>
                  <a:cs typeface="Times New Roman" panose="02020603050405020304" pitchFamily="18" charset="0"/>
                </a:rPr>
                <a:t>)</a:t>
              </a:r>
              <a:endParaRPr lang="zh-CN" altLang="zh-CN" sz="2000" b="1" dirty="0">
                <a:latin typeface="Times New Roman" panose="02020603050405020304" pitchFamily="18" charset="0"/>
                <a:ea typeface="+mn-ea"/>
                <a:cs typeface="Times New Roman" panose="02020603050405020304" pitchFamily="18" charset="0"/>
              </a:endParaRPr>
            </a:p>
          </p:txBody>
        </p:sp>
        <p:sp>
          <p:nvSpPr>
            <p:cNvPr id="32775" name="Text Box 51"/>
            <p:cNvSpPr txBox="1">
              <a:spLocks noChangeArrowheads="1"/>
            </p:cNvSpPr>
            <p:nvPr/>
          </p:nvSpPr>
          <p:spPr bwMode="auto">
            <a:xfrm>
              <a:off x="2143112" y="4286267"/>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32776" name="Oval 6"/>
            <p:cNvSpPr>
              <a:spLocks noChangeArrowheads="1"/>
            </p:cNvSpPr>
            <p:nvPr/>
          </p:nvSpPr>
          <p:spPr bwMode="auto">
            <a:xfrm>
              <a:off x="2018539" y="4681550"/>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777" name="Oval 7"/>
            <p:cNvSpPr>
              <a:spLocks noChangeArrowheads="1"/>
            </p:cNvSpPr>
            <p:nvPr/>
          </p:nvSpPr>
          <p:spPr bwMode="auto">
            <a:xfrm>
              <a:off x="2550600" y="4150197"/>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778" name="Oval 8"/>
            <p:cNvSpPr>
              <a:spLocks noChangeArrowheads="1"/>
            </p:cNvSpPr>
            <p:nvPr/>
          </p:nvSpPr>
          <p:spPr bwMode="auto">
            <a:xfrm>
              <a:off x="3181225" y="3618845"/>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779" name="Oval 9"/>
            <p:cNvSpPr>
              <a:spLocks noChangeArrowheads="1"/>
            </p:cNvSpPr>
            <p:nvPr/>
          </p:nvSpPr>
          <p:spPr bwMode="auto">
            <a:xfrm>
              <a:off x="2567644" y="5203741"/>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780" name="Oval 10"/>
            <p:cNvSpPr>
              <a:spLocks noChangeArrowheads="1"/>
            </p:cNvSpPr>
            <p:nvPr/>
          </p:nvSpPr>
          <p:spPr bwMode="auto">
            <a:xfrm>
              <a:off x="3147137" y="5689287"/>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781" name="Oval 11"/>
            <p:cNvSpPr>
              <a:spLocks noChangeArrowheads="1"/>
            </p:cNvSpPr>
            <p:nvPr/>
          </p:nvSpPr>
          <p:spPr bwMode="auto">
            <a:xfrm>
              <a:off x="3164181" y="4709032"/>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782" name="Oval 12"/>
            <p:cNvSpPr>
              <a:spLocks noChangeArrowheads="1"/>
            </p:cNvSpPr>
            <p:nvPr/>
          </p:nvSpPr>
          <p:spPr bwMode="auto">
            <a:xfrm>
              <a:off x="3880026" y="4141035"/>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783" name="Oval 13"/>
            <p:cNvSpPr>
              <a:spLocks noChangeArrowheads="1"/>
            </p:cNvSpPr>
            <p:nvPr/>
          </p:nvSpPr>
          <p:spPr bwMode="auto">
            <a:xfrm>
              <a:off x="3905591" y="5231225"/>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784" name="Oval 14"/>
            <p:cNvSpPr>
              <a:spLocks noChangeArrowheads="1"/>
            </p:cNvSpPr>
            <p:nvPr/>
          </p:nvSpPr>
          <p:spPr bwMode="auto">
            <a:xfrm>
              <a:off x="4519173" y="4718194"/>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785" name="Oval 16"/>
            <p:cNvSpPr>
              <a:spLocks noChangeArrowheads="1"/>
            </p:cNvSpPr>
            <p:nvPr/>
          </p:nvSpPr>
          <p:spPr bwMode="auto">
            <a:xfrm>
              <a:off x="5277628" y="5212903"/>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786" name="Oval 18"/>
            <p:cNvSpPr>
              <a:spLocks noChangeArrowheads="1"/>
            </p:cNvSpPr>
            <p:nvPr/>
          </p:nvSpPr>
          <p:spPr bwMode="auto">
            <a:xfrm>
              <a:off x="4502129" y="5689287"/>
              <a:ext cx="196006" cy="209564"/>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32787" name="AutoShape 19"/>
            <p:cNvCxnSpPr>
              <a:cxnSpLocks noChangeShapeType="1"/>
            </p:cNvCxnSpPr>
            <p:nvPr/>
          </p:nvCxnSpPr>
          <p:spPr bwMode="auto">
            <a:xfrm flipV="1">
              <a:off x="2167112" y="4350600"/>
              <a:ext cx="392010" cy="349272"/>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788" name="AutoShape 21"/>
            <p:cNvCxnSpPr>
              <a:cxnSpLocks noChangeShapeType="1"/>
            </p:cNvCxnSpPr>
            <p:nvPr/>
          </p:nvCxnSpPr>
          <p:spPr bwMode="auto">
            <a:xfrm>
              <a:off x="2167112" y="4872790"/>
              <a:ext cx="400532" cy="381337"/>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789" name="AutoShape 22"/>
            <p:cNvCxnSpPr>
              <a:cxnSpLocks noChangeShapeType="1"/>
            </p:cNvCxnSpPr>
            <p:nvPr/>
          </p:nvCxnSpPr>
          <p:spPr bwMode="auto">
            <a:xfrm>
              <a:off x="2746605" y="5404144"/>
              <a:ext cx="400532"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790" name="AutoShape 24"/>
            <p:cNvCxnSpPr>
              <a:cxnSpLocks noChangeShapeType="1"/>
            </p:cNvCxnSpPr>
            <p:nvPr/>
          </p:nvCxnSpPr>
          <p:spPr bwMode="auto">
            <a:xfrm>
              <a:off x="3377230" y="3803213"/>
              <a:ext cx="528361" cy="38362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791" name="AutoShape 26"/>
            <p:cNvCxnSpPr>
              <a:cxnSpLocks noChangeShapeType="1"/>
            </p:cNvCxnSpPr>
            <p:nvPr/>
          </p:nvCxnSpPr>
          <p:spPr bwMode="auto">
            <a:xfrm flipV="1">
              <a:off x="3360186" y="4313954"/>
              <a:ext cx="545406" cy="425998"/>
            </a:xfrm>
            <a:prstGeom prst="straightConnector1">
              <a:avLst/>
            </a:prstGeom>
            <a:noFill/>
            <a:ln w="3175">
              <a:solidFill>
                <a:srgbClr val="000000"/>
              </a:solidFill>
              <a:round/>
              <a:headEnd type="arrow" w="med" len="med"/>
            </a:ln>
            <a:extLst>
              <a:ext uri="{909E8E84-426E-40DD-AFC4-6F175D3DCCD1}">
                <a14:hiddenFill xmlns:a14="http://schemas.microsoft.com/office/drawing/2010/main">
                  <a:noFill/>
                </a14:hiddenFill>
              </a:ext>
            </a:extLst>
          </p:spPr>
        </p:cxnSp>
        <p:cxnSp>
          <p:nvCxnSpPr>
            <p:cNvPr id="32792" name="AutoShape 27"/>
            <p:cNvCxnSpPr>
              <a:cxnSpLocks noChangeShapeType="1"/>
            </p:cNvCxnSpPr>
            <p:nvPr/>
          </p:nvCxnSpPr>
          <p:spPr bwMode="auto">
            <a:xfrm flipV="1">
              <a:off x="2698669" y="3828408"/>
              <a:ext cx="566711" cy="137533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793" name="AutoShape 29"/>
            <p:cNvCxnSpPr>
              <a:cxnSpLocks noChangeShapeType="1"/>
            </p:cNvCxnSpPr>
            <p:nvPr/>
          </p:nvCxnSpPr>
          <p:spPr bwMode="auto">
            <a:xfrm>
              <a:off x="3360186" y="4826983"/>
              <a:ext cx="1158987"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794" name="AutoShape 31"/>
            <p:cNvCxnSpPr>
              <a:cxnSpLocks noChangeShapeType="1"/>
            </p:cNvCxnSpPr>
            <p:nvPr/>
          </p:nvCxnSpPr>
          <p:spPr bwMode="auto">
            <a:xfrm flipV="1">
              <a:off x="3343142" y="5404144"/>
              <a:ext cx="562450"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795" name="AutoShape 32"/>
            <p:cNvCxnSpPr>
              <a:cxnSpLocks noChangeShapeType="1"/>
            </p:cNvCxnSpPr>
            <p:nvPr/>
          </p:nvCxnSpPr>
          <p:spPr bwMode="auto">
            <a:xfrm>
              <a:off x="4076031" y="5404144"/>
              <a:ext cx="443142"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32796" name="AutoShape 35"/>
            <p:cNvCxnSpPr>
              <a:cxnSpLocks noChangeShapeType="1"/>
            </p:cNvCxnSpPr>
            <p:nvPr/>
          </p:nvCxnSpPr>
          <p:spPr bwMode="auto">
            <a:xfrm flipV="1">
              <a:off x="4698135" y="5404144"/>
              <a:ext cx="579494" cy="34469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sp>
          <p:nvSpPr>
            <p:cNvPr id="32797" name="Text Box 42"/>
            <p:cNvSpPr txBox="1">
              <a:spLocks noChangeArrowheads="1"/>
            </p:cNvSpPr>
            <p:nvPr/>
          </p:nvSpPr>
          <p:spPr bwMode="auto">
            <a:xfrm>
              <a:off x="3071504" y="4652922"/>
              <a:ext cx="407989" cy="36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700">
                  <a:latin typeface="Times New Roman" panose="02020603050405020304" pitchFamily="18" charset="0"/>
                </a:rPr>
                <a:t>4</a:t>
              </a:r>
              <a:endParaRPr lang="zh-CN" altLang="zh-CN" sz="1800">
                <a:latin typeface="Arial" panose="020B0604020202020204" pitchFamily="34" charset="0"/>
              </a:endParaRPr>
            </a:p>
          </p:txBody>
        </p:sp>
        <p:sp>
          <p:nvSpPr>
            <p:cNvPr id="32798" name="Text Box 44"/>
            <p:cNvSpPr txBox="1">
              <a:spLocks noChangeArrowheads="1"/>
            </p:cNvSpPr>
            <p:nvPr/>
          </p:nvSpPr>
          <p:spPr bwMode="auto">
            <a:xfrm>
              <a:off x="3787349" y="4084923"/>
              <a:ext cx="407989" cy="36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700">
                  <a:latin typeface="Times New Roman" panose="02020603050405020304" pitchFamily="18" charset="0"/>
                </a:rPr>
                <a:t>6</a:t>
              </a:r>
              <a:endParaRPr lang="zh-CN" altLang="zh-CN" sz="1800">
                <a:latin typeface="Arial" panose="020B0604020202020204" pitchFamily="34" charset="0"/>
              </a:endParaRPr>
            </a:p>
          </p:txBody>
        </p:sp>
        <p:sp>
          <p:nvSpPr>
            <p:cNvPr id="32799" name="Text Box 51"/>
            <p:cNvSpPr txBox="1">
              <a:spLocks noChangeArrowheads="1"/>
            </p:cNvSpPr>
            <p:nvPr/>
          </p:nvSpPr>
          <p:spPr bwMode="auto">
            <a:xfrm>
              <a:off x="2143108" y="4985649"/>
              <a:ext cx="357190" cy="372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1</a:t>
              </a:r>
              <a:endParaRPr lang="zh-CN" altLang="zh-CN" sz="1600" b="1">
                <a:latin typeface="Arial" panose="020B0604020202020204" pitchFamily="34" charset="0"/>
              </a:endParaRPr>
            </a:p>
          </p:txBody>
        </p:sp>
        <p:sp>
          <p:nvSpPr>
            <p:cNvPr id="32800" name="Text Box 51"/>
            <p:cNvSpPr txBox="1">
              <a:spLocks noChangeArrowheads="1"/>
            </p:cNvSpPr>
            <p:nvPr/>
          </p:nvSpPr>
          <p:spPr bwMode="auto">
            <a:xfrm>
              <a:off x="3071794" y="4056962"/>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32801" name="Text Box 51"/>
            <p:cNvSpPr txBox="1">
              <a:spLocks noChangeArrowheads="1"/>
            </p:cNvSpPr>
            <p:nvPr/>
          </p:nvSpPr>
          <p:spPr bwMode="auto">
            <a:xfrm>
              <a:off x="3571857" y="3714767"/>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32802" name="Text Box 51"/>
            <p:cNvSpPr txBox="1">
              <a:spLocks noChangeArrowheads="1"/>
            </p:cNvSpPr>
            <p:nvPr/>
          </p:nvSpPr>
          <p:spPr bwMode="auto">
            <a:xfrm>
              <a:off x="3428996" y="4286267"/>
              <a:ext cx="357186" cy="285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1</a:t>
              </a:r>
              <a:endParaRPr lang="zh-CN" altLang="zh-CN" sz="1600" b="1">
                <a:latin typeface="Arial" panose="020B0604020202020204" pitchFamily="34" charset="0"/>
              </a:endParaRPr>
            </a:p>
          </p:txBody>
        </p:sp>
        <p:sp>
          <p:nvSpPr>
            <p:cNvPr id="32803" name="Text Box 51"/>
            <p:cNvSpPr txBox="1">
              <a:spLocks noChangeArrowheads="1"/>
            </p:cNvSpPr>
            <p:nvPr/>
          </p:nvSpPr>
          <p:spPr bwMode="auto">
            <a:xfrm>
              <a:off x="3857607" y="4557024"/>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1</a:t>
              </a:r>
              <a:endParaRPr lang="zh-CN" altLang="zh-CN" sz="1600" b="1">
                <a:latin typeface="Arial" panose="020B0604020202020204" pitchFamily="34" charset="0"/>
              </a:endParaRPr>
            </a:p>
          </p:txBody>
        </p:sp>
        <p:sp>
          <p:nvSpPr>
            <p:cNvPr id="32804" name="Text Box 51"/>
            <p:cNvSpPr txBox="1">
              <a:spLocks noChangeArrowheads="1"/>
            </p:cNvSpPr>
            <p:nvPr/>
          </p:nvSpPr>
          <p:spPr bwMode="auto">
            <a:xfrm>
              <a:off x="2714608" y="5485713"/>
              <a:ext cx="357194" cy="300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32805" name="Text Box 51"/>
            <p:cNvSpPr txBox="1">
              <a:spLocks noChangeArrowheads="1"/>
            </p:cNvSpPr>
            <p:nvPr/>
          </p:nvSpPr>
          <p:spPr bwMode="auto">
            <a:xfrm>
              <a:off x="3571857" y="5500705"/>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32806" name="Text Box 51"/>
            <p:cNvSpPr txBox="1">
              <a:spLocks noChangeArrowheads="1"/>
            </p:cNvSpPr>
            <p:nvPr/>
          </p:nvSpPr>
          <p:spPr bwMode="auto">
            <a:xfrm>
              <a:off x="4214810" y="5357826"/>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2</a:t>
              </a:r>
              <a:endParaRPr lang="zh-CN" altLang="zh-CN" sz="1600" b="1">
                <a:latin typeface="Arial" panose="020B0604020202020204" pitchFamily="34" charset="0"/>
              </a:endParaRPr>
            </a:p>
          </p:txBody>
        </p:sp>
        <p:sp>
          <p:nvSpPr>
            <p:cNvPr id="32807" name="Text Box 51"/>
            <p:cNvSpPr txBox="1">
              <a:spLocks noChangeArrowheads="1"/>
            </p:cNvSpPr>
            <p:nvPr/>
          </p:nvSpPr>
          <p:spPr bwMode="auto">
            <a:xfrm>
              <a:off x="4929169" y="5485712"/>
              <a:ext cx="571500" cy="30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600" b="1">
                  <a:latin typeface="Times New Roman" panose="02020603050405020304" pitchFamily="18" charset="0"/>
                </a:rPr>
                <a:t>3</a:t>
              </a:r>
              <a:endParaRPr lang="zh-CN" altLang="zh-CN" sz="1600" b="1">
                <a:latin typeface="Arial" panose="020B0604020202020204" pitchFamily="34" charset="0"/>
              </a:endParaRPr>
            </a:p>
          </p:txBody>
        </p:sp>
        <p:sp>
          <p:nvSpPr>
            <p:cNvPr id="32808" name="Text Box 51"/>
            <p:cNvSpPr txBox="1">
              <a:spLocks noChangeArrowheads="1"/>
            </p:cNvSpPr>
            <p:nvPr/>
          </p:nvSpPr>
          <p:spPr bwMode="auto">
            <a:xfrm>
              <a:off x="3152756" y="3571892"/>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3</a:t>
              </a:r>
              <a:endParaRPr lang="zh-CN" altLang="zh-CN" sz="1400" b="1">
                <a:latin typeface="Arial" panose="020B0604020202020204" pitchFamily="34" charset="0"/>
              </a:endParaRPr>
            </a:p>
          </p:txBody>
        </p:sp>
        <p:sp>
          <p:nvSpPr>
            <p:cNvPr id="32809" name="Text Box 51"/>
            <p:cNvSpPr txBox="1">
              <a:spLocks noChangeArrowheads="1"/>
            </p:cNvSpPr>
            <p:nvPr/>
          </p:nvSpPr>
          <p:spPr bwMode="auto">
            <a:xfrm>
              <a:off x="2500294" y="4143392"/>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a:t>
              </a:r>
              <a:endParaRPr lang="zh-CN" altLang="zh-CN" sz="1400" b="1">
                <a:latin typeface="Arial" panose="020B0604020202020204" pitchFamily="34" charset="0"/>
              </a:endParaRPr>
            </a:p>
          </p:txBody>
        </p:sp>
        <p:sp>
          <p:nvSpPr>
            <p:cNvPr id="32810" name="Text Box 51"/>
            <p:cNvSpPr txBox="1">
              <a:spLocks noChangeArrowheads="1"/>
            </p:cNvSpPr>
            <p:nvPr/>
          </p:nvSpPr>
          <p:spPr bwMode="auto">
            <a:xfrm>
              <a:off x="2500294" y="5143517"/>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2</a:t>
              </a:r>
              <a:endParaRPr lang="zh-CN" altLang="zh-CN" sz="1400" b="1">
                <a:latin typeface="Arial" panose="020B0604020202020204" pitchFamily="34" charset="0"/>
              </a:endParaRPr>
            </a:p>
          </p:txBody>
        </p:sp>
        <p:sp>
          <p:nvSpPr>
            <p:cNvPr id="32811" name="Text Box 51"/>
            <p:cNvSpPr txBox="1">
              <a:spLocks noChangeArrowheads="1"/>
            </p:cNvSpPr>
            <p:nvPr/>
          </p:nvSpPr>
          <p:spPr bwMode="auto">
            <a:xfrm>
              <a:off x="3143232" y="4643455"/>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4</a:t>
              </a:r>
              <a:endParaRPr lang="zh-CN" altLang="zh-CN" sz="1400" b="1">
                <a:latin typeface="Arial" panose="020B0604020202020204" pitchFamily="34" charset="0"/>
              </a:endParaRPr>
            </a:p>
          </p:txBody>
        </p:sp>
        <p:sp>
          <p:nvSpPr>
            <p:cNvPr id="32812" name="Text Box 51"/>
            <p:cNvSpPr txBox="1">
              <a:spLocks noChangeArrowheads="1"/>
            </p:cNvSpPr>
            <p:nvPr/>
          </p:nvSpPr>
          <p:spPr bwMode="auto">
            <a:xfrm>
              <a:off x="3143232" y="5643580"/>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5</a:t>
              </a:r>
              <a:endParaRPr lang="zh-CN" altLang="zh-CN" sz="1400" b="1">
                <a:latin typeface="Arial" panose="020B0604020202020204" pitchFamily="34" charset="0"/>
              </a:endParaRPr>
            </a:p>
          </p:txBody>
        </p:sp>
        <p:sp>
          <p:nvSpPr>
            <p:cNvPr id="32813" name="Text Box 51"/>
            <p:cNvSpPr txBox="1">
              <a:spLocks noChangeArrowheads="1"/>
            </p:cNvSpPr>
            <p:nvPr/>
          </p:nvSpPr>
          <p:spPr bwMode="auto">
            <a:xfrm>
              <a:off x="3867131" y="4071955"/>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6</a:t>
              </a:r>
              <a:endParaRPr lang="zh-CN" altLang="zh-CN" sz="1400" b="1">
                <a:latin typeface="Arial" panose="020B0604020202020204" pitchFamily="34" charset="0"/>
              </a:endParaRPr>
            </a:p>
          </p:txBody>
        </p:sp>
        <p:sp>
          <p:nvSpPr>
            <p:cNvPr id="32814" name="Text Box 51"/>
            <p:cNvSpPr txBox="1">
              <a:spLocks noChangeArrowheads="1"/>
            </p:cNvSpPr>
            <p:nvPr/>
          </p:nvSpPr>
          <p:spPr bwMode="auto">
            <a:xfrm>
              <a:off x="3867131" y="5214955"/>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7</a:t>
              </a:r>
              <a:endParaRPr lang="zh-CN" altLang="zh-CN" sz="1400" b="1">
                <a:latin typeface="Arial" panose="020B0604020202020204" pitchFamily="34" charset="0"/>
              </a:endParaRPr>
            </a:p>
          </p:txBody>
        </p:sp>
        <p:sp>
          <p:nvSpPr>
            <p:cNvPr id="32815" name="Text Box 51"/>
            <p:cNvSpPr txBox="1">
              <a:spLocks noChangeArrowheads="1"/>
            </p:cNvSpPr>
            <p:nvPr/>
          </p:nvSpPr>
          <p:spPr bwMode="auto">
            <a:xfrm>
              <a:off x="4510068" y="4714892"/>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8</a:t>
              </a:r>
              <a:endParaRPr lang="zh-CN" altLang="zh-CN" sz="1400" b="1">
                <a:latin typeface="Arial" panose="020B0604020202020204" pitchFamily="34" charset="0"/>
              </a:endParaRPr>
            </a:p>
          </p:txBody>
        </p:sp>
        <p:sp>
          <p:nvSpPr>
            <p:cNvPr id="32816" name="Text Box 51"/>
            <p:cNvSpPr txBox="1">
              <a:spLocks noChangeArrowheads="1"/>
            </p:cNvSpPr>
            <p:nvPr/>
          </p:nvSpPr>
          <p:spPr bwMode="auto">
            <a:xfrm>
              <a:off x="4500544" y="5643580"/>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9</a:t>
              </a:r>
              <a:endParaRPr lang="zh-CN" altLang="zh-CN" sz="1400" b="1">
                <a:latin typeface="Arial" panose="020B0604020202020204" pitchFamily="34" charset="0"/>
              </a:endParaRPr>
            </a:p>
          </p:txBody>
        </p:sp>
        <p:sp>
          <p:nvSpPr>
            <p:cNvPr id="32817" name="Text Box 51"/>
            <p:cNvSpPr txBox="1">
              <a:spLocks noChangeArrowheads="1"/>
            </p:cNvSpPr>
            <p:nvPr/>
          </p:nvSpPr>
          <p:spPr bwMode="auto">
            <a:xfrm>
              <a:off x="5214919" y="5143517"/>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11</a:t>
              </a:r>
              <a:endParaRPr lang="zh-CN" altLang="zh-CN" sz="1400" b="1">
                <a:latin typeface="Arial" panose="020B0604020202020204" pitchFamily="34" charset="0"/>
              </a:endParaRPr>
            </a:p>
          </p:txBody>
        </p:sp>
        <p:sp>
          <p:nvSpPr>
            <p:cNvPr id="32818" name="Text Box 51"/>
            <p:cNvSpPr txBox="1">
              <a:spLocks noChangeArrowheads="1"/>
            </p:cNvSpPr>
            <p:nvPr/>
          </p:nvSpPr>
          <p:spPr bwMode="auto">
            <a:xfrm>
              <a:off x="2000232" y="4643455"/>
              <a:ext cx="41910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s</a:t>
              </a:r>
              <a:endParaRPr lang="zh-CN" altLang="zh-CN" sz="1400" b="1" i="1">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Dinic</a:t>
            </a:r>
            <a:r>
              <a:rPr lang="zh-CN" altLang="en-US" sz="4000" b="1" smtClean="0">
                <a:solidFill>
                  <a:srgbClr val="C00000"/>
                </a:solidFill>
                <a:latin typeface="Times New Roman" panose="02020603050405020304" pitchFamily="18" charset="0"/>
                <a:cs typeface="Times New Roman" panose="02020603050405020304" pitchFamily="18" charset="0"/>
              </a:rPr>
              <a:t>算法</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33795" name="内容占位符 2"/>
          <p:cNvSpPr>
            <a:spLocks noGrp="1"/>
          </p:cNvSpPr>
          <p:nvPr>
            <p:ph idx="1"/>
          </p:nvPr>
        </p:nvSpPr>
        <p:spPr>
          <a:xfrm>
            <a:off x="457200" y="1341438"/>
            <a:ext cx="8435975" cy="4924425"/>
          </a:xfrm>
        </p:spPr>
        <p:txBody>
          <a:bodyPr/>
          <a:lstStyle/>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算法</a:t>
            </a:r>
            <a:r>
              <a:rPr lang="en-US" altLang="zh-CN" sz="2400" b="1" dirty="0" smtClean="0">
                <a:solidFill>
                  <a:srgbClr val="C00000"/>
                </a:solidFill>
                <a:latin typeface="Times New Roman" panose="02020603050405020304" pitchFamily="18" charset="0"/>
                <a:cs typeface="Times New Roman" panose="02020603050405020304" pitchFamily="18" charset="0"/>
              </a:rPr>
              <a:t>7.2 </a:t>
            </a:r>
            <a:r>
              <a:rPr lang="en-US" altLang="zh-CN" sz="2400" b="1" dirty="0" err="1" smtClean="0">
                <a:solidFill>
                  <a:srgbClr val="C00000"/>
                </a:solidFill>
                <a:latin typeface="Times New Roman" panose="02020603050405020304" pitchFamily="18" charset="0"/>
                <a:cs typeface="Times New Roman" panose="02020603050405020304" pitchFamily="18" charset="0"/>
              </a:rPr>
              <a:t>Dinic</a:t>
            </a:r>
            <a:r>
              <a:rPr lang="zh-CN" altLang="en-US" sz="2400" b="1" dirty="0" smtClean="0">
                <a:solidFill>
                  <a:srgbClr val="C00000"/>
                </a:solidFill>
                <a:latin typeface="Times New Roman" panose="02020603050405020304" pitchFamily="18" charset="0"/>
                <a:cs typeface="Times New Roman" panose="02020603050405020304" pitchFamily="18" charset="0"/>
              </a:rPr>
              <a:t>算法</a:t>
            </a:r>
            <a:endParaRPr lang="en-US" altLang="zh-CN" sz="2400" b="1" dirty="0" smtClean="0">
              <a:solidFill>
                <a:srgbClr val="C00000"/>
              </a:solidFill>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1.  </a:t>
            </a:r>
            <a:r>
              <a:rPr lang="en-US" altLang="zh-CN" sz="2400" b="1" i="1" dirty="0" smtClean="0">
                <a:latin typeface="Times New Roman" panose="02020603050405020304" pitchFamily="18" charset="0"/>
                <a:cs typeface="Times New Roman" panose="02020603050405020304" pitchFamily="18" charset="0"/>
              </a:rPr>
              <a:t>f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0                                          // </a:t>
            </a:r>
            <a:r>
              <a:rPr lang="zh-CN" altLang="en-US" sz="2400" b="1" dirty="0" smtClean="0">
                <a:latin typeface="Times New Roman" panose="02020603050405020304" pitchFamily="18" charset="0"/>
                <a:cs typeface="Times New Roman" panose="02020603050405020304" pitchFamily="18" charset="0"/>
              </a:rPr>
              <a:t>取零流作为初始可行流</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2.  </a:t>
            </a:r>
            <a:r>
              <a:rPr lang="zh-CN" altLang="en-US" sz="2400" b="1" dirty="0" smtClean="0">
                <a:latin typeface="Times New Roman" panose="02020603050405020304" pitchFamily="18" charset="0"/>
                <a:cs typeface="Times New Roman" panose="02020603050405020304" pitchFamily="18" charset="0"/>
              </a:rPr>
              <a:t>构造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3.  if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中不存在从 </a:t>
            </a:r>
            <a:r>
              <a:rPr lang="en-US" altLang="zh-CN" sz="2400" b="1" i="1" dirty="0" smtClean="0">
                <a:latin typeface="Times New Roman" panose="02020603050405020304" pitchFamily="18" charset="0"/>
                <a:cs typeface="Times New Roman" panose="02020603050405020304" pitchFamily="18" charset="0"/>
              </a:rPr>
              <a:t>s </a:t>
            </a:r>
            <a:r>
              <a:rPr lang="zh-CN" altLang="en-US" sz="2400" b="1" dirty="0" smtClean="0">
                <a:latin typeface="Times New Roman" panose="02020603050405020304" pitchFamily="18" charset="0"/>
                <a:cs typeface="Times New Roman" panose="02020603050405020304" pitchFamily="18" charset="0"/>
              </a:rPr>
              <a:t>到 </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的路径</a:t>
            </a:r>
            <a:r>
              <a:rPr lang="en-US" altLang="zh-CN" sz="2400" b="1" dirty="0" smtClean="0">
                <a:latin typeface="Times New Roman" panose="02020603050405020304" pitchFamily="18" charset="0"/>
                <a:cs typeface="Times New Roman" panose="02020603050405020304" pitchFamily="18" charset="0"/>
              </a:rPr>
              <a:t> then return </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计算结束</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4.  </a:t>
            </a:r>
            <a:r>
              <a:rPr lang="en-US" altLang="zh-CN" sz="2400" b="1" i="1" dirty="0" smtClean="0">
                <a:latin typeface="Times New Roman" panose="02020603050405020304" pitchFamily="18" charset="0"/>
                <a:cs typeface="Times New Roman" panose="02020603050405020304" pitchFamily="18" charset="0"/>
              </a:rPr>
              <a:t>g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0</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5.  if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中存在 </a:t>
            </a:r>
            <a:r>
              <a:rPr lang="en-US" altLang="zh-CN" sz="2400" b="1" i="1" dirty="0" err="1" smtClean="0">
                <a:latin typeface="Times New Roman" panose="02020603050405020304" pitchFamily="18" charset="0"/>
                <a:cs typeface="Times New Roman" panose="02020603050405020304" pitchFamily="18" charset="0"/>
              </a:rPr>
              <a:t>th</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)=0  then</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6.       if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s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  then  </a:t>
            </a:r>
            <a:r>
              <a:rPr lang="en-US" altLang="zh-CN" sz="2400" b="1" dirty="0" err="1" smtClean="0">
                <a:latin typeface="Times New Roman" panose="02020603050405020304" pitchFamily="18" charset="0"/>
                <a:cs typeface="Times New Roman" panose="02020603050405020304" pitchFamily="18" charset="0"/>
              </a:rPr>
              <a:t>goto</a:t>
            </a:r>
            <a:r>
              <a:rPr lang="en-US" altLang="zh-CN" sz="2400" b="1" dirty="0" smtClean="0">
                <a:latin typeface="Times New Roman" panose="02020603050405020304" pitchFamily="18" charset="0"/>
                <a:cs typeface="Times New Roman" panose="02020603050405020304" pitchFamily="18" charset="0"/>
              </a:rPr>
              <a:t>  15</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7.       else  </a:t>
            </a:r>
            <a:r>
              <a:rPr lang="zh-CN" altLang="en-US" sz="2400" b="1" dirty="0" smtClean="0">
                <a:latin typeface="Times New Roman" panose="02020603050405020304" pitchFamily="18" charset="0"/>
                <a:cs typeface="Times New Roman" panose="02020603050405020304" pitchFamily="18" charset="0"/>
              </a:rPr>
              <a:t>删去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及其关联的边</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8.  </a:t>
            </a:r>
            <a:r>
              <a:rPr lang="zh-CN" altLang="en-US" sz="2400" b="1" dirty="0" smtClean="0">
                <a:latin typeface="Times New Roman" panose="02020603050405020304" pitchFamily="18" charset="0"/>
                <a:cs typeface="Times New Roman" panose="02020603050405020304" pitchFamily="18" charset="0"/>
              </a:rPr>
              <a:t>找到流通量最小的顶点 </a:t>
            </a:r>
            <a:r>
              <a:rPr lang="en-US" altLang="zh-CN" sz="2400" b="1" i="1" dirty="0"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从 </a:t>
            </a:r>
            <a:r>
              <a:rPr lang="en-US" altLang="zh-CN" sz="2400" b="1" i="1" dirty="0" smtClean="0">
                <a:latin typeface="Times New Roman" panose="02020603050405020304" pitchFamily="18" charset="0"/>
                <a:cs typeface="Times New Roman" panose="02020603050405020304" pitchFamily="18" charset="0"/>
              </a:rPr>
              <a:t>k</a:t>
            </a:r>
            <a:r>
              <a:rPr lang="zh-CN" altLang="en-US" sz="2400" b="1" dirty="0" smtClean="0">
                <a:latin typeface="Times New Roman" panose="02020603050405020304" pitchFamily="18" charset="0"/>
                <a:cs typeface="Times New Roman" panose="02020603050405020304" pitchFamily="18" charset="0"/>
              </a:rPr>
              <a:t>开始将 </a:t>
            </a:r>
            <a:r>
              <a:rPr lang="en-US" altLang="zh-CN" sz="2400" b="1" i="1" dirty="0" err="1" smtClean="0">
                <a:latin typeface="Times New Roman" panose="02020603050405020304" pitchFamily="18" charset="0"/>
                <a:cs typeface="Times New Roman" panose="02020603050405020304" pitchFamily="18" charset="0"/>
              </a:rPr>
              <a:t>th</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个单位的流向前送到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向后推到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并将它们加到 </a:t>
            </a:r>
            <a:r>
              <a:rPr lang="en-US" altLang="zh-CN" sz="2400" b="1" i="1"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上</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err="1" smtClean="0">
                <a:latin typeface="Times New Roman" panose="02020603050405020304" pitchFamily="18" charset="0"/>
                <a:cs typeface="Times New Roman" panose="02020603050405020304" pitchFamily="18" charset="0"/>
              </a:rPr>
              <a:t>th</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rPr>
              <a:t>) &gt; 0   </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9.  </a:t>
            </a:r>
            <a:r>
              <a:rPr lang="zh-CN" altLang="en-US" sz="2400" b="1" dirty="0" smtClean="0">
                <a:latin typeface="Times New Roman" panose="02020603050405020304" pitchFamily="18" charset="0"/>
                <a:cs typeface="Times New Roman" panose="02020603050405020304" pitchFamily="18" charset="0"/>
              </a:rPr>
              <a:t>删去 </a:t>
            </a:r>
            <a:r>
              <a:rPr lang="en-US" altLang="zh-CN" sz="2400" b="1" i="1" dirty="0" smtClean="0">
                <a:latin typeface="Times New Roman" panose="02020603050405020304" pitchFamily="18" charset="0"/>
                <a:cs typeface="Times New Roman" panose="02020603050405020304" pitchFamily="18" charset="0"/>
              </a:rPr>
              <a:t>k </a:t>
            </a:r>
            <a:r>
              <a:rPr lang="zh-CN" altLang="en-US" sz="2400" b="1" dirty="0" smtClean="0">
                <a:latin typeface="Times New Roman" panose="02020603050405020304" pitchFamily="18" charset="0"/>
                <a:cs typeface="Times New Roman" panose="02020603050405020304" pitchFamily="18" charset="0"/>
              </a:rPr>
              <a:t>及其关联的边    </a:t>
            </a:r>
            <a:endParaRPr lang="zh-CN" altLang="en-US" sz="2400" b="1" dirty="0" smtClean="0">
              <a:latin typeface="Times New Roman" panose="02020603050405020304" pitchFamily="18" charset="0"/>
              <a:cs typeface="Times New Roman" panose="02020603050405020304" pitchFamily="18" charset="0"/>
            </a:endParaRPr>
          </a:p>
        </p:txBody>
      </p:sp>
      <p:sp>
        <p:nvSpPr>
          <p:cNvPr id="3379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32832885-77AF-4E9F-86B7-7A95C2C59E93}"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en-US" altLang="zh-CN" sz="4000" b="1" dirty="0" err="1" smtClean="0">
                <a:solidFill>
                  <a:srgbClr val="C00000"/>
                </a:solidFill>
                <a:latin typeface="Times New Roman" panose="02020603050405020304" pitchFamily="18" charset="0"/>
                <a:cs typeface="Times New Roman" panose="02020603050405020304" pitchFamily="18" charset="0"/>
              </a:rPr>
              <a:t>Dinic</a:t>
            </a:r>
            <a:r>
              <a:rPr lang="zh-CN" altLang="en-US" sz="4000" b="1" dirty="0" smtClean="0">
                <a:solidFill>
                  <a:srgbClr val="C00000"/>
                </a:solidFill>
                <a:latin typeface="Times New Roman" panose="02020603050405020304" pitchFamily="18" charset="0"/>
                <a:cs typeface="Times New Roman" panose="02020603050405020304" pitchFamily="18" charset="0"/>
              </a:rPr>
              <a:t>算法（续）</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
        <p:nvSpPr>
          <p:cNvPr id="34819" name="内容占位符 2"/>
          <p:cNvSpPr>
            <a:spLocks noGrp="1"/>
          </p:cNvSpPr>
          <p:nvPr>
            <p:ph idx="1"/>
          </p:nvPr>
        </p:nvSpPr>
        <p:spPr>
          <a:xfrm>
            <a:off x="395288" y="1384300"/>
            <a:ext cx="8362950" cy="4924425"/>
          </a:xfrm>
        </p:spPr>
        <p:txBody>
          <a:bodyPr/>
          <a:lstStyle/>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10.  for  &lt;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&gt;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AE</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  do </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11.       if   </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 ac</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then</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12.            </a:t>
            </a:r>
            <a:r>
              <a:rPr lang="zh-CN" altLang="en-US" sz="2400" b="1" smtClean="0">
                <a:latin typeface="Times New Roman" panose="02020603050405020304" pitchFamily="18" charset="0"/>
                <a:cs typeface="Times New Roman" panose="02020603050405020304" pitchFamily="18" charset="0"/>
              </a:rPr>
              <a:t>删去</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&gt;</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13.       else  </a:t>
            </a:r>
            <a:r>
              <a:rPr lang="en-US" altLang="zh-CN" sz="2400" b="1" i="1" smtClean="0">
                <a:latin typeface="Times New Roman" panose="02020603050405020304" pitchFamily="18" charset="0"/>
                <a:cs typeface="Times New Roman" panose="02020603050405020304" pitchFamily="18" charset="0"/>
              </a:rPr>
              <a:t>ac</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ac</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14.  goto 5</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15.   </a:t>
            </a:r>
            <a:r>
              <a:rPr lang="en-US" altLang="zh-CN" sz="2400" b="1" i="1" smtClean="0">
                <a:latin typeface="Times New Roman" panose="02020603050405020304" pitchFamily="18" charset="0"/>
                <a:cs typeface="Times New Roman" panose="02020603050405020304" pitchFamily="18" charset="0"/>
              </a:rPr>
              <a:t>f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f </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g</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16.  goto  2     </a:t>
            </a:r>
            <a:endParaRPr lang="zh-CN" altLang="en-US" sz="2400" b="1" smtClean="0">
              <a:latin typeface="Times New Roman" panose="02020603050405020304" pitchFamily="18" charset="0"/>
              <a:cs typeface="Times New Roman" panose="02020603050405020304" pitchFamily="18" charset="0"/>
            </a:endParaRPr>
          </a:p>
        </p:txBody>
      </p:sp>
      <p:sp>
        <p:nvSpPr>
          <p:cNvPr id="3482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983573A-EC85-4120-BA76-449B13109980}"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Dinic</a:t>
            </a:r>
            <a:r>
              <a:rPr lang="zh-CN" altLang="en-US" sz="4000" b="1" smtClean="0">
                <a:solidFill>
                  <a:srgbClr val="C00000"/>
                </a:solidFill>
                <a:latin typeface="Times New Roman" panose="02020603050405020304" pitchFamily="18" charset="0"/>
                <a:cs typeface="Times New Roman" panose="02020603050405020304" pitchFamily="18" charset="0"/>
              </a:rPr>
              <a:t>算法的性质</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34819" name="内容占位符 2"/>
          <p:cNvSpPr>
            <a:spLocks noGrp="1"/>
          </p:cNvSpPr>
          <p:nvPr>
            <p:ph idx="1"/>
          </p:nvPr>
        </p:nvSpPr>
        <p:spPr>
          <a:xfrm>
            <a:off x="390525" y="1268413"/>
            <a:ext cx="8429948" cy="5453062"/>
          </a:xfrm>
        </p:spPr>
        <p:txBody>
          <a:bodyPr/>
          <a:lstStyle/>
          <a:p>
            <a:pPr>
              <a:buFont typeface="Arial" panose="020B0604020202020204" pitchFamily="34" charset="0"/>
              <a:buNone/>
              <a:defRPr/>
            </a:pPr>
            <a:r>
              <a:rPr lang="zh-CN" altLang="en-US" sz="2400" b="1" dirty="0" smtClean="0">
                <a:solidFill>
                  <a:srgbClr val="C00000"/>
                </a:solidFill>
                <a:latin typeface="Times New Roman" panose="02020603050405020304" pitchFamily="18" charset="0"/>
                <a:cs typeface="Times New Roman" panose="02020603050405020304" pitchFamily="18" charset="0"/>
              </a:rPr>
              <a:t>引理</a:t>
            </a:r>
            <a:r>
              <a:rPr lang="en-US" altLang="zh-CN" sz="2400" b="1" dirty="0" smtClean="0">
                <a:solidFill>
                  <a:srgbClr val="C00000"/>
                </a:solidFill>
                <a:latin typeface="Times New Roman" panose="02020603050405020304" pitchFamily="18" charset="0"/>
                <a:cs typeface="Times New Roman" panose="02020603050405020304" pitchFamily="18" charset="0"/>
              </a:rPr>
              <a:t>7.6</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在每个阶段结束时</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是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中的极大流</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lgn="just">
              <a:spcBef>
                <a:spcPts val="900"/>
              </a:spcBef>
              <a:buFont typeface="Arial" panose="020B0604020202020204" pitchFamily="34" charset="0"/>
              <a:buNone/>
              <a:defRPr/>
            </a:pPr>
            <a:r>
              <a:rPr lang="zh-CN" altLang="en-US" sz="2400" b="1" dirty="0" smtClean="0">
                <a:solidFill>
                  <a:srgbClr val="C00000"/>
                </a:solidFill>
                <a:latin typeface="Times New Roman" panose="02020603050405020304" pitchFamily="18" charset="0"/>
                <a:cs typeface="Times New Roman" panose="02020603050405020304" pitchFamily="18" charset="0"/>
              </a:rPr>
              <a:t>证</a:t>
            </a:r>
            <a:r>
              <a:rPr lang="zh-CN" altLang="en-US" sz="2400" b="1" dirty="0" smtClean="0">
                <a:latin typeface="Times New Roman" panose="02020603050405020304" pitchFamily="18" charset="0"/>
                <a:cs typeface="Times New Roman" panose="02020603050405020304" pitchFamily="18" charset="0"/>
              </a:rPr>
              <a:t>  在</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中</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只有当流通量变成 </a:t>
            </a:r>
            <a:r>
              <a:rPr lang="en-US" altLang="zh-CN" sz="2400" b="1" dirty="0" smtClean="0">
                <a:latin typeface="Times New Roman" panose="02020603050405020304" pitchFamily="18" charset="0"/>
                <a:cs typeface="Times New Roman" panose="02020603050405020304" pitchFamily="18" charset="0"/>
              </a:rPr>
              <a:t>0 </a:t>
            </a:r>
            <a:r>
              <a:rPr lang="zh-CN" altLang="en-US" sz="2400" b="1" dirty="0" smtClean="0">
                <a:latin typeface="Times New Roman" panose="02020603050405020304" pitchFamily="18" charset="0"/>
                <a:cs typeface="Times New Roman" panose="02020603050405020304" pitchFamily="18" charset="0"/>
              </a:rPr>
              <a:t>后</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才删去这个顶点及其</a:t>
            </a:r>
            <a:endParaRPr lang="en-US" altLang="zh-CN" sz="2400" b="1" dirty="0" smtClean="0">
              <a:latin typeface="Times New Roman" panose="02020603050405020304" pitchFamily="18" charset="0"/>
              <a:cs typeface="Times New Roman" panose="02020603050405020304" pitchFamily="18" charset="0"/>
            </a:endParaRPr>
          </a:p>
          <a:p>
            <a:pPr algn="just">
              <a:spcBef>
                <a:spcPts val="300"/>
              </a:spcBef>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关联的边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这样的顶点和边不可能出现在关于 </a:t>
            </a:r>
            <a:r>
              <a:rPr lang="en-US" altLang="zh-CN" sz="2400" b="1" i="1"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的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前向增</a:t>
            </a:r>
            <a:endParaRPr lang="en-US" altLang="zh-CN" sz="2400" b="1" dirty="0" smtClean="0">
              <a:latin typeface="Times New Roman" panose="02020603050405020304" pitchFamily="18" charset="0"/>
              <a:cs typeface="Times New Roman" panose="02020603050405020304" pitchFamily="18" charset="0"/>
            </a:endParaRPr>
          </a:p>
          <a:p>
            <a:pPr marL="0" indent="0" algn="just">
              <a:spcBef>
                <a:spcPts val="300"/>
              </a:spcBef>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广链上</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当每个阶段结束时</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剩余的图中已不存在从 </a:t>
            </a:r>
            <a:r>
              <a:rPr lang="en-US" altLang="zh-CN" sz="2400" b="1" i="1" dirty="0" smtClean="0">
                <a:latin typeface="Times New Roman" panose="02020603050405020304" pitchFamily="18" charset="0"/>
                <a:cs typeface="Times New Roman" panose="02020603050405020304" pitchFamily="18" charset="0"/>
              </a:rPr>
              <a:t>s </a:t>
            </a:r>
            <a:r>
              <a:rPr lang="zh-CN" altLang="en-US" sz="2400" b="1" dirty="0" smtClean="0">
                <a:latin typeface="Times New Roman" panose="02020603050405020304" pitchFamily="18" charset="0"/>
                <a:cs typeface="Times New Roman" panose="02020603050405020304" pitchFamily="18" charset="0"/>
              </a:rPr>
              <a:t>到 </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的路径</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从而得到的 </a:t>
            </a:r>
            <a:r>
              <a:rPr lang="en-US" altLang="zh-CN" sz="2400" b="1" i="1"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是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的极大流</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defRPr/>
            </a:pPr>
            <a:r>
              <a:rPr lang="zh-CN" altLang="en-US" sz="2400" b="1" dirty="0" smtClean="0">
                <a:solidFill>
                  <a:srgbClr val="C00000"/>
                </a:solidFill>
                <a:latin typeface="Times New Roman" panose="02020603050405020304" pitchFamily="18" charset="0"/>
                <a:cs typeface="Times New Roman" panose="02020603050405020304" pitchFamily="18" charset="0"/>
              </a:rPr>
              <a:t>引理</a:t>
            </a:r>
            <a:r>
              <a:rPr lang="en-US" altLang="zh-CN" sz="2400" b="1" dirty="0" smtClean="0">
                <a:solidFill>
                  <a:srgbClr val="C00000"/>
                </a:solidFill>
                <a:latin typeface="Times New Roman" panose="02020603050405020304" pitchFamily="18" charset="0"/>
                <a:cs typeface="Times New Roman" panose="02020603050405020304" pitchFamily="18" charset="0"/>
              </a:rPr>
              <a:t>7.7</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在每个阶段</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f</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中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距离大于前一个阶段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a:p>
            <a:pPr>
              <a:spcBef>
                <a:spcPts val="0"/>
              </a:spcBef>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中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距离</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约定</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当不存在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最短路径时</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规定其距离为</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lgn="just">
              <a:spcBef>
                <a:spcPts val="900"/>
              </a:spcBef>
              <a:buFont typeface="Arial" panose="020B0604020202020204" pitchFamily="34" charset="0"/>
              <a:buNone/>
              <a:defRPr/>
            </a:pPr>
            <a:r>
              <a:rPr lang="zh-CN" altLang="en-US" sz="2400" b="1" dirty="0" smtClean="0">
                <a:solidFill>
                  <a:srgbClr val="C00000"/>
                </a:solidFill>
                <a:latin typeface="Times New Roman" panose="02020603050405020304" pitchFamily="18" charset="0"/>
                <a:cs typeface="Times New Roman" panose="02020603050405020304" pitchFamily="18" charset="0"/>
              </a:rPr>
              <a:t>证  </a:t>
            </a:r>
            <a:r>
              <a:rPr lang="zh-CN" altLang="en-US" sz="2400" b="1" dirty="0" smtClean="0">
                <a:latin typeface="Times New Roman" panose="02020603050405020304" pitchFamily="18" charset="0"/>
                <a:cs typeface="Times New Roman" panose="02020603050405020304" pitchFamily="18" charset="0"/>
              </a:rPr>
              <a:t>要证在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f</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中</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而不在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中的边都不可能从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中</a:t>
            </a:r>
            <a:endParaRPr lang="en-US" altLang="zh-CN" sz="2400" b="1" dirty="0" smtClean="0">
              <a:latin typeface="Times New Roman" panose="02020603050405020304" pitchFamily="18" charset="0"/>
              <a:cs typeface="Times New Roman" panose="02020603050405020304" pitchFamily="18" charset="0"/>
            </a:endParaRPr>
          </a:p>
          <a:p>
            <a:pPr algn="just">
              <a:spcBef>
                <a:spcPts val="300"/>
              </a:spcBef>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的低层指向高层</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假若如此</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则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f</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的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最短路径中必有</a:t>
            </a:r>
            <a:endParaRPr lang="en-US" altLang="zh-CN" sz="2400" b="1" dirty="0" smtClean="0">
              <a:latin typeface="Times New Roman" panose="02020603050405020304" pitchFamily="18" charset="0"/>
              <a:cs typeface="Times New Roman" panose="02020603050405020304" pitchFamily="18" charset="0"/>
            </a:endParaRPr>
          </a:p>
          <a:p>
            <a:pPr algn="just">
              <a:spcBef>
                <a:spcPts val="300"/>
              </a:spcBef>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不在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中的边 </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因</a:t>
            </a:r>
            <a:r>
              <a:rPr lang="en-US" altLang="zh-CN" sz="2400" b="1" i="1"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不是极大流</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而这些边都不可能从</a:t>
            </a:r>
            <a:endParaRPr lang="en-US" altLang="zh-CN" sz="2400" b="1" dirty="0" smtClean="0">
              <a:latin typeface="Times New Roman" panose="02020603050405020304" pitchFamily="18" charset="0"/>
              <a:cs typeface="Times New Roman" panose="02020603050405020304" pitchFamily="18" charset="0"/>
            </a:endParaRPr>
          </a:p>
          <a:p>
            <a:pPr algn="just">
              <a:spcBef>
                <a:spcPts val="300"/>
              </a:spcBef>
              <a:buFont typeface="Arial" panose="020B0604020202020204" pitchFamily="34" charset="0"/>
              <a:buNone/>
              <a:defRPr/>
            </a:pP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的低层指向高层</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所以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f</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中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距离必大于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lgn="just">
              <a:spcBef>
                <a:spcPts val="300"/>
              </a:spcBef>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中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距离</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p:txBody>
      </p:sp>
      <p:sp>
        <p:nvSpPr>
          <p:cNvPr id="3584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4AC0FE91-5B77-4E56-B4EF-F5AC5420CE6F}"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xfrm>
            <a:off x="457200" y="274638"/>
            <a:ext cx="8229600" cy="939800"/>
          </a:xfrm>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Dinic</a:t>
            </a:r>
            <a:r>
              <a:rPr lang="zh-CN" altLang="en-US" sz="4000" b="1" smtClean="0">
                <a:solidFill>
                  <a:srgbClr val="C00000"/>
                </a:solidFill>
                <a:latin typeface="Times New Roman" panose="02020603050405020304" pitchFamily="18" charset="0"/>
                <a:cs typeface="Times New Roman" panose="02020603050405020304" pitchFamily="18" charset="0"/>
              </a:rPr>
              <a:t>算法的性质</a:t>
            </a:r>
            <a:r>
              <a:rPr lang="en-US" altLang="zh-CN" sz="4000" b="1" smtClean="0">
                <a:solidFill>
                  <a:srgbClr val="C00000"/>
                </a:solidFill>
                <a:latin typeface="Times New Roman" panose="02020603050405020304" pitchFamily="18" charset="0"/>
                <a:cs typeface="Times New Roman" panose="02020603050405020304" pitchFamily="18" charset="0"/>
              </a:rPr>
              <a:t>(</a:t>
            </a:r>
            <a:r>
              <a:rPr lang="zh-CN" altLang="en-US" sz="4000" b="1" smtClean="0">
                <a:solidFill>
                  <a:srgbClr val="C00000"/>
                </a:solidFill>
                <a:latin typeface="Times New Roman" panose="02020603050405020304" pitchFamily="18" charset="0"/>
                <a:cs typeface="Times New Roman" panose="02020603050405020304" pitchFamily="18" charset="0"/>
              </a:rPr>
              <a:t>续</a:t>
            </a:r>
            <a:r>
              <a:rPr lang="en-US" altLang="zh-CN" sz="4000" b="1" smtClean="0">
                <a:solidFill>
                  <a:srgbClr val="C00000"/>
                </a:solidFill>
                <a:latin typeface="Times New Roman" panose="02020603050405020304" pitchFamily="18" charset="0"/>
                <a:cs typeface="Times New Roman" panose="02020603050405020304" pitchFamily="18" charset="0"/>
              </a:rPr>
              <a:t>1)</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36867" name="内容占位符 2"/>
          <p:cNvSpPr>
            <a:spLocks noGrp="1"/>
          </p:cNvSpPr>
          <p:nvPr>
            <p:ph idx="1"/>
          </p:nvPr>
        </p:nvSpPr>
        <p:spPr>
          <a:xfrm>
            <a:off x="457200" y="1214438"/>
            <a:ext cx="8229600" cy="5143500"/>
          </a:xfrm>
        </p:spPr>
        <p:txBody>
          <a:bodyPr/>
          <a:lstStyle/>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考察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和 </a:t>
            </a:r>
            <a:r>
              <a:rPr lang="en-US" altLang="zh-CN" sz="2400" b="1" i="1" smtClean="0">
                <a:latin typeface="Times New Roman" panose="02020603050405020304" pitchFamily="18" charset="0"/>
                <a:cs typeface="Times New Roman" panose="02020603050405020304" pitchFamily="18" charset="0"/>
              </a:rPr>
              <a:t>AN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中的边</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记 </a:t>
            </a:r>
            <a:r>
              <a:rPr lang="en-US" altLang="zh-CN" sz="2400" b="1" i="1" smtClean="0">
                <a:latin typeface="Times New Roman" panose="02020603050405020304" pitchFamily="18" charset="0"/>
                <a:cs typeface="Times New Roman" panose="02020603050405020304" pitchFamily="18" charset="0"/>
              </a:rPr>
              <a:t>f</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&gt;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AE</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若 </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&gt;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则 </a:t>
            </a:r>
            <a:r>
              <a:rPr lang="en-US" altLang="zh-CN" sz="2400" b="1" i="1" smtClean="0">
                <a:latin typeface="Times New Roman" panose="02020603050405020304" pitchFamily="18" charset="0"/>
                <a:cs typeface="Times New Roman" panose="02020603050405020304" pitchFamily="18" charset="0"/>
              </a:rPr>
              <a:t>f</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 </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 </a:t>
            </a:r>
            <a:r>
              <a:rPr lang="en-US" altLang="zh-CN" sz="2400" b="1" i="1" smtClean="0">
                <a:latin typeface="Times New Roman" panose="02020603050405020304" pitchFamily="18" charset="0"/>
                <a:cs typeface="Times New Roman" panose="02020603050405020304" pitchFamily="18" charset="0"/>
              </a:rPr>
              <a:t>c</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ac</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当 </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ac</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时</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f</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&lt;</a:t>
            </a:r>
            <a:r>
              <a:rPr lang="en-US" altLang="zh-CN" sz="2400" b="1" i="1" smtClean="0">
                <a:latin typeface="Times New Roman" panose="02020603050405020304" pitchFamily="18" charset="0"/>
                <a:cs typeface="Times New Roman" panose="02020603050405020304" pitchFamily="18" charset="0"/>
              </a:rPr>
              <a:t>c</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&lt;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&gt;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当 </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ac</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时</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f</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&lt;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&gt;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 </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当 </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)=0</a:t>
            </a:r>
            <a:r>
              <a:rPr lang="zh-CN" altLang="en-US" sz="2400" b="1" smtClean="0">
                <a:latin typeface="Times New Roman" panose="02020603050405020304" pitchFamily="18" charset="0"/>
                <a:cs typeface="Times New Roman" panose="02020603050405020304" pitchFamily="18" charset="0"/>
              </a:rPr>
              <a:t>且 </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)&gt;0 </a:t>
            </a:r>
            <a:r>
              <a:rPr lang="zh-CN" altLang="en-US" sz="2400" b="1" smtClean="0">
                <a:latin typeface="Times New Roman" panose="02020603050405020304" pitchFamily="18" charset="0"/>
                <a:cs typeface="Times New Roman" panose="02020603050405020304" pitchFamily="18" charset="0"/>
              </a:rPr>
              <a:t>时</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比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多一条边 </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&gt;.</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若 </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&gt;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则</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f</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 </a:t>
            </a:r>
            <a:r>
              <a:rPr lang="en-US" altLang="zh-CN" sz="2400" b="1" i="1" smtClean="0">
                <a:latin typeface="Times New Roman" panose="02020603050405020304" pitchFamily="18" charset="0"/>
                <a:cs typeface="Times New Roman" panose="02020603050405020304" pitchFamily="18" charset="0"/>
              </a:rPr>
              <a:t>ac</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 </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当 </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&lt; </a:t>
            </a:r>
            <a:r>
              <a:rPr lang="en-US" altLang="zh-CN" sz="2400" b="1" i="1" smtClean="0">
                <a:latin typeface="Times New Roman" panose="02020603050405020304" pitchFamily="18" charset="0"/>
                <a:cs typeface="Times New Roman" panose="02020603050405020304" pitchFamily="18" charset="0"/>
              </a:rPr>
              <a:t>ac</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时</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f</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&gt; 0, &lt;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&gt;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当 </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 </a:t>
            </a:r>
            <a:r>
              <a:rPr lang="en-US" altLang="zh-CN" sz="2400" b="1" i="1" smtClean="0">
                <a:latin typeface="Times New Roman" panose="02020603050405020304" pitchFamily="18" charset="0"/>
                <a:cs typeface="Times New Roman" panose="02020603050405020304" pitchFamily="18" charset="0"/>
              </a:rPr>
              <a:t>ac</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时</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f</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 0, &lt;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&gt;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当 </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 </a:t>
            </a:r>
            <a:r>
              <a:rPr lang="en-US" altLang="zh-CN" sz="2400" b="1" i="1" smtClean="0">
                <a:latin typeface="Times New Roman" panose="02020603050405020304" pitchFamily="18" charset="0"/>
                <a:cs typeface="Times New Roman" panose="02020603050405020304" pitchFamily="18" charset="0"/>
              </a:rPr>
              <a:t>c</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且 </a:t>
            </a:r>
            <a:r>
              <a:rPr lang="en-US" altLang="zh-CN" sz="2400" b="1" i="1" smtClean="0">
                <a:latin typeface="Times New Roman" panose="02020603050405020304" pitchFamily="18" charset="0"/>
                <a:cs typeface="Times New Roman" panose="02020603050405020304" pitchFamily="18" charset="0"/>
              </a:rPr>
              <a:t>f</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&lt; </a:t>
            </a:r>
            <a:r>
              <a:rPr lang="en-US" altLang="zh-CN" sz="2400" b="1" i="1" smtClean="0">
                <a:latin typeface="Times New Roman" panose="02020603050405020304" pitchFamily="18" charset="0"/>
                <a:cs typeface="Times New Roman" panose="02020603050405020304" pitchFamily="18" charset="0"/>
              </a:rPr>
              <a:t>c</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时</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比</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多一条边</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&gt;.</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因而</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AN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中的边也是</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中的边当且仅当它是关于 </a:t>
            </a:r>
            <a:r>
              <a:rPr lang="en-US" altLang="zh-CN" sz="2400" b="1" i="1" smtClean="0">
                <a:latin typeface="Times New Roman" panose="02020603050405020304" pitchFamily="18" charset="0"/>
                <a:cs typeface="Times New Roman" panose="02020603050405020304" pitchFamily="18" charset="0"/>
              </a:rPr>
              <a:t>g </a:t>
            </a:r>
            <a:r>
              <a:rPr lang="zh-CN" altLang="en-US" sz="2400" b="1" smtClean="0">
                <a:latin typeface="Times New Roman" panose="02020603050405020304" pitchFamily="18" charset="0"/>
                <a:cs typeface="Times New Roman" panose="02020603050405020304" pitchFamily="18" charset="0"/>
              </a:rPr>
              <a:t>的</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非饱和边</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又由于</a:t>
            </a:r>
            <a:r>
              <a:rPr lang="en-US" altLang="zh-CN" sz="2400" b="1" i="1" smtClean="0">
                <a:latin typeface="Times New Roman" panose="02020603050405020304" pitchFamily="18" charset="0"/>
                <a:cs typeface="Times New Roman" panose="02020603050405020304" pitchFamily="18" charset="0"/>
              </a:rPr>
              <a:t>g</a:t>
            </a:r>
            <a:r>
              <a:rPr lang="zh-CN" altLang="en-US" sz="2400" b="1" smtClean="0">
                <a:latin typeface="Times New Roman" panose="02020603050405020304" pitchFamily="18" charset="0"/>
                <a:cs typeface="Times New Roman" panose="02020603050405020304" pitchFamily="18" charset="0"/>
              </a:rPr>
              <a:t>产生的在</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中、而不在</a:t>
            </a:r>
            <a:r>
              <a:rPr lang="en-US" altLang="zh-CN" sz="2400" b="1" i="1" smtClean="0">
                <a:latin typeface="Times New Roman" panose="02020603050405020304" pitchFamily="18" charset="0"/>
                <a:cs typeface="Times New Roman" panose="02020603050405020304" pitchFamily="18" charset="0"/>
              </a:rPr>
              <a:t>AN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中的新边</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都是从 </a:t>
            </a:r>
            <a:r>
              <a:rPr lang="en-US" altLang="zh-CN" sz="2400" b="1" i="1" smtClean="0">
                <a:latin typeface="Times New Roman" panose="02020603050405020304" pitchFamily="18" charset="0"/>
                <a:cs typeface="Times New Roman" panose="02020603050405020304" pitchFamily="18" charset="0"/>
              </a:rPr>
              <a:t>AN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的高层指向低层</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p:txBody>
      </p:sp>
      <p:sp>
        <p:nvSpPr>
          <p:cNvPr id="3686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5414499A-844A-4876-AFF6-023696FB3BB3}"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a:xfrm>
            <a:off x="457200" y="274638"/>
            <a:ext cx="8229600" cy="868362"/>
          </a:xfrm>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 Dinic</a:t>
            </a:r>
            <a:r>
              <a:rPr lang="zh-CN" altLang="en-US" sz="4000" b="1" smtClean="0">
                <a:solidFill>
                  <a:srgbClr val="C00000"/>
                </a:solidFill>
                <a:latin typeface="Times New Roman" panose="02020603050405020304" pitchFamily="18" charset="0"/>
                <a:cs typeface="Times New Roman" panose="02020603050405020304" pitchFamily="18" charset="0"/>
              </a:rPr>
              <a:t>算法的性质（续</a:t>
            </a:r>
            <a:r>
              <a:rPr lang="en-US" altLang="zh-CN" sz="4000" b="1" smtClean="0">
                <a:solidFill>
                  <a:srgbClr val="C00000"/>
                </a:solidFill>
                <a:latin typeface="Times New Roman" panose="02020603050405020304" pitchFamily="18" charset="0"/>
                <a:cs typeface="Times New Roman" panose="02020603050405020304" pitchFamily="18" charset="0"/>
              </a:rPr>
              <a:t>2</a:t>
            </a:r>
            <a:r>
              <a:rPr lang="zh-CN" altLang="en-US" sz="4000" b="1" smtClean="0">
                <a:solidFill>
                  <a:srgbClr val="C00000"/>
                </a:solidFill>
                <a:latin typeface="Times New Roman" panose="02020603050405020304" pitchFamily="18" charset="0"/>
                <a:cs typeface="Times New Roman" panose="02020603050405020304" pitchFamily="18" charset="0"/>
              </a:rPr>
              <a:t>）</a:t>
            </a:r>
            <a:endParaRPr lang="zh-CN" altLang="en-US" sz="4000" smtClean="0">
              <a:solidFill>
                <a:srgbClr val="C00000"/>
              </a:solidFill>
              <a:latin typeface="Times New Roman" panose="02020603050405020304" pitchFamily="18" charset="0"/>
              <a:cs typeface="Times New Roman" panose="02020603050405020304" pitchFamily="18" charset="0"/>
            </a:endParaRPr>
          </a:p>
        </p:txBody>
      </p:sp>
      <p:sp>
        <p:nvSpPr>
          <p:cNvPr id="37891" name="内容占位符 2"/>
          <p:cNvSpPr>
            <a:spLocks noGrp="1"/>
          </p:cNvSpPr>
          <p:nvPr>
            <p:ph idx="1"/>
          </p:nvPr>
        </p:nvSpPr>
        <p:spPr>
          <a:xfrm>
            <a:off x="498376" y="1329531"/>
            <a:ext cx="8147248" cy="4840288"/>
          </a:xfrm>
        </p:spPr>
        <p:txBody>
          <a:bodyPr/>
          <a:lstStyle/>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其余在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中</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而不在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中的边与 </a:t>
            </a:r>
            <a:r>
              <a:rPr lang="en-US" altLang="zh-CN" sz="2400" b="1" i="1"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无关</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故仍在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f</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中</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这种边不可能从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中的低层指向高层</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只可能从</a:t>
            </a:r>
            <a:r>
              <a:rPr lang="zh-CN" altLang="en-US" sz="2400" b="1" dirty="0" smtClean="0">
                <a:latin typeface="Times New Roman" panose="02020603050405020304" pitchFamily="18" charset="0"/>
                <a:cs typeface="Times New Roman" panose="02020603050405020304" pitchFamily="18" charset="0"/>
              </a:rPr>
              <a:t>高</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层指向</a:t>
            </a:r>
            <a:r>
              <a:rPr lang="zh-CN" altLang="en-US" sz="2400" b="1" dirty="0" smtClean="0">
                <a:latin typeface="Times New Roman" panose="02020603050405020304" pitchFamily="18" charset="0"/>
                <a:cs typeface="Times New Roman" panose="02020603050405020304" pitchFamily="18" charset="0"/>
              </a:rPr>
              <a:t>低层</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在同一层</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或者与不在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中的顶点关联</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总之</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在</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f</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中而不在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中的边都不可能从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中</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的低层</a:t>
            </a:r>
            <a:r>
              <a:rPr lang="zh-CN" altLang="en-US" sz="2400" b="1" dirty="0" smtClean="0">
                <a:latin typeface="Times New Roman" panose="02020603050405020304" pitchFamily="18" charset="0"/>
                <a:cs typeface="Times New Roman" panose="02020603050405020304" pitchFamily="18" charset="0"/>
              </a:rPr>
              <a:t>指向高层</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定理</a:t>
            </a:r>
            <a:r>
              <a:rPr lang="en-US" altLang="zh-CN" sz="2400" b="1" dirty="0" smtClean="0">
                <a:solidFill>
                  <a:srgbClr val="C00000"/>
                </a:solidFill>
                <a:latin typeface="Times New Roman" panose="02020603050405020304" pitchFamily="18" charset="0"/>
                <a:cs typeface="Times New Roman" panose="02020603050405020304" pitchFamily="18" charset="0"/>
              </a:rPr>
              <a:t>7.3</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err="1" smtClean="0">
                <a:latin typeface="Times New Roman" panose="02020603050405020304" pitchFamily="18" charset="0"/>
                <a:cs typeface="Times New Roman" panose="02020603050405020304" pitchFamily="18" charset="0"/>
              </a:rPr>
              <a:t>Dinic</a:t>
            </a:r>
            <a:r>
              <a:rPr lang="zh-CN" altLang="en-US" sz="2400" b="1" dirty="0" smtClean="0">
                <a:latin typeface="Times New Roman" panose="02020603050405020304" pitchFamily="18" charset="0"/>
                <a:cs typeface="Times New Roman" panose="02020603050405020304" pitchFamily="18" charset="0"/>
              </a:rPr>
              <a:t>算法得到的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是最大流</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且算法</a:t>
            </a:r>
            <a:r>
              <a:rPr lang="zh-CN" altLang="en-US" sz="2400" b="1" dirty="0" smtClean="0">
                <a:latin typeface="Times New Roman" panose="02020603050405020304" pitchFamily="18" charset="0"/>
                <a:cs typeface="Times New Roman" panose="02020603050405020304" pitchFamily="18" charset="0"/>
              </a:rPr>
              <a:t>在 </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n</a:t>
            </a:r>
            <a:r>
              <a:rPr lang="en-US" altLang="zh-CN" sz="2400" b="1" baseline="30000" dirty="0" smtClean="0">
                <a:latin typeface="Times New Roman" panose="02020603050405020304" pitchFamily="18" charset="0"/>
                <a:cs typeface="Times New Roman" panose="02020603050405020304" pitchFamily="18" charset="0"/>
              </a:rPr>
              <a:t>3</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步内</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终止</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证 </a:t>
            </a:r>
            <a:r>
              <a:rPr lang="zh-CN" altLang="en-US" sz="2400" b="1" dirty="0" smtClean="0">
                <a:latin typeface="Times New Roman" panose="02020603050405020304" pitchFamily="18" charset="0"/>
                <a:cs typeface="Times New Roman" panose="02020603050405020304" pitchFamily="18" charset="0"/>
              </a:rPr>
              <a:t> 当</a:t>
            </a:r>
            <a:r>
              <a:rPr lang="zh-CN" altLang="en-US" sz="2400" b="1" dirty="0" smtClean="0">
                <a:latin typeface="Times New Roman" panose="02020603050405020304" pitchFamily="18" charset="0"/>
                <a:cs typeface="Times New Roman" panose="02020603050405020304" pitchFamily="18" charset="0"/>
              </a:rPr>
              <a:t>算法终止时</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中不存在从 </a:t>
            </a:r>
            <a:r>
              <a:rPr lang="en-US" altLang="zh-CN" sz="2400" b="1" i="1" dirty="0" smtClean="0">
                <a:latin typeface="Times New Roman" panose="02020603050405020304" pitchFamily="18" charset="0"/>
                <a:cs typeface="Times New Roman" panose="02020603050405020304" pitchFamily="18" charset="0"/>
              </a:rPr>
              <a:t>s </a:t>
            </a:r>
            <a:r>
              <a:rPr lang="zh-CN" altLang="en-US" sz="2400" b="1" dirty="0" smtClean="0">
                <a:latin typeface="Times New Roman" panose="02020603050405020304" pitchFamily="18" charset="0"/>
                <a:cs typeface="Times New Roman" panose="02020603050405020304" pitchFamily="18" charset="0"/>
              </a:rPr>
              <a:t>到 </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的路径</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因此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中也不存在从 </a:t>
            </a:r>
            <a:r>
              <a:rPr lang="en-US" altLang="zh-CN" sz="2400" b="1" i="1" dirty="0" smtClean="0">
                <a:latin typeface="Times New Roman" panose="02020603050405020304" pitchFamily="18" charset="0"/>
                <a:cs typeface="Times New Roman" panose="02020603050405020304" pitchFamily="18" charset="0"/>
              </a:rPr>
              <a:t>s </a:t>
            </a:r>
            <a:r>
              <a:rPr lang="zh-CN" altLang="en-US" sz="2400" b="1" dirty="0" smtClean="0">
                <a:latin typeface="Times New Roman" panose="02020603050405020304" pitchFamily="18" charset="0"/>
                <a:cs typeface="Times New Roman" panose="02020603050405020304" pitchFamily="18" charset="0"/>
              </a:rPr>
              <a:t>到 </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的路径</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它的最大流为零流</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最大流量为</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0. </a:t>
            </a:r>
            <a:r>
              <a:rPr lang="zh-CN" altLang="en-US" sz="2400" b="1" dirty="0" smtClean="0">
                <a:latin typeface="Times New Roman" panose="02020603050405020304" pitchFamily="18" charset="0"/>
                <a:cs typeface="Times New Roman" panose="02020603050405020304" pitchFamily="18" charset="0"/>
              </a:rPr>
              <a:t>根据引理</a:t>
            </a:r>
            <a:r>
              <a:rPr lang="en-US" altLang="zh-CN" sz="2400" b="1" dirty="0" smtClean="0">
                <a:latin typeface="Times New Roman" panose="02020603050405020304" pitchFamily="18" charset="0"/>
                <a:cs typeface="Times New Roman" panose="02020603050405020304" pitchFamily="18" charset="0"/>
              </a:rPr>
              <a:t>4, </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)=0, </a:t>
            </a:r>
            <a:r>
              <a:rPr lang="zh-CN" altLang="en-US" sz="2400" b="1" dirty="0" smtClean="0">
                <a:latin typeface="Times New Roman" panose="02020603050405020304" pitchFamily="18" charset="0"/>
                <a:cs typeface="Times New Roman" panose="02020603050405020304" pitchFamily="18" charset="0"/>
              </a:rPr>
              <a:t>其中 </a:t>
            </a:r>
            <a:r>
              <a:rPr lang="en-US" altLang="zh-CN" sz="2400" b="1" i="1" dirty="0" smtClean="0">
                <a:latin typeface="Times New Roman" panose="02020603050405020304" pitchFamily="18" charset="0"/>
                <a:cs typeface="Times New Roman" panose="02020603050405020304" pitchFamily="18" charset="0"/>
              </a:rPr>
              <a:t>v* </a:t>
            </a:r>
            <a:r>
              <a:rPr lang="zh-CN" altLang="en-US" sz="2400" b="1" dirty="0" smtClean="0">
                <a:latin typeface="Times New Roman" panose="02020603050405020304" pitchFamily="18" charset="0"/>
                <a:cs typeface="Times New Roman" panose="02020603050405020304" pitchFamily="18" charset="0"/>
              </a:rPr>
              <a:t>是最大流量</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推出 </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得证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是最大流</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p:txBody>
      </p:sp>
      <p:sp>
        <p:nvSpPr>
          <p:cNvPr id="3789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DB1BE60E-4C0F-48AD-A12D-3891631832E5}"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a:xfrm>
            <a:off x="457200" y="274638"/>
            <a:ext cx="8229600" cy="868362"/>
          </a:xfrm>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Dinic</a:t>
            </a:r>
            <a:r>
              <a:rPr lang="zh-CN" altLang="en-US" sz="4000" b="1" smtClean="0">
                <a:solidFill>
                  <a:srgbClr val="C00000"/>
                </a:solidFill>
                <a:latin typeface="Times New Roman" panose="02020603050405020304" pitchFamily="18" charset="0"/>
                <a:cs typeface="Times New Roman" panose="02020603050405020304" pitchFamily="18" charset="0"/>
              </a:rPr>
              <a:t>算法的性质（续</a:t>
            </a:r>
            <a:r>
              <a:rPr lang="en-US" altLang="zh-CN" sz="4000" b="1" smtClean="0">
                <a:solidFill>
                  <a:srgbClr val="C00000"/>
                </a:solidFill>
                <a:latin typeface="Times New Roman" panose="02020603050405020304" pitchFamily="18" charset="0"/>
                <a:cs typeface="Times New Roman" panose="02020603050405020304" pitchFamily="18" charset="0"/>
              </a:rPr>
              <a:t>3</a:t>
            </a:r>
            <a:r>
              <a:rPr lang="zh-CN" altLang="en-US" sz="4000" b="1" smtClean="0">
                <a:solidFill>
                  <a:srgbClr val="C00000"/>
                </a:solidFill>
                <a:latin typeface="Times New Roman" panose="02020603050405020304" pitchFamily="18" charset="0"/>
                <a:cs typeface="Times New Roman" panose="02020603050405020304" pitchFamily="18" charset="0"/>
              </a:rPr>
              <a:t>）</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38915" name="内容占位符 2"/>
          <p:cNvSpPr>
            <a:spLocks noGrp="1"/>
          </p:cNvSpPr>
          <p:nvPr>
            <p:ph idx="1"/>
          </p:nvPr>
        </p:nvSpPr>
        <p:spPr>
          <a:xfrm>
            <a:off x="457200" y="1143000"/>
            <a:ext cx="8229600" cy="5286375"/>
          </a:xfrm>
        </p:spPr>
        <p:txBody>
          <a:bodyPr/>
          <a:lstStyle/>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由</a:t>
            </a:r>
            <a:r>
              <a:rPr lang="zh-CN" altLang="en-US" sz="2400" b="1" dirty="0" smtClean="0">
                <a:latin typeface="Times New Roman" panose="02020603050405020304" pitchFamily="18" charset="0"/>
                <a:cs typeface="Times New Roman" panose="02020603050405020304" pitchFamily="18" charset="0"/>
              </a:rPr>
              <a:t>引理</a:t>
            </a:r>
            <a:r>
              <a:rPr lang="en-US" altLang="zh-CN" sz="2400" b="1" dirty="0" smtClean="0">
                <a:latin typeface="Times New Roman" panose="02020603050405020304" pitchFamily="18" charset="0"/>
                <a:cs typeface="Times New Roman" panose="02020603050405020304" pitchFamily="18" charset="0"/>
              </a:rPr>
              <a:t>7.7</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中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距离每阶段至少</a:t>
            </a:r>
            <a:r>
              <a:rPr lang="zh-CN" altLang="en-US" sz="2400" b="1" dirty="0" smtClean="0">
                <a:latin typeface="Times New Roman" panose="02020603050405020304" pitchFamily="18" charset="0"/>
                <a:cs typeface="Times New Roman" panose="02020603050405020304" pitchFamily="18" charset="0"/>
              </a:rPr>
              <a:t>增加 </a:t>
            </a:r>
            <a:r>
              <a:rPr lang="en-US" altLang="zh-CN" sz="2400" b="1"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而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距离不</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会超过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故至多</a:t>
            </a:r>
            <a:r>
              <a:rPr lang="zh-CN" altLang="en-US" sz="2400" b="1" dirty="0" smtClean="0">
                <a:latin typeface="Times New Roman" panose="02020603050405020304" pitchFamily="18" charset="0"/>
                <a:cs typeface="Times New Roman" panose="02020603050405020304" pitchFamily="18" charset="0"/>
              </a:rPr>
              <a:t>有 </a:t>
            </a:r>
            <a:r>
              <a:rPr lang="en-US" altLang="zh-CN" sz="2400" b="1" i="1" dirty="0" smtClean="0">
                <a:latin typeface="Times New Roman" panose="02020603050405020304" pitchFamily="18" charset="0"/>
                <a:cs typeface="Times New Roman" panose="02020603050405020304" pitchFamily="18" charset="0"/>
              </a:rPr>
              <a:t>n </a:t>
            </a:r>
            <a:r>
              <a:rPr lang="zh-CN" altLang="en-US" sz="2400" b="1" dirty="0" smtClean="0">
                <a:latin typeface="Times New Roman" panose="02020603050405020304" pitchFamily="18" charset="0"/>
                <a:cs typeface="Times New Roman" panose="02020603050405020304" pitchFamily="18" charset="0"/>
              </a:rPr>
              <a:t>个</a:t>
            </a:r>
            <a:r>
              <a:rPr lang="zh-CN" altLang="en-US" sz="2400" b="1" dirty="0" smtClean="0">
                <a:latin typeface="Times New Roman" panose="02020603050405020304" pitchFamily="18" charset="0"/>
                <a:cs typeface="Times New Roman" panose="02020603050405020304" pitchFamily="18" charset="0"/>
              </a:rPr>
              <a:t>阶段</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在每个阶段</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构造 </a:t>
            </a:r>
            <a:r>
              <a:rPr lang="en-US" altLang="zh-CN" sz="2400" b="1" i="1" dirty="0" smtClean="0">
                <a:latin typeface="Times New Roman" panose="02020603050405020304" pitchFamily="18" charset="0"/>
                <a:cs typeface="Times New Roman" panose="02020603050405020304" pitchFamily="18" charset="0"/>
              </a:rPr>
              <a:t>AN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可在</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步内完成</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计算顶点的流通</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量需</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步</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在生成 </a:t>
            </a:r>
            <a:r>
              <a:rPr lang="en-US" altLang="zh-CN" sz="2400" b="1" i="1"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的过程中</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找一个流通量最小的顶点需</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步</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至多找 </a:t>
            </a:r>
            <a:r>
              <a:rPr lang="en-US" altLang="zh-CN" sz="2400" b="1" i="1" dirty="0" smtClean="0">
                <a:latin typeface="Times New Roman" panose="02020603050405020304" pitchFamily="18" charset="0"/>
                <a:cs typeface="Times New Roman" panose="02020603050405020304" pitchFamily="18" charset="0"/>
              </a:rPr>
              <a:t>n</a:t>
            </a:r>
            <a:r>
              <a:rPr lang="zh-CN" altLang="en-US" sz="2400" b="1" dirty="0" smtClean="0">
                <a:latin typeface="Times New Roman" panose="02020603050405020304" pitchFamily="18" charset="0"/>
                <a:cs typeface="Times New Roman" panose="02020603050405020304" pitchFamily="18" charset="0"/>
              </a:rPr>
              <a:t>次</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至多需</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n</a:t>
            </a:r>
            <a:r>
              <a:rPr lang="en-US" altLang="zh-CN" sz="2400" b="1" baseline="30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步</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边操作可以分成两类</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一</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类是修改容量后删去这条边</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已是饱和边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这类至多有</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次</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另一类是修改容量后不删去</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根据安排流量的规定</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从一</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个顶点送出流时</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被修改容量的边中至多有一条边是非饱和</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边被保留下来</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从一个流通量最小的顶点安排流至多有</a:t>
            </a:r>
            <a:r>
              <a:rPr lang="en-US" altLang="zh-CN" sz="2400" b="1" i="1" dirty="0" smtClean="0">
                <a:latin typeface="Times New Roman" panose="02020603050405020304" pitchFamily="18" charset="0"/>
                <a:cs typeface="Times New Roman" panose="02020603050405020304" pitchFamily="18" charset="0"/>
              </a:rPr>
              <a:t>n</a:t>
            </a:r>
            <a:r>
              <a:rPr lang="zh-CN" altLang="en-US" sz="2400" b="1" dirty="0" smtClean="0">
                <a:latin typeface="Times New Roman" panose="02020603050405020304" pitchFamily="18" charset="0"/>
                <a:cs typeface="Times New Roman" panose="02020603050405020304" pitchFamily="18" charset="0"/>
              </a:rPr>
              <a:t>条这</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样的边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至多进行</a:t>
            </a:r>
            <a:r>
              <a:rPr lang="en-US" altLang="zh-CN" sz="2400" b="1" i="1" dirty="0" smtClean="0">
                <a:latin typeface="Times New Roman" panose="02020603050405020304" pitchFamily="18" charset="0"/>
                <a:cs typeface="Times New Roman" panose="02020603050405020304" pitchFamily="18" charset="0"/>
              </a:rPr>
              <a:t>n</a:t>
            </a:r>
            <a:r>
              <a:rPr lang="zh-CN" altLang="en-US" sz="2400" b="1" dirty="0" smtClean="0">
                <a:latin typeface="Times New Roman" panose="02020603050405020304" pitchFamily="18" charset="0"/>
                <a:cs typeface="Times New Roman" panose="02020603050405020304" pitchFamily="18" charset="0"/>
              </a:rPr>
              <a:t>次</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共有</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n</a:t>
            </a:r>
            <a:r>
              <a:rPr lang="en-US" altLang="zh-CN" sz="2400" b="1" baseline="30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次这类操作</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因此</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每个阶段</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的工作量为</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n</a:t>
            </a:r>
            <a:r>
              <a:rPr lang="en-US" altLang="zh-CN" sz="2400" b="1" baseline="30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n</a:t>
            </a:r>
            <a:r>
              <a:rPr lang="en-US" altLang="zh-CN" sz="2400" b="1" baseline="30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n</a:t>
            </a:r>
            <a:r>
              <a:rPr lang="en-US" altLang="zh-CN" sz="2400" b="1" baseline="30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得证总的</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工作量为</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n</a:t>
            </a:r>
            <a:r>
              <a:rPr lang="en-US" altLang="zh-CN" sz="2400" b="1" baseline="30000" dirty="0" smtClean="0">
                <a:latin typeface="Times New Roman" panose="02020603050405020304" pitchFamily="18" charset="0"/>
                <a:cs typeface="Times New Roman" panose="02020603050405020304" pitchFamily="18" charset="0"/>
              </a:rPr>
              <a:t>3</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p:txBody>
      </p:sp>
      <p:sp>
        <p:nvSpPr>
          <p:cNvPr id="3891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4AA569B1-8D77-4EB5-A46B-9A9F45F2FACD}"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457200" y="274638"/>
            <a:ext cx="8229600" cy="796925"/>
          </a:xfrm>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Dinic</a:t>
            </a:r>
            <a:r>
              <a:rPr lang="zh-CN" altLang="en-US" sz="4000" b="1" smtClean="0">
                <a:solidFill>
                  <a:srgbClr val="C00000"/>
                </a:solidFill>
                <a:latin typeface="Times New Roman" panose="02020603050405020304" pitchFamily="18" charset="0"/>
                <a:cs typeface="Times New Roman" panose="02020603050405020304" pitchFamily="18" charset="0"/>
              </a:rPr>
              <a:t>算法的性质（续</a:t>
            </a:r>
            <a:r>
              <a:rPr lang="en-US" altLang="zh-CN" sz="4000" b="1" smtClean="0">
                <a:solidFill>
                  <a:srgbClr val="C00000"/>
                </a:solidFill>
                <a:latin typeface="Times New Roman" panose="02020603050405020304" pitchFamily="18" charset="0"/>
                <a:cs typeface="Times New Roman" panose="02020603050405020304" pitchFamily="18" charset="0"/>
              </a:rPr>
              <a:t>4</a:t>
            </a:r>
            <a:r>
              <a:rPr lang="zh-CN" altLang="en-US" sz="4000" b="1" smtClean="0">
                <a:solidFill>
                  <a:srgbClr val="C00000"/>
                </a:solidFill>
                <a:latin typeface="Times New Roman" panose="02020603050405020304" pitchFamily="18" charset="0"/>
                <a:cs typeface="Times New Roman" panose="02020603050405020304" pitchFamily="18" charset="0"/>
              </a:rPr>
              <a:t>）</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39939" name="内容占位符 2"/>
          <p:cNvSpPr>
            <a:spLocks noGrp="1"/>
          </p:cNvSpPr>
          <p:nvPr>
            <p:ph idx="1"/>
          </p:nvPr>
        </p:nvSpPr>
        <p:spPr>
          <a:xfrm>
            <a:off x="457200" y="1071563"/>
            <a:ext cx="8363272" cy="5165725"/>
          </a:xfrm>
        </p:spPr>
        <p:txBody>
          <a:bodyPr/>
          <a:lstStyle/>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简单容量网络</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边的容量均为 </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所有中间点或入度为</a:t>
            </a:r>
            <a:r>
              <a:rPr lang="en-US" altLang="zh-CN" sz="2400" b="1" dirty="0" smtClean="0">
                <a:latin typeface="Times New Roman" panose="02020603050405020304" pitchFamily="18" charset="0"/>
                <a:cs typeface="Times New Roman" panose="02020603050405020304" pitchFamily="18" charset="0"/>
              </a:rPr>
              <a:t>1</a:t>
            </a:r>
            <a:r>
              <a:rPr lang="zh-CN" altLang="en-US" sz="2400" b="1" dirty="0" smtClean="0">
                <a:latin typeface="Times New Roman" panose="02020603050405020304" pitchFamily="18" charset="0"/>
                <a:cs typeface="Times New Roman" panose="02020603050405020304" pitchFamily="18" charset="0"/>
              </a:rPr>
              <a:t>、或</a:t>
            </a:r>
            <a:endParaRPr lang="en-US" altLang="zh-CN" sz="2400" b="1" dirty="0" smtClean="0">
              <a:latin typeface="Times New Roman" panose="02020603050405020304" pitchFamily="18" charset="0"/>
              <a:cs typeface="Times New Roman" panose="02020603050405020304" pitchFamily="18" charset="0"/>
            </a:endParaRPr>
          </a:p>
          <a:p>
            <a:pPr>
              <a:spcBef>
                <a:spcPct val="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出度为 </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的容量网络</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引理</a:t>
            </a:r>
            <a:r>
              <a:rPr lang="en-US" altLang="zh-CN" sz="2400" b="1" dirty="0" smtClean="0">
                <a:solidFill>
                  <a:srgbClr val="C00000"/>
                </a:solidFill>
                <a:latin typeface="Times New Roman" panose="02020603050405020304" pitchFamily="18" charset="0"/>
                <a:cs typeface="Times New Roman" panose="02020603050405020304" pitchFamily="18" charset="0"/>
              </a:rPr>
              <a:t>7.8</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在</a:t>
            </a:r>
            <a:r>
              <a:rPr lang="zh-CN" altLang="en-US" sz="2400" b="1" dirty="0" smtClean="0">
                <a:latin typeface="Times New Roman" panose="02020603050405020304" pitchFamily="18" charset="0"/>
                <a:cs typeface="Times New Roman" panose="02020603050405020304" pitchFamily="18" charset="0"/>
              </a:rPr>
              <a:t>简单容量网络 </a:t>
            </a:r>
            <a:r>
              <a:rPr lang="en-US" altLang="zh-CN" sz="2400" b="1" i="1" dirty="0" smtClean="0">
                <a:latin typeface="Times New Roman" panose="02020603050405020304" pitchFamily="18" charset="0"/>
                <a:cs typeface="Times New Roman" panose="02020603050405020304" pitchFamily="18" charset="0"/>
              </a:rPr>
              <a:t>N </a:t>
            </a:r>
            <a:r>
              <a:rPr lang="zh-CN" altLang="en-US" sz="2400" b="1" dirty="0" smtClean="0">
                <a:latin typeface="Times New Roman" panose="02020603050405020304" pitchFamily="18" charset="0"/>
                <a:cs typeface="Times New Roman" panose="02020603050405020304" pitchFamily="18" charset="0"/>
              </a:rPr>
              <a:t>中</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距离 </a:t>
            </a:r>
            <a:r>
              <a:rPr lang="en-US" altLang="zh-CN" sz="2400" b="1" i="1" dirty="0" smtClean="0">
                <a:latin typeface="Times New Roman" panose="02020603050405020304" pitchFamily="18" charset="0"/>
                <a:cs typeface="Times New Roman" panose="02020603050405020304" pitchFamily="18" charset="0"/>
              </a:rPr>
              <a:t>l</a:t>
            </a:r>
            <a:r>
              <a:rPr lang="zh-CN" altLang="en-US" sz="2400" b="1" dirty="0" smtClean="0">
                <a:latin typeface="Times New Roman" panose="02020603050405020304" pitchFamily="18" charset="0"/>
                <a:cs typeface="Times New Roman" panose="02020603050405020304" pitchFamily="18" charset="0"/>
              </a:rPr>
              <a:t>小于等于</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+1.</a:t>
            </a:r>
            <a:endParaRPr lang="zh-CN" altLang="en-US" sz="2400" b="1" dirty="0" smtClean="0">
              <a:latin typeface="Times New Roman" panose="02020603050405020304" pitchFamily="18" charset="0"/>
              <a:cs typeface="Times New Roman" panose="02020603050405020304" pitchFamily="18" charset="0"/>
            </a:endParaRPr>
          </a:p>
          <a:p>
            <a:pPr>
              <a:spcBef>
                <a:spcPts val="6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证</a:t>
            </a:r>
            <a:r>
              <a:rPr lang="zh-CN" altLang="en-US" sz="2400" b="1" dirty="0" smtClean="0">
                <a:latin typeface="Times New Roman" panose="02020603050405020304" pitchFamily="18" charset="0"/>
                <a:cs typeface="Times New Roman" panose="02020603050405020304" pitchFamily="18" charset="0"/>
              </a:rPr>
              <a:t>  把与 </a:t>
            </a:r>
            <a:r>
              <a:rPr lang="en-US" altLang="zh-CN" sz="2400" b="1" i="1" dirty="0" smtClean="0">
                <a:latin typeface="Times New Roman" panose="02020603050405020304" pitchFamily="18" charset="0"/>
                <a:cs typeface="Times New Roman" panose="02020603050405020304" pitchFamily="18" charset="0"/>
              </a:rPr>
              <a:t>s </a:t>
            </a:r>
            <a:r>
              <a:rPr lang="zh-CN" altLang="en-US" sz="2400" b="1" dirty="0" smtClean="0">
                <a:latin typeface="Times New Roman" panose="02020603050405020304" pitchFamily="18" charset="0"/>
                <a:cs typeface="Times New Roman" panose="02020603050405020304" pitchFamily="18" charset="0"/>
              </a:rPr>
              <a:t>的距离为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的顶点集记作</a:t>
            </a:r>
            <a:r>
              <a:rPr lang="en-US" altLang="zh-CN" sz="2400" b="1" i="1" dirty="0" smtClean="0">
                <a:latin typeface="Times New Roman" panose="02020603050405020304" pitchFamily="18" charset="0"/>
                <a:cs typeface="Times New Roman" panose="02020603050405020304" pitchFamily="18" charset="0"/>
              </a:rPr>
              <a:t>V</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=1,2,</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l</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任何最大</a:t>
            </a:r>
            <a:endParaRPr lang="en-US" altLang="zh-CN" sz="2400" b="1" dirty="0" smtClean="0">
              <a:latin typeface="Times New Roman" panose="02020603050405020304" pitchFamily="18" charset="0"/>
              <a:cs typeface="Times New Roman" panose="02020603050405020304" pitchFamily="18" charset="0"/>
            </a:endParaRPr>
          </a:p>
          <a:p>
            <a:pPr>
              <a:spcBef>
                <a:spcPct val="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流都要经过 </a:t>
            </a:r>
            <a:r>
              <a:rPr lang="en-US" altLang="zh-CN" sz="2400" b="1" i="1" dirty="0" smtClean="0">
                <a:latin typeface="Times New Roman" panose="02020603050405020304" pitchFamily="18" charset="0"/>
                <a:cs typeface="Times New Roman" panose="02020603050405020304" pitchFamily="18" charset="0"/>
              </a:rPr>
              <a:t>V</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而 </a:t>
            </a:r>
            <a:r>
              <a:rPr lang="en-US" altLang="zh-CN" sz="2400" b="1" i="1" dirty="0" smtClean="0">
                <a:latin typeface="Times New Roman" panose="02020603050405020304" pitchFamily="18" charset="0"/>
                <a:cs typeface="Times New Roman" panose="02020603050405020304" pitchFamily="18" charset="0"/>
              </a:rPr>
              <a:t>V</a:t>
            </a:r>
            <a:r>
              <a:rPr lang="en-US" altLang="zh-CN" sz="2400" b="1" i="1" baseline="-25000" dirty="0" smtClean="0">
                <a:latin typeface="Times New Roman" panose="02020603050405020304" pitchFamily="18" charset="0"/>
                <a:cs typeface="Times New Roman" panose="02020603050405020304" pitchFamily="18" charset="0"/>
              </a:rPr>
              <a:t>i </a:t>
            </a:r>
            <a:r>
              <a:rPr lang="zh-CN" altLang="en-US" sz="2400" b="1" dirty="0" smtClean="0">
                <a:latin typeface="Times New Roman" panose="02020603050405020304" pitchFamily="18" charset="0"/>
                <a:cs typeface="Times New Roman" panose="02020603050405020304" pitchFamily="18" charset="0"/>
              </a:rPr>
              <a:t>中每个顶点或入度为</a:t>
            </a:r>
            <a:r>
              <a:rPr lang="en-US" altLang="zh-CN" sz="2400" b="1" dirty="0" smtClean="0">
                <a:latin typeface="Times New Roman" panose="02020603050405020304" pitchFamily="18" charset="0"/>
                <a:cs typeface="Times New Roman" panose="02020603050405020304" pitchFamily="18" charset="0"/>
              </a:rPr>
              <a:t>1</a:t>
            </a:r>
            <a:r>
              <a:rPr lang="zh-CN" altLang="en-US" sz="2400" b="1" dirty="0" smtClean="0">
                <a:latin typeface="Times New Roman" panose="02020603050405020304" pitchFamily="18" charset="0"/>
                <a:cs typeface="Times New Roman" panose="02020603050405020304" pitchFamily="18" charset="0"/>
              </a:rPr>
              <a:t>或出度为 </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其流</a:t>
            </a:r>
            <a:endParaRPr lang="en-US" altLang="zh-CN" sz="2400" b="1" dirty="0" smtClean="0">
              <a:latin typeface="Times New Roman" panose="02020603050405020304" pitchFamily="18" charset="0"/>
              <a:cs typeface="Times New Roman" panose="02020603050405020304" pitchFamily="18" charset="0"/>
            </a:endParaRPr>
          </a:p>
          <a:p>
            <a:pPr>
              <a:lnSpc>
                <a:spcPts val="3200"/>
              </a:lnSpc>
              <a:spcBef>
                <a:spcPct val="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通量为 </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因此 </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30000"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V</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于是</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rPr>
              <a:t>                                n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l</a:t>
            </a:r>
            <a:r>
              <a:rPr lang="en-US" altLang="zh-CN" sz="2400" b="1" dirty="0" smtClean="0">
                <a:latin typeface="Times New Roman" panose="02020603050405020304" pitchFamily="18" charset="0"/>
                <a:cs typeface="Times New Roman" panose="02020603050405020304" pitchFamily="18" charset="0"/>
              </a:rPr>
              <a:t>-1)</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30000"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lnSpc>
                <a:spcPct val="150000"/>
              </a:lnSpc>
              <a:spcBef>
                <a:spcPct val="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得证 </a:t>
            </a:r>
            <a:r>
              <a:rPr lang="en-US" altLang="zh-CN" sz="2400" b="1" i="1" dirty="0" smtClean="0">
                <a:latin typeface="Times New Roman" panose="02020603050405020304" pitchFamily="18" charset="0"/>
                <a:cs typeface="Times New Roman" panose="02020603050405020304" pitchFamily="18" charset="0"/>
              </a:rPr>
              <a:t>l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30000"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rPr>
              <a:t>+1.</a:t>
            </a:r>
            <a:endParaRPr lang="en-US" altLang="zh-CN" sz="2400" b="1" dirty="0"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定理</a:t>
            </a:r>
            <a:r>
              <a:rPr lang="en-US" altLang="zh-CN" sz="2400" b="1" dirty="0" smtClean="0">
                <a:solidFill>
                  <a:srgbClr val="C00000"/>
                </a:solidFill>
                <a:latin typeface="Times New Roman" panose="02020603050405020304" pitchFamily="18" charset="0"/>
                <a:cs typeface="Times New Roman" panose="02020603050405020304" pitchFamily="18" charset="0"/>
              </a:rPr>
              <a:t>7.4</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对简单容量网络</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err="1" smtClean="0">
                <a:latin typeface="Times New Roman" panose="02020603050405020304" pitchFamily="18" charset="0"/>
                <a:cs typeface="Times New Roman" panose="02020603050405020304" pitchFamily="18" charset="0"/>
              </a:rPr>
              <a:t>Dinic</a:t>
            </a:r>
            <a:r>
              <a:rPr lang="zh-CN" altLang="en-US" sz="2400" b="1" dirty="0" smtClean="0">
                <a:latin typeface="Times New Roman" panose="02020603050405020304" pitchFamily="18" charset="0"/>
                <a:cs typeface="Times New Roman" panose="02020603050405020304" pitchFamily="18" charset="0"/>
              </a:rPr>
              <a:t>算法在</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n</a:t>
            </a:r>
            <a:r>
              <a:rPr lang="en-US" altLang="zh-CN" sz="2400" b="1" baseline="30000" dirty="0" smtClean="0">
                <a:latin typeface="Times New Roman" panose="02020603050405020304" pitchFamily="18" charset="0"/>
                <a:cs typeface="Times New Roman" panose="02020603050405020304" pitchFamily="18" charset="0"/>
              </a:rPr>
              <a:t>1/2</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步内终止计算</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证</a:t>
            </a:r>
            <a:r>
              <a:rPr lang="zh-CN" altLang="en-US" sz="2400" b="1" dirty="0" smtClean="0">
                <a:latin typeface="Times New Roman" panose="02020603050405020304" pitchFamily="18" charset="0"/>
                <a:cs typeface="Times New Roman" panose="02020603050405020304" pitchFamily="18" charset="0"/>
              </a:rPr>
              <a:t>  由于容量都为</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计算过程中每条边流量为 </a:t>
            </a:r>
            <a:r>
              <a:rPr lang="en-US" altLang="zh-CN" sz="2400" b="1" dirty="0" smtClean="0">
                <a:latin typeface="Times New Roman" panose="02020603050405020304" pitchFamily="18" charset="0"/>
                <a:cs typeface="Times New Roman" panose="02020603050405020304" pitchFamily="18" charset="0"/>
              </a:rPr>
              <a:t>0 </a:t>
            </a:r>
            <a:r>
              <a:rPr lang="zh-CN" altLang="en-US" sz="2400" b="1" dirty="0" smtClean="0">
                <a:latin typeface="Times New Roman" panose="02020603050405020304" pitchFamily="18" charset="0"/>
                <a:cs typeface="Times New Roman" panose="02020603050405020304" pitchFamily="18" charset="0"/>
              </a:rPr>
              <a:t>或 </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在每个</a:t>
            </a:r>
            <a:endParaRPr lang="en-US" altLang="zh-CN" sz="2400" b="1" dirty="0" smtClean="0">
              <a:latin typeface="Times New Roman" panose="02020603050405020304" pitchFamily="18" charset="0"/>
              <a:cs typeface="Times New Roman" panose="02020603050405020304" pitchFamily="18" charset="0"/>
            </a:endParaRPr>
          </a:p>
          <a:p>
            <a:pPr>
              <a:spcBef>
                <a:spcPct val="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阶段中</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每条边至多修改一次</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计算量为</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p:txBody>
      </p:sp>
      <p:sp>
        <p:nvSpPr>
          <p:cNvPr id="39940" name="灯片编号占位符 4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1E5E25F-D501-476A-8181-E1D46459FD85}" type="slidenum">
              <a:rPr lang="zh-CN" altLang="en-US" sz="1200" smtClean="0">
                <a:solidFill>
                  <a:srgbClr val="898989"/>
                </a:solidFill>
              </a:rPr>
            </a:fld>
            <a:endParaRPr lang="zh-CN" altLang="en-US" sz="1200" smtClean="0">
              <a:solidFill>
                <a:srgbClr val="898989"/>
              </a:solidFill>
            </a:endParaRPr>
          </a:p>
        </p:txBody>
      </p:sp>
      <p:sp>
        <p:nvSpPr>
          <p:cNvPr id="39941" name="Rectangle 4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39942" name="Object 45"/>
          <p:cNvGraphicFramePr>
            <a:graphicFrameLocks noChangeAspect="1"/>
          </p:cNvGraphicFramePr>
          <p:nvPr/>
        </p:nvGraphicFramePr>
        <p:xfrm>
          <a:off x="3419475" y="3500438"/>
          <a:ext cx="881063" cy="820737"/>
        </p:xfrm>
        <a:graphic>
          <a:graphicData uri="http://schemas.openxmlformats.org/presentationml/2006/ole">
            <mc:AlternateContent xmlns:mc="http://schemas.openxmlformats.org/markup-compatibility/2006">
              <mc:Choice xmlns:v="urn:schemas-microsoft-com:vml" Requires="v">
                <p:oleObj spid="_x0000_s39945" name="Equation" r:id="rId1" imgW="469900" imgH="431800" progId="Equation.3">
                  <p:embed/>
                </p:oleObj>
              </mc:Choice>
              <mc:Fallback>
                <p:oleObj name="Equation" r:id="rId1" imgW="469900" imgH="431800" progId="Equation.3">
                  <p:embed/>
                  <p:pic>
                    <p:nvPicPr>
                      <p:cNvPr id="0" name="Object 4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475" y="3500438"/>
                        <a:ext cx="881063" cy="82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438150" y="401638"/>
            <a:ext cx="8229600" cy="868362"/>
          </a:xfrm>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Dinic</a:t>
            </a:r>
            <a:r>
              <a:rPr lang="zh-CN" altLang="en-US" sz="4000" b="1" smtClean="0">
                <a:solidFill>
                  <a:srgbClr val="C00000"/>
                </a:solidFill>
                <a:latin typeface="Times New Roman" panose="02020603050405020304" pitchFamily="18" charset="0"/>
                <a:cs typeface="Times New Roman" panose="02020603050405020304" pitchFamily="18" charset="0"/>
              </a:rPr>
              <a:t>算法的性质（续</a:t>
            </a:r>
            <a:r>
              <a:rPr lang="en-US" altLang="zh-CN" sz="4000" b="1" smtClean="0">
                <a:solidFill>
                  <a:srgbClr val="C00000"/>
                </a:solidFill>
                <a:latin typeface="Times New Roman" panose="02020603050405020304" pitchFamily="18" charset="0"/>
                <a:cs typeface="Times New Roman" panose="02020603050405020304" pitchFamily="18" charset="0"/>
              </a:rPr>
              <a:t>5</a:t>
            </a:r>
            <a:r>
              <a:rPr lang="zh-CN" altLang="en-US" sz="4000" b="1" smtClean="0">
                <a:solidFill>
                  <a:srgbClr val="C00000"/>
                </a:solidFill>
                <a:latin typeface="Times New Roman" panose="02020603050405020304" pitchFamily="18" charset="0"/>
                <a:cs typeface="Times New Roman" panose="02020603050405020304" pitchFamily="18" charset="0"/>
              </a:rPr>
              <a:t>）</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40963" name="内容占位符 2"/>
          <p:cNvSpPr>
            <a:spLocks noGrp="1"/>
          </p:cNvSpPr>
          <p:nvPr>
            <p:ph idx="1"/>
          </p:nvPr>
        </p:nvSpPr>
        <p:spPr>
          <a:xfrm>
            <a:off x="457200" y="1484313"/>
            <a:ext cx="8229600" cy="4441825"/>
          </a:xfrm>
        </p:spPr>
        <p:txBody>
          <a:bodyPr/>
          <a:lstStyle/>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证阶段数为 </a:t>
            </a:r>
            <a:r>
              <a:rPr lang="en-US" altLang="zh-CN" sz="2400" b="1" i="1" smtClean="0">
                <a:latin typeface="Times New Roman" panose="02020603050405020304" pitchFamily="18" charset="0"/>
                <a:cs typeface="Times New Roman" panose="02020603050405020304" pitchFamily="18" charset="0"/>
              </a:rPr>
              <a:t>O</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n</a:t>
            </a:r>
            <a:r>
              <a:rPr lang="en-US" altLang="zh-CN" sz="2400" b="1" baseline="30000" smtClean="0">
                <a:latin typeface="Times New Roman" panose="02020603050405020304" pitchFamily="18" charset="0"/>
                <a:cs typeface="Times New Roman" panose="02020603050405020304" pitchFamily="18" charset="0"/>
              </a:rPr>
              <a:t>1/2</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若 </a:t>
            </a:r>
            <a:r>
              <a:rPr lang="en-US" altLang="zh-CN" sz="2400" b="1" i="1" smtClean="0">
                <a:latin typeface="Times New Roman" panose="02020603050405020304" pitchFamily="18" charset="0"/>
                <a:cs typeface="Times New Roman" panose="02020603050405020304" pitchFamily="18" charset="0"/>
              </a:rPr>
              <a:t>v</a:t>
            </a:r>
            <a:r>
              <a:rPr lang="en-US" altLang="zh-CN" sz="2400" b="1" baseline="30000"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n</a:t>
            </a:r>
            <a:r>
              <a:rPr lang="en-US" altLang="zh-CN" sz="2400" b="1" baseline="30000" smtClean="0">
                <a:latin typeface="Times New Roman" panose="02020603050405020304" pitchFamily="18" charset="0"/>
                <a:cs typeface="Times New Roman" panose="02020603050405020304" pitchFamily="18" charset="0"/>
              </a:rPr>
              <a:t>1/2</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则显然至多有</a:t>
            </a:r>
            <a:r>
              <a:rPr lang="en-US" altLang="zh-CN" sz="2400" b="1" i="1" smtClean="0">
                <a:latin typeface="Times New Roman" panose="02020603050405020304" pitchFamily="18" charset="0"/>
                <a:cs typeface="Times New Roman" panose="02020603050405020304" pitchFamily="18" charset="0"/>
              </a:rPr>
              <a:t>n</a:t>
            </a:r>
            <a:r>
              <a:rPr lang="en-US" altLang="zh-CN" sz="2400" b="1" baseline="30000" smtClean="0">
                <a:latin typeface="Times New Roman" panose="02020603050405020304" pitchFamily="18" charset="0"/>
                <a:cs typeface="Times New Roman" panose="02020603050405020304" pitchFamily="18" charset="0"/>
              </a:rPr>
              <a:t>1/2</a:t>
            </a:r>
            <a:r>
              <a:rPr lang="zh-CN" altLang="en-US" sz="2400" b="1" smtClean="0">
                <a:latin typeface="Times New Roman" panose="02020603050405020304" pitchFamily="18" charset="0"/>
                <a:cs typeface="Times New Roman" panose="02020603050405020304" pitchFamily="18" charset="0"/>
              </a:rPr>
              <a:t>个阶段</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若 </a:t>
            </a:r>
            <a:r>
              <a:rPr lang="en-US" altLang="zh-CN" sz="2400" b="1" i="1" smtClean="0">
                <a:latin typeface="Times New Roman" panose="02020603050405020304" pitchFamily="18" charset="0"/>
                <a:cs typeface="Times New Roman" panose="02020603050405020304" pitchFamily="18" charset="0"/>
              </a:rPr>
              <a:t>v</a:t>
            </a:r>
            <a:r>
              <a:rPr lang="en-US" altLang="zh-CN" sz="2400" b="1" baseline="30000"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rPr>
              <a:t>&gt; </a:t>
            </a:r>
            <a:r>
              <a:rPr lang="en-US" altLang="zh-CN" sz="2400" b="1" i="1" smtClean="0">
                <a:latin typeface="Times New Roman" panose="02020603050405020304" pitchFamily="18" charset="0"/>
                <a:cs typeface="Times New Roman" panose="02020603050405020304" pitchFamily="18" charset="0"/>
              </a:rPr>
              <a:t>n</a:t>
            </a:r>
            <a:r>
              <a:rPr lang="en-US" altLang="zh-CN" sz="2400" b="1" baseline="30000" smtClean="0">
                <a:latin typeface="Times New Roman" panose="02020603050405020304" pitchFamily="18" charset="0"/>
                <a:cs typeface="Times New Roman" panose="02020603050405020304" pitchFamily="18" charset="0"/>
              </a:rPr>
              <a:t>1/2</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考察流量第</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一次超过</a:t>
            </a:r>
            <a:r>
              <a:rPr lang="en-US" altLang="zh-CN" sz="2400" b="1" i="1" smtClean="0">
                <a:latin typeface="Times New Roman" panose="02020603050405020304" pitchFamily="18" charset="0"/>
                <a:cs typeface="Times New Roman" panose="02020603050405020304" pitchFamily="18" charset="0"/>
              </a:rPr>
              <a:t>v</a:t>
            </a:r>
            <a:r>
              <a:rPr lang="en-US" altLang="zh-CN" sz="2400" b="1" baseline="30000"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n</a:t>
            </a:r>
            <a:r>
              <a:rPr lang="en-US" altLang="zh-CN" sz="2400" b="1" baseline="30000" smtClean="0">
                <a:latin typeface="Times New Roman" panose="02020603050405020304" pitchFamily="18" charset="0"/>
                <a:cs typeface="Times New Roman" panose="02020603050405020304" pitchFamily="18" charset="0"/>
              </a:rPr>
              <a:t>1/2</a:t>
            </a:r>
            <a:r>
              <a:rPr lang="zh-CN" altLang="en-US" sz="2400" b="1" smtClean="0">
                <a:latin typeface="Times New Roman" panose="02020603050405020304" pitchFamily="18" charset="0"/>
                <a:cs typeface="Times New Roman" panose="02020603050405020304" pitchFamily="18" charset="0"/>
              </a:rPr>
              <a:t>的阶段</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设这个阶段开始时的可行流为 </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那</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么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的最大流量大于 </a:t>
            </a:r>
            <a:r>
              <a:rPr lang="en-US" altLang="zh-CN" sz="2400" b="1" i="1" smtClean="0">
                <a:latin typeface="Times New Roman" panose="02020603050405020304" pitchFamily="18" charset="0"/>
                <a:cs typeface="Times New Roman" panose="02020603050405020304" pitchFamily="18" charset="0"/>
              </a:rPr>
              <a:t>n</a:t>
            </a:r>
            <a:r>
              <a:rPr lang="en-US" altLang="zh-CN" sz="2400" b="1" baseline="30000" smtClean="0">
                <a:latin typeface="Times New Roman" panose="02020603050405020304" pitchFamily="18" charset="0"/>
                <a:cs typeface="Times New Roman" panose="02020603050405020304" pitchFamily="18" charset="0"/>
              </a:rPr>
              <a:t>1/2</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不难验证</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也是简单容量网</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络</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根据引理</a:t>
            </a:r>
            <a:r>
              <a:rPr lang="en-US" altLang="zh-CN" sz="2400" b="1" smtClean="0">
                <a:latin typeface="Times New Roman" panose="02020603050405020304" pitchFamily="18" charset="0"/>
                <a:cs typeface="Times New Roman" panose="02020603050405020304" pitchFamily="18" charset="0"/>
              </a:rPr>
              <a:t>8,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中 </a:t>
            </a:r>
            <a:r>
              <a:rPr lang="en-US" altLang="zh-CN" sz="2400" b="1" i="1" smtClean="0">
                <a:latin typeface="Times New Roman" panose="02020603050405020304" pitchFamily="18" charset="0"/>
                <a:cs typeface="Times New Roman" panose="02020603050405020304" pitchFamily="18" charset="0"/>
              </a:rPr>
              <a:t>s</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距离小于等于</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                               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n</a:t>
            </a:r>
            <a:r>
              <a:rPr lang="en-US" altLang="zh-CN" sz="2400" b="1" baseline="30000" smtClean="0">
                <a:latin typeface="Times New Roman" panose="02020603050405020304" pitchFamily="18" charset="0"/>
                <a:cs typeface="Times New Roman" panose="02020603050405020304" pitchFamily="18" charset="0"/>
              </a:rPr>
              <a:t>1/2</a:t>
            </a:r>
            <a:r>
              <a:rPr lang="en-US" altLang="zh-CN" sz="2400" b="1" smtClean="0">
                <a:latin typeface="Times New Roman" panose="02020603050405020304" pitchFamily="18" charset="0"/>
                <a:cs typeface="Times New Roman" panose="02020603050405020304" pitchFamily="18" charset="0"/>
              </a:rPr>
              <a:t>+1= </a:t>
            </a:r>
            <a:r>
              <a:rPr lang="en-US" altLang="zh-CN" sz="2400" b="1" i="1" smtClean="0">
                <a:latin typeface="Times New Roman" panose="02020603050405020304" pitchFamily="18" charset="0"/>
                <a:cs typeface="Times New Roman" panose="02020603050405020304" pitchFamily="18" charset="0"/>
              </a:rPr>
              <a:t>n</a:t>
            </a:r>
            <a:r>
              <a:rPr lang="en-US" altLang="zh-CN" sz="2400" b="1" baseline="30000" smtClean="0">
                <a:latin typeface="Times New Roman" panose="02020603050405020304" pitchFamily="18" charset="0"/>
                <a:cs typeface="Times New Roman" panose="02020603050405020304" pitchFamily="18" charset="0"/>
              </a:rPr>
              <a:t>1/2</a:t>
            </a:r>
            <a:r>
              <a:rPr lang="en-US" altLang="zh-CN" sz="2400" b="1" smtClean="0">
                <a:latin typeface="Times New Roman" panose="02020603050405020304" pitchFamily="18" charset="0"/>
                <a:cs typeface="Times New Roman" panose="02020603050405020304" pitchFamily="18" charset="0"/>
              </a:rPr>
              <a:t>+1,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从而在这个阶段之前至多有 </a:t>
            </a:r>
            <a:r>
              <a:rPr lang="en-US" altLang="zh-CN" sz="2400" b="1" i="1" smtClean="0">
                <a:latin typeface="Times New Roman" panose="02020603050405020304" pitchFamily="18" charset="0"/>
                <a:cs typeface="Times New Roman" panose="02020603050405020304" pitchFamily="18" charset="0"/>
              </a:rPr>
              <a:t>n</a:t>
            </a:r>
            <a:r>
              <a:rPr lang="en-US" altLang="zh-CN" sz="2400" b="1" baseline="30000" smtClean="0">
                <a:latin typeface="Times New Roman" panose="02020603050405020304" pitchFamily="18" charset="0"/>
                <a:cs typeface="Times New Roman" panose="02020603050405020304" pitchFamily="18" charset="0"/>
              </a:rPr>
              <a:t>1/2</a:t>
            </a:r>
            <a:r>
              <a:rPr lang="zh-CN" altLang="en-US" sz="2400" b="1" smtClean="0">
                <a:latin typeface="Times New Roman" panose="02020603050405020304" pitchFamily="18" charset="0"/>
                <a:cs typeface="Times New Roman" panose="02020603050405020304" pitchFamily="18" charset="0"/>
              </a:rPr>
              <a:t>个阶段</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而这个阶段结束时流</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量已超过</a:t>
            </a:r>
            <a:r>
              <a:rPr lang="en-US" altLang="zh-CN" sz="2400" b="1" i="1" smtClean="0">
                <a:latin typeface="Times New Roman" panose="02020603050405020304" pitchFamily="18" charset="0"/>
                <a:cs typeface="Times New Roman" panose="02020603050405020304" pitchFamily="18" charset="0"/>
              </a:rPr>
              <a:t>v</a:t>
            </a:r>
            <a:r>
              <a:rPr lang="en-US" altLang="zh-CN" sz="2400" b="1" baseline="30000"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n</a:t>
            </a:r>
            <a:r>
              <a:rPr lang="en-US" altLang="zh-CN" sz="2400" b="1" baseline="30000" smtClean="0">
                <a:latin typeface="Times New Roman" panose="02020603050405020304" pitchFamily="18" charset="0"/>
                <a:cs typeface="Times New Roman" panose="02020603050405020304" pitchFamily="18" charset="0"/>
              </a:rPr>
              <a:t>1/2</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从而此后也至多有</a:t>
            </a:r>
            <a:r>
              <a:rPr lang="en-US" altLang="zh-CN" sz="2400" b="1" i="1" smtClean="0">
                <a:latin typeface="Times New Roman" panose="02020603050405020304" pitchFamily="18" charset="0"/>
                <a:cs typeface="Times New Roman" panose="02020603050405020304" pitchFamily="18" charset="0"/>
              </a:rPr>
              <a:t>n</a:t>
            </a:r>
            <a:r>
              <a:rPr lang="en-US" altLang="zh-CN" sz="2400" b="1" baseline="30000" smtClean="0">
                <a:latin typeface="Times New Roman" panose="02020603050405020304" pitchFamily="18" charset="0"/>
                <a:cs typeface="Times New Roman" panose="02020603050405020304" pitchFamily="18" charset="0"/>
              </a:rPr>
              <a:t>1/2</a:t>
            </a:r>
            <a:r>
              <a:rPr lang="zh-CN" altLang="en-US" sz="2400" b="1" smtClean="0">
                <a:latin typeface="Times New Roman" panose="02020603050405020304" pitchFamily="18" charset="0"/>
                <a:cs typeface="Times New Roman" panose="02020603050405020304" pitchFamily="18" charset="0"/>
              </a:rPr>
              <a:t>个阶段</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总阶段数不</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超过 </a:t>
            </a:r>
            <a:r>
              <a:rPr lang="en-US" altLang="zh-CN" sz="2400" b="1" smtClean="0">
                <a:latin typeface="Times New Roman" panose="02020603050405020304" pitchFamily="18" charset="0"/>
                <a:cs typeface="Times New Roman" panose="02020603050405020304" pitchFamily="18" charset="0"/>
              </a:rPr>
              <a:t>2</a:t>
            </a:r>
            <a:r>
              <a:rPr lang="en-US" altLang="zh-CN" sz="2400" b="1" i="1" smtClean="0">
                <a:latin typeface="Times New Roman" panose="02020603050405020304" pitchFamily="18" charset="0"/>
                <a:cs typeface="Times New Roman" panose="02020603050405020304" pitchFamily="18" charset="0"/>
              </a:rPr>
              <a:t>n</a:t>
            </a:r>
            <a:r>
              <a:rPr lang="en-US" altLang="zh-CN" sz="2400" b="1" baseline="30000" smtClean="0">
                <a:latin typeface="Times New Roman" panose="02020603050405020304" pitchFamily="18" charset="0"/>
                <a:cs typeface="Times New Roman" panose="02020603050405020304" pitchFamily="18" charset="0"/>
              </a:rPr>
              <a:t>1/2</a:t>
            </a:r>
            <a:r>
              <a:rPr lang="en-US" altLang="zh-CN" sz="2400" b="1" smtClean="0">
                <a:latin typeface="Times New Roman" panose="02020603050405020304" pitchFamily="18" charset="0"/>
                <a:cs typeface="Times New Roman" panose="02020603050405020304" pitchFamily="18" charset="0"/>
              </a:rPr>
              <a:t>+1.</a:t>
            </a:r>
            <a:endParaRPr lang="en-US" altLang="zh-CN" sz="2400" b="1" smtClean="0">
              <a:latin typeface="Times New Roman" panose="02020603050405020304" pitchFamily="18" charset="0"/>
              <a:cs typeface="Times New Roman" panose="02020603050405020304" pitchFamily="18" charset="0"/>
            </a:endParaRPr>
          </a:p>
        </p:txBody>
      </p:sp>
      <p:sp>
        <p:nvSpPr>
          <p:cNvPr id="4096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7FDB12ED-3A4C-423E-BB04-E4C9C068198F}"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r>
              <a:rPr lang="en-US" altLang="zh-CN" sz="4000" b="1" dirty="0" smtClean="0">
                <a:solidFill>
                  <a:srgbClr val="C00000"/>
                </a:solidFill>
                <a:latin typeface="Times New Roman" panose="02020603050405020304" pitchFamily="18" charset="0"/>
                <a:cs typeface="Times New Roman" panose="02020603050405020304" pitchFamily="18" charset="0"/>
              </a:rPr>
              <a:t>7.2  </a:t>
            </a:r>
            <a:r>
              <a:rPr lang="zh-CN" altLang="en-US" sz="4000" b="1" dirty="0" smtClean="0">
                <a:solidFill>
                  <a:srgbClr val="C00000"/>
                </a:solidFill>
                <a:latin typeface="Times New Roman" panose="02020603050405020304" pitchFamily="18" charset="0"/>
                <a:cs typeface="Times New Roman" panose="02020603050405020304" pitchFamily="18" charset="0"/>
              </a:rPr>
              <a:t>最小费用流</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
        <p:nvSpPr>
          <p:cNvPr id="4198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C815AE39-E8E7-46F1-9056-447E521204FF}" type="slidenum">
              <a:rPr lang="zh-CN" altLang="en-US" sz="1200" smtClean="0">
                <a:solidFill>
                  <a:srgbClr val="898989"/>
                </a:solidFill>
              </a:rPr>
            </a:fld>
            <a:endParaRPr lang="zh-CN" altLang="en-US" sz="1200" smtClean="0">
              <a:solidFill>
                <a:srgbClr val="898989"/>
              </a:solidFill>
            </a:endParaRPr>
          </a:p>
        </p:txBody>
      </p:sp>
      <mc:AlternateContent xmlns:mc="http://schemas.openxmlformats.org/markup-compatibility/2006">
        <mc:Choice xmlns:a14="http://schemas.microsoft.com/office/drawing/2010/main" Requires="a14">
          <p:sp>
            <p:nvSpPr>
              <p:cNvPr id="2" name="内容占位符 1"/>
              <p:cNvSpPr>
                <a:spLocks noGrp="1"/>
              </p:cNvSpPr>
              <p:nvPr>
                <p:ph idx="1"/>
              </p:nvPr>
            </p:nvSpPr>
            <p:spPr>
              <a:xfrm>
                <a:off x="678396" y="1595844"/>
                <a:ext cx="7787208" cy="4525963"/>
              </a:xfrm>
            </p:spPr>
            <p:txBody>
              <a:bodyPr/>
              <a:lstStyle/>
              <a:p>
                <a:pPr marL="0" lvl="0" indent="0">
                  <a:lnSpc>
                    <a:spcPts val="3400"/>
                  </a:lnSpc>
                  <a:spcBef>
                    <a:spcPct val="0"/>
                  </a:spcBef>
                  <a:buNone/>
                </a:pPr>
                <a:r>
                  <a:rPr lang="zh-CN" altLang="zh-CN" sz="2400" b="1" dirty="0" smtClean="0">
                    <a:solidFill>
                      <a:srgbClr val="C00000"/>
                    </a:solidFill>
                    <a:latin typeface="黑体" panose="02010609060101010101" pitchFamily="49" charset="-122"/>
                    <a:cs typeface="Times New Roman" panose="02020603050405020304" pitchFamily="18" charset="0"/>
                  </a:rPr>
                  <a:t>定义</a:t>
                </a:r>
                <a:r>
                  <a:rPr lang="en-US" altLang="zh-CN" sz="2400" b="1" dirty="0">
                    <a:solidFill>
                      <a:srgbClr val="C00000"/>
                    </a:solidFill>
                    <a:latin typeface="Times New Roman" panose="02020603050405020304" pitchFamily="18" charset="0"/>
                    <a:cs typeface="Times New Roman" panose="02020603050405020304" pitchFamily="18" charset="0"/>
                  </a:rPr>
                  <a:t>7.7 </a:t>
                </a:r>
                <a:r>
                  <a:rPr lang="en-US" altLang="zh-CN" sz="2400" b="1" dirty="0" smtClean="0">
                    <a:solidFill>
                      <a:srgbClr val="C00000"/>
                    </a:solidFill>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在</a:t>
                </a:r>
                <a:r>
                  <a:rPr lang="zh-CN" altLang="en-US" sz="2400" b="1" dirty="0">
                    <a:latin typeface="Times New Roman" panose="02020603050405020304" pitchFamily="18" charset="0"/>
                    <a:cs typeface="Times New Roman" panose="02020603050405020304" pitchFamily="18" charset="0"/>
                  </a:rPr>
                  <a:t>容量</a:t>
                </a:r>
                <a:r>
                  <a:rPr lang="zh-CN" altLang="en-US" sz="2400" b="1" dirty="0" smtClean="0">
                    <a:latin typeface="Times New Roman" panose="02020603050405020304" pitchFamily="18" charset="0"/>
                    <a:cs typeface="Times New Roman" panose="02020603050405020304" pitchFamily="18" charset="0"/>
                  </a:rPr>
                  <a:t>网络 </a:t>
                </a:r>
                <a:r>
                  <a:rPr lang="en-US" altLang="zh-CN" sz="2400" b="1" i="1" dirty="0" smtClean="0">
                    <a:latin typeface="Times New Roman" panose="02020603050405020304" pitchFamily="18" charset="0"/>
                    <a:cs typeface="Times New Roman" panose="02020603050405020304" pitchFamily="18" charset="0"/>
                  </a:rPr>
                  <a:t>N </a:t>
                </a:r>
                <a:r>
                  <a:rPr lang="en-US" altLang="zh-CN" sz="2400" b="1" dirty="0" smtClean="0">
                    <a:latin typeface="Times New Roman" panose="02020603050405020304" pitchFamily="18" charset="0"/>
                    <a:cs typeface="Times New Roman" panose="02020603050405020304" pitchFamily="18" charset="0"/>
                  </a:rPr>
                  <a:t>= &lt;</a:t>
                </a:r>
                <a:r>
                  <a:rPr lang="en-US" altLang="zh-CN" sz="2400" b="1" i="1" dirty="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c</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t </a:t>
                </a:r>
                <a:r>
                  <a:rPr lang="en-US" altLang="zh-CN" sz="2400" b="1" dirty="0" smtClean="0">
                    <a:latin typeface="Times New Roman" panose="02020603050405020304" pitchFamily="18" charset="0"/>
                    <a:cs typeface="Times New Roman" panose="02020603050405020304" pitchFamily="18" charset="0"/>
                  </a:rPr>
                  <a:t>&gt; </a:t>
                </a:r>
                <a:r>
                  <a:rPr lang="zh-CN" altLang="en-US" sz="2400" b="1" dirty="0" smtClean="0">
                    <a:latin typeface="Times New Roman" panose="02020603050405020304" pitchFamily="18" charset="0"/>
                    <a:cs typeface="Times New Roman" panose="02020603050405020304" pitchFamily="18" charset="0"/>
                  </a:rPr>
                  <a:t>中</a:t>
                </a:r>
                <a:r>
                  <a:rPr lang="zh-CN" altLang="en-US" sz="2400" b="1" dirty="0">
                    <a:latin typeface="Times New Roman" panose="02020603050405020304" pitchFamily="18" charset="0"/>
                    <a:cs typeface="Times New Roman" panose="02020603050405020304" pitchFamily="18" charset="0"/>
                  </a:rPr>
                  <a:t>添加单位费用</a:t>
                </a:r>
                <a:r>
                  <a:rPr lang="en-US" altLang="zh-CN" sz="2400" b="1" i="1" dirty="0">
                    <a:latin typeface="Times New Roman" panose="02020603050405020304" pitchFamily="18" charset="0"/>
                    <a:cs typeface="Times New Roman" panose="02020603050405020304" pitchFamily="18" charset="0"/>
                  </a:rPr>
                  <a:t>w</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R</a:t>
                </a:r>
                <a:r>
                  <a:rPr lang="en-US" altLang="zh-CN" sz="2400" b="1" baseline="30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a:latin typeface="Times New Roman" panose="02020603050405020304" pitchFamily="18" charset="0"/>
                    <a:cs typeface="Times New Roman" panose="02020603050405020304" pitchFamily="18" charset="0"/>
                    <a:sym typeface="Symbol" panose="05050102010706020507" pitchFamily="18" charset="2"/>
                  </a:rPr>
                  <a:t>称作</a:t>
                </a:r>
                <a:r>
                  <a:rPr lang="zh-CN" altLang="en-US" sz="2400" b="1" dirty="0">
                    <a:solidFill>
                      <a:srgbClr val="C00000"/>
                    </a:solidFill>
                    <a:latin typeface="黑体" panose="02010609060101010101" pitchFamily="49" charset="-122"/>
                    <a:cs typeface="Times New Roman" panose="02020603050405020304" pitchFamily="18" charset="0"/>
                    <a:sym typeface="Symbol" panose="05050102010706020507" pitchFamily="18" charset="2"/>
                  </a:rPr>
                  <a:t>容量</a:t>
                </a:r>
                <a:r>
                  <a:rPr lang="en-US" altLang="zh-CN" sz="2400" b="1" dirty="0">
                    <a:solidFill>
                      <a:srgbClr val="C00000"/>
                    </a:solidFill>
                    <a:latin typeface="黑体" panose="02010609060101010101" pitchFamily="49" charset="-122"/>
                    <a:cs typeface="Times New Roman" panose="02020603050405020304" pitchFamily="18" charset="0"/>
                    <a:sym typeface="Symbol" panose="05050102010706020507" pitchFamily="18" charset="2"/>
                  </a:rPr>
                  <a:t>-</a:t>
                </a:r>
                <a:r>
                  <a:rPr lang="zh-CN" altLang="en-US" sz="2400" b="1" dirty="0">
                    <a:solidFill>
                      <a:srgbClr val="C00000"/>
                    </a:solidFill>
                    <a:latin typeface="黑体" panose="02010609060101010101" pitchFamily="49" charset="-122"/>
                    <a:cs typeface="Times New Roman" panose="02020603050405020304" pitchFamily="18" charset="0"/>
                    <a:sym typeface="Symbol" panose="05050102010706020507" pitchFamily="18" charset="2"/>
                  </a:rPr>
                  <a:t>费用网络</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a:latin typeface="Times New Roman" panose="02020603050405020304" pitchFamily="18" charset="0"/>
                    <a:cs typeface="Times New Roman" panose="02020603050405020304" pitchFamily="18" charset="0"/>
                    <a:sym typeface="Symbol" panose="05050102010706020507" pitchFamily="18" charset="2"/>
                  </a:rPr>
                  <a:t>记</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作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N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&lt;</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E</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c</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w</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s</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&gt;.</a:t>
                </a:r>
                <a:endParaRPr lang="en-US" altLang="zh-CN" sz="2400" b="1" dirty="0">
                  <a:latin typeface="Arial" panose="020B0604020202020204" pitchFamily="34" charset="0"/>
                  <a:sym typeface="Symbol" panose="05050102010706020507" pitchFamily="18" charset="2"/>
                </a:endParaRPr>
              </a:p>
              <a:p>
                <a:pPr marL="0" indent="0">
                  <a:lnSpc>
                    <a:spcPts val="3400"/>
                  </a:lnSpc>
                  <a:spcBef>
                    <a:spcPts val="1800"/>
                  </a:spcBef>
                  <a:buNone/>
                </a:pP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设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f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是</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N</a:t>
                </a:r>
                <a:r>
                  <a:rPr lang="zh-CN" altLang="en-US" sz="2400" b="1" dirty="0">
                    <a:latin typeface="Times New Roman" panose="02020603050405020304" pitchFamily="18" charset="0"/>
                    <a:cs typeface="Times New Roman" panose="02020603050405020304" pitchFamily="18" charset="0"/>
                    <a:sym typeface="Symbol" panose="05050102010706020507" pitchFamily="18" charset="2"/>
                  </a:rPr>
                  <a:t>上的一个可行流</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称 </a:t>
                </a:r>
                <a14:m>
                  <m:oMath xmlns:m="http://schemas.openxmlformats.org/officeDocument/2006/math">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𝒘</m:t>
                    </m:r>
                    <m:d>
                      <m:dPr>
                        <m:ctrlP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ctrlPr>
                      </m:dPr>
                      <m:e>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𝒇</m:t>
                        </m:r>
                      </m:e>
                    </m:d>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m:t>
                    </m:r>
                    <m:nary>
                      <m:naryPr>
                        <m:chr m:val="∑"/>
                        <m:supHide m:val="on"/>
                        <m:ctrlP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ctrlPr>
                      </m:naryPr>
                      <m:sub>
                        <m:r>
                          <m:rPr>
                            <m:brk m:alnAt="7"/>
                          </m:rP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&lt;</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𝒊</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𝒋</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&gt;∈</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𝑬</m:t>
                        </m:r>
                      </m:sub>
                      <m:sup/>
                      <m:e>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𝒘</m:t>
                        </m:r>
                        <m:d>
                          <m:dPr>
                            <m:ctrlP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ctrlPr>
                          </m:dPr>
                          <m:e>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𝒊</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𝒋</m:t>
                            </m:r>
                          </m:e>
                        </m:d>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𝒇</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𝒊</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𝒋</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m:t>
                        </m:r>
                      </m:e>
                    </m:nary>
                  </m:oMath>
                </a14:m>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zh-CN" sz="2400" b="1" dirty="0" smtClean="0">
                    <a:latin typeface="Times New Roman" panose="02020603050405020304" pitchFamily="18" charset="0"/>
                    <a:cs typeface="Times New Roman" panose="02020603050405020304" pitchFamily="18" charset="0"/>
                  </a:rPr>
                  <a:t>为</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 </a:t>
                </a:r>
                <a:r>
                  <a:rPr lang="zh-CN" altLang="zh-CN" sz="2400" b="1" dirty="0" smtClean="0"/>
                  <a:t>的</a:t>
                </a:r>
                <a:r>
                  <a:rPr lang="zh-CN" altLang="zh-CN" sz="2400" b="1" dirty="0">
                    <a:solidFill>
                      <a:srgbClr val="C00000"/>
                    </a:solidFill>
                  </a:rPr>
                  <a:t>费用</a:t>
                </a:r>
                <a:r>
                  <a:rPr lang="en-US" altLang="zh-CN" sz="2400" b="1" dirty="0"/>
                  <a:t>. </a:t>
                </a:r>
                <a:r>
                  <a:rPr lang="en-US" altLang="zh-CN" sz="2400" b="1" dirty="0" smtClean="0"/>
                  <a:t> </a:t>
                </a:r>
                <a:r>
                  <a:rPr lang="zh-CN" altLang="zh-CN" sz="2400" b="1" dirty="0" smtClean="0">
                    <a:latin typeface="Times New Roman" panose="02020603050405020304" pitchFamily="18" charset="0"/>
                    <a:cs typeface="Times New Roman" panose="02020603050405020304" pitchFamily="18" charset="0"/>
                  </a:rPr>
                  <a:t>在</a:t>
                </a:r>
                <a:r>
                  <a:rPr lang="zh-CN" altLang="zh-CN" sz="2400" b="1" dirty="0">
                    <a:latin typeface="Times New Roman" panose="02020603050405020304" pitchFamily="18" charset="0"/>
                    <a:cs typeface="Times New Roman" panose="02020603050405020304" pitchFamily="18" charset="0"/>
                  </a:rPr>
                  <a:t>所有流量</a:t>
                </a:r>
                <a:r>
                  <a:rPr lang="zh-CN" altLang="zh-CN" sz="2400" b="1" dirty="0" smtClean="0">
                    <a:latin typeface="Times New Roman" panose="02020603050405020304" pitchFamily="18" charset="0"/>
                    <a:cs typeface="Times New Roman" panose="02020603050405020304" pitchFamily="18" charset="0"/>
                  </a:rPr>
                  <a:t>为</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25000" dirty="0" smtClean="0">
                    <a:latin typeface="Times New Roman" panose="02020603050405020304" pitchFamily="18" charset="0"/>
                    <a:cs typeface="Times New Roman" panose="02020603050405020304" pitchFamily="18" charset="0"/>
                  </a:rPr>
                  <a:t>0 </a:t>
                </a:r>
                <a:r>
                  <a:rPr lang="zh-CN" altLang="zh-CN" sz="2400" b="1" dirty="0" smtClean="0">
                    <a:latin typeface="Times New Roman" panose="02020603050405020304" pitchFamily="18" charset="0"/>
                    <a:cs typeface="Times New Roman" panose="02020603050405020304" pitchFamily="18" charset="0"/>
                  </a:rPr>
                  <a:t>的</a:t>
                </a:r>
                <a:r>
                  <a:rPr lang="zh-CN" altLang="zh-CN" sz="2400" b="1" dirty="0">
                    <a:latin typeface="Times New Roman" panose="02020603050405020304" pitchFamily="18" charset="0"/>
                    <a:cs typeface="Times New Roman" panose="02020603050405020304" pitchFamily="18" charset="0"/>
                  </a:rPr>
                  <a:t>可行流中费用最小的称作</a:t>
                </a:r>
                <a:r>
                  <a:rPr lang="zh-CN" altLang="zh-CN" sz="2400" b="1" dirty="0" smtClean="0">
                    <a:latin typeface="Times New Roman" panose="02020603050405020304" pitchFamily="18" charset="0"/>
                    <a:cs typeface="Times New Roman" panose="02020603050405020304" pitchFamily="18" charset="0"/>
                  </a:rPr>
                  <a:t>流量</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25000" dirty="0" smtClean="0">
                    <a:latin typeface="Times New Roman" panose="02020603050405020304" pitchFamily="18" charset="0"/>
                    <a:cs typeface="Times New Roman" panose="02020603050405020304" pitchFamily="18" charset="0"/>
                  </a:rPr>
                  <a:t>0 </a:t>
                </a:r>
                <a:r>
                  <a:rPr lang="zh-CN" altLang="zh-CN" sz="2400" b="1" dirty="0" smtClean="0">
                    <a:latin typeface="Times New Roman" panose="02020603050405020304" pitchFamily="18" charset="0"/>
                    <a:cs typeface="Times New Roman" panose="02020603050405020304" pitchFamily="18" charset="0"/>
                  </a:rPr>
                  <a:t>的</a:t>
                </a:r>
                <a:r>
                  <a:rPr lang="zh-CN" altLang="zh-CN" sz="2400" b="1" dirty="0">
                    <a:solidFill>
                      <a:srgbClr val="C00000"/>
                    </a:solidFill>
                    <a:latin typeface="Times New Roman" panose="02020603050405020304" pitchFamily="18" charset="0"/>
                    <a:cs typeface="Times New Roman" panose="02020603050405020304" pitchFamily="18" charset="0"/>
                  </a:rPr>
                  <a:t>最小费用流</a:t>
                </a:r>
                <a:r>
                  <a:rPr lang="en-US" altLang="zh-CN" sz="2400" b="1" dirty="0">
                    <a:latin typeface="Times New Roman" panose="02020603050405020304" pitchFamily="18" charset="0"/>
                    <a:cs typeface="Times New Roman" panose="02020603050405020304" pitchFamily="18" charset="0"/>
                  </a:rPr>
                  <a:t>.</a:t>
                </a:r>
                <a:endParaRPr lang="zh-CN" altLang="zh-CN" sz="2400" b="1" dirty="0">
                  <a:latin typeface="Times New Roman" panose="02020603050405020304" pitchFamily="18" charset="0"/>
                  <a:cs typeface="Times New Roman" panose="02020603050405020304" pitchFamily="18" charset="0"/>
                </a:endParaRPr>
              </a:p>
              <a:p>
                <a:pPr marL="0" lvl="0" indent="0">
                  <a:lnSpc>
                    <a:spcPts val="3400"/>
                  </a:lnSpc>
                  <a:spcBef>
                    <a:spcPts val="1800"/>
                  </a:spcBef>
                  <a:buNone/>
                </a:pPr>
                <a:r>
                  <a:rPr lang="zh-CN" altLang="zh-CN" sz="2400" b="1" dirty="0">
                    <a:solidFill>
                      <a:srgbClr val="C00000"/>
                    </a:solidFill>
                    <a:latin typeface="Times New Roman" panose="02020603050405020304" pitchFamily="18" charset="0"/>
                    <a:cs typeface="Times New Roman" panose="02020603050405020304" pitchFamily="18" charset="0"/>
                  </a:rPr>
                  <a:t>最小费用流问题 </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给定</a:t>
                </a:r>
                <a:r>
                  <a:rPr lang="zh-CN" altLang="zh-CN" sz="2400" b="1" dirty="0">
                    <a:latin typeface="Times New Roman" panose="02020603050405020304" pitchFamily="18" charset="0"/>
                    <a:cs typeface="Times New Roman" panose="02020603050405020304" pitchFamily="18" charset="0"/>
                  </a:rPr>
                  <a:t>容量</a:t>
                </a:r>
                <a:r>
                  <a:rPr lang="en-US" altLang="zh-CN" sz="2400" b="1" dirty="0">
                    <a:latin typeface="Times New Roman" panose="02020603050405020304" pitchFamily="18" charset="0"/>
                    <a:cs typeface="Times New Roman" panose="02020603050405020304" pitchFamily="18" charset="0"/>
                  </a:rPr>
                  <a:t>-</a:t>
                </a:r>
                <a:r>
                  <a:rPr lang="zh-CN" altLang="zh-CN" sz="2400" b="1" dirty="0">
                    <a:latin typeface="Times New Roman" panose="02020603050405020304" pitchFamily="18" charset="0"/>
                    <a:cs typeface="Times New Roman" panose="02020603050405020304" pitchFamily="18" charset="0"/>
                  </a:rPr>
                  <a:t>费用</a:t>
                </a:r>
                <a:r>
                  <a:rPr lang="zh-CN" altLang="zh-CN" sz="2400" b="1" dirty="0" smtClean="0">
                    <a:latin typeface="Times New Roman" panose="02020603050405020304" pitchFamily="18" charset="0"/>
                    <a:cs typeface="Times New Roman" panose="02020603050405020304" pitchFamily="18" charset="0"/>
                  </a:rPr>
                  <a:t>网络</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N </a:t>
                </a:r>
                <a:r>
                  <a:rPr lang="zh-CN" altLang="zh-CN" sz="2400" b="1" dirty="0" smtClean="0">
                    <a:latin typeface="Times New Roman" panose="02020603050405020304" pitchFamily="18" charset="0"/>
                    <a:cs typeface="Times New Roman" panose="02020603050405020304" pitchFamily="18" charset="0"/>
                  </a:rPr>
                  <a:t>和流量</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25000" dirty="0" smtClean="0">
                    <a:latin typeface="Times New Roman" panose="02020603050405020304" pitchFamily="18" charset="0"/>
                    <a:cs typeface="Times New Roman" panose="02020603050405020304" pitchFamily="18" charset="0"/>
                  </a:rPr>
                  <a:t>0</a:t>
                </a:r>
                <a:r>
                  <a:rPr lang="en-US" altLang="zh-CN" sz="2400" b="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求流量</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25000" dirty="0" smtClean="0">
                    <a:latin typeface="Times New Roman" panose="02020603050405020304" pitchFamily="18" charset="0"/>
                    <a:cs typeface="Times New Roman" panose="02020603050405020304" pitchFamily="18" charset="0"/>
                  </a:rPr>
                  <a:t>0 </a:t>
                </a:r>
                <a:r>
                  <a:rPr lang="zh-CN" altLang="zh-CN" sz="2400" b="1" dirty="0" smtClean="0">
                    <a:latin typeface="Times New Roman" panose="02020603050405020304" pitchFamily="18" charset="0"/>
                    <a:cs typeface="Times New Roman" panose="02020603050405020304" pitchFamily="18" charset="0"/>
                  </a:rPr>
                  <a:t>的</a:t>
                </a:r>
                <a:r>
                  <a:rPr lang="zh-CN" altLang="zh-CN" sz="2400" b="1" dirty="0">
                    <a:latin typeface="Times New Roman" panose="02020603050405020304" pitchFamily="18" charset="0"/>
                    <a:cs typeface="Times New Roman" panose="02020603050405020304" pitchFamily="18" charset="0"/>
                  </a:rPr>
                  <a:t>最小费用流</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a:latin typeface="Times New Roman" panose="02020603050405020304" pitchFamily="18" charset="0"/>
                  <a:cs typeface="Times New Roman" panose="02020603050405020304" pitchFamily="18" charset="0"/>
                  <a:sym typeface="Symbol" panose="05050102010706020507" pitchFamily="18" charset="2"/>
                </a:endParaRPr>
              </a:p>
              <a:p>
                <a:pPr>
                  <a:lnSpc>
                    <a:spcPts val="3400"/>
                  </a:lnSpc>
                </a:pPr>
                <a:endParaRPr lang="zh-CN" altLang="en-US" b="1"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678396" y="1595844"/>
                <a:ext cx="7787208" cy="4525963"/>
              </a:xfrm>
              <a:blipFill rotWithShape="1">
                <a:blip r:embed="rId1"/>
                <a:stretch>
                  <a:fillRect l="-3" t="-2" r="5" b="9"/>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7.2.1 Floyd</a:t>
            </a:r>
            <a:r>
              <a:rPr lang="zh-CN" altLang="en-US" sz="4000" b="1" smtClean="0">
                <a:solidFill>
                  <a:srgbClr val="C00000"/>
                </a:solidFill>
                <a:latin typeface="Times New Roman" panose="02020603050405020304" pitchFamily="18" charset="0"/>
                <a:cs typeface="Times New Roman" panose="02020603050405020304" pitchFamily="18" charset="0"/>
              </a:rPr>
              <a:t>算法</a:t>
            </a:r>
            <a:endParaRPr lang="zh-CN" altLang="en-US" sz="4000" smtClean="0">
              <a:solidFill>
                <a:srgbClr val="C00000"/>
              </a:solidFill>
              <a:latin typeface="Times New Roman" panose="02020603050405020304" pitchFamily="18" charset="0"/>
              <a:cs typeface="Times New Roman" panose="02020603050405020304" pitchFamily="18" charset="0"/>
            </a:endParaRPr>
          </a:p>
        </p:txBody>
      </p:sp>
      <p:sp>
        <p:nvSpPr>
          <p:cNvPr id="43011" name="内容占位符 2"/>
          <p:cNvSpPr>
            <a:spLocks noGrp="1"/>
          </p:cNvSpPr>
          <p:nvPr>
            <p:ph idx="1"/>
          </p:nvPr>
        </p:nvSpPr>
        <p:spPr>
          <a:xfrm>
            <a:off x="457200" y="1285875"/>
            <a:ext cx="8229600" cy="4972050"/>
          </a:xfrm>
        </p:spPr>
        <p:txBody>
          <a:bodyPr/>
          <a:lstStyle/>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求带负权的最短路径和检测负回路的算法</a:t>
            </a:r>
            <a:endParaRPr lang="en-US" altLang="zh-CN" sz="2400" b="1" dirty="0" smtClean="0">
              <a:latin typeface="Times New Roman" panose="02020603050405020304" pitchFamily="18" charset="0"/>
              <a:cs typeface="Times New Roman" panose="02020603050405020304" pitchFamily="18" charset="0"/>
            </a:endParaRPr>
          </a:p>
          <a:p>
            <a:pPr>
              <a:spcBef>
                <a:spcPct val="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负回路</a:t>
            </a:r>
            <a:r>
              <a:rPr lang="zh-CN" altLang="en-US" sz="2400" b="1" dirty="0" smtClean="0">
                <a:latin typeface="Times New Roman" panose="02020603050405020304" pitchFamily="18" charset="0"/>
                <a:cs typeface="Times New Roman" panose="02020603050405020304" pitchFamily="18" charset="0"/>
              </a:rPr>
              <a:t> 赋权有向图 </a:t>
            </a:r>
            <a:r>
              <a:rPr lang="en-US" altLang="zh-CN" sz="2400" b="1" i="1" dirty="0" smtClean="0">
                <a:latin typeface="Times New Roman" panose="02020603050405020304" pitchFamily="18" charset="0"/>
                <a:cs typeface="Times New Roman" panose="02020603050405020304" pitchFamily="18" charset="0"/>
              </a:rPr>
              <a:t>D</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E</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w</a:t>
            </a:r>
            <a:r>
              <a:rPr lang="en-US" altLang="zh-CN" sz="2400" b="1" dirty="0" smtClean="0">
                <a:latin typeface="Times New Roman" panose="02020603050405020304" pitchFamily="18" charset="0"/>
                <a:cs typeface="Times New Roman" panose="02020603050405020304" pitchFamily="18" charset="0"/>
              </a:rPr>
              <a:t>&gt;</a:t>
            </a:r>
            <a:r>
              <a:rPr lang="zh-CN" altLang="en-US" sz="2400" b="1" dirty="0" smtClean="0">
                <a:latin typeface="Times New Roman" panose="02020603050405020304" pitchFamily="18" charset="0"/>
                <a:cs typeface="Times New Roman" panose="02020603050405020304" pitchFamily="18" charset="0"/>
              </a:rPr>
              <a:t>中权为负数的回路</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命题</a:t>
            </a:r>
            <a:r>
              <a:rPr lang="en-US" altLang="zh-CN" sz="2400" b="1" dirty="0" smtClean="0">
                <a:solidFill>
                  <a:srgbClr val="C00000"/>
                </a:solidFill>
                <a:latin typeface="Times New Roman" panose="02020603050405020304" pitchFamily="18" charset="0"/>
                <a:cs typeface="Times New Roman" panose="02020603050405020304" pitchFamily="18" charset="0"/>
              </a:rPr>
              <a:t>7.1</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赋权有向图</a:t>
            </a:r>
            <a:r>
              <a:rPr lang="en-US" altLang="zh-CN" sz="2400" b="1" i="1" dirty="0" smtClean="0">
                <a:latin typeface="Times New Roman" panose="02020603050405020304" pitchFamily="18" charset="0"/>
                <a:cs typeface="Times New Roman" panose="02020603050405020304" pitchFamily="18" charset="0"/>
              </a:rPr>
              <a:t>D</a:t>
            </a:r>
            <a:r>
              <a:rPr lang="zh-CN" altLang="en-US" sz="2400" b="1" dirty="0" smtClean="0">
                <a:latin typeface="Times New Roman" panose="02020603050405020304" pitchFamily="18" charset="0"/>
                <a:cs typeface="Times New Roman" panose="02020603050405020304" pitchFamily="18" charset="0"/>
              </a:rPr>
              <a:t>中任意两点之间都有最短路径或不</a:t>
            </a:r>
            <a:r>
              <a:rPr lang="zh-CN" altLang="en-US" sz="2400" b="1" dirty="0" smtClean="0">
                <a:latin typeface="Times New Roman" panose="02020603050405020304" pitchFamily="18" charset="0"/>
                <a:cs typeface="Times New Roman" panose="02020603050405020304" pitchFamily="18" charset="0"/>
              </a:rPr>
              <a:t>存</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在路径</a:t>
            </a:r>
            <a:r>
              <a:rPr lang="zh-CN" altLang="en-US" sz="2400" b="1" dirty="0" smtClean="0">
                <a:latin typeface="Times New Roman" panose="02020603050405020304" pitchFamily="18" charset="0"/>
                <a:cs typeface="Times New Roman" panose="02020603050405020304" pitchFamily="18" charset="0"/>
              </a:rPr>
              <a:t>当且仅当 </a:t>
            </a:r>
            <a:r>
              <a:rPr lang="en-US" altLang="zh-CN" sz="2400" b="1" i="1" dirty="0" smtClean="0">
                <a:latin typeface="Times New Roman" panose="02020603050405020304" pitchFamily="18" charset="0"/>
                <a:cs typeface="Times New Roman" panose="02020603050405020304" pitchFamily="18" charset="0"/>
              </a:rPr>
              <a:t>D</a:t>
            </a:r>
            <a:r>
              <a:rPr lang="zh-CN" altLang="en-US" sz="2400" b="1" dirty="0" smtClean="0">
                <a:latin typeface="Times New Roman" panose="02020603050405020304" pitchFamily="18" charset="0"/>
                <a:cs typeface="Times New Roman" panose="02020603050405020304" pitchFamily="18" charset="0"/>
              </a:rPr>
              <a:t>中不含负回路</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证</a:t>
            </a:r>
            <a:r>
              <a:rPr lang="zh-CN" altLang="en-US" sz="2400" b="1" dirty="0" smtClean="0">
                <a:latin typeface="Times New Roman" panose="02020603050405020304" pitchFamily="18" charset="0"/>
                <a:cs typeface="Times New Roman" panose="02020603050405020304" pitchFamily="18" charset="0"/>
              </a:rPr>
              <a:t> 假设</a:t>
            </a:r>
            <a:r>
              <a:rPr lang="en-US" altLang="zh-CN" sz="2400" b="1" i="1" dirty="0" smtClean="0">
                <a:latin typeface="Times New Roman" panose="02020603050405020304" pitchFamily="18" charset="0"/>
                <a:cs typeface="Times New Roman" panose="02020603050405020304" pitchFamily="18" charset="0"/>
              </a:rPr>
              <a:t>D</a:t>
            </a:r>
            <a:r>
              <a:rPr lang="zh-CN" altLang="en-US" sz="2400" b="1" dirty="0" smtClean="0">
                <a:latin typeface="Times New Roman" panose="02020603050405020304" pitchFamily="18" charset="0"/>
                <a:cs typeface="Times New Roman" panose="02020603050405020304" pitchFamily="18" charset="0"/>
              </a:rPr>
              <a:t>中有负回路</a:t>
            </a:r>
            <a:r>
              <a:rPr lang="en-US" altLang="zh-CN" sz="2400" b="1" i="1" dirty="0" smtClean="0">
                <a:latin typeface="Times New Roman" panose="02020603050405020304" pitchFamily="18" charset="0"/>
                <a:cs typeface="Times New Roman" panose="02020603050405020304" pitchFamily="18" charset="0"/>
              </a:rPr>
              <a:t>C</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i</a:t>
            </a:r>
            <a:r>
              <a:rPr lang="zh-CN" altLang="en-US" sz="2400" b="1" dirty="0" smtClean="0">
                <a:latin typeface="Times New Roman" panose="02020603050405020304" pitchFamily="18" charset="0"/>
                <a:cs typeface="Times New Roman" panose="02020603050405020304" pitchFamily="18" charset="0"/>
              </a:rPr>
              <a:t>是</a:t>
            </a:r>
            <a:r>
              <a:rPr lang="en-US" altLang="zh-CN" sz="2400" b="1" i="1" dirty="0" smtClean="0">
                <a:latin typeface="Times New Roman" panose="02020603050405020304" pitchFamily="18" charset="0"/>
                <a:cs typeface="Times New Roman" panose="02020603050405020304" pitchFamily="18" charset="0"/>
              </a:rPr>
              <a:t>C</a:t>
            </a:r>
            <a:r>
              <a:rPr lang="zh-CN" altLang="en-US" sz="2400" b="1" dirty="0" smtClean="0">
                <a:latin typeface="Times New Roman" panose="02020603050405020304" pitchFamily="18" charset="0"/>
                <a:cs typeface="Times New Roman" panose="02020603050405020304" pitchFamily="18" charset="0"/>
              </a:rPr>
              <a:t>上的一个顶点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那么从</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到 </a:t>
            </a:r>
            <a:r>
              <a:rPr lang="en-US" altLang="zh-CN" sz="2400" b="1" i="1" dirty="0" smtClean="0">
                <a:latin typeface="Times New Roman" panose="02020603050405020304" pitchFamily="18" charset="0"/>
                <a:cs typeface="Times New Roman" panose="02020603050405020304" pitchFamily="18" charset="0"/>
              </a:rPr>
              <a:t>j </a:t>
            </a:r>
            <a:r>
              <a:rPr lang="zh-CN" altLang="en-US" sz="2400" b="1" dirty="0" smtClean="0">
                <a:latin typeface="Times New Roman" panose="02020603050405020304" pitchFamily="18" charset="0"/>
                <a:cs typeface="Times New Roman" panose="02020603050405020304" pitchFamily="18" charset="0"/>
              </a:rPr>
              <a:t>的路</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径可以先重复走</a:t>
            </a:r>
            <a:r>
              <a:rPr lang="en-US" altLang="zh-CN" sz="2400" b="1" i="1" dirty="0" smtClean="0">
                <a:latin typeface="Times New Roman" panose="02020603050405020304" pitchFamily="18" charset="0"/>
                <a:cs typeface="Times New Roman" panose="02020603050405020304" pitchFamily="18" charset="0"/>
              </a:rPr>
              <a:t>C</a:t>
            </a:r>
            <a:r>
              <a:rPr lang="zh-CN" altLang="en-US" sz="2400" b="1" dirty="0" smtClean="0">
                <a:latin typeface="Times New Roman" panose="02020603050405020304" pitchFamily="18" charset="0"/>
                <a:cs typeface="Times New Roman" panose="02020603050405020304" pitchFamily="18" charset="0"/>
              </a:rPr>
              <a:t>若干次再到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因而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到 </a:t>
            </a:r>
            <a:r>
              <a:rPr lang="en-US" altLang="zh-CN" sz="2400" b="1" i="1" dirty="0" smtClean="0">
                <a:latin typeface="Times New Roman" panose="02020603050405020304" pitchFamily="18" charset="0"/>
                <a:cs typeface="Times New Roman" panose="02020603050405020304" pitchFamily="18" charset="0"/>
              </a:rPr>
              <a:t>j </a:t>
            </a:r>
            <a:r>
              <a:rPr lang="zh-CN" altLang="en-US" sz="2400" b="1" dirty="0" smtClean="0">
                <a:latin typeface="Times New Roman" panose="02020603050405020304" pitchFamily="18" charset="0"/>
                <a:cs typeface="Times New Roman" panose="02020603050405020304" pitchFamily="18" charset="0"/>
              </a:rPr>
              <a:t>的路径的权可以任</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意小</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反之</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假设</a:t>
            </a:r>
            <a:r>
              <a:rPr lang="en-US" altLang="zh-CN" sz="2400" b="1" i="1" dirty="0" smtClean="0">
                <a:latin typeface="Times New Roman" panose="02020603050405020304" pitchFamily="18" charset="0"/>
                <a:cs typeface="Times New Roman" panose="02020603050405020304" pitchFamily="18" charset="0"/>
              </a:rPr>
              <a:t>D</a:t>
            </a:r>
            <a:r>
              <a:rPr lang="zh-CN" altLang="en-US" sz="2400" b="1" dirty="0" smtClean="0">
                <a:latin typeface="Times New Roman" panose="02020603050405020304" pitchFamily="18" charset="0"/>
                <a:cs typeface="Times New Roman" panose="02020603050405020304" pitchFamily="18" charset="0"/>
              </a:rPr>
              <a:t>中不存在负回路</a:t>
            </a:r>
            <a:r>
              <a:rPr lang="en-US" altLang="zh-CN" sz="2400" b="1" i="1" dirty="0" smtClean="0">
                <a:latin typeface="Times New Roman" panose="02020603050405020304" pitchFamily="18" charset="0"/>
                <a:cs typeface="Times New Roman" panose="02020603050405020304" pitchFamily="18" charset="0"/>
              </a:rPr>
              <a:t>C</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对任意两点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和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如果</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从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到 </a:t>
            </a:r>
            <a:r>
              <a:rPr lang="en-US" altLang="zh-CN" sz="2400" b="1" i="1" dirty="0" smtClean="0">
                <a:latin typeface="Times New Roman" panose="02020603050405020304" pitchFamily="18" charset="0"/>
                <a:cs typeface="Times New Roman" panose="02020603050405020304" pitchFamily="18" charset="0"/>
              </a:rPr>
              <a:t>j </a:t>
            </a:r>
            <a:r>
              <a:rPr lang="zh-CN" altLang="en-US" sz="2400" b="1" dirty="0" smtClean="0">
                <a:latin typeface="Times New Roman" panose="02020603050405020304" pitchFamily="18" charset="0"/>
                <a:cs typeface="Times New Roman" panose="02020603050405020304" pitchFamily="18" charset="0"/>
              </a:rPr>
              <a:t>的路径中有两个相同的顶点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那么删去这两个顶点之</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间的路径 </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回路</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后仍是从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到 </a:t>
            </a:r>
            <a:r>
              <a:rPr lang="en-US" altLang="zh-CN" sz="2400" b="1" i="1" dirty="0" smtClean="0">
                <a:latin typeface="Times New Roman" panose="02020603050405020304" pitchFamily="18" charset="0"/>
                <a:cs typeface="Times New Roman" panose="02020603050405020304" pitchFamily="18" charset="0"/>
              </a:rPr>
              <a:t>j </a:t>
            </a:r>
            <a:r>
              <a:rPr lang="zh-CN" altLang="en-US" sz="2400" b="1" dirty="0" smtClean="0">
                <a:latin typeface="Times New Roman" panose="02020603050405020304" pitchFamily="18" charset="0"/>
                <a:cs typeface="Times New Roman" panose="02020603050405020304" pitchFamily="18" charset="0"/>
              </a:rPr>
              <a:t>的路径</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其权不会增加</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因而</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只需考虑从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到 </a:t>
            </a:r>
            <a:r>
              <a:rPr lang="en-US" altLang="zh-CN" sz="2400" b="1" i="1" dirty="0" smtClean="0">
                <a:latin typeface="Times New Roman" panose="02020603050405020304" pitchFamily="18" charset="0"/>
                <a:cs typeface="Times New Roman" panose="02020603050405020304" pitchFamily="18" charset="0"/>
              </a:rPr>
              <a:t>j </a:t>
            </a:r>
            <a:r>
              <a:rPr lang="zh-CN" altLang="en-US" sz="2400" b="1" dirty="0" smtClean="0">
                <a:latin typeface="Times New Roman" panose="02020603050405020304" pitchFamily="18" charset="0"/>
                <a:cs typeface="Times New Roman" panose="02020603050405020304" pitchFamily="18" charset="0"/>
              </a:rPr>
              <a:t>顶点都不相同的路径</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而从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到 </a:t>
            </a:r>
            <a:r>
              <a:rPr lang="en-US" altLang="zh-CN" sz="2400" b="1" i="1" dirty="0" smtClean="0">
                <a:latin typeface="Times New Roman" panose="02020603050405020304" pitchFamily="18" charset="0"/>
                <a:cs typeface="Times New Roman" panose="02020603050405020304" pitchFamily="18" charset="0"/>
              </a:rPr>
              <a:t>j </a:t>
            </a:r>
            <a:r>
              <a:rPr lang="zh-CN" altLang="en-US" sz="2400" b="1" dirty="0" smtClean="0">
                <a:latin typeface="Times New Roman" panose="02020603050405020304" pitchFamily="18" charset="0"/>
                <a:cs typeface="Times New Roman" panose="02020603050405020304" pitchFamily="18" charset="0"/>
              </a:rPr>
              <a:t>顶点不同</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的路径只有有限条</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故一定存在最短路径</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p:txBody>
      </p:sp>
      <p:sp>
        <p:nvSpPr>
          <p:cNvPr id="4301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D0D3CF1C-ACDA-4D9B-A51E-FFA358639678}"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433388" y="504825"/>
            <a:ext cx="8229600" cy="908050"/>
          </a:xfrm>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Floyd</a:t>
            </a:r>
            <a:r>
              <a:rPr lang="zh-CN" altLang="en-US" sz="4000" b="1" smtClean="0">
                <a:solidFill>
                  <a:srgbClr val="C00000"/>
                </a:solidFill>
                <a:latin typeface="Times New Roman" panose="02020603050405020304" pitchFamily="18" charset="0"/>
                <a:cs typeface="Times New Roman" panose="02020603050405020304" pitchFamily="18" charset="0"/>
              </a:rPr>
              <a:t>算法</a:t>
            </a:r>
            <a:endParaRPr lang="zh-CN" altLang="en-US" sz="4000" smtClean="0">
              <a:solidFill>
                <a:srgbClr val="C00000"/>
              </a:solidFill>
              <a:latin typeface="Times New Roman" panose="02020603050405020304" pitchFamily="18" charset="0"/>
              <a:cs typeface="Times New Roman" panose="02020603050405020304" pitchFamily="18" charset="0"/>
            </a:endParaRPr>
          </a:p>
        </p:txBody>
      </p:sp>
      <p:sp>
        <p:nvSpPr>
          <p:cNvPr id="44035" name="内容占位符 2"/>
          <p:cNvSpPr>
            <a:spLocks noGrp="1"/>
          </p:cNvSpPr>
          <p:nvPr>
            <p:ph idx="1"/>
          </p:nvPr>
        </p:nvSpPr>
        <p:spPr>
          <a:xfrm>
            <a:off x="433388" y="1412875"/>
            <a:ext cx="8229600" cy="4525963"/>
          </a:xfrm>
        </p:spPr>
        <p:txBody>
          <a:bodyPr/>
          <a:lstStyle/>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算法采用动态规划方法</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d</a:t>
            </a:r>
            <a:r>
              <a:rPr lang="en-US" altLang="zh-CN" sz="2400" b="1" baseline="30000" smtClean="0">
                <a:latin typeface="Times New Roman" panose="02020603050405020304" pitchFamily="18" charset="0"/>
                <a:cs typeface="Times New Roman" panose="02020603050405020304" pitchFamily="18" charset="0"/>
              </a:rPr>
              <a:t>(</a:t>
            </a:r>
            <a:r>
              <a:rPr lang="en-US" altLang="zh-CN" sz="2400" b="1" i="1" baseline="30000" smtClean="0">
                <a:latin typeface="Times New Roman" panose="02020603050405020304" pitchFamily="18" charset="0"/>
                <a:cs typeface="Times New Roman" panose="02020603050405020304" pitchFamily="18" charset="0"/>
              </a:rPr>
              <a:t>k</a:t>
            </a:r>
            <a:r>
              <a:rPr lang="en-US" altLang="zh-CN" sz="2400" b="1" baseline="30000"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从 </a:t>
            </a:r>
            <a:r>
              <a:rPr lang="en-US" altLang="zh-CN" sz="2400" b="1" i="1"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到 </a:t>
            </a:r>
            <a:r>
              <a:rPr lang="en-US" altLang="zh-CN" sz="2400" b="1" i="1"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经过号码不大于 </a:t>
            </a:r>
            <a:r>
              <a:rPr lang="en-US" altLang="zh-CN" sz="2400" b="1" i="1" smtClean="0">
                <a:latin typeface="Times New Roman" panose="02020603050405020304" pitchFamily="18" charset="0"/>
                <a:cs typeface="Times New Roman" panose="02020603050405020304" pitchFamily="18" charset="0"/>
              </a:rPr>
              <a:t>k </a:t>
            </a:r>
            <a:r>
              <a:rPr lang="zh-CN" altLang="en-US" sz="2400" b="1" smtClean="0">
                <a:latin typeface="Times New Roman" panose="02020603050405020304" pitchFamily="18" charset="0"/>
                <a:cs typeface="Times New Roman" panose="02020603050405020304" pitchFamily="18" charset="0"/>
              </a:rPr>
              <a:t>的最短路径的长度</a:t>
            </a:r>
            <a:r>
              <a:rPr lang="en-US" altLang="zh-CN"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递推方程</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d</a:t>
            </a:r>
            <a:r>
              <a:rPr lang="en-US" altLang="zh-CN" sz="2400" b="1" baseline="30000" smtClean="0">
                <a:latin typeface="Times New Roman" panose="02020603050405020304" pitchFamily="18" charset="0"/>
                <a:cs typeface="Times New Roman" panose="02020603050405020304" pitchFamily="18" charset="0"/>
              </a:rPr>
              <a:t>(0)</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n</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d</a:t>
            </a:r>
            <a:r>
              <a:rPr lang="en-US" altLang="zh-CN" sz="2400" b="1" baseline="30000" smtClean="0">
                <a:latin typeface="Times New Roman" panose="02020603050405020304" pitchFamily="18" charset="0"/>
                <a:cs typeface="Times New Roman" panose="02020603050405020304" pitchFamily="18" charset="0"/>
              </a:rPr>
              <a:t>(</a:t>
            </a:r>
            <a:r>
              <a:rPr lang="en-US" altLang="zh-CN" sz="2400" b="1" i="1" baseline="30000" smtClean="0">
                <a:latin typeface="Times New Roman" panose="02020603050405020304" pitchFamily="18" charset="0"/>
                <a:cs typeface="Times New Roman" panose="02020603050405020304" pitchFamily="18" charset="0"/>
              </a:rPr>
              <a:t>k</a:t>
            </a:r>
            <a:r>
              <a:rPr lang="en-US" altLang="zh-CN" sz="2400" b="1" baseline="30000"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)=min{</a:t>
            </a:r>
            <a:r>
              <a:rPr lang="en-US" altLang="zh-CN" sz="2400" b="1" i="1" smtClean="0">
                <a:latin typeface="Times New Roman" panose="02020603050405020304" pitchFamily="18" charset="0"/>
                <a:cs typeface="Times New Roman" panose="02020603050405020304" pitchFamily="18" charset="0"/>
              </a:rPr>
              <a:t>d</a:t>
            </a:r>
            <a:r>
              <a:rPr lang="en-US" altLang="zh-CN" sz="2400" b="1" baseline="30000" smtClean="0">
                <a:latin typeface="Times New Roman" panose="02020603050405020304" pitchFamily="18" charset="0"/>
                <a:cs typeface="Times New Roman" panose="02020603050405020304" pitchFamily="18" charset="0"/>
              </a:rPr>
              <a:t>(</a:t>
            </a:r>
            <a:r>
              <a:rPr lang="en-US" altLang="zh-CN" sz="2400" b="1" i="1" baseline="30000" smtClean="0">
                <a:latin typeface="Times New Roman" panose="02020603050405020304" pitchFamily="18" charset="0"/>
                <a:cs typeface="Times New Roman" panose="02020603050405020304" pitchFamily="18" charset="0"/>
              </a:rPr>
              <a:t>k</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30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d</a:t>
            </a:r>
            <a:r>
              <a:rPr lang="en-US" altLang="zh-CN" sz="2400" b="1" baseline="30000" smtClean="0">
                <a:latin typeface="Times New Roman" panose="02020603050405020304" pitchFamily="18" charset="0"/>
                <a:cs typeface="Times New Roman" panose="02020603050405020304" pitchFamily="18" charset="0"/>
              </a:rPr>
              <a:t>(</a:t>
            </a:r>
            <a:r>
              <a:rPr lang="en-US" altLang="zh-CN" sz="2400" b="1" i="1" baseline="30000" smtClean="0">
                <a:latin typeface="Times New Roman" panose="02020603050405020304" pitchFamily="18" charset="0"/>
                <a:cs typeface="Times New Roman" panose="02020603050405020304" pitchFamily="18" charset="0"/>
              </a:rPr>
              <a:t>k</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30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k</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d</a:t>
            </a:r>
            <a:r>
              <a:rPr lang="en-US" altLang="zh-CN" sz="2400" b="1" baseline="30000" smtClean="0">
                <a:latin typeface="Times New Roman" panose="02020603050405020304" pitchFamily="18" charset="0"/>
                <a:cs typeface="Times New Roman" panose="02020603050405020304" pitchFamily="18" charset="0"/>
              </a:rPr>
              <a:t>(</a:t>
            </a:r>
            <a:r>
              <a:rPr lang="en-US" altLang="zh-CN" sz="2400" b="1" i="1" baseline="30000" smtClean="0">
                <a:latin typeface="Times New Roman" panose="02020603050405020304" pitchFamily="18" charset="0"/>
                <a:cs typeface="Times New Roman" panose="02020603050405020304" pitchFamily="18" charset="0"/>
              </a:rPr>
              <a:t>k</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30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k</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n </a:t>
            </a:r>
            <a:r>
              <a:rPr lang="zh-CN" altLang="en-US" sz="2400" b="1" smtClean="0">
                <a:latin typeface="Times New Roman" panose="02020603050405020304" pitchFamily="18" charset="0"/>
                <a:cs typeface="Times New Roman" panose="02020603050405020304" pitchFamily="18" charset="0"/>
              </a:rPr>
              <a:t>且 </a:t>
            </a:r>
            <a:r>
              <a:rPr lang="en-US" altLang="zh-CN" sz="2400" b="1" i="1" smtClean="0">
                <a:latin typeface="Times New Roman" panose="02020603050405020304" pitchFamily="18" charset="0"/>
                <a:cs typeface="Times New Roman" panose="02020603050405020304" pitchFamily="18" charset="0"/>
              </a:rPr>
              <a:t>i, 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k</a:t>
            </a:r>
            <a:r>
              <a:rPr lang="en-US" altLang="zh-CN" sz="2400" b="1" smtClean="0">
                <a:latin typeface="Times New Roman" panose="02020603050405020304" pitchFamily="18" charset="0"/>
                <a:cs typeface="Times New Roman" panose="02020603050405020304" pitchFamily="18" charset="0"/>
              </a:rPr>
              <a:t>, 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k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        </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规定</a:t>
            </a:r>
            <a:r>
              <a:rPr lang="en-US" altLang="zh-CN" sz="2400" b="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V</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 0;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&gt;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当</a:t>
            </a:r>
            <a:r>
              <a:rPr lang="en-US" altLang="zh-CN" sz="2400" b="1" i="1" smtClean="0">
                <a:latin typeface="Times New Roman" panose="02020603050405020304" pitchFamily="18" charset="0"/>
                <a:cs typeface="Times New Roman" panose="02020603050405020304" pitchFamily="18" charset="0"/>
              </a:rPr>
              <a:t>D</a:t>
            </a:r>
            <a:r>
              <a:rPr lang="zh-CN" altLang="en-US" sz="2400" b="1" smtClean="0">
                <a:latin typeface="Times New Roman" panose="02020603050405020304" pitchFamily="18" charset="0"/>
                <a:cs typeface="Times New Roman" panose="02020603050405020304" pitchFamily="18" charset="0"/>
              </a:rPr>
              <a:t>中不存在负回路时</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到 </a:t>
            </a:r>
            <a:r>
              <a:rPr lang="en-US" altLang="zh-CN" sz="2400" b="1" i="1"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的距离 </a:t>
            </a:r>
            <a:r>
              <a:rPr lang="en-US" altLang="zh-CN" sz="2400" b="1" i="1" smtClean="0">
                <a:latin typeface="Times New Roman" panose="02020603050405020304" pitchFamily="18" charset="0"/>
                <a:cs typeface="Times New Roman" panose="02020603050405020304" pitchFamily="18" charset="0"/>
              </a:rPr>
              <a:t>d</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d</a:t>
            </a:r>
            <a:r>
              <a:rPr lang="en-US" altLang="zh-CN" sz="2400" b="1" baseline="30000" smtClean="0">
                <a:latin typeface="Times New Roman" panose="02020603050405020304" pitchFamily="18" charset="0"/>
                <a:cs typeface="Times New Roman" panose="02020603050405020304" pitchFamily="18" charset="0"/>
              </a:rPr>
              <a:t>(</a:t>
            </a:r>
            <a:r>
              <a:rPr lang="en-US" altLang="zh-CN" sz="2400" b="1" i="1" baseline="30000" smtClean="0">
                <a:latin typeface="Times New Roman" panose="02020603050405020304" pitchFamily="18" charset="0"/>
                <a:cs typeface="Times New Roman" panose="02020603050405020304" pitchFamily="18" charset="0"/>
              </a:rPr>
              <a:t>n</a:t>
            </a:r>
            <a:r>
              <a:rPr lang="en-US" altLang="zh-CN" sz="2400" b="1" baseline="30000"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当</a:t>
            </a:r>
            <a:r>
              <a:rPr lang="en-US" altLang="zh-CN" sz="2400" b="1" i="1" smtClean="0">
                <a:latin typeface="Times New Roman" panose="02020603050405020304" pitchFamily="18" charset="0"/>
                <a:cs typeface="Times New Roman" panose="02020603050405020304" pitchFamily="18" charset="0"/>
              </a:rPr>
              <a:t>D</a:t>
            </a:r>
            <a:r>
              <a:rPr lang="zh-CN" altLang="en-US" sz="2400" b="1" smtClean="0">
                <a:latin typeface="Times New Roman" panose="02020603050405020304" pitchFamily="18" charset="0"/>
                <a:cs typeface="Times New Roman" panose="02020603050405020304" pitchFamily="18" charset="0"/>
              </a:rPr>
              <a:t>中存</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在负回路时</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设负回路</a:t>
            </a:r>
            <a:r>
              <a:rPr lang="en-US" altLang="zh-CN" sz="2400" b="1" i="1" smtClean="0">
                <a:latin typeface="Times New Roman" panose="02020603050405020304" pitchFamily="18" charset="0"/>
                <a:cs typeface="Times New Roman" panose="02020603050405020304" pitchFamily="18" charset="0"/>
              </a:rPr>
              <a:t>C</a:t>
            </a:r>
            <a:r>
              <a:rPr lang="zh-CN" altLang="en-US" sz="2400" b="1" smtClean="0">
                <a:latin typeface="Times New Roman" panose="02020603050405020304" pitchFamily="18" charset="0"/>
                <a:cs typeface="Times New Roman" panose="02020603050405020304" pitchFamily="18" charset="0"/>
              </a:rPr>
              <a:t>经过 </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除 </a:t>
            </a:r>
            <a:r>
              <a:rPr lang="en-US" altLang="zh-CN" sz="2400" b="1" i="1"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外顶点的最大号码是 </a:t>
            </a:r>
            <a:r>
              <a:rPr lang="en-US" altLang="zh-CN" sz="2400" b="1" i="1" smtClean="0">
                <a:latin typeface="Times New Roman" panose="02020603050405020304" pitchFamily="18" charset="0"/>
                <a:cs typeface="Times New Roman" panose="02020603050405020304" pitchFamily="18" charset="0"/>
              </a:rPr>
              <a:t>k</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则</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必有 </a:t>
            </a:r>
            <a:r>
              <a:rPr lang="en-US" altLang="zh-CN" sz="2400" b="1" i="1" smtClean="0">
                <a:latin typeface="Times New Roman" panose="02020603050405020304" pitchFamily="18" charset="0"/>
                <a:cs typeface="Times New Roman" panose="02020603050405020304" pitchFamily="18" charset="0"/>
              </a:rPr>
              <a:t>d</a:t>
            </a:r>
            <a:r>
              <a:rPr lang="en-US" altLang="zh-CN" sz="2400" b="1" baseline="30000" smtClean="0">
                <a:latin typeface="Times New Roman" panose="02020603050405020304" pitchFamily="18" charset="0"/>
                <a:cs typeface="Times New Roman" panose="02020603050405020304" pitchFamily="18" charset="0"/>
              </a:rPr>
              <a:t>(</a:t>
            </a:r>
            <a:r>
              <a:rPr lang="en-US" altLang="zh-CN" sz="2400" b="1" i="1" baseline="30000" smtClean="0">
                <a:latin typeface="Times New Roman" panose="02020603050405020304" pitchFamily="18" charset="0"/>
                <a:cs typeface="Times New Roman" panose="02020603050405020304" pitchFamily="18" charset="0"/>
              </a:rPr>
              <a:t>k</a:t>
            </a:r>
            <a:r>
              <a:rPr lang="en-US" altLang="zh-CN" sz="2400" b="1" baseline="30000"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&lt; 0.     </a:t>
            </a:r>
            <a:endParaRPr lang="zh-CN" altLang="en-US" sz="2400" b="1" smtClean="0">
              <a:latin typeface="Times New Roman" panose="02020603050405020304" pitchFamily="18" charset="0"/>
              <a:cs typeface="Times New Roman" panose="02020603050405020304" pitchFamily="18" charset="0"/>
            </a:endParaRPr>
          </a:p>
        </p:txBody>
      </p:sp>
      <p:sp>
        <p:nvSpPr>
          <p:cNvPr id="4403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997F8A7-23F3-4DDC-8E39-88452E71D3BE}"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7AAAF515-5625-4CEF-BB02-4985CA0681BF}" type="slidenum">
              <a:rPr lang="zh-CN" altLang="en-US" sz="1200" smtClean="0">
                <a:solidFill>
                  <a:srgbClr val="898989"/>
                </a:solidFill>
              </a:rPr>
            </a:fld>
            <a:endParaRPr lang="zh-CN" altLang="en-US" sz="1200" smtClean="0">
              <a:solidFill>
                <a:srgbClr val="898989"/>
              </a:solidFill>
            </a:endParaRPr>
          </a:p>
        </p:txBody>
      </p:sp>
      <p:sp>
        <p:nvSpPr>
          <p:cNvPr id="45059" name="标题 1"/>
          <p:cNvSpPr>
            <a:spLocks noGrp="1"/>
          </p:cNvSpPr>
          <p:nvPr>
            <p:ph type="title"/>
          </p:nvPr>
        </p:nvSpPr>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Floyd</a:t>
            </a:r>
            <a:r>
              <a:rPr lang="zh-CN" altLang="en-US" sz="4000" b="1" smtClean="0">
                <a:solidFill>
                  <a:srgbClr val="C00000"/>
                </a:solidFill>
                <a:latin typeface="Times New Roman" panose="02020603050405020304" pitchFamily="18" charset="0"/>
                <a:cs typeface="Times New Roman" panose="02020603050405020304" pitchFamily="18" charset="0"/>
              </a:rPr>
              <a:t>算法</a:t>
            </a:r>
            <a:endParaRPr lang="zh-CN" altLang="en-US" sz="4000" smtClean="0">
              <a:solidFill>
                <a:srgbClr val="C00000"/>
              </a:solidFill>
              <a:latin typeface="Times New Roman" panose="02020603050405020304" pitchFamily="18" charset="0"/>
              <a:cs typeface="Times New Roman" panose="02020603050405020304" pitchFamily="18" charset="0"/>
            </a:endParaRPr>
          </a:p>
        </p:txBody>
      </p:sp>
      <p:sp>
        <p:nvSpPr>
          <p:cNvPr id="45060" name="内容占位符 2"/>
          <p:cNvSpPr>
            <a:spLocks noGrp="1"/>
          </p:cNvSpPr>
          <p:nvPr>
            <p:ph idx="1"/>
          </p:nvPr>
        </p:nvSpPr>
        <p:spPr>
          <a:xfrm>
            <a:off x="354013" y="1417638"/>
            <a:ext cx="8435975" cy="4525962"/>
          </a:xfrm>
        </p:spPr>
        <p:txBody>
          <a:bodyPr/>
          <a:lstStyle/>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h</a:t>
            </a:r>
            <a:r>
              <a:rPr lang="en-US" altLang="zh-CN" sz="2400" b="1" baseline="30000" smtClean="0">
                <a:latin typeface="Times New Roman" panose="02020603050405020304" pitchFamily="18" charset="0"/>
                <a:cs typeface="Times New Roman" panose="02020603050405020304" pitchFamily="18" charset="0"/>
              </a:rPr>
              <a:t>(</a:t>
            </a:r>
            <a:r>
              <a:rPr lang="en-US" altLang="zh-CN" sz="2400" b="1" i="1" baseline="30000" smtClean="0">
                <a:latin typeface="Times New Roman" panose="02020603050405020304" pitchFamily="18" charset="0"/>
                <a:cs typeface="Times New Roman" panose="02020603050405020304" pitchFamily="18" charset="0"/>
              </a:rPr>
              <a:t>k</a:t>
            </a:r>
            <a:r>
              <a:rPr lang="en-US" altLang="zh-CN" sz="2400" b="1" baseline="30000"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从 </a:t>
            </a:r>
            <a:r>
              <a:rPr lang="en-US" altLang="zh-CN" sz="2400" b="1" i="1" smtClean="0">
                <a:latin typeface="Times New Roman" panose="02020603050405020304" pitchFamily="18" charset="0"/>
                <a:cs typeface="Times New Roman" panose="02020603050405020304" pitchFamily="18" charset="0"/>
              </a:rPr>
              <a:t>i</a:t>
            </a:r>
            <a:r>
              <a:rPr lang="zh-CN" altLang="en-US" sz="2400" b="1" smtClean="0">
                <a:latin typeface="Times New Roman" panose="02020603050405020304" pitchFamily="18" charset="0"/>
                <a:cs typeface="Times New Roman" panose="02020603050405020304" pitchFamily="18" charset="0"/>
              </a:rPr>
              <a:t>到 </a:t>
            </a:r>
            <a:r>
              <a:rPr lang="en-US" altLang="zh-CN" sz="2400" b="1" i="1"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经过号码不大于</a:t>
            </a:r>
            <a:r>
              <a:rPr lang="en-US" altLang="zh-CN" sz="2400" b="1" i="1" smtClean="0">
                <a:latin typeface="Times New Roman" panose="02020603050405020304" pitchFamily="18" charset="0"/>
                <a:cs typeface="Times New Roman" panose="02020603050405020304" pitchFamily="18" charset="0"/>
              </a:rPr>
              <a:t>k</a:t>
            </a:r>
            <a:r>
              <a:rPr lang="zh-CN" altLang="en-US" sz="2400" b="1" smtClean="0">
                <a:latin typeface="Times New Roman" panose="02020603050405020304" pitchFamily="18" charset="0"/>
                <a:cs typeface="Times New Roman" panose="02020603050405020304" pitchFamily="18" charset="0"/>
              </a:rPr>
              <a:t>的最短路径中</a:t>
            </a:r>
            <a:r>
              <a:rPr lang="en-US" altLang="zh-CN" sz="2400" b="1" i="1"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的下一个顶点</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递推关系</a:t>
            </a:r>
            <a:endParaRPr lang="en-US" altLang="zh-CN" sz="2400" b="1" smtClean="0">
              <a:latin typeface="Times New Roman" panose="02020603050405020304" pitchFamily="18" charset="0"/>
              <a:cs typeface="Times New Roman" panose="02020603050405020304" pitchFamily="18" charset="0"/>
            </a:endParaRPr>
          </a:p>
          <a:p>
            <a:pPr>
              <a:lnSpc>
                <a:spcPct val="200000"/>
              </a:lnSpc>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n  </a:t>
            </a:r>
            <a:endParaRPr lang="en-US" altLang="zh-CN" sz="2400" b="1" smtClean="0">
              <a:latin typeface="Times New Roman" panose="02020603050405020304" pitchFamily="18" charset="0"/>
              <a:cs typeface="Times New Roman" panose="02020603050405020304" pitchFamily="18" charset="0"/>
              <a:sym typeface="Symbol" panose="05050102010706020507" pitchFamily="18" charset="2"/>
            </a:endParaRPr>
          </a:p>
          <a:p>
            <a:pPr>
              <a:lnSpc>
                <a:spcPct val="200000"/>
              </a:lnSpc>
              <a:buFont typeface="Arial" panose="020B0604020202020204" pitchFamily="34" charset="0"/>
              <a:buNone/>
            </a:pPr>
            <a:endParaRPr lang="en-US" altLang="zh-CN" sz="2400" b="1" smtClean="0">
              <a:latin typeface="Times New Roman" panose="02020603050405020304" pitchFamily="18" charset="0"/>
              <a:cs typeface="Times New Roman" panose="02020603050405020304" pitchFamily="18" charset="0"/>
              <a:sym typeface="Symbol" panose="05050102010706020507" pitchFamily="18" charset="2"/>
            </a:endParaRPr>
          </a:p>
          <a:p>
            <a:pPr>
              <a:lnSpc>
                <a:spcPct val="200000"/>
              </a:lnSpc>
              <a:buFont typeface="Arial" panose="020B0604020202020204" pitchFamily="34" charset="0"/>
              <a:buNone/>
            </a:pPr>
            <a:endParaRPr lang="en-US" altLang="zh-CN" sz="2400" b="1" smtClean="0">
              <a:latin typeface="Times New Roman" panose="02020603050405020304" pitchFamily="18" charset="0"/>
              <a:cs typeface="Times New Roman" panose="02020603050405020304" pitchFamily="18" charset="0"/>
              <a:sym typeface="Symbol" panose="05050102010706020507" pitchFamily="18" charset="2"/>
            </a:endParaRPr>
          </a:p>
          <a:p>
            <a:pPr>
              <a:lnSpc>
                <a:spcPct val="200000"/>
              </a:lnSpc>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n </a:t>
            </a:r>
            <a:r>
              <a:rPr lang="zh-CN" altLang="en-US" sz="2400" b="1" smtClean="0">
                <a:latin typeface="Times New Roman" panose="02020603050405020304" pitchFamily="18" charset="0"/>
                <a:cs typeface="Times New Roman" panose="02020603050405020304" pitchFamily="18" charset="0"/>
                <a:sym typeface="Symbol" panose="05050102010706020507" pitchFamily="18" charset="2"/>
              </a:rPr>
              <a:t>且</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i, j  k, </a:t>
            </a:r>
            <a:r>
              <a:rPr lang="en-US" altLang="zh-CN" sz="2400" b="1"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k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n </a:t>
            </a:r>
            <a:endParaRPr lang="zh-CN" altLang="en-US" sz="2400" b="1" smtClean="0">
              <a:latin typeface="Times New Roman" panose="02020603050405020304" pitchFamily="18" charset="0"/>
              <a:cs typeface="Times New Roman" panose="02020603050405020304" pitchFamily="18" charset="0"/>
            </a:endParaRPr>
          </a:p>
        </p:txBody>
      </p:sp>
      <p:sp>
        <p:nvSpPr>
          <p:cNvPr id="45061"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45062" name="Object 4"/>
          <p:cNvGraphicFramePr>
            <a:graphicFrameLocks noChangeAspect="1"/>
          </p:cNvGraphicFramePr>
          <p:nvPr/>
        </p:nvGraphicFramePr>
        <p:xfrm>
          <a:off x="1228725" y="2362200"/>
          <a:ext cx="4421188" cy="1000125"/>
        </p:xfrm>
        <a:graphic>
          <a:graphicData uri="http://schemas.openxmlformats.org/presentationml/2006/ole">
            <mc:AlternateContent xmlns:mc="http://schemas.openxmlformats.org/markup-compatibility/2006">
              <mc:Choice xmlns:v="urn:schemas-microsoft-com:vml" Requires="v">
                <p:oleObj spid="_x0000_s45067" name="Microsoft 公式 3.0" r:id="rId1" imgW="2108200" imgH="482600" progId="Equation.3">
                  <p:embed/>
                </p:oleObj>
              </mc:Choice>
              <mc:Fallback>
                <p:oleObj name="Microsoft 公式 3.0" r:id="rId1" imgW="2108200" imgH="482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8725" y="2362200"/>
                        <a:ext cx="4421188"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3"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45064" name="Object 6"/>
          <p:cNvGraphicFramePr>
            <a:graphicFrameLocks noChangeAspect="1"/>
          </p:cNvGraphicFramePr>
          <p:nvPr/>
        </p:nvGraphicFramePr>
        <p:xfrm>
          <a:off x="1228725" y="3335338"/>
          <a:ext cx="6686550" cy="1633537"/>
        </p:xfrm>
        <a:graphic>
          <a:graphicData uri="http://schemas.openxmlformats.org/presentationml/2006/ole">
            <mc:AlternateContent xmlns:mc="http://schemas.openxmlformats.org/markup-compatibility/2006">
              <mc:Choice xmlns:v="urn:schemas-microsoft-com:vml" Requires="v">
                <p:oleObj spid="_x0000_s45068" name="Equation" r:id="rId3" imgW="3263900" imgH="774700" progId="Equation.3">
                  <p:embed/>
                </p:oleObj>
              </mc:Choice>
              <mc:Fallback>
                <p:oleObj name="Equation" r:id="rId3" imgW="3263900" imgH="7747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8725" y="3335338"/>
                        <a:ext cx="6686550" cy="163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457200" y="274638"/>
            <a:ext cx="8229600" cy="777875"/>
          </a:xfrm>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Floyd</a:t>
            </a:r>
            <a:r>
              <a:rPr lang="zh-CN" altLang="en-US" sz="4000" b="1" smtClean="0">
                <a:solidFill>
                  <a:srgbClr val="C00000"/>
                </a:solidFill>
                <a:latin typeface="Times New Roman" panose="02020603050405020304" pitchFamily="18" charset="0"/>
                <a:cs typeface="Times New Roman" panose="02020603050405020304" pitchFamily="18" charset="0"/>
              </a:rPr>
              <a:t>算法</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46083" name="TextBox 6"/>
          <p:cNvSpPr txBox="1">
            <a:spLocks noChangeArrowheads="1"/>
          </p:cNvSpPr>
          <p:nvPr/>
        </p:nvSpPr>
        <p:spPr bwMode="auto">
          <a:xfrm>
            <a:off x="468313" y="1125538"/>
            <a:ext cx="8675687" cy="489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b="1" dirty="0" smtClean="0">
                <a:solidFill>
                  <a:srgbClr val="C00000"/>
                </a:solidFill>
                <a:latin typeface="Times New Roman" panose="02020603050405020304" pitchFamily="18" charset="0"/>
                <a:cs typeface="Times New Roman" panose="02020603050405020304" pitchFamily="18" charset="0"/>
              </a:rPr>
              <a:t>算法</a:t>
            </a:r>
            <a:r>
              <a:rPr lang="en-US" altLang="zh-CN" sz="2400" b="1" dirty="0" smtClean="0">
                <a:solidFill>
                  <a:srgbClr val="C00000"/>
                </a:solidFill>
                <a:latin typeface="Times New Roman" panose="02020603050405020304" pitchFamily="18" charset="0"/>
                <a:cs typeface="Times New Roman" panose="02020603050405020304" pitchFamily="18" charset="0"/>
              </a:rPr>
              <a:t>7.3  Floyd</a:t>
            </a:r>
            <a:r>
              <a:rPr lang="zh-CN" altLang="en-US" sz="2400" b="1" dirty="0">
                <a:solidFill>
                  <a:srgbClr val="C00000"/>
                </a:solidFill>
                <a:latin typeface="Times New Roman" panose="02020603050405020304" pitchFamily="18" charset="0"/>
                <a:cs typeface="Times New Roman" panose="02020603050405020304" pitchFamily="18" charset="0"/>
              </a:rPr>
              <a:t>算法</a:t>
            </a:r>
            <a:r>
              <a:rPr lang="en-US" altLang="zh-CN" sz="2400" b="1" dirty="0">
                <a:latin typeface="Times New Roman" panose="02020603050405020304" pitchFamily="18" charset="0"/>
                <a:cs typeface="Times New Roman" panose="02020603050405020304" pitchFamily="18" charset="0"/>
              </a:rPr>
              <a:t>   </a:t>
            </a:r>
            <a:endParaRPr lang="zh-CN" altLang="en-US" sz="2400" b="1" dirty="0">
              <a:latin typeface="Times New Roman" panose="02020603050405020304" pitchFamily="18" charset="0"/>
              <a:cs typeface="Times New Roman" panose="02020603050405020304" pitchFamily="18" charset="0"/>
            </a:endParaRPr>
          </a:p>
          <a:p>
            <a:pPr eaLnBrk="1" hangingPunct="1">
              <a:spcBef>
                <a:spcPct val="0"/>
              </a:spcBef>
              <a:buFontTx/>
              <a:buNone/>
            </a:pPr>
            <a:r>
              <a:rPr lang="en-US" altLang="zh-CN" sz="2400" b="1" dirty="0">
                <a:latin typeface="Times New Roman" panose="02020603050405020304" pitchFamily="18" charset="0"/>
                <a:cs typeface="Times New Roman" panose="02020603050405020304" pitchFamily="18" charset="0"/>
              </a:rPr>
              <a:t>1.  for </a:t>
            </a:r>
            <a:r>
              <a:rPr lang="en-US" altLang="zh-CN" sz="2400" b="1" i="1" dirty="0" err="1">
                <a:latin typeface="Times New Roman" panose="02020603050405020304" pitchFamily="18" charset="0"/>
                <a:cs typeface="Times New Roman" panose="02020603050405020304" pitchFamily="18" charset="0"/>
              </a:rPr>
              <a:t>i</a:t>
            </a:r>
            <a:r>
              <a:rPr lang="en-US" altLang="zh-CN" sz="2400" b="1" dirty="0">
                <a:latin typeface="Times New Roman" panose="02020603050405020304" pitchFamily="18" charset="0"/>
                <a:cs typeface="Times New Roman" panose="02020603050405020304" pitchFamily="18" charset="0"/>
              </a:rPr>
              <a:t>=1 to </a:t>
            </a:r>
            <a:r>
              <a:rPr lang="en-US" altLang="zh-CN" sz="2400" b="1" i="1" dirty="0">
                <a:latin typeface="Times New Roman" panose="02020603050405020304" pitchFamily="18" charset="0"/>
                <a:cs typeface="Times New Roman" panose="02020603050405020304" pitchFamily="18" charset="0"/>
              </a:rPr>
              <a:t>n</a:t>
            </a:r>
            <a:r>
              <a:rPr lang="en-US" altLang="zh-CN" sz="2400" b="1" dirty="0">
                <a:latin typeface="Times New Roman" panose="02020603050405020304" pitchFamily="18" charset="0"/>
                <a:cs typeface="Times New Roman" panose="02020603050405020304" pitchFamily="18" charset="0"/>
              </a:rPr>
              <a:t> do</a:t>
            </a:r>
            <a:endParaRPr lang="zh-CN" altLang="en-US" sz="2400" b="1" dirty="0">
              <a:latin typeface="Times New Roman" panose="02020603050405020304" pitchFamily="18" charset="0"/>
              <a:cs typeface="Times New Roman" panose="02020603050405020304" pitchFamily="18" charset="0"/>
            </a:endParaRPr>
          </a:p>
          <a:p>
            <a:pPr eaLnBrk="1" hangingPunct="1">
              <a:spcBef>
                <a:spcPct val="0"/>
              </a:spcBef>
              <a:buFontTx/>
              <a:buNone/>
            </a:pPr>
            <a:r>
              <a:rPr lang="en-US" altLang="zh-CN" sz="2400" b="1" dirty="0">
                <a:latin typeface="Times New Roman" panose="02020603050405020304" pitchFamily="18" charset="0"/>
                <a:cs typeface="Times New Roman" panose="02020603050405020304" pitchFamily="18" charset="0"/>
              </a:rPr>
              <a:t>2.     for </a:t>
            </a:r>
            <a:r>
              <a:rPr lang="en-US" altLang="zh-CN" sz="2400" b="1" i="1" dirty="0">
                <a:latin typeface="Times New Roman" panose="02020603050405020304" pitchFamily="18" charset="0"/>
                <a:cs typeface="Times New Roman" panose="02020603050405020304" pitchFamily="18" charset="0"/>
              </a:rPr>
              <a:t>j</a:t>
            </a:r>
            <a:r>
              <a:rPr lang="en-US" altLang="zh-CN" sz="2400" b="1" dirty="0">
                <a:latin typeface="Times New Roman" panose="02020603050405020304" pitchFamily="18" charset="0"/>
                <a:cs typeface="Times New Roman" panose="02020603050405020304" pitchFamily="18" charset="0"/>
              </a:rPr>
              <a:t>=1 to </a:t>
            </a:r>
            <a:r>
              <a:rPr lang="en-US" altLang="zh-CN" sz="2400" b="1" i="1" dirty="0">
                <a:latin typeface="Times New Roman" panose="02020603050405020304" pitchFamily="18" charset="0"/>
                <a:cs typeface="Times New Roman" panose="02020603050405020304" pitchFamily="18" charset="0"/>
              </a:rPr>
              <a:t>n</a:t>
            </a:r>
            <a:r>
              <a:rPr lang="en-US" altLang="zh-CN" sz="2400" b="1" dirty="0">
                <a:latin typeface="Times New Roman" panose="02020603050405020304" pitchFamily="18" charset="0"/>
                <a:cs typeface="Times New Roman" panose="02020603050405020304" pitchFamily="18" charset="0"/>
              </a:rPr>
              <a:t> do</a:t>
            </a:r>
            <a:endParaRPr lang="zh-CN" altLang="en-US" sz="2400" b="1" dirty="0">
              <a:latin typeface="Times New Roman" panose="02020603050405020304" pitchFamily="18" charset="0"/>
              <a:cs typeface="Times New Roman" panose="02020603050405020304" pitchFamily="18" charset="0"/>
            </a:endParaRPr>
          </a:p>
          <a:p>
            <a:pPr eaLnBrk="1" hangingPunct="1">
              <a:spcBef>
                <a:spcPct val="0"/>
              </a:spcBef>
              <a:buFontTx/>
              <a:buNone/>
            </a:pPr>
            <a:r>
              <a:rPr lang="en-US" altLang="zh-CN" sz="2400" b="1" dirty="0">
                <a:latin typeface="Times New Roman" panose="02020603050405020304" pitchFamily="18" charset="0"/>
                <a:cs typeface="Times New Roman" panose="02020603050405020304" pitchFamily="18" charset="0"/>
              </a:rPr>
              <a:t>3.         if </a:t>
            </a:r>
            <a:r>
              <a:rPr lang="en-US" altLang="zh-CN" sz="2400" b="1" i="1" dirty="0" err="1">
                <a:latin typeface="Times New Roman" panose="02020603050405020304" pitchFamily="18" charset="0"/>
                <a:cs typeface="Times New Roman" panose="02020603050405020304" pitchFamily="18" charset="0"/>
              </a:rPr>
              <a:t>i</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j</a:t>
            </a:r>
            <a:r>
              <a:rPr lang="en-US" altLang="zh-CN" sz="2400" b="1" dirty="0">
                <a:latin typeface="Times New Roman" panose="02020603050405020304" pitchFamily="18" charset="0"/>
                <a:cs typeface="Times New Roman" panose="02020603050405020304" pitchFamily="18" charset="0"/>
              </a:rPr>
              <a:t> then </a:t>
            </a:r>
            <a:r>
              <a:rPr lang="en-US" altLang="zh-CN" sz="2400" b="1" i="1" dirty="0">
                <a:latin typeface="Times New Roman" panose="02020603050405020304" pitchFamily="18" charset="0"/>
                <a:cs typeface="Times New Roman" panose="02020603050405020304" pitchFamily="18" charset="0"/>
              </a:rPr>
              <a:t>d</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0, </a:t>
            </a:r>
            <a:r>
              <a:rPr lang="en-US" altLang="zh-CN" sz="2400" b="1" i="1" dirty="0">
                <a:latin typeface="Times New Roman" panose="02020603050405020304" pitchFamily="18" charset="0"/>
                <a:cs typeface="Times New Roman" panose="02020603050405020304" pitchFamily="18" charset="0"/>
              </a:rPr>
              <a:t>h</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i</a:t>
            </a:r>
            <a:endParaRPr lang="zh-CN" altLang="en-US" sz="2400" b="1" dirty="0">
              <a:latin typeface="Times New Roman" panose="02020603050405020304" pitchFamily="18" charset="0"/>
              <a:cs typeface="Times New Roman" panose="02020603050405020304" pitchFamily="18" charset="0"/>
            </a:endParaRPr>
          </a:p>
          <a:p>
            <a:pPr eaLnBrk="1" hangingPunct="1">
              <a:spcBef>
                <a:spcPct val="0"/>
              </a:spcBef>
              <a:buFontTx/>
              <a:buNone/>
            </a:pPr>
            <a:r>
              <a:rPr lang="en-US" altLang="zh-CN" sz="2400" b="1" dirty="0">
                <a:latin typeface="Times New Roman" panose="02020603050405020304" pitchFamily="18" charset="0"/>
                <a:cs typeface="Times New Roman" panose="02020603050405020304" pitchFamily="18" charset="0"/>
              </a:rPr>
              <a:t>4.         else if &lt;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j</a:t>
            </a:r>
            <a:r>
              <a:rPr lang="en-US" altLang="zh-CN" sz="2400" b="1" dirty="0">
                <a:latin typeface="Times New Roman" panose="02020603050405020304" pitchFamily="18" charset="0"/>
                <a:cs typeface="Times New Roman" panose="02020603050405020304" pitchFamily="18" charset="0"/>
              </a:rPr>
              <a:t>&gt;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E</a:t>
            </a:r>
            <a:r>
              <a:rPr lang="en-US" altLang="zh-CN" sz="2400" b="1" dirty="0">
                <a:latin typeface="Times New Roman" panose="02020603050405020304" pitchFamily="18" charset="0"/>
                <a:cs typeface="Times New Roman" panose="02020603050405020304" pitchFamily="18" charset="0"/>
              </a:rPr>
              <a:t> then </a:t>
            </a:r>
            <a:r>
              <a:rPr lang="en-US" altLang="zh-CN" sz="2400" b="1" i="1" dirty="0">
                <a:latin typeface="Times New Roman" panose="02020603050405020304" pitchFamily="18" charset="0"/>
                <a:cs typeface="Times New Roman" panose="02020603050405020304" pitchFamily="18" charset="0"/>
              </a:rPr>
              <a:t>d</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j</a:t>
            </a:r>
            <a:r>
              <a:rPr lang="en-US" altLang="zh-CN"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w</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j</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h</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j</a:t>
            </a:r>
            <a:r>
              <a:rPr lang="en-US" altLang="zh-CN"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j</a:t>
            </a:r>
            <a:r>
              <a:rPr lang="en-US" altLang="zh-CN" sz="2400" b="1" dirty="0">
                <a:latin typeface="Times New Roman" panose="02020603050405020304" pitchFamily="18" charset="0"/>
                <a:cs typeface="Times New Roman" panose="02020603050405020304" pitchFamily="18" charset="0"/>
              </a:rPr>
              <a:t>  </a:t>
            </a:r>
            <a:endParaRPr lang="zh-CN" altLang="en-US" sz="2400" b="1" dirty="0">
              <a:latin typeface="Times New Roman" panose="02020603050405020304" pitchFamily="18" charset="0"/>
              <a:cs typeface="Times New Roman" panose="02020603050405020304" pitchFamily="18" charset="0"/>
            </a:endParaRPr>
          </a:p>
          <a:p>
            <a:pPr eaLnBrk="1" hangingPunct="1">
              <a:spcBef>
                <a:spcPct val="0"/>
              </a:spcBef>
              <a:buFontTx/>
              <a:buNone/>
            </a:pPr>
            <a:r>
              <a:rPr lang="en-US" altLang="zh-CN" sz="2400" b="1" dirty="0">
                <a:latin typeface="Times New Roman" panose="02020603050405020304" pitchFamily="18" charset="0"/>
                <a:cs typeface="Times New Roman" panose="02020603050405020304" pitchFamily="18" charset="0"/>
              </a:rPr>
              <a:t>5.               else </a:t>
            </a:r>
            <a:r>
              <a:rPr lang="en-US" altLang="zh-CN" sz="2400" b="1" i="1" dirty="0">
                <a:latin typeface="Times New Roman" panose="02020603050405020304" pitchFamily="18" charset="0"/>
                <a:cs typeface="Times New Roman" panose="02020603050405020304" pitchFamily="18" charset="0"/>
              </a:rPr>
              <a:t>d</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j</a:t>
            </a:r>
            <a:r>
              <a:rPr lang="en-US" altLang="zh-CN"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h</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j</a:t>
            </a:r>
            <a:r>
              <a:rPr lang="en-US" altLang="zh-CN"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0    //</a:t>
            </a:r>
            <a:r>
              <a:rPr lang="en-US" altLang="zh-CN" sz="2400" b="1" i="1" dirty="0">
                <a:latin typeface="Times New Roman" panose="02020603050405020304" pitchFamily="18" charset="0"/>
                <a:cs typeface="Times New Roman" panose="02020603050405020304" pitchFamily="18" charset="0"/>
              </a:rPr>
              <a:t> h</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j</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表示 </a:t>
            </a:r>
            <a:r>
              <a:rPr lang="en-US" altLang="zh-CN" sz="2400" b="1" i="1" dirty="0" err="1">
                <a:latin typeface="Times New Roman" panose="02020603050405020304" pitchFamily="18" charset="0"/>
                <a:cs typeface="Times New Roman" panose="02020603050405020304" pitchFamily="18" charset="0"/>
              </a:rPr>
              <a:t>i</a:t>
            </a:r>
            <a:r>
              <a:rPr lang="en-US" altLang="zh-CN" sz="2400" b="1" i="1"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到 </a:t>
            </a:r>
            <a:r>
              <a:rPr lang="en-US" altLang="zh-CN" sz="2400" b="1" i="1" dirty="0">
                <a:latin typeface="Times New Roman" panose="02020603050405020304" pitchFamily="18" charset="0"/>
                <a:cs typeface="Times New Roman" panose="02020603050405020304" pitchFamily="18" charset="0"/>
              </a:rPr>
              <a:t>j</a:t>
            </a:r>
            <a:r>
              <a:rPr lang="zh-CN" altLang="en-US" sz="2400" b="1" dirty="0">
                <a:latin typeface="Times New Roman" panose="02020603050405020304" pitchFamily="18" charset="0"/>
                <a:cs typeface="Times New Roman" panose="02020603050405020304" pitchFamily="18" charset="0"/>
              </a:rPr>
              <a:t>不连通</a:t>
            </a:r>
            <a:endParaRPr lang="zh-CN" altLang="en-US" sz="2400" b="1" dirty="0">
              <a:latin typeface="Times New Roman" panose="02020603050405020304" pitchFamily="18" charset="0"/>
              <a:cs typeface="Times New Roman" panose="02020603050405020304" pitchFamily="18" charset="0"/>
            </a:endParaRPr>
          </a:p>
          <a:p>
            <a:pPr eaLnBrk="1" hangingPunct="1">
              <a:spcBef>
                <a:spcPct val="0"/>
              </a:spcBef>
              <a:buFontTx/>
              <a:buNone/>
            </a:pPr>
            <a:r>
              <a:rPr lang="en-US" altLang="zh-CN" sz="2400" b="1" dirty="0">
                <a:latin typeface="Times New Roman" panose="02020603050405020304" pitchFamily="18" charset="0"/>
                <a:cs typeface="Times New Roman" panose="02020603050405020304" pitchFamily="18" charset="0"/>
              </a:rPr>
              <a:t>6.  for </a:t>
            </a:r>
            <a:r>
              <a:rPr lang="en-US" altLang="zh-CN" sz="2400" b="1" i="1" dirty="0">
                <a:latin typeface="Times New Roman" panose="02020603050405020304" pitchFamily="18" charset="0"/>
                <a:cs typeface="Times New Roman" panose="02020603050405020304" pitchFamily="18" charset="0"/>
              </a:rPr>
              <a:t>k</a:t>
            </a:r>
            <a:r>
              <a:rPr lang="en-US" altLang="zh-CN" sz="2400" b="1" dirty="0">
                <a:latin typeface="Times New Roman" panose="02020603050405020304" pitchFamily="18" charset="0"/>
                <a:cs typeface="Times New Roman" panose="02020603050405020304" pitchFamily="18" charset="0"/>
              </a:rPr>
              <a:t>=1 to </a:t>
            </a:r>
            <a:r>
              <a:rPr lang="en-US" altLang="zh-CN" sz="2400" b="1" i="1" dirty="0">
                <a:latin typeface="Times New Roman" panose="02020603050405020304" pitchFamily="18" charset="0"/>
                <a:cs typeface="Times New Roman" panose="02020603050405020304" pitchFamily="18" charset="0"/>
              </a:rPr>
              <a:t>n</a:t>
            </a:r>
            <a:r>
              <a:rPr lang="en-US" altLang="zh-CN" sz="2400" b="1" dirty="0">
                <a:latin typeface="Times New Roman" panose="02020603050405020304" pitchFamily="18" charset="0"/>
                <a:cs typeface="Times New Roman" panose="02020603050405020304" pitchFamily="18" charset="0"/>
              </a:rPr>
              <a:t> do</a:t>
            </a:r>
            <a:endParaRPr lang="zh-CN" altLang="en-US" sz="2400" b="1" dirty="0">
              <a:latin typeface="Times New Roman" panose="02020603050405020304" pitchFamily="18" charset="0"/>
              <a:cs typeface="Times New Roman" panose="02020603050405020304" pitchFamily="18" charset="0"/>
            </a:endParaRPr>
          </a:p>
          <a:p>
            <a:pPr eaLnBrk="1" hangingPunct="1">
              <a:spcBef>
                <a:spcPct val="0"/>
              </a:spcBef>
              <a:buFontTx/>
              <a:buNone/>
            </a:pPr>
            <a:r>
              <a:rPr lang="en-US" altLang="zh-CN" sz="2400" b="1" dirty="0">
                <a:latin typeface="Times New Roman" panose="02020603050405020304" pitchFamily="18" charset="0"/>
                <a:cs typeface="Times New Roman" panose="02020603050405020304" pitchFamily="18" charset="0"/>
              </a:rPr>
              <a:t>7.     for </a:t>
            </a:r>
            <a:r>
              <a:rPr lang="en-US" altLang="zh-CN" sz="2400" b="1" i="1" dirty="0" err="1">
                <a:latin typeface="Times New Roman" panose="02020603050405020304" pitchFamily="18" charset="0"/>
                <a:cs typeface="Times New Roman" panose="02020603050405020304" pitchFamily="18" charset="0"/>
              </a:rPr>
              <a:t>i</a:t>
            </a:r>
            <a:r>
              <a:rPr lang="en-US" altLang="zh-CN" sz="2400" b="1" dirty="0">
                <a:latin typeface="Times New Roman" panose="02020603050405020304" pitchFamily="18" charset="0"/>
                <a:cs typeface="Times New Roman" panose="02020603050405020304" pitchFamily="18" charset="0"/>
              </a:rPr>
              <a:t>=1 to </a:t>
            </a:r>
            <a:r>
              <a:rPr lang="en-US" altLang="zh-CN" sz="2400" b="1" i="1" dirty="0">
                <a:latin typeface="Times New Roman" panose="02020603050405020304" pitchFamily="18" charset="0"/>
                <a:cs typeface="Times New Roman" panose="02020603050405020304" pitchFamily="18" charset="0"/>
              </a:rPr>
              <a:t>n</a:t>
            </a:r>
            <a:r>
              <a:rPr lang="en-US" altLang="zh-CN"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 </a:t>
            </a:r>
            <a:r>
              <a:rPr lang="en-US" altLang="zh-CN" sz="2400" b="1" i="1" dirty="0" err="1">
                <a:latin typeface="Times New Roman" panose="02020603050405020304" pitchFamily="18" charset="0"/>
                <a:cs typeface="Times New Roman" panose="02020603050405020304" pitchFamily="18" charset="0"/>
              </a:rPr>
              <a:t>i</a:t>
            </a:r>
            <a:r>
              <a:rPr lang="en-US" altLang="zh-CN"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k</a:t>
            </a:r>
            <a:r>
              <a:rPr lang="en-US" altLang="zh-CN" sz="2400" b="1" dirty="0">
                <a:latin typeface="Times New Roman" panose="02020603050405020304" pitchFamily="18" charset="0"/>
                <a:cs typeface="Times New Roman" panose="02020603050405020304" pitchFamily="18" charset="0"/>
              </a:rPr>
              <a:t> do</a:t>
            </a:r>
            <a:endParaRPr lang="zh-CN" altLang="en-US" sz="2400" b="1" dirty="0">
              <a:latin typeface="Times New Roman" panose="02020603050405020304" pitchFamily="18" charset="0"/>
              <a:cs typeface="Times New Roman" panose="02020603050405020304" pitchFamily="18" charset="0"/>
            </a:endParaRPr>
          </a:p>
          <a:p>
            <a:pPr eaLnBrk="1" hangingPunct="1">
              <a:spcBef>
                <a:spcPct val="0"/>
              </a:spcBef>
              <a:buFontTx/>
              <a:buNone/>
            </a:pPr>
            <a:r>
              <a:rPr lang="en-US" altLang="zh-CN" sz="2400" b="1" dirty="0">
                <a:latin typeface="Times New Roman" panose="02020603050405020304" pitchFamily="18" charset="0"/>
                <a:cs typeface="Times New Roman" panose="02020603050405020304" pitchFamily="18" charset="0"/>
              </a:rPr>
              <a:t>8.         for </a:t>
            </a:r>
            <a:r>
              <a:rPr lang="en-US" altLang="zh-CN" sz="2400" b="1" i="1" dirty="0">
                <a:latin typeface="Times New Roman" panose="02020603050405020304" pitchFamily="18" charset="0"/>
                <a:cs typeface="Times New Roman" panose="02020603050405020304" pitchFamily="18" charset="0"/>
              </a:rPr>
              <a:t>j</a:t>
            </a:r>
            <a:r>
              <a:rPr lang="en-US" altLang="zh-CN" sz="2400" b="1" dirty="0">
                <a:latin typeface="Times New Roman" panose="02020603050405020304" pitchFamily="18" charset="0"/>
                <a:cs typeface="Times New Roman" panose="02020603050405020304" pitchFamily="18" charset="0"/>
              </a:rPr>
              <a:t>=1 to </a:t>
            </a:r>
            <a:r>
              <a:rPr lang="en-US" altLang="zh-CN" sz="2400" b="1" i="1" dirty="0">
                <a:latin typeface="Times New Roman" panose="02020603050405020304" pitchFamily="18" charset="0"/>
                <a:cs typeface="Times New Roman" panose="02020603050405020304" pitchFamily="18" charset="0"/>
              </a:rPr>
              <a:t>n</a:t>
            </a:r>
            <a:r>
              <a:rPr lang="en-US" altLang="zh-CN"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 </a:t>
            </a:r>
            <a:r>
              <a:rPr lang="en-US" altLang="zh-CN" sz="2400" b="1" i="1" dirty="0" err="1">
                <a:latin typeface="Times New Roman" panose="02020603050405020304" pitchFamily="18" charset="0"/>
                <a:cs typeface="Times New Roman" panose="02020603050405020304" pitchFamily="18" charset="0"/>
              </a:rPr>
              <a:t>j</a:t>
            </a:r>
            <a:r>
              <a:rPr lang="en-US" altLang="zh-CN"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k</a:t>
            </a:r>
            <a:r>
              <a:rPr lang="en-US" altLang="zh-CN" sz="2400" b="1" dirty="0">
                <a:latin typeface="Times New Roman" panose="02020603050405020304" pitchFamily="18" charset="0"/>
                <a:cs typeface="Times New Roman" panose="02020603050405020304" pitchFamily="18" charset="0"/>
              </a:rPr>
              <a:t> do</a:t>
            </a:r>
            <a:endParaRPr lang="zh-CN" altLang="en-US" sz="2400" b="1" dirty="0">
              <a:latin typeface="Times New Roman" panose="02020603050405020304" pitchFamily="18" charset="0"/>
              <a:cs typeface="Times New Roman" panose="02020603050405020304" pitchFamily="18" charset="0"/>
            </a:endParaRPr>
          </a:p>
          <a:p>
            <a:pPr eaLnBrk="1" hangingPunct="1">
              <a:spcBef>
                <a:spcPct val="0"/>
              </a:spcBef>
              <a:buFontTx/>
              <a:buNone/>
            </a:pPr>
            <a:r>
              <a:rPr lang="en-US" altLang="zh-CN" sz="2400" b="1" dirty="0">
                <a:latin typeface="Times New Roman" panose="02020603050405020304" pitchFamily="18" charset="0"/>
                <a:cs typeface="Times New Roman" panose="02020603050405020304" pitchFamily="18" charset="0"/>
              </a:rPr>
              <a:t>9.              if </a:t>
            </a:r>
            <a:r>
              <a:rPr lang="en-US" altLang="zh-CN" sz="2400" b="1" i="1" dirty="0">
                <a:latin typeface="Times New Roman" panose="02020603050405020304" pitchFamily="18" charset="0"/>
                <a:cs typeface="Times New Roman" panose="02020603050405020304" pitchFamily="18" charset="0"/>
              </a:rPr>
              <a:t>d</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j</a:t>
            </a:r>
            <a:r>
              <a:rPr lang="en-US" altLang="zh-CN" sz="2400" b="1" dirty="0">
                <a:latin typeface="Times New Roman" panose="02020603050405020304" pitchFamily="18" charset="0"/>
                <a:cs typeface="Times New Roman" panose="02020603050405020304" pitchFamily="18" charset="0"/>
              </a:rPr>
              <a:t>)&gt;</a:t>
            </a:r>
            <a:r>
              <a:rPr lang="en-US" altLang="zh-CN" sz="2400" b="1" i="1" dirty="0">
                <a:latin typeface="Times New Roman" panose="02020603050405020304" pitchFamily="18" charset="0"/>
                <a:cs typeface="Times New Roman" panose="02020603050405020304" pitchFamily="18" charset="0"/>
              </a:rPr>
              <a:t>d</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k</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d</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k</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j</a:t>
            </a:r>
            <a:r>
              <a:rPr lang="en-US" altLang="zh-CN" sz="2400" b="1" dirty="0">
                <a:latin typeface="Times New Roman" panose="02020603050405020304" pitchFamily="18" charset="0"/>
                <a:cs typeface="Times New Roman" panose="02020603050405020304" pitchFamily="18" charset="0"/>
              </a:rPr>
              <a:t>) then </a:t>
            </a:r>
            <a:endParaRPr lang="zh-CN" altLang="en-US" sz="2400" b="1" dirty="0">
              <a:latin typeface="Times New Roman" panose="02020603050405020304" pitchFamily="18" charset="0"/>
              <a:cs typeface="Times New Roman" panose="02020603050405020304" pitchFamily="18" charset="0"/>
            </a:endParaRPr>
          </a:p>
          <a:p>
            <a:pPr eaLnBrk="1" hangingPunct="1">
              <a:spcBef>
                <a:spcPct val="0"/>
              </a:spcBef>
              <a:buFontTx/>
              <a:buNone/>
            </a:pPr>
            <a:r>
              <a:rPr lang="en-US" altLang="zh-CN" sz="2400" b="1" dirty="0">
                <a:latin typeface="Times New Roman" panose="02020603050405020304" pitchFamily="18" charset="0"/>
                <a:cs typeface="Times New Roman" panose="02020603050405020304" pitchFamily="18" charset="0"/>
              </a:rPr>
              <a:t>10.                  </a:t>
            </a:r>
            <a:r>
              <a:rPr lang="en-US" altLang="zh-CN" sz="2400" b="1" i="1" dirty="0">
                <a:latin typeface="Times New Roman" panose="02020603050405020304" pitchFamily="18" charset="0"/>
                <a:cs typeface="Times New Roman" panose="02020603050405020304" pitchFamily="18" charset="0"/>
              </a:rPr>
              <a:t>d</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j</a:t>
            </a:r>
            <a:r>
              <a:rPr lang="en-US" altLang="zh-CN"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d</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k</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d</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k</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j</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h</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j</a:t>
            </a:r>
            <a:r>
              <a:rPr lang="en-US" altLang="zh-CN"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h</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k</a:t>
            </a:r>
            <a:r>
              <a:rPr lang="en-US" altLang="zh-CN" sz="2400" b="1" dirty="0">
                <a:latin typeface="Times New Roman" panose="02020603050405020304" pitchFamily="18" charset="0"/>
                <a:cs typeface="Times New Roman" panose="02020603050405020304" pitchFamily="18" charset="0"/>
              </a:rPr>
              <a:t>)</a:t>
            </a:r>
            <a:endParaRPr lang="zh-CN" altLang="en-US" sz="2400" b="1" dirty="0">
              <a:latin typeface="Times New Roman" panose="02020603050405020304" pitchFamily="18" charset="0"/>
              <a:cs typeface="Times New Roman" panose="02020603050405020304" pitchFamily="18" charset="0"/>
            </a:endParaRPr>
          </a:p>
          <a:p>
            <a:pPr eaLnBrk="1" hangingPunct="1">
              <a:spcBef>
                <a:spcPct val="0"/>
              </a:spcBef>
              <a:buFontTx/>
              <a:buNone/>
            </a:pPr>
            <a:r>
              <a:rPr lang="en-US" altLang="zh-CN" sz="2400" b="1" dirty="0">
                <a:latin typeface="Times New Roman" panose="02020603050405020304" pitchFamily="18" charset="0"/>
                <a:cs typeface="Times New Roman" panose="02020603050405020304" pitchFamily="18" charset="0"/>
              </a:rPr>
              <a:t>11.       if </a:t>
            </a:r>
            <a:r>
              <a:rPr lang="en-US" altLang="zh-CN" sz="2400" b="1" i="1" dirty="0">
                <a:latin typeface="Times New Roman" panose="02020603050405020304" pitchFamily="18" charset="0"/>
                <a:cs typeface="Times New Roman" panose="02020603050405020304" pitchFamily="18" charset="0"/>
              </a:rPr>
              <a:t>d</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a:latin typeface="Times New Roman" panose="02020603050405020304" pitchFamily="18" charset="0"/>
                <a:cs typeface="Times New Roman" panose="02020603050405020304" pitchFamily="18" charset="0"/>
              </a:rPr>
              <a:t>)&lt;0 then return</a:t>
            </a:r>
            <a:r>
              <a:rPr lang="zh-CN" altLang="en-US" sz="2400" b="1" dirty="0">
                <a:latin typeface="Times New Roman" panose="02020603050405020304" pitchFamily="18" charset="0"/>
                <a:cs typeface="Times New Roman" panose="02020603050405020304" pitchFamily="18" charset="0"/>
              </a:rPr>
              <a:t>“存在负回路”</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d</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h</a:t>
            </a:r>
            <a:endParaRPr lang="zh-CN" altLang="en-US" sz="2400" b="1" dirty="0">
              <a:latin typeface="Times New Roman" panose="02020603050405020304" pitchFamily="18" charset="0"/>
              <a:cs typeface="Times New Roman" panose="02020603050405020304" pitchFamily="18" charset="0"/>
            </a:endParaRPr>
          </a:p>
          <a:p>
            <a:pPr eaLnBrk="1" hangingPunct="1">
              <a:spcBef>
                <a:spcPct val="0"/>
              </a:spcBef>
              <a:buFontTx/>
              <a:buNone/>
            </a:pPr>
            <a:r>
              <a:rPr lang="en-US" altLang="zh-CN" sz="2400" b="1" dirty="0">
                <a:latin typeface="Times New Roman" panose="02020603050405020304" pitchFamily="18" charset="0"/>
                <a:cs typeface="Times New Roman" panose="02020603050405020304" pitchFamily="18" charset="0"/>
              </a:rPr>
              <a:t>12. return </a:t>
            </a:r>
            <a:r>
              <a:rPr lang="en-US" altLang="zh-CN" sz="2400" b="1" i="1" dirty="0">
                <a:latin typeface="Times New Roman" panose="02020603050405020304" pitchFamily="18" charset="0"/>
                <a:cs typeface="Times New Roman" panose="02020603050405020304" pitchFamily="18" charset="0"/>
              </a:rPr>
              <a:t>d</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h</a:t>
            </a:r>
            <a:endParaRPr lang="zh-CN" altLang="en-US" sz="2400" b="1" dirty="0">
              <a:latin typeface="Times New Roman" panose="02020603050405020304" pitchFamily="18" charset="0"/>
              <a:cs typeface="Times New Roman" panose="02020603050405020304" pitchFamily="18" charset="0"/>
            </a:endParaRPr>
          </a:p>
        </p:txBody>
      </p:sp>
      <p:sp>
        <p:nvSpPr>
          <p:cNvPr id="46084"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CB1B5722-D4A2-43C8-B80C-250B4DD77105}"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a:xfrm>
            <a:off x="880912" y="881254"/>
            <a:ext cx="3697931" cy="582612"/>
          </a:xfrm>
        </p:spPr>
        <p:txBody>
          <a:bodyPr/>
          <a:lstStyle/>
          <a:p>
            <a:pPr algn="l"/>
            <a:r>
              <a:rPr lang="zh-CN" altLang="en-US" sz="4000" b="1" dirty="0" smtClean="0">
                <a:solidFill>
                  <a:srgbClr val="C00000"/>
                </a:solidFill>
                <a:latin typeface="Times New Roman" panose="02020603050405020304" pitchFamily="18" charset="0"/>
                <a:cs typeface="Times New Roman" panose="02020603050405020304" pitchFamily="18" charset="0"/>
              </a:rPr>
              <a:t>例</a:t>
            </a:r>
            <a:r>
              <a:rPr lang="en-US" altLang="zh-CN" sz="4000" b="1" dirty="0" smtClean="0">
                <a:solidFill>
                  <a:srgbClr val="C00000"/>
                </a:solidFill>
                <a:latin typeface="Times New Roman" panose="02020603050405020304" pitchFamily="18" charset="0"/>
                <a:cs typeface="Times New Roman" panose="02020603050405020304" pitchFamily="18" charset="0"/>
              </a:rPr>
              <a:t>7.3 </a:t>
            </a:r>
            <a:r>
              <a:rPr lang="zh-CN" altLang="en-US" sz="4000" b="1" dirty="0" smtClean="0">
                <a:solidFill>
                  <a:srgbClr val="C00000"/>
                </a:solidFill>
                <a:latin typeface="Times New Roman" panose="02020603050405020304" pitchFamily="18" charset="0"/>
                <a:cs typeface="Times New Roman" panose="02020603050405020304" pitchFamily="18" charset="0"/>
              </a:rPr>
              <a:t>最短路径</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
        <p:nvSpPr>
          <p:cNvPr id="4710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70ACE9A-2E1B-4DB6-8038-DB5559109F4D}" type="slidenum">
              <a:rPr lang="zh-CN" altLang="en-US" sz="1200" smtClean="0">
                <a:solidFill>
                  <a:srgbClr val="898989"/>
                </a:solidFill>
              </a:rPr>
            </a:fld>
            <a:endParaRPr lang="zh-CN" altLang="en-US" sz="1200" smtClean="0">
              <a:solidFill>
                <a:srgbClr val="898989"/>
              </a:solidFill>
            </a:endParaRPr>
          </a:p>
        </p:txBody>
      </p:sp>
      <p:grpSp>
        <p:nvGrpSpPr>
          <p:cNvPr id="47108" name="组合 42"/>
          <p:cNvGrpSpPr/>
          <p:nvPr/>
        </p:nvGrpSpPr>
        <p:grpSpPr bwMode="auto">
          <a:xfrm>
            <a:off x="5117172" y="308782"/>
            <a:ext cx="3215259" cy="1924074"/>
            <a:chOff x="5286380" y="1137056"/>
            <a:chExt cx="2357454" cy="1440616"/>
          </a:xfrm>
        </p:grpSpPr>
        <p:sp>
          <p:nvSpPr>
            <p:cNvPr id="47115" name="Oval 7"/>
            <p:cNvSpPr>
              <a:spLocks noChangeArrowheads="1"/>
            </p:cNvSpPr>
            <p:nvPr/>
          </p:nvSpPr>
          <p:spPr bwMode="auto">
            <a:xfrm>
              <a:off x="5688229" y="1299726"/>
              <a:ext cx="215424" cy="206376"/>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47116" name="Oval 10"/>
            <p:cNvSpPr>
              <a:spLocks noChangeArrowheads="1"/>
            </p:cNvSpPr>
            <p:nvPr/>
          </p:nvSpPr>
          <p:spPr bwMode="auto">
            <a:xfrm>
              <a:off x="5678731" y="2146131"/>
              <a:ext cx="215424" cy="206376"/>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47117" name="Text Box 11"/>
            <p:cNvSpPr txBox="1">
              <a:spLocks noChangeArrowheads="1"/>
            </p:cNvSpPr>
            <p:nvPr/>
          </p:nvSpPr>
          <p:spPr bwMode="auto">
            <a:xfrm>
              <a:off x="5562634" y="2083434"/>
              <a:ext cx="461807" cy="412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48000"/>
                </a:lnSpc>
                <a:spcBef>
                  <a:spcPct val="0"/>
                </a:spcBef>
                <a:buFontTx/>
                <a:buNone/>
              </a:pPr>
              <a:r>
                <a:rPr lang="en-US" altLang="zh-CN" sz="700">
                  <a:latin typeface="Times New Roman" panose="02020603050405020304" pitchFamily="18" charset="0"/>
                </a:rPr>
                <a:t>2</a:t>
              </a:r>
              <a:endParaRPr lang="zh-CN" altLang="zh-CN" sz="1800">
                <a:latin typeface="Arial" panose="020B0604020202020204" pitchFamily="34" charset="0"/>
              </a:endParaRPr>
            </a:p>
          </p:txBody>
        </p:sp>
        <p:sp>
          <p:nvSpPr>
            <p:cNvPr id="47118" name="Oval 13"/>
            <p:cNvSpPr>
              <a:spLocks noChangeArrowheads="1"/>
            </p:cNvSpPr>
            <p:nvPr/>
          </p:nvSpPr>
          <p:spPr bwMode="auto">
            <a:xfrm>
              <a:off x="6999653" y="1310175"/>
              <a:ext cx="215424" cy="206376"/>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47119" name="Oval 16"/>
            <p:cNvSpPr>
              <a:spLocks noChangeArrowheads="1"/>
            </p:cNvSpPr>
            <p:nvPr/>
          </p:nvSpPr>
          <p:spPr bwMode="auto">
            <a:xfrm>
              <a:off x="6999653" y="2146131"/>
              <a:ext cx="215424" cy="206376"/>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47120" name="AutoShape 18"/>
            <p:cNvCxnSpPr>
              <a:cxnSpLocks noChangeShapeType="1"/>
            </p:cNvCxnSpPr>
            <p:nvPr/>
          </p:nvCxnSpPr>
          <p:spPr bwMode="auto">
            <a:xfrm flipV="1">
              <a:off x="5787088" y="1506102"/>
              <a:ext cx="0" cy="64002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47121" name="AutoShape 19"/>
            <p:cNvCxnSpPr>
              <a:cxnSpLocks noChangeShapeType="1"/>
            </p:cNvCxnSpPr>
            <p:nvPr/>
          </p:nvCxnSpPr>
          <p:spPr bwMode="auto">
            <a:xfrm flipV="1">
              <a:off x="7106719" y="1516551"/>
              <a:ext cx="11610" cy="62957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47122" name="AutoShape 20"/>
            <p:cNvCxnSpPr>
              <a:cxnSpLocks noChangeShapeType="1"/>
            </p:cNvCxnSpPr>
            <p:nvPr/>
          </p:nvCxnSpPr>
          <p:spPr bwMode="auto">
            <a:xfrm flipH="1" flipV="1">
              <a:off x="5894155" y="1408139"/>
              <a:ext cx="1105498" cy="10449"/>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47123" name="AutoShape 21"/>
            <p:cNvCxnSpPr>
              <a:cxnSpLocks noChangeShapeType="1"/>
            </p:cNvCxnSpPr>
            <p:nvPr/>
          </p:nvCxnSpPr>
          <p:spPr bwMode="auto">
            <a:xfrm>
              <a:off x="5894155" y="2267605"/>
              <a:ext cx="1105498" cy="0"/>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sp>
          <p:nvSpPr>
            <p:cNvPr id="47124" name="Freeform 22"/>
            <p:cNvSpPr/>
            <p:nvPr/>
          </p:nvSpPr>
          <p:spPr bwMode="auto">
            <a:xfrm>
              <a:off x="5562634" y="1506102"/>
              <a:ext cx="116097" cy="640028"/>
            </a:xfrm>
            <a:custGeom>
              <a:avLst/>
              <a:gdLst>
                <a:gd name="T0" fmla="*/ 2147483646 w 90"/>
                <a:gd name="T1" fmla="*/ 0 h 490"/>
                <a:gd name="T2" fmla="*/ 0 w 90"/>
                <a:gd name="T3" fmla="*/ 2147483646 h 490"/>
                <a:gd name="T4" fmla="*/ 2147483646 w 90"/>
                <a:gd name="T5" fmla="*/ 2147483646 h 490"/>
                <a:gd name="T6" fmla="*/ 0 60000 65536"/>
                <a:gd name="T7" fmla="*/ 0 60000 65536"/>
                <a:gd name="T8" fmla="*/ 0 60000 65536"/>
                <a:gd name="T9" fmla="*/ 0 w 90"/>
                <a:gd name="T10" fmla="*/ 0 h 490"/>
                <a:gd name="T11" fmla="*/ 90 w 90"/>
                <a:gd name="T12" fmla="*/ 490 h 490"/>
              </a:gdLst>
              <a:ahLst/>
              <a:cxnLst>
                <a:cxn ang="T6">
                  <a:pos x="T0" y="T1"/>
                </a:cxn>
                <a:cxn ang="T7">
                  <a:pos x="T2" y="T3"/>
                </a:cxn>
                <a:cxn ang="T8">
                  <a:pos x="T4" y="T5"/>
                </a:cxn>
              </a:cxnLst>
              <a:rect l="T9" t="T10" r="T11" b="T12"/>
              <a:pathLst>
                <a:path w="90" h="490">
                  <a:moveTo>
                    <a:pt x="90" y="0"/>
                  </a:moveTo>
                  <a:cubicBezTo>
                    <a:pt x="45" y="88"/>
                    <a:pt x="0" y="176"/>
                    <a:pt x="0" y="258"/>
                  </a:cubicBezTo>
                  <a:cubicBezTo>
                    <a:pt x="0" y="340"/>
                    <a:pt x="75" y="451"/>
                    <a:pt x="90" y="490"/>
                  </a:cubicBezTo>
                </a:path>
              </a:pathLst>
            </a:custGeom>
            <a:noFill/>
            <a:ln w="3175">
              <a:solidFill>
                <a:srgbClr val="000000"/>
              </a:solidFill>
              <a:rou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125" name="Freeform 23"/>
            <p:cNvSpPr/>
            <p:nvPr/>
          </p:nvSpPr>
          <p:spPr bwMode="auto">
            <a:xfrm>
              <a:off x="5894155" y="1506102"/>
              <a:ext cx="1105498" cy="640028"/>
            </a:xfrm>
            <a:custGeom>
              <a:avLst/>
              <a:gdLst>
                <a:gd name="T0" fmla="*/ 0 w 857"/>
                <a:gd name="T1" fmla="*/ 0 h 490"/>
                <a:gd name="T2" fmla="*/ 2147483646 w 857"/>
                <a:gd name="T3" fmla="*/ 2147483646 h 490"/>
                <a:gd name="T4" fmla="*/ 2147483646 w 857"/>
                <a:gd name="T5" fmla="*/ 2147483646 h 490"/>
                <a:gd name="T6" fmla="*/ 0 60000 65536"/>
                <a:gd name="T7" fmla="*/ 0 60000 65536"/>
                <a:gd name="T8" fmla="*/ 0 60000 65536"/>
                <a:gd name="T9" fmla="*/ 0 w 857"/>
                <a:gd name="T10" fmla="*/ 0 h 490"/>
                <a:gd name="T11" fmla="*/ 857 w 857"/>
                <a:gd name="T12" fmla="*/ 490 h 490"/>
              </a:gdLst>
              <a:ahLst/>
              <a:cxnLst>
                <a:cxn ang="T6">
                  <a:pos x="T0" y="T1"/>
                </a:cxn>
                <a:cxn ang="T7">
                  <a:pos x="T2" y="T3"/>
                </a:cxn>
                <a:cxn ang="T8">
                  <a:pos x="T4" y="T5"/>
                </a:cxn>
              </a:cxnLst>
              <a:rect l="T9" t="T10" r="T11" b="T12"/>
              <a:pathLst>
                <a:path w="857" h="490">
                  <a:moveTo>
                    <a:pt x="0" y="0"/>
                  </a:moveTo>
                  <a:cubicBezTo>
                    <a:pt x="120" y="46"/>
                    <a:pt x="240" y="93"/>
                    <a:pt x="383" y="175"/>
                  </a:cubicBezTo>
                  <a:cubicBezTo>
                    <a:pt x="526" y="257"/>
                    <a:pt x="778" y="437"/>
                    <a:pt x="857" y="490"/>
                  </a:cubicBezTo>
                </a:path>
              </a:pathLst>
            </a:custGeom>
            <a:noFill/>
            <a:ln w="3175">
              <a:solidFill>
                <a:srgbClr val="000000"/>
              </a:solidFill>
              <a:rou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126" name="Freeform 24"/>
            <p:cNvSpPr/>
            <p:nvPr/>
          </p:nvSpPr>
          <p:spPr bwMode="auto">
            <a:xfrm>
              <a:off x="5894155" y="1516551"/>
              <a:ext cx="1105498" cy="696194"/>
            </a:xfrm>
            <a:custGeom>
              <a:avLst/>
              <a:gdLst>
                <a:gd name="T0" fmla="*/ 2147483646 w 857"/>
                <a:gd name="T1" fmla="*/ 2147483646 h 533"/>
                <a:gd name="T2" fmla="*/ 2147483646 w 857"/>
                <a:gd name="T3" fmla="*/ 2147483646 h 533"/>
                <a:gd name="T4" fmla="*/ 0 w 857"/>
                <a:gd name="T5" fmla="*/ 0 h 533"/>
                <a:gd name="T6" fmla="*/ 0 60000 65536"/>
                <a:gd name="T7" fmla="*/ 0 60000 65536"/>
                <a:gd name="T8" fmla="*/ 0 60000 65536"/>
                <a:gd name="T9" fmla="*/ 0 w 857"/>
                <a:gd name="T10" fmla="*/ 0 h 533"/>
                <a:gd name="T11" fmla="*/ 857 w 857"/>
                <a:gd name="T12" fmla="*/ 533 h 533"/>
              </a:gdLst>
              <a:ahLst/>
              <a:cxnLst>
                <a:cxn ang="T6">
                  <a:pos x="T0" y="T1"/>
                </a:cxn>
                <a:cxn ang="T7">
                  <a:pos x="T2" y="T3"/>
                </a:cxn>
                <a:cxn ang="T8">
                  <a:pos x="T4" y="T5"/>
                </a:cxn>
              </a:cxnLst>
              <a:rect l="T9" t="T10" r="T11" b="T12"/>
              <a:pathLst>
                <a:path w="857" h="533">
                  <a:moveTo>
                    <a:pt x="857" y="533"/>
                  </a:moveTo>
                  <a:cubicBezTo>
                    <a:pt x="654" y="465"/>
                    <a:pt x="451" y="397"/>
                    <a:pt x="308" y="308"/>
                  </a:cubicBezTo>
                  <a:cubicBezTo>
                    <a:pt x="165" y="219"/>
                    <a:pt x="51" y="51"/>
                    <a:pt x="0" y="0"/>
                  </a:cubicBezTo>
                </a:path>
              </a:pathLst>
            </a:custGeom>
            <a:noFill/>
            <a:ln w="3175">
              <a:solidFill>
                <a:srgbClr val="000000"/>
              </a:solidFill>
              <a:rou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127" name="Text Box 25"/>
            <p:cNvSpPr txBox="1">
              <a:spLocks noChangeArrowheads="1"/>
            </p:cNvSpPr>
            <p:nvPr/>
          </p:nvSpPr>
          <p:spPr bwMode="auto">
            <a:xfrm>
              <a:off x="6286512" y="1137056"/>
              <a:ext cx="461807" cy="363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800" b="1" dirty="0">
                  <a:latin typeface="Times New Roman" panose="02020603050405020304" pitchFamily="18" charset="0"/>
                </a:rPr>
                <a:t>4</a:t>
              </a:r>
              <a:endParaRPr lang="zh-CN" altLang="zh-CN" sz="1800" b="1" dirty="0">
                <a:latin typeface="Arial" panose="020B0604020202020204" pitchFamily="34" charset="0"/>
              </a:endParaRPr>
            </a:p>
          </p:txBody>
        </p:sp>
        <p:sp>
          <p:nvSpPr>
            <p:cNvPr id="47128" name="Text Box 25"/>
            <p:cNvSpPr txBox="1">
              <a:spLocks noChangeArrowheads="1"/>
            </p:cNvSpPr>
            <p:nvPr/>
          </p:nvSpPr>
          <p:spPr bwMode="auto">
            <a:xfrm>
              <a:off x="5703715" y="1279932"/>
              <a:ext cx="461807" cy="363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a:t>
              </a:r>
              <a:endParaRPr lang="zh-CN" altLang="zh-CN" sz="1400" b="1">
                <a:latin typeface="Arial" panose="020B0604020202020204" pitchFamily="34" charset="0"/>
              </a:endParaRPr>
            </a:p>
          </p:txBody>
        </p:sp>
        <p:sp>
          <p:nvSpPr>
            <p:cNvPr id="47129" name="Text Box 25"/>
            <p:cNvSpPr txBox="1">
              <a:spLocks noChangeArrowheads="1"/>
            </p:cNvSpPr>
            <p:nvPr/>
          </p:nvSpPr>
          <p:spPr bwMode="auto">
            <a:xfrm>
              <a:off x="5703715" y="2137188"/>
              <a:ext cx="461807" cy="363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dirty="0">
                  <a:latin typeface="Times New Roman" panose="02020603050405020304" pitchFamily="18" charset="0"/>
                </a:rPr>
                <a:t>2</a:t>
              </a:r>
              <a:endParaRPr lang="zh-CN" altLang="zh-CN" sz="1400" b="1" dirty="0">
                <a:latin typeface="Arial" panose="020B0604020202020204" pitchFamily="34" charset="0"/>
              </a:endParaRPr>
            </a:p>
          </p:txBody>
        </p:sp>
        <p:sp>
          <p:nvSpPr>
            <p:cNvPr id="47130" name="Text Box 25"/>
            <p:cNvSpPr txBox="1">
              <a:spLocks noChangeArrowheads="1"/>
            </p:cNvSpPr>
            <p:nvPr/>
          </p:nvSpPr>
          <p:spPr bwMode="auto">
            <a:xfrm>
              <a:off x="7000892" y="1285860"/>
              <a:ext cx="461807" cy="363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4</a:t>
              </a:r>
              <a:endParaRPr lang="zh-CN" altLang="zh-CN" sz="1400" b="1">
                <a:latin typeface="Arial" panose="020B0604020202020204" pitchFamily="34" charset="0"/>
              </a:endParaRPr>
            </a:p>
          </p:txBody>
        </p:sp>
        <p:sp>
          <p:nvSpPr>
            <p:cNvPr id="47131" name="Text Box 25"/>
            <p:cNvSpPr txBox="1">
              <a:spLocks noChangeArrowheads="1"/>
            </p:cNvSpPr>
            <p:nvPr/>
          </p:nvSpPr>
          <p:spPr bwMode="auto">
            <a:xfrm>
              <a:off x="7023637" y="2137188"/>
              <a:ext cx="461807" cy="363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3</a:t>
              </a:r>
              <a:endParaRPr lang="zh-CN" altLang="zh-CN" sz="1400" b="1">
                <a:latin typeface="Arial" panose="020B0604020202020204" pitchFamily="34" charset="0"/>
              </a:endParaRPr>
            </a:p>
          </p:txBody>
        </p:sp>
        <p:sp>
          <p:nvSpPr>
            <p:cNvPr id="47132" name="Text Box 25"/>
            <p:cNvSpPr txBox="1">
              <a:spLocks noChangeArrowheads="1"/>
            </p:cNvSpPr>
            <p:nvPr/>
          </p:nvSpPr>
          <p:spPr bwMode="auto">
            <a:xfrm>
              <a:off x="5286380" y="1708560"/>
              <a:ext cx="461807" cy="363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800" b="1" dirty="0">
                  <a:latin typeface="Times New Roman" panose="02020603050405020304" pitchFamily="18" charset="0"/>
                </a:rPr>
                <a:t>-1</a:t>
              </a:r>
              <a:endParaRPr lang="zh-CN" altLang="zh-CN" sz="1800" b="1" dirty="0">
                <a:latin typeface="Arial" panose="020B0604020202020204" pitchFamily="34" charset="0"/>
              </a:endParaRPr>
            </a:p>
          </p:txBody>
        </p:sp>
        <p:sp>
          <p:nvSpPr>
            <p:cNvPr id="47133" name="Text Box 25"/>
            <p:cNvSpPr txBox="1">
              <a:spLocks noChangeArrowheads="1"/>
            </p:cNvSpPr>
            <p:nvPr/>
          </p:nvSpPr>
          <p:spPr bwMode="auto">
            <a:xfrm>
              <a:off x="5756512" y="1708560"/>
              <a:ext cx="461807" cy="363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800" b="1" dirty="0">
                  <a:latin typeface="Times New Roman" panose="02020603050405020304" pitchFamily="18" charset="0"/>
                </a:rPr>
                <a:t>2</a:t>
              </a:r>
              <a:endParaRPr lang="zh-CN" altLang="zh-CN" sz="1800" b="1" dirty="0">
                <a:latin typeface="Arial" panose="020B0604020202020204" pitchFamily="34" charset="0"/>
              </a:endParaRPr>
            </a:p>
          </p:txBody>
        </p:sp>
        <p:sp>
          <p:nvSpPr>
            <p:cNvPr id="47134" name="Text Box 25"/>
            <p:cNvSpPr txBox="1">
              <a:spLocks noChangeArrowheads="1"/>
            </p:cNvSpPr>
            <p:nvPr/>
          </p:nvSpPr>
          <p:spPr bwMode="auto">
            <a:xfrm>
              <a:off x="6039019" y="1785926"/>
              <a:ext cx="461807" cy="363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800" b="1" dirty="0">
                  <a:latin typeface="Times New Roman" panose="02020603050405020304" pitchFamily="18" charset="0"/>
                </a:rPr>
                <a:t>2</a:t>
              </a:r>
              <a:endParaRPr lang="zh-CN" altLang="zh-CN" sz="1800" b="1" dirty="0">
                <a:latin typeface="Arial" panose="020B0604020202020204" pitchFamily="34" charset="0"/>
              </a:endParaRPr>
            </a:p>
          </p:txBody>
        </p:sp>
        <p:sp>
          <p:nvSpPr>
            <p:cNvPr id="47135" name="Text Box 25"/>
            <p:cNvSpPr txBox="1">
              <a:spLocks noChangeArrowheads="1"/>
            </p:cNvSpPr>
            <p:nvPr/>
          </p:nvSpPr>
          <p:spPr bwMode="auto">
            <a:xfrm>
              <a:off x="6396209" y="1565684"/>
              <a:ext cx="461807" cy="363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800" b="1">
                  <a:latin typeface="Times New Roman" panose="02020603050405020304" pitchFamily="18" charset="0"/>
                </a:rPr>
                <a:t>1</a:t>
              </a:r>
              <a:endParaRPr lang="zh-CN" altLang="zh-CN" sz="1800" b="1">
                <a:latin typeface="Arial" panose="020B0604020202020204" pitchFamily="34" charset="0"/>
              </a:endParaRPr>
            </a:p>
          </p:txBody>
        </p:sp>
        <p:sp>
          <p:nvSpPr>
            <p:cNvPr id="47136" name="Text Box 25"/>
            <p:cNvSpPr txBox="1">
              <a:spLocks noChangeArrowheads="1"/>
            </p:cNvSpPr>
            <p:nvPr/>
          </p:nvSpPr>
          <p:spPr bwMode="auto">
            <a:xfrm>
              <a:off x="6286512" y="2214554"/>
              <a:ext cx="461807" cy="363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800" b="1">
                  <a:latin typeface="Times New Roman" panose="02020603050405020304" pitchFamily="18" charset="0"/>
                </a:rPr>
                <a:t>1</a:t>
              </a:r>
              <a:endParaRPr lang="zh-CN" altLang="zh-CN" sz="1800" b="1">
                <a:latin typeface="Arial" panose="020B0604020202020204" pitchFamily="34" charset="0"/>
              </a:endParaRPr>
            </a:p>
          </p:txBody>
        </p:sp>
        <p:sp>
          <p:nvSpPr>
            <p:cNvPr id="47137" name="Text Box 25"/>
            <p:cNvSpPr txBox="1">
              <a:spLocks noChangeArrowheads="1"/>
            </p:cNvSpPr>
            <p:nvPr/>
          </p:nvSpPr>
          <p:spPr bwMode="auto">
            <a:xfrm>
              <a:off x="7182027" y="1708560"/>
              <a:ext cx="461807" cy="363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800" b="1">
                  <a:latin typeface="Times New Roman" panose="02020603050405020304" pitchFamily="18" charset="0"/>
                </a:rPr>
                <a:t>-1</a:t>
              </a:r>
              <a:endParaRPr lang="zh-CN" altLang="zh-CN" sz="1800" b="1">
                <a:latin typeface="Arial" panose="020B0604020202020204" pitchFamily="34" charset="0"/>
              </a:endParaRPr>
            </a:p>
          </p:txBody>
        </p:sp>
      </p:grpSp>
      <p:sp>
        <p:nvSpPr>
          <p:cNvPr id="47109" name="Rectangle 3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47110" name="Object 33"/>
          <p:cNvGraphicFramePr>
            <a:graphicFrameLocks noChangeAspect="1"/>
          </p:cNvGraphicFramePr>
          <p:nvPr/>
        </p:nvGraphicFramePr>
        <p:xfrm>
          <a:off x="954088" y="2281262"/>
          <a:ext cx="3554412" cy="1884363"/>
        </p:xfrm>
        <a:graphic>
          <a:graphicData uri="http://schemas.openxmlformats.org/presentationml/2006/ole">
            <mc:AlternateContent xmlns:mc="http://schemas.openxmlformats.org/markup-compatibility/2006">
              <mc:Choice xmlns:v="urn:schemas-microsoft-com:vml" Requires="v">
                <p:oleObj spid="_x0000_s47146" name="Equation" r:id="rId1" imgW="1752600" imgH="927100" progId="Equation.3">
                  <p:embed/>
                </p:oleObj>
              </mc:Choice>
              <mc:Fallback>
                <p:oleObj name="Equation" r:id="rId1" imgW="1752600" imgH="927100" progId="Equation.3">
                  <p:embed/>
                  <p:pic>
                    <p:nvPicPr>
                      <p:cNvPr id="0" name="Object 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088" y="2281262"/>
                        <a:ext cx="3554412" cy="188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11" name="Rectangle 3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47112" name="Object 35"/>
          <p:cNvGraphicFramePr>
            <a:graphicFrameLocks noChangeAspect="1"/>
          </p:cNvGraphicFramePr>
          <p:nvPr/>
        </p:nvGraphicFramePr>
        <p:xfrm>
          <a:off x="5143500" y="2292375"/>
          <a:ext cx="2624138" cy="1897062"/>
        </p:xfrm>
        <a:graphic>
          <a:graphicData uri="http://schemas.openxmlformats.org/presentationml/2006/ole">
            <mc:AlternateContent xmlns:mc="http://schemas.openxmlformats.org/markup-compatibility/2006">
              <mc:Choice xmlns:v="urn:schemas-microsoft-com:vml" Requires="v">
                <p:oleObj spid="_x0000_s47147" name="Equation" r:id="rId3" imgW="1282700" imgH="927100" progId="Equation.3">
                  <p:embed/>
                </p:oleObj>
              </mc:Choice>
              <mc:Fallback>
                <p:oleObj name="Equation" r:id="rId3" imgW="1282700" imgH="927100" progId="Equation.3">
                  <p:embed/>
                  <p:pic>
                    <p:nvPicPr>
                      <p:cNvPr id="0" name="Object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3500" y="2292375"/>
                        <a:ext cx="2624138" cy="189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13" name="Object 37"/>
          <p:cNvGraphicFramePr>
            <a:graphicFrameLocks noChangeAspect="1"/>
          </p:cNvGraphicFramePr>
          <p:nvPr/>
        </p:nvGraphicFramePr>
        <p:xfrm>
          <a:off x="5156200" y="4340250"/>
          <a:ext cx="2598738" cy="1897062"/>
        </p:xfrm>
        <a:graphic>
          <a:graphicData uri="http://schemas.openxmlformats.org/presentationml/2006/ole">
            <mc:AlternateContent xmlns:mc="http://schemas.openxmlformats.org/markup-compatibility/2006">
              <mc:Choice xmlns:v="urn:schemas-microsoft-com:vml" Requires="v">
                <p:oleObj spid="_x0000_s47148" name="Equation" r:id="rId5" imgW="1270000" imgH="927100" progId="Equation.3">
                  <p:embed/>
                </p:oleObj>
              </mc:Choice>
              <mc:Fallback>
                <p:oleObj name="Equation" r:id="rId5" imgW="1270000" imgH="927100" progId="Equation.3">
                  <p:embed/>
                  <p:pic>
                    <p:nvPicPr>
                      <p:cNvPr id="0" name="Object 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56200" y="4340250"/>
                        <a:ext cx="2598738" cy="189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14" name="Object 38"/>
          <p:cNvGraphicFramePr>
            <a:graphicFrameLocks noChangeAspect="1"/>
          </p:cNvGraphicFramePr>
          <p:nvPr/>
        </p:nvGraphicFramePr>
        <p:xfrm>
          <a:off x="1000125" y="4352950"/>
          <a:ext cx="3143250" cy="1884362"/>
        </p:xfrm>
        <a:graphic>
          <a:graphicData uri="http://schemas.openxmlformats.org/presentationml/2006/ole">
            <mc:AlternateContent xmlns:mc="http://schemas.openxmlformats.org/markup-compatibility/2006">
              <mc:Choice xmlns:v="urn:schemas-microsoft-com:vml" Requires="v">
                <p:oleObj spid="_x0000_s47149" name="Equation" r:id="rId7" imgW="1549400" imgH="927100" progId="Equation.3">
                  <p:embed/>
                </p:oleObj>
              </mc:Choice>
              <mc:Fallback>
                <p:oleObj name="Equation" r:id="rId7" imgW="1549400" imgH="927100" progId="Equation.3">
                  <p:embed/>
                  <p:pic>
                    <p:nvPicPr>
                      <p:cNvPr id="0" name="Object 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0125" y="4352950"/>
                        <a:ext cx="3143250" cy="188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a:xfrm>
            <a:off x="1360500" y="329794"/>
            <a:ext cx="5915000" cy="725487"/>
          </a:xfrm>
        </p:spPr>
        <p:txBody>
          <a:bodyPr/>
          <a:lstStyle/>
          <a:p>
            <a:r>
              <a:rPr lang="zh-CN" altLang="en-US" sz="4000" b="1" dirty="0" smtClean="0">
                <a:solidFill>
                  <a:srgbClr val="C00000"/>
                </a:solidFill>
                <a:latin typeface="Times New Roman" panose="02020603050405020304" pitchFamily="18" charset="0"/>
                <a:cs typeface="Times New Roman" panose="02020603050405020304" pitchFamily="18" charset="0"/>
              </a:rPr>
              <a:t>例</a:t>
            </a:r>
            <a:r>
              <a:rPr lang="en-US" altLang="zh-CN" sz="4000" b="1" dirty="0" smtClean="0">
                <a:solidFill>
                  <a:srgbClr val="C00000"/>
                </a:solidFill>
                <a:latin typeface="Times New Roman" panose="02020603050405020304" pitchFamily="18" charset="0"/>
                <a:cs typeface="Times New Roman" panose="02020603050405020304" pitchFamily="18" charset="0"/>
              </a:rPr>
              <a:t>7.3 (</a:t>
            </a:r>
            <a:r>
              <a:rPr lang="zh-CN" altLang="en-US" sz="4000" b="1" dirty="0" smtClean="0">
                <a:solidFill>
                  <a:srgbClr val="C00000"/>
                </a:solidFill>
                <a:latin typeface="Times New Roman" panose="02020603050405020304" pitchFamily="18" charset="0"/>
                <a:cs typeface="Times New Roman" panose="02020603050405020304" pitchFamily="18" charset="0"/>
              </a:rPr>
              <a:t>续</a:t>
            </a:r>
            <a:r>
              <a:rPr lang="en-US" altLang="zh-CN" sz="4000" b="1" dirty="0" smtClean="0">
                <a:solidFill>
                  <a:srgbClr val="C00000"/>
                </a:solidFill>
                <a:latin typeface="Times New Roman" panose="02020603050405020304" pitchFamily="18" charset="0"/>
                <a:cs typeface="Times New Roman" panose="02020603050405020304" pitchFamily="18" charset="0"/>
              </a:rPr>
              <a:t>)</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
        <p:nvSpPr>
          <p:cNvPr id="4813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AF1E662-A764-4E92-9456-F66B95728FD1}" type="slidenum">
              <a:rPr lang="zh-CN" altLang="en-US" sz="1200" smtClean="0">
                <a:solidFill>
                  <a:srgbClr val="898989"/>
                </a:solidFill>
              </a:rPr>
            </a:fld>
            <a:endParaRPr lang="zh-CN" altLang="en-US" sz="1200" smtClean="0">
              <a:solidFill>
                <a:srgbClr val="898989"/>
              </a:solidFill>
            </a:endParaRPr>
          </a:p>
        </p:txBody>
      </p:sp>
      <p:graphicFrame>
        <p:nvGraphicFramePr>
          <p:cNvPr id="48132" name="Object 5"/>
          <p:cNvGraphicFramePr>
            <a:graphicFrameLocks noChangeAspect="1"/>
          </p:cNvGraphicFramePr>
          <p:nvPr/>
        </p:nvGraphicFramePr>
        <p:xfrm>
          <a:off x="5072063" y="1405607"/>
          <a:ext cx="2624137" cy="1897062"/>
        </p:xfrm>
        <a:graphic>
          <a:graphicData uri="http://schemas.openxmlformats.org/presentationml/2006/ole">
            <mc:AlternateContent xmlns:mc="http://schemas.openxmlformats.org/markup-compatibility/2006">
              <mc:Choice xmlns:v="urn:schemas-microsoft-com:vml" Requires="v">
                <p:oleObj spid="_x0000_s48144" name="Equation" r:id="rId1" imgW="1282700" imgH="927100" progId="Equation.3">
                  <p:embed/>
                </p:oleObj>
              </mc:Choice>
              <mc:Fallback>
                <p:oleObj name="Equation" r:id="rId1" imgW="1282700" imgH="9271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2063" y="1405607"/>
                        <a:ext cx="2624137" cy="189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33" name="Object 6"/>
          <p:cNvGraphicFramePr>
            <a:graphicFrameLocks noChangeAspect="1"/>
          </p:cNvGraphicFramePr>
          <p:nvPr/>
        </p:nvGraphicFramePr>
        <p:xfrm>
          <a:off x="1174750" y="1418307"/>
          <a:ext cx="3143250" cy="1884362"/>
        </p:xfrm>
        <a:graphic>
          <a:graphicData uri="http://schemas.openxmlformats.org/presentationml/2006/ole">
            <mc:AlternateContent xmlns:mc="http://schemas.openxmlformats.org/markup-compatibility/2006">
              <mc:Choice xmlns:v="urn:schemas-microsoft-com:vml" Requires="v">
                <p:oleObj spid="_x0000_s48145" name="Equation" r:id="rId3" imgW="1549400" imgH="927100" progId="Equation.3">
                  <p:embed/>
                </p:oleObj>
              </mc:Choice>
              <mc:Fallback>
                <p:oleObj name="Equation" r:id="rId3" imgW="1549400" imgH="9271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4750" y="1418307"/>
                        <a:ext cx="3143250" cy="188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34" name="Object 7"/>
          <p:cNvGraphicFramePr>
            <a:graphicFrameLocks noChangeAspect="1"/>
          </p:cNvGraphicFramePr>
          <p:nvPr/>
        </p:nvGraphicFramePr>
        <p:xfrm>
          <a:off x="5111750" y="3620169"/>
          <a:ext cx="2624138" cy="1897063"/>
        </p:xfrm>
        <a:graphic>
          <a:graphicData uri="http://schemas.openxmlformats.org/presentationml/2006/ole">
            <mc:AlternateContent xmlns:mc="http://schemas.openxmlformats.org/markup-compatibility/2006">
              <mc:Choice xmlns:v="urn:schemas-microsoft-com:vml" Requires="v">
                <p:oleObj spid="_x0000_s48146" name="Equation" r:id="rId5" imgW="1282700" imgH="927100" progId="Equation.3">
                  <p:embed/>
                </p:oleObj>
              </mc:Choice>
              <mc:Fallback>
                <p:oleObj name="Equation" r:id="rId5" imgW="1282700" imgH="9271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11750" y="3620169"/>
                        <a:ext cx="2624138" cy="189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35" name="Object 8"/>
          <p:cNvGraphicFramePr>
            <a:graphicFrameLocks noChangeAspect="1"/>
          </p:cNvGraphicFramePr>
          <p:nvPr/>
        </p:nvGraphicFramePr>
        <p:xfrm>
          <a:off x="1174750" y="3632869"/>
          <a:ext cx="3040063" cy="1884363"/>
        </p:xfrm>
        <a:graphic>
          <a:graphicData uri="http://schemas.openxmlformats.org/presentationml/2006/ole">
            <mc:AlternateContent xmlns:mc="http://schemas.openxmlformats.org/markup-compatibility/2006">
              <mc:Choice xmlns:v="urn:schemas-microsoft-com:vml" Requires="v">
                <p:oleObj spid="_x0000_s48147" name="Equation" r:id="rId7" imgW="1498600" imgH="927100" progId="Equation.3">
                  <p:embed/>
                </p:oleObj>
              </mc:Choice>
              <mc:Fallback>
                <p:oleObj name="Equation" r:id="rId7" imgW="1498600" imgH="9271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74750" y="3632869"/>
                        <a:ext cx="3040063" cy="188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a:xfrm>
            <a:off x="1458764" y="277476"/>
            <a:ext cx="5512097" cy="725488"/>
          </a:xfrm>
        </p:spPr>
        <p:txBody>
          <a:bodyPr/>
          <a:lstStyle/>
          <a:p>
            <a:r>
              <a:rPr lang="zh-CN" altLang="en-US" sz="4000" b="1" dirty="0" smtClean="0">
                <a:solidFill>
                  <a:srgbClr val="C00000"/>
                </a:solidFill>
                <a:latin typeface="Times New Roman" panose="02020603050405020304" pitchFamily="18" charset="0"/>
                <a:cs typeface="Times New Roman" panose="02020603050405020304" pitchFamily="18" charset="0"/>
              </a:rPr>
              <a:t>例</a:t>
            </a:r>
            <a:r>
              <a:rPr lang="en-US" altLang="zh-CN" sz="4000" b="1" dirty="0" smtClean="0">
                <a:solidFill>
                  <a:srgbClr val="C00000"/>
                </a:solidFill>
                <a:latin typeface="Times New Roman" panose="02020603050405020304" pitchFamily="18" charset="0"/>
                <a:cs typeface="Times New Roman" panose="02020603050405020304" pitchFamily="18" charset="0"/>
              </a:rPr>
              <a:t>7.3 (</a:t>
            </a:r>
            <a:r>
              <a:rPr lang="zh-CN" altLang="en-US" sz="4000" b="1" dirty="0" smtClean="0">
                <a:solidFill>
                  <a:srgbClr val="C00000"/>
                </a:solidFill>
                <a:latin typeface="Times New Roman" panose="02020603050405020304" pitchFamily="18" charset="0"/>
                <a:cs typeface="Times New Roman" panose="02020603050405020304" pitchFamily="18" charset="0"/>
              </a:rPr>
              <a:t>续</a:t>
            </a:r>
            <a:r>
              <a:rPr lang="en-US" altLang="zh-CN" sz="4000" b="1" dirty="0" smtClean="0">
                <a:solidFill>
                  <a:srgbClr val="C00000"/>
                </a:solidFill>
                <a:latin typeface="Times New Roman" panose="02020603050405020304" pitchFamily="18" charset="0"/>
                <a:cs typeface="Times New Roman" panose="02020603050405020304" pitchFamily="18" charset="0"/>
              </a:rPr>
              <a:t>)</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
        <p:nvSpPr>
          <p:cNvPr id="49155" name="内容占位符 2"/>
          <p:cNvSpPr>
            <a:spLocks noGrp="1"/>
          </p:cNvSpPr>
          <p:nvPr>
            <p:ph idx="1"/>
          </p:nvPr>
        </p:nvSpPr>
        <p:spPr>
          <a:xfrm>
            <a:off x="457200" y="3355975"/>
            <a:ext cx="8229600" cy="2786063"/>
          </a:xfrm>
        </p:spPr>
        <p:txBody>
          <a:bodyPr/>
          <a:lstStyle/>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根据 </a:t>
            </a:r>
            <a:r>
              <a:rPr lang="en-US" altLang="zh-CN" sz="2400" b="1" i="1" smtClean="0">
                <a:latin typeface="Times New Roman" panose="02020603050405020304" pitchFamily="18" charset="0"/>
                <a:cs typeface="Times New Roman" panose="02020603050405020304" pitchFamily="18" charset="0"/>
              </a:rPr>
              <a:t>d</a:t>
            </a:r>
            <a:r>
              <a:rPr lang="en-US" altLang="zh-CN" sz="2400" b="1" baseline="30000" smtClean="0">
                <a:latin typeface="Times New Roman" panose="02020603050405020304" pitchFamily="18" charset="0"/>
                <a:cs typeface="Times New Roman" panose="02020603050405020304" pitchFamily="18" charset="0"/>
              </a:rPr>
              <a:t>(4)</a:t>
            </a:r>
            <a:r>
              <a:rPr lang="zh-CN" altLang="en-US" sz="2400" b="1" smtClean="0">
                <a:latin typeface="Times New Roman" panose="02020603050405020304" pitchFamily="18" charset="0"/>
                <a:cs typeface="Times New Roman" panose="02020603050405020304" pitchFamily="18" charset="0"/>
              </a:rPr>
              <a:t>和 </a:t>
            </a:r>
            <a:r>
              <a:rPr lang="en-US" altLang="zh-CN" sz="2400" b="1" i="1" smtClean="0">
                <a:latin typeface="Times New Roman" panose="02020603050405020304" pitchFamily="18" charset="0"/>
                <a:cs typeface="Times New Roman" panose="02020603050405020304" pitchFamily="18" charset="0"/>
              </a:rPr>
              <a:t>h</a:t>
            </a:r>
            <a:r>
              <a:rPr lang="en-US" altLang="zh-CN" sz="2400" b="1" baseline="30000" smtClean="0">
                <a:latin typeface="Times New Roman" panose="02020603050405020304" pitchFamily="18" charset="0"/>
                <a:cs typeface="Times New Roman" panose="02020603050405020304" pitchFamily="18" charset="0"/>
              </a:rPr>
              <a:t>(4)</a:t>
            </a:r>
            <a:r>
              <a:rPr lang="en-US" altLang="zh-CN" sz="2400" b="1" smtClean="0">
                <a:latin typeface="Times New Roman" panose="02020603050405020304" pitchFamily="18" charset="0"/>
                <a:cs typeface="Times New Roman" panose="02020603050405020304" pitchFamily="18" charset="0"/>
              </a:rPr>
              <a:t> , </a:t>
            </a:r>
            <a:r>
              <a:rPr lang="zh-CN" altLang="en-US" sz="2400" b="1" smtClean="0">
                <a:latin typeface="Times New Roman" panose="02020603050405020304" pitchFamily="18" charset="0"/>
                <a:cs typeface="Times New Roman" panose="02020603050405020304" pitchFamily="18" charset="0"/>
              </a:rPr>
              <a:t>可以得到任意两点之间的最短路径和距离</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例如</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由</a:t>
            </a:r>
            <a:r>
              <a:rPr lang="en-US" altLang="zh-CN" sz="2400" b="1" i="1" smtClean="0">
                <a:latin typeface="Times New Roman" panose="02020603050405020304" pitchFamily="18" charset="0"/>
                <a:cs typeface="Times New Roman" panose="02020603050405020304" pitchFamily="18" charset="0"/>
              </a:rPr>
              <a:t>d</a:t>
            </a:r>
            <a:r>
              <a:rPr lang="en-US" altLang="zh-CN" sz="2400" b="1" baseline="30000" smtClean="0">
                <a:latin typeface="Times New Roman" panose="02020603050405020304" pitchFamily="18" charset="0"/>
                <a:cs typeface="Times New Roman" panose="02020603050405020304" pitchFamily="18" charset="0"/>
              </a:rPr>
              <a:t>(4)</a:t>
            </a:r>
            <a:r>
              <a:rPr lang="en-US" altLang="zh-CN" sz="2400" b="1" smtClean="0">
                <a:latin typeface="Times New Roman" panose="02020603050405020304" pitchFamily="18" charset="0"/>
                <a:cs typeface="Times New Roman" panose="02020603050405020304" pitchFamily="18" charset="0"/>
              </a:rPr>
              <a:t>(1,4)=</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1, </a:t>
            </a:r>
            <a:r>
              <a:rPr lang="en-US" altLang="zh-CN" sz="2400" b="1" i="1" smtClean="0">
                <a:latin typeface="Times New Roman" panose="02020603050405020304" pitchFamily="18" charset="0"/>
                <a:cs typeface="Times New Roman" panose="02020603050405020304" pitchFamily="18" charset="0"/>
              </a:rPr>
              <a:t>h</a:t>
            </a:r>
            <a:r>
              <a:rPr lang="en-US" altLang="zh-CN" sz="2400" b="1" baseline="30000" smtClean="0">
                <a:latin typeface="Times New Roman" panose="02020603050405020304" pitchFamily="18" charset="0"/>
                <a:cs typeface="Times New Roman" panose="02020603050405020304" pitchFamily="18" charset="0"/>
              </a:rPr>
              <a:t>(4)</a:t>
            </a:r>
            <a:r>
              <a:rPr lang="en-US" altLang="zh-CN" sz="2400" b="1" smtClean="0">
                <a:latin typeface="Times New Roman" panose="02020603050405020304" pitchFamily="18" charset="0"/>
                <a:cs typeface="Times New Roman" panose="02020603050405020304" pitchFamily="18" charset="0"/>
              </a:rPr>
              <a:t>(1,4)=2, </a:t>
            </a:r>
            <a:r>
              <a:rPr lang="en-US" altLang="zh-CN" sz="2400" b="1" i="1" smtClean="0">
                <a:latin typeface="Times New Roman" panose="02020603050405020304" pitchFamily="18" charset="0"/>
                <a:cs typeface="Times New Roman" panose="02020603050405020304" pitchFamily="18" charset="0"/>
              </a:rPr>
              <a:t>h</a:t>
            </a:r>
            <a:r>
              <a:rPr lang="en-US" altLang="zh-CN" sz="2400" b="1" baseline="30000" smtClean="0">
                <a:latin typeface="Times New Roman" panose="02020603050405020304" pitchFamily="18" charset="0"/>
                <a:cs typeface="Times New Roman" panose="02020603050405020304" pitchFamily="18" charset="0"/>
              </a:rPr>
              <a:t>(4)</a:t>
            </a:r>
            <a:r>
              <a:rPr lang="en-US" altLang="zh-CN" sz="2400" b="1" smtClean="0">
                <a:latin typeface="Times New Roman" panose="02020603050405020304" pitchFamily="18" charset="0"/>
                <a:cs typeface="Times New Roman" panose="02020603050405020304" pitchFamily="18" charset="0"/>
              </a:rPr>
              <a:t>(2,4)=3,</a:t>
            </a:r>
            <a:r>
              <a:rPr lang="en-US" altLang="zh-CN" sz="2400" b="1" i="1" smtClean="0">
                <a:latin typeface="Times New Roman" panose="02020603050405020304" pitchFamily="18" charset="0"/>
                <a:cs typeface="Times New Roman" panose="02020603050405020304" pitchFamily="18" charset="0"/>
              </a:rPr>
              <a:t> h</a:t>
            </a:r>
            <a:r>
              <a:rPr lang="en-US" altLang="zh-CN" sz="2400" b="1" baseline="30000" smtClean="0">
                <a:latin typeface="Times New Roman" panose="02020603050405020304" pitchFamily="18" charset="0"/>
                <a:cs typeface="Times New Roman" panose="02020603050405020304" pitchFamily="18" charset="0"/>
              </a:rPr>
              <a:t>(4)</a:t>
            </a:r>
            <a:r>
              <a:rPr lang="en-US" altLang="zh-CN" sz="2400" b="1" smtClean="0">
                <a:latin typeface="Times New Roman" panose="02020603050405020304" pitchFamily="18" charset="0"/>
                <a:cs typeface="Times New Roman" panose="02020603050405020304" pitchFamily="18" charset="0"/>
              </a:rPr>
              <a:t>(3,4)=4, </a:t>
            </a:r>
            <a:r>
              <a:rPr lang="zh-CN" altLang="en-US" sz="2400" b="1" smtClean="0">
                <a:latin typeface="Times New Roman" panose="02020603050405020304" pitchFamily="18" charset="0"/>
                <a:cs typeface="Times New Roman" panose="02020603050405020304" pitchFamily="18" charset="0"/>
              </a:rPr>
              <a:t>得到</a:t>
            </a:r>
            <a:r>
              <a:rPr lang="en-US" altLang="zh-CN" sz="2400" b="1" smtClean="0">
                <a:latin typeface="Times New Roman" panose="02020603050405020304" pitchFamily="18" charset="0"/>
                <a:cs typeface="Times New Roman" panose="02020603050405020304" pitchFamily="18" charset="0"/>
              </a:rPr>
              <a:t>1</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到</a:t>
            </a:r>
            <a:r>
              <a:rPr lang="en-US" altLang="zh-CN" sz="2400" b="1" smtClean="0">
                <a:latin typeface="Times New Roman" panose="02020603050405020304" pitchFamily="18" charset="0"/>
                <a:cs typeface="Times New Roman" panose="02020603050405020304" pitchFamily="18" charset="0"/>
              </a:rPr>
              <a:t>4</a:t>
            </a:r>
            <a:r>
              <a:rPr lang="zh-CN" altLang="en-US" sz="2400" b="1" smtClean="0">
                <a:latin typeface="Times New Roman" panose="02020603050405020304" pitchFamily="18" charset="0"/>
                <a:cs typeface="Times New Roman" panose="02020603050405020304" pitchFamily="18" charset="0"/>
              </a:rPr>
              <a:t>的最短路径是</a:t>
            </a:r>
            <a:r>
              <a:rPr lang="en-US" altLang="zh-CN" sz="2400" b="1" smtClean="0">
                <a:latin typeface="Times New Roman" panose="02020603050405020304" pitchFamily="18" charset="0"/>
                <a:cs typeface="Times New Roman" panose="02020603050405020304" pitchFamily="18" charset="0"/>
              </a:rPr>
              <a:t>1-2-3-4, </a:t>
            </a:r>
            <a:r>
              <a:rPr lang="zh-CN" altLang="en-US" sz="2400" b="1" smtClean="0">
                <a:latin typeface="Times New Roman" panose="02020603050405020304" pitchFamily="18" charset="0"/>
                <a:cs typeface="Times New Roman" panose="02020603050405020304" pitchFamily="18" charset="0"/>
              </a:rPr>
              <a:t>距离为</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1.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又如</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由</a:t>
            </a:r>
            <a:r>
              <a:rPr lang="en-US" altLang="zh-CN" sz="2400" b="1" i="1" smtClean="0">
                <a:latin typeface="Times New Roman" panose="02020603050405020304" pitchFamily="18" charset="0"/>
                <a:cs typeface="Times New Roman" panose="02020603050405020304" pitchFamily="18" charset="0"/>
              </a:rPr>
              <a:t>d</a:t>
            </a:r>
            <a:r>
              <a:rPr lang="en-US" altLang="zh-CN" sz="2400" b="1" baseline="30000" smtClean="0">
                <a:latin typeface="Times New Roman" panose="02020603050405020304" pitchFamily="18" charset="0"/>
                <a:cs typeface="Times New Roman" panose="02020603050405020304" pitchFamily="18" charset="0"/>
              </a:rPr>
              <a:t>(4)</a:t>
            </a:r>
            <a:r>
              <a:rPr lang="en-US" altLang="zh-CN" sz="2400" b="1" smtClean="0">
                <a:latin typeface="Times New Roman" panose="02020603050405020304" pitchFamily="18" charset="0"/>
                <a:cs typeface="Times New Roman" panose="02020603050405020304" pitchFamily="18" charset="0"/>
              </a:rPr>
              <a:t>(3,2)=1, </a:t>
            </a:r>
            <a:r>
              <a:rPr lang="en-US" altLang="zh-CN" sz="2400" b="1" i="1" smtClean="0">
                <a:latin typeface="Times New Roman" panose="02020603050405020304" pitchFamily="18" charset="0"/>
                <a:cs typeface="Times New Roman" panose="02020603050405020304" pitchFamily="18" charset="0"/>
              </a:rPr>
              <a:t>h</a:t>
            </a:r>
            <a:r>
              <a:rPr lang="en-US" altLang="zh-CN" sz="2400" b="1" baseline="30000" smtClean="0">
                <a:latin typeface="Times New Roman" panose="02020603050405020304" pitchFamily="18" charset="0"/>
                <a:cs typeface="Times New Roman" panose="02020603050405020304" pitchFamily="18" charset="0"/>
              </a:rPr>
              <a:t>(4)</a:t>
            </a:r>
            <a:r>
              <a:rPr lang="en-US" altLang="zh-CN" sz="2400" b="1" smtClean="0">
                <a:latin typeface="Times New Roman" panose="02020603050405020304" pitchFamily="18" charset="0"/>
                <a:cs typeface="Times New Roman" panose="02020603050405020304" pitchFamily="18" charset="0"/>
              </a:rPr>
              <a:t>(3,2)=1, </a:t>
            </a:r>
            <a:r>
              <a:rPr lang="en-US" altLang="zh-CN" sz="2400" b="1" i="1" smtClean="0">
                <a:latin typeface="Times New Roman" panose="02020603050405020304" pitchFamily="18" charset="0"/>
                <a:cs typeface="Times New Roman" panose="02020603050405020304" pitchFamily="18" charset="0"/>
              </a:rPr>
              <a:t>h</a:t>
            </a:r>
            <a:r>
              <a:rPr lang="en-US" altLang="zh-CN" sz="2400" b="1" baseline="30000" smtClean="0">
                <a:latin typeface="Times New Roman" panose="02020603050405020304" pitchFamily="18" charset="0"/>
                <a:cs typeface="Times New Roman" panose="02020603050405020304" pitchFamily="18" charset="0"/>
              </a:rPr>
              <a:t>(4)</a:t>
            </a:r>
            <a:r>
              <a:rPr lang="en-US" altLang="zh-CN" sz="2400" b="1" smtClean="0">
                <a:latin typeface="Times New Roman" panose="02020603050405020304" pitchFamily="18" charset="0"/>
                <a:cs typeface="Times New Roman" panose="02020603050405020304" pitchFamily="18" charset="0"/>
              </a:rPr>
              <a:t>(1,2)=2, </a:t>
            </a:r>
            <a:r>
              <a:rPr lang="zh-CN" altLang="en-US" sz="2400" b="1" smtClean="0">
                <a:latin typeface="Times New Roman" panose="02020603050405020304" pitchFamily="18" charset="0"/>
                <a:cs typeface="Times New Roman" panose="02020603050405020304" pitchFamily="18" charset="0"/>
              </a:rPr>
              <a:t>得到</a:t>
            </a:r>
            <a:r>
              <a:rPr lang="en-US" altLang="zh-CN" sz="2400" b="1" smtClean="0">
                <a:latin typeface="Times New Roman" panose="02020603050405020304" pitchFamily="18" charset="0"/>
                <a:cs typeface="Times New Roman" panose="02020603050405020304" pitchFamily="18" charset="0"/>
              </a:rPr>
              <a:t>3</a:t>
            </a:r>
            <a:r>
              <a:rPr lang="zh-CN" altLang="en-US" sz="2400" b="1" smtClean="0">
                <a:latin typeface="Times New Roman" panose="02020603050405020304" pitchFamily="18" charset="0"/>
                <a:cs typeface="Times New Roman" panose="02020603050405020304" pitchFamily="18" charset="0"/>
              </a:rPr>
              <a:t>到</a:t>
            </a:r>
            <a:r>
              <a:rPr lang="en-US" altLang="zh-CN" sz="2400" b="1" smtClean="0">
                <a:latin typeface="Times New Roman" panose="02020603050405020304" pitchFamily="18" charset="0"/>
                <a:cs typeface="Times New Roman" panose="02020603050405020304" pitchFamily="18" charset="0"/>
              </a:rPr>
              <a:t>2</a:t>
            </a:r>
            <a:r>
              <a:rPr lang="zh-CN" altLang="en-US" sz="2400" b="1" smtClean="0">
                <a:latin typeface="Times New Roman" panose="02020603050405020304" pitchFamily="18" charset="0"/>
                <a:cs typeface="Times New Roman" panose="02020603050405020304" pitchFamily="18" charset="0"/>
              </a:rPr>
              <a:t>的最短路</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径是</a:t>
            </a:r>
            <a:r>
              <a:rPr lang="en-US" altLang="zh-CN" sz="2400" b="1" smtClean="0">
                <a:latin typeface="Times New Roman" panose="02020603050405020304" pitchFamily="18" charset="0"/>
                <a:cs typeface="Times New Roman" panose="02020603050405020304" pitchFamily="18" charset="0"/>
              </a:rPr>
              <a:t>3-1-2, </a:t>
            </a:r>
            <a:r>
              <a:rPr lang="zh-CN" altLang="en-US" sz="2400" b="1" smtClean="0">
                <a:latin typeface="Times New Roman" panose="02020603050405020304" pitchFamily="18" charset="0"/>
                <a:cs typeface="Times New Roman" panose="02020603050405020304" pitchFamily="18" charset="0"/>
              </a:rPr>
              <a:t>距离为</a:t>
            </a:r>
            <a:r>
              <a:rPr lang="en-US" altLang="zh-CN" sz="2400" b="1" smtClean="0">
                <a:latin typeface="Times New Roman" panose="02020603050405020304" pitchFamily="18" charset="0"/>
                <a:cs typeface="Times New Roman" panose="02020603050405020304" pitchFamily="18" charset="0"/>
              </a:rPr>
              <a:t>1.</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solidFill>
                  <a:srgbClr val="C00000"/>
                </a:solidFill>
                <a:latin typeface="Times New Roman" panose="02020603050405020304" pitchFamily="18" charset="0"/>
                <a:cs typeface="Times New Roman" panose="02020603050405020304" pitchFamily="18" charset="0"/>
              </a:rPr>
              <a:t>Floyd</a:t>
            </a:r>
            <a:r>
              <a:rPr lang="zh-CN" altLang="en-US" sz="2400" b="1" smtClean="0">
                <a:solidFill>
                  <a:srgbClr val="C00000"/>
                </a:solidFill>
                <a:latin typeface="Times New Roman" panose="02020603050405020304" pitchFamily="18" charset="0"/>
                <a:cs typeface="Times New Roman" panose="02020603050405020304" pitchFamily="18" charset="0"/>
              </a:rPr>
              <a:t>算法的时间复杂度为</a:t>
            </a:r>
            <a:r>
              <a:rPr lang="en-US" altLang="zh-CN" sz="2400" b="1" i="1" smtClean="0">
                <a:solidFill>
                  <a:srgbClr val="C00000"/>
                </a:solidFill>
                <a:latin typeface="Times New Roman" panose="02020603050405020304" pitchFamily="18" charset="0"/>
                <a:cs typeface="Times New Roman" panose="02020603050405020304" pitchFamily="18" charset="0"/>
              </a:rPr>
              <a:t>O</a:t>
            </a:r>
            <a:r>
              <a:rPr lang="en-US" altLang="zh-CN" sz="2400" b="1" smtClean="0">
                <a:solidFill>
                  <a:srgbClr val="C00000"/>
                </a:solidFill>
                <a:latin typeface="Times New Roman" panose="02020603050405020304" pitchFamily="18" charset="0"/>
                <a:cs typeface="Times New Roman" panose="02020603050405020304" pitchFamily="18" charset="0"/>
              </a:rPr>
              <a:t>(</a:t>
            </a:r>
            <a:r>
              <a:rPr lang="en-US" altLang="zh-CN" sz="2400" b="1" i="1" smtClean="0">
                <a:solidFill>
                  <a:srgbClr val="C00000"/>
                </a:solidFill>
                <a:latin typeface="Times New Roman" panose="02020603050405020304" pitchFamily="18" charset="0"/>
                <a:cs typeface="Times New Roman" panose="02020603050405020304" pitchFamily="18" charset="0"/>
              </a:rPr>
              <a:t>n</a:t>
            </a:r>
            <a:r>
              <a:rPr lang="en-US" altLang="zh-CN" sz="2400" b="1" baseline="30000" smtClean="0">
                <a:solidFill>
                  <a:srgbClr val="C00000"/>
                </a:solidFill>
                <a:latin typeface="Times New Roman" panose="02020603050405020304" pitchFamily="18" charset="0"/>
                <a:cs typeface="Times New Roman" panose="02020603050405020304" pitchFamily="18" charset="0"/>
              </a:rPr>
              <a:t>3</a:t>
            </a:r>
            <a:r>
              <a:rPr lang="en-US" altLang="zh-CN" sz="2400" b="1" smtClean="0">
                <a:solidFill>
                  <a:srgbClr val="C00000"/>
                </a:solidFill>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p:txBody>
      </p:sp>
      <p:sp>
        <p:nvSpPr>
          <p:cNvPr id="4915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40D80899-3E3D-408E-B14D-AAEF26F0C7D4}" type="slidenum">
              <a:rPr lang="zh-CN" altLang="en-US" sz="1200" smtClean="0">
                <a:solidFill>
                  <a:srgbClr val="898989"/>
                </a:solidFill>
              </a:rPr>
            </a:fld>
            <a:endParaRPr lang="zh-CN" altLang="en-US" sz="1200" smtClean="0">
              <a:solidFill>
                <a:srgbClr val="898989"/>
              </a:solidFill>
            </a:endParaRPr>
          </a:p>
        </p:txBody>
      </p:sp>
      <p:graphicFrame>
        <p:nvGraphicFramePr>
          <p:cNvPr id="49157" name="Object 5"/>
          <p:cNvGraphicFramePr>
            <a:graphicFrameLocks noChangeAspect="1"/>
          </p:cNvGraphicFramePr>
          <p:nvPr/>
        </p:nvGraphicFramePr>
        <p:xfrm>
          <a:off x="5214938" y="1246188"/>
          <a:ext cx="2624137" cy="1897062"/>
        </p:xfrm>
        <a:graphic>
          <a:graphicData uri="http://schemas.openxmlformats.org/presentationml/2006/ole">
            <mc:AlternateContent xmlns:mc="http://schemas.openxmlformats.org/markup-compatibility/2006">
              <mc:Choice xmlns:v="urn:schemas-microsoft-com:vml" Requires="v">
                <p:oleObj spid="_x0000_s49163" name="Equation" r:id="rId1" imgW="1282700" imgH="927100" progId="Equation.3">
                  <p:embed/>
                </p:oleObj>
              </mc:Choice>
              <mc:Fallback>
                <p:oleObj name="Equation" r:id="rId1" imgW="1282700" imgH="9271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4938" y="1246188"/>
                        <a:ext cx="2624137" cy="189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58" name="Object 6"/>
          <p:cNvGraphicFramePr>
            <a:graphicFrameLocks noChangeAspect="1"/>
          </p:cNvGraphicFramePr>
          <p:nvPr/>
        </p:nvGraphicFramePr>
        <p:xfrm>
          <a:off x="1174750" y="1258888"/>
          <a:ext cx="3040063" cy="1884362"/>
        </p:xfrm>
        <a:graphic>
          <a:graphicData uri="http://schemas.openxmlformats.org/presentationml/2006/ole">
            <mc:AlternateContent xmlns:mc="http://schemas.openxmlformats.org/markup-compatibility/2006">
              <mc:Choice xmlns:v="urn:schemas-microsoft-com:vml" Requires="v">
                <p:oleObj spid="_x0000_s49164" name="Equation" r:id="rId3" imgW="1498600" imgH="927100" progId="Equation.3">
                  <p:embed/>
                </p:oleObj>
              </mc:Choice>
              <mc:Fallback>
                <p:oleObj name="Equation" r:id="rId3" imgW="1498600" imgH="9271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4750" y="1258888"/>
                        <a:ext cx="3040063" cy="188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7.2.2 </a:t>
            </a:r>
            <a:r>
              <a:rPr lang="zh-CN" altLang="en-US" sz="4000" b="1" smtClean="0">
                <a:solidFill>
                  <a:srgbClr val="C00000"/>
                </a:solidFill>
                <a:latin typeface="Times New Roman" panose="02020603050405020304" pitchFamily="18" charset="0"/>
                <a:cs typeface="Times New Roman" panose="02020603050405020304" pitchFamily="18" charset="0"/>
              </a:rPr>
              <a:t>最小费用流的负回路算法</a:t>
            </a:r>
            <a:endParaRPr lang="zh-CN" altLang="en-US" sz="4000" smtClean="0">
              <a:solidFill>
                <a:srgbClr val="C00000"/>
              </a:solidFill>
              <a:latin typeface="Times New Roman" panose="02020603050405020304" pitchFamily="18" charset="0"/>
              <a:cs typeface="Times New Roman" panose="02020603050405020304" pitchFamily="18" charset="0"/>
            </a:endParaRPr>
          </a:p>
        </p:txBody>
      </p:sp>
      <p:sp>
        <p:nvSpPr>
          <p:cNvPr id="50179" name="内容占位符 2"/>
          <p:cNvSpPr>
            <a:spLocks noGrp="1"/>
          </p:cNvSpPr>
          <p:nvPr>
            <p:ph idx="1"/>
          </p:nvPr>
        </p:nvSpPr>
        <p:spPr>
          <a:xfrm>
            <a:off x="457200" y="1600200"/>
            <a:ext cx="8435280" cy="4525963"/>
          </a:xfrm>
        </p:spPr>
        <p:txBody>
          <a:bodyPr/>
          <a:lstStyle/>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设容量</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费用网络</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E</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w</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s</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&gt;, </a:t>
            </a:r>
            <a:r>
              <a:rPr lang="zh-CN" altLang="en-US" sz="2400" b="1" dirty="0" smtClean="0">
                <a:latin typeface="Times New Roman" panose="02020603050405020304" pitchFamily="18" charset="0"/>
                <a:cs typeface="Times New Roman" panose="02020603050405020304" pitchFamily="18" charset="0"/>
              </a:rPr>
              <a:t>关于可行流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的</a:t>
            </a:r>
            <a:r>
              <a:rPr lang="zh-CN" altLang="en-US" sz="2400" b="1" dirty="0" smtClean="0">
                <a:solidFill>
                  <a:srgbClr val="C00000"/>
                </a:solidFill>
                <a:latin typeface="Times New Roman" panose="02020603050405020304" pitchFamily="18" charset="0"/>
                <a:cs typeface="Times New Roman" panose="02020603050405020304" pitchFamily="18" charset="0"/>
              </a:rPr>
              <a:t>辅助网络</a:t>
            </a:r>
            <a:endParaRPr lang="en-US" altLang="zh-CN" sz="2400" b="1" dirty="0" smtClean="0">
              <a:solidFill>
                <a:srgbClr val="C00000"/>
              </a:solidFill>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&lt;</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ac</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aw</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&gt;, </a:t>
            </a:r>
            <a:r>
              <a:rPr lang="zh-CN" altLang="en-US" sz="2400" b="1" dirty="0" smtClean="0">
                <a:latin typeface="Times New Roman" panose="02020603050405020304" pitchFamily="18" charset="0"/>
                <a:cs typeface="Times New Roman" panose="02020603050405020304" pitchFamily="18" charset="0"/>
              </a:rPr>
              <a:t>其中辅助费用</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下述引理是引理</a:t>
            </a:r>
            <a:r>
              <a:rPr lang="en-US" altLang="zh-CN" sz="2400" b="1" dirty="0" smtClean="0">
                <a:latin typeface="Times New Roman" panose="02020603050405020304" pitchFamily="18" charset="0"/>
                <a:cs typeface="Times New Roman" panose="02020603050405020304" pitchFamily="18" charset="0"/>
              </a:rPr>
              <a:t>5</a:t>
            </a:r>
            <a:r>
              <a:rPr lang="zh-CN" altLang="en-US" sz="2400" b="1" dirty="0" smtClean="0">
                <a:latin typeface="Times New Roman" panose="02020603050405020304" pitchFamily="18" charset="0"/>
                <a:cs typeface="Times New Roman" panose="02020603050405020304" pitchFamily="18" charset="0"/>
              </a:rPr>
              <a:t>在容量</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费用网络上的继续</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solidFill>
                <a:srgbClr val="C00000"/>
              </a:solidFill>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引理</a:t>
            </a:r>
            <a:r>
              <a:rPr lang="en-US" altLang="zh-CN" sz="2400" b="1" dirty="0" smtClean="0">
                <a:solidFill>
                  <a:srgbClr val="C00000"/>
                </a:solidFill>
                <a:latin typeface="Times New Roman" panose="02020603050405020304" pitchFamily="18" charset="0"/>
                <a:cs typeface="Times New Roman" panose="02020603050405020304" pitchFamily="18" charset="0"/>
              </a:rPr>
              <a:t>7.9</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设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是容量</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费用网络 </a:t>
            </a:r>
            <a:r>
              <a:rPr lang="en-US" altLang="zh-CN" sz="2400" b="1" i="1" dirty="0" smtClean="0">
                <a:latin typeface="Times New Roman" panose="02020603050405020304" pitchFamily="18" charset="0"/>
                <a:cs typeface="Times New Roman" panose="02020603050405020304" pitchFamily="18" charset="0"/>
              </a:rPr>
              <a:t>N</a:t>
            </a:r>
            <a:r>
              <a:rPr lang="zh-CN" altLang="en-US" sz="2400" b="1" dirty="0" smtClean="0">
                <a:latin typeface="Times New Roman" panose="02020603050405020304" pitchFamily="18" charset="0"/>
                <a:cs typeface="Times New Roman" panose="02020603050405020304" pitchFamily="18" charset="0"/>
              </a:rPr>
              <a:t>上的可行流</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是辅助网络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上的可行流</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则</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w</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 = </a:t>
            </a:r>
            <a:r>
              <a:rPr lang="en-US" altLang="zh-CN" sz="2400" b="1" i="1" dirty="0" smtClean="0">
                <a:latin typeface="Times New Roman" panose="02020603050405020304" pitchFamily="18" charset="0"/>
                <a:cs typeface="Times New Roman" panose="02020603050405020304" pitchFamily="18" charset="0"/>
              </a:rPr>
              <a:t>w</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aw</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zh-CN" altLang="en-US" sz="2400" b="1" dirty="0" smtClean="0">
              <a:latin typeface="Times New Roman" panose="02020603050405020304" pitchFamily="18" charset="0"/>
              <a:cs typeface="Times New Roman" panose="02020603050405020304" pitchFamily="18" charset="0"/>
            </a:endParaRPr>
          </a:p>
        </p:txBody>
      </p:sp>
      <p:sp>
        <p:nvSpPr>
          <p:cNvPr id="5018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42B6A5CE-10E3-4A0F-A8A9-AC21FFFB4B20}" type="slidenum">
              <a:rPr lang="zh-CN" altLang="en-US" sz="1200" smtClean="0">
                <a:solidFill>
                  <a:srgbClr val="898989"/>
                </a:solidFill>
              </a:rPr>
            </a:fld>
            <a:endParaRPr lang="zh-CN" altLang="en-US" sz="1200" smtClean="0">
              <a:solidFill>
                <a:srgbClr val="898989"/>
              </a:solidFill>
            </a:endParaRPr>
          </a:p>
        </p:txBody>
      </p:sp>
      <p:sp>
        <p:nvSpPr>
          <p:cNvPr id="50181"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50182" name="Object 5"/>
          <p:cNvGraphicFramePr>
            <a:graphicFrameLocks noChangeAspect="1"/>
          </p:cNvGraphicFramePr>
          <p:nvPr/>
        </p:nvGraphicFramePr>
        <p:xfrm>
          <a:off x="1785938" y="2428875"/>
          <a:ext cx="5303837" cy="1000125"/>
        </p:xfrm>
        <a:graphic>
          <a:graphicData uri="http://schemas.openxmlformats.org/presentationml/2006/ole">
            <mc:AlternateContent xmlns:mc="http://schemas.openxmlformats.org/markup-compatibility/2006">
              <mc:Choice xmlns:v="urn:schemas-microsoft-com:vml" Requires="v">
                <p:oleObj spid="_x0000_s50185" name="Equation" r:id="rId1" imgW="2667000" imgH="508000" progId="Equation.3">
                  <p:embed/>
                </p:oleObj>
              </mc:Choice>
              <mc:Fallback>
                <p:oleObj name="Equation" r:id="rId1" imgW="2667000" imgH="5080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38" y="2428875"/>
                        <a:ext cx="5303837"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a:xfrm>
            <a:off x="376024" y="147435"/>
            <a:ext cx="8229600" cy="1143000"/>
          </a:xfrm>
        </p:spPr>
        <p:txBody>
          <a:bodyPr/>
          <a:lstStyle/>
          <a:p>
            <a:r>
              <a:rPr lang="zh-CN" altLang="en-US" sz="4000" b="1" dirty="0" smtClean="0">
                <a:solidFill>
                  <a:srgbClr val="C00000"/>
                </a:solidFill>
                <a:latin typeface="Times New Roman" panose="02020603050405020304" pitchFamily="18" charset="0"/>
                <a:cs typeface="Times New Roman" panose="02020603050405020304" pitchFamily="18" charset="0"/>
              </a:rPr>
              <a:t>最小费用流的负回路算法</a:t>
            </a:r>
            <a:endParaRPr lang="zh-CN" altLang="en-US" sz="4000" dirty="0" smtClean="0">
              <a:solidFill>
                <a:srgbClr val="C00000"/>
              </a:solidFill>
              <a:latin typeface="Times New Roman" panose="02020603050405020304" pitchFamily="18" charset="0"/>
              <a:cs typeface="Times New Roman" panose="02020603050405020304" pitchFamily="18" charset="0"/>
            </a:endParaRPr>
          </a:p>
        </p:txBody>
      </p:sp>
      <p:sp>
        <p:nvSpPr>
          <p:cNvPr id="5120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7128CA3F-B850-4C08-BEF6-0007E98B4F09}" type="slidenum">
              <a:rPr lang="zh-CN" altLang="en-US" sz="1200" smtClean="0">
                <a:solidFill>
                  <a:srgbClr val="898989"/>
                </a:solidFill>
              </a:rPr>
            </a:fld>
            <a:endParaRPr lang="zh-CN" altLang="en-US" sz="1200" smtClean="0">
              <a:solidFill>
                <a:srgbClr val="898989"/>
              </a:solidFill>
            </a:endParaRPr>
          </a:p>
        </p:txBody>
      </p:sp>
      <mc:AlternateContent xmlns:mc="http://schemas.openxmlformats.org/markup-compatibility/2006">
        <mc:Choice xmlns:a14="http://schemas.microsoft.com/office/drawing/2010/main" Requires="a14">
          <p:sp>
            <p:nvSpPr>
              <p:cNvPr id="2" name="内容占位符 1"/>
              <p:cNvSpPr>
                <a:spLocks noGrp="1"/>
              </p:cNvSpPr>
              <p:nvPr>
                <p:ph idx="1"/>
              </p:nvPr>
            </p:nvSpPr>
            <p:spPr>
              <a:xfrm>
                <a:off x="570384" y="1268760"/>
                <a:ext cx="8003232" cy="4938712"/>
              </a:xfrm>
            </p:spPr>
            <p:txBody>
              <a:bodyPr/>
              <a:lstStyle/>
              <a:p>
                <a:pPr marL="0" indent="0">
                  <a:lnSpc>
                    <a:spcPts val="3300"/>
                  </a:lnSpc>
                  <a:buNone/>
                </a:pPr>
                <a:r>
                  <a:rPr lang="zh-CN" altLang="zh-CN" sz="2400" b="1" dirty="0" smtClean="0">
                    <a:solidFill>
                      <a:srgbClr val="C00000"/>
                    </a:solidFill>
                    <a:latin typeface="Times New Roman" panose="02020603050405020304" pitchFamily="18" charset="0"/>
                    <a:cs typeface="Times New Roman" panose="02020603050405020304" pitchFamily="18" charset="0"/>
                  </a:rPr>
                  <a:t>定义</a:t>
                </a:r>
                <a:r>
                  <a:rPr lang="en-US" altLang="zh-CN" sz="2400" b="1" dirty="0">
                    <a:solidFill>
                      <a:srgbClr val="C00000"/>
                    </a:solidFill>
                    <a:latin typeface="Times New Roman" panose="02020603050405020304" pitchFamily="18" charset="0"/>
                    <a:cs typeface="Times New Roman" panose="02020603050405020304" pitchFamily="18" charset="0"/>
                  </a:rPr>
                  <a:t>7.8 </a:t>
                </a:r>
                <a:r>
                  <a:rPr lang="zh-CN" altLang="zh-CN" sz="2400" b="1" dirty="0" smtClean="0">
                    <a:latin typeface="Times New Roman" panose="02020603050405020304" pitchFamily="18" charset="0"/>
                    <a:cs typeface="Times New Roman" panose="02020603050405020304" pitchFamily="18" charset="0"/>
                  </a:rPr>
                  <a:t>设</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C </a:t>
                </a:r>
                <a:r>
                  <a:rPr lang="zh-CN" altLang="zh-CN" sz="2400" b="1" dirty="0" smtClean="0">
                    <a:latin typeface="Times New Roman" panose="02020603050405020304" pitchFamily="18" charset="0"/>
                    <a:cs typeface="Times New Roman" panose="02020603050405020304" pitchFamily="18" charset="0"/>
                  </a:rPr>
                  <a:t>是</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N </a:t>
                </a:r>
                <a:r>
                  <a:rPr lang="zh-CN" altLang="zh-CN" sz="2400" b="1" dirty="0" smtClean="0">
                    <a:latin typeface="Times New Roman" panose="02020603050405020304" pitchFamily="18" charset="0"/>
                    <a:cs typeface="Times New Roman" panose="02020603050405020304" pitchFamily="18" charset="0"/>
                  </a:rPr>
                  <a:t>中</a:t>
                </a:r>
                <a:r>
                  <a:rPr lang="zh-CN" altLang="zh-CN" sz="2400" b="1" dirty="0">
                    <a:latin typeface="Times New Roman" panose="02020603050405020304" pitchFamily="18" charset="0"/>
                    <a:cs typeface="Times New Roman" panose="02020603050405020304" pitchFamily="18" charset="0"/>
                  </a:rPr>
                  <a:t>一条边不重复的回路</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C</a:t>
                </a:r>
                <a:r>
                  <a:rPr lang="zh-CN" altLang="zh-CN" sz="2400" b="1" dirty="0">
                    <a:latin typeface="Times New Roman" panose="02020603050405020304" pitchFamily="18" charset="0"/>
                    <a:cs typeface="Times New Roman" panose="02020603050405020304" pitchFamily="18" charset="0"/>
                  </a:rPr>
                  <a:t>上的圈</a:t>
                </a:r>
                <a:r>
                  <a:rPr lang="zh-CN" altLang="zh-CN" sz="2400" b="1" dirty="0" smtClean="0">
                    <a:latin typeface="Times New Roman" panose="02020603050405020304" pitchFamily="18" charset="0"/>
                    <a:cs typeface="Times New Roman" panose="02020603050405020304" pitchFamily="18" charset="0"/>
                  </a:rPr>
                  <a:t>流</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h</a:t>
                </a:r>
                <a:r>
                  <a:rPr lang="en-US" altLang="zh-CN" sz="2400" b="1" i="1" baseline="30000" dirty="0" err="1" smtClean="0">
                    <a:latin typeface="Times New Roman" panose="02020603050405020304" pitchFamily="18" charset="0"/>
                    <a:cs typeface="Times New Roman" panose="02020603050405020304" pitchFamily="18" charset="0"/>
                  </a:rPr>
                  <a:t>C</a:t>
                </a:r>
                <a:r>
                  <a:rPr lang="en-US" altLang="zh-CN" sz="2400" b="1" i="1" baseline="30000"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定义</a:t>
                </a:r>
                <a:r>
                  <a:rPr lang="zh-CN" altLang="zh-CN" sz="2400" b="1" dirty="0">
                    <a:latin typeface="Times New Roman" panose="02020603050405020304" pitchFamily="18" charset="0"/>
                    <a:cs typeface="Times New Roman" panose="02020603050405020304" pitchFamily="18" charset="0"/>
                  </a:rPr>
                  <a:t>如下</a:t>
                </a:r>
                <a:r>
                  <a:rPr lang="en-US" altLang="zh-CN"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&lt;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a:latin typeface="Times New Roman" panose="02020603050405020304" pitchFamily="18" charset="0"/>
                    <a:cs typeface="Times New Roman" panose="02020603050405020304" pitchFamily="18" charset="0"/>
                  </a:rPr>
                  <a:t>&gt;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E</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C</a:t>
                </a:r>
                <a:r>
                  <a:rPr lang="en-US" altLang="zh-CN" sz="2400" b="1" dirty="0">
                    <a:latin typeface="Times New Roman" panose="02020603050405020304" pitchFamily="18" charset="0"/>
                    <a:cs typeface="Times New Roman" panose="02020603050405020304" pitchFamily="18" charset="0"/>
                  </a:rPr>
                  <a:t>), </a:t>
                </a:r>
                <a:r>
                  <a:rPr lang="en-US" altLang="zh-CN" sz="2400" b="1" i="1" dirty="0" err="1">
                    <a:latin typeface="Times New Roman" panose="02020603050405020304" pitchFamily="18" charset="0"/>
                    <a:cs typeface="Times New Roman" panose="02020603050405020304" pitchFamily="18" charset="0"/>
                  </a:rPr>
                  <a:t>h</a:t>
                </a:r>
                <a:r>
                  <a:rPr lang="en-US" altLang="zh-CN" sz="2400" b="1" i="1" baseline="30000" dirty="0" err="1">
                    <a:latin typeface="Times New Roman" panose="02020603050405020304" pitchFamily="18" charset="0"/>
                    <a:cs typeface="Times New Roman" panose="02020603050405020304" pitchFamily="18" charset="0"/>
                  </a:rPr>
                  <a:t>C</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&lt;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a:latin typeface="Times New Roman" panose="02020603050405020304" pitchFamily="18" charset="0"/>
                    <a:cs typeface="Times New Roman" panose="02020603050405020304" pitchFamily="18" charset="0"/>
                  </a:rPr>
                  <a:t>&gt;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C</a:t>
                </a:r>
                <a:r>
                  <a:rPr lang="en-US" altLang="zh-CN" sz="2400" b="1" dirty="0">
                    <a:latin typeface="Times New Roman" panose="02020603050405020304" pitchFamily="18" charset="0"/>
                    <a:cs typeface="Times New Roman" panose="02020603050405020304" pitchFamily="18" charset="0"/>
                  </a:rPr>
                  <a:t>), </a:t>
                </a:r>
                <a:r>
                  <a:rPr lang="en-US" altLang="zh-CN" sz="2400" b="1" i="1" dirty="0" err="1">
                    <a:latin typeface="Times New Roman" panose="02020603050405020304" pitchFamily="18" charset="0"/>
                    <a:cs typeface="Times New Roman" panose="02020603050405020304" pitchFamily="18" charset="0"/>
                  </a:rPr>
                  <a:t>h</a:t>
                </a:r>
                <a:r>
                  <a:rPr lang="en-US" altLang="zh-CN" sz="2400" b="1" i="1" baseline="30000" dirty="0" err="1">
                    <a:latin typeface="Times New Roman" panose="02020603050405020304" pitchFamily="18" charset="0"/>
                    <a:cs typeface="Times New Roman" panose="02020603050405020304" pitchFamily="18" charset="0"/>
                  </a:rPr>
                  <a:t>C</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 0</a:t>
                </a:r>
                <a:r>
                  <a:rPr lang="en-US" altLang="zh-CN" sz="2400" b="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其中</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&gt; 0</a:t>
                </a:r>
                <a:r>
                  <a:rPr lang="zh-CN" altLang="zh-CN" sz="2400" b="1" dirty="0" smtClean="0">
                    <a:latin typeface="Times New Roman" panose="02020603050405020304" pitchFamily="18" charset="0"/>
                    <a:cs typeface="Times New Roman" panose="02020603050405020304" pitchFamily="18" charset="0"/>
                  </a:rPr>
                  <a:t>称作</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h</a:t>
                </a:r>
                <a:r>
                  <a:rPr lang="en-US" altLang="zh-CN" sz="2400" b="1" i="1" baseline="30000" dirty="0" err="1" smtClean="0">
                    <a:latin typeface="Times New Roman" panose="02020603050405020304" pitchFamily="18" charset="0"/>
                    <a:cs typeface="Times New Roman" panose="02020603050405020304" pitchFamily="18" charset="0"/>
                  </a:rPr>
                  <a:t>C</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的</a:t>
                </a:r>
                <a:r>
                  <a:rPr lang="zh-CN" altLang="zh-CN" sz="2400" b="1" dirty="0" smtClean="0">
                    <a:latin typeface="Times New Roman" panose="02020603050405020304" pitchFamily="18" charset="0"/>
                    <a:cs typeface="Times New Roman" panose="02020603050405020304" pitchFamily="18" charset="0"/>
                  </a:rPr>
                  <a:t>环流量</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marL="0" indent="0">
                  <a:lnSpc>
                    <a:spcPts val="3300"/>
                  </a:lnSpc>
                  <a:buNone/>
                </a:pPr>
                <a:r>
                  <a:rPr lang="en-US" altLang="zh-CN" sz="2400" b="1" i="1" dirty="0" smtClean="0">
                    <a:latin typeface="Times New Roman" panose="02020603050405020304" pitchFamily="18" charset="0"/>
                    <a:cs typeface="Times New Roman" panose="02020603050405020304" pitchFamily="18" charset="0"/>
                  </a:rPr>
                  <a:t>     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h</a:t>
                </a:r>
                <a:r>
                  <a:rPr lang="en-US" altLang="zh-CN" sz="2400" b="1" i="1" baseline="30000" dirty="0" err="1" smtClean="0">
                    <a:latin typeface="Times New Roman" panose="02020603050405020304" pitchFamily="18" charset="0"/>
                    <a:cs typeface="Times New Roman" panose="02020603050405020304" pitchFamily="18" charset="0"/>
                  </a:rPr>
                  <a:t>C</a:t>
                </a:r>
                <a:r>
                  <a:rPr lang="en-US" altLang="zh-CN" sz="2400" b="1" dirty="0">
                    <a:latin typeface="Times New Roman" panose="02020603050405020304" pitchFamily="18" charset="0"/>
                    <a:cs typeface="Times New Roman" panose="02020603050405020304" pitchFamily="18" charset="0"/>
                  </a:rPr>
                  <a:t>)=0,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w</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h</a:t>
                </a:r>
                <a:r>
                  <a:rPr lang="en-US" altLang="zh-CN" sz="2400" b="1" i="1" baseline="30000" dirty="0" err="1">
                    <a:latin typeface="Times New Roman" panose="02020603050405020304" pitchFamily="18" charset="0"/>
                    <a:cs typeface="Times New Roman" panose="02020603050405020304" pitchFamily="18" charset="0"/>
                  </a:rPr>
                  <a:t>C</a:t>
                </a:r>
                <a:r>
                  <a:rPr lang="en-US" altLang="zh-CN" sz="2400" b="1" dirty="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w</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C</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其中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w</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C</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14:m>
                  <m:oMath xmlns:m="http://schemas.openxmlformats.org/officeDocument/2006/math">
                    <m:nary>
                      <m:naryPr>
                        <m:chr m:val="∑"/>
                        <m:supHide m:val="on"/>
                        <m:ctrlP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ctrlPr>
                      </m:naryPr>
                      <m:sub>
                        <m:r>
                          <m:rPr>
                            <m:brk m:alnAt="7"/>
                          </m:rP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&lt;</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𝒊</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𝒋</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&gt;∈</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𝑬</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𝑪</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sub>
                      <m:sup/>
                      <m:e>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𝒘</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𝒊</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𝒋</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m:t>
                        </m:r>
                      </m:e>
                    </m:nary>
                  </m:oMath>
                </a14:m>
                <a:endParaRPr lang="en-US" altLang="zh-CN" sz="2400" b="1" dirty="0">
                  <a:latin typeface="Times New Roman" panose="02020603050405020304" pitchFamily="18" charset="0"/>
                  <a:cs typeface="Times New Roman" panose="02020603050405020304" pitchFamily="18" charset="0"/>
                  <a:sym typeface="Symbol" panose="05050102010706020507" pitchFamily="18" charset="2"/>
                </a:endParaRPr>
              </a:p>
              <a:p>
                <a:pPr marL="0" lvl="0" indent="0">
                  <a:lnSpc>
                    <a:spcPts val="3300"/>
                  </a:lnSpc>
                  <a:spcBef>
                    <a:spcPts val="1800"/>
                  </a:spcBef>
                  <a:buNone/>
                </a:pPr>
                <a:r>
                  <a:rPr lang="zh-CN" altLang="en-US" sz="2400" b="1" dirty="0" smtClean="0">
                    <a:latin typeface="Times New Roman" panose="02020603050405020304" pitchFamily="18" charset="0"/>
                    <a:cs typeface="Times New Roman" panose="02020603050405020304" pitchFamily="18" charset="0"/>
                  </a:rPr>
                  <a:t>设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是 </a:t>
                </a:r>
                <a:r>
                  <a:rPr lang="en-US" altLang="zh-CN" sz="2400" b="1" i="1" dirty="0" smtClean="0">
                    <a:latin typeface="Times New Roman" panose="02020603050405020304" pitchFamily="18" charset="0"/>
                    <a:cs typeface="Times New Roman" panose="02020603050405020304" pitchFamily="18" charset="0"/>
                  </a:rPr>
                  <a:t>N </a:t>
                </a:r>
                <a:r>
                  <a:rPr lang="zh-CN" altLang="en-US" sz="2400" b="1" dirty="0" smtClean="0">
                    <a:latin typeface="Times New Roman" panose="02020603050405020304" pitchFamily="18" charset="0"/>
                    <a:cs typeface="Times New Roman" panose="02020603050405020304" pitchFamily="18" charset="0"/>
                  </a:rPr>
                  <a:t>上</a:t>
                </a:r>
                <a:r>
                  <a:rPr lang="zh-CN" altLang="en-US" sz="2400" b="1" dirty="0">
                    <a:latin typeface="Times New Roman" panose="02020603050405020304" pitchFamily="18" charset="0"/>
                    <a:cs typeface="Times New Roman" panose="02020603050405020304" pitchFamily="18" charset="0"/>
                  </a:rPr>
                  <a:t>的一个可行</a:t>
                </a:r>
                <a:r>
                  <a:rPr lang="zh-CN" altLang="en-US" sz="2400" b="1" dirty="0" smtClean="0">
                    <a:latin typeface="Times New Roman" panose="02020603050405020304" pitchFamily="18" charset="0"/>
                    <a:cs typeface="Times New Roman" panose="02020603050405020304" pitchFamily="18" charset="0"/>
                  </a:rPr>
                  <a:t>流</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h</a:t>
                </a:r>
                <a:r>
                  <a:rPr lang="en-US" altLang="zh-CN" sz="2400" b="1" i="1" baseline="30000" dirty="0" err="1" smtClean="0">
                    <a:latin typeface="Times New Roman" panose="02020603050405020304" pitchFamily="18" charset="0"/>
                    <a:cs typeface="Times New Roman" panose="02020603050405020304" pitchFamily="18" charset="0"/>
                  </a:rPr>
                  <a:t>C</a:t>
                </a:r>
                <a:r>
                  <a:rPr lang="en-US" altLang="zh-CN" sz="2400" b="1" i="1" baseline="30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是</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上的一个圈流</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f</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 =</a:t>
                </a:r>
                <a:r>
                  <a:rPr lang="en-US" altLang="zh-CN" sz="24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sym typeface="Symbol" panose="05050102010706020507" pitchFamily="18" charset="2"/>
                  </a:rPr>
                  <a:t>h</a:t>
                </a:r>
                <a:r>
                  <a:rPr lang="en-US" altLang="zh-CN" sz="2400" b="1" i="1" baseline="30000" dirty="0" err="1">
                    <a:latin typeface="Times New Roman" panose="02020603050405020304" pitchFamily="18" charset="0"/>
                    <a:cs typeface="Times New Roman" panose="02020603050405020304" pitchFamily="18" charset="0"/>
                    <a:sym typeface="Symbol" panose="05050102010706020507" pitchFamily="18" charset="2"/>
                  </a:rPr>
                  <a:t>C</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rPr>
                  <a:t>是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N</a:t>
                </a:r>
                <a:r>
                  <a:rPr lang="zh-CN" altLang="en-US" sz="2400" b="1" dirty="0">
                    <a:latin typeface="Times New Roman" panose="02020603050405020304" pitchFamily="18" charset="0"/>
                    <a:cs typeface="Times New Roman" panose="02020603050405020304" pitchFamily="18" charset="0"/>
                    <a:sym typeface="Symbol" panose="05050102010706020507" pitchFamily="18" charset="2"/>
                  </a:rPr>
                  <a:t>上的可行流</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且</a:t>
                </a:r>
                <a:r>
                  <a:rPr lang="zh-CN" altLang="en-US"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v</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f</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f</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w</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f</a:t>
                </a:r>
                <a:r>
                  <a:rPr lang="en-US" altLang="zh-CN" sz="2400" b="1" i="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w</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f</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aw</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C</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a:latin typeface="Times New Roman" panose="02020603050405020304" pitchFamily="18" charset="0"/>
                    <a:cs typeface="Times New Roman" panose="02020603050405020304" pitchFamily="18" charset="0"/>
                    <a:sym typeface="Symbol" panose="05050102010706020507" pitchFamily="18" charset="2"/>
                  </a:rPr>
                  <a:t>如果</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aw</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C</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&lt; 0</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则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w</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f</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&lt;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w</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f</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400" b="1" i="1" dirty="0">
                  <a:latin typeface="Times New Roman" panose="02020603050405020304" pitchFamily="18" charset="0"/>
                  <a:cs typeface="Times New Roman" panose="02020603050405020304" pitchFamily="18" charset="0"/>
                  <a:sym typeface="Symbol" panose="05050102010706020507" pitchFamily="18" charset="2"/>
                </a:endParaRPr>
              </a:p>
              <a:p>
                <a:pPr marL="0" lvl="0" indent="0">
                  <a:lnSpc>
                    <a:spcPts val="3300"/>
                  </a:lnSpc>
                  <a:spcBef>
                    <a:spcPts val="1800"/>
                  </a:spcBef>
                  <a:buNone/>
                </a:pP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求</a:t>
                </a:r>
                <a:r>
                  <a:rPr lang="zh-CN" altLang="en-US" sz="2400" b="1" dirty="0">
                    <a:latin typeface="Times New Roman" panose="02020603050405020304" pitchFamily="18" charset="0"/>
                    <a:cs typeface="Times New Roman" panose="02020603050405020304" pitchFamily="18" charset="0"/>
                    <a:sym typeface="Symbol" panose="05050102010706020507" pitchFamily="18" charset="2"/>
                  </a:rPr>
                  <a:t>最小费用流的构想</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a:latin typeface="Times New Roman" panose="02020603050405020304" pitchFamily="18" charset="0"/>
                    <a:cs typeface="Times New Roman" panose="02020603050405020304" pitchFamily="18" charset="0"/>
                    <a:sym typeface="Symbol" panose="05050102010706020507" pitchFamily="18" charset="2"/>
                  </a:rPr>
                  <a:t>首先求一个</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流量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v</a:t>
                </a:r>
                <a:r>
                  <a:rPr lang="en-US" altLang="zh-CN" sz="2400" b="1" baseline="-30000" dirty="0" smtClean="0">
                    <a:latin typeface="Times New Roman" panose="02020603050405020304" pitchFamily="18" charset="0"/>
                    <a:cs typeface="Times New Roman" panose="02020603050405020304" pitchFamily="18" charset="0"/>
                    <a:sym typeface="Symbol" panose="05050102010706020507" pitchFamily="18" charset="2"/>
                  </a:rPr>
                  <a:t>0</a:t>
                </a:r>
                <a:r>
                  <a:rPr lang="zh-CN" altLang="en-US" sz="2400" b="1" dirty="0">
                    <a:latin typeface="Times New Roman" panose="02020603050405020304" pitchFamily="18" charset="0"/>
                    <a:cs typeface="Times New Roman" panose="02020603050405020304" pitchFamily="18" charset="0"/>
                    <a:sym typeface="Symbol" panose="05050102010706020507" pitchFamily="18" charset="2"/>
                  </a:rPr>
                  <a:t>的可行</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流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f</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a:latin typeface="Times New Roman" panose="02020603050405020304" pitchFamily="18" charset="0"/>
                    <a:cs typeface="Times New Roman" panose="02020603050405020304" pitchFamily="18" charset="0"/>
                    <a:sym typeface="Symbol" panose="05050102010706020507" pitchFamily="18" charset="2"/>
                  </a:rPr>
                  <a:t>如果</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f</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中</a:t>
                </a:r>
                <a:r>
                  <a:rPr lang="zh-CN" altLang="en-US" sz="2400" b="1" dirty="0">
                    <a:latin typeface="Times New Roman" panose="02020603050405020304" pitchFamily="18" charset="0"/>
                    <a:cs typeface="Times New Roman" panose="02020603050405020304" pitchFamily="18" charset="0"/>
                    <a:sym typeface="Symbol" panose="05050102010706020507" pitchFamily="18" charset="2"/>
                  </a:rPr>
                  <a:t>存在</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权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aw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的</a:t>
                </a:r>
                <a:r>
                  <a:rPr lang="zh-CN" altLang="en-US" sz="2400" b="1" dirty="0">
                    <a:latin typeface="Times New Roman" panose="02020603050405020304" pitchFamily="18" charset="0"/>
                    <a:cs typeface="Times New Roman" panose="02020603050405020304" pitchFamily="18" charset="0"/>
                    <a:sym typeface="Symbol" panose="05050102010706020507" pitchFamily="18" charset="2"/>
                  </a:rPr>
                  <a:t>负</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回路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C</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令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f</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f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smtClean="0">
                    <a:latin typeface="Times New Roman" panose="02020603050405020304" pitchFamily="18" charset="0"/>
                    <a:cs typeface="Times New Roman" panose="02020603050405020304" pitchFamily="18" charset="0"/>
                    <a:sym typeface="Symbol" panose="05050102010706020507" pitchFamily="18" charset="2"/>
                  </a:rPr>
                  <a:t>h</a:t>
                </a:r>
                <a:r>
                  <a:rPr lang="en-US" altLang="zh-CN" sz="2400" b="1" i="1" baseline="30000" dirty="0" err="1" smtClean="0">
                    <a:latin typeface="Times New Roman" panose="02020603050405020304" pitchFamily="18" charset="0"/>
                    <a:cs typeface="Times New Roman" panose="02020603050405020304" pitchFamily="18" charset="0"/>
                    <a:sym typeface="Symbol" panose="05050102010706020507" pitchFamily="18" charset="2"/>
                  </a:rPr>
                  <a:t>C</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重复</a:t>
                </a:r>
                <a:r>
                  <a:rPr lang="zh-CN" altLang="en-US" sz="2400" b="1" dirty="0">
                    <a:latin typeface="Times New Roman" panose="02020603050405020304" pitchFamily="18" charset="0"/>
                    <a:cs typeface="Times New Roman" panose="02020603050405020304" pitchFamily="18" charset="0"/>
                    <a:sym typeface="Symbol" panose="05050102010706020507" pitchFamily="18" charset="2"/>
                  </a:rPr>
                  <a:t>进行</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a:latin typeface="Times New Roman" panose="02020603050405020304" pitchFamily="18" charset="0"/>
                    <a:cs typeface="Times New Roman" panose="02020603050405020304" pitchFamily="18" charset="0"/>
                    <a:sym typeface="Symbol" panose="05050102010706020507" pitchFamily="18" charset="2"/>
                  </a:rPr>
                  <a:t>直至辅助网络中不存在</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权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aw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的</a:t>
                </a:r>
                <a:r>
                  <a:rPr lang="zh-CN" altLang="en-US" sz="2400" b="1" dirty="0">
                    <a:latin typeface="Times New Roman" panose="02020603050405020304" pitchFamily="18" charset="0"/>
                    <a:cs typeface="Times New Roman" panose="02020603050405020304" pitchFamily="18" charset="0"/>
                    <a:sym typeface="Symbol" panose="05050102010706020507" pitchFamily="18" charset="2"/>
                  </a:rPr>
                  <a:t>负回路为止 </a:t>
                </a:r>
                <a:endParaRPr lang="zh-CN" altLang="en-US" sz="2400" b="1" dirty="0">
                  <a:latin typeface="Times New Roman" panose="02020603050405020304" pitchFamily="18" charset="0"/>
                  <a:cs typeface="Times New Roman" panose="02020603050405020304" pitchFamily="18" charset="0"/>
                  <a:sym typeface="Symbol" panose="05050102010706020507" pitchFamily="18" charset="2"/>
                </a:endParaRPr>
              </a:p>
              <a:p>
                <a:pPr marL="0" indent="0">
                  <a:buNone/>
                </a:pPr>
                <a:endParaRPr lang="en-US" altLang="zh-CN" sz="2400" b="1" dirty="0" smtClean="0"/>
              </a:p>
              <a:p>
                <a:pPr marL="0" indent="0">
                  <a:buNone/>
                </a:pPr>
                <a:endParaRPr lang="zh-CN" altLang="en-US" sz="2400"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570384" y="1268760"/>
                <a:ext cx="8003232" cy="4938712"/>
              </a:xfrm>
              <a:blipFill rotWithShape="1">
                <a:blip r:embed="rId1"/>
                <a:stretch>
                  <a:fillRect l="-2" t="-618" r="6" b="-13095"/>
                </a:stretch>
              </a:blipFill>
            </p:spPr>
            <p:txBody>
              <a:bodyPr/>
              <a:lstStyle/>
              <a:p>
                <a:r>
                  <a:rPr lang="zh-CN" altLang="en-US">
                    <a:noFill/>
                  </a:rPr>
                  <a:t> </a:t>
                </a:r>
              </a:p>
            </p:txBody>
          </p:sp>
        </mc:Fallback>
      </mc:AlternateContent>
      <p:sp>
        <p:nvSpPr>
          <p:cNvPr id="8" name="Rectangle 10"/>
          <p:cNvSpPr>
            <a:spLocks noChangeArrowheads="1"/>
          </p:cNvSpPr>
          <p:nvPr/>
        </p:nvSpPr>
        <p:spPr bwMode="auto">
          <a:xfrm>
            <a:off x="152400" y="9620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a:xfrm>
            <a:off x="400050" y="325438"/>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最小费用流的负回路算法</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52227" name="内容占位符 2"/>
          <p:cNvSpPr>
            <a:spLocks noGrp="1"/>
          </p:cNvSpPr>
          <p:nvPr>
            <p:ph idx="1"/>
          </p:nvPr>
        </p:nvSpPr>
        <p:spPr>
          <a:xfrm>
            <a:off x="436563" y="1506538"/>
            <a:ext cx="8229600" cy="500062"/>
          </a:xfrm>
        </p:spPr>
        <p:txBody>
          <a:bodyPr/>
          <a:lstStyle/>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例</a:t>
            </a:r>
            <a:r>
              <a:rPr lang="en-US" altLang="zh-CN" sz="2400" b="1" dirty="0" smtClean="0">
                <a:solidFill>
                  <a:srgbClr val="C00000"/>
                </a:solidFill>
                <a:latin typeface="Times New Roman" panose="02020603050405020304" pitchFamily="18" charset="0"/>
                <a:cs typeface="Times New Roman" panose="02020603050405020304" pitchFamily="18" charset="0"/>
              </a:rPr>
              <a:t>7.4</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旁边的 </a:t>
            </a:r>
            <a:r>
              <a:rPr lang="en-US" altLang="zh-CN" sz="2400" b="1" dirty="0" smtClean="0">
                <a:latin typeface="Times New Roman" panose="02020603050405020304" pitchFamily="18" charset="0"/>
                <a:cs typeface="Times New Roman" panose="02020603050405020304" pitchFamily="18" charset="0"/>
              </a:rPr>
              <a:t>2</a:t>
            </a:r>
            <a:r>
              <a:rPr lang="zh-CN" altLang="en-US" sz="2400" b="1" dirty="0" smtClean="0">
                <a:latin typeface="Times New Roman" panose="02020603050405020304" pitchFamily="18" charset="0"/>
                <a:cs typeface="Times New Roman" panose="02020603050405020304" pitchFamily="18" charset="0"/>
              </a:rPr>
              <a:t>个数依次是容量和费用</a:t>
            </a:r>
            <a:endParaRPr lang="en-US" altLang="zh-CN" sz="2400" b="1" dirty="0" smtClean="0">
              <a:latin typeface="Times New Roman" panose="02020603050405020304" pitchFamily="18" charset="0"/>
              <a:cs typeface="Times New Roman" panose="02020603050405020304" pitchFamily="18" charset="0"/>
            </a:endParaRPr>
          </a:p>
        </p:txBody>
      </p:sp>
      <p:sp>
        <p:nvSpPr>
          <p:cNvPr id="52228" name="灯片编号占位符 4"/>
          <p:cNvSpPr>
            <a:spLocks noGrp="1"/>
          </p:cNvSpPr>
          <p:nvPr>
            <p:ph type="sldNum" sz="quarter" idx="12"/>
          </p:nvPr>
        </p:nvSpPr>
        <p:spPr bwMode="auto">
          <a:xfrm>
            <a:off x="6477000" y="6269038"/>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A165209B-835E-456E-878C-68059E037EE2}" type="slidenum">
              <a:rPr lang="zh-CN" altLang="en-US" sz="1200" smtClean="0">
                <a:solidFill>
                  <a:srgbClr val="898989"/>
                </a:solidFill>
              </a:rPr>
            </a:fld>
            <a:endParaRPr lang="zh-CN" altLang="en-US" sz="1200" smtClean="0">
              <a:solidFill>
                <a:srgbClr val="898989"/>
              </a:solidFill>
            </a:endParaRPr>
          </a:p>
        </p:txBody>
      </p:sp>
      <p:grpSp>
        <p:nvGrpSpPr>
          <p:cNvPr id="52229" name="组合 126"/>
          <p:cNvGrpSpPr/>
          <p:nvPr/>
        </p:nvGrpSpPr>
        <p:grpSpPr bwMode="auto">
          <a:xfrm>
            <a:off x="857250" y="2236788"/>
            <a:ext cx="2422525" cy="2487612"/>
            <a:chOff x="857253" y="2000250"/>
            <a:chExt cx="2285987" cy="2357445"/>
          </a:xfrm>
        </p:grpSpPr>
        <p:sp>
          <p:nvSpPr>
            <p:cNvPr id="6" name="内容占位符 2"/>
            <p:cNvSpPr txBox="1"/>
            <p:nvPr/>
          </p:nvSpPr>
          <p:spPr bwMode="auto">
            <a:xfrm>
              <a:off x="857253" y="3786011"/>
              <a:ext cx="2285987" cy="571684"/>
            </a:xfrm>
            <a:prstGeom prst="rect">
              <a:avLst/>
            </a:prstGeom>
            <a:noFill/>
            <a:ln w="9525">
              <a:noFill/>
              <a:miter lim="800000"/>
            </a:ln>
          </p:spPr>
          <p:txBody>
            <a:bodyPr/>
            <a:lstStyle/>
            <a:p>
              <a:pPr marL="342900" indent="-342900">
                <a:spcBef>
                  <a:spcPct val="20000"/>
                </a:spcBef>
                <a:buFont typeface="Arial" panose="020B0604020202020204" pitchFamily="34" charset="0"/>
                <a:buNone/>
                <a:defRPr/>
              </a:pPr>
              <a:r>
                <a:rPr lang="en-US" sz="2400" b="1" i="1" dirty="0">
                  <a:latin typeface="Times New Roman" panose="02020603050405020304" pitchFamily="18" charset="0"/>
                  <a:ea typeface="+mn-ea"/>
                  <a:cs typeface="Times New Roman" panose="02020603050405020304" pitchFamily="18" charset="0"/>
                </a:rPr>
                <a:t>v</a:t>
              </a:r>
              <a:r>
                <a:rPr lang="en-US" sz="2400" b="1" baseline="-25000" dirty="0">
                  <a:latin typeface="Times New Roman" panose="02020603050405020304" pitchFamily="18" charset="0"/>
                  <a:ea typeface="+mn-ea"/>
                  <a:cs typeface="Times New Roman" panose="02020603050405020304" pitchFamily="18" charset="0"/>
                </a:rPr>
                <a:t>0</a:t>
              </a:r>
              <a:r>
                <a:rPr lang="en-US" sz="2400" b="1" dirty="0">
                  <a:latin typeface="Times New Roman" panose="02020603050405020304" pitchFamily="18" charset="0"/>
                  <a:ea typeface="+mn-ea"/>
                  <a:cs typeface="Times New Roman" panose="02020603050405020304" pitchFamily="18" charset="0"/>
                </a:rPr>
                <a:t>=8, </a:t>
              </a:r>
              <a:r>
                <a:rPr lang="en-US" sz="2400" b="1" i="1" dirty="0">
                  <a:latin typeface="Times New Roman" panose="02020603050405020304" pitchFamily="18" charset="0"/>
                  <a:ea typeface="+mn-ea"/>
                  <a:cs typeface="Times New Roman" panose="02020603050405020304" pitchFamily="18" charset="0"/>
                </a:rPr>
                <a:t>w</a:t>
              </a:r>
              <a:r>
                <a:rPr lang="en-US" sz="2400" b="1" dirty="0">
                  <a:latin typeface="Times New Roman" panose="02020603050405020304" pitchFamily="18" charset="0"/>
                  <a:ea typeface="+mn-ea"/>
                  <a:cs typeface="Times New Roman" panose="02020603050405020304" pitchFamily="18" charset="0"/>
                </a:rPr>
                <a:t>(</a:t>
              </a:r>
              <a:r>
                <a:rPr lang="en-US" sz="2400" b="1" i="1" dirty="0">
                  <a:latin typeface="Times New Roman" panose="02020603050405020304" pitchFamily="18" charset="0"/>
                  <a:ea typeface="+mn-ea"/>
                  <a:cs typeface="Times New Roman" panose="02020603050405020304" pitchFamily="18" charset="0"/>
                </a:rPr>
                <a:t>f</a:t>
              </a:r>
              <a:r>
                <a:rPr lang="en-US" sz="2400" b="1" dirty="0">
                  <a:latin typeface="Times New Roman" panose="02020603050405020304" pitchFamily="18" charset="0"/>
                  <a:ea typeface="+mn-ea"/>
                  <a:cs typeface="Times New Roman" panose="02020603050405020304" pitchFamily="18" charset="0"/>
                </a:rPr>
                <a:t>)=42. </a:t>
              </a:r>
              <a:endParaRPr lang="en-US" sz="2400" b="1" dirty="0">
                <a:latin typeface="Times New Roman" panose="02020603050405020304" pitchFamily="18" charset="0"/>
                <a:ea typeface="+mn-ea"/>
                <a:cs typeface="Times New Roman" panose="02020603050405020304" pitchFamily="18" charset="0"/>
              </a:endParaRPr>
            </a:p>
          </p:txBody>
        </p:sp>
        <p:grpSp>
          <p:nvGrpSpPr>
            <p:cNvPr id="52289" name="组合 123"/>
            <p:cNvGrpSpPr/>
            <p:nvPr/>
          </p:nvGrpSpPr>
          <p:grpSpPr bwMode="auto">
            <a:xfrm>
              <a:off x="928662" y="2000250"/>
              <a:ext cx="2071702" cy="1714500"/>
              <a:chOff x="500034" y="2000250"/>
              <a:chExt cx="2071702" cy="1714500"/>
            </a:xfrm>
          </p:grpSpPr>
          <p:sp>
            <p:nvSpPr>
              <p:cNvPr id="52290" name="Oval 8"/>
              <p:cNvSpPr>
                <a:spLocks noChangeArrowheads="1"/>
              </p:cNvSpPr>
              <p:nvPr/>
            </p:nvSpPr>
            <p:spPr bwMode="auto">
              <a:xfrm>
                <a:off x="546071" y="2720975"/>
                <a:ext cx="168275" cy="1714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52291" name="Text Box 10"/>
              <p:cNvSpPr txBox="1">
                <a:spLocks noChangeArrowheads="1"/>
              </p:cNvSpPr>
              <p:nvPr/>
            </p:nvSpPr>
            <p:spPr bwMode="auto">
              <a:xfrm>
                <a:off x="800071" y="2143125"/>
                <a:ext cx="485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5,3</a:t>
                </a:r>
                <a:endParaRPr lang="zh-CN" altLang="zh-CN" sz="1400" b="1">
                  <a:latin typeface="Arial" panose="020B0604020202020204" pitchFamily="34" charset="0"/>
                </a:endParaRPr>
              </a:p>
            </p:txBody>
          </p:sp>
          <p:sp>
            <p:nvSpPr>
              <p:cNvPr id="52292" name="Oval 11"/>
              <p:cNvSpPr>
                <a:spLocks noChangeArrowheads="1"/>
              </p:cNvSpPr>
              <p:nvPr/>
            </p:nvSpPr>
            <p:spPr bwMode="auto">
              <a:xfrm>
                <a:off x="1319184" y="2063750"/>
                <a:ext cx="168275" cy="1714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52293" name="Oval 13"/>
              <p:cNvSpPr>
                <a:spLocks noChangeArrowheads="1"/>
              </p:cNvSpPr>
              <p:nvPr/>
            </p:nvSpPr>
            <p:spPr bwMode="auto">
              <a:xfrm>
                <a:off x="2065309" y="2720975"/>
                <a:ext cx="168275" cy="1714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52294" name="Oval 15"/>
              <p:cNvSpPr>
                <a:spLocks noChangeArrowheads="1"/>
              </p:cNvSpPr>
              <p:nvPr/>
            </p:nvSpPr>
            <p:spPr bwMode="auto">
              <a:xfrm>
                <a:off x="1309659" y="3408363"/>
                <a:ext cx="168275" cy="169862"/>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52295" name="AutoShape 17"/>
              <p:cNvCxnSpPr>
                <a:cxnSpLocks noChangeShapeType="1"/>
              </p:cNvCxnSpPr>
              <p:nvPr/>
            </p:nvCxnSpPr>
            <p:spPr bwMode="auto">
              <a:xfrm flipV="1">
                <a:off x="714346" y="2235200"/>
                <a:ext cx="604838" cy="485775"/>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52296" name="AutoShape 18"/>
              <p:cNvCxnSpPr>
                <a:cxnSpLocks noChangeShapeType="1"/>
              </p:cNvCxnSpPr>
              <p:nvPr/>
            </p:nvCxnSpPr>
            <p:spPr bwMode="auto">
              <a:xfrm>
                <a:off x="714346" y="2892425"/>
                <a:ext cx="595313" cy="57308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52297" name="AutoShape 19"/>
              <p:cNvCxnSpPr>
                <a:cxnSpLocks noChangeShapeType="1"/>
              </p:cNvCxnSpPr>
              <p:nvPr/>
            </p:nvCxnSpPr>
            <p:spPr bwMode="auto">
              <a:xfrm flipH="1">
                <a:off x="1387446" y="2235200"/>
                <a:ext cx="28575" cy="117316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52298" name="AutoShape 20"/>
              <p:cNvCxnSpPr>
                <a:cxnSpLocks noChangeShapeType="1"/>
              </p:cNvCxnSpPr>
              <p:nvPr/>
            </p:nvCxnSpPr>
            <p:spPr bwMode="auto">
              <a:xfrm>
                <a:off x="1487459" y="2225675"/>
                <a:ext cx="577850" cy="536575"/>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52299" name="AutoShape 21"/>
              <p:cNvCxnSpPr>
                <a:cxnSpLocks noChangeShapeType="1"/>
              </p:cNvCxnSpPr>
              <p:nvPr/>
            </p:nvCxnSpPr>
            <p:spPr bwMode="auto">
              <a:xfrm flipV="1">
                <a:off x="1487459" y="2892425"/>
                <a:ext cx="577850" cy="57308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sp>
            <p:nvSpPr>
              <p:cNvPr id="52300" name="Text Box 26"/>
              <p:cNvSpPr txBox="1">
                <a:spLocks noChangeArrowheads="1"/>
              </p:cNvSpPr>
              <p:nvPr/>
            </p:nvSpPr>
            <p:spPr bwMode="auto">
              <a:xfrm>
                <a:off x="566709" y="2286000"/>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f</a:t>
                </a:r>
                <a:r>
                  <a:rPr lang="en-US" altLang="zh-CN" sz="1400" b="1">
                    <a:latin typeface="Times New Roman" panose="02020603050405020304" pitchFamily="18" charset="0"/>
                  </a:rPr>
                  <a:t>=5</a:t>
                </a:r>
                <a:endParaRPr lang="zh-CN" altLang="zh-CN" sz="1400" b="1">
                  <a:latin typeface="Arial" panose="020B0604020202020204" pitchFamily="34" charset="0"/>
                </a:endParaRPr>
              </a:p>
            </p:txBody>
          </p:sp>
          <p:sp>
            <p:nvSpPr>
              <p:cNvPr id="52301" name="Text Box 10"/>
              <p:cNvSpPr txBox="1">
                <a:spLocks noChangeArrowheads="1"/>
              </p:cNvSpPr>
              <p:nvPr/>
            </p:nvSpPr>
            <p:spPr bwMode="auto">
              <a:xfrm>
                <a:off x="1000096" y="2532063"/>
                <a:ext cx="485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3,1</a:t>
                </a:r>
                <a:endParaRPr lang="zh-CN" altLang="zh-CN" sz="1400" b="1">
                  <a:latin typeface="Arial" panose="020B0604020202020204" pitchFamily="34" charset="0"/>
                </a:endParaRPr>
              </a:p>
            </p:txBody>
          </p:sp>
          <p:sp>
            <p:nvSpPr>
              <p:cNvPr id="52302" name="Text Box 10"/>
              <p:cNvSpPr txBox="1">
                <a:spLocks noChangeArrowheads="1"/>
              </p:cNvSpPr>
              <p:nvPr/>
            </p:nvSpPr>
            <p:spPr bwMode="auto">
              <a:xfrm>
                <a:off x="1585884" y="2143125"/>
                <a:ext cx="485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6,3</a:t>
                </a:r>
                <a:endParaRPr lang="zh-CN" altLang="zh-CN" sz="1400" b="1">
                  <a:latin typeface="Arial" panose="020B0604020202020204" pitchFamily="34" charset="0"/>
                </a:endParaRPr>
              </a:p>
            </p:txBody>
          </p:sp>
          <p:sp>
            <p:nvSpPr>
              <p:cNvPr id="52303" name="Text Box 10"/>
              <p:cNvSpPr txBox="1">
                <a:spLocks noChangeArrowheads="1"/>
              </p:cNvSpPr>
              <p:nvPr/>
            </p:nvSpPr>
            <p:spPr bwMode="auto">
              <a:xfrm>
                <a:off x="585759" y="2960688"/>
                <a:ext cx="485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5,3</a:t>
                </a:r>
                <a:endParaRPr lang="zh-CN" altLang="zh-CN" sz="1400" b="1">
                  <a:latin typeface="Arial" panose="020B0604020202020204" pitchFamily="34" charset="0"/>
                </a:endParaRPr>
              </a:p>
            </p:txBody>
          </p:sp>
          <p:sp>
            <p:nvSpPr>
              <p:cNvPr id="52304" name="Text Box 10"/>
              <p:cNvSpPr txBox="1">
                <a:spLocks noChangeArrowheads="1"/>
              </p:cNvSpPr>
              <p:nvPr/>
            </p:nvSpPr>
            <p:spPr bwMode="auto">
              <a:xfrm>
                <a:off x="1857346" y="2960688"/>
                <a:ext cx="485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6,1</a:t>
                </a:r>
                <a:endParaRPr lang="zh-CN" altLang="zh-CN" sz="1400" b="1">
                  <a:latin typeface="Arial" panose="020B0604020202020204" pitchFamily="34" charset="0"/>
                </a:endParaRPr>
              </a:p>
            </p:txBody>
          </p:sp>
          <p:sp>
            <p:nvSpPr>
              <p:cNvPr id="52305" name="Text Box 26"/>
              <p:cNvSpPr txBox="1">
                <a:spLocks noChangeArrowheads="1"/>
              </p:cNvSpPr>
              <p:nvPr/>
            </p:nvSpPr>
            <p:spPr bwMode="auto">
              <a:xfrm>
                <a:off x="719109" y="3148013"/>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f</a:t>
                </a:r>
                <a:r>
                  <a:rPr lang="en-US" altLang="zh-CN" sz="1400" b="1">
                    <a:latin typeface="Times New Roman" panose="02020603050405020304" pitchFamily="18" charset="0"/>
                  </a:rPr>
                  <a:t>=3</a:t>
                </a:r>
                <a:endParaRPr lang="zh-CN" altLang="zh-CN" sz="1400" b="1">
                  <a:latin typeface="Arial" panose="020B0604020202020204" pitchFamily="34" charset="0"/>
                </a:endParaRPr>
              </a:p>
            </p:txBody>
          </p:sp>
          <p:sp>
            <p:nvSpPr>
              <p:cNvPr id="52306" name="Text Box 26"/>
              <p:cNvSpPr txBox="1">
                <a:spLocks noChangeArrowheads="1"/>
              </p:cNvSpPr>
              <p:nvPr/>
            </p:nvSpPr>
            <p:spPr bwMode="auto">
              <a:xfrm>
                <a:off x="1852584" y="2286000"/>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f</a:t>
                </a:r>
                <a:r>
                  <a:rPr lang="en-US" altLang="zh-CN" sz="1400" b="1">
                    <a:latin typeface="Times New Roman" panose="02020603050405020304" pitchFamily="18" charset="0"/>
                  </a:rPr>
                  <a:t>=5</a:t>
                </a:r>
                <a:endParaRPr lang="zh-CN" altLang="zh-CN" sz="1400" b="1">
                  <a:latin typeface="Arial" panose="020B0604020202020204" pitchFamily="34" charset="0"/>
                </a:endParaRPr>
              </a:p>
            </p:txBody>
          </p:sp>
          <p:sp>
            <p:nvSpPr>
              <p:cNvPr id="52307" name="Text Box 26"/>
              <p:cNvSpPr txBox="1">
                <a:spLocks noChangeArrowheads="1"/>
              </p:cNvSpPr>
              <p:nvPr/>
            </p:nvSpPr>
            <p:spPr bwMode="auto">
              <a:xfrm>
                <a:off x="1638271" y="3148013"/>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f</a:t>
                </a:r>
                <a:r>
                  <a:rPr lang="en-US" altLang="zh-CN" sz="1400" b="1">
                    <a:latin typeface="Times New Roman" panose="02020603050405020304" pitchFamily="18" charset="0"/>
                  </a:rPr>
                  <a:t>=3</a:t>
                </a:r>
                <a:endParaRPr lang="zh-CN" altLang="zh-CN" sz="1400" b="1">
                  <a:latin typeface="Arial" panose="020B0604020202020204" pitchFamily="34" charset="0"/>
                </a:endParaRPr>
              </a:p>
            </p:txBody>
          </p:sp>
          <p:sp>
            <p:nvSpPr>
              <p:cNvPr id="52308" name="Text Box 26"/>
              <p:cNvSpPr txBox="1">
                <a:spLocks noChangeArrowheads="1"/>
              </p:cNvSpPr>
              <p:nvPr/>
            </p:nvSpPr>
            <p:spPr bwMode="auto">
              <a:xfrm>
                <a:off x="1000096" y="2714625"/>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f</a:t>
                </a:r>
                <a:r>
                  <a:rPr lang="en-US" altLang="zh-CN" sz="1400" b="1">
                    <a:latin typeface="Times New Roman" panose="02020603050405020304" pitchFamily="18" charset="0"/>
                  </a:rPr>
                  <a:t>=0</a:t>
                </a:r>
                <a:endParaRPr lang="zh-CN" altLang="zh-CN" sz="1400" b="1">
                  <a:latin typeface="Arial" panose="020B0604020202020204" pitchFamily="34" charset="0"/>
                </a:endParaRPr>
              </a:p>
            </p:txBody>
          </p:sp>
          <p:sp>
            <p:nvSpPr>
              <p:cNvPr id="52309" name="Text Box 26"/>
              <p:cNvSpPr txBox="1">
                <a:spLocks noChangeArrowheads="1"/>
              </p:cNvSpPr>
              <p:nvPr/>
            </p:nvSpPr>
            <p:spPr bwMode="auto">
              <a:xfrm>
                <a:off x="500034" y="2647950"/>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s</a:t>
                </a:r>
                <a:endParaRPr lang="zh-CN" altLang="zh-CN" sz="1400" b="1">
                  <a:latin typeface="Arial" panose="020B0604020202020204" pitchFamily="34" charset="0"/>
                </a:endParaRPr>
              </a:p>
            </p:txBody>
          </p:sp>
          <p:sp>
            <p:nvSpPr>
              <p:cNvPr id="52310" name="Text Box 26"/>
              <p:cNvSpPr txBox="1">
                <a:spLocks noChangeArrowheads="1"/>
              </p:cNvSpPr>
              <p:nvPr/>
            </p:nvSpPr>
            <p:spPr bwMode="auto">
              <a:xfrm>
                <a:off x="1285846" y="2000250"/>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a:t>
                </a:r>
                <a:endParaRPr lang="zh-CN" altLang="zh-CN" sz="1400" b="1">
                  <a:latin typeface="Arial" panose="020B0604020202020204" pitchFamily="34" charset="0"/>
                </a:endParaRPr>
              </a:p>
            </p:txBody>
          </p:sp>
          <p:sp>
            <p:nvSpPr>
              <p:cNvPr id="52311" name="Text Box 26"/>
              <p:cNvSpPr txBox="1">
                <a:spLocks noChangeArrowheads="1"/>
              </p:cNvSpPr>
              <p:nvPr/>
            </p:nvSpPr>
            <p:spPr bwMode="auto">
              <a:xfrm>
                <a:off x="1281084" y="3362325"/>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2</a:t>
                </a:r>
                <a:endParaRPr lang="zh-CN" altLang="zh-CN" sz="1400" b="1">
                  <a:latin typeface="Arial" panose="020B0604020202020204" pitchFamily="34" charset="0"/>
                </a:endParaRPr>
              </a:p>
            </p:txBody>
          </p:sp>
          <p:sp>
            <p:nvSpPr>
              <p:cNvPr id="52312" name="Text Box 26"/>
              <p:cNvSpPr txBox="1">
                <a:spLocks noChangeArrowheads="1"/>
              </p:cNvSpPr>
              <p:nvPr/>
            </p:nvSpPr>
            <p:spPr bwMode="auto">
              <a:xfrm>
                <a:off x="2066911" y="2643182"/>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t</a:t>
                </a:r>
                <a:endParaRPr lang="zh-CN" altLang="zh-CN" sz="1400" b="1">
                  <a:latin typeface="Arial" panose="020B0604020202020204" pitchFamily="34" charset="0"/>
                </a:endParaRPr>
              </a:p>
            </p:txBody>
          </p:sp>
        </p:grpSp>
      </p:grpSp>
      <p:grpSp>
        <p:nvGrpSpPr>
          <p:cNvPr id="4" name="组合 127"/>
          <p:cNvGrpSpPr/>
          <p:nvPr/>
        </p:nvGrpSpPr>
        <p:grpSpPr bwMode="auto">
          <a:xfrm>
            <a:off x="3371850" y="2236788"/>
            <a:ext cx="2414588" cy="2786062"/>
            <a:chOff x="3371845" y="2000240"/>
            <a:chExt cx="2414601" cy="2786083"/>
          </a:xfrm>
        </p:grpSpPr>
        <p:grpSp>
          <p:nvGrpSpPr>
            <p:cNvPr id="52259" name="组合 119"/>
            <p:cNvGrpSpPr/>
            <p:nvPr/>
          </p:nvGrpSpPr>
          <p:grpSpPr bwMode="auto">
            <a:xfrm>
              <a:off x="3371845" y="2000240"/>
              <a:ext cx="2128849" cy="1714512"/>
              <a:chOff x="3371845" y="2000240"/>
              <a:chExt cx="2128849" cy="1714512"/>
            </a:xfrm>
          </p:grpSpPr>
          <p:sp>
            <p:nvSpPr>
              <p:cNvPr id="52261" name="Oval 57"/>
              <p:cNvSpPr>
                <a:spLocks noChangeArrowheads="1"/>
              </p:cNvSpPr>
              <p:nvPr/>
            </p:nvSpPr>
            <p:spPr bwMode="auto">
              <a:xfrm>
                <a:off x="3484563" y="2720975"/>
                <a:ext cx="168275" cy="1714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52262" name="Oval 60"/>
              <p:cNvSpPr>
                <a:spLocks noChangeArrowheads="1"/>
              </p:cNvSpPr>
              <p:nvPr/>
            </p:nvSpPr>
            <p:spPr bwMode="auto">
              <a:xfrm>
                <a:off x="4257675" y="2063750"/>
                <a:ext cx="168275" cy="1714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52263" name="Oval 62"/>
              <p:cNvSpPr>
                <a:spLocks noChangeArrowheads="1"/>
              </p:cNvSpPr>
              <p:nvPr/>
            </p:nvSpPr>
            <p:spPr bwMode="auto">
              <a:xfrm>
                <a:off x="5003800" y="2720975"/>
                <a:ext cx="168275" cy="1714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52264" name="Oval 64"/>
              <p:cNvSpPr>
                <a:spLocks noChangeArrowheads="1"/>
              </p:cNvSpPr>
              <p:nvPr/>
            </p:nvSpPr>
            <p:spPr bwMode="auto">
              <a:xfrm>
                <a:off x="4248150" y="3408363"/>
                <a:ext cx="169863" cy="169862"/>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52265" name="AutoShape 66"/>
              <p:cNvCxnSpPr>
                <a:cxnSpLocks noChangeShapeType="1"/>
              </p:cNvCxnSpPr>
              <p:nvPr/>
            </p:nvCxnSpPr>
            <p:spPr bwMode="auto">
              <a:xfrm flipV="1">
                <a:off x="3652838" y="2235200"/>
                <a:ext cx="604837" cy="485775"/>
              </a:xfrm>
              <a:prstGeom prst="straightConnector1">
                <a:avLst/>
              </a:prstGeom>
              <a:noFill/>
              <a:ln w="3175">
                <a:solidFill>
                  <a:srgbClr val="000000"/>
                </a:solidFill>
                <a:round/>
                <a:headEnd type="arrow" w="med" len="med"/>
              </a:ln>
              <a:extLst>
                <a:ext uri="{909E8E84-426E-40DD-AFC4-6F175D3DCCD1}">
                  <a14:hiddenFill xmlns:a14="http://schemas.microsoft.com/office/drawing/2010/main">
                    <a:noFill/>
                  </a14:hiddenFill>
                </a:ext>
              </a:extLst>
            </p:spPr>
          </p:cxnSp>
          <p:cxnSp>
            <p:nvCxnSpPr>
              <p:cNvPr id="52266" name="AutoShape 67"/>
              <p:cNvCxnSpPr>
                <a:cxnSpLocks noChangeShapeType="1"/>
              </p:cNvCxnSpPr>
              <p:nvPr/>
            </p:nvCxnSpPr>
            <p:spPr bwMode="auto">
              <a:xfrm>
                <a:off x="3652838" y="2892425"/>
                <a:ext cx="595312" cy="57308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52267" name="AutoShape 68"/>
              <p:cNvCxnSpPr>
                <a:cxnSpLocks noChangeShapeType="1"/>
              </p:cNvCxnSpPr>
              <p:nvPr/>
            </p:nvCxnSpPr>
            <p:spPr bwMode="auto">
              <a:xfrm flipH="1">
                <a:off x="4325938" y="2235200"/>
                <a:ext cx="28575" cy="1173163"/>
              </a:xfrm>
              <a:prstGeom prst="straightConnector1">
                <a:avLst/>
              </a:prstGeom>
              <a:noFill/>
              <a:ln w="9525">
                <a:solidFill>
                  <a:srgbClr val="FF0000"/>
                </a:solidFill>
                <a:round/>
                <a:tailEnd type="arrow" w="med" len="med"/>
              </a:ln>
              <a:extLst>
                <a:ext uri="{909E8E84-426E-40DD-AFC4-6F175D3DCCD1}">
                  <a14:hiddenFill xmlns:a14="http://schemas.microsoft.com/office/drawing/2010/main">
                    <a:noFill/>
                  </a14:hiddenFill>
                </a:ext>
              </a:extLst>
            </p:spPr>
          </p:cxnSp>
          <p:cxnSp>
            <p:nvCxnSpPr>
              <p:cNvPr id="52268" name="AutoShape 69"/>
              <p:cNvCxnSpPr>
                <a:cxnSpLocks noChangeShapeType="1"/>
              </p:cNvCxnSpPr>
              <p:nvPr/>
            </p:nvCxnSpPr>
            <p:spPr bwMode="auto">
              <a:xfrm>
                <a:off x="4425950" y="2225675"/>
                <a:ext cx="577850" cy="536575"/>
              </a:xfrm>
              <a:prstGeom prst="straightConnector1">
                <a:avLst/>
              </a:prstGeom>
              <a:noFill/>
              <a:ln w="9525">
                <a:solidFill>
                  <a:srgbClr val="FF0000"/>
                </a:solidFill>
                <a:round/>
                <a:headEnd type="arrow" w="med" len="med"/>
              </a:ln>
              <a:extLst>
                <a:ext uri="{909E8E84-426E-40DD-AFC4-6F175D3DCCD1}">
                  <a14:hiddenFill xmlns:a14="http://schemas.microsoft.com/office/drawing/2010/main">
                    <a:noFill/>
                  </a14:hiddenFill>
                </a:ext>
              </a:extLst>
            </p:spPr>
          </p:cxnSp>
          <p:cxnSp>
            <p:nvCxnSpPr>
              <p:cNvPr id="52269" name="AutoShape 70"/>
              <p:cNvCxnSpPr>
                <a:cxnSpLocks noChangeShapeType="1"/>
              </p:cNvCxnSpPr>
              <p:nvPr/>
            </p:nvCxnSpPr>
            <p:spPr bwMode="auto">
              <a:xfrm flipV="1">
                <a:off x="4425950" y="2892425"/>
                <a:ext cx="577850" cy="573088"/>
              </a:xfrm>
              <a:prstGeom prst="straightConnector1">
                <a:avLst/>
              </a:prstGeom>
              <a:noFill/>
              <a:ln w="9525">
                <a:solidFill>
                  <a:srgbClr val="FF0000"/>
                </a:solidFill>
                <a:round/>
                <a:tailEnd type="arrow" w="med" len="med"/>
              </a:ln>
              <a:extLst>
                <a:ext uri="{909E8E84-426E-40DD-AFC4-6F175D3DCCD1}">
                  <a14:hiddenFill xmlns:a14="http://schemas.microsoft.com/office/drawing/2010/main">
                    <a:noFill/>
                  </a14:hiddenFill>
                </a:ext>
              </a:extLst>
            </p:spPr>
          </p:cxnSp>
          <p:sp>
            <p:nvSpPr>
              <p:cNvPr id="52270" name="Freeform 80"/>
              <p:cNvSpPr/>
              <p:nvPr/>
            </p:nvSpPr>
            <p:spPr bwMode="auto">
              <a:xfrm>
                <a:off x="4448175" y="2190750"/>
                <a:ext cx="620713" cy="568325"/>
              </a:xfrm>
              <a:custGeom>
                <a:avLst/>
                <a:gdLst>
                  <a:gd name="T0" fmla="*/ 0 w 552"/>
                  <a:gd name="T1" fmla="*/ 0 h 477"/>
                  <a:gd name="T2" fmla="*/ 2147483646 w 552"/>
                  <a:gd name="T3" fmla="*/ 2147483646 h 477"/>
                  <a:gd name="T4" fmla="*/ 2147483646 w 552"/>
                  <a:gd name="T5" fmla="*/ 2147483646 h 477"/>
                  <a:gd name="T6" fmla="*/ 0 60000 65536"/>
                  <a:gd name="T7" fmla="*/ 0 60000 65536"/>
                  <a:gd name="T8" fmla="*/ 0 60000 65536"/>
                  <a:gd name="T9" fmla="*/ 0 w 552"/>
                  <a:gd name="T10" fmla="*/ 0 h 477"/>
                  <a:gd name="T11" fmla="*/ 552 w 552"/>
                  <a:gd name="T12" fmla="*/ 477 h 477"/>
                </a:gdLst>
                <a:ahLst/>
                <a:cxnLst>
                  <a:cxn ang="T6">
                    <a:pos x="T0" y="T1"/>
                  </a:cxn>
                  <a:cxn ang="T7">
                    <a:pos x="T2" y="T3"/>
                  </a:cxn>
                  <a:cxn ang="T8">
                    <a:pos x="T4" y="T5"/>
                  </a:cxn>
                </a:cxnLst>
                <a:rect l="T9" t="T10" r="T11" b="T12"/>
                <a:pathLst>
                  <a:path w="552" h="477">
                    <a:moveTo>
                      <a:pt x="0" y="0"/>
                    </a:moveTo>
                    <a:cubicBezTo>
                      <a:pt x="133" y="32"/>
                      <a:pt x="267" y="65"/>
                      <a:pt x="359" y="144"/>
                    </a:cubicBezTo>
                    <a:cubicBezTo>
                      <a:pt x="451" y="223"/>
                      <a:pt x="520" y="421"/>
                      <a:pt x="552" y="477"/>
                    </a:cubicBezTo>
                  </a:path>
                </a:pathLst>
              </a:custGeom>
              <a:noFill/>
              <a:ln w="3175">
                <a:solidFill>
                  <a:srgbClr val="000000"/>
                </a:solidFill>
                <a:rou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71" name="Freeform 81"/>
              <p:cNvSpPr/>
              <p:nvPr/>
            </p:nvSpPr>
            <p:spPr bwMode="auto">
              <a:xfrm>
                <a:off x="4418013" y="2901950"/>
                <a:ext cx="650875" cy="631825"/>
              </a:xfrm>
              <a:custGeom>
                <a:avLst/>
                <a:gdLst>
                  <a:gd name="T0" fmla="*/ 2147483646 w 580"/>
                  <a:gd name="T1" fmla="*/ 0 h 531"/>
                  <a:gd name="T2" fmla="*/ 2147483646 w 580"/>
                  <a:gd name="T3" fmla="*/ 2147483646 h 531"/>
                  <a:gd name="T4" fmla="*/ 0 w 580"/>
                  <a:gd name="T5" fmla="*/ 2147483646 h 531"/>
                  <a:gd name="T6" fmla="*/ 0 60000 65536"/>
                  <a:gd name="T7" fmla="*/ 0 60000 65536"/>
                  <a:gd name="T8" fmla="*/ 0 60000 65536"/>
                  <a:gd name="T9" fmla="*/ 0 w 580"/>
                  <a:gd name="T10" fmla="*/ 0 h 531"/>
                  <a:gd name="T11" fmla="*/ 580 w 580"/>
                  <a:gd name="T12" fmla="*/ 531 h 531"/>
                </a:gdLst>
                <a:ahLst/>
                <a:cxnLst>
                  <a:cxn ang="T6">
                    <a:pos x="T0" y="T1"/>
                  </a:cxn>
                  <a:cxn ang="T7">
                    <a:pos x="T2" y="T3"/>
                  </a:cxn>
                  <a:cxn ang="T8">
                    <a:pos x="T4" y="T5"/>
                  </a:cxn>
                </a:cxnLst>
                <a:rect l="T9" t="T10" r="T11" b="T12"/>
                <a:pathLst>
                  <a:path w="580" h="531">
                    <a:moveTo>
                      <a:pt x="580" y="0"/>
                    </a:moveTo>
                    <a:cubicBezTo>
                      <a:pt x="555" y="141"/>
                      <a:pt x="531" y="283"/>
                      <a:pt x="434" y="371"/>
                    </a:cubicBezTo>
                    <a:cubicBezTo>
                      <a:pt x="337" y="459"/>
                      <a:pt x="72" y="504"/>
                      <a:pt x="0" y="531"/>
                    </a:cubicBezTo>
                  </a:path>
                </a:pathLst>
              </a:custGeom>
              <a:noFill/>
              <a:ln w="3175">
                <a:solidFill>
                  <a:srgbClr val="000000"/>
                </a:solidFill>
                <a:rou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72" name="Freeform 82"/>
              <p:cNvSpPr/>
              <p:nvPr/>
            </p:nvSpPr>
            <p:spPr bwMode="auto">
              <a:xfrm>
                <a:off x="3598863" y="2901950"/>
                <a:ext cx="649287" cy="631825"/>
              </a:xfrm>
              <a:custGeom>
                <a:avLst/>
                <a:gdLst>
                  <a:gd name="T0" fmla="*/ 2147483646 w 578"/>
                  <a:gd name="T1" fmla="*/ 2147483646 h 531"/>
                  <a:gd name="T2" fmla="*/ 2147483646 w 578"/>
                  <a:gd name="T3" fmla="*/ 2147483646 h 531"/>
                  <a:gd name="T4" fmla="*/ 0 w 578"/>
                  <a:gd name="T5" fmla="*/ 0 h 531"/>
                  <a:gd name="T6" fmla="*/ 0 60000 65536"/>
                  <a:gd name="T7" fmla="*/ 0 60000 65536"/>
                  <a:gd name="T8" fmla="*/ 0 60000 65536"/>
                  <a:gd name="T9" fmla="*/ 0 w 578"/>
                  <a:gd name="T10" fmla="*/ 0 h 531"/>
                  <a:gd name="T11" fmla="*/ 578 w 578"/>
                  <a:gd name="T12" fmla="*/ 531 h 531"/>
                </a:gdLst>
                <a:ahLst/>
                <a:cxnLst>
                  <a:cxn ang="T6">
                    <a:pos x="T0" y="T1"/>
                  </a:cxn>
                  <a:cxn ang="T7">
                    <a:pos x="T2" y="T3"/>
                  </a:cxn>
                  <a:cxn ang="T8">
                    <a:pos x="T4" y="T5"/>
                  </a:cxn>
                </a:cxnLst>
                <a:rect l="T9" t="T10" r="T11" b="T12"/>
                <a:pathLst>
                  <a:path w="578" h="531">
                    <a:moveTo>
                      <a:pt x="578" y="531"/>
                    </a:moveTo>
                    <a:cubicBezTo>
                      <a:pt x="396" y="457"/>
                      <a:pt x="215" y="384"/>
                      <a:pt x="119" y="296"/>
                    </a:cubicBezTo>
                    <a:cubicBezTo>
                      <a:pt x="23" y="208"/>
                      <a:pt x="20" y="49"/>
                      <a:pt x="0" y="0"/>
                    </a:cubicBezTo>
                  </a:path>
                </a:pathLst>
              </a:custGeom>
              <a:noFill/>
              <a:ln w="3175">
                <a:solidFill>
                  <a:srgbClr val="000000"/>
                </a:solidFill>
                <a:rou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73" name="Text Box 26"/>
              <p:cNvSpPr txBox="1">
                <a:spLocks noChangeArrowheads="1"/>
              </p:cNvSpPr>
              <p:nvPr/>
            </p:nvSpPr>
            <p:spPr bwMode="auto">
              <a:xfrm>
                <a:off x="3428992" y="2647940"/>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s</a:t>
                </a:r>
                <a:endParaRPr lang="zh-CN" altLang="zh-CN" sz="1400" b="1">
                  <a:latin typeface="Arial" panose="020B0604020202020204" pitchFamily="34" charset="0"/>
                </a:endParaRPr>
              </a:p>
            </p:txBody>
          </p:sp>
          <p:sp>
            <p:nvSpPr>
              <p:cNvPr id="52274" name="Text Box 26"/>
              <p:cNvSpPr txBox="1">
                <a:spLocks noChangeArrowheads="1"/>
              </p:cNvSpPr>
              <p:nvPr/>
            </p:nvSpPr>
            <p:spPr bwMode="auto">
              <a:xfrm>
                <a:off x="4214804" y="2000240"/>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a:t>
                </a:r>
                <a:endParaRPr lang="zh-CN" altLang="zh-CN" sz="1400" b="1">
                  <a:latin typeface="Arial" panose="020B0604020202020204" pitchFamily="34" charset="0"/>
                </a:endParaRPr>
              </a:p>
            </p:txBody>
          </p:sp>
          <p:sp>
            <p:nvSpPr>
              <p:cNvPr id="52275" name="Text Box 26"/>
              <p:cNvSpPr txBox="1">
                <a:spLocks noChangeArrowheads="1"/>
              </p:cNvSpPr>
              <p:nvPr/>
            </p:nvSpPr>
            <p:spPr bwMode="auto">
              <a:xfrm>
                <a:off x="4210042" y="3362315"/>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2</a:t>
                </a:r>
                <a:endParaRPr lang="zh-CN" altLang="zh-CN" sz="1400" b="1">
                  <a:latin typeface="Arial" panose="020B0604020202020204" pitchFamily="34" charset="0"/>
                </a:endParaRPr>
              </a:p>
            </p:txBody>
          </p:sp>
          <p:sp>
            <p:nvSpPr>
              <p:cNvPr id="52276" name="Text Box 26"/>
              <p:cNvSpPr txBox="1">
                <a:spLocks noChangeArrowheads="1"/>
              </p:cNvSpPr>
              <p:nvPr/>
            </p:nvSpPr>
            <p:spPr bwMode="auto">
              <a:xfrm>
                <a:off x="4995869" y="2643182"/>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t</a:t>
                </a:r>
                <a:endParaRPr lang="zh-CN" altLang="zh-CN" sz="1400" b="1">
                  <a:latin typeface="Arial" panose="020B0604020202020204" pitchFamily="34" charset="0"/>
                </a:endParaRPr>
              </a:p>
            </p:txBody>
          </p:sp>
          <p:sp>
            <p:nvSpPr>
              <p:cNvPr id="52277" name="Text Box 10"/>
              <p:cNvSpPr txBox="1">
                <a:spLocks noChangeArrowheads="1"/>
              </p:cNvSpPr>
              <p:nvPr/>
            </p:nvSpPr>
            <p:spPr bwMode="auto">
              <a:xfrm>
                <a:off x="3657597" y="2246307"/>
                <a:ext cx="485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5,-3</a:t>
                </a:r>
                <a:endParaRPr lang="zh-CN" altLang="zh-CN" sz="1400" b="1">
                  <a:latin typeface="Arial" panose="020B0604020202020204" pitchFamily="34" charset="0"/>
                </a:endParaRPr>
              </a:p>
            </p:txBody>
          </p:sp>
          <p:sp>
            <p:nvSpPr>
              <p:cNvPr id="52278" name="Text Box 10"/>
              <p:cNvSpPr txBox="1">
                <a:spLocks noChangeArrowheads="1"/>
              </p:cNvSpPr>
              <p:nvPr/>
            </p:nvSpPr>
            <p:spPr bwMode="auto">
              <a:xfrm>
                <a:off x="3943349" y="2532059"/>
                <a:ext cx="485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3,1</a:t>
                </a:r>
                <a:endParaRPr lang="zh-CN" altLang="zh-CN" sz="1400" b="1">
                  <a:latin typeface="Arial" panose="020B0604020202020204" pitchFamily="34" charset="0"/>
                </a:endParaRPr>
              </a:p>
            </p:txBody>
          </p:sp>
          <p:sp>
            <p:nvSpPr>
              <p:cNvPr id="52279" name="Text Box 10"/>
              <p:cNvSpPr txBox="1">
                <a:spLocks noChangeArrowheads="1"/>
              </p:cNvSpPr>
              <p:nvPr/>
            </p:nvSpPr>
            <p:spPr bwMode="auto">
              <a:xfrm>
                <a:off x="3729035" y="2960687"/>
                <a:ext cx="485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2,3</a:t>
                </a:r>
                <a:endParaRPr lang="zh-CN" altLang="zh-CN" sz="1400" b="1">
                  <a:latin typeface="Arial" panose="020B0604020202020204" pitchFamily="34" charset="0"/>
                </a:endParaRPr>
              </a:p>
            </p:txBody>
          </p:sp>
          <p:sp>
            <p:nvSpPr>
              <p:cNvPr id="52280" name="Text Box 10"/>
              <p:cNvSpPr txBox="1">
                <a:spLocks noChangeArrowheads="1"/>
              </p:cNvSpPr>
              <p:nvPr/>
            </p:nvSpPr>
            <p:spPr bwMode="auto">
              <a:xfrm>
                <a:off x="3371845" y="3175001"/>
                <a:ext cx="485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3,-3</a:t>
                </a:r>
                <a:endParaRPr lang="zh-CN" altLang="zh-CN" sz="1400" b="1">
                  <a:latin typeface="Arial" panose="020B0604020202020204" pitchFamily="34" charset="0"/>
                </a:endParaRPr>
              </a:p>
            </p:txBody>
          </p:sp>
          <p:sp>
            <p:nvSpPr>
              <p:cNvPr id="52281" name="Text Box 10"/>
              <p:cNvSpPr txBox="1">
                <a:spLocks noChangeArrowheads="1"/>
              </p:cNvSpPr>
              <p:nvPr/>
            </p:nvSpPr>
            <p:spPr bwMode="auto">
              <a:xfrm>
                <a:off x="4872043" y="2214554"/>
                <a:ext cx="485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1,3</a:t>
                </a:r>
                <a:endParaRPr lang="zh-CN" altLang="zh-CN" sz="1400" b="1">
                  <a:latin typeface="Arial" panose="020B0604020202020204" pitchFamily="34" charset="0"/>
                </a:endParaRPr>
              </a:p>
            </p:txBody>
          </p:sp>
          <p:sp>
            <p:nvSpPr>
              <p:cNvPr id="52282" name="Text Box 10"/>
              <p:cNvSpPr txBox="1">
                <a:spLocks noChangeArrowheads="1"/>
              </p:cNvSpPr>
              <p:nvPr/>
            </p:nvSpPr>
            <p:spPr bwMode="auto">
              <a:xfrm>
                <a:off x="4286248" y="2357430"/>
                <a:ext cx="485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5,-3</a:t>
                </a:r>
                <a:endParaRPr lang="zh-CN" altLang="zh-CN" sz="1400" b="1">
                  <a:latin typeface="Arial" panose="020B0604020202020204" pitchFamily="34" charset="0"/>
                </a:endParaRPr>
              </a:p>
            </p:txBody>
          </p:sp>
          <p:sp>
            <p:nvSpPr>
              <p:cNvPr id="52283" name="Text Box 10"/>
              <p:cNvSpPr txBox="1">
                <a:spLocks noChangeArrowheads="1"/>
              </p:cNvSpPr>
              <p:nvPr/>
            </p:nvSpPr>
            <p:spPr bwMode="auto">
              <a:xfrm>
                <a:off x="4514853" y="2817811"/>
                <a:ext cx="485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3,1</a:t>
                </a:r>
                <a:endParaRPr lang="zh-CN" altLang="zh-CN" sz="1400" b="1">
                  <a:latin typeface="Arial" panose="020B0604020202020204" pitchFamily="34" charset="0"/>
                </a:endParaRPr>
              </a:p>
            </p:txBody>
          </p:sp>
          <p:sp>
            <p:nvSpPr>
              <p:cNvPr id="52284" name="Text Box 10"/>
              <p:cNvSpPr txBox="1">
                <a:spLocks noChangeArrowheads="1"/>
              </p:cNvSpPr>
              <p:nvPr/>
            </p:nvSpPr>
            <p:spPr bwMode="auto">
              <a:xfrm>
                <a:off x="4786314" y="3317877"/>
                <a:ext cx="485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3,-1</a:t>
                </a:r>
                <a:endParaRPr lang="zh-CN" altLang="zh-CN" sz="1400" b="1">
                  <a:latin typeface="Arial" panose="020B0604020202020204" pitchFamily="34" charset="0"/>
                </a:endParaRPr>
              </a:p>
            </p:txBody>
          </p:sp>
          <p:sp>
            <p:nvSpPr>
              <p:cNvPr id="52285" name="Text Box 26"/>
              <p:cNvSpPr txBox="1">
                <a:spLocks noChangeArrowheads="1"/>
              </p:cNvSpPr>
              <p:nvPr/>
            </p:nvSpPr>
            <p:spPr bwMode="auto">
              <a:xfrm>
                <a:off x="3924299" y="2719385"/>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h</a:t>
                </a:r>
                <a:r>
                  <a:rPr lang="en-US" altLang="zh-CN" sz="1400" b="1">
                    <a:latin typeface="Times New Roman" panose="02020603050405020304" pitchFamily="18" charset="0"/>
                  </a:rPr>
                  <a:t>=3</a:t>
                </a:r>
                <a:endParaRPr lang="zh-CN" altLang="zh-CN" sz="1400" b="1">
                  <a:latin typeface="Arial" panose="020B0604020202020204" pitchFamily="34" charset="0"/>
                </a:endParaRPr>
              </a:p>
            </p:txBody>
          </p:sp>
          <p:sp>
            <p:nvSpPr>
              <p:cNvPr id="52286" name="Text Box 26"/>
              <p:cNvSpPr txBox="1">
                <a:spLocks noChangeArrowheads="1"/>
              </p:cNvSpPr>
              <p:nvPr/>
            </p:nvSpPr>
            <p:spPr bwMode="auto">
              <a:xfrm>
                <a:off x="4281489" y="3005137"/>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h</a:t>
                </a:r>
                <a:r>
                  <a:rPr lang="en-US" altLang="zh-CN" sz="1400" b="1">
                    <a:latin typeface="Times New Roman" panose="02020603050405020304" pitchFamily="18" charset="0"/>
                  </a:rPr>
                  <a:t>=3</a:t>
                </a:r>
                <a:endParaRPr lang="zh-CN" altLang="zh-CN" sz="1400" b="1">
                  <a:latin typeface="Arial" panose="020B0604020202020204" pitchFamily="34" charset="0"/>
                </a:endParaRPr>
              </a:p>
            </p:txBody>
          </p:sp>
          <p:sp>
            <p:nvSpPr>
              <p:cNvPr id="52287" name="Text Box 26"/>
              <p:cNvSpPr txBox="1">
                <a:spLocks noChangeArrowheads="1"/>
              </p:cNvSpPr>
              <p:nvPr/>
            </p:nvSpPr>
            <p:spPr bwMode="auto">
              <a:xfrm>
                <a:off x="4429124" y="2500306"/>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h</a:t>
                </a:r>
                <a:r>
                  <a:rPr lang="en-US" altLang="zh-CN" sz="1400" b="1">
                    <a:latin typeface="Times New Roman" panose="02020603050405020304" pitchFamily="18" charset="0"/>
                  </a:rPr>
                  <a:t>=3</a:t>
                </a:r>
                <a:endParaRPr lang="zh-CN" altLang="zh-CN" sz="1400" b="1">
                  <a:latin typeface="Arial" panose="020B0604020202020204" pitchFamily="34" charset="0"/>
                </a:endParaRPr>
              </a:p>
            </p:txBody>
          </p:sp>
        </p:grpSp>
        <p:sp>
          <p:nvSpPr>
            <p:cNvPr id="125" name="内容占位符 2"/>
            <p:cNvSpPr txBox="1"/>
            <p:nvPr/>
          </p:nvSpPr>
          <p:spPr bwMode="auto">
            <a:xfrm>
              <a:off x="3500434" y="3786190"/>
              <a:ext cx="2286012" cy="1000133"/>
            </a:xfrm>
            <a:prstGeom prst="rect">
              <a:avLst/>
            </a:prstGeom>
            <a:noFill/>
            <a:ln w="9525">
              <a:noFill/>
              <a:miter lim="800000"/>
            </a:ln>
          </p:spPr>
          <p:txBody>
            <a:bodyPr/>
            <a:lstStyle/>
            <a:p>
              <a:pPr marL="342900" indent="-342900">
                <a:spcBef>
                  <a:spcPct val="20000"/>
                </a:spcBef>
                <a:buFont typeface="Arial" panose="020B0604020202020204" pitchFamily="34" charset="0"/>
                <a:buNone/>
                <a:defRPr/>
              </a:pPr>
              <a:r>
                <a:rPr lang="en-US" sz="2400" b="1" i="1" dirty="0">
                  <a:latin typeface="Times New Roman" panose="02020603050405020304" pitchFamily="18" charset="0"/>
                  <a:ea typeface="+mn-ea"/>
                  <a:cs typeface="Times New Roman" panose="02020603050405020304" pitchFamily="18" charset="0"/>
                </a:rPr>
                <a:t>aw</a:t>
              </a:r>
              <a:r>
                <a:rPr lang="en-US" sz="2400" b="1" dirty="0">
                  <a:latin typeface="Times New Roman" panose="02020603050405020304" pitchFamily="18" charset="0"/>
                  <a:ea typeface="+mn-ea"/>
                  <a:cs typeface="Times New Roman" panose="02020603050405020304" pitchFamily="18" charset="0"/>
                </a:rPr>
                <a:t>(</a:t>
              </a:r>
              <a:r>
                <a:rPr lang="en-US" sz="2400" b="1" i="1" dirty="0">
                  <a:latin typeface="Times New Roman" panose="02020603050405020304" pitchFamily="18" charset="0"/>
                  <a:ea typeface="+mn-ea"/>
                  <a:cs typeface="Times New Roman" panose="02020603050405020304" pitchFamily="18" charset="0"/>
                </a:rPr>
                <a:t>C</a:t>
              </a:r>
              <a:r>
                <a:rPr lang="en-US" sz="2400" b="1" dirty="0">
                  <a:latin typeface="Times New Roman" panose="02020603050405020304" pitchFamily="18" charset="0"/>
                  <a:ea typeface="+mn-ea"/>
                  <a:cs typeface="Times New Roman" panose="02020603050405020304" pitchFamily="18" charset="0"/>
                </a:rPr>
                <a:t>)= </a:t>
              </a:r>
              <a:r>
                <a:rPr lang="en-US" sz="2400" b="1" dirty="0">
                  <a:latin typeface="Times New Roman" panose="02020603050405020304" pitchFamily="18" charset="0"/>
                  <a:ea typeface="+mn-ea"/>
                  <a:cs typeface="Times New Roman" panose="02020603050405020304" pitchFamily="18" charset="0"/>
                  <a:sym typeface="Symbol" panose="05050102010706020507" pitchFamily="18" charset="2"/>
                </a:rPr>
                <a:t></a:t>
              </a:r>
              <a:r>
                <a:rPr lang="en-US" sz="2400" b="1" dirty="0">
                  <a:latin typeface="Times New Roman" panose="02020603050405020304" pitchFamily="18" charset="0"/>
                  <a:ea typeface="+mn-ea"/>
                  <a:cs typeface="Times New Roman" panose="02020603050405020304" pitchFamily="18" charset="0"/>
                </a:rPr>
                <a:t>1, </a:t>
              </a:r>
              <a:r>
                <a:rPr lang="zh-CN" altLang="en-US" sz="2400" b="1" i="1" dirty="0">
                  <a:latin typeface="Times New Roman" panose="02020603050405020304" pitchFamily="18" charset="0"/>
                  <a:ea typeface="+mn-ea"/>
                  <a:cs typeface="Times New Roman" panose="02020603050405020304" pitchFamily="18" charset="0"/>
                  <a:sym typeface="Symbol" panose="05050102010706020507"/>
                </a:rPr>
                <a:t></a:t>
              </a:r>
              <a:r>
                <a:rPr lang="en-US" altLang="zh-CN" sz="2400" b="1" dirty="0">
                  <a:latin typeface="Times New Roman" panose="02020603050405020304" pitchFamily="18" charset="0"/>
                  <a:ea typeface="+mn-ea"/>
                  <a:cs typeface="Times New Roman" panose="02020603050405020304" pitchFamily="18" charset="0"/>
                  <a:sym typeface="Symbol" panose="05050102010706020507"/>
                </a:rPr>
                <a:t>=</a:t>
              </a:r>
              <a:r>
                <a:rPr lang="en-US" sz="2400" b="1" dirty="0">
                  <a:latin typeface="Times New Roman" panose="02020603050405020304" pitchFamily="18" charset="0"/>
                  <a:ea typeface="+mn-ea"/>
                  <a:cs typeface="Times New Roman" panose="02020603050405020304" pitchFamily="18" charset="0"/>
                </a:rPr>
                <a:t>3</a:t>
              </a:r>
              <a:endParaRPr lang="en-US"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r>
                <a:rPr lang="en-US" sz="2400" b="1" i="1" dirty="0">
                  <a:latin typeface="Times New Roman" panose="02020603050405020304" pitchFamily="18" charset="0"/>
                  <a:ea typeface="+mn-ea"/>
                  <a:cs typeface="Times New Roman" panose="02020603050405020304" pitchFamily="18" charset="0"/>
                </a:rPr>
                <a:t>aw</a:t>
              </a:r>
              <a:r>
                <a:rPr lang="en-US" sz="2400" b="1" dirty="0">
                  <a:latin typeface="Times New Roman" panose="02020603050405020304" pitchFamily="18" charset="0"/>
                  <a:ea typeface="+mn-ea"/>
                  <a:cs typeface="Times New Roman" panose="02020603050405020304" pitchFamily="18" charset="0"/>
                </a:rPr>
                <a:t>(</a:t>
              </a:r>
              <a:r>
                <a:rPr lang="en-US" sz="2400" b="1" i="1" dirty="0" err="1">
                  <a:latin typeface="Times New Roman" panose="02020603050405020304" pitchFamily="18" charset="0"/>
                  <a:ea typeface="+mn-ea"/>
                  <a:cs typeface="Times New Roman" panose="02020603050405020304" pitchFamily="18" charset="0"/>
                </a:rPr>
                <a:t>h</a:t>
              </a:r>
              <a:r>
                <a:rPr lang="en-US" sz="2400" b="1" i="1" baseline="30000" dirty="0" err="1">
                  <a:latin typeface="Times New Roman" panose="02020603050405020304" pitchFamily="18" charset="0"/>
                  <a:ea typeface="+mn-ea"/>
                  <a:cs typeface="Times New Roman" panose="02020603050405020304" pitchFamily="18" charset="0"/>
                </a:rPr>
                <a:t>C</a:t>
              </a:r>
              <a:r>
                <a:rPr lang="en-US" sz="2400" b="1" dirty="0">
                  <a:latin typeface="Times New Roman" panose="02020603050405020304" pitchFamily="18" charset="0"/>
                  <a:ea typeface="+mn-ea"/>
                  <a:cs typeface="Times New Roman" panose="02020603050405020304" pitchFamily="18" charset="0"/>
                </a:rPr>
                <a:t>)= </a:t>
              </a:r>
              <a:r>
                <a:rPr lang="en-US" sz="2400" b="1" dirty="0">
                  <a:latin typeface="Times New Roman" panose="02020603050405020304" pitchFamily="18" charset="0"/>
                  <a:ea typeface="+mn-ea"/>
                  <a:cs typeface="Times New Roman" panose="02020603050405020304" pitchFamily="18" charset="0"/>
                  <a:sym typeface="Symbol" panose="05050102010706020507" pitchFamily="18" charset="2"/>
                </a:rPr>
                <a:t></a:t>
              </a:r>
              <a:r>
                <a:rPr lang="en-US" sz="2400" b="1" dirty="0">
                  <a:latin typeface="Times New Roman" panose="02020603050405020304" pitchFamily="18" charset="0"/>
                  <a:ea typeface="+mn-ea"/>
                  <a:cs typeface="Times New Roman" panose="02020603050405020304" pitchFamily="18" charset="0"/>
                </a:rPr>
                <a:t>3. </a:t>
              </a:r>
              <a:endParaRPr lang="en-US" sz="2400" b="1" dirty="0">
                <a:latin typeface="Times New Roman" panose="02020603050405020304" pitchFamily="18" charset="0"/>
                <a:ea typeface="+mn-ea"/>
                <a:cs typeface="Times New Roman" panose="02020603050405020304" pitchFamily="18" charset="0"/>
              </a:endParaRPr>
            </a:p>
          </p:txBody>
        </p:sp>
      </p:grpSp>
      <p:grpSp>
        <p:nvGrpSpPr>
          <p:cNvPr id="8" name="组合 128"/>
          <p:cNvGrpSpPr/>
          <p:nvPr/>
        </p:nvGrpSpPr>
        <p:grpSpPr bwMode="auto">
          <a:xfrm>
            <a:off x="6072188" y="2236788"/>
            <a:ext cx="2286000" cy="2857500"/>
            <a:chOff x="6072227" y="2000240"/>
            <a:chExt cx="2285987" cy="2857521"/>
          </a:xfrm>
        </p:grpSpPr>
        <p:grpSp>
          <p:nvGrpSpPr>
            <p:cNvPr id="52233" name="组合 122"/>
            <p:cNvGrpSpPr/>
            <p:nvPr/>
          </p:nvGrpSpPr>
          <p:grpSpPr bwMode="auto">
            <a:xfrm>
              <a:off x="6215087" y="2000240"/>
              <a:ext cx="2071689" cy="1714500"/>
              <a:chOff x="6215087" y="2000240"/>
              <a:chExt cx="2071689" cy="1714500"/>
            </a:xfrm>
          </p:grpSpPr>
          <p:grpSp>
            <p:nvGrpSpPr>
              <p:cNvPr id="52235" name="组合 81"/>
              <p:cNvGrpSpPr/>
              <p:nvPr/>
            </p:nvGrpSpPr>
            <p:grpSpPr bwMode="auto">
              <a:xfrm>
                <a:off x="6215087" y="2000240"/>
                <a:ext cx="1857375" cy="1714500"/>
                <a:chOff x="785813" y="2000250"/>
                <a:chExt cx="1857375" cy="1714500"/>
              </a:xfrm>
            </p:grpSpPr>
            <p:sp>
              <p:nvSpPr>
                <p:cNvPr id="52237" name="Oval 8"/>
                <p:cNvSpPr>
                  <a:spLocks noChangeArrowheads="1"/>
                </p:cNvSpPr>
                <p:nvPr/>
              </p:nvSpPr>
              <p:spPr bwMode="auto">
                <a:xfrm>
                  <a:off x="831850" y="2720975"/>
                  <a:ext cx="168275" cy="1714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52238" name="Text Box 10"/>
                <p:cNvSpPr txBox="1">
                  <a:spLocks noChangeArrowheads="1"/>
                </p:cNvSpPr>
                <p:nvPr/>
              </p:nvSpPr>
              <p:spPr bwMode="auto">
                <a:xfrm>
                  <a:off x="1085850" y="2143125"/>
                  <a:ext cx="485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5,3</a:t>
                  </a:r>
                  <a:endParaRPr lang="zh-CN" altLang="zh-CN" sz="1400" b="1">
                    <a:latin typeface="Arial" panose="020B0604020202020204" pitchFamily="34" charset="0"/>
                  </a:endParaRPr>
                </a:p>
              </p:txBody>
            </p:sp>
            <p:sp>
              <p:nvSpPr>
                <p:cNvPr id="52239" name="Oval 11"/>
                <p:cNvSpPr>
                  <a:spLocks noChangeArrowheads="1"/>
                </p:cNvSpPr>
                <p:nvPr/>
              </p:nvSpPr>
              <p:spPr bwMode="auto">
                <a:xfrm>
                  <a:off x="1604963" y="2063750"/>
                  <a:ext cx="168275" cy="1714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52240" name="Oval 13"/>
                <p:cNvSpPr>
                  <a:spLocks noChangeArrowheads="1"/>
                </p:cNvSpPr>
                <p:nvPr/>
              </p:nvSpPr>
              <p:spPr bwMode="auto">
                <a:xfrm>
                  <a:off x="2351088" y="2720975"/>
                  <a:ext cx="168275" cy="171450"/>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52241" name="Oval 15"/>
                <p:cNvSpPr>
                  <a:spLocks noChangeArrowheads="1"/>
                </p:cNvSpPr>
                <p:nvPr/>
              </p:nvSpPr>
              <p:spPr bwMode="auto">
                <a:xfrm>
                  <a:off x="1595438" y="3408363"/>
                  <a:ext cx="168275" cy="169862"/>
                </a:xfrm>
                <a:prstGeom prst="ellipse">
                  <a:avLst/>
                </a:prstGeom>
                <a:solidFill>
                  <a:srgbClr val="FFFFFF"/>
                </a:solidFill>
                <a:ln w="3175">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52242" name="AutoShape 17"/>
                <p:cNvCxnSpPr>
                  <a:cxnSpLocks noChangeShapeType="1"/>
                </p:cNvCxnSpPr>
                <p:nvPr/>
              </p:nvCxnSpPr>
              <p:spPr bwMode="auto">
                <a:xfrm flipV="1">
                  <a:off x="1000125" y="2235200"/>
                  <a:ext cx="604838" cy="485775"/>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52243" name="AutoShape 18"/>
                <p:cNvCxnSpPr>
                  <a:cxnSpLocks noChangeShapeType="1"/>
                </p:cNvCxnSpPr>
                <p:nvPr/>
              </p:nvCxnSpPr>
              <p:spPr bwMode="auto">
                <a:xfrm>
                  <a:off x="1000125" y="2892425"/>
                  <a:ext cx="595313" cy="57308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52244" name="AutoShape 19"/>
                <p:cNvCxnSpPr>
                  <a:cxnSpLocks noChangeShapeType="1"/>
                </p:cNvCxnSpPr>
                <p:nvPr/>
              </p:nvCxnSpPr>
              <p:spPr bwMode="auto">
                <a:xfrm flipH="1">
                  <a:off x="1673225" y="2235200"/>
                  <a:ext cx="28575" cy="1173163"/>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52245" name="AutoShape 20"/>
                <p:cNvCxnSpPr>
                  <a:cxnSpLocks noChangeShapeType="1"/>
                </p:cNvCxnSpPr>
                <p:nvPr/>
              </p:nvCxnSpPr>
              <p:spPr bwMode="auto">
                <a:xfrm>
                  <a:off x="1773238" y="2225675"/>
                  <a:ext cx="577850" cy="536575"/>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cxnSp>
              <p:nvCxnSpPr>
                <p:cNvPr id="52246" name="AutoShape 21"/>
                <p:cNvCxnSpPr>
                  <a:cxnSpLocks noChangeShapeType="1"/>
                </p:cNvCxnSpPr>
                <p:nvPr/>
              </p:nvCxnSpPr>
              <p:spPr bwMode="auto">
                <a:xfrm flipV="1">
                  <a:off x="1773238" y="2892425"/>
                  <a:ext cx="577850" cy="573088"/>
                </a:xfrm>
                <a:prstGeom prst="straightConnector1">
                  <a:avLst/>
                </a:prstGeom>
                <a:noFill/>
                <a:ln w="3175">
                  <a:solidFill>
                    <a:srgbClr val="000000"/>
                  </a:solidFill>
                  <a:round/>
                  <a:tailEnd type="arrow" w="med" len="med"/>
                </a:ln>
                <a:extLst>
                  <a:ext uri="{909E8E84-426E-40DD-AFC4-6F175D3DCCD1}">
                    <a14:hiddenFill xmlns:a14="http://schemas.microsoft.com/office/drawing/2010/main">
                      <a:noFill/>
                    </a14:hiddenFill>
                  </a:ext>
                </a:extLst>
              </p:spPr>
            </p:cxnSp>
            <p:sp>
              <p:nvSpPr>
                <p:cNvPr id="52247" name="Text Box 26"/>
                <p:cNvSpPr txBox="1">
                  <a:spLocks noChangeArrowheads="1"/>
                </p:cNvSpPr>
                <p:nvPr/>
              </p:nvSpPr>
              <p:spPr bwMode="auto">
                <a:xfrm>
                  <a:off x="852488" y="2286000"/>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f</a:t>
                  </a:r>
                  <a:r>
                    <a:rPr lang="en-US" altLang="zh-CN" sz="1400" b="1">
                      <a:latin typeface="Times New Roman" panose="02020603050405020304" pitchFamily="18" charset="0"/>
                    </a:rPr>
                    <a:t>=5</a:t>
                  </a:r>
                  <a:endParaRPr lang="zh-CN" altLang="zh-CN" sz="1400" b="1">
                    <a:latin typeface="Arial" panose="020B0604020202020204" pitchFamily="34" charset="0"/>
                  </a:endParaRPr>
                </a:p>
              </p:txBody>
            </p:sp>
            <p:sp>
              <p:nvSpPr>
                <p:cNvPr id="52248" name="Text Box 10"/>
                <p:cNvSpPr txBox="1">
                  <a:spLocks noChangeArrowheads="1"/>
                </p:cNvSpPr>
                <p:nvPr/>
              </p:nvSpPr>
              <p:spPr bwMode="auto">
                <a:xfrm>
                  <a:off x="1285875" y="2532063"/>
                  <a:ext cx="485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3,1</a:t>
                  </a:r>
                  <a:endParaRPr lang="zh-CN" altLang="zh-CN" sz="1400" b="1">
                    <a:latin typeface="Arial" panose="020B0604020202020204" pitchFamily="34" charset="0"/>
                  </a:endParaRPr>
                </a:p>
              </p:txBody>
            </p:sp>
            <p:sp>
              <p:nvSpPr>
                <p:cNvPr id="52249" name="Text Box 10"/>
                <p:cNvSpPr txBox="1">
                  <a:spLocks noChangeArrowheads="1"/>
                </p:cNvSpPr>
                <p:nvPr/>
              </p:nvSpPr>
              <p:spPr bwMode="auto">
                <a:xfrm>
                  <a:off x="1871663" y="2143125"/>
                  <a:ext cx="485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6,3</a:t>
                  </a:r>
                  <a:endParaRPr lang="zh-CN" altLang="zh-CN" sz="1400" b="1">
                    <a:latin typeface="Arial" panose="020B0604020202020204" pitchFamily="34" charset="0"/>
                  </a:endParaRPr>
                </a:p>
              </p:txBody>
            </p:sp>
            <p:sp>
              <p:nvSpPr>
                <p:cNvPr id="52250" name="Text Box 10"/>
                <p:cNvSpPr txBox="1">
                  <a:spLocks noChangeArrowheads="1"/>
                </p:cNvSpPr>
                <p:nvPr/>
              </p:nvSpPr>
              <p:spPr bwMode="auto">
                <a:xfrm>
                  <a:off x="871538" y="2960688"/>
                  <a:ext cx="485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5,3</a:t>
                  </a:r>
                  <a:endParaRPr lang="zh-CN" altLang="zh-CN" sz="1400" b="1">
                    <a:latin typeface="Arial" panose="020B0604020202020204" pitchFamily="34" charset="0"/>
                  </a:endParaRPr>
                </a:p>
              </p:txBody>
            </p:sp>
            <p:sp>
              <p:nvSpPr>
                <p:cNvPr id="52251" name="Text Box 10"/>
                <p:cNvSpPr txBox="1">
                  <a:spLocks noChangeArrowheads="1"/>
                </p:cNvSpPr>
                <p:nvPr/>
              </p:nvSpPr>
              <p:spPr bwMode="auto">
                <a:xfrm>
                  <a:off x="2143125" y="2960688"/>
                  <a:ext cx="485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6,1</a:t>
                  </a:r>
                  <a:endParaRPr lang="zh-CN" altLang="zh-CN" sz="1400" b="1">
                    <a:latin typeface="Arial" panose="020B0604020202020204" pitchFamily="34" charset="0"/>
                  </a:endParaRPr>
                </a:p>
              </p:txBody>
            </p:sp>
            <p:sp>
              <p:nvSpPr>
                <p:cNvPr id="52252" name="Text Box 26"/>
                <p:cNvSpPr txBox="1">
                  <a:spLocks noChangeArrowheads="1"/>
                </p:cNvSpPr>
                <p:nvPr/>
              </p:nvSpPr>
              <p:spPr bwMode="auto">
                <a:xfrm>
                  <a:off x="1004888" y="3148013"/>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f</a:t>
                  </a:r>
                  <a:r>
                    <a:rPr lang="en-US" altLang="zh-CN" sz="1400" b="1">
                      <a:latin typeface="Times New Roman" panose="02020603050405020304" pitchFamily="18" charset="0"/>
                    </a:rPr>
                    <a:t>=3</a:t>
                  </a:r>
                  <a:endParaRPr lang="zh-CN" altLang="zh-CN" sz="1400" b="1">
                    <a:latin typeface="Arial" panose="020B0604020202020204" pitchFamily="34" charset="0"/>
                  </a:endParaRPr>
                </a:p>
              </p:txBody>
            </p:sp>
            <p:sp>
              <p:nvSpPr>
                <p:cNvPr id="52253" name="Text Box 26"/>
                <p:cNvSpPr txBox="1">
                  <a:spLocks noChangeArrowheads="1"/>
                </p:cNvSpPr>
                <p:nvPr/>
              </p:nvSpPr>
              <p:spPr bwMode="auto">
                <a:xfrm>
                  <a:off x="2138363" y="2286000"/>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f</a:t>
                  </a:r>
                  <a:r>
                    <a:rPr lang="en-US" altLang="zh-CN" sz="1400" b="1">
                      <a:latin typeface="Times New Roman" panose="02020603050405020304" pitchFamily="18" charset="0"/>
                    </a:rPr>
                    <a:t>=2</a:t>
                  </a:r>
                  <a:endParaRPr lang="zh-CN" altLang="zh-CN" sz="1400" b="1">
                    <a:latin typeface="Arial" panose="020B0604020202020204" pitchFamily="34" charset="0"/>
                  </a:endParaRPr>
                </a:p>
              </p:txBody>
            </p:sp>
            <p:sp>
              <p:nvSpPr>
                <p:cNvPr id="52254" name="Text Box 26"/>
                <p:cNvSpPr txBox="1">
                  <a:spLocks noChangeArrowheads="1"/>
                </p:cNvSpPr>
                <p:nvPr/>
              </p:nvSpPr>
              <p:spPr bwMode="auto">
                <a:xfrm>
                  <a:off x="1924050" y="3148013"/>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f</a:t>
                  </a:r>
                  <a:r>
                    <a:rPr lang="en-US" altLang="zh-CN" sz="1400" b="1">
                      <a:latin typeface="Times New Roman" panose="02020603050405020304" pitchFamily="18" charset="0"/>
                    </a:rPr>
                    <a:t>=6</a:t>
                  </a:r>
                  <a:endParaRPr lang="zh-CN" altLang="zh-CN" sz="1400" b="1">
                    <a:latin typeface="Arial" panose="020B0604020202020204" pitchFamily="34" charset="0"/>
                  </a:endParaRPr>
                </a:p>
              </p:txBody>
            </p:sp>
            <p:sp>
              <p:nvSpPr>
                <p:cNvPr id="52255" name="Text Box 26"/>
                <p:cNvSpPr txBox="1">
                  <a:spLocks noChangeArrowheads="1"/>
                </p:cNvSpPr>
                <p:nvPr/>
              </p:nvSpPr>
              <p:spPr bwMode="auto">
                <a:xfrm>
                  <a:off x="1285875" y="2714625"/>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f</a:t>
                  </a:r>
                  <a:r>
                    <a:rPr lang="en-US" altLang="zh-CN" sz="1400" b="1">
                      <a:latin typeface="Times New Roman" panose="02020603050405020304" pitchFamily="18" charset="0"/>
                    </a:rPr>
                    <a:t>=3</a:t>
                  </a:r>
                  <a:endParaRPr lang="zh-CN" altLang="zh-CN" sz="1400" b="1">
                    <a:latin typeface="Arial" panose="020B0604020202020204" pitchFamily="34" charset="0"/>
                  </a:endParaRPr>
                </a:p>
              </p:txBody>
            </p:sp>
            <p:sp>
              <p:nvSpPr>
                <p:cNvPr id="52256" name="Text Box 26"/>
                <p:cNvSpPr txBox="1">
                  <a:spLocks noChangeArrowheads="1"/>
                </p:cNvSpPr>
                <p:nvPr/>
              </p:nvSpPr>
              <p:spPr bwMode="auto">
                <a:xfrm>
                  <a:off x="785813" y="2647950"/>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s</a:t>
                  </a:r>
                  <a:endParaRPr lang="zh-CN" altLang="zh-CN" sz="1400" b="1">
                    <a:latin typeface="Arial" panose="020B0604020202020204" pitchFamily="34" charset="0"/>
                  </a:endParaRPr>
                </a:p>
              </p:txBody>
            </p:sp>
            <p:sp>
              <p:nvSpPr>
                <p:cNvPr id="52257" name="Text Box 26"/>
                <p:cNvSpPr txBox="1">
                  <a:spLocks noChangeArrowheads="1"/>
                </p:cNvSpPr>
                <p:nvPr/>
              </p:nvSpPr>
              <p:spPr bwMode="auto">
                <a:xfrm>
                  <a:off x="1571625" y="2000250"/>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1</a:t>
                  </a:r>
                  <a:endParaRPr lang="zh-CN" altLang="zh-CN" sz="1400" b="1">
                    <a:latin typeface="Arial" panose="020B0604020202020204" pitchFamily="34" charset="0"/>
                  </a:endParaRPr>
                </a:p>
              </p:txBody>
            </p:sp>
            <p:sp>
              <p:nvSpPr>
                <p:cNvPr id="52258" name="Text Box 26"/>
                <p:cNvSpPr txBox="1">
                  <a:spLocks noChangeArrowheads="1"/>
                </p:cNvSpPr>
                <p:nvPr/>
              </p:nvSpPr>
              <p:spPr bwMode="auto">
                <a:xfrm>
                  <a:off x="1566863" y="3362325"/>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a:latin typeface="Times New Roman" panose="02020603050405020304" pitchFamily="18" charset="0"/>
                    </a:rPr>
                    <a:t>2</a:t>
                  </a:r>
                  <a:endParaRPr lang="zh-CN" altLang="zh-CN" sz="1400" b="1">
                    <a:latin typeface="Arial" panose="020B0604020202020204" pitchFamily="34" charset="0"/>
                  </a:endParaRPr>
                </a:p>
              </p:txBody>
            </p:sp>
          </p:grpSp>
          <p:sp>
            <p:nvSpPr>
              <p:cNvPr id="52236" name="Text Box 26"/>
              <p:cNvSpPr txBox="1">
                <a:spLocks noChangeArrowheads="1"/>
              </p:cNvSpPr>
              <p:nvPr/>
            </p:nvSpPr>
            <p:spPr bwMode="auto">
              <a:xfrm>
                <a:off x="7781951" y="2643188"/>
                <a:ext cx="504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400" b="1" i="1">
                    <a:latin typeface="Times New Roman" panose="02020603050405020304" pitchFamily="18" charset="0"/>
                  </a:rPr>
                  <a:t>t</a:t>
                </a:r>
                <a:endParaRPr lang="zh-CN" altLang="zh-CN" sz="1400" b="1">
                  <a:latin typeface="Arial" panose="020B0604020202020204" pitchFamily="34" charset="0"/>
                </a:endParaRPr>
              </a:p>
            </p:txBody>
          </p:sp>
        </p:grpSp>
        <p:sp>
          <p:nvSpPr>
            <p:cNvPr id="126" name="内容占位符 2"/>
            <p:cNvSpPr txBox="1"/>
            <p:nvPr/>
          </p:nvSpPr>
          <p:spPr bwMode="auto">
            <a:xfrm>
              <a:off x="6072227" y="3786190"/>
              <a:ext cx="2285987" cy="1071571"/>
            </a:xfrm>
            <a:prstGeom prst="rect">
              <a:avLst/>
            </a:prstGeom>
            <a:noFill/>
            <a:ln w="9525">
              <a:noFill/>
              <a:miter lim="800000"/>
            </a:ln>
          </p:spPr>
          <p:txBody>
            <a:bodyPr/>
            <a:lstStyle/>
            <a:p>
              <a:pPr marL="342900" indent="-342900">
                <a:spcBef>
                  <a:spcPct val="20000"/>
                </a:spcBef>
                <a:buFont typeface="Arial" panose="020B0604020202020204" pitchFamily="34" charset="0"/>
                <a:buNone/>
                <a:defRPr/>
              </a:pPr>
              <a:r>
                <a:rPr lang="en-US" sz="2400" b="1" i="1" dirty="0">
                  <a:latin typeface="Times New Roman" panose="02020603050405020304" pitchFamily="18" charset="0"/>
                  <a:ea typeface="+mn-ea"/>
                  <a:cs typeface="Times New Roman" panose="02020603050405020304" pitchFamily="18" charset="0"/>
                </a:rPr>
                <a:t>f</a:t>
              </a:r>
              <a:r>
                <a:rPr lang="en-US" sz="2400" b="1" baseline="-25000" dirty="0">
                  <a:latin typeface="Times New Roman" panose="02020603050405020304" pitchFamily="18" charset="0"/>
                  <a:ea typeface="+mn-ea"/>
                  <a:cs typeface="Times New Roman" panose="02020603050405020304" pitchFamily="18" charset="0"/>
                </a:rPr>
                <a:t>1</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f </a:t>
              </a:r>
              <a:r>
                <a:rPr lang="en-US" sz="2400" b="1" dirty="0">
                  <a:latin typeface="Times New Roman" panose="02020603050405020304" pitchFamily="18" charset="0"/>
                  <a:ea typeface="+mn-ea"/>
                  <a:cs typeface="Times New Roman" panose="02020603050405020304" pitchFamily="18" charset="0"/>
                </a:rPr>
                <a:t>+</a:t>
              </a:r>
              <a:r>
                <a:rPr lang="en-US" sz="2400" b="1" i="1" dirty="0" err="1">
                  <a:latin typeface="Times New Roman" panose="02020603050405020304" pitchFamily="18" charset="0"/>
                  <a:ea typeface="+mn-ea"/>
                  <a:cs typeface="Times New Roman" panose="02020603050405020304" pitchFamily="18" charset="0"/>
                </a:rPr>
                <a:t>h</a:t>
              </a:r>
              <a:r>
                <a:rPr lang="en-US" sz="2400" b="1" i="1" baseline="30000" dirty="0" err="1">
                  <a:latin typeface="Times New Roman" panose="02020603050405020304" pitchFamily="18" charset="0"/>
                  <a:ea typeface="+mn-ea"/>
                  <a:cs typeface="Times New Roman" panose="02020603050405020304" pitchFamily="18" charset="0"/>
                </a:rPr>
                <a:t>C</a:t>
              </a:r>
              <a:r>
                <a:rPr lang="en-US" sz="2400" b="1" dirty="0">
                  <a:latin typeface="Times New Roman" panose="02020603050405020304" pitchFamily="18" charset="0"/>
                  <a:ea typeface="+mn-ea"/>
                  <a:cs typeface="Times New Roman" panose="02020603050405020304" pitchFamily="18" charset="0"/>
                </a:rPr>
                <a:t> </a:t>
              </a:r>
              <a:endParaRPr lang="en-US"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r>
                <a:rPr lang="en-US" sz="2400" b="1" i="1" dirty="0">
                  <a:latin typeface="Times New Roman" panose="02020603050405020304" pitchFamily="18" charset="0"/>
                  <a:ea typeface="+mn-ea"/>
                  <a:cs typeface="Times New Roman" panose="02020603050405020304" pitchFamily="18" charset="0"/>
                </a:rPr>
                <a:t>w</a:t>
              </a:r>
              <a:r>
                <a:rPr lang="en-US" sz="2400" b="1" dirty="0">
                  <a:latin typeface="Times New Roman" panose="02020603050405020304" pitchFamily="18" charset="0"/>
                  <a:ea typeface="+mn-ea"/>
                  <a:cs typeface="Times New Roman" panose="02020603050405020304" pitchFamily="18" charset="0"/>
                </a:rPr>
                <a:t>(</a:t>
              </a:r>
              <a:r>
                <a:rPr lang="en-US" sz="2400" b="1" i="1" dirty="0">
                  <a:latin typeface="Times New Roman" panose="02020603050405020304" pitchFamily="18" charset="0"/>
                  <a:ea typeface="+mn-ea"/>
                  <a:cs typeface="Times New Roman" panose="02020603050405020304" pitchFamily="18" charset="0"/>
                </a:rPr>
                <a:t>f</a:t>
              </a:r>
              <a:r>
                <a:rPr lang="en-US" sz="2400" b="1" baseline="-25000" dirty="0">
                  <a:latin typeface="Times New Roman" panose="02020603050405020304" pitchFamily="18" charset="0"/>
                  <a:ea typeface="+mn-ea"/>
                  <a:cs typeface="Times New Roman" panose="02020603050405020304" pitchFamily="18" charset="0"/>
                </a:rPr>
                <a:t>1</a:t>
              </a:r>
              <a:r>
                <a:rPr lang="en-US" sz="2400" b="1" dirty="0">
                  <a:latin typeface="Times New Roman" panose="02020603050405020304" pitchFamily="18" charset="0"/>
                  <a:ea typeface="+mn-ea"/>
                  <a:cs typeface="Times New Roman" panose="02020603050405020304" pitchFamily="18" charset="0"/>
                </a:rPr>
                <a:t>)=42</a:t>
              </a:r>
              <a:r>
                <a:rPr lang="en-US" sz="2400" b="1" dirty="0">
                  <a:latin typeface="Times New Roman" panose="02020603050405020304" pitchFamily="18" charset="0"/>
                  <a:ea typeface="+mn-ea"/>
                  <a:cs typeface="Times New Roman" panose="02020603050405020304" pitchFamily="18" charset="0"/>
                  <a:sym typeface="Symbol" panose="05050102010706020507" pitchFamily="18" charset="2"/>
                </a:rPr>
                <a:t></a:t>
              </a:r>
              <a:r>
                <a:rPr lang="en-US" sz="2400" b="1" dirty="0">
                  <a:latin typeface="Times New Roman" panose="02020603050405020304" pitchFamily="18" charset="0"/>
                  <a:ea typeface="+mn-ea"/>
                  <a:cs typeface="Times New Roman" panose="02020603050405020304" pitchFamily="18" charset="0"/>
                </a:rPr>
                <a:t>3=39.</a:t>
              </a:r>
              <a:endParaRPr lang="zh-CN" altLang="en-US" sz="2400" b="1" dirty="0">
                <a:latin typeface="Times New Roman" panose="02020603050405020304" pitchFamily="18" charset="0"/>
                <a:ea typeface="+mn-ea"/>
                <a:cs typeface="Times New Roman" panose="02020603050405020304" pitchFamily="18" charset="0"/>
              </a:endParaRPr>
            </a:p>
          </p:txBody>
        </p:sp>
      </p:grpSp>
      <p:sp>
        <p:nvSpPr>
          <p:cNvPr id="130" name="内容占位符 2"/>
          <p:cNvSpPr txBox="1"/>
          <p:nvPr/>
        </p:nvSpPr>
        <p:spPr bwMode="auto">
          <a:xfrm>
            <a:off x="422275" y="5203825"/>
            <a:ext cx="8823325" cy="857250"/>
          </a:xfrm>
          <a:prstGeom prst="rect">
            <a:avLst/>
          </a:prstGeom>
          <a:noFill/>
          <a:ln w="9525">
            <a:noFill/>
            <a:miter lim="800000"/>
          </a:ln>
        </p:spPr>
        <p:txBody>
          <a:bodyPr/>
          <a:lstStyle/>
          <a:p>
            <a:pPr marL="342900" indent="-342900">
              <a:spcBef>
                <a:spcPct val="20000"/>
              </a:spcBef>
              <a:buFont typeface="Arial" panose="020B0604020202020204" pitchFamily="34" charset="0"/>
              <a:buNone/>
              <a:defRPr/>
            </a:pPr>
            <a:r>
              <a:rPr lang="zh-CN" altLang="en-US" sz="2400" b="1" dirty="0">
                <a:latin typeface="Times New Roman" panose="02020603050405020304" pitchFamily="18" charset="0"/>
                <a:ea typeface="+mn-ea"/>
                <a:cs typeface="Times New Roman" panose="02020603050405020304" pitchFamily="18" charset="0"/>
              </a:rPr>
              <a:t>关键</a:t>
            </a:r>
            <a:r>
              <a:rPr lang="en-US" altLang="zh-CN" sz="2400" b="1" dirty="0">
                <a:latin typeface="Times New Roman" panose="02020603050405020304" pitchFamily="18" charset="0"/>
                <a:ea typeface="+mn-ea"/>
                <a:cs typeface="Times New Roman" panose="02020603050405020304" pitchFamily="18" charset="0"/>
              </a:rPr>
              <a:t>:  </a:t>
            </a:r>
            <a:r>
              <a:rPr lang="zh-CN" altLang="en-US" sz="2400" b="1" dirty="0">
                <a:latin typeface="Times New Roman" panose="02020603050405020304" pitchFamily="18" charset="0"/>
                <a:ea typeface="+mn-ea"/>
                <a:cs typeface="Times New Roman" panose="02020603050405020304" pitchFamily="18" charset="0"/>
              </a:rPr>
              <a:t>证明当 </a:t>
            </a:r>
            <a:r>
              <a:rPr lang="en-US" altLang="zh-CN" sz="2400" b="1" i="1" dirty="0">
                <a:latin typeface="Times New Roman" panose="02020603050405020304" pitchFamily="18" charset="0"/>
                <a:ea typeface="+mn-ea"/>
                <a:cs typeface="Times New Roman" panose="02020603050405020304" pitchFamily="18" charset="0"/>
              </a:rPr>
              <a:t>N</a:t>
            </a:r>
            <a:r>
              <a:rPr lang="en-US" altLang="zh-CN" sz="2400" b="1" dirty="0">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f</a:t>
            </a:r>
            <a:r>
              <a:rPr lang="en-US" altLang="zh-CN" sz="2400" b="1" dirty="0">
                <a:latin typeface="Times New Roman" panose="02020603050405020304" pitchFamily="18" charset="0"/>
                <a:ea typeface="+mn-ea"/>
                <a:cs typeface="Times New Roman" panose="02020603050405020304" pitchFamily="18" charset="0"/>
              </a:rPr>
              <a:t>) </a:t>
            </a:r>
            <a:r>
              <a:rPr lang="zh-CN" altLang="en-US" sz="2400" b="1" dirty="0">
                <a:latin typeface="Times New Roman" panose="02020603050405020304" pitchFamily="18" charset="0"/>
                <a:ea typeface="+mn-ea"/>
                <a:cs typeface="Times New Roman" panose="02020603050405020304" pitchFamily="18" charset="0"/>
              </a:rPr>
              <a:t>中不存在权 </a:t>
            </a:r>
            <a:r>
              <a:rPr lang="en-US" altLang="zh-CN" sz="2400" b="1" i="1" dirty="0">
                <a:latin typeface="Times New Roman" panose="02020603050405020304" pitchFamily="18" charset="0"/>
                <a:ea typeface="+mn-ea"/>
                <a:cs typeface="Times New Roman" panose="02020603050405020304" pitchFamily="18" charset="0"/>
              </a:rPr>
              <a:t>aw </a:t>
            </a:r>
            <a:r>
              <a:rPr lang="zh-CN" altLang="en-US" sz="2400" b="1" dirty="0">
                <a:latin typeface="Times New Roman" panose="02020603050405020304" pitchFamily="18" charset="0"/>
                <a:ea typeface="+mn-ea"/>
                <a:cs typeface="Times New Roman" panose="02020603050405020304" pitchFamily="18" charset="0"/>
              </a:rPr>
              <a:t>的负回路时</a:t>
            </a:r>
            <a:r>
              <a:rPr lang="en-US" altLang="zh-CN" sz="2400" b="1" dirty="0">
                <a:latin typeface="Times New Roman" panose="02020603050405020304" pitchFamily="18" charset="0"/>
                <a:ea typeface="+mn-ea"/>
                <a:cs typeface="Times New Roman" panose="02020603050405020304" pitchFamily="18" charset="0"/>
              </a:rPr>
              <a:t>, </a:t>
            </a:r>
            <a:r>
              <a:rPr lang="en-US" altLang="zh-CN" sz="2400" b="1" i="1" dirty="0">
                <a:latin typeface="Times New Roman" panose="02020603050405020304" pitchFamily="18" charset="0"/>
                <a:ea typeface="+mn-ea"/>
                <a:cs typeface="Times New Roman" panose="02020603050405020304" pitchFamily="18" charset="0"/>
              </a:rPr>
              <a:t>f </a:t>
            </a:r>
            <a:r>
              <a:rPr lang="zh-CN" altLang="en-US" sz="2400" b="1" dirty="0">
                <a:latin typeface="Times New Roman" panose="02020603050405020304" pitchFamily="18" charset="0"/>
                <a:ea typeface="+mn-ea"/>
                <a:cs typeface="Times New Roman" panose="02020603050405020304" pitchFamily="18" charset="0"/>
              </a:rPr>
              <a:t>是最小费用流</a:t>
            </a:r>
            <a:r>
              <a:rPr lang="en-US" altLang="zh-CN" sz="2400" b="1" dirty="0">
                <a:latin typeface="Times New Roman" panose="02020603050405020304" pitchFamily="18" charset="0"/>
                <a:ea typeface="+mn-ea"/>
                <a:cs typeface="Times New Roman" panose="02020603050405020304" pitchFamily="18" charset="0"/>
              </a:rPr>
              <a:t>.</a:t>
            </a:r>
            <a:endParaRPr lang="en-US" altLang="zh-CN" sz="2400" b="1" dirty="0">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1+#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0"/>
                                        </p:tgtEl>
                                        <p:attrNameLst>
                                          <p:attrName>style.visibility</p:attrName>
                                        </p:attrNameLst>
                                      </p:cBhvr>
                                      <p:to>
                                        <p:strVal val="visible"/>
                                      </p:to>
                                    </p:set>
                                    <p:anim calcmode="lin" valueType="num">
                                      <p:cBhvr additive="base">
                                        <p:cTn id="19" dur="500" fill="hold"/>
                                        <p:tgtEl>
                                          <p:spTgt spid="130"/>
                                        </p:tgtEl>
                                        <p:attrNameLst>
                                          <p:attrName>ppt_x</p:attrName>
                                        </p:attrNameLst>
                                      </p:cBhvr>
                                      <p:tavLst>
                                        <p:tav tm="0">
                                          <p:val>
                                            <p:strVal val="#ppt_x"/>
                                          </p:val>
                                        </p:tav>
                                        <p:tav tm="100000">
                                          <p:val>
                                            <p:strVal val="#ppt_x"/>
                                          </p:val>
                                        </p:tav>
                                      </p:tavLst>
                                    </p:anim>
                                    <p:anim calcmode="lin" valueType="num">
                                      <p:cBhvr additive="base">
                                        <p:cTn id="20" dur="500" fill="hold"/>
                                        <p:tgtEl>
                                          <p:spTgt spid="1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xfrm>
            <a:off x="457200" y="203200"/>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最小费用流的负回路算法</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54275" name="内容占位符 2"/>
          <p:cNvSpPr>
            <a:spLocks noGrp="1"/>
          </p:cNvSpPr>
          <p:nvPr>
            <p:ph idx="1"/>
          </p:nvPr>
        </p:nvSpPr>
        <p:spPr>
          <a:xfrm>
            <a:off x="479425" y="1449388"/>
            <a:ext cx="8207375" cy="4779962"/>
          </a:xfrm>
        </p:spPr>
        <p:txBody>
          <a:bodyPr/>
          <a:lstStyle/>
          <a:p>
            <a:pPr>
              <a:lnSpc>
                <a:spcPts val="3200"/>
              </a:lnSpc>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定义</a:t>
            </a:r>
            <a:r>
              <a:rPr lang="en-US" altLang="zh-CN" sz="2400" b="1" dirty="0" smtClean="0">
                <a:solidFill>
                  <a:srgbClr val="C00000"/>
                </a:solidFill>
                <a:latin typeface="Times New Roman" panose="02020603050405020304" pitchFamily="18" charset="0"/>
                <a:cs typeface="Times New Roman" panose="02020603050405020304" pitchFamily="18" charset="0"/>
              </a:rPr>
              <a:t>7.9</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设 </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2</a:t>
            </a:r>
            <a:r>
              <a:rPr lang="zh-CN" altLang="en-US" sz="2400" b="1" dirty="0" smtClean="0">
                <a:latin typeface="Times New Roman" panose="02020603050405020304" pitchFamily="18" charset="0"/>
                <a:cs typeface="Times New Roman" panose="02020603050405020304" pitchFamily="18" charset="0"/>
              </a:rPr>
              <a:t>是两个可行流</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在</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上定义 </a:t>
            </a:r>
            <a:r>
              <a:rPr lang="en-US" altLang="zh-CN" sz="2400" b="1" i="1" dirty="0" smtClean="0">
                <a:latin typeface="Times New Roman" panose="02020603050405020304" pitchFamily="18" charset="0"/>
                <a:cs typeface="Times New Roman" panose="02020603050405020304" pitchFamily="18" charset="0"/>
              </a:rPr>
              <a:t>g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lnSpc>
                <a:spcPts val="3200"/>
              </a:lnSpc>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&gt;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lnSpc>
                <a:spcPts val="3200"/>
              </a:lnSpc>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若 </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&gt; </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则 </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 f</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lnSpc>
                <a:spcPts val="3200"/>
              </a:lnSpc>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     若 </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&lt; </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则 </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lnSpc>
                <a:spcPts val="3200"/>
              </a:lnSpc>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     在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的其它边上 </a:t>
            </a:r>
            <a:r>
              <a:rPr lang="en-US" altLang="zh-CN" sz="2400" b="1" i="1"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都为 </a:t>
            </a:r>
            <a:r>
              <a:rPr lang="en-US" altLang="zh-CN" sz="2400" b="1" dirty="0" smtClean="0">
                <a:latin typeface="Times New Roman" panose="02020603050405020304" pitchFamily="18" charset="0"/>
                <a:cs typeface="Times New Roman" panose="02020603050405020304" pitchFamily="18" charset="0"/>
              </a:rPr>
              <a:t>0.   </a:t>
            </a:r>
            <a:endParaRPr lang="zh-CN" altLang="en-US" sz="2400" b="1" dirty="0" smtClean="0">
              <a:latin typeface="Times New Roman" panose="02020603050405020304" pitchFamily="18" charset="0"/>
              <a:cs typeface="Times New Roman" panose="02020603050405020304" pitchFamily="18" charset="0"/>
            </a:endParaRPr>
          </a:p>
          <a:p>
            <a:pPr>
              <a:lnSpc>
                <a:spcPts val="3200"/>
              </a:lnSpc>
              <a:spcBef>
                <a:spcPts val="24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引理</a:t>
            </a:r>
            <a:r>
              <a:rPr lang="en-US" altLang="zh-CN" sz="2400" b="1" dirty="0" smtClean="0">
                <a:solidFill>
                  <a:srgbClr val="C00000"/>
                </a:solidFill>
                <a:latin typeface="Times New Roman" panose="02020603050405020304" pitchFamily="18" charset="0"/>
                <a:cs typeface="Times New Roman" panose="02020603050405020304" pitchFamily="18" charset="0"/>
              </a:rPr>
              <a:t>7.10  </a:t>
            </a:r>
            <a:r>
              <a:rPr lang="zh-CN" altLang="en-US" sz="2400" b="1" dirty="0" smtClean="0">
                <a:latin typeface="Times New Roman" panose="02020603050405020304" pitchFamily="18" charset="0"/>
                <a:cs typeface="Times New Roman" panose="02020603050405020304" pitchFamily="18" charset="0"/>
              </a:rPr>
              <a:t>设 </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2</a:t>
            </a:r>
            <a:r>
              <a:rPr lang="zh-CN" altLang="en-US" sz="2400" b="1" dirty="0" smtClean="0">
                <a:latin typeface="Times New Roman" panose="02020603050405020304" pitchFamily="18" charset="0"/>
                <a:cs typeface="Times New Roman" panose="02020603050405020304" pitchFamily="18" charset="0"/>
              </a:rPr>
              <a:t>是两个可行流</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则 </a:t>
            </a:r>
            <a:r>
              <a:rPr lang="en-US" altLang="zh-CN" sz="2400" b="1" i="1"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是</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上的</a:t>
            </a:r>
            <a:r>
              <a:rPr lang="zh-CN" altLang="en-US" sz="2400" b="1" dirty="0" smtClean="0">
                <a:latin typeface="Times New Roman" panose="02020603050405020304" pitchFamily="18" charset="0"/>
                <a:cs typeface="Times New Roman" panose="02020603050405020304" pitchFamily="18" charset="0"/>
              </a:rPr>
              <a:t>可行</a:t>
            </a:r>
            <a:endParaRPr lang="en-US" altLang="zh-CN" sz="2400" b="1" dirty="0" smtClean="0">
              <a:latin typeface="Times New Roman" panose="02020603050405020304" pitchFamily="18" charset="0"/>
              <a:cs typeface="Times New Roman" panose="02020603050405020304" pitchFamily="18" charset="0"/>
            </a:endParaRPr>
          </a:p>
          <a:p>
            <a:pPr>
              <a:lnSpc>
                <a:spcPts val="3200"/>
              </a:lnSpc>
              <a:spcBef>
                <a:spcPts val="6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流且 </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1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2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p:txBody>
      </p:sp>
      <p:sp>
        <p:nvSpPr>
          <p:cNvPr id="5427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A367F98A-EA91-47C6-A5E9-442AD8D9A43B}"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内容占位符 2"/>
          <p:cNvSpPr>
            <a:spLocks noGrp="1"/>
          </p:cNvSpPr>
          <p:nvPr>
            <p:ph idx="1"/>
          </p:nvPr>
        </p:nvSpPr>
        <p:spPr>
          <a:xfrm>
            <a:off x="457200" y="1423988"/>
            <a:ext cx="8363272" cy="4525962"/>
          </a:xfrm>
        </p:spPr>
        <p:txBody>
          <a:bodyPr/>
          <a:lstStyle/>
          <a:p>
            <a:pPr>
              <a:spcBef>
                <a:spcPts val="12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引理</a:t>
            </a:r>
            <a:r>
              <a:rPr lang="en-US" altLang="zh-CN" sz="2400" b="1" dirty="0" smtClean="0">
                <a:solidFill>
                  <a:srgbClr val="C00000"/>
                </a:solidFill>
                <a:latin typeface="Times New Roman" panose="02020603050405020304" pitchFamily="18" charset="0"/>
                <a:cs typeface="Times New Roman" panose="02020603050405020304" pitchFamily="18" charset="0"/>
              </a:rPr>
              <a:t>7.11</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如果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不是零流且</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 0, </a:t>
            </a:r>
            <a:r>
              <a:rPr lang="zh-CN" altLang="en-US" sz="2400" b="1" dirty="0" smtClean="0">
                <a:latin typeface="Times New Roman" panose="02020603050405020304" pitchFamily="18" charset="0"/>
                <a:cs typeface="Times New Roman" panose="02020603050405020304" pitchFamily="18" charset="0"/>
              </a:rPr>
              <a:t>则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等于若干个圈流之和</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证</a:t>
            </a:r>
            <a:r>
              <a:rPr lang="zh-CN" altLang="en-US" sz="2400" b="1" dirty="0" smtClean="0">
                <a:latin typeface="Times New Roman" panose="02020603050405020304" pitchFamily="18" charset="0"/>
                <a:cs typeface="Times New Roman" panose="02020603050405020304" pitchFamily="18" charset="0"/>
              </a:rPr>
              <a:t> 记 </a:t>
            </a:r>
            <a:r>
              <a:rPr lang="en-US" altLang="zh-CN" sz="2400" b="1" i="1" dirty="0" smtClean="0">
                <a:latin typeface="Times New Roman" panose="02020603050405020304" pitchFamily="18" charset="0"/>
                <a:cs typeface="Times New Roman" panose="02020603050405020304" pitchFamily="18" charset="0"/>
              </a:rPr>
              <a:t>E</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&gt;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&gt; 0}, </a:t>
            </a:r>
            <a:r>
              <a:rPr lang="en-US" altLang="zh-CN" sz="2400" b="1" i="1" dirty="0" smtClean="0">
                <a:latin typeface="Times New Roman" panose="02020603050405020304" pitchFamily="18" charset="0"/>
                <a:cs typeface="Times New Roman" panose="02020603050405020304" pitchFamily="18" charset="0"/>
              </a:rPr>
              <a:t>D</a:t>
            </a:r>
            <a:r>
              <a:rPr lang="en-US" altLang="zh-CN" sz="2400" b="1" baseline="-25000" dirty="0" smtClean="0">
                <a:latin typeface="Times New Roman" panose="02020603050405020304" pitchFamily="18" charset="0"/>
                <a:cs typeface="Times New Roman" panose="02020603050405020304" pitchFamily="18" charset="0"/>
              </a:rPr>
              <a:t>1</a:t>
            </a:r>
            <a:r>
              <a:rPr lang="zh-CN" altLang="en-US" sz="2400" b="1" dirty="0" smtClean="0">
                <a:latin typeface="Times New Roman" panose="02020603050405020304" pitchFamily="18" charset="0"/>
                <a:cs typeface="Times New Roman" panose="02020603050405020304" pitchFamily="18" charset="0"/>
              </a:rPr>
              <a:t>是</a:t>
            </a:r>
            <a:r>
              <a:rPr lang="en-US" altLang="zh-CN" sz="2400" b="1" i="1" dirty="0" smtClean="0">
                <a:latin typeface="Times New Roman" panose="02020603050405020304" pitchFamily="18" charset="0"/>
                <a:cs typeface="Times New Roman" panose="02020603050405020304" pitchFamily="18" charset="0"/>
              </a:rPr>
              <a:t>E</a:t>
            </a:r>
            <a:r>
              <a:rPr lang="en-US" altLang="zh-CN" sz="2400" b="1" baseline="-25000" dirty="0" smtClean="0">
                <a:latin typeface="Times New Roman" panose="02020603050405020304" pitchFamily="18" charset="0"/>
                <a:cs typeface="Times New Roman" panose="02020603050405020304" pitchFamily="18" charset="0"/>
              </a:rPr>
              <a:t>1</a:t>
            </a:r>
            <a:r>
              <a:rPr lang="zh-CN" altLang="en-US" sz="2400" b="1" dirty="0" smtClean="0">
                <a:latin typeface="Times New Roman" panose="02020603050405020304" pitchFamily="18" charset="0"/>
                <a:cs typeface="Times New Roman" panose="02020603050405020304" pitchFamily="18" charset="0"/>
              </a:rPr>
              <a:t>的导出子图</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由于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不</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是零流</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E</a:t>
            </a:r>
            <a:r>
              <a:rPr lang="en-US" altLang="zh-CN" sz="2400" b="1" baseline="-25000" dirty="0" smtClean="0">
                <a:latin typeface="Times New Roman" panose="02020603050405020304" pitchFamily="18" charset="0"/>
                <a:cs typeface="Times New Roman" panose="02020603050405020304" pitchFamily="18" charset="0"/>
              </a:rPr>
              <a:t>1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又由于 </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 0,  </a:t>
            </a:r>
            <a:r>
              <a:rPr lang="en-US" altLang="zh-CN" sz="2400" b="1" i="1" dirty="0" smtClean="0">
                <a:latin typeface="Times New Roman" panose="02020603050405020304" pitchFamily="18" charset="0"/>
                <a:cs typeface="Times New Roman" panose="02020603050405020304" pitchFamily="18" charset="0"/>
              </a:rPr>
              <a:t>D</a:t>
            </a:r>
            <a:r>
              <a:rPr lang="en-US" altLang="zh-CN" sz="2400" b="1" baseline="-25000" dirty="0" smtClean="0">
                <a:latin typeface="Times New Roman" panose="02020603050405020304" pitchFamily="18" charset="0"/>
                <a:cs typeface="Times New Roman" panose="02020603050405020304" pitchFamily="18" charset="0"/>
              </a:rPr>
              <a:t>1</a:t>
            </a:r>
            <a:r>
              <a:rPr lang="zh-CN" altLang="en-US" sz="2400" b="1" dirty="0" smtClean="0">
                <a:latin typeface="Times New Roman" panose="02020603050405020304" pitchFamily="18" charset="0"/>
                <a:cs typeface="Times New Roman" panose="02020603050405020304" pitchFamily="18" charset="0"/>
              </a:rPr>
              <a:t>中的每个顶点的出度大于</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0.  </a:t>
            </a:r>
            <a:r>
              <a:rPr lang="zh-CN" altLang="en-US" sz="2400" b="1" dirty="0" smtClean="0">
                <a:latin typeface="Times New Roman" panose="02020603050405020304" pitchFamily="18" charset="0"/>
                <a:cs typeface="Times New Roman" panose="02020603050405020304" pitchFamily="18" charset="0"/>
              </a:rPr>
              <a:t>不难证明</a:t>
            </a:r>
            <a:r>
              <a:rPr lang="en-US" altLang="zh-CN" sz="2400" b="1" i="1" dirty="0" smtClean="0">
                <a:latin typeface="Times New Roman" panose="02020603050405020304" pitchFamily="18" charset="0"/>
                <a:cs typeface="Times New Roman" panose="02020603050405020304" pitchFamily="18" charset="0"/>
              </a:rPr>
              <a:t>D</a:t>
            </a:r>
            <a:r>
              <a:rPr lang="en-US" altLang="zh-CN" sz="2400" b="1" baseline="-25000" dirty="0" smtClean="0">
                <a:latin typeface="Times New Roman" panose="02020603050405020304" pitchFamily="18" charset="0"/>
                <a:cs typeface="Times New Roman" panose="02020603050405020304" pitchFamily="18" charset="0"/>
              </a:rPr>
              <a:t>1</a:t>
            </a:r>
            <a:r>
              <a:rPr lang="zh-CN" altLang="en-US" sz="2400" b="1" dirty="0" smtClean="0">
                <a:latin typeface="Times New Roman" panose="02020603050405020304" pitchFamily="18" charset="0"/>
                <a:cs typeface="Times New Roman" panose="02020603050405020304" pitchFamily="18" charset="0"/>
              </a:rPr>
              <a:t>中必存在边不重复的回路 </a:t>
            </a:r>
            <a:r>
              <a:rPr lang="en-US" altLang="zh-CN" sz="2400" b="1" i="1" dirty="0" smtClean="0">
                <a:latin typeface="Times New Roman" panose="02020603050405020304" pitchFamily="18" charset="0"/>
                <a:cs typeface="Times New Roman" panose="02020603050405020304" pitchFamily="18" charset="0"/>
              </a:rPr>
              <a:t>C</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设</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baseline="-25000" dirty="0" smtClean="0">
                <a:latin typeface="Times New Roman" panose="02020603050405020304" pitchFamily="18" charset="0"/>
                <a:cs typeface="Times New Roman" panose="02020603050405020304" pitchFamily="18" charset="0"/>
              </a:rPr>
              <a:t>1 </a:t>
            </a:r>
            <a:r>
              <a:rPr lang="en-US" altLang="zh-CN" sz="2400" b="1" dirty="0" smtClean="0">
                <a:latin typeface="Times New Roman" panose="02020603050405020304" pitchFamily="18" charset="0"/>
                <a:cs typeface="Times New Roman" panose="02020603050405020304" pitchFamily="18" charset="0"/>
              </a:rPr>
              <a:t>= min{ </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 &lt;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&gt;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C</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 }, </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rPr>
              <a:t>h</a:t>
            </a:r>
            <a:r>
              <a:rPr lang="en-US" altLang="zh-CN" sz="2400" b="1" i="1" baseline="30000" dirty="0" smtClean="0">
                <a:latin typeface="Times New Roman" panose="02020603050405020304" pitchFamily="18" charset="0"/>
                <a:cs typeface="Times New Roman" panose="02020603050405020304" pitchFamily="18" charset="0"/>
              </a:rPr>
              <a:t>C</a:t>
            </a:r>
            <a:r>
              <a:rPr lang="en-US" altLang="zh-CN" sz="1400" b="1" baseline="30000" dirty="0" smtClean="0">
                <a:latin typeface="Times New Roman" panose="02020603050405020304" pitchFamily="18" charset="0"/>
                <a:cs typeface="Times New Roman" panose="02020603050405020304" pitchFamily="18" charset="0"/>
              </a:rPr>
              <a:t>1</a:t>
            </a:r>
            <a:r>
              <a:rPr lang="en-US" altLang="zh-CN" sz="2400" b="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是 </a:t>
            </a:r>
            <a:r>
              <a:rPr lang="en-US" altLang="zh-CN" sz="2400" b="1" i="1" dirty="0" smtClean="0">
                <a:latin typeface="Times New Roman" panose="02020603050405020304" pitchFamily="18" charset="0"/>
                <a:cs typeface="Times New Roman" panose="02020603050405020304" pitchFamily="18" charset="0"/>
              </a:rPr>
              <a:t>C</a:t>
            </a:r>
            <a:r>
              <a:rPr lang="en-US" altLang="zh-CN" sz="2400" b="1" baseline="-25000" dirty="0" smtClean="0">
                <a:latin typeface="Times New Roman" panose="02020603050405020304" pitchFamily="18" charset="0"/>
                <a:cs typeface="Times New Roman" panose="02020603050405020304" pitchFamily="18" charset="0"/>
              </a:rPr>
              <a:t>1</a:t>
            </a:r>
            <a:r>
              <a:rPr lang="zh-CN" altLang="en-US" sz="2400" b="1" dirty="0" smtClean="0">
                <a:latin typeface="Times New Roman" panose="02020603050405020304" pitchFamily="18" charset="0"/>
                <a:cs typeface="Times New Roman" panose="02020603050405020304" pitchFamily="18" charset="0"/>
              </a:rPr>
              <a:t>上环流量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的圈流</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spcBef>
                <a:spcPts val="6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     令 </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1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h</a:t>
            </a:r>
            <a:r>
              <a:rPr lang="en-US" altLang="zh-CN" sz="2400" b="1" i="1" baseline="30000" dirty="0" smtClean="0">
                <a:latin typeface="Times New Roman" panose="02020603050405020304" pitchFamily="18" charset="0"/>
                <a:cs typeface="Times New Roman" panose="02020603050405020304" pitchFamily="18" charset="0"/>
              </a:rPr>
              <a:t>C</a:t>
            </a:r>
            <a:r>
              <a:rPr lang="en-US" altLang="zh-CN" sz="1400" b="1" baseline="30000" dirty="0" smtClean="0">
                <a:latin typeface="Times New Roman" panose="02020603050405020304" pitchFamily="18" charset="0"/>
                <a:cs typeface="Times New Roman" panose="02020603050405020304" pitchFamily="18" charset="0"/>
              </a:rPr>
              <a:t>1</a:t>
            </a:r>
            <a:r>
              <a:rPr lang="en-US" altLang="zh-CN" sz="2400" b="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 = 0</a:t>
            </a:r>
            <a:r>
              <a:rPr lang="zh-CN" altLang="en-US" sz="2400" b="1" dirty="0" smtClean="0">
                <a:latin typeface="Times New Roman" panose="02020603050405020304" pitchFamily="18" charset="0"/>
                <a:cs typeface="Times New Roman" panose="02020603050405020304" pitchFamily="18" charset="0"/>
              </a:rPr>
              <a:t>且 </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比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至少多一条零流边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重复进</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行</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得到圈流 </a:t>
            </a:r>
            <a:r>
              <a:rPr lang="en-US" altLang="zh-CN" sz="2400" b="1" i="1" dirty="0" smtClean="0">
                <a:latin typeface="Times New Roman" panose="02020603050405020304" pitchFamily="18" charset="0"/>
                <a:cs typeface="Times New Roman" panose="02020603050405020304" pitchFamily="18" charset="0"/>
              </a:rPr>
              <a:t>h</a:t>
            </a:r>
            <a:r>
              <a:rPr lang="en-US" altLang="zh-CN" sz="2400" b="1" i="1" baseline="30000" dirty="0" smtClean="0">
                <a:latin typeface="Times New Roman" panose="02020603050405020304" pitchFamily="18" charset="0"/>
                <a:cs typeface="Times New Roman" panose="02020603050405020304" pitchFamily="18" charset="0"/>
              </a:rPr>
              <a:t>C</a:t>
            </a:r>
            <a:r>
              <a:rPr lang="en-US" altLang="zh-CN" sz="1400" b="1" baseline="30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h</a:t>
            </a:r>
            <a:r>
              <a:rPr lang="en-US" altLang="zh-CN" sz="2400" b="1" i="1" baseline="30000" dirty="0" err="1" smtClean="0">
                <a:latin typeface="Times New Roman" panose="02020603050405020304" pitchFamily="18" charset="0"/>
                <a:cs typeface="Times New Roman" panose="02020603050405020304" pitchFamily="18" charset="0"/>
              </a:rPr>
              <a:t>C</a:t>
            </a:r>
            <a:r>
              <a:rPr lang="en-US" altLang="zh-CN" sz="1400" b="1" i="1" baseline="30000" dirty="0" err="1" smtClean="0">
                <a:latin typeface="Times New Roman" panose="02020603050405020304" pitchFamily="18" charset="0"/>
                <a:cs typeface="Times New Roman" panose="02020603050405020304" pitchFamily="18" charset="0"/>
              </a:rPr>
              <a:t>l</a:t>
            </a:r>
            <a:r>
              <a:rPr lang="en-US" altLang="zh-CN" sz="1400" b="1" baseline="30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使得  </a:t>
            </a:r>
            <a:r>
              <a:rPr lang="en-US" altLang="zh-CN" sz="2400" b="1" i="1" dirty="0" err="1" smtClean="0">
                <a:latin typeface="Times New Roman" panose="02020603050405020304" pitchFamily="18" charset="0"/>
                <a:cs typeface="Times New Roman" panose="02020603050405020304" pitchFamily="18" charset="0"/>
              </a:rPr>
              <a:t>f</a:t>
            </a:r>
            <a:r>
              <a:rPr lang="en-US" altLang="zh-CN" sz="2400" b="1" i="1" baseline="-25000" dirty="0" err="1" smtClean="0">
                <a:latin typeface="Times New Roman" panose="02020603050405020304" pitchFamily="18" charset="0"/>
                <a:cs typeface="Times New Roman" panose="02020603050405020304" pitchFamily="18" charset="0"/>
              </a:rPr>
              <a:t>l</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h</a:t>
            </a:r>
            <a:r>
              <a:rPr lang="en-US" altLang="zh-CN" sz="2400" b="1" i="1" baseline="30000" dirty="0" smtClean="0">
                <a:latin typeface="Times New Roman" panose="02020603050405020304" pitchFamily="18" charset="0"/>
                <a:cs typeface="Times New Roman" panose="02020603050405020304" pitchFamily="18" charset="0"/>
              </a:rPr>
              <a:t>C</a:t>
            </a:r>
            <a:r>
              <a:rPr lang="en-US" altLang="zh-CN" sz="1400" b="1" baseline="30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  </a:t>
            </a:r>
            <a:r>
              <a:rPr lang="en-US" altLang="zh-CN" sz="2400" b="1" i="1" dirty="0" err="1" smtClean="0">
                <a:latin typeface="Times New Roman" panose="02020603050405020304" pitchFamily="18" charset="0"/>
                <a:cs typeface="Times New Roman" panose="02020603050405020304" pitchFamily="18" charset="0"/>
              </a:rPr>
              <a:t>h</a:t>
            </a:r>
            <a:r>
              <a:rPr lang="en-US" altLang="zh-CN" sz="2400" b="1" i="1" baseline="30000" dirty="0" err="1" smtClean="0">
                <a:latin typeface="Times New Roman" panose="02020603050405020304" pitchFamily="18" charset="0"/>
                <a:cs typeface="Times New Roman" panose="02020603050405020304" pitchFamily="18" charset="0"/>
              </a:rPr>
              <a:t>C</a:t>
            </a:r>
            <a:r>
              <a:rPr lang="en-US" altLang="zh-CN" sz="1400" b="1" i="1" baseline="30000" dirty="0" err="1" smtClean="0">
                <a:latin typeface="Times New Roman" panose="02020603050405020304" pitchFamily="18" charset="0"/>
                <a:cs typeface="Times New Roman" panose="02020603050405020304" pitchFamily="18" charset="0"/>
              </a:rPr>
              <a:t>l</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为零流</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从</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而 </a:t>
            </a:r>
            <a:r>
              <a:rPr lang="en-US" altLang="zh-CN" sz="2400" b="1" i="1" dirty="0" smtClean="0">
                <a:latin typeface="Times New Roman" panose="02020603050405020304" pitchFamily="18" charset="0"/>
                <a:cs typeface="Times New Roman" panose="02020603050405020304" pitchFamily="18" charset="0"/>
              </a:rPr>
              <a:t>                           f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h</a:t>
            </a:r>
            <a:r>
              <a:rPr lang="en-US" altLang="zh-CN" sz="2400" b="1" i="1" baseline="30000" dirty="0" smtClean="0">
                <a:latin typeface="Times New Roman" panose="02020603050405020304" pitchFamily="18" charset="0"/>
                <a:cs typeface="Times New Roman" panose="02020603050405020304" pitchFamily="18" charset="0"/>
              </a:rPr>
              <a:t>C</a:t>
            </a:r>
            <a:r>
              <a:rPr lang="en-US" altLang="zh-CN" sz="1400" b="1" baseline="30000" dirty="0" smtClean="0">
                <a:latin typeface="Times New Roman" panose="02020603050405020304" pitchFamily="18" charset="0"/>
                <a:cs typeface="Times New Roman" panose="02020603050405020304" pitchFamily="18" charset="0"/>
              </a:rPr>
              <a:t>1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h</a:t>
            </a:r>
            <a:r>
              <a:rPr lang="en-US" altLang="zh-CN" sz="2400" b="1" i="1" baseline="30000" dirty="0" err="1" smtClean="0">
                <a:latin typeface="Times New Roman" panose="02020603050405020304" pitchFamily="18" charset="0"/>
                <a:cs typeface="Times New Roman" panose="02020603050405020304" pitchFamily="18" charset="0"/>
              </a:rPr>
              <a:t>C</a:t>
            </a:r>
            <a:r>
              <a:rPr lang="en-US" altLang="zh-CN" sz="1400" b="1" baseline="30000" dirty="0" smtClean="0">
                <a:latin typeface="Times New Roman" panose="02020603050405020304" pitchFamily="18" charset="0"/>
                <a:cs typeface="Times New Roman" panose="02020603050405020304" pitchFamily="18" charset="0"/>
              </a:rPr>
              <a:t> 2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 . .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h</a:t>
            </a:r>
            <a:r>
              <a:rPr lang="en-US" altLang="zh-CN" sz="2400" b="1" i="1" baseline="30000" dirty="0" err="1" smtClean="0">
                <a:latin typeface="Times New Roman" panose="02020603050405020304" pitchFamily="18" charset="0"/>
                <a:cs typeface="Times New Roman" panose="02020603050405020304" pitchFamily="18" charset="0"/>
              </a:rPr>
              <a:t>C</a:t>
            </a:r>
            <a:r>
              <a:rPr lang="en-US" altLang="zh-CN" sz="1400" b="1" i="1" baseline="30000" dirty="0" err="1" smtClean="0">
                <a:latin typeface="Times New Roman" panose="02020603050405020304" pitchFamily="18" charset="0"/>
                <a:cs typeface="Times New Roman" panose="02020603050405020304" pitchFamily="18" charset="0"/>
              </a:rPr>
              <a:t>l</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zh-CN" altLang="en-US" sz="2400" b="1" dirty="0" smtClean="0">
              <a:latin typeface="Times New Roman" panose="02020603050405020304" pitchFamily="18" charset="0"/>
              <a:cs typeface="Times New Roman" panose="02020603050405020304" pitchFamily="18" charset="0"/>
            </a:endParaRPr>
          </a:p>
          <a:p>
            <a:endParaRPr lang="zh-CN" altLang="en-US" dirty="0" smtClean="0"/>
          </a:p>
        </p:txBody>
      </p:sp>
      <p:sp>
        <p:nvSpPr>
          <p:cNvPr id="5529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D8887259-1821-49FD-9839-6FF21F5D554A}" type="slidenum">
              <a:rPr lang="zh-CN" altLang="en-US" sz="1200" smtClean="0">
                <a:solidFill>
                  <a:srgbClr val="898989"/>
                </a:solidFill>
              </a:rPr>
            </a:fld>
            <a:endParaRPr lang="zh-CN" altLang="en-US" sz="1200" smtClean="0">
              <a:solidFill>
                <a:srgbClr val="898989"/>
              </a:solidFill>
            </a:endParaRPr>
          </a:p>
        </p:txBody>
      </p:sp>
      <p:sp>
        <p:nvSpPr>
          <p:cNvPr id="55300" name="标题 1"/>
          <p:cNvSpPr>
            <a:spLocks noGrp="1"/>
          </p:cNvSpPr>
          <p:nvPr>
            <p:ph type="title"/>
          </p:nvPr>
        </p:nvSpPr>
        <p:spPr>
          <a:xfrm>
            <a:off x="457200" y="254000"/>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最小费用流的负回路算法</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a:xfrm>
            <a:off x="457200" y="274638"/>
            <a:ext cx="8229600" cy="868362"/>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最小费用流的负回路算法</a:t>
            </a:r>
            <a:endParaRPr lang="zh-CN" altLang="en-US" sz="4000" smtClean="0">
              <a:solidFill>
                <a:srgbClr val="C00000"/>
              </a:solidFill>
              <a:latin typeface="Times New Roman" panose="02020603050405020304" pitchFamily="18" charset="0"/>
              <a:cs typeface="Times New Roman" panose="02020603050405020304" pitchFamily="18" charset="0"/>
            </a:endParaRPr>
          </a:p>
        </p:txBody>
      </p:sp>
      <p:sp>
        <p:nvSpPr>
          <p:cNvPr id="56323" name="内容占位符 2"/>
          <p:cNvSpPr>
            <a:spLocks noGrp="1"/>
          </p:cNvSpPr>
          <p:nvPr>
            <p:ph idx="1"/>
          </p:nvPr>
        </p:nvSpPr>
        <p:spPr>
          <a:xfrm>
            <a:off x="457200" y="1143000"/>
            <a:ext cx="8229600" cy="5257800"/>
          </a:xfrm>
        </p:spPr>
        <p:txBody>
          <a:bodyPr/>
          <a:lstStyle/>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定理</a:t>
            </a:r>
            <a:r>
              <a:rPr lang="en-US" altLang="zh-CN" sz="2400" b="1" dirty="0" smtClean="0">
                <a:solidFill>
                  <a:srgbClr val="C00000"/>
                </a:solidFill>
                <a:latin typeface="Times New Roman" panose="02020603050405020304" pitchFamily="18" charset="0"/>
                <a:cs typeface="Times New Roman" panose="02020603050405020304" pitchFamily="18" charset="0"/>
              </a:rPr>
              <a:t>7.5</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设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是</a:t>
            </a:r>
            <a:r>
              <a:rPr lang="en-US" altLang="zh-CN" sz="2400" b="1" i="1" dirty="0" smtClean="0">
                <a:latin typeface="Times New Roman" panose="02020603050405020304" pitchFamily="18" charset="0"/>
                <a:cs typeface="Times New Roman" panose="02020603050405020304" pitchFamily="18" charset="0"/>
              </a:rPr>
              <a:t>N</a:t>
            </a:r>
            <a:r>
              <a:rPr lang="zh-CN" altLang="en-US" sz="2400" b="1" dirty="0" smtClean="0">
                <a:latin typeface="Times New Roman" panose="02020603050405020304" pitchFamily="18" charset="0"/>
                <a:cs typeface="Times New Roman" panose="02020603050405020304" pitchFamily="18" charset="0"/>
              </a:rPr>
              <a:t>上流量 </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25000" dirty="0" smtClean="0">
                <a:latin typeface="Times New Roman" panose="02020603050405020304" pitchFamily="18" charset="0"/>
                <a:cs typeface="Times New Roman" panose="02020603050405020304" pitchFamily="18" charset="0"/>
              </a:rPr>
              <a:t>0</a:t>
            </a:r>
            <a:r>
              <a:rPr lang="zh-CN" altLang="en-US" sz="2400" b="1" dirty="0" smtClean="0">
                <a:latin typeface="Times New Roman" panose="02020603050405020304" pitchFamily="18" charset="0"/>
                <a:cs typeface="Times New Roman" panose="02020603050405020304" pitchFamily="18" charset="0"/>
              </a:rPr>
              <a:t>的可行流</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则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是最小费用流当</a:t>
            </a:r>
            <a:r>
              <a:rPr lang="zh-CN" altLang="en-US" sz="2400" b="1" dirty="0" smtClean="0">
                <a:latin typeface="Times New Roman" panose="02020603050405020304" pitchFamily="18" charset="0"/>
                <a:cs typeface="Times New Roman" panose="02020603050405020304" pitchFamily="18" charset="0"/>
              </a:rPr>
              <a:t>且</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仅当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中不存在以辅助费用 </a:t>
            </a:r>
            <a:r>
              <a:rPr lang="en-US" altLang="zh-CN" sz="2400" b="1" i="1" dirty="0" smtClean="0">
                <a:latin typeface="Times New Roman" panose="02020603050405020304" pitchFamily="18" charset="0"/>
                <a:cs typeface="Times New Roman" panose="02020603050405020304" pitchFamily="18" charset="0"/>
              </a:rPr>
              <a:t>aw </a:t>
            </a:r>
            <a:r>
              <a:rPr lang="zh-CN" altLang="en-US" sz="2400" b="1" dirty="0" smtClean="0">
                <a:latin typeface="Times New Roman" panose="02020603050405020304" pitchFamily="18" charset="0"/>
                <a:cs typeface="Times New Roman" panose="02020603050405020304" pitchFamily="18" charset="0"/>
              </a:rPr>
              <a:t>为权的负回路</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证</a:t>
            </a:r>
            <a:r>
              <a:rPr lang="zh-CN" altLang="en-US" sz="2400" b="1" dirty="0" smtClean="0">
                <a:latin typeface="Times New Roman" panose="02020603050405020304" pitchFamily="18" charset="0"/>
                <a:cs typeface="Times New Roman" panose="02020603050405020304" pitchFamily="18" charset="0"/>
              </a:rPr>
              <a:t>  充分性</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假设</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中不存在关于</a:t>
            </a:r>
            <a:r>
              <a:rPr lang="en-US" altLang="zh-CN" sz="2400" b="1" i="1" dirty="0" smtClean="0">
                <a:latin typeface="Times New Roman" panose="02020603050405020304" pitchFamily="18" charset="0"/>
                <a:cs typeface="Times New Roman" panose="02020603050405020304" pitchFamily="18" charset="0"/>
              </a:rPr>
              <a:t>aw</a:t>
            </a:r>
            <a:r>
              <a:rPr lang="zh-CN" altLang="en-US" sz="2400" b="1" dirty="0" smtClean="0">
                <a:latin typeface="Times New Roman" panose="02020603050405020304" pitchFamily="18" charset="0"/>
                <a:cs typeface="Times New Roman" panose="02020603050405020304" pitchFamily="18" charset="0"/>
              </a:rPr>
              <a:t>的负回路</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rPr>
              <a:t>是 </a:t>
            </a:r>
            <a:r>
              <a:rPr lang="en-US" altLang="zh-CN" sz="2400" b="1" i="1" dirty="0" smtClean="0">
                <a:latin typeface="Times New Roman" panose="02020603050405020304" pitchFamily="18" charset="0"/>
                <a:cs typeface="Times New Roman" panose="02020603050405020304" pitchFamily="18" charset="0"/>
              </a:rPr>
              <a:t>N</a:t>
            </a:r>
            <a:r>
              <a:rPr lang="zh-CN" altLang="en-US" sz="2400" b="1" dirty="0" smtClean="0">
                <a:latin typeface="Times New Roman" panose="02020603050405020304" pitchFamily="18" charset="0"/>
                <a:cs typeface="Times New Roman" panose="02020603050405020304" pitchFamily="18" charset="0"/>
              </a:rPr>
              <a:t>上任</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一流量 </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25000" dirty="0" smtClean="0">
                <a:latin typeface="Times New Roman" panose="02020603050405020304" pitchFamily="18" charset="0"/>
                <a:cs typeface="Times New Roman" panose="02020603050405020304" pitchFamily="18" charset="0"/>
              </a:rPr>
              <a:t>0 </a:t>
            </a:r>
            <a:r>
              <a:rPr lang="zh-CN" altLang="en-US" sz="2400" b="1" dirty="0" smtClean="0">
                <a:latin typeface="Times New Roman" panose="02020603050405020304" pitchFamily="18" charset="0"/>
                <a:cs typeface="Times New Roman" panose="02020603050405020304" pitchFamily="18" charset="0"/>
              </a:rPr>
              <a:t>的可行流</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是</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上的可行流且 </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)=0. </a:t>
            </a:r>
            <a:r>
              <a:rPr lang="zh-CN" altLang="en-US" sz="2400" b="1" dirty="0" smtClean="0">
                <a:latin typeface="Times New Roman" panose="02020603050405020304" pitchFamily="18" charset="0"/>
                <a:cs typeface="Times New Roman" panose="02020603050405020304" pitchFamily="18" charset="0"/>
              </a:rPr>
              <a:t>不妨</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设 </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于是 </a:t>
            </a:r>
            <a:r>
              <a:rPr lang="en-US" altLang="zh-CN" sz="2400" b="1" i="1"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不是零流</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从而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中存在回路</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j</a:t>
            </a:r>
            <a:r>
              <a:rPr lang="zh-CN" altLang="en-US" sz="2400" b="1" dirty="0" smtClean="0">
                <a:latin typeface="Times New Roman" panose="02020603050405020304" pitchFamily="18" charset="0"/>
                <a:cs typeface="Times New Roman" panose="02020603050405020304" pitchFamily="18" charset="0"/>
              </a:rPr>
              <a:t>及其圈流 </a:t>
            </a:r>
            <a:r>
              <a:rPr lang="en-US" altLang="zh-CN" sz="2400" b="1" i="1" dirty="0" err="1" smtClean="0">
                <a:latin typeface="Times New Roman" panose="02020603050405020304" pitchFamily="18" charset="0"/>
                <a:cs typeface="Times New Roman" panose="02020603050405020304" pitchFamily="18" charset="0"/>
              </a:rPr>
              <a:t>h</a:t>
            </a:r>
            <a:r>
              <a:rPr lang="en-US" altLang="zh-CN" sz="2400" b="1" i="1" baseline="30000" dirty="0" err="1" smtClean="0">
                <a:latin typeface="Times New Roman" panose="02020603050405020304" pitchFamily="18" charset="0"/>
                <a:cs typeface="Times New Roman" panose="02020603050405020304" pitchFamily="18" charset="0"/>
              </a:rPr>
              <a:t>C</a:t>
            </a:r>
            <a:r>
              <a:rPr lang="en-US" altLang="zh-CN" sz="1400" b="1" i="1" baseline="30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endParaRPr lang="en-US" altLang="zh-CN" sz="2400" b="1" i="1" baseline="-25000"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j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l</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rPr>
              <a:t>使得 </a:t>
            </a:r>
            <a:r>
              <a:rPr lang="en-US" altLang="zh-CN" sz="2400" b="1" i="1" dirty="0" smtClean="0">
                <a:latin typeface="Times New Roman" panose="02020603050405020304" pitchFamily="18" charset="0"/>
                <a:cs typeface="Times New Roman" panose="02020603050405020304" pitchFamily="18" charset="0"/>
              </a:rPr>
              <a:t>g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h</a:t>
            </a:r>
            <a:r>
              <a:rPr lang="en-US" altLang="zh-CN" sz="2400" b="1" i="1" baseline="30000" dirty="0" smtClean="0">
                <a:latin typeface="Times New Roman" panose="02020603050405020304" pitchFamily="18" charset="0"/>
                <a:cs typeface="Times New Roman" panose="02020603050405020304" pitchFamily="18" charset="0"/>
              </a:rPr>
              <a:t>C</a:t>
            </a:r>
            <a:r>
              <a:rPr lang="en-US" altLang="zh-CN" sz="1400" b="1" baseline="30000" dirty="0" smtClean="0">
                <a:latin typeface="Times New Roman" panose="02020603050405020304" pitchFamily="18" charset="0"/>
                <a:cs typeface="Times New Roman" panose="02020603050405020304" pitchFamily="18" charset="0"/>
              </a:rPr>
              <a:t>1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h</a:t>
            </a:r>
            <a:r>
              <a:rPr lang="en-US" altLang="zh-CN" sz="2400" b="1" i="1" baseline="30000" dirty="0" err="1" smtClean="0">
                <a:latin typeface="Times New Roman" panose="02020603050405020304" pitchFamily="18" charset="0"/>
                <a:cs typeface="Times New Roman" panose="02020603050405020304" pitchFamily="18" charset="0"/>
              </a:rPr>
              <a:t>C</a:t>
            </a:r>
            <a:r>
              <a:rPr lang="en-US" altLang="zh-CN" sz="1400" b="1" baseline="30000" dirty="0" smtClean="0">
                <a:latin typeface="Times New Roman" panose="02020603050405020304" pitchFamily="18" charset="0"/>
                <a:cs typeface="Times New Roman" panose="02020603050405020304" pitchFamily="18" charset="0"/>
              </a:rPr>
              <a:t> 2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 . .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h</a:t>
            </a:r>
            <a:r>
              <a:rPr lang="en-US" altLang="zh-CN" sz="2400" b="1" i="1" baseline="30000" dirty="0" err="1" smtClean="0">
                <a:latin typeface="Times New Roman" panose="02020603050405020304" pitchFamily="18" charset="0"/>
                <a:cs typeface="Times New Roman" panose="02020603050405020304" pitchFamily="18" charset="0"/>
              </a:rPr>
              <a:t>C</a:t>
            </a:r>
            <a:r>
              <a:rPr lang="en-US" altLang="zh-CN" sz="1400" b="1" i="1" baseline="30000" dirty="0" err="1" smtClean="0">
                <a:latin typeface="Times New Roman" panose="02020603050405020304" pitchFamily="18" charset="0"/>
                <a:cs typeface="Times New Roman" panose="02020603050405020304" pitchFamily="18" charset="0"/>
              </a:rPr>
              <a:t>l</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的辅助费用</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aw</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aw</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C</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aw</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C</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err="1" smtClean="0">
                <a:latin typeface="Times New Roman" panose="02020603050405020304" pitchFamily="18" charset="0"/>
                <a:cs typeface="Times New Roman" panose="02020603050405020304" pitchFamily="18" charset="0"/>
              </a:rPr>
              <a:t>l</a:t>
            </a:r>
            <a:r>
              <a:rPr lang="en-US" altLang="zh-CN" sz="2400" b="1" dirty="0" err="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smtClean="0">
                <a:latin typeface="Times New Roman" panose="02020603050405020304" pitchFamily="18" charset="0"/>
                <a:cs typeface="Times New Roman" panose="02020603050405020304" pitchFamily="18" charset="0"/>
              </a:rPr>
              <a:t>aw</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C</a:t>
            </a:r>
            <a:r>
              <a:rPr lang="en-US" altLang="zh-CN" sz="2400" b="1" i="1" baseline="-25000" dirty="0" smtClean="0">
                <a:latin typeface="Times New Roman" panose="02020603050405020304" pitchFamily="18" charset="0"/>
                <a:cs typeface="Times New Roman" panose="02020603050405020304" pitchFamily="18" charset="0"/>
              </a:rPr>
              <a:t>l </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由于</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中不存在关于权 </a:t>
            </a:r>
            <a:r>
              <a:rPr lang="en-US" altLang="zh-CN" sz="2400" b="1" i="1" dirty="0" smtClean="0">
                <a:latin typeface="Times New Roman" panose="02020603050405020304" pitchFamily="18" charset="0"/>
                <a:cs typeface="Times New Roman" panose="02020603050405020304" pitchFamily="18" charset="0"/>
              </a:rPr>
              <a:t>aw </a:t>
            </a:r>
            <a:r>
              <a:rPr lang="zh-CN" altLang="en-US" sz="2400" b="1" dirty="0" smtClean="0">
                <a:latin typeface="Times New Roman" panose="02020603050405020304" pitchFamily="18" charset="0"/>
                <a:cs typeface="Times New Roman" panose="02020603050405020304" pitchFamily="18" charset="0"/>
              </a:rPr>
              <a:t>的负回路</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所有 </a:t>
            </a:r>
            <a:r>
              <a:rPr lang="en-US" altLang="zh-CN" sz="2400" b="1" i="1" dirty="0" smtClean="0">
                <a:latin typeface="Times New Roman" panose="02020603050405020304" pitchFamily="18" charset="0"/>
                <a:cs typeface="Times New Roman" panose="02020603050405020304" pitchFamily="18" charset="0"/>
              </a:rPr>
              <a:t>aw</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C</a:t>
            </a:r>
            <a:r>
              <a:rPr lang="en-US" altLang="zh-CN" sz="2400" b="1" i="1" baseline="-25000" dirty="0" smtClean="0">
                <a:latin typeface="Times New Roman" panose="02020603050405020304" pitchFamily="18" charset="0"/>
                <a:cs typeface="Times New Roman" panose="02020603050405020304" pitchFamily="18" charset="0"/>
              </a:rPr>
              <a:t>r</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0, </a:t>
            </a:r>
            <a:r>
              <a:rPr lang="zh-CN" altLang="en-US" sz="2400" b="1" dirty="0" smtClean="0">
                <a:latin typeface="Times New Roman" panose="02020603050405020304" pitchFamily="18" charset="0"/>
                <a:cs typeface="Times New Roman" panose="02020603050405020304" pitchFamily="18" charset="0"/>
              </a:rPr>
              <a:t>从而</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rPr>
              <a:t>aw</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0. </a:t>
            </a:r>
            <a:r>
              <a:rPr lang="zh-CN" altLang="en-US" sz="2400" b="1" dirty="0" smtClean="0">
                <a:latin typeface="Times New Roman" panose="02020603050405020304" pitchFamily="18" charset="0"/>
                <a:cs typeface="Times New Roman" panose="02020603050405020304" pitchFamily="18" charset="0"/>
              </a:rPr>
              <a:t>又由引理</a:t>
            </a:r>
            <a:r>
              <a:rPr lang="en-US" altLang="zh-CN" sz="2400" b="1" dirty="0" smtClean="0">
                <a:latin typeface="Times New Roman" panose="02020603050405020304" pitchFamily="18" charset="0"/>
                <a:cs typeface="Times New Roman" panose="02020603050405020304" pitchFamily="18" charset="0"/>
              </a:rPr>
              <a:t>7.9, </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w</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 w</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aw</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w</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得证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是最小费用流</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p:txBody>
      </p:sp>
      <p:sp>
        <p:nvSpPr>
          <p:cNvPr id="5632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3F636FC0-46A4-498F-AF4A-4ED192E2FE37}"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最小费用流的负回路算法</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57347" name="内容占位符 2"/>
          <p:cNvSpPr>
            <a:spLocks noGrp="1"/>
          </p:cNvSpPr>
          <p:nvPr>
            <p:ph idx="1"/>
          </p:nvPr>
        </p:nvSpPr>
        <p:spPr>
          <a:xfrm>
            <a:off x="457200" y="1341438"/>
            <a:ext cx="8229600" cy="4852987"/>
          </a:xfrm>
        </p:spPr>
        <p:txBody>
          <a:bodyPr/>
          <a:lstStyle/>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算法</a:t>
            </a:r>
            <a:r>
              <a:rPr lang="en-US" altLang="zh-CN" sz="2400" b="1" dirty="0" smtClean="0">
                <a:solidFill>
                  <a:srgbClr val="C00000"/>
                </a:solidFill>
                <a:latin typeface="Times New Roman" panose="02020603050405020304" pitchFamily="18" charset="0"/>
                <a:cs typeface="Times New Roman" panose="02020603050405020304" pitchFamily="18" charset="0"/>
              </a:rPr>
              <a:t>7.4 </a:t>
            </a:r>
            <a:r>
              <a:rPr lang="zh-CN" altLang="en-US" sz="2400" b="1" dirty="0" smtClean="0">
                <a:solidFill>
                  <a:srgbClr val="C00000"/>
                </a:solidFill>
                <a:latin typeface="Times New Roman" panose="02020603050405020304" pitchFamily="18" charset="0"/>
                <a:cs typeface="Times New Roman" panose="02020603050405020304" pitchFamily="18" charset="0"/>
              </a:rPr>
              <a:t>最小费用流的负回路算法</a:t>
            </a:r>
            <a:endParaRPr lang="zh-CN" altLang="en-US" sz="2400" b="1" dirty="0" smtClean="0">
              <a:solidFill>
                <a:srgbClr val="C00000"/>
              </a:solidFill>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调用最大流算法</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若求得流量 </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25000" dirty="0" smtClean="0">
                <a:latin typeface="Times New Roman" panose="02020603050405020304" pitchFamily="18" charset="0"/>
                <a:cs typeface="Times New Roman" panose="02020603050405020304" pitchFamily="18" charset="0"/>
              </a:rPr>
              <a:t>0 </a:t>
            </a:r>
            <a:r>
              <a:rPr lang="zh-CN" altLang="en-US" sz="2400" b="1" dirty="0" smtClean="0">
                <a:latin typeface="Times New Roman" panose="02020603050405020304" pitchFamily="18" charset="0"/>
                <a:cs typeface="Times New Roman" panose="02020603050405020304" pitchFamily="18" charset="0"/>
              </a:rPr>
              <a:t>的可行流 </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则转</a:t>
            </a:r>
            <a:r>
              <a:rPr lang="en-US" altLang="zh-CN" sz="2400" b="1" dirty="0" smtClean="0">
                <a:latin typeface="Times New Roman" panose="02020603050405020304" pitchFamily="18" charset="0"/>
                <a:cs typeface="Times New Roman" panose="02020603050405020304" pitchFamily="18" charset="0"/>
              </a:rPr>
              <a:t>2; </a:t>
            </a:r>
            <a:r>
              <a:rPr lang="zh-CN" altLang="en-US" sz="2400" b="1" dirty="0" smtClean="0">
                <a:latin typeface="Times New Roman" panose="02020603050405020304" pitchFamily="18" charset="0"/>
                <a:cs typeface="Times New Roman" panose="02020603050405020304" pitchFamily="18" charset="0"/>
              </a:rPr>
              <a:t>若最大流量小于</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25000" dirty="0" smtClean="0">
                <a:latin typeface="Times New Roman" panose="02020603050405020304" pitchFamily="18" charset="0"/>
                <a:cs typeface="Times New Roman" panose="02020603050405020304" pitchFamily="18" charset="0"/>
              </a:rPr>
              <a:t>0</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则输出“无流量</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25000" dirty="0" smtClean="0">
                <a:latin typeface="Times New Roman" panose="02020603050405020304" pitchFamily="18" charset="0"/>
                <a:cs typeface="Times New Roman" panose="02020603050405020304" pitchFamily="18" charset="0"/>
              </a:rPr>
              <a:t>0</a:t>
            </a:r>
            <a:r>
              <a:rPr lang="zh-CN" altLang="en-US" sz="2400" b="1" dirty="0" smtClean="0">
                <a:latin typeface="Times New Roman" panose="02020603050405020304" pitchFamily="18" charset="0"/>
                <a:cs typeface="Times New Roman" panose="02020603050405020304" pitchFamily="18" charset="0"/>
              </a:rPr>
              <a:t>的可行流”</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计算结束</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2. </a:t>
            </a:r>
            <a:r>
              <a:rPr lang="zh-CN" altLang="en-US" sz="2400" b="1" dirty="0" smtClean="0">
                <a:latin typeface="Times New Roman" panose="02020603050405020304" pitchFamily="18" charset="0"/>
                <a:cs typeface="Times New Roman" panose="02020603050405020304" pitchFamily="18" charset="0"/>
              </a:rPr>
              <a:t>构造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3. </a:t>
            </a:r>
            <a:r>
              <a:rPr lang="zh-CN" altLang="en-US" sz="2400" b="1" dirty="0" smtClean="0">
                <a:latin typeface="Times New Roman" panose="02020603050405020304" pitchFamily="18" charset="0"/>
                <a:cs typeface="Times New Roman" panose="02020603050405020304" pitchFamily="18" charset="0"/>
              </a:rPr>
              <a:t>用 </a:t>
            </a:r>
            <a:r>
              <a:rPr lang="en-US" altLang="zh-CN" sz="2400" b="1" dirty="0" smtClean="0">
                <a:latin typeface="Times New Roman" panose="02020603050405020304" pitchFamily="18" charset="0"/>
                <a:cs typeface="Times New Roman" panose="02020603050405020304" pitchFamily="18" charset="0"/>
              </a:rPr>
              <a:t>Floyd</a:t>
            </a:r>
            <a:r>
              <a:rPr lang="zh-CN" altLang="en-US" sz="2400" b="1" dirty="0" smtClean="0">
                <a:latin typeface="Times New Roman" panose="02020603050405020304" pitchFamily="18" charset="0"/>
                <a:cs typeface="Times New Roman" panose="02020603050405020304" pitchFamily="18" charset="0"/>
              </a:rPr>
              <a:t>算法检测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中是否存在权</a:t>
            </a:r>
            <a:r>
              <a:rPr lang="en-US" altLang="zh-CN" sz="2400" b="1" i="1" dirty="0" smtClean="0">
                <a:latin typeface="Times New Roman" panose="02020603050405020304" pitchFamily="18" charset="0"/>
                <a:cs typeface="Times New Roman" panose="02020603050405020304" pitchFamily="18" charset="0"/>
              </a:rPr>
              <a:t>aw</a:t>
            </a:r>
            <a:r>
              <a:rPr lang="zh-CN" altLang="en-US" sz="2400" b="1" dirty="0" smtClean="0">
                <a:latin typeface="Times New Roman" panose="02020603050405020304" pitchFamily="18" charset="0"/>
                <a:cs typeface="Times New Roman" panose="02020603050405020304" pitchFamily="18" charset="0"/>
              </a:rPr>
              <a:t>的负回路</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若存在负回路</a:t>
            </a:r>
            <a:r>
              <a:rPr lang="en-US" altLang="zh-CN" sz="2400" b="1" i="1" dirty="0" smtClean="0">
                <a:latin typeface="Times New Roman" panose="02020603050405020304" pitchFamily="18" charset="0"/>
                <a:cs typeface="Times New Roman" panose="02020603050405020304" pitchFamily="18" charset="0"/>
              </a:rPr>
              <a:t>C</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则转</a:t>
            </a:r>
            <a:r>
              <a:rPr lang="en-US" altLang="zh-CN" sz="2400" b="1" dirty="0" smtClean="0">
                <a:latin typeface="Times New Roman" panose="02020603050405020304" pitchFamily="18" charset="0"/>
                <a:cs typeface="Times New Roman" panose="02020603050405020304" pitchFamily="18" charset="0"/>
              </a:rPr>
              <a:t>4; </a:t>
            </a:r>
            <a:r>
              <a:rPr lang="zh-CN" altLang="en-US" sz="2400" b="1" dirty="0" smtClean="0">
                <a:latin typeface="Times New Roman" panose="02020603050405020304" pitchFamily="18" charset="0"/>
                <a:cs typeface="Times New Roman" panose="02020603050405020304" pitchFamily="18" charset="0"/>
              </a:rPr>
              <a:t>若不存在负回路</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则输出 </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计算结束</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4. </a:t>
            </a:r>
            <a:r>
              <a:rPr lang="zh-CN" altLang="en-US" sz="2400" b="1" dirty="0" smtClean="0">
                <a:latin typeface="Times New Roman" panose="02020603050405020304" pitchFamily="18" charset="0"/>
                <a:cs typeface="Times New Roman" panose="02020603050405020304" pitchFamily="18" charset="0"/>
              </a:rPr>
              <a:t>令</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min{ </a:t>
            </a:r>
            <a:r>
              <a:rPr lang="en-US" altLang="zh-CN" sz="2400" b="1" i="1" dirty="0" smtClean="0">
                <a:latin typeface="Times New Roman" panose="02020603050405020304" pitchFamily="18" charset="0"/>
                <a:cs typeface="Times New Roman" panose="02020603050405020304" pitchFamily="18" charset="0"/>
              </a:rPr>
              <a:t>ac</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 &lt;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&gt;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C</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err="1" smtClean="0">
                <a:latin typeface="Times New Roman" panose="02020603050405020304" pitchFamily="18" charset="0"/>
                <a:cs typeface="Times New Roman" panose="02020603050405020304" pitchFamily="18" charset="0"/>
              </a:rPr>
              <a:t>h</a:t>
            </a:r>
            <a:r>
              <a:rPr lang="en-US" altLang="zh-CN" sz="2400" b="1" i="1" baseline="30000" dirty="0" err="1" smtClean="0">
                <a:latin typeface="Times New Roman" panose="02020603050405020304" pitchFamily="18" charset="0"/>
                <a:cs typeface="Times New Roman" panose="02020603050405020304" pitchFamily="18" charset="0"/>
              </a:rPr>
              <a:t>C</a:t>
            </a:r>
            <a:r>
              <a:rPr lang="zh-CN" altLang="en-US" sz="2400" b="1" dirty="0" smtClean="0">
                <a:latin typeface="Times New Roman" panose="02020603050405020304" pitchFamily="18" charset="0"/>
                <a:cs typeface="Times New Roman" panose="02020603050405020304" pitchFamily="18" charset="0"/>
              </a:rPr>
              <a:t>的环流量为</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5.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&gt;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C</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若</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&gt;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令 </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若</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&gt;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令</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f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f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h</a:t>
            </a:r>
            <a:r>
              <a:rPr lang="en-US" altLang="zh-CN" sz="2400" b="1" i="1" baseline="30000" dirty="0" err="1" smtClean="0">
                <a:latin typeface="Times New Roman" panose="02020603050405020304" pitchFamily="18" charset="0"/>
                <a:cs typeface="Times New Roman" panose="02020603050405020304" pitchFamily="18" charset="0"/>
              </a:rPr>
              <a:t>C</a:t>
            </a:r>
            <a:r>
              <a:rPr lang="en-US" altLang="zh-CN" sz="2400" b="1" i="1" baseline="30000"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6. </a:t>
            </a:r>
            <a:r>
              <a:rPr lang="zh-CN" altLang="en-US" sz="2400" b="1" dirty="0" smtClean="0">
                <a:latin typeface="Times New Roman" panose="02020603050405020304" pitchFamily="18" charset="0"/>
                <a:cs typeface="Times New Roman" panose="02020603050405020304" pitchFamily="18" charset="0"/>
              </a:rPr>
              <a:t>转</a:t>
            </a:r>
            <a:r>
              <a:rPr lang="en-US" altLang="zh-CN" sz="2400" b="1" dirty="0" smtClean="0">
                <a:latin typeface="Times New Roman" panose="02020603050405020304" pitchFamily="18" charset="0"/>
                <a:cs typeface="Times New Roman" panose="02020603050405020304" pitchFamily="18" charset="0"/>
              </a:rPr>
              <a:t>2</a:t>
            </a:r>
            <a:endParaRPr lang="zh-CN" altLang="en-US" sz="2400" b="1" dirty="0" smtClean="0">
              <a:latin typeface="Times New Roman" panose="02020603050405020304" pitchFamily="18" charset="0"/>
              <a:cs typeface="Times New Roman" panose="02020603050405020304" pitchFamily="18" charset="0"/>
            </a:endParaRPr>
          </a:p>
        </p:txBody>
      </p:sp>
      <p:sp>
        <p:nvSpPr>
          <p:cNvPr id="5734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6CC856-784C-4EBC-95B2-07CACEDBBFDA}"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a:lstStyle/>
          <a:p>
            <a:r>
              <a:rPr lang="zh-CN" altLang="en-US" sz="4000" b="1" dirty="0" smtClean="0">
                <a:solidFill>
                  <a:srgbClr val="C00000"/>
                </a:solidFill>
                <a:latin typeface="Times New Roman" panose="02020603050405020304" pitchFamily="18" charset="0"/>
                <a:cs typeface="Times New Roman" panose="02020603050405020304" pitchFamily="18" charset="0"/>
              </a:rPr>
              <a:t>算法</a:t>
            </a:r>
            <a:r>
              <a:rPr lang="en-US" altLang="zh-CN" sz="4000" b="1" dirty="0" smtClean="0">
                <a:solidFill>
                  <a:srgbClr val="C00000"/>
                </a:solidFill>
                <a:latin typeface="Times New Roman" panose="02020603050405020304" pitchFamily="18" charset="0"/>
                <a:cs typeface="Times New Roman" panose="02020603050405020304" pitchFamily="18" charset="0"/>
              </a:rPr>
              <a:t>7.4</a:t>
            </a:r>
            <a:r>
              <a:rPr lang="zh-CN" altLang="en-US" sz="4000" b="1" dirty="0" smtClean="0">
                <a:solidFill>
                  <a:srgbClr val="C00000"/>
                </a:solidFill>
                <a:latin typeface="Times New Roman" panose="02020603050405020304" pitchFamily="18" charset="0"/>
                <a:cs typeface="Times New Roman" panose="02020603050405020304" pitchFamily="18" charset="0"/>
              </a:rPr>
              <a:t>的有限终止性</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
        <p:nvSpPr>
          <p:cNvPr id="58371" name="内容占位符 2"/>
          <p:cNvSpPr>
            <a:spLocks noGrp="1"/>
          </p:cNvSpPr>
          <p:nvPr>
            <p:ph idx="1"/>
          </p:nvPr>
        </p:nvSpPr>
        <p:spPr>
          <a:xfrm>
            <a:off x="463550" y="1417638"/>
            <a:ext cx="8229600" cy="4525962"/>
          </a:xfrm>
        </p:spPr>
        <p:txBody>
          <a:bodyPr/>
          <a:lstStyle/>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假设所有的容量都是整数</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算法计算过程中的可行流都是整</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数值</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圈流的环流量也是整数</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大于等于 </a:t>
            </a:r>
            <a:r>
              <a:rPr lang="en-US" altLang="zh-CN" sz="2400" b="1" smtClean="0">
                <a:latin typeface="Times New Roman" panose="02020603050405020304" pitchFamily="18" charset="0"/>
                <a:cs typeface="Times New Roman" panose="02020603050405020304" pitchFamily="18" charset="0"/>
              </a:rPr>
              <a:t>1. </a:t>
            </a:r>
            <a:endParaRPr lang="en-US" altLang="zh-CN" sz="2400" b="1"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以 </a:t>
            </a:r>
            <a:r>
              <a:rPr lang="en-US" altLang="zh-CN" sz="2400" b="1" i="1" smtClean="0">
                <a:latin typeface="Times New Roman" panose="02020603050405020304" pitchFamily="18" charset="0"/>
                <a:cs typeface="Times New Roman" panose="02020603050405020304" pitchFamily="18" charset="0"/>
              </a:rPr>
              <a:t>N </a:t>
            </a:r>
            <a:r>
              <a:rPr lang="zh-CN" altLang="en-US" sz="2400" b="1" smtClean="0">
                <a:latin typeface="Times New Roman" panose="02020603050405020304" pitchFamily="18" charset="0"/>
                <a:cs typeface="Times New Roman" panose="02020603050405020304" pitchFamily="18" charset="0"/>
              </a:rPr>
              <a:t>的顶点集 </a:t>
            </a:r>
            <a:r>
              <a:rPr lang="en-US" altLang="zh-CN" sz="2400" b="1" i="1" smtClean="0">
                <a:latin typeface="Times New Roman" panose="02020603050405020304" pitchFamily="18" charset="0"/>
                <a:cs typeface="Times New Roman" panose="02020603050405020304" pitchFamily="18" charset="0"/>
              </a:rPr>
              <a:t>V </a:t>
            </a:r>
            <a:r>
              <a:rPr lang="zh-CN" altLang="en-US" sz="2400" b="1" smtClean="0">
                <a:latin typeface="Times New Roman" panose="02020603050405020304" pitchFamily="18" charset="0"/>
                <a:cs typeface="Times New Roman" panose="02020603050405020304" pitchFamily="18" charset="0"/>
              </a:rPr>
              <a:t>为顶点集的完全有向图 </a:t>
            </a:r>
            <a:r>
              <a:rPr lang="en-US" altLang="zh-CN" sz="2400" b="1" i="1" smtClean="0">
                <a:latin typeface="Times New Roman" panose="02020603050405020304" pitchFamily="18" charset="0"/>
                <a:cs typeface="Times New Roman" panose="02020603050405020304" pitchFamily="18" charset="0"/>
              </a:rPr>
              <a:t>D</a:t>
            </a:r>
            <a:r>
              <a:rPr lang="zh-CN" altLang="en-US" sz="2400" b="1" smtClean="0">
                <a:latin typeface="Times New Roman" panose="02020603050405020304" pitchFamily="18" charset="0"/>
                <a:cs typeface="Times New Roman" panose="02020603050405020304" pitchFamily="18" charset="0"/>
              </a:rPr>
              <a:t>中只有有限条边</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不重的回路</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记以 </a:t>
            </a:r>
            <a:r>
              <a:rPr lang="en-US" altLang="zh-CN" sz="2400" b="1" i="1" smtClean="0">
                <a:latin typeface="Times New Roman" panose="02020603050405020304" pitchFamily="18" charset="0"/>
                <a:cs typeface="Times New Roman" panose="02020603050405020304" pitchFamily="18" charset="0"/>
              </a:rPr>
              <a:t>aw </a:t>
            </a:r>
            <a:r>
              <a:rPr lang="zh-CN" altLang="en-US" sz="2400" b="1" smtClean="0">
                <a:latin typeface="Times New Roman" panose="02020603050405020304" pitchFamily="18" charset="0"/>
                <a:cs typeface="Times New Roman" panose="02020603050405020304" pitchFamily="18" charset="0"/>
              </a:rPr>
              <a:t>为权的所有负回路的权的绝对值的最小</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值为 </a:t>
            </a:r>
            <a:r>
              <a:rPr lang="en-US" altLang="zh-CN" sz="2400" b="1" i="1" smtClean="0">
                <a:latin typeface="Times New Roman" panose="02020603050405020304" pitchFamily="18" charset="0"/>
                <a:cs typeface="Times New Roman" panose="02020603050405020304" pitchFamily="18" charset="0"/>
              </a:rPr>
              <a:t>w*</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每个</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都是</a:t>
            </a:r>
            <a:r>
              <a:rPr lang="en-US" altLang="zh-CN" sz="2400" b="1" i="1" smtClean="0">
                <a:latin typeface="Times New Roman" panose="02020603050405020304" pitchFamily="18" charset="0"/>
                <a:cs typeface="Times New Roman" panose="02020603050405020304" pitchFamily="18" charset="0"/>
              </a:rPr>
              <a:t>D</a:t>
            </a:r>
            <a:r>
              <a:rPr lang="zh-CN" altLang="en-US" sz="2400" b="1" smtClean="0">
                <a:latin typeface="Times New Roman" panose="02020603050405020304" pitchFamily="18" charset="0"/>
                <a:cs typeface="Times New Roman" panose="02020603050405020304" pitchFamily="18" charset="0"/>
              </a:rPr>
              <a:t>的子图</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其负回路的权的绝对值不小</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于 </a:t>
            </a:r>
            <a:r>
              <a:rPr lang="en-US" altLang="zh-CN" sz="2400" b="1" i="1" smtClean="0">
                <a:latin typeface="Times New Roman" panose="02020603050405020304" pitchFamily="18" charset="0"/>
                <a:cs typeface="Times New Roman" panose="02020603050405020304" pitchFamily="18" charset="0"/>
              </a:rPr>
              <a:t>w*</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设 </a:t>
            </a:r>
            <a:r>
              <a:rPr lang="en-US" altLang="zh-CN" sz="2400" b="1" i="1" smtClean="0">
                <a:latin typeface="Times New Roman" panose="02020603050405020304" pitchFamily="18" charset="0"/>
                <a:cs typeface="Times New Roman" panose="02020603050405020304" pitchFamily="18" charset="0"/>
              </a:rPr>
              <a:t>f </a:t>
            </a:r>
            <a:r>
              <a:rPr lang="zh-CN" altLang="en-US" sz="2400" b="1" smtClean="0">
                <a:latin typeface="Times New Roman" panose="02020603050405020304" pitchFamily="18" charset="0"/>
                <a:cs typeface="Times New Roman" panose="02020603050405020304" pitchFamily="18" charset="0"/>
              </a:rPr>
              <a:t>是流量 </a:t>
            </a:r>
            <a:r>
              <a:rPr lang="en-US" altLang="zh-CN" sz="2400" b="1" i="1" smtClean="0">
                <a:latin typeface="Times New Roman" panose="02020603050405020304" pitchFamily="18" charset="0"/>
                <a:cs typeface="Times New Roman" panose="02020603050405020304" pitchFamily="18" charset="0"/>
              </a:rPr>
              <a:t>v</a:t>
            </a:r>
            <a:r>
              <a:rPr lang="en-US" altLang="zh-CN" sz="2400" b="1" baseline="-25000" smtClean="0">
                <a:latin typeface="Times New Roman" panose="02020603050405020304" pitchFamily="18" charset="0"/>
                <a:cs typeface="Times New Roman" panose="02020603050405020304" pitchFamily="18" charset="0"/>
              </a:rPr>
              <a:t>0</a:t>
            </a:r>
            <a:r>
              <a:rPr lang="zh-CN" altLang="en-US" sz="2400" b="1" smtClean="0">
                <a:latin typeface="Times New Roman" panose="02020603050405020304" pitchFamily="18" charset="0"/>
                <a:cs typeface="Times New Roman" panose="02020603050405020304" pitchFamily="18" charset="0"/>
              </a:rPr>
              <a:t>的初始可行流</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那么</a:t>
            </a:r>
            <a:r>
              <a:rPr lang="en-US" altLang="zh-CN" sz="2400" b="1" smtClean="0">
                <a:latin typeface="Times New Roman" panose="02020603050405020304" pitchFamily="18" charset="0"/>
                <a:cs typeface="Times New Roman" panose="02020603050405020304" pitchFamily="18" charset="0"/>
              </a:rPr>
              <a:t>2~6</a:t>
            </a:r>
            <a:r>
              <a:rPr lang="zh-CN" altLang="en-US" sz="2400" b="1" smtClean="0">
                <a:latin typeface="Times New Roman" panose="02020603050405020304" pitchFamily="18" charset="0"/>
                <a:cs typeface="Times New Roman" panose="02020603050405020304" pitchFamily="18" charset="0"/>
              </a:rPr>
              <a:t>的循环至多进行</a:t>
            </a:r>
            <a:r>
              <a:rPr lang="en-US" altLang="zh-CN" sz="2400" b="1" i="1" smtClean="0">
                <a:latin typeface="Times New Roman" panose="02020603050405020304" pitchFamily="18" charset="0"/>
                <a:cs typeface="Times New Roman" panose="02020603050405020304" pitchFamily="18" charset="0"/>
              </a:rPr>
              <a:t>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w* </a:t>
            </a:r>
            <a:endParaRPr lang="en-US" altLang="zh-CN" sz="2400" b="1" i="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次</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因此</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算法必在有限步内终止</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p:txBody>
      </p:sp>
      <p:sp>
        <p:nvSpPr>
          <p:cNvPr id="5837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6120D3E0-96FF-4ACB-8EDB-BFFF2ECDC6AE}"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a:xfrm>
            <a:off x="454025" y="53975"/>
            <a:ext cx="8229600" cy="1143000"/>
          </a:xfrm>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7.2.3 </a:t>
            </a:r>
            <a:r>
              <a:rPr lang="zh-CN" altLang="en-US" sz="4000" b="1" smtClean="0">
                <a:solidFill>
                  <a:srgbClr val="C00000"/>
                </a:solidFill>
                <a:latin typeface="Times New Roman" panose="02020603050405020304" pitchFamily="18" charset="0"/>
                <a:cs typeface="Times New Roman" panose="02020603050405020304" pitchFamily="18" charset="0"/>
              </a:rPr>
              <a:t>最小费用流的最短路径算法</a:t>
            </a:r>
            <a:endParaRPr lang="zh-CN" altLang="en-US" sz="4000" smtClean="0">
              <a:solidFill>
                <a:srgbClr val="C00000"/>
              </a:solidFill>
              <a:latin typeface="Times New Roman" panose="02020603050405020304" pitchFamily="18" charset="0"/>
              <a:cs typeface="Times New Roman" panose="02020603050405020304" pitchFamily="18" charset="0"/>
            </a:endParaRPr>
          </a:p>
        </p:txBody>
      </p:sp>
      <p:sp>
        <p:nvSpPr>
          <p:cNvPr id="59395" name="内容占位符 2"/>
          <p:cNvSpPr>
            <a:spLocks noGrp="1"/>
          </p:cNvSpPr>
          <p:nvPr>
            <p:ph idx="1"/>
          </p:nvPr>
        </p:nvSpPr>
        <p:spPr>
          <a:xfrm>
            <a:off x="454025" y="1343025"/>
            <a:ext cx="8229600" cy="4900613"/>
          </a:xfrm>
        </p:spPr>
        <p:txBody>
          <a:bodyPr/>
          <a:lstStyle/>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算法基本想法</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从一个初始最小费用流 </a:t>
            </a:r>
            <a:r>
              <a:rPr lang="en-US" altLang="zh-CN" sz="2400" b="1" i="1" dirty="0" smtClean="0">
                <a:latin typeface="Times New Roman" panose="02020603050405020304" pitchFamily="18" charset="0"/>
                <a:cs typeface="Times New Roman" panose="02020603050405020304" pitchFamily="18" charset="0"/>
              </a:rPr>
              <a:t>f </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如零流</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开始</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如果</a:t>
            </a:r>
            <a:endParaRPr lang="en-US" altLang="zh-CN" sz="2400" b="1" dirty="0" smtClean="0">
              <a:latin typeface="Times New Roman" panose="02020603050405020304" pitchFamily="18" charset="0"/>
              <a:cs typeface="Times New Roman" panose="02020603050405020304" pitchFamily="18" charset="0"/>
            </a:endParaRPr>
          </a:p>
          <a:p>
            <a:pPr>
              <a:spcBef>
                <a:spcPct val="0"/>
              </a:spcBef>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25000" dirty="0" smtClean="0">
                <a:latin typeface="Times New Roman" panose="02020603050405020304" pitchFamily="18" charset="0"/>
                <a:cs typeface="Times New Roman" panose="02020603050405020304" pitchFamily="18" charset="0"/>
              </a:rPr>
              <a:t>0</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找一条费用最少的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增广链 </a:t>
            </a:r>
            <a:r>
              <a:rPr lang="en-US" altLang="zh-CN" sz="2400" b="1" i="1" dirty="0" smtClean="0">
                <a:latin typeface="Times New Roman" panose="02020603050405020304" pitchFamily="18" charset="0"/>
                <a:cs typeface="Times New Roman" panose="02020603050405020304" pitchFamily="18" charset="0"/>
              </a:rPr>
              <a:t>P</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修改 </a:t>
            </a:r>
            <a:r>
              <a:rPr lang="en-US" altLang="zh-CN" sz="2400" b="1" i="1" dirty="0" smtClean="0">
                <a:latin typeface="Times New Roman" panose="02020603050405020304" pitchFamily="18" charset="0"/>
                <a:cs typeface="Times New Roman" panose="02020603050405020304" pitchFamily="18" charset="0"/>
              </a:rPr>
              <a:t>P</a:t>
            </a:r>
            <a:r>
              <a:rPr lang="zh-CN" altLang="en-US" sz="2400" b="1" dirty="0" smtClean="0">
                <a:latin typeface="Times New Roman" panose="02020603050405020304" pitchFamily="18" charset="0"/>
                <a:cs typeface="Times New Roman" panose="02020603050405020304" pitchFamily="18" charset="0"/>
              </a:rPr>
              <a:t>上的流量</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得</a:t>
            </a:r>
            <a:endParaRPr lang="en-US" altLang="zh-CN" sz="2400" b="1" dirty="0" smtClean="0">
              <a:latin typeface="Times New Roman" panose="02020603050405020304" pitchFamily="18" charset="0"/>
              <a:cs typeface="Times New Roman" panose="02020603050405020304" pitchFamily="18" charset="0"/>
            </a:endParaRPr>
          </a:p>
          <a:p>
            <a:pPr>
              <a:spcBef>
                <a:spcPct val="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到新的可行流 </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重复进行</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直至流量等于 </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25000" dirty="0" smtClean="0">
                <a:latin typeface="Times New Roman" panose="02020603050405020304" pitchFamily="18" charset="0"/>
                <a:cs typeface="Times New Roman" panose="02020603050405020304" pitchFamily="18" charset="0"/>
              </a:rPr>
              <a:t>0 </a:t>
            </a:r>
            <a:r>
              <a:rPr lang="zh-CN" altLang="en-US" sz="2400" b="1" dirty="0" smtClean="0">
                <a:latin typeface="Times New Roman" panose="02020603050405020304" pitchFamily="18" charset="0"/>
                <a:cs typeface="Times New Roman" panose="02020603050405020304" pitchFamily="18" charset="0"/>
              </a:rPr>
              <a:t>为止</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关键是要证明这样得到的 </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rPr>
              <a:t>也是最小费用流</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引理</a:t>
            </a:r>
            <a:r>
              <a:rPr lang="en-US" altLang="zh-CN" sz="2400" b="1" dirty="0" smtClean="0">
                <a:solidFill>
                  <a:srgbClr val="C00000"/>
                </a:solidFill>
                <a:latin typeface="Times New Roman" panose="02020603050405020304" pitchFamily="18" charset="0"/>
                <a:cs typeface="Times New Roman" panose="02020603050405020304" pitchFamily="18" charset="0"/>
              </a:rPr>
              <a:t>7.12</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设有向图</a:t>
            </a:r>
            <a:r>
              <a:rPr lang="en-US" altLang="zh-CN" sz="2400" b="1" i="1" dirty="0" smtClean="0">
                <a:latin typeface="Times New Roman" panose="02020603050405020304" pitchFamily="18" charset="0"/>
                <a:cs typeface="Times New Roman" panose="02020603050405020304" pitchFamily="18" charset="0"/>
              </a:rPr>
              <a:t>D</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&gt;</a:t>
            </a:r>
            <a:r>
              <a:rPr lang="zh-CN" altLang="en-US" sz="2400" b="1" dirty="0" smtClean="0">
                <a:latin typeface="Times New Roman" panose="02020603050405020304" pitchFamily="18" charset="0"/>
                <a:cs typeface="Times New Roman" panose="02020603050405020304" pitchFamily="18" charset="0"/>
              </a:rPr>
              <a:t>没有孤立点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顶点 </a:t>
            </a:r>
            <a:r>
              <a:rPr lang="en-US" altLang="zh-CN" sz="2400" b="1" i="1" dirty="0" smtClean="0">
                <a:latin typeface="Times New Roman" panose="02020603050405020304" pitchFamily="18" charset="0"/>
                <a:cs typeface="Times New Roman" panose="02020603050405020304" pitchFamily="18" charset="0"/>
              </a:rPr>
              <a:t>s </a:t>
            </a:r>
            <a:r>
              <a:rPr lang="zh-CN" altLang="en-US" sz="2400" b="1" dirty="0" smtClean="0">
                <a:latin typeface="Times New Roman" panose="02020603050405020304" pitchFamily="18" charset="0"/>
                <a:cs typeface="Times New Roman" panose="02020603050405020304" pitchFamily="18" charset="0"/>
              </a:rPr>
              <a:t>的出度比</a:t>
            </a:r>
            <a:r>
              <a:rPr lang="zh-CN" altLang="en-US" sz="2400" b="1" dirty="0" smtClean="0">
                <a:latin typeface="Times New Roman" panose="02020603050405020304" pitchFamily="18" charset="0"/>
                <a:cs typeface="Times New Roman" panose="02020603050405020304" pitchFamily="18" charset="0"/>
              </a:rPr>
              <a:t>入</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度大</a:t>
            </a:r>
            <a:r>
              <a:rPr lang="en-US" altLang="zh-CN" sz="2400" b="1" dirty="0" smtClean="0">
                <a:latin typeface="Times New Roman" panose="02020603050405020304" pitchFamily="18" charset="0"/>
                <a:cs typeface="Times New Roman" panose="02020603050405020304" pitchFamily="18" charset="0"/>
              </a:rPr>
              <a:t>1,  </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的入度比出度大</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其余顶点的出度等于入度</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则</a:t>
            </a:r>
            <a:r>
              <a:rPr lang="en-US" altLang="zh-CN" sz="2400" b="1" i="1" dirty="0" smtClean="0">
                <a:latin typeface="Times New Roman" panose="02020603050405020304" pitchFamily="18" charset="0"/>
                <a:cs typeface="Times New Roman" panose="02020603050405020304" pitchFamily="18" charset="0"/>
              </a:rPr>
              <a:t>D</a:t>
            </a:r>
            <a:r>
              <a:rPr lang="zh-CN" altLang="en-US" sz="2400" b="1" dirty="0" smtClean="0">
                <a:latin typeface="Times New Roman" panose="02020603050405020304" pitchFamily="18" charset="0"/>
                <a:cs typeface="Times New Roman" panose="02020603050405020304" pitchFamily="18" charset="0"/>
              </a:rPr>
              <a:t>可</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表成</a:t>
            </a:r>
            <a:r>
              <a:rPr lang="zh-CN" altLang="en-US" sz="2400" b="1" dirty="0" smtClean="0">
                <a:latin typeface="Times New Roman" panose="02020603050405020304" pitchFamily="18" charset="0"/>
                <a:cs typeface="Times New Roman" panose="02020603050405020304" pitchFamily="18" charset="0"/>
              </a:rPr>
              <a:t>一条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路径与若干条回路的并</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证</a:t>
            </a:r>
            <a:r>
              <a:rPr lang="zh-CN" altLang="en-US" sz="2400" b="1" dirty="0" smtClean="0">
                <a:latin typeface="Times New Roman" panose="02020603050405020304" pitchFamily="18" charset="0"/>
                <a:cs typeface="Times New Roman" panose="02020603050405020304" pitchFamily="18" charset="0"/>
              </a:rPr>
              <a:t>  从 </a:t>
            </a:r>
            <a:r>
              <a:rPr lang="en-US" altLang="zh-CN" sz="2400" b="1" i="1" dirty="0" smtClean="0">
                <a:latin typeface="Times New Roman" panose="02020603050405020304" pitchFamily="18" charset="0"/>
                <a:cs typeface="Times New Roman" panose="02020603050405020304" pitchFamily="18" charset="0"/>
              </a:rPr>
              <a:t>s</a:t>
            </a:r>
            <a:r>
              <a:rPr lang="zh-CN" altLang="en-US" sz="2400" b="1" dirty="0" smtClean="0">
                <a:latin typeface="Times New Roman" panose="02020603050405020304" pitchFamily="18" charset="0"/>
                <a:cs typeface="Times New Roman" panose="02020603050405020304" pitchFamily="18" charset="0"/>
              </a:rPr>
              <a:t>开始</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沿一条边到另一个顶点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由于除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外的顶点的</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入度等于出度</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到一个顶点后总可从一条没走过的边到另一</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个顶点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直到 </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为止</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这样得到一条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路径</a:t>
            </a:r>
            <a:r>
              <a:rPr lang="en-US" altLang="zh-CN" sz="2400" b="1" i="1" dirty="0" smtClean="0">
                <a:latin typeface="Times New Roman" panose="02020603050405020304" pitchFamily="18" charset="0"/>
                <a:cs typeface="Times New Roman" panose="02020603050405020304" pitchFamily="18" charset="0"/>
              </a:rPr>
              <a:t>P</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删去</a:t>
            </a:r>
            <a:r>
              <a:rPr lang="en-US" altLang="zh-CN" sz="2400" b="1" i="1" dirty="0" smtClean="0">
                <a:latin typeface="Times New Roman" panose="02020603050405020304" pitchFamily="18" charset="0"/>
                <a:cs typeface="Times New Roman" panose="02020603050405020304" pitchFamily="18" charset="0"/>
              </a:rPr>
              <a:t>P</a:t>
            </a:r>
            <a:r>
              <a:rPr lang="zh-CN" altLang="en-US" sz="2400" b="1" dirty="0" smtClean="0">
                <a:latin typeface="Times New Roman" panose="02020603050405020304" pitchFamily="18" charset="0"/>
                <a:cs typeface="Times New Roman" panose="02020603050405020304" pitchFamily="18" charset="0"/>
              </a:rPr>
              <a:t>和孤立点</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剩下的图中每个顶点的入度等于出度</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它由若干条回路组成</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p:txBody>
      </p:sp>
      <p:sp>
        <p:nvSpPr>
          <p:cNvPr id="5939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36A6A9D9-C8AD-4466-A11C-A3A76366D1E5}"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a:xfrm>
            <a:off x="457200" y="138113"/>
            <a:ext cx="8229600" cy="866775"/>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最小费用流的最短路径算法</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60419" name="内容占位符 2"/>
          <p:cNvSpPr>
            <a:spLocks noGrp="1"/>
          </p:cNvSpPr>
          <p:nvPr>
            <p:ph idx="1"/>
          </p:nvPr>
        </p:nvSpPr>
        <p:spPr>
          <a:xfrm>
            <a:off x="457200" y="1166813"/>
            <a:ext cx="8229600" cy="5357812"/>
          </a:xfrm>
        </p:spPr>
        <p:txBody>
          <a:bodyPr/>
          <a:lstStyle/>
          <a:p>
            <a:pPr>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的费用最小的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增广链</a:t>
            </a:r>
            <a:r>
              <a:rPr lang="en-US" altLang="zh-CN" sz="2400" b="1" i="1" dirty="0" smtClean="0">
                <a:latin typeface="Times New Roman" panose="02020603050405020304" pitchFamily="18" charset="0"/>
                <a:cs typeface="Times New Roman" panose="02020603050405020304" pitchFamily="18" charset="0"/>
              </a:rPr>
              <a:t>P</a:t>
            </a:r>
            <a:r>
              <a:rPr lang="zh-CN" altLang="en-US" sz="2400" b="1" dirty="0" smtClean="0">
                <a:latin typeface="Times New Roman" panose="02020603050405020304" pitchFamily="18" charset="0"/>
                <a:cs typeface="Times New Roman" panose="02020603050405020304" pitchFamily="18" charset="0"/>
              </a:rPr>
              <a:t>就是</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中权 </a:t>
            </a:r>
            <a:r>
              <a:rPr lang="en-US" altLang="zh-CN" sz="2400" b="1" i="1" dirty="0" smtClean="0">
                <a:latin typeface="Times New Roman" panose="02020603050405020304" pitchFamily="18" charset="0"/>
                <a:cs typeface="Times New Roman" panose="02020603050405020304" pitchFamily="18" charset="0"/>
              </a:rPr>
              <a:t>aw </a:t>
            </a:r>
            <a:r>
              <a:rPr lang="zh-CN" altLang="en-US" sz="2400" b="1" dirty="0" smtClean="0">
                <a:latin typeface="Times New Roman" panose="02020603050405020304" pitchFamily="18" charset="0"/>
                <a:cs typeface="Times New Roman" panose="02020603050405020304" pitchFamily="18" charset="0"/>
              </a:rPr>
              <a:t>的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最短路径</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令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 min{ </a:t>
            </a:r>
            <a:r>
              <a:rPr lang="en-US" altLang="zh-CN" sz="2400" b="1" i="1" dirty="0" smtClean="0">
                <a:latin typeface="Times New Roman" panose="02020603050405020304" pitchFamily="18" charset="0"/>
                <a:cs typeface="Times New Roman" panose="02020603050405020304" pitchFamily="18" charset="0"/>
              </a:rPr>
              <a:t>ac</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 &lt;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&gt;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P</a:t>
            </a:r>
            <a:r>
              <a:rPr lang="en-US" altLang="zh-CN" sz="2400" b="1" dirty="0" smtClean="0">
                <a:latin typeface="Times New Roman" panose="02020603050405020304" pitchFamily="18" charset="0"/>
                <a:cs typeface="Times New Roman" panose="02020603050405020304" pitchFamily="18" charset="0"/>
              </a:rPr>
              <a:t>) },  0&lt;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&gt;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dirty="0" smtClean="0">
              <a:latin typeface="Times New Roman" panose="02020603050405020304" pitchFamily="18" charset="0"/>
              <a:cs typeface="Times New Roman" panose="02020603050405020304" pitchFamily="18" charset="0"/>
            </a:endParaRPr>
          </a:p>
          <a:p>
            <a:pPr>
              <a:spcBef>
                <a:spcPct val="0"/>
              </a:spcBef>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是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上的可行流</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称作</a:t>
            </a:r>
            <a:r>
              <a:rPr lang="en-US" altLang="zh-CN" sz="2400" b="1" i="1" dirty="0" smtClean="0">
                <a:solidFill>
                  <a:srgbClr val="C00000"/>
                </a:solidFill>
                <a:latin typeface="Times New Roman" panose="02020603050405020304" pitchFamily="18" charset="0"/>
                <a:cs typeface="Times New Roman" panose="02020603050405020304" pitchFamily="18" charset="0"/>
              </a:rPr>
              <a:t>P</a:t>
            </a:r>
            <a:r>
              <a:rPr lang="zh-CN" altLang="en-US" sz="2400" b="1" dirty="0" smtClean="0">
                <a:solidFill>
                  <a:srgbClr val="C00000"/>
                </a:solidFill>
                <a:latin typeface="Times New Roman" panose="02020603050405020304" pitchFamily="18" charset="0"/>
                <a:cs typeface="Times New Roman" panose="02020603050405020304" pitchFamily="18" charset="0"/>
              </a:rPr>
              <a:t>上流量</a:t>
            </a:r>
            <a:r>
              <a:rPr lang="en-US" altLang="zh-CN" sz="2400" b="1" i="1" dirty="0" smtClean="0">
                <a:solidFill>
                  <a:srgbClr val="C00000"/>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solidFill>
                  <a:srgbClr val="C00000"/>
                </a:solidFill>
                <a:latin typeface="Times New Roman" panose="02020603050405020304" pitchFamily="18" charset="0"/>
                <a:cs typeface="Times New Roman" panose="02020603050405020304" pitchFamily="18" charset="0"/>
              </a:rPr>
              <a:t>的可行流</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定理</a:t>
            </a:r>
            <a:r>
              <a:rPr lang="en-US" altLang="zh-CN" sz="2400" b="1" dirty="0" smtClean="0">
                <a:solidFill>
                  <a:srgbClr val="C00000"/>
                </a:solidFill>
                <a:latin typeface="Times New Roman" panose="02020603050405020304" pitchFamily="18" charset="0"/>
                <a:cs typeface="Times New Roman" panose="02020603050405020304" pitchFamily="18" charset="0"/>
              </a:rPr>
              <a:t>7.6</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设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是</a:t>
            </a:r>
            <a:r>
              <a:rPr lang="en-US" altLang="zh-CN" sz="2400" b="1" i="1" dirty="0" smtClean="0">
                <a:latin typeface="Times New Roman" panose="02020603050405020304" pitchFamily="18" charset="0"/>
                <a:cs typeface="Times New Roman" panose="02020603050405020304" pitchFamily="18" charset="0"/>
              </a:rPr>
              <a:t>N</a:t>
            </a:r>
            <a:r>
              <a:rPr lang="zh-CN" altLang="en-US" sz="2400" b="1" dirty="0" smtClean="0">
                <a:latin typeface="Times New Roman" panose="02020603050405020304" pitchFamily="18" charset="0"/>
                <a:cs typeface="Times New Roman" panose="02020603050405020304" pitchFamily="18" charset="0"/>
              </a:rPr>
              <a:t>上的流量 </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25000" dirty="0" smtClean="0">
                <a:latin typeface="Times New Roman" panose="02020603050405020304" pitchFamily="18" charset="0"/>
                <a:cs typeface="Times New Roman" panose="02020603050405020304" pitchFamily="18" charset="0"/>
              </a:rPr>
              <a:t>0 </a:t>
            </a:r>
            <a:r>
              <a:rPr lang="zh-CN" altLang="en-US" sz="2400" b="1" dirty="0" smtClean="0">
                <a:latin typeface="Times New Roman" panose="02020603050405020304" pitchFamily="18" charset="0"/>
                <a:cs typeface="Times New Roman" panose="02020603050405020304" pitchFamily="18" charset="0"/>
              </a:rPr>
              <a:t>的最小费用流</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P</a:t>
            </a:r>
            <a:r>
              <a:rPr lang="zh-CN" altLang="en-US" sz="2400" b="1" dirty="0" smtClean="0">
                <a:latin typeface="Times New Roman" panose="02020603050405020304" pitchFamily="18" charset="0"/>
                <a:cs typeface="Times New Roman" panose="02020603050405020304" pitchFamily="18" charset="0"/>
              </a:rPr>
              <a:t>是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中权 </a:t>
            </a:r>
            <a:r>
              <a:rPr lang="en-US" altLang="zh-CN" sz="2400" b="1" i="1" dirty="0" smtClean="0">
                <a:latin typeface="Times New Roman" panose="02020603050405020304" pitchFamily="18" charset="0"/>
                <a:cs typeface="Times New Roman" panose="02020603050405020304" pitchFamily="18" charset="0"/>
              </a:rPr>
              <a:t>aw </a:t>
            </a:r>
            <a:endParaRPr lang="en-US" altLang="zh-CN" sz="2400" b="1" i="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的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最短路径</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是</a:t>
            </a:r>
            <a:r>
              <a:rPr lang="en-US" altLang="zh-CN" sz="2400" b="1" i="1" dirty="0" smtClean="0">
                <a:latin typeface="Times New Roman" panose="02020603050405020304" pitchFamily="18" charset="0"/>
                <a:cs typeface="Times New Roman" panose="02020603050405020304" pitchFamily="18" charset="0"/>
              </a:rPr>
              <a:t>P</a:t>
            </a:r>
            <a:r>
              <a:rPr lang="zh-CN" altLang="en-US" sz="2400" b="1" dirty="0" smtClean="0">
                <a:latin typeface="Times New Roman" panose="02020603050405020304" pitchFamily="18" charset="0"/>
                <a:cs typeface="Times New Roman" panose="02020603050405020304" pitchFamily="18" charset="0"/>
              </a:rPr>
              <a:t>上流量</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rPr>
              <a:t>的可行流</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则 </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是流量</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25000" dirty="0" smtClean="0">
                <a:latin typeface="Times New Roman" panose="02020603050405020304" pitchFamily="18" charset="0"/>
                <a:cs typeface="Times New Roman" panose="02020603050405020304" pitchFamily="18" charset="0"/>
              </a:rPr>
              <a:t>0</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rPr>
              <a:t>的最小费用流</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证</a:t>
            </a:r>
            <a:r>
              <a:rPr lang="zh-CN" altLang="en-US"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25000" dirty="0" smtClean="0">
                <a:latin typeface="Times New Roman" panose="02020603050405020304" pitchFamily="18" charset="0"/>
                <a:cs typeface="Times New Roman" panose="02020603050405020304" pitchFamily="18" charset="0"/>
              </a:rPr>
              <a:t>0</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假设 </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不是最小费用流</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中存</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在权</a:t>
            </a:r>
            <a:r>
              <a:rPr lang="en-US" altLang="zh-CN" sz="2400" b="1" i="1" dirty="0" smtClean="0">
                <a:latin typeface="Times New Roman" panose="02020603050405020304" pitchFamily="18" charset="0"/>
                <a:cs typeface="Times New Roman" panose="02020603050405020304" pitchFamily="18" charset="0"/>
              </a:rPr>
              <a:t>aw</a:t>
            </a:r>
            <a:r>
              <a:rPr lang="zh-CN" altLang="en-US" sz="2400" b="1" dirty="0" smtClean="0">
                <a:latin typeface="Times New Roman" panose="02020603050405020304" pitchFamily="18" charset="0"/>
                <a:cs typeface="Times New Roman" panose="02020603050405020304" pitchFamily="18" charset="0"/>
              </a:rPr>
              <a:t>的负回路</a:t>
            </a:r>
            <a:r>
              <a:rPr lang="en-US" altLang="zh-CN" sz="2400" b="1" i="1" dirty="0" smtClean="0">
                <a:latin typeface="Times New Roman" panose="02020603050405020304" pitchFamily="18" charset="0"/>
                <a:cs typeface="Times New Roman" panose="02020603050405020304" pitchFamily="18" charset="0"/>
              </a:rPr>
              <a:t>C</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由于</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和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仅在</a:t>
            </a:r>
            <a:r>
              <a:rPr lang="en-US" altLang="zh-CN" sz="2400" b="1" i="1" dirty="0" smtClean="0">
                <a:latin typeface="Times New Roman" panose="02020603050405020304" pitchFamily="18" charset="0"/>
                <a:cs typeface="Times New Roman" panose="02020603050405020304" pitchFamily="18" charset="0"/>
              </a:rPr>
              <a:t>P</a:t>
            </a:r>
            <a:r>
              <a:rPr lang="zh-CN" altLang="en-US" sz="2400" b="1" dirty="0" smtClean="0">
                <a:latin typeface="Times New Roman" panose="02020603050405020304" pitchFamily="18" charset="0"/>
                <a:cs typeface="Times New Roman" panose="02020603050405020304" pitchFamily="18" charset="0"/>
              </a:rPr>
              <a:t>上不同</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一定</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与</a:t>
            </a:r>
            <a:r>
              <a:rPr lang="en-US" altLang="zh-CN" sz="2400" b="1" i="1" dirty="0" smtClean="0">
                <a:latin typeface="Times New Roman" panose="02020603050405020304" pitchFamily="18" charset="0"/>
                <a:cs typeface="Times New Roman" panose="02020603050405020304" pitchFamily="18" charset="0"/>
              </a:rPr>
              <a:t>P</a:t>
            </a:r>
            <a:r>
              <a:rPr lang="zh-CN" altLang="en-US" sz="2400" b="1" dirty="0" smtClean="0">
                <a:latin typeface="Times New Roman" panose="02020603050405020304" pitchFamily="18" charset="0"/>
                <a:cs typeface="Times New Roman" panose="02020603050405020304" pitchFamily="18" charset="0"/>
              </a:rPr>
              <a:t>有关</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若</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&gt;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E</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则必有</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err="1" smtClean="0">
                <a:latin typeface="Times New Roman" panose="02020603050405020304" pitchFamily="18" charset="0"/>
                <a:cs typeface="Times New Roman" panose="02020603050405020304" pitchFamily="18" charset="0"/>
              </a:rPr>
              <a:t>j</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&gt;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P</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p:txBody>
      </p:sp>
      <p:sp>
        <p:nvSpPr>
          <p:cNvPr id="6042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9706D56F-8C90-409B-960A-CC6D682732B0}" type="slidenum">
              <a:rPr lang="zh-CN" altLang="en-US" sz="1200" smtClean="0">
                <a:solidFill>
                  <a:srgbClr val="898989"/>
                </a:solidFill>
              </a:rPr>
            </a:fld>
            <a:endParaRPr lang="zh-CN" altLang="en-US" sz="1200" smtClean="0">
              <a:solidFill>
                <a:srgbClr val="898989"/>
              </a:solidFill>
            </a:endParaRPr>
          </a:p>
        </p:txBody>
      </p:sp>
      <p:sp>
        <p:nvSpPr>
          <p:cNvPr id="60421"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60422" name="Object 5"/>
          <p:cNvGraphicFramePr>
            <a:graphicFrameLocks noChangeAspect="1"/>
          </p:cNvGraphicFramePr>
          <p:nvPr/>
        </p:nvGraphicFramePr>
        <p:xfrm>
          <a:off x="2124075" y="2001838"/>
          <a:ext cx="4254500" cy="922337"/>
        </p:xfrm>
        <a:graphic>
          <a:graphicData uri="http://schemas.openxmlformats.org/presentationml/2006/ole">
            <mc:AlternateContent xmlns:mc="http://schemas.openxmlformats.org/markup-compatibility/2006">
              <mc:Choice xmlns:v="urn:schemas-microsoft-com:vml" Requires="v">
                <p:oleObj spid="_x0000_s60425" name="Equation" r:id="rId1" imgW="2032000" imgH="469900" progId="Equation.3">
                  <p:embed/>
                </p:oleObj>
              </mc:Choice>
              <mc:Fallback>
                <p:oleObj name="Equation" r:id="rId1" imgW="2032000" imgH="4699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2001838"/>
                        <a:ext cx="425450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a:xfrm>
            <a:off x="457200" y="44450"/>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最小费用流的最短路径算法</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61443" name="内容占位符 2"/>
          <p:cNvSpPr>
            <a:spLocks noGrp="1"/>
          </p:cNvSpPr>
          <p:nvPr>
            <p:ph idx="1"/>
          </p:nvPr>
        </p:nvSpPr>
        <p:spPr>
          <a:xfrm>
            <a:off x="457200" y="1120775"/>
            <a:ext cx="8229600" cy="5302250"/>
          </a:xfrm>
        </p:spPr>
        <p:txBody>
          <a:bodyPr/>
          <a:lstStyle/>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因为 </a:t>
            </a:r>
            <a:r>
              <a:rPr lang="en-US" altLang="zh-CN" sz="2400" b="1" i="1" smtClean="0">
                <a:latin typeface="Times New Roman" panose="02020603050405020304" pitchFamily="18" charset="0"/>
                <a:cs typeface="Times New Roman" panose="02020603050405020304" pitchFamily="18" charset="0"/>
              </a:rPr>
              <a:t>f </a:t>
            </a:r>
            <a:r>
              <a:rPr lang="zh-CN" altLang="en-US" sz="2400" b="1" smtClean="0">
                <a:latin typeface="Times New Roman" panose="02020603050405020304" pitchFamily="18" charset="0"/>
                <a:cs typeface="Times New Roman" panose="02020603050405020304" pitchFamily="18" charset="0"/>
              </a:rPr>
              <a:t>是最小费用流</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中没有负回路</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C</a:t>
            </a:r>
            <a:r>
              <a:rPr lang="zh-CN" altLang="en-US" sz="2400" b="1" smtClean="0">
                <a:latin typeface="Times New Roman" panose="02020603050405020304" pitchFamily="18" charset="0"/>
                <a:cs typeface="Times New Roman" panose="02020603050405020304" pitchFamily="18" charset="0"/>
              </a:rPr>
              <a:t>中必有不属于</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的边 </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i</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j</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&gt;,&lt;</a:t>
            </a:r>
            <a:r>
              <a:rPr lang="en-US" altLang="zh-CN" sz="2400" b="1" i="1" smtClean="0">
                <a:latin typeface="Times New Roman" panose="02020603050405020304" pitchFamily="18" charset="0"/>
                <a:cs typeface="Times New Roman" panose="02020603050405020304" pitchFamily="18" charset="0"/>
              </a:rPr>
              <a:t>i</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j</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&gt;,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i</a:t>
            </a:r>
            <a:r>
              <a:rPr lang="en-US" altLang="zh-CN" sz="2400" b="1" i="1" baseline="-25000" smtClean="0">
                <a:latin typeface="Times New Roman" panose="02020603050405020304" pitchFamily="18" charset="0"/>
                <a:cs typeface="Times New Roman" panose="02020603050405020304" pitchFamily="18" charset="0"/>
              </a:rPr>
              <a:t>r</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j</a:t>
            </a:r>
            <a:r>
              <a:rPr lang="en-US" altLang="zh-CN" sz="2400" b="1" i="1" baseline="-25000" smtClean="0">
                <a:latin typeface="Times New Roman" panose="02020603050405020304" pitchFamily="18" charset="0"/>
                <a:cs typeface="Times New Roman" panose="02020603050405020304" pitchFamily="18" charset="0"/>
              </a:rPr>
              <a:t>r</a:t>
            </a:r>
            <a:r>
              <a:rPr lang="en-US" altLang="zh-CN" sz="2400" b="1" smtClean="0">
                <a:latin typeface="Times New Roman" panose="02020603050405020304" pitchFamily="18" charset="0"/>
                <a:cs typeface="Times New Roman" panose="02020603050405020304" pitchFamily="18" charset="0"/>
              </a:rPr>
              <a:t>&gt;, </a:t>
            </a:r>
            <a:r>
              <a:rPr lang="zh-CN" altLang="en-US" sz="2400" b="1" smtClean="0">
                <a:latin typeface="Times New Roman" panose="02020603050405020304" pitchFamily="18" charset="0"/>
                <a:cs typeface="Times New Roman" panose="02020603050405020304" pitchFamily="18" charset="0"/>
              </a:rPr>
              <a:t>有</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j</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&gt;,&lt;</a:t>
            </a:r>
            <a:r>
              <a:rPr lang="en-US" altLang="zh-CN" sz="2400" b="1" i="1" smtClean="0">
                <a:latin typeface="Times New Roman" panose="02020603050405020304" pitchFamily="18" charset="0"/>
                <a:cs typeface="Times New Roman" panose="02020603050405020304" pitchFamily="18" charset="0"/>
              </a:rPr>
              <a:t>j</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&gt;,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j</a:t>
            </a:r>
            <a:r>
              <a:rPr lang="en-US" altLang="zh-CN" sz="2400" b="1" i="1" baseline="-25000" smtClean="0">
                <a:latin typeface="Times New Roman" panose="02020603050405020304" pitchFamily="18" charset="0"/>
                <a:cs typeface="Times New Roman" panose="02020603050405020304" pitchFamily="18" charset="0"/>
              </a:rPr>
              <a:t>r</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i="1" baseline="-25000" smtClean="0">
                <a:latin typeface="Times New Roman" panose="02020603050405020304" pitchFamily="18" charset="0"/>
                <a:cs typeface="Times New Roman" panose="02020603050405020304" pitchFamily="18" charset="0"/>
              </a:rPr>
              <a:t>r</a:t>
            </a:r>
            <a:r>
              <a:rPr lang="en-US" altLang="zh-CN" sz="2400" b="1" smtClean="0">
                <a:latin typeface="Times New Roman" panose="02020603050405020304" pitchFamily="18" charset="0"/>
                <a:cs typeface="Times New Roman" panose="02020603050405020304" pitchFamily="18" charset="0"/>
              </a:rPr>
              <a:t>&gt;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P</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记这</a:t>
            </a:r>
            <a:r>
              <a:rPr lang="en-US" altLang="zh-CN" sz="2400" b="1" smtClean="0">
                <a:latin typeface="Times New Roman" panose="02020603050405020304" pitchFamily="18" charset="0"/>
                <a:cs typeface="Times New Roman" panose="02020603050405020304" pitchFamily="18" charset="0"/>
              </a:rPr>
              <a:t>2</a:t>
            </a:r>
            <a:r>
              <a:rPr lang="en-US" altLang="zh-CN" sz="2400" b="1" i="1" smtClean="0">
                <a:latin typeface="Times New Roman" panose="02020603050405020304" pitchFamily="18" charset="0"/>
                <a:cs typeface="Times New Roman" panose="02020603050405020304" pitchFamily="18" charset="0"/>
              </a:rPr>
              <a:t>r</a:t>
            </a:r>
            <a:r>
              <a:rPr lang="zh-CN" altLang="en-US" sz="2400" b="1" smtClean="0">
                <a:latin typeface="Times New Roman" panose="02020603050405020304" pitchFamily="18" charset="0"/>
                <a:cs typeface="Times New Roman" panose="02020603050405020304" pitchFamily="18" charset="0"/>
              </a:rPr>
              <a:t>条的边集为</a:t>
            </a:r>
            <a:r>
              <a:rPr lang="en-US" altLang="zh-CN" sz="2400" b="1" i="1" smtClean="0">
                <a:latin typeface="Times New Roman" panose="02020603050405020304" pitchFamily="18" charset="0"/>
                <a:cs typeface="Times New Roman" panose="02020603050405020304" pitchFamily="18" charset="0"/>
              </a:rPr>
              <a:t>H</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从</a:t>
            </a:r>
            <a:r>
              <a:rPr lang="en-US" altLang="zh-CN" sz="2400" b="1" i="1" smtClean="0">
                <a:latin typeface="Times New Roman" panose="02020603050405020304" pitchFamily="18" charset="0"/>
                <a:cs typeface="Times New Roman" panose="02020603050405020304" pitchFamily="18" charset="0"/>
              </a:rPr>
              <a:t>P</a:t>
            </a:r>
            <a:r>
              <a:rPr lang="zh-CN" altLang="en-US" sz="2400" b="1" smtClean="0">
                <a:latin typeface="Times New Roman" panose="02020603050405020304" pitchFamily="18" charset="0"/>
                <a:cs typeface="Times New Roman" panose="02020603050405020304" pitchFamily="18" charset="0"/>
              </a:rPr>
              <a:t>和</a:t>
            </a:r>
            <a:r>
              <a:rPr lang="en-US" altLang="zh-CN" sz="2400" b="1" i="1" smtClean="0">
                <a:latin typeface="Times New Roman" panose="02020603050405020304" pitchFamily="18" charset="0"/>
                <a:cs typeface="Times New Roman" panose="02020603050405020304" pitchFamily="18" charset="0"/>
              </a:rPr>
              <a:t>C</a:t>
            </a:r>
            <a:r>
              <a:rPr lang="zh-CN" altLang="en-US" sz="2400" b="1" smtClean="0">
                <a:latin typeface="Times New Roman" panose="02020603050405020304" pitchFamily="18" charset="0"/>
                <a:cs typeface="Times New Roman" panose="02020603050405020304" pitchFamily="18" charset="0"/>
              </a:rPr>
              <a:t>构成的子图中删去 </a:t>
            </a:r>
            <a:r>
              <a:rPr lang="en-US" altLang="zh-CN" sz="2400" b="1" i="1" smtClean="0">
                <a:latin typeface="Times New Roman" panose="02020603050405020304" pitchFamily="18" charset="0"/>
                <a:cs typeface="Times New Roman" panose="02020603050405020304" pitchFamily="18" charset="0"/>
              </a:rPr>
              <a:t>H </a:t>
            </a:r>
            <a:r>
              <a:rPr lang="zh-CN" altLang="en-US" sz="2400" b="1" smtClean="0">
                <a:latin typeface="Times New Roman" panose="02020603050405020304" pitchFamily="18" charset="0"/>
                <a:cs typeface="Times New Roman" panose="02020603050405020304" pitchFamily="18" charset="0"/>
              </a:rPr>
              <a:t>和孤立点</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记作</a:t>
            </a:r>
            <a:r>
              <a:rPr lang="en-US" altLang="zh-CN" sz="2400" b="1" i="1" smtClean="0">
                <a:latin typeface="Times New Roman" panose="02020603050405020304" pitchFamily="18" charset="0"/>
                <a:cs typeface="Times New Roman" panose="02020603050405020304" pitchFamily="18" charset="0"/>
              </a:rPr>
              <a:t>D</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这里把</a:t>
            </a:r>
            <a:r>
              <a:rPr lang="en-US" altLang="zh-CN" sz="2400" b="1" i="1" smtClean="0">
                <a:latin typeface="Times New Roman" panose="02020603050405020304" pitchFamily="18" charset="0"/>
                <a:cs typeface="Times New Roman" panose="02020603050405020304" pitchFamily="18" charset="0"/>
              </a:rPr>
              <a:t>P</a:t>
            </a:r>
            <a:r>
              <a:rPr lang="zh-CN" altLang="en-US" sz="2400" b="1" smtClean="0">
                <a:latin typeface="Times New Roman" panose="02020603050405020304" pitchFamily="18" charset="0"/>
                <a:cs typeface="Times New Roman" panose="02020603050405020304" pitchFamily="18" charset="0"/>
              </a:rPr>
              <a:t>和</a:t>
            </a:r>
            <a:r>
              <a:rPr lang="en-US" altLang="zh-CN" sz="2400" b="1" i="1" smtClean="0">
                <a:latin typeface="Times New Roman" panose="02020603050405020304" pitchFamily="18" charset="0"/>
                <a:cs typeface="Times New Roman" panose="02020603050405020304" pitchFamily="18" charset="0"/>
              </a:rPr>
              <a:t>C</a:t>
            </a:r>
            <a:r>
              <a:rPr lang="zh-CN" altLang="en-US" sz="2400" b="1" smtClean="0">
                <a:latin typeface="Times New Roman" panose="02020603050405020304" pitchFamily="18" charset="0"/>
                <a:cs typeface="Times New Roman" panose="02020603050405020304" pitchFamily="18" charset="0"/>
              </a:rPr>
              <a:t>中相同的边作为两条平行边</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D</a:t>
            </a:r>
            <a:r>
              <a:rPr lang="zh-CN" altLang="en-US" sz="2400" b="1" smtClean="0">
                <a:latin typeface="Times New Roman" panose="02020603050405020304" pitchFamily="18" charset="0"/>
                <a:cs typeface="Times New Roman" panose="02020603050405020304" pitchFamily="18" charset="0"/>
              </a:rPr>
              <a:t>满足引理</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11</a:t>
            </a:r>
            <a:r>
              <a:rPr lang="zh-CN" altLang="en-US" sz="2400" b="1" smtClean="0">
                <a:latin typeface="Times New Roman" panose="02020603050405020304" pitchFamily="18" charset="0"/>
                <a:cs typeface="Times New Roman" panose="02020603050405020304" pitchFamily="18" charset="0"/>
              </a:rPr>
              <a:t>的条件</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可表成一条 </a:t>
            </a:r>
            <a:r>
              <a:rPr lang="en-US" altLang="zh-CN" sz="2400" b="1" i="1" smtClean="0">
                <a:latin typeface="Times New Roman" panose="02020603050405020304" pitchFamily="18" charset="0"/>
                <a:cs typeface="Times New Roman" panose="02020603050405020304" pitchFamily="18" charset="0"/>
              </a:rPr>
              <a:t>s</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路径 </a:t>
            </a:r>
            <a:r>
              <a:rPr lang="en-US" altLang="zh-CN" sz="2400" b="1" i="1" smtClean="0">
                <a:latin typeface="Times New Roman" panose="02020603050405020304" pitchFamily="18" charset="0"/>
                <a:cs typeface="Times New Roman" panose="02020603050405020304" pitchFamily="18" charset="0"/>
              </a:rPr>
              <a:t>P</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smtClean="0">
                <a:latin typeface="Times New Roman" panose="02020603050405020304" pitchFamily="18" charset="0"/>
                <a:cs typeface="Times New Roman" panose="02020603050405020304" pitchFamily="18" charset="0"/>
              </a:rPr>
              <a:t>和回路</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l </a:t>
            </a:r>
            <a:r>
              <a:rPr lang="zh-CN" altLang="en-US" sz="2400" b="1" smtClean="0">
                <a:latin typeface="Times New Roman" panose="02020603050405020304" pitchFamily="18" charset="0"/>
                <a:cs typeface="Times New Roman" panose="02020603050405020304" pitchFamily="18" charset="0"/>
              </a:rPr>
              <a:t>的并</a:t>
            </a:r>
            <a:r>
              <a:rPr lang="en-US" altLang="zh-CN" sz="2400" b="1" smtClean="0">
                <a:latin typeface="Times New Roman" panose="02020603050405020304" pitchFamily="18" charset="0"/>
                <a:cs typeface="Times New Roman" panose="02020603050405020304" pitchFamily="18" charset="0"/>
              </a:rPr>
              <a:t>.   </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D</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P</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 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 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l</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而 </a:t>
            </a:r>
            <a:r>
              <a:rPr lang="en-US" altLang="zh-CN" sz="2400" b="1" i="1" smtClean="0">
                <a:latin typeface="Times New Roman" panose="02020603050405020304" pitchFamily="18" charset="0"/>
                <a:cs typeface="Times New Roman" panose="02020603050405020304" pitchFamily="18" charset="0"/>
              </a:rPr>
              <a:t>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H</a:t>
            </a:r>
            <a:r>
              <a:rPr lang="en-US" altLang="zh-CN" sz="2400" b="1" smtClean="0">
                <a:latin typeface="Times New Roman" panose="02020603050405020304" pitchFamily="18" charset="0"/>
                <a:cs typeface="Times New Roman" panose="02020603050405020304" pitchFamily="18" charset="0"/>
              </a:rPr>
              <a:t>)=0,  </a:t>
            </a:r>
            <a:r>
              <a:rPr lang="zh-CN" altLang="en-US" sz="2400" b="1" smtClean="0">
                <a:latin typeface="Times New Roman" panose="02020603050405020304" pitchFamily="18" charset="0"/>
                <a:cs typeface="Times New Roman" panose="02020603050405020304" pitchFamily="18" charset="0"/>
              </a:rPr>
              <a:t>得</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P</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 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 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D</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 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H</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 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P</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 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 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l</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P</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 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P</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 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 </a:t>
            </a:r>
            <a:r>
              <a:rPr lang="en-US" altLang="zh-CN" sz="2400" b="1" i="1" smtClean="0">
                <a:latin typeface="Times New Roman" panose="02020603050405020304" pitchFamily="18" charset="0"/>
                <a:cs typeface="Times New Roman" panose="02020603050405020304" pitchFamily="18" charset="0"/>
              </a:rPr>
              <a:t>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l</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注意到 </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l </a:t>
            </a:r>
            <a:r>
              <a:rPr lang="zh-CN" altLang="en-US" sz="2400" b="1" smtClean="0">
                <a:latin typeface="Times New Roman" panose="02020603050405020304" pitchFamily="18" charset="0"/>
                <a:cs typeface="Times New Roman" panose="02020603050405020304" pitchFamily="18" charset="0"/>
              </a:rPr>
              <a:t>是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中的回路</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f </a:t>
            </a:r>
            <a:r>
              <a:rPr lang="zh-CN" altLang="en-US" sz="2400" b="1" smtClean="0">
                <a:latin typeface="Times New Roman" panose="02020603050405020304" pitchFamily="18" charset="0"/>
                <a:cs typeface="Times New Roman" panose="02020603050405020304" pitchFamily="18" charset="0"/>
              </a:rPr>
              <a:t>是最小费用流</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故 </a:t>
            </a:r>
            <a:endParaRPr lang="en-US" altLang="zh-CN" sz="2400" b="1"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l</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均非负</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而 </a:t>
            </a:r>
            <a:r>
              <a:rPr lang="en-US" altLang="zh-CN" sz="2400" b="1" i="1" smtClean="0">
                <a:latin typeface="Times New Roman" panose="02020603050405020304" pitchFamily="18" charset="0"/>
                <a:cs typeface="Times New Roman" panose="02020603050405020304" pitchFamily="18" charset="0"/>
              </a:rPr>
              <a:t>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smtClean="0">
                <a:latin typeface="Times New Roman" panose="02020603050405020304" pitchFamily="18" charset="0"/>
                <a:cs typeface="Times New Roman" panose="02020603050405020304" pitchFamily="18" charset="0"/>
              </a:rPr>
              <a:t>)&lt;0, </a:t>
            </a:r>
            <a:r>
              <a:rPr lang="zh-CN" altLang="en-US" sz="2400" b="1" smtClean="0">
                <a:latin typeface="Times New Roman" panose="02020603050405020304" pitchFamily="18" charset="0"/>
                <a:cs typeface="Times New Roman" panose="02020603050405020304" pitchFamily="18" charset="0"/>
              </a:rPr>
              <a:t>推出 </a:t>
            </a:r>
            <a:r>
              <a:rPr lang="en-US" altLang="zh-CN" sz="2400" b="1" i="1" smtClean="0">
                <a:latin typeface="Times New Roman" panose="02020603050405020304" pitchFamily="18" charset="0"/>
                <a:cs typeface="Times New Roman" panose="02020603050405020304" pitchFamily="18" charset="0"/>
              </a:rPr>
              <a:t>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P</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&lt;</a:t>
            </a:r>
            <a:r>
              <a:rPr lang="en-US" altLang="zh-CN" sz="2400" b="1" i="1" smtClean="0">
                <a:latin typeface="Times New Roman" panose="02020603050405020304" pitchFamily="18" charset="0"/>
                <a:cs typeface="Times New Roman" panose="02020603050405020304" pitchFamily="18" charset="0"/>
              </a:rPr>
              <a:t> </a:t>
            </a:r>
            <a:endParaRPr lang="en-US" altLang="zh-CN" sz="2400" b="1" i="1"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aw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P</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与 </a:t>
            </a:r>
            <a:r>
              <a:rPr lang="en-US" altLang="zh-CN" sz="2400" b="1" i="1" smtClean="0">
                <a:latin typeface="Times New Roman" panose="02020603050405020304" pitchFamily="18" charset="0"/>
                <a:cs typeface="Times New Roman" panose="02020603050405020304" pitchFamily="18" charset="0"/>
              </a:rPr>
              <a:t>P </a:t>
            </a:r>
            <a:r>
              <a:rPr lang="zh-CN" altLang="en-US" sz="2400" b="1" smtClean="0">
                <a:latin typeface="Times New Roman" panose="02020603050405020304" pitchFamily="18" charset="0"/>
                <a:cs typeface="Times New Roman" panose="02020603050405020304" pitchFamily="18" charset="0"/>
              </a:rPr>
              <a:t>是最短路矛盾</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p:txBody>
      </p:sp>
      <p:sp>
        <p:nvSpPr>
          <p:cNvPr id="6144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5ACAA395-07AB-46EE-89CB-472718A5AB52}"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内容占位符 2"/>
          <p:cNvSpPr>
            <a:spLocks noGrp="1"/>
          </p:cNvSpPr>
          <p:nvPr>
            <p:ph idx="1"/>
          </p:nvPr>
        </p:nvSpPr>
        <p:spPr>
          <a:xfrm>
            <a:off x="457200" y="428625"/>
            <a:ext cx="8229600" cy="6143625"/>
          </a:xfrm>
        </p:spPr>
        <p:txBody>
          <a:bodyPr/>
          <a:lstStyle/>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算法</a:t>
            </a:r>
            <a:r>
              <a:rPr lang="en-US" altLang="zh-CN" sz="2400" b="1" dirty="0" smtClean="0">
                <a:solidFill>
                  <a:srgbClr val="C00000"/>
                </a:solidFill>
                <a:latin typeface="Times New Roman" panose="02020603050405020304" pitchFamily="18" charset="0"/>
                <a:cs typeface="Times New Roman" panose="02020603050405020304" pitchFamily="18" charset="0"/>
              </a:rPr>
              <a:t>7.5 </a:t>
            </a:r>
            <a:r>
              <a:rPr lang="zh-CN" altLang="en-US" sz="2400" b="1" dirty="0" smtClean="0">
                <a:solidFill>
                  <a:srgbClr val="C00000"/>
                </a:solidFill>
                <a:latin typeface="Times New Roman" panose="02020603050405020304" pitchFamily="18" charset="0"/>
                <a:cs typeface="Times New Roman" panose="02020603050405020304" pitchFamily="18" charset="0"/>
              </a:rPr>
              <a:t>最小费用流的最短路径算法</a:t>
            </a:r>
            <a:endParaRPr lang="zh-CN" altLang="en-US" sz="2400" b="1" dirty="0" smtClean="0">
              <a:solidFill>
                <a:srgbClr val="C00000"/>
              </a:solidFill>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1.  </a:t>
            </a:r>
            <a:r>
              <a:rPr lang="en-US" altLang="zh-CN" sz="2400" b="1" i="1" dirty="0" smtClean="0">
                <a:latin typeface="Times New Roman" panose="02020603050405020304" pitchFamily="18" charset="0"/>
                <a:cs typeface="Times New Roman" panose="02020603050405020304" pitchFamily="18" charset="0"/>
              </a:rPr>
              <a:t>f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0, </a:t>
            </a:r>
            <a:r>
              <a:rPr lang="en-US" altLang="zh-CN" sz="2400" b="1" i="1" dirty="0" smtClean="0">
                <a:latin typeface="Times New Roman" panose="02020603050405020304" pitchFamily="18" charset="0"/>
                <a:cs typeface="Times New Roman" panose="02020603050405020304" pitchFamily="18" charset="0"/>
              </a:rPr>
              <a:t>v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25000" dirty="0" smtClean="0">
                <a:latin typeface="Times New Roman" panose="02020603050405020304" pitchFamily="18" charset="0"/>
                <a:cs typeface="Times New Roman" panose="02020603050405020304" pitchFamily="18" charset="0"/>
              </a:rPr>
              <a:t>0</a:t>
            </a:r>
            <a:r>
              <a:rPr lang="en-US" altLang="zh-CN" sz="2400" b="1" dirty="0" smtClean="0">
                <a:latin typeface="Times New Roman" panose="02020603050405020304" pitchFamily="18" charset="0"/>
                <a:cs typeface="Times New Roman" panose="02020603050405020304" pitchFamily="18" charset="0"/>
              </a:rPr>
              <a:t>                       // </a:t>
            </a:r>
            <a:r>
              <a:rPr lang="zh-CN" altLang="en-US" sz="2400" b="1" dirty="0" smtClean="0">
                <a:latin typeface="Times New Roman" panose="02020603050405020304" pitchFamily="18" charset="0"/>
                <a:cs typeface="Times New Roman" panose="02020603050405020304" pitchFamily="18" charset="0"/>
              </a:rPr>
              <a:t>取零流作为初始最小费用流</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2.  </a:t>
            </a:r>
            <a:r>
              <a:rPr lang="zh-CN" altLang="en-US" sz="2400" b="1" dirty="0" smtClean="0">
                <a:latin typeface="Times New Roman" panose="02020603050405020304" pitchFamily="18" charset="0"/>
                <a:cs typeface="Times New Roman" panose="02020603050405020304" pitchFamily="18" charset="0"/>
              </a:rPr>
              <a:t>构造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3.  </a:t>
            </a:r>
            <a:r>
              <a:rPr lang="zh-CN" altLang="en-US" sz="2400" b="1" dirty="0" smtClean="0">
                <a:latin typeface="Times New Roman" panose="02020603050405020304" pitchFamily="18" charset="0"/>
                <a:cs typeface="Times New Roman" panose="02020603050405020304" pitchFamily="18" charset="0"/>
              </a:rPr>
              <a:t>调用 </a:t>
            </a:r>
            <a:r>
              <a:rPr lang="en-US" altLang="zh-CN" sz="2400" b="1" dirty="0" smtClean="0">
                <a:latin typeface="Times New Roman" panose="02020603050405020304" pitchFamily="18" charset="0"/>
                <a:cs typeface="Times New Roman" panose="02020603050405020304" pitchFamily="18" charset="0"/>
              </a:rPr>
              <a:t>Floyd </a:t>
            </a:r>
            <a:r>
              <a:rPr lang="zh-CN" altLang="en-US" sz="2400" b="1" dirty="0" smtClean="0">
                <a:latin typeface="Times New Roman" panose="02020603050405020304" pitchFamily="18" charset="0"/>
                <a:cs typeface="Times New Roman" panose="02020603050405020304" pitchFamily="18" charset="0"/>
              </a:rPr>
              <a:t>算法计算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中以 </a:t>
            </a:r>
            <a:r>
              <a:rPr lang="en-US" altLang="zh-CN" sz="2400" b="1" i="1" dirty="0" smtClean="0">
                <a:latin typeface="Times New Roman" panose="02020603050405020304" pitchFamily="18" charset="0"/>
                <a:cs typeface="Times New Roman" panose="02020603050405020304" pitchFamily="18" charset="0"/>
              </a:rPr>
              <a:t>aw </a:t>
            </a:r>
            <a:r>
              <a:rPr lang="zh-CN" altLang="en-US" sz="2400" b="1" dirty="0" smtClean="0">
                <a:latin typeface="Times New Roman" panose="02020603050405020304" pitchFamily="18" charset="0"/>
                <a:cs typeface="Times New Roman" panose="02020603050405020304" pitchFamily="18" charset="0"/>
              </a:rPr>
              <a:t>为权的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最短路径</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4.  if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中不存在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路径 </a:t>
            </a:r>
            <a:r>
              <a:rPr lang="en-US" altLang="zh-CN" sz="2400" b="1" dirty="0" smtClean="0">
                <a:latin typeface="Times New Roman" panose="02020603050405020304" pitchFamily="18" charset="0"/>
                <a:cs typeface="Times New Roman" panose="02020603050405020304" pitchFamily="18" charset="0"/>
              </a:rPr>
              <a:t> then </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5.        return </a:t>
            </a:r>
            <a:r>
              <a:rPr lang="zh-CN" altLang="en-US" sz="2400" b="1" dirty="0" smtClean="0">
                <a:latin typeface="Times New Roman" panose="02020603050405020304" pitchFamily="18" charset="0"/>
                <a:cs typeface="Times New Roman" panose="02020603050405020304" pitchFamily="18" charset="0"/>
              </a:rPr>
              <a:t>“无流量</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25000" dirty="0" smtClean="0">
                <a:latin typeface="Times New Roman" panose="02020603050405020304" pitchFamily="18" charset="0"/>
                <a:cs typeface="Times New Roman" panose="02020603050405020304" pitchFamily="18" charset="0"/>
              </a:rPr>
              <a:t>0</a:t>
            </a:r>
            <a:r>
              <a:rPr lang="zh-CN" altLang="en-US" sz="2400" b="1" dirty="0" smtClean="0">
                <a:latin typeface="Times New Roman" panose="02020603050405020304" pitchFamily="18" charset="0"/>
                <a:cs typeface="Times New Roman" panose="02020603050405020304" pitchFamily="18" charset="0"/>
              </a:rPr>
              <a:t>的可行流”</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f</a:t>
            </a:r>
            <a:r>
              <a:rPr lang="zh-CN" altLang="en-US" sz="2400" b="1" dirty="0" smtClean="0">
                <a:latin typeface="Times New Roman" panose="02020603050405020304" pitchFamily="18" charset="0"/>
                <a:cs typeface="Times New Roman" panose="02020603050405020304" pitchFamily="18" charset="0"/>
              </a:rPr>
              <a:t>是最大流且</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25000" dirty="0" smtClean="0">
                <a:latin typeface="Times New Roman" panose="02020603050405020304" pitchFamily="18" charset="0"/>
                <a:cs typeface="Times New Roman" panose="02020603050405020304" pitchFamily="18" charset="0"/>
              </a:rPr>
              <a:t>0</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6.  else  </a:t>
            </a:r>
            <a:r>
              <a:rPr lang="zh-CN" altLang="en-US" sz="2400" b="1" dirty="0" smtClean="0">
                <a:latin typeface="Times New Roman" panose="02020603050405020304" pitchFamily="18" charset="0"/>
                <a:cs typeface="Times New Roman" panose="02020603050405020304" pitchFamily="18" charset="0"/>
              </a:rPr>
              <a:t>设求得的最短路径为 </a:t>
            </a:r>
            <a:r>
              <a:rPr lang="en-US" altLang="zh-CN" sz="2400" b="1" i="1" dirty="0" smtClean="0">
                <a:latin typeface="Times New Roman" panose="02020603050405020304" pitchFamily="18" charset="0"/>
                <a:cs typeface="Times New Roman" panose="02020603050405020304" pitchFamily="18" charset="0"/>
              </a:rPr>
              <a:t>P</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7.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min{</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 min{</a:t>
            </a:r>
            <a:r>
              <a:rPr lang="en-US" altLang="zh-CN" sz="2400" b="1" i="1" dirty="0" smtClean="0">
                <a:latin typeface="Times New Roman" panose="02020603050405020304" pitchFamily="18" charset="0"/>
                <a:cs typeface="Times New Roman" panose="02020603050405020304" pitchFamily="18" charset="0"/>
              </a:rPr>
              <a:t>ac</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 &lt;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&gt;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P</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8.  for &lt;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&gt;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P</a:t>
            </a:r>
            <a:r>
              <a:rPr lang="en-US" altLang="zh-CN" sz="2400" b="1" dirty="0" smtClean="0">
                <a:latin typeface="Times New Roman" panose="02020603050405020304" pitchFamily="18" charset="0"/>
                <a:cs typeface="Times New Roman" panose="02020603050405020304" pitchFamily="18" charset="0"/>
              </a:rPr>
              <a:t>)  do</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9.        if  &lt;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&gt;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  then  </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10.      else  </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11. </a:t>
            </a:r>
            <a:r>
              <a:rPr lang="en-US" altLang="zh-CN" sz="2400" b="1" i="1" dirty="0" smtClean="0">
                <a:latin typeface="Times New Roman" panose="02020603050405020304" pitchFamily="18" charset="0"/>
                <a:cs typeface="Times New Roman" panose="02020603050405020304" pitchFamily="18" charset="0"/>
              </a:rPr>
              <a:t>v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12. if   </a:t>
            </a:r>
            <a:r>
              <a:rPr lang="en-US" altLang="zh-CN" sz="2400" b="1" i="1" dirty="0" smtClean="0">
                <a:latin typeface="Times New Roman" panose="02020603050405020304" pitchFamily="18" charset="0"/>
                <a:cs typeface="Times New Roman" panose="02020603050405020304" pitchFamily="18" charset="0"/>
              </a:rPr>
              <a:t>v </a:t>
            </a:r>
            <a:r>
              <a:rPr lang="en-US" altLang="zh-CN" sz="2400" b="1" dirty="0" smtClean="0">
                <a:latin typeface="Times New Roman" panose="02020603050405020304" pitchFamily="18" charset="0"/>
                <a:cs typeface="Times New Roman" panose="02020603050405020304" pitchFamily="18" charset="0"/>
              </a:rPr>
              <a:t>&gt; 0   then   </a:t>
            </a:r>
            <a:r>
              <a:rPr lang="en-US" altLang="zh-CN" sz="2400" b="1" dirty="0" err="1" smtClean="0">
                <a:latin typeface="Times New Roman" panose="02020603050405020304" pitchFamily="18" charset="0"/>
                <a:cs typeface="Times New Roman" panose="02020603050405020304" pitchFamily="18" charset="0"/>
              </a:rPr>
              <a:t>goto</a:t>
            </a:r>
            <a:r>
              <a:rPr lang="en-US" altLang="zh-CN" sz="2400" b="1" dirty="0" smtClean="0">
                <a:latin typeface="Times New Roman" panose="02020603050405020304" pitchFamily="18" charset="0"/>
                <a:cs typeface="Times New Roman" panose="02020603050405020304" pitchFamily="18" charset="0"/>
              </a:rPr>
              <a:t>  2 </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13. return  </a:t>
            </a:r>
            <a:r>
              <a:rPr lang="en-US" altLang="zh-CN" sz="2400" b="1" i="1" dirty="0" smtClean="0">
                <a:latin typeface="Times New Roman" panose="02020603050405020304" pitchFamily="18" charset="0"/>
                <a:cs typeface="Times New Roman" panose="02020603050405020304" pitchFamily="18" charset="0"/>
              </a:rPr>
              <a:t>f</a:t>
            </a:r>
            <a:endParaRPr lang="zh-CN" altLang="en-US" sz="2400" b="1" dirty="0" smtClean="0">
              <a:latin typeface="Times New Roman" panose="02020603050405020304" pitchFamily="18" charset="0"/>
              <a:cs typeface="Times New Roman" panose="02020603050405020304" pitchFamily="18" charset="0"/>
            </a:endParaRPr>
          </a:p>
        </p:txBody>
      </p:sp>
      <p:sp>
        <p:nvSpPr>
          <p:cNvPr id="6246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9BB6EE88-DFAD-4AB3-BDB1-7B725750B4A5}"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a:xfrm>
            <a:off x="433388" y="188913"/>
            <a:ext cx="8229600" cy="1011237"/>
          </a:xfrm>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7.3 </a:t>
            </a:r>
            <a:r>
              <a:rPr lang="zh-CN" altLang="en-US" sz="4000" b="1" smtClean="0">
                <a:solidFill>
                  <a:srgbClr val="C00000"/>
                </a:solidFill>
                <a:latin typeface="Times New Roman" panose="02020603050405020304" pitchFamily="18" charset="0"/>
                <a:cs typeface="Times New Roman" panose="02020603050405020304" pitchFamily="18" charset="0"/>
              </a:rPr>
              <a:t>运输问题</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6349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211D5E4-7265-40C8-8A00-87B4D6022358}" type="slidenum">
              <a:rPr lang="zh-CN" altLang="en-US" sz="1200" smtClean="0">
                <a:solidFill>
                  <a:srgbClr val="898989"/>
                </a:solidFill>
              </a:rPr>
            </a:fld>
            <a:endParaRPr lang="zh-CN" altLang="en-US" sz="1200" smtClean="0">
              <a:solidFill>
                <a:srgbClr val="898989"/>
              </a:solidFill>
            </a:endParaRPr>
          </a:p>
        </p:txBody>
      </p:sp>
      <p:sp>
        <p:nvSpPr>
          <p:cNvPr id="63492"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63493" name="Object 7"/>
          <p:cNvGraphicFramePr>
            <a:graphicFrameLocks noChangeAspect="1"/>
          </p:cNvGraphicFramePr>
          <p:nvPr/>
        </p:nvGraphicFramePr>
        <p:xfrm>
          <a:off x="1468438" y="4194175"/>
          <a:ext cx="6559550" cy="912813"/>
        </p:xfrm>
        <a:graphic>
          <a:graphicData uri="http://schemas.openxmlformats.org/presentationml/2006/ole">
            <mc:AlternateContent xmlns:mc="http://schemas.openxmlformats.org/markup-compatibility/2006">
              <mc:Choice xmlns:v="urn:schemas-microsoft-com:vml" Requires="v">
                <p:oleObj spid="_x0000_s63499" name="Equation" r:id="rId1" imgW="3238500" imgH="444500" progId="Equation.3">
                  <p:embed/>
                </p:oleObj>
              </mc:Choice>
              <mc:Fallback>
                <p:oleObj name="Equation" r:id="rId1" imgW="3238500" imgH="4445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8438" y="4194175"/>
                        <a:ext cx="6559550"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3494" name="组合 1"/>
          <p:cNvGrpSpPr/>
          <p:nvPr/>
        </p:nvGrpSpPr>
        <p:grpSpPr bwMode="auto">
          <a:xfrm>
            <a:off x="684213" y="1200150"/>
            <a:ext cx="8229600" cy="5143500"/>
            <a:chOff x="683568" y="1200765"/>
            <a:chExt cx="8229600" cy="5143500"/>
          </a:xfrm>
        </p:grpSpPr>
        <p:sp>
          <p:nvSpPr>
            <p:cNvPr id="9" name="内容占位符 2"/>
            <p:cNvSpPr txBox="1">
              <a:spLocks noRot="1" noChangeAspect="1" noMove="1" noResize="1" noEditPoints="1" noAdjustHandles="1" noChangeArrowheads="1" noChangeShapeType="1" noTextEdit="1"/>
            </p:cNvSpPr>
            <p:nvPr/>
          </p:nvSpPr>
          <p:spPr bwMode="auto">
            <a:xfrm>
              <a:off x="683568" y="1200765"/>
              <a:ext cx="8229600" cy="5143500"/>
            </a:xfrm>
            <a:prstGeom prst="rect">
              <a:avLst/>
            </a:prstGeom>
            <a:blipFill>
              <a:blip r:embed="rId3"/>
              <a:stretch>
                <a:fillRect l="-1111" t="-1303" b="-592"/>
              </a:stretch>
            </a:blipFill>
            <a:ln w="9525">
              <a:noFill/>
              <a:miter lim="800000"/>
            </a:ln>
          </p:spPr>
          <p:txBody>
            <a:bodyPr/>
            <a:lstStyle/>
            <a:p>
              <a:pPr>
                <a:defRPr/>
              </a:pPr>
              <a:r>
                <a:rPr lang="zh-CN" altLang="en-US">
                  <a:noFill/>
                </a:rPr>
                <a:t> </a:t>
              </a:r>
              <a:endParaRPr lang="zh-CN" altLang="en-US">
                <a:noFill/>
              </a:endParaRPr>
            </a:p>
          </p:txBody>
        </p:sp>
        <p:graphicFrame>
          <p:nvGraphicFramePr>
            <p:cNvPr id="63496" name="Object 8"/>
            <p:cNvGraphicFramePr>
              <a:graphicFrameLocks noChangeAspect="1"/>
            </p:cNvGraphicFramePr>
            <p:nvPr/>
          </p:nvGraphicFramePr>
          <p:xfrm>
            <a:off x="2267744" y="4850131"/>
            <a:ext cx="2732088" cy="1000118"/>
          </p:xfrm>
          <a:graphic>
            <a:graphicData uri="http://schemas.openxmlformats.org/presentationml/2006/ole">
              <mc:AlternateContent xmlns:mc="http://schemas.openxmlformats.org/markup-compatibility/2006">
                <mc:Choice xmlns:v="urn:schemas-microsoft-com:vml" Requires="v">
                  <p:oleObj spid="_x0000_s63500" name="Microsoft 公式 3.0" r:id="rId4" imgW="1231265" imgH="444500" progId="Equation.3">
                    <p:embed/>
                  </p:oleObj>
                </mc:Choice>
                <mc:Fallback>
                  <p:oleObj name="Microsoft 公式 3.0" r:id="rId4" imgW="1231265" imgH="4445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7744" y="4850131"/>
                          <a:ext cx="2732088" cy="1000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2"/>
          <p:cNvSpPr txBox="1">
            <a:spLocks noRot="1" noChangeAspect="1" noMove="1" noResize="1" noEditPoints="1" noAdjustHandles="1" noChangeArrowheads="1" noChangeShapeType="1" noTextEdit="1"/>
          </p:cNvSpPr>
          <p:nvPr/>
        </p:nvSpPr>
        <p:spPr bwMode="auto">
          <a:xfrm>
            <a:off x="428625" y="1206429"/>
            <a:ext cx="8229600" cy="5102891"/>
          </a:xfrm>
          <a:prstGeom prst="rect">
            <a:avLst/>
          </a:prstGeom>
          <a:blipFill>
            <a:blip r:embed="rId1"/>
            <a:stretch>
              <a:fillRect l="-1111" t="-11231"/>
            </a:stretch>
          </a:blipFill>
          <a:ln w="9525">
            <a:noFill/>
            <a:miter lim="800000"/>
          </a:ln>
        </p:spPr>
        <p:txBody>
          <a:bodyPr/>
          <a:lstStyle/>
          <a:p>
            <a:pPr>
              <a:defRPr/>
            </a:pPr>
            <a:r>
              <a:rPr lang="zh-CN" altLang="en-US">
                <a:noFill/>
              </a:rPr>
              <a:t> </a:t>
            </a:r>
            <a:endParaRPr lang="zh-CN" altLang="en-US">
              <a:noFill/>
            </a:endParaRPr>
          </a:p>
        </p:txBody>
      </p:sp>
      <p:sp>
        <p:nvSpPr>
          <p:cNvPr id="64515" name="标题 1"/>
          <p:cNvSpPr>
            <a:spLocks noGrp="1"/>
          </p:cNvSpPr>
          <p:nvPr>
            <p:ph type="title"/>
          </p:nvPr>
        </p:nvSpPr>
        <p:spPr>
          <a:xfrm>
            <a:off x="428625" y="53975"/>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产销不平衡的处理</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6451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363802B7-835C-484A-884E-8DC2241C9A41}" type="slidenum">
              <a:rPr lang="zh-CN" altLang="en-US" sz="1200" smtClean="0">
                <a:solidFill>
                  <a:srgbClr val="898989"/>
                </a:solidFill>
              </a:rPr>
            </a:fld>
            <a:endParaRPr lang="zh-CN" altLang="en-US" sz="1200" smtClean="0">
              <a:solidFill>
                <a:srgbClr val="898989"/>
              </a:solidFill>
            </a:endParaRPr>
          </a:p>
        </p:txBody>
      </p:sp>
      <p:sp>
        <p:nvSpPr>
          <p:cNvPr id="64517"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a:xfrm>
            <a:off x="284163" y="166688"/>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模型</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65539" name="灯片编号占位符 3"/>
          <p:cNvSpPr>
            <a:spLocks noGrp="1"/>
          </p:cNvSpPr>
          <p:nvPr>
            <p:ph type="sldNum" sz="quarter" idx="12"/>
          </p:nvPr>
        </p:nvSpPr>
        <p:spPr bwMode="auto">
          <a:xfrm>
            <a:off x="6477000" y="6173788"/>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DC23E393-E930-44AC-9B2A-DA6CF331D882}" type="slidenum">
              <a:rPr lang="zh-CN" altLang="en-US" sz="1200" smtClean="0">
                <a:solidFill>
                  <a:srgbClr val="898989"/>
                </a:solidFill>
              </a:rPr>
            </a:fld>
            <a:endParaRPr lang="zh-CN" altLang="en-US" sz="1200" smtClean="0">
              <a:solidFill>
                <a:srgbClr val="898989"/>
              </a:solidFill>
            </a:endParaRPr>
          </a:p>
        </p:txBody>
      </p:sp>
      <p:sp>
        <p:nvSpPr>
          <p:cNvPr id="65540"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nvGrpSpPr>
          <p:cNvPr id="65541" name="组合 8"/>
          <p:cNvGrpSpPr/>
          <p:nvPr/>
        </p:nvGrpSpPr>
        <p:grpSpPr bwMode="auto">
          <a:xfrm>
            <a:off x="468313" y="1325563"/>
            <a:ext cx="8229600" cy="4829175"/>
            <a:chOff x="485804" y="1600200"/>
            <a:chExt cx="8229600" cy="4829196"/>
          </a:xfrm>
        </p:grpSpPr>
        <p:graphicFrame>
          <p:nvGraphicFramePr>
            <p:cNvPr id="65578" name="Object 5"/>
            <p:cNvGraphicFramePr>
              <a:graphicFrameLocks noChangeAspect="1"/>
            </p:cNvGraphicFramePr>
            <p:nvPr/>
          </p:nvGraphicFramePr>
          <p:xfrm>
            <a:off x="1198547" y="5041917"/>
            <a:ext cx="1301751" cy="887413"/>
          </p:xfrm>
          <a:graphic>
            <a:graphicData uri="http://schemas.openxmlformats.org/presentationml/2006/ole">
              <mc:AlternateContent xmlns:mc="http://schemas.openxmlformats.org/markup-compatibility/2006">
                <mc:Choice xmlns:v="urn:schemas-microsoft-com:vml" Requires="v">
                  <p:oleObj spid="_x0000_s65581" name="Equation" r:id="rId1" imgW="647700" imgH="431800" progId="Equation.3">
                    <p:embed/>
                  </p:oleObj>
                </mc:Choice>
                <mc:Fallback>
                  <p:oleObj name="Equation" r:id="rId1" imgW="647700" imgH="4318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8547" y="5041917"/>
                          <a:ext cx="1301751" cy="88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内容占位符 2"/>
            <p:cNvSpPr txBox="1"/>
            <p:nvPr/>
          </p:nvSpPr>
          <p:spPr bwMode="auto">
            <a:xfrm>
              <a:off x="485804" y="1600200"/>
              <a:ext cx="8229600" cy="4829196"/>
            </a:xfrm>
            <a:prstGeom prst="rect">
              <a:avLst/>
            </a:prstGeom>
            <a:noFill/>
            <a:ln w="9525">
              <a:noFill/>
              <a:miter lim="800000"/>
            </a:ln>
          </p:spPr>
          <p:txBody>
            <a:bodyPr/>
            <a:lstStyle/>
            <a:p>
              <a:pPr marL="342900" indent="-342900">
                <a:spcBef>
                  <a:spcPct val="20000"/>
                </a:spcBef>
                <a:buFont typeface="Arial" panose="020B0604020202020204" pitchFamily="34" charset="0"/>
                <a:buNone/>
                <a:defRPr/>
              </a:pPr>
              <a:r>
                <a:rPr lang="zh-CN" altLang="en-US" sz="2400" b="1" dirty="0">
                  <a:latin typeface="Times New Roman" panose="02020603050405020304" pitchFamily="18" charset="0"/>
                  <a:ea typeface="+mn-ea"/>
                  <a:cs typeface="Times New Roman" panose="02020603050405020304" pitchFamily="18" charset="0"/>
                </a:rPr>
                <a:t>运输问题可看作最小费用流问题</a:t>
              </a:r>
              <a:r>
                <a:rPr lang="en-US" sz="2400" b="1" dirty="0">
                  <a:latin typeface="Times New Roman" panose="02020603050405020304" pitchFamily="18" charset="0"/>
                  <a:ea typeface="+mn-ea"/>
                  <a:cs typeface="Times New Roman" panose="02020603050405020304" pitchFamily="18" charset="0"/>
                </a:rPr>
                <a:t>. </a:t>
              </a:r>
              <a:r>
                <a:rPr lang="zh-CN" altLang="en-US" sz="2400" b="1" dirty="0">
                  <a:latin typeface="Times New Roman" panose="02020603050405020304" pitchFamily="18" charset="0"/>
                  <a:ea typeface="+mn-ea"/>
                  <a:cs typeface="Times New Roman" panose="02020603050405020304" pitchFamily="18" charset="0"/>
                </a:rPr>
                <a:t>添加发点 </a:t>
              </a:r>
              <a:r>
                <a:rPr lang="en-US" sz="2400" b="1" i="1" dirty="0">
                  <a:latin typeface="Times New Roman" panose="02020603050405020304" pitchFamily="18" charset="0"/>
                  <a:ea typeface="+mn-ea"/>
                  <a:cs typeface="Times New Roman" panose="02020603050405020304" pitchFamily="18" charset="0"/>
                </a:rPr>
                <a:t>s </a:t>
              </a:r>
              <a:r>
                <a:rPr lang="zh-CN" altLang="en-US" sz="2400" b="1" dirty="0">
                  <a:latin typeface="Times New Roman" panose="02020603050405020304" pitchFamily="18" charset="0"/>
                  <a:ea typeface="+mn-ea"/>
                  <a:cs typeface="Times New Roman" panose="02020603050405020304" pitchFamily="18" charset="0"/>
                </a:rPr>
                <a:t>和收点 </a:t>
              </a:r>
              <a:r>
                <a:rPr lang="en-US" sz="2400" b="1" i="1" dirty="0">
                  <a:latin typeface="Times New Roman" panose="02020603050405020304" pitchFamily="18" charset="0"/>
                  <a:ea typeface="+mn-ea"/>
                  <a:cs typeface="Times New Roman" panose="02020603050405020304" pitchFamily="18" charset="0"/>
                </a:rPr>
                <a:t>t</a:t>
              </a:r>
              <a:r>
                <a:rPr lang="en-US" sz="2400" b="1" dirty="0">
                  <a:latin typeface="Times New Roman" panose="02020603050405020304" pitchFamily="18" charset="0"/>
                  <a:ea typeface="+mn-ea"/>
                  <a:cs typeface="Times New Roman" panose="02020603050405020304" pitchFamily="18" charset="0"/>
                </a:rPr>
                <a:t>, </a:t>
              </a:r>
              <a:r>
                <a:rPr lang="zh-CN" altLang="en-US" sz="2400" b="1" dirty="0">
                  <a:latin typeface="Times New Roman" panose="02020603050405020304" pitchFamily="18" charset="0"/>
                  <a:ea typeface="+mn-ea"/>
                  <a:cs typeface="Times New Roman" panose="02020603050405020304" pitchFamily="18" charset="0"/>
                </a:rPr>
                <a:t>作容</a:t>
              </a:r>
              <a:endParaRPr lang="en-US" altLang="zh-CN"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r>
                <a:rPr lang="zh-CN" altLang="en-US" sz="2400" b="1" dirty="0">
                  <a:latin typeface="Times New Roman" panose="02020603050405020304" pitchFamily="18" charset="0"/>
                  <a:ea typeface="+mn-ea"/>
                  <a:cs typeface="Times New Roman" panose="02020603050405020304" pitchFamily="18" charset="0"/>
                </a:rPr>
                <a:t>量</a:t>
              </a:r>
              <a:r>
                <a:rPr lang="en-US" sz="2400" b="1" dirty="0">
                  <a:latin typeface="Times New Roman" panose="02020603050405020304" pitchFamily="18" charset="0"/>
                  <a:ea typeface="+mn-ea"/>
                  <a:cs typeface="Times New Roman" panose="02020603050405020304" pitchFamily="18" charset="0"/>
                </a:rPr>
                <a:t>-</a:t>
              </a:r>
              <a:r>
                <a:rPr lang="zh-CN" altLang="en-US" sz="2400" b="1" dirty="0">
                  <a:latin typeface="Times New Roman" panose="02020603050405020304" pitchFamily="18" charset="0"/>
                  <a:ea typeface="+mn-ea"/>
                  <a:cs typeface="Times New Roman" panose="02020603050405020304" pitchFamily="18" charset="0"/>
                </a:rPr>
                <a:t>费用网络 </a:t>
              </a:r>
              <a:r>
                <a:rPr lang="en-US" sz="2400" b="1" i="1" dirty="0">
                  <a:latin typeface="Times New Roman" panose="02020603050405020304" pitchFamily="18" charset="0"/>
                  <a:ea typeface="+mn-ea"/>
                  <a:cs typeface="Times New Roman" panose="02020603050405020304" pitchFamily="18" charset="0"/>
                </a:rPr>
                <a:t>N</a:t>
              </a:r>
              <a:r>
                <a:rPr lang="en-US" sz="2400" b="1" dirty="0">
                  <a:latin typeface="Times New Roman" panose="02020603050405020304" pitchFamily="18" charset="0"/>
                  <a:ea typeface="+mn-ea"/>
                  <a:cs typeface="Times New Roman" panose="02020603050405020304" pitchFamily="18" charset="0"/>
                </a:rPr>
                <a:t>=&lt;</a:t>
              </a:r>
              <a:r>
                <a:rPr lang="en-US" sz="2400" b="1" i="1" dirty="0">
                  <a:latin typeface="Times New Roman" panose="02020603050405020304" pitchFamily="18" charset="0"/>
                  <a:ea typeface="+mn-ea"/>
                  <a:cs typeface="Times New Roman" panose="02020603050405020304" pitchFamily="18" charset="0"/>
                </a:rPr>
                <a:t>V</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E</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c</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w</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s</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t </a:t>
              </a:r>
              <a:r>
                <a:rPr lang="en-US" sz="2400" b="1" dirty="0">
                  <a:latin typeface="Times New Roman" panose="02020603050405020304" pitchFamily="18" charset="0"/>
                  <a:ea typeface="+mn-ea"/>
                  <a:cs typeface="Times New Roman" panose="02020603050405020304" pitchFamily="18" charset="0"/>
                </a:rPr>
                <a:t>&gt;, </a:t>
              </a:r>
              <a:r>
                <a:rPr lang="zh-CN" altLang="en-US" sz="2400" b="1" dirty="0">
                  <a:latin typeface="Times New Roman" panose="02020603050405020304" pitchFamily="18" charset="0"/>
                  <a:ea typeface="+mn-ea"/>
                  <a:cs typeface="Times New Roman" panose="02020603050405020304" pitchFamily="18" charset="0"/>
                </a:rPr>
                <a:t>其中</a:t>
              </a:r>
              <a:endParaRPr lang="zh-CN" altLang="en-US"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r>
                <a:rPr lang="en-US" sz="2400" b="1" i="1" dirty="0">
                  <a:latin typeface="Times New Roman" panose="02020603050405020304" pitchFamily="18" charset="0"/>
                  <a:ea typeface="+mn-ea"/>
                  <a:cs typeface="Times New Roman" panose="02020603050405020304" pitchFamily="18" charset="0"/>
                </a:rPr>
                <a:t>     V</a:t>
              </a:r>
              <a:r>
                <a:rPr lang="en-US" sz="2400" b="1" dirty="0">
                  <a:latin typeface="Times New Roman" panose="02020603050405020304" pitchFamily="18" charset="0"/>
                  <a:ea typeface="+mn-ea"/>
                  <a:cs typeface="Times New Roman" panose="02020603050405020304" pitchFamily="18" charset="0"/>
                </a:rPr>
                <a:t>={</a:t>
              </a:r>
              <a:r>
                <a:rPr lang="en-US" sz="2400" b="1" i="1" dirty="0">
                  <a:latin typeface="Times New Roman" panose="02020603050405020304" pitchFamily="18" charset="0"/>
                  <a:ea typeface="+mn-ea"/>
                  <a:cs typeface="Times New Roman" panose="02020603050405020304" pitchFamily="18" charset="0"/>
                </a:rPr>
                <a:t>s</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t</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A</a:t>
              </a:r>
              <a:r>
                <a:rPr lang="en-US" sz="2400" b="1" baseline="-25000" dirty="0">
                  <a:latin typeface="Times New Roman" panose="02020603050405020304" pitchFamily="18" charset="0"/>
                  <a:ea typeface="+mn-ea"/>
                  <a:cs typeface="Times New Roman" panose="02020603050405020304" pitchFamily="18" charset="0"/>
                </a:rPr>
                <a:t>1</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A</a:t>
              </a:r>
              <a:r>
                <a:rPr lang="en-US" sz="2400" b="1" baseline="-25000" dirty="0">
                  <a:latin typeface="Times New Roman" panose="02020603050405020304" pitchFamily="18" charset="0"/>
                  <a:ea typeface="+mn-ea"/>
                  <a:cs typeface="Times New Roman" panose="02020603050405020304" pitchFamily="18" charset="0"/>
                </a:rPr>
                <a:t>2</a:t>
              </a:r>
              <a:r>
                <a:rPr lang="en-US" sz="2400" b="1" dirty="0">
                  <a:latin typeface="Times New Roman" panose="02020603050405020304" pitchFamily="18" charset="0"/>
                  <a:ea typeface="+mn-ea"/>
                  <a:cs typeface="Times New Roman" panose="02020603050405020304" pitchFamily="18" charset="0"/>
                </a:rPr>
                <a:t>, </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A</a:t>
              </a:r>
              <a:r>
                <a:rPr lang="en-US" sz="2400" b="1" i="1" baseline="-25000" dirty="0">
                  <a:latin typeface="Times New Roman" panose="02020603050405020304" pitchFamily="18" charset="0"/>
                  <a:ea typeface="+mn-ea"/>
                  <a:cs typeface="Times New Roman" panose="02020603050405020304" pitchFamily="18" charset="0"/>
                </a:rPr>
                <a:t>m</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B</a:t>
              </a:r>
              <a:r>
                <a:rPr lang="en-US" sz="2400" b="1" baseline="-25000" dirty="0">
                  <a:latin typeface="Times New Roman" panose="02020603050405020304" pitchFamily="18" charset="0"/>
                  <a:ea typeface="+mn-ea"/>
                  <a:cs typeface="Times New Roman" panose="02020603050405020304" pitchFamily="18" charset="0"/>
                </a:rPr>
                <a:t>1</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B</a:t>
              </a:r>
              <a:r>
                <a:rPr lang="en-US" sz="2400" b="1" baseline="-25000" dirty="0">
                  <a:latin typeface="Times New Roman" panose="02020603050405020304" pitchFamily="18" charset="0"/>
                  <a:ea typeface="+mn-ea"/>
                  <a:cs typeface="Times New Roman" panose="02020603050405020304" pitchFamily="18" charset="0"/>
                </a:rPr>
                <a:t>2</a:t>
              </a:r>
              <a:r>
                <a:rPr lang="en-US" sz="2400" b="1" dirty="0">
                  <a:latin typeface="Times New Roman" panose="02020603050405020304" pitchFamily="18" charset="0"/>
                  <a:ea typeface="+mn-ea"/>
                  <a:cs typeface="Times New Roman" panose="02020603050405020304" pitchFamily="18" charset="0"/>
                </a:rPr>
                <a:t>, </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dirty="0">
                  <a:latin typeface="Times New Roman" panose="02020603050405020304" pitchFamily="18" charset="0"/>
                  <a:ea typeface="+mn-ea"/>
                  <a:cs typeface="Times New Roman" panose="02020603050405020304" pitchFamily="18" charset="0"/>
                </a:rPr>
                <a:t>, </a:t>
              </a:r>
              <a:r>
                <a:rPr lang="en-US" sz="2400" b="1" i="1" dirty="0" err="1">
                  <a:latin typeface="Times New Roman" panose="02020603050405020304" pitchFamily="18" charset="0"/>
                  <a:ea typeface="+mn-ea"/>
                  <a:cs typeface="Times New Roman" panose="02020603050405020304" pitchFamily="18" charset="0"/>
                </a:rPr>
                <a:t>B</a:t>
              </a:r>
              <a:r>
                <a:rPr lang="en-US" sz="2400" b="1" i="1" baseline="-25000" dirty="0" err="1">
                  <a:latin typeface="Times New Roman" panose="02020603050405020304" pitchFamily="18" charset="0"/>
                  <a:ea typeface="+mn-ea"/>
                  <a:cs typeface="Times New Roman" panose="02020603050405020304" pitchFamily="18" charset="0"/>
                </a:rPr>
                <a:t>n</a:t>
              </a:r>
              <a:r>
                <a:rPr lang="en-US" sz="2400" b="1" dirty="0">
                  <a:latin typeface="Times New Roman" panose="02020603050405020304" pitchFamily="18" charset="0"/>
                  <a:ea typeface="+mn-ea"/>
                  <a:cs typeface="Times New Roman" panose="02020603050405020304" pitchFamily="18" charset="0"/>
                </a:rPr>
                <a:t>}</a:t>
              </a:r>
              <a:r>
                <a:rPr lang="zh-CN" sz="2400" b="1" dirty="0">
                  <a:latin typeface="Times New Roman" panose="02020603050405020304" pitchFamily="18" charset="0"/>
                  <a:ea typeface="+mn-ea"/>
                  <a:cs typeface="Times New Roman" panose="02020603050405020304" pitchFamily="18" charset="0"/>
                </a:rPr>
                <a:t> </a:t>
              </a:r>
              <a:r>
                <a:rPr lang="en-US" sz="2400" b="1" dirty="0">
                  <a:latin typeface="Times New Roman" panose="02020603050405020304" pitchFamily="18" charset="0"/>
                  <a:ea typeface="+mn-ea"/>
                  <a:cs typeface="Times New Roman" panose="02020603050405020304" pitchFamily="18" charset="0"/>
                </a:rPr>
                <a:t>        </a:t>
              </a:r>
              <a:endParaRPr lang="en-US"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r>
                <a:rPr lang="en-US" sz="2400" b="1" i="1" dirty="0">
                  <a:latin typeface="Times New Roman" panose="02020603050405020304" pitchFamily="18" charset="0"/>
                  <a:ea typeface="+mn-ea"/>
                  <a:cs typeface="Times New Roman" panose="02020603050405020304" pitchFamily="18" charset="0"/>
                </a:rPr>
                <a:t>     E</a:t>
              </a:r>
              <a:r>
                <a:rPr lang="en-US" sz="2400" b="1" dirty="0">
                  <a:latin typeface="Times New Roman" panose="02020603050405020304" pitchFamily="18" charset="0"/>
                  <a:ea typeface="+mn-ea"/>
                  <a:cs typeface="Times New Roman" panose="02020603050405020304" pitchFamily="18" charset="0"/>
                </a:rPr>
                <a:t>={ &lt;</a:t>
              </a:r>
              <a:r>
                <a:rPr lang="en-US" sz="2400" b="1" i="1" dirty="0">
                  <a:latin typeface="Times New Roman" panose="02020603050405020304" pitchFamily="18" charset="0"/>
                  <a:ea typeface="+mn-ea"/>
                  <a:cs typeface="Times New Roman" panose="02020603050405020304" pitchFamily="18" charset="0"/>
                </a:rPr>
                <a:t>s</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A</a:t>
              </a:r>
              <a:r>
                <a:rPr lang="en-US" sz="2400" b="1" i="1" baseline="-25000" dirty="0">
                  <a:latin typeface="Times New Roman" panose="02020603050405020304" pitchFamily="18" charset="0"/>
                  <a:ea typeface="+mn-ea"/>
                  <a:cs typeface="Times New Roman" panose="02020603050405020304" pitchFamily="18" charset="0"/>
                </a:rPr>
                <a:t>i </a:t>
              </a:r>
              <a:r>
                <a:rPr lang="en-US" sz="2400" b="1" dirty="0">
                  <a:latin typeface="Times New Roman" panose="02020603050405020304" pitchFamily="18" charset="0"/>
                  <a:ea typeface="+mn-ea"/>
                  <a:cs typeface="Times New Roman" panose="02020603050405020304" pitchFamily="18" charset="0"/>
                </a:rPr>
                <a:t>&gt; | 1</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altLang="zh-CN" sz="2400" b="1" i="1" dirty="0" err="1">
                  <a:latin typeface="Times New Roman" panose="02020603050405020304" pitchFamily="18" charset="0"/>
                  <a:ea typeface="+mn-ea"/>
                  <a:cs typeface="Times New Roman" panose="02020603050405020304" pitchFamily="18" charset="0"/>
                </a:rPr>
                <a:t>i</a:t>
              </a:r>
              <a:r>
                <a:rPr lang="en-US" sz="2400" b="1" i="1" dirty="0">
                  <a:latin typeface="Times New Roman" panose="02020603050405020304" pitchFamily="18" charset="0"/>
                  <a:ea typeface="+mn-ea"/>
                  <a:cs typeface="Times New Roman" panose="02020603050405020304" pitchFamily="18" charset="0"/>
                </a:rPr>
                <a:t> </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a:latin typeface="Times New Roman" panose="02020603050405020304" pitchFamily="18" charset="0"/>
                  <a:ea typeface="+mn-ea"/>
                  <a:cs typeface="Times New Roman" panose="02020603050405020304" pitchFamily="18" charset="0"/>
                </a:rPr>
                <a:t>m</a:t>
              </a:r>
              <a:r>
                <a:rPr lang="en-US" sz="2400" b="1" dirty="0">
                  <a:latin typeface="Times New Roman" panose="02020603050405020304" pitchFamily="18" charset="0"/>
                  <a:ea typeface="+mn-ea"/>
                  <a:cs typeface="Times New Roman" panose="02020603050405020304" pitchFamily="18" charset="0"/>
                </a:rPr>
                <a:t>}</a:t>
              </a:r>
              <a:r>
                <a:rPr lang="en-US" sz="2400" b="1" dirty="0">
                  <a:latin typeface="Times New Roman" panose="02020603050405020304" pitchFamily="18" charset="0"/>
                  <a:ea typeface="+mn-ea"/>
                  <a:cs typeface="Times New Roman" panose="02020603050405020304" pitchFamily="18" charset="0"/>
                  <a:sym typeface="Symbol" panose="05050102010706020507"/>
                </a:rPr>
                <a:t></a:t>
              </a:r>
              <a:r>
                <a:rPr lang="en-US" sz="2400" b="1" dirty="0">
                  <a:latin typeface="Times New Roman" panose="02020603050405020304" pitchFamily="18" charset="0"/>
                  <a:ea typeface="+mn-ea"/>
                  <a:cs typeface="Times New Roman" panose="02020603050405020304" pitchFamily="18" charset="0"/>
                </a:rPr>
                <a:t>{&lt;</a:t>
              </a:r>
              <a:r>
                <a:rPr lang="en-US" sz="2400" b="1" i="1" dirty="0" err="1">
                  <a:latin typeface="Times New Roman" panose="02020603050405020304" pitchFamily="18" charset="0"/>
                  <a:ea typeface="+mn-ea"/>
                  <a:cs typeface="Times New Roman" panose="02020603050405020304" pitchFamily="18" charset="0"/>
                </a:rPr>
                <a:t>B</a:t>
              </a:r>
              <a:r>
                <a:rPr lang="en-US" sz="2400" b="1" i="1" baseline="-25000" dirty="0" err="1">
                  <a:latin typeface="Times New Roman" panose="02020603050405020304" pitchFamily="18" charset="0"/>
                  <a:ea typeface="+mn-ea"/>
                  <a:cs typeface="Times New Roman" panose="02020603050405020304" pitchFamily="18" charset="0"/>
                </a:rPr>
                <a:t>j</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t </a:t>
              </a:r>
              <a:r>
                <a:rPr lang="en-US" sz="2400" b="1" dirty="0">
                  <a:latin typeface="Times New Roman" panose="02020603050405020304" pitchFamily="18" charset="0"/>
                  <a:ea typeface="+mn-ea"/>
                  <a:cs typeface="Times New Roman" panose="02020603050405020304" pitchFamily="18" charset="0"/>
                </a:rPr>
                <a:t>&gt; |1</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a:latin typeface="Times New Roman" panose="02020603050405020304" pitchFamily="18" charset="0"/>
                  <a:ea typeface="+mn-ea"/>
                  <a:cs typeface="Times New Roman" panose="02020603050405020304" pitchFamily="18" charset="0"/>
                </a:rPr>
                <a:t>j </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a:latin typeface="Times New Roman" panose="02020603050405020304" pitchFamily="18" charset="0"/>
                  <a:ea typeface="+mn-ea"/>
                  <a:cs typeface="Times New Roman" panose="02020603050405020304" pitchFamily="18" charset="0"/>
                </a:rPr>
                <a:t>n</a:t>
              </a:r>
              <a:r>
                <a:rPr lang="en-US" sz="2400" b="1" dirty="0">
                  <a:latin typeface="Times New Roman" panose="02020603050405020304" pitchFamily="18" charset="0"/>
                  <a:ea typeface="+mn-ea"/>
                  <a:cs typeface="Times New Roman" panose="02020603050405020304" pitchFamily="18" charset="0"/>
                </a:rPr>
                <a:t>}</a:t>
              </a:r>
              <a:endParaRPr lang="zh-CN" altLang="en-US"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r>
                <a:rPr lang="en-US" sz="2400" b="1" dirty="0">
                  <a:latin typeface="Times New Roman" panose="02020603050405020304" pitchFamily="18" charset="0"/>
                  <a:ea typeface="+mn-ea"/>
                  <a:cs typeface="Times New Roman" panose="02020603050405020304" pitchFamily="18" charset="0"/>
                </a:rPr>
                <a:t>           </a:t>
              </a:r>
              <a:r>
                <a:rPr lang="en-US" sz="2400" b="1" dirty="0">
                  <a:latin typeface="Times New Roman" panose="02020603050405020304" pitchFamily="18" charset="0"/>
                  <a:ea typeface="+mn-ea"/>
                  <a:cs typeface="Times New Roman" panose="02020603050405020304" pitchFamily="18" charset="0"/>
                  <a:sym typeface="Symbol" panose="05050102010706020507"/>
                </a:rPr>
                <a:t></a:t>
              </a:r>
              <a:r>
                <a:rPr lang="en-US" sz="2400" b="1" dirty="0">
                  <a:latin typeface="Times New Roman" panose="02020603050405020304" pitchFamily="18" charset="0"/>
                  <a:ea typeface="+mn-ea"/>
                  <a:cs typeface="Times New Roman" panose="02020603050405020304" pitchFamily="18" charset="0"/>
                </a:rPr>
                <a:t>{ &lt;</a:t>
              </a:r>
              <a:r>
                <a:rPr lang="en-US" sz="2400" b="1" i="1" dirty="0">
                  <a:latin typeface="Times New Roman" panose="02020603050405020304" pitchFamily="18" charset="0"/>
                  <a:ea typeface="+mn-ea"/>
                  <a:cs typeface="Times New Roman" panose="02020603050405020304" pitchFamily="18" charset="0"/>
                </a:rPr>
                <a:t>A</a:t>
              </a:r>
              <a:r>
                <a:rPr lang="en-US" sz="2400" b="1" i="1" baseline="-25000" dirty="0">
                  <a:latin typeface="Times New Roman" panose="02020603050405020304" pitchFamily="18" charset="0"/>
                  <a:ea typeface="+mn-ea"/>
                  <a:cs typeface="Times New Roman" panose="02020603050405020304" pitchFamily="18" charset="0"/>
                </a:rPr>
                <a:t>i</a:t>
              </a:r>
              <a:r>
                <a:rPr lang="en-US" sz="2400" b="1" dirty="0">
                  <a:latin typeface="Times New Roman" panose="02020603050405020304" pitchFamily="18" charset="0"/>
                  <a:ea typeface="+mn-ea"/>
                  <a:cs typeface="Times New Roman" panose="02020603050405020304" pitchFamily="18" charset="0"/>
                </a:rPr>
                <a:t>, </a:t>
              </a:r>
              <a:r>
                <a:rPr lang="en-US" sz="2400" b="1" i="1" dirty="0" err="1">
                  <a:latin typeface="Times New Roman" panose="02020603050405020304" pitchFamily="18" charset="0"/>
                  <a:ea typeface="+mn-ea"/>
                  <a:cs typeface="Times New Roman" panose="02020603050405020304" pitchFamily="18" charset="0"/>
                </a:rPr>
                <a:t>B</a:t>
              </a:r>
              <a:r>
                <a:rPr lang="en-US" sz="2400" b="1" i="1" baseline="-25000" dirty="0" err="1">
                  <a:latin typeface="Times New Roman" panose="02020603050405020304" pitchFamily="18" charset="0"/>
                  <a:ea typeface="+mn-ea"/>
                  <a:cs typeface="Times New Roman" panose="02020603050405020304" pitchFamily="18" charset="0"/>
                </a:rPr>
                <a:t>j</a:t>
              </a:r>
              <a:r>
                <a:rPr lang="en-US" sz="2400" b="1" dirty="0">
                  <a:latin typeface="Times New Roman" panose="02020603050405020304" pitchFamily="18" charset="0"/>
                  <a:ea typeface="+mn-ea"/>
                  <a:cs typeface="Times New Roman" panose="02020603050405020304" pitchFamily="18" charset="0"/>
                </a:rPr>
                <a:t>&gt; | 1</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err="1">
                  <a:latin typeface="Times New Roman" panose="02020603050405020304" pitchFamily="18" charset="0"/>
                  <a:ea typeface="+mn-ea"/>
                  <a:cs typeface="Times New Roman" panose="02020603050405020304" pitchFamily="18" charset="0"/>
                </a:rPr>
                <a:t>i</a:t>
              </a:r>
              <a:r>
                <a:rPr lang="en-US" sz="2400" b="1" i="1" dirty="0">
                  <a:latin typeface="Times New Roman" panose="02020603050405020304" pitchFamily="18" charset="0"/>
                  <a:ea typeface="+mn-ea"/>
                  <a:cs typeface="Times New Roman" panose="02020603050405020304" pitchFamily="18" charset="0"/>
                </a:rPr>
                <a:t> </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a:latin typeface="Times New Roman" panose="02020603050405020304" pitchFamily="18" charset="0"/>
                  <a:ea typeface="+mn-ea"/>
                  <a:cs typeface="Times New Roman" panose="02020603050405020304" pitchFamily="18" charset="0"/>
                </a:rPr>
                <a:t>m</a:t>
              </a:r>
              <a:r>
                <a:rPr lang="en-US" sz="2400" b="1" dirty="0">
                  <a:latin typeface="Times New Roman" panose="02020603050405020304" pitchFamily="18" charset="0"/>
                  <a:ea typeface="+mn-ea"/>
                  <a:cs typeface="Times New Roman" panose="02020603050405020304" pitchFamily="18" charset="0"/>
                </a:rPr>
                <a:t>, 1</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a:latin typeface="Times New Roman" panose="02020603050405020304" pitchFamily="18" charset="0"/>
                  <a:ea typeface="+mn-ea"/>
                  <a:cs typeface="Times New Roman" panose="02020603050405020304" pitchFamily="18" charset="0"/>
                </a:rPr>
                <a:t>j </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a:latin typeface="Times New Roman" panose="02020603050405020304" pitchFamily="18" charset="0"/>
                  <a:ea typeface="+mn-ea"/>
                  <a:cs typeface="Times New Roman" panose="02020603050405020304" pitchFamily="18" charset="0"/>
                </a:rPr>
                <a:t>n</a:t>
              </a:r>
              <a:r>
                <a:rPr lang="en-US" sz="2400" b="1" dirty="0">
                  <a:latin typeface="Times New Roman" panose="02020603050405020304" pitchFamily="18" charset="0"/>
                  <a:ea typeface="+mn-ea"/>
                  <a:cs typeface="Times New Roman" panose="02020603050405020304" pitchFamily="18" charset="0"/>
                </a:rPr>
                <a:t>}</a:t>
              </a:r>
              <a:endParaRPr lang="zh-CN" altLang="en-US"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c</a:t>
              </a:r>
              <a:r>
                <a:rPr lang="en-US" sz="2400" b="1" dirty="0">
                  <a:latin typeface="Times New Roman" panose="02020603050405020304" pitchFamily="18" charset="0"/>
                  <a:ea typeface="+mn-ea"/>
                  <a:cs typeface="Times New Roman" panose="02020603050405020304" pitchFamily="18" charset="0"/>
                </a:rPr>
                <a:t>(</a:t>
              </a:r>
              <a:r>
                <a:rPr lang="en-US" sz="2400" b="1" i="1" dirty="0">
                  <a:latin typeface="Times New Roman" panose="02020603050405020304" pitchFamily="18" charset="0"/>
                  <a:ea typeface="+mn-ea"/>
                  <a:cs typeface="Times New Roman" panose="02020603050405020304" pitchFamily="18" charset="0"/>
                </a:rPr>
                <a:t>s</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A</a:t>
              </a:r>
              <a:r>
                <a:rPr lang="en-US" sz="2400" b="1" i="1" baseline="-25000" dirty="0">
                  <a:latin typeface="Times New Roman" panose="02020603050405020304" pitchFamily="18" charset="0"/>
                  <a:ea typeface="+mn-ea"/>
                  <a:cs typeface="Times New Roman" panose="02020603050405020304" pitchFamily="18" charset="0"/>
                </a:rPr>
                <a:t>i</a:t>
              </a:r>
              <a:r>
                <a:rPr lang="en-US" sz="2400" b="1" dirty="0">
                  <a:latin typeface="Times New Roman" panose="02020603050405020304" pitchFamily="18" charset="0"/>
                  <a:ea typeface="+mn-ea"/>
                  <a:cs typeface="Times New Roman" panose="02020603050405020304" pitchFamily="18" charset="0"/>
                </a:rPr>
                <a:t>) = </a:t>
              </a:r>
              <a:r>
                <a:rPr lang="en-US" sz="2400" b="1" i="1" dirty="0" err="1">
                  <a:latin typeface="Times New Roman" panose="02020603050405020304" pitchFamily="18" charset="0"/>
                  <a:ea typeface="+mn-ea"/>
                  <a:cs typeface="Times New Roman" panose="02020603050405020304" pitchFamily="18" charset="0"/>
                </a:rPr>
                <a:t>a</a:t>
              </a:r>
              <a:r>
                <a:rPr lang="en-US" sz="2400" b="1" i="1" baseline="-25000" dirty="0" err="1">
                  <a:latin typeface="Times New Roman" panose="02020603050405020304" pitchFamily="18" charset="0"/>
                  <a:ea typeface="+mn-ea"/>
                  <a:cs typeface="Times New Roman" panose="02020603050405020304" pitchFamily="18" charset="0"/>
                </a:rPr>
                <a:t>i</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w</a:t>
              </a:r>
              <a:r>
                <a:rPr lang="en-US" sz="2400" b="1" dirty="0">
                  <a:latin typeface="Times New Roman" panose="02020603050405020304" pitchFamily="18" charset="0"/>
                  <a:ea typeface="+mn-ea"/>
                  <a:cs typeface="Times New Roman" panose="02020603050405020304" pitchFamily="18" charset="0"/>
                </a:rPr>
                <a:t>(</a:t>
              </a:r>
              <a:r>
                <a:rPr lang="en-US" sz="2400" b="1" i="1" dirty="0">
                  <a:latin typeface="Times New Roman" panose="02020603050405020304" pitchFamily="18" charset="0"/>
                  <a:ea typeface="+mn-ea"/>
                  <a:cs typeface="Times New Roman" panose="02020603050405020304" pitchFamily="18" charset="0"/>
                </a:rPr>
                <a:t>s</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A</a:t>
              </a:r>
              <a:r>
                <a:rPr lang="en-US" sz="2400" b="1" i="1" baseline="-25000" dirty="0">
                  <a:latin typeface="Times New Roman" panose="02020603050405020304" pitchFamily="18" charset="0"/>
                  <a:ea typeface="+mn-ea"/>
                  <a:cs typeface="Times New Roman" panose="02020603050405020304" pitchFamily="18" charset="0"/>
                </a:rPr>
                <a:t>i</a:t>
              </a:r>
              <a:r>
                <a:rPr lang="en-US" sz="2400" b="1" dirty="0">
                  <a:latin typeface="Times New Roman" panose="02020603050405020304" pitchFamily="18" charset="0"/>
                  <a:ea typeface="+mn-ea"/>
                  <a:cs typeface="Times New Roman" panose="02020603050405020304" pitchFamily="18" charset="0"/>
                </a:rPr>
                <a:t>) = 0,   1</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altLang="zh-CN" sz="2400" b="1" i="1" dirty="0" err="1">
                  <a:latin typeface="Times New Roman" panose="02020603050405020304" pitchFamily="18" charset="0"/>
                  <a:ea typeface="+mn-ea"/>
                  <a:cs typeface="Times New Roman" panose="02020603050405020304" pitchFamily="18" charset="0"/>
                </a:rPr>
                <a:t>i</a:t>
              </a:r>
              <a:r>
                <a:rPr lang="en-US" sz="2400" b="1" i="1" dirty="0">
                  <a:latin typeface="Times New Roman" panose="02020603050405020304" pitchFamily="18" charset="0"/>
                  <a:ea typeface="+mn-ea"/>
                  <a:cs typeface="Times New Roman" panose="02020603050405020304" pitchFamily="18" charset="0"/>
                </a:rPr>
                <a:t> </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a:latin typeface="Times New Roman" panose="02020603050405020304" pitchFamily="18" charset="0"/>
                  <a:ea typeface="+mn-ea"/>
                  <a:cs typeface="Times New Roman" panose="02020603050405020304" pitchFamily="18" charset="0"/>
                </a:rPr>
                <a:t>m</a:t>
              </a:r>
              <a:endParaRPr lang="zh-CN" altLang="en-US"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c</a:t>
              </a:r>
              <a:r>
                <a:rPr lang="en-US" sz="2400" b="1" dirty="0">
                  <a:latin typeface="Times New Roman" panose="02020603050405020304" pitchFamily="18" charset="0"/>
                  <a:ea typeface="+mn-ea"/>
                  <a:cs typeface="Times New Roman" panose="02020603050405020304" pitchFamily="18" charset="0"/>
                </a:rPr>
                <a:t>(</a:t>
              </a:r>
              <a:r>
                <a:rPr lang="en-US" sz="2400" b="1" i="1" dirty="0" err="1">
                  <a:latin typeface="Times New Roman" panose="02020603050405020304" pitchFamily="18" charset="0"/>
                  <a:ea typeface="+mn-ea"/>
                  <a:cs typeface="Times New Roman" panose="02020603050405020304" pitchFamily="18" charset="0"/>
                </a:rPr>
                <a:t>B</a:t>
              </a:r>
              <a:r>
                <a:rPr lang="en-US" sz="2400" b="1" i="1" baseline="-25000" dirty="0" err="1">
                  <a:latin typeface="Times New Roman" panose="02020603050405020304" pitchFamily="18" charset="0"/>
                  <a:ea typeface="+mn-ea"/>
                  <a:cs typeface="Times New Roman" panose="02020603050405020304" pitchFamily="18" charset="0"/>
                </a:rPr>
                <a:t>j</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t</a:t>
              </a:r>
              <a:r>
                <a:rPr lang="en-US" sz="2400" b="1" dirty="0">
                  <a:latin typeface="Times New Roman" panose="02020603050405020304" pitchFamily="18" charset="0"/>
                  <a:ea typeface="+mn-ea"/>
                  <a:cs typeface="Times New Roman" panose="02020603050405020304" pitchFamily="18" charset="0"/>
                </a:rPr>
                <a:t>) = </a:t>
              </a:r>
              <a:r>
                <a:rPr lang="en-US" sz="2400" b="1" i="1" dirty="0" err="1">
                  <a:latin typeface="Times New Roman" panose="02020603050405020304" pitchFamily="18" charset="0"/>
                  <a:ea typeface="+mn-ea"/>
                  <a:cs typeface="Times New Roman" panose="02020603050405020304" pitchFamily="18" charset="0"/>
                </a:rPr>
                <a:t>b</a:t>
              </a:r>
              <a:r>
                <a:rPr lang="en-US" sz="2400" b="1" i="1" baseline="-25000" dirty="0" err="1">
                  <a:latin typeface="Times New Roman" panose="02020603050405020304" pitchFamily="18" charset="0"/>
                  <a:ea typeface="+mn-ea"/>
                  <a:cs typeface="Times New Roman" panose="02020603050405020304" pitchFamily="18" charset="0"/>
                </a:rPr>
                <a:t>j</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w</a:t>
              </a:r>
              <a:r>
                <a:rPr lang="en-US" sz="2400" b="1" dirty="0">
                  <a:latin typeface="Times New Roman" panose="02020603050405020304" pitchFamily="18" charset="0"/>
                  <a:ea typeface="+mn-ea"/>
                  <a:cs typeface="Times New Roman" panose="02020603050405020304" pitchFamily="18" charset="0"/>
                </a:rPr>
                <a:t>(</a:t>
              </a:r>
              <a:r>
                <a:rPr lang="en-US" sz="2400" b="1" i="1" dirty="0" err="1">
                  <a:latin typeface="Times New Roman" panose="02020603050405020304" pitchFamily="18" charset="0"/>
                  <a:ea typeface="+mn-ea"/>
                  <a:cs typeface="Times New Roman" panose="02020603050405020304" pitchFamily="18" charset="0"/>
                </a:rPr>
                <a:t>B</a:t>
              </a:r>
              <a:r>
                <a:rPr lang="en-US" sz="2400" b="1" i="1" baseline="-25000" dirty="0" err="1">
                  <a:latin typeface="Times New Roman" panose="02020603050405020304" pitchFamily="18" charset="0"/>
                  <a:ea typeface="+mn-ea"/>
                  <a:cs typeface="Times New Roman" panose="02020603050405020304" pitchFamily="18" charset="0"/>
                </a:rPr>
                <a:t>j</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t</a:t>
              </a:r>
              <a:r>
                <a:rPr lang="en-US" sz="2400" b="1" dirty="0">
                  <a:latin typeface="Times New Roman" panose="02020603050405020304" pitchFamily="18" charset="0"/>
                  <a:ea typeface="+mn-ea"/>
                  <a:cs typeface="Times New Roman" panose="02020603050405020304" pitchFamily="18" charset="0"/>
                </a:rPr>
                <a:t>) = 0,   1 </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a:latin typeface="Times New Roman" panose="02020603050405020304" pitchFamily="18" charset="0"/>
                  <a:ea typeface="+mn-ea"/>
                  <a:cs typeface="Times New Roman" panose="02020603050405020304" pitchFamily="18" charset="0"/>
                </a:rPr>
                <a:t>j </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a:latin typeface="Times New Roman" panose="02020603050405020304" pitchFamily="18" charset="0"/>
                  <a:ea typeface="+mn-ea"/>
                  <a:cs typeface="Times New Roman" panose="02020603050405020304" pitchFamily="18" charset="0"/>
                </a:rPr>
                <a:t>n</a:t>
              </a:r>
              <a:endParaRPr lang="zh-CN" altLang="en-US"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c</a:t>
              </a:r>
              <a:r>
                <a:rPr lang="en-US" sz="2400" b="1" dirty="0">
                  <a:latin typeface="Times New Roman" panose="02020603050405020304" pitchFamily="18" charset="0"/>
                  <a:ea typeface="+mn-ea"/>
                  <a:cs typeface="Times New Roman" panose="02020603050405020304" pitchFamily="18" charset="0"/>
                </a:rPr>
                <a:t>(</a:t>
              </a:r>
              <a:r>
                <a:rPr lang="en-US" sz="2400" b="1" i="1" dirty="0">
                  <a:latin typeface="Times New Roman" panose="02020603050405020304" pitchFamily="18" charset="0"/>
                  <a:ea typeface="+mn-ea"/>
                  <a:cs typeface="Times New Roman" panose="02020603050405020304" pitchFamily="18" charset="0"/>
                </a:rPr>
                <a:t>A</a:t>
              </a:r>
              <a:r>
                <a:rPr lang="en-US" sz="2400" b="1" i="1" baseline="-25000" dirty="0">
                  <a:latin typeface="Times New Roman" panose="02020603050405020304" pitchFamily="18" charset="0"/>
                  <a:ea typeface="+mn-ea"/>
                  <a:cs typeface="Times New Roman" panose="02020603050405020304" pitchFamily="18" charset="0"/>
                </a:rPr>
                <a:t>i</a:t>
              </a:r>
              <a:r>
                <a:rPr lang="en-US" sz="2400" b="1" dirty="0">
                  <a:latin typeface="Times New Roman" panose="02020603050405020304" pitchFamily="18" charset="0"/>
                  <a:ea typeface="+mn-ea"/>
                  <a:cs typeface="Times New Roman" panose="02020603050405020304" pitchFamily="18" charset="0"/>
                </a:rPr>
                <a:t>, </a:t>
              </a:r>
              <a:r>
                <a:rPr lang="en-US" sz="2400" b="1" i="1" dirty="0" err="1">
                  <a:latin typeface="Times New Roman" panose="02020603050405020304" pitchFamily="18" charset="0"/>
                  <a:ea typeface="+mn-ea"/>
                  <a:cs typeface="Times New Roman" panose="02020603050405020304" pitchFamily="18" charset="0"/>
                </a:rPr>
                <a:t>B</a:t>
              </a:r>
              <a:r>
                <a:rPr lang="en-US" sz="2400" b="1" i="1" baseline="-25000" dirty="0" err="1">
                  <a:latin typeface="Times New Roman" panose="02020603050405020304" pitchFamily="18" charset="0"/>
                  <a:ea typeface="+mn-ea"/>
                  <a:cs typeface="Times New Roman" panose="02020603050405020304" pitchFamily="18" charset="0"/>
                </a:rPr>
                <a:t>j</a:t>
              </a:r>
              <a:r>
                <a:rPr lang="en-US" sz="2400" b="1" dirty="0">
                  <a:latin typeface="Times New Roman" panose="02020603050405020304" pitchFamily="18" charset="0"/>
                  <a:ea typeface="+mn-ea"/>
                  <a:cs typeface="Times New Roman" panose="02020603050405020304" pitchFamily="18" charset="0"/>
                </a:rPr>
                <a:t>)=+</a:t>
              </a:r>
              <a:r>
                <a:rPr lang="en-US" sz="2400" b="1" dirty="0">
                  <a:latin typeface="Times New Roman" panose="02020603050405020304" pitchFamily="18" charset="0"/>
                  <a:ea typeface="+mn-ea"/>
                  <a:cs typeface="Times New Roman" panose="02020603050405020304" pitchFamily="18" charset="0"/>
                  <a:sym typeface="Symbol" panose="05050102010706020507"/>
                </a:rPr>
                <a:t></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w</a:t>
              </a:r>
              <a:r>
                <a:rPr lang="en-US" sz="2400" b="1" dirty="0">
                  <a:latin typeface="Times New Roman" panose="02020603050405020304" pitchFamily="18" charset="0"/>
                  <a:ea typeface="+mn-ea"/>
                  <a:cs typeface="Times New Roman" panose="02020603050405020304" pitchFamily="18" charset="0"/>
                </a:rPr>
                <a:t>(</a:t>
              </a:r>
              <a:r>
                <a:rPr lang="en-US" sz="2400" b="1" i="1" dirty="0">
                  <a:latin typeface="Times New Roman" panose="02020603050405020304" pitchFamily="18" charset="0"/>
                  <a:ea typeface="+mn-ea"/>
                  <a:cs typeface="Times New Roman" panose="02020603050405020304" pitchFamily="18" charset="0"/>
                </a:rPr>
                <a:t>A</a:t>
              </a:r>
              <a:r>
                <a:rPr lang="en-US" sz="2400" b="1" i="1" baseline="-25000" dirty="0">
                  <a:latin typeface="Times New Roman" panose="02020603050405020304" pitchFamily="18" charset="0"/>
                  <a:ea typeface="+mn-ea"/>
                  <a:cs typeface="Times New Roman" panose="02020603050405020304" pitchFamily="18" charset="0"/>
                </a:rPr>
                <a:t>i</a:t>
              </a:r>
              <a:r>
                <a:rPr lang="en-US" sz="2400" b="1" dirty="0">
                  <a:latin typeface="Times New Roman" panose="02020603050405020304" pitchFamily="18" charset="0"/>
                  <a:ea typeface="+mn-ea"/>
                  <a:cs typeface="Times New Roman" panose="02020603050405020304" pitchFamily="18" charset="0"/>
                </a:rPr>
                <a:t>, </a:t>
              </a:r>
              <a:r>
                <a:rPr lang="en-US" sz="2400" b="1" i="1" dirty="0" err="1">
                  <a:latin typeface="Times New Roman" panose="02020603050405020304" pitchFamily="18" charset="0"/>
                  <a:ea typeface="+mn-ea"/>
                  <a:cs typeface="Times New Roman" panose="02020603050405020304" pitchFamily="18" charset="0"/>
                </a:rPr>
                <a:t>B</a:t>
              </a:r>
              <a:r>
                <a:rPr lang="en-US" sz="2400" b="1" i="1" baseline="-25000" dirty="0" err="1">
                  <a:latin typeface="Times New Roman" panose="02020603050405020304" pitchFamily="18" charset="0"/>
                  <a:ea typeface="+mn-ea"/>
                  <a:cs typeface="Times New Roman" panose="02020603050405020304" pitchFamily="18" charset="0"/>
                </a:rPr>
                <a:t>j</a:t>
              </a:r>
              <a:r>
                <a:rPr lang="en-US" sz="2400" b="1" dirty="0">
                  <a:latin typeface="Times New Roman" panose="02020603050405020304" pitchFamily="18" charset="0"/>
                  <a:ea typeface="+mn-ea"/>
                  <a:cs typeface="Times New Roman" panose="02020603050405020304" pitchFamily="18" charset="0"/>
                </a:rPr>
                <a:t>)=</a:t>
              </a:r>
              <a:r>
                <a:rPr lang="en-US" sz="2400" b="1" i="1" dirty="0" err="1">
                  <a:latin typeface="Times New Roman" panose="02020603050405020304" pitchFamily="18" charset="0"/>
                  <a:ea typeface="+mn-ea"/>
                  <a:cs typeface="Times New Roman" panose="02020603050405020304" pitchFamily="18" charset="0"/>
                </a:rPr>
                <a:t>w</a:t>
              </a:r>
              <a:r>
                <a:rPr lang="en-US" sz="2400" b="1" i="1" baseline="-25000" dirty="0" err="1">
                  <a:latin typeface="Times New Roman" panose="02020603050405020304" pitchFamily="18" charset="0"/>
                  <a:ea typeface="+mn-ea"/>
                  <a:cs typeface="Times New Roman" panose="02020603050405020304" pitchFamily="18" charset="0"/>
                </a:rPr>
                <a:t>ij</a:t>
              </a:r>
              <a:r>
                <a:rPr lang="en-US" sz="2400" b="1" dirty="0">
                  <a:latin typeface="Times New Roman" panose="02020603050405020304" pitchFamily="18" charset="0"/>
                  <a:ea typeface="+mn-ea"/>
                  <a:cs typeface="Times New Roman" panose="02020603050405020304" pitchFamily="18" charset="0"/>
                </a:rPr>
                <a:t>,   1</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err="1">
                  <a:latin typeface="Times New Roman" panose="02020603050405020304" pitchFamily="18" charset="0"/>
                  <a:ea typeface="+mn-ea"/>
                  <a:cs typeface="Times New Roman" panose="02020603050405020304" pitchFamily="18" charset="0"/>
                </a:rPr>
                <a:t>i</a:t>
              </a:r>
              <a:r>
                <a:rPr lang="en-US" sz="2400" b="1" i="1" dirty="0">
                  <a:latin typeface="Times New Roman" panose="02020603050405020304" pitchFamily="18" charset="0"/>
                  <a:ea typeface="+mn-ea"/>
                  <a:cs typeface="Times New Roman" panose="02020603050405020304" pitchFamily="18" charset="0"/>
                </a:rPr>
                <a:t> </a:t>
              </a:r>
              <a:r>
                <a:rPr lang="en-US" sz="2400" b="1" dirty="0">
                  <a:latin typeface="Times New Roman" panose="02020603050405020304" pitchFamily="18" charset="0"/>
                  <a:ea typeface="+mn-ea"/>
                  <a:cs typeface="Times New Roman" panose="02020603050405020304" pitchFamily="18" charset="0"/>
                  <a:sym typeface="Symbol" panose="05050102010706020507"/>
                </a:rPr>
                <a:t></a:t>
              </a:r>
              <a:r>
                <a:rPr lang="en-US" sz="2400" b="1" i="1" dirty="0">
                  <a:latin typeface="Times New Roman" panose="02020603050405020304" pitchFamily="18" charset="0"/>
                  <a:ea typeface="+mn-ea"/>
                  <a:cs typeface="Times New Roman" panose="02020603050405020304" pitchFamily="18" charset="0"/>
                </a:rPr>
                <a:t>m</a:t>
              </a:r>
              <a:r>
                <a:rPr lang="en-US" sz="2400" b="1" dirty="0">
                  <a:latin typeface="Times New Roman" panose="02020603050405020304" pitchFamily="18" charset="0"/>
                  <a:ea typeface="+mn-ea"/>
                  <a:cs typeface="Times New Roman" panose="02020603050405020304" pitchFamily="18" charset="0"/>
                </a:rPr>
                <a:t>, 1</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a:latin typeface="Times New Roman" panose="02020603050405020304" pitchFamily="18" charset="0"/>
                  <a:ea typeface="+mn-ea"/>
                  <a:cs typeface="Times New Roman" panose="02020603050405020304" pitchFamily="18" charset="0"/>
                </a:rPr>
                <a:t>j </a:t>
              </a:r>
              <a:r>
                <a:rPr lang="en-US" sz="2400" b="1" dirty="0">
                  <a:latin typeface="Times New Roman" panose="02020603050405020304" pitchFamily="18" charset="0"/>
                  <a:ea typeface="+mn-ea"/>
                  <a:cs typeface="Times New Roman" panose="02020603050405020304" pitchFamily="18" charset="0"/>
                  <a:sym typeface="Symbol" panose="05050102010706020507"/>
                </a:rPr>
                <a:t></a:t>
              </a:r>
              <a:r>
                <a:rPr lang="en-US" sz="2400" b="1" i="1" dirty="0">
                  <a:latin typeface="Times New Roman" panose="02020603050405020304" pitchFamily="18" charset="0"/>
                  <a:ea typeface="+mn-ea"/>
                  <a:cs typeface="Times New Roman" panose="02020603050405020304" pitchFamily="18" charset="0"/>
                </a:rPr>
                <a:t>n</a:t>
              </a:r>
              <a:endParaRPr lang="zh-CN" altLang="en-US" sz="2400" b="1" dirty="0">
                <a:latin typeface="Times New Roman" panose="02020603050405020304" pitchFamily="18" charset="0"/>
                <a:ea typeface="+mn-ea"/>
                <a:cs typeface="Times New Roman" panose="02020603050405020304" pitchFamily="18" charset="0"/>
              </a:endParaRPr>
            </a:p>
            <a:p>
              <a:pPr marL="342900" indent="-342900">
                <a:lnSpc>
                  <a:spcPct val="150000"/>
                </a:lnSpc>
                <a:spcBef>
                  <a:spcPct val="20000"/>
                </a:spcBef>
                <a:buFont typeface="Arial" panose="020B0604020202020204" pitchFamily="34" charset="0"/>
                <a:buNone/>
                <a:defRPr/>
              </a:pPr>
              <a:r>
                <a:rPr lang="zh-CN" altLang="en-US" sz="2400" b="1" dirty="0">
                  <a:latin typeface="Times New Roman" panose="02020603050405020304" pitchFamily="18" charset="0"/>
                  <a:ea typeface="+mn-ea"/>
                  <a:cs typeface="Times New Roman" panose="02020603050405020304" pitchFamily="18" charset="0"/>
                </a:rPr>
                <a:t>流量                 的可行流恰好对应运输问题的调运方案</a:t>
              </a:r>
              <a:r>
                <a:rPr lang="en-US" sz="2400" b="1" dirty="0">
                  <a:latin typeface="Times New Roman" panose="02020603050405020304" pitchFamily="18" charset="0"/>
                  <a:ea typeface="+mn-ea"/>
                  <a:cs typeface="Times New Roman" panose="02020603050405020304" pitchFamily="18" charset="0"/>
                </a:rPr>
                <a:t>. </a:t>
              </a:r>
              <a:r>
                <a:rPr lang="zh-CN" altLang="en-US" sz="2400" b="1" dirty="0">
                  <a:latin typeface="Times New Roman" panose="02020603050405020304" pitchFamily="18" charset="0"/>
                  <a:ea typeface="+mn-ea"/>
                  <a:cs typeface="Times New Roman" panose="02020603050405020304" pitchFamily="18" charset="0"/>
                </a:rPr>
                <a:t>总运</a:t>
              </a:r>
              <a:endParaRPr lang="en-US" altLang="zh-CN" sz="2400" b="1" dirty="0">
                <a:latin typeface="Times New Roman" panose="02020603050405020304" pitchFamily="18" charset="0"/>
                <a:ea typeface="+mn-ea"/>
                <a:cs typeface="Times New Roman" panose="02020603050405020304" pitchFamily="18" charset="0"/>
              </a:endParaRPr>
            </a:p>
            <a:p>
              <a:pPr marL="342900" indent="-342900">
                <a:lnSpc>
                  <a:spcPct val="150000"/>
                </a:lnSpc>
                <a:spcBef>
                  <a:spcPct val="20000"/>
                </a:spcBef>
                <a:buFont typeface="Arial" panose="020B0604020202020204" pitchFamily="34" charset="0"/>
                <a:buNone/>
                <a:defRPr/>
              </a:pPr>
              <a:r>
                <a:rPr lang="zh-CN" altLang="en-US" sz="2400" b="1" dirty="0">
                  <a:latin typeface="Times New Roman" panose="02020603050405020304" pitchFamily="18" charset="0"/>
                  <a:ea typeface="+mn-ea"/>
                  <a:cs typeface="Times New Roman" panose="02020603050405020304" pitchFamily="18" charset="0"/>
                </a:rPr>
                <a:t>费最小的调运方案就是流量 </a:t>
              </a:r>
              <a:r>
                <a:rPr lang="en-US" sz="2400" b="1" i="1" dirty="0">
                  <a:latin typeface="Times New Roman" panose="02020603050405020304" pitchFamily="18" charset="0"/>
                  <a:ea typeface="+mn-ea"/>
                  <a:cs typeface="Times New Roman" panose="02020603050405020304" pitchFamily="18" charset="0"/>
                </a:rPr>
                <a:t>v</a:t>
              </a:r>
              <a:r>
                <a:rPr lang="en-US" sz="2400" b="1" baseline="-25000" dirty="0">
                  <a:latin typeface="Times New Roman" panose="02020603050405020304" pitchFamily="18" charset="0"/>
                  <a:ea typeface="+mn-ea"/>
                  <a:cs typeface="Times New Roman" panose="02020603050405020304" pitchFamily="18" charset="0"/>
                </a:rPr>
                <a:t>0 </a:t>
              </a:r>
              <a:r>
                <a:rPr lang="zh-CN" altLang="en-US" sz="2400" b="1" dirty="0">
                  <a:latin typeface="Times New Roman" panose="02020603050405020304" pitchFamily="18" charset="0"/>
                  <a:ea typeface="+mn-ea"/>
                  <a:cs typeface="Times New Roman" panose="02020603050405020304" pitchFamily="18" charset="0"/>
                </a:rPr>
                <a:t>的最小费用流</a:t>
              </a:r>
              <a:r>
                <a:rPr lang="en-US" sz="2400" b="1" dirty="0">
                  <a:latin typeface="Times New Roman" panose="02020603050405020304" pitchFamily="18" charset="0"/>
                  <a:ea typeface="+mn-ea"/>
                  <a:cs typeface="Times New Roman" panose="02020603050405020304" pitchFamily="18" charset="0"/>
                </a:rPr>
                <a:t>.</a:t>
              </a:r>
              <a:endParaRPr lang="zh-CN" altLang="en-US" sz="2400" b="1" dirty="0">
                <a:latin typeface="Times New Roman" panose="02020603050405020304" pitchFamily="18" charset="0"/>
                <a:ea typeface="+mn-ea"/>
                <a:cs typeface="Times New Roman" panose="02020603050405020304" pitchFamily="18" charset="0"/>
              </a:endParaRPr>
            </a:p>
          </p:txBody>
        </p:sp>
      </p:grpSp>
      <p:grpSp>
        <p:nvGrpSpPr>
          <p:cNvPr id="65542" name="组合 54"/>
          <p:cNvGrpSpPr/>
          <p:nvPr/>
        </p:nvGrpSpPr>
        <p:grpSpPr bwMode="auto">
          <a:xfrm>
            <a:off x="6011863" y="2463800"/>
            <a:ext cx="2952750" cy="2295525"/>
            <a:chOff x="6001541" y="2357430"/>
            <a:chExt cx="2713863" cy="2000264"/>
          </a:xfrm>
        </p:grpSpPr>
        <p:sp>
          <p:nvSpPr>
            <p:cNvPr id="65543" name="Text Box 9"/>
            <p:cNvSpPr txBox="1">
              <a:spLocks noChangeArrowheads="1"/>
            </p:cNvSpPr>
            <p:nvPr/>
          </p:nvSpPr>
          <p:spPr bwMode="auto">
            <a:xfrm>
              <a:off x="7441156" y="2761618"/>
              <a:ext cx="614531" cy="516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700" i="1">
                  <a:latin typeface="Times New Roman" panose="02020603050405020304" pitchFamily="18" charset="0"/>
                </a:rPr>
                <a:t>B</a:t>
              </a:r>
              <a:r>
                <a:rPr lang="en-US" altLang="zh-CN" sz="700" baseline="-25000">
                  <a:latin typeface="Times New Roman" panose="02020603050405020304" pitchFamily="18" charset="0"/>
                </a:rPr>
                <a:t>2</a:t>
              </a:r>
              <a:endParaRPr lang="zh-CN" altLang="zh-CN" sz="1800">
                <a:latin typeface="Arial" panose="020B0604020202020204" pitchFamily="34" charset="0"/>
              </a:endParaRPr>
            </a:p>
          </p:txBody>
        </p:sp>
        <p:sp>
          <p:nvSpPr>
            <p:cNvPr id="65544" name="Text Box 11"/>
            <p:cNvSpPr txBox="1">
              <a:spLocks noChangeArrowheads="1"/>
            </p:cNvSpPr>
            <p:nvPr/>
          </p:nvSpPr>
          <p:spPr bwMode="auto">
            <a:xfrm>
              <a:off x="6572264" y="2357430"/>
              <a:ext cx="427847" cy="214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1600" b="1" i="1">
                  <a:latin typeface="Times New Roman" panose="02020603050405020304" pitchFamily="18" charset="0"/>
                </a:rPr>
                <a:t>A</a:t>
              </a:r>
              <a:r>
                <a:rPr lang="en-US" altLang="zh-CN" sz="1600" b="1" baseline="-25000">
                  <a:latin typeface="Times New Roman" panose="02020603050405020304" pitchFamily="18" charset="0"/>
                </a:rPr>
                <a:t>1</a:t>
              </a:r>
              <a:endParaRPr lang="zh-CN" altLang="zh-CN" sz="1600" b="1">
                <a:latin typeface="Arial" panose="020B0604020202020204" pitchFamily="34" charset="0"/>
              </a:endParaRPr>
            </a:p>
          </p:txBody>
        </p:sp>
        <p:sp>
          <p:nvSpPr>
            <p:cNvPr id="65545" name="Text Box 12"/>
            <p:cNvSpPr txBox="1">
              <a:spLocks noChangeArrowheads="1"/>
            </p:cNvSpPr>
            <p:nvPr/>
          </p:nvSpPr>
          <p:spPr bwMode="auto">
            <a:xfrm>
              <a:off x="6523457" y="2748895"/>
              <a:ext cx="614531" cy="516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700" i="1">
                  <a:latin typeface="Times New Roman" panose="02020603050405020304" pitchFamily="18" charset="0"/>
                </a:rPr>
                <a:t>A</a:t>
              </a:r>
              <a:r>
                <a:rPr lang="en-US" altLang="zh-CN" sz="700" baseline="-25000">
                  <a:latin typeface="Times New Roman" panose="02020603050405020304" pitchFamily="18" charset="0"/>
                </a:rPr>
                <a:t>2</a:t>
              </a:r>
              <a:endParaRPr lang="zh-CN" altLang="zh-CN" sz="1800">
                <a:latin typeface="Arial" panose="020B0604020202020204" pitchFamily="34" charset="0"/>
              </a:endParaRPr>
            </a:p>
          </p:txBody>
        </p:sp>
        <p:sp>
          <p:nvSpPr>
            <p:cNvPr id="65546" name="Text Box 14"/>
            <p:cNvSpPr txBox="1">
              <a:spLocks noChangeArrowheads="1"/>
            </p:cNvSpPr>
            <p:nvPr/>
          </p:nvSpPr>
          <p:spPr bwMode="auto">
            <a:xfrm>
              <a:off x="6643702" y="3286124"/>
              <a:ext cx="351372" cy="661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a:latin typeface="Times New Roman" panose="02020603050405020304" pitchFamily="18" charset="0"/>
                </a:rPr>
                <a:t>.</a:t>
              </a:r>
              <a:endParaRPr lang="en-US" altLang="zh-CN" sz="2000" b="1">
                <a:latin typeface="Times New Roman" panose="02020603050405020304" pitchFamily="18" charset="0"/>
              </a:endParaRPr>
            </a:p>
            <a:p>
              <a:pPr algn="just" eaLnBrk="1" hangingPunct="1">
                <a:lnSpc>
                  <a:spcPct val="56000"/>
                </a:lnSpc>
                <a:spcBef>
                  <a:spcPct val="0"/>
                </a:spcBef>
                <a:buFontTx/>
                <a:buNone/>
              </a:pPr>
              <a:r>
                <a:rPr lang="en-US" altLang="zh-CN" sz="2000" b="1">
                  <a:latin typeface="Times New Roman" panose="02020603050405020304" pitchFamily="18" charset="0"/>
                </a:rPr>
                <a:t>.</a:t>
              </a:r>
              <a:endParaRPr lang="en-US" altLang="zh-CN" sz="2000" b="1">
                <a:latin typeface="Times New Roman" panose="02020603050405020304" pitchFamily="18" charset="0"/>
              </a:endParaRPr>
            </a:p>
            <a:p>
              <a:pPr algn="just" eaLnBrk="1" hangingPunct="1">
                <a:lnSpc>
                  <a:spcPct val="56000"/>
                </a:lnSpc>
                <a:spcBef>
                  <a:spcPct val="0"/>
                </a:spcBef>
                <a:buFontTx/>
                <a:buNone/>
              </a:pPr>
              <a:r>
                <a:rPr lang="en-US" altLang="zh-CN" sz="2000" b="1">
                  <a:latin typeface="Times New Roman" panose="02020603050405020304" pitchFamily="18" charset="0"/>
                </a:rPr>
                <a:t>.</a:t>
              </a:r>
              <a:endParaRPr lang="zh-CN" altLang="zh-CN" sz="2000">
                <a:latin typeface="Arial" panose="020B0604020202020204" pitchFamily="34" charset="0"/>
              </a:endParaRPr>
            </a:p>
          </p:txBody>
        </p:sp>
        <p:sp>
          <p:nvSpPr>
            <p:cNvPr id="65547" name="Oval 16"/>
            <p:cNvSpPr>
              <a:spLocks noChangeArrowheads="1"/>
            </p:cNvSpPr>
            <p:nvPr/>
          </p:nvSpPr>
          <p:spPr bwMode="auto">
            <a:xfrm>
              <a:off x="6725569" y="2583504"/>
              <a:ext cx="136562" cy="133585"/>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65548" name="Oval 17"/>
            <p:cNvSpPr>
              <a:spLocks noChangeArrowheads="1"/>
            </p:cNvSpPr>
            <p:nvPr/>
          </p:nvSpPr>
          <p:spPr bwMode="auto">
            <a:xfrm>
              <a:off x="6725569" y="3119435"/>
              <a:ext cx="136562" cy="133585"/>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65549" name="Oval 19"/>
            <p:cNvSpPr>
              <a:spLocks noChangeArrowheads="1"/>
            </p:cNvSpPr>
            <p:nvPr/>
          </p:nvSpPr>
          <p:spPr bwMode="auto">
            <a:xfrm>
              <a:off x="6739226" y="3970246"/>
              <a:ext cx="136562" cy="133585"/>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65550" name="Oval 20"/>
            <p:cNvSpPr>
              <a:spLocks noChangeArrowheads="1"/>
            </p:cNvSpPr>
            <p:nvPr/>
          </p:nvSpPr>
          <p:spPr bwMode="auto">
            <a:xfrm>
              <a:off x="6085092" y="3190999"/>
              <a:ext cx="136562" cy="133585"/>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65551" name="Oval 22"/>
            <p:cNvSpPr>
              <a:spLocks noChangeArrowheads="1"/>
            </p:cNvSpPr>
            <p:nvPr/>
          </p:nvSpPr>
          <p:spPr bwMode="auto">
            <a:xfrm>
              <a:off x="7632344" y="2583504"/>
              <a:ext cx="136562" cy="133585"/>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65552" name="Oval 23"/>
            <p:cNvSpPr>
              <a:spLocks noChangeArrowheads="1"/>
            </p:cNvSpPr>
            <p:nvPr/>
          </p:nvSpPr>
          <p:spPr bwMode="auto">
            <a:xfrm>
              <a:off x="7632344" y="3119435"/>
              <a:ext cx="136562" cy="133585"/>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65553" name="Oval 25"/>
            <p:cNvSpPr>
              <a:spLocks noChangeArrowheads="1"/>
            </p:cNvSpPr>
            <p:nvPr/>
          </p:nvSpPr>
          <p:spPr bwMode="auto">
            <a:xfrm>
              <a:off x="7646000" y="3970246"/>
              <a:ext cx="136562" cy="133585"/>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65554" name="Oval 26"/>
            <p:cNvSpPr>
              <a:spLocks noChangeArrowheads="1"/>
            </p:cNvSpPr>
            <p:nvPr/>
          </p:nvSpPr>
          <p:spPr bwMode="auto">
            <a:xfrm>
              <a:off x="8324715" y="3203721"/>
              <a:ext cx="136562" cy="133585"/>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65555" name="AutoShape 27"/>
            <p:cNvCxnSpPr>
              <a:cxnSpLocks noChangeShapeType="1"/>
            </p:cNvCxnSpPr>
            <p:nvPr/>
          </p:nvCxnSpPr>
          <p:spPr bwMode="auto">
            <a:xfrm flipV="1">
              <a:off x="6221654" y="2717089"/>
              <a:ext cx="517571" cy="535931"/>
            </a:xfrm>
            <a:prstGeom prst="straightConnector1">
              <a:avLst/>
            </a:prstGeom>
            <a:noFill/>
            <a:ln w="6350">
              <a:solidFill>
                <a:srgbClr val="000000"/>
              </a:solidFill>
              <a:round/>
              <a:tailEnd type="arrow" w="med" len="med"/>
            </a:ln>
            <a:extLst>
              <a:ext uri="{909E8E84-426E-40DD-AFC4-6F175D3DCCD1}">
                <a14:hiddenFill xmlns:a14="http://schemas.microsoft.com/office/drawing/2010/main">
                  <a:noFill/>
                </a14:hiddenFill>
              </a:ext>
            </a:extLst>
          </p:spPr>
        </p:cxnSp>
        <p:cxnSp>
          <p:nvCxnSpPr>
            <p:cNvPr id="65556" name="AutoShape 28"/>
            <p:cNvCxnSpPr>
              <a:cxnSpLocks noChangeShapeType="1"/>
            </p:cNvCxnSpPr>
            <p:nvPr/>
          </p:nvCxnSpPr>
          <p:spPr bwMode="auto">
            <a:xfrm flipV="1">
              <a:off x="6221654" y="3229166"/>
              <a:ext cx="503915" cy="23855"/>
            </a:xfrm>
            <a:prstGeom prst="straightConnector1">
              <a:avLst/>
            </a:prstGeom>
            <a:noFill/>
            <a:ln w="6350">
              <a:solidFill>
                <a:srgbClr val="000000"/>
              </a:solidFill>
              <a:round/>
              <a:tailEnd type="arrow" w="med" len="med"/>
            </a:ln>
            <a:extLst>
              <a:ext uri="{909E8E84-426E-40DD-AFC4-6F175D3DCCD1}">
                <a14:hiddenFill xmlns:a14="http://schemas.microsoft.com/office/drawing/2010/main">
                  <a:noFill/>
                </a14:hiddenFill>
              </a:ext>
            </a:extLst>
          </p:spPr>
        </p:cxnSp>
        <p:cxnSp>
          <p:nvCxnSpPr>
            <p:cNvPr id="65557" name="AutoShape 29"/>
            <p:cNvCxnSpPr>
              <a:cxnSpLocks noChangeShapeType="1"/>
            </p:cNvCxnSpPr>
            <p:nvPr/>
          </p:nvCxnSpPr>
          <p:spPr bwMode="auto">
            <a:xfrm>
              <a:off x="6221654" y="3253021"/>
              <a:ext cx="517571" cy="717226"/>
            </a:xfrm>
            <a:prstGeom prst="straightConnector1">
              <a:avLst/>
            </a:prstGeom>
            <a:noFill/>
            <a:ln w="6350">
              <a:solidFill>
                <a:srgbClr val="000000"/>
              </a:solidFill>
              <a:round/>
              <a:tailEnd type="arrow" w="med" len="med"/>
            </a:ln>
            <a:extLst>
              <a:ext uri="{909E8E84-426E-40DD-AFC4-6F175D3DCCD1}">
                <a14:hiddenFill xmlns:a14="http://schemas.microsoft.com/office/drawing/2010/main">
                  <a:noFill/>
                </a14:hiddenFill>
              </a:ext>
            </a:extLst>
          </p:spPr>
        </p:cxnSp>
        <p:cxnSp>
          <p:nvCxnSpPr>
            <p:cNvPr id="65558" name="AutoShape 30"/>
            <p:cNvCxnSpPr>
              <a:cxnSpLocks noChangeShapeType="1"/>
            </p:cNvCxnSpPr>
            <p:nvPr/>
          </p:nvCxnSpPr>
          <p:spPr bwMode="auto">
            <a:xfrm>
              <a:off x="6875788" y="2659838"/>
              <a:ext cx="756555" cy="0"/>
            </a:xfrm>
            <a:prstGeom prst="straightConnector1">
              <a:avLst/>
            </a:prstGeom>
            <a:noFill/>
            <a:ln w="6350">
              <a:solidFill>
                <a:srgbClr val="000000"/>
              </a:solidFill>
              <a:round/>
              <a:tailEnd type="arrow" w="med" len="med"/>
            </a:ln>
            <a:extLst>
              <a:ext uri="{909E8E84-426E-40DD-AFC4-6F175D3DCCD1}">
                <a14:hiddenFill xmlns:a14="http://schemas.microsoft.com/office/drawing/2010/main">
                  <a:noFill/>
                </a14:hiddenFill>
              </a:ext>
            </a:extLst>
          </p:spPr>
        </p:cxnSp>
        <p:cxnSp>
          <p:nvCxnSpPr>
            <p:cNvPr id="65559" name="AutoShape 31"/>
            <p:cNvCxnSpPr>
              <a:cxnSpLocks noChangeShapeType="1"/>
            </p:cNvCxnSpPr>
            <p:nvPr/>
          </p:nvCxnSpPr>
          <p:spPr bwMode="auto">
            <a:xfrm>
              <a:off x="6875788" y="2717089"/>
              <a:ext cx="756555" cy="473910"/>
            </a:xfrm>
            <a:prstGeom prst="straightConnector1">
              <a:avLst/>
            </a:prstGeom>
            <a:noFill/>
            <a:ln w="6350">
              <a:solidFill>
                <a:srgbClr val="000000"/>
              </a:solidFill>
              <a:round/>
              <a:tailEnd type="arrow" w="med" len="med"/>
            </a:ln>
            <a:extLst>
              <a:ext uri="{909E8E84-426E-40DD-AFC4-6F175D3DCCD1}">
                <a14:hiddenFill xmlns:a14="http://schemas.microsoft.com/office/drawing/2010/main">
                  <a:noFill/>
                </a14:hiddenFill>
              </a:ext>
            </a:extLst>
          </p:spPr>
        </p:cxnSp>
        <p:cxnSp>
          <p:nvCxnSpPr>
            <p:cNvPr id="65560" name="AutoShape 32"/>
            <p:cNvCxnSpPr>
              <a:cxnSpLocks noChangeShapeType="1"/>
            </p:cNvCxnSpPr>
            <p:nvPr/>
          </p:nvCxnSpPr>
          <p:spPr bwMode="auto">
            <a:xfrm>
              <a:off x="6862132" y="2717089"/>
              <a:ext cx="783868" cy="1253157"/>
            </a:xfrm>
            <a:prstGeom prst="straightConnector1">
              <a:avLst/>
            </a:prstGeom>
            <a:noFill/>
            <a:ln w="6350">
              <a:solidFill>
                <a:srgbClr val="000000"/>
              </a:solidFill>
              <a:round/>
              <a:tailEnd type="arrow" w="med" len="med"/>
            </a:ln>
            <a:extLst>
              <a:ext uri="{909E8E84-426E-40DD-AFC4-6F175D3DCCD1}">
                <a14:hiddenFill xmlns:a14="http://schemas.microsoft.com/office/drawing/2010/main">
                  <a:noFill/>
                </a14:hiddenFill>
              </a:ext>
            </a:extLst>
          </p:spPr>
        </p:cxnSp>
        <p:cxnSp>
          <p:nvCxnSpPr>
            <p:cNvPr id="65561" name="AutoShape 33"/>
            <p:cNvCxnSpPr>
              <a:cxnSpLocks noChangeShapeType="1"/>
            </p:cNvCxnSpPr>
            <p:nvPr/>
          </p:nvCxnSpPr>
          <p:spPr bwMode="auto">
            <a:xfrm flipV="1">
              <a:off x="6862132" y="2717089"/>
              <a:ext cx="770212" cy="473910"/>
            </a:xfrm>
            <a:prstGeom prst="straightConnector1">
              <a:avLst/>
            </a:prstGeom>
            <a:noFill/>
            <a:ln w="6350">
              <a:solidFill>
                <a:srgbClr val="000000"/>
              </a:solidFill>
              <a:round/>
              <a:tailEnd type="arrow" w="med" len="med"/>
            </a:ln>
            <a:extLst>
              <a:ext uri="{909E8E84-426E-40DD-AFC4-6F175D3DCCD1}">
                <a14:hiddenFill xmlns:a14="http://schemas.microsoft.com/office/drawing/2010/main">
                  <a:noFill/>
                </a14:hiddenFill>
              </a:ext>
            </a:extLst>
          </p:spPr>
        </p:cxnSp>
        <p:cxnSp>
          <p:nvCxnSpPr>
            <p:cNvPr id="65562" name="AutoShape 34"/>
            <p:cNvCxnSpPr>
              <a:cxnSpLocks noChangeShapeType="1"/>
            </p:cNvCxnSpPr>
            <p:nvPr/>
          </p:nvCxnSpPr>
          <p:spPr bwMode="auto">
            <a:xfrm flipV="1">
              <a:off x="6875788" y="3190999"/>
              <a:ext cx="756555" cy="38167"/>
            </a:xfrm>
            <a:prstGeom prst="straightConnector1">
              <a:avLst/>
            </a:prstGeom>
            <a:noFill/>
            <a:ln w="6350">
              <a:solidFill>
                <a:srgbClr val="000000"/>
              </a:solidFill>
              <a:round/>
              <a:tailEnd type="arrow" w="med" len="med"/>
            </a:ln>
            <a:extLst>
              <a:ext uri="{909E8E84-426E-40DD-AFC4-6F175D3DCCD1}">
                <a14:hiddenFill xmlns:a14="http://schemas.microsoft.com/office/drawing/2010/main">
                  <a:noFill/>
                </a14:hiddenFill>
              </a:ext>
            </a:extLst>
          </p:spPr>
        </p:cxnSp>
        <p:cxnSp>
          <p:nvCxnSpPr>
            <p:cNvPr id="65563" name="AutoShape 35"/>
            <p:cNvCxnSpPr>
              <a:cxnSpLocks noChangeShapeType="1"/>
            </p:cNvCxnSpPr>
            <p:nvPr/>
          </p:nvCxnSpPr>
          <p:spPr bwMode="auto">
            <a:xfrm>
              <a:off x="6875788" y="3229166"/>
              <a:ext cx="756555" cy="741080"/>
            </a:xfrm>
            <a:prstGeom prst="straightConnector1">
              <a:avLst/>
            </a:prstGeom>
            <a:noFill/>
            <a:ln w="6350">
              <a:solidFill>
                <a:srgbClr val="000000"/>
              </a:solidFill>
              <a:round/>
              <a:tailEnd type="arrow" w="med" len="med"/>
            </a:ln>
            <a:extLst>
              <a:ext uri="{909E8E84-426E-40DD-AFC4-6F175D3DCCD1}">
                <a14:hiddenFill xmlns:a14="http://schemas.microsoft.com/office/drawing/2010/main">
                  <a:noFill/>
                </a14:hiddenFill>
              </a:ext>
            </a:extLst>
          </p:spPr>
        </p:cxnSp>
        <p:cxnSp>
          <p:nvCxnSpPr>
            <p:cNvPr id="65564" name="AutoShape 36"/>
            <p:cNvCxnSpPr>
              <a:cxnSpLocks noChangeShapeType="1"/>
            </p:cNvCxnSpPr>
            <p:nvPr/>
          </p:nvCxnSpPr>
          <p:spPr bwMode="auto">
            <a:xfrm flipV="1">
              <a:off x="6875788" y="2717089"/>
              <a:ext cx="770212" cy="1253157"/>
            </a:xfrm>
            <a:prstGeom prst="straightConnector1">
              <a:avLst/>
            </a:prstGeom>
            <a:noFill/>
            <a:ln w="6350">
              <a:solidFill>
                <a:srgbClr val="000000"/>
              </a:solidFill>
              <a:round/>
              <a:tailEnd type="arrow" w="med" len="med"/>
            </a:ln>
            <a:extLst>
              <a:ext uri="{909E8E84-426E-40DD-AFC4-6F175D3DCCD1}">
                <a14:hiddenFill xmlns:a14="http://schemas.microsoft.com/office/drawing/2010/main">
                  <a:noFill/>
                </a14:hiddenFill>
              </a:ext>
            </a:extLst>
          </p:spPr>
        </p:cxnSp>
        <p:cxnSp>
          <p:nvCxnSpPr>
            <p:cNvPr id="65565" name="AutoShape 37"/>
            <p:cNvCxnSpPr>
              <a:cxnSpLocks noChangeShapeType="1"/>
            </p:cNvCxnSpPr>
            <p:nvPr/>
          </p:nvCxnSpPr>
          <p:spPr bwMode="auto">
            <a:xfrm flipV="1">
              <a:off x="6875788" y="3229166"/>
              <a:ext cx="770212" cy="741080"/>
            </a:xfrm>
            <a:prstGeom prst="straightConnector1">
              <a:avLst/>
            </a:prstGeom>
            <a:noFill/>
            <a:ln w="6350">
              <a:solidFill>
                <a:srgbClr val="000000"/>
              </a:solidFill>
              <a:round/>
              <a:tailEnd type="arrow" w="med" len="med"/>
            </a:ln>
            <a:extLst>
              <a:ext uri="{909E8E84-426E-40DD-AFC4-6F175D3DCCD1}">
                <a14:hiddenFill xmlns:a14="http://schemas.microsoft.com/office/drawing/2010/main">
                  <a:noFill/>
                </a14:hiddenFill>
              </a:ext>
            </a:extLst>
          </p:spPr>
        </p:cxnSp>
        <p:cxnSp>
          <p:nvCxnSpPr>
            <p:cNvPr id="65566" name="AutoShape 38"/>
            <p:cNvCxnSpPr>
              <a:cxnSpLocks noChangeShapeType="1"/>
            </p:cNvCxnSpPr>
            <p:nvPr/>
          </p:nvCxnSpPr>
          <p:spPr bwMode="auto">
            <a:xfrm>
              <a:off x="6875788" y="4027497"/>
              <a:ext cx="756555" cy="0"/>
            </a:xfrm>
            <a:prstGeom prst="straightConnector1">
              <a:avLst/>
            </a:prstGeom>
            <a:noFill/>
            <a:ln w="6350">
              <a:solidFill>
                <a:srgbClr val="000000"/>
              </a:solidFill>
              <a:round/>
              <a:tailEnd type="arrow" w="med" len="med"/>
            </a:ln>
            <a:extLst>
              <a:ext uri="{909E8E84-426E-40DD-AFC4-6F175D3DCCD1}">
                <a14:hiddenFill xmlns:a14="http://schemas.microsoft.com/office/drawing/2010/main">
                  <a:noFill/>
                </a14:hiddenFill>
              </a:ext>
            </a:extLst>
          </p:spPr>
        </p:cxnSp>
        <p:cxnSp>
          <p:nvCxnSpPr>
            <p:cNvPr id="65567" name="AutoShape 39"/>
            <p:cNvCxnSpPr>
              <a:cxnSpLocks noChangeShapeType="1"/>
            </p:cNvCxnSpPr>
            <p:nvPr/>
          </p:nvCxnSpPr>
          <p:spPr bwMode="auto">
            <a:xfrm>
              <a:off x="7768906" y="2659838"/>
              <a:ext cx="555809" cy="569328"/>
            </a:xfrm>
            <a:prstGeom prst="straightConnector1">
              <a:avLst/>
            </a:prstGeom>
            <a:noFill/>
            <a:ln w="6350">
              <a:solidFill>
                <a:srgbClr val="000000"/>
              </a:solidFill>
              <a:round/>
              <a:tailEnd type="arrow" w="med" len="med"/>
            </a:ln>
            <a:extLst>
              <a:ext uri="{909E8E84-426E-40DD-AFC4-6F175D3DCCD1}">
                <a14:hiddenFill xmlns:a14="http://schemas.microsoft.com/office/drawing/2010/main">
                  <a:noFill/>
                </a14:hiddenFill>
              </a:ext>
            </a:extLst>
          </p:spPr>
        </p:cxnSp>
        <p:cxnSp>
          <p:nvCxnSpPr>
            <p:cNvPr id="65568" name="AutoShape 40"/>
            <p:cNvCxnSpPr>
              <a:cxnSpLocks noChangeShapeType="1"/>
            </p:cNvCxnSpPr>
            <p:nvPr/>
          </p:nvCxnSpPr>
          <p:spPr bwMode="auto">
            <a:xfrm>
              <a:off x="7768906" y="3190999"/>
              <a:ext cx="555809" cy="62022"/>
            </a:xfrm>
            <a:prstGeom prst="straightConnector1">
              <a:avLst/>
            </a:prstGeom>
            <a:noFill/>
            <a:ln w="6350">
              <a:solidFill>
                <a:srgbClr val="000000"/>
              </a:solidFill>
              <a:round/>
              <a:tailEnd type="arrow" w="med" len="med"/>
            </a:ln>
            <a:extLst>
              <a:ext uri="{909E8E84-426E-40DD-AFC4-6F175D3DCCD1}">
                <a14:hiddenFill xmlns:a14="http://schemas.microsoft.com/office/drawing/2010/main">
                  <a:noFill/>
                </a14:hiddenFill>
              </a:ext>
            </a:extLst>
          </p:spPr>
        </p:cxnSp>
        <p:cxnSp>
          <p:nvCxnSpPr>
            <p:cNvPr id="65569" name="AutoShape 41"/>
            <p:cNvCxnSpPr>
              <a:cxnSpLocks noChangeShapeType="1"/>
            </p:cNvCxnSpPr>
            <p:nvPr/>
          </p:nvCxnSpPr>
          <p:spPr bwMode="auto">
            <a:xfrm flipV="1">
              <a:off x="7782562" y="3253021"/>
              <a:ext cx="542153" cy="774477"/>
            </a:xfrm>
            <a:prstGeom prst="straightConnector1">
              <a:avLst/>
            </a:prstGeom>
            <a:noFill/>
            <a:ln w="6350">
              <a:solidFill>
                <a:srgbClr val="000000"/>
              </a:solidFill>
              <a:round/>
              <a:tailEnd type="arrow" w="med" len="med"/>
            </a:ln>
            <a:extLst>
              <a:ext uri="{909E8E84-426E-40DD-AFC4-6F175D3DCCD1}">
                <a14:hiddenFill xmlns:a14="http://schemas.microsoft.com/office/drawing/2010/main">
                  <a:noFill/>
                </a14:hiddenFill>
              </a:ext>
            </a:extLst>
          </p:spPr>
        </p:cxnSp>
        <p:sp>
          <p:nvSpPr>
            <p:cNvPr id="65570" name="Text Box 11"/>
            <p:cNvSpPr txBox="1">
              <a:spLocks noChangeArrowheads="1"/>
            </p:cNvSpPr>
            <p:nvPr/>
          </p:nvSpPr>
          <p:spPr bwMode="auto">
            <a:xfrm>
              <a:off x="6572264" y="2928934"/>
              <a:ext cx="427847" cy="214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1600" b="1" i="1">
                  <a:latin typeface="Times New Roman" panose="02020603050405020304" pitchFamily="18" charset="0"/>
                </a:rPr>
                <a:t>A</a:t>
              </a:r>
              <a:r>
                <a:rPr lang="en-US" altLang="zh-CN" sz="1600" b="1" baseline="-25000">
                  <a:latin typeface="Times New Roman" panose="02020603050405020304" pitchFamily="18" charset="0"/>
                </a:rPr>
                <a:t>2</a:t>
              </a:r>
              <a:endParaRPr lang="zh-CN" altLang="zh-CN" sz="1600" b="1">
                <a:latin typeface="Arial" panose="020B0604020202020204" pitchFamily="34" charset="0"/>
              </a:endParaRPr>
            </a:p>
          </p:txBody>
        </p:sp>
        <p:sp>
          <p:nvSpPr>
            <p:cNvPr id="65571" name="Text Box 14"/>
            <p:cNvSpPr txBox="1">
              <a:spLocks noChangeArrowheads="1"/>
            </p:cNvSpPr>
            <p:nvPr/>
          </p:nvSpPr>
          <p:spPr bwMode="auto">
            <a:xfrm>
              <a:off x="7572396" y="3286124"/>
              <a:ext cx="351372" cy="661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a:latin typeface="Times New Roman" panose="02020603050405020304" pitchFamily="18" charset="0"/>
                </a:rPr>
                <a:t>.</a:t>
              </a:r>
              <a:endParaRPr lang="en-US" altLang="zh-CN" sz="2000" b="1">
                <a:latin typeface="Times New Roman" panose="02020603050405020304" pitchFamily="18" charset="0"/>
              </a:endParaRPr>
            </a:p>
            <a:p>
              <a:pPr algn="just" eaLnBrk="1" hangingPunct="1">
                <a:lnSpc>
                  <a:spcPct val="56000"/>
                </a:lnSpc>
                <a:spcBef>
                  <a:spcPct val="0"/>
                </a:spcBef>
                <a:buFontTx/>
                <a:buNone/>
              </a:pPr>
              <a:r>
                <a:rPr lang="en-US" altLang="zh-CN" sz="2000" b="1">
                  <a:latin typeface="Times New Roman" panose="02020603050405020304" pitchFamily="18" charset="0"/>
                </a:rPr>
                <a:t>.</a:t>
              </a:r>
              <a:endParaRPr lang="en-US" altLang="zh-CN" sz="2000" b="1">
                <a:latin typeface="Times New Roman" panose="02020603050405020304" pitchFamily="18" charset="0"/>
              </a:endParaRPr>
            </a:p>
            <a:p>
              <a:pPr algn="just" eaLnBrk="1" hangingPunct="1">
                <a:lnSpc>
                  <a:spcPct val="56000"/>
                </a:lnSpc>
                <a:spcBef>
                  <a:spcPct val="0"/>
                </a:spcBef>
                <a:buFontTx/>
                <a:buNone/>
              </a:pPr>
              <a:r>
                <a:rPr lang="en-US" altLang="zh-CN" sz="2000" b="1">
                  <a:latin typeface="Times New Roman" panose="02020603050405020304" pitchFamily="18" charset="0"/>
                </a:rPr>
                <a:t>.</a:t>
              </a:r>
              <a:endParaRPr lang="zh-CN" altLang="zh-CN" sz="2000">
                <a:latin typeface="Arial" panose="020B0604020202020204" pitchFamily="34" charset="0"/>
              </a:endParaRPr>
            </a:p>
          </p:txBody>
        </p:sp>
        <p:sp>
          <p:nvSpPr>
            <p:cNvPr id="65572" name="Text Box 11"/>
            <p:cNvSpPr txBox="1">
              <a:spLocks noChangeArrowheads="1"/>
            </p:cNvSpPr>
            <p:nvPr/>
          </p:nvSpPr>
          <p:spPr bwMode="auto">
            <a:xfrm>
              <a:off x="6644483" y="4143380"/>
              <a:ext cx="427847" cy="214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1600" b="1" i="1">
                  <a:latin typeface="Times New Roman" panose="02020603050405020304" pitchFamily="18" charset="0"/>
                </a:rPr>
                <a:t>A</a:t>
              </a:r>
              <a:r>
                <a:rPr lang="en-US" altLang="zh-CN" sz="1600" b="1" i="1" baseline="-25000">
                  <a:latin typeface="Times New Roman" panose="02020603050405020304" pitchFamily="18" charset="0"/>
                </a:rPr>
                <a:t>m</a:t>
              </a:r>
              <a:endParaRPr lang="zh-CN" altLang="zh-CN" sz="1600" b="1" i="1">
                <a:latin typeface="Arial" panose="020B0604020202020204" pitchFamily="34" charset="0"/>
              </a:endParaRPr>
            </a:p>
          </p:txBody>
        </p:sp>
        <p:sp>
          <p:nvSpPr>
            <p:cNvPr id="65573" name="Text Box 11"/>
            <p:cNvSpPr txBox="1">
              <a:spLocks noChangeArrowheads="1"/>
            </p:cNvSpPr>
            <p:nvPr/>
          </p:nvSpPr>
          <p:spPr bwMode="auto">
            <a:xfrm>
              <a:off x="7501739" y="2357430"/>
              <a:ext cx="427847" cy="214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1600" b="1" i="1">
                  <a:latin typeface="Times New Roman" panose="02020603050405020304" pitchFamily="18" charset="0"/>
                </a:rPr>
                <a:t>B</a:t>
              </a:r>
              <a:r>
                <a:rPr lang="en-US" altLang="zh-CN" sz="1600" b="1" baseline="-25000">
                  <a:latin typeface="Times New Roman" panose="02020603050405020304" pitchFamily="18" charset="0"/>
                </a:rPr>
                <a:t>1</a:t>
              </a:r>
              <a:endParaRPr lang="zh-CN" altLang="zh-CN" sz="1600" b="1">
                <a:latin typeface="Arial" panose="020B0604020202020204" pitchFamily="34" charset="0"/>
              </a:endParaRPr>
            </a:p>
          </p:txBody>
        </p:sp>
        <p:sp>
          <p:nvSpPr>
            <p:cNvPr id="65574" name="Text Box 11"/>
            <p:cNvSpPr txBox="1">
              <a:spLocks noChangeArrowheads="1"/>
            </p:cNvSpPr>
            <p:nvPr/>
          </p:nvSpPr>
          <p:spPr bwMode="auto">
            <a:xfrm>
              <a:off x="7500958" y="2928934"/>
              <a:ext cx="427847" cy="214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1600" b="1" i="1">
                  <a:latin typeface="Times New Roman" panose="02020603050405020304" pitchFamily="18" charset="0"/>
                </a:rPr>
                <a:t>B</a:t>
              </a:r>
              <a:r>
                <a:rPr lang="en-US" altLang="zh-CN" sz="1600" b="1" baseline="-25000">
                  <a:latin typeface="Times New Roman" panose="02020603050405020304" pitchFamily="18" charset="0"/>
                </a:rPr>
                <a:t>2</a:t>
              </a:r>
              <a:endParaRPr lang="zh-CN" altLang="zh-CN" sz="1600" b="1">
                <a:latin typeface="Arial" panose="020B0604020202020204" pitchFamily="34" charset="0"/>
              </a:endParaRPr>
            </a:p>
          </p:txBody>
        </p:sp>
        <p:sp>
          <p:nvSpPr>
            <p:cNvPr id="65575" name="Text Box 11"/>
            <p:cNvSpPr txBox="1">
              <a:spLocks noChangeArrowheads="1"/>
            </p:cNvSpPr>
            <p:nvPr/>
          </p:nvSpPr>
          <p:spPr bwMode="auto">
            <a:xfrm>
              <a:off x="7644615" y="4143380"/>
              <a:ext cx="427847" cy="214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1600" b="1" i="1">
                  <a:latin typeface="Times New Roman" panose="02020603050405020304" pitchFamily="18" charset="0"/>
                </a:rPr>
                <a:t>B</a:t>
              </a:r>
              <a:r>
                <a:rPr lang="en-US" altLang="zh-CN" sz="1600" b="1" i="1" baseline="-25000">
                  <a:latin typeface="Times New Roman" panose="02020603050405020304" pitchFamily="18" charset="0"/>
                </a:rPr>
                <a:t>n</a:t>
              </a:r>
              <a:endParaRPr lang="zh-CN" altLang="zh-CN" sz="1600" b="1" i="1">
                <a:latin typeface="Arial" panose="020B0604020202020204" pitchFamily="34" charset="0"/>
              </a:endParaRPr>
            </a:p>
          </p:txBody>
        </p:sp>
        <p:sp>
          <p:nvSpPr>
            <p:cNvPr id="65576" name="Text Box 11"/>
            <p:cNvSpPr txBox="1">
              <a:spLocks noChangeArrowheads="1"/>
            </p:cNvSpPr>
            <p:nvPr/>
          </p:nvSpPr>
          <p:spPr bwMode="auto">
            <a:xfrm>
              <a:off x="8287557" y="3000372"/>
              <a:ext cx="427847" cy="214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1600" b="1" i="1">
                  <a:latin typeface="Times New Roman" panose="02020603050405020304" pitchFamily="18" charset="0"/>
                </a:rPr>
                <a:t>t</a:t>
              </a:r>
              <a:endParaRPr lang="zh-CN" altLang="zh-CN" sz="1600" b="1">
                <a:latin typeface="Arial" panose="020B0604020202020204" pitchFamily="34" charset="0"/>
              </a:endParaRPr>
            </a:p>
          </p:txBody>
        </p:sp>
        <p:sp>
          <p:nvSpPr>
            <p:cNvPr id="65577" name="Text Box 11"/>
            <p:cNvSpPr txBox="1">
              <a:spLocks noChangeArrowheads="1"/>
            </p:cNvSpPr>
            <p:nvPr/>
          </p:nvSpPr>
          <p:spPr bwMode="auto">
            <a:xfrm>
              <a:off x="6001541" y="3000372"/>
              <a:ext cx="427847" cy="214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1600" b="1" i="1">
                  <a:latin typeface="Times New Roman" panose="02020603050405020304" pitchFamily="18" charset="0"/>
                </a:rPr>
                <a:t>s</a:t>
              </a:r>
              <a:endParaRPr lang="zh-CN" altLang="zh-CN" sz="1600" b="1">
                <a:latin typeface="Arial" panose="020B0604020202020204" pitchFamily="34" charset="0"/>
              </a:endParaRPr>
            </a:p>
          </p:txBody>
        </p:sp>
      </p:gr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a:xfrm>
            <a:off x="457200" y="0"/>
            <a:ext cx="8229600" cy="1143000"/>
          </a:xfrm>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7.3.1 </a:t>
            </a:r>
            <a:r>
              <a:rPr lang="zh-CN" altLang="en-US" sz="4000" b="1" smtClean="0">
                <a:solidFill>
                  <a:srgbClr val="C00000"/>
                </a:solidFill>
                <a:latin typeface="Times New Roman" panose="02020603050405020304" pitchFamily="18" charset="0"/>
                <a:cs typeface="Times New Roman" panose="02020603050405020304" pitchFamily="18" charset="0"/>
              </a:rPr>
              <a:t>确定初始调运方案</a:t>
            </a:r>
            <a:endParaRPr lang="zh-CN" altLang="en-US" sz="4000" smtClean="0">
              <a:solidFill>
                <a:srgbClr val="C00000"/>
              </a:solidFill>
              <a:latin typeface="Times New Roman" panose="02020603050405020304" pitchFamily="18" charset="0"/>
              <a:cs typeface="Times New Roman" panose="02020603050405020304" pitchFamily="18" charset="0"/>
            </a:endParaRPr>
          </a:p>
        </p:txBody>
      </p:sp>
      <p:sp>
        <p:nvSpPr>
          <p:cNvPr id="66563" name="内容占位符 2"/>
          <p:cNvSpPr>
            <a:spLocks noGrp="1"/>
          </p:cNvSpPr>
          <p:nvPr>
            <p:ph idx="1"/>
          </p:nvPr>
        </p:nvSpPr>
        <p:spPr>
          <a:xfrm>
            <a:off x="457200" y="981075"/>
            <a:ext cx="8229600" cy="5375275"/>
          </a:xfrm>
        </p:spPr>
        <p:txBody>
          <a:bodyPr/>
          <a:lstStyle/>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记</a:t>
            </a:r>
            <a:r>
              <a:rPr lang="en-US" altLang="zh-CN" sz="2400" b="1" i="1" smtClean="0">
                <a:latin typeface="Times New Roman" panose="02020603050405020304" pitchFamily="18" charset="0"/>
                <a:cs typeface="Times New Roman" panose="02020603050405020304" pitchFamily="18" charset="0"/>
              </a:rPr>
              <a:t>G</a:t>
            </a:r>
            <a:r>
              <a:rPr lang="zh-CN" altLang="en-US" sz="2400" b="1" smtClean="0">
                <a:latin typeface="Times New Roman" panose="02020603050405020304" pitchFamily="18" charset="0"/>
                <a:cs typeface="Times New Roman" panose="02020603050405020304" pitchFamily="18" charset="0"/>
              </a:rPr>
              <a:t>为以 </a:t>
            </a:r>
            <a:r>
              <a:rPr lang="en-US" altLang="zh-CN" sz="2400" b="1" i="1" smtClean="0">
                <a:latin typeface="Times New Roman" panose="02020603050405020304" pitchFamily="18" charset="0"/>
                <a:cs typeface="Times New Roman" panose="02020603050405020304" pitchFamily="18" charset="0"/>
              </a:rPr>
              <a:t>A</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A</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 A</a:t>
            </a:r>
            <a:r>
              <a:rPr lang="en-US" altLang="zh-CN" sz="2400" b="1" i="1" baseline="-25000" smtClean="0">
                <a:latin typeface="Times New Roman" panose="02020603050405020304" pitchFamily="18" charset="0"/>
                <a:cs typeface="Times New Roman" panose="02020603050405020304" pitchFamily="18" charset="0"/>
              </a:rPr>
              <a:t>m</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B</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B</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B</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 B</a:t>
            </a:r>
            <a:r>
              <a:rPr lang="en-US" altLang="zh-CN" sz="2400" b="1" i="1" baseline="-25000"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为互补顶点子集</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的赋权完全二部图</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的权为 </a:t>
            </a:r>
            <a:r>
              <a:rPr lang="en-US" altLang="zh-CN" sz="2400" b="1" i="1" smtClean="0">
                <a:latin typeface="Times New Roman" panose="02020603050405020304" pitchFamily="18" charset="0"/>
                <a:cs typeface="Times New Roman" panose="02020603050405020304" pitchFamily="18" charset="0"/>
              </a:rPr>
              <a:t>w</a:t>
            </a:r>
            <a:r>
              <a:rPr lang="en-US" altLang="zh-CN" sz="2400" b="1" i="1" baseline="-25000" smtClean="0">
                <a:latin typeface="Times New Roman" panose="02020603050405020304" pitchFamily="18" charset="0"/>
                <a:cs typeface="Times New Roman" panose="02020603050405020304" pitchFamily="18" charset="0"/>
              </a:rPr>
              <a:t>ij</a:t>
            </a:r>
            <a:r>
              <a:rPr lang="en-US" altLang="zh-CN"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初始调运方案</a:t>
            </a:r>
            <a:r>
              <a:rPr lang="zh-CN" altLang="en-US" sz="2400" b="1" smtClean="0">
                <a:latin typeface="Times New Roman" panose="02020603050405020304" pitchFamily="18" charset="0"/>
                <a:cs typeface="Times New Roman" panose="02020603050405020304" pitchFamily="18" charset="0"/>
              </a:rPr>
              <a:t>  选取边</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令 </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rPr>
              <a:t>min{</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    若</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rPr>
              <a:t>&lt;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删去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及其关联边</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令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    若</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rPr>
              <a:t>&gt;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删去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zh-CN" altLang="en-US" sz="2400" b="1" smtClean="0">
                <a:latin typeface="Times New Roman" panose="02020603050405020304" pitchFamily="18" charset="0"/>
                <a:cs typeface="Times New Roman" panose="02020603050405020304" pitchFamily="18" charset="0"/>
              </a:rPr>
              <a:t>及其关联的边</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令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    若</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则再选取一条与</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zh-CN" altLang="en-US" sz="2400" b="1" smtClean="0">
                <a:latin typeface="Times New Roman" panose="02020603050405020304" pitchFamily="18" charset="0"/>
                <a:cs typeface="Times New Roman" panose="02020603050405020304" pitchFamily="18" charset="0"/>
              </a:rPr>
              <a:t>关联或与</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zh-CN" altLang="en-US" sz="2400" b="1" smtClean="0">
                <a:latin typeface="Times New Roman" panose="02020603050405020304" pitchFamily="18" charset="0"/>
                <a:cs typeface="Times New Roman" panose="02020603050405020304" pitchFamily="18" charset="0"/>
              </a:rPr>
              <a:t>关联的边</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比如</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k</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k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令 </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ik</a:t>
            </a:r>
            <a:r>
              <a:rPr lang="en-US" altLang="zh-CN" sz="2400" b="1" smtClean="0">
                <a:latin typeface="Times New Roman" panose="02020603050405020304" pitchFamily="18" charset="0"/>
                <a:cs typeface="Times New Roman" panose="02020603050405020304" pitchFamily="18" charset="0"/>
              </a:rPr>
              <a:t>= 0, </a:t>
            </a:r>
            <a:r>
              <a:rPr lang="zh-CN" altLang="en-US" sz="2400" b="1" smtClean="0">
                <a:latin typeface="Times New Roman" panose="02020603050405020304" pitchFamily="18" charset="0"/>
                <a:cs typeface="Times New Roman" panose="02020603050405020304" pitchFamily="18" charset="0"/>
              </a:rPr>
              <a:t>删去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和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及其关联的边</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spcBef>
                <a:spcPts val="6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重复进行</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直到选取了</a:t>
            </a:r>
            <a:r>
              <a:rPr lang="en-US" altLang="zh-CN" sz="2400" b="1" i="1" smtClean="0">
                <a:latin typeface="Times New Roman" panose="02020603050405020304" pitchFamily="18" charset="0"/>
                <a:cs typeface="Times New Roman" panose="02020603050405020304" pitchFamily="18" charset="0"/>
              </a:rPr>
              <a:t>m</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2</a:t>
            </a:r>
            <a:r>
              <a:rPr lang="zh-CN" altLang="en-US" sz="2400" b="1" smtClean="0">
                <a:latin typeface="Times New Roman" panose="02020603050405020304" pitchFamily="18" charset="0"/>
                <a:cs typeface="Times New Roman" panose="02020603050405020304" pitchFamily="18" charset="0"/>
              </a:rPr>
              <a:t>条边</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此时只剩下一条边</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p</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q</a:t>
            </a:r>
            <a:r>
              <a:rPr lang="en-US" altLang="zh-CN"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且</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p</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q</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选取 </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p</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q</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令 </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pq</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p</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其余边上的 </a:t>
            </a:r>
            <a:r>
              <a:rPr lang="en-US" altLang="zh-CN" sz="2400" b="1" i="1" smtClean="0">
                <a:latin typeface="Times New Roman" panose="02020603050405020304" pitchFamily="18" charset="0"/>
                <a:cs typeface="Times New Roman" panose="02020603050405020304" pitchFamily="18" charset="0"/>
              </a:rPr>
              <a:t>x </a:t>
            </a:r>
            <a:r>
              <a:rPr lang="zh-CN" altLang="en-US" sz="2400" b="1" smtClean="0">
                <a:latin typeface="Times New Roman" panose="02020603050405020304" pitchFamily="18" charset="0"/>
                <a:cs typeface="Times New Roman" panose="02020603050405020304" pitchFamily="18" charset="0"/>
              </a:rPr>
              <a:t>值均为 </a:t>
            </a:r>
            <a:r>
              <a:rPr lang="en-US" altLang="zh-CN" sz="2400" b="1" smtClean="0">
                <a:latin typeface="Times New Roman" panose="02020603050405020304" pitchFamily="18" charset="0"/>
                <a:cs typeface="Times New Roman" panose="02020603050405020304" pitchFamily="18" charset="0"/>
              </a:rPr>
              <a:t>0.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记选中的 </a:t>
            </a:r>
            <a:r>
              <a:rPr lang="en-US" altLang="zh-CN" sz="2400" b="1" i="1" smtClean="0">
                <a:latin typeface="Times New Roman" panose="02020603050405020304" pitchFamily="18" charset="0"/>
                <a:cs typeface="Times New Roman" panose="02020603050405020304" pitchFamily="18" charset="0"/>
              </a:rPr>
              <a:t>m</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1 </a:t>
            </a:r>
            <a:r>
              <a:rPr lang="zh-CN" altLang="en-US" sz="2400" b="1" smtClean="0">
                <a:latin typeface="Times New Roman" panose="02020603050405020304" pitchFamily="18" charset="0"/>
                <a:cs typeface="Times New Roman" panose="02020603050405020304" pitchFamily="18" charset="0"/>
              </a:rPr>
              <a:t>条边集合为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称作</a:t>
            </a:r>
            <a:r>
              <a:rPr lang="zh-CN" altLang="en-US" sz="2400" b="1" smtClean="0">
                <a:solidFill>
                  <a:srgbClr val="C00000"/>
                </a:solidFill>
                <a:latin typeface="Times New Roman" panose="02020603050405020304" pitchFamily="18" charset="0"/>
                <a:cs typeface="Times New Roman" panose="02020603050405020304" pitchFamily="18" charset="0"/>
              </a:rPr>
              <a:t>选中边集</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最小元素法</a:t>
            </a:r>
            <a:r>
              <a:rPr lang="zh-CN" altLang="en-US" sz="2400" b="1" smtClean="0">
                <a:latin typeface="Times New Roman" panose="02020603050405020304" pitchFamily="18" charset="0"/>
                <a:cs typeface="Times New Roman" panose="02020603050405020304" pitchFamily="18" charset="0"/>
              </a:rPr>
              <a:t>  每次在剩余边中选取 </a:t>
            </a:r>
            <a:r>
              <a:rPr lang="en-US" altLang="zh-CN" sz="2400" b="1" i="1" smtClean="0">
                <a:latin typeface="Times New Roman" panose="02020603050405020304" pitchFamily="18" charset="0"/>
                <a:cs typeface="Times New Roman" panose="02020603050405020304" pitchFamily="18" charset="0"/>
              </a:rPr>
              <a:t>w</a:t>
            </a:r>
            <a:r>
              <a:rPr lang="en-US" altLang="zh-CN" sz="2400" b="1" i="1" baseline="-25000" smtClean="0">
                <a:latin typeface="Times New Roman" panose="02020603050405020304" pitchFamily="18" charset="0"/>
                <a:cs typeface="Times New Roman" panose="02020603050405020304" pitchFamily="18" charset="0"/>
              </a:rPr>
              <a:t>ij </a:t>
            </a:r>
            <a:r>
              <a:rPr lang="zh-CN" altLang="en-US" sz="2400" b="1" smtClean="0">
                <a:latin typeface="Times New Roman" panose="02020603050405020304" pitchFamily="18" charset="0"/>
                <a:cs typeface="Times New Roman" panose="02020603050405020304" pitchFamily="18" charset="0"/>
              </a:rPr>
              <a:t>最小的边</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西北角法  </a:t>
            </a:r>
            <a:r>
              <a:rPr lang="zh-CN" altLang="en-US" sz="2400" b="1" smtClean="0">
                <a:latin typeface="Times New Roman" panose="02020603050405020304" pitchFamily="18" charset="0"/>
                <a:cs typeface="Times New Roman" panose="02020603050405020304" pitchFamily="18" charset="0"/>
              </a:rPr>
              <a:t> 每次在剩余边中选取西北角的边</a:t>
            </a:r>
            <a:endParaRPr lang="en-US" altLang="zh-CN" sz="2400" b="1" smtClean="0">
              <a:latin typeface="Times New Roman" panose="02020603050405020304" pitchFamily="18" charset="0"/>
              <a:cs typeface="Times New Roman" panose="02020603050405020304" pitchFamily="18" charset="0"/>
            </a:endParaRPr>
          </a:p>
        </p:txBody>
      </p:sp>
      <p:sp>
        <p:nvSpPr>
          <p:cNvPr id="6656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35DD8E5B-BC13-4AC8-B668-437EC42D5E50}"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a:xfrm>
            <a:off x="457200" y="-76200"/>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调运方案的性质</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67587" name="内容占位符 2"/>
          <p:cNvSpPr>
            <a:spLocks noGrp="1"/>
          </p:cNvSpPr>
          <p:nvPr>
            <p:ph idx="1"/>
          </p:nvPr>
        </p:nvSpPr>
        <p:spPr>
          <a:xfrm>
            <a:off x="485775" y="1004888"/>
            <a:ext cx="8334375" cy="5351462"/>
          </a:xfrm>
        </p:spPr>
        <p:txBody>
          <a:bodyPr/>
          <a:lstStyle/>
          <a:p>
            <a:pPr>
              <a:buFont typeface="Arial" panose="020B0604020202020204" pitchFamily="34" charset="0"/>
              <a:buNone/>
              <a:defRPr/>
            </a:pPr>
            <a:r>
              <a:rPr lang="zh-CN" altLang="en-US" sz="2400" b="1" dirty="0" smtClean="0">
                <a:solidFill>
                  <a:srgbClr val="C00000"/>
                </a:solidFill>
                <a:latin typeface="Times New Roman" panose="02020603050405020304" pitchFamily="18" charset="0"/>
                <a:cs typeface="Times New Roman" panose="02020603050405020304" pitchFamily="18" charset="0"/>
              </a:rPr>
              <a:t>命题</a:t>
            </a:r>
            <a:r>
              <a:rPr lang="en-US" altLang="zh-CN" sz="2400" b="1" dirty="0" smtClean="0">
                <a:solidFill>
                  <a:srgbClr val="C00000"/>
                </a:solidFill>
                <a:latin typeface="Times New Roman" panose="02020603050405020304" pitchFamily="18" charset="0"/>
                <a:cs typeface="Times New Roman" panose="02020603050405020304" pitchFamily="18" charset="0"/>
              </a:rPr>
              <a:t>7.2</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初始调运方案选的 </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1</a:t>
            </a:r>
            <a:r>
              <a:rPr lang="zh-CN" altLang="en-US" sz="2400" b="1" dirty="0" smtClean="0">
                <a:latin typeface="Times New Roman" panose="02020603050405020304" pitchFamily="18" charset="0"/>
                <a:cs typeface="Times New Roman" panose="02020603050405020304" pitchFamily="18" charset="0"/>
              </a:rPr>
              <a:t>条边</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构成</a:t>
            </a:r>
            <a:r>
              <a:rPr lang="en-US" altLang="zh-CN" sz="2400" b="1" i="1"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的一棵生成树</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lnSpc>
                <a:spcPts val="2600"/>
              </a:lnSpc>
              <a:spcBef>
                <a:spcPts val="1800"/>
              </a:spcBef>
              <a:buFont typeface="Arial" panose="020B0604020202020204" pitchFamily="34" charset="0"/>
              <a:buNone/>
              <a:defRPr/>
            </a:pPr>
            <a:r>
              <a:rPr lang="zh-CN" altLang="en-US" sz="2400" b="1" dirty="0" smtClean="0">
                <a:solidFill>
                  <a:srgbClr val="C00000"/>
                </a:solidFill>
                <a:latin typeface="Times New Roman" panose="02020603050405020304" pitchFamily="18" charset="0"/>
                <a:cs typeface="Times New Roman" panose="02020603050405020304" pitchFamily="18" charset="0"/>
              </a:rPr>
              <a:t>证 </a:t>
            </a:r>
            <a:r>
              <a:rPr lang="zh-CN" altLang="en-US" sz="2400" b="1" dirty="0" smtClean="0">
                <a:latin typeface="Times New Roman" panose="02020603050405020304" pitchFamily="18" charset="0"/>
                <a:cs typeface="Times New Roman" panose="02020603050405020304" pitchFamily="18" charset="0"/>
              </a:rPr>
              <a:t> 只需证</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的导出子图</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仍记作</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连通</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对 </a:t>
            </a:r>
            <a:r>
              <a:rPr lang="en-US" altLang="zh-CN" sz="2400" b="1" i="1" dirty="0" err="1" smtClean="0">
                <a:latin typeface="Times New Roman" panose="02020603050405020304" pitchFamily="18" charset="0"/>
                <a:cs typeface="Times New Roman" panose="02020603050405020304" pitchFamily="18" charset="0"/>
              </a:rPr>
              <a:t>m</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n</a:t>
            </a:r>
            <a:r>
              <a:rPr lang="en-US" altLang="zh-CN" sz="2400" b="1" i="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作归纳证明</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lnSpc>
                <a:spcPts val="2600"/>
              </a:lnSpc>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当 </a:t>
            </a:r>
            <a:r>
              <a:rPr lang="en-US" altLang="zh-CN" sz="2400" b="1" i="1" dirty="0" err="1" smtClean="0">
                <a:latin typeface="Times New Roman" panose="02020603050405020304" pitchFamily="18" charset="0"/>
                <a:cs typeface="Times New Roman" panose="02020603050405020304" pitchFamily="18" charset="0"/>
              </a:rPr>
              <a:t>m</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=2 </a:t>
            </a:r>
            <a:r>
              <a:rPr lang="zh-CN" altLang="en-US" sz="2400" b="1" dirty="0" smtClean="0">
                <a:latin typeface="Times New Roman" panose="02020603050405020304" pitchFamily="18" charset="0"/>
                <a:cs typeface="Times New Roman" panose="02020603050405020304" pitchFamily="18" charset="0"/>
              </a:rPr>
              <a:t>时</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=1,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结论显然成立</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lnSpc>
                <a:spcPts val="2800"/>
              </a:lnSpc>
              <a:spcBef>
                <a:spcPts val="1200"/>
              </a:spcBef>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假设 </a:t>
            </a:r>
            <a:r>
              <a:rPr lang="en-US" altLang="zh-CN" sz="2400" b="1" i="1" dirty="0" err="1" smtClean="0">
                <a:latin typeface="Times New Roman" panose="02020603050405020304" pitchFamily="18" charset="0"/>
                <a:cs typeface="Times New Roman" panose="02020603050405020304" pitchFamily="18" charset="0"/>
              </a:rPr>
              <a:t>m</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n</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k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2)</a:t>
            </a:r>
            <a:r>
              <a:rPr lang="zh-CN" altLang="en-US" sz="2400" b="1" dirty="0" smtClean="0">
                <a:latin typeface="Times New Roman" panose="02020603050405020304" pitchFamily="18" charset="0"/>
                <a:cs typeface="Times New Roman" panose="02020603050405020304" pitchFamily="18" charset="0"/>
              </a:rPr>
              <a:t>时结论成立</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考虑 </a:t>
            </a:r>
            <a:r>
              <a:rPr lang="en-US" altLang="zh-CN" sz="2400" b="1" i="1" dirty="0" err="1" smtClean="0">
                <a:latin typeface="Times New Roman" panose="02020603050405020304" pitchFamily="18" charset="0"/>
                <a:cs typeface="Times New Roman" panose="02020603050405020304" pitchFamily="18" charset="0"/>
              </a:rPr>
              <a:t>m</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设选中第一</a:t>
            </a:r>
            <a:endParaRPr lang="en-US" altLang="zh-CN" sz="2400" b="1" dirty="0" smtClean="0">
              <a:latin typeface="Times New Roman" panose="02020603050405020304" pitchFamily="18" charset="0"/>
              <a:cs typeface="Times New Roman" panose="02020603050405020304" pitchFamily="18" charset="0"/>
            </a:endParaRPr>
          </a:p>
          <a:p>
            <a:pPr>
              <a:lnSpc>
                <a:spcPts val="2800"/>
              </a:lnSpc>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条边是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若</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&lt;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删去 </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 </a:t>
            </a:r>
            <a:r>
              <a:rPr lang="zh-CN" altLang="en-US" sz="2400" b="1" dirty="0" smtClean="0">
                <a:latin typeface="Times New Roman" panose="02020603050405020304" pitchFamily="18" charset="0"/>
                <a:cs typeface="Times New Roman" panose="02020603050405020304" pitchFamily="18" charset="0"/>
              </a:rPr>
              <a:t>及关联的边记作</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删去</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 </a:t>
            </a:r>
            <a:endParaRPr lang="en-US" altLang="zh-CN" sz="2400" b="1" dirty="0" smtClean="0">
              <a:latin typeface="Times New Roman" panose="02020603050405020304" pitchFamily="18" charset="0"/>
              <a:cs typeface="Times New Roman" panose="02020603050405020304" pitchFamily="18" charset="0"/>
            </a:endParaRPr>
          </a:p>
          <a:p>
            <a:pPr>
              <a:lnSpc>
                <a:spcPts val="2800"/>
              </a:lnSpc>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和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记作</a:t>
            </a:r>
            <a:r>
              <a:rPr lang="en-US" altLang="zh-CN" sz="2400" b="1" i="1" dirty="0" smtClean="0">
                <a:latin typeface="Times New Roman" panose="02020603050405020304" pitchFamily="18" charset="0"/>
                <a:cs typeface="Times New Roman" panose="02020603050405020304" pitchFamily="18" charset="0"/>
              </a:rPr>
              <a:t>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dirty="0" smtClean="0">
                <a:latin typeface="Times New Roman" panose="02020603050405020304" pitchFamily="18" charset="0"/>
                <a:cs typeface="Times New Roman" panose="02020603050405020304" pitchFamily="18" charset="0"/>
              </a:rPr>
              <a:t>是 </a:t>
            </a:r>
            <a:r>
              <a:rPr lang="en-US" altLang="zh-CN" sz="2400" b="1" i="1" dirty="0" smtClean="0">
                <a:latin typeface="Times New Roman" panose="02020603050405020304" pitchFamily="18" charset="0"/>
                <a:cs typeface="Times New Roman" panose="02020603050405020304" pitchFamily="18" charset="0"/>
              </a:rPr>
              <a:t>k </a:t>
            </a:r>
            <a:r>
              <a:rPr lang="zh-CN" altLang="en-US" sz="2400" b="1" dirty="0" smtClean="0">
                <a:latin typeface="Times New Roman" panose="02020603050405020304" pitchFamily="18" charset="0"/>
                <a:cs typeface="Times New Roman" panose="02020603050405020304" pitchFamily="18" charset="0"/>
              </a:rPr>
              <a:t>阶完全二部图</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dirty="0" smtClean="0">
                <a:latin typeface="Times New Roman" panose="02020603050405020304" pitchFamily="18" charset="0"/>
                <a:cs typeface="Times New Roman" panose="02020603050405020304" pitchFamily="18" charset="0"/>
              </a:rPr>
              <a:t>是从</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dirty="0" smtClean="0">
                <a:latin typeface="Times New Roman" panose="02020603050405020304" pitchFamily="18" charset="0"/>
                <a:cs typeface="Times New Roman" panose="02020603050405020304" pitchFamily="18" charset="0"/>
              </a:rPr>
              <a:t>中选中的</a:t>
            </a:r>
            <a:r>
              <a:rPr lang="en-US" altLang="zh-CN" sz="2400" b="1" i="1" dirty="0"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1</a:t>
            </a:r>
            <a:endParaRPr lang="en-US" altLang="zh-CN" sz="2400" b="1" dirty="0" smtClean="0">
              <a:latin typeface="Times New Roman" panose="02020603050405020304" pitchFamily="18" charset="0"/>
              <a:cs typeface="Times New Roman" panose="02020603050405020304" pitchFamily="18" charset="0"/>
            </a:endParaRPr>
          </a:p>
          <a:p>
            <a:pPr>
              <a:lnSpc>
                <a:spcPts val="2800"/>
              </a:lnSpc>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条边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由归纳假设</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dirty="0" smtClean="0">
                <a:latin typeface="Times New Roman" panose="02020603050405020304" pitchFamily="18" charset="0"/>
                <a:cs typeface="Times New Roman" panose="02020603050405020304" pitchFamily="18" charset="0"/>
              </a:rPr>
              <a:t>是连通的</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而</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连接</a:t>
            </a:r>
            <a:r>
              <a:rPr lang="en-US" altLang="zh-CN" sz="2400" b="1" i="1" dirty="0" smtClean="0">
                <a:latin typeface="Times New Roman" panose="02020603050405020304" pitchFamily="18" charset="0"/>
                <a:cs typeface="Times New Roman" panose="02020603050405020304" pitchFamily="18" charset="0"/>
              </a:rPr>
              <a:t>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rPr>
              <a:t>和</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故</a:t>
            </a:r>
            <a:r>
              <a:rPr lang="en-US" altLang="zh-CN" sz="2400" b="1" i="1" dirty="0" smtClean="0">
                <a:latin typeface="Times New Roman" panose="02020603050405020304" pitchFamily="18" charset="0"/>
                <a:cs typeface="Times New Roman" panose="02020603050405020304" pitchFamily="18" charset="0"/>
              </a:rPr>
              <a:t>T</a:t>
            </a:r>
            <a:r>
              <a:rPr lang="zh-CN" altLang="en-US" sz="2400" b="1" dirty="0" smtClean="0">
                <a:latin typeface="Times New Roman" panose="02020603050405020304" pitchFamily="18" charset="0"/>
                <a:cs typeface="Times New Roman" panose="02020603050405020304" pitchFamily="18" charset="0"/>
              </a:rPr>
              <a:t>连通</a:t>
            </a:r>
            <a:r>
              <a:rPr lang="en-US" altLang="zh-CN" sz="2400" b="1" dirty="0" smtClean="0">
                <a:latin typeface="Times New Roman" panose="02020603050405020304" pitchFamily="18" charset="0"/>
                <a:cs typeface="Times New Roman" panose="02020603050405020304" pitchFamily="18" charset="0"/>
              </a:rPr>
              <a:t>. </a:t>
            </a:r>
            <a:endParaRPr lang="en-US" altLang="zh-CN" sz="2400" b="1" i="1" dirty="0" smtClean="0">
              <a:latin typeface="Times New Roman" panose="02020603050405020304" pitchFamily="18" charset="0"/>
              <a:cs typeface="Times New Roman" panose="02020603050405020304" pitchFamily="18" charset="0"/>
            </a:endParaRPr>
          </a:p>
          <a:p>
            <a:pPr>
              <a:lnSpc>
                <a:spcPts val="2800"/>
              </a:lnSpc>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若 </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&gt;</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类似可证</a:t>
            </a:r>
            <a:r>
              <a:rPr lang="en-US" altLang="zh-CN" sz="2400" b="1" i="1" dirty="0" smtClean="0">
                <a:latin typeface="Times New Roman" panose="02020603050405020304" pitchFamily="18" charset="0"/>
                <a:cs typeface="Times New Roman" panose="02020603050405020304" pitchFamily="18" charset="0"/>
              </a:rPr>
              <a:t>T</a:t>
            </a:r>
            <a:r>
              <a:rPr lang="zh-CN" altLang="en-US" sz="2400" b="1" dirty="0" smtClean="0">
                <a:latin typeface="Times New Roman" panose="02020603050405020304" pitchFamily="18" charset="0"/>
                <a:cs typeface="Times New Roman" panose="02020603050405020304" pitchFamily="18" charset="0"/>
              </a:rPr>
              <a:t>连通</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若</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设选中</a:t>
            </a:r>
            <a:r>
              <a:rPr lang="en-US" altLang="zh-CN" sz="2400" b="1" dirty="0" smtClean="0">
                <a:latin typeface="Times New Roman" panose="02020603050405020304" pitchFamily="18" charset="0"/>
                <a:cs typeface="Times New Roman" panose="02020603050405020304" pitchFamily="18" charset="0"/>
              </a:rPr>
              <a:t>2</a:t>
            </a:r>
            <a:r>
              <a:rPr lang="zh-CN" altLang="en-US" sz="2400" b="1" dirty="0" smtClean="0">
                <a:latin typeface="Times New Roman" panose="02020603050405020304" pitchFamily="18" charset="0"/>
                <a:cs typeface="Times New Roman" panose="02020603050405020304" pitchFamily="18" charset="0"/>
              </a:rPr>
              <a:t>条边</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另一条</a:t>
            </a:r>
            <a:endParaRPr lang="en-US" altLang="zh-CN" sz="2400" b="1" dirty="0" smtClean="0">
              <a:latin typeface="Times New Roman" panose="02020603050405020304" pitchFamily="18" charset="0"/>
              <a:cs typeface="Times New Roman" panose="02020603050405020304" pitchFamily="18" charset="0"/>
            </a:endParaRPr>
          </a:p>
          <a:p>
            <a:pPr>
              <a:lnSpc>
                <a:spcPts val="2800"/>
              </a:lnSpc>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与 </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 </a:t>
            </a:r>
            <a:r>
              <a:rPr lang="zh-CN" altLang="en-US" sz="2400" b="1" dirty="0" smtClean="0">
                <a:latin typeface="Times New Roman" panose="02020603050405020304" pitchFamily="18" charset="0"/>
                <a:cs typeface="Times New Roman" panose="02020603050405020304" pitchFamily="18" charset="0"/>
              </a:rPr>
              <a:t>或与</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zh-CN" altLang="en-US" sz="2400" b="1" dirty="0" smtClean="0">
                <a:latin typeface="Times New Roman" panose="02020603050405020304" pitchFamily="18" charset="0"/>
                <a:cs typeface="Times New Roman" panose="02020603050405020304" pitchFamily="18" charset="0"/>
              </a:rPr>
              <a:t>关联</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设为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k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删去</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zh-CN" altLang="en-US" sz="2400" b="1" dirty="0" smtClean="0">
                <a:latin typeface="Times New Roman" panose="02020603050405020304" pitchFamily="18" charset="0"/>
                <a:cs typeface="Times New Roman" panose="02020603050405020304" pitchFamily="18" charset="0"/>
              </a:rPr>
              <a:t>和</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zh-CN" altLang="en-US" sz="2400" b="1" dirty="0" smtClean="0">
                <a:latin typeface="Times New Roman" panose="02020603050405020304" pitchFamily="18" charset="0"/>
                <a:cs typeface="Times New Roman" panose="02020603050405020304" pitchFamily="18" charset="0"/>
              </a:rPr>
              <a:t>及其关联的边</a:t>
            </a:r>
            <a:endParaRPr lang="en-US" altLang="zh-CN" sz="2400" b="1" dirty="0" smtClean="0">
              <a:latin typeface="Times New Roman" panose="02020603050405020304" pitchFamily="18" charset="0"/>
              <a:cs typeface="Times New Roman" panose="02020603050405020304" pitchFamily="18" charset="0"/>
            </a:endParaRPr>
          </a:p>
          <a:p>
            <a:pPr>
              <a:lnSpc>
                <a:spcPts val="2800"/>
              </a:lnSpc>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记作</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删去</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zh-CN" altLang="en-US" sz="2400" b="1" dirty="0" smtClean="0">
                <a:latin typeface="Times New Roman" panose="02020603050405020304" pitchFamily="18" charset="0"/>
                <a:cs typeface="Times New Roman" panose="02020603050405020304" pitchFamily="18" charset="0"/>
              </a:rPr>
              <a:t>和</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zh-CN" altLang="en-US" sz="2400" b="1" dirty="0" smtClean="0">
                <a:latin typeface="Times New Roman" panose="02020603050405020304" pitchFamily="18" charset="0"/>
                <a:cs typeface="Times New Roman" panose="02020603050405020304" pitchFamily="18" charset="0"/>
              </a:rPr>
              <a:t>及</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和</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记作</a:t>
            </a:r>
            <a:r>
              <a:rPr lang="en-US" altLang="zh-CN" sz="2400" b="1" i="1" dirty="0" smtClean="0">
                <a:latin typeface="Times New Roman" panose="02020603050405020304" pitchFamily="18" charset="0"/>
                <a:cs typeface="Times New Roman" panose="02020603050405020304" pitchFamily="18" charset="0"/>
              </a:rPr>
              <a:t>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dirty="0" smtClean="0">
                <a:latin typeface="Times New Roman" panose="02020603050405020304" pitchFamily="18" charset="0"/>
                <a:cs typeface="Times New Roman" panose="02020603050405020304" pitchFamily="18" charset="0"/>
              </a:rPr>
              <a:t>是</a:t>
            </a:r>
            <a:r>
              <a:rPr lang="en-US" altLang="zh-CN" sz="2400" b="1" i="1" dirty="0"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阶完全</a:t>
            </a:r>
            <a:endParaRPr lang="en-US" altLang="zh-CN" sz="2400" b="1" dirty="0" smtClean="0">
              <a:latin typeface="Times New Roman" panose="02020603050405020304" pitchFamily="18" charset="0"/>
              <a:cs typeface="Times New Roman" panose="02020603050405020304" pitchFamily="18" charset="0"/>
            </a:endParaRPr>
          </a:p>
          <a:p>
            <a:pPr marL="0" indent="0">
              <a:lnSpc>
                <a:spcPts val="2800"/>
              </a:lnSpc>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二部图</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rPr>
              <a:t>是从</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dirty="0" smtClean="0">
                <a:latin typeface="Times New Roman" panose="02020603050405020304" pitchFamily="18" charset="0"/>
                <a:cs typeface="Times New Roman" panose="02020603050405020304" pitchFamily="18" charset="0"/>
              </a:rPr>
              <a:t>中选中的</a:t>
            </a:r>
            <a:r>
              <a:rPr lang="en-US" altLang="zh-CN" sz="2400" b="1" i="1" dirty="0"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2</a:t>
            </a:r>
            <a:r>
              <a:rPr lang="zh-CN" altLang="en-US" sz="2400" b="1" dirty="0" smtClean="0">
                <a:latin typeface="Times New Roman" panose="02020603050405020304" pitchFamily="18" charset="0"/>
                <a:cs typeface="Times New Roman" panose="02020603050405020304" pitchFamily="18" charset="0"/>
              </a:rPr>
              <a:t>条边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由归纳假设</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rPr>
              <a:t>连通</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而</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连接</a:t>
            </a:r>
            <a:r>
              <a:rPr lang="en-US" altLang="zh-CN" sz="2400" b="1" i="1" dirty="0" smtClean="0">
                <a:latin typeface="Times New Roman" panose="02020603050405020304" pitchFamily="18" charset="0"/>
                <a:cs typeface="Times New Roman" panose="02020603050405020304" pitchFamily="18" charset="0"/>
              </a:rPr>
              <a:t>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rPr>
              <a:t>和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故</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连通</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即当 </a:t>
            </a:r>
            <a:r>
              <a:rPr lang="en-US" altLang="zh-CN" sz="2400" b="1" i="1" dirty="0" err="1" smtClean="0">
                <a:latin typeface="Times New Roman" panose="02020603050405020304" pitchFamily="18" charset="0"/>
                <a:cs typeface="Times New Roman" panose="02020603050405020304" pitchFamily="18" charset="0"/>
              </a:rPr>
              <a:t>m</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时结论成立</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lnSpc>
                <a:spcPts val="2800"/>
              </a:lnSpc>
              <a:buFont typeface="Arial" panose="020B0604020202020204" pitchFamily="34" charset="0"/>
              <a:buNone/>
              <a:defRPr/>
            </a:pPr>
            <a:endParaRPr lang="zh-CN" altLang="en-US" sz="2400" b="1" dirty="0" smtClean="0">
              <a:latin typeface="Times New Roman" panose="02020603050405020304" pitchFamily="18" charset="0"/>
              <a:cs typeface="Times New Roman" panose="02020603050405020304" pitchFamily="18" charset="0"/>
            </a:endParaRPr>
          </a:p>
        </p:txBody>
      </p:sp>
      <p:sp>
        <p:nvSpPr>
          <p:cNvPr id="6758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AA072E2-9AAA-40D7-88AE-21E6CB13EB05}"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a:xfrm>
            <a:off x="457200" y="28575"/>
            <a:ext cx="8229600" cy="1143000"/>
          </a:xfrm>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7.3.2 </a:t>
            </a:r>
            <a:r>
              <a:rPr lang="zh-CN" altLang="en-US" sz="4000" b="1" smtClean="0">
                <a:solidFill>
                  <a:srgbClr val="C00000"/>
                </a:solidFill>
                <a:latin typeface="Times New Roman" panose="02020603050405020304" pitchFamily="18" charset="0"/>
                <a:cs typeface="Times New Roman" panose="02020603050405020304" pitchFamily="18" charset="0"/>
              </a:rPr>
              <a:t>改进调运方案</a:t>
            </a:r>
            <a:endParaRPr lang="zh-CN" altLang="en-US" sz="4000" smtClean="0">
              <a:solidFill>
                <a:srgbClr val="C00000"/>
              </a:solidFill>
              <a:latin typeface="Times New Roman" panose="02020603050405020304" pitchFamily="18" charset="0"/>
              <a:cs typeface="Times New Roman" panose="02020603050405020304" pitchFamily="18" charset="0"/>
            </a:endParaRPr>
          </a:p>
        </p:txBody>
      </p:sp>
      <p:sp>
        <p:nvSpPr>
          <p:cNvPr id="68611" name="内容占位符 2"/>
          <p:cNvSpPr>
            <a:spLocks noGrp="1" noRot="1" noChangeAspect="1" noMove="1" noResize="1" noEditPoints="1" noAdjustHandles="1" noChangeArrowheads="1" noChangeShapeType="1" noTextEdit="1"/>
          </p:cNvSpPr>
          <p:nvPr>
            <p:ph idx="1"/>
          </p:nvPr>
        </p:nvSpPr>
        <p:spPr>
          <a:xfrm>
            <a:off x="305780" y="1170856"/>
            <a:ext cx="8532440" cy="4900613"/>
          </a:xfrm>
          <a:blipFill>
            <a:blip r:embed="rId1"/>
            <a:stretch>
              <a:fillRect l="-1071" t="-1368" r="-2643"/>
            </a:stretch>
          </a:blipFill>
        </p:spPr>
        <p:txBody>
          <a:bodyPr/>
          <a:lstStyle/>
          <a:p>
            <a:pPr>
              <a:defRPr/>
            </a:pPr>
            <a:r>
              <a:rPr lang="zh-CN" altLang="en-US">
                <a:noFill/>
              </a:rPr>
              <a:t> </a:t>
            </a:r>
            <a:endParaRPr lang="zh-CN" altLang="en-US">
              <a:noFill/>
            </a:endParaRPr>
          </a:p>
        </p:txBody>
      </p:sp>
      <p:sp>
        <p:nvSpPr>
          <p:cNvPr id="6861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63E7DC62-543E-46A9-93A8-BC68B4BAF224}"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a:xfrm>
            <a:off x="460375" y="68263"/>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改进调运方案</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69635" name="内容占位符 2"/>
          <p:cNvSpPr>
            <a:spLocks noGrp="1" noRot="1" noChangeAspect="1" noMove="1" noResize="1" noEditPoints="1" noAdjustHandles="1" noChangeArrowheads="1" noChangeShapeType="1" noTextEdit="1"/>
          </p:cNvSpPr>
          <p:nvPr>
            <p:ph idx="1"/>
          </p:nvPr>
        </p:nvSpPr>
        <p:spPr>
          <a:xfrm>
            <a:off x="395536" y="1218563"/>
            <a:ext cx="8501779" cy="5137788"/>
          </a:xfrm>
          <a:blipFill>
            <a:blip r:embed="rId1"/>
            <a:stretch>
              <a:fillRect l="-1147" t="-1305" r="-502" b="-4152"/>
            </a:stretch>
          </a:blipFill>
        </p:spPr>
        <p:txBody>
          <a:bodyPr/>
          <a:lstStyle/>
          <a:p>
            <a:pPr>
              <a:defRPr/>
            </a:pPr>
            <a:r>
              <a:rPr lang="zh-CN" altLang="en-US">
                <a:noFill/>
              </a:rPr>
              <a:t> </a:t>
            </a:r>
            <a:endParaRPr lang="zh-CN" altLang="en-US">
              <a:noFill/>
            </a:endParaRPr>
          </a:p>
        </p:txBody>
      </p:sp>
      <p:sp>
        <p:nvSpPr>
          <p:cNvPr id="6963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90938336-765F-45DF-B1C7-7D00BC3A6A86}" type="slidenum">
              <a:rPr lang="zh-CN" altLang="en-US" sz="1200" smtClean="0">
                <a:solidFill>
                  <a:srgbClr val="898989"/>
                </a:solidFill>
              </a:rPr>
            </a:fld>
            <a:endParaRPr lang="zh-CN" altLang="en-US" sz="1200" smtClean="0">
              <a:solidFill>
                <a:srgbClr val="898989"/>
              </a:solidFill>
            </a:endParaRPr>
          </a:p>
        </p:txBody>
      </p:sp>
      <p:grpSp>
        <p:nvGrpSpPr>
          <p:cNvPr id="69637" name="组合 30"/>
          <p:cNvGrpSpPr/>
          <p:nvPr/>
        </p:nvGrpSpPr>
        <p:grpSpPr bwMode="auto">
          <a:xfrm>
            <a:off x="3592513" y="4076700"/>
            <a:ext cx="2386012" cy="1081088"/>
            <a:chOff x="4786314" y="5131370"/>
            <a:chExt cx="1857388" cy="869398"/>
          </a:xfrm>
        </p:grpSpPr>
        <p:sp>
          <p:nvSpPr>
            <p:cNvPr id="5" name="椭圆 4"/>
            <p:cNvSpPr/>
            <p:nvPr/>
          </p:nvSpPr>
          <p:spPr>
            <a:xfrm>
              <a:off x="4786314" y="5215629"/>
              <a:ext cx="143351" cy="14298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6" name="椭圆 5"/>
            <p:cNvSpPr/>
            <p:nvPr/>
          </p:nvSpPr>
          <p:spPr>
            <a:xfrm>
              <a:off x="5215132" y="5215629"/>
              <a:ext cx="142116" cy="14298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椭圆 6"/>
            <p:cNvSpPr/>
            <p:nvPr/>
          </p:nvSpPr>
          <p:spPr>
            <a:xfrm>
              <a:off x="5643950" y="5215629"/>
              <a:ext cx="142115" cy="14298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8" name="椭圆 7"/>
            <p:cNvSpPr/>
            <p:nvPr/>
          </p:nvSpPr>
          <p:spPr>
            <a:xfrm>
              <a:off x="6072768" y="5215629"/>
              <a:ext cx="142116" cy="14298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9" name="椭圆 8"/>
            <p:cNvSpPr/>
            <p:nvPr/>
          </p:nvSpPr>
          <p:spPr>
            <a:xfrm>
              <a:off x="4786314" y="5714799"/>
              <a:ext cx="143351" cy="14298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0" name="椭圆 9"/>
            <p:cNvSpPr/>
            <p:nvPr/>
          </p:nvSpPr>
          <p:spPr>
            <a:xfrm>
              <a:off x="5215132" y="5714799"/>
              <a:ext cx="142116" cy="14298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1" name="椭圆 10"/>
            <p:cNvSpPr/>
            <p:nvPr/>
          </p:nvSpPr>
          <p:spPr>
            <a:xfrm>
              <a:off x="5643950" y="5714799"/>
              <a:ext cx="142115" cy="14298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2" name="椭圆 11"/>
            <p:cNvSpPr/>
            <p:nvPr/>
          </p:nvSpPr>
          <p:spPr>
            <a:xfrm>
              <a:off x="6072768" y="5714799"/>
              <a:ext cx="142116" cy="14298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cxnSp>
          <p:nvCxnSpPr>
            <p:cNvPr id="14" name="直接连接符 13"/>
            <p:cNvCxnSpPr>
              <a:stCxn id="5" idx="5"/>
            </p:cNvCxnSpPr>
            <p:nvPr/>
          </p:nvCxnSpPr>
          <p:spPr>
            <a:xfrm rot="16200000" flipH="1">
              <a:off x="5052251" y="5194592"/>
              <a:ext cx="448104" cy="7352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6" idx="3"/>
              <a:endCxn id="9" idx="7"/>
            </p:cNvCxnSpPr>
            <p:nvPr/>
          </p:nvCxnSpPr>
          <p:spPr>
            <a:xfrm rot="5400000">
              <a:off x="4873879" y="5372964"/>
              <a:ext cx="397038" cy="3274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6" idx="4"/>
              <a:endCxn id="10" idx="0"/>
            </p:cNvCxnSpPr>
            <p:nvPr/>
          </p:nvCxnSpPr>
          <p:spPr>
            <a:xfrm rot="5400000">
              <a:off x="5108097" y="5534852"/>
              <a:ext cx="356185" cy="3708"/>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6" idx="5"/>
              <a:endCxn id="11" idx="1"/>
            </p:cNvCxnSpPr>
            <p:nvPr/>
          </p:nvCxnSpPr>
          <p:spPr>
            <a:xfrm rot="16200000" flipH="1">
              <a:off x="5302080" y="5373583"/>
              <a:ext cx="397038" cy="326248"/>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7" idx="3"/>
              <a:endCxn id="10" idx="7"/>
            </p:cNvCxnSpPr>
            <p:nvPr/>
          </p:nvCxnSpPr>
          <p:spPr>
            <a:xfrm rot="5400000">
              <a:off x="5302080" y="5373583"/>
              <a:ext cx="397038" cy="326248"/>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8" idx="3"/>
              <a:endCxn id="11" idx="7"/>
            </p:cNvCxnSpPr>
            <p:nvPr/>
          </p:nvCxnSpPr>
          <p:spPr>
            <a:xfrm rot="5400000">
              <a:off x="5730897" y="5373583"/>
              <a:ext cx="397038" cy="326248"/>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7" idx="5"/>
              <a:endCxn id="12" idx="1"/>
            </p:cNvCxnSpPr>
            <p:nvPr/>
          </p:nvCxnSpPr>
          <p:spPr>
            <a:xfrm rot="16200000" flipH="1">
              <a:off x="5730897" y="5373583"/>
              <a:ext cx="397038" cy="326248"/>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8" idx="4"/>
              <a:endCxn id="12" idx="0"/>
            </p:cNvCxnSpPr>
            <p:nvPr/>
          </p:nvCxnSpPr>
          <p:spPr>
            <a:xfrm rot="5400000">
              <a:off x="5965734" y="5534852"/>
              <a:ext cx="356185" cy="370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9654" name="TextBox 28"/>
            <p:cNvSpPr txBox="1">
              <a:spLocks noChangeArrowheads="1"/>
            </p:cNvSpPr>
            <p:nvPr/>
          </p:nvSpPr>
          <p:spPr bwMode="auto">
            <a:xfrm>
              <a:off x="6143636" y="5631436"/>
              <a:ext cx="5000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i="1">
                  <a:latin typeface="Times New Roman" panose="02020603050405020304" pitchFamily="18" charset="0"/>
                  <a:cs typeface="Times New Roman" panose="02020603050405020304" pitchFamily="18" charset="0"/>
                </a:rPr>
                <a:t>A</a:t>
              </a:r>
              <a:r>
                <a:rPr lang="en-US" altLang="zh-CN" sz="1800" b="1" i="1" baseline="-25000">
                  <a:latin typeface="Times New Roman" panose="02020603050405020304" pitchFamily="18" charset="0"/>
                  <a:cs typeface="Times New Roman" panose="02020603050405020304" pitchFamily="18" charset="0"/>
                </a:rPr>
                <a:t>i</a:t>
              </a:r>
              <a:endParaRPr lang="zh-CN" altLang="en-US" sz="1800" b="1" i="1">
                <a:latin typeface="Times New Roman" panose="02020603050405020304" pitchFamily="18" charset="0"/>
                <a:cs typeface="Times New Roman" panose="02020603050405020304" pitchFamily="18" charset="0"/>
              </a:endParaRPr>
            </a:p>
          </p:txBody>
        </p:sp>
        <p:sp>
          <p:nvSpPr>
            <p:cNvPr id="69655" name="TextBox 29"/>
            <p:cNvSpPr txBox="1">
              <a:spLocks noChangeArrowheads="1"/>
            </p:cNvSpPr>
            <p:nvPr/>
          </p:nvSpPr>
          <p:spPr bwMode="auto">
            <a:xfrm>
              <a:off x="6143636" y="5131370"/>
              <a:ext cx="5000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1" i="1">
                  <a:latin typeface="Times New Roman" panose="02020603050405020304" pitchFamily="18" charset="0"/>
                  <a:cs typeface="Times New Roman" panose="02020603050405020304" pitchFamily="18" charset="0"/>
                </a:rPr>
                <a:t>B</a:t>
              </a:r>
              <a:r>
                <a:rPr lang="en-US" altLang="zh-CN" sz="1800" b="1" i="1" baseline="-25000">
                  <a:latin typeface="Times New Roman" panose="02020603050405020304" pitchFamily="18" charset="0"/>
                  <a:cs typeface="Times New Roman" panose="02020603050405020304" pitchFamily="18" charset="0"/>
                </a:rPr>
                <a:t>j</a:t>
              </a:r>
              <a:endParaRPr lang="zh-CN" altLang="en-US" sz="1800" b="1" i="1">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a:xfrm>
            <a:off x="457200" y="214313"/>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改进调运方案</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70659" name="内容占位符 2"/>
          <p:cNvSpPr>
            <a:spLocks noGrp="1"/>
          </p:cNvSpPr>
          <p:nvPr>
            <p:ph idx="1"/>
          </p:nvPr>
        </p:nvSpPr>
        <p:spPr>
          <a:xfrm>
            <a:off x="457200" y="1371600"/>
            <a:ext cx="8229600" cy="4972050"/>
          </a:xfrm>
        </p:spPr>
        <p:txBody>
          <a:bodyPr/>
          <a:lstStyle/>
          <a:p>
            <a:pPr>
              <a:buFont typeface="Arial" panose="020B0604020202020204" pitchFamily="34" charset="0"/>
              <a:buNone/>
              <a:defRPr/>
            </a:pPr>
            <a:r>
              <a:rPr lang="zh-CN" altLang="en-US" sz="2400" b="1" dirty="0" smtClean="0">
                <a:solidFill>
                  <a:srgbClr val="C00000"/>
                </a:solidFill>
                <a:latin typeface="Times New Roman" panose="02020603050405020304" pitchFamily="18" charset="0"/>
                <a:cs typeface="Times New Roman" panose="02020603050405020304" pitchFamily="18" charset="0"/>
              </a:rPr>
              <a:t>选中边变换</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设 </a:t>
            </a:r>
            <a:r>
              <a:rPr lang="en-US" altLang="zh-CN" sz="2400" b="1" i="1" dirty="0" smtClean="0">
                <a:latin typeface="Times New Roman" panose="02020603050405020304" pitchFamily="18" charset="0"/>
                <a:cs typeface="Times New Roman" panose="02020603050405020304" pitchFamily="18" charset="0"/>
              </a:rPr>
              <a:t>e </a:t>
            </a:r>
            <a:r>
              <a:rPr lang="zh-CN" altLang="en-US" sz="2400" b="1" dirty="0" smtClean="0">
                <a:latin typeface="Times New Roman" panose="02020603050405020304" pitchFamily="18" charset="0"/>
                <a:cs typeface="Times New Roman" panose="02020603050405020304" pitchFamily="18" charset="0"/>
              </a:rPr>
              <a:t>是 </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ij</a:t>
            </a:r>
            <a:r>
              <a:rPr lang="zh-CN" altLang="en-US" sz="2400" b="1" dirty="0" smtClean="0">
                <a:latin typeface="Times New Roman" panose="02020603050405020304" pitchFamily="18" charset="0"/>
                <a:cs typeface="Times New Roman" panose="02020603050405020304" pitchFamily="18" charset="0"/>
              </a:rPr>
              <a:t>上第偶数条边中 </a:t>
            </a:r>
            <a:r>
              <a:rPr lang="en-US" altLang="zh-CN" sz="2400" b="1" i="1" dirty="0" smtClean="0">
                <a:latin typeface="Times New Roman" panose="02020603050405020304" pitchFamily="18" charset="0"/>
                <a:cs typeface="Times New Roman" panose="02020603050405020304" pitchFamily="18" charset="0"/>
              </a:rPr>
              <a:t>x </a:t>
            </a:r>
            <a:r>
              <a:rPr lang="zh-CN" altLang="en-US" sz="2400" b="1" dirty="0" smtClean="0">
                <a:latin typeface="Times New Roman" panose="02020603050405020304" pitchFamily="18" charset="0"/>
                <a:cs typeface="Times New Roman" panose="02020603050405020304" pitchFamily="18" charset="0"/>
              </a:rPr>
              <a:t>值最小 </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等于</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的</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边 </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若有多条</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任取一条</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x</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rPr>
              <a:t>在 </a:t>
            </a:r>
            <a:r>
              <a:rPr lang="en-US" altLang="zh-CN" sz="2400" b="1" i="1" dirty="0" smtClean="0">
                <a:latin typeface="Times New Roman" panose="02020603050405020304" pitchFamily="18" charset="0"/>
                <a:cs typeface="Times New Roman" panose="02020603050405020304" pitchFamily="18" charset="0"/>
              </a:rPr>
              <a:t>e </a:t>
            </a:r>
            <a:r>
              <a:rPr lang="zh-CN" altLang="en-US" sz="2400" b="1" dirty="0" smtClean="0">
                <a:latin typeface="Times New Roman" panose="02020603050405020304" pitchFamily="18" charset="0"/>
                <a:cs typeface="Times New Roman" panose="02020603050405020304" pitchFamily="18" charset="0"/>
              </a:rPr>
              <a:t>上的值为 </a:t>
            </a:r>
            <a:r>
              <a:rPr lang="en-US" altLang="zh-CN" sz="2400" b="1" dirty="0" smtClean="0">
                <a:latin typeface="Times New Roman" panose="02020603050405020304" pitchFamily="18" charset="0"/>
                <a:cs typeface="Times New Roman" panose="02020603050405020304" pitchFamily="18" charset="0"/>
              </a:rPr>
              <a:t>0.  </a:t>
            </a:r>
            <a:r>
              <a:rPr lang="zh-CN" altLang="en-US" sz="2400" b="1" dirty="0" smtClean="0">
                <a:latin typeface="Times New Roman" panose="02020603050405020304" pitchFamily="18" charset="0"/>
                <a:cs typeface="Times New Roman" panose="02020603050405020304" pitchFamily="18" charset="0"/>
              </a:rPr>
              <a:t>从 </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中删去 </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加入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记作</a:t>
            </a:r>
            <a:r>
              <a:rPr lang="en-US" altLang="zh-CN" sz="2400" b="1" i="1" dirty="0" smtClean="0">
                <a:latin typeface="Times New Roman" panose="02020603050405020304" pitchFamily="18" charset="0"/>
                <a:cs typeface="Times New Roman" panose="02020603050405020304" pitchFamily="18" charset="0"/>
              </a:rPr>
              <a:t>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称作</a:t>
            </a:r>
            <a:r>
              <a:rPr lang="zh-CN" altLang="en-US" sz="2400" b="1" dirty="0" smtClean="0">
                <a:solidFill>
                  <a:srgbClr val="C00000"/>
                </a:solidFill>
                <a:latin typeface="Times New Roman" panose="02020603050405020304" pitchFamily="18" charset="0"/>
                <a:cs typeface="Times New Roman" panose="02020603050405020304" pitchFamily="18" charset="0"/>
              </a:rPr>
              <a:t>换入边</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e </a:t>
            </a:r>
            <a:r>
              <a:rPr lang="zh-CN" altLang="en-US" sz="2400" b="1" dirty="0" smtClean="0">
                <a:latin typeface="Times New Roman" panose="02020603050405020304" pitchFamily="18" charset="0"/>
                <a:cs typeface="Times New Roman" panose="02020603050405020304" pitchFamily="18" charset="0"/>
              </a:rPr>
              <a:t>称作</a:t>
            </a:r>
            <a:r>
              <a:rPr lang="zh-CN" altLang="en-US" sz="2400" b="1" dirty="0" smtClean="0">
                <a:solidFill>
                  <a:srgbClr val="C00000"/>
                </a:solidFill>
                <a:latin typeface="Times New Roman" panose="02020603050405020304" pitchFamily="18" charset="0"/>
                <a:cs typeface="Times New Roman" panose="02020603050405020304" pitchFamily="18" charset="0"/>
              </a:rPr>
              <a:t>换出边</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x</a:t>
            </a:r>
            <a:r>
              <a:rPr lang="en-US" altLang="zh-CN" sz="2400" b="1" i="1" baseline="-25000" dirty="0" err="1" smtClean="0">
                <a:latin typeface="Times New Roman" panose="02020603050405020304" pitchFamily="18" charset="0"/>
                <a:cs typeface="Times New Roman" panose="02020603050405020304" pitchFamily="18" charset="0"/>
              </a:rPr>
              <a:t>ij</a:t>
            </a:r>
            <a:r>
              <a:rPr lang="zh-CN" altLang="en-US" sz="2400" b="1" dirty="0" smtClean="0">
                <a:latin typeface="Times New Roman" panose="02020603050405020304" pitchFamily="18" charset="0"/>
                <a:cs typeface="Times New Roman" panose="02020603050405020304" pitchFamily="18" charset="0"/>
              </a:rPr>
              <a:t>是</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zh-CN" altLang="en-US" sz="2400" b="1" dirty="0" smtClean="0">
                <a:solidFill>
                  <a:srgbClr val="C00000"/>
                </a:solidFill>
                <a:latin typeface="Times New Roman" panose="02020603050405020304" pitchFamily="18" charset="0"/>
                <a:cs typeface="Times New Roman" panose="02020603050405020304" pitchFamily="18" charset="0"/>
              </a:rPr>
              <a:t>换入变量</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e</a:t>
            </a:r>
            <a:r>
              <a:rPr lang="zh-CN" altLang="en-US" sz="2400" b="1" dirty="0" smtClean="0">
                <a:latin typeface="Times New Roman" panose="02020603050405020304" pitchFamily="18" charset="0"/>
                <a:cs typeface="Times New Roman" panose="02020603050405020304" pitchFamily="18" charset="0"/>
              </a:rPr>
              <a:t>上的 </a:t>
            </a:r>
            <a:r>
              <a:rPr lang="en-US" altLang="zh-CN" sz="2400" b="1" i="1" dirty="0" smtClean="0">
                <a:latin typeface="Times New Roman" panose="02020603050405020304" pitchFamily="18" charset="0"/>
                <a:cs typeface="Times New Roman" panose="02020603050405020304" pitchFamily="18" charset="0"/>
              </a:rPr>
              <a:t>x </a:t>
            </a:r>
            <a:r>
              <a:rPr lang="zh-CN" altLang="en-US" sz="2400" b="1" dirty="0" smtClean="0">
                <a:latin typeface="Times New Roman" panose="02020603050405020304" pitchFamily="18" charset="0"/>
                <a:cs typeface="Times New Roman" panose="02020603050405020304" pitchFamily="18" charset="0"/>
              </a:rPr>
              <a:t>是</a:t>
            </a:r>
            <a:r>
              <a:rPr lang="zh-CN" altLang="en-US" sz="2400" b="1" dirty="0" smtClean="0">
                <a:solidFill>
                  <a:srgbClr val="C00000"/>
                </a:solidFill>
                <a:latin typeface="Times New Roman" panose="02020603050405020304" pitchFamily="18" charset="0"/>
                <a:cs typeface="Times New Roman" panose="02020603050405020304" pitchFamily="18" charset="0"/>
              </a:rPr>
              <a:t>换出变量</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defRPr/>
            </a:pPr>
            <a:r>
              <a:rPr lang="zh-CN" altLang="en-US" sz="2400" b="1" dirty="0" smtClean="0">
                <a:solidFill>
                  <a:srgbClr val="C00000"/>
                </a:solidFill>
                <a:latin typeface="Times New Roman" panose="02020603050405020304" pitchFamily="18" charset="0"/>
                <a:cs typeface="Times New Roman" panose="02020603050405020304" pitchFamily="18" charset="0"/>
              </a:rPr>
              <a:t>引理</a:t>
            </a:r>
            <a:r>
              <a:rPr lang="en-US" altLang="zh-CN" sz="2400" b="1" dirty="0" smtClean="0">
                <a:solidFill>
                  <a:srgbClr val="C00000"/>
                </a:solidFill>
                <a:latin typeface="Times New Roman" panose="02020603050405020304" pitchFamily="18" charset="0"/>
                <a:cs typeface="Times New Roman" panose="02020603050405020304" pitchFamily="18" charset="0"/>
              </a:rPr>
              <a:t>7.13 </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设对调运方案 </a:t>
            </a:r>
            <a:r>
              <a:rPr lang="en-US" altLang="zh-CN" sz="2400" b="1" i="1" dirty="0" smtClean="0">
                <a:latin typeface="Times New Roman" panose="02020603050405020304" pitchFamily="18" charset="0"/>
                <a:cs typeface="Times New Roman" panose="02020603050405020304" pitchFamily="18" charset="0"/>
              </a:rPr>
              <a:t>x </a:t>
            </a:r>
            <a:r>
              <a:rPr lang="zh-CN" altLang="en-US" sz="2400" b="1" dirty="0" smtClean="0">
                <a:latin typeface="Times New Roman" panose="02020603050405020304" pitchFamily="18" charset="0"/>
                <a:cs typeface="Times New Roman" panose="02020603050405020304" pitchFamily="18" charset="0"/>
              </a:rPr>
              <a:t>和对应的选中边集 </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作以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spcBef>
                <a:spcPts val="600"/>
              </a:spcBef>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为换</a:t>
            </a:r>
            <a:r>
              <a:rPr lang="zh-CN" altLang="en-US" sz="2400" b="1" dirty="0" smtClean="0">
                <a:latin typeface="Times New Roman" panose="02020603050405020304" pitchFamily="18" charset="0"/>
                <a:cs typeface="Times New Roman" panose="02020603050405020304" pitchFamily="18" charset="0"/>
              </a:rPr>
              <a:t>入边的选中边变换得到 </a:t>
            </a:r>
            <a:r>
              <a:rPr lang="en-US" altLang="zh-CN" sz="2400" b="1" i="1" dirty="0" smtClean="0">
                <a:latin typeface="Times New Roman" panose="02020603050405020304" pitchFamily="18" charset="0"/>
                <a:cs typeface="Times New Roman" panose="02020603050405020304" pitchFamily="18" charset="0"/>
              </a:rPr>
              <a:t>x</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rPr>
              <a:t>和 </a:t>
            </a:r>
            <a:r>
              <a:rPr lang="en-US" altLang="zh-CN" sz="2400" b="1" i="1" dirty="0" smtClean="0">
                <a:latin typeface="Times New Roman" panose="02020603050405020304" pitchFamily="18" charset="0"/>
                <a:cs typeface="Times New Roman" panose="02020603050405020304" pitchFamily="18" charset="0"/>
              </a:rPr>
              <a:t>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换出变量的值为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则 </a:t>
            </a:r>
            <a:endParaRPr lang="en-US" altLang="zh-CN" sz="2400" b="1" dirty="0" smtClean="0">
              <a:latin typeface="Times New Roman" panose="02020603050405020304" pitchFamily="18" charset="0"/>
              <a:cs typeface="Times New Roman" panose="02020603050405020304" pitchFamily="18" charset="0"/>
            </a:endParaRPr>
          </a:p>
          <a:p>
            <a:pPr>
              <a:spcBef>
                <a:spcPts val="600"/>
              </a:spcBef>
              <a:buFont typeface="Arial" panose="020B0604020202020204" pitchFamily="34" charset="0"/>
              <a:buNone/>
              <a:defRPr/>
            </a:pPr>
            <a:r>
              <a:rPr lang="en-US" altLang="zh-CN" sz="2400" b="1" i="1" dirty="0" smtClean="0">
                <a:latin typeface="Times New Roman" panose="02020603050405020304" pitchFamily="18" charset="0"/>
                <a:cs typeface="Times New Roman" panose="02020603050405020304" pitchFamily="18" charset="0"/>
              </a:rPr>
              <a:t>x</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dirty="0" smtClean="0">
                <a:latin typeface="Times New Roman" panose="02020603050405020304" pitchFamily="18" charset="0"/>
                <a:cs typeface="Times New Roman" panose="02020603050405020304" pitchFamily="18" charset="0"/>
              </a:rPr>
              <a:t>也</a:t>
            </a:r>
            <a:r>
              <a:rPr lang="zh-CN" altLang="en-US" sz="2400" b="1" dirty="0" smtClean="0">
                <a:latin typeface="Times New Roman" panose="02020603050405020304" pitchFamily="18" charset="0"/>
                <a:cs typeface="Times New Roman" panose="02020603050405020304" pitchFamily="18" charset="0"/>
              </a:rPr>
              <a:t>是一个调运方案</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对应的选中边集为 </a:t>
            </a:r>
            <a:r>
              <a:rPr lang="en-US" altLang="zh-CN" sz="2400" b="1" i="1" dirty="0" smtClean="0">
                <a:latin typeface="Times New Roman" panose="02020603050405020304" pitchFamily="18" charset="0"/>
                <a:cs typeface="Times New Roman" panose="02020603050405020304" pitchFamily="18" charset="0"/>
              </a:rPr>
              <a:t>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且 </a:t>
            </a:r>
            <a:endParaRPr lang="en-US" altLang="zh-CN" sz="2400" b="1" dirty="0" smtClean="0">
              <a:latin typeface="Times New Roman" panose="02020603050405020304" pitchFamily="18" charset="0"/>
              <a:cs typeface="Times New Roman" panose="02020603050405020304" pitchFamily="18" charset="0"/>
            </a:endParaRPr>
          </a:p>
          <a:p>
            <a:pPr marL="0" indent="0">
              <a:spcBef>
                <a:spcPts val="600"/>
              </a:spcBef>
              <a:buFont typeface="Arial" panose="020B0604020202020204" pitchFamily="34" charset="0"/>
              <a:buNone/>
              <a:defRPr/>
            </a:pPr>
            <a:r>
              <a:rPr lang="en-US" altLang="zh-CN" sz="2800" b="1" i="1" dirty="0">
                <a:latin typeface="Times New Roman" panose="02020603050405020304" pitchFamily="18" charset="0"/>
                <a:cs typeface="Times New Roman" panose="02020603050405020304" pitchFamily="18" charset="0"/>
              </a:rPr>
              <a:t> </a:t>
            </a:r>
            <a:r>
              <a:rPr lang="en-US" altLang="zh-CN" sz="2800" b="1" i="1" dirty="0" smtClean="0">
                <a:latin typeface="Times New Roman" panose="02020603050405020304" pitchFamily="18" charset="0"/>
                <a:cs typeface="Times New Roman" panose="02020603050405020304" pitchFamily="18" charset="0"/>
              </a:rPr>
              <a:t>                          w</a:t>
            </a:r>
            <a:r>
              <a:rPr lang="en-US" altLang="zh-CN" sz="2800" b="1" dirty="0" smtClean="0">
                <a:latin typeface="Times New Roman" panose="02020603050405020304" pitchFamily="18" charset="0"/>
                <a:cs typeface="Times New Roman" panose="02020603050405020304" pitchFamily="18" charset="0"/>
              </a:rPr>
              <a:t>(</a:t>
            </a:r>
            <a:r>
              <a:rPr lang="en-US" altLang="zh-CN" sz="2800" b="1" i="1" dirty="0" smtClean="0">
                <a:latin typeface="Times New Roman" panose="02020603050405020304" pitchFamily="18" charset="0"/>
                <a:cs typeface="Times New Roman" panose="02020603050405020304" pitchFamily="18" charset="0"/>
              </a:rPr>
              <a:t>x</a:t>
            </a:r>
            <a:r>
              <a:rPr lang="en-US" altLang="zh-CN" sz="28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smtClean="0">
                <a:latin typeface="Times New Roman" panose="02020603050405020304" pitchFamily="18" charset="0"/>
                <a:cs typeface="Times New Roman" panose="02020603050405020304" pitchFamily="18" charset="0"/>
              </a:rPr>
              <a:t>) =</a:t>
            </a:r>
            <a:r>
              <a:rPr lang="en-US" altLang="zh-CN" sz="2800" b="1" i="1" dirty="0" smtClean="0">
                <a:latin typeface="Times New Roman" panose="02020603050405020304" pitchFamily="18" charset="0"/>
                <a:cs typeface="Times New Roman" panose="02020603050405020304" pitchFamily="18" charset="0"/>
              </a:rPr>
              <a:t> w</a:t>
            </a:r>
            <a:r>
              <a:rPr lang="en-US" altLang="zh-CN" sz="2800" b="1" dirty="0" smtClean="0">
                <a:latin typeface="Times New Roman" panose="02020603050405020304" pitchFamily="18" charset="0"/>
                <a:cs typeface="Times New Roman" panose="02020603050405020304" pitchFamily="18" charset="0"/>
              </a:rPr>
              <a:t>(</a:t>
            </a:r>
            <a:r>
              <a:rPr lang="en-US" altLang="zh-CN" sz="2800" b="1" i="1" dirty="0" smtClean="0">
                <a:latin typeface="Times New Roman" panose="02020603050405020304" pitchFamily="18" charset="0"/>
                <a:cs typeface="Times New Roman" panose="02020603050405020304" pitchFamily="18" charset="0"/>
              </a:rPr>
              <a:t>x</a:t>
            </a:r>
            <a:r>
              <a:rPr lang="en-US" altLang="zh-CN" sz="2800" b="1" dirty="0" smtClean="0">
                <a:latin typeface="Times New Roman" panose="02020603050405020304" pitchFamily="18" charset="0"/>
                <a:cs typeface="Times New Roman" panose="02020603050405020304" pitchFamily="18" charset="0"/>
              </a:rPr>
              <a:t>) + </a:t>
            </a:r>
            <a:r>
              <a:rPr lang="en-US" altLang="zh-CN" sz="28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baseline="-25000" dirty="0" err="1" smtClean="0">
                <a:latin typeface="Times New Roman" panose="02020603050405020304" pitchFamily="18" charset="0"/>
                <a:cs typeface="Times New Roman" panose="02020603050405020304" pitchFamily="18" charset="0"/>
              </a:rPr>
              <a:t>ij</a:t>
            </a:r>
            <a:endParaRPr lang="zh-CN" altLang="en-US" sz="2800" b="1" dirty="0"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defRPr/>
            </a:pPr>
            <a:r>
              <a:rPr lang="zh-CN" altLang="en-US" sz="2400" b="1" dirty="0" smtClean="0">
                <a:solidFill>
                  <a:srgbClr val="C00000"/>
                </a:solidFill>
                <a:latin typeface="Times New Roman" panose="02020603050405020304" pitchFamily="18" charset="0"/>
                <a:cs typeface="Times New Roman" panose="02020603050405020304" pitchFamily="18" charset="0"/>
              </a:rPr>
              <a:t>定理</a:t>
            </a:r>
            <a:r>
              <a:rPr lang="en-US" altLang="zh-CN" sz="2400" b="1" dirty="0" smtClean="0">
                <a:solidFill>
                  <a:srgbClr val="C00000"/>
                </a:solidFill>
                <a:latin typeface="Times New Roman" panose="02020603050405020304" pitchFamily="18" charset="0"/>
                <a:cs typeface="Times New Roman" panose="02020603050405020304" pitchFamily="18" charset="0"/>
              </a:rPr>
              <a:t>7.7</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调运方案的总费用是最小的当且仅当所有检验数</a:t>
            </a:r>
            <a:r>
              <a:rPr lang="zh-CN" altLang="en-US" sz="2400" b="1" dirty="0" smtClean="0">
                <a:latin typeface="Times New Roman" panose="02020603050405020304" pitchFamily="18" charset="0"/>
                <a:cs typeface="Times New Roman" panose="02020603050405020304" pitchFamily="18" charset="0"/>
              </a:rPr>
              <a:t>大</a:t>
            </a:r>
            <a:endParaRPr lang="en-US" altLang="zh-CN" sz="2400" b="1" dirty="0" smtClean="0">
              <a:latin typeface="Times New Roman" panose="02020603050405020304" pitchFamily="18" charset="0"/>
              <a:cs typeface="Times New Roman" panose="02020603050405020304" pitchFamily="18" charset="0"/>
            </a:endParaRPr>
          </a:p>
          <a:p>
            <a:pPr>
              <a:spcBef>
                <a:spcPts val="600"/>
              </a:spcBef>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于等于 </a:t>
            </a:r>
            <a:r>
              <a:rPr lang="en-US" altLang="zh-CN" sz="2400" b="1" dirty="0" smtClean="0">
                <a:latin typeface="Times New Roman" panose="02020603050405020304" pitchFamily="18" charset="0"/>
                <a:cs typeface="Times New Roman" panose="02020603050405020304" pitchFamily="18" charset="0"/>
              </a:rPr>
              <a:t>0.</a:t>
            </a:r>
            <a:endParaRPr lang="zh-CN" altLang="en-US" sz="2400" b="1" dirty="0" smtClean="0">
              <a:latin typeface="Times New Roman" panose="02020603050405020304" pitchFamily="18" charset="0"/>
              <a:cs typeface="Times New Roman" panose="02020603050405020304" pitchFamily="18" charset="0"/>
            </a:endParaRPr>
          </a:p>
        </p:txBody>
      </p:sp>
      <p:sp>
        <p:nvSpPr>
          <p:cNvPr id="7066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0D57BD7A-9FE4-40EF-A358-4A6F2B31D837}"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内容占位符 2"/>
          <p:cNvSpPr>
            <a:spLocks noGrp="1"/>
          </p:cNvSpPr>
          <p:nvPr>
            <p:ph idx="1"/>
          </p:nvPr>
        </p:nvSpPr>
        <p:spPr>
          <a:xfrm>
            <a:off x="468313" y="1265238"/>
            <a:ext cx="8229600" cy="5000625"/>
          </a:xfrm>
        </p:spPr>
        <p:txBody>
          <a:bodyPr/>
          <a:lstStyle/>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证</a:t>
            </a:r>
            <a:r>
              <a:rPr lang="zh-CN" altLang="en-US" sz="2400" b="1" dirty="0" smtClean="0">
                <a:latin typeface="Times New Roman" panose="02020603050405020304" pitchFamily="18" charset="0"/>
                <a:cs typeface="Times New Roman" panose="02020603050405020304" pitchFamily="18" charset="0"/>
              </a:rPr>
              <a:t>  充分性</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设所有检验数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err="1" smtClean="0">
                <a:latin typeface="Times New Roman" panose="02020603050405020304" pitchFamily="18" charset="0"/>
                <a:cs typeface="Times New Roman" panose="02020603050405020304" pitchFamily="18" charset="0"/>
              </a:rPr>
              <a:t>ij</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0, </a:t>
            </a:r>
            <a:r>
              <a:rPr lang="zh-CN" altLang="en-US" sz="2400" b="1" dirty="0" smtClean="0">
                <a:latin typeface="Times New Roman" panose="02020603050405020304" pitchFamily="18" charset="0"/>
                <a:cs typeface="Times New Roman" panose="02020603050405020304" pitchFamily="18" charset="0"/>
              </a:rPr>
              <a:t>只需证</a:t>
            </a:r>
            <a:r>
              <a:rPr lang="en-US" altLang="zh-CN" sz="2400" b="1" i="1"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没有权 </a:t>
            </a:r>
            <a:r>
              <a:rPr lang="en-US" altLang="zh-CN" sz="2400" b="1" i="1" dirty="0" smtClean="0">
                <a:latin typeface="Times New Roman" panose="02020603050405020304" pitchFamily="18" charset="0"/>
                <a:cs typeface="Times New Roman" panose="02020603050405020304" pitchFamily="18" charset="0"/>
              </a:rPr>
              <a:t>w </a:t>
            </a:r>
            <a:r>
              <a:rPr lang="zh-CN" altLang="en-US" sz="2400" b="1" dirty="0" smtClean="0">
                <a:latin typeface="Times New Roman" panose="02020603050405020304" pitchFamily="18" charset="0"/>
                <a:cs typeface="Times New Roman" panose="02020603050405020304" pitchFamily="18" charset="0"/>
              </a:rPr>
              <a:t>的负回路</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由 </a:t>
            </a:r>
            <a:r>
              <a:rPr lang="en-US" altLang="zh-CN" sz="2400" b="1" i="1" dirty="0" smtClean="0">
                <a:latin typeface="Times New Roman" panose="02020603050405020304" pitchFamily="18" charset="0"/>
                <a:cs typeface="Times New Roman" panose="02020603050405020304" pitchFamily="18" charset="0"/>
              </a:rPr>
              <a:t>w</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ij</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err="1" smtClean="0">
                <a:latin typeface="Times New Roman" panose="02020603050405020304" pitchFamily="18" charset="0"/>
                <a:cs typeface="Times New Roman" panose="02020603050405020304" pitchFamily="18" charset="0"/>
                <a:sym typeface="Symbol" panose="05050102010706020507" pitchFamily="18" charset="2"/>
              </a:rPr>
              <a:t>ij</a:t>
            </a:r>
            <a:r>
              <a:rPr lang="en-US" altLang="zh-CN" sz="2400" b="1" i="1" baseline="-25000"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基本回路都不是负回路</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假设</a:t>
            </a:r>
            <a:r>
              <a:rPr lang="en-US" altLang="zh-CN" sz="2400" b="1" i="1" dirty="0" smtClean="0">
                <a:latin typeface="Times New Roman" panose="02020603050405020304" pitchFamily="18" charset="0"/>
                <a:cs typeface="Times New Roman" panose="02020603050405020304" pitchFamily="18" charset="0"/>
              </a:rPr>
              <a:t>C</a:t>
            </a:r>
            <a:r>
              <a:rPr lang="zh-CN" altLang="en-US" sz="2400" b="1" dirty="0" smtClean="0">
                <a:latin typeface="Times New Roman" panose="02020603050405020304" pitchFamily="18" charset="0"/>
                <a:cs typeface="Times New Roman" panose="02020603050405020304" pitchFamily="18" charset="0"/>
              </a:rPr>
              <a:t>是负回路</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那么</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rPr>
              <a:t>C</a:t>
            </a:r>
            <a:r>
              <a:rPr lang="zh-CN" altLang="en-US" sz="2400" b="1" dirty="0" smtClean="0">
                <a:latin typeface="Times New Roman" panose="02020603050405020304" pitchFamily="18" charset="0"/>
                <a:cs typeface="Times New Roman" panose="02020603050405020304" pitchFamily="18" charset="0"/>
              </a:rPr>
              <a:t>至少有</a:t>
            </a:r>
            <a:r>
              <a:rPr lang="en-US" altLang="zh-CN" sz="2400" b="1" dirty="0" smtClean="0">
                <a:latin typeface="Times New Roman" panose="02020603050405020304" pitchFamily="18" charset="0"/>
                <a:cs typeface="Times New Roman" panose="02020603050405020304" pitchFamily="18" charset="0"/>
              </a:rPr>
              <a:t>2</a:t>
            </a:r>
            <a:r>
              <a:rPr lang="zh-CN" altLang="en-US" sz="2400" b="1" dirty="0" smtClean="0">
                <a:latin typeface="Times New Roman" panose="02020603050405020304" pitchFamily="18" charset="0"/>
                <a:cs typeface="Times New Roman" panose="02020603050405020304" pitchFamily="18" charset="0"/>
              </a:rPr>
              <a:t>条非选中边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任取其中一条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对应的基本回</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路 </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ij</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X</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B</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X</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Y</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X</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其中</a:t>
            </a:r>
            <a:r>
              <a:rPr lang="en-US" altLang="zh-CN" sz="2400" b="1" i="1" dirty="0" smtClean="0">
                <a:latin typeface="Times New Roman" panose="02020603050405020304" pitchFamily="18" charset="0"/>
                <a:cs typeface="Times New Roman" panose="02020603050405020304" pitchFamily="18" charset="0"/>
              </a:rPr>
              <a:t>X</a:t>
            </a:r>
            <a:r>
              <a:rPr lang="en-US" altLang="zh-CN" sz="2400" b="1" baseline="-25000" dirty="0" smtClean="0">
                <a:latin typeface="Times New Roman" panose="02020603050405020304" pitchFamily="18" charset="0"/>
                <a:cs typeface="Times New Roman" panose="02020603050405020304" pitchFamily="18" charset="0"/>
              </a:rPr>
              <a:t>1</a:t>
            </a:r>
            <a:r>
              <a:rPr lang="zh-CN" altLang="en-US" sz="2400" b="1" dirty="0" smtClean="0">
                <a:latin typeface="Times New Roman" panose="02020603050405020304" pitchFamily="18" charset="0"/>
                <a:cs typeface="Times New Roman" panose="02020603050405020304" pitchFamily="18" charset="0"/>
              </a:rPr>
              <a:t>和</a:t>
            </a:r>
            <a:r>
              <a:rPr lang="en-US" altLang="zh-CN" sz="2400" b="1" i="1" dirty="0" smtClean="0">
                <a:latin typeface="Times New Roman" panose="02020603050405020304" pitchFamily="18" charset="0"/>
                <a:cs typeface="Times New Roman" panose="02020603050405020304" pitchFamily="18" charset="0"/>
              </a:rPr>
              <a:t>X</a:t>
            </a:r>
            <a:r>
              <a:rPr lang="en-US" altLang="zh-CN" sz="2400" b="1" baseline="-25000" dirty="0" smtClean="0">
                <a:latin typeface="Times New Roman" panose="02020603050405020304" pitchFamily="18" charset="0"/>
                <a:cs typeface="Times New Roman" panose="02020603050405020304" pitchFamily="18" charset="0"/>
              </a:rPr>
              <a:t>2</a:t>
            </a:r>
            <a:r>
              <a:rPr lang="zh-CN" altLang="en-US" sz="2400" b="1" dirty="0" smtClean="0">
                <a:latin typeface="Times New Roman" panose="02020603050405020304" pitchFamily="18" charset="0"/>
                <a:cs typeface="Times New Roman" panose="02020603050405020304" pitchFamily="18" charset="0"/>
              </a:rPr>
              <a:t>分别是边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两</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侧与 </a:t>
            </a:r>
            <a:r>
              <a:rPr lang="en-US" altLang="zh-CN" sz="2400" b="1" i="1" dirty="0" smtClean="0">
                <a:latin typeface="Times New Roman" panose="02020603050405020304" pitchFamily="18" charset="0"/>
                <a:cs typeface="Times New Roman" panose="02020603050405020304" pitchFamily="18" charset="0"/>
              </a:rPr>
              <a:t>C </a:t>
            </a:r>
            <a:r>
              <a:rPr lang="zh-CN" altLang="en-US" sz="2400" b="1" dirty="0" smtClean="0">
                <a:latin typeface="Times New Roman" panose="02020603050405020304" pitchFamily="18" charset="0"/>
                <a:cs typeface="Times New Roman" panose="02020603050405020304" pitchFamily="18" charset="0"/>
              </a:rPr>
              <a:t>连续重合部分的最远端点</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C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X</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B</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X</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Z</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X</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令 </a:t>
            </a:r>
            <a:r>
              <a:rPr lang="en-US" altLang="zh-CN" sz="2400" b="1" i="1" dirty="0" smtClean="0">
                <a:latin typeface="Times New Roman" panose="02020603050405020304" pitchFamily="18" charset="0"/>
                <a:cs typeface="Times New Roman" panose="02020603050405020304" pitchFamily="18" charset="0"/>
              </a:rPr>
              <a:t>C</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X</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Z</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X</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Y</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X</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C</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dirty="0" smtClean="0">
                <a:latin typeface="Times New Roman" panose="02020603050405020304" pitchFamily="18" charset="0"/>
                <a:cs typeface="Times New Roman" panose="02020603050405020304" pitchFamily="18" charset="0"/>
              </a:rPr>
              <a:t>中</a:t>
            </a:r>
            <a:r>
              <a:rPr lang="en-US" altLang="zh-CN" sz="2400" b="1" i="1" dirty="0" smtClean="0">
                <a:latin typeface="Times New Roman" panose="02020603050405020304" pitchFamily="18" charset="0"/>
                <a:cs typeface="Times New Roman" panose="02020603050405020304" pitchFamily="18" charset="0"/>
              </a:rPr>
              <a:t>X</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Y</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X</a:t>
            </a:r>
            <a:r>
              <a:rPr lang="en-US" altLang="zh-CN" sz="2400" b="1" baseline="-25000" dirty="0" smtClean="0">
                <a:latin typeface="Times New Roman" panose="02020603050405020304" pitchFamily="18" charset="0"/>
                <a:cs typeface="Times New Roman" panose="02020603050405020304" pitchFamily="18" charset="0"/>
              </a:rPr>
              <a:t>2</a:t>
            </a:r>
            <a:r>
              <a:rPr lang="zh-CN" altLang="en-US" sz="2400" b="1" dirty="0" smtClean="0">
                <a:latin typeface="Times New Roman" panose="02020603050405020304" pitchFamily="18" charset="0"/>
                <a:cs typeface="Times New Roman" panose="02020603050405020304" pitchFamily="18" charset="0"/>
              </a:rPr>
              <a:t>与 </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ij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中</a:t>
            </a:r>
            <a:r>
              <a:rPr lang="en-US" altLang="zh-CN" sz="2400" b="1" i="1" dirty="0" smtClean="0">
                <a:latin typeface="Times New Roman" panose="02020603050405020304" pitchFamily="18" charset="0"/>
                <a:cs typeface="Times New Roman" panose="02020603050405020304" pitchFamily="18" charset="0"/>
              </a:rPr>
              <a:t>X</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Y</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X</a:t>
            </a:r>
            <a:r>
              <a:rPr lang="en-US" altLang="zh-CN" sz="2400" b="1" baseline="-25000" dirty="0" smtClean="0">
                <a:latin typeface="Times New Roman" panose="02020603050405020304" pitchFamily="18" charset="0"/>
                <a:cs typeface="Times New Roman" panose="02020603050405020304" pitchFamily="18" charset="0"/>
              </a:rPr>
              <a:t>1</a:t>
            </a:r>
            <a:endParaRPr lang="en-US" altLang="zh-CN" sz="2400" b="1" baseline="-25000"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是方向相反的同一段</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w</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ij</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w</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C</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w</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C</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推出</a:t>
            </a:r>
            <a:r>
              <a:rPr lang="en-US" altLang="zh-CN" sz="2400" b="1" i="1" dirty="0" smtClean="0">
                <a:latin typeface="Times New Roman" panose="02020603050405020304" pitchFamily="18" charset="0"/>
                <a:cs typeface="Times New Roman" panose="02020603050405020304" pitchFamily="18" charset="0"/>
              </a:rPr>
              <a:t>w</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C</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w</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C</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ij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中除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外都是选中边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因此</a:t>
            </a:r>
            <a:r>
              <a:rPr lang="en-US" altLang="zh-CN" sz="2400" b="1" i="1" dirty="0" smtClean="0">
                <a:latin typeface="Times New Roman" panose="02020603050405020304" pitchFamily="18" charset="0"/>
                <a:cs typeface="Times New Roman" panose="02020603050405020304" pitchFamily="18" charset="0"/>
              </a:rPr>
              <a:t>C</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dirty="0" smtClean="0">
                <a:latin typeface="Times New Roman" panose="02020603050405020304" pitchFamily="18" charset="0"/>
                <a:cs typeface="Times New Roman" panose="02020603050405020304" pitchFamily="18" charset="0"/>
              </a:rPr>
              <a:t>是</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比</a:t>
            </a:r>
            <a:r>
              <a:rPr lang="en-US" altLang="zh-CN" sz="2400" b="1" i="1" dirty="0" smtClean="0">
                <a:latin typeface="Times New Roman" panose="02020603050405020304" pitchFamily="18" charset="0"/>
                <a:cs typeface="Times New Roman" panose="02020603050405020304" pitchFamily="18" charset="0"/>
              </a:rPr>
              <a:t>C</a:t>
            </a:r>
            <a:r>
              <a:rPr lang="zh-CN" altLang="en-US" sz="2400" b="1" dirty="0" smtClean="0">
                <a:latin typeface="Times New Roman" panose="02020603050405020304" pitchFamily="18" charset="0"/>
                <a:cs typeface="Times New Roman" panose="02020603050405020304" pitchFamily="18" charset="0"/>
              </a:rPr>
              <a:t>少一条选中边的负回路</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重复进行</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最后得到一个只含一条选中边的负回路</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这是权为负的基本回路</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矛盾</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p:txBody>
      </p:sp>
      <p:grpSp>
        <p:nvGrpSpPr>
          <p:cNvPr id="71683" name="组合 18"/>
          <p:cNvGrpSpPr/>
          <p:nvPr/>
        </p:nvGrpSpPr>
        <p:grpSpPr bwMode="auto">
          <a:xfrm>
            <a:off x="6159500" y="4487863"/>
            <a:ext cx="2428875" cy="1778000"/>
            <a:chOff x="6503874" y="4416425"/>
            <a:chExt cx="2211530" cy="1798638"/>
          </a:xfrm>
        </p:grpSpPr>
        <p:sp>
          <p:nvSpPr>
            <p:cNvPr id="71686" name="Text Box 11"/>
            <p:cNvSpPr txBox="1">
              <a:spLocks noChangeArrowheads="1"/>
            </p:cNvSpPr>
            <p:nvPr/>
          </p:nvSpPr>
          <p:spPr bwMode="auto">
            <a:xfrm>
              <a:off x="6503874" y="4843120"/>
              <a:ext cx="387155" cy="27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1800" b="1" i="1">
                  <a:latin typeface="Times New Roman" panose="02020603050405020304" pitchFamily="18" charset="0"/>
                </a:rPr>
                <a:t>B</a:t>
              </a:r>
              <a:r>
                <a:rPr lang="en-US" altLang="zh-CN" sz="1800" b="1" i="1" baseline="-25000">
                  <a:latin typeface="Times New Roman" panose="02020603050405020304" pitchFamily="18" charset="0"/>
                </a:rPr>
                <a:t>j</a:t>
              </a:r>
              <a:endParaRPr lang="zh-CN" altLang="zh-CN" sz="1800" b="1">
                <a:latin typeface="Arial" panose="020B0604020202020204" pitchFamily="34" charset="0"/>
              </a:endParaRPr>
            </a:p>
          </p:txBody>
        </p:sp>
        <p:cxnSp>
          <p:nvCxnSpPr>
            <p:cNvPr id="71687" name="AutoShape 7"/>
            <p:cNvCxnSpPr>
              <a:cxnSpLocks noChangeShapeType="1"/>
            </p:cNvCxnSpPr>
            <p:nvPr/>
          </p:nvCxnSpPr>
          <p:spPr bwMode="auto">
            <a:xfrm>
              <a:off x="6828628" y="5091518"/>
              <a:ext cx="0" cy="22061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sp>
          <p:nvSpPr>
            <p:cNvPr id="71688" name="Freeform 8"/>
            <p:cNvSpPr/>
            <p:nvPr/>
          </p:nvSpPr>
          <p:spPr bwMode="auto">
            <a:xfrm>
              <a:off x="6828628" y="4416425"/>
              <a:ext cx="1745564" cy="1798638"/>
            </a:xfrm>
            <a:custGeom>
              <a:avLst/>
              <a:gdLst>
                <a:gd name="T0" fmla="*/ 0 w 2070"/>
                <a:gd name="T1" fmla="*/ 2147483646 h 1492"/>
                <a:gd name="T2" fmla="*/ 2147483646 w 2070"/>
                <a:gd name="T3" fmla="*/ 2147483646 h 1492"/>
                <a:gd name="T4" fmla="*/ 2147483646 w 2070"/>
                <a:gd name="T5" fmla="*/ 2147483646 h 1492"/>
                <a:gd name="T6" fmla="*/ 2147483646 w 2070"/>
                <a:gd name="T7" fmla="*/ 2147483646 h 1492"/>
                <a:gd name="T8" fmla="*/ 2147483646 w 2070"/>
                <a:gd name="T9" fmla="*/ 2147483646 h 1492"/>
                <a:gd name="T10" fmla="*/ 2147483646 w 2070"/>
                <a:gd name="T11" fmla="*/ 2147483646 h 1492"/>
                <a:gd name="T12" fmla="*/ 2147483646 w 2070"/>
                <a:gd name="T13" fmla="*/ 2147483646 h 1492"/>
                <a:gd name="T14" fmla="*/ 0 w 2070"/>
                <a:gd name="T15" fmla="*/ 2147483646 h 1492"/>
                <a:gd name="T16" fmla="*/ 0 60000 65536"/>
                <a:gd name="T17" fmla="*/ 0 60000 65536"/>
                <a:gd name="T18" fmla="*/ 0 60000 65536"/>
                <a:gd name="T19" fmla="*/ 0 60000 65536"/>
                <a:gd name="T20" fmla="*/ 0 60000 65536"/>
                <a:gd name="T21" fmla="*/ 0 60000 65536"/>
                <a:gd name="T22" fmla="*/ 0 60000 65536"/>
                <a:gd name="T23" fmla="*/ 0 60000 65536"/>
                <a:gd name="T24" fmla="*/ 0 w 2070"/>
                <a:gd name="T25" fmla="*/ 0 h 1492"/>
                <a:gd name="T26" fmla="*/ 2070 w 2070"/>
                <a:gd name="T27" fmla="*/ 1492 h 14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70" h="1492">
                  <a:moveTo>
                    <a:pt x="0" y="560"/>
                  </a:moveTo>
                  <a:cubicBezTo>
                    <a:pt x="48" y="444"/>
                    <a:pt x="96" y="329"/>
                    <a:pt x="225" y="236"/>
                  </a:cubicBezTo>
                  <a:cubicBezTo>
                    <a:pt x="354" y="143"/>
                    <a:pt x="542" y="6"/>
                    <a:pt x="774" y="3"/>
                  </a:cubicBezTo>
                  <a:cubicBezTo>
                    <a:pt x="1006" y="0"/>
                    <a:pt x="1411" y="55"/>
                    <a:pt x="1615" y="219"/>
                  </a:cubicBezTo>
                  <a:cubicBezTo>
                    <a:pt x="1819" y="383"/>
                    <a:pt x="2070" y="778"/>
                    <a:pt x="1998" y="985"/>
                  </a:cubicBezTo>
                  <a:cubicBezTo>
                    <a:pt x="1926" y="1192"/>
                    <a:pt x="1477" y="1426"/>
                    <a:pt x="1182" y="1459"/>
                  </a:cubicBezTo>
                  <a:cubicBezTo>
                    <a:pt x="887" y="1492"/>
                    <a:pt x="422" y="1304"/>
                    <a:pt x="225" y="1185"/>
                  </a:cubicBezTo>
                  <a:cubicBezTo>
                    <a:pt x="28" y="1066"/>
                    <a:pt x="37" y="817"/>
                    <a:pt x="0" y="743"/>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689" name="Freeform 9"/>
            <p:cNvSpPr/>
            <p:nvPr/>
          </p:nvSpPr>
          <p:spPr bwMode="auto">
            <a:xfrm>
              <a:off x="6949001" y="4653912"/>
              <a:ext cx="600573" cy="1066887"/>
            </a:xfrm>
            <a:custGeom>
              <a:avLst/>
              <a:gdLst>
                <a:gd name="T0" fmla="*/ 2147483646 w 738"/>
                <a:gd name="T1" fmla="*/ 2147483646 h 885"/>
                <a:gd name="T2" fmla="*/ 2147483646 w 738"/>
                <a:gd name="T3" fmla="*/ 2147483646 h 885"/>
                <a:gd name="T4" fmla="*/ 2147483646 w 738"/>
                <a:gd name="T5" fmla="*/ 2147483646 h 885"/>
                <a:gd name="T6" fmla="*/ 2147483646 w 738"/>
                <a:gd name="T7" fmla="*/ 2147483646 h 885"/>
                <a:gd name="T8" fmla="*/ 0 w 738"/>
                <a:gd name="T9" fmla="*/ 2147483646 h 885"/>
                <a:gd name="T10" fmla="*/ 0 60000 65536"/>
                <a:gd name="T11" fmla="*/ 0 60000 65536"/>
                <a:gd name="T12" fmla="*/ 0 60000 65536"/>
                <a:gd name="T13" fmla="*/ 0 60000 65536"/>
                <a:gd name="T14" fmla="*/ 0 60000 65536"/>
                <a:gd name="T15" fmla="*/ 0 w 738"/>
                <a:gd name="T16" fmla="*/ 0 h 885"/>
                <a:gd name="T17" fmla="*/ 738 w 738"/>
                <a:gd name="T18" fmla="*/ 885 h 885"/>
              </a:gdLst>
              <a:ahLst/>
              <a:cxnLst>
                <a:cxn ang="T10">
                  <a:pos x="T0" y="T1"/>
                </a:cxn>
                <a:cxn ang="T11">
                  <a:pos x="T2" y="T3"/>
                </a:cxn>
                <a:cxn ang="T12">
                  <a:pos x="T4" y="T5"/>
                </a:cxn>
                <a:cxn ang="T13">
                  <a:pos x="T6" y="T7"/>
                </a:cxn>
                <a:cxn ang="T14">
                  <a:pos x="T8" y="T9"/>
                </a:cxn>
              </a:cxnLst>
              <a:rect l="T15" t="T16" r="T17" b="T18"/>
              <a:pathLst>
                <a:path w="738" h="885">
                  <a:moveTo>
                    <a:pt x="108" y="64"/>
                  </a:moveTo>
                  <a:cubicBezTo>
                    <a:pt x="278" y="32"/>
                    <a:pt x="449" y="0"/>
                    <a:pt x="550" y="80"/>
                  </a:cubicBezTo>
                  <a:cubicBezTo>
                    <a:pt x="651" y="160"/>
                    <a:pt x="738" y="418"/>
                    <a:pt x="716" y="546"/>
                  </a:cubicBezTo>
                  <a:cubicBezTo>
                    <a:pt x="694" y="674"/>
                    <a:pt x="535" y="807"/>
                    <a:pt x="416" y="846"/>
                  </a:cubicBezTo>
                  <a:cubicBezTo>
                    <a:pt x="297" y="885"/>
                    <a:pt x="69" y="790"/>
                    <a:pt x="0" y="779"/>
                  </a:cubicBezTo>
                </a:path>
              </a:pathLst>
            </a:custGeom>
            <a:noFill/>
            <a:ln w="9525">
              <a:solidFill>
                <a:srgbClr val="0070C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690" name="Text Box 17"/>
            <p:cNvSpPr txBox="1">
              <a:spLocks noChangeArrowheads="1"/>
            </p:cNvSpPr>
            <p:nvPr/>
          </p:nvSpPr>
          <p:spPr bwMode="auto">
            <a:xfrm>
              <a:off x="6907498" y="4630686"/>
              <a:ext cx="278314" cy="361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1800">
                  <a:solidFill>
                    <a:srgbClr val="FF0000"/>
                  </a:solidFill>
                  <a:latin typeface="Times New Roman" panose="02020603050405020304" pitchFamily="18" charset="0"/>
                  <a:sym typeface="Symbol" panose="05050102010706020507" pitchFamily="18" charset="2"/>
                </a:rPr>
                <a:t></a:t>
              </a:r>
              <a:endParaRPr lang="zh-CN" altLang="zh-CN" sz="1800">
                <a:solidFill>
                  <a:srgbClr val="FF0000"/>
                </a:solidFill>
                <a:latin typeface="Arial" panose="020B0604020202020204" pitchFamily="34" charset="0"/>
              </a:endParaRPr>
            </a:p>
          </p:txBody>
        </p:sp>
        <p:sp>
          <p:nvSpPr>
            <p:cNvPr id="71691" name="Text Box 18"/>
            <p:cNvSpPr txBox="1">
              <a:spLocks noChangeArrowheads="1"/>
            </p:cNvSpPr>
            <p:nvPr/>
          </p:nvSpPr>
          <p:spPr bwMode="auto">
            <a:xfrm>
              <a:off x="6763065" y="4874343"/>
              <a:ext cx="278314" cy="361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1600">
                  <a:solidFill>
                    <a:srgbClr val="FF0000"/>
                  </a:solidFill>
                  <a:latin typeface="Times New Roman" panose="02020603050405020304" pitchFamily="18" charset="0"/>
                  <a:sym typeface="Symbol" panose="05050102010706020507" pitchFamily="18" charset="2"/>
                </a:rPr>
                <a:t></a:t>
              </a:r>
              <a:endParaRPr lang="zh-CN" altLang="zh-CN" sz="1600">
                <a:solidFill>
                  <a:srgbClr val="FF0000"/>
                </a:solidFill>
                <a:latin typeface="Arial" panose="020B0604020202020204" pitchFamily="34" charset="0"/>
              </a:endParaRPr>
            </a:p>
          </p:txBody>
        </p:sp>
        <p:sp>
          <p:nvSpPr>
            <p:cNvPr id="71692" name="Text Box 19"/>
            <p:cNvSpPr txBox="1">
              <a:spLocks noChangeArrowheads="1"/>
            </p:cNvSpPr>
            <p:nvPr/>
          </p:nvSpPr>
          <p:spPr bwMode="auto">
            <a:xfrm>
              <a:off x="6741041" y="5228758"/>
              <a:ext cx="218713" cy="212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1600">
                  <a:solidFill>
                    <a:srgbClr val="FF0000"/>
                  </a:solidFill>
                  <a:latin typeface="Times New Roman" panose="02020603050405020304" pitchFamily="18" charset="0"/>
                  <a:sym typeface="Symbol" panose="05050102010706020507" pitchFamily="18" charset="2"/>
                </a:rPr>
                <a:t></a:t>
              </a:r>
              <a:endParaRPr lang="zh-CN" altLang="zh-CN" sz="1600">
                <a:solidFill>
                  <a:srgbClr val="FF0000"/>
                </a:solidFill>
                <a:latin typeface="Arial" panose="020B0604020202020204" pitchFamily="34" charset="0"/>
              </a:endParaRPr>
            </a:p>
          </p:txBody>
        </p:sp>
        <p:sp>
          <p:nvSpPr>
            <p:cNvPr id="71693" name="Text Box 20"/>
            <p:cNvSpPr txBox="1">
              <a:spLocks noChangeArrowheads="1"/>
            </p:cNvSpPr>
            <p:nvPr/>
          </p:nvSpPr>
          <p:spPr bwMode="auto">
            <a:xfrm>
              <a:off x="6786563" y="5487728"/>
              <a:ext cx="278314" cy="361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1600">
                  <a:solidFill>
                    <a:srgbClr val="FF0000"/>
                  </a:solidFill>
                  <a:latin typeface="Times New Roman" panose="02020603050405020304" pitchFamily="18" charset="0"/>
                  <a:sym typeface="Symbol" panose="05050102010706020507" pitchFamily="18" charset="2"/>
                </a:rPr>
                <a:t></a:t>
              </a:r>
              <a:endParaRPr lang="zh-CN" altLang="zh-CN" sz="1600">
                <a:solidFill>
                  <a:srgbClr val="FF0000"/>
                </a:solidFill>
                <a:latin typeface="Arial" panose="020B0604020202020204" pitchFamily="34" charset="0"/>
              </a:endParaRPr>
            </a:p>
          </p:txBody>
        </p:sp>
        <p:sp>
          <p:nvSpPr>
            <p:cNvPr id="71694" name="Text Box 11"/>
            <p:cNvSpPr txBox="1">
              <a:spLocks noChangeArrowheads="1"/>
            </p:cNvSpPr>
            <p:nvPr/>
          </p:nvSpPr>
          <p:spPr bwMode="auto">
            <a:xfrm>
              <a:off x="6566376" y="5204815"/>
              <a:ext cx="297717" cy="25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1800" b="1" i="1">
                  <a:latin typeface="Times New Roman" panose="02020603050405020304" pitchFamily="18" charset="0"/>
                </a:rPr>
                <a:t>A</a:t>
              </a:r>
              <a:r>
                <a:rPr lang="en-US" altLang="zh-CN" sz="1800" b="1" i="1" baseline="-25000">
                  <a:latin typeface="Times New Roman" panose="02020603050405020304" pitchFamily="18" charset="0"/>
                </a:rPr>
                <a:t>i</a:t>
              </a:r>
              <a:endParaRPr lang="zh-CN" altLang="zh-CN" sz="1800" b="1">
                <a:latin typeface="Arial" panose="020B0604020202020204" pitchFamily="34" charset="0"/>
              </a:endParaRPr>
            </a:p>
          </p:txBody>
        </p:sp>
        <p:sp>
          <p:nvSpPr>
            <p:cNvPr id="71695" name="Text Box 11"/>
            <p:cNvSpPr txBox="1">
              <a:spLocks noChangeArrowheads="1"/>
            </p:cNvSpPr>
            <p:nvPr/>
          </p:nvSpPr>
          <p:spPr bwMode="auto">
            <a:xfrm>
              <a:off x="6572250" y="5650029"/>
              <a:ext cx="500062" cy="317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1800" b="1" i="1">
                  <a:latin typeface="Times New Roman" panose="02020603050405020304" pitchFamily="18" charset="0"/>
                </a:rPr>
                <a:t>X</a:t>
              </a:r>
              <a:r>
                <a:rPr lang="en-US" altLang="zh-CN" sz="1800" b="1" baseline="-25000">
                  <a:latin typeface="Times New Roman" panose="02020603050405020304" pitchFamily="18" charset="0"/>
                </a:rPr>
                <a:t>1</a:t>
              </a:r>
              <a:endParaRPr lang="zh-CN" altLang="zh-CN" sz="1800" b="1">
                <a:latin typeface="Arial" panose="020B0604020202020204" pitchFamily="34" charset="0"/>
              </a:endParaRPr>
            </a:p>
          </p:txBody>
        </p:sp>
        <p:sp>
          <p:nvSpPr>
            <p:cNvPr id="71696" name="Text Box 11"/>
            <p:cNvSpPr txBox="1">
              <a:spLocks noChangeArrowheads="1"/>
            </p:cNvSpPr>
            <p:nvPr/>
          </p:nvSpPr>
          <p:spPr bwMode="auto">
            <a:xfrm>
              <a:off x="6697502" y="4455450"/>
              <a:ext cx="418017" cy="27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1800" b="1" i="1">
                  <a:latin typeface="Times New Roman" panose="02020603050405020304" pitchFamily="18" charset="0"/>
                </a:rPr>
                <a:t>X</a:t>
              </a:r>
              <a:r>
                <a:rPr lang="en-US" altLang="zh-CN" sz="1800" b="1" baseline="-25000">
                  <a:latin typeface="Times New Roman" panose="02020603050405020304" pitchFamily="18" charset="0"/>
                </a:rPr>
                <a:t>2</a:t>
              </a:r>
              <a:endParaRPr lang="zh-CN" altLang="zh-CN" sz="1800" b="1">
                <a:latin typeface="Arial" panose="020B0604020202020204" pitchFamily="34" charset="0"/>
              </a:endParaRPr>
            </a:p>
          </p:txBody>
        </p:sp>
        <p:sp>
          <p:nvSpPr>
            <p:cNvPr id="71697" name="Text Box 11"/>
            <p:cNvSpPr txBox="1">
              <a:spLocks noChangeArrowheads="1"/>
            </p:cNvSpPr>
            <p:nvPr/>
          </p:nvSpPr>
          <p:spPr bwMode="auto">
            <a:xfrm>
              <a:off x="7500938" y="5027887"/>
              <a:ext cx="500062" cy="317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1800" b="1" i="1">
                  <a:latin typeface="Times New Roman" panose="02020603050405020304" pitchFamily="18" charset="0"/>
                </a:rPr>
                <a:t>Y</a:t>
              </a:r>
              <a:endParaRPr lang="zh-CN" altLang="zh-CN" sz="1800" b="1">
                <a:latin typeface="Arial" panose="020B0604020202020204" pitchFamily="34" charset="0"/>
              </a:endParaRPr>
            </a:p>
          </p:txBody>
        </p:sp>
        <p:sp>
          <p:nvSpPr>
            <p:cNvPr id="71698" name="Text Box 11"/>
            <p:cNvSpPr txBox="1">
              <a:spLocks noChangeArrowheads="1"/>
            </p:cNvSpPr>
            <p:nvPr/>
          </p:nvSpPr>
          <p:spPr bwMode="auto">
            <a:xfrm>
              <a:off x="8215342" y="5469453"/>
              <a:ext cx="500062" cy="317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1800" b="1" i="1">
                  <a:latin typeface="Times New Roman" panose="02020603050405020304" pitchFamily="18" charset="0"/>
                </a:rPr>
                <a:t>Z</a:t>
              </a:r>
              <a:endParaRPr lang="zh-CN" altLang="zh-CN" sz="1800" b="1">
                <a:latin typeface="Arial" panose="020B0604020202020204" pitchFamily="34" charset="0"/>
              </a:endParaRPr>
            </a:p>
          </p:txBody>
        </p:sp>
      </p:grpSp>
      <p:sp>
        <p:nvSpPr>
          <p:cNvPr id="71684" name="标题 1"/>
          <p:cNvSpPr>
            <a:spLocks noGrp="1"/>
          </p:cNvSpPr>
          <p:nvPr>
            <p:ph type="title"/>
          </p:nvPr>
        </p:nvSpPr>
        <p:spPr>
          <a:xfrm>
            <a:off x="457200" y="122238"/>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定理证明</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71685"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0F2B1797-B133-4F4C-842A-3C966FC43414}"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xfrm>
            <a:off x="457200" y="188913"/>
            <a:ext cx="8229600" cy="9398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位势算法</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72707" name="内容占位符 2"/>
          <p:cNvSpPr>
            <a:spLocks noGrp="1"/>
          </p:cNvSpPr>
          <p:nvPr>
            <p:ph idx="1"/>
          </p:nvPr>
        </p:nvSpPr>
        <p:spPr>
          <a:xfrm>
            <a:off x="436563" y="1123950"/>
            <a:ext cx="8707437" cy="5257800"/>
          </a:xfrm>
        </p:spPr>
        <p:txBody>
          <a:bodyPr/>
          <a:lstStyle/>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算法</a:t>
            </a:r>
            <a:r>
              <a:rPr lang="en-US" altLang="zh-CN" sz="2400" b="1" dirty="0" smtClean="0">
                <a:solidFill>
                  <a:srgbClr val="C00000"/>
                </a:solidFill>
                <a:latin typeface="Times New Roman" panose="02020603050405020304" pitchFamily="18" charset="0"/>
                <a:cs typeface="Times New Roman" panose="02020603050405020304" pitchFamily="18" charset="0"/>
              </a:rPr>
              <a:t>7.6 </a:t>
            </a:r>
            <a:r>
              <a:rPr lang="zh-CN" altLang="en-US" sz="2400" b="1" dirty="0" smtClean="0">
                <a:solidFill>
                  <a:srgbClr val="C00000"/>
                </a:solidFill>
                <a:latin typeface="Times New Roman" panose="02020603050405020304" pitchFamily="18" charset="0"/>
                <a:cs typeface="Times New Roman" panose="02020603050405020304" pitchFamily="18" charset="0"/>
              </a:rPr>
              <a:t>位势算法</a:t>
            </a:r>
            <a:r>
              <a:rPr lang="zh-CN"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求初始调运方案 </a:t>
            </a:r>
            <a:r>
              <a:rPr lang="en-US" altLang="zh-CN" sz="2400" b="1" i="1" dirty="0" smtClean="0">
                <a:latin typeface="Times New Roman" panose="02020603050405020304" pitchFamily="18" charset="0"/>
                <a:cs typeface="Times New Roman" panose="02020603050405020304" pitchFamily="18" charset="0"/>
              </a:rPr>
              <a:t>x </a:t>
            </a:r>
            <a:r>
              <a:rPr lang="zh-CN" altLang="en-US" sz="2400" b="1" dirty="0" smtClean="0">
                <a:latin typeface="Times New Roman" panose="02020603050405020304" pitchFamily="18" charset="0"/>
                <a:cs typeface="Times New Roman" panose="02020603050405020304" pitchFamily="18" charset="0"/>
              </a:rPr>
              <a:t>和选中边集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2. </a:t>
            </a:r>
            <a:r>
              <a:rPr lang="zh-CN" altLang="en-US" sz="2400" b="1" dirty="0" smtClean="0">
                <a:latin typeface="Times New Roman" panose="02020603050405020304" pitchFamily="18" charset="0"/>
                <a:cs typeface="Times New Roman" panose="02020603050405020304" pitchFamily="18" charset="0"/>
              </a:rPr>
              <a:t>求位势 </a:t>
            </a:r>
            <a:r>
              <a:rPr lang="en-US" altLang="zh-CN" sz="2400" b="1" i="1" dirty="0" smtClean="0">
                <a:latin typeface="Times New Roman" panose="02020603050405020304" pitchFamily="18" charset="0"/>
                <a:cs typeface="Times New Roman" panose="02020603050405020304" pitchFamily="18" charset="0"/>
              </a:rPr>
              <a:t>u</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v</a:t>
            </a:r>
            <a:endParaRPr lang="zh-CN" altLang="en-US"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3. </a:t>
            </a:r>
            <a:r>
              <a:rPr lang="zh-CN" altLang="en-US" sz="2400" b="1" dirty="0" smtClean="0">
                <a:latin typeface="Times New Roman" panose="02020603050405020304" pitchFamily="18" charset="0"/>
                <a:cs typeface="Times New Roman" panose="02020603050405020304" pitchFamily="18" charset="0"/>
              </a:rPr>
              <a:t>计算检验数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err="1" smtClean="0">
                <a:latin typeface="Times New Roman" panose="02020603050405020304" pitchFamily="18" charset="0"/>
                <a:cs typeface="Times New Roman" panose="02020603050405020304" pitchFamily="18" charset="0"/>
              </a:rPr>
              <a:t>ij</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w</a:t>
            </a:r>
            <a:r>
              <a:rPr lang="en-US" altLang="zh-CN" sz="2400" b="1" i="1" baseline="-25000" dirty="0" err="1" smtClean="0">
                <a:latin typeface="Times New Roman" panose="02020603050405020304" pitchFamily="18" charset="0"/>
                <a:cs typeface="Times New Roman" panose="02020603050405020304" pitchFamily="18" charset="0"/>
              </a:rPr>
              <a:t>ij</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smtClean="0">
                <a:latin typeface="Times New Roman" panose="02020603050405020304" pitchFamily="18" charset="0"/>
                <a:cs typeface="Times New Roman" panose="02020603050405020304" pitchFamily="18" charset="0"/>
              </a:rPr>
              <a:t>u</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4. if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err="1" smtClean="0">
                <a:latin typeface="Times New Roman" panose="02020603050405020304" pitchFamily="18" charset="0"/>
                <a:cs typeface="Times New Roman" panose="02020603050405020304" pitchFamily="18" charset="0"/>
              </a:rPr>
              <a:t>pq</a:t>
            </a:r>
            <a:r>
              <a:rPr lang="en-US" altLang="zh-CN" sz="2400" b="1" dirty="0" smtClean="0">
                <a:latin typeface="Times New Roman" panose="02020603050405020304" pitchFamily="18" charset="0"/>
                <a:cs typeface="Times New Roman" panose="02020603050405020304" pitchFamily="18" charset="0"/>
              </a:rPr>
              <a:t>= min{</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err="1" smtClean="0">
                <a:latin typeface="Times New Roman" panose="02020603050405020304" pitchFamily="18" charset="0"/>
                <a:cs typeface="Times New Roman" panose="02020603050405020304" pitchFamily="18" charset="0"/>
              </a:rPr>
              <a:t>ij</a:t>
            </a:r>
            <a:r>
              <a:rPr lang="en-US" altLang="zh-CN" sz="2400" b="1" dirty="0" smtClean="0">
                <a:latin typeface="Times New Roman" panose="02020603050405020304" pitchFamily="18" charset="0"/>
                <a:cs typeface="Times New Roman" panose="02020603050405020304" pitchFamily="18" charset="0"/>
              </a:rPr>
              <a:t> }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0  then  return  </a:t>
            </a:r>
            <a:r>
              <a:rPr lang="en-US" altLang="zh-CN" sz="2400" b="1" i="1" dirty="0" smtClean="0">
                <a:latin typeface="Times New Roman" panose="02020603050405020304" pitchFamily="18" charset="0"/>
                <a:cs typeface="Times New Roman" panose="02020603050405020304" pitchFamily="18" charset="0"/>
              </a:rPr>
              <a:t>x</a:t>
            </a:r>
            <a:endParaRPr lang="zh-CN" altLang="en-US"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5. </a:t>
            </a:r>
            <a:r>
              <a:rPr lang="zh-CN" altLang="en-US" sz="2400" b="1" dirty="0" smtClean="0">
                <a:latin typeface="Times New Roman" panose="02020603050405020304" pitchFamily="18" charset="0"/>
                <a:cs typeface="Times New Roman" panose="02020603050405020304" pitchFamily="18" charset="0"/>
              </a:rPr>
              <a:t>以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p</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q</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为换入边作选中边集变换</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变换结果仍记作 </a:t>
            </a:r>
            <a:r>
              <a:rPr lang="en-US" altLang="zh-CN" sz="2400" b="1" i="1" dirty="0" smtClean="0">
                <a:latin typeface="Times New Roman" panose="02020603050405020304" pitchFamily="18" charset="0"/>
                <a:cs typeface="Times New Roman" panose="02020603050405020304" pitchFamily="18" charset="0"/>
              </a:rPr>
              <a:t>x </a:t>
            </a:r>
            <a:r>
              <a:rPr lang="zh-CN" altLang="en-US" sz="2400" b="1" dirty="0" smtClean="0">
                <a:latin typeface="Times New Roman" panose="02020603050405020304" pitchFamily="18" charset="0"/>
                <a:cs typeface="Times New Roman" panose="02020603050405020304" pitchFamily="18" charset="0"/>
              </a:rPr>
              <a:t>和 </a:t>
            </a:r>
            <a:r>
              <a:rPr lang="en-US" altLang="zh-CN" sz="2400" b="1" i="1" dirty="0" smtClean="0">
                <a:latin typeface="Times New Roman" panose="02020603050405020304" pitchFamily="18" charset="0"/>
                <a:cs typeface="Times New Roman" panose="02020603050405020304" pitchFamily="18" charset="0"/>
              </a:rPr>
              <a:t>T</a:t>
            </a:r>
            <a:endParaRPr lang="zh-CN" altLang="en-US"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6. </a:t>
            </a:r>
            <a:r>
              <a:rPr lang="en-US" altLang="zh-CN" sz="2400" b="1" dirty="0" err="1" smtClean="0">
                <a:latin typeface="Times New Roman" panose="02020603050405020304" pitchFamily="18" charset="0"/>
                <a:cs typeface="Times New Roman" panose="02020603050405020304" pitchFamily="18" charset="0"/>
              </a:rPr>
              <a:t>goto</a:t>
            </a:r>
            <a:r>
              <a:rPr lang="en-US" altLang="zh-CN" sz="2400" b="1" dirty="0" smtClean="0">
                <a:latin typeface="Times New Roman" panose="02020603050405020304" pitchFamily="18" charset="0"/>
                <a:cs typeface="Times New Roman" panose="02020603050405020304" pitchFamily="18" charset="0"/>
              </a:rPr>
              <a:t>  2</a:t>
            </a:r>
            <a:endParaRPr lang="en-US" altLang="zh-CN" sz="2400" b="1" dirty="0"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运输问题可以表成线性规划</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rPr>
              <a:t>    T</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  </a:t>
            </a:r>
            <a:r>
              <a:rPr lang="zh-CN" altLang="en-US" sz="2400" b="1" dirty="0" smtClean="0">
                <a:latin typeface="Times New Roman" panose="02020603050405020304" pitchFamily="18" charset="0"/>
                <a:cs typeface="Times New Roman" panose="02020603050405020304" pitchFamily="18" charset="0"/>
              </a:rPr>
              <a:t>可行基</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x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rPr>
              <a:t>基本可行解</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    检验数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rPr>
              <a:t>检验数</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位势 </a:t>
            </a:r>
            <a:r>
              <a:rPr lang="en-US" altLang="zh-CN" sz="2400" b="1" i="1" dirty="0" err="1" smtClean="0">
                <a:latin typeface="Times New Roman" panose="02020603050405020304" pitchFamily="18" charset="0"/>
                <a:cs typeface="Times New Roman" panose="02020603050405020304" pitchFamily="18" charset="0"/>
              </a:rPr>
              <a:t>u</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v</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rPr>
              <a:t>对偶变量</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    选中边集变换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rPr>
              <a:t>基变换</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若选中边变量恒大于</a:t>
            </a:r>
            <a:r>
              <a:rPr lang="en-US" altLang="zh-CN" sz="2400" b="1" dirty="0" smtClean="0">
                <a:latin typeface="Times New Roman" panose="02020603050405020304" pitchFamily="18" charset="0"/>
                <a:cs typeface="Times New Roman" panose="02020603050405020304" pitchFamily="18" charset="0"/>
              </a:rPr>
              <a:t>0 (</a:t>
            </a:r>
            <a:r>
              <a:rPr lang="zh-CN" altLang="en-US" sz="2400" b="1" dirty="0" smtClean="0">
                <a:latin typeface="Times New Roman" panose="02020603050405020304" pitchFamily="18" charset="0"/>
                <a:cs typeface="Times New Roman" panose="02020603050405020304" pitchFamily="18" charset="0"/>
              </a:rPr>
              <a:t>问题非退化</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位势算法在有限步终止</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p:txBody>
      </p:sp>
      <p:sp>
        <p:nvSpPr>
          <p:cNvPr id="7270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0DC91669-1407-4EB5-90E8-CDC6F7EC1E16}"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副标题 2"/>
          <p:cNvSpPr txBox="1"/>
          <p:nvPr/>
        </p:nvSpPr>
        <p:spPr bwMode="auto">
          <a:xfrm>
            <a:off x="4872038" y="3749675"/>
            <a:ext cx="4086225" cy="2770188"/>
          </a:xfrm>
          <a:prstGeom prst="rect">
            <a:avLst/>
          </a:prstGeom>
          <a:noFill/>
          <a:ln w="9525">
            <a:noFill/>
            <a:miter lim="800000"/>
          </a:ln>
        </p:spPr>
        <p:txBody>
          <a:bodyPr/>
          <a:lstStyle/>
          <a:p>
            <a:pPr>
              <a:spcBef>
                <a:spcPct val="20000"/>
              </a:spcBef>
              <a:buFont typeface="Arial" panose="020B0604020202020204" pitchFamily="34" charset="0"/>
              <a:buNone/>
              <a:defRPr/>
            </a:pPr>
            <a:r>
              <a:rPr lang="en-US" altLang="zh-CN" sz="2400" b="1" dirty="0">
                <a:latin typeface="Times New Roman" panose="02020603050405020304" pitchFamily="18" charset="0"/>
                <a:ea typeface="+mn-ea"/>
                <a:cs typeface="Times New Roman" panose="02020603050405020304" pitchFamily="18" charset="0"/>
              </a:rPr>
              <a:t>  min </a:t>
            </a:r>
            <a:r>
              <a:rPr lang="en-US" altLang="zh-CN" sz="2400" b="1" i="1" spc="-180" dirty="0">
                <a:latin typeface="Times New Roman" panose="02020603050405020304" pitchFamily="18" charset="0"/>
                <a:ea typeface="+mn-ea"/>
                <a:cs typeface="Times New Roman" panose="02020603050405020304" pitchFamily="18" charset="0"/>
              </a:rPr>
              <a:t>z </a:t>
            </a:r>
            <a:r>
              <a:rPr lang="en-US" altLang="zh-CN" sz="2400" b="1" spc="-180" dirty="0">
                <a:latin typeface="Times New Roman" panose="02020603050405020304" pitchFamily="18" charset="0"/>
                <a:ea typeface="+mn-ea"/>
                <a:cs typeface="Times New Roman" panose="02020603050405020304" pitchFamily="18" charset="0"/>
              </a:rPr>
              <a:t>= 3</a:t>
            </a:r>
            <a:r>
              <a:rPr lang="en-US" altLang="zh-CN" sz="2400" b="1" i="1" spc="-180" dirty="0">
                <a:latin typeface="Times New Roman" panose="02020603050405020304" pitchFamily="18" charset="0"/>
                <a:ea typeface="+mn-ea"/>
                <a:cs typeface="Times New Roman" panose="02020603050405020304" pitchFamily="18" charset="0"/>
              </a:rPr>
              <a:t>x</a:t>
            </a:r>
            <a:r>
              <a:rPr lang="en-US" altLang="zh-CN" sz="2400" b="1" spc="-180" baseline="-25000" dirty="0">
                <a:latin typeface="Times New Roman" panose="02020603050405020304" pitchFamily="18" charset="0"/>
                <a:ea typeface="+mn-ea"/>
                <a:cs typeface="Times New Roman" panose="02020603050405020304" pitchFamily="18" charset="0"/>
              </a:rPr>
              <a:t>11 </a:t>
            </a:r>
            <a:r>
              <a:rPr lang="en-US" altLang="zh-CN" sz="2400" b="1" spc="-180" dirty="0">
                <a:latin typeface="Times New Roman" panose="02020603050405020304" pitchFamily="18" charset="0"/>
                <a:ea typeface="+mn-ea"/>
                <a:cs typeface="Times New Roman" panose="02020603050405020304" pitchFamily="18" charset="0"/>
              </a:rPr>
              <a:t>+ 2</a:t>
            </a:r>
            <a:r>
              <a:rPr lang="en-US" altLang="zh-CN" sz="2400" b="1" i="1" spc="-180" dirty="0">
                <a:latin typeface="Times New Roman" panose="02020603050405020304" pitchFamily="18" charset="0"/>
                <a:ea typeface="+mn-ea"/>
                <a:cs typeface="Times New Roman" panose="02020603050405020304" pitchFamily="18" charset="0"/>
              </a:rPr>
              <a:t>x</a:t>
            </a:r>
            <a:r>
              <a:rPr lang="en-US" altLang="zh-CN" sz="2400" b="1" spc="-180" baseline="-25000" dirty="0">
                <a:latin typeface="Times New Roman" panose="02020603050405020304" pitchFamily="18" charset="0"/>
                <a:ea typeface="+mn-ea"/>
                <a:cs typeface="Times New Roman" panose="02020603050405020304" pitchFamily="18" charset="0"/>
              </a:rPr>
              <a:t>12 </a:t>
            </a:r>
            <a:r>
              <a:rPr lang="en-US" altLang="zh-CN" sz="2400" b="1" spc="-180" dirty="0">
                <a:latin typeface="Times New Roman" panose="02020603050405020304" pitchFamily="18" charset="0"/>
                <a:ea typeface="+mn-ea"/>
                <a:cs typeface="Times New Roman" panose="02020603050405020304" pitchFamily="18" charset="0"/>
              </a:rPr>
              <a:t>+ 7</a:t>
            </a:r>
            <a:r>
              <a:rPr lang="en-US" altLang="zh-CN" sz="2400" b="1" i="1" spc="-180" dirty="0">
                <a:latin typeface="Times New Roman" panose="02020603050405020304" pitchFamily="18" charset="0"/>
                <a:ea typeface="+mn-ea"/>
                <a:cs typeface="Times New Roman" panose="02020603050405020304" pitchFamily="18" charset="0"/>
              </a:rPr>
              <a:t>x</a:t>
            </a:r>
            <a:r>
              <a:rPr lang="en-US" altLang="zh-CN" sz="2400" b="1" spc="-180" baseline="-25000" dirty="0">
                <a:latin typeface="Times New Roman" panose="02020603050405020304" pitchFamily="18" charset="0"/>
                <a:ea typeface="+mn-ea"/>
                <a:cs typeface="Times New Roman" panose="02020603050405020304" pitchFamily="18" charset="0"/>
              </a:rPr>
              <a:t>13 </a:t>
            </a:r>
            <a:r>
              <a:rPr lang="en-US" altLang="zh-CN" sz="2400" b="1" spc="-180" dirty="0">
                <a:latin typeface="Times New Roman" panose="02020603050405020304" pitchFamily="18" charset="0"/>
                <a:ea typeface="+mn-ea"/>
                <a:cs typeface="Times New Roman" panose="02020603050405020304" pitchFamily="18" charset="0"/>
              </a:rPr>
              <a:t>+ 7</a:t>
            </a:r>
            <a:r>
              <a:rPr lang="en-US" altLang="zh-CN" sz="2400" b="1" i="1" spc="-180" dirty="0">
                <a:latin typeface="Times New Roman" panose="02020603050405020304" pitchFamily="18" charset="0"/>
                <a:ea typeface="+mn-ea"/>
                <a:cs typeface="Times New Roman" panose="02020603050405020304" pitchFamily="18" charset="0"/>
              </a:rPr>
              <a:t>x</a:t>
            </a:r>
            <a:r>
              <a:rPr lang="en-US" altLang="zh-CN" sz="2400" b="1" spc="-180" baseline="-25000" dirty="0">
                <a:latin typeface="Times New Roman" panose="02020603050405020304" pitchFamily="18" charset="0"/>
                <a:ea typeface="+mn-ea"/>
                <a:cs typeface="Times New Roman" panose="02020603050405020304" pitchFamily="18" charset="0"/>
              </a:rPr>
              <a:t>21</a:t>
            </a:r>
            <a:endParaRPr lang="en-US" altLang="zh-CN" sz="2400" b="1" spc="-180" baseline="-25000" dirty="0">
              <a:latin typeface="Times New Roman" panose="02020603050405020304" pitchFamily="18" charset="0"/>
              <a:ea typeface="+mn-ea"/>
              <a:cs typeface="Times New Roman" panose="02020603050405020304" pitchFamily="18" charset="0"/>
            </a:endParaRPr>
          </a:p>
          <a:p>
            <a:pPr>
              <a:spcBef>
                <a:spcPct val="20000"/>
              </a:spcBef>
              <a:buFont typeface="Arial" panose="020B0604020202020204" pitchFamily="34" charset="0"/>
              <a:buNone/>
              <a:defRPr/>
            </a:pPr>
            <a:r>
              <a:rPr lang="en-US" altLang="zh-CN" sz="2400" b="1" spc="-180" baseline="-25000" dirty="0">
                <a:latin typeface="Times New Roman" panose="02020603050405020304" pitchFamily="18" charset="0"/>
                <a:ea typeface="+mn-ea"/>
                <a:cs typeface="Times New Roman" panose="02020603050405020304" pitchFamily="18" charset="0"/>
              </a:rPr>
              <a:t>                            </a:t>
            </a:r>
            <a:r>
              <a:rPr lang="en-US" altLang="zh-CN" sz="2400" b="1" spc="-180" dirty="0">
                <a:latin typeface="Times New Roman" panose="02020603050405020304" pitchFamily="18" charset="0"/>
                <a:ea typeface="+mn-ea"/>
                <a:cs typeface="Times New Roman" panose="02020603050405020304" pitchFamily="18" charset="0"/>
              </a:rPr>
              <a:t>+ 5</a:t>
            </a:r>
            <a:r>
              <a:rPr lang="en-US" altLang="zh-CN" sz="2400" b="1" i="1" spc="-180" dirty="0">
                <a:latin typeface="Times New Roman" panose="02020603050405020304" pitchFamily="18" charset="0"/>
                <a:ea typeface="+mn-ea"/>
                <a:cs typeface="Times New Roman" panose="02020603050405020304" pitchFamily="18" charset="0"/>
              </a:rPr>
              <a:t>x</a:t>
            </a:r>
            <a:r>
              <a:rPr lang="en-US" altLang="zh-CN" sz="2400" b="1" spc="-180" baseline="-25000" dirty="0">
                <a:latin typeface="Times New Roman" panose="02020603050405020304" pitchFamily="18" charset="0"/>
                <a:ea typeface="+mn-ea"/>
                <a:cs typeface="Times New Roman" panose="02020603050405020304" pitchFamily="18" charset="0"/>
              </a:rPr>
              <a:t>22 </a:t>
            </a:r>
            <a:r>
              <a:rPr lang="en-US" altLang="zh-CN" sz="2400" b="1" spc="-180" dirty="0">
                <a:latin typeface="Times New Roman" panose="02020603050405020304" pitchFamily="18" charset="0"/>
                <a:ea typeface="+mn-ea"/>
                <a:cs typeface="Times New Roman" panose="02020603050405020304" pitchFamily="18" charset="0"/>
              </a:rPr>
              <a:t>+ 2</a:t>
            </a:r>
            <a:r>
              <a:rPr lang="en-US" altLang="zh-CN" sz="2400" b="1" i="1" spc="-180" dirty="0">
                <a:latin typeface="Times New Roman" panose="02020603050405020304" pitchFamily="18" charset="0"/>
                <a:ea typeface="+mn-ea"/>
                <a:cs typeface="Times New Roman" panose="02020603050405020304" pitchFamily="18" charset="0"/>
              </a:rPr>
              <a:t>x</a:t>
            </a:r>
            <a:r>
              <a:rPr lang="en-US" altLang="zh-CN" sz="2400" b="1" spc="-180" baseline="-25000" dirty="0">
                <a:latin typeface="Times New Roman" panose="02020603050405020304" pitchFamily="18" charset="0"/>
                <a:ea typeface="+mn-ea"/>
                <a:cs typeface="Times New Roman" panose="02020603050405020304" pitchFamily="18" charset="0"/>
              </a:rPr>
              <a:t>23</a:t>
            </a:r>
            <a:endParaRPr lang="zh-CN" altLang="en-US" sz="2400" b="1" spc="-180" dirty="0">
              <a:latin typeface="Times New Roman" panose="02020603050405020304" pitchFamily="18" charset="0"/>
              <a:ea typeface="+mn-ea"/>
              <a:cs typeface="Times New Roman" panose="02020603050405020304" pitchFamily="18" charset="0"/>
            </a:endParaRPr>
          </a:p>
          <a:p>
            <a:pPr>
              <a:spcBef>
                <a:spcPts val="0"/>
              </a:spcBef>
              <a:buFont typeface="Arial" panose="020B0604020202020204" pitchFamily="34" charset="0"/>
              <a:buNone/>
              <a:defRPr/>
            </a:pPr>
            <a:r>
              <a:rPr lang="en-US" altLang="zh-CN" sz="2400" b="1" dirty="0">
                <a:latin typeface="Times New Roman" panose="02020603050405020304" pitchFamily="18" charset="0"/>
                <a:ea typeface="+mn-ea"/>
                <a:cs typeface="Times New Roman" panose="02020603050405020304" pitchFamily="18" charset="0"/>
              </a:rPr>
              <a:t>    </a:t>
            </a:r>
            <a:r>
              <a:rPr lang="en-US" altLang="zh-CN" sz="2400" b="1" dirty="0" err="1">
                <a:latin typeface="Times New Roman" panose="02020603050405020304" pitchFamily="18" charset="0"/>
                <a:ea typeface="+mn-ea"/>
                <a:cs typeface="Times New Roman" panose="02020603050405020304" pitchFamily="18" charset="0"/>
              </a:rPr>
              <a:t>s.t.</a:t>
            </a:r>
            <a:r>
              <a:rPr lang="en-US" altLang="zh-CN" sz="2400" b="1" dirty="0">
                <a:latin typeface="Times New Roman" panose="02020603050405020304" pitchFamily="18" charset="0"/>
                <a:ea typeface="+mn-ea"/>
                <a:cs typeface="Times New Roman" panose="02020603050405020304" pitchFamily="18" charset="0"/>
              </a:rPr>
              <a:t> </a:t>
            </a:r>
            <a:r>
              <a:rPr lang="en-US" altLang="zh-CN" sz="2400" b="1" i="1" dirty="0">
                <a:latin typeface="Times New Roman" panose="02020603050405020304" pitchFamily="18" charset="0"/>
                <a:ea typeface="+mn-ea"/>
                <a:cs typeface="Times New Roman" panose="02020603050405020304" pitchFamily="18" charset="0"/>
              </a:rPr>
              <a:t>x</a:t>
            </a:r>
            <a:r>
              <a:rPr lang="en-US" altLang="zh-CN" sz="2400" b="1" baseline="-25000" dirty="0">
                <a:latin typeface="Times New Roman" panose="02020603050405020304" pitchFamily="18" charset="0"/>
                <a:ea typeface="+mn-ea"/>
                <a:cs typeface="Times New Roman" panose="02020603050405020304" pitchFamily="18" charset="0"/>
              </a:rPr>
              <a:t>11</a:t>
            </a:r>
            <a:r>
              <a:rPr lang="en-US" altLang="zh-CN" sz="2400" b="1" dirty="0">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x</a:t>
            </a:r>
            <a:r>
              <a:rPr lang="en-US" altLang="zh-CN" sz="2400" b="1" baseline="-25000" dirty="0">
                <a:latin typeface="Times New Roman" panose="02020603050405020304" pitchFamily="18" charset="0"/>
                <a:ea typeface="+mn-ea"/>
                <a:cs typeface="Times New Roman" panose="02020603050405020304" pitchFamily="18" charset="0"/>
              </a:rPr>
              <a:t>12</a:t>
            </a:r>
            <a:r>
              <a:rPr lang="en-US" altLang="zh-CN" sz="2400" b="1" dirty="0">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x</a:t>
            </a:r>
            <a:r>
              <a:rPr lang="en-US" altLang="zh-CN" sz="2400" b="1" baseline="-25000" dirty="0">
                <a:latin typeface="Times New Roman" panose="02020603050405020304" pitchFamily="18" charset="0"/>
                <a:ea typeface="+mn-ea"/>
                <a:cs typeface="Times New Roman" panose="02020603050405020304" pitchFamily="18" charset="0"/>
              </a:rPr>
              <a:t>13</a:t>
            </a:r>
            <a:r>
              <a:rPr lang="en-US" altLang="zh-CN" sz="2400" b="1" dirty="0">
                <a:latin typeface="Times New Roman" panose="02020603050405020304" pitchFamily="18" charset="0"/>
                <a:ea typeface="+mn-ea"/>
                <a:cs typeface="Times New Roman" panose="02020603050405020304" pitchFamily="18" charset="0"/>
              </a:rPr>
              <a:t>=5000</a:t>
            </a:r>
            <a:endParaRPr lang="zh-CN" altLang="en-US" sz="2400" b="1" dirty="0">
              <a:latin typeface="Times New Roman" panose="02020603050405020304" pitchFamily="18" charset="0"/>
              <a:ea typeface="+mn-ea"/>
              <a:cs typeface="Times New Roman" panose="02020603050405020304" pitchFamily="18" charset="0"/>
            </a:endParaRPr>
          </a:p>
          <a:p>
            <a:pPr>
              <a:spcBef>
                <a:spcPts val="0"/>
              </a:spcBef>
              <a:buFont typeface="Arial" panose="020B0604020202020204" pitchFamily="34" charset="0"/>
              <a:buNone/>
              <a:defRPr/>
            </a:pPr>
            <a:r>
              <a:rPr lang="en-US" altLang="zh-CN" sz="2400" b="1" dirty="0">
                <a:latin typeface="Times New Roman" panose="02020603050405020304" pitchFamily="18" charset="0"/>
                <a:ea typeface="+mn-ea"/>
                <a:cs typeface="Times New Roman" panose="02020603050405020304" pitchFamily="18" charset="0"/>
              </a:rPr>
              <a:t>          </a:t>
            </a:r>
            <a:r>
              <a:rPr lang="en-US" altLang="zh-CN" sz="2400" b="1" i="1" dirty="0">
                <a:latin typeface="Times New Roman" panose="02020603050405020304" pitchFamily="18" charset="0"/>
                <a:ea typeface="+mn-ea"/>
                <a:cs typeface="Times New Roman" panose="02020603050405020304" pitchFamily="18" charset="0"/>
              </a:rPr>
              <a:t>x</a:t>
            </a:r>
            <a:r>
              <a:rPr lang="en-US" altLang="zh-CN" sz="2400" b="1" baseline="-25000" dirty="0">
                <a:latin typeface="Times New Roman" panose="02020603050405020304" pitchFamily="18" charset="0"/>
                <a:ea typeface="+mn-ea"/>
                <a:cs typeface="Times New Roman" panose="02020603050405020304" pitchFamily="18" charset="0"/>
              </a:rPr>
              <a:t>21</a:t>
            </a:r>
            <a:r>
              <a:rPr lang="en-US" altLang="zh-CN" sz="2400" b="1" dirty="0">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x</a:t>
            </a:r>
            <a:r>
              <a:rPr lang="en-US" altLang="zh-CN" sz="2400" b="1" baseline="-25000" dirty="0">
                <a:latin typeface="Times New Roman" panose="02020603050405020304" pitchFamily="18" charset="0"/>
                <a:ea typeface="+mn-ea"/>
                <a:cs typeface="Times New Roman" panose="02020603050405020304" pitchFamily="18" charset="0"/>
              </a:rPr>
              <a:t>22</a:t>
            </a:r>
            <a:r>
              <a:rPr lang="en-US" altLang="zh-CN" sz="2400" b="1" dirty="0">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x</a:t>
            </a:r>
            <a:r>
              <a:rPr lang="en-US" altLang="zh-CN" sz="2400" b="1" baseline="-25000" dirty="0">
                <a:latin typeface="Times New Roman" panose="02020603050405020304" pitchFamily="18" charset="0"/>
                <a:ea typeface="+mn-ea"/>
                <a:cs typeface="Times New Roman" panose="02020603050405020304" pitchFamily="18" charset="0"/>
              </a:rPr>
              <a:t>23</a:t>
            </a:r>
            <a:r>
              <a:rPr lang="en-US" altLang="zh-CN" sz="2400" b="1" dirty="0">
                <a:latin typeface="Times New Roman" panose="02020603050405020304" pitchFamily="18" charset="0"/>
                <a:ea typeface="+mn-ea"/>
                <a:cs typeface="Times New Roman" panose="02020603050405020304" pitchFamily="18" charset="0"/>
              </a:rPr>
              <a:t>=6000</a:t>
            </a:r>
            <a:endParaRPr lang="zh-CN" altLang="en-US" sz="2400" b="1" dirty="0">
              <a:latin typeface="Times New Roman" panose="02020603050405020304" pitchFamily="18" charset="0"/>
              <a:ea typeface="+mn-ea"/>
              <a:cs typeface="Times New Roman" panose="02020603050405020304" pitchFamily="18" charset="0"/>
            </a:endParaRPr>
          </a:p>
          <a:p>
            <a:pPr>
              <a:spcBef>
                <a:spcPts val="0"/>
              </a:spcBef>
              <a:buFont typeface="Arial" panose="020B0604020202020204" pitchFamily="34" charset="0"/>
              <a:buNone/>
              <a:defRPr/>
            </a:pPr>
            <a:r>
              <a:rPr lang="en-US" altLang="zh-CN" sz="2400" b="1" dirty="0">
                <a:latin typeface="Times New Roman" panose="02020603050405020304" pitchFamily="18" charset="0"/>
                <a:ea typeface="+mn-ea"/>
                <a:cs typeface="Times New Roman" panose="02020603050405020304" pitchFamily="18" charset="0"/>
              </a:rPr>
              <a:t>          </a:t>
            </a:r>
            <a:r>
              <a:rPr lang="en-US" altLang="zh-CN" sz="2400" b="1" i="1" dirty="0">
                <a:latin typeface="Times New Roman" panose="02020603050405020304" pitchFamily="18" charset="0"/>
                <a:ea typeface="+mn-ea"/>
                <a:cs typeface="Times New Roman" panose="02020603050405020304" pitchFamily="18" charset="0"/>
              </a:rPr>
              <a:t>x</a:t>
            </a:r>
            <a:r>
              <a:rPr lang="en-US" altLang="zh-CN" sz="2400" b="1" baseline="-25000" dirty="0">
                <a:latin typeface="Times New Roman" panose="02020603050405020304" pitchFamily="18" charset="0"/>
                <a:ea typeface="+mn-ea"/>
                <a:cs typeface="Times New Roman" panose="02020603050405020304" pitchFamily="18" charset="0"/>
              </a:rPr>
              <a:t>11</a:t>
            </a:r>
            <a:r>
              <a:rPr lang="en-US" altLang="zh-CN" sz="2400" b="1" dirty="0">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x</a:t>
            </a:r>
            <a:r>
              <a:rPr lang="en-US" altLang="zh-CN" sz="2400" b="1" baseline="-25000" dirty="0">
                <a:latin typeface="Times New Roman" panose="02020603050405020304" pitchFamily="18" charset="0"/>
                <a:ea typeface="+mn-ea"/>
                <a:cs typeface="Times New Roman" panose="02020603050405020304" pitchFamily="18" charset="0"/>
              </a:rPr>
              <a:t>21</a:t>
            </a:r>
            <a:r>
              <a:rPr lang="en-US" altLang="zh-CN" sz="2400" b="1" dirty="0">
                <a:latin typeface="Times New Roman" panose="02020603050405020304" pitchFamily="18" charset="0"/>
                <a:ea typeface="+mn-ea"/>
                <a:cs typeface="Times New Roman" panose="02020603050405020304" pitchFamily="18" charset="0"/>
              </a:rPr>
              <a:t>=6000</a:t>
            </a:r>
            <a:endParaRPr lang="en-US" altLang="zh-CN" sz="2400" b="1" dirty="0">
              <a:latin typeface="Times New Roman" panose="02020603050405020304" pitchFamily="18" charset="0"/>
              <a:ea typeface="+mn-ea"/>
              <a:cs typeface="Times New Roman" panose="02020603050405020304" pitchFamily="18" charset="0"/>
            </a:endParaRPr>
          </a:p>
          <a:p>
            <a:pPr>
              <a:spcBef>
                <a:spcPts val="0"/>
              </a:spcBef>
              <a:buFont typeface="Arial" panose="020B0604020202020204" pitchFamily="34" charset="0"/>
              <a:buNone/>
              <a:defRPr/>
            </a:pPr>
            <a:r>
              <a:rPr lang="en-US" altLang="zh-CN" sz="2400" b="1" dirty="0">
                <a:latin typeface="Times New Roman" panose="02020603050405020304" pitchFamily="18" charset="0"/>
                <a:ea typeface="+mn-ea"/>
                <a:cs typeface="Times New Roman" panose="02020603050405020304" pitchFamily="18" charset="0"/>
              </a:rPr>
              <a:t>          </a:t>
            </a:r>
            <a:r>
              <a:rPr lang="en-US" altLang="zh-CN" sz="2400" b="1" i="1" dirty="0">
                <a:latin typeface="Times New Roman" panose="02020603050405020304" pitchFamily="18" charset="0"/>
                <a:ea typeface="+mn-ea"/>
                <a:cs typeface="Times New Roman" panose="02020603050405020304" pitchFamily="18" charset="0"/>
              </a:rPr>
              <a:t>x</a:t>
            </a:r>
            <a:r>
              <a:rPr lang="en-US" altLang="zh-CN" sz="2400" b="1" baseline="-25000" dirty="0">
                <a:latin typeface="Times New Roman" panose="02020603050405020304" pitchFamily="18" charset="0"/>
                <a:ea typeface="+mn-ea"/>
                <a:cs typeface="Times New Roman" panose="02020603050405020304" pitchFamily="18" charset="0"/>
              </a:rPr>
              <a:t>12</a:t>
            </a:r>
            <a:r>
              <a:rPr lang="en-US" altLang="zh-CN" sz="2400" b="1" dirty="0">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x</a:t>
            </a:r>
            <a:r>
              <a:rPr lang="en-US" altLang="zh-CN" sz="2400" b="1" baseline="-25000" dirty="0">
                <a:latin typeface="Times New Roman" panose="02020603050405020304" pitchFamily="18" charset="0"/>
                <a:ea typeface="+mn-ea"/>
                <a:cs typeface="Times New Roman" panose="02020603050405020304" pitchFamily="18" charset="0"/>
              </a:rPr>
              <a:t>22</a:t>
            </a:r>
            <a:r>
              <a:rPr lang="en-US" altLang="zh-CN" sz="2400" b="1" dirty="0">
                <a:latin typeface="Times New Roman" panose="02020603050405020304" pitchFamily="18" charset="0"/>
                <a:ea typeface="+mn-ea"/>
                <a:cs typeface="Times New Roman" panose="02020603050405020304" pitchFamily="18" charset="0"/>
              </a:rPr>
              <a:t>=4000</a:t>
            </a:r>
            <a:endParaRPr lang="zh-CN" altLang="en-US" sz="2400" b="1" dirty="0">
              <a:latin typeface="Times New Roman" panose="02020603050405020304" pitchFamily="18" charset="0"/>
              <a:ea typeface="+mn-ea"/>
              <a:cs typeface="Times New Roman" panose="02020603050405020304" pitchFamily="18" charset="0"/>
            </a:endParaRPr>
          </a:p>
          <a:p>
            <a:pPr>
              <a:spcBef>
                <a:spcPts val="0"/>
              </a:spcBef>
              <a:buFont typeface="Arial" panose="020B0604020202020204" pitchFamily="34" charset="0"/>
              <a:buNone/>
              <a:defRPr/>
            </a:pPr>
            <a:r>
              <a:rPr lang="en-US" altLang="zh-CN" sz="2400" b="1" dirty="0">
                <a:latin typeface="Times New Roman" panose="02020603050405020304" pitchFamily="18" charset="0"/>
                <a:ea typeface="+mn-ea"/>
                <a:cs typeface="Times New Roman" panose="02020603050405020304" pitchFamily="18" charset="0"/>
              </a:rPr>
              <a:t>          </a:t>
            </a:r>
            <a:r>
              <a:rPr lang="en-US" altLang="zh-CN" sz="2400" b="1" i="1" dirty="0">
                <a:latin typeface="Times New Roman" panose="02020603050405020304" pitchFamily="18" charset="0"/>
                <a:ea typeface="+mn-ea"/>
                <a:cs typeface="Times New Roman" panose="02020603050405020304" pitchFamily="18" charset="0"/>
              </a:rPr>
              <a:t>x</a:t>
            </a:r>
            <a:r>
              <a:rPr lang="en-US" altLang="zh-CN" sz="2400" b="1" baseline="-25000" dirty="0">
                <a:latin typeface="Times New Roman" panose="02020603050405020304" pitchFamily="18" charset="0"/>
                <a:ea typeface="+mn-ea"/>
                <a:cs typeface="Times New Roman" panose="02020603050405020304" pitchFamily="18" charset="0"/>
              </a:rPr>
              <a:t>13</a:t>
            </a:r>
            <a:r>
              <a:rPr lang="en-US" altLang="zh-CN" sz="2400" b="1" dirty="0">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x</a:t>
            </a:r>
            <a:r>
              <a:rPr lang="en-US" altLang="zh-CN" sz="2400" b="1" baseline="-25000" dirty="0">
                <a:latin typeface="Times New Roman" panose="02020603050405020304" pitchFamily="18" charset="0"/>
                <a:ea typeface="+mn-ea"/>
                <a:cs typeface="Times New Roman" panose="02020603050405020304" pitchFamily="18" charset="0"/>
              </a:rPr>
              <a:t>23</a:t>
            </a:r>
            <a:r>
              <a:rPr lang="en-US" altLang="zh-CN" sz="2400" b="1" dirty="0">
                <a:latin typeface="Times New Roman" panose="02020603050405020304" pitchFamily="18" charset="0"/>
                <a:ea typeface="+mn-ea"/>
                <a:cs typeface="Times New Roman" panose="02020603050405020304" pitchFamily="18" charset="0"/>
              </a:rPr>
              <a:t>=1000        </a:t>
            </a:r>
            <a:endParaRPr lang="zh-CN" altLang="en-US" sz="2400" b="1" dirty="0">
              <a:latin typeface="Times New Roman" panose="02020603050405020304" pitchFamily="18" charset="0"/>
              <a:ea typeface="+mn-ea"/>
              <a:cs typeface="Times New Roman" panose="02020603050405020304" pitchFamily="18" charset="0"/>
            </a:endParaRPr>
          </a:p>
        </p:txBody>
      </p:sp>
      <p:sp>
        <p:nvSpPr>
          <p:cNvPr id="73731" name="标题 1"/>
          <p:cNvSpPr>
            <a:spLocks noGrp="1"/>
          </p:cNvSpPr>
          <p:nvPr>
            <p:ph type="title"/>
          </p:nvPr>
        </p:nvSpPr>
        <p:spPr>
          <a:xfrm>
            <a:off x="7207250" y="100013"/>
            <a:ext cx="1331913" cy="3365500"/>
          </a:xfrm>
        </p:spPr>
        <p:txBody>
          <a:bodyPr/>
          <a:lstStyle/>
          <a:p>
            <a:r>
              <a:rPr lang="en-US" altLang="zh-CN" sz="3200" b="1" smtClean="0">
                <a:solidFill>
                  <a:srgbClr val="C00000"/>
                </a:solidFill>
                <a:latin typeface="Times New Roman" panose="02020603050405020304" pitchFamily="18" charset="0"/>
                <a:cs typeface="Times New Roman" panose="02020603050405020304" pitchFamily="18" charset="0"/>
              </a:rPr>
              <a:t>7.3.3 </a:t>
            </a:r>
            <a:br>
              <a:rPr lang="en-US" altLang="zh-CN" sz="3200" b="1" smtClean="0">
                <a:solidFill>
                  <a:srgbClr val="C00000"/>
                </a:solidFill>
                <a:latin typeface="Times New Roman" panose="02020603050405020304" pitchFamily="18" charset="0"/>
                <a:cs typeface="Times New Roman" panose="02020603050405020304" pitchFamily="18" charset="0"/>
              </a:rPr>
            </a:br>
            <a:r>
              <a:rPr lang="zh-CN" altLang="en-US" sz="3200" b="1" smtClean="0">
                <a:solidFill>
                  <a:srgbClr val="C00000"/>
                </a:solidFill>
                <a:latin typeface="Times New Roman" panose="02020603050405020304" pitchFamily="18" charset="0"/>
                <a:cs typeface="Times New Roman" panose="02020603050405020304" pitchFamily="18" charset="0"/>
              </a:rPr>
              <a:t>表</a:t>
            </a:r>
            <a:br>
              <a:rPr lang="en-US" altLang="zh-CN" sz="3200" b="1" smtClean="0">
                <a:solidFill>
                  <a:srgbClr val="C00000"/>
                </a:solidFill>
                <a:latin typeface="Times New Roman" panose="02020603050405020304" pitchFamily="18" charset="0"/>
                <a:cs typeface="Times New Roman" panose="02020603050405020304" pitchFamily="18" charset="0"/>
              </a:rPr>
            </a:br>
            <a:r>
              <a:rPr lang="zh-CN" altLang="en-US" sz="3200" b="1" smtClean="0">
                <a:solidFill>
                  <a:srgbClr val="C00000"/>
                </a:solidFill>
                <a:latin typeface="Times New Roman" panose="02020603050405020304" pitchFamily="18" charset="0"/>
                <a:cs typeface="Times New Roman" panose="02020603050405020304" pitchFamily="18" charset="0"/>
              </a:rPr>
              <a:t>上</a:t>
            </a:r>
            <a:br>
              <a:rPr lang="en-US" altLang="zh-CN" sz="3200" b="1" smtClean="0">
                <a:solidFill>
                  <a:srgbClr val="C00000"/>
                </a:solidFill>
                <a:latin typeface="Times New Roman" panose="02020603050405020304" pitchFamily="18" charset="0"/>
                <a:cs typeface="Times New Roman" panose="02020603050405020304" pitchFamily="18" charset="0"/>
              </a:rPr>
            </a:br>
            <a:r>
              <a:rPr lang="zh-CN" altLang="en-US" sz="3200" b="1" smtClean="0">
                <a:solidFill>
                  <a:srgbClr val="C00000"/>
                </a:solidFill>
                <a:latin typeface="Times New Roman" panose="02020603050405020304" pitchFamily="18" charset="0"/>
                <a:cs typeface="Times New Roman" panose="02020603050405020304" pitchFamily="18" charset="0"/>
              </a:rPr>
              <a:t>作</a:t>
            </a:r>
            <a:br>
              <a:rPr lang="en-US" altLang="zh-CN" sz="3200" b="1" smtClean="0">
                <a:solidFill>
                  <a:srgbClr val="C00000"/>
                </a:solidFill>
                <a:latin typeface="Times New Roman" panose="02020603050405020304" pitchFamily="18" charset="0"/>
                <a:cs typeface="Times New Roman" panose="02020603050405020304" pitchFamily="18" charset="0"/>
              </a:rPr>
            </a:br>
            <a:r>
              <a:rPr lang="zh-CN" altLang="en-US" sz="3200" b="1" smtClean="0">
                <a:solidFill>
                  <a:srgbClr val="C00000"/>
                </a:solidFill>
                <a:latin typeface="Times New Roman" panose="02020603050405020304" pitchFamily="18" charset="0"/>
                <a:cs typeface="Times New Roman" panose="02020603050405020304" pitchFamily="18" charset="0"/>
              </a:rPr>
              <a:t>业</a:t>
            </a:r>
            <a:br>
              <a:rPr lang="en-US" altLang="zh-CN" sz="3200" b="1" smtClean="0">
                <a:solidFill>
                  <a:srgbClr val="C00000"/>
                </a:solidFill>
                <a:latin typeface="Times New Roman" panose="02020603050405020304" pitchFamily="18" charset="0"/>
                <a:cs typeface="Times New Roman" panose="02020603050405020304" pitchFamily="18" charset="0"/>
              </a:rPr>
            </a:br>
            <a:r>
              <a:rPr lang="zh-CN" altLang="en-US" sz="3200" b="1" smtClean="0">
                <a:solidFill>
                  <a:srgbClr val="C00000"/>
                </a:solidFill>
                <a:latin typeface="Times New Roman" panose="02020603050405020304" pitchFamily="18" charset="0"/>
                <a:cs typeface="Times New Roman" panose="02020603050405020304" pitchFamily="18" charset="0"/>
              </a:rPr>
              <a:t>法</a:t>
            </a:r>
            <a:endParaRPr lang="zh-CN" altLang="en-US" sz="3200" b="1" smtClean="0">
              <a:solidFill>
                <a:srgbClr val="C00000"/>
              </a:solidFill>
              <a:latin typeface="Times New Roman" panose="02020603050405020304" pitchFamily="18" charset="0"/>
              <a:cs typeface="Times New Roman" panose="02020603050405020304" pitchFamily="18" charset="0"/>
            </a:endParaRPr>
          </a:p>
        </p:txBody>
      </p:sp>
      <p:sp>
        <p:nvSpPr>
          <p:cNvPr id="73732" name="灯片编号占位符 3"/>
          <p:cNvSpPr>
            <a:spLocks noGrp="1"/>
          </p:cNvSpPr>
          <p:nvPr>
            <p:ph type="sldNum" sz="quarter" idx="12"/>
          </p:nvPr>
        </p:nvSpPr>
        <p:spPr bwMode="auto">
          <a:xfrm>
            <a:off x="5137150" y="588010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73A74E5-1376-4F00-8ABE-AC8A2638D4EA}" type="slidenum">
              <a:rPr lang="zh-CN" altLang="en-US" sz="1200" smtClean="0">
                <a:solidFill>
                  <a:srgbClr val="898989"/>
                </a:solidFill>
              </a:rPr>
            </a:fld>
            <a:endParaRPr lang="zh-CN" altLang="en-US" sz="1200" smtClean="0">
              <a:solidFill>
                <a:srgbClr val="898989"/>
              </a:solidFill>
            </a:endParaRPr>
          </a:p>
        </p:txBody>
      </p:sp>
      <p:grpSp>
        <p:nvGrpSpPr>
          <p:cNvPr id="73733" name="组合 71"/>
          <p:cNvGrpSpPr/>
          <p:nvPr/>
        </p:nvGrpSpPr>
        <p:grpSpPr bwMode="auto">
          <a:xfrm>
            <a:off x="539750" y="428625"/>
            <a:ext cx="6251575" cy="3144838"/>
            <a:chOff x="1410341" y="1643050"/>
            <a:chExt cx="6251880" cy="3144066"/>
          </a:xfrm>
        </p:grpSpPr>
        <p:sp>
          <p:nvSpPr>
            <p:cNvPr id="73779" name="Text Box 6"/>
            <p:cNvSpPr txBox="1">
              <a:spLocks noChangeArrowheads="1"/>
            </p:cNvSpPr>
            <p:nvPr/>
          </p:nvSpPr>
          <p:spPr bwMode="auto">
            <a:xfrm>
              <a:off x="1438890" y="1643050"/>
              <a:ext cx="6204944" cy="3143272"/>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lvl="1" algn="ctr" eaLnBrk="1" hangingPunct="1">
                <a:spcBef>
                  <a:spcPct val="0"/>
                </a:spcBef>
                <a:buFontTx/>
                <a:buNone/>
              </a:pPr>
              <a:r>
                <a:rPr lang="en-US" altLang="zh-CN" sz="2400" b="1">
                  <a:latin typeface="Times New Roman" panose="02020603050405020304" pitchFamily="18" charset="0"/>
                </a:rPr>
                <a:t> </a:t>
              </a:r>
              <a:r>
                <a:rPr lang="zh-CN" altLang="en-US" sz="2400" b="1">
                  <a:latin typeface="Times New Roman" panose="02020603050405020304" pitchFamily="18" charset="0"/>
                </a:rPr>
                <a:t>初始调运方案 </a:t>
              </a:r>
              <a:r>
                <a:rPr lang="en-US" altLang="zh-CN" sz="2400" b="1" i="1">
                  <a:latin typeface="Times New Roman" panose="02020603050405020304" pitchFamily="18" charset="0"/>
                </a:rPr>
                <a:t>x</a:t>
              </a:r>
              <a:r>
                <a:rPr lang="en-US" altLang="zh-CN" sz="2400" b="1" baseline="30000">
                  <a:latin typeface="Times New Roman" panose="02020603050405020304" pitchFamily="18" charset="0"/>
                </a:rPr>
                <a:t>(0) </a:t>
              </a:r>
              <a:r>
                <a:rPr lang="zh-CN" altLang="en-US" sz="2400" b="1">
                  <a:latin typeface="Times New Roman" panose="02020603050405020304" pitchFamily="18" charset="0"/>
                </a:rPr>
                <a:t>和位势</a:t>
              </a:r>
              <a:endParaRPr lang="en-US" altLang="zh-CN" sz="2400" b="1">
                <a:latin typeface="Times New Roman" panose="02020603050405020304" pitchFamily="18" charset="0"/>
              </a:endParaRPr>
            </a:p>
            <a:p>
              <a:pPr lvl="1" eaLnBrk="1" hangingPunct="1">
                <a:spcBef>
                  <a:spcPct val="0"/>
                </a:spcBef>
                <a:buFontTx/>
                <a:buNone/>
              </a:pPr>
              <a:r>
                <a:rPr lang="en-US" altLang="zh-CN" sz="2400" b="1">
                  <a:latin typeface="Times New Roman" panose="02020603050405020304" pitchFamily="18" charset="0"/>
                </a:rPr>
                <a:t>            </a:t>
              </a:r>
              <a:r>
                <a:rPr lang="en-US" altLang="zh-CN" sz="2400" b="1" i="1">
                  <a:latin typeface="Times New Roman" panose="02020603050405020304" pitchFamily="18" charset="0"/>
                </a:rPr>
                <a:t>B</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         </a:t>
              </a:r>
              <a:r>
                <a:rPr lang="en-US" altLang="zh-CN" sz="2400" b="1" i="1">
                  <a:latin typeface="Times New Roman" panose="02020603050405020304" pitchFamily="18" charset="0"/>
                </a:rPr>
                <a:t>B</a:t>
              </a:r>
              <a:r>
                <a:rPr lang="en-US" altLang="zh-CN" sz="2400" b="1" baseline="-25000">
                  <a:latin typeface="Times New Roman" panose="02020603050405020304" pitchFamily="18" charset="0"/>
                </a:rPr>
                <a:t>2</a:t>
              </a:r>
              <a:r>
                <a:rPr lang="en-US" altLang="zh-CN" sz="2400" b="1">
                  <a:latin typeface="Times New Roman" panose="02020603050405020304" pitchFamily="18" charset="0"/>
                </a:rPr>
                <a:t>            </a:t>
              </a:r>
              <a:r>
                <a:rPr lang="en-US" altLang="zh-CN" sz="2400" b="1" i="1">
                  <a:latin typeface="Times New Roman" panose="02020603050405020304" pitchFamily="18" charset="0"/>
                </a:rPr>
                <a:t>B</a:t>
              </a:r>
              <a:r>
                <a:rPr lang="en-US" altLang="zh-CN" sz="2400" b="1" baseline="-25000">
                  <a:latin typeface="Times New Roman" panose="02020603050405020304" pitchFamily="18" charset="0"/>
                </a:rPr>
                <a:t>3</a:t>
              </a:r>
              <a:r>
                <a:rPr lang="en-US" altLang="zh-CN" sz="2400" b="1">
                  <a:latin typeface="Times New Roman" panose="02020603050405020304" pitchFamily="18" charset="0"/>
                </a:rPr>
                <a:t>       </a:t>
              </a:r>
              <a:r>
                <a:rPr lang="zh-CN" altLang="en-US" sz="2400" b="1">
                  <a:latin typeface="Times New Roman" panose="02020603050405020304" pitchFamily="18" charset="0"/>
                </a:rPr>
                <a:t>产量</a:t>
              </a:r>
              <a:r>
                <a:rPr lang="en-US" altLang="zh-CN" sz="2400" b="1" i="1">
                  <a:latin typeface="Times New Roman" panose="02020603050405020304" pitchFamily="18" charset="0"/>
                </a:rPr>
                <a:t>a</a:t>
              </a:r>
              <a:r>
                <a:rPr lang="en-US" altLang="zh-CN" sz="2400" b="1" i="1" baseline="-25000">
                  <a:latin typeface="Times New Roman" panose="02020603050405020304" pitchFamily="18" charset="0"/>
                </a:rPr>
                <a:t>i</a:t>
              </a:r>
              <a:r>
                <a:rPr lang="en-US" altLang="zh-CN" sz="2400" b="1">
                  <a:latin typeface="Times New Roman" panose="02020603050405020304" pitchFamily="18" charset="0"/>
                </a:rPr>
                <a:t>      </a:t>
              </a:r>
              <a:r>
                <a:rPr lang="en-US" altLang="zh-CN" sz="2400" b="1" i="1">
                  <a:latin typeface="Times New Roman" panose="02020603050405020304" pitchFamily="18" charset="0"/>
                </a:rPr>
                <a:t>u</a:t>
              </a:r>
              <a:r>
                <a:rPr lang="en-US" altLang="zh-CN" sz="2400" b="1" i="1" baseline="-25000">
                  <a:latin typeface="Times New Roman" panose="02020603050405020304" pitchFamily="18" charset="0"/>
                </a:rPr>
                <a:t>i</a:t>
              </a:r>
              <a:endParaRPr lang="en-US" altLang="zh-CN" sz="2400" b="1" baseline="-25000">
                <a:latin typeface="Times New Roman" panose="02020603050405020304" pitchFamily="18" charset="0"/>
              </a:endParaRPr>
            </a:p>
            <a:p>
              <a:pPr algn="just" eaLnBrk="1" hangingPunct="1">
                <a:lnSpc>
                  <a:spcPct val="200000"/>
                </a:lnSpc>
                <a:spcBef>
                  <a:spcPct val="0"/>
                </a:spcBef>
                <a:buFontTx/>
                <a:buNone/>
              </a:pPr>
              <a:r>
                <a:rPr lang="en-US" altLang="zh-CN" sz="2400" b="1" i="1">
                  <a:latin typeface="Times New Roman" panose="02020603050405020304" pitchFamily="18" charset="0"/>
                </a:rPr>
                <a:t>   A</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                                                     5</a:t>
              </a:r>
              <a:endParaRPr lang="en-US" altLang="zh-CN" sz="2400" b="1">
                <a:latin typeface="Times New Roman" panose="02020603050405020304" pitchFamily="18" charset="0"/>
              </a:endParaRPr>
            </a:p>
            <a:p>
              <a:pPr algn="just" eaLnBrk="1" hangingPunct="1">
                <a:lnSpc>
                  <a:spcPct val="200000"/>
                </a:lnSpc>
                <a:spcBef>
                  <a:spcPct val="0"/>
                </a:spcBef>
                <a:buFontTx/>
                <a:buNone/>
              </a:pPr>
              <a:r>
                <a:rPr lang="en-US" altLang="zh-CN" sz="2400" b="1">
                  <a:latin typeface="Times New Roman" panose="02020603050405020304" pitchFamily="18" charset="0"/>
                </a:rPr>
                <a:t>   </a:t>
              </a:r>
              <a:r>
                <a:rPr lang="en-US" altLang="zh-CN" sz="2400" b="1" i="1">
                  <a:latin typeface="Times New Roman" panose="02020603050405020304" pitchFamily="18" charset="0"/>
                </a:rPr>
                <a:t>A</a:t>
              </a:r>
              <a:r>
                <a:rPr lang="en-US" altLang="zh-CN" sz="2400" b="1" baseline="-25000">
                  <a:latin typeface="Times New Roman" panose="02020603050405020304" pitchFamily="18" charset="0"/>
                </a:rPr>
                <a:t>2</a:t>
              </a:r>
              <a:r>
                <a:rPr lang="en-US" altLang="zh-CN" sz="2400" b="1">
                  <a:latin typeface="Times New Roman" panose="02020603050405020304" pitchFamily="18" charset="0"/>
                </a:rPr>
                <a:t>                                                    6</a:t>
              </a:r>
              <a:endParaRPr lang="en-US" altLang="zh-CN" sz="2400" b="1">
                <a:latin typeface="Times New Roman" panose="02020603050405020304" pitchFamily="18" charset="0"/>
              </a:endParaRPr>
            </a:p>
            <a:p>
              <a:pPr algn="just" eaLnBrk="1" hangingPunct="1">
                <a:spcBef>
                  <a:spcPct val="0"/>
                </a:spcBef>
                <a:buFontTx/>
                <a:buNone/>
              </a:pPr>
              <a:r>
                <a:rPr lang="zh-CN" altLang="en-US" sz="2400" b="1">
                  <a:latin typeface="Times New Roman" panose="02020603050405020304" pitchFamily="18" charset="0"/>
                </a:rPr>
                <a:t>销量</a:t>
              </a:r>
              <a:r>
                <a:rPr lang="en-US" altLang="zh-CN" sz="2400" b="1" i="1">
                  <a:latin typeface="Times New Roman" panose="02020603050405020304" pitchFamily="18" charset="0"/>
                </a:rPr>
                <a:t>b</a:t>
              </a:r>
              <a:r>
                <a:rPr lang="en-US" altLang="zh-CN" sz="2400" b="1" i="1" baseline="-25000">
                  <a:latin typeface="Times New Roman" panose="02020603050405020304" pitchFamily="18" charset="0"/>
                </a:rPr>
                <a:t>j</a:t>
              </a:r>
              <a:r>
                <a:rPr lang="en-US" altLang="zh-CN" sz="2400" b="1">
                  <a:latin typeface="Times New Roman" panose="02020603050405020304" pitchFamily="18" charset="0"/>
                </a:rPr>
                <a:t>        6            4           1</a:t>
              </a:r>
              <a:endParaRPr lang="en-US" altLang="zh-CN" sz="2400" b="1">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v</a:t>
              </a:r>
              <a:r>
                <a:rPr lang="en-US" altLang="zh-CN" sz="2400" b="1" i="1" baseline="-25000">
                  <a:latin typeface="Times New Roman" panose="02020603050405020304" pitchFamily="18" charset="0"/>
                  <a:cs typeface="Times New Roman" panose="02020603050405020304" pitchFamily="18" charset="0"/>
                </a:rPr>
                <a:t>j</a:t>
              </a:r>
              <a:r>
                <a:rPr lang="en-US" altLang="zh-CN" sz="2400" b="1">
                  <a:latin typeface="Times New Roman" panose="02020603050405020304" pitchFamily="18" charset="0"/>
                  <a:cs typeface="Times New Roman" panose="02020603050405020304" pitchFamily="18" charset="0"/>
                </a:rPr>
                <a:t>      </a:t>
              </a:r>
              <a:endParaRPr lang="zh-CN" altLang="zh-CN" sz="2400" b="1">
                <a:latin typeface="Times New Roman" panose="02020603050405020304" pitchFamily="18" charset="0"/>
                <a:cs typeface="Times New Roman" panose="02020603050405020304" pitchFamily="18" charset="0"/>
              </a:endParaRPr>
            </a:p>
          </p:txBody>
        </p:sp>
        <p:cxnSp>
          <p:nvCxnSpPr>
            <p:cNvPr id="73780" name="AutoShape 7"/>
            <p:cNvCxnSpPr>
              <a:cxnSpLocks noChangeShapeType="1"/>
            </p:cNvCxnSpPr>
            <p:nvPr/>
          </p:nvCxnSpPr>
          <p:spPr bwMode="auto">
            <a:xfrm>
              <a:off x="1410341" y="2059653"/>
              <a:ext cx="6233493" cy="1588"/>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3781" name="AutoShape 14"/>
            <p:cNvCxnSpPr>
              <a:cxnSpLocks noChangeShapeType="1"/>
            </p:cNvCxnSpPr>
            <p:nvPr/>
          </p:nvCxnSpPr>
          <p:spPr bwMode="auto">
            <a:xfrm rot="5400000">
              <a:off x="72200" y="3429000"/>
              <a:ext cx="2713850" cy="794"/>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sp>
          <p:nvSpPr>
            <p:cNvPr id="73782" name="Text Box 22"/>
            <p:cNvSpPr txBox="1">
              <a:spLocks noChangeArrowheads="1"/>
            </p:cNvSpPr>
            <p:nvPr/>
          </p:nvSpPr>
          <p:spPr bwMode="auto">
            <a:xfrm>
              <a:off x="3071802" y="2543152"/>
              <a:ext cx="428628" cy="31434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3</a:t>
              </a:r>
              <a:endParaRPr lang="zh-CN" altLang="zh-CN" sz="2400" b="1">
                <a:latin typeface="Arial" panose="020B0604020202020204" pitchFamily="34" charset="0"/>
              </a:endParaRPr>
            </a:p>
          </p:txBody>
        </p:sp>
        <p:cxnSp>
          <p:nvCxnSpPr>
            <p:cNvPr id="73783" name="AutoShape 14"/>
            <p:cNvCxnSpPr>
              <a:cxnSpLocks noChangeShapeType="1"/>
            </p:cNvCxnSpPr>
            <p:nvPr/>
          </p:nvCxnSpPr>
          <p:spPr bwMode="auto">
            <a:xfrm rot="5400000">
              <a:off x="1142976" y="3429000"/>
              <a:ext cx="2714644" cy="1588"/>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3784" name="AutoShape 14"/>
            <p:cNvCxnSpPr>
              <a:cxnSpLocks noChangeShapeType="1"/>
            </p:cNvCxnSpPr>
            <p:nvPr/>
          </p:nvCxnSpPr>
          <p:spPr bwMode="auto">
            <a:xfrm rot="16200000" flipH="1">
              <a:off x="2143107" y="3428999"/>
              <a:ext cx="2714644" cy="1"/>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3785" name="AutoShape 14"/>
            <p:cNvCxnSpPr>
              <a:cxnSpLocks noChangeShapeType="1"/>
            </p:cNvCxnSpPr>
            <p:nvPr/>
          </p:nvCxnSpPr>
          <p:spPr bwMode="auto">
            <a:xfrm rot="5400000">
              <a:off x="3215075" y="3428603"/>
              <a:ext cx="2714644" cy="794"/>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3786" name="AutoShape 14"/>
            <p:cNvCxnSpPr>
              <a:cxnSpLocks noChangeShapeType="1"/>
            </p:cNvCxnSpPr>
            <p:nvPr/>
          </p:nvCxnSpPr>
          <p:spPr bwMode="auto">
            <a:xfrm rot="5400000">
              <a:off x="4286645" y="3428603"/>
              <a:ext cx="2714644" cy="794"/>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3787" name="AutoShape 14"/>
            <p:cNvCxnSpPr>
              <a:cxnSpLocks noChangeShapeType="1"/>
            </p:cNvCxnSpPr>
            <p:nvPr/>
          </p:nvCxnSpPr>
          <p:spPr bwMode="auto">
            <a:xfrm rot="5400000">
              <a:off x="5500694" y="3429000"/>
              <a:ext cx="2714644" cy="1588"/>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3788" name="AutoShape 14"/>
            <p:cNvCxnSpPr>
              <a:cxnSpLocks noChangeShapeType="1"/>
            </p:cNvCxnSpPr>
            <p:nvPr/>
          </p:nvCxnSpPr>
          <p:spPr bwMode="auto">
            <a:xfrm rot="5400000">
              <a:off x="6287306" y="3429000"/>
              <a:ext cx="2713850" cy="794"/>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3789" name="AutoShape 7"/>
            <p:cNvCxnSpPr>
              <a:cxnSpLocks noChangeShapeType="1"/>
            </p:cNvCxnSpPr>
            <p:nvPr/>
          </p:nvCxnSpPr>
          <p:spPr bwMode="auto">
            <a:xfrm>
              <a:off x="1428728" y="2500306"/>
              <a:ext cx="6233493" cy="1588"/>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3790" name="AutoShape 7"/>
            <p:cNvCxnSpPr>
              <a:cxnSpLocks noChangeShapeType="1"/>
            </p:cNvCxnSpPr>
            <p:nvPr/>
          </p:nvCxnSpPr>
          <p:spPr bwMode="auto">
            <a:xfrm>
              <a:off x="1428728" y="3213098"/>
              <a:ext cx="6233493" cy="1588"/>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3791" name="AutoShape 7"/>
            <p:cNvCxnSpPr>
              <a:cxnSpLocks noChangeShapeType="1"/>
            </p:cNvCxnSpPr>
            <p:nvPr/>
          </p:nvCxnSpPr>
          <p:spPr bwMode="auto">
            <a:xfrm>
              <a:off x="1428728" y="3856040"/>
              <a:ext cx="6233493" cy="1588"/>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3792" name="AutoShape 7"/>
            <p:cNvCxnSpPr>
              <a:cxnSpLocks noChangeShapeType="1"/>
            </p:cNvCxnSpPr>
            <p:nvPr/>
          </p:nvCxnSpPr>
          <p:spPr bwMode="auto">
            <a:xfrm>
              <a:off x="1428728" y="4356106"/>
              <a:ext cx="6233493" cy="1588"/>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3793" name="AutoShape 7"/>
            <p:cNvCxnSpPr>
              <a:cxnSpLocks noChangeShapeType="1"/>
            </p:cNvCxnSpPr>
            <p:nvPr/>
          </p:nvCxnSpPr>
          <p:spPr bwMode="auto">
            <a:xfrm>
              <a:off x="1428728" y="4784734"/>
              <a:ext cx="6233493" cy="1588"/>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sp>
          <p:nvSpPr>
            <p:cNvPr id="73794" name="Text Box 22"/>
            <p:cNvSpPr txBox="1">
              <a:spLocks noChangeArrowheads="1"/>
            </p:cNvSpPr>
            <p:nvPr/>
          </p:nvSpPr>
          <p:spPr bwMode="auto">
            <a:xfrm>
              <a:off x="4143372" y="2500306"/>
              <a:ext cx="428628" cy="31434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2</a:t>
              </a:r>
              <a:endParaRPr lang="zh-CN" altLang="zh-CN" sz="2400" b="1">
                <a:latin typeface="Arial" panose="020B0604020202020204" pitchFamily="34" charset="0"/>
              </a:endParaRPr>
            </a:p>
          </p:txBody>
        </p:sp>
        <p:sp>
          <p:nvSpPr>
            <p:cNvPr id="73795" name="Text Box 22"/>
            <p:cNvSpPr txBox="1">
              <a:spLocks noChangeArrowheads="1"/>
            </p:cNvSpPr>
            <p:nvPr/>
          </p:nvSpPr>
          <p:spPr bwMode="auto">
            <a:xfrm>
              <a:off x="5214942" y="2500306"/>
              <a:ext cx="428628" cy="31434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7</a:t>
              </a:r>
              <a:endParaRPr lang="zh-CN" altLang="zh-CN" sz="2400" b="1">
                <a:latin typeface="Arial" panose="020B0604020202020204" pitchFamily="34" charset="0"/>
              </a:endParaRPr>
            </a:p>
          </p:txBody>
        </p:sp>
        <p:sp>
          <p:nvSpPr>
            <p:cNvPr id="73796" name="Text Box 22"/>
            <p:cNvSpPr txBox="1">
              <a:spLocks noChangeArrowheads="1"/>
            </p:cNvSpPr>
            <p:nvPr/>
          </p:nvSpPr>
          <p:spPr bwMode="auto">
            <a:xfrm>
              <a:off x="3071802" y="3257532"/>
              <a:ext cx="428628" cy="31434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7</a:t>
              </a:r>
              <a:endParaRPr lang="zh-CN" altLang="zh-CN" sz="2400" b="1">
                <a:latin typeface="Arial" panose="020B0604020202020204" pitchFamily="34" charset="0"/>
              </a:endParaRPr>
            </a:p>
          </p:txBody>
        </p:sp>
        <p:sp>
          <p:nvSpPr>
            <p:cNvPr id="73797" name="Text Box 22"/>
            <p:cNvSpPr txBox="1">
              <a:spLocks noChangeArrowheads="1"/>
            </p:cNvSpPr>
            <p:nvPr/>
          </p:nvSpPr>
          <p:spPr bwMode="auto">
            <a:xfrm>
              <a:off x="4143372" y="3214686"/>
              <a:ext cx="428628" cy="31434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5</a:t>
              </a:r>
              <a:endParaRPr lang="zh-CN" altLang="zh-CN" sz="2400" b="1">
                <a:latin typeface="Arial" panose="020B0604020202020204" pitchFamily="34" charset="0"/>
              </a:endParaRPr>
            </a:p>
          </p:txBody>
        </p:sp>
        <p:sp>
          <p:nvSpPr>
            <p:cNvPr id="73798" name="Text Box 22"/>
            <p:cNvSpPr txBox="1">
              <a:spLocks noChangeArrowheads="1"/>
            </p:cNvSpPr>
            <p:nvPr/>
          </p:nvSpPr>
          <p:spPr bwMode="auto">
            <a:xfrm>
              <a:off x="5214942" y="3214686"/>
              <a:ext cx="428628" cy="31434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2</a:t>
              </a:r>
              <a:endParaRPr lang="zh-CN" altLang="zh-CN" sz="2400" b="1">
                <a:latin typeface="Arial" panose="020B0604020202020204" pitchFamily="34" charset="0"/>
              </a:endParaRPr>
            </a:p>
          </p:txBody>
        </p:sp>
      </p:grpSp>
      <p:grpSp>
        <p:nvGrpSpPr>
          <p:cNvPr id="5" name="组合 89"/>
          <p:cNvGrpSpPr/>
          <p:nvPr/>
        </p:nvGrpSpPr>
        <p:grpSpPr bwMode="auto">
          <a:xfrm>
            <a:off x="3998913" y="1276350"/>
            <a:ext cx="1938337" cy="1787525"/>
            <a:chOff x="4505969" y="2429662"/>
            <a:chExt cx="1937384" cy="1785950"/>
          </a:xfrm>
        </p:grpSpPr>
        <p:cxnSp>
          <p:nvCxnSpPr>
            <p:cNvPr id="83" name="直接连接符 82"/>
            <p:cNvCxnSpPr/>
            <p:nvPr/>
          </p:nvCxnSpPr>
          <p:spPr>
            <a:xfrm rot="5400000">
              <a:off x="3751039" y="3321050"/>
              <a:ext cx="1785950" cy="3173"/>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73776" name="Text Box 22"/>
            <p:cNvSpPr txBox="1">
              <a:spLocks noChangeArrowheads="1"/>
            </p:cNvSpPr>
            <p:nvPr/>
          </p:nvSpPr>
          <p:spPr bwMode="auto">
            <a:xfrm>
              <a:off x="4505969" y="3407892"/>
              <a:ext cx="428628" cy="31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1</a:t>
              </a:r>
              <a:endParaRPr lang="zh-CN" altLang="zh-CN" sz="2400" b="1">
                <a:latin typeface="Arial" panose="020B0604020202020204" pitchFamily="34" charset="0"/>
              </a:endParaRPr>
            </a:p>
          </p:txBody>
        </p:sp>
        <p:sp>
          <p:nvSpPr>
            <p:cNvPr id="73777" name="Text Box 38"/>
            <p:cNvSpPr txBox="1">
              <a:spLocks noChangeArrowheads="1"/>
            </p:cNvSpPr>
            <p:nvPr/>
          </p:nvSpPr>
          <p:spPr bwMode="auto">
            <a:xfrm>
              <a:off x="5551330" y="3410198"/>
              <a:ext cx="428628" cy="338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dist" eaLnBrk="1" hangingPunct="1">
                <a:lnSpc>
                  <a:spcPct val="72000"/>
                </a:lnSpc>
                <a:spcBef>
                  <a:spcPct val="0"/>
                </a:spcBef>
                <a:buFontTx/>
                <a:buNone/>
              </a:pPr>
              <a:r>
                <a:rPr lang="zh-CN" altLang="en-US" sz="2400" b="1">
                  <a:latin typeface="Times New Roman" panose="02020603050405020304" pitchFamily="18" charset="0"/>
                </a:rPr>
                <a:t>＼</a:t>
              </a:r>
              <a:endParaRPr lang="zh-CN" altLang="zh-CN" sz="2400">
                <a:latin typeface="Arial" panose="020B0604020202020204" pitchFamily="34" charset="0"/>
              </a:endParaRPr>
            </a:p>
          </p:txBody>
        </p:sp>
        <p:sp>
          <p:nvSpPr>
            <p:cNvPr id="73778" name="Text Box 22"/>
            <p:cNvSpPr txBox="1">
              <a:spLocks noChangeArrowheads="1"/>
            </p:cNvSpPr>
            <p:nvPr/>
          </p:nvSpPr>
          <p:spPr bwMode="auto">
            <a:xfrm>
              <a:off x="6014725" y="3402400"/>
              <a:ext cx="428628" cy="31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5</a:t>
              </a:r>
              <a:endParaRPr lang="zh-CN" altLang="zh-CN" sz="2400" b="1">
                <a:latin typeface="Arial" panose="020B0604020202020204" pitchFamily="34" charset="0"/>
              </a:endParaRPr>
            </a:p>
          </p:txBody>
        </p:sp>
      </p:grpSp>
      <p:grpSp>
        <p:nvGrpSpPr>
          <p:cNvPr id="6" name="组合 90"/>
          <p:cNvGrpSpPr/>
          <p:nvPr/>
        </p:nvGrpSpPr>
        <p:grpSpPr bwMode="auto">
          <a:xfrm>
            <a:off x="1779588" y="1530350"/>
            <a:ext cx="4286250" cy="1538288"/>
            <a:chOff x="2285984" y="2682674"/>
            <a:chExt cx="4286280" cy="1538563"/>
          </a:xfrm>
        </p:grpSpPr>
        <p:cxnSp>
          <p:nvCxnSpPr>
            <p:cNvPr id="88" name="直接连接符 87"/>
            <p:cNvCxnSpPr/>
            <p:nvPr/>
          </p:nvCxnSpPr>
          <p:spPr>
            <a:xfrm flipV="1">
              <a:off x="2285984" y="2714430"/>
              <a:ext cx="4286280" cy="71451"/>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73772" name="Text Box 22"/>
            <p:cNvSpPr txBox="1">
              <a:spLocks noChangeArrowheads="1"/>
            </p:cNvSpPr>
            <p:nvPr/>
          </p:nvSpPr>
          <p:spPr bwMode="auto">
            <a:xfrm>
              <a:off x="2428860" y="2682674"/>
              <a:ext cx="428628" cy="31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1</a:t>
              </a:r>
              <a:endParaRPr lang="zh-CN" altLang="zh-CN" sz="2400" b="1">
                <a:latin typeface="Arial" panose="020B0604020202020204" pitchFamily="34" charset="0"/>
              </a:endParaRPr>
            </a:p>
          </p:txBody>
        </p:sp>
        <p:sp>
          <p:nvSpPr>
            <p:cNvPr id="73773" name="Text Box 22"/>
            <p:cNvSpPr txBox="1">
              <a:spLocks noChangeArrowheads="1"/>
            </p:cNvSpPr>
            <p:nvPr/>
          </p:nvSpPr>
          <p:spPr bwMode="auto">
            <a:xfrm>
              <a:off x="2786051" y="3906892"/>
              <a:ext cx="428628" cy="31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5</a:t>
              </a:r>
              <a:endParaRPr lang="zh-CN" altLang="zh-CN" sz="2400" b="1">
                <a:latin typeface="Arial" panose="020B0604020202020204" pitchFamily="34" charset="0"/>
              </a:endParaRPr>
            </a:p>
          </p:txBody>
        </p:sp>
        <p:sp>
          <p:nvSpPr>
            <p:cNvPr id="73774" name="Text Box 38"/>
            <p:cNvSpPr txBox="1">
              <a:spLocks noChangeArrowheads="1"/>
            </p:cNvSpPr>
            <p:nvPr/>
          </p:nvSpPr>
          <p:spPr bwMode="auto">
            <a:xfrm>
              <a:off x="2417723" y="3883021"/>
              <a:ext cx="428628" cy="338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dist" eaLnBrk="1" hangingPunct="1">
                <a:lnSpc>
                  <a:spcPct val="72000"/>
                </a:lnSpc>
                <a:spcBef>
                  <a:spcPct val="0"/>
                </a:spcBef>
                <a:buFontTx/>
                <a:buNone/>
              </a:pPr>
              <a:r>
                <a:rPr lang="zh-CN" altLang="en-US" sz="2400" b="1">
                  <a:latin typeface="Times New Roman" panose="02020603050405020304" pitchFamily="18" charset="0"/>
                </a:rPr>
                <a:t>＼</a:t>
              </a:r>
              <a:endParaRPr lang="zh-CN" altLang="zh-CN" sz="2400">
                <a:latin typeface="Arial" panose="020B0604020202020204" pitchFamily="34" charset="0"/>
              </a:endParaRPr>
            </a:p>
          </p:txBody>
        </p:sp>
      </p:grpSp>
      <p:sp>
        <p:nvSpPr>
          <p:cNvPr id="89" name="Text Box 22"/>
          <p:cNvSpPr txBox="1">
            <a:spLocks noChangeArrowheads="1"/>
          </p:cNvSpPr>
          <p:nvPr/>
        </p:nvSpPr>
        <p:spPr bwMode="auto">
          <a:xfrm>
            <a:off x="1922463" y="2178050"/>
            <a:ext cx="4286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5</a:t>
            </a:r>
            <a:endParaRPr lang="zh-CN" altLang="zh-CN" sz="2400" b="1">
              <a:latin typeface="Arial" panose="020B0604020202020204" pitchFamily="34" charset="0"/>
            </a:endParaRPr>
          </a:p>
        </p:txBody>
      </p:sp>
      <p:sp>
        <p:nvSpPr>
          <p:cNvPr id="92" name="Text Box 22"/>
          <p:cNvSpPr txBox="1">
            <a:spLocks noChangeArrowheads="1"/>
          </p:cNvSpPr>
          <p:nvPr/>
        </p:nvSpPr>
        <p:spPr bwMode="auto">
          <a:xfrm>
            <a:off x="6300788" y="1530350"/>
            <a:ext cx="4286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2</a:t>
            </a:r>
            <a:endParaRPr lang="zh-CN" altLang="zh-CN" sz="2400" b="1">
              <a:latin typeface="Arial" panose="020B0604020202020204" pitchFamily="34" charset="0"/>
            </a:endParaRPr>
          </a:p>
        </p:txBody>
      </p:sp>
      <p:sp>
        <p:nvSpPr>
          <p:cNvPr id="93" name="Text Box 22"/>
          <p:cNvSpPr txBox="1">
            <a:spLocks noChangeArrowheads="1"/>
          </p:cNvSpPr>
          <p:nvPr/>
        </p:nvSpPr>
        <p:spPr bwMode="auto">
          <a:xfrm>
            <a:off x="1979613" y="3213100"/>
            <a:ext cx="4286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1</a:t>
            </a:r>
            <a:endParaRPr lang="zh-CN" altLang="zh-CN" sz="2400" b="1">
              <a:latin typeface="Arial" panose="020B0604020202020204" pitchFamily="34" charset="0"/>
            </a:endParaRPr>
          </a:p>
        </p:txBody>
      </p:sp>
      <p:sp>
        <p:nvSpPr>
          <p:cNvPr id="94" name="Text Box 22"/>
          <p:cNvSpPr txBox="1">
            <a:spLocks noChangeArrowheads="1"/>
          </p:cNvSpPr>
          <p:nvPr/>
        </p:nvSpPr>
        <p:spPr bwMode="auto">
          <a:xfrm>
            <a:off x="3065463" y="3186113"/>
            <a:ext cx="4286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0</a:t>
            </a:r>
            <a:endParaRPr lang="zh-CN" altLang="zh-CN" sz="2400" b="1">
              <a:latin typeface="Arial" panose="020B0604020202020204" pitchFamily="34" charset="0"/>
            </a:endParaRPr>
          </a:p>
        </p:txBody>
      </p:sp>
      <p:sp>
        <p:nvSpPr>
          <p:cNvPr id="95" name="Text Box 22"/>
          <p:cNvSpPr txBox="1">
            <a:spLocks noChangeArrowheads="1"/>
          </p:cNvSpPr>
          <p:nvPr/>
        </p:nvSpPr>
        <p:spPr bwMode="auto">
          <a:xfrm>
            <a:off x="6300788" y="2251075"/>
            <a:ext cx="4286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6</a:t>
            </a:r>
            <a:endParaRPr lang="zh-CN" altLang="zh-CN" sz="2400" b="1">
              <a:latin typeface="Arial" panose="020B0604020202020204" pitchFamily="34" charset="0"/>
            </a:endParaRPr>
          </a:p>
        </p:txBody>
      </p:sp>
      <p:sp>
        <p:nvSpPr>
          <p:cNvPr id="96" name="Text Box 22"/>
          <p:cNvSpPr txBox="1">
            <a:spLocks noChangeArrowheads="1"/>
          </p:cNvSpPr>
          <p:nvPr/>
        </p:nvSpPr>
        <p:spPr bwMode="auto">
          <a:xfrm>
            <a:off x="3995738" y="3216275"/>
            <a:ext cx="642937"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-4</a:t>
            </a:r>
            <a:endParaRPr lang="zh-CN" altLang="zh-CN" sz="2400" b="1">
              <a:latin typeface="Arial" panose="020B0604020202020204" pitchFamily="34" charset="0"/>
            </a:endParaRPr>
          </a:p>
        </p:txBody>
      </p:sp>
      <p:grpSp>
        <p:nvGrpSpPr>
          <p:cNvPr id="7" name="组合 116"/>
          <p:cNvGrpSpPr/>
          <p:nvPr/>
        </p:nvGrpSpPr>
        <p:grpSpPr bwMode="auto">
          <a:xfrm>
            <a:off x="539750" y="3949700"/>
            <a:ext cx="4071938" cy="2071688"/>
            <a:chOff x="2571736" y="4511467"/>
            <a:chExt cx="4071966" cy="2070910"/>
          </a:xfrm>
        </p:grpSpPr>
        <p:sp>
          <p:nvSpPr>
            <p:cNvPr id="97" name="内容占位符 2"/>
            <p:cNvSpPr txBox="1"/>
            <p:nvPr/>
          </p:nvSpPr>
          <p:spPr bwMode="auto">
            <a:xfrm>
              <a:off x="2609836" y="4511467"/>
              <a:ext cx="4033866" cy="2070910"/>
            </a:xfrm>
            <a:prstGeom prst="rect">
              <a:avLst/>
            </a:prstGeom>
            <a:noFill/>
            <a:ln w="9525">
              <a:noFill/>
              <a:miter lim="800000"/>
            </a:ln>
          </p:spPr>
          <p:txBody>
            <a:bodyPr/>
            <a:lstStyle/>
            <a:p>
              <a:pPr marL="342900" indent="-342900">
                <a:spcBef>
                  <a:spcPct val="20000"/>
                </a:spcBef>
                <a:buFont typeface="Arial" panose="020B0604020202020204" pitchFamily="34" charset="0"/>
                <a:buNone/>
                <a:defRPr/>
              </a:pPr>
              <a:r>
                <a:rPr lang="en-US" altLang="zh-CN" sz="2400" b="1" i="1" dirty="0">
                  <a:latin typeface="Times New Roman" panose="02020603050405020304" pitchFamily="18" charset="0"/>
                  <a:ea typeface="+mn-ea"/>
                  <a:cs typeface="Times New Roman" panose="02020603050405020304" pitchFamily="18" charset="0"/>
                </a:rPr>
                <a:t>       x</a:t>
              </a:r>
              <a:r>
                <a:rPr lang="en-US" altLang="zh-CN" sz="2400" b="1" baseline="30000" dirty="0">
                  <a:latin typeface="Times New Roman" panose="02020603050405020304" pitchFamily="18" charset="0"/>
                  <a:ea typeface="+mn-ea"/>
                  <a:cs typeface="Times New Roman" panose="02020603050405020304" pitchFamily="18" charset="0"/>
                </a:rPr>
                <a:t>(0) </a:t>
              </a:r>
              <a:r>
                <a:rPr lang="zh-CN" altLang="en-US" sz="2400" b="1" dirty="0">
                  <a:latin typeface="Times New Roman" panose="02020603050405020304" pitchFamily="18" charset="0"/>
                  <a:ea typeface="+mn-ea"/>
                  <a:cs typeface="Times New Roman" panose="02020603050405020304" pitchFamily="18" charset="0"/>
                </a:rPr>
                <a:t>的检验数和回路</a:t>
              </a:r>
              <a:endParaRPr lang="en-US" altLang="zh-CN"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B</a:t>
              </a:r>
              <a:r>
                <a:rPr lang="en-US" sz="2400" b="1" baseline="-25000" dirty="0">
                  <a:latin typeface="Times New Roman" panose="02020603050405020304" pitchFamily="18" charset="0"/>
                  <a:ea typeface="+mn-ea"/>
                  <a:cs typeface="Times New Roman" panose="02020603050405020304" pitchFamily="18" charset="0"/>
                </a:rPr>
                <a:t>1</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B</a:t>
              </a:r>
              <a:r>
                <a:rPr lang="en-US" sz="2400" b="1" baseline="-25000" dirty="0">
                  <a:latin typeface="Times New Roman" panose="02020603050405020304" pitchFamily="18" charset="0"/>
                  <a:ea typeface="+mn-ea"/>
                  <a:cs typeface="Times New Roman" panose="02020603050405020304" pitchFamily="18" charset="0"/>
                </a:rPr>
                <a:t>2</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B</a:t>
              </a:r>
              <a:r>
                <a:rPr lang="en-US" sz="2400" b="1" baseline="-25000" dirty="0">
                  <a:latin typeface="Times New Roman" panose="02020603050405020304" pitchFamily="18" charset="0"/>
                  <a:ea typeface="+mn-ea"/>
                  <a:cs typeface="Times New Roman" panose="02020603050405020304" pitchFamily="18" charset="0"/>
                </a:rPr>
                <a:t>3</a:t>
              </a:r>
              <a:r>
                <a:rPr lang="en-US" sz="2400" b="1" dirty="0">
                  <a:latin typeface="Times New Roman" panose="02020603050405020304" pitchFamily="18" charset="0"/>
                  <a:ea typeface="+mn-ea"/>
                  <a:cs typeface="Times New Roman" panose="02020603050405020304" pitchFamily="18" charset="0"/>
                </a:rPr>
                <a:t>      </a:t>
              </a:r>
              <a:endParaRPr lang="en-US" sz="2400" b="1" dirty="0">
                <a:latin typeface="Times New Roman" panose="02020603050405020304" pitchFamily="18" charset="0"/>
                <a:ea typeface="+mn-ea"/>
                <a:cs typeface="Times New Roman" panose="02020603050405020304" pitchFamily="18" charset="0"/>
              </a:endParaRPr>
            </a:p>
            <a:p>
              <a:pPr marL="342900" indent="-342900">
                <a:lnSpc>
                  <a:spcPct val="150000"/>
                </a:lnSpc>
                <a:spcBef>
                  <a:spcPct val="20000"/>
                </a:spcBef>
                <a:buFont typeface="Arial" panose="020B0604020202020204" pitchFamily="34" charset="0"/>
                <a:buNone/>
                <a:defRPr/>
              </a:pP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A</a:t>
              </a:r>
              <a:r>
                <a:rPr lang="en-US" sz="2400" b="1" baseline="-25000" dirty="0">
                  <a:latin typeface="Times New Roman" panose="02020603050405020304" pitchFamily="18" charset="0"/>
                  <a:ea typeface="+mn-ea"/>
                  <a:cs typeface="Times New Roman" panose="02020603050405020304" pitchFamily="18" charset="0"/>
                </a:rPr>
                <a:t>1</a:t>
              </a:r>
              <a:r>
                <a:rPr lang="en-US" sz="2400" b="1" dirty="0">
                  <a:latin typeface="Times New Roman" panose="02020603050405020304" pitchFamily="18" charset="0"/>
                  <a:ea typeface="+mn-ea"/>
                  <a:cs typeface="Times New Roman" panose="02020603050405020304" pitchFamily="18" charset="0"/>
                </a:rPr>
                <a:t>      1             4</a:t>
              </a:r>
              <a:endParaRPr lang="en-US" sz="2400" b="1" dirty="0">
                <a:latin typeface="Times New Roman" panose="02020603050405020304" pitchFamily="18" charset="0"/>
                <a:ea typeface="+mn-ea"/>
                <a:cs typeface="Times New Roman" panose="02020603050405020304" pitchFamily="18" charset="0"/>
              </a:endParaRPr>
            </a:p>
            <a:p>
              <a:pPr marL="342900" indent="-342900">
                <a:lnSpc>
                  <a:spcPct val="150000"/>
                </a:lnSpc>
                <a:spcBef>
                  <a:spcPct val="20000"/>
                </a:spcBef>
                <a:buFont typeface="Arial" panose="020B0604020202020204" pitchFamily="34" charset="0"/>
                <a:buNone/>
                <a:defRPr/>
              </a:pP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A</a:t>
              </a:r>
              <a:r>
                <a:rPr lang="en-US" sz="2400" b="1" baseline="-25000" dirty="0">
                  <a:latin typeface="Times New Roman" panose="02020603050405020304" pitchFamily="18" charset="0"/>
                  <a:ea typeface="+mn-ea"/>
                  <a:cs typeface="Times New Roman" panose="02020603050405020304" pitchFamily="18" charset="0"/>
                </a:rPr>
                <a:t>2</a:t>
              </a:r>
              <a:r>
                <a:rPr lang="en-US" sz="2400" b="1" dirty="0">
                  <a:latin typeface="Times New Roman" panose="02020603050405020304" pitchFamily="18" charset="0"/>
                  <a:ea typeface="+mn-ea"/>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     5                             1</a:t>
              </a:r>
              <a:endParaRPr lang="en-US" sz="2400" b="1" dirty="0">
                <a:latin typeface="Times New Roman" panose="02020603050405020304" pitchFamily="18" charset="0"/>
                <a:ea typeface="+mn-ea"/>
                <a:cs typeface="Times New Roman" panose="02020603050405020304" pitchFamily="18" charset="0"/>
              </a:endParaRPr>
            </a:p>
          </p:txBody>
        </p:sp>
        <p:cxnSp>
          <p:nvCxnSpPr>
            <p:cNvPr id="100" name="直接连接符 99"/>
            <p:cNvCxnSpPr/>
            <p:nvPr/>
          </p:nvCxnSpPr>
          <p:spPr>
            <a:xfrm>
              <a:off x="2571736" y="4943105"/>
              <a:ext cx="4071966"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2571736" y="5427111"/>
              <a:ext cx="4071966" cy="15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2571736" y="5999983"/>
              <a:ext cx="4071966"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2571736" y="6569682"/>
              <a:ext cx="4071966" cy="15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rot="5400000">
              <a:off x="1751307" y="5750839"/>
              <a:ext cx="1642446"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rot="5400000">
              <a:off x="2465687" y="5749252"/>
              <a:ext cx="1642445"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rot="5400000">
              <a:off x="3535670" y="5749252"/>
              <a:ext cx="1642445"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rot="5400000">
              <a:off x="4678678" y="5749252"/>
              <a:ext cx="1642445"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rot="5400000">
              <a:off x="5821686" y="5749252"/>
              <a:ext cx="1642445"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3765" name="内容占位符 2"/>
            <p:cNvSpPr txBox="1"/>
            <p:nvPr/>
          </p:nvSpPr>
          <p:spPr bwMode="auto">
            <a:xfrm>
              <a:off x="3929058" y="5438430"/>
              <a:ext cx="428628" cy="27612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ts val="2000"/>
                </a:lnSpc>
                <a:buFont typeface="Arial" panose="020B0604020202020204" pitchFamily="34" charset="0"/>
                <a:buNone/>
              </a:pPr>
              <a:r>
                <a:rPr lang="en-US" altLang="zh-CN" sz="2400" b="1">
                  <a:latin typeface="Times New Roman" panose="02020603050405020304" pitchFamily="18" charset="0"/>
                  <a:cs typeface="Times New Roman" panose="02020603050405020304" pitchFamily="18" charset="0"/>
                </a:rPr>
                <a:t>0</a:t>
              </a:r>
              <a:endParaRPr lang="en-US" altLang="zh-CN" sz="2400" b="1">
                <a:latin typeface="Times New Roman" panose="02020603050405020304" pitchFamily="18" charset="0"/>
                <a:cs typeface="Times New Roman" panose="02020603050405020304" pitchFamily="18" charset="0"/>
              </a:endParaRPr>
            </a:p>
          </p:txBody>
        </p:sp>
        <p:sp>
          <p:nvSpPr>
            <p:cNvPr id="73766" name="内容占位符 2"/>
            <p:cNvSpPr txBox="1"/>
            <p:nvPr/>
          </p:nvSpPr>
          <p:spPr bwMode="auto">
            <a:xfrm>
              <a:off x="5072066" y="5438430"/>
              <a:ext cx="428628" cy="27612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ts val="2000"/>
                </a:lnSpc>
                <a:buFont typeface="Arial" panose="020B0604020202020204" pitchFamily="34" charset="0"/>
                <a:buNone/>
              </a:pPr>
              <a:r>
                <a:rPr lang="en-US" altLang="zh-CN" sz="2400" b="1">
                  <a:latin typeface="Times New Roman" panose="02020603050405020304" pitchFamily="18" charset="0"/>
                  <a:cs typeface="Times New Roman" panose="02020603050405020304" pitchFamily="18" charset="0"/>
                </a:rPr>
                <a:t>0</a:t>
              </a:r>
              <a:endParaRPr lang="en-US" altLang="zh-CN" sz="2400" b="1">
                <a:latin typeface="Times New Roman" panose="02020603050405020304" pitchFamily="18" charset="0"/>
                <a:cs typeface="Times New Roman" panose="02020603050405020304" pitchFamily="18" charset="0"/>
              </a:endParaRPr>
            </a:p>
          </p:txBody>
        </p:sp>
        <p:sp>
          <p:nvSpPr>
            <p:cNvPr id="73767" name="内容占位符 2"/>
            <p:cNvSpPr txBox="1"/>
            <p:nvPr/>
          </p:nvSpPr>
          <p:spPr bwMode="auto">
            <a:xfrm>
              <a:off x="6215074" y="5428909"/>
              <a:ext cx="428628" cy="27612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ts val="2000"/>
                </a:lnSpc>
                <a:buFont typeface="Arial" panose="020B0604020202020204" pitchFamily="34" charset="0"/>
                <a:buNone/>
              </a:pPr>
              <a:r>
                <a:rPr lang="en-US" altLang="zh-CN" sz="2400" b="1">
                  <a:latin typeface="Times New Roman" panose="02020603050405020304" pitchFamily="18" charset="0"/>
                  <a:cs typeface="Times New Roman" panose="02020603050405020304" pitchFamily="18" charset="0"/>
                </a:rPr>
                <a:t>9</a:t>
              </a:r>
              <a:endParaRPr lang="en-US" altLang="zh-CN" sz="2400" b="1">
                <a:latin typeface="Times New Roman" panose="02020603050405020304" pitchFamily="18" charset="0"/>
                <a:cs typeface="Times New Roman" panose="02020603050405020304" pitchFamily="18" charset="0"/>
              </a:endParaRPr>
            </a:p>
          </p:txBody>
        </p:sp>
        <p:sp>
          <p:nvSpPr>
            <p:cNvPr id="73768" name="内容占位符 2"/>
            <p:cNvSpPr txBox="1"/>
            <p:nvPr/>
          </p:nvSpPr>
          <p:spPr bwMode="auto">
            <a:xfrm>
              <a:off x="3929058" y="6009716"/>
              <a:ext cx="428628" cy="27612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ts val="2000"/>
                </a:lnSpc>
                <a:buFont typeface="Arial" panose="020B0604020202020204" pitchFamily="34" charset="0"/>
                <a:buNone/>
              </a:pPr>
              <a:r>
                <a:rPr lang="en-US" altLang="zh-CN" sz="2400" b="1">
                  <a:latin typeface="Times New Roman" panose="02020603050405020304" pitchFamily="18" charset="0"/>
                  <a:cs typeface="Times New Roman" panose="02020603050405020304" pitchFamily="18" charset="0"/>
                </a:rPr>
                <a:t>0</a:t>
              </a:r>
              <a:endParaRPr lang="en-US" altLang="zh-CN" sz="2400" b="1">
                <a:latin typeface="Times New Roman" panose="02020603050405020304" pitchFamily="18" charset="0"/>
                <a:cs typeface="Times New Roman" panose="02020603050405020304" pitchFamily="18" charset="0"/>
              </a:endParaRPr>
            </a:p>
          </p:txBody>
        </p:sp>
        <p:sp>
          <p:nvSpPr>
            <p:cNvPr id="115" name="内容占位符 2"/>
            <p:cNvSpPr txBox="1"/>
            <p:nvPr/>
          </p:nvSpPr>
          <p:spPr bwMode="auto">
            <a:xfrm>
              <a:off x="5000628" y="6009504"/>
              <a:ext cx="500066" cy="276121"/>
            </a:xfrm>
            <a:prstGeom prst="rect">
              <a:avLst/>
            </a:prstGeom>
            <a:noFill/>
            <a:ln w="9525">
              <a:solidFill>
                <a:schemeClr val="tx1"/>
              </a:solidFill>
              <a:miter lim="800000"/>
            </a:ln>
          </p:spPr>
          <p:txBody>
            <a:bodyPr/>
            <a:lstStyle/>
            <a:p>
              <a:pPr marL="342900" indent="-342900">
                <a:lnSpc>
                  <a:spcPts val="2000"/>
                </a:lnSpc>
                <a:spcBef>
                  <a:spcPct val="20000"/>
                </a:spcBef>
                <a:buFont typeface="Arial" panose="020B0604020202020204" pitchFamily="34" charset="0"/>
                <a:buNone/>
                <a:defRPr/>
              </a:pPr>
              <a:r>
                <a:rPr lang="en-US" sz="2400" b="1" dirty="0">
                  <a:latin typeface="Times New Roman" panose="02020603050405020304" pitchFamily="18" charset="0"/>
                  <a:ea typeface="+mn-ea"/>
                  <a:cs typeface="Times New Roman" panose="02020603050405020304" pitchFamily="18" charset="0"/>
                </a:rPr>
                <a:t>-1</a:t>
              </a:r>
              <a:endParaRPr lang="en-US" sz="2400" b="1" dirty="0">
                <a:latin typeface="Times New Roman" panose="02020603050405020304" pitchFamily="18" charset="0"/>
                <a:ea typeface="+mn-ea"/>
                <a:cs typeface="Times New Roman" panose="02020603050405020304" pitchFamily="18" charset="0"/>
              </a:endParaRPr>
            </a:p>
          </p:txBody>
        </p:sp>
        <p:sp>
          <p:nvSpPr>
            <p:cNvPr id="73770" name="内容占位符 2"/>
            <p:cNvSpPr txBox="1"/>
            <p:nvPr/>
          </p:nvSpPr>
          <p:spPr bwMode="auto">
            <a:xfrm>
              <a:off x="6215074" y="6000194"/>
              <a:ext cx="428628" cy="27612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ts val="2000"/>
                </a:lnSpc>
                <a:buFont typeface="Arial" panose="020B0604020202020204" pitchFamily="34" charset="0"/>
                <a:buNone/>
              </a:pPr>
              <a:r>
                <a:rPr lang="en-US" altLang="zh-CN" sz="2400" b="1">
                  <a:latin typeface="Times New Roman" panose="02020603050405020304" pitchFamily="18" charset="0"/>
                  <a:cs typeface="Times New Roman" panose="02020603050405020304" pitchFamily="18" charset="0"/>
                </a:rPr>
                <a:t>0</a:t>
              </a:r>
              <a:endParaRPr lang="en-US" altLang="zh-CN" sz="2400" b="1">
                <a:latin typeface="Times New Roman" panose="02020603050405020304" pitchFamily="18" charset="0"/>
                <a:cs typeface="Times New Roman" panose="02020603050405020304" pitchFamily="18" charset="0"/>
              </a:endParaRPr>
            </a:p>
          </p:txBody>
        </p:sp>
      </p:grpSp>
      <p:sp>
        <p:nvSpPr>
          <p:cNvPr id="118" name="矩形 117"/>
          <p:cNvSpPr/>
          <p:nvPr/>
        </p:nvSpPr>
        <p:spPr>
          <a:xfrm>
            <a:off x="1764030" y="5143500"/>
            <a:ext cx="1071563" cy="642938"/>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3744" name="内容占位符 2"/>
          <p:cNvSpPr>
            <a:spLocks noGrp="1"/>
          </p:cNvSpPr>
          <p:nvPr>
            <p:ph idx="1"/>
          </p:nvPr>
        </p:nvSpPr>
        <p:spPr>
          <a:xfrm>
            <a:off x="8101013" y="4537075"/>
            <a:ext cx="663575" cy="938213"/>
          </a:xfrm>
        </p:spPr>
        <p:txBody>
          <a:bodyPr/>
          <a:lstStyle/>
          <a:p>
            <a:pPr>
              <a:buFont typeface="Arial" panose="020B0604020202020204" pitchFamily="34" charset="0"/>
              <a:buNone/>
            </a:pPr>
            <a:r>
              <a:rPr lang="zh-CN" altLang="en-US" sz="2800" b="1" dirty="0" smtClean="0">
                <a:solidFill>
                  <a:srgbClr val="C00000"/>
                </a:solidFill>
                <a:latin typeface="Times New Roman" panose="02020603050405020304" pitchFamily="18" charset="0"/>
                <a:cs typeface="Times New Roman" panose="02020603050405020304" pitchFamily="18" charset="0"/>
              </a:rPr>
              <a:t>例</a:t>
            </a:r>
            <a:endParaRPr lang="en-US" altLang="zh-CN" sz="2800" b="1" dirty="0" smtClean="0">
              <a:solidFill>
                <a:srgbClr val="C00000"/>
              </a:solidFill>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800" b="1" dirty="0" smtClean="0">
                <a:solidFill>
                  <a:srgbClr val="C00000"/>
                </a:solidFill>
                <a:latin typeface="Times New Roman" panose="02020603050405020304" pitchFamily="18" charset="0"/>
                <a:cs typeface="Times New Roman" panose="02020603050405020304" pitchFamily="18" charset="0"/>
              </a:rPr>
              <a:t>6.3</a:t>
            </a:r>
            <a:endParaRPr lang="zh-CN" altLang="en-US" sz="2800" b="1" dirty="0" smtClean="0">
              <a:solidFill>
                <a:srgbClr val="C00000"/>
              </a:solidFill>
              <a:latin typeface="Times New Roman" panose="02020603050405020304" pitchFamily="18" charset="0"/>
              <a:cs typeface="Times New Roman" panose="02020603050405020304" pitchFamily="18" charset="0"/>
            </a:endParaRPr>
          </a:p>
        </p:txBody>
      </p:sp>
      <p:grpSp>
        <p:nvGrpSpPr>
          <p:cNvPr id="3" name="组合 77"/>
          <p:cNvGrpSpPr/>
          <p:nvPr/>
        </p:nvGrpSpPr>
        <p:grpSpPr bwMode="auto">
          <a:xfrm>
            <a:off x="2994025" y="1276350"/>
            <a:ext cx="2943225" cy="1787525"/>
            <a:chOff x="3500430" y="2429662"/>
            <a:chExt cx="2942923" cy="1785950"/>
          </a:xfrm>
        </p:grpSpPr>
        <p:cxnSp>
          <p:nvCxnSpPr>
            <p:cNvPr id="77" name="直接连接符 76"/>
            <p:cNvCxnSpPr/>
            <p:nvPr/>
          </p:nvCxnSpPr>
          <p:spPr>
            <a:xfrm rot="5400000">
              <a:off x="2821746" y="3321050"/>
              <a:ext cx="1785950" cy="3175"/>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73752" name="Text Box 22"/>
            <p:cNvSpPr txBox="1">
              <a:spLocks noChangeArrowheads="1"/>
            </p:cNvSpPr>
            <p:nvPr/>
          </p:nvSpPr>
          <p:spPr bwMode="auto">
            <a:xfrm>
              <a:off x="3500430" y="2637576"/>
              <a:ext cx="428628" cy="31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4</a:t>
              </a:r>
              <a:endParaRPr lang="zh-CN" altLang="zh-CN" sz="2400" b="1">
                <a:latin typeface="Arial" panose="020B0604020202020204" pitchFamily="34" charset="0"/>
              </a:endParaRPr>
            </a:p>
          </p:txBody>
        </p:sp>
        <p:sp>
          <p:nvSpPr>
            <p:cNvPr id="73753" name="Text Box 22"/>
            <p:cNvSpPr txBox="1">
              <a:spLocks noChangeArrowheads="1"/>
            </p:cNvSpPr>
            <p:nvPr/>
          </p:nvSpPr>
          <p:spPr bwMode="auto">
            <a:xfrm>
              <a:off x="6014725" y="2682955"/>
              <a:ext cx="428628" cy="31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1</a:t>
              </a:r>
              <a:endParaRPr lang="zh-CN" altLang="zh-CN" sz="2400" b="1">
                <a:latin typeface="Arial" panose="020B0604020202020204" pitchFamily="34" charset="0"/>
              </a:endParaRPr>
            </a:p>
          </p:txBody>
        </p:sp>
        <p:sp>
          <p:nvSpPr>
            <p:cNvPr id="73754" name="Text Box 38"/>
            <p:cNvSpPr txBox="1">
              <a:spLocks noChangeArrowheads="1"/>
            </p:cNvSpPr>
            <p:nvPr/>
          </p:nvSpPr>
          <p:spPr bwMode="auto">
            <a:xfrm>
              <a:off x="5510665" y="2659083"/>
              <a:ext cx="428628" cy="338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dist" eaLnBrk="1" hangingPunct="1">
                <a:lnSpc>
                  <a:spcPct val="72000"/>
                </a:lnSpc>
                <a:spcBef>
                  <a:spcPct val="0"/>
                </a:spcBef>
                <a:buFontTx/>
                <a:buNone/>
              </a:pPr>
              <a:r>
                <a:rPr lang="zh-CN" altLang="en-US" sz="2400" b="1">
                  <a:latin typeface="Times New Roman" panose="02020603050405020304" pitchFamily="18" charset="0"/>
                </a:rPr>
                <a:t>＼</a:t>
              </a:r>
              <a:endParaRPr lang="zh-CN" altLang="zh-CN" sz="2400">
                <a:latin typeface="Arial" panose="020B0604020202020204" pitchFamily="34" charset="0"/>
              </a:endParaRPr>
            </a:p>
          </p:txBody>
        </p:sp>
      </p:grpSp>
      <p:sp>
        <p:nvSpPr>
          <p:cNvPr id="66" name="Text Box 22"/>
          <p:cNvSpPr txBox="1">
            <a:spLocks noChangeArrowheads="1"/>
          </p:cNvSpPr>
          <p:nvPr/>
        </p:nvSpPr>
        <p:spPr bwMode="auto">
          <a:xfrm>
            <a:off x="5183188" y="2722563"/>
            <a:ext cx="5619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11</a:t>
            </a:r>
            <a:endParaRPr lang="zh-CN" altLang="zh-CN" sz="2400" b="1">
              <a:latin typeface="Arial" panose="020B0604020202020204" pitchFamily="34" charset="0"/>
            </a:endParaRPr>
          </a:p>
        </p:txBody>
      </p:sp>
      <p:sp>
        <p:nvSpPr>
          <p:cNvPr id="73747" name="文本框 67"/>
          <p:cNvSpPr txBox="1">
            <a:spLocks noChangeArrowheads="1"/>
          </p:cNvSpPr>
          <p:nvPr/>
        </p:nvSpPr>
        <p:spPr bwMode="auto">
          <a:xfrm>
            <a:off x="4217988" y="2362200"/>
            <a:ext cx="4460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AutoNum type="circleNumDbPlain" startAt="2"/>
            </a:pPr>
            <a:r>
              <a:rPr lang="en-US" altLang="zh-CN" sz="1800">
                <a:latin typeface="Adobe Garamond Pro Bold" panose="02020702060506020403" pitchFamily="18" charset="0"/>
              </a:rPr>
              <a:t>   </a:t>
            </a:r>
            <a:endParaRPr lang="zh-CN" altLang="en-US" sz="1800">
              <a:latin typeface="Adobe Garamond Pro Bold" panose="02020702060506020403" pitchFamily="18" charset="0"/>
            </a:endParaRPr>
          </a:p>
        </p:txBody>
      </p:sp>
      <p:sp>
        <p:nvSpPr>
          <p:cNvPr id="73748" name="文本框 68"/>
          <p:cNvSpPr txBox="1">
            <a:spLocks noChangeArrowheads="1"/>
          </p:cNvSpPr>
          <p:nvPr/>
        </p:nvSpPr>
        <p:spPr bwMode="auto">
          <a:xfrm>
            <a:off x="2051050" y="1628775"/>
            <a:ext cx="355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AutoNum type="circleNumDbPlain" startAt="3"/>
            </a:pPr>
            <a:r>
              <a:rPr lang="en-US" altLang="zh-CN" sz="1800">
                <a:latin typeface="Adobe Garamond Pro Bold" panose="02020702060506020403" pitchFamily="18" charset="0"/>
              </a:rPr>
              <a:t>    </a:t>
            </a:r>
            <a:endParaRPr lang="zh-CN" altLang="en-US" sz="1800">
              <a:latin typeface="Adobe Garamond Pro Bold" panose="02020702060506020403" pitchFamily="18" charset="0"/>
            </a:endParaRPr>
          </a:p>
        </p:txBody>
      </p:sp>
      <p:sp>
        <p:nvSpPr>
          <p:cNvPr id="73749" name="文本框 69"/>
          <p:cNvSpPr txBox="1">
            <a:spLocks noChangeArrowheads="1"/>
          </p:cNvSpPr>
          <p:nvPr/>
        </p:nvSpPr>
        <p:spPr bwMode="auto">
          <a:xfrm>
            <a:off x="2051050" y="2349500"/>
            <a:ext cx="433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AutoNum type="circleNumDbPlain" startAt="4"/>
            </a:pPr>
            <a:r>
              <a:rPr lang="en-US" altLang="zh-CN" sz="1800">
                <a:latin typeface="Adobe Garamond Pro Bold" panose="02020702060506020403" pitchFamily="18" charset="0"/>
              </a:rPr>
              <a:t>   </a:t>
            </a:r>
            <a:endParaRPr lang="zh-CN" altLang="en-US" sz="1800">
              <a:latin typeface="Adobe Garamond Pro Bold" panose="02020702060506020403" pitchFamily="18" charset="0"/>
            </a:endParaRPr>
          </a:p>
        </p:txBody>
      </p:sp>
      <p:sp>
        <p:nvSpPr>
          <p:cNvPr id="73750" name="矩形 3"/>
          <p:cNvSpPr>
            <a:spLocks noChangeArrowheads="1"/>
          </p:cNvSpPr>
          <p:nvPr/>
        </p:nvSpPr>
        <p:spPr bwMode="auto">
          <a:xfrm>
            <a:off x="3181350" y="1654175"/>
            <a:ext cx="444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AutoNum type="circleNumDbPlain"/>
            </a:pPr>
            <a:r>
              <a:rPr lang="en-US" altLang="zh-CN" sz="1800">
                <a:latin typeface="Adobe Garamond Pro Bold" panose="02020702060506020403" pitchFamily="18" charset="0"/>
              </a:rPr>
              <a:t> </a:t>
            </a:r>
            <a:endParaRPr lang="zh-CN" altLang="en-US" sz="18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9"/>
                                        </p:tgtEl>
                                        <p:attrNameLst>
                                          <p:attrName>style.visibility</p:attrName>
                                        </p:attrNameLst>
                                      </p:cBhvr>
                                      <p:to>
                                        <p:strVal val="visible"/>
                                      </p:to>
                                    </p:set>
                                    <p:animEffect transition="in" filter="blinds(horizontal)">
                                      <p:cBhvr>
                                        <p:cTn id="22" dur="500"/>
                                        <p:tgtEl>
                                          <p:spTgt spid="89"/>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92"/>
                                        </p:tgtEl>
                                        <p:attrNameLst>
                                          <p:attrName>style.visibility</p:attrName>
                                        </p:attrNameLst>
                                      </p:cBhvr>
                                      <p:to>
                                        <p:strVal val="visible"/>
                                      </p:to>
                                    </p:set>
                                    <p:anim calcmode="lin" valueType="num">
                                      <p:cBhvr additive="base">
                                        <p:cTn id="27" dur="500" fill="hold"/>
                                        <p:tgtEl>
                                          <p:spTgt spid="92"/>
                                        </p:tgtEl>
                                        <p:attrNameLst>
                                          <p:attrName>ppt_x</p:attrName>
                                        </p:attrNameLst>
                                      </p:cBhvr>
                                      <p:tavLst>
                                        <p:tav tm="0">
                                          <p:val>
                                            <p:strVal val="1+#ppt_w/2"/>
                                          </p:val>
                                        </p:tav>
                                        <p:tav tm="100000">
                                          <p:val>
                                            <p:strVal val="#ppt_x"/>
                                          </p:val>
                                        </p:tav>
                                      </p:tavLst>
                                    </p:anim>
                                    <p:anim calcmode="lin" valueType="num">
                                      <p:cBhvr additive="base">
                                        <p:cTn id="28" dur="500" fill="hold"/>
                                        <p:tgtEl>
                                          <p:spTgt spid="92"/>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93"/>
                                        </p:tgtEl>
                                        <p:attrNameLst>
                                          <p:attrName>style.visibility</p:attrName>
                                        </p:attrNameLst>
                                      </p:cBhvr>
                                      <p:to>
                                        <p:strVal val="visible"/>
                                      </p:to>
                                    </p:set>
                                    <p:anim calcmode="lin" valueType="num">
                                      <p:cBhvr additive="base">
                                        <p:cTn id="33" dur="500" fill="hold"/>
                                        <p:tgtEl>
                                          <p:spTgt spid="93"/>
                                        </p:tgtEl>
                                        <p:attrNameLst>
                                          <p:attrName>ppt_x</p:attrName>
                                        </p:attrNameLst>
                                      </p:cBhvr>
                                      <p:tavLst>
                                        <p:tav tm="0">
                                          <p:val>
                                            <p:strVal val="#ppt_x"/>
                                          </p:val>
                                        </p:tav>
                                        <p:tav tm="100000">
                                          <p:val>
                                            <p:strVal val="#ppt_x"/>
                                          </p:val>
                                        </p:tav>
                                      </p:tavLst>
                                    </p:anim>
                                    <p:anim calcmode="lin" valueType="num">
                                      <p:cBhvr additive="base">
                                        <p:cTn id="34" dur="500" fill="hold"/>
                                        <p:tgtEl>
                                          <p:spTgt spid="93"/>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94"/>
                                        </p:tgtEl>
                                        <p:attrNameLst>
                                          <p:attrName>style.visibility</p:attrName>
                                        </p:attrNameLst>
                                      </p:cBhvr>
                                      <p:to>
                                        <p:strVal val="visible"/>
                                      </p:to>
                                    </p:set>
                                    <p:anim calcmode="lin" valueType="num">
                                      <p:cBhvr additive="base">
                                        <p:cTn id="39" dur="500" fill="hold"/>
                                        <p:tgtEl>
                                          <p:spTgt spid="94"/>
                                        </p:tgtEl>
                                        <p:attrNameLst>
                                          <p:attrName>ppt_x</p:attrName>
                                        </p:attrNameLst>
                                      </p:cBhvr>
                                      <p:tavLst>
                                        <p:tav tm="0">
                                          <p:val>
                                            <p:strVal val="#ppt_x"/>
                                          </p:val>
                                        </p:tav>
                                        <p:tav tm="100000">
                                          <p:val>
                                            <p:strVal val="#ppt_x"/>
                                          </p:val>
                                        </p:tav>
                                      </p:tavLst>
                                    </p:anim>
                                    <p:anim calcmode="lin" valueType="num">
                                      <p:cBhvr additive="base">
                                        <p:cTn id="40" dur="500" fill="hold"/>
                                        <p:tgtEl>
                                          <p:spTgt spid="9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95"/>
                                        </p:tgtEl>
                                        <p:attrNameLst>
                                          <p:attrName>style.visibility</p:attrName>
                                        </p:attrNameLst>
                                      </p:cBhvr>
                                      <p:to>
                                        <p:strVal val="visible"/>
                                      </p:to>
                                    </p:set>
                                    <p:anim calcmode="lin" valueType="num">
                                      <p:cBhvr additive="base">
                                        <p:cTn id="45" dur="500" fill="hold"/>
                                        <p:tgtEl>
                                          <p:spTgt spid="95"/>
                                        </p:tgtEl>
                                        <p:attrNameLst>
                                          <p:attrName>ppt_x</p:attrName>
                                        </p:attrNameLst>
                                      </p:cBhvr>
                                      <p:tavLst>
                                        <p:tav tm="0">
                                          <p:val>
                                            <p:strVal val="1+#ppt_w/2"/>
                                          </p:val>
                                        </p:tav>
                                        <p:tav tm="100000">
                                          <p:val>
                                            <p:strVal val="#ppt_x"/>
                                          </p:val>
                                        </p:tav>
                                      </p:tavLst>
                                    </p:anim>
                                    <p:anim calcmode="lin" valueType="num">
                                      <p:cBhvr additive="base">
                                        <p:cTn id="46" dur="500" fill="hold"/>
                                        <p:tgtEl>
                                          <p:spTgt spid="95"/>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96"/>
                                        </p:tgtEl>
                                        <p:attrNameLst>
                                          <p:attrName>style.visibility</p:attrName>
                                        </p:attrNameLst>
                                      </p:cBhvr>
                                      <p:to>
                                        <p:strVal val="visible"/>
                                      </p:to>
                                    </p:set>
                                    <p:anim calcmode="lin" valueType="num">
                                      <p:cBhvr additive="base">
                                        <p:cTn id="51" dur="500" fill="hold"/>
                                        <p:tgtEl>
                                          <p:spTgt spid="96"/>
                                        </p:tgtEl>
                                        <p:attrNameLst>
                                          <p:attrName>ppt_x</p:attrName>
                                        </p:attrNameLst>
                                      </p:cBhvr>
                                      <p:tavLst>
                                        <p:tav tm="0">
                                          <p:val>
                                            <p:strVal val="#ppt_x"/>
                                          </p:val>
                                        </p:tav>
                                        <p:tav tm="100000">
                                          <p:val>
                                            <p:strVal val="#ppt_x"/>
                                          </p:val>
                                        </p:tav>
                                      </p:tavLst>
                                    </p:anim>
                                    <p:anim calcmode="lin" valueType="num">
                                      <p:cBhvr additive="base">
                                        <p:cTn id="52" dur="500" fill="hold"/>
                                        <p:tgtEl>
                                          <p:spTgt spid="96"/>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blinds(horizontal)">
                                      <p:cBhvr>
                                        <p:cTn id="57" dur="500"/>
                                        <p:tgtEl>
                                          <p:spTgt spid="7"/>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18"/>
                                        </p:tgtEl>
                                        <p:attrNameLst>
                                          <p:attrName>style.visibility</p:attrName>
                                        </p:attrNameLst>
                                      </p:cBhvr>
                                      <p:to>
                                        <p:strVal val="visible"/>
                                      </p:to>
                                    </p:set>
                                    <p:animEffect transition="in" filter="blinds(horizontal)">
                                      <p:cBhvr>
                                        <p:cTn id="62" dur="500"/>
                                        <p:tgtEl>
                                          <p:spTgt spid="118"/>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65"/>
                                        </p:tgtEl>
                                        <p:attrNameLst>
                                          <p:attrName>style.visibility</p:attrName>
                                        </p:attrNameLst>
                                      </p:cBhvr>
                                      <p:to>
                                        <p:strVal val="visible"/>
                                      </p:to>
                                    </p:set>
                                    <p:animEffect transition="in" filter="blinds(horizontal)">
                                      <p:cBhvr>
                                        <p:cTn id="67" dur="500"/>
                                        <p:tgtEl>
                                          <p:spTgt spid="65"/>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2" fill="hold" grpId="0" nodeType="clickEffect">
                                  <p:stCondLst>
                                    <p:cond delay="0"/>
                                  </p:stCondLst>
                                  <p:childTnLst>
                                    <p:set>
                                      <p:cBhvr>
                                        <p:cTn id="71" dur="1" fill="hold">
                                          <p:stCondLst>
                                            <p:cond delay="0"/>
                                          </p:stCondLst>
                                        </p:cTn>
                                        <p:tgtEl>
                                          <p:spTgt spid="66"/>
                                        </p:tgtEl>
                                        <p:attrNameLst>
                                          <p:attrName>style.visibility</p:attrName>
                                        </p:attrNameLst>
                                      </p:cBhvr>
                                      <p:to>
                                        <p:strVal val="visible"/>
                                      </p:to>
                                    </p:set>
                                    <p:anim calcmode="lin" valueType="num">
                                      <p:cBhvr additive="base">
                                        <p:cTn id="72" dur="500" fill="hold"/>
                                        <p:tgtEl>
                                          <p:spTgt spid="66"/>
                                        </p:tgtEl>
                                        <p:attrNameLst>
                                          <p:attrName>ppt_x</p:attrName>
                                        </p:attrNameLst>
                                      </p:cBhvr>
                                      <p:tavLst>
                                        <p:tav tm="0">
                                          <p:val>
                                            <p:strVal val="1+#ppt_w/2"/>
                                          </p:val>
                                        </p:tav>
                                        <p:tav tm="100000">
                                          <p:val>
                                            <p:strVal val="#ppt_x"/>
                                          </p:val>
                                        </p:tav>
                                      </p:tavLst>
                                    </p:anim>
                                    <p:anim calcmode="lin" valueType="num">
                                      <p:cBhvr additive="base">
                                        <p:cTn id="73" dur="500" fill="hold"/>
                                        <p:tgtEl>
                                          <p:spTgt spid="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89" grpId="0"/>
      <p:bldP spid="92" grpId="0"/>
      <p:bldP spid="93" grpId="0"/>
      <p:bldP spid="94" grpId="0"/>
      <p:bldP spid="95" grpId="0"/>
      <p:bldP spid="96" grpId="0"/>
      <p:bldP spid="118" grpId="0" bldLvl="0" animBg="1"/>
      <p:bldP spid="66"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3"/>
          <p:cNvSpPr>
            <a:spLocks noGrp="1"/>
          </p:cNvSpPr>
          <p:nvPr>
            <p:ph type="sldNum" sz="quarter" idx="12"/>
          </p:nvPr>
        </p:nvSpPr>
        <p:spPr bwMode="auto">
          <a:xfrm>
            <a:off x="6553200" y="666432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174D5B68-0795-45C4-8E3E-C57E15FFB614}" type="slidenum">
              <a:rPr lang="zh-CN" altLang="en-US" sz="1200" smtClean="0">
                <a:solidFill>
                  <a:srgbClr val="898989"/>
                </a:solidFill>
              </a:rPr>
            </a:fld>
            <a:endParaRPr lang="zh-CN" altLang="en-US" sz="1200" smtClean="0">
              <a:solidFill>
                <a:srgbClr val="898989"/>
              </a:solidFill>
            </a:endParaRPr>
          </a:p>
        </p:txBody>
      </p:sp>
      <p:grpSp>
        <p:nvGrpSpPr>
          <p:cNvPr id="74755" name="组合 71"/>
          <p:cNvGrpSpPr/>
          <p:nvPr/>
        </p:nvGrpSpPr>
        <p:grpSpPr bwMode="auto">
          <a:xfrm>
            <a:off x="1500188" y="1093788"/>
            <a:ext cx="6300787" cy="3143250"/>
            <a:chOff x="1410341" y="1643050"/>
            <a:chExt cx="6300783" cy="3143272"/>
          </a:xfrm>
        </p:grpSpPr>
        <p:sp>
          <p:nvSpPr>
            <p:cNvPr id="74780" name="Text Box 6"/>
            <p:cNvSpPr txBox="1">
              <a:spLocks noChangeArrowheads="1"/>
            </p:cNvSpPr>
            <p:nvPr/>
          </p:nvSpPr>
          <p:spPr bwMode="auto">
            <a:xfrm>
              <a:off x="1438890" y="1643050"/>
              <a:ext cx="6204944" cy="3143272"/>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lvl="1" algn="ctr" eaLnBrk="1" hangingPunct="1">
                <a:spcBef>
                  <a:spcPct val="0"/>
                </a:spcBef>
                <a:buFontTx/>
                <a:buNone/>
              </a:pPr>
              <a:r>
                <a:rPr lang="en-US" altLang="zh-CN" sz="2400" b="1">
                  <a:latin typeface="Times New Roman" panose="02020603050405020304" pitchFamily="18" charset="0"/>
                </a:rPr>
                <a:t> </a:t>
              </a:r>
              <a:r>
                <a:rPr lang="zh-CN" altLang="en-US" sz="2400" b="1">
                  <a:latin typeface="Times New Roman" panose="02020603050405020304" pitchFamily="18" charset="0"/>
                </a:rPr>
                <a:t>调运方案 </a:t>
              </a:r>
              <a:r>
                <a:rPr lang="en-US" altLang="zh-CN" sz="2400" b="1" i="1">
                  <a:latin typeface="Times New Roman" panose="02020603050405020304" pitchFamily="18" charset="0"/>
                </a:rPr>
                <a:t>x</a:t>
              </a:r>
              <a:r>
                <a:rPr lang="en-US" altLang="zh-CN" sz="2400" b="1" baseline="30000">
                  <a:latin typeface="Times New Roman" panose="02020603050405020304" pitchFamily="18" charset="0"/>
                </a:rPr>
                <a:t>(1) </a:t>
              </a:r>
              <a:r>
                <a:rPr lang="zh-CN" altLang="en-US" sz="2400" b="1">
                  <a:latin typeface="Times New Roman" panose="02020603050405020304" pitchFamily="18" charset="0"/>
                </a:rPr>
                <a:t>和位势</a:t>
              </a:r>
              <a:endParaRPr lang="en-US" altLang="zh-CN" sz="2400" b="1">
                <a:latin typeface="Times New Roman" panose="02020603050405020304" pitchFamily="18" charset="0"/>
              </a:endParaRPr>
            </a:p>
            <a:p>
              <a:pPr lvl="1" eaLnBrk="1" hangingPunct="1">
                <a:spcBef>
                  <a:spcPct val="0"/>
                </a:spcBef>
                <a:buFontTx/>
                <a:buNone/>
              </a:pPr>
              <a:r>
                <a:rPr lang="en-US" altLang="zh-CN" sz="2400" b="1">
                  <a:latin typeface="Times New Roman" panose="02020603050405020304" pitchFamily="18" charset="0"/>
                </a:rPr>
                <a:t>            </a:t>
              </a:r>
              <a:r>
                <a:rPr lang="en-US" altLang="zh-CN" sz="2400" b="1" i="1">
                  <a:latin typeface="Times New Roman" panose="02020603050405020304" pitchFamily="18" charset="0"/>
                </a:rPr>
                <a:t>B</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         </a:t>
              </a:r>
              <a:r>
                <a:rPr lang="en-US" altLang="zh-CN" sz="2400" b="1" i="1">
                  <a:latin typeface="Times New Roman" panose="02020603050405020304" pitchFamily="18" charset="0"/>
                </a:rPr>
                <a:t>B</a:t>
              </a:r>
              <a:r>
                <a:rPr lang="en-US" altLang="zh-CN" sz="2400" b="1" baseline="-25000">
                  <a:latin typeface="Times New Roman" panose="02020603050405020304" pitchFamily="18" charset="0"/>
                </a:rPr>
                <a:t>2</a:t>
              </a:r>
              <a:r>
                <a:rPr lang="en-US" altLang="zh-CN" sz="2400" b="1">
                  <a:latin typeface="Times New Roman" panose="02020603050405020304" pitchFamily="18" charset="0"/>
                </a:rPr>
                <a:t>            </a:t>
              </a:r>
              <a:r>
                <a:rPr lang="en-US" altLang="zh-CN" sz="2400" b="1" i="1">
                  <a:latin typeface="Times New Roman" panose="02020603050405020304" pitchFamily="18" charset="0"/>
                </a:rPr>
                <a:t>B</a:t>
              </a:r>
              <a:r>
                <a:rPr lang="en-US" altLang="zh-CN" sz="2400" b="1" baseline="-25000">
                  <a:latin typeface="Times New Roman" panose="02020603050405020304" pitchFamily="18" charset="0"/>
                </a:rPr>
                <a:t>3</a:t>
              </a:r>
              <a:r>
                <a:rPr lang="en-US" altLang="zh-CN" sz="2400" b="1">
                  <a:latin typeface="Times New Roman" panose="02020603050405020304" pitchFamily="18" charset="0"/>
                </a:rPr>
                <a:t>      </a:t>
              </a:r>
              <a:r>
                <a:rPr lang="zh-CN" altLang="en-US" sz="2400" b="1">
                  <a:latin typeface="Times New Roman" panose="02020603050405020304" pitchFamily="18" charset="0"/>
                </a:rPr>
                <a:t>产量</a:t>
              </a:r>
              <a:r>
                <a:rPr lang="en-US" altLang="zh-CN" sz="2400" b="1" i="1">
                  <a:latin typeface="Times New Roman" panose="02020603050405020304" pitchFamily="18" charset="0"/>
                </a:rPr>
                <a:t>a</a:t>
              </a:r>
              <a:r>
                <a:rPr lang="en-US" altLang="zh-CN" sz="2400" b="1" i="1" baseline="-25000">
                  <a:latin typeface="Times New Roman" panose="02020603050405020304" pitchFamily="18" charset="0"/>
                </a:rPr>
                <a:t>i</a:t>
              </a:r>
              <a:r>
                <a:rPr lang="en-US" altLang="zh-CN" sz="2400" b="1">
                  <a:latin typeface="Times New Roman" panose="02020603050405020304" pitchFamily="18" charset="0"/>
                </a:rPr>
                <a:t>      </a:t>
              </a:r>
              <a:r>
                <a:rPr lang="en-US" altLang="zh-CN" sz="2400" b="1" i="1">
                  <a:latin typeface="Times New Roman" panose="02020603050405020304" pitchFamily="18" charset="0"/>
                </a:rPr>
                <a:t>u</a:t>
              </a:r>
              <a:r>
                <a:rPr lang="en-US" altLang="zh-CN" sz="2400" b="1" i="1" baseline="-25000">
                  <a:latin typeface="Times New Roman" panose="02020603050405020304" pitchFamily="18" charset="0"/>
                </a:rPr>
                <a:t>i</a:t>
              </a:r>
              <a:endParaRPr lang="en-US" altLang="zh-CN" sz="2400" b="1" baseline="-25000">
                <a:latin typeface="Times New Roman" panose="02020603050405020304" pitchFamily="18" charset="0"/>
              </a:endParaRPr>
            </a:p>
            <a:p>
              <a:pPr algn="just" eaLnBrk="1" hangingPunct="1">
                <a:lnSpc>
                  <a:spcPct val="200000"/>
                </a:lnSpc>
                <a:spcBef>
                  <a:spcPct val="0"/>
                </a:spcBef>
                <a:buFontTx/>
                <a:buNone/>
              </a:pPr>
              <a:r>
                <a:rPr lang="en-US" altLang="zh-CN" sz="2400" b="1" i="1">
                  <a:latin typeface="Times New Roman" panose="02020603050405020304" pitchFamily="18" charset="0"/>
                </a:rPr>
                <a:t>   A</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          5                                          5</a:t>
              </a:r>
              <a:endParaRPr lang="en-US" altLang="zh-CN" sz="2400" b="1">
                <a:latin typeface="Times New Roman" panose="02020603050405020304" pitchFamily="18" charset="0"/>
              </a:endParaRPr>
            </a:p>
            <a:p>
              <a:pPr algn="just" eaLnBrk="1" hangingPunct="1">
                <a:lnSpc>
                  <a:spcPct val="200000"/>
                </a:lnSpc>
                <a:spcBef>
                  <a:spcPct val="0"/>
                </a:spcBef>
                <a:buFontTx/>
                <a:buNone/>
              </a:pPr>
              <a:r>
                <a:rPr lang="en-US" altLang="zh-CN" sz="2400" b="1">
                  <a:latin typeface="Times New Roman" panose="02020603050405020304" pitchFamily="18" charset="0"/>
                </a:rPr>
                <a:t>   </a:t>
              </a:r>
              <a:r>
                <a:rPr lang="en-US" altLang="zh-CN" sz="2400" b="1" i="1">
                  <a:latin typeface="Times New Roman" panose="02020603050405020304" pitchFamily="18" charset="0"/>
                </a:rPr>
                <a:t>A</a:t>
              </a:r>
              <a:r>
                <a:rPr lang="en-US" altLang="zh-CN" sz="2400" b="1" baseline="-25000">
                  <a:latin typeface="Times New Roman" panose="02020603050405020304" pitchFamily="18" charset="0"/>
                </a:rPr>
                <a:t>2</a:t>
              </a:r>
              <a:r>
                <a:rPr lang="en-US" altLang="zh-CN" sz="2400" b="1">
                  <a:latin typeface="Times New Roman" panose="02020603050405020304" pitchFamily="18" charset="0"/>
                </a:rPr>
                <a:t>          1            4            1              6</a:t>
              </a:r>
              <a:endParaRPr lang="en-US" altLang="zh-CN" sz="2400" b="1">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cs typeface="Times New Roman" panose="02020603050405020304" pitchFamily="18" charset="0"/>
                </a:rPr>
                <a:t>  v</a:t>
              </a:r>
              <a:r>
                <a:rPr lang="en-US" altLang="zh-CN" sz="2400" b="1" i="1" baseline="-25000">
                  <a:latin typeface="Times New Roman" panose="02020603050405020304" pitchFamily="18" charset="0"/>
                  <a:cs typeface="Times New Roman" panose="02020603050405020304" pitchFamily="18" charset="0"/>
                </a:rPr>
                <a:t>j</a:t>
              </a:r>
              <a:r>
                <a:rPr lang="en-US" altLang="zh-CN" sz="2400" b="1">
                  <a:latin typeface="Times New Roman" panose="02020603050405020304" pitchFamily="18" charset="0"/>
                  <a:cs typeface="Times New Roman" panose="02020603050405020304" pitchFamily="18" charset="0"/>
                </a:rPr>
                <a:t>      </a:t>
              </a:r>
              <a:endParaRPr lang="zh-CN" altLang="zh-CN" sz="2400" b="1">
                <a:latin typeface="Times New Roman" panose="02020603050405020304" pitchFamily="18" charset="0"/>
                <a:cs typeface="Times New Roman" panose="02020603050405020304" pitchFamily="18" charset="0"/>
              </a:endParaRPr>
            </a:p>
          </p:txBody>
        </p:sp>
        <p:cxnSp>
          <p:nvCxnSpPr>
            <p:cNvPr id="74781" name="AutoShape 7"/>
            <p:cNvCxnSpPr>
              <a:cxnSpLocks noChangeShapeType="1"/>
            </p:cNvCxnSpPr>
            <p:nvPr/>
          </p:nvCxnSpPr>
          <p:spPr bwMode="auto">
            <a:xfrm>
              <a:off x="1410341" y="2071678"/>
              <a:ext cx="6233493" cy="1588"/>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4782" name="AutoShape 14"/>
            <p:cNvCxnSpPr>
              <a:cxnSpLocks noChangeShapeType="1"/>
            </p:cNvCxnSpPr>
            <p:nvPr/>
          </p:nvCxnSpPr>
          <p:spPr bwMode="auto">
            <a:xfrm>
              <a:off x="1429522" y="2072472"/>
              <a:ext cx="8574" cy="2248073"/>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sp>
          <p:nvSpPr>
            <p:cNvPr id="74783" name="Text Box 22"/>
            <p:cNvSpPr txBox="1">
              <a:spLocks noChangeArrowheads="1"/>
            </p:cNvSpPr>
            <p:nvPr/>
          </p:nvSpPr>
          <p:spPr bwMode="auto">
            <a:xfrm>
              <a:off x="3071802" y="2543152"/>
              <a:ext cx="428628" cy="31434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3</a:t>
              </a:r>
              <a:endParaRPr lang="zh-CN" altLang="zh-CN" sz="2400" b="1">
                <a:latin typeface="Arial" panose="020B0604020202020204" pitchFamily="34" charset="0"/>
              </a:endParaRPr>
            </a:p>
          </p:txBody>
        </p:sp>
        <p:cxnSp>
          <p:nvCxnSpPr>
            <p:cNvPr id="74784" name="AutoShape 14"/>
            <p:cNvCxnSpPr>
              <a:cxnSpLocks noChangeShapeType="1"/>
            </p:cNvCxnSpPr>
            <p:nvPr/>
          </p:nvCxnSpPr>
          <p:spPr bwMode="auto">
            <a:xfrm>
              <a:off x="2501092" y="2072472"/>
              <a:ext cx="7780" cy="2231523"/>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4785" name="AutoShape 14"/>
            <p:cNvCxnSpPr>
              <a:cxnSpLocks noChangeShapeType="1"/>
            </p:cNvCxnSpPr>
            <p:nvPr/>
          </p:nvCxnSpPr>
          <p:spPr bwMode="auto">
            <a:xfrm>
              <a:off x="3500428" y="2071678"/>
              <a:ext cx="8180" cy="2248712"/>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4786" name="AutoShape 14"/>
            <p:cNvCxnSpPr>
              <a:cxnSpLocks noChangeShapeType="1"/>
            </p:cNvCxnSpPr>
            <p:nvPr/>
          </p:nvCxnSpPr>
          <p:spPr bwMode="auto">
            <a:xfrm>
              <a:off x="4572794" y="2071678"/>
              <a:ext cx="17738" cy="2248712"/>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4787" name="AutoShape 14"/>
            <p:cNvCxnSpPr>
              <a:cxnSpLocks noChangeShapeType="1"/>
            </p:cNvCxnSpPr>
            <p:nvPr/>
          </p:nvCxnSpPr>
          <p:spPr bwMode="auto">
            <a:xfrm flipH="1">
              <a:off x="5643174" y="2071678"/>
              <a:ext cx="1190" cy="2248712"/>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4788" name="AutoShape 14"/>
            <p:cNvCxnSpPr>
              <a:cxnSpLocks noChangeShapeType="1"/>
            </p:cNvCxnSpPr>
            <p:nvPr/>
          </p:nvCxnSpPr>
          <p:spPr bwMode="auto">
            <a:xfrm>
              <a:off x="6786671" y="2072472"/>
              <a:ext cx="21329" cy="2247916"/>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4789" name="AutoShape 14"/>
            <p:cNvCxnSpPr>
              <a:cxnSpLocks noChangeShapeType="1"/>
            </p:cNvCxnSpPr>
            <p:nvPr/>
          </p:nvCxnSpPr>
          <p:spPr bwMode="auto">
            <a:xfrm>
              <a:off x="7644628" y="2072472"/>
              <a:ext cx="36774" cy="2247916"/>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4790" name="AutoShape 7"/>
            <p:cNvCxnSpPr>
              <a:cxnSpLocks noChangeShapeType="1"/>
            </p:cNvCxnSpPr>
            <p:nvPr/>
          </p:nvCxnSpPr>
          <p:spPr bwMode="auto">
            <a:xfrm>
              <a:off x="1428728" y="2500306"/>
              <a:ext cx="6233493" cy="1588"/>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4791" name="AutoShape 7"/>
            <p:cNvCxnSpPr>
              <a:cxnSpLocks noChangeShapeType="1"/>
            </p:cNvCxnSpPr>
            <p:nvPr/>
          </p:nvCxnSpPr>
          <p:spPr bwMode="auto">
            <a:xfrm>
              <a:off x="1428728" y="3213098"/>
              <a:ext cx="6233493" cy="1588"/>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4792" name="AutoShape 7"/>
            <p:cNvCxnSpPr>
              <a:cxnSpLocks noChangeShapeType="1"/>
            </p:cNvCxnSpPr>
            <p:nvPr/>
          </p:nvCxnSpPr>
          <p:spPr bwMode="auto">
            <a:xfrm>
              <a:off x="1428728" y="3856040"/>
              <a:ext cx="6233493" cy="1588"/>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4793" name="AutoShape 7"/>
            <p:cNvCxnSpPr>
              <a:cxnSpLocks noChangeShapeType="1"/>
            </p:cNvCxnSpPr>
            <p:nvPr/>
          </p:nvCxnSpPr>
          <p:spPr bwMode="auto">
            <a:xfrm>
              <a:off x="1477631" y="4320544"/>
              <a:ext cx="6233493" cy="1588"/>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sp>
          <p:nvSpPr>
            <p:cNvPr id="74794" name="Text Box 22"/>
            <p:cNvSpPr txBox="1">
              <a:spLocks noChangeArrowheads="1"/>
            </p:cNvSpPr>
            <p:nvPr/>
          </p:nvSpPr>
          <p:spPr bwMode="auto">
            <a:xfrm>
              <a:off x="4143372" y="2500306"/>
              <a:ext cx="428628" cy="31434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2</a:t>
              </a:r>
              <a:endParaRPr lang="zh-CN" altLang="zh-CN" sz="2400" b="1">
                <a:latin typeface="Arial" panose="020B0604020202020204" pitchFamily="34" charset="0"/>
              </a:endParaRPr>
            </a:p>
          </p:txBody>
        </p:sp>
        <p:sp>
          <p:nvSpPr>
            <p:cNvPr id="74795" name="Text Box 22"/>
            <p:cNvSpPr txBox="1">
              <a:spLocks noChangeArrowheads="1"/>
            </p:cNvSpPr>
            <p:nvPr/>
          </p:nvSpPr>
          <p:spPr bwMode="auto">
            <a:xfrm>
              <a:off x="5214942" y="2500306"/>
              <a:ext cx="428628" cy="31434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7</a:t>
              </a:r>
              <a:endParaRPr lang="zh-CN" altLang="zh-CN" sz="2400" b="1">
                <a:latin typeface="Arial" panose="020B0604020202020204" pitchFamily="34" charset="0"/>
              </a:endParaRPr>
            </a:p>
          </p:txBody>
        </p:sp>
        <p:sp>
          <p:nvSpPr>
            <p:cNvPr id="74796" name="Text Box 22"/>
            <p:cNvSpPr txBox="1">
              <a:spLocks noChangeArrowheads="1"/>
            </p:cNvSpPr>
            <p:nvPr/>
          </p:nvSpPr>
          <p:spPr bwMode="auto">
            <a:xfrm>
              <a:off x="3071802" y="3257532"/>
              <a:ext cx="428628" cy="31434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7</a:t>
              </a:r>
              <a:endParaRPr lang="zh-CN" altLang="zh-CN" sz="2400" b="1">
                <a:latin typeface="Arial" panose="020B0604020202020204" pitchFamily="34" charset="0"/>
              </a:endParaRPr>
            </a:p>
          </p:txBody>
        </p:sp>
        <p:sp>
          <p:nvSpPr>
            <p:cNvPr id="74797" name="Text Box 22"/>
            <p:cNvSpPr txBox="1">
              <a:spLocks noChangeArrowheads="1"/>
            </p:cNvSpPr>
            <p:nvPr/>
          </p:nvSpPr>
          <p:spPr bwMode="auto">
            <a:xfrm>
              <a:off x="4143372" y="3214686"/>
              <a:ext cx="428628" cy="31434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5</a:t>
              </a:r>
              <a:endParaRPr lang="zh-CN" altLang="zh-CN" sz="2400" b="1">
                <a:latin typeface="Arial" panose="020B0604020202020204" pitchFamily="34" charset="0"/>
              </a:endParaRPr>
            </a:p>
          </p:txBody>
        </p:sp>
        <p:sp>
          <p:nvSpPr>
            <p:cNvPr id="74798" name="Text Box 22"/>
            <p:cNvSpPr txBox="1">
              <a:spLocks noChangeArrowheads="1"/>
            </p:cNvSpPr>
            <p:nvPr/>
          </p:nvSpPr>
          <p:spPr bwMode="auto">
            <a:xfrm>
              <a:off x="5214942" y="3214686"/>
              <a:ext cx="428628" cy="31434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2</a:t>
              </a:r>
              <a:endParaRPr lang="zh-CN" altLang="zh-CN" sz="2400" b="1">
                <a:latin typeface="Arial" panose="020B0604020202020204" pitchFamily="34" charset="0"/>
              </a:endParaRPr>
            </a:p>
          </p:txBody>
        </p:sp>
      </p:grpSp>
      <p:sp>
        <p:nvSpPr>
          <p:cNvPr id="92" name="Text Box 22"/>
          <p:cNvSpPr txBox="1">
            <a:spLocks noChangeArrowheads="1"/>
          </p:cNvSpPr>
          <p:nvPr/>
        </p:nvSpPr>
        <p:spPr bwMode="auto">
          <a:xfrm>
            <a:off x="7191375" y="2233613"/>
            <a:ext cx="4286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2</a:t>
            </a:r>
            <a:endParaRPr lang="zh-CN" altLang="zh-CN" sz="2400" b="1">
              <a:latin typeface="Arial" panose="020B0604020202020204" pitchFamily="34" charset="0"/>
            </a:endParaRPr>
          </a:p>
        </p:txBody>
      </p:sp>
      <p:sp>
        <p:nvSpPr>
          <p:cNvPr id="93" name="Text Box 22"/>
          <p:cNvSpPr txBox="1">
            <a:spLocks noChangeArrowheads="1"/>
          </p:cNvSpPr>
          <p:nvPr/>
        </p:nvSpPr>
        <p:spPr bwMode="auto">
          <a:xfrm>
            <a:off x="2916238" y="3408363"/>
            <a:ext cx="4286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1</a:t>
            </a:r>
            <a:endParaRPr lang="zh-CN" altLang="zh-CN" sz="2400" b="1">
              <a:latin typeface="Arial" panose="020B0604020202020204" pitchFamily="34" charset="0"/>
            </a:endParaRPr>
          </a:p>
        </p:txBody>
      </p:sp>
      <p:sp>
        <p:nvSpPr>
          <p:cNvPr id="94" name="Text Box 22"/>
          <p:cNvSpPr txBox="1">
            <a:spLocks noChangeArrowheads="1"/>
          </p:cNvSpPr>
          <p:nvPr/>
        </p:nvSpPr>
        <p:spPr bwMode="auto">
          <a:xfrm>
            <a:off x="3851275" y="3424238"/>
            <a:ext cx="52705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-1</a:t>
            </a:r>
            <a:endParaRPr lang="zh-CN" altLang="zh-CN" sz="2400" b="1">
              <a:latin typeface="Arial" panose="020B0604020202020204" pitchFamily="34" charset="0"/>
            </a:endParaRPr>
          </a:p>
        </p:txBody>
      </p:sp>
      <p:sp>
        <p:nvSpPr>
          <p:cNvPr id="95" name="Text Box 22"/>
          <p:cNvSpPr txBox="1">
            <a:spLocks noChangeArrowheads="1"/>
          </p:cNvSpPr>
          <p:nvPr/>
        </p:nvSpPr>
        <p:spPr bwMode="auto">
          <a:xfrm>
            <a:off x="7215188" y="2881313"/>
            <a:ext cx="4286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6</a:t>
            </a:r>
            <a:endParaRPr lang="zh-CN" altLang="zh-CN" sz="2400" b="1">
              <a:latin typeface="Arial" panose="020B0604020202020204" pitchFamily="34" charset="0"/>
            </a:endParaRPr>
          </a:p>
        </p:txBody>
      </p:sp>
      <p:sp>
        <p:nvSpPr>
          <p:cNvPr id="96" name="Text Box 22"/>
          <p:cNvSpPr txBox="1">
            <a:spLocks noChangeArrowheads="1"/>
          </p:cNvSpPr>
          <p:nvPr/>
        </p:nvSpPr>
        <p:spPr bwMode="auto">
          <a:xfrm>
            <a:off x="4946650" y="3457575"/>
            <a:ext cx="642938"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400" b="1">
                <a:latin typeface="Times New Roman" panose="02020603050405020304" pitchFamily="18" charset="0"/>
              </a:rPr>
              <a:t>-4</a:t>
            </a:r>
            <a:endParaRPr lang="zh-CN" altLang="zh-CN" sz="2400" b="1">
              <a:latin typeface="Arial" panose="020B0604020202020204" pitchFamily="34" charset="0"/>
            </a:endParaRPr>
          </a:p>
        </p:txBody>
      </p:sp>
      <p:grpSp>
        <p:nvGrpSpPr>
          <p:cNvPr id="3" name="组合 116"/>
          <p:cNvGrpSpPr/>
          <p:nvPr/>
        </p:nvGrpSpPr>
        <p:grpSpPr bwMode="auto">
          <a:xfrm>
            <a:off x="1785938" y="4149725"/>
            <a:ext cx="4071937" cy="2073275"/>
            <a:chOff x="2571736" y="4500570"/>
            <a:chExt cx="4071966" cy="2072496"/>
          </a:xfrm>
        </p:grpSpPr>
        <p:sp>
          <p:nvSpPr>
            <p:cNvPr id="97" name="内容占位符 2"/>
            <p:cNvSpPr txBox="1"/>
            <p:nvPr/>
          </p:nvSpPr>
          <p:spPr bwMode="auto">
            <a:xfrm>
              <a:off x="2609836" y="4500570"/>
              <a:ext cx="4033866" cy="2070910"/>
            </a:xfrm>
            <a:prstGeom prst="rect">
              <a:avLst/>
            </a:prstGeom>
            <a:noFill/>
            <a:ln w="9525">
              <a:noFill/>
              <a:miter lim="800000"/>
            </a:ln>
          </p:spPr>
          <p:txBody>
            <a:bodyPr/>
            <a:lstStyle/>
            <a:p>
              <a:pPr marL="342900" indent="-342900">
                <a:spcBef>
                  <a:spcPct val="20000"/>
                </a:spcBef>
                <a:buFont typeface="Arial" panose="020B0604020202020204" pitchFamily="34" charset="0"/>
                <a:buNone/>
                <a:defRPr/>
              </a:pPr>
              <a:r>
                <a:rPr lang="en-US" altLang="zh-CN" sz="2400" b="1" i="1" dirty="0">
                  <a:latin typeface="Times New Roman" panose="02020603050405020304" pitchFamily="18" charset="0"/>
                  <a:ea typeface="+mn-ea"/>
                  <a:cs typeface="Times New Roman" panose="02020603050405020304" pitchFamily="18" charset="0"/>
                </a:rPr>
                <a:t>            x</a:t>
              </a:r>
              <a:r>
                <a:rPr lang="en-US" altLang="zh-CN" sz="2400" b="1" baseline="30000" dirty="0">
                  <a:latin typeface="Times New Roman" panose="02020603050405020304" pitchFamily="18" charset="0"/>
                  <a:ea typeface="+mn-ea"/>
                  <a:cs typeface="Times New Roman" panose="02020603050405020304" pitchFamily="18" charset="0"/>
                </a:rPr>
                <a:t>(1) </a:t>
              </a:r>
              <a:r>
                <a:rPr lang="zh-CN" altLang="en-US" sz="2400" b="1" dirty="0">
                  <a:latin typeface="Times New Roman" panose="02020603050405020304" pitchFamily="18" charset="0"/>
                  <a:ea typeface="+mn-ea"/>
                  <a:cs typeface="Times New Roman" panose="02020603050405020304" pitchFamily="18" charset="0"/>
                </a:rPr>
                <a:t>的检验数</a:t>
              </a:r>
              <a:endParaRPr lang="en-US" altLang="zh-CN"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B</a:t>
              </a:r>
              <a:r>
                <a:rPr lang="en-US" sz="2400" b="1" baseline="-25000" dirty="0">
                  <a:latin typeface="Times New Roman" panose="02020603050405020304" pitchFamily="18" charset="0"/>
                  <a:ea typeface="+mn-ea"/>
                  <a:cs typeface="Times New Roman" panose="02020603050405020304" pitchFamily="18" charset="0"/>
                </a:rPr>
                <a:t>1</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B</a:t>
              </a:r>
              <a:r>
                <a:rPr lang="en-US" sz="2400" b="1" baseline="-25000" dirty="0">
                  <a:latin typeface="Times New Roman" panose="02020603050405020304" pitchFamily="18" charset="0"/>
                  <a:ea typeface="+mn-ea"/>
                  <a:cs typeface="Times New Roman" panose="02020603050405020304" pitchFamily="18" charset="0"/>
                </a:rPr>
                <a:t>2</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B</a:t>
              </a:r>
              <a:r>
                <a:rPr lang="en-US" sz="2400" b="1" baseline="-25000" dirty="0">
                  <a:latin typeface="Times New Roman" panose="02020603050405020304" pitchFamily="18" charset="0"/>
                  <a:ea typeface="+mn-ea"/>
                  <a:cs typeface="Times New Roman" panose="02020603050405020304" pitchFamily="18" charset="0"/>
                </a:rPr>
                <a:t>3</a:t>
              </a:r>
              <a:r>
                <a:rPr lang="en-US" sz="2400" b="1" dirty="0">
                  <a:latin typeface="Times New Roman" panose="02020603050405020304" pitchFamily="18" charset="0"/>
                  <a:ea typeface="+mn-ea"/>
                  <a:cs typeface="Times New Roman" panose="02020603050405020304" pitchFamily="18" charset="0"/>
                </a:rPr>
                <a:t>      </a:t>
              </a:r>
              <a:endParaRPr lang="en-US" sz="2400" b="1" dirty="0">
                <a:latin typeface="Times New Roman" panose="02020603050405020304" pitchFamily="18" charset="0"/>
                <a:ea typeface="+mn-ea"/>
                <a:cs typeface="Times New Roman" panose="02020603050405020304" pitchFamily="18" charset="0"/>
              </a:endParaRPr>
            </a:p>
            <a:p>
              <a:pPr marL="342900" indent="-342900">
                <a:lnSpc>
                  <a:spcPct val="150000"/>
                </a:lnSpc>
                <a:spcBef>
                  <a:spcPct val="20000"/>
                </a:spcBef>
                <a:buFont typeface="Arial" panose="020B0604020202020204" pitchFamily="34" charset="0"/>
                <a:buNone/>
                <a:defRPr/>
              </a:pP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A</a:t>
              </a:r>
              <a:r>
                <a:rPr lang="en-US" sz="2400" b="1" baseline="-25000" dirty="0">
                  <a:latin typeface="Times New Roman" panose="02020603050405020304" pitchFamily="18" charset="0"/>
                  <a:ea typeface="+mn-ea"/>
                  <a:cs typeface="Times New Roman" panose="02020603050405020304" pitchFamily="18" charset="0"/>
                </a:rPr>
                <a:t>1</a:t>
              </a:r>
              <a:r>
                <a:rPr lang="en-US" sz="2400" b="1" dirty="0">
                  <a:latin typeface="Times New Roman" panose="02020603050405020304" pitchFamily="18" charset="0"/>
                  <a:ea typeface="+mn-ea"/>
                  <a:cs typeface="Times New Roman" panose="02020603050405020304" pitchFamily="18" charset="0"/>
                </a:rPr>
                <a:t>      5            </a:t>
              </a:r>
              <a:endParaRPr lang="en-US" sz="2400" b="1" dirty="0">
                <a:latin typeface="Times New Roman" panose="02020603050405020304" pitchFamily="18" charset="0"/>
                <a:ea typeface="+mn-ea"/>
                <a:cs typeface="Times New Roman" panose="02020603050405020304" pitchFamily="18" charset="0"/>
              </a:endParaRPr>
            </a:p>
            <a:p>
              <a:pPr marL="342900" indent="-342900">
                <a:lnSpc>
                  <a:spcPct val="150000"/>
                </a:lnSpc>
                <a:spcBef>
                  <a:spcPct val="20000"/>
                </a:spcBef>
                <a:buFont typeface="Arial" panose="020B0604020202020204" pitchFamily="34" charset="0"/>
                <a:buNone/>
                <a:defRPr/>
              </a:pP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A</a:t>
              </a:r>
              <a:r>
                <a:rPr lang="en-US" sz="2400" b="1" baseline="-25000" dirty="0">
                  <a:latin typeface="Times New Roman" panose="02020603050405020304" pitchFamily="18" charset="0"/>
                  <a:ea typeface="+mn-ea"/>
                  <a:cs typeface="Times New Roman" panose="02020603050405020304" pitchFamily="18" charset="0"/>
                </a:rPr>
                <a:t>2</a:t>
              </a:r>
              <a:r>
                <a:rPr lang="en-US" sz="2400" b="1" dirty="0">
                  <a:latin typeface="Times New Roman" panose="02020603050405020304" pitchFamily="18" charset="0"/>
                  <a:ea typeface="+mn-ea"/>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     1            4                 1</a:t>
              </a:r>
              <a:endParaRPr lang="en-US" sz="2400" b="1" dirty="0">
                <a:latin typeface="Times New Roman" panose="02020603050405020304" pitchFamily="18" charset="0"/>
                <a:ea typeface="+mn-ea"/>
                <a:cs typeface="Times New Roman" panose="02020603050405020304" pitchFamily="18" charset="0"/>
              </a:endParaRPr>
            </a:p>
          </p:txBody>
        </p:sp>
        <p:cxnSp>
          <p:nvCxnSpPr>
            <p:cNvPr id="100" name="直接连接符 99"/>
            <p:cNvCxnSpPr/>
            <p:nvPr/>
          </p:nvCxnSpPr>
          <p:spPr>
            <a:xfrm>
              <a:off x="2571736" y="4929034"/>
              <a:ext cx="4071966"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2571736" y="5427322"/>
              <a:ext cx="4071966"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2571736" y="6000194"/>
              <a:ext cx="4071966" cy="15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2571736" y="6569892"/>
              <a:ext cx="4071966"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rot="5400000">
              <a:off x="1751308" y="5751050"/>
              <a:ext cx="1642445"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rot="5400000">
              <a:off x="2465687" y="5749463"/>
              <a:ext cx="1642446"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rot="5400000">
              <a:off x="3535669" y="5749463"/>
              <a:ext cx="1642446"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rot="5400000">
              <a:off x="4678678" y="5749463"/>
              <a:ext cx="1642446"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rot="5400000">
              <a:off x="5821686" y="5749463"/>
              <a:ext cx="1642446"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4774" name="内容占位符 2"/>
            <p:cNvSpPr txBox="1"/>
            <p:nvPr/>
          </p:nvSpPr>
          <p:spPr bwMode="auto">
            <a:xfrm>
              <a:off x="3929058" y="5438429"/>
              <a:ext cx="428628" cy="27612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ts val="2000"/>
                </a:lnSpc>
                <a:buFont typeface="Arial" panose="020B0604020202020204" pitchFamily="34" charset="0"/>
                <a:buNone/>
              </a:pPr>
              <a:r>
                <a:rPr lang="en-US" altLang="zh-CN" sz="2400" b="1">
                  <a:latin typeface="Times New Roman" panose="02020603050405020304" pitchFamily="18" charset="0"/>
                  <a:cs typeface="Times New Roman" panose="02020603050405020304" pitchFamily="18" charset="0"/>
                </a:rPr>
                <a:t>0</a:t>
              </a:r>
              <a:endParaRPr lang="en-US" altLang="zh-CN" sz="2400" b="1">
                <a:latin typeface="Times New Roman" panose="02020603050405020304" pitchFamily="18" charset="0"/>
                <a:cs typeface="Times New Roman" panose="02020603050405020304" pitchFamily="18" charset="0"/>
              </a:endParaRPr>
            </a:p>
          </p:txBody>
        </p:sp>
        <p:sp>
          <p:nvSpPr>
            <p:cNvPr id="74775" name="内容占位符 2"/>
            <p:cNvSpPr txBox="1"/>
            <p:nvPr/>
          </p:nvSpPr>
          <p:spPr bwMode="auto">
            <a:xfrm>
              <a:off x="5072066" y="5438429"/>
              <a:ext cx="428628" cy="27612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ts val="2000"/>
                </a:lnSpc>
                <a:buFont typeface="Arial" panose="020B0604020202020204" pitchFamily="34" charset="0"/>
                <a:buNone/>
              </a:pPr>
              <a:r>
                <a:rPr lang="en-US" altLang="zh-CN" sz="2400" b="1">
                  <a:latin typeface="Times New Roman" panose="02020603050405020304" pitchFamily="18" charset="0"/>
                  <a:cs typeface="Times New Roman" panose="02020603050405020304" pitchFamily="18" charset="0"/>
                </a:rPr>
                <a:t>1</a:t>
              </a:r>
              <a:endParaRPr lang="en-US" altLang="zh-CN" sz="2400" b="1">
                <a:latin typeface="Times New Roman" panose="02020603050405020304" pitchFamily="18" charset="0"/>
                <a:cs typeface="Times New Roman" panose="02020603050405020304" pitchFamily="18" charset="0"/>
              </a:endParaRPr>
            </a:p>
          </p:txBody>
        </p:sp>
        <p:sp>
          <p:nvSpPr>
            <p:cNvPr id="74776" name="内容占位符 2"/>
            <p:cNvSpPr txBox="1"/>
            <p:nvPr/>
          </p:nvSpPr>
          <p:spPr bwMode="auto">
            <a:xfrm>
              <a:off x="6215074" y="5428908"/>
              <a:ext cx="428628" cy="27612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ts val="2000"/>
                </a:lnSpc>
                <a:buFont typeface="Arial" panose="020B0604020202020204" pitchFamily="34" charset="0"/>
                <a:buNone/>
              </a:pPr>
              <a:r>
                <a:rPr lang="en-US" altLang="zh-CN" sz="2400" b="1">
                  <a:latin typeface="Times New Roman" panose="02020603050405020304" pitchFamily="18" charset="0"/>
                  <a:cs typeface="Times New Roman" panose="02020603050405020304" pitchFamily="18" charset="0"/>
                </a:rPr>
                <a:t>9</a:t>
              </a:r>
              <a:endParaRPr lang="en-US" altLang="zh-CN" sz="2400" b="1">
                <a:latin typeface="Times New Roman" panose="02020603050405020304" pitchFamily="18" charset="0"/>
                <a:cs typeface="Times New Roman" panose="02020603050405020304" pitchFamily="18" charset="0"/>
              </a:endParaRPr>
            </a:p>
          </p:txBody>
        </p:sp>
        <p:sp>
          <p:nvSpPr>
            <p:cNvPr id="74777" name="内容占位符 2"/>
            <p:cNvSpPr txBox="1"/>
            <p:nvPr/>
          </p:nvSpPr>
          <p:spPr bwMode="auto">
            <a:xfrm>
              <a:off x="3929058" y="6009715"/>
              <a:ext cx="428628" cy="27612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ts val="2000"/>
                </a:lnSpc>
                <a:buFont typeface="Arial" panose="020B0604020202020204" pitchFamily="34" charset="0"/>
                <a:buNone/>
              </a:pPr>
              <a:r>
                <a:rPr lang="en-US" altLang="zh-CN" sz="2400" b="1">
                  <a:latin typeface="Times New Roman" panose="02020603050405020304" pitchFamily="18" charset="0"/>
                  <a:cs typeface="Times New Roman" panose="02020603050405020304" pitchFamily="18" charset="0"/>
                </a:rPr>
                <a:t>0</a:t>
              </a:r>
              <a:endParaRPr lang="en-US" altLang="zh-CN" sz="2400" b="1">
                <a:latin typeface="Times New Roman" panose="02020603050405020304" pitchFamily="18" charset="0"/>
                <a:cs typeface="Times New Roman" panose="02020603050405020304" pitchFamily="18" charset="0"/>
              </a:endParaRPr>
            </a:p>
          </p:txBody>
        </p:sp>
        <p:sp>
          <p:nvSpPr>
            <p:cNvPr id="74778" name="内容占位符 2"/>
            <p:cNvSpPr txBox="1"/>
            <p:nvPr/>
          </p:nvSpPr>
          <p:spPr bwMode="auto">
            <a:xfrm>
              <a:off x="5000628" y="6009715"/>
              <a:ext cx="500066" cy="27612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ts val="2000"/>
                </a:lnSpc>
                <a:buFont typeface="Arial" panose="020B0604020202020204" pitchFamily="34" charset="0"/>
                <a:buNone/>
              </a:pPr>
              <a:r>
                <a:rPr lang="en-US" altLang="zh-CN" sz="2400" b="1">
                  <a:latin typeface="Times New Roman" panose="02020603050405020304" pitchFamily="18" charset="0"/>
                  <a:cs typeface="Times New Roman" panose="02020603050405020304" pitchFamily="18" charset="0"/>
                </a:rPr>
                <a:t>0</a:t>
              </a:r>
              <a:endParaRPr lang="en-US" altLang="zh-CN" sz="2400" b="1">
                <a:latin typeface="Times New Roman" panose="02020603050405020304" pitchFamily="18" charset="0"/>
                <a:cs typeface="Times New Roman" panose="02020603050405020304" pitchFamily="18" charset="0"/>
              </a:endParaRPr>
            </a:p>
          </p:txBody>
        </p:sp>
        <p:sp>
          <p:nvSpPr>
            <p:cNvPr id="74779" name="内容占位符 2"/>
            <p:cNvSpPr txBox="1"/>
            <p:nvPr/>
          </p:nvSpPr>
          <p:spPr bwMode="auto">
            <a:xfrm>
              <a:off x="6215074" y="6000193"/>
              <a:ext cx="428628" cy="27612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ts val="2000"/>
                </a:lnSpc>
                <a:buFont typeface="Arial" panose="020B0604020202020204" pitchFamily="34" charset="0"/>
                <a:buNone/>
              </a:pPr>
              <a:r>
                <a:rPr lang="en-US" altLang="zh-CN" sz="2400" b="1">
                  <a:latin typeface="Times New Roman" panose="02020603050405020304" pitchFamily="18" charset="0"/>
                  <a:cs typeface="Times New Roman" panose="02020603050405020304" pitchFamily="18" charset="0"/>
                </a:rPr>
                <a:t>0</a:t>
              </a:r>
              <a:endParaRPr lang="en-US" altLang="zh-CN" sz="2400" b="1">
                <a:latin typeface="Times New Roman" panose="02020603050405020304" pitchFamily="18" charset="0"/>
                <a:cs typeface="Times New Roman" panose="02020603050405020304" pitchFamily="18" charset="0"/>
              </a:endParaRPr>
            </a:p>
          </p:txBody>
        </p:sp>
      </p:grpSp>
      <p:sp>
        <p:nvSpPr>
          <p:cNvPr id="74762" name="内容占位符 2"/>
          <p:cNvSpPr>
            <a:spLocks noGrp="1"/>
          </p:cNvSpPr>
          <p:nvPr>
            <p:ph idx="1"/>
          </p:nvPr>
        </p:nvSpPr>
        <p:spPr>
          <a:xfrm>
            <a:off x="2076936" y="252414"/>
            <a:ext cx="5080000" cy="571500"/>
          </a:xfrm>
        </p:spPr>
        <p:txBody>
          <a:bodyPr/>
          <a:lstStyle/>
          <a:p>
            <a:pPr algn="ctr">
              <a:buFont typeface="Arial" panose="020B0604020202020204" pitchFamily="34" charset="0"/>
              <a:buNone/>
            </a:pPr>
            <a:r>
              <a:rPr lang="zh-CN" altLang="en-US" sz="4000" b="1" dirty="0" smtClean="0">
                <a:solidFill>
                  <a:srgbClr val="C00000"/>
                </a:solidFill>
                <a:latin typeface="Times New Roman" panose="02020603050405020304" pitchFamily="18" charset="0"/>
                <a:cs typeface="Times New Roman" panose="02020603050405020304" pitchFamily="18" charset="0"/>
              </a:rPr>
              <a:t>例</a:t>
            </a:r>
            <a:r>
              <a:rPr lang="en-US" altLang="zh-CN" sz="4000" b="1" dirty="0" smtClean="0">
                <a:solidFill>
                  <a:srgbClr val="C00000"/>
                </a:solidFill>
                <a:latin typeface="Times New Roman" panose="02020603050405020304" pitchFamily="18" charset="0"/>
                <a:cs typeface="Times New Roman" panose="02020603050405020304" pitchFamily="18" charset="0"/>
              </a:rPr>
              <a:t>6.3 (</a:t>
            </a:r>
            <a:r>
              <a:rPr lang="zh-CN" altLang="en-US" sz="4000" b="1" dirty="0" smtClean="0">
                <a:solidFill>
                  <a:srgbClr val="C00000"/>
                </a:solidFill>
                <a:latin typeface="Times New Roman" panose="02020603050405020304" pitchFamily="18" charset="0"/>
                <a:cs typeface="Times New Roman" panose="02020603050405020304" pitchFamily="18" charset="0"/>
              </a:rPr>
              <a:t>续</a:t>
            </a:r>
            <a:r>
              <a:rPr lang="en-US" altLang="zh-CN" sz="4000" b="1" dirty="0" smtClean="0">
                <a:solidFill>
                  <a:srgbClr val="C00000"/>
                </a:solidFill>
                <a:latin typeface="Times New Roman" panose="02020603050405020304" pitchFamily="18" charset="0"/>
                <a:cs typeface="Times New Roman" panose="02020603050405020304" pitchFamily="18" charset="0"/>
              </a:rPr>
              <a:t>)</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
        <p:nvSpPr>
          <p:cNvPr id="47" name="内容占位符 2"/>
          <p:cNvSpPr txBox="1"/>
          <p:nvPr/>
        </p:nvSpPr>
        <p:spPr bwMode="auto">
          <a:xfrm>
            <a:off x="6357938" y="5661025"/>
            <a:ext cx="2043112" cy="571500"/>
          </a:xfrm>
          <a:prstGeom prst="rect">
            <a:avLst/>
          </a:prstGeom>
          <a:noFill/>
          <a:ln w="9525">
            <a:noFill/>
            <a:miter lim="800000"/>
          </a:ln>
        </p:spPr>
        <p:txBody>
          <a:bodyPr/>
          <a:lstStyle/>
          <a:p>
            <a:pPr marL="342900" indent="-342900">
              <a:spcBef>
                <a:spcPct val="20000"/>
              </a:spcBef>
              <a:buFont typeface="Arial" panose="020B0604020202020204" pitchFamily="34" charset="0"/>
              <a:buNone/>
              <a:defRPr/>
            </a:pPr>
            <a:r>
              <a:rPr lang="en-US" altLang="zh-CN" sz="2400" b="1" i="1" dirty="0">
                <a:latin typeface="Times New Roman" panose="02020603050405020304" pitchFamily="18" charset="0"/>
                <a:ea typeface="+mn-ea"/>
                <a:cs typeface="Times New Roman" panose="02020603050405020304" pitchFamily="18" charset="0"/>
              </a:rPr>
              <a:t>x</a:t>
            </a:r>
            <a:r>
              <a:rPr lang="en-US" altLang="zh-CN" sz="2400" b="1" baseline="30000" dirty="0">
                <a:latin typeface="Times New Roman" panose="02020603050405020304" pitchFamily="18" charset="0"/>
                <a:ea typeface="+mn-ea"/>
                <a:cs typeface="Times New Roman" panose="02020603050405020304" pitchFamily="18" charset="0"/>
              </a:rPr>
              <a:t>(1)</a:t>
            </a:r>
            <a:r>
              <a:rPr lang="zh-CN" altLang="en-US" sz="2400" b="1" dirty="0">
                <a:latin typeface="Times New Roman" panose="02020603050405020304" pitchFamily="18" charset="0"/>
                <a:ea typeface="+mn-ea"/>
                <a:cs typeface="Times New Roman" panose="02020603050405020304" pitchFamily="18" charset="0"/>
              </a:rPr>
              <a:t>是最优解</a:t>
            </a:r>
            <a:endParaRPr lang="zh-CN" altLang="en-US" sz="2400" b="1" dirty="0">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2"/>
                                        </p:tgtEl>
                                        <p:attrNameLst>
                                          <p:attrName>style.visibility</p:attrName>
                                        </p:attrNameLst>
                                      </p:cBhvr>
                                      <p:to>
                                        <p:strVal val="visible"/>
                                      </p:to>
                                    </p:set>
                                    <p:anim calcmode="lin" valueType="num">
                                      <p:cBhvr additive="base">
                                        <p:cTn id="7" dur="500" fill="hold"/>
                                        <p:tgtEl>
                                          <p:spTgt spid="92"/>
                                        </p:tgtEl>
                                        <p:attrNameLst>
                                          <p:attrName>ppt_x</p:attrName>
                                        </p:attrNameLst>
                                      </p:cBhvr>
                                      <p:tavLst>
                                        <p:tav tm="0">
                                          <p:val>
                                            <p:strVal val="1+#ppt_w/2"/>
                                          </p:val>
                                        </p:tav>
                                        <p:tav tm="100000">
                                          <p:val>
                                            <p:strVal val="#ppt_x"/>
                                          </p:val>
                                        </p:tav>
                                      </p:tavLst>
                                    </p:anim>
                                    <p:anim calcmode="lin" valueType="num">
                                      <p:cBhvr additive="base">
                                        <p:cTn id="8" dur="500" fill="hold"/>
                                        <p:tgtEl>
                                          <p:spTgt spid="9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3"/>
                                        </p:tgtEl>
                                        <p:attrNameLst>
                                          <p:attrName>style.visibility</p:attrName>
                                        </p:attrNameLst>
                                      </p:cBhvr>
                                      <p:to>
                                        <p:strVal val="visible"/>
                                      </p:to>
                                    </p:set>
                                    <p:anim calcmode="lin" valueType="num">
                                      <p:cBhvr additive="base">
                                        <p:cTn id="13" dur="500" fill="hold"/>
                                        <p:tgtEl>
                                          <p:spTgt spid="93"/>
                                        </p:tgtEl>
                                        <p:attrNameLst>
                                          <p:attrName>ppt_x</p:attrName>
                                        </p:attrNameLst>
                                      </p:cBhvr>
                                      <p:tavLst>
                                        <p:tav tm="0">
                                          <p:val>
                                            <p:strVal val="#ppt_x"/>
                                          </p:val>
                                        </p:tav>
                                        <p:tav tm="100000">
                                          <p:val>
                                            <p:strVal val="#ppt_x"/>
                                          </p:val>
                                        </p:tav>
                                      </p:tavLst>
                                    </p:anim>
                                    <p:anim calcmode="lin" valueType="num">
                                      <p:cBhvr additive="base">
                                        <p:cTn id="14" dur="500" fill="hold"/>
                                        <p:tgtEl>
                                          <p:spTgt spid="9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95"/>
                                        </p:tgtEl>
                                        <p:attrNameLst>
                                          <p:attrName>style.visibility</p:attrName>
                                        </p:attrNameLst>
                                      </p:cBhvr>
                                      <p:to>
                                        <p:strVal val="visible"/>
                                      </p:to>
                                    </p:set>
                                    <p:anim calcmode="lin" valueType="num">
                                      <p:cBhvr additive="base">
                                        <p:cTn id="19" dur="500" fill="hold"/>
                                        <p:tgtEl>
                                          <p:spTgt spid="95"/>
                                        </p:tgtEl>
                                        <p:attrNameLst>
                                          <p:attrName>ppt_x</p:attrName>
                                        </p:attrNameLst>
                                      </p:cBhvr>
                                      <p:tavLst>
                                        <p:tav tm="0">
                                          <p:val>
                                            <p:strVal val="1+#ppt_w/2"/>
                                          </p:val>
                                        </p:tav>
                                        <p:tav tm="100000">
                                          <p:val>
                                            <p:strVal val="#ppt_x"/>
                                          </p:val>
                                        </p:tav>
                                      </p:tavLst>
                                    </p:anim>
                                    <p:anim calcmode="lin" valueType="num">
                                      <p:cBhvr additive="base">
                                        <p:cTn id="20" dur="500" fill="hold"/>
                                        <p:tgtEl>
                                          <p:spTgt spid="9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4"/>
                                        </p:tgtEl>
                                        <p:attrNameLst>
                                          <p:attrName>style.visibility</p:attrName>
                                        </p:attrNameLst>
                                      </p:cBhvr>
                                      <p:to>
                                        <p:strVal val="visible"/>
                                      </p:to>
                                    </p:set>
                                    <p:anim calcmode="lin" valueType="num">
                                      <p:cBhvr additive="base">
                                        <p:cTn id="25" dur="500" fill="hold"/>
                                        <p:tgtEl>
                                          <p:spTgt spid="94"/>
                                        </p:tgtEl>
                                        <p:attrNameLst>
                                          <p:attrName>ppt_x</p:attrName>
                                        </p:attrNameLst>
                                      </p:cBhvr>
                                      <p:tavLst>
                                        <p:tav tm="0">
                                          <p:val>
                                            <p:strVal val="#ppt_x"/>
                                          </p:val>
                                        </p:tav>
                                        <p:tav tm="100000">
                                          <p:val>
                                            <p:strVal val="#ppt_x"/>
                                          </p:val>
                                        </p:tav>
                                      </p:tavLst>
                                    </p:anim>
                                    <p:anim calcmode="lin" valueType="num">
                                      <p:cBhvr additive="base">
                                        <p:cTn id="26" dur="500" fill="hold"/>
                                        <p:tgtEl>
                                          <p:spTgt spid="9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6"/>
                                        </p:tgtEl>
                                        <p:attrNameLst>
                                          <p:attrName>style.visibility</p:attrName>
                                        </p:attrNameLst>
                                      </p:cBhvr>
                                      <p:to>
                                        <p:strVal val="visible"/>
                                      </p:to>
                                    </p:set>
                                    <p:anim calcmode="lin" valueType="num">
                                      <p:cBhvr additive="base">
                                        <p:cTn id="31" dur="500" fill="hold"/>
                                        <p:tgtEl>
                                          <p:spTgt spid="96"/>
                                        </p:tgtEl>
                                        <p:attrNameLst>
                                          <p:attrName>ppt_x</p:attrName>
                                        </p:attrNameLst>
                                      </p:cBhvr>
                                      <p:tavLst>
                                        <p:tav tm="0">
                                          <p:val>
                                            <p:strVal val="#ppt_x"/>
                                          </p:val>
                                        </p:tav>
                                        <p:tav tm="100000">
                                          <p:val>
                                            <p:strVal val="#ppt_x"/>
                                          </p:val>
                                        </p:tav>
                                      </p:tavLst>
                                    </p:anim>
                                    <p:anim calcmode="lin" valueType="num">
                                      <p:cBhvr additive="base">
                                        <p:cTn id="32" dur="500" fill="hold"/>
                                        <p:tgtEl>
                                          <p:spTgt spid="9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blinds(horizontal)">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47"/>
                                        </p:tgtEl>
                                        <p:attrNameLst>
                                          <p:attrName>style.visibility</p:attrName>
                                        </p:attrNameLst>
                                      </p:cBhvr>
                                      <p:to>
                                        <p:strVal val="visible"/>
                                      </p:to>
                                    </p:set>
                                    <p:anim calcmode="lin" valueType="num">
                                      <p:cBhvr additive="base">
                                        <p:cTn id="42" dur="500" fill="hold"/>
                                        <p:tgtEl>
                                          <p:spTgt spid="47"/>
                                        </p:tgtEl>
                                        <p:attrNameLst>
                                          <p:attrName>ppt_x</p:attrName>
                                        </p:attrNameLst>
                                      </p:cBhvr>
                                      <p:tavLst>
                                        <p:tav tm="0">
                                          <p:val>
                                            <p:strVal val="#ppt_x"/>
                                          </p:val>
                                        </p:tav>
                                        <p:tav tm="100000">
                                          <p:val>
                                            <p:strVal val="#ppt_x"/>
                                          </p:val>
                                        </p:tav>
                                      </p:tavLst>
                                    </p:anim>
                                    <p:anim calcmode="lin" valueType="num">
                                      <p:cBhvr additive="base">
                                        <p:cTn id="43"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P spid="93" grpId="0"/>
      <p:bldP spid="94" grpId="0"/>
      <p:bldP spid="95" grpId="0"/>
      <p:bldP spid="96" grpId="0"/>
      <p:bldP spid="4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a:xfrm>
            <a:off x="457200" y="174625"/>
            <a:ext cx="8229600" cy="939800"/>
          </a:xfrm>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7.4 </a:t>
            </a:r>
            <a:r>
              <a:rPr lang="zh-CN" altLang="en-US" sz="4000" b="1" smtClean="0">
                <a:solidFill>
                  <a:srgbClr val="C00000"/>
                </a:solidFill>
                <a:latin typeface="Times New Roman" panose="02020603050405020304" pitchFamily="18" charset="0"/>
                <a:cs typeface="Times New Roman" panose="02020603050405020304" pitchFamily="18" charset="0"/>
              </a:rPr>
              <a:t>二部图匹配</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75779" name="内容占位符 2"/>
          <p:cNvSpPr>
            <a:spLocks noGrp="1"/>
          </p:cNvSpPr>
          <p:nvPr>
            <p:ph idx="1"/>
          </p:nvPr>
        </p:nvSpPr>
        <p:spPr>
          <a:xfrm>
            <a:off x="457200" y="1114425"/>
            <a:ext cx="8229600" cy="5241925"/>
          </a:xfrm>
        </p:spPr>
        <p:txBody>
          <a:bodyPr/>
          <a:lstStyle/>
          <a:p>
            <a:pPr algn="ctr">
              <a:buFont typeface="Arial" panose="020B0604020202020204" pitchFamily="34" charset="0"/>
              <a:buNone/>
            </a:pPr>
            <a:r>
              <a:rPr lang="en-US" altLang="zh-CN" b="1" dirty="0" smtClean="0">
                <a:solidFill>
                  <a:srgbClr val="C00000"/>
                </a:solidFill>
                <a:latin typeface="Times New Roman" panose="02020603050405020304" pitchFamily="18" charset="0"/>
                <a:cs typeface="Times New Roman" panose="02020603050405020304" pitchFamily="18" charset="0"/>
              </a:rPr>
              <a:t>7.4.1 </a:t>
            </a:r>
            <a:r>
              <a:rPr lang="zh-CN" altLang="en-US" b="1" dirty="0" smtClean="0">
                <a:solidFill>
                  <a:srgbClr val="C00000"/>
                </a:solidFill>
                <a:latin typeface="Times New Roman" panose="02020603050405020304" pitchFamily="18" charset="0"/>
                <a:cs typeface="Times New Roman" panose="02020603050405020304" pitchFamily="18" charset="0"/>
              </a:rPr>
              <a:t>二部图的最大匹配</a:t>
            </a:r>
            <a:endParaRPr lang="zh-CN" altLang="en-US" b="1" dirty="0" smtClean="0">
              <a:solidFill>
                <a:srgbClr val="C00000"/>
              </a:solidFill>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定义</a:t>
            </a:r>
            <a:r>
              <a:rPr lang="en-US" altLang="zh-CN" sz="2400" b="1" dirty="0" smtClean="0">
                <a:solidFill>
                  <a:srgbClr val="C00000"/>
                </a:solidFill>
                <a:latin typeface="Times New Roman" panose="02020603050405020304" pitchFamily="18" charset="0"/>
                <a:cs typeface="Times New Roman" panose="02020603050405020304" pitchFamily="18" charset="0"/>
              </a:rPr>
              <a:t>7.10</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设简单二部图 </a:t>
            </a:r>
            <a:r>
              <a:rPr lang="en-US" altLang="zh-CN" sz="2400" b="1" i="1" dirty="0" smtClean="0">
                <a:latin typeface="Times New Roman" panose="02020603050405020304" pitchFamily="18" charset="0"/>
                <a:cs typeface="Times New Roman" panose="02020603050405020304" pitchFamily="18" charset="0"/>
              </a:rPr>
              <a:t>G </a:t>
            </a:r>
            <a:r>
              <a:rPr lang="en-US" altLang="zh-CN" sz="2400" b="1" dirty="0" smtClean="0">
                <a:latin typeface="Times New Roman" panose="02020603050405020304" pitchFamily="18" charset="0"/>
                <a:cs typeface="Times New Roman" panose="02020603050405020304" pitchFamily="18" charset="0"/>
              </a:rPr>
              <a:t>= &lt;</a:t>
            </a:r>
            <a:r>
              <a:rPr lang="en-US" altLang="zh-CN" sz="2400" b="1" i="1" dirty="0" smtClean="0">
                <a:latin typeface="Times New Roman" panose="02020603050405020304" pitchFamily="18" charset="0"/>
                <a:cs typeface="Times New Roman" panose="02020603050405020304" pitchFamily="18" charset="0"/>
              </a:rPr>
              <a:t>A</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B</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&gt;, </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如果 </a:t>
            </a:r>
            <a:r>
              <a:rPr lang="en-US" altLang="zh-CN" sz="2400" b="1" i="1" dirty="0" smtClean="0">
                <a:latin typeface="Times New Roman" panose="02020603050405020304" pitchFamily="18" charset="0"/>
                <a:cs typeface="Times New Roman" panose="02020603050405020304" pitchFamily="18" charset="0"/>
              </a:rPr>
              <a:t>M </a:t>
            </a:r>
            <a:r>
              <a:rPr lang="zh-CN" altLang="en-US" sz="2400" b="1" dirty="0" smtClean="0">
                <a:latin typeface="Times New Roman" panose="02020603050405020304" pitchFamily="18" charset="0"/>
                <a:cs typeface="Times New Roman" panose="02020603050405020304" pitchFamily="18" charset="0"/>
              </a:rPr>
              <a:t>中</a:t>
            </a:r>
            <a:r>
              <a:rPr lang="zh-CN" altLang="en-US" sz="2400" b="1" dirty="0" smtClean="0">
                <a:latin typeface="Times New Roman" panose="02020603050405020304" pitchFamily="18" charset="0"/>
                <a:cs typeface="Times New Roman" panose="02020603050405020304" pitchFamily="18" charset="0"/>
              </a:rPr>
              <a:t>任意</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两条边都</a:t>
            </a:r>
            <a:r>
              <a:rPr lang="zh-CN" altLang="en-US" sz="2400" b="1" dirty="0" smtClean="0">
                <a:latin typeface="Times New Roman" panose="02020603050405020304" pitchFamily="18" charset="0"/>
                <a:cs typeface="Times New Roman" panose="02020603050405020304" pitchFamily="18" charset="0"/>
              </a:rPr>
              <a:t>不相邻</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则称 </a:t>
            </a:r>
            <a:r>
              <a:rPr lang="en-US" altLang="zh-CN" sz="2400" b="1" i="1" dirty="0" smtClean="0">
                <a:latin typeface="Times New Roman" panose="02020603050405020304" pitchFamily="18" charset="0"/>
                <a:cs typeface="Times New Roman" panose="02020603050405020304" pitchFamily="18" charset="0"/>
              </a:rPr>
              <a:t>M </a:t>
            </a:r>
            <a:r>
              <a:rPr lang="zh-CN" altLang="en-US" sz="2400" b="1" dirty="0" smtClean="0">
                <a:latin typeface="Times New Roman" panose="02020603050405020304" pitchFamily="18" charset="0"/>
                <a:cs typeface="Times New Roman" panose="02020603050405020304" pitchFamily="18" charset="0"/>
              </a:rPr>
              <a:t>是 </a:t>
            </a:r>
            <a:r>
              <a:rPr lang="en-US" altLang="zh-CN" sz="2400" b="1" i="1"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的</a:t>
            </a:r>
            <a:r>
              <a:rPr lang="zh-CN" altLang="en-US" sz="2400" b="1" dirty="0" smtClean="0">
                <a:solidFill>
                  <a:srgbClr val="C00000"/>
                </a:solidFill>
                <a:latin typeface="Times New Roman" panose="02020603050405020304" pitchFamily="18" charset="0"/>
                <a:cs typeface="Times New Roman" panose="02020603050405020304" pitchFamily="18" charset="0"/>
              </a:rPr>
              <a:t>匹配</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边数最多的匹配</a:t>
            </a:r>
            <a:r>
              <a:rPr lang="zh-CN" altLang="en-US" sz="2400" b="1" dirty="0" smtClean="0">
                <a:latin typeface="Times New Roman" panose="02020603050405020304" pitchFamily="18" charset="0"/>
                <a:cs typeface="Times New Roman" panose="02020603050405020304" pitchFamily="18" charset="0"/>
              </a:rPr>
              <a:t>称作</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最大匹配</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当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A</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B</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n </a:t>
            </a:r>
            <a:r>
              <a:rPr lang="zh-CN" altLang="en-US" sz="2400" b="1" dirty="0" smtClean="0">
                <a:latin typeface="Times New Roman" panose="02020603050405020304" pitchFamily="18" charset="0"/>
                <a:cs typeface="Times New Roman" panose="02020603050405020304" pitchFamily="18" charset="0"/>
              </a:rPr>
              <a:t>时</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边数为 </a:t>
            </a:r>
            <a:r>
              <a:rPr lang="en-US" altLang="zh-CN" sz="2400" b="1" i="1" dirty="0" smtClean="0">
                <a:latin typeface="Times New Roman" panose="02020603050405020304" pitchFamily="18" charset="0"/>
                <a:cs typeface="Times New Roman" panose="02020603050405020304" pitchFamily="18" charset="0"/>
              </a:rPr>
              <a:t>n </a:t>
            </a:r>
            <a:r>
              <a:rPr lang="zh-CN" altLang="en-US" sz="2400" b="1" dirty="0" smtClean="0">
                <a:latin typeface="Times New Roman" panose="02020603050405020304" pitchFamily="18" charset="0"/>
                <a:cs typeface="Times New Roman" panose="02020603050405020304" pitchFamily="18" charset="0"/>
              </a:rPr>
              <a:t>的匹配称作</a:t>
            </a:r>
            <a:r>
              <a:rPr lang="zh-CN" altLang="en-US" sz="2400" b="1" dirty="0" smtClean="0">
                <a:solidFill>
                  <a:srgbClr val="C00000"/>
                </a:solidFill>
                <a:latin typeface="Times New Roman" panose="02020603050405020304" pitchFamily="18" charset="0"/>
                <a:cs typeface="Times New Roman" panose="02020603050405020304" pitchFamily="18" charset="0"/>
              </a:rPr>
              <a:t>完美匹配</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例</a:t>
            </a:r>
            <a:r>
              <a:rPr lang="en-US" altLang="zh-CN" sz="2400" b="1" dirty="0" smtClean="0">
                <a:solidFill>
                  <a:srgbClr val="C00000"/>
                </a:solidFill>
                <a:latin typeface="Times New Roman" panose="02020603050405020304" pitchFamily="18" charset="0"/>
                <a:cs typeface="Times New Roman" panose="02020603050405020304" pitchFamily="18" charset="0"/>
              </a:rPr>
              <a:t>7.5</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有</a:t>
            </a:r>
            <a:r>
              <a:rPr lang="en-US" altLang="zh-CN" sz="2400" b="1" dirty="0" smtClean="0">
                <a:latin typeface="Times New Roman" panose="02020603050405020304" pitchFamily="18" charset="0"/>
                <a:cs typeface="Times New Roman" panose="02020603050405020304" pitchFamily="18" charset="0"/>
              </a:rPr>
              <a:t>4</a:t>
            </a:r>
            <a:r>
              <a:rPr lang="zh-CN" altLang="en-US" sz="2400" b="1" dirty="0" smtClean="0">
                <a:latin typeface="Times New Roman" panose="02020603050405020304" pitchFamily="18" charset="0"/>
                <a:cs typeface="Times New Roman" panose="02020603050405020304" pitchFamily="18" charset="0"/>
              </a:rPr>
              <a:t>名新入学的硕士生和</a:t>
            </a:r>
            <a:r>
              <a:rPr lang="en-US" altLang="zh-CN" sz="2400" b="1" dirty="0" smtClean="0">
                <a:latin typeface="Times New Roman" panose="02020603050405020304" pitchFamily="18" charset="0"/>
                <a:cs typeface="Times New Roman" panose="02020603050405020304" pitchFamily="18" charset="0"/>
              </a:rPr>
              <a:t>4</a:t>
            </a:r>
            <a:r>
              <a:rPr lang="zh-CN" altLang="en-US" sz="2400" b="1" dirty="0" smtClean="0">
                <a:latin typeface="Times New Roman" panose="02020603050405020304" pitchFamily="18" charset="0"/>
                <a:cs typeface="Times New Roman" panose="02020603050405020304" pitchFamily="18" charset="0"/>
              </a:rPr>
              <a:t>位硕导</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a:t>
            </a:r>
            <a:r>
              <a:rPr lang="en-US" altLang="zh-CN" sz="2400" b="1" baseline="-25000" dirty="0" smtClean="0">
                <a:latin typeface="Times New Roman" panose="02020603050405020304" pitchFamily="18" charset="0"/>
                <a:cs typeface="Times New Roman" panose="02020603050405020304" pitchFamily="18" charset="0"/>
              </a:rPr>
              <a:t>1</a:t>
            </a:r>
            <a:r>
              <a:rPr lang="zh-CN" altLang="en-US" sz="2400" b="1" dirty="0" smtClean="0">
                <a:latin typeface="Times New Roman" panose="02020603050405020304" pitchFamily="18" charset="0"/>
                <a:cs typeface="Times New Roman" panose="02020603050405020304" pitchFamily="18" charset="0"/>
              </a:rPr>
              <a:t>申请</a:t>
            </a:r>
            <a:r>
              <a:rPr lang="en-US" altLang="zh-CN" sz="2400" b="1" i="1" dirty="0" smtClean="0">
                <a:latin typeface="Times New Roman" panose="02020603050405020304" pitchFamily="18" charset="0"/>
                <a:cs typeface="Times New Roman" panose="02020603050405020304" pitchFamily="18" charset="0"/>
              </a:rPr>
              <a:t>B</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B</a:t>
            </a:r>
            <a:r>
              <a:rPr lang="en-US" altLang="zh-CN" sz="2400" b="1" baseline="-25000" dirty="0" smtClean="0">
                <a:latin typeface="Times New Roman" panose="02020603050405020304" pitchFamily="18" charset="0"/>
                <a:cs typeface="Times New Roman" panose="02020603050405020304" pitchFamily="18" charset="0"/>
              </a:rPr>
              <a:t>2</a:t>
            </a:r>
            <a:r>
              <a:rPr lang="zh-CN" altLang="en-US" sz="2400" b="1" dirty="0" smtClean="0">
                <a:latin typeface="Times New Roman" panose="02020603050405020304" pitchFamily="18" charset="0"/>
                <a:cs typeface="Times New Roman" panose="02020603050405020304" pitchFamily="18" charset="0"/>
              </a:rPr>
              <a:t>或</a:t>
            </a:r>
            <a:r>
              <a:rPr lang="en-US" altLang="zh-CN" sz="2400" b="1" i="1" dirty="0" smtClean="0">
                <a:latin typeface="Times New Roman" panose="02020603050405020304" pitchFamily="18" charset="0"/>
                <a:cs typeface="Times New Roman" panose="02020603050405020304" pitchFamily="18" charset="0"/>
              </a:rPr>
              <a:t>B</a:t>
            </a:r>
            <a:r>
              <a:rPr lang="en-US" altLang="zh-CN" sz="2400" b="1" baseline="-25000" dirty="0" smtClean="0">
                <a:latin typeface="Times New Roman" panose="02020603050405020304" pitchFamily="18" charset="0"/>
                <a:cs typeface="Times New Roman" panose="02020603050405020304" pitchFamily="18" charset="0"/>
              </a:rPr>
              <a:t>4</a:t>
            </a:r>
            <a:r>
              <a:rPr lang="zh-CN" altLang="en-US" sz="2400" b="1" dirty="0" smtClean="0">
                <a:latin typeface="Times New Roman" panose="02020603050405020304" pitchFamily="18" charset="0"/>
                <a:cs typeface="Times New Roman" panose="02020603050405020304" pitchFamily="18" charset="0"/>
              </a:rPr>
              <a:t>作导</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师</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A</a:t>
            </a:r>
            <a:r>
              <a:rPr lang="en-US" altLang="zh-CN" sz="2400" b="1" baseline="-25000" dirty="0" smtClean="0">
                <a:latin typeface="Times New Roman" panose="02020603050405020304" pitchFamily="18" charset="0"/>
                <a:cs typeface="Times New Roman" panose="02020603050405020304" pitchFamily="18" charset="0"/>
              </a:rPr>
              <a:t>3</a:t>
            </a:r>
            <a:r>
              <a:rPr lang="zh-CN" altLang="en-US" sz="2400" b="1" dirty="0" smtClean="0">
                <a:latin typeface="Times New Roman" panose="02020603050405020304" pitchFamily="18" charset="0"/>
                <a:cs typeface="Times New Roman" panose="02020603050405020304" pitchFamily="18" charset="0"/>
              </a:rPr>
              <a:t>和</a:t>
            </a:r>
            <a:r>
              <a:rPr lang="en-US" altLang="zh-CN" sz="2400" b="1" i="1" dirty="0" smtClean="0">
                <a:latin typeface="Times New Roman" panose="02020603050405020304" pitchFamily="18" charset="0"/>
                <a:cs typeface="Times New Roman" panose="02020603050405020304" pitchFamily="18" charset="0"/>
              </a:rPr>
              <a:t>A</a:t>
            </a:r>
            <a:r>
              <a:rPr lang="en-US" altLang="zh-CN" sz="2400" b="1" baseline="-25000" dirty="0" smtClean="0">
                <a:latin typeface="Times New Roman" panose="02020603050405020304" pitchFamily="18" charset="0"/>
                <a:cs typeface="Times New Roman" panose="02020603050405020304" pitchFamily="18" charset="0"/>
              </a:rPr>
              <a:t>4</a:t>
            </a:r>
            <a:r>
              <a:rPr lang="zh-CN" altLang="en-US" sz="2400" b="1" dirty="0" smtClean="0">
                <a:latin typeface="Times New Roman" panose="02020603050405020304" pitchFamily="18" charset="0"/>
                <a:cs typeface="Times New Roman" panose="02020603050405020304" pitchFamily="18" charset="0"/>
              </a:rPr>
              <a:t>都申请</a:t>
            </a:r>
            <a:r>
              <a:rPr lang="en-US" altLang="zh-CN" sz="2400" b="1" i="1" dirty="0" smtClean="0">
                <a:latin typeface="Times New Roman" panose="02020603050405020304" pitchFamily="18" charset="0"/>
                <a:cs typeface="Times New Roman" panose="02020603050405020304" pitchFamily="18" charset="0"/>
              </a:rPr>
              <a:t>B</a:t>
            </a:r>
            <a:r>
              <a:rPr lang="en-US" altLang="zh-CN" sz="2400" b="1" baseline="-25000" dirty="0" smtClean="0">
                <a:latin typeface="Times New Roman" panose="02020603050405020304" pitchFamily="18" charset="0"/>
                <a:cs typeface="Times New Roman" panose="02020603050405020304" pitchFamily="18" charset="0"/>
              </a:rPr>
              <a:t>1</a:t>
            </a:r>
            <a:r>
              <a:rPr lang="zh-CN" altLang="en-US" sz="2400" b="1" dirty="0" smtClean="0">
                <a:latin typeface="Times New Roman" panose="02020603050405020304" pitchFamily="18" charset="0"/>
                <a:cs typeface="Times New Roman" panose="02020603050405020304" pitchFamily="18" charset="0"/>
              </a:rPr>
              <a:t>或</a:t>
            </a:r>
            <a:r>
              <a:rPr lang="en-US" altLang="zh-CN" sz="2400" b="1" i="1" dirty="0" smtClean="0">
                <a:latin typeface="Times New Roman" panose="02020603050405020304" pitchFamily="18" charset="0"/>
                <a:cs typeface="Times New Roman" panose="02020603050405020304" pitchFamily="18" charset="0"/>
              </a:rPr>
              <a:t>B</a:t>
            </a:r>
            <a:r>
              <a:rPr lang="en-US" altLang="zh-CN" sz="2400" b="1" baseline="-25000" dirty="0" smtClean="0">
                <a:latin typeface="Times New Roman" panose="02020603050405020304" pitchFamily="18" charset="0"/>
                <a:cs typeface="Times New Roman" panose="02020603050405020304" pitchFamily="18" charset="0"/>
              </a:rPr>
              <a:t>3</a:t>
            </a:r>
            <a:r>
              <a:rPr lang="zh-CN" altLang="en-US" sz="2400" b="1" dirty="0" smtClean="0">
                <a:latin typeface="Times New Roman" panose="02020603050405020304" pitchFamily="18" charset="0"/>
                <a:cs typeface="Times New Roman" panose="02020603050405020304" pitchFamily="18" charset="0"/>
              </a:rPr>
              <a:t>作导师</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每名硕士生有一位导师</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每位硕导只收一名新生</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如何分配才能尽可能满足学生要求</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作二部图 </a:t>
            </a:r>
            <a:r>
              <a:rPr lang="en-US" altLang="zh-CN" sz="2400" b="1" i="1" dirty="0" smtClean="0">
                <a:latin typeface="Times New Roman" panose="02020603050405020304" pitchFamily="18" charset="0"/>
                <a:cs typeface="Times New Roman" panose="02020603050405020304" pitchFamily="18" charset="0"/>
              </a:rPr>
              <a:t>G </a:t>
            </a:r>
            <a:r>
              <a:rPr lang="en-US" altLang="zh-CN" sz="2400" b="1" dirty="0" smtClean="0">
                <a:latin typeface="Times New Roman" panose="02020603050405020304" pitchFamily="18" charset="0"/>
                <a:cs typeface="Times New Roman" panose="02020603050405020304" pitchFamily="18" charset="0"/>
              </a:rPr>
              <a:t>= &lt;</a:t>
            </a:r>
            <a:r>
              <a:rPr lang="en-US" altLang="zh-CN" sz="2400" b="1" i="1" dirty="0" smtClean="0">
                <a:latin typeface="Times New Roman" panose="02020603050405020304" pitchFamily="18" charset="0"/>
                <a:cs typeface="Times New Roman" panose="02020603050405020304" pitchFamily="18" charset="0"/>
              </a:rPr>
              <a:t>A</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B</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&gt;, </a:t>
            </a:r>
            <a:r>
              <a:rPr lang="zh-CN" altLang="en-US" sz="2400" b="1" dirty="0" smtClean="0">
                <a:latin typeface="Times New Roman" panose="02020603050405020304" pitchFamily="18" charset="0"/>
                <a:cs typeface="Times New Roman" panose="02020603050405020304" pitchFamily="18" charset="0"/>
              </a:rPr>
              <a:t>其中</a:t>
            </a:r>
            <a:r>
              <a:rPr lang="zh-CN"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 </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 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4}</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B </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 1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j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4}</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zh-CN" altLang="en-US" sz="2400" b="1" dirty="0" smtClean="0">
                <a:latin typeface="Times New Roman" panose="02020603050405020304" pitchFamily="18" charset="0"/>
                <a:cs typeface="Times New Roman" panose="02020603050405020304" pitchFamily="18" charset="0"/>
              </a:rPr>
              <a:t>申请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作导师</a:t>
            </a:r>
            <a:r>
              <a:rPr lang="en-US" altLang="zh-CN" sz="2400" b="1" dirty="0" smtClean="0">
                <a:latin typeface="Times New Roman" panose="02020603050405020304" pitchFamily="18" charset="0"/>
                <a:cs typeface="Times New Roman" panose="02020603050405020304" pitchFamily="18" charset="0"/>
              </a:rPr>
              <a:t>, 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4, 1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j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4 }    </a:t>
            </a:r>
            <a:endParaRPr lang="zh-CN" altLang="en-US" sz="2400" b="1" dirty="0" smtClean="0">
              <a:latin typeface="Times New Roman" panose="02020603050405020304" pitchFamily="18" charset="0"/>
              <a:cs typeface="Times New Roman" panose="02020603050405020304" pitchFamily="18" charset="0"/>
            </a:endParaRPr>
          </a:p>
        </p:txBody>
      </p:sp>
      <p:sp>
        <p:nvSpPr>
          <p:cNvPr id="7578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010442AA-AD0B-403D-A5C6-42EC4F3B1079}" type="slidenum">
              <a:rPr lang="zh-CN" altLang="en-US" sz="1200" smtClean="0">
                <a:solidFill>
                  <a:srgbClr val="898989"/>
                </a:solidFill>
              </a:rPr>
            </a:fld>
            <a:endParaRPr lang="zh-CN" altLang="en-US" sz="1200" smtClean="0">
              <a:solidFill>
                <a:srgbClr val="898989"/>
              </a:solidFill>
            </a:endParaRPr>
          </a:p>
        </p:txBody>
      </p:sp>
      <p:grpSp>
        <p:nvGrpSpPr>
          <p:cNvPr id="75781" name="组合 38"/>
          <p:cNvGrpSpPr/>
          <p:nvPr/>
        </p:nvGrpSpPr>
        <p:grpSpPr bwMode="auto">
          <a:xfrm>
            <a:off x="5724525" y="4502150"/>
            <a:ext cx="2482850" cy="1357313"/>
            <a:chOff x="5786446" y="4500570"/>
            <a:chExt cx="2482725" cy="1357322"/>
          </a:xfrm>
        </p:grpSpPr>
        <p:sp>
          <p:nvSpPr>
            <p:cNvPr id="75782" name="Oval 6"/>
            <p:cNvSpPr>
              <a:spLocks noChangeArrowheads="1"/>
            </p:cNvSpPr>
            <p:nvPr/>
          </p:nvSpPr>
          <p:spPr bwMode="auto">
            <a:xfrm>
              <a:off x="5940381" y="4748186"/>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5783" name="Oval 7"/>
            <p:cNvSpPr>
              <a:spLocks noChangeArrowheads="1"/>
            </p:cNvSpPr>
            <p:nvPr/>
          </p:nvSpPr>
          <p:spPr bwMode="auto">
            <a:xfrm>
              <a:off x="6614997" y="4748186"/>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5784" name="Oval 8"/>
            <p:cNvSpPr>
              <a:spLocks noChangeArrowheads="1"/>
            </p:cNvSpPr>
            <p:nvPr/>
          </p:nvSpPr>
          <p:spPr bwMode="auto">
            <a:xfrm>
              <a:off x="7201138" y="4748186"/>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5785" name="Oval 9"/>
            <p:cNvSpPr>
              <a:spLocks noChangeArrowheads="1"/>
            </p:cNvSpPr>
            <p:nvPr/>
          </p:nvSpPr>
          <p:spPr bwMode="auto">
            <a:xfrm>
              <a:off x="7886813" y="4748186"/>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5786" name="Text Box 13"/>
            <p:cNvSpPr txBox="1">
              <a:spLocks noChangeArrowheads="1"/>
            </p:cNvSpPr>
            <p:nvPr/>
          </p:nvSpPr>
          <p:spPr bwMode="auto">
            <a:xfrm>
              <a:off x="7786710" y="4500570"/>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sp>
          <p:nvSpPr>
            <p:cNvPr id="75787" name="Oval 14"/>
            <p:cNvSpPr>
              <a:spLocks noChangeArrowheads="1"/>
            </p:cNvSpPr>
            <p:nvPr/>
          </p:nvSpPr>
          <p:spPr bwMode="auto">
            <a:xfrm>
              <a:off x="5951441" y="5386294"/>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5788" name="Oval 15"/>
            <p:cNvSpPr>
              <a:spLocks noChangeArrowheads="1"/>
            </p:cNvSpPr>
            <p:nvPr/>
          </p:nvSpPr>
          <p:spPr bwMode="auto">
            <a:xfrm>
              <a:off x="6626056" y="5386294"/>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5789" name="Oval 16"/>
            <p:cNvSpPr>
              <a:spLocks noChangeArrowheads="1"/>
            </p:cNvSpPr>
            <p:nvPr/>
          </p:nvSpPr>
          <p:spPr bwMode="auto">
            <a:xfrm>
              <a:off x="7212197" y="5386294"/>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5790" name="Oval 17"/>
            <p:cNvSpPr>
              <a:spLocks noChangeArrowheads="1"/>
            </p:cNvSpPr>
            <p:nvPr/>
          </p:nvSpPr>
          <p:spPr bwMode="auto">
            <a:xfrm>
              <a:off x="7897872" y="5386294"/>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75791" name="AutoShape 22"/>
            <p:cNvCxnSpPr>
              <a:cxnSpLocks noChangeShapeType="1"/>
            </p:cNvCxnSpPr>
            <p:nvPr/>
          </p:nvCxnSpPr>
          <p:spPr bwMode="auto">
            <a:xfrm>
              <a:off x="6006737" y="4882334"/>
              <a:ext cx="0" cy="503960"/>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5792" name="AutoShape 23"/>
            <p:cNvCxnSpPr>
              <a:cxnSpLocks noChangeShapeType="1"/>
            </p:cNvCxnSpPr>
            <p:nvPr/>
          </p:nvCxnSpPr>
          <p:spPr bwMode="auto">
            <a:xfrm>
              <a:off x="6006737" y="4848495"/>
              <a:ext cx="619319" cy="537799"/>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5793" name="AutoShape 24"/>
            <p:cNvCxnSpPr>
              <a:cxnSpLocks noChangeShapeType="1"/>
            </p:cNvCxnSpPr>
            <p:nvPr/>
          </p:nvCxnSpPr>
          <p:spPr bwMode="auto">
            <a:xfrm>
              <a:off x="6055121" y="4829158"/>
              <a:ext cx="1842751" cy="586141"/>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5794" name="AutoShape 25"/>
            <p:cNvCxnSpPr>
              <a:cxnSpLocks noChangeShapeType="1"/>
            </p:cNvCxnSpPr>
            <p:nvPr/>
          </p:nvCxnSpPr>
          <p:spPr bwMode="auto">
            <a:xfrm flipH="1">
              <a:off x="6006737" y="4848495"/>
              <a:ext cx="619319" cy="537799"/>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5795" name="AutoShape 26"/>
            <p:cNvCxnSpPr>
              <a:cxnSpLocks noChangeShapeType="1"/>
            </p:cNvCxnSpPr>
            <p:nvPr/>
          </p:nvCxnSpPr>
          <p:spPr bwMode="auto">
            <a:xfrm>
              <a:off x="6006737" y="4829158"/>
              <a:ext cx="1238638" cy="566804"/>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5796" name="AutoShape 27"/>
            <p:cNvCxnSpPr>
              <a:cxnSpLocks noChangeShapeType="1"/>
            </p:cNvCxnSpPr>
            <p:nvPr/>
          </p:nvCxnSpPr>
          <p:spPr bwMode="auto">
            <a:xfrm flipH="1">
              <a:off x="6729737" y="4848495"/>
              <a:ext cx="482461" cy="537799"/>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5797" name="AutoShape 28"/>
            <p:cNvCxnSpPr>
              <a:cxnSpLocks noChangeShapeType="1"/>
            </p:cNvCxnSpPr>
            <p:nvPr/>
          </p:nvCxnSpPr>
          <p:spPr bwMode="auto">
            <a:xfrm>
              <a:off x="7260582" y="4848495"/>
              <a:ext cx="0" cy="566804"/>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5798" name="AutoShape 29"/>
            <p:cNvCxnSpPr>
              <a:cxnSpLocks noChangeShapeType="1"/>
            </p:cNvCxnSpPr>
            <p:nvPr/>
          </p:nvCxnSpPr>
          <p:spPr bwMode="auto">
            <a:xfrm>
              <a:off x="7260582" y="4848495"/>
              <a:ext cx="637290" cy="557136"/>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5799" name="AutoShape 30"/>
            <p:cNvCxnSpPr>
              <a:cxnSpLocks noChangeShapeType="1"/>
            </p:cNvCxnSpPr>
            <p:nvPr/>
          </p:nvCxnSpPr>
          <p:spPr bwMode="auto">
            <a:xfrm flipV="1">
              <a:off x="6055121" y="4848495"/>
              <a:ext cx="1842751" cy="566804"/>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sp>
          <p:nvSpPr>
            <p:cNvPr id="75800" name="Text Box 13"/>
            <p:cNvSpPr txBox="1">
              <a:spLocks noChangeArrowheads="1"/>
            </p:cNvSpPr>
            <p:nvPr/>
          </p:nvSpPr>
          <p:spPr bwMode="auto">
            <a:xfrm>
              <a:off x="7072330" y="4500570"/>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3</a:t>
              </a:r>
              <a:endParaRPr lang="zh-CN" altLang="zh-CN" sz="2000" b="1">
                <a:latin typeface="Arial" panose="020B0604020202020204" pitchFamily="34" charset="0"/>
              </a:endParaRPr>
            </a:p>
          </p:txBody>
        </p:sp>
        <p:sp>
          <p:nvSpPr>
            <p:cNvPr id="75801" name="Text Box 13"/>
            <p:cNvSpPr txBox="1">
              <a:spLocks noChangeArrowheads="1"/>
            </p:cNvSpPr>
            <p:nvPr/>
          </p:nvSpPr>
          <p:spPr bwMode="auto">
            <a:xfrm>
              <a:off x="6518431" y="4500570"/>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75802" name="Text Box 13"/>
            <p:cNvSpPr txBox="1">
              <a:spLocks noChangeArrowheads="1"/>
            </p:cNvSpPr>
            <p:nvPr/>
          </p:nvSpPr>
          <p:spPr bwMode="auto">
            <a:xfrm>
              <a:off x="5786446" y="4500570"/>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1</a:t>
              </a:r>
              <a:endParaRPr lang="zh-CN" altLang="zh-CN" sz="2000" b="1">
                <a:latin typeface="Arial" panose="020B0604020202020204" pitchFamily="34" charset="0"/>
              </a:endParaRPr>
            </a:p>
          </p:txBody>
        </p:sp>
        <p:sp>
          <p:nvSpPr>
            <p:cNvPr id="75803" name="Text Box 13"/>
            <p:cNvSpPr txBox="1">
              <a:spLocks noChangeArrowheads="1"/>
            </p:cNvSpPr>
            <p:nvPr/>
          </p:nvSpPr>
          <p:spPr bwMode="auto">
            <a:xfrm>
              <a:off x="7786710" y="5500702"/>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sp>
          <p:nvSpPr>
            <p:cNvPr id="75804" name="Text Box 13"/>
            <p:cNvSpPr txBox="1">
              <a:spLocks noChangeArrowheads="1"/>
            </p:cNvSpPr>
            <p:nvPr/>
          </p:nvSpPr>
          <p:spPr bwMode="auto">
            <a:xfrm>
              <a:off x="7072330" y="5500702"/>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3</a:t>
              </a:r>
              <a:endParaRPr lang="zh-CN" altLang="zh-CN" sz="2000" b="1">
                <a:latin typeface="Arial" panose="020B0604020202020204" pitchFamily="34" charset="0"/>
              </a:endParaRPr>
            </a:p>
          </p:txBody>
        </p:sp>
        <p:sp>
          <p:nvSpPr>
            <p:cNvPr id="75805" name="Text Box 13"/>
            <p:cNvSpPr txBox="1">
              <a:spLocks noChangeArrowheads="1"/>
            </p:cNvSpPr>
            <p:nvPr/>
          </p:nvSpPr>
          <p:spPr bwMode="auto">
            <a:xfrm>
              <a:off x="6429388" y="5500702"/>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75806" name="Text Box 13"/>
            <p:cNvSpPr txBox="1">
              <a:spLocks noChangeArrowheads="1"/>
            </p:cNvSpPr>
            <p:nvPr/>
          </p:nvSpPr>
          <p:spPr bwMode="auto">
            <a:xfrm>
              <a:off x="5786446" y="5500702"/>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1</a:t>
              </a:r>
              <a:endParaRPr lang="zh-CN" altLang="zh-CN" sz="2000" b="1">
                <a:latin typeface="Arial" panose="020B0604020202020204" pitchFamily="34" charset="0"/>
              </a:endParaRPr>
            </a:p>
          </p:txBody>
        </p:sp>
      </p:gr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a:xfrm>
            <a:off x="457200" y="274638"/>
            <a:ext cx="8229600" cy="868362"/>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增广交错路径</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76803" name="内容占位符 2"/>
          <p:cNvSpPr>
            <a:spLocks noGrp="1"/>
          </p:cNvSpPr>
          <p:nvPr>
            <p:ph idx="1"/>
          </p:nvPr>
        </p:nvSpPr>
        <p:spPr>
          <a:xfrm>
            <a:off x="457200" y="1327150"/>
            <a:ext cx="8229600" cy="3325813"/>
          </a:xfrm>
        </p:spPr>
        <p:txBody>
          <a:bodyPr/>
          <a:lstStyle/>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定义</a:t>
            </a:r>
            <a:r>
              <a:rPr lang="en-US" altLang="zh-CN" sz="2400" b="1" dirty="0" smtClean="0">
                <a:solidFill>
                  <a:srgbClr val="C00000"/>
                </a:solidFill>
                <a:latin typeface="Times New Roman" panose="02020603050405020304" pitchFamily="18" charset="0"/>
                <a:cs typeface="Times New Roman" panose="02020603050405020304" pitchFamily="18" charset="0"/>
              </a:rPr>
              <a:t>7.11</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设 </a:t>
            </a:r>
            <a:r>
              <a:rPr lang="en-US" altLang="zh-CN" sz="2400" b="1" i="1" dirty="0" smtClean="0">
                <a:latin typeface="Times New Roman" panose="02020603050405020304" pitchFamily="18" charset="0"/>
                <a:cs typeface="Times New Roman" panose="02020603050405020304" pitchFamily="18" charset="0"/>
              </a:rPr>
              <a:t>M </a:t>
            </a:r>
            <a:r>
              <a:rPr lang="zh-CN" altLang="en-US" sz="2400" b="1" dirty="0" smtClean="0">
                <a:latin typeface="Times New Roman" panose="02020603050405020304" pitchFamily="18" charset="0"/>
                <a:cs typeface="Times New Roman" panose="02020603050405020304" pitchFamily="18" charset="0"/>
              </a:rPr>
              <a:t>是二部图 </a:t>
            </a:r>
            <a:r>
              <a:rPr lang="en-US" altLang="zh-CN" sz="2400" b="1" i="1"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的匹配</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称</a:t>
            </a:r>
            <a:r>
              <a:rPr lang="en-US" altLang="zh-CN" sz="2400" b="1" i="1" dirty="0" smtClean="0">
                <a:latin typeface="Times New Roman" panose="02020603050405020304" pitchFamily="18" charset="0"/>
                <a:cs typeface="Times New Roman" panose="02020603050405020304" pitchFamily="18" charset="0"/>
              </a:rPr>
              <a:t>M</a:t>
            </a:r>
            <a:r>
              <a:rPr lang="zh-CN" altLang="en-US" sz="2400" b="1" dirty="0" smtClean="0">
                <a:latin typeface="Times New Roman" panose="02020603050405020304" pitchFamily="18" charset="0"/>
                <a:cs typeface="Times New Roman" panose="02020603050405020304" pitchFamily="18" charset="0"/>
              </a:rPr>
              <a:t>中的边为</a:t>
            </a:r>
            <a:r>
              <a:rPr lang="zh-CN" altLang="en-US" sz="2400" b="1" dirty="0" smtClean="0">
                <a:solidFill>
                  <a:srgbClr val="C00000"/>
                </a:solidFill>
                <a:latin typeface="Times New Roman" panose="02020603050405020304" pitchFamily="18" charset="0"/>
                <a:cs typeface="Times New Roman" panose="02020603050405020304" pitchFamily="18" charset="0"/>
              </a:rPr>
              <a:t>匹配边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不</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属于</a:t>
            </a:r>
            <a:r>
              <a:rPr lang="en-US" altLang="zh-CN" sz="2400" b="1" i="1" dirty="0" smtClean="0">
                <a:latin typeface="Times New Roman" panose="02020603050405020304" pitchFamily="18" charset="0"/>
                <a:cs typeface="Times New Roman" panose="02020603050405020304" pitchFamily="18" charset="0"/>
              </a:rPr>
              <a:t>M</a:t>
            </a:r>
            <a:r>
              <a:rPr lang="zh-CN" altLang="en-US" sz="2400" b="1" dirty="0" smtClean="0">
                <a:latin typeface="Times New Roman" panose="02020603050405020304" pitchFamily="18" charset="0"/>
                <a:cs typeface="Times New Roman" panose="02020603050405020304" pitchFamily="18" charset="0"/>
              </a:rPr>
              <a:t>的边为</a:t>
            </a:r>
            <a:r>
              <a:rPr lang="zh-CN" altLang="en-US" sz="2400" b="1" dirty="0" smtClean="0">
                <a:solidFill>
                  <a:srgbClr val="C00000"/>
                </a:solidFill>
                <a:latin typeface="Times New Roman" panose="02020603050405020304" pitchFamily="18" charset="0"/>
                <a:cs typeface="Times New Roman" panose="02020603050405020304" pitchFamily="18" charset="0"/>
              </a:rPr>
              <a:t>非匹配边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与匹配边关联的顶点为</a:t>
            </a:r>
            <a:r>
              <a:rPr lang="zh-CN" altLang="en-US" sz="2400" b="1" dirty="0" smtClean="0">
                <a:solidFill>
                  <a:srgbClr val="C00000"/>
                </a:solidFill>
                <a:latin typeface="Times New Roman" panose="02020603050405020304" pitchFamily="18" charset="0"/>
                <a:cs typeface="Times New Roman" panose="02020603050405020304" pitchFamily="18" charset="0"/>
              </a:rPr>
              <a:t>饱和点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不</a:t>
            </a:r>
            <a:r>
              <a:rPr lang="zh-CN" altLang="en-US" sz="2400" b="1" dirty="0" smtClean="0">
                <a:latin typeface="Times New Roman" panose="02020603050405020304" pitchFamily="18" charset="0"/>
                <a:cs typeface="Times New Roman" panose="02020603050405020304" pitchFamily="18" charset="0"/>
              </a:rPr>
              <a:t>与</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匹配边</a:t>
            </a:r>
            <a:r>
              <a:rPr lang="zh-CN" altLang="en-US" sz="2400" b="1" dirty="0" smtClean="0">
                <a:latin typeface="Times New Roman" panose="02020603050405020304" pitchFamily="18" charset="0"/>
                <a:cs typeface="Times New Roman" panose="02020603050405020304" pitchFamily="18" charset="0"/>
              </a:rPr>
              <a:t>关联的顶点为</a:t>
            </a:r>
            <a:r>
              <a:rPr lang="zh-CN" altLang="en-US" sz="2400" b="1" dirty="0" smtClean="0">
                <a:solidFill>
                  <a:srgbClr val="C00000"/>
                </a:solidFill>
                <a:latin typeface="Times New Roman" panose="02020603050405020304" pitchFamily="18" charset="0"/>
                <a:cs typeface="Times New Roman" panose="02020603050405020304" pitchFamily="18" charset="0"/>
              </a:rPr>
              <a:t>非饱和点</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中由匹配边和非匹配边</a:t>
            </a:r>
            <a:r>
              <a:rPr lang="zh-CN" altLang="en-US" sz="2400" b="1" dirty="0" smtClean="0">
                <a:latin typeface="Times New Roman" panose="02020603050405020304" pitchFamily="18" charset="0"/>
                <a:cs typeface="Times New Roman" panose="02020603050405020304" pitchFamily="18" charset="0"/>
              </a:rPr>
              <a:t>交</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替构成</a:t>
            </a:r>
            <a:r>
              <a:rPr lang="zh-CN" altLang="en-US" sz="2400" b="1" dirty="0" smtClean="0">
                <a:latin typeface="Times New Roman" panose="02020603050405020304" pitchFamily="18" charset="0"/>
                <a:cs typeface="Times New Roman" panose="02020603050405020304" pitchFamily="18" charset="0"/>
              </a:rPr>
              <a:t>的路径称为</a:t>
            </a:r>
            <a:r>
              <a:rPr lang="zh-CN" altLang="en-US" sz="2400" b="1" dirty="0" smtClean="0">
                <a:solidFill>
                  <a:srgbClr val="C00000"/>
                </a:solidFill>
                <a:latin typeface="Times New Roman" panose="02020603050405020304" pitchFamily="18" charset="0"/>
                <a:cs typeface="Times New Roman" panose="02020603050405020304" pitchFamily="18" charset="0"/>
              </a:rPr>
              <a:t>交错路径</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起点和终点都是非饱和点的</a:t>
            </a:r>
            <a:r>
              <a:rPr lang="zh-CN" altLang="en-US" sz="2400" b="1" dirty="0" smtClean="0">
                <a:latin typeface="Times New Roman" panose="02020603050405020304" pitchFamily="18" charset="0"/>
                <a:cs typeface="Times New Roman" panose="02020603050405020304" pitchFamily="18" charset="0"/>
              </a:rPr>
              <a:t>交</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错路径</a:t>
            </a:r>
            <a:r>
              <a:rPr lang="zh-CN" altLang="en-US" sz="2400" b="1" dirty="0" smtClean="0">
                <a:latin typeface="Times New Roman" panose="02020603050405020304" pitchFamily="18" charset="0"/>
                <a:cs typeface="Times New Roman" panose="02020603050405020304" pitchFamily="18" charset="0"/>
              </a:rPr>
              <a:t>称为</a:t>
            </a:r>
            <a:r>
              <a:rPr lang="zh-CN" altLang="en-US" sz="2400" b="1" dirty="0" smtClean="0">
                <a:solidFill>
                  <a:srgbClr val="C00000"/>
                </a:solidFill>
                <a:latin typeface="Times New Roman" panose="02020603050405020304" pitchFamily="18" charset="0"/>
                <a:cs typeface="Times New Roman" panose="02020603050405020304" pitchFamily="18" charset="0"/>
              </a:rPr>
              <a:t>增广交错路径</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spcBef>
                <a:spcPts val="24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引理</a:t>
            </a:r>
            <a:r>
              <a:rPr lang="en-US" altLang="zh-CN" sz="2400" b="1" dirty="0" smtClean="0">
                <a:solidFill>
                  <a:srgbClr val="C00000"/>
                </a:solidFill>
                <a:latin typeface="Times New Roman" panose="02020603050405020304" pitchFamily="18" charset="0"/>
                <a:cs typeface="Times New Roman" panose="02020603050405020304" pitchFamily="18" charset="0"/>
              </a:rPr>
              <a:t>7.14</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设 </a:t>
            </a:r>
            <a:r>
              <a:rPr lang="en-US" altLang="zh-CN" sz="2400" b="1" i="1" dirty="0" smtClean="0">
                <a:latin typeface="Times New Roman" panose="02020603050405020304" pitchFamily="18" charset="0"/>
                <a:cs typeface="Times New Roman" panose="02020603050405020304" pitchFamily="18" charset="0"/>
              </a:rPr>
              <a:t>M</a:t>
            </a:r>
            <a:r>
              <a:rPr lang="zh-CN" altLang="en-US" sz="2400" b="1" dirty="0" smtClean="0">
                <a:latin typeface="Times New Roman" panose="02020603050405020304" pitchFamily="18" charset="0"/>
                <a:cs typeface="Times New Roman" panose="02020603050405020304" pitchFamily="18" charset="0"/>
              </a:rPr>
              <a:t>是二部图 </a:t>
            </a:r>
            <a:r>
              <a:rPr lang="en-US" altLang="zh-CN" sz="2400" b="1" i="1"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的一个匹配</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P</a:t>
            </a:r>
            <a:r>
              <a:rPr lang="zh-CN" altLang="en-US" sz="2400" b="1" dirty="0" smtClean="0">
                <a:latin typeface="Times New Roman" panose="02020603050405020304" pitchFamily="18" charset="0"/>
                <a:cs typeface="Times New Roman" panose="02020603050405020304" pitchFamily="18" charset="0"/>
              </a:rPr>
              <a:t>是一条关于</a:t>
            </a:r>
            <a:r>
              <a:rPr lang="en-US" altLang="zh-CN" sz="2400" b="1" i="1" dirty="0" smtClean="0">
                <a:latin typeface="Times New Roman" panose="02020603050405020304" pitchFamily="18" charset="0"/>
                <a:cs typeface="Times New Roman" panose="02020603050405020304" pitchFamily="18" charset="0"/>
              </a:rPr>
              <a:t>M </a:t>
            </a:r>
            <a:r>
              <a:rPr lang="zh-CN" altLang="en-US" sz="2400" b="1" dirty="0" smtClean="0">
                <a:latin typeface="Times New Roman" panose="02020603050405020304" pitchFamily="18" charset="0"/>
                <a:cs typeface="Times New Roman" panose="02020603050405020304" pitchFamily="18" charset="0"/>
              </a:rPr>
              <a:t>的</a:t>
            </a:r>
            <a:r>
              <a:rPr lang="zh-CN" altLang="en-US" sz="2400" b="1" dirty="0" smtClean="0">
                <a:latin typeface="Times New Roman" panose="02020603050405020304" pitchFamily="18" charset="0"/>
                <a:cs typeface="Times New Roman" panose="02020603050405020304" pitchFamily="18" charset="0"/>
              </a:rPr>
              <a:t>增</a:t>
            </a:r>
            <a:endParaRPr lang="en-US" altLang="zh-CN" sz="2400" b="1" dirty="0" smtClean="0">
              <a:latin typeface="Times New Roman" panose="02020603050405020304" pitchFamily="18" charset="0"/>
              <a:cs typeface="Times New Roman" panose="02020603050405020304" pitchFamily="18" charset="0"/>
            </a:endParaRPr>
          </a:p>
          <a:p>
            <a:pPr>
              <a:spcBef>
                <a:spcPts val="6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广交</a:t>
            </a:r>
            <a:r>
              <a:rPr lang="zh-CN" altLang="en-US" sz="2400" b="1" dirty="0" smtClean="0">
                <a:latin typeface="Times New Roman" panose="02020603050405020304" pitchFamily="18" charset="0"/>
                <a:cs typeface="Times New Roman" panose="02020603050405020304" pitchFamily="18" charset="0"/>
              </a:rPr>
              <a:t>错路径</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则 </a:t>
            </a:r>
            <a:r>
              <a:rPr lang="en-US" altLang="zh-CN" sz="2400" b="1" i="1" dirty="0" smtClean="0">
                <a:latin typeface="Times New Roman" panose="02020603050405020304" pitchFamily="18" charset="0"/>
                <a:cs typeface="Times New Roman" panose="02020603050405020304" pitchFamily="18" charset="0"/>
              </a:rPr>
              <a:t>M</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M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P</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是一个匹配且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M</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 + 1.</a:t>
            </a:r>
            <a:endParaRPr lang="zh-CN" altLang="en-US" sz="2400" b="1" dirty="0" smtClean="0">
              <a:latin typeface="Times New Roman" panose="02020603050405020304" pitchFamily="18" charset="0"/>
              <a:cs typeface="Times New Roman" panose="02020603050405020304" pitchFamily="18" charset="0"/>
            </a:endParaRPr>
          </a:p>
        </p:txBody>
      </p:sp>
      <p:sp>
        <p:nvSpPr>
          <p:cNvPr id="7680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A05EFC6-117B-42A2-925D-1169B941B723}" type="slidenum">
              <a:rPr lang="zh-CN" altLang="en-US" sz="1200" smtClean="0">
                <a:solidFill>
                  <a:srgbClr val="898989"/>
                </a:solidFill>
              </a:rPr>
            </a:fld>
            <a:endParaRPr lang="zh-CN" altLang="en-US" sz="1200" smtClean="0">
              <a:solidFill>
                <a:srgbClr val="898989"/>
              </a:solidFill>
            </a:endParaRPr>
          </a:p>
        </p:txBody>
      </p:sp>
      <p:grpSp>
        <p:nvGrpSpPr>
          <p:cNvPr id="76805" name="组合 75"/>
          <p:cNvGrpSpPr/>
          <p:nvPr/>
        </p:nvGrpSpPr>
        <p:grpSpPr bwMode="auto">
          <a:xfrm>
            <a:off x="2000250" y="4876800"/>
            <a:ext cx="5000625" cy="1409700"/>
            <a:chOff x="2000232" y="4714884"/>
            <a:chExt cx="5000660" cy="1410108"/>
          </a:xfrm>
        </p:grpSpPr>
        <p:sp>
          <p:nvSpPr>
            <p:cNvPr id="76806" name="Oval 6"/>
            <p:cNvSpPr>
              <a:spLocks noChangeArrowheads="1"/>
            </p:cNvSpPr>
            <p:nvPr/>
          </p:nvSpPr>
          <p:spPr bwMode="auto">
            <a:xfrm>
              <a:off x="2153091" y="4982361"/>
              <a:ext cx="103570" cy="106553"/>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6807" name="Oval 7"/>
            <p:cNvSpPr>
              <a:spLocks noChangeArrowheads="1"/>
            </p:cNvSpPr>
            <p:nvPr/>
          </p:nvSpPr>
          <p:spPr bwMode="auto">
            <a:xfrm>
              <a:off x="2762029" y="4982361"/>
              <a:ext cx="103570" cy="106553"/>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6808" name="Oval 8"/>
            <p:cNvSpPr>
              <a:spLocks noChangeArrowheads="1"/>
            </p:cNvSpPr>
            <p:nvPr/>
          </p:nvSpPr>
          <p:spPr bwMode="auto">
            <a:xfrm>
              <a:off x="3291107" y="4982361"/>
              <a:ext cx="103570" cy="106553"/>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6809" name="Oval 9"/>
            <p:cNvSpPr>
              <a:spLocks noChangeArrowheads="1"/>
            </p:cNvSpPr>
            <p:nvPr/>
          </p:nvSpPr>
          <p:spPr bwMode="auto">
            <a:xfrm>
              <a:off x="3910029" y="4982361"/>
              <a:ext cx="103570" cy="106553"/>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6810" name="Text Box 10"/>
            <p:cNvSpPr txBox="1">
              <a:spLocks noChangeArrowheads="1"/>
            </p:cNvSpPr>
            <p:nvPr/>
          </p:nvSpPr>
          <p:spPr bwMode="auto">
            <a:xfrm>
              <a:off x="2000232" y="4733536"/>
              <a:ext cx="500066" cy="3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1</a:t>
              </a:r>
              <a:endParaRPr lang="zh-CN" altLang="zh-CN" sz="2000" b="1">
                <a:latin typeface="Arial" panose="020B0604020202020204" pitchFamily="34" charset="0"/>
              </a:endParaRPr>
            </a:p>
          </p:txBody>
        </p:sp>
        <p:sp>
          <p:nvSpPr>
            <p:cNvPr id="76811" name="Oval 14"/>
            <p:cNvSpPr>
              <a:spLocks noChangeArrowheads="1"/>
            </p:cNvSpPr>
            <p:nvPr/>
          </p:nvSpPr>
          <p:spPr bwMode="auto">
            <a:xfrm>
              <a:off x="2163073" y="5660191"/>
              <a:ext cx="103570" cy="106553"/>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6812" name="Oval 15"/>
            <p:cNvSpPr>
              <a:spLocks noChangeArrowheads="1"/>
            </p:cNvSpPr>
            <p:nvPr/>
          </p:nvSpPr>
          <p:spPr bwMode="auto">
            <a:xfrm>
              <a:off x="2772012" y="5660191"/>
              <a:ext cx="103570" cy="106553"/>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6813" name="Oval 16"/>
            <p:cNvSpPr>
              <a:spLocks noChangeArrowheads="1"/>
            </p:cNvSpPr>
            <p:nvPr/>
          </p:nvSpPr>
          <p:spPr bwMode="auto">
            <a:xfrm>
              <a:off x="3301090" y="5660191"/>
              <a:ext cx="103570" cy="106553"/>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6814" name="Oval 17"/>
            <p:cNvSpPr>
              <a:spLocks noChangeArrowheads="1"/>
            </p:cNvSpPr>
            <p:nvPr/>
          </p:nvSpPr>
          <p:spPr bwMode="auto">
            <a:xfrm>
              <a:off x="3920011" y="5660191"/>
              <a:ext cx="103570" cy="106553"/>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76815" name="AutoShape 22"/>
            <p:cNvCxnSpPr>
              <a:cxnSpLocks noChangeShapeType="1"/>
            </p:cNvCxnSpPr>
            <p:nvPr/>
          </p:nvCxnSpPr>
          <p:spPr bwMode="auto">
            <a:xfrm>
              <a:off x="2212986" y="5124860"/>
              <a:ext cx="0" cy="535332"/>
            </a:xfrm>
            <a:prstGeom prst="straightConnector1">
              <a:avLst/>
            </a:prstGeom>
            <a:noFill/>
            <a:ln w="6350">
              <a:solidFill>
                <a:srgbClr val="000000"/>
              </a:solidFill>
              <a:prstDash val="dash"/>
              <a:round/>
            </a:ln>
            <a:extLst>
              <a:ext uri="{909E8E84-426E-40DD-AFC4-6F175D3DCCD1}">
                <a14:hiddenFill xmlns:a14="http://schemas.microsoft.com/office/drawing/2010/main">
                  <a:noFill/>
                </a14:hiddenFill>
              </a:ext>
            </a:extLst>
          </p:spPr>
        </p:cxnSp>
        <p:cxnSp>
          <p:nvCxnSpPr>
            <p:cNvPr id="76816" name="AutoShape 23"/>
            <p:cNvCxnSpPr>
              <a:cxnSpLocks noChangeShapeType="1"/>
            </p:cNvCxnSpPr>
            <p:nvPr/>
          </p:nvCxnSpPr>
          <p:spPr bwMode="auto">
            <a:xfrm>
              <a:off x="2212986" y="5088914"/>
              <a:ext cx="559026" cy="571277"/>
            </a:xfrm>
            <a:prstGeom prst="straightConnector1">
              <a:avLst/>
            </a:prstGeom>
            <a:noFill/>
            <a:ln w="28575">
              <a:solidFill>
                <a:srgbClr val="FF0000"/>
              </a:solidFill>
              <a:prstDash val="dash"/>
              <a:round/>
            </a:ln>
            <a:extLst>
              <a:ext uri="{909E8E84-426E-40DD-AFC4-6F175D3DCCD1}">
                <a14:hiddenFill xmlns:a14="http://schemas.microsoft.com/office/drawing/2010/main">
                  <a:noFill/>
                </a14:hiddenFill>
              </a:ext>
            </a:extLst>
          </p:spPr>
        </p:cxnSp>
        <p:cxnSp>
          <p:nvCxnSpPr>
            <p:cNvPr id="76817" name="AutoShape 24"/>
            <p:cNvCxnSpPr>
              <a:cxnSpLocks noChangeShapeType="1"/>
            </p:cNvCxnSpPr>
            <p:nvPr/>
          </p:nvCxnSpPr>
          <p:spPr bwMode="auto">
            <a:xfrm>
              <a:off x="2266643" y="5088914"/>
              <a:ext cx="1034447" cy="571277"/>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6818" name="AutoShape 25"/>
            <p:cNvCxnSpPr>
              <a:cxnSpLocks noChangeShapeType="1"/>
            </p:cNvCxnSpPr>
            <p:nvPr/>
          </p:nvCxnSpPr>
          <p:spPr bwMode="auto">
            <a:xfrm flipH="1">
              <a:off x="2212986" y="5088914"/>
              <a:ext cx="559026" cy="571277"/>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6819" name="AutoShape 26"/>
            <p:cNvCxnSpPr>
              <a:cxnSpLocks noChangeShapeType="1"/>
            </p:cNvCxnSpPr>
            <p:nvPr/>
          </p:nvCxnSpPr>
          <p:spPr bwMode="auto">
            <a:xfrm>
              <a:off x="2865599" y="5088914"/>
              <a:ext cx="1054412" cy="602088"/>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6820" name="AutoShape 27"/>
            <p:cNvCxnSpPr>
              <a:cxnSpLocks noChangeShapeType="1"/>
            </p:cNvCxnSpPr>
            <p:nvPr/>
          </p:nvCxnSpPr>
          <p:spPr bwMode="auto">
            <a:xfrm flipH="1">
              <a:off x="3404659" y="5088914"/>
              <a:ext cx="535317" cy="571277"/>
            </a:xfrm>
            <a:prstGeom prst="straightConnector1">
              <a:avLst/>
            </a:prstGeom>
            <a:noFill/>
            <a:ln w="6350">
              <a:solidFill>
                <a:srgbClr val="000000"/>
              </a:solidFill>
              <a:prstDash val="dash"/>
              <a:round/>
            </a:ln>
            <a:extLst>
              <a:ext uri="{909E8E84-426E-40DD-AFC4-6F175D3DCCD1}">
                <a14:hiddenFill xmlns:a14="http://schemas.microsoft.com/office/drawing/2010/main">
                  <a:noFill/>
                </a14:hiddenFill>
              </a:ext>
            </a:extLst>
          </p:spPr>
        </p:cxnSp>
        <p:cxnSp>
          <p:nvCxnSpPr>
            <p:cNvPr id="76821" name="AutoShape 28"/>
            <p:cNvCxnSpPr>
              <a:cxnSpLocks noChangeShapeType="1"/>
            </p:cNvCxnSpPr>
            <p:nvPr/>
          </p:nvCxnSpPr>
          <p:spPr bwMode="auto">
            <a:xfrm>
              <a:off x="2815686" y="5088914"/>
              <a:ext cx="0" cy="591818"/>
            </a:xfrm>
            <a:prstGeom prst="straightConnector1">
              <a:avLst/>
            </a:prstGeom>
            <a:noFill/>
            <a:ln w="6350">
              <a:solidFill>
                <a:srgbClr val="000000"/>
              </a:solidFill>
              <a:prstDash val="dash"/>
              <a:round/>
            </a:ln>
            <a:extLst>
              <a:ext uri="{909E8E84-426E-40DD-AFC4-6F175D3DCCD1}">
                <a14:hiddenFill xmlns:a14="http://schemas.microsoft.com/office/drawing/2010/main">
                  <a:noFill/>
                </a14:hiddenFill>
              </a:ext>
            </a:extLst>
          </p:spPr>
        </p:cxnSp>
        <p:cxnSp>
          <p:nvCxnSpPr>
            <p:cNvPr id="76822" name="AutoShape 29"/>
            <p:cNvCxnSpPr>
              <a:cxnSpLocks noChangeShapeType="1"/>
            </p:cNvCxnSpPr>
            <p:nvPr/>
          </p:nvCxnSpPr>
          <p:spPr bwMode="auto">
            <a:xfrm>
              <a:off x="3394677" y="5088914"/>
              <a:ext cx="525334" cy="591818"/>
            </a:xfrm>
            <a:prstGeom prst="straightConnector1">
              <a:avLst/>
            </a:prstGeom>
            <a:noFill/>
            <a:ln w="28575">
              <a:solidFill>
                <a:srgbClr val="FF0000"/>
              </a:solidFill>
              <a:round/>
            </a:ln>
            <a:extLst>
              <a:ext uri="{909E8E84-426E-40DD-AFC4-6F175D3DCCD1}">
                <a14:hiddenFill xmlns:a14="http://schemas.microsoft.com/office/drawing/2010/main">
                  <a:noFill/>
                </a14:hiddenFill>
              </a:ext>
            </a:extLst>
          </p:spPr>
        </p:cxnSp>
        <p:cxnSp>
          <p:nvCxnSpPr>
            <p:cNvPr id="76823" name="AutoShape 30"/>
            <p:cNvCxnSpPr>
              <a:cxnSpLocks noChangeShapeType="1"/>
            </p:cNvCxnSpPr>
            <p:nvPr/>
          </p:nvCxnSpPr>
          <p:spPr bwMode="auto">
            <a:xfrm flipV="1">
              <a:off x="2865599" y="5088914"/>
              <a:ext cx="1054412" cy="591818"/>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6824" name="AutoShape 33"/>
            <p:cNvCxnSpPr>
              <a:cxnSpLocks noChangeShapeType="1"/>
            </p:cNvCxnSpPr>
            <p:nvPr/>
          </p:nvCxnSpPr>
          <p:spPr bwMode="auto">
            <a:xfrm>
              <a:off x="2835651" y="5088914"/>
              <a:ext cx="525334" cy="571277"/>
            </a:xfrm>
            <a:prstGeom prst="straightConnector1">
              <a:avLst/>
            </a:prstGeom>
            <a:noFill/>
            <a:ln w="28575">
              <a:solidFill>
                <a:srgbClr val="FF0000"/>
              </a:solidFill>
              <a:prstDash val="dash"/>
              <a:round/>
            </a:ln>
            <a:extLst>
              <a:ext uri="{909E8E84-426E-40DD-AFC4-6F175D3DCCD1}">
                <a14:hiddenFill xmlns:a14="http://schemas.microsoft.com/office/drawing/2010/main">
                  <a:noFill/>
                </a14:hiddenFill>
              </a:ext>
            </a:extLst>
          </p:spPr>
        </p:cxnSp>
        <p:sp>
          <p:nvSpPr>
            <p:cNvPr id="76825" name="Oval 34"/>
            <p:cNvSpPr>
              <a:spLocks noChangeArrowheads="1"/>
            </p:cNvSpPr>
            <p:nvPr/>
          </p:nvSpPr>
          <p:spPr bwMode="auto">
            <a:xfrm>
              <a:off x="4818446" y="4982361"/>
              <a:ext cx="103570" cy="106553"/>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6826" name="Oval 35"/>
            <p:cNvSpPr>
              <a:spLocks noChangeArrowheads="1"/>
            </p:cNvSpPr>
            <p:nvPr/>
          </p:nvSpPr>
          <p:spPr bwMode="auto">
            <a:xfrm>
              <a:off x="5427384" y="4982361"/>
              <a:ext cx="103570" cy="106553"/>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6827" name="Oval 36"/>
            <p:cNvSpPr>
              <a:spLocks noChangeArrowheads="1"/>
            </p:cNvSpPr>
            <p:nvPr/>
          </p:nvSpPr>
          <p:spPr bwMode="auto">
            <a:xfrm>
              <a:off x="5956462" y="4982361"/>
              <a:ext cx="103570" cy="106553"/>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6828" name="Oval 37"/>
            <p:cNvSpPr>
              <a:spLocks noChangeArrowheads="1"/>
            </p:cNvSpPr>
            <p:nvPr/>
          </p:nvSpPr>
          <p:spPr bwMode="auto">
            <a:xfrm>
              <a:off x="6575384" y="4982361"/>
              <a:ext cx="103570" cy="106553"/>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6829" name="Oval 42"/>
            <p:cNvSpPr>
              <a:spLocks noChangeArrowheads="1"/>
            </p:cNvSpPr>
            <p:nvPr/>
          </p:nvSpPr>
          <p:spPr bwMode="auto">
            <a:xfrm>
              <a:off x="4828428" y="5660191"/>
              <a:ext cx="103570" cy="106553"/>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6830" name="Oval 43"/>
            <p:cNvSpPr>
              <a:spLocks noChangeArrowheads="1"/>
            </p:cNvSpPr>
            <p:nvPr/>
          </p:nvSpPr>
          <p:spPr bwMode="auto">
            <a:xfrm>
              <a:off x="5437367" y="5660191"/>
              <a:ext cx="103570" cy="106553"/>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6831" name="Oval 44"/>
            <p:cNvSpPr>
              <a:spLocks noChangeArrowheads="1"/>
            </p:cNvSpPr>
            <p:nvPr/>
          </p:nvSpPr>
          <p:spPr bwMode="auto">
            <a:xfrm>
              <a:off x="5966445" y="5660191"/>
              <a:ext cx="103570" cy="106553"/>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6832" name="Oval 45"/>
            <p:cNvSpPr>
              <a:spLocks noChangeArrowheads="1"/>
            </p:cNvSpPr>
            <p:nvPr/>
          </p:nvSpPr>
          <p:spPr bwMode="auto">
            <a:xfrm>
              <a:off x="6585366" y="5660191"/>
              <a:ext cx="103570" cy="106553"/>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76833" name="AutoShape 49"/>
            <p:cNvCxnSpPr>
              <a:cxnSpLocks noChangeShapeType="1"/>
            </p:cNvCxnSpPr>
            <p:nvPr/>
          </p:nvCxnSpPr>
          <p:spPr bwMode="auto">
            <a:xfrm>
              <a:off x="4878341" y="5124860"/>
              <a:ext cx="0" cy="535332"/>
            </a:xfrm>
            <a:prstGeom prst="straightConnector1">
              <a:avLst/>
            </a:prstGeom>
            <a:noFill/>
            <a:ln w="28575">
              <a:solidFill>
                <a:srgbClr val="FF0000"/>
              </a:solidFill>
              <a:round/>
            </a:ln>
            <a:extLst>
              <a:ext uri="{909E8E84-426E-40DD-AFC4-6F175D3DCCD1}">
                <a14:hiddenFill xmlns:a14="http://schemas.microsoft.com/office/drawing/2010/main">
                  <a:noFill/>
                </a14:hiddenFill>
              </a:ext>
            </a:extLst>
          </p:spPr>
        </p:cxnSp>
        <p:cxnSp>
          <p:nvCxnSpPr>
            <p:cNvPr id="76834" name="AutoShape 50"/>
            <p:cNvCxnSpPr>
              <a:cxnSpLocks noChangeShapeType="1"/>
            </p:cNvCxnSpPr>
            <p:nvPr/>
          </p:nvCxnSpPr>
          <p:spPr bwMode="auto">
            <a:xfrm>
              <a:off x="4878341" y="5088914"/>
              <a:ext cx="559026" cy="571277"/>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6835" name="AutoShape 51"/>
            <p:cNvCxnSpPr>
              <a:cxnSpLocks noChangeShapeType="1"/>
            </p:cNvCxnSpPr>
            <p:nvPr/>
          </p:nvCxnSpPr>
          <p:spPr bwMode="auto">
            <a:xfrm>
              <a:off x="4931998" y="5088914"/>
              <a:ext cx="1034447" cy="571277"/>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6836" name="AutoShape 52"/>
            <p:cNvCxnSpPr>
              <a:cxnSpLocks noChangeShapeType="1"/>
            </p:cNvCxnSpPr>
            <p:nvPr/>
          </p:nvCxnSpPr>
          <p:spPr bwMode="auto">
            <a:xfrm flipH="1">
              <a:off x="4878341" y="5088914"/>
              <a:ext cx="559026" cy="571277"/>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6837" name="AutoShape 53"/>
            <p:cNvCxnSpPr>
              <a:cxnSpLocks noChangeShapeType="1"/>
            </p:cNvCxnSpPr>
            <p:nvPr/>
          </p:nvCxnSpPr>
          <p:spPr bwMode="auto">
            <a:xfrm>
              <a:off x="5530954" y="5088914"/>
              <a:ext cx="1054412" cy="602088"/>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6838" name="AutoShape 54"/>
            <p:cNvCxnSpPr>
              <a:cxnSpLocks noChangeShapeType="1"/>
            </p:cNvCxnSpPr>
            <p:nvPr/>
          </p:nvCxnSpPr>
          <p:spPr bwMode="auto">
            <a:xfrm flipH="1">
              <a:off x="6070014" y="5088914"/>
              <a:ext cx="535317" cy="571277"/>
            </a:xfrm>
            <a:prstGeom prst="straightConnector1">
              <a:avLst/>
            </a:prstGeom>
            <a:noFill/>
            <a:ln w="28575">
              <a:solidFill>
                <a:srgbClr val="FF0000"/>
              </a:solidFill>
              <a:round/>
            </a:ln>
            <a:extLst>
              <a:ext uri="{909E8E84-426E-40DD-AFC4-6F175D3DCCD1}">
                <a14:hiddenFill xmlns:a14="http://schemas.microsoft.com/office/drawing/2010/main">
                  <a:noFill/>
                </a14:hiddenFill>
              </a:ext>
            </a:extLst>
          </p:spPr>
        </p:cxnSp>
        <p:cxnSp>
          <p:nvCxnSpPr>
            <p:cNvPr id="76839" name="AutoShape 55"/>
            <p:cNvCxnSpPr>
              <a:cxnSpLocks noChangeShapeType="1"/>
            </p:cNvCxnSpPr>
            <p:nvPr/>
          </p:nvCxnSpPr>
          <p:spPr bwMode="auto">
            <a:xfrm>
              <a:off x="5481041" y="5088914"/>
              <a:ext cx="0" cy="591818"/>
            </a:xfrm>
            <a:prstGeom prst="straightConnector1">
              <a:avLst/>
            </a:prstGeom>
            <a:noFill/>
            <a:ln w="28575">
              <a:solidFill>
                <a:srgbClr val="FF0000"/>
              </a:solidFill>
              <a:round/>
            </a:ln>
            <a:extLst>
              <a:ext uri="{909E8E84-426E-40DD-AFC4-6F175D3DCCD1}">
                <a14:hiddenFill xmlns:a14="http://schemas.microsoft.com/office/drawing/2010/main">
                  <a:noFill/>
                </a14:hiddenFill>
              </a:ext>
            </a:extLst>
          </p:spPr>
        </p:cxnSp>
        <p:cxnSp>
          <p:nvCxnSpPr>
            <p:cNvPr id="76840" name="AutoShape 56"/>
            <p:cNvCxnSpPr>
              <a:cxnSpLocks noChangeShapeType="1"/>
            </p:cNvCxnSpPr>
            <p:nvPr/>
          </p:nvCxnSpPr>
          <p:spPr bwMode="auto">
            <a:xfrm>
              <a:off x="6060032" y="5088914"/>
              <a:ext cx="525334" cy="591818"/>
            </a:xfrm>
            <a:prstGeom prst="straightConnector1">
              <a:avLst/>
            </a:prstGeom>
            <a:noFill/>
            <a:ln w="28575">
              <a:solidFill>
                <a:srgbClr val="FF0000"/>
              </a:solidFill>
              <a:round/>
            </a:ln>
            <a:extLst>
              <a:ext uri="{909E8E84-426E-40DD-AFC4-6F175D3DCCD1}">
                <a14:hiddenFill xmlns:a14="http://schemas.microsoft.com/office/drawing/2010/main">
                  <a:noFill/>
                </a14:hiddenFill>
              </a:ext>
            </a:extLst>
          </p:spPr>
        </p:cxnSp>
        <p:cxnSp>
          <p:nvCxnSpPr>
            <p:cNvPr id="76841" name="AutoShape 57"/>
            <p:cNvCxnSpPr>
              <a:cxnSpLocks noChangeShapeType="1"/>
            </p:cNvCxnSpPr>
            <p:nvPr/>
          </p:nvCxnSpPr>
          <p:spPr bwMode="auto">
            <a:xfrm flipV="1">
              <a:off x="5530954" y="5088914"/>
              <a:ext cx="1054412" cy="591818"/>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76842" name="AutoShape 60"/>
            <p:cNvCxnSpPr>
              <a:cxnSpLocks noChangeShapeType="1"/>
            </p:cNvCxnSpPr>
            <p:nvPr/>
          </p:nvCxnSpPr>
          <p:spPr bwMode="auto">
            <a:xfrm>
              <a:off x="5501006" y="5088914"/>
              <a:ext cx="525334" cy="571277"/>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sp>
          <p:nvSpPr>
            <p:cNvPr id="76843" name="Text Box 10"/>
            <p:cNvSpPr txBox="1">
              <a:spLocks noChangeArrowheads="1"/>
            </p:cNvSpPr>
            <p:nvPr/>
          </p:nvSpPr>
          <p:spPr bwMode="auto">
            <a:xfrm>
              <a:off x="2643174" y="4714884"/>
              <a:ext cx="500066" cy="3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76844" name="Text Box 10"/>
            <p:cNvSpPr txBox="1">
              <a:spLocks noChangeArrowheads="1"/>
            </p:cNvSpPr>
            <p:nvPr/>
          </p:nvSpPr>
          <p:spPr bwMode="auto">
            <a:xfrm>
              <a:off x="3143240" y="4714884"/>
              <a:ext cx="500066" cy="3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3</a:t>
              </a:r>
              <a:endParaRPr lang="zh-CN" altLang="zh-CN" sz="2000" b="1">
                <a:latin typeface="Arial" panose="020B0604020202020204" pitchFamily="34" charset="0"/>
              </a:endParaRPr>
            </a:p>
          </p:txBody>
        </p:sp>
        <p:sp>
          <p:nvSpPr>
            <p:cNvPr id="76845" name="Text Box 10"/>
            <p:cNvSpPr txBox="1">
              <a:spLocks noChangeArrowheads="1"/>
            </p:cNvSpPr>
            <p:nvPr/>
          </p:nvSpPr>
          <p:spPr bwMode="auto">
            <a:xfrm>
              <a:off x="3786182" y="4714884"/>
              <a:ext cx="500066" cy="3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sp>
          <p:nvSpPr>
            <p:cNvPr id="76846" name="Text Box 10"/>
            <p:cNvSpPr txBox="1">
              <a:spLocks noChangeArrowheads="1"/>
            </p:cNvSpPr>
            <p:nvPr/>
          </p:nvSpPr>
          <p:spPr bwMode="auto">
            <a:xfrm>
              <a:off x="2000232" y="5786454"/>
              <a:ext cx="500066" cy="3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1</a:t>
              </a:r>
              <a:endParaRPr lang="zh-CN" altLang="zh-CN" sz="2000" b="1">
                <a:latin typeface="Arial" panose="020B0604020202020204" pitchFamily="34" charset="0"/>
              </a:endParaRPr>
            </a:p>
          </p:txBody>
        </p:sp>
        <p:sp>
          <p:nvSpPr>
            <p:cNvPr id="76847" name="Text Box 10"/>
            <p:cNvSpPr txBox="1">
              <a:spLocks noChangeArrowheads="1"/>
            </p:cNvSpPr>
            <p:nvPr/>
          </p:nvSpPr>
          <p:spPr bwMode="auto">
            <a:xfrm>
              <a:off x="2643174" y="5786454"/>
              <a:ext cx="500066" cy="3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76848" name="Text Box 10"/>
            <p:cNvSpPr txBox="1">
              <a:spLocks noChangeArrowheads="1"/>
            </p:cNvSpPr>
            <p:nvPr/>
          </p:nvSpPr>
          <p:spPr bwMode="auto">
            <a:xfrm>
              <a:off x="3214678" y="5786454"/>
              <a:ext cx="500066" cy="3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3</a:t>
              </a:r>
              <a:endParaRPr lang="zh-CN" altLang="zh-CN" sz="2000" b="1">
                <a:latin typeface="Arial" panose="020B0604020202020204" pitchFamily="34" charset="0"/>
              </a:endParaRPr>
            </a:p>
          </p:txBody>
        </p:sp>
        <p:sp>
          <p:nvSpPr>
            <p:cNvPr id="76849" name="Text Box 10"/>
            <p:cNvSpPr txBox="1">
              <a:spLocks noChangeArrowheads="1"/>
            </p:cNvSpPr>
            <p:nvPr/>
          </p:nvSpPr>
          <p:spPr bwMode="auto">
            <a:xfrm>
              <a:off x="3786182" y="5786454"/>
              <a:ext cx="500066" cy="3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sp>
          <p:nvSpPr>
            <p:cNvPr id="76850" name="Text Box 10"/>
            <p:cNvSpPr txBox="1">
              <a:spLocks noChangeArrowheads="1"/>
            </p:cNvSpPr>
            <p:nvPr/>
          </p:nvSpPr>
          <p:spPr bwMode="auto">
            <a:xfrm>
              <a:off x="4714876" y="4733536"/>
              <a:ext cx="500066" cy="3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1</a:t>
              </a:r>
              <a:endParaRPr lang="zh-CN" altLang="zh-CN" sz="2000" b="1">
                <a:latin typeface="Arial" panose="020B0604020202020204" pitchFamily="34" charset="0"/>
              </a:endParaRPr>
            </a:p>
          </p:txBody>
        </p:sp>
        <p:sp>
          <p:nvSpPr>
            <p:cNvPr id="76851" name="Text Box 10"/>
            <p:cNvSpPr txBox="1">
              <a:spLocks noChangeArrowheads="1"/>
            </p:cNvSpPr>
            <p:nvPr/>
          </p:nvSpPr>
          <p:spPr bwMode="auto">
            <a:xfrm>
              <a:off x="5357818" y="4714884"/>
              <a:ext cx="500066" cy="3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76852" name="Text Box 10"/>
            <p:cNvSpPr txBox="1">
              <a:spLocks noChangeArrowheads="1"/>
            </p:cNvSpPr>
            <p:nvPr/>
          </p:nvSpPr>
          <p:spPr bwMode="auto">
            <a:xfrm>
              <a:off x="5857884" y="4714884"/>
              <a:ext cx="500066" cy="3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3</a:t>
              </a:r>
              <a:endParaRPr lang="zh-CN" altLang="zh-CN" sz="2000" b="1">
                <a:latin typeface="Arial" panose="020B0604020202020204" pitchFamily="34" charset="0"/>
              </a:endParaRPr>
            </a:p>
          </p:txBody>
        </p:sp>
        <p:sp>
          <p:nvSpPr>
            <p:cNvPr id="76853" name="Text Box 10"/>
            <p:cNvSpPr txBox="1">
              <a:spLocks noChangeArrowheads="1"/>
            </p:cNvSpPr>
            <p:nvPr/>
          </p:nvSpPr>
          <p:spPr bwMode="auto">
            <a:xfrm>
              <a:off x="6500826" y="4714884"/>
              <a:ext cx="500066" cy="3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sp>
          <p:nvSpPr>
            <p:cNvPr id="76854" name="Text Box 10"/>
            <p:cNvSpPr txBox="1">
              <a:spLocks noChangeArrowheads="1"/>
            </p:cNvSpPr>
            <p:nvPr/>
          </p:nvSpPr>
          <p:spPr bwMode="auto">
            <a:xfrm>
              <a:off x="4714876" y="5786454"/>
              <a:ext cx="500066" cy="3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1</a:t>
              </a:r>
              <a:endParaRPr lang="zh-CN" altLang="zh-CN" sz="2000" b="1">
                <a:latin typeface="Arial" panose="020B0604020202020204" pitchFamily="34" charset="0"/>
              </a:endParaRPr>
            </a:p>
          </p:txBody>
        </p:sp>
        <p:sp>
          <p:nvSpPr>
            <p:cNvPr id="76855" name="Text Box 10"/>
            <p:cNvSpPr txBox="1">
              <a:spLocks noChangeArrowheads="1"/>
            </p:cNvSpPr>
            <p:nvPr/>
          </p:nvSpPr>
          <p:spPr bwMode="auto">
            <a:xfrm>
              <a:off x="5286380" y="5786454"/>
              <a:ext cx="500066" cy="3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76856" name="Text Box 10"/>
            <p:cNvSpPr txBox="1">
              <a:spLocks noChangeArrowheads="1"/>
            </p:cNvSpPr>
            <p:nvPr/>
          </p:nvSpPr>
          <p:spPr bwMode="auto">
            <a:xfrm>
              <a:off x="5857884" y="5786454"/>
              <a:ext cx="500066" cy="3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3</a:t>
              </a:r>
              <a:endParaRPr lang="zh-CN" altLang="zh-CN" sz="2000" b="1">
                <a:latin typeface="Arial" panose="020B0604020202020204" pitchFamily="34" charset="0"/>
              </a:endParaRPr>
            </a:p>
          </p:txBody>
        </p:sp>
        <p:sp>
          <p:nvSpPr>
            <p:cNvPr id="76857" name="Text Box 10"/>
            <p:cNvSpPr txBox="1">
              <a:spLocks noChangeArrowheads="1"/>
            </p:cNvSpPr>
            <p:nvPr/>
          </p:nvSpPr>
          <p:spPr bwMode="auto">
            <a:xfrm>
              <a:off x="6429388" y="5786454"/>
              <a:ext cx="500066" cy="3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gr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a:xfrm>
            <a:off x="457200" y="115888"/>
            <a:ext cx="8229600" cy="868362"/>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匈牙利算法</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77827" name="内容占位符 2"/>
          <p:cNvSpPr>
            <a:spLocks noGrp="1"/>
          </p:cNvSpPr>
          <p:nvPr>
            <p:ph idx="1"/>
          </p:nvPr>
        </p:nvSpPr>
        <p:spPr>
          <a:xfrm>
            <a:off x="457200" y="1027113"/>
            <a:ext cx="8229600" cy="5570537"/>
          </a:xfrm>
        </p:spPr>
        <p:txBody>
          <a:bodyPr/>
          <a:lstStyle/>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定理</a:t>
            </a:r>
            <a:r>
              <a:rPr lang="en-US" altLang="zh-CN" sz="2400" b="1" dirty="0" smtClean="0">
                <a:solidFill>
                  <a:srgbClr val="C00000"/>
                </a:solidFill>
                <a:latin typeface="Times New Roman" panose="02020603050405020304" pitchFamily="18" charset="0"/>
                <a:cs typeface="Times New Roman" panose="02020603050405020304" pitchFamily="18" charset="0"/>
              </a:rPr>
              <a:t>7.8</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二部图的匹配是最大匹配当且仅当不存在关于它</a:t>
            </a:r>
            <a:r>
              <a:rPr lang="zh-CN" altLang="en-US" sz="2400" b="1" dirty="0" smtClean="0">
                <a:latin typeface="Times New Roman" panose="02020603050405020304" pitchFamily="18" charset="0"/>
                <a:cs typeface="Times New Roman" panose="02020603050405020304" pitchFamily="18" charset="0"/>
              </a:rPr>
              <a:t>的</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增广</a:t>
            </a:r>
            <a:r>
              <a:rPr lang="zh-CN" altLang="en-US" sz="2400" b="1" dirty="0" smtClean="0">
                <a:latin typeface="Times New Roman" panose="02020603050405020304" pitchFamily="18" charset="0"/>
                <a:cs typeface="Times New Roman" panose="02020603050405020304" pitchFamily="18" charset="0"/>
              </a:rPr>
              <a:t>交错路径</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匈牙利算法设计思想</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从初始匹配 </a:t>
            </a:r>
            <a:r>
              <a:rPr lang="en-US" altLang="zh-CN" sz="2400" b="1" i="1" dirty="0" smtClean="0">
                <a:latin typeface="Times New Roman" panose="02020603050405020304" pitchFamily="18" charset="0"/>
                <a:cs typeface="Times New Roman" panose="02020603050405020304" pitchFamily="18" charset="0"/>
              </a:rPr>
              <a:t>M </a:t>
            </a:r>
            <a:r>
              <a:rPr lang="zh-CN" altLang="en-US" sz="2400" b="1" dirty="0" smtClean="0">
                <a:latin typeface="Times New Roman" panose="02020603050405020304" pitchFamily="18" charset="0"/>
                <a:cs typeface="Times New Roman" panose="02020603050405020304" pitchFamily="18" charset="0"/>
              </a:rPr>
              <a:t>开始</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每次找一条增广</a:t>
            </a:r>
            <a:endParaRPr lang="en-US" altLang="zh-CN" sz="2400" b="1" dirty="0" smtClean="0">
              <a:latin typeface="Times New Roman" panose="02020603050405020304" pitchFamily="18" charset="0"/>
              <a:cs typeface="Times New Roman" panose="02020603050405020304" pitchFamily="18" charset="0"/>
            </a:endParaRPr>
          </a:p>
          <a:p>
            <a:pPr>
              <a:spcBef>
                <a:spcPct val="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交错路径</a:t>
            </a:r>
            <a:r>
              <a:rPr lang="en-US" altLang="zh-CN" sz="2400" b="1" i="1" dirty="0" smtClean="0">
                <a:latin typeface="Times New Roman" panose="02020603050405020304" pitchFamily="18" charset="0"/>
                <a:cs typeface="Times New Roman" panose="02020603050405020304" pitchFamily="18" charset="0"/>
              </a:rPr>
              <a:t>P</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令 </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P</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直到不存在增广交错路径为止</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广度优先搜索找增广交错路径</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用标号法</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设匹配 </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对</a:t>
            </a:r>
            <a:r>
              <a:rPr lang="en-US" altLang="zh-CN" sz="2400" b="1" i="1" dirty="0" smtClean="0">
                <a:latin typeface="Times New Roman" panose="02020603050405020304" pitchFamily="18" charset="0"/>
                <a:cs typeface="Times New Roman" panose="02020603050405020304" pitchFamily="18" charset="0"/>
              </a:rPr>
              <a:t>A</a:t>
            </a:r>
            <a:r>
              <a:rPr lang="zh-CN" altLang="en-US" sz="2400" b="1" dirty="0" smtClean="0">
                <a:latin typeface="Times New Roman" panose="02020603050405020304" pitchFamily="18" charset="0"/>
                <a:cs typeface="Times New Roman" panose="02020603050405020304" pitchFamily="18" charset="0"/>
              </a:rPr>
              <a:t>中</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每个非饱和点 </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令 </a:t>
            </a:r>
            <a:r>
              <a:rPr lang="en-US" altLang="zh-CN" sz="2400" b="1" i="1" dirty="0" smtClean="0">
                <a:latin typeface="Times New Roman" panose="02020603050405020304" pitchFamily="18" charset="0"/>
                <a:cs typeface="Times New Roman" panose="02020603050405020304" pitchFamily="18" charset="0"/>
              </a:rPr>
              <a:t>l</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 0,  </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 </a:t>
            </a:r>
            <a:r>
              <a:rPr lang="zh-CN" altLang="en-US" sz="2400" b="1" dirty="0" smtClean="0">
                <a:latin typeface="Times New Roman" panose="02020603050405020304" pitchFamily="18" charset="0"/>
                <a:cs typeface="Times New Roman" panose="02020603050405020304" pitchFamily="18" charset="0"/>
              </a:rPr>
              <a:t>成为已标号未检查顶点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其</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它顶点未标号</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任取一个已标号未检查顶点 </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对所有</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a:p>
            <a:pPr>
              <a:spcBef>
                <a:spcPts val="200"/>
              </a:spcBef>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zh-CN" altLang="en-US" sz="2400" b="1" dirty="0" smtClean="0">
                <a:latin typeface="Times New Roman" panose="02020603050405020304" pitchFamily="18" charset="0"/>
                <a:cs typeface="Times New Roman" panose="02020603050405020304" pitchFamily="18" charset="0"/>
              </a:rPr>
              <a:t>且未标号的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令 </a:t>
            </a:r>
            <a:r>
              <a:rPr lang="en-US" altLang="zh-CN" sz="2400" b="1" i="1" dirty="0" smtClean="0">
                <a:latin typeface="Times New Roman" panose="02020603050405020304" pitchFamily="18" charset="0"/>
                <a:cs typeface="Times New Roman" panose="02020603050405020304" pitchFamily="18" charset="0"/>
              </a:rPr>
              <a:t>l</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成为已标号的</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如果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是非</a:t>
            </a:r>
            <a:endParaRPr lang="en-US" altLang="zh-CN" sz="2400" b="1" dirty="0" smtClean="0">
              <a:latin typeface="Times New Roman" panose="02020603050405020304" pitchFamily="18" charset="0"/>
              <a:cs typeface="Times New Roman" panose="02020603050405020304" pitchFamily="18" charset="0"/>
            </a:endParaRPr>
          </a:p>
          <a:p>
            <a:pPr>
              <a:spcBef>
                <a:spcPts val="2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饱和点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则找到增广交错路径</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修改匹配</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重新开始标号</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如</a:t>
            </a:r>
            <a:endParaRPr lang="en-US" altLang="zh-CN" sz="2400" b="1" dirty="0" smtClean="0">
              <a:latin typeface="Times New Roman" panose="02020603050405020304" pitchFamily="18" charset="0"/>
              <a:cs typeface="Times New Roman" panose="02020603050405020304" pitchFamily="18" charset="0"/>
            </a:endParaRPr>
          </a:p>
          <a:p>
            <a:pPr>
              <a:spcBef>
                <a:spcPts val="2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果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是饱和点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设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令 </a:t>
            </a:r>
            <a:r>
              <a:rPr lang="en-US" altLang="zh-CN" sz="2400" b="1" i="1" dirty="0" smtClean="0">
                <a:latin typeface="Times New Roman" panose="02020603050405020304" pitchFamily="18" charset="0"/>
                <a:cs typeface="Times New Roman" panose="02020603050405020304" pitchFamily="18" charset="0"/>
              </a:rPr>
              <a:t>l</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k</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成为已标号未</a:t>
            </a:r>
            <a:endParaRPr lang="en-US" altLang="zh-CN" sz="2400" b="1" dirty="0" smtClean="0">
              <a:latin typeface="Times New Roman" panose="02020603050405020304" pitchFamily="18" charset="0"/>
              <a:cs typeface="Times New Roman" panose="02020603050405020304" pitchFamily="18" charset="0"/>
            </a:endParaRPr>
          </a:p>
          <a:p>
            <a:pPr>
              <a:spcBef>
                <a:spcPts val="2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检查顶点</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 </a:t>
            </a:r>
            <a:r>
              <a:rPr lang="zh-CN" altLang="en-US" sz="2400" b="1" dirty="0" smtClean="0">
                <a:latin typeface="Times New Roman" panose="02020603050405020304" pitchFamily="18" charset="0"/>
                <a:cs typeface="Times New Roman" panose="02020603050405020304" pitchFamily="18" charset="0"/>
              </a:rPr>
              <a:t>成为已标号已检查顶点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重复进行</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直到 </a:t>
            </a:r>
            <a:r>
              <a:rPr lang="en-US" altLang="zh-CN" sz="2400" b="1" i="1" dirty="0" smtClean="0">
                <a:latin typeface="Times New Roman" panose="02020603050405020304" pitchFamily="18" charset="0"/>
                <a:cs typeface="Times New Roman" panose="02020603050405020304" pitchFamily="18" charset="0"/>
              </a:rPr>
              <a:t>A</a:t>
            </a:r>
            <a:r>
              <a:rPr lang="zh-CN" altLang="en-US" sz="2400" b="1" dirty="0" smtClean="0">
                <a:latin typeface="Times New Roman" panose="02020603050405020304" pitchFamily="18" charset="0"/>
                <a:cs typeface="Times New Roman" panose="02020603050405020304" pitchFamily="18" charset="0"/>
              </a:rPr>
              <a:t>中不</a:t>
            </a:r>
            <a:endParaRPr lang="en-US" altLang="zh-CN" sz="2400" b="1" dirty="0" smtClean="0">
              <a:latin typeface="Times New Roman" panose="02020603050405020304" pitchFamily="18" charset="0"/>
              <a:cs typeface="Times New Roman" panose="02020603050405020304" pitchFamily="18" charset="0"/>
            </a:endParaRPr>
          </a:p>
          <a:p>
            <a:pPr>
              <a:spcBef>
                <a:spcPts val="2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存在已标号未检查的顶点为止</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p:txBody>
      </p:sp>
      <p:sp>
        <p:nvSpPr>
          <p:cNvPr id="7782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C20150A-539A-47BD-9F92-52FA595DA473}"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a:xfrm>
            <a:off x="1998208" y="408184"/>
            <a:ext cx="4483602" cy="511175"/>
          </a:xfrm>
        </p:spPr>
        <p:txBody>
          <a:bodyPr/>
          <a:lstStyle/>
          <a:p>
            <a:r>
              <a:rPr lang="zh-CN" altLang="en-US" sz="4000" b="1" dirty="0" smtClean="0">
                <a:solidFill>
                  <a:srgbClr val="C00000"/>
                </a:solidFill>
                <a:latin typeface="Times New Roman" panose="02020603050405020304" pitchFamily="18" charset="0"/>
                <a:cs typeface="Times New Roman" panose="02020603050405020304" pitchFamily="18" charset="0"/>
              </a:rPr>
              <a:t>例</a:t>
            </a:r>
            <a:r>
              <a:rPr lang="en-US" altLang="zh-CN" sz="4000" b="1" dirty="0" smtClean="0">
                <a:solidFill>
                  <a:srgbClr val="C00000"/>
                </a:solidFill>
                <a:latin typeface="Times New Roman" panose="02020603050405020304" pitchFamily="18" charset="0"/>
                <a:cs typeface="Times New Roman" panose="02020603050405020304" pitchFamily="18" charset="0"/>
              </a:rPr>
              <a:t>7.5 </a:t>
            </a:r>
            <a:r>
              <a:rPr lang="en-US" altLang="zh-CN" sz="4000" b="1" dirty="0" smtClean="0">
                <a:solidFill>
                  <a:srgbClr val="C00000"/>
                </a:solidFill>
                <a:latin typeface="Times New Roman" panose="02020603050405020304" pitchFamily="18" charset="0"/>
                <a:cs typeface="Times New Roman" panose="02020603050405020304" pitchFamily="18" charset="0"/>
              </a:rPr>
              <a:t>(</a:t>
            </a:r>
            <a:r>
              <a:rPr lang="zh-CN" altLang="en-US" sz="4000" b="1" dirty="0" smtClean="0">
                <a:solidFill>
                  <a:srgbClr val="C00000"/>
                </a:solidFill>
                <a:latin typeface="Times New Roman" panose="02020603050405020304" pitchFamily="18" charset="0"/>
                <a:cs typeface="Times New Roman" panose="02020603050405020304" pitchFamily="18" charset="0"/>
              </a:rPr>
              <a:t>续</a:t>
            </a:r>
            <a:r>
              <a:rPr lang="en-US" altLang="zh-CN" sz="4000" b="1" dirty="0" smtClean="0">
                <a:solidFill>
                  <a:srgbClr val="C00000"/>
                </a:solidFill>
                <a:latin typeface="Times New Roman" panose="02020603050405020304" pitchFamily="18" charset="0"/>
                <a:cs typeface="Times New Roman" panose="02020603050405020304" pitchFamily="18" charset="0"/>
              </a:rPr>
              <a:t>)</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
        <p:nvSpPr>
          <p:cNvPr id="8089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0F2251DB-4A0E-41C6-ABA5-1721818806A4}" type="slidenum">
              <a:rPr lang="zh-CN" altLang="en-US" sz="1200" smtClean="0">
                <a:solidFill>
                  <a:srgbClr val="898989"/>
                </a:solidFill>
              </a:rPr>
            </a:fld>
            <a:endParaRPr lang="zh-CN" altLang="en-US" sz="1200" smtClean="0">
              <a:solidFill>
                <a:srgbClr val="898989"/>
              </a:solidFill>
            </a:endParaRPr>
          </a:p>
        </p:txBody>
      </p:sp>
      <p:grpSp>
        <p:nvGrpSpPr>
          <p:cNvPr id="80900" name="组合 209"/>
          <p:cNvGrpSpPr/>
          <p:nvPr/>
        </p:nvGrpSpPr>
        <p:grpSpPr bwMode="auto">
          <a:xfrm>
            <a:off x="1428750" y="1609725"/>
            <a:ext cx="2816225" cy="1585913"/>
            <a:chOff x="1643042" y="1285869"/>
            <a:chExt cx="2571768" cy="1357313"/>
          </a:xfrm>
        </p:grpSpPr>
        <p:sp>
          <p:nvSpPr>
            <p:cNvPr id="80998" name="Text Box 33"/>
            <p:cNvSpPr txBox="1">
              <a:spLocks noChangeArrowheads="1"/>
            </p:cNvSpPr>
            <p:nvPr/>
          </p:nvSpPr>
          <p:spPr bwMode="auto">
            <a:xfrm>
              <a:off x="1938319" y="2143116"/>
              <a:ext cx="347665"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a:solidFill>
                    <a:srgbClr val="FF0000"/>
                  </a:solidFill>
                  <a:latin typeface="Times New Roman" panose="02020603050405020304" pitchFamily="18" charset="0"/>
                </a:rPr>
                <a:t>0</a:t>
              </a:r>
              <a:endParaRPr lang="zh-CN" altLang="zh-CN" sz="2000" b="1">
                <a:solidFill>
                  <a:srgbClr val="FF0000"/>
                </a:solidFill>
                <a:latin typeface="Arial" panose="020B0604020202020204" pitchFamily="34" charset="0"/>
              </a:endParaRPr>
            </a:p>
          </p:txBody>
        </p:sp>
        <p:sp>
          <p:nvSpPr>
            <p:cNvPr id="80999" name="Text Box 33"/>
            <p:cNvSpPr txBox="1">
              <a:spLocks noChangeArrowheads="1"/>
            </p:cNvSpPr>
            <p:nvPr/>
          </p:nvSpPr>
          <p:spPr bwMode="auto">
            <a:xfrm>
              <a:off x="2571736" y="2143116"/>
              <a:ext cx="347665"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a:solidFill>
                    <a:srgbClr val="FF0000"/>
                  </a:solidFill>
                  <a:latin typeface="Times New Roman" panose="02020603050405020304" pitchFamily="18" charset="0"/>
                </a:rPr>
                <a:t>0</a:t>
              </a:r>
              <a:endParaRPr lang="zh-CN" altLang="zh-CN" sz="2000" b="1">
                <a:solidFill>
                  <a:srgbClr val="FF0000"/>
                </a:solidFill>
                <a:latin typeface="Arial" panose="020B0604020202020204" pitchFamily="34" charset="0"/>
              </a:endParaRPr>
            </a:p>
          </p:txBody>
        </p:sp>
        <p:sp>
          <p:nvSpPr>
            <p:cNvPr id="81000" name="Text Box 33"/>
            <p:cNvSpPr txBox="1">
              <a:spLocks noChangeArrowheads="1"/>
            </p:cNvSpPr>
            <p:nvPr/>
          </p:nvSpPr>
          <p:spPr bwMode="auto">
            <a:xfrm>
              <a:off x="3152765" y="2143116"/>
              <a:ext cx="347665"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a:solidFill>
                    <a:srgbClr val="FF0000"/>
                  </a:solidFill>
                  <a:latin typeface="Times New Roman" panose="02020603050405020304" pitchFamily="18" charset="0"/>
                </a:rPr>
                <a:t>0</a:t>
              </a:r>
              <a:endParaRPr lang="zh-CN" altLang="zh-CN" sz="2000" b="1">
                <a:solidFill>
                  <a:srgbClr val="FF0000"/>
                </a:solidFill>
                <a:latin typeface="Arial" panose="020B0604020202020204" pitchFamily="34" charset="0"/>
              </a:endParaRPr>
            </a:p>
          </p:txBody>
        </p:sp>
        <p:sp>
          <p:nvSpPr>
            <p:cNvPr id="81001" name="Text Box 33"/>
            <p:cNvSpPr txBox="1">
              <a:spLocks noChangeArrowheads="1"/>
            </p:cNvSpPr>
            <p:nvPr/>
          </p:nvSpPr>
          <p:spPr bwMode="auto">
            <a:xfrm>
              <a:off x="3867145" y="2143116"/>
              <a:ext cx="347665"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a:solidFill>
                    <a:srgbClr val="FF0000"/>
                  </a:solidFill>
                  <a:latin typeface="Times New Roman" panose="02020603050405020304" pitchFamily="18" charset="0"/>
                </a:rPr>
                <a:t>0</a:t>
              </a:r>
              <a:endParaRPr lang="zh-CN" altLang="zh-CN" sz="2000" b="1">
                <a:solidFill>
                  <a:srgbClr val="FF0000"/>
                </a:solidFill>
                <a:latin typeface="Arial" panose="020B0604020202020204" pitchFamily="34" charset="0"/>
              </a:endParaRPr>
            </a:p>
          </p:txBody>
        </p:sp>
        <p:grpSp>
          <p:nvGrpSpPr>
            <p:cNvPr id="81002" name="组合 38"/>
            <p:cNvGrpSpPr/>
            <p:nvPr/>
          </p:nvGrpSpPr>
          <p:grpSpPr bwMode="auto">
            <a:xfrm>
              <a:off x="1643042" y="1285869"/>
              <a:ext cx="2482850" cy="1357313"/>
              <a:chOff x="5786446" y="4500570"/>
              <a:chExt cx="2482725" cy="1357322"/>
            </a:xfrm>
          </p:grpSpPr>
          <p:sp>
            <p:nvSpPr>
              <p:cNvPr id="81004" name="Oval 6"/>
              <p:cNvSpPr>
                <a:spLocks noChangeArrowheads="1"/>
              </p:cNvSpPr>
              <p:nvPr/>
            </p:nvSpPr>
            <p:spPr bwMode="auto">
              <a:xfrm>
                <a:off x="5940381" y="4748186"/>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1005" name="Oval 7"/>
              <p:cNvSpPr>
                <a:spLocks noChangeArrowheads="1"/>
              </p:cNvSpPr>
              <p:nvPr/>
            </p:nvSpPr>
            <p:spPr bwMode="auto">
              <a:xfrm>
                <a:off x="6614997" y="4748186"/>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1006" name="Oval 8"/>
              <p:cNvSpPr>
                <a:spLocks noChangeArrowheads="1"/>
              </p:cNvSpPr>
              <p:nvPr/>
            </p:nvSpPr>
            <p:spPr bwMode="auto">
              <a:xfrm>
                <a:off x="7201138" y="4748186"/>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1007" name="Oval 9"/>
              <p:cNvSpPr>
                <a:spLocks noChangeArrowheads="1"/>
              </p:cNvSpPr>
              <p:nvPr/>
            </p:nvSpPr>
            <p:spPr bwMode="auto">
              <a:xfrm>
                <a:off x="7886813" y="4748186"/>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1008" name="Text Box 13"/>
              <p:cNvSpPr txBox="1">
                <a:spLocks noChangeArrowheads="1"/>
              </p:cNvSpPr>
              <p:nvPr/>
            </p:nvSpPr>
            <p:spPr bwMode="auto">
              <a:xfrm>
                <a:off x="7786710" y="4500570"/>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sp>
            <p:nvSpPr>
              <p:cNvPr id="81009" name="Oval 14"/>
              <p:cNvSpPr>
                <a:spLocks noChangeArrowheads="1"/>
              </p:cNvSpPr>
              <p:nvPr/>
            </p:nvSpPr>
            <p:spPr bwMode="auto">
              <a:xfrm>
                <a:off x="5951441" y="5386294"/>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1010" name="Oval 15"/>
              <p:cNvSpPr>
                <a:spLocks noChangeArrowheads="1"/>
              </p:cNvSpPr>
              <p:nvPr/>
            </p:nvSpPr>
            <p:spPr bwMode="auto">
              <a:xfrm>
                <a:off x="6626056" y="5386294"/>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1011" name="Oval 16"/>
              <p:cNvSpPr>
                <a:spLocks noChangeArrowheads="1"/>
              </p:cNvSpPr>
              <p:nvPr/>
            </p:nvSpPr>
            <p:spPr bwMode="auto">
              <a:xfrm>
                <a:off x="7212197" y="5386294"/>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1012" name="Oval 17"/>
              <p:cNvSpPr>
                <a:spLocks noChangeArrowheads="1"/>
              </p:cNvSpPr>
              <p:nvPr/>
            </p:nvSpPr>
            <p:spPr bwMode="auto">
              <a:xfrm>
                <a:off x="7897872" y="5386294"/>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81013" name="AutoShape 22"/>
              <p:cNvCxnSpPr>
                <a:cxnSpLocks noChangeShapeType="1"/>
              </p:cNvCxnSpPr>
              <p:nvPr/>
            </p:nvCxnSpPr>
            <p:spPr bwMode="auto">
              <a:xfrm>
                <a:off x="6006737" y="4882334"/>
                <a:ext cx="0" cy="503960"/>
              </a:xfrm>
              <a:prstGeom prst="straightConnector1">
                <a:avLst/>
              </a:prstGeom>
              <a:noFill/>
              <a:ln w="28575">
                <a:solidFill>
                  <a:srgbClr val="FF0000"/>
                </a:solidFill>
                <a:round/>
              </a:ln>
              <a:extLst>
                <a:ext uri="{909E8E84-426E-40DD-AFC4-6F175D3DCCD1}">
                  <a14:hiddenFill xmlns:a14="http://schemas.microsoft.com/office/drawing/2010/main">
                    <a:noFill/>
                  </a14:hiddenFill>
                </a:ext>
              </a:extLst>
            </p:spPr>
          </p:cxnSp>
          <p:cxnSp>
            <p:nvCxnSpPr>
              <p:cNvPr id="81014" name="AutoShape 23"/>
              <p:cNvCxnSpPr>
                <a:cxnSpLocks noChangeShapeType="1"/>
              </p:cNvCxnSpPr>
              <p:nvPr/>
            </p:nvCxnSpPr>
            <p:spPr bwMode="auto">
              <a:xfrm>
                <a:off x="6006737" y="4848495"/>
                <a:ext cx="619319" cy="537799"/>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1015" name="AutoShape 24"/>
              <p:cNvCxnSpPr>
                <a:cxnSpLocks noChangeShapeType="1"/>
              </p:cNvCxnSpPr>
              <p:nvPr/>
            </p:nvCxnSpPr>
            <p:spPr bwMode="auto">
              <a:xfrm>
                <a:off x="6055121" y="4829158"/>
                <a:ext cx="1842751" cy="586141"/>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1016" name="AutoShape 25"/>
              <p:cNvCxnSpPr>
                <a:cxnSpLocks noChangeShapeType="1"/>
              </p:cNvCxnSpPr>
              <p:nvPr/>
            </p:nvCxnSpPr>
            <p:spPr bwMode="auto">
              <a:xfrm flipH="1">
                <a:off x="6006737" y="4848495"/>
                <a:ext cx="619319" cy="537799"/>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1017" name="AutoShape 26"/>
              <p:cNvCxnSpPr>
                <a:cxnSpLocks noChangeShapeType="1"/>
              </p:cNvCxnSpPr>
              <p:nvPr/>
            </p:nvCxnSpPr>
            <p:spPr bwMode="auto">
              <a:xfrm>
                <a:off x="6006737" y="4829158"/>
                <a:ext cx="1238638" cy="566804"/>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1018" name="AutoShape 27"/>
              <p:cNvCxnSpPr>
                <a:cxnSpLocks noChangeShapeType="1"/>
              </p:cNvCxnSpPr>
              <p:nvPr/>
            </p:nvCxnSpPr>
            <p:spPr bwMode="auto">
              <a:xfrm flipH="1">
                <a:off x="6729737" y="4848495"/>
                <a:ext cx="482461" cy="537799"/>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1019" name="AutoShape 28"/>
              <p:cNvCxnSpPr>
                <a:cxnSpLocks noChangeShapeType="1"/>
              </p:cNvCxnSpPr>
              <p:nvPr/>
            </p:nvCxnSpPr>
            <p:spPr bwMode="auto">
              <a:xfrm>
                <a:off x="7260582" y="4848495"/>
                <a:ext cx="0" cy="566804"/>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1020" name="AutoShape 29"/>
              <p:cNvCxnSpPr>
                <a:cxnSpLocks noChangeShapeType="1"/>
              </p:cNvCxnSpPr>
              <p:nvPr/>
            </p:nvCxnSpPr>
            <p:spPr bwMode="auto">
              <a:xfrm>
                <a:off x="7260582" y="4848495"/>
                <a:ext cx="637290" cy="557136"/>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1021" name="AutoShape 30"/>
              <p:cNvCxnSpPr>
                <a:cxnSpLocks noChangeShapeType="1"/>
              </p:cNvCxnSpPr>
              <p:nvPr/>
            </p:nvCxnSpPr>
            <p:spPr bwMode="auto">
              <a:xfrm flipV="1">
                <a:off x="6055121" y="4848495"/>
                <a:ext cx="1842751" cy="566804"/>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sp>
            <p:nvSpPr>
              <p:cNvPr id="81022" name="Text Box 13"/>
              <p:cNvSpPr txBox="1">
                <a:spLocks noChangeArrowheads="1"/>
              </p:cNvSpPr>
              <p:nvPr/>
            </p:nvSpPr>
            <p:spPr bwMode="auto">
              <a:xfrm>
                <a:off x="7072330" y="4500570"/>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3</a:t>
                </a:r>
                <a:endParaRPr lang="zh-CN" altLang="zh-CN" sz="2000" b="1">
                  <a:latin typeface="Arial" panose="020B0604020202020204" pitchFamily="34" charset="0"/>
                </a:endParaRPr>
              </a:p>
            </p:txBody>
          </p:sp>
          <p:sp>
            <p:nvSpPr>
              <p:cNvPr id="81023" name="Text Box 13"/>
              <p:cNvSpPr txBox="1">
                <a:spLocks noChangeArrowheads="1"/>
              </p:cNvSpPr>
              <p:nvPr/>
            </p:nvSpPr>
            <p:spPr bwMode="auto">
              <a:xfrm>
                <a:off x="6518431" y="4500570"/>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81024" name="Text Box 13"/>
              <p:cNvSpPr txBox="1">
                <a:spLocks noChangeArrowheads="1"/>
              </p:cNvSpPr>
              <p:nvPr/>
            </p:nvSpPr>
            <p:spPr bwMode="auto">
              <a:xfrm>
                <a:off x="5786446" y="4500570"/>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1</a:t>
                </a:r>
                <a:endParaRPr lang="zh-CN" altLang="zh-CN" sz="2000" b="1">
                  <a:latin typeface="Arial" panose="020B0604020202020204" pitchFamily="34" charset="0"/>
                </a:endParaRPr>
              </a:p>
            </p:txBody>
          </p:sp>
          <p:sp>
            <p:nvSpPr>
              <p:cNvPr id="81025" name="Text Box 13"/>
              <p:cNvSpPr txBox="1">
                <a:spLocks noChangeArrowheads="1"/>
              </p:cNvSpPr>
              <p:nvPr/>
            </p:nvSpPr>
            <p:spPr bwMode="auto">
              <a:xfrm>
                <a:off x="7786710" y="5500702"/>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sp>
            <p:nvSpPr>
              <p:cNvPr id="81026" name="Text Box 13"/>
              <p:cNvSpPr txBox="1">
                <a:spLocks noChangeArrowheads="1"/>
              </p:cNvSpPr>
              <p:nvPr/>
            </p:nvSpPr>
            <p:spPr bwMode="auto">
              <a:xfrm>
                <a:off x="7072330" y="5500702"/>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3</a:t>
                </a:r>
                <a:endParaRPr lang="zh-CN" altLang="zh-CN" sz="2000" b="1">
                  <a:latin typeface="Arial" panose="020B0604020202020204" pitchFamily="34" charset="0"/>
                </a:endParaRPr>
              </a:p>
            </p:txBody>
          </p:sp>
          <p:sp>
            <p:nvSpPr>
              <p:cNvPr id="81027" name="Text Box 13"/>
              <p:cNvSpPr txBox="1">
                <a:spLocks noChangeArrowheads="1"/>
              </p:cNvSpPr>
              <p:nvPr/>
            </p:nvSpPr>
            <p:spPr bwMode="auto">
              <a:xfrm>
                <a:off x="6429388" y="5500702"/>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81028" name="Text Box 13"/>
              <p:cNvSpPr txBox="1">
                <a:spLocks noChangeArrowheads="1"/>
              </p:cNvSpPr>
              <p:nvPr/>
            </p:nvSpPr>
            <p:spPr bwMode="auto">
              <a:xfrm>
                <a:off x="5786446" y="5500702"/>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1</a:t>
                </a:r>
                <a:endParaRPr lang="zh-CN" altLang="zh-CN" sz="2000" b="1">
                  <a:latin typeface="Arial" panose="020B0604020202020204" pitchFamily="34" charset="0"/>
                </a:endParaRPr>
              </a:p>
            </p:txBody>
          </p:sp>
        </p:grpSp>
        <p:sp>
          <p:nvSpPr>
            <p:cNvPr id="81003" name="Text Box 33"/>
            <p:cNvSpPr txBox="1">
              <a:spLocks noChangeArrowheads="1"/>
            </p:cNvSpPr>
            <p:nvPr/>
          </p:nvSpPr>
          <p:spPr bwMode="auto">
            <a:xfrm>
              <a:off x="1928794" y="1428736"/>
              <a:ext cx="500066"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i="1">
                  <a:solidFill>
                    <a:srgbClr val="FF0000"/>
                  </a:solidFill>
                  <a:latin typeface="Times New Roman" panose="02020603050405020304" pitchFamily="18" charset="0"/>
                </a:rPr>
                <a:t>A</a:t>
              </a:r>
              <a:r>
                <a:rPr lang="en-US" altLang="zh-CN" sz="2000" b="1" baseline="-25000">
                  <a:solidFill>
                    <a:srgbClr val="FF0000"/>
                  </a:solidFill>
                  <a:latin typeface="Times New Roman" panose="02020603050405020304" pitchFamily="18" charset="0"/>
                </a:rPr>
                <a:t>1</a:t>
              </a:r>
              <a:endParaRPr lang="zh-CN" altLang="zh-CN" sz="2000" b="1">
                <a:solidFill>
                  <a:srgbClr val="FF0000"/>
                </a:solidFill>
                <a:latin typeface="Arial" panose="020B0604020202020204" pitchFamily="34" charset="0"/>
              </a:endParaRPr>
            </a:p>
          </p:txBody>
        </p:sp>
      </p:grpSp>
      <p:grpSp>
        <p:nvGrpSpPr>
          <p:cNvPr id="5" name="组合 242"/>
          <p:cNvGrpSpPr/>
          <p:nvPr/>
        </p:nvGrpSpPr>
        <p:grpSpPr bwMode="auto">
          <a:xfrm>
            <a:off x="4852988" y="1504950"/>
            <a:ext cx="2882900" cy="1604963"/>
            <a:chOff x="4929197" y="1428715"/>
            <a:chExt cx="2571761" cy="1357307"/>
          </a:xfrm>
        </p:grpSpPr>
        <p:sp>
          <p:nvSpPr>
            <p:cNvPr id="80968" name="Text Box 33"/>
            <p:cNvSpPr txBox="1">
              <a:spLocks noChangeArrowheads="1"/>
            </p:cNvSpPr>
            <p:nvPr/>
          </p:nvSpPr>
          <p:spPr bwMode="auto">
            <a:xfrm>
              <a:off x="5857884" y="2285983"/>
              <a:ext cx="347665"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a:solidFill>
                    <a:srgbClr val="FF0000"/>
                  </a:solidFill>
                  <a:latin typeface="Times New Roman" panose="02020603050405020304" pitchFamily="18" charset="0"/>
                </a:rPr>
                <a:t>0</a:t>
              </a:r>
              <a:endParaRPr lang="zh-CN" altLang="zh-CN" sz="2000" b="1">
                <a:solidFill>
                  <a:srgbClr val="FF0000"/>
                </a:solidFill>
                <a:latin typeface="Arial" panose="020B0604020202020204" pitchFamily="34" charset="0"/>
              </a:endParaRPr>
            </a:p>
          </p:txBody>
        </p:sp>
        <p:sp>
          <p:nvSpPr>
            <p:cNvPr id="80969" name="Text Box 33"/>
            <p:cNvSpPr txBox="1">
              <a:spLocks noChangeArrowheads="1"/>
            </p:cNvSpPr>
            <p:nvPr/>
          </p:nvSpPr>
          <p:spPr bwMode="auto">
            <a:xfrm>
              <a:off x="6438913" y="2285983"/>
              <a:ext cx="347665"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a:solidFill>
                    <a:srgbClr val="FF0000"/>
                  </a:solidFill>
                  <a:latin typeface="Times New Roman" panose="02020603050405020304" pitchFamily="18" charset="0"/>
                </a:rPr>
                <a:t>0</a:t>
              </a:r>
              <a:endParaRPr lang="zh-CN" altLang="zh-CN" sz="2000" b="1">
                <a:solidFill>
                  <a:srgbClr val="FF0000"/>
                </a:solidFill>
                <a:latin typeface="Arial" panose="020B0604020202020204" pitchFamily="34" charset="0"/>
              </a:endParaRPr>
            </a:p>
          </p:txBody>
        </p:sp>
        <p:sp>
          <p:nvSpPr>
            <p:cNvPr id="80970" name="Text Box 33"/>
            <p:cNvSpPr txBox="1">
              <a:spLocks noChangeArrowheads="1"/>
            </p:cNvSpPr>
            <p:nvPr/>
          </p:nvSpPr>
          <p:spPr bwMode="auto">
            <a:xfrm>
              <a:off x="7153293" y="2285983"/>
              <a:ext cx="347665"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a:solidFill>
                    <a:srgbClr val="FF0000"/>
                  </a:solidFill>
                  <a:latin typeface="Times New Roman" panose="02020603050405020304" pitchFamily="18" charset="0"/>
                </a:rPr>
                <a:t>0</a:t>
              </a:r>
              <a:endParaRPr lang="zh-CN" altLang="zh-CN" sz="2000" b="1">
                <a:solidFill>
                  <a:srgbClr val="FF0000"/>
                </a:solidFill>
                <a:latin typeface="Arial" panose="020B0604020202020204" pitchFamily="34" charset="0"/>
              </a:endParaRPr>
            </a:p>
          </p:txBody>
        </p:sp>
        <p:grpSp>
          <p:nvGrpSpPr>
            <p:cNvPr id="80971" name="组合 38"/>
            <p:cNvGrpSpPr/>
            <p:nvPr/>
          </p:nvGrpSpPr>
          <p:grpSpPr bwMode="auto">
            <a:xfrm>
              <a:off x="4929197" y="1428715"/>
              <a:ext cx="2482853" cy="1357307"/>
              <a:chOff x="5786446" y="4500570"/>
              <a:chExt cx="2482725" cy="1357322"/>
            </a:xfrm>
          </p:grpSpPr>
          <p:sp>
            <p:nvSpPr>
              <p:cNvPr id="80973" name="Oval 6"/>
              <p:cNvSpPr>
                <a:spLocks noChangeArrowheads="1"/>
              </p:cNvSpPr>
              <p:nvPr/>
            </p:nvSpPr>
            <p:spPr bwMode="auto">
              <a:xfrm>
                <a:off x="5940381" y="4748186"/>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74" name="Oval 7"/>
              <p:cNvSpPr>
                <a:spLocks noChangeArrowheads="1"/>
              </p:cNvSpPr>
              <p:nvPr/>
            </p:nvSpPr>
            <p:spPr bwMode="auto">
              <a:xfrm>
                <a:off x="6614997" y="4748186"/>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75" name="Oval 8"/>
              <p:cNvSpPr>
                <a:spLocks noChangeArrowheads="1"/>
              </p:cNvSpPr>
              <p:nvPr/>
            </p:nvSpPr>
            <p:spPr bwMode="auto">
              <a:xfrm>
                <a:off x="7201138" y="4748186"/>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76" name="Oval 9"/>
              <p:cNvSpPr>
                <a:spLocks noChangeArrowheads="1"/>
              </p:cNvSpPr>
              <p:nvPr/>
            </p:nvSpPr>
            <p:spPr bwMode="auto">
              <a:xfrm>
                <a:off x="7886813" y="4748186"/>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77" name="Text Box 13"/>
              <p:cNvSpPr txBox="1">
                <a:spLocks noChangeArrowheads="1"/>
              </p:cNvSpPr>
              <p:nvPr/>
            </p:nvSpPr>
            <p:spPr bwMode="auto">
              <a:xfrm>
                <a:off x="7786710" y="4500570"/>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sp>
            <p:nvSpPr>
              <p:cNvPr id="80978" name="Oval 14"/>
              <p:cNvSpPr>
                <a:spLocks noChangeArrowheads="1"/>
              </p:cNvSpPr>
              <p:nvPr/>
            </p:nvSpPr>
            <p:spPr bwMode="auto">
              <a:xfrm>
                <a:off x="5951441" y="5386294"/>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79" name="Oval 15"/>
              <p:cNvSpPr>
                <a:spLocks noChangeArrowheads="1"/>
              </p:cNvSpPr>
              <p:nvPr/>
            </p:nvSpPr>
            <p:spPr bwMode="auto">
              <a:xfrm>
                <a:off x="6626056" y="5386294"/>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80" name="Oval 16"/>
              <p:cNvSpPr>
                <a:spLocks noChangeArrowheads="1"/>
              </p:cNvSpPr>
              <p:nvPr/>
            </p:nvSpPr>
            <p:spPr bwMode="auto">
              <a:xfrm>
                <a:off x="7212197" y="5386294"/>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81" name="Oval 17"/>
              <p:cNvSpPr>
                <a:spLocks noChangeArrowheads="1"/>
              </p:cNvSpPr>
              <p:nvPr/>
            </p:nvSpPr>
            <p:spPr bwMode="auto">
              <a:xfrm>
                <a:off x="7897872" y="5386294"/>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80982" name="AutoShape 22"/>
              <p:cNvCxnSpPr>
                <a:cxnSpLocks noChangeShapeType="1"/>
              </p:cNvCxnSpPr>
              <p:nvPr/>
            </p:nvCxnSpPr>
            <p:spPr bwMode="auto">
              <a:xfrm>
                <a:off x="6006737" y="4882334"/>
                <a:ext cx="0" cy="503960"/>
              </a:xfrm>
              <a:prstGeom prst="straightConnector1">
                <a:avLst/>
              </a:prstGeom>
              <a:noFill/>
              <a:ln w="28575">
                <a:solidFill>
                  <a:srgbClr val="FF0000"/>
                </a:solidFill>
                <a:round/>
              </a:ln>
              <a:extLst>
                <a:ext uri="{909E8E84-426E-40DD-AFC4-6F175D3DCCD1}">
                  <a14:hiddenFill xmlns:a14="http://schemas.microsoft.com/office/drawing/2010/main">
                    <a:noFill/>
                  </a14:hiddenFill>
                </a:ext>
              </a:extLst>
            </p:spPr>
          </p:cxnSp>
          <p:cxnSp>
            <p:nvCxnSpPr>
              <p:cNvPr id="80983" name="AutoShape 23"/>
              <p:cNvCxnSpPr>
                <a:cxnSpLocks noChangeShapeType="1"/>
              </p:cNvCxnSpPr>
              <p:nvPr/>
            </p:nvCxnSpPr>
            <p:spPr bwMode="auto">
              <a:xfrm>
                <a:off x="6006737" y="4848495"/>
                <a:ext cx="619319" cy="537799"/>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0984" name="AutoShape 24"/>
              <p:cNvCxnSpPr>
                <a:cxnSpLocks noChangeShapeType="1"/>
              </p:cNvCxnSpPr>
              <p:nvPr/>
            </p:nvCxnSpPr>
            <p:spPr bwMode="auto">
              <a:xfrm>
                <a:off x="6055121" y="4829158"/>
                <a:ext cx="1842751" cy="586141"/>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0985" name="AutoShape 25"/>
              <p:cNvCxnSpPr>
                <a:cxnSpLocks noChangeShapeType="1"/>
              </p:cNvCxnSpPr>
              <p:nvPr/>
            </p:nvCxnSpPr>
            <p:spPr bwMode="auto">
              <a:xfrm flipH="1">
                <a:off x="6006737" y="4848495"/>
                <a:ext cx="619319" cy="537799"/>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0986" name="AutoShape 26"/>
              <p:cNvCxnSpPr>
                <a:cxnSpLocks noChangeShapeType="1"/>
              </p:cNvCxnSpPr>
              <p:nvPr/>
            </p:nvCxnSpPr>
            <p:spPr bwMode="auto">
              <a:xfrm>
                <a:off x="6006737" y="4829158"/>
                <a:ext cx="1238638" cy="566804"/>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0987" name="AutoShape 27"/>
              <p:cNvCxnSpPr>
                <a:cxnSpLocks noChangeShapeType="1"/>
              </p:cNvCxnSpPr>
              <p:nvPr/>
            </p:nvCxnSpPr>
            <p:spPr bwMode="auto">
              <a:xfrm flipH="1">
                <a:off x="6729737" y="4848495"/>
                <a:ext cx="482461" cy="537799"/>
              </a:xfrm>
              <a:prstGeom prst="straightConnector1">
                <a:avLst/>
              </a:prstGeom>
              <a:noFill/>
              <a:ln w="28575">
                <a:solidFill>
                  <a:srgbClr val="FF0000"/>
                </a:solidFill>
                <a:round/>
              </a:ln>
              <a:extLst>
                <a:ext uri="{909E8E84-426E-40DD-AFC4-6F175D3DCCD1}">
                  <a14:hiddenFill xmlns:a14="http://schemas.microsoft.com/office/drawing/2010/main">
                    <a:noFill/>
                  </a14:hiddenFill>
                </a:ext>
              </a:extLst>
            </p:spPr>
          </p:cxnSp>
          <p:cxnSp>
            <p:nvCxnSpPr>
              <p:cNvPr id="80988" name="AutoShape 28"/>
              <p:cNvCxnSpPr>
                <a:cxnSpLocks noChangeShapeType="1"/>
              </p:cNvCxnSpPr>
              <p:nvPr/>
            </p:nvCxnSpPr>
            <p:spPr bwMode="auto">
              <a:xfrm>
                <a:off x="7260582" y="4848495"/>
                <a:ext cx="0" cy="566804"/>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0989" name="AutoShape 29"/>
              <p:cNvCxnSpPr>
                <a:cxnSpLocks noChangeShapeType="1"/>
              </p:cNvCxnSpPr>
              <p:nvPr/>
            </p:nvCxnSpPr>
            <p:spPr bwMode="auto">
              <a:xfrm>
                <a:off x="7260582" y="4848495"/>
                <a:ext cx="637290" cy="557136"/>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0990" name="AutoShape 30"/>
              <p:cNvCxnSpPr>
                <a:cxnSpLocks noChangeShapeType="1"/>
              </p:cNvCxnSpPr>
              <p:nvPr/>
            </p:nvCxnSpPr>
            <p:spPr bwMode="auto">
              <a:xfrm flipV="1">
                <a:off x="6055121" y="4848495"/>
                <a:ext cx="1842751" cy="566804"/>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sp>
            <p:nvSpPr>
              <p:cNvPr id="80991" name="Text Box 13"/>
              <p:cNvSpPr txBox="1">
                <a:spLocks noChangeArrowheads="1"/>
              </p:cNvSpPr>
              <p:nvPr/>
            </p:nvSpPr>
            <p:spPr bwMode="auto">
              <a:xfrm>
                <a:off x="7072330" y="4500570"/>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3</a:t>
                </a:r>
                <a:endParaRPr lang="zh-CN" altLang="zh-CN" sz="2000" b="1">
                  <a:latin typeface="Arial" panose="020B0604020202020204" pitchFamily="34" charset="0"/>
                </a:endParaRPr>
              </a:p>
            </p:txBody>
          </p:sp>
          <p:sp>
            <p:nvSpPr>
              <p:cNvPr id="80992" name="Text Box 13"/>
              <p:cNvSpPr txBox="1">
                <a:spLocks noChangeArrowheads="1"/>
              </p:cNvSpPr>
              <p:nvPr/>
            </p:nvSpPr>
            <p:spPr bwMode="auto">
              <a:xfrm>
                <a:off x="6518431" y="4500570"/>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80993" name="Text Box 13"/>
              <p:cNvSpPr txBox="1">
                <a:spLocks noChangeArrowheads="1"/>
              </p:cNvSpPr>
              <p:nvPr/>
            </p:nvSpPr>
            <p:spPr bwMode="auto">
              <a:xfrm>
                <a:off x="5786446" y="4500570"/>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1</a:t>
                </a:r>
                <a:endParaRPr lang="zh-CN" altLang="zh-CN" sz="2000" b="1">
                  <a:latin typeface="Arial" panose="020B0604020202020204" pitchFamily="34" charset="0"/>
                </a:endParaRPr>
              </a:p>
            </p:txBody>
          </p:sp>
          <p:sp>
            <p:nvSpPr>
              <p:cNvPr id="80994" name="Text Box 13"/>
              <p:cNvSpPr txBox="1">
                <a:spLocks noChangeArrowheads="1"/>
              </p:cNvSpPr>
              <p:nvPr/>
            </p:nvSpPr>
            <p:spPr bwMode="auto">
              <a:xfrm>
                <a:off x="7786710" y="5500702"/>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sp>
            <p:nvSpPr>
              <p:cNvPr id="80995" name="Text Box 13"/>
              <p:cNvSpPr txBox="1">
                <a:spLocks noChangeArrowheads="1"/>
              </p:cNvSpPr>
              <p:nvPr/>
            </p:nvSpPr>
            <p:spPr bwMode="auto">
              <a:xfrm>
                <a:off x="7072330" y="5500702"/>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3</a:t>
                </a:r>
                <a:endParaRPr lang="zh-CN" altLang="zh-CN" sz="2000" b="1">
                  <a:latin typeface="Arial" panose="020B0604020202020204" pitchFamily="34" charset="0"/>
                </a:endParaRPr>
              </a:p>
            </p:txBody>
          </p:sp>
          <p:sp>
            <p:nvSpPr>
              <p:cNvPr id="80996" name="Text Box 13"/>
              <p:cNvSpPr txBox="1">
                <a:spLocks noChangeArrowheads="1"/>
              </p:cNvSpPr>
              <p:nvPr/>
            </p:nvSpPr>
            <p:spPr bwMode="auto">
              <a:xfrm>
                <a:off x="6429388" y="5500702"/>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80997" name="Text Box 13"/>
              <p:cNvSpPr txBox="1">
                <a:spLocks noChangeArrowheads="1"/>
              </p:cNvSpPr>
              <p:nvPr/>
            </p:nvSpPr>
            <p:spPr bwMode="auto">
              <a:xfrm>
                <a:off x="5786446" y="5500702"/>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1</a:t>
                </a:r>
                <a:endParaRPr lang="zh-CN" altLang="zh-CN" sz="2000" b="1">
                  <a:latin typeface="Arial" panose="020B0604020202020204" pitchFamily="34" charset="0"/>
                </a:endParaRPr>
              </a:p>
            </p:txBody>
          </p:sp>
        </p:grpSp>
        <p:sp>
          <p:nvSpPr>
            <p:cNvPr id="80972" name="Text Box 33"/>
            <p:cNvSpPr txBox="1">
              <a:spLocks noChangeArrowheads="1"/>
            </p:cNvSpPr>
            <p:nvPr/>
          </p:nvSpPr>
          <p:spPr bwMode="auto">
            <a:xfrm>
              <a:off x="6000760" y="1571612"/>
              <a:ext cx="500066"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i="1">
                  <a:solidFill>
                    <a:srgbClr val="FF0000"/>
                  </a:solidFill>
                  <a:latin typeface="Times New Roman" panose="02020603050405020304" pitchFamily="18" charset="0"/>
                </a:rPr>
                <a:t>A</a:t>
              </a:r>
              <a:r>
                <a:rPr lang="en-US" altLang="zh-CN" sz="2000" b="1" baseline="-25000">
                  <a:solidFill>
                    <a:srgbClr val="FF0000"/>
                  </a:solidFill>
                  <a:latin typeface="Times New Roman" panose="02020603050405020304" pitchFamily="18" charset="0"/>
                </a:rPr>
                <a:t>2</a:t>
              </a:r>
              <a:endParaRPr lang="zh-CN" altLang="zh-CN" sz="2000" b="1">
                <a:solidFill>
                  <a:srgbClr val="FF0000"/>
                </a:solidFill>
                <a:latin typeface="Arial" panose="020B0604020202020204" pitchFamily="34" charset="0"/>
              </a:endParaRPr>
            </a:p>
          </p:txBody>
        </p:sp>
      </p:grpSp>
      <p:grpSp>
        <p:nvGrpSpPr>
          <p:cNvPr id="7" name="组合 278"/>
          <p:cNvGrpSpPr/>
          <p:nvPr/>
        </p:nvGrpSpPr>
        <p:grpSpPr bwMode="auto">
          <a:xfrm>
            <a:off x="1381125" y="3849688"/>
            <a:ext cx="2946400" cy="1587500"/>
            <a:chOff x="1428728" y="3429013"/>
            <a:chExt cx="2714637" cy="1357307"/>
          </a:xfrm>
        </p:grpSpPr>
        <p:sp>
          <p:nvSpPr>
            <p:cNvPr id="80935" name="Text Box 33"/>
            <p:cNvSpPr txBox="1">
              <a:spLocks noChangeArrowheads="1"/>
            </p:cNvSpPr>
            <p:nvPr/>
          </p:nvSpPr>
          <p:spPr bwMode="auto">
            <a:xfrm>
              <a:off x="3081320" y="4286283"/>
              <a:ext cx="347665"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a:solidFill>
                    <a:srgbClr val="FF0000"/>
                  </a:solidFill>
                  <a:latin typeface="Times New Roman" panose="02020603050405020304" pitchFamily="18" charset="0"/>
                </a:rPr>
                <a:t>0</a:t>
              </a:r>
              <a:endParaRPr lang="zh-CN" altLang="zh-CN" sz="2000" b="1">
                <a:solidFill>
                  <a:srgbClr val="FF0000"/>
                </a:solidFill>
                <a:latin typeface="Arial" panose="020B0604020202020204" pitchFamily="34" charset="0"/>
              </a:endParaRPr>
            </a:p>
          </p:txBody>
        </p:sp>
        <p:sp>
          <p:nvSpPr>
            <p:cNvPr id="80936" name="Text Box 33"/>
            <p:cNvSpPr txBox="1">
              <a:spLocks noChangeArrowheads="1"/>
            </p:cNvSpPr>
            <p:nvPr/>
          </p:nvSpPr>
          <p:spPr bwMode="auto">
            <a:xfrm>
              <a:off x="3795700" y="4286283"/>
              <a:ext cx="347665"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a:solidFill>
                    <a:srgbClr val="FF0000"/>
                  </a:solidFill>
                  <a:latin typeface="Times New Roman" panose="02020603050405020304" pitchFamily="18" charset="0"/>
                </a:rPr>
                <a:t>0</a:t>
              </a:r>
              <a:endParaRPr lang="zh-CN" altLang="zh-CN" sz="2000" b="1">
                <a:solidFill>
                  <a:srgbClr val="FF0000"/>
                </a:solidFill>
                <a:latin typeface="Arial" panose="020B0604020202020204" pitchFamily="34" charset="0"/>
              </a:endParaRPr>
            </a:p>
          </p:txBody>
        </p:sp>
        <p:grpSp>
          <p:nvGrpSpPr>
            <p:cNvPr id="80937" name="组合 38"/>
            <p:cNvGrpSpPr/>
            <p:nvPr/>
          </p:nvGrpSpPr>
          <p:grpSpPr bwMode="auto">
            <a:xfrm>
              <a:off x="1571604" y="3429013"/>
              <a:ext cx="2482853" cy="1357307"/>
              <a:chOff x="5786446" y="4500570"/>
              <a:chExt cx="2482725" cy="1357322"/>
            </a:xfrm>
          </p:grpSpPr>
          <p:sp>
            <p:nvSpPr>
              <p:cNvPr id="80943" name="Oval 6"/>
              <p:cNvSpPr>
                <a:spLocks noChangeArrowheads="1"/>
              </p:cNvSpPr>
              <p:nvPr/>
            </p:nvSpPr>
            <p:spPr bwMode="auto">
              <a:xfrm>
                <a:off x="5940381" y="4748186"/>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44" name="Oval 7"/>
              <p:cNvSpPr>
                <a:spLocks noChangeArrowheads="1"/>
              </p:cNvSpPr>
              <p:nvPr/>
            </p:nvSpPr>
            <p:spPr bwMode="auto">
              <a:xfrm>
                <a:off x="6614997" y="4748186"/>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45" name="Oval 8"/>
              <p:cNvSpPr>
                <a:spLocks noChangeArrowheads="1"/>
              </p:cNvSpPr>
              <p:nvPr/>
            </p:nvSpPr>
            <p:spPr bwMode="auto">
              <a:xfrm>
                <a:off x="7201138" y="4748186"/>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46" name="Oval 9"/>
              <p:cNvSpPr>
                <a:spLocks noChangeArrowheads="1"/>
              </p:cNvSpPr>
              <p:nvPr/>
            </p:nvSpPr>
            <p:spPr bwMode="auto">
              <a:xfrm>
                <a:off x="7886813" y="4748186"/>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47" name="Text Box 13"/>
              <p:cNvSpPr txBox="1">
                <a:spLocks noChangeArrowheads="1"/>
              </p:cNvSpPr>
              <p:nvPr/>
            </p:nvSpPr>
            <p:spPr bwMode="auto">
              <a:xfrm>
                <a:off x="7786710" y="4500570"/>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sp>
            <p:nvSpPr>
              <p:cNvPr id="80948" name="Oval 14"/>
              <p:cNvSpPr>
                <a:spLocks noChangeArrowheads="1"/>
              </p:cNvSpPr>
              <p:nvPr/>
            </p:nvSpPr>
            <p:spPr bwMode="auto">
              <a:xfrm>
                <a:off x="5951441" y="5386294"/>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49" name="Oval 15"/>
              <p:cNvSpPr>
                <a:spLocks noChangeArrowheads="1"/>
              </p:cNvSpPr>
              <p:nvPr/>
            </p:nvSpPr>
            <p:spPr bwMode="auto">
              <a:xfrm>
                <a:off x="6626056" y="5386294"/>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50" name="Oval 16"/>
              <p:cNvSpPr>
                <a:spLocks noChangeArrowheads="1"/>
              </p:cNvSpPr>
              <p:nvPr/>
            </p:nvSpPr>
            <p:spPr bwMode="auto">
              <a:xfrm>
                <a:off x="7212197" y="5386294"/>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51" name="Oval 17"/>
              <p:cNvSpPr>
                <a:spLocks noChangeArrowheads="1"/>
              </p:cNvSpPr>
              <p:nvPr/>
            </p:nvSpPr>
            <p:spPr bwMode="auto">
              <a:xfrm>
                <a:off x="7897872" y="5386294"/>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80952" name="AutoShape 22"/>
              <p:cNvCxnSpPr>
                <a:cxnSpLocks noChangeShapeType="1"/>
              </p:cNvCxnSpPr>
              <p:nvPr/>
            </p:nvCxnSpPr>
            <p:spPr bwMode="auto">
              <a:xfrm>
                <a:off x="6006737" y="4882334"/>
                <a:ext cx="0" cy="503960"/>
              </a:xfrm>
              <a:prstGeom prst="straightConnector1">
                <a:avLst/>
              </a:prstGeom>
              <a:noFill/>
              <a:ln w="6350">
                <a:solidFill>
                  <a:srgbClr val="FF0000"/>
                </a:solidFill>
                <a:prstDash val="dash"/>
                <a:round/>
              </a:ln>
              <a:extLst>
                <a:ext uri="{909E8E84-426E-40DD-AFC4-6F175D3DCCD1}">
                  <a14:hiddenFill xmlns:a14="http://schemas.microsoft.com/office/drawing/2010/main">
                    <a:noFill/>
                  </a14:hiddenFill>
                </a:ext>
              </a:extLst>
            </p:spPr>
          </p:cxnSp>
          <p:cxnSp>
            <p:nvCxnSpPr>
              <p:cNvPr id="80953" name="AutoShape 23"/>
              <p:cNvCxnSpPr>
                <a:cxnSpLocks noChangeShapeType="1"/>
              </p:cNvCxnSpPr>
              <p:nvPr/>
            </p:nvCxnSpPr>
            <p:spPr bwMode="auto">
              <a:xfrm>
                <a:off x="6006737" y="4848495"/>
                <a:ext cx="619319" cy="537799"/>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0954" name="AutoShape 24"/>
              <p:cNvCxnSpPr>
                <a:cxnSpLocks noChangeShapeType="1"/>
              </p:cNvCxnSpPr>
              <p:nvPr/>
            </p:nvCxnSpPr>
            <p:spPr bwMode="auto">
              <a:xfrm>
                <a:off x="6055121" y="4829158"/>
                <a:ext cx="1842751" cy="586141"/>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0955" name="AutoShape 25"/>
              <p:cNvCxnSpPr>
                <a:cxnSpLocks noChangeShapeType="1"/>
              </p:cNvCxnSpPr>
              <p:nvPr/>
            </p:nvCxnSpPr>
            <p:spPr bwMode="auto">
              <a:xfrm flipH="1">
                <a:off x="6006737" y="4848495"/>
                <a:ext cx="619319" cy="537799"/>
              </a:xfrm>
              <a:prstGeom prst="straightConnector1">
                <a:avLst/>
              </a:prstGeom>
              <a:noFill/>
              <a:ln w="6350">
                <a:solidFill>
                  <a:srgbClr val="000000"/>
                </a:solidFill>
                <a:prstDash val="dash"/>
                <a:round/>
              </a:ln>
              <a:extLst>
                <a:ext uri="{909E8E84-426E-40DD-AFC4-6F175D3DCCD1}">
                  <a14:hiddenFill xmlns:a14="http://schemas.microsoft.com/office/drawing/2010/main">
                    <a:noFill/>
                  </a14:hiddenFill>
                </a:ext>
              </a:extLst>
            </p:spPr>
          </p:cxnSp>
          <p:cxnSp>
            <p:nvCxnSpPr>
              <p:cNvPr id="80956" name="AutoShape 26"/>
              <p:cNvCxnSpPr>
                <a:cxnSpLocks noChangeShapeType="1"/>
              </p:cNvCxnSpPr>
              <p:nvPr/>
            </p:nvCxnSpPr>
            <p:spPr bwMode="auto">
              <a:xfrm>
                <a:off x="6006737" y="4829158"/>
                <a:ext cx="1238638" cy="566804"/>
              </a:xfrm>
              <a:prstGeom prst="straightConnector1">
                <a:avLst/>
              </a:prstGeom>
              <a:noFill/>
              <a:ln w="6350">
                <a:solidFill>
                  <a:srgbClr val="000000"/>
                </a:solidFill>
                <a:prstDash val="dash"/>
                <a:round/>
              </a:ln>
              <a:extLst>
                <a:ext uri="{909E8E84-426E-40DD-AFC4-6F175D3DCCD1}">
                  <a14:hiddenFill xmlns:a14="http://schemas.microsoft.com/office/drawing/2010/main">
                    <a:noFill/>
                  </a14:hiddenFill>
                </a:ext>
              </a:extLst>
            </p:spPr>
          </p:cxnSp>
          <p:cxnSp>
            <p:nvCxnSpPr>
              <p:cNvPr id="80957" name="AutoShape 27"/>
              <p:cNvCxnSpPr>
                <a:cxnSpLocks noChangeShapeType="1"/>
              </p:cNvCxnSpPr>
              <p:nvPr/>
            </p:nvCxnSpPr>
            <p:spPr bwMode="auto">
              <a:xfrm flipH="1">
                <a:off x="6729737" y="4848495"/>
                <a:ext cx="482461" cy="537799"/>
              </a:xfrm>
              <a:prstGeom prst="straightConnector1">
                <a:avLst/>
              </a:prstGeom>
              <a:noFill/>
              <a:ln w="6350">
                <a:solidFill>
                  <a:srgbClr val="FF0000"/>
                </a:solidFill>
                <a:round/>
              </a:ln>
              <a:extLst>
                <a:ext uri="{909E8E84-426E-40DD-AFC4-6F175D3DCCD1}">
                  <a14:hiddenFill xmlns:a14="http://schemas.microsoft.com/office/drawing/2010/main">
                    <a:noFill/>
                  </a14:hiddenFill>
                </a:ext>
              </a:extLst>
            </p:spPr>
          </p:cxnSp>
          <p:cxnSp>
            <p:nvCxnSpPr>
              <p:cNvPr id="80958" name="AutoShape 28"/>
              <p:cNvCxnSpPr>
                <a:cxnSpLocks noChangeShapeType="1"/>
              </p:cNvCxnSpPr>
              <p:nvPr/>
            </p:nvCxnSpPr>
            <p:spPr bwMode="auto">
              <a:xfrm>
                <a:off x="7260582" y="4848495"/>
                <a:ext cx="0" cy="566804"/>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0959" name="AutoShape 29"/>
              <p:cNvCxnSpPr>
                <a:cxnSpLocks noChangeShapeType="1"/>
              </p:cNvCxnSpPr>
              <p:nvPr/>
            </p:nvCxnSpPr>
            <p:spPr bwMode="auto">
              <a:xfrm>
                <a:off x="7260582" y="4848495"/>
                <a:ext cx="637290" cy="557136"/>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0960" name="AutoShape 30"/>
              <p:cNvCxnSpPr>
                <a:cxnSpLocks noChangeShapeType="1"/>
              </p:cNvCxnSpPr>
              <p:nvPr/>
            </p:nvCxnSpPr>
            <p:spPr bwMode="auto">
              <a:xfrm flipV="1">
                <a:off x="6055121" y="4848495"/>
                <a:ext cx="1842751" cy="566804"/>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sp>
            <p:nvSpPr>
              <p:cNvPr id="80961" name="Text Box 13"/>
              <p:cNvSpPr txBox="1">
                <a:spLocks noChangeArrowheads="1"/>
              </p:cNvSpPr>
              <p:nvPr/>
            </p:nvSpPr>
            <p:spPr bwMode="auto">
              <a:xfrm>
                <a:off x="7072330" y="4500570"/>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3</a:t>
                </a:r>
                <a:endParaRPr lang="zh-CN" altLang="zh-CN" sz="2000" b="1">
                  <a:latin typeface="Arial" panose="020B0604020202020204" pitchFamily="34" charset="0"/>
                </a:endParaRPr>
              </a:p>
            </p:txBody>
          </p:sp>
          <p:sp>
            <p:nvSpPr>
              <p:cNvPr id="80962" name="Text Box 13"/>
              <p:cNvSpPr txBox="1">
                <a:spLocks noChangeArrowheads="1"/>
              </p:cNvSpPr>
              <p:nvPr/>
            </p:nvSpPr>
            <p:spPr bwMode="auto">
              <a:xfrm>
                <a:off x="6518431" y="4500570"/>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80963" name="Text Box 13"/>
              <p:cNvSpPr txBox="1">
                <a:spLocks noChangeArrowheads="1"/>
              </p:cNvSpPr>
              <p:nvPr/>
            </p:nvSpPr>
            <p:spPr bwMode="auto">
              <a:xfrm>
                <a:off x="5786446" y="4500570"/>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1</a:t>
                </a:r>
                <a:endParaRPr lang="zh-CN" altLang="zh-CN" sz="2000" b="1">
                  <a:latin typeface="Arial" panose="020B0604020202020204" pitchFamily="34" charset="0"/>
                </a:endParaRPr>
              </a:p>
            </p:txBody>
          </p:sp>
          <p:sp>
            <p:nvSpPr>
              <p:cNvPr id="80964" name="Text Box 13"/>
              <p:cNvSpPr txBox="1">
                <a:spLocks noChangeArrowheads="1"/>
              </p:cNvSpPr>
              <p:nvPr/>
            </p:nvSpPr>
            <p:spPr bwMode="auto">
              <a:xfrm>
                <a:off x="7786710" y="5500702"/>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sp>
            <p:nvSpPr>
              <p:cNvPr id="80965" name="Text Box 13"/>
              <p:cNvSpPr txBox="1">
                <a:spLocks noChangeArrowheads="1"/>
              </p:cNvSpPr>
              <p:nvPr/>
            </p:nvSpPr>
            <p:spPr bwMode="auto">
              <a:xfrm>
                <a:off x="7072330" y="5500702"/>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3</a:t>
                </a:r>
                <a:endParaRPr lang="zh-CN" altLang="zh-CN" sz="2000" b="1">
                  <a:latin typeface="Arial" panose="020B0604020202020204" pitchFamily="34" charset="0"/>
                </a:endParaRPr>
              </a:p>
            </p:txBody>
          </p:sp>
          <p:sp>
            <p:nvSpPr>
              <p:cNvPr id="80966" name="Text Box 13"/>
              <p:cNvSpPr txBox="1">
                <a:spLocks noChangeArrowheads="1"/>
              </p:cNvSpPr>
              <p:nvPr/>
            </p:nvSpPr>
            <p:spPr bwMode="auto">
              <a:xfrm>
                <a:off x="6429388" y="5500702"/>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80967" name="Text Box 13"/>
              <p:cNvSpPr txBox="1">
                <a:spLocks noChangeArrowheads="1"/>
              </p:cNvSpPr>
              <p:nvPr/>
            </p:nvSpPr>
            <p:spPr bwMode="auto">
              <a:xfrm>
                <a:off x="5786446" y="5500702"/>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1</a:t>
                </a:r>
                <a:endParaRPr lang="zh-CN" altLang="zh-CN" sz="2000" b="1">
                  <a:latin typeface="Arial" panose="020B0604020202020204" pitchFamily="34" charset="0"/>
                </a:endParaRPr>
              </a:p>
            </p:txBody>
          </p:sp>
        </p:grpSp>
        <p:sp>
          <p:nvSpPr>
            <p:cNvPr id="80938" name="Text Box 33"/>
            <p:cNvSpPr txBox="1">
              <a:spLocks noChangeArrowheads="1"/>
            </p:cNvSpPr>
            <p:nvPr/>
          </p:nvSpPr>
          <p:spPr bwMode="auto">
            <a:xfrm>
              <a:off x="3071802" y="3643314"/>
              <a:ext cx="500066"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i="1">
                  <a:solidFill>
                    <a:srgbClr val="FF0000"/>
                  </a:solidFill>
                  <a:latin typeface="Times New Roman" panose="02020603050405020304" pitchFamily="18" charset="0"/>
                </a:rPr>
                <a:t>A</a:t>
              </a:r>
              <a:r>
                <a:rPr lang="en-US" altLang="zh-CN" sz="2000" b="1" baseline="-25000">
                  <a:solidFill>
                    <a:srgbClr val="FF0000"/>
                  </a:solidFill>
                  <a:latin typeface="Times New Roman" panose="02020603050405020304" pitchFamily="18" charset="0"/>
                </a:rPr>
                <a:t>3</a:t>
              </a:r>
              <a:endParaRPr lang="zh-CN" altLang="zh-CN" sz="2000" b="1">
                <a:solidFill>
                  <a:srgbClr val="FF0000"/>
                </a:solidFill>
                <a:latin typeface="Arial" panose="020B0604020202020204" pitchFamily="34" charset="0"/>
              </a:endParaRPr>
            </a:p>
          </p:txBody>
        </p:sp>
        <p:sp>
          <p:nvSpPr>
            <p:cNvPr id="80939" name="Text Box 33"/>
            <p:cNvSpPr txBox="1">
              <a:spLocks noChangeArrowheads="1"/>
            </p:cNvSpPr>
            <p:nvPr/>
          </p:nvSpPr>
          <p:spPr bwMode="auto">
            <a:xfrm>
              <a:off x="1428728" y="3714752"/>
              <a:ext cx="500066"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i="1">
                  <a:solidFill>
                    <a:srgbClr val="FF0000"/>
                  </a:solidFill>
                  <a:latin typeface="Times New Roman" panose="02020603050405020304" pitchFamily="18" charset="0"/>
                </a:rPr>
                <a:t>A</a:t>
              </a:r>
              <a:r>
                <a:rPr lang="en-US" altLang="zh-CN" sz="2000" b="1" baseline="-25000">
                  <a:solidFill>
                    <a:srgbClr val="FF0000"/>
                  </a:solidFill>
                  <a:latin typeface="Times New Roman" panose="02020603050405020304" pitchFamily="18" charset="0"/>
                </a:rPr>
                <a:t>3</a:t>
              </a:r>
              <a:endParaRPr lang="zh-CN" altLang="zh-CN" sz="2000" b="1">
                <a:solidFill>
                  <a:srgbClr val="FF0000"/>
                </a:solidFill>
                <a:latin typeface="Arial" panose="020B0604020202020204" pitchFamily="34" charset="0"/>
              </a:endParaRPr>
            </a:p>
          </p:txBody>
        </p:sp>
        <p:sp>
          <p:nvSpPr>
            <p:cNvPr id="80940" name="Text Box 33"/>
            <p:cNvSpPr txBox="1">
              <a:spLocks noChangeArrowheads="1"/>
            </p:cNvSpPr>
            <p:nvPr/>
          </p:nvSpPr>
          <p:spPr bwMode="auto">
            <a:xfrm>
              <a:off x="2500298" y="4286256"/>
              <a:ext cx="500066"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i="1">
                  <a:solidFill>
                    <a:srgbClr val="FF0000"/>
                  </a:solidFill>
                  <a:latin typeface="Times New Roman" panose="02020603050405020304" pitchFamily="18" charset="0"/>
                </a:rPr>
                <a:t>B</a:t>
              </a:r>
              <a:r>
                <a:rPr lang="en-US" altLang="zh-CN" sz="2000" b="1" baseline="-25000">
                  <a:solidFill>
                    <a:srgbClr val="FF0000"/>
                  </a:solidFill>
                  <a:latin typeface="Times New Roman" panose="02020603050405020304" pitchFamily="18" charset="0"/>
                </a:rPr>
                <a:t>3</a:t>
              </a:r>
              <a:endParaRPr lang="zh-CN" altLang="zh-CN" sz="2000" b="1">
                <a:solidFill>
                  <a:srgbClr val="FF0000"/>
                </a:solidFill>
                <a:latin typeface="Arial" panose="020B0604020202020204" pitchFamily="34" charset="0"/>
              </a:endParaRPr>
            </a:p>
          </p:txBody>
        </p:sp>
        <p:sp>
          <p:nvSpPr>
            <p:cNvPr id="80941" name="Text Box 33"/>
            <p:cNvSpPr txBox="1">
              <a:spLocks noChangeArrowheads="1"/>
            </p:cNvSpPr>
            <p:nvPr/>
          </p:nvSpPr>
          <p:spPr bwMode="auto">
            <a:xfrm>
              <a:off x="1428728" y="4143380"/>
              <a:ext cx="500066"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i="1">
                  <a:solidFill>
                    <a:srgbClr val="FF0000"/>
                  </a:solidFill>
                  <a:latin typeface="Times New Roman" panose="02020603050405020304" pitchFamily="18" charset="0"/>
                </a:rPr>
                <a:t>B</a:t>
              </a:r>
              <a:r>
                <a:rPr lang="en-US" altLang="zh-CN" sz="2000" b="1" baseline="-25000">
                  <a:solidFill>
                    <a:srgbClr val="FF0000"/>
                  </a:solidFill>
                  <a:latin typeface="Times New Roman" panose="02020603050405020304" pitchFamily="18" charset="0"/>
                </a:rPr>
                <a:t>1</a:t>
              </a:r>
              <a:endParaRPr lang="zh-CN" altLang="zh-CN" sz="2000" b="1">
                <a:solidFill>
                  <a:srgbClr val="FF0000"/>
                </a:solidFill>
                <a:latin typeface="Arial" panose="020B0604020202020204" pitchFamily="34" charset="0"/>
              </a:endParaRPr>
            </a:p>
          </p:txBody>
        </p:sp>
        <p:sp>
          <p:nvSpPr>
            <p:cNvPr id="80942" name="Text Box 33"/>
            <p:cNvSpPr txBox="1">
              <a:spLocks noChangeArrowheads="1"/>
            </p:cNvSpPr>
            <p:nvPr/>
          </p:nvSpPr>
          <p:spPr bwMode="auto">
            <a:xfrm>
              <a:off x="2357422" y="3714752"/>
              <a:ext cx="500066"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i="1">
                  <a:solidFill>
                    <a:srgbClr val="FF0000"/>
                  </a:solidFill>
                  <a:latin typeface="Times New Roman" panose="02020603050405020304" pitchFamily="18" charset="0"/>
                </a:rPr>
                <a:t>A</a:t>
              </a:r>
              <a:r>
                <a:rPr lang="en-US" altLang="zh-CN" sz="2000" b="1" baseline="-25000">
                  <a:solidFill>
                    <a:srgbClr val="FF0000"/>
                  </a:solidFill>
                  <a:latin typeface="Times New Roman" panose="02020603050405020304" pitchFamily="18" charset="0"/>
                </a:rPr>
                <a:t>1</a:t>
              </a:r>
              <a:endParaRPr lang="zh-CN" altLang="zh-CN" sz="2000" b="1">
                <a:solidFill>
                  <a:srgbClr val="FF0000"/>
                </a:solidFill>
                <a:latin typeface="Arial" panose="020B0604020202020204" pitchFamily="34" charset="0"/>
              </a:endParaRPr>
            </a:p>
          </p:txBody>
        </p:sp>
      </p:grpSp>
      <p:grpSp>
        <p:nvGrpSpPr>
          <p:cNvPr id="9" name="组合 313"/>
          <p:cNvGrpSpPr/>
          <p:nvPr/>
        </p:nvGrpSpPr>
        <p:grpSpPr bwMode="auto">
          <a:xfrm>
            <a:off x="4781550" y="3835400"/>
            <a:ext cx="3025775" cy="1581150"/>
            <a:chOff x="4857759" y="3428998"/>
            <a:chExt cx="2714637" cy="1357307"/>
          </a:xfrm>
        </p:grpSpPr>
        <p:sp>
          <p:nvSpPr>
            <p:cNvPr id="80904" name="Text Box 33"/>
            <p:cNvSpPr txBox="1">
              <a:spLocks noChangeArrowheads="1"/>
            </p:cNvSpPr>
            <p:nvPr/>
          </p:nvSpPr>
          <p:spPr bwMode="auto">
            <a:xfrm>
              <a:off x="7224731" y="4286270"/>
              <a:ext cx="347665"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a:solidFill>
                    <a:srgbClr val="FF0000"/>
                  </a:solidFill>
                  <a:latin typeface="Times New Roman" panose="02020603050405020304" pitchFamily="18" charset="0"/>
                </a:rPr>
                <a:t>0</a:t>
              </a:r>
              <a:endParaRPr lang="zh-CN" altLang="zh-CN" sz="2000" b="1">
                <a:solidFill>
                  <a:srgbClr val="FF0000"/>
                </a:solidFill>
                <a:latin typeface="Arial" panose="020B0604020202020204" pitchFamily="34" charset="0"/>
              </a:endParaRPr>
            </a:p>
          </p:txBody>
        </p:sp>
        <p:grpSp>
          <p:nvGrpSpPr>
            <p:cNvPr id="80905" name="组合 38"/>
            <p:cNvGrpSpPr/>
            <p:nvPr/>
          </p:nvGrpSpPr>
          <p:grpSpPr bwMode="auto">
            <a:xfrm>
              <a:off x="5000635" y="3428998"/>
              <a:ext cx="2482853" cy="1357307"/>
              <a:chOff x="5786446" y="4500570"/>
              <a:chExt cx="2482725" cy="1357322"/>
            </a:xfrm>
          </p:grpSpPr>
          <p:sp>
            <p:nvSpPr>
              <p:cNvPr id="80910" name="Oval 6"/>
              <p:cNvSpPr>
                <a:spLocks noChangeArrowheads="1"/>
              </p:cNvSpPr>
              <p:nvPr/>
            </p:nvSpPr>
            <p:spPr bwMode="auto">
              <a:xfrm>
                <a:off x="5940381" y="4748186"/>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11" name="Oval 7"/>
              <p:cNvSpPr>
                <a:spLocks noChangeArrowheads="1"/>
              </p:cNvSpPr>
              <p:nvPr/>
            </p:nvSpPr>
            <p:spPr bwMode="auto">
              <a:xfrm>
                <a:off x="6614997" y="4748186"/>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12" name="Oval 8"/>
              <p:cNvSpPr>
                <a:spLocks noChangeArrowheads="1"/>
              </p:cNvSpPr>
              <p:nvPr/>
            </p:nvSpPr>
            <p:spPr bwMode="auto">
              <a:xfrm>
                <a:off x="7201138" y="4748186"/>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13" name="Oval 9"/>
              <p:cNvSpPr>
                <a:spLocks noChangeArrowheads="1"/>
              </p:cNvSpPr>
              <p:nvPr/>
            </p:nvSpPr>
            <p:spPr bwMode="auto">
              <a:xfrm>
                <a:off x="7886813" y="4748186"/>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14" name="Text Box 13"/>
              <p:cNvSpPr txBox="1">
                <a:spLocks noChangeArrowheads="1"/>
              </p:cNvSpPr>
              <p:nvPr/>
            </p:nvSpPr>
            <p:spPr bwMode="auto">
              <a:xfrm>
                <a:off x="7786710" y="4500570"/>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sp>
            <p:nvSpPr>
              <p:cNvPr id="80915" name="Oval 14"/>
              <p:cNvSpPr>
                <a:spLocks noChangeArrowheads="1"/>
              </p:cNvSpPr>
              <p:nvPr/>
            </p:nvSpPr>
            <p:spPr bwMode="auto">
              <a:xfrm>
                <a:off x="5951441" y="5386294"/>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16" name="Oval 15"/>
              <p:cNvSpPr>
                <a:spLocks noChangeArrowheads="1"/>
              </p:cNvSpPr>
              <p:nvPr/>
            </p:nvSpPr>
            <p:spPr bwMode="auto">
              <a:xfrm>
                <a:off x="6626056" y="5386294"/>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17" name="Oval 16"/>
              <p:cNvSpPr>
                <a:spLocks noChangeArrowheads="1"/>
              </p:cNvSpPr>
              <p:nvPr/>
            </p:nvSpPr>
            <p:spPr bwMode="auto">
              <a:xfrm>
                <a:off x="7212197" y="5386294"/>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0918" name="Oval 17"/>
              <p:cNvSpPr>
                <a:spLocks noChangeArrowheads="1"/>
              </p:cNvSpPr>
              <p:nvPr/>
            </p:nvSpPr>
            <p:spPr bwMode="auto">
              <a:xfrm>
                <a:off x="7897872" y="5386294"/>
                <a:ext cx="114740" cy="100309"/>
              </a:xfrm>
              <a:prstGeom prst="ellipse">
                <a:avLst/>
              </a:prstGeom>
              <a:solidFill>
                <a:srgbClr val="FFFFFF"/>
              </a:solidFill>
              <a:ln w="63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80919" name="AutoShape 22"/>
              <p:cNvCxnSpPr>
                <a:cxnSpLocks noChangeShapeType="1"/>
              </p:cNvCxnSpPr>
              <p:nvPr/>
            </p:nvCxnSpPr>
            <p:spPr bwMode="auto">
              <a:xfrm>
                <a:off x="6006737" y="4882334"/>
                <a:ext cx="0" cy="503960"/>
              </a:xfrm>
              <a:prstGeom prst="straightConnector1">
                <a:avLst/>
              </a:prstGeom>
              <a:noFill/>
              <a:ln w="6350">
                <a:solidFill>
                  <a:schemeClr val="tx1"/>
                </a:solidFill>
                <a:round/>
              </a:ln>
              <a:extLst>
                <a:ext uri="{909E8E84-426E-40DD-AFC4-6F175D3DCCD1}">
                  <a14:hiddenFill xmlns:a14="http://schemas.microsoft.com/office/drawing/2010/main">
                    <a:noFill/>
                  </a14:hiddenFill>
                </a:ext>
              </a:extLst>
            </p:spPr>
          </p:cxnSp>
          <p:cxnSp>
            <p:nvCxnSpPr>
              <p:cNvPr id="80920" name="AutoShape 23"/>
              <p:cNvCxnSpPr>
                <a:cxnSpLocks noChangeShapeType="1"/>
              </p:cNvCxnSpPr>
              <p:nvPr/>
            </p:nvCxnSpPr>
            <p:spPr bwMode="auto">
              <a:xfrm>
                <a:off x="6006737" y="4848495"/>
                <a:ext cx="619319" cy="537799"/>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0921" name="AutoShape 24"/>
              <p:cNvCxnSpPr>
                <a:cxnSpLocks noChangeShapeType="1"/>
              </p:cNvCxnSpPr>
              <p:nvPr/>
            </p:nvCxnSpPr>
            <p:spPr bwMode="auto">
              <a:xfrm>
                <a:off x="6055121" y="4829158"/>
                <a:ext cx="1842751" cy="586141"/>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0922" name="AutoShape 25"/>
              <p:cNvCxnSpPr>
                <a:cxnSpLocks noChangeShapeType="1"/>
              </p:cNvCxnSpPr>
              <p:nvPr/>
            </p:nvCxnSpPr>
            <p:spPr bwMode="auto">
              <a:xfrm flipH="1">
                <a:off x="6006737" y="4848495"/>
                <a:ext cx="619319" cy="537799"/>
              </a:xfrm>
              <a:prstGeom prst="straightConnector1">
                <a:avLst/>
              </a:prstGeom>
              <a:noFill/>
              <a:ln w="28575">
                <a:solidFill>
                  <a:srgbClr val="FF0000"/>
                </a:solidFill>
                <a:round/>
              </a:ln>
              <a:extLst>
                <a:ext uri="{909E8E84-426E-40DD-AFC4-6F175D3DCCD1}">
                  <a14:hiddenFill xmlns:a14="http://schemas.microsoft.com/office/drawing/2010/main">
                    <a:noFill/>
                  </a14:hiddenFill>
                </a:ext>
              </a:extLst>
            </p:spPr>
          </p:cxnSp>
          <p:cxnSp>
            <p:nvCxnSpPr>
              <p:cNvPr id="80923" name="AutoShape 26"/>
              <p:cNvCxnSpPr>
                <a:cxnSpLocks noChangeShapeType="1"/>
              </p:cNvCxnSpPr>
              <p:nvPr/>
            </p:nvCxnSpPr>
            <p:spPr bwMode="auto">
              <a:xfrm>
                <a:off x="6006737" y="4829158"/>
                <a:ext cx="1238638" cy="566804"/>
              </a:xfrm>
              <a:prstGeom prst="straightConnector1">
                <a:avLst/>
              </a:prstGeom>
              <a:noFill/>
              <a:ln w="28575">
                <a:solidFill>
                  <a:srgbClr val="FF0000"/>
                </a:solidFill>
                <a:round/>
              </a:ln>
              <a:extLst>
                <a:ext uri="{909E8E84-426E-40DD-AFC4-6F175D3DCCD1}">
                  <a14:hiddenFill xmlns:a14="http://schemas.microsoft.com/office/drawing/2010/main">
                    <a:noFill/>
                  </a14:hiddenFill>
                </a:ext>
              </a:extLst>
            </p:spPr>
          </p:cxnSp>
          <p:cxnSp>
            <p:nvCxnSpPr>
              <p:cNvPr id="80924" name="AutoShape 27"/>
              <p:cNvCxnSpPr>
                <a:cxnSpLocks noChangeShapeType="1"/>
              </p:cNvCxnSpPr>
              <p:nvPr/>
            </p:nvCxnSpPr>
            <p:spPr bwMode="auto">
              <a:xfrm flipH="1">
                <a:off x="6729737" y="4848495"/>
                <a:ext cx="482461" cy="537799"/>
              </a:xfrm>
              <a:prstGeom prst="straightConnector1">
                <a:avLst/>
              </a:prstGeom>
              <a:noFill/>
              <a:ln w="28575">
                <a:solidFill>
                  <a:srgbClr val="FF0000"/>
                </a:solidFill>
                <a:round/>
              </a:ln>
              <a:extLst>
                <a:ext uri="{909E8E84-426E-40DD-AFC4-6F175D3DCCD1}">
                  <a14:hiddenFill xmlns:a14="http://schemas.microsoft.com/office/drawing/2010/main">
                    <a:noFill/>
                  </a14:hiddenFill>
                </a:ext>
              </a:extLst>
            </p:spPr>
          </p:cxnSp>
          <p:cxnSp>
            <p:nvCxnSpPr>
              <p:cNvPr id="80925" name="AutoShape 28"/>
              <p:cNvCxnSpPr>
                <a:cxnSpLocks noChangeShapeType="1"/>
              </p:cNvCxnSpPr>
              <p:nvPr/>
            </p:nvCxnSpPr>
            <p:spPr bwMode="auto">
              <a:xfrm>
                <a:off x="7260582" y="4848495"/>
                <a:ext cx="0" cy="566804"/>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0926" name="AutoShape 29"/>
              <p:cNvCxnSpPr>
                <a:cxnSpLocks noChangeShapeType="1"/>
              </p:cNvCxnSpPr>
              <p:nvPr/>
            </p:nvCxnSpPr>
            <p:spPr bwMode="auto">
              <a:xfrm>
                <a:off x="7260582" y="4848495"/>
                <a:ext cx="637290" cy="557136"/>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cxnSp>
            <p:nvCxnSpPr>
              <p:cNvPr id="80927" name="AutoShape 30"/>
              <p:cNvCxnSpPr>
                <a:cxnSpLocks noChangeShapeType="1"/>
              </p:cNvCxnSpPr>
              <p:nvPr/>
            </p:nvCxnSpPr>
            <p:spPr bwMode="auto">
              <a:xfrm flipV="1">
                <a:off x="6055121" y="4848495"/>
                <a:ext cx="1842751" cy="566804"/>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sp>
            <p:nvSpPr>
              <p:cNvPr id="80928" name="Text Box 13"/>
              <p:cNvSpPr txBox="1">
                <a:spLocks noChangeArrowheads="1"/>
              </p:cNvSpPr>
              <p:nvPr/>
            </p:nvSpPr>
            <p:spPr bwMode="auto">
              <a:xfrm>
                <a:off x="7072330" y="4500570"/>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3</a:t>
                </a:r>
                <a:endParaRPr lang="zh-CN" altLang="zh-CN" sz="2000" b="1">
                  <a:latin typeface="Arial" panose="020B0604020202020204" pitchFamily="34" charset="0"/>
                </a:endParaRPr>
              </a:p>
            </p:txBody>
          </p:sp>
          <p:sp>
            <p:nvSpPr>
              <p:cNvPr id="80929" name="Text Box 13"/>
              <p:cNvSpPr txBox="1">
                <a:spLocks noChangeArrowheads="1"/>
              </p:cNvSpPr>
              <p:nvPr/>
            </p:nvSpPr>
            <p:spPr bwMode="auto">
              <a:xfrm>
                <a:off x="6518431" y="4500570"/>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80930" name="Text Box 13"/>
              <p:cNvSpPr txBox="1">
                <a:spLocks noChangeArrowheads="1"/>
              </p:cNvSpPr>
              <p:nvPr/>
            </p:nvSpPr>
            <p:spPr bwMode="auto">
              <a:xfrm>
                <a:off x="5786446" y="4500570"/>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B</a:t>
                </a:r>
                <a:r>
                  <a:rPr lang="en-US" altLang="zh-CN" sz="2000" b="1" baseline="-25000">
                    <a:latin typeface="Times New Roman" panose="02020603050405020304" pitchFamily="18" charset="0"/>
                  </a:rPr>
                  <a:t>1</a:t>
                </a:r>
                <a:endParaRPr lang="zh-CN" altLang="zh-CN" sz="2000" b="1">
                  <a:latin typeface="Arial" panose="020B0604020202020204" pitchFamily="34" charset="0"/>
                </a:endParaRPr>
              </a:p>
            </p:txBody>
          </p:sp>
          <p:sp>
            <p:nvSpPr>
              <p:cNvPr id="80931" name="Text Box 13"/>
              <p:cNvSpPr txBox="1">
                <a:spLocks noChangeArrowheads="1"/>
              </p:cNvSpPr>
              <p:nvPr/>
            </p:nvSpPr>
            <p:spPr bwMode="auto">
              <a:xfrm>
                <a:off x="7786710" y="5500702"/>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sp>
            <p:nvSpPr>
              <p:cNvPr id="80932" name="Text Box 13"/>
              <p:cNvSpPr txBox="1">
                <a:spLocks noChangeArrowheads="1"/>
              </p:cNvSpPr>
              <p:nvPr/>
            </p:nvSpPr>
            <p:spPr bwMode="auto">
              <a:xfrm>
                <a:off x="7072330" y="5500702"/>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3</a:t>
                </a:r>
                <a:endParaRPr lang="zh-CN" altLang="zh-CN" sz="2000" b="1">
                  <a:latin typeface="Arial" panose="020B0604020202020204" pitchFamily="34" charset="0"/>
                </a:endParaRPr>
              </a:p>
            </p:txBody>
          </p:sp>
          <p:sp>
            <p:nvSpPr>
              <p:cNvPr id="80933" name="Text Box 13"/>
              <p:cNvSpPr txBox="1">
                <a:spLocks noChangeArrowheads="1"/>
              </p:cNvSpPr>
              <p:nvPr/>
            </p:nvSpPr>
            <p:spPr bwMode="auto">
              <a:xfrm>
                <a:off x="6429388" y="5500702"/>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80934" name="Text Box 13"/>
              <p:cNvSpPr txBox="1">
                <a:spLocks noChangeArrowheads="1"/>
              </p:cNvSpPr>
              <p:nvPr/>
            </p:nvSpPr>
            <p:spPr bwMode="auto">
              <a:xfrm>
                <a:off x="5786446" y="5500702"/>
                <a:ext cx="482461"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72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1</a:t>
                </a:r>
                <a:endParaRPr lang="zh-CN" altLang="zh-CN" sz="2000" b="1">
                  <a:latin typeface="Arial" panose="020B0604020202020204" pitchFamily="34" charset="0"/>
                </a:endParaRPr>
              </a:p>
            </p:txBody>
          </p:sp>
        </p:grpSp>
        <p:sp>
          <p:nvSpPr>
            <p:cNvPr id="80906" name="Text Box 33"/>
            <p:cNvSpPr txBox="1">
              <a:spLocks noChangeArrowheads="1"/>
            </p:cNvSpPr>
            <p:nvPr/>
          </p:nvSpPr>
          <p:spPr bwMode="auto">
            <a:xfrm>
              <a:off x="6500833" y="3643301"/>
              <a:ext cx="500066"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i="1">
                  <a:solidFill>
                    <a:srgbClr val="FF0000"/>
                  </a:solidFill>
                  <a:latin typeface="Times New Roman" panose="02020603050405020304" pitchFamily="18" charset="0"/>
                </a:rPr>
                <a:t>A</a:t>
              </a:r>
              <a:r>
                <a:rPr lang="en-US" altLang="zh-CN" sz="2000" b="1" baseline="-25000">
                  <a:solidFill>
                    <a:srgbClr val="FF0000"/>
                  </a:solidFill>
                  <a:latin typeface="Times New Roman" panose="02020603050405020304" pitchFamily="18" charset="0"/>
                </a:rPr>
                <a:t>4</a:t>
              </a:r>
              <a:endParaRPr lang="zh-CN" altLang="zh-CN" sz="2000" b="1">
                <a:solidFill>
                  <a:srgbClr val="FF0000"/>
                </a:solidFill>
                <a:latin typeface="Arial" panose="020B0604020202020204" pitchFamily="34" charset="0"/>
              </a:endParaRPr>
            </a:p>
          </p:txBody>
        </p:sp>
        <p:sp>
          <p:nvSpPr>
            <p:cNvPr id="80907" name="Text Box 33"/>
            <p:cNvSpPr txBox="1">
              <a:spLocks noChangeArrowheads="1"/>
            </p:cNvSpPr>
            <p:nvPr/>
          </p:nvSpPr>
          <p:spPr bwMode="auto">
            <a:xfrm>
              <a:off x="4857759" y="3714739"/>
              <a:ext cx="500066"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i="1">
                  <a:solidFill>
                    <a:srgbClr val="FF0000"/>
                  </a:solidFill>
                  <a:latin typeface="Times New Roman" panose="02020603050405020304" pitchFamily="18" charset="0"/>
                </a:rPr>
                <a:t>A</a:t>
              </a:r>
              <a:r>
                <a:rPr lang="en-US" altLang="zh-CN" sz="2000" b="1" baseline="-25000">
                  <a:solidFill>
                    <a:srgbClr val="FF0000"/>
                  </a:solidFill>
                  <a:latin typeface="Times New Roman" panose="02020603050405020304" pitchFamily="18" charset="0"/>
                </a:rPr>
                <a:t>4</a:t>
              </a:r>
              <a:endParaRPr lang="zh-CN" altLang="zh-CN" sz="2000" b="1">
                <a:solidFill>
                  <a:srgbClr val="FF0000"/>
                </a:solidFill>
                <a:latin typeface="Arial" panose="020B0604020202020204" pitchFamily="34" charset="0"/>
              </a:endParaRPr>
            </a:p>
          </p:txBody>
        </p:sp>
        <p:sp>
          <p:nvSpPr>
            <p:cNvPr id="80908" name="Text Box 33"/>
            <p:cNvSpPr txBox="1">
              <a:spLocks noChangeArrowheads="1"/>
            </p:cNvSpPr>
            <p:nvPr/>
          </p:nvSpPr>
          <p:spPr bwMode="auto">
            <a:xfrm>
              <a:off x="5929329" y="4286243"/>
              <a:ext cx="500066"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i="1">
                  <a:solidFill>
                    <a:srgbClr val="FF0000"/>
                  </a:solidFill>
                  <a:latin typeface="Times New Roman" panose="02020603050405020304" pitchFamily="18" charset="0"/>
                </a:rPr>
                <a:t>B</a:t>
              </a:r>
              <a:r>
                <a:rPr lang="en-US" altLang="zh-CN" sz="2000" b="1" baseline="-25000">
                  <a:solidFill>
                    <a:srgbClr val="FF0000"/>
                  </a:solidFill>
                  <a:latin typeface="Times New Roman" panose="02020603050405020304" pitchFamily="18" charset="0"/>
                </a:rPr>
                <a:t>3</a:t>
              </a:r>
              <a:endParaRPr lang="zh-CN" altLang="zh-CN" sz="2000" b="1">
                <a:solidFill>
                  <a:srgbClr val="FF0000"/>
                </a:solidFill>
                <a:latin typeface="Arial" panose="020B0604020202020204" pitchFamily="34" charset="0"/>
              </a:endParaRPr>
            </a:p>
          </p:txBody>
        </p:sp>
        <p:sp>
          <p:nvSpPr>
            <p:cNvPr id="80909" name="Text Box 33"/>
            <p:cNvSpPr txBox="1">
              <a:spLocks noChangeArrowheads="1"/>
            </p:cNvSpPr>
            <p:nvPr/>
          </p:nvSpPr>
          <p:spPr bwMode="auto">
            <a:xfrm>
              <a:off x="6500826" y="4286256"/>
              <a:ext cx="500066"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56000"/>
                </a:lnSpc>
                <a:spcBef>
                  <a:spcPct val="0"/>
                </a:spcBef>
                <a:buFontTx/>
                <a:buNone/>
              </a:pPr>
              <a:r>
                <a:rPr lang="en-US" altLang="zh-CN" sz="2000" b="1" i="1">
                  <a:solidFill>
                    <a:srgbClr val="FF0000"/>
                  </a:solidFill>
                  <a:latin typeface="Times New Roman" panose="02020603050405020304" pitchFamily="18" charset="0"/>
                </a:rPr>
                <a:t>B</a:t>
              </a:r>
              <a:r>
                <a:rPr lang="en-US" altLang="zh-CN" sz="2000" b="1" baseline="-25000">
                  <a:solidFill>
                    <a:srgbClr val="FF0000"/>
                  </a:solidFill>
                  <a:latin typeface="Times New Roman" panose="02020603050405020304" pitchFamily="18" charset="0"/>
                </a:rPr>
                <a:t>1</a:t>
              </a:r>
              <a:endParaRPr lang="zh-CN" altLang="zh-CN" sz="2000" b="1">
                <a:solidFill>
                  <a:srgbClr val="FF0000"/>
                </a:solidFill>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a:xfrm>
            <a:off x="2051548" y="188474"/>
            <a:ext cx="4483602" cy="511175"/>
          </a:xfrm>
        </p:spPr>
        <p:txBody>
          <a:bodyPr/>
          <a:lstStyle/>
          <a:p>
            <a:r>
              <a:rPr lang="zh-CN" altLang="en-US" sz="4000" b="1" dirty="0" smtClean="0">
                <a:solidFill>
                  <a:srgbClr val="C00000"/>
                </a:solidFill>
                <a:latin typeface="Times New Roman" panose="02020603050405020304" pitchFamily="18" charset="0"/>
                <a:cs typeface="Times New Roman" panose="02020603050405020304" pitchFamily="18" charset="0"/>
              </a:rPr>
              <a:t>匈牙利算法</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
        <p:nvSpPr>
          <p:cNvPr id="8089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0F2251DB-4A0E-41C6-ABA5-1721818806A4}" type="slidenum">
              <a:rPr lang="zh-CN" altLang="en-US" sz="1200" smtClean="0">
                <a:solidFill>
                  <a:srgbClr val="898989"/>
                </a:solidFill>
              </a:rPr>
            </a:fld>
            <a:endParaRPr lang="zh-CN" altLang="en-US" sz="1200" smtClean="0">
              <a:solidFill>
                <a:srgbClr val="898989"/>
              </a:solidFill>
            </a:endParaRPr>
          </a:p>
        </p:txBody>
      </p:sp>
      <p:sp>
        <p:nvSpPr>
          <p:cNvPr id="2" name="文本框 1"/>
          <p:cNvSpPr txBox="1"/>
          <p:nvPr/>
        </p:nvSpPr>
        <p:spPr>
          <a:xfrm>
            <a:off x="539750" y="692785"/>
            <a:ext cx="8147050" cy="3784600"/>
          </a:xfrm>
          <a:prstGeom prst="rect">
            <a:avLst/>
          </a:prstGeom>
          <a:noFill/>
        </p:spPr>
        <p:txBody>
          <a:bodyPr wrap="square" rtlCol="0">
            <a:spAutoFit/>
          </a:bodyPr>
          <a:p>
            <a:r>
              <a:rPr lang="zh-CN" altLang="en-US" sz="2400" b="1"/>
              <a:t>首选说明两个关于匈牙利算法的概念，交替路和增广路。</a:t>
            </a:r>
            <a:endParaRPr lang="zh-CN" altLang="en-US" sz="2400" b="1"/>
          </a:p>
          <a:p>
            <a:r>
              <a:rPr lang="en-US" altLang="zh-CN" sz="2400" b="1"/>
              <a:t>      </a:t>
            </a:r>
            <a:r>
              <a:rPr lang="zh-CN" altLang="en-US" sz="2400" b="1"/>
              <a:t>交替路：从一个未匹配点出发，依次经过非匹配边、匹配边、非匹配边…形成的路径叫交替路。</a:t>
            </a:r>
            <a:endParaRPr lang="zh-CN" altLang="en-US" sz="2400" b="1"/>
          </a:p>
          <a:p>
            <a:r>
              <a:rPr lang="en-US" altLang="zh-CN" sz="2400" b="1"/>
              <a:t>       </a:t>
            </a:r>
            <a:r>
              <a:rPr lang="zh-CN" altLang="en-US" sz="2400" b="1"/>
              <a:t>增广路：从一个未匹配点出发，走交替路，如果途径另一个未匹配点（出发的点不算），则这条交替路称为增广路（agumenting path）。对于图（2），从顶点2出发，经过顶点5，再到顶点1，再到顶点7就是一条增广路，如下图（4）所示，在这条增广路中我们把匹配点和匹配边都表示为红色，非匹配点和非匹配边表示为黑色：</a:t>
            </a:r>
            <a:endParaRPr lang="zh-CN" altLang="en-US" sz="2400" b="1"/>
          </a:p>
          <a:p>
            <a:endParaRPr lang="zh-CN" altLang="en-US" sz="2400" b="1"/>
          </a:p>
        </p:txBody>
      </p:sp>
      <p:pic>
        <p:nvPicPr>
          <p:cNvPr id="3" name="图片 2" descr="280]`9`K9SUEXFYWKFCLK@I"/>
          <p:cNvPicPr>
            <a:picLocks noChangeAspect="1"/>
          </p:cNvPicPr>
          <p:nvPr>
            <p:custDataLst>
              <p:tags r:id="rId1"/>
            </p:custDataLst>
          </p:nvPr>
        </p:nvPicPr>
        <p:blipFill>
          <a:blip r:embed="rId2"/>
          <a:stretch>
            <a:fillRect/>
          </a:stretch>
        </p:blipFill>
        <p:spPr>
          <a:xfrm>
            <a:off x="5076190" y="4446905"/>
            <a:ext cx="3559810" cy="1310005"/>
          </a:xfrm>
          <a:prstGeom prst="rect">
            <a:avLst/>
          </a:prstGeom>
        </p:spPr>
      </p:pic>
      <p:pic>
        <p:nvPicPr>
          <p:cNvPr id="4" name="图片 3" descr="1U5}T[C$M`J%UW@G6QK`ZXN"/>
          <p:cNvPicPr>
            <a:picLocks noChangeAspect="1"/>
          </p:cNvPicPr>
          <p:nvPr/>
        </p:nvPicPr>
        <p:blipFill>
          <a:blip r:embed="rId3"/>
          <a:stretch>
            <a:fillRect/>
          </a:stretch>
        </p:blipFill>
        <p:spPr>
          <a:xfrm>
            <a:off x="2725420" y="4024630"/>
            <a:ext cx="1815465" cy="2767330"/>
          </a:xfrm>
          <a:prstGeom prst="rect">
            <a:avLst/>
          </a:prstGeom>
        </p:spPr>
      </p:pic>
      <p:pic>
        <p:nvPicPr>
          <p:cNvPr id="5" name="图片 4" descr="R%QDZV3F$~2@XLCKOKJ}U5R"/>
          <p:cNvPicPr>
            <a:picLocks noChangeAspect="1"/>
          </p:cNvPicPr>
          <p:nvPr/>
        </p:nvPicPr>
        <p:blipFill>
          <a:blip r:embed="rId4"/>
          <a:stretch>
            <a:fillRect/>
          </a:stretch>
        </p:blipFill>
        <p:spPr>
          <a:xfrm>
            <a:off x="622935" y="4149090"/>
            <a:ext cx="1685925" cy="2525395"/>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pPr>
              <a:defRPr/>
            </a:pPr>
            <a:fld id="{2F36D17E-3F0D-47F8-AF13-362620D293F6}" type="slidenum">
              <a:rPr lang="zh-CN" altLang="en-US"/>
            </a:fld>
            <a:endParaRPr lang="zh-CN" altLang="en-US"/>
          </a:p>
        </p:txBody>
      </p:sp>
      <p:sp>
        <p:nvSpPr>
          <p:cNvPr id="5" name="文本框 4"/>
          <p:cNvSpPr txBox="1"/>
          <p:nvPr/>
        </p:nvSpPr>
        <p:spPr>
          <a:xfrm>
            <a:off x="539750" y="908685"/>
            <a:ext cx="8292465" cy="5631180"/>
          </a:xfrm>
          <a:prstGeom prst="rect">
            <a:avLst/>
          </a:prstGeom>
          <a:noFill/>
        </p:spPr>
        <p:txBody>
          <a:bodyPr wrap="square" rtlCol="0">
            <a:spAutoFit/>
          </a:bodyPr>
          <a:p>
            <a:r>
              <a:rPr lang="zh-CN" altLang="en-US"/>
              <a:t>   </a:t>
            </a:r>
            <a:r>
              <a:rPr lang="en-US" altLang="zh-CN"/>
              <a:t>      </a:t>
            </a:r>
            <a:r>
              <a:rPr lang="zh-CN" altLang="en-US" sz="2400" b="1"/>
              <a:t>由增广路定义和图（4）可知，增广路有以下特性：（1）增广路的起点和终点必须是非匹配点；（2）增广路中非匹配边比匹配边多1。</a:t>
            </a:r>
            <a:endParaRPr lang="zh-CN" altLang="en-US" sz="2400" b="1"/>
          </a:p>
          <a:p>
            <a:r>
              <a:rPr lang="zh-CN" altLang="en-US" sz="2400" b="1"/>
              <a:t>    </a:t>
            </a:r>
            <a:r>
              <a:rPr lang="en-US" altLang="zh-CN" sz="2400" b="1"/>
              <a:t>   </a:t>
            </a:r>
            <a:r>
              <a:rPr lang="zh-CN" altLang="en-US" sz="2400" b="1"/>
              <a:t>匈牙利算法的核心就是在原始二分图中不停的找增广路，直到找不到为止，或二分图中一边的顶点遍历完。具体的实现思路有两种：DFS和BFS，即深度优先和广度优先，下面给出DFS的实现思路：</a:t>
            </a:r>
            <a:endParaRPr lang="zh-CN" altLang="en-US" sz="2400" b="1"/>
          </a:p>
          <a:p>
            <a:r>
              <a:rPr lang="en-US" altLang="zh-CN" sz="2400" b="1"/>
              <a:t>     </a:t>
            </a:r>
            <a:r>
              <a:rPr lang="zh-CN" altLang="en-US" sz="2400" b="1"/>
              <a:t>（1）对于初始二分图，全部顶点为非匹配点，全部边为非匹配边，假设其分为的2个顶点集合分别为X和Y，则从X中第一个顶点开始，寻找Y中与该顶点连接的第一个顶点，由于这个连接顶点肯定是非匹配点，所以这条增广路结束，将这两个顶点和边归为匹配点和匹配边；</a:t>
            </a:r>
            <a:endParaRPr lang="zh-CN" altLang="en-US" sz="2400" b="1"/>
          </a:p>
          <a:p>
            <a:r>
              <a:rPr lang="zh-CN" altLang="en-US" sz="2400" b="1"/>
              <a:t>    （2）从X的第二个顶点接着开始找增广路，具体为，在Y中找该顶点的连接顶点，对于该连接顶点，其有两种状态</a:t>
            </a:r>
            <a:endParaRPr lang="zh-CN" altLang="en-US" sz="2400" b="1"/>
          </a:p>
          <a:p>
            <a:endParaRPr lang="zh-CN" altLang="en-US" sz="2400" b="1"/>
          </a:p>
        </p:txBody>
      </p:sp>
      <p:sp>
        <p:nvSpPr>
          <p:cNvPr id="80898" name="标题 1"/>
          <p:cNvSpPr>
            <a:spLocks noGrp="1"/>
          </p:cNvSpPr>
          <p:nvPr>
            <p:ph type="title"/>
          </p:nvPr>
        </p:nvSpPr>
        <p:spPr>
          <a:xfrm>
            <a:off x="2051548" y="188474"/>
            <a:ext cx="4483602" cy="511175"/>
          </a:xfrm>
        </p:spPr>
        <p:txBody>
          <a:bodyPr/>
          <a:p>
            <a:r>
              <a:rPr lang="zh-CN" altLang="en-US" sz="4000" b="1" dirty="0" smtClean="0">
                <a:solidFill>
                  <a:srgbClr val="C00000"/>
                </a:solidFill>
                <a:latin typeface="Times New Roman" panose="02020603050405020304" pitchFamily="18" charset="0"/>
                <a:cs typeface="Times New Roman" panose="02020603050405020304" pitchFamily="18" charset="0"/>
              </a:rPr>
              <a:t>匈牙利算法</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pPr>
              <a:defRPr/>
            </a:pPr>
            <a:fld id="{2F36D17E-3F0D-47F8-AF13-362620D293F6}" type="slidenum">
              <a:rPr lang="zh-CN" altLang="en-US"/>
            </a:fld>
            <a:endParaRPr lang="zh-CN" altLang="en-US"/>
          </a:p>
        </p:txBody>
      </p:sp>
      <p:sp>
        <p:nvSpPr>
          <p:cNvPr id="5" name="文本框 4"/>
          <p:cNvSpPr txBox="1"/>
          <p:nvPr/>
        </p:nvSpPr>
        <p:spPr>
          <a:xfrm>
            <a:off x="539750" y="908685"/>
            <a:ext cx="8292465" cy="5631180"/>
          </a:xfrm>
          <a:prstGeom prst="rect">
            <a:avLst/>
          </a:prstGeom>
          <a:noFill/>
        </p:spPr>
        <p:txBody>
          <a:bodyPr wrap="square" rtlCol="0">
            <a:spAutoFit/>
          </a:bodyPr>
          <a:p>
            <a:r>
              <a:rPr lang="en-US" sz="2400" b="1"/>
              <a:t>   </a:t>
            </a:r>
            <a:r>
              <a:rPr sz="2400" b="1"/>
              <a:t>（I）如果连接顶点是非匹配顶点，则同样这条增广路结束，将这两个顶点归为匹配点，其边归为匹配边；        </a:t>
            </a:r>
            <a:endParaRPr sz="2400" b="1"/>
          </a:p>
          <a:p>
            <a:r>
              <a:rPr lang="en-US" sz="2400" b="1"/>
              <a:t>   </a:t>
            </a:r>
            <a:r>
              <a:rPr sz="2400" b="1"/>
              <a:t>（II）如果连接顶点是匹配顶点，则开始走其交替路，走交替路同样有两种结果：</a:t>
            </a:r>
            <a:endParaRPr sz="2400" b="1"/>
          </a:p>
          <a:p>
            <a:r>
              <a:rPr lang="en-US" sz="2400" b="1"/>
              <a:t>    </a:t>
            </a:r>
            <a:r>
              <a:rPr sz="2400" b="1"/>
              <a:t>（a）如果在走交替路中遇到一个非匹配点，则这条增广路结束，结束之后，有一个很重要的操作，就是需要对这条增广路做“取反操作”，所谓增广路的“取反”操作，就是将这条增广路路径中的非匹配边变为匹配边，将匹配边变为非匹配边；</a:t>
            </a:r>
            <a:endParaRPr sz="2400" b="1"/>
          </a:p>
          <a:p>
            <a:r>
              <a:rPr lang="en-US" sz="2400" b="1"/>
              <a:t>     </a:t>
            </a:r>
            <a:r>
              <a:rPr sz="2400" b="1"/>
              <a:t>（b）如果在走交替路中没有遇到非匹配顶点，而且这条路径已经走完了，就从第二个顶点的下一个连接顶点再开始上述操作，直到找到一条增广路才结束。</a:t>
            </a:r>
            <a:endParaRPr sz="2400" b="1"/>
          </a:p>
          <a:p>
            <a:r>
              <a:rPr lang="en-US" sz="2400" b="1"/>
              <a:t>  </a:t>
            </a:r>
            <a:r>
              <a:rPr sz="2400" b="1"/>
              <a:t>（3）从X中下一个顶点继续第（2）操作，寻找增广路，直到没有找到增广路为止；</a:t>
            </a:r>
            <a:endParaRPr sz="2400" b="1"/>
          </a:p>
          <a:p>
            <a:endParaRPr lang="zh-CN" altLang="en-US" sz="2400" b="1"/>
          </a:p>
        </p:txBody>
      </p:sp>
      <p:sp>
        <p:nvSpPr>
          <p:cNvPr id="80898" name="标题 1"/>
          <p:cNvSpPr>
            <a:spLocks noGrp="1"/>
          </p:cNvSpPr>
          <p:nvPr>
            <p:ph type="title"/>
          </p:nvPr>
        </p:nvSpPr>
        <p:spPr>
          <a:xfrm>
            <a:off x="2051548" y="188474"/>
            <a:ext cx="4483602" cy="511175"/>
          </a:xfrm>
        </p:spPr>
        <p:txBody>
          <a:bodyPr/>
          <a:p>
            <a:r>
              <a:rPr lang="zh-CN" altLang="en-US" sz="4000" b="1" dirty="0" smtClean="0">
                <a:solidFill>
                  <a:srgbClr val="C00000"/>
                </a:solidFill>
                <a:latin typeface="Times New Roman" panose="02020603050405020304" pitchFamily="18" charset="0"/>
                <a:cs typeface="Times New Roman" panose="02020603050405020304" pitchFamily="18" charset="0"/>
              </a:rPr>
              <a:t>匈牙利算法</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pPr>
              <a:defRPr/>
            </a:pPr>
            <a:fld id="{2F36D17E-3F0D-47F8-AF13-362620D293F6}" type="slidenum">
              <a:rPr lang="zh-CN" altLang="en-US"/>
            </a:fld>
            <a:endParaRPr lang="zh-CN" altLang="en-US"/>
          </a:p>
        </p:txBody>
      </p:sp>
      <p:pic>
        <p:nvPicPr>
          <p:cNvPr id="5" name="图片 4" descr="N50T6JFBIJF4`8([ZY8706S"/>
          <p:cNvPicPr>
            <a:picLocks noChangeAspect="1"/>
          </p:cNvPicPr>
          <p:nvPr/>
        </p:nvPicPr>
        <p:blipFill>
          <a:blip r:embed="rId1"/>
          <a:stretch>
            <a:fillRect/>
          </a:stretch>
        </p:blipFill>
        <p:spPr>
          <a:xfrm>
            <a:off x="611505" y="2105660"/>
            <a:ext cx="7820660" cy="2646680"/>
          </a:xfrm>
          <a:prstGeom prst="rect">
            <a:avLst/>
          </a:prstGeom>
        </p:spPr>
      </p:pic>
      <p:sp>
        <p:nvSpPr>
          <p:cNvPr id="80898" name="标题 1"/>
          <p:cNvSpPr>
            <a:spLocks noGrp="1"/>
          </p:cNvSpPr>
          <p:nvPr>
            <p:ph type="title"/>
          </p:nvPr>
        </p:nvSpPr>
        <p:spPr>
          <a:xfrm>
            <a:off x="2051548" y="188474"/>
            <a:ext cx="4483602" cy="511175"/>
          </a:xfrm>
        </p:spPr>
        <p:txBody>
          <a:bodyPr/>
          <a:p>
            <a:r>
              <a:rPr lang="zh-CN" altLang="en-US" sz="4000" b="1" dirty="0" smtClean="0">
                <a:solidFill>
                  <a:srgbClr val="C00000"/>
                </a:solidFill>
                <a:latin typeface="Times New Roman" panose="02020603050405020304" pitchFamily="18" charset="0"/>
                <a:cs typeface="Times New Roman" panose="02020603050405020304" pitchFamily="18" charset="0"/>
              </a:rPr>
              <a:t>匈牙利算法</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
        <p:nvSpPr>
          <p:cNvPr id="6" name="文本框 5"/>
          <p:cNvSpPr txBox="1"/>
          <p:nvPr/>
        </p:nvSpPr>
        <p:spPr>
          <a:xfrm>
            <a:off x="758190" y="874395"/>
            <a:ext cx="7440295" cy="829945"/>
          </a:xfrm>
          <a:prstGeom prst="rect">
            <a:avLst/>
          </a:prstGeom>
          <a:noFill/>
        </p:spPr>
        <p:txBody>
          <a:bodyPr wrap="square" rtlCol="0">
            <a:spAutoFit/>
          </a:bodyPr>
          <a:p>
            <a:r>
              <a:rPr lang="zh-CN" altLang="en-US" sz="2400" b="1"/>
              <a:t>根据上述匈牙利算法的思路，下面给出找出图（1）的最大匹配图（3）的过程如下所示：</a:t>
            </a:r>
            <a:endParaRPr lang="zh-CN" altLang="en-US" sz="2400" b="1"/>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a:xfrm>
            <a:off x="457200" y="0"/>
            <a:ext cx="8229600" cy="122555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匈牙利算法的时间复杂度</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81923" name="内容占位符 2"/>
          <p:cNvSpPr>
            <a:spLocks noGrp="1"/>
          </p:cNvSpPr>
          <p:nvPr>
            <p:ph idx="1"/>
          </p:nvPr>
        </p:nvSpPr>
        <p:spPr>
          <a:xfrm>
            <a:off x="457200" y="1225550"/>
            <a:ext cx="8229600" cy="5113338"/>
          </a:xfrm>
        </p:spPr>
        <p:txBody>
          <a:bodyPr/>
          <a:lstStyle/>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定理</a:t>
            </a:r>
            <a:r>
              <a:rPr lang="en-US" altLang="zh-CN" sz="2400" b="1" dirty="0" smtClean="0">
                <a:solidFill>
                  <a:srgbClr val="C00000"/>
                </a:solidFill>
                <a:latin typeface="Times New Roman" panose="02020603050405020304" pitchFamily="18" charset="0"/>
                <a:cs typeface="Times New Roman" panose="02020603050405020304" pitchFamily="18" charset="0"/>
              </a:rPr>
              <a:t>7.9</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对二部图</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smtClean="0">
                <a:latin typeface="Times New Roman" panose="02020603050405020304" pitchFamily="18" charset="0"/>
                <a:cs typeface="Times New Roman" panose="02020603050405020304" pitchFamily="18" charset="0"/>
              </a:rPr>
              <a:t>A</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B</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&gt;, </a:t>
            </a:r>
            <a:r>
              <a:rPr lang="zh-CN" altLang="en-US" sz="2400" b="1" dirty="0" smtClean="0">
                <a:latin typeface="Times New Roman" panose="02020603050405020304" pitchFamily="18" charset="0"/>
                <a:cs typeface="Times New Roman" panose="02020603050405020304" pitchFamily="18" charset="0"/>
              </a:rPr>
              <a:t>匈牙利算法终止时</a:t>
            </a:r>
            <a:r>
              <a:rPr lang="en-US" altLang="zh-CN" sz="2400" b="1" i="1" dirty="0" smtClean="0">
                <a:latin typeface="Times New Roman" panose="02020603050405020304" pitchFamily="18" charset="0"/>
                <a:cs typeface="Times New Roman" panose="02020603050405020304" pitchFamily="18" charset="0"/>
              </a:rPr>
              <a:t>M</a:t>
            </a:r>
            <a:r>
              <a:rPr lang="zh-CN" altLang="en-US" sz="2400" b="1" dirty="0" smtClean="0">
                <a:latin typeface="Times New Roman" panose="02020603050405020304" pitchFamily="18" charset="0"/>
                <a:cs typeface="Times New Roman" panose="02020603050405020304" pitchFamily="18" charset="0"/>
              </a:rPr>
              <a:t>是</a:t>
            </a:r>
            <a:r>
              <a:rPr lang="en-US" altLang="zh-CN" sz="2400" b="1" i="1"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的</a:t>
            </a:r>
            <a:r>
              <a:rPr lang="zh-CN" altLang="en-US" sz="2400" b="1" dirty="0" smtClean="0">
                <a:latin typeface="Times New Roman" panose="02020603050405020304" pitchFamily="18" charset="0"/>
                <a:cs typeface="Times New Roman" panose="02020603050405020304" pitchFamily="18" charset="0"/>
              </a:rPr>
              <a:t>最</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大匹配</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并且算法在 </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(min{|</a:t>
            </a:r>
            <a:r>
              <a:rPr lang="en-US" altLang="zh-CN" sz="2400" b="1" i="1" dirty="0" smtClean="0">
                <a:latin typeface="Times New Roman" panose="02020603050405020304" pitchFamily="18" charset="0"/>
                <a:cs typeface="Times New Roman" panose="02020603050405020304" pitchFamily="18" charset="0"/>
              </a:rPr>
              <a:t>A</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B</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步内终止</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证  </a:t>
            </a:r>
            <a:r>
              <a:rPr lang="zh-CN" altLang="en-US" sz="2400" b="1" dirty="0" smtClean="0">
                <a:latin typeface="Times New Roman" panose="02020603050405020304" pitchFamily="18" charset="0"/>
                <a:cs typeface="Times New Roman" panose="02020603050405020304" pitchFamily="18" charset="0"/>
              </a:rPr>
              <a:t>开始</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rPr>
              <a:t>是</a:t>
            </a:r>
            <a:r>
              <a:rPr lang="en-US" altLang="zh-CN" sz="2400" b="1" i="1"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的匹配</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每次令</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P</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可归纳证明</a:t>
            </a:r>
            <a:endParaRPr lang="en-US" altLang="zh-CN" sz="2400" b="1" dirty="0" smtClean="0">
              <a:latin typeface="Times New Roman" panose="02020603050405020304" pitchFamily="18" charset="0"/>
              <a:cs typeface="Times New Roman" panose="02020603050405020304" pitchFamily="18" charset="0"/>
            </a:endParaRPr>
          </a:p>
          <a:p>
            <a:pPr>
              <a:spcBef>
                <a:spcPts val="5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最后得到的</a:t>
            </a:r>
            <a:r>
              <a:rPr lang="en-US" altLang="zh-CN" sz="2400" b="1" i="1" dirty="0" smtClean="0">
                <a:latin typeface="Times New Roman" panose="02020603050405020304" pitchFamily="18" charset="0"/>
                <a:cs typeface="Times New Roman" panose="02020603050405020304" pitchFamily="18" charset="0"/>
              </a:rPr>
              <a:t>M</a:t>
            </a:r>
            <a:r>
              <a:rPr lang="zh-CN" altLang="en-US" sz="2400" b="1" dirty="0" smtClean="0">
                <a:latin typeface="Times New Roman" panose="02020603050405020304" pitchFamily="18" charset="0"/>
                <a:cs typeface="Times New Roman" panose="02020603050405020304" pitchFamily="18" charset="0"/>
              </a:rPr>
              <a:t>是</a:t>
            </a:r>
            <a:r>
              <a:rPr lang="en-US" altLang="zh-CN" sz="2400" b="1" i="1"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的匹配</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当计算终止时</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如果存在增广交错</a:t>
            </a:r>
            <a:endParaRPr lang="en-US" altLang="zh-CN" sz="2400" b="1" dirty="0" smtClean="0">
              <a:latin typeface="Times New Roman" panose="02020603050405020304" pitchFamily="18" charset="0"/>
              <a:cs typeface="Times New Roman" panose="02020603050405020304" pitchFamily="18" charset="0"/>
            </a:endParaRPr>
          </a:p>
          <a:p>
            <a:pPr>
              <a:spcBef>
                <a:spcPts val="5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路径</a:t>
            </a:r>
            <a:r>
              <a:rPr lang="en-US" altLang="zh-CN" sz="2400" b="1" i="1" dirty="0" smtClean="0">
                <a:latin typeface="Times New Roman" panose="02020603050405020304" pitchFamily="18" charset="0"/>
                <a:cs typeface="Times New Roman" panose="02020603050405020304" pitchFamily="18" charset="0"/>
              </a:rPr>
              <a:t>P</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它的端点 </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 </a:t>
            </a:r>
            <a:r>
              <a:rPr lang="zh-CN" altLang="en-US" sz="2400" b="1" dirty="0" smtClean="0">
                <a:latin typeface="Times New Roman" panose="02020603050405020304" pitchFamily="18" charset="0"/>
                <a:cs typeface="Times New Roman" panose="02020603050405020304" pitchFamily="18" charset="0"/>
              </a:rPr>
              <a:t>和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都是非饱和的</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从 </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zh-CN" altLang="en-US" sz="2400" b="1" dirty="0" smtClean="0">
                <a:latin typeface="Times New Roman" panose="02020603050405020304" pitchFamily="18" charset="0"/>
                <a:cs typeface="Times New Roman" panose="02020603050405020304" pitchFamily="18" charset="0"/>
              </a:rPr>
              <a:t>开始沿</a:t>
            </a:r>
            <a:r>
              <a:rPr lang="en-US" altLang="zh-CN" sz="2400" b="1" i="1" dirty="0" smtClean="0">
                <a:latin typeface="Times New Roman" panose="02020603050405020304" pitchFamily="18" charset="0"/>
                <a:cs typeface="Times New Roman" panose="02020603050405020304" pitchFamily="18" charset="0"/>
              </a:rPr>
              <a:t>P</a:t>
            </a:r>
            <a:r>
              <a:rPr lang="zh-CN" altLang="en-US" sz="2400" b="1" dirty="0" smtClean="0">
                <a:latin typeface="Times New Roman" panose="02020603050405020304" pitchFamily="18" charset="0"/>
                <a:cs typeface="Times New Roman" panose="02020603050405020304" pitchFamily="18" charset="0"/>
              </a:rPr>
              <a:t>最后必</a:t>
            </a:r>
            <a:endParaRPr lang="en-US" altLang="zh-CN" sz="2400" b="1" dirty="0" smtClean="0">
              <a:latin typeface="Times New Roman" panose="02020603050405020304" pitchFamily="18" charset="0"/>
              <a:cs typeface="Times New Roman" panose="02020603050405020304" pitchFamily="18" charset="0"/>
            </a:endParaRPr>
          </a:p>
          <a:p>
            <a:pPr>
              <a:spcBef>
                <a:spcPts val="5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给</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标号</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计算终止时</a:t>
            </a:r>
            <a:r>
              <a:rPr lang="en-US" altLang="zh-CN" sz="2400" b="1" i="1" dirty="0" smtClean="0">
                <a:latin typeface="Times New Roman" panose="02020603050405020304" pitchFamily="18" charset="0"/>
                <a:cs typeface="Times New Roman" panose="02020603050405020304" pitchFamily="18" charset="0"/>
              </a:rPr>
              <a:t>B</a:t>
            </a:r>
            <a:r>
              <a:rPr lang="zh-CN" altLang="en-US" sz="2400" b="1" dirty="0" smtClean="0">
                <a:latin typeface="Times New Roman" panose="02020603050405020304" pitchFamily="18" charset="0"/>
                <a:cs typeface="Times New Roman" panose="02020603050405020304" pitchFamily="18" charset="0"/>
              </a:rPr>
              <a:t>中已标号顶点都是饱和点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矛盾</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      除最后阶段外</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算法每阶段 </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标号和修改</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增加一条匹配</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最多有 </a:t>
            </a:r>
            <a:r>
              <a:rPr lang="en-US" altLang="zh-CN" sz="2400" b="1" dirty="0" smtClean="0">
                <a:latin typeface="Times New Roman" panose="02020603050405020304" pitchFamily="18" charset="0"/>
                <a:cs typeface="Times New Roman" panose="02020603050405020304" pitchFamily="18" charset="0"/>
              </a:rPr>
              <a:t>min{|</a:t>
            </a:r>
            <a:r>
              <a:rPr lang="en-US" altLang="zh-CN" sz="2400" b="1" i="1" dirty="0" smtClean="0">
                <a:latin typeface="Times New Roman" panose="02020603050405020304" pitchFamily="18" charset="0"/>
                <a:cs typeface="Times New Roman" panose="02020603050405020304" pitchFamily="18" charset="0"/>
              </a:rPr>
              <a:t>A</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B</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条匹配边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故最 多有</a:t>
            </a:r>
            <a:r>
              <a:rPr lang="en-US" altLang="zh-CN" sz="2400" b="1" dirty="0" smtClean="0">
                <a:latin typeface="Times New Roman" panose="02020603050405020304" pitchFamily="18" charset="0"/>
                <a:cs typeface="Times New Roman" panose="02020603050405020304" pitchFamily="18" charset="0"/>
              </a:rPr>
              <a:t>min{|</a:t>
            </a:r>
            <a:r>
              <a:rPr lang="en-US" altLang="zh-CN" sz="2400" b="1" i="1" dirty="0" smtClean="0">
                <a:latin typeface="Times New Roman" panose="02020603050405020304" pitchFamily="18" charset="0"/>
                <a:cs typeface="Times New Roman" panose="02020603050405020304" pitchFamily="18" charset="0"/>
              </a:rPr>
              <a:t>A</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B</a:t>
            </a:r>
            <a:r>
              <a:rPr lang="en-US" altLang="zh-CN" sz="2400" b="1" dirty="0" smtClean="0">
                <a:latin typeface="Times New Roman" panose="02020603050405020304" pitchFamily="18" charset="0"/>
                <a:cs typeface="Times New Roman" panose="02020603050405020304" pitchFamily="18" charset="0"/>
              </a:rPr>
              <a:t>|}+1</a:t>
            </a:r>
            <a:r>
              <a:rPr lang="zh-CN" altLang="en-US" sz="2400" b="1" dirty="0" smtClean="0">
                <a:latin typeface="Times New Roman" panose="02020603050405020304" pitchFamily="18" charset="0"/>
                <a:cs typeface="Times New Roman" panose="02020603050405020304" pitchFamily="18" charset="0"/>
              </a:rPr>
              <a:t>个</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阶段</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在每个阶段标号过程中</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每条边最多检查一次</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增广交</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错路径的长不超过 </a:t>
            </a:r>
            <a:r>
              <a:rPr lang="en-US" altLang="zh-CN" sz="2400" b="1" dirty="0" smtClean="0">
                <a:latin typeface="Times New Roman" panose="02020603050405020304" pitchFamily="18" charset="0"/>
                <a:cs typeface="Times New Roman" panose="02020603050405020304" pitchFamily="18" charset="0"/>
              </a:rPr>
              <a:t>2|</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故每个阶段可在 </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内完成</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得证计算必在 </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(min{|</a:t>
            </a:r>
            <a:r>
              <a:rPr lang="en-US" altLang="zh-CN" sz="2400" b="1" i="1" dirty="0" smtClean="0">
                <a:latin typeface="Times New Roman" panose="02020603050405020304" pitchFamily="18" charset="0"/>
                <a:cs typeface="Times New Roman" panose="02020603050405020304" pitchFamily="18" charset="0"/>
              </a:rPr>
              <a:t>A</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B</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步内终止</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p:txBody>
      </p:sp>
      <p:sp>
        <p:nvSpPr>
          <p:cNvPr id="8192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0C55F70-1744-4BC7-A704-933B40FD99B5}"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p:cNvSpPr>
          <p:nvPr>
            <p:ph type="title"/>
          </p:nvPr>
        </p:nvSpPr>
        <p:spPr>
          <a:xfrm>
            <a:off x="457200" y="227013"/>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最大匹配算法与最大流</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82947" name="内容占位符 2"/>
          <p:cNvSpPr>
            <a:spLocks noGrp="1"/>
          </p:cNvSpPr>
          <p:nvPr>
            <p:ph idx="1"/>
          </p:nvPr>
        </p:nvSpPr>
        <p:spPr>
          <a:xfrm>
            <a:off x="457200" y="1600200"/>
            <a:ext cx="8435975" cy="4525963"/>
          </a:xfrm>
        </p:spPr>
        <p:txBody>
          <a:bodyPr/>
          <a:lstStyle/>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二部图的最大匹配问题可转化成最大流问题</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设 </a:t>
            </a:r>
            <a:r>
              <a:rPr lang="en-US" altLang="zh-CN" sz="2400" b="1" i="1" smtClean="0">
                <a:latin typeface="Times New Roman" panose="02020603050405020304" pitchFamily="18" charset="0"/>
                <a:cs typeface="Times New Roman" panose="02020603050405020304" pitchFamily="18" charset="0"/>
              </a:rPr>
              <a:t>G </a:t>
            </a:r>
            <a:r>
              <a:rPr lang="en-US" altLang="zh-CN" sz="2400" b="1" smtClean="0">
                <a:latin typeface="Times New Roman" panose="02020603050405020304" pitchFamily="18" charset="0"/>
                <a:cs typeface="Times New Roman" panose="02020603050405020304" pitchFamily="18" charset="0"/>
              </a:rPr>
              <a:t>= &lt;</a:t>
            </a:r>
            <a:r>
              <a:rPr lang="en-US" altLang="zh-CN" sz="2400" b="1" i="1" smtClean="0">
                <a:latin typeface="Times New Roman" panose="02020603050405020304" pitchFamily="18" charset="0"/>
                <a:cs typeface="Times New Roman" panose="02020603050405020304" pitchFamily="18" charset="0"/>
              </a:rPr>
              <a:t>A</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B</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rPr>
              <a:t>&gt;,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作容量网络</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N</a:t>
            </a:r>
            <a:r>
              <a:rPr lang="en-US" altLang="zh-CN" sz="2400" b="1" i="1" baseline="-25000" smtClean="0">
                <a:latin typeface="Times New Roman" panose="02020603050405020304" pitchFamily="18" charset="0"/>
                <a:cs typeface="Times New Roman" panose="02020603050405020304" pitchFamily="18" charset="0"/>
              </a:rPr>
              <a:t>G </a:t>
            </a:r>
            <a:r>
              <a:rPr lang="en-US" altLang="zh-CN" sz="2400" b="1" i="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V</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c</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s</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t </a:t>
            </a:r>
            <a:r>
              <a:rPr lang="en-US" altLang="zh-CN" sz="2400" b="1" smtClean="0">
                <a:latin typeface="Times New Roman" panose="02020603050405020304" pitchFamily="18" charset="0"/>
                <a:cs typeface="Times New Roman" panose="02020603050405020304" pitchFamily="18" charset="0"/>
              </a:rPr>
              <a:t>&gt;,  </a:t>
            </a:r>
            <a:r>
              <a:rPr lang="zh-CN" altLang="en-US" sz="2400" b="1" smtClean="0">
                <a:latin typeface="Times New Roman" panose="02020603050405020304" pitchFamily="18" charset="0"/>
                <a:cs typeface="Times New Roman" panose="02020603050405020304" pitchFamily="18" charset="0"/>
              </a:rPr>
              <a:t>其中 </a:t>
            </a:r>
            <a:r>
              <a:rPr lang="en-US" altLang="zh-CN" sz="2400" b="1" i="1" smtClean="0">
                <a:latin typeface="Times New Roman" panose="02020603050405020304" pitchFamily="18" charset="0"/>
                <a:cs typeface="Times New Roman" panose="02020603050405020304" pitchFamily="18" charset="0"/>
              </a:rPr>
              <a:t>c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rPr>
              <a:t>1, </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V </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s</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A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B</a:t>
            </a:r>
            <a:r>
              <a:rPr lang="en-US" altLang="zh-CN" sz="2400" b="1" smtClean="0">
                <a:latin typeface="Times New Roman" panose="02020603050405020304" pitchFamily="18" charset="0"/>
                <a:cs typeface="Times New Roman" panose="02020603050405020304" pitchFamily="18" charset="0"/>
              </a:rPr>
              <a:t>   </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rPr>
              <a:t>= {&lt;</a:t>
            </a:r>
            <a:r>
              <a:rPr lang="en-US" altLang="zh-CN" sz="2400" b="1" i="1" smtClean="0">
                <a:latin typeface="Times New Roman" panose="02020603050405020304" pitchFamily="18" charset="0"/>
                <a:cs typeface="Times New Roman" panose="02020603050405020304" pitchFamily="18" charset="0"/>
              </a:rPr>
              <a:t>s</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&gt; |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A</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&gt;|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B</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&gt; |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G </a:t>
            </a:r>
            <a:r>
              <a:rPr lang="zh-CN" altLang="en-US" sz="2400" b="1" smtClean="0">
                <a:latin typeface="Times New Roman" panose="02020603050405020304" pitchFamily="18" charset="0"/>
                <a:cs typeface="Times New Roman" panose="02020603050405020304" pitchFamily="18" charset="0"/>
              </a:rPr>
              <a:t>的匹配与 </a:t>
            </a:r>
            <a:r>
              <a:rPr lang="en-US" altLang="zh-CN" sz="2400" b="1" i="1" smtClean="0">
                <a:latin typeface="Times New Roman" panose="02020603050405020304" pitchFamily="18" charset="0"/>
                <a:cs typeface="Times New Roman" panose="02020603050405020304" pitchFamily="18" charset="0"/>
              </a:rPr>
              <a:t>N </a:t>
            </a:r>
            <a:r>
              <a:rPr lang="zh-CN" altLang="en-US" sz="2400" b="1" smtClean="0">
                <a:latin typeface="Times New Roman" panose="02020603050405020304" pitchFamily="18" charset="0"/>
                <a:cs typeface="Times New Roman" panose="02020603050405020304" pitchFamily="18" charset="0"/>
              </a:rPr>
              <a:t>上的 </a:t>
            </a:r>
            <a:r>
              <a:rPr lang="en-US" altLang="zh-CN" sz="2400" b="1" smtClean="0">
                <a:latin typeface="Times New Roman" panose="02020603050405020304" pitchFamily="18" charset="0"/>
                <a:cs typeface="Times New Roman" panose="02020603050405020304" pitchFamily="18" charset="0"/>
              </a:rPr>
              <a:t>0-1 </a:t>
            </a:r>
            <a:r>
              <a:rPr lang="zh-CN" altLang="en-US" sz="2400" b="1" smtClean="0">
                <a:latin typeface="Times New Roman" panose="02020603050405020304" pitchFamily="18" charset="0"/>
                <a:cs typeface="Times New Roman" panose="02020603050405020304" pitchFamily="18" charset="0"/>
              </a:rPr>
              <a:t>可行流一一对应</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前向边是非饱和边</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后向边是饱和边</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增广链对应增广交错路径</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匈牙利算法实际</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上是</a:t>
            </a:r>
            <a:r>
              <a:rPr lang="en-US" altLang="zh-CN" sz="2400" b="1" smtClean="0">
                <a:latin typeface="Times New Roman" panose="02020603050405020304" pitchFamily="18" charset="0"/>
                <a:cs typeface="Times New Roman" panose="02020603050405020304" pitchFamily="18" charset="0"/>
              </a:rPr>
              <a:t>FF</a:t>
            </a:r>
            <a:r>
              <a:rPr lang="zh-CN" altLang="en-US" sz="2400" b="1" smtClean="0">
                <a:latin typeface="Times New Roman" panose="02020603050405020304" pitchFamily="18" charset="0"/>
                <a:cs typeface="Times New Roman" panose="02020603050405020304" pitchFamily="18" charset="0"/>
              </a:rPr>
              <a:t>算法的应用</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smtClean="0">
              <a:latin typeface="Times New Roman" panose="02020603050405020304" pitchFamily="18" charset="0"/>
              <a:cs typeface="Times New Roman" panose="02020603050405020304" pitchFamily="18" charset="0"/>
            </a:endParaRPr>
          </a:p>
        </p:txBody>
      </p:sp>
      <p:sp>
        <p:nvSpPr>
          <p:cNvPr id="8294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14888FC-68F0-4633-8F00-D2932757D123}"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p:cNvSpPr>
          <p:nvPr>
            <p:ph type="title"/>
          </p:nvPr>
        </p:nvSpPr>
        <p:spPr>
          <a:xfrm>
            <a:off x="457200" y="217488"/>
            <a:ext cx="8229600" cy="1143000"/>
          </a:xfrm>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Dinic</a:t>
            </a:r>
            <a:r>
              <a:rPr lang="zh-CN" altLang="en-US" sz="4000" b="1" smtClean="0">
                <a:solidFill>
                  <a:srgbClr val="C00000"/>
                </a:solidFill>
                <a:latin typeface="Times New Roman" panose="02020603050405020304" pitchFamily="18" charset="0"/>
                <a:cs typeface="Times New Roman" panose="02020603050405020304" pitchFamily="18" charset="0"/>
              </a:rPr>
              <a:t>算法的应用</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83971" name="内容占位符 2"/>
          <p:cNvSpPr>
            <a:spLocks noGrp="1"/>
          </p:cNvSpPr>
          <p:nvPr>
            <p:ph idx="1"/>
          </p:nvPr>
        </p:nvSpPr>
        <p:spPr>
          <a:xfrm>
            <a:off x="457200" y="1389063"/>
            <a:ext cx="8229600" cy="4525962"/>
          </a:xfrm>
        </p:spPr>
        <p:txBody>
          <a:bodyPr/>
          <a:lstStyle/>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用 </a:t>
            </a:r>
            <a:r>
              <a:rPr lang="en-US" altLang="zh-CN" sz="2400" b="1" dirty="0" err="1" smtClean="0">
                <a:solidFill>
                  <a:srgbClr val="C00000"/>
                </a:solidFill>
                <a:latin typeface="Times New Roman" panose="02020603050405020304" pitchFamily="18" charset="0"/>
                <a:cs typeface="Times New Roman" panose="02020603050405020304" pitchFamily="18" charset="0"/>
              </a:rPr>
              <a:t>Dinic</a:t>
            </a:r>
            <a:r>
              <a:rPr lang="en-US" altLang="zh-CN" sz="2400" b="1" dirty="0" smtClean="0">
                <a:solidFill>
                  <a:srgbClr val="C00000"/>
                </a:solidFill>
                <a:latin typeface="Times New Roman" panose="02020603050405020304" pitchFamily="18" charset="0"/>
                <a:cs typeface="Times New Roman" panose="02020603050405020304" pitchFamily="18" charset="0"/>
              </a:rPr>
              <a:t> </a:t>
            </a:r>
            <a:r>
              <a:rPr lang="zh-CN" altLang="en-US" sz="2400" b="1" dirty="0" smtClean="0">
                <a:solidFill>
                  <a:srgbClr val="C00000"/>
                </a:solidFill>
                <a:latin typeface="Times New Roman" panose="02020603050405020304" pitchFamily="18" charset="0"/>
                <a:cs typeface="Times New Roman" panose="02020603050405020304" pitchFamily="18" charset="0"/>
              </a:rPr>
              <a:t>算法解二部图的最大匹配问题</a:t>
            </a:r>
            <a:endParaRPr lang="zh-CN" altLang="en-US" sz="2400" b="1" dirty="0" smtClean="0">
              <a:solidFill>
                <a:srgbClr val="C00000"/>
              </a:solidFill>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构造二部图 </a:t>
            </a:r>
            <a:r>
              <a:rPr lang="en-US" altLang="zh-CN" sz="2400" b="1" i="1" dirty="0" smtClean="0">
                <a:latin typeface="Times New Roman" panose="02020603050405020304" pitchFamily="18" charset="0"/>
                <a:cs typeface="Times New Roman" panose="02020603050405020304" pitchFamily="18" charset="0"/>
              </a:rPr>
              <a:t>G </a:t>
            </a:r>
            <a:r>
              <a:rPr lang="en-US" altLang="zh-CN" sz="2400" b="1" dirty="0" smtClean="0">
                <a:latin typeface="Times New Roman" panose="02020603050405020304" pitchFamily="18" charset="0"/>
                <a:cs typeface="Times New Roman" panose="02020603050405020304" pitchFamily="18" charset="0"/>
              </a:rPr>
              <a:t>= &lt;</a:t>
            </a:r>
            <a:r>
              <a:rPr lang="en-US" altLang="zh-CN" sz="2400" b="1" i="1" dirty="0" smtClean="0">
                <a:latin typeface="Times New Roman" panose="02020603050405020304" pitchFamily="18" charset="0"/>
                <a:cs typeface="Times New Roman" panose="02020603050405020304" pitchFamily="18" charset="0"/>
              </a:rPr>
              <a:t>A</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B</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E </a:t>
            </a:r>
            <a:r>
              <a:rPr lang="en-US" altLang="zh-CN" sz="2400" b="1" dirty="0" smtClean="0">
                <a:latin typeface="Times New Roman" panose="02020603050405020304" pitchFamily="18" charset="0"/>
                <a:cs typeface="Times New Roman" panose="02020603050405020304" pitchFamily="18" charset="0"/>
              </a:rPr>
              <a:t>&gt;</a:t>
            </a:r>
            <a:r>
              <a:rPr lang="zh-CN" altLang="en-US" sz="2400" b="1" dirty="0" smtClean="0">
                <a:latin typeface="Times New Roman" panose="02020603050405020304" pitchFamily="18" charset="0"/>
                <a:cs typeface="Times New Roman" panose="02020603050405020304" pitchFamily="18" charset="0"/>
              </a:rPr>
              <a:t>的对应容量网络 </a:t>
            </a:r>
            <a:r>
              <a:rPr lang="en-US" altLang="zh-CN" sz="2400" b="1" i="1" dirty="0" smtClean="0">
                <a:latin typeface="Times New Roman" panose="02020603050405020304" pitchFamily="18" charset="0"/>
                <a:cs typeface="Times New Roman" panose="02020603050405020304" pitchFamily="18" charset="0"/>
              </a:rPr>
              <a:t>N</a:t>
            </a:r>
            <a:r>
              <a:rPr lang="en-US" altLang="zh-CN" sz="2400" b="1" i="1" baseline="-25000"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(2) </a:t>
            </a:r>
            <a:r>
              <a:rPr lang="zh-CN" altLang="en-US" sz="2400" b="1" dirty="0" smtClean="0">
                <a:latin typeface="Times New Roman" panose="02020603050405020304" pitchFamily="18" charset="0"/>
                <a:cs typeface="Times New Roman" panose="02020603050405020304" pitchFamily="18" charset="0"/>
              </a:rPr>
              <a:t>对 </a:t>
            </a:r>
            <a:r>
              <a:rPr lang="en-US" altLang="zh-CN" sz="2400" b="1" i="1" dirty="0" smtClean="0">
                <a:latin typeface="Times New Roman" panose="02020603050405020304" pitchFamily="18" charset="0"/>
                <a:cs typeface="Times New Roman" panose="02020603050405020304" pitchFamily="18" charset="0"/>
              </a:rPr>
              <a:t>N</a:t>
            </a:r>
            <a:r>
              <a:rPr lang="en-US" altLang="zh-CN" sz="2400" b="1" i="1" baseline="-25000"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应用 </a:t>
            </a:r>
            <a:r>
              <a:rPr lang="en-US" altLang="zh-CN" sz="2400" b="1" dirty="0" err="1" smtClean="0">
                <a:latin typeface="Times New Roman" panose="02020603050405020304" pitchFamily="18" charset="0"/>
                <a:cs typeface="Times New Roman" panose="02020603050405020304" pitchFamily="18" charset="0"/>
              </a:rPr>
              <a:t>Dinic</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算法</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求得 </a:t>
            </a:r>
            <a:r>
              <a:rPr lang="en-US" altLang="zh-CN" sz="2400" b="1" i="1" dirty="0" smtClean="0">
                <a:latin typeface="Times New Roman" panose="02020603050405020304" pitchFamily="18" charset="0"/>
                <a:cs typeface="Times New Roman" panose="02020603050405020304" pitchFamily="18" charset="0"/>
              </a:rPr>
              <a:t>N</a:t>
            </a:r>
            <a:r>
              <a:rPr lang="en-US" altLang="zh-CN" sz="2400" b="1" i="1" baseline="-25000"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上的最大流 </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(3) </a:t>
            </a:r>
            <a:r>
              <a:rPr lang="zh-CN" altLang="en-US" sz="2400" b="1" dirty="0" smtClean="0">
                <a:latin typeface="Times New Roman" panose="02020603050405020304" pitchFamily="18" charset="0"/>
                <a:cs typeface="Times New Roman" panose="02020603050405020304" pitchFamily="18" charset="0"/>
              </a:rPr>
              <a:t>把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转化为 </a:t>
            </a:r>
            <a:r>
              <a:rPr lang="en-US" altLang="zh-CN" sz="2400" b="1" i="1"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的匹配 </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(1)</a:t>
            </a:r>
            <a:r>
              <a:rPr lang="zh-CN" altLang="en-US" sz="2400" b="1" dirty="0" smtClean="0">
                <a:latin typeface="Times New Roman" panose="02020603050405020304" pitchFamily="18" charset="0"/>
                <a:cs typeface="Times New Roman" panose="02020603050405020304" pitchFamily="18" charset="0"/>
              </a:rPr>
              <a:t>和</a:t>
            </a:r>
            <a:r>
              <a:rPr lang="en-US" altLang="zh-CN" sz="2400" b="1" dirty="0" smtClean="0">
                <a:latin typeface="Times New Roman" panose="02020603050405020304" pitchFamily="18" charset="0"/>
                <a:cs typeface="Times New Roman" panose="02020603050405020304" pitchFamily="18" charset="0"/>
              </a:rPr>
              <a:t>(3)</a:t>
            </a:r>
            <a:r>
              <a:rPr lang="zh-CN" altLang="en-US" sz="2400" b="1" dirty="0" smtClean="0">
                <a:latin typeface="Times New Roman" panose="02020603050405020304" pitchFamily="18" charset="0"/>
                <a:cs typeface="Times New Roman" panose="02020603050405020304" pitchFamily="18" charset="0"/>
              </a:rPr>
              <a:t>可以在 </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n</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步内完成</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而</a:t>
            </a:r>
            <a:r>
              <a:rPr lang="en-US" altLang="zh-CN" sz="2400" b="1" i="1" dirty="0" smtClean="0">
                <a:latin typeface="Times New Roman" panose="02020603050405020304" pitchFamily="18" charset="0"/>
                <a:cs typeface="Times New Roman" panose="02020603050405020304" pitchFamily="18" charset="0"/>
              </a:rPr>
              <a:t>N</a:t>
            </a:r>
            <a:r>
              <a:rPr lang="en-US" altLang="zh-CN" sz="2400" b="1" i="1" baseline="-25000"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是一个简单容量网络</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容量均为 </a:t>
            </a:r>
            <a:r>
              <a:rPr lang="en-US" altLang="zh-CN" sz="2400" b="1" dirty="0" smtClean="0">
                <a:latin typeface="Times New Roman" panose="02020603050405020304" pitchFamily="18" charset="0"/>
                <a:cs typeface="Times New Roman" panose="02020603050405020304" pitchFamily="18" charset="0"/>
              </a:rPr>
              <a:t>1,  </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 </a:t>
            </a:r>
            <a:r>
              <a:rPr lang="zh-CN" altLang="en-US" sz="2400" b="1" dirty="0" smtClean="0">
                <a:latin typeface="Times New Roman" panose="02020603050405020304" pitchFamily="18" charset="0"/>
                <a:cs typeface="Times New Roman" panose="02020603050405020304" pitchFamily="18" charset="0"/>
              </a:rPr>
              <a:t>的入度为 </a:t>
            </a:r>
            <a:r>
              <a:rPr lang="en-US" altLang="zh-CN" sz="2400" b="1" dirty="0" smtClean="0">
                <a:latin typeface="Times New Roman" panose="02020603050405020304" pitchFamily="18" charset="0"/>
                <a:cs typeface="Times New Roman" panose="02020603050405020304" pitchFamily="18" charset="0"/>
              </a:rPr>
              <a:t>1,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的出度为 </a:t>
            </a:r>
            <a:r>
              <a:rPr lang="en-US" altLang="zh-CN" sz="2400" b="1" dirty="0" smtClean="0">
                <a:latin typeface="Times New Roman" panose="02020603050405020304" pitchFamily="18" charset="0"/>
                <a:cs typeface="Times New Roman" panose="02020603050405020304" pitchFamily="18" charset="0"/>
              </a:rPr>
              <a:t>1. (2)</a:t>
            </a:r>
            <a:r>
              <a:rPr lang="zh-CN" altLang="en-US" sz="2400" b="1" dirty="0" smtClean="0">
                <a:latin typeface="Times New Roman" panose="02020603050405020304" pitchFamily="18" charset="0"/>
                <a:cs typeface="Times New Roman" panose="02020603050405020304" pitchFamily="18" charset="0"/>
              </a:rPr>
              <a:t>可在</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n</a:t>
            </a:r>
            <a:r>
              <a:rPr lang="en-US" altLang="zh-CN" sz="2400" b="1" baseline="30000" dirty="0" smtClean="0">
                <a:latin typeface="Times New Roman" panose="02020603050405020304" pitchFamily="18" charset="0"/>
                <a:cs typeface="Times New Roman" panose="02020603050405020304" pitchFamily="18" charset="0"/>
              </a:rPr>
              <a:t>1/2</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步</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内完成</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可设</a:t>
            </a:r>
            <a:r>
              <a:rPr lang="en-US" altLang="zh-CN" sz="2400" b="1" i="1"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中无孤立点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于是有下述定理</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定理</a:t>
            </a:r>
            <a:r>
              <a:rPr lang="en-US" altLang="zh-CN" sz="2400" b="1" dirty="0" smtClean="0">
                <a:solidFill>
                  <a:srgbClr val="C00000"/>
                </a:solidFill>
                <a:latin typeface="Times New Roman" panose="02020603050405020304" pitchFamily="18" charset="0"/>
                <a:cs typeface="Times New Roman" panose="02020603050405020304" pitchFamily="18" charset="0"/>
              </a:rPr>
              <a:t>7.10</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用 </a:t>
            </a:r>
            <a:r>
              <a:rPr lang="en-US" altLang="zh-CN" sz="2400" b="1" dirty="0" err="1" smtClean="0">
                <a:latin typeface="Times New Roman" panose="02020603050405020304" pitchFamily="18" charset="0"/>
                <a:cs typeface="Times New Roman" panose="02020603050405020304" pitchFamily="18" charset="0"/>
              </a:rPr>
              <a:t>Dinic</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算法解二部图的最大匹配问题的时间</a:t>
            </a:r>
            <a:r>
              <a:rPr lang="zh-CN" altLang="en-US" sz="2400" b="1" dirty="0" smtClean="0">
                <a:latin typeface="Times New Roman" panose="02020603050405020304" pitchFamily="18" charset="0"/>
                <a:cs typeface="Times New Roman" panose="02020603050405020304" pitchFamily="18" charset="0"/>
              </a:rPr>
              <a:t>复杂</a:t>
            </a:r>
            <a:endParaRPr lang="en-US" altLang="zh-CN" sz="2400" b="1" dirty="0" smtClean="0">
              <a:latin typeface="Times New Roman" panose="02020603050405020304" pitchFamily="18" charset="0"/>
              <a:cs typeface="Times New Roman" panose="02020603050405020304" pitchFamily="18" charset="0"/>
            </a:endParaRPr>
          </a:p>
          <a:p>
            <a:pPr>
              <a:spcBef>
                <a:spcPts val="6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度是 </a:t>
            </a:r>
            <a:r>
              <a:rPr lang="en-US" altLang="zh-CN" sz="2400" b="1" i="1" dirty="0" smtClean="0">
                <a:latin typeface="Times New Roman" panose="02020603050405020304" pitchFamily="18" charset="0"/>
                <a:cs typeface="Times New Roman" panose="02020603050405020304" pitchFamily="18" charset="0"/>
              </a:rPr>
              <a:t>O</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n</a:t>
            </a:r>
            <a:r>
              <a:rPr lang="en-US" altLang="zh-CN" sz="2400" b="1" baseline="30000" dirty="0" smtClean="0">
                <a:latin typeface="Times New Roman" panose="02020603050405020304" pitchFamily="18" charset="0"/>
                <a:cs typeface="Times New Roman" panose="02020603050405020304" pitchFamily="18" charset="0"/>
              </a:rPr>
              <a:t>1/2</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p:txBody>
      </p:sp>
      <p:sp>
        <p:nvSpPr>
          <p:cNvPr id="8397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5455D7C0-B05B-4BFC-B239-B5D234859A34}"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7.4.2 </a:t>
            </a:r>
            <a:r>
              <a:rPr lang="zh-CN" altLang="en-US" sz="4000" b="1" smtClean="0">
                <a:solidFill>
                  <a:srgbClr val="C00000"/>
                </a:solidFill>
                <a:latin typeface="Times New Roman" panose="02020603050405020304" pitchFamily="18" charset="0"/>
                <a:cs typeface="Times New Roman" panose="02020603050405020304" pitchFamily="18" charset="0"/>
              </a:rPr>
              <a:t>赋权二部图的匹配</a:t>
            </a:r>
            <a:endParaRPr lang="zh-CN" altLang="en-US" sz="4000" smtClean="0">
              <a:solidFill>
                <a:srgbClr val="C00000"/>
              </a:solidFill>
              <a:latin typeface="Times New Roman" panose="02020603050405020304" pitchFamily="18" charset="0"/>
              <a:cs typeface="Times New Roman" panose="02020603050405020304" pitchFamily="18" charset="0"/>
            </a:endParaRPr>
          </a:p>
        </p:txBody>
      </p:sp>
      <p:sp>
        <p:nvSpPr>
          <p:cNvPr id="84995" name="内容占位符 2"/>
          <p:cNvSpPr>
            <a:spLocks noGrp="1"/>
          </p:cNvSpPr>
          <p:nvPr>
            <p:ph idx="1"/>
          </p:nvPr>
        </p:nvSpPr>
        <p:spPr>
          <a:xfrm>
            <a:off x="457200" y="1314450"/>
            <a:ext cx="8229600" cy="2686050"/>
          </a:xfrm>
        </p:spPr>
        <p:txBody>
          <a:bodyPr/>
          <a:lstStyle/>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指派问题</a:t>
            </a:r>
            <a:r>
              <a:rPr lang="en-US" altLang="zh-CN" sz="2400" b="1" dirty="0" smtClean="0">
                <a:solidFill>
                  <a:srgbClr val="C00000"/>
                </a:solidFill>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给定赋权完全二部图 </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E</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w</a:t>
            </a:r>
            <a:r>
              <a:rPr lang="en-US" altLang="zh-CN" sz="2400" b="1" dirty="0" smtClean="0">
                <a:latin typeface="Times New Roman" panose="02020603050405020304" pitchFamily="18" charset="0"/>
                <a:cs typeface="Times New Roman" panose="02020603050405020304" pitchFamily="18" charset="0"/>
              </a:rPr>
              <a:t>&gt;, </a:t>
            </a:r>
            <a:r>
              <a:rPr lang="zh-CN" altLang="en-US" sz="2400" b="1" dirty="0" smtClean="0">
                <a:latin typeface="Times New Roman" panose="02020603050405020304" pitchFamily="18" charset="0"/>
                <a:cs typeface="Times New Roman" panose="02020603050405020304" pitchFamily="18" charset="0"/>
              </a:rPr>
              <a:t>其中</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A|</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B</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rPr>
              <a:t>w</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R</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求 </a:t>
            </a:r>
            <a:r>
              <a:rPr lang="en-US" altLang="zh-CN" sz="2400" b="1" i="1"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的权最小的完美匹配 </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例</a:t>
            </a:r>
            <a:r>
              <a:rPr lang="en-US" altLang="zh-CN" sz="2400" b="1" dirty="0" smtClean="0">
                <a:solidFill>
                  <a:srgbClr val="C00000"/>
                </a:solidFill>
                <a:latin typeface="Times New Roman" panose="02020603050405020304" pitchFamily="18" charset="0"/>
                <a:cs typeface="Times New Roman" panose="02020603050405020304" pitchFamily="18" charset="0"/>
              </a:rPr>
              <a:t>7.6</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有</a:t>
            </a:r>
            <a:r>
              <a:rPr lang="en-US" altLang="zh-CN" sz="2400" b="1" dirty="0" smtClean="0">
                <a:latin typeface="Times New Roman" panose="02020603050405020304" pitchFamily="18" charset="0"/>
                <a:cs typeface="Times New Roman" panose="02020603050405020304" pitchFamily="18" charset="0"/>
              </a:rPr>
              <a:t>4</a:t>
            </a:r>
            <a:r>
              <a:rPr lang="zh-CN" altLang="en-US" sz="2400" b="1" dirty="0" smtClean="0">
                <a:latin typeface="Times New Roman" panose="02020603050405020304" pitchFamily="18" charset="0"/>
                <a:cs typeface="Times New Roman" panose="02020603050405020304" pitchFamily="18" charset="0"/>
              </a:rPr>
              <a:t>项任务由</a:t>
            </a:r>
            <a:r>
              <a:rPr lang="en-US" altLang="zh-CN" sz="2400" b="1" dirty="0" smtClean="0">
                <a:latin typeface="Times New Roman" panose="02020603050405020304" pitchFamily="18" charset="0"/>
                <a:cs typeface="Times New Roman" panose="02020603050405020304" pitchFamily="18" charset="0"/>
              </a:rPr>
              <a:t>4</a:t>
            </a:r>
            <a:r>
              <a:rPr lang="zh-CN" altLang="en-US" sz="2400" b="1" dirty="0" smtClean="0">
                <a:latin typeface="Times New Roman" panose="02020603050405020304" pitchFamily="18" charset="0"/>
                <a:cs typeface="Times New Roman" panose="02020603050405020304" pitchFamily="18" charset="0"/>
              </a:rPr>
              <a:t>个人完成</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每人完成一项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预计每个人</a:t>
            </a:r>
            <a:r>
              <a:rPr lang="zh-CN" altLang="en-US" sz="2400" b="1" dirty="0" smtClean="0">
                <a:latin typeface="Times New Roman" panose="02020603050405020304" pitchFamily="18" charset="0"/>
                <a:cs typeface="Times New Roman" panose="02020603050405020304" pitchFamily="18" charset="0"/>
              </a:rPr>
              <a:t>完</a:t>
            </a:r>
            <a:endParaRPr lang="en-US" altLang="zh-CN" sz="2400" b="1" dirty="0" smtClean="0">
              <a:latin typeface="Times New Roman" panose="02020603050405020304" pitchFamily="18" charset="0"/>
              <a:cs typeface="Times New Roman" panose="02020603050405020304" pitchFamily="18" charset="0"/>
            </a:endParaRPr>
          </a:p>
          <a:p>
            <a:pPr>
              <a:spcBef>
                <a:spcPts val="6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成每</a:t>
            </a:r>
            <a:r>
              <a:rPr lang="zh-CN" altLang="en-US" sz="2400" b="1" dirty="0" smtClean="0">
                <a:latin typeface="Times New Roman" panose="02020603050405020304" pitchFamily="18" charset="0"/>
                <a:cs typeface="Times New Roman" panose="02020603050405020304" pitchFamily="18" charset="0"/>
              </a:rPr>
              <a:t>一项任务的时间如下表所示</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如何分配才能是完成</a:t>
            </a:r>
            <a:r>
              <a:rPr lang="zh-CN" altLang="en-US" sz="2400" b="1" dirty="0" smtClean="0">
                <a:latin typeface="Times New Roman" panose="02020603050405020304" pitchFamily="18" charset="0"/>
                <a:cs typeface="Times New Roman" panose="02020603050405020304" pitchFamily="18" charset="0"/>
              </a:rPr>
              <a:t>任务</a:t>
            </a:r>
            <a:endParaRPr lang="en-US" altLang="zh-CN" sz="2400" b="1" dirty="0" smtClean="0">
              <a:latin typeface="Times New Roman" panose="02020603050405020304" pitchFamily="18" charset="0"/>
              <a:cs typeface="Times New Roman" panose="02020603050405020304" pitchFamily="18" charset="0"/>
            </a:endParaRPr>
          </a:p>
          <a:p>
            <a:pPr>
              <a:spcBef>
                <a:spcPts val="6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的总</a:t>
            </a:r>
            <a:r>
              <a:rPr lang="zh-CN" altLang="en-US" sz="2400" b="1" dirty="0" smtClean="0">
                <a:latin typeface="Times New Roman" panose="02020603050405020304" pitchFamily="18" charset="0"/>
                <a:cs typeface="Times New Roman" panose="02020603050405020304" pitchFamily="18" charset="0"/>
              </a:rPr>
              <a:t>时间最少</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p:txBody>
      </p:sp>
      <p:sp>
        <p:nvSpPr>
          <p:cNvPr id="8499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45218D9-479A-4B26-8043-F1B74EB83193}" type="slidenum">
              <a:rPr lang="zh-CN" altLang="en-US" sz="1200" smtClean="0">
                <a:solidFill>
                  <a:srgbClr val="898989"/>
                </a:solidFill>
              </a:rPr>
            </a:fld>
            <a:endParaRPr lang="zh-CN" altLang="en-US" sz="1200" smtClean="0">
              <a:solidFill>
                <a:srgbClr val="898989"/>
              </a:solidFill>
            </a:endParaRPr>
          </a:p>
        </p:txBody>
      </p:sp>
      <p:grpSp>
        <p:nvGrpSpPr>
          <p:cNvPr id="84997" name="组合 7"/>
          <p:cNvGrpSpPr/>
          <p:nvPr/>
        </p:nvGrpSpPr>
        <p:grpSpPr bwMode="auto">
          <a:xfrm>
            <a:off x="2465388" y="3860800"/>
            <a:ext cx="4249737" cy="2287588"/>
            <a:chOff x="2464594" y="3861048"/>
            <a:chExt cx="4250531" cy="2287587"/>
          </a:xfrm>
        </p:grpSpPr>
        <p:grpSp>
          <p:nvGrpSpPr>
            <p:cNvPr id="84998" name="组合 4"/>
            <p:cNvGrpSpPr/>
            <p:nvPr/>
          </p:nvGrpSpPr>
          <p:grpSpPr bwMode="auto">
            <a:xfrm>
              <a:off x="2464594" y="3861048"/>
              <a:ext cx="4250531" cy="2287587"/>
              <a:chOff x="2464594" y="3861048"/>
              <a:chExt cx="4250531" cy="2287587"/>
            </a:xfrm>
          </p:grpSpPr>
          <p:grpSp>
            <p:nvGrpSpPr>
              <p:cNvPr id="85002" name="组合 3"/>
              <p:cNvGrpSpPr/>
              <p:nvPr/>
            </p:nvGrpSpPr>
            <p:grpSpPr bwMode="auto">
              <a:xfrm>
                <a:off x="2500313" y="3861048"/>
                <a:ext cx="4214812" cy="2287587"/>
                <a:chOff x="2500313" y="3861048"/>
                <a:chExt cx="4214812" cy="2287587"/>
              </a:xfrm>
            </p:grpSpPr>
            <p:grpSp>
              <p:nvGrpSpPr>
                <p:cNvPr id="85006" name="组合 15"/>
                <p:cNvGrpSpPr/>
                <p:nvPr/>
              </p:nvGrpSpPr>
              <p:grpSpPr bwMode="auto">
                <a:xfrm>
                  <a:off x="2500313" y="3861048"/>
                  <a:ext cx="4214812" cy="2287587"/>
                  <a:chOff x="2500298" y="3929066"/>
                  <a:chExt cx="4214842" cy="2286810"/>
                </a:xfrm>
              </p:grpSpPr>
              <p:sp>
                <p:nvSpPr>
                  <p:cNvPr id="85008" name="Text Box 6"/>
                  <p:cNvSpPr txBox="1">
                    <a:spLocks noChangeArrowheads="1"/>
                  </p:cNvSpPr>
                  <p:nvPr/>
                </p:nvSpPr>
                <p:spPr bwMode="auto">
                  <a:xfrm>
                    <a:off x="2756220" y="3929066"/>
                    <a:ext cx="3816044" cy="22463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zh-CN" altLang="en-US" sz="2400" b="1">
                        <a:latin typeface="Times New Roman" panose="02020603050405020304" pitchFamily="18" charset="0"/>
                      </a:rPr>
                      <a:t>                       任 务</a:t>
                    </a:r>
                    <a:endParaRPr lang="zh-CN" altLang="en-US" sz="2400" b="1">
                      <a:latin typeface="Times New Roman" panose="02020603050405020304" pitchFamily="18" charset="0"/>
                    </a:endParaRPr>
                  </a:p>
                  <a:p>
                    <a:pPr algn="just" eaLnBrk="1" hangingPunct="1">
                      <a:spcBef>
                        <a:spcPct val="0"/>
                      </a:spcBef>
                      <a:buFontTx/>
                      <a:buNone/>
                    </a:pPr>
                    <a:r>
                      <a:rPr lang="zh-CN" altLang="en-US" sz="2400" b="1">
                        <a:latin typeface="Times New Roman" panose="02020603050405020304" pitchFamily="18" charset="0"/>
                      </a:rPr>
                      <a:t>              </a:t>
                    </a:r>
                    <a:r>
                      <a:rPr lang="en-US" altLang="zh-CN" sz="2400" b="1" i="1">
                        <a:latin typeface="Times New Roman" panose="02020603050405020304" pitchFamily="18" charset="0"/>
                      </a:rPr>
                      <a:t>B</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     </a:t>
                    </a:r>
                    <a:r>
                      <a:rPr lang="en-US" altLang="zh-CN" sz="2400" b="1" i="1">
                        <a:latin typeface="Times New Roman" panose="02020603050405020304" pitchFamily="18" charset="0"/>
                      </a:rPr>
                      <a:t>B</a:t>
                    </a:r>
                    <a:r>
                      <a:rPr lang="en-US" altLang="zh-CN" sz="2400" b="1" baseline="-25000">
                        <a:latin typeface="Times New Roman" panose="02020603050405020304" pitchFamily="18" charset="0"/>
                      </a:rPr>
                      <a:t>2</a:t>
                    </a:r>
                    <a:r>
                      <a:rPr lang="en-US" altLang="zh-CN" sz="2400" b="1">
                        <a:latin typeface="Times New Roman" panose="02020603050405020304" pitchFamily="18" charset="0"/>
                      </a:rPr>
                      <a:t>     </a:t>
                    </a:r>
                    <a:r>
                      <a:rPr lang="en-US" altLang="zh-CN" sz="2400" b="1" i="1">
                        <a:latin typeface="Times New Roman" panose="02020603050405020304" pitchFamily="18" charset="0"/>
                      </a:rPr>
                      <a:t>B</a:t>
                    </a:r>
                    <a:r>
                      <a:rPr lang="en-US" altLang="zh-CN" sz="2400" b="1" baseline="-25000">
                        <a:latin typeface="Times New Roman" panose="02020603050405020304" pitchFamily="18" charset="0"/>
                      </a:rPr>
                      <a:t>3</a:t>
                    </a:r>
                    <a:r>
                      <a:rPr lang="en-US" altLang="zh-CN" sz="2400" b="1">
                        <a:latin typeface="Times New Roman" panose="02020603050405020304" pitchFamily="18" charset="0"/>
                      </a:rPr>
                      <a:t>     </a:t>
                    </a:r>
                    <a:r>
                      <a:rPr lang="en-US" altLang="zh-CN" sz="2400" b="1" i="1">
                        <a:latin typeface="Times New Roman" panose="02020603050405020304" pitchFamily="18" charset="0"/>
                      </a:rPr>
                      <a:t>B</a:t>
                    </a:r>
                    <a:r>
                      <a:rPr lang="en-US" altLang="zh-CN" sz="2400" b="1" baseline="-25000">
                        <a:latin typeface="Times New Roman" panose="02020603050405020304" pitchFamily="18" charset="0"/>
                      </a:rPr>
                      <a:t>4</a:t>
                    </a:r>
                    <a:endParaRPr lang="en-US" altLang="zh-CN" sz="2400" b="1" baseline="-25000">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a:t>
                    </a:r>
                    <a:r>
                      <a:rPr lang="en-US" altLang="zh-CN" sz="2400" b="1" i="1">
                        <a:latin typeface="Times New Roman" panose="02020603050405020304" pitchFamily="18" charset="0"/>
                      </a:rPr>
                      <a:t>A</a:t>
                    </a:r>
                    <a:r>
                      <a:rPr lang="en-US" altLang="zh-CN" sz="2400" b="1" baseline="-25000">
                        <a:latin typeface="Times New Roman" panose="02020603050405020304" pitchFamily="18" charset="0"/>
                      </a:rPr>
                      <a:t>1    </a:t>
                    </a:r>
                    <a:r>
                      <a:rPr lang="en-US" altLang="zh-CN" sz="2400" b="1">
                        <a:latin typeface="Times New Roman" panose="02020603050405020304" pitchFamily="18" charset="0"/>
                      </a:rPr>
                      <a:t>       9       4       3      11</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a:t>
                    </a:r>
                    <a:r>
                      <a:rPr lang="en-US" altLang="zh-CN" sz="2400" b="1" i="1">
                        <a:latin typeface="Times New Roman" panose="02020603050405020304" pitchFamily="18" charset="0"/>
                      </a:rPr>
                      <a:t>A</a:t>
                    </a:r>
                    <a:r>
                      <a:rPr lang="en-US" altLang="zh-CN" sz="2400" b="1" baseline="-25000">
                        <a:latin typeface="Times New Roman" panose="02020603050405020304" pitchFamily="18" charset="0"/>
                      </a:rPr>
                      <a:t>2    </a:t>
                    </a:r>
                    <a:r>
                      <a:rPr lang="en-US" altLang="zh-CN" sz="2400" b="1">
                        <a:latin typeface="Times New Roman" panose="02020603050405020304" pitchFamily="18" charset="0"/>
                      </a:rPr>
                      <a:t>       8       5       8       4</a:t>
                    </a:r>
                    <a:endParaRPr lang="en-US" altLang="zh-CN" sz="2400" b="1">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rPr>
                      <a:t> A</a:t>
                    </a:r>
                    <a:r>
                      <a:rPr lang="en-US" altLang="zh-CN" sz="2400" b="1" baseline="-25000">
                        <a:latin typeface="Times New Roman" panose="02020603050405020304" pitchFamily="18" charset="0"/>
                      </a:rPr>
                      <a:t>3    </a:t>
                    </a:r>
                    <a:r>
                      <a:rPr lang="en-US" altLang="zh-CN" sz="2400" b="1">
                        <a:latin typeface="Times New Roman" panose="02020603050405020304" pitchFamily="18" charset="0"/>
                      </a:rPr>
                      <a:t>       3       8       3       1</a:t>
                    </a:r>
                    <a:endParaRPr lang="en-US" altLang="zh-CN" sz="2400" b="1">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rPr>
                      <a:t> A</a:t>
                    </a:r>
                    <a:r>
                      <a:rPr lang="en-US" altLang="zh-CN" sz="2400" b="1" baseline="-25000">
                        <a:latin typeface="Times New Roman" panose="02020603050405020304" pitchFamily="18" charset="0"/>
                      </a:rPr>
                      <a:t>4     </a:t>
                    </a:r>
                    <a:r>
                      <a:rPr lang="en-US" altLang="zh-CN" sz="2400" b="1">
                        <a:latin typeface="Times New Roman" panose="02020603050405020304" pitchFamily="18" charset="0"/>
                      </a:rPr>
                      <a:t>      10     6       9       6</a:t>
                    </a:r>
                    <a:endParaRPr lang="zh-CN" altLang="zh-CN" sz="2400" b="1">
                      <a:latin typeface="Arial" panose="020B0604020202020204" pitchFamily="34" charset="0"/>
                    </a:endParaRPr>
                  </a:p>
                </p:txBody>
              </p:sp>
              <p:cxnSp>
                <p:nvCxnSpPr>
                  <p:cNvPr id="85009" name="AutoShape 7"/>
                  <p:cNvCxnSpPr>
                    <a:cxnSpLocks noChangeShapeType="1"/>
                  </p:cNvCxnSpPr>
                  <p:nvPr/>
                </p:nvCxnSpPr>
                <p:spPr bwMode="auto">
                  <a:xfrm>
                    <a:off x="2500298" y="3984629"/>
                    <a:ext cx="4214842" cy="15875"/>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85010" name="AutoShape 10"/>
                  <p:cNvCxnSpPr>
                    <a:cxnSpLocks noChangeShapeType="1"/>
                  </p:cNvCxnSpPr>
                  <p:nvPr/>
                </p:nvCxnSpPr>
                <p:spPr bwMode="auto">
                  <a:xfrm rot="5400000">
                    <a:off x="2536017" y="5107793"/>
                    <a:ext cx="2214578" cy="1588"/>
                  </a:xfrm>
                  <a:prstGeom prst="straightConnector1">
                    <a:avLst/>
                  </a:prstGeom>
                  <a:noFill/>
                  <a:ln w="6350">
                    <a:solidFill>
                      <a:srgbClr val="000000"/>
                    </a:solidFill>
                    <a:round/>
                  </a:ln>
                  <a:extLst>
                    <a:ext uri="{909E8E84-426E-40DD-AFC4-6F175D3DCCD1}">
                      <a14:hiddenFill xmlns:a14="http://schemas.microsoft.com/office/drawing/2010/main">
                        <a:noFill/>
                      </a14:hiddenFill>
                    </a:ext>
                  </a:extLst>
                </p:spPr>
              </p:cxnSp>
              <p:sp>
                <p:nvSpPr>
                  <p:cNvPr id="85011" name="Text Box 11"/>
                  <p:cNvSpPr txBox="1">
                    <a:spLocks noChangeArrowheads="1"/>
                  </p:cNvSpPr>
                  <p:nvPr/>
                </p:nvSpPr>
                <p:spPr bwMode="auto">
                  <a:xfrm>
                    <a:off x="2613344" y="4162767"/>
                    <a:ext cx="957731" cy="414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zh-CN" altLang="en-US" sz="2400" b="1"/>
                      <a:t>人员</a:t>
                    </a:r>
                    <a:endParaRPr lang="zh-CN" altLang="zh-CN" sz="2400" b="1">
                      <a:latin typeface="Arial" panose="020B0604020202020204" pitchFamily="34" charset="0"/>
                    </a:endParaRPr>
                  </a:p>
                </p:txBody>
              </p:sp>
              <p:cxnSp>
                <p:nvCxnSpPr>
                  <p:cNvPr id="85012" name="AutoShape 7"/>
                  <p:cNvCxnSpPr>
                    <a:cxnSpLocks noChangeShapeType="1"/>
                  </p:cNvCxnSpPr>
                  <p:nvPr/>
                </p:nvCxnSpPr>
                <p:spPr bwMode="auto">
                  <a:xfrm>
                    <a:off x="2500298" y="4714884"/>
                    <a:ext cx="4214842" cy="15875"/>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85013" name="AutoShape 7"/>
                  <p:cNvCxnSpPr>
                    <a:cxnSpLocks noChangeShapeType="1"/>
                  </p:cNvCxnSpPr>
                  <p:nvPr/>
                </p:nvCxnSpPr>
                <p:spPr bwMode="auto">
                  <a:xfrm>
                    <a:off x="2500298" y="6199207"/>
                    <a:ext cx="4214842" cy="15875"/>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grpSp>
            <p:cxnSp>
              <p:nvCxnSpPr>
                <p:cNvPr id="3" name="直接连接符 2"/>
                <p:cNvCxnSpPr/>
                <p:nvPr/>
              </p:nvCxnSpPr>
              <p:spPr>
                <a:xfrm>
                  <a:off x="3641151" y="4292848"/>
                  <a:ext cx="30739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5003" name="AutoShape 7"/>
              <p:cNvCxnSpPr>
                <a:cxnSpLocks noChangeShapeType="1"/>
              </p:cNvCxnSpPr>
              <p:nvPr/>
            </p:nvCxnSpPr>
            <p:spPr bwMode="auto">
              <a:xfrm>
                <a:off x="2500313" y="4997296"/>
                <a:ext cx="4214812" cy="15880"/>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85004" name="AutoShape 7"/>
              <p:cNvCxnSpPr>
                <a:cxnSpLocks noChangeShapeType="1"/>
              </p:cNvCxnSpPr>
              <p:nvPr/>
            </p:nvCxnSpPr>
            <p:spPr bwMode="auto">
              <a:xfrm>
                <a:off x="2464594" y="5332204"/>
                <a:ext cx="4214812" cy="15880"/>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85005" name="AutoShape 7"/>
              <p:cNvCxnSpPr>
                <a:cxnSpLocks noChangeShapeType="1"/>
              </p:cNvCxnSpPr>
              <p:nvPr/>
            </p:nvCxnSpPr>
            <p:spPr bwMode="auto">
              <a:xfrm>
                <a:off x="2464594" y="5732082"/>
                <a:ext cx="4214812" cy="15880"/>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grpSp>
        <p:cxnSp>
          <p:nvCxnSpPr>
            <p:cNvPr id="7" name="直接连接符 6"/>
            <p:cNvCxnSpPr/>
            <p:nvPr/>
          </p:nvCxnSpPr>
          <p:spPr>
            <a:xfrm>
              <a:off x="4355659" y="4302373"/>
              <a:ext cx="0" cy="18446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5076519" y="4302373"/>
              <a:ext cx="0" cy="18446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5795791" y="4286498"/>
              <a:ext cx="0" cy="18446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a:xfrm>
            <a:off x="457200" y="115888"/>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匈牙利算法</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86019" name="内容占位符 2"/>
          <p:cNvSpPr>
            <a:spLocks noGrp="1"/>
          </p:cNvSpPr>
          <p:nvPr>
            <p:ph idx="1"/>
          </p:nvPr>
        </p:nvSpPr>
        <p:spPr>
          <a:xfrm>
            <a:off x="457200" y="1268413"/>
            <a:ext cx="8229600" cy="2143125"/>
          </a:xfrm>
        </p:spPr>
        <p:txBody>
          <a:bodyPr/>
          <a:lstStyle/>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W.W.Kuhn1955</a:t>
            </a:r>
            <a:r>
              <a:rPr lang="zh-CN" altLang="en-US" sz="2400" b="1" smtClean="0">
                <a:latin typeface="Times New Roman" panose="02020603050405020304" pitchFamily="18" charset="0"/>
                <a:cs typeface="Times New Roman" panose="02020603050405020304" pitchFamily="18" charset="0"/>
              </a:rPr>
              <a:t>年提出的有效算法</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是最早的原始</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对偶算法</a:t>
            </a:r>
            <a:r>
              <a:rPr lang="en-US" altLang="zh-CN"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a:p>
            <a:pPr>
              <a:lnSpc>
                <a:spcPct val="200000"/>
              </a:lnSpc>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令</a:t>
            </a:r>
            <a:endParaRPr lang="en-US" altLang="zh-CN" sz="2400" b="1" smtClean="0">
              <a:latin typeface="Times New Roman" panose="02020603050405020304" pitchFamily="18" charset="0"/>
              <a:cs typeface="Times New Roman" panose="02020603050405020304" pitchFamily="18" charset="0"/>
            </a:endParaRPr>
          </a:p>
          <a:p>
            <a:pPr>
              <a:lnSpc>
                <a:spcPct val="200000"/>
              </a:lnSpc>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指派问题可表成 </a:t>
            </a:r>
            <a:r>
              <a:rPr lang="zh-CN" altLang="en-US" sz="2400" b="1" smtClean="0">
                <a:solidFill>
                  <a:srgbClr val="C00000"/>
                </a:solidFill>
                <a:latin typeface="Times New Roman" panose="02020603050405020304" pitchFamily="18" charset="0"/>
                <a:cs typeface="Times New Roman" panose="02020603050405020304" pitchFamily="18" charset="0"/>
              </a:rPr>
              <a:t>线性规划 </a:t>
            </a:r>
            <a:r>
              <a:rPr lang="en-US" altLang="zh-CN" sz="2400" b="1" smtClean="0">
                <a:solidFill>
                  <a:srgbClr val="C00000"/>
                </a:solidFill>
                <a:latin typeface="Times New Roman" panose="02020603050405020304" pitchFamily="18" charset="0"/>
                <a:cs typeface="Times New Roman" panose="02020603050405020304" pitchFamily="18" charset="0"/>
              </a:rPr>
              <a:t>(P)</a:t>
            </a:r>
            <a:endParaRPr lang="en-US" altLang="zh-CN" sz="2400" b="1" smtClean="0">
              <a:solidFill>
                <a:srgbClr val="C00000"/>
              </a:solidFill>
              <a:latin typeface="Times New Roman" panose="02020603050405020304" pitchFamily="18" charset="0"/>
              <a:cs typeface="Times New Roman" panose="02020603050405020304" pitchFamily="18" charset="0"/>
            </a:endParaRPr>
          </a:p>
        </p:txBody>
      </p:sp>
      <p:sp>
        <p:nvSpPr>
          <p:cNvPr id="8602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6775DFD8-5254-4F77-98F3-83FE2A995DFA}" type="slidenum">
              <a:rPr lang="zh-CN" altLang="en-US" sz="1200" smtClean="0">
                <a:solidFill>
                  <a:srgbClr val="898989"/>
                </a:solidFill>
              </a:rPr>
            </a:fld>
            <a:endParaRPr lang="zh-CN" altLang="en-US" sz="1200" smtClean="0">
              <a:solidFill>
                <a:srgbClr val="898989"/>
              </a:solidFill>
            </a:endParaRPr>
          </a:p>
        </p:txBody>
      </p:sp>
      <p:sp>
        <p:nvSpPr>
          <p:cNvPr id="86021"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6022"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86023" name="Object 7"/>
          <p:cNvGraphicFramePr>
            <a:graphicFrameLocks noChangeAspect="1"/>
          </p:cNvGraphicFramePr>
          <p:nvPr/>
        </p:nvGraphicFramePr>
        <p:xfrm>
          <a:off x="2560638" y="3214688"/>
          <a:ext cx="2582862" cy="1001712"/>
        </p:xfrm>
        <a:graphic>
          <a:graphicData uri="http://schemas.openxmlformats.org/presentationml/2006/ole">
            <mc:AlternateContent xmlns:mc="http://schemas.openxmlformats.org/markup-compatibility/2006">
              <mc:Choice xmlns:v="urn:schemas-microsoft-com:vml" Requires="v">
                <p:oleObj spid="_x0000_s86035" name="Equation" r:id="rId1" imgW="1155065" imgH="444500" progId="Equation.3">
                  <p:embed/>
                </p:oleObj>
              </mc:Choice>
              <mc:Fallback>
                <p:oleObj name="Equation" r:id="rId1" imgW="1155065" imgH="4445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0638" y="3214688"/>
                        <a:ext cx="2582862" cy="100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6024" name="Object 9"/>
          <p:cNvGraphicFramePr>
            <a:graphicFrameLocks noChangeAspect="1"/>
          </p:cNvGraphicFramePr>
          <p:nvPr/>
        </p:nvGraphicFramePr>
        <p:xfrm>
          <a:off x="2684463" y="4070350"/>
          <a:ext cx="4030662" cy="1001713"/>
        </p:xfrm>
        <a:graphic>
          <a:graphicData uri="http://schemas.openxmlformats.org/presentationml/2006/ole">
            <mc:AlternateContent xmlns:mc="http://schemas.openxmlformats.org/markup-compatibility/2006">
              <mc:Choice xmlns:v="urn:schemas-microsoft-com:vml" Requires="v">
                <p:oleObj spid="_x0000_s86036" name="Equation" r:id="rId3" imgW="1803400" imgH="444500" progId="Equation.3">
                  <p:embed/>
                </p:oleObj>
              </mc:Choice>
              <mc:Fallback>
                <p:oleObj name="Equation" r:id="rId3" imgW="1803400" imgH="4445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4463" y="4070350"/>
                        <a:ext cx="4030662" cy="100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6025" name="Object 10"/>
          <p:cNvGraphicFramePr>
            <a:graphicFrameLocks noChangeAspect="1"/>
          </p:cNvGraphicFramePr>
          <p:nvPr/>
        </p:nvGraphicFramePr>
        <p:xfrm>
          <a:off x="3500438" y="4941888"/>
          <a:ext cx="3321050" cy="973137"/>
        </p:xfrm>
        <a:graphic>
          <a:graphicData uri="http://schemas.openxmlformats.org/presentationml/2006/ole">
            <mc:AlternateContent xmlns:mc="http://schemas.openxmlformats.org/markup-compatibility/2006">
              <mc:Choice xmlns:v="urn:schemas-microsoft-com:vml" Requires="v">
                <p:oleObj spid="_x0000_s86037" name="Equation" r:id="rId5" imgW="1485900" imgH="431800" progId="Equation.3">
                  <p:embed/>
                </p:oleObj>
              </mc:Choice>
              <mc:Fallback>
                <p:oleObj name="Equation" r:id="rId5" imgW="1485900" imgH="4318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0438" y="4941888"/>
                        <a:ext cx="3321050" cy="97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6026" name="Object 11"/>
          <p:cNvGraphicFramePr>
            <a:graphicFrameLocks noChangeAspect="1"/>
          </p:cNvGraphicFramePr>
          <p:nvPr/>
        </p:nvGraphicFramePr>
        <p:xfrm>
          <a:off x="3498850" y="5857875"/>
          <a:ext cx="4144963" cy="542925"/>
        </p:xfrm>
        <a:graphic>
          <a:graphicData uri="http://schemas.openxmlformats.org/presentationml/2006/ole">
            <mc:AlternateContent xmlns:mc="http://schemas.openxmlformats.org/markup-compatibility/2006">
              <mc:Choice xmlns:v="urn:schemas-microsoft-com:vml" Requires="v">
                <p:oleObj spid="_x0000_s86038" name="Microsoft 公式 3.0" r:id="rId7" imgW="1854200" imgH="241300" progId="Equation.3">
                  <p:embed/>
                </p:oleObj>
              </mc:Choice>
              <mc:Fallback>
                <p:oleObj name="Microsoft 公式 3.0" r:id="rId7" imgW="1854200" imgH="2413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98850" y="5857875"/>
                        <a:ext cx="4144963"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6027" name="组合 2"/>
          <p:cNvGrpSpPr/>
          <p:nvPr/>
        </p:nvGrpSpPr>
        <p:grpSpPr bwMode="auto">
          <a:xfrm>
            <a:off x="2427288" y="1773238"/>
            <a:ext cx="6207125" cy="989012"/>
            <a:chOff x="2427288" y="1772816"/>
            <a:chExt cx="6207125" cy="989012"/>
          </a:xfrm>
        </p:grpSpPr>
        <p:graphicFrame>
          <p:nvGraphicFramePr>
            <p:cNvPr id="86028" name="Object 5"/>
            <p:cNvGraphicFramePr>
              <a:graphicFrameLocks noChangeAspect="1"/>
            </p:cNvGraphicFramePr>
            <p:nvPr/>
          </p:nvGraphicFramePr>
          <p:xfrm>
            <a:off x="2427288" y="1772816"/>
            <a:ext cx="3359150" cy="989012"/>
          </p:xfrm>
          <a:graphic>
            <a:graphicData uri="http://schemas.openxmlformats.org/presentationml/2006/ole">
              <mc:AlternateContent xmlns:mc="http://schemas.openxmlformats.org/markup-compatibility/2006">
                <mc:Choice xmlns:v="urn:schemas-microsoft-com:vml" Requires="v">
                  <p:oleObj spid="_x0000_s86039" name="Microsoft 公式 3.0" r:id="rId9" imgW="1675765" imgH="495300" progId="Equation.3">
                    <p:embed/>
                  </p:oleObj>
                </mc:Choice>
                <mc:Fallback>
                  <p:oleObj name="Microsoft 公式 3.0" r:id="rId9" imgW="1675765" imgH="4953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27288" y="1772816"/>
                          <a:ext cx="3359150" cy="98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6029" name="文本框 1"/>
            <p:cNvSpPr txBox="1">
              <a:spLocks noChangeArrowheads="1"/>
            </p:cNvSpPr>
            <p:nvPr/>
          </p:nvSpPr>
          <p:spPr bwMode="auto">
            <a:xfrm>
              <a:off x="5734051" y="2131170"/>
              <a:ext cx="29003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2400" b="1">
                  <a:latin typeface="Times New Roman" panose="02020603050405020304" pitchFamily="18" charset="0"/>
                  <a:cs typeface="Times New Roman" panose="02020603050405020304" pitchFamily="18" charset="0"/>
                </a:rPr>
                <a:t>1</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i </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n</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  1  </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  </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n</a:t>
              </a:r>
              <a:endParaRPr lang="zh-CN" altLang="en-US" sz="2400" b="1" i="1">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匈牙利算法 </a:t>
            </a:r>
            <a:r>
              <a:rPr lang="en-US" altLang="zh-CN" sz="4000" b="1" smtClean="0">
                <a:solidFill>
                  <a:srgbClr val="C00000"/>
                </a:solidFill>
                <a:latin typeface="Times New Roman" panose="02020603050405020304" pitchFamily="18" charset="0"/>
                <a:cs typeface="Times New Roman" panose="02020603050405020304" pitchFamily="18" charset="0"/>
              </a:rPr>
              <a:t>(</a:t>
            </a:r>
            <a:r>
              <a:rPr lang="zh-CN" altLang="en-US" sz="4000" b="1" smtClean="0">
                <a:solidFill>
                  <a:srgbClr val="C00000"/>
                </a:solidFill>
                <a:latin typeface="Times New Roman" panose="02020603050405020304" pitchFamily="18" charset="0"/>
                <a:cs typeface="Times New Roman" panose="02020603050405020304" pitchFamily="18" charset="0"/>
              </a:rPr>
              <a:t>续</a:t>
            </a:r>
            <a:r>
              <a:rPr lang="en-US" altLang="zh-CN" sz="4000" b="1" smtClean="0">
                <a:solidFill>
                  <a:srgbClr val="C00000"/>
                </a:solidFill>
                <a:latin typeface="Times New Roman" panose="02020603050405020304" pitchFamily="18" charset="0"/>
                <a:cs typeface="Times New Roman" panose="02020603050405020304" pitchFamily="18" charset="0"/>
              </a:rPr>
              <a:t>1)</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87043" name="内容占位符 2"/>
          <p:cNvSpPr>
            <a:spLocks noGrp="1"/>
          </p:cNvSpPr>
          <p:nvPr>
            <p:ph idx="1"/>
          </p:nvPr>
        </p:nvSpPr>
        <p:spPr>
          <a:xfrm>
            <a:off x="485775" y="1357313"/>
            <a:ext cx="8229600" cy="4929187"/>
          </a:xfrm>
        </p:spPr>
        <p:txBody>
          <a:bodyPr/>
          <a:lstStyle/>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(P)</a:t>
            </a:r>
            <a:r>
              <a:rPr lang="zh-CN" altLang="en-US" sz="2400" b="1" smtClean="0">
                <a:latin typeface="Times New Roman" panose="02020603050405020304" pitchFamily="18" charset="0"/>
                <a:cs typeface="Times New Roman" panose="02020603050405020304" pitchFamily="18" charset="0"/>
              </a:rPr>
              <a:t>的 </a:t>
            </a:r>
            <a:r>
              <a:rPr lang="zh-CN" altLang="en-US" sz="2400" b="1" smtClean="0">
                <a:solidFill>
                  <a:srgbClr val="C00000"/>
                </a:solidFill>
                <a:latin typeface="Times New Roman" panose="02020603050405020304" pitchFamily="18" charset="0"/>
                <a:cs typeface="Times New Roman" panose="02020603050405020304" pitchFamily="18" charset="0"/>
              </a:rPr>
              <a:t>对偶规划 </a:t>
            </a:r>
            <a:r>
              <a:rPr lang="en-US" altLang="zh-CN" sz="2400" b="1" smtClean="0">
                <a:solidFill>
                  <a:srgbClr val="C00000"/>
                </a:solidFill>
                <a:latin typeface="Times New Roman" panose="02020603050405020304" pitchFamily="18" charset="0"/>
                <a:cs typeface="Times New Roman" panose="02020603050405020304" pitchFamily="18" charset="0"/>
              </a:rPr>
              <a:t>(D)</a:t>
            </a:r>
            <a:endParaRPr lang="en-US" altLang="zh-CN" sz="2400" b="1" smtClean="0">
              <a:solidFill>
                <a:srgbClr val="C00000"/>
              </a:solidFill>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s.t.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i </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w</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ij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1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i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n</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1 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n</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smtClean="0">
                <a:latin typeface="Times New Roman" panose="02020603050405020304" pitchFamily="18" charset="0"/>
                <a:cs typeface="Times New Roman" panose="02020603050405020304" pitchFamily="18" charset="0"/>
                <a:sym typeface="Symbol" panose="05050102010706020507" pitchFamily="18" charset="2"/>
              </a:rPr>
              <a:t>任意</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1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i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n</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smtClean="0">
                <a:latin typeface="Times New Roman" panose="02020603050405020304" pitchFamily="18" charset="0"/>
                <a:cs typeface="Times New Roman" panose="02020603050405020304" pitchFamily="18" charset="0"/>
                <a:sym typeface="Symbol" panose="05050102010706020507" pitchFamily="18" charset="2"/>
              </a:rPr>
              <a:t>任意</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1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n</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400" b="1" i="1" smtClean="0">
              <a:latin typeface="Times New Roman" panose="02020603050405020304" pitchFamily="18" charset="0"/>
              <a:cs typeface="Times New Roman" panose="02020603050405020304" pitchFamily="18" charset="0"/>
              <a:sym typeface="Symbol" panose="05050102010706020507" pitchFamily="18" charset="2"/>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取</a:t>
            </a:r>
            <a:r>
              <a:rPr lang="en-US" altLang="zh-CN" sz="2400" b="1" smtClean="0">
                <a:latin typeface="Times New Roman" panose="02020603050405020304" pitchFamily="18" charset="0"/>
                <a:cs typeface="Times New Roman" panose="02020603050405020304" pitchFamily="18" charset="0"/>
              </a:rPr>
              <a:t>(D)</a:t>
            </a:r>
            <a:r>
              <a:rPr lang="zh-CN" altLang="en-US" sz="2400" b="1" smtClean="0">
                <a:latin typeface="Times New Roman" panose="02020603050405020304" pitchFamily="18" charset="0"/>
                <a:cs typeface="Times New Roman" panose="02020603050405020304" pitchFamily="18" charset="0"/>
              </a:rPr>
              <a:t>的可行解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(0) </a:t>
            </a:r>
            <a:r>
              <a:rPr lang="en-US" altLang="zh-CN" sz="2400" b="1" smtClean="0">
                <a:latin typeface="Times New Roman" panose="02020603050405020304" pitchFamily="18" charset="0"/>
                <a:cs typeface="Times New Roman" panose="02020603050405020304" pitchFamily="18" charset="0"/>
              </a:rPr>
              <a:t>= 0,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1 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i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n</a:t>
            </a:r>
            <a:r>
              <a:rPr lang="zh-CN" altLang="en-US"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(0) </a:t>
            </a:r>
            <a:r>
              <a:rPr lang="en-US" altLang="zh-CN" sz="2400" b="1" smtClean="0">
                <a:latin typeface="Times New Roman" panose="02020603050405020304" pitchFamily="18" charset="0"/>
                <a:cs typeface="Times New Roman" panose="02020603050405020304" pitchFamily="18" charset="0"/>
              </a:rPr>
              <a:t>= min{ </a:t>
            </a:r>
            <a:r>
              <a:rPr lang="en-US" altLang="zh-CN" sz="2400" b="1" i="1" smtClean="0">
                <a:latin typeface="Times New Roman" panose="02020603050405020304" pitchFamily="18" charset="0"/>
                <a:cs typeface="Times New Roman" panose="02020603050405020304" pitchFamily="18" charset="0"/>
              </a:rPr>
              <a:t>w</a:t>
            </a:r>
            <a:r>
              <a:rPr lang="en-US" altLang="zh-CN" sz="2400" b="1" i="1" baseline="-25000" smtClean="0">
                <a:latin typeface="Times New Roman" panose="02020603050405020304" pitchFamily="18" charset="0"/>
                <a:cs typeface="Times New Roman" panose="02020603050405020304" pitchFamily="18" charset="0"/>
              </a:rPr>
              <a:t>ij</a:t>
            </a:r>
            <a:r>
              <a:rPr lang="en-US" altLang="zh-CN" sz="2400" b="1" smtClean="0">
                <a:latin typeface="Times New Roman" panose="02020603050405020304" pitchFamily="18" charset="0"/>
                <a:cs typeface="Times New Roman" panose="02020603050405020304" pitchFamily="18" charset="0"/>
              </a:rPr>
              <a:t> |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1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i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n</a:t>
            </a:r>
            <a:r>
              <a:rPr lang="en-US" altLang="zh-CN" sz="2400" b="1" smtClean="0">
                <a:latin typeface="Times New Roman" panose="02020603050405020304" pitchFamily="18" charset="0"/>
                <a:cs typeface="Times New Roman" panose="02020603050405020304" pitchFamily="18" charset="0"/>
              </a:rPr>
              <a:t>  },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1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n</a:t>
            </a:r>
            <a:r>
              <a:rPr lang="zh-CN" altLang="en-US" sz="2400" b="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记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                               IJ </a:t>
            </a:r>
            <a:r>
              <a:rPr lang="en-US" altLang="zh-CN" sz="2400" b="1" smtClean="0">
                <a:latin typeface="Times New Roman" panose="02020603050405020304" pitchFamily="18" charset="0"/>
                <a:cs typeface="Times New Roman" panose="02020603050405020304" pitchFamily="18" charset="0"/>
              </a:rPr>
              <a:t>= { (</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(0) </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(0) </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w</a:t>
            </a:r>
            <a:r>
              <a:rPr lang="en-US" altLang="zh-CN" sz="2400" b="1" i="1" baseline="-25000" smtClean="0">
                <a:latin typeface="Times New Roman" panose="02020603050405020304" pitchFamily="18" charset="0"/>
                <a:cs typeface="Times New Roman" panose="02020603050405020304" pitchFamily="18" charset="0"/>
              </a:rPr>
              <a:t>ij</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p:txBody>
      </p:sp>
      <p:sp>
        <p:nvSpPr>
          <p:cNvPr id="8704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7E81562A-2787-4B26-9661-B0F3654D756E}" type="slidenum">
              <a:rPr lang="zh-CN" altLang="en-US" sz="1200" smtClean="0">
                <a:solidFill>
                  <a:srgbClr val="898989"/>
                </a:solidFill>
              </a:rPr>
            </a:fld>
            <a:endParaRPr lang="zh-CN" altLang="en-US" sz="1200" smtClean="0">
              <a:solidFill>
                <a:srgbClr val="898989"/>
              </a:solidFill>
            </a:endParaRPr>
          </a:p>
        </p:txBody>
      </p:sp>
      <p:graphicFrame>
        <p:nvGraphicFramePr>
          <p:cNvPr id="87045" name="Object 7"/>
          <p:cNvGraphicFramePr>
            <a:graphicFrameLocks noChangeAspect="1"/>
          </p:cNvGraphicFramePr>
          <p:nvPr/>
        </p:nvGraphicFramePr>
        <p:xfrm>
          <a:off x="2214563" y="1643063"/>
          <a:ext cx="2714625" cy="947737"/>
        </p:xfrm>
        <a:graphic>
          <a:graphicData uri="http://schemas.openxmlformats.org/presentationml/2006/ole">
            <mc:AlternateContent xmlns:mc="http://schemas.openxmlformats.org/markup-compatibility/2006">
              <mc:Choice xmlns:v="urn:schemas-microsoft-com:vml" Requires="v">
                <p:oleObj spid="_x0000_s87047" name="Equation" r:id="rId1" imgW="1282700" imgH="444500" progId="Equation.3">
                  <p:embed/>
                </p:oleObj>
              </mc:Choice>
              <mc:Fallback>
                <p:oleObj name="Equation" r:id="rId1" imgW="1282700" imgH="4445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4563" y="1643063"/>
                        <a:ext cx="2714625" cy="94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a:xfrm>
            <a:off x="457200" y="177800"/>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匈牙利算法（续</a:t>
            </a:r>
            <a:r>
              <a:rPr lang="en-US" altLang="zh-CN" sz="4000" b="1" smtClean="0">
                <a:solidFill>
                  <a:srgbClr val="C00000"/>
                </a:solidFill>
                <a:latin typeface="Times New Roman" panose="02020603050405020304" pitchFamily="18" charset="0"/>
                <a:cs typeface="Times New Roman" panose="02020603050405020304" pitchFamily="18" charset="0"/>
              </a:rPr>
              <a:t>2</a:t>
            </a:r>
            <a:r>
              <a:rPr lang="zh-CN" altLang="en-US" sz="4000" b="1" smtClean="0">
                <a:solidFill>
                  <a:srgbClr val="C00000"/>
                </a:solidFill>
                <a:latin typeface="Times New Roman" panose="02020603050405020304" pitchFamily="18" charset="0"/>
                <a:cs typeface="Times New Roman" panose="02020603050405020304" pitchFamily="18" charset="0"/>
              </a:rPr>
              <a:t>）</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8806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3096BCA1-254F-42E2-AE23-566CB3269C18}" type="slidenum">
              <a:rPr lang="zh-CN" altLang="en-US" sz="1200" smtClean="0">
                <a:solidFill>
                  <a:srgbClr val="898989"/>
                </a:solidFill>
              </a:rPr>
            </a:fld>
            <a:endParaRPr lang="zh-CN" altLang="en-US" sz="1200" smtClean="0">
              <a:solidFill>
                <a:srgbClr val="898989"/>
              </a:solidFill>
            </a:endParaRPr>
          </a:p>
        </p:txBody>
      </p:sp>
      <p:grpSp>
        <p:nvGrpSpPr>
          <p:cNvPr id="2" name="组合 15"/>
          <p:cNvGrpSpPr/>
          <p:nvPr/>
        </p:nvGrpSpPr>
        <p:grpSpPr bwMode="auto">
          <a:xfrm>
            <a:off x="4143375" y="1285875"/>
            <a:ext cx="4572000" cy="4857750"/>
            <a:chOff x="4143372" y="1285860"/>
            <a:chExt cx="4572032" cy="4857784"/>
          </a:xfrm>
        </p:grpSpPr>
        <p:sp>
          <p:nvSpPr>
            <p:cNvPr id="7" name="内容占位符 2"/>
            <p:cNvSpPr txBox="1"/>
            <p:nvPr/>
          </p:nvSpPr>
          <p:spPr bwMode="auto">
            <a:xfrm>
              <a:off x="4143372" y="1285860"/>
              <a:ext cx="4572032" cy="4857784"/>
            </a:xfrm>
            <a:prstGeom prst="rect">
              <a:avLst/>
            </a:prstGeom>
            <a:noFill/>
            <a:ln w="9525">
              <a:noFill/>
              <a:miter lim="800000"/>
            </a:ln>
          </p:spPr>
          <p:txBody>
            <a:bodyPr/>
            <a:lstStyle/>
            <a:p>
              <a:pPr marL="342900" indent="-342900">
                <a:spcBef>
                  <a:spcPct val="20000"/>
                </a:spcBef>
                <a:buFont typeface="Arial" panose="020B0604020202020204" pitchFamily="34" charset="0"/>
                <a:buNone/>
                <a:defRPr/>
              </a:pPr>
              <a:r>
                <a:rPr lang="zh-CN" altLang="en-US" sz="2400" b="1" dirty="0">
                  <a:latin typeface="Times New Roman" panose="02020603050405020304" pitchFamily="18" charset="0"/>
                  <a:ea typeface="+mn-ea"/>
                  <a:cs typeface="Times New Roman" panose="02020603050405020304" pitchFamily="18" charset="0"/>
                </a:rPr>
                <a:t>构造</a:t>
              </a:r>
              <a:r>
                <a:rPr lang="zh-CN" altLang="en-US" sz="2400" b="1" dirty="0">
                  <a:solidFill>
                    <a:srgbClr val="C00000"/>
                  </a:solidFill>
                  <a:latin typeface="Times New Roman" panose="02020603050405020304" pitchFamily="18" charset="0"/>
                  <a:ea typeface="+mn-ea"/>
                  <a:cs typeface="Times New Roman" panose="02020603050405020304" pitchFamily="18" charset="0"/>
                </a:rPr>
                <a:t>限制的原始问题</a:t>
              </a:r>
              <a:r>
                <a:rPr lang="en-US" altLang="zh-CN" sz="2400" b="1" dirty="0">
                  <a:solidFill>
                    <a:srgbClr val="C00000"/>
                  </a:solidFill>
                  <a:latin typeface="Times New Roman" panose="02020603050405020304" pitchFamily="18" charset="0"/>
                  <a:ea typeface="+mn-ea"/>
                  <a:cs typeface="Times New Roman" panose="02020603050405020304" pitchFamily="18" charset="0"/>
                </a:rPr>
                <a:t>(RP)</a:t>
              </a:r>
              <a:endParaRPr lang="en-US" altLang="zh-CN" sz="2400" b="1" dirty="0">
                <a:solidFill>
                  <a:srgbClr val="C00000"/>
                </a:solidFill>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endParaRPr lang="en-US" altLang="zh-CN"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endParaRPr lang="en-US" altLang="zh-CN"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endParaRPr lang="en-US" altLang="zh-CN"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endParaRPr lang="en-US" altLang="zh-CN"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endParaRPr lang="en-US" altLang="zh-CN"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endParaRPr lang="en-US" altLang="zh-CN"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r>
                <a:rPr lang="en-US" altLang="zh-CN" sz="2400" b="1" dirty="0">
                  <a:latin typeface="Times New Roman" panose="02020603050405020304" pitchFamily="18" charset="0"/>
                  <a:ea typeface="+mn-ea"/>
                  <a:cs typeface="Times New Roman" panose="02020603050405020304" pitchFamily="18" charset="0"/>
                </a:rPr>
                <a:t>           </a:t>
              </a:r>
              <a:r>
                <a:rPr lang="en-US" altLang="zh-CN" sz="2400" b="1" i="1" dirty="0" err="1">
                  <a:latin typeface="Times New Roman" panose="02020603050405020304" pitchFamily="18" charset="0"/>
                  <a:ea typeface="+mn-ea"/>
                  <a:cs typeface="Times New Roman" panose="02020603050405020304" pitchFamily="18" charset="0"/>
                </a:rPr>
                <a:t>x</a:t>
              </a:r>
              <a:r>
                <a:rPr lang="en-US" altLang="zh-CN" sz="2400" b="1" i="1" baseline="-25000" dirty="0" err="1">
                  <a:latin typeface="Times New Roman" panose="02020603050405020304" pitchFamily="18" charset="0"/>
                  <a:ea typeface="+mn-ea"/>
                  <a:cs typeface="Times New Roman" panose="02020603050405020304" pitchFamily="18" charset="0"/>
                </a:rPr>
                <a:t>ij</a:t>
              </a:r>
              <a:r>
                <a:rPr lang="en-US" altLang="zh-CN" sz="2400" b="1" i="1" baseline="-25000" dirty="0">
                  <a:latin typeface="Times New Roman" panose="02020603050405020304" pitchFamily="18" charset="0"/>
                  <a:ea typeface="+mn-ea"/>
                  <a:cs typeface="Times New Roman" panose="02020603050405020304" pitchFamily="18" charset="0"/>
                </a:rPr>
                <a:t> </a:t>
              </a:r>
              <a:r>
                <a:rPr lang="en-US" altLang="zh-CN" sz="2400" b="1" dirty="0">
                  <a:latin typeface="Times New Roman" panose="02020603050405020304" pitchFamily="18" charset="0"/>
                  <a:ea typeface="+mn-ea"/>
                  <a:cs typeface="Times New Roman" panose="02020603050405020304" pitchFamily="18" charset="0"/>
                  <a:sym typeface="Symbol" panose="05050102010706020507"/>
                </a:rPr>
                <a:t> 0,     (</a:t>
              </a:r>
              <a:r>
                <a:rPr lang="en-US" altLang="zh-CN" sz="2400" b="1" i="1" dirty="0" err="1">
                  <a:latin typeface="Times New Roman" panose="02020603050405020304" pitchFamily="18" charset="0"/>
                  <a:ea typeface="+mn-ea"/>
                  <a:cs typeface="Times New Roman" panose="02020603050405020304" pitchFamily="18" charset="0"/>
                  <a:sym typeface="Symbol" panose="05050102010706020507"/>
                </a:rPr>
                <a:t>i</a:t>
              </a:r>
              <a:r>
                <a:rPr lang="en-US" altLang="zh-CN" sz="2400" b="1" dirty="0">
                  <a:latin typeface="Times New Roman" panose="02020603050405020304" pitchFamily="18" charset="0"/>
                  <a:ea typeface="+mn-ea"/>
                  <a:cs typeface="Times New Roman" panose="02020603050405020304" pitchFamily="18" charset="0"/>
                  <a:sym typeface="Symbol" panose="05050102010706020507"/>
                </a:rPr>
                <a:t>, </a:t>
              </a:r>
              <a:r>
                <a:rPr lang="en-US" altLang="zh-CN" sz="2400" b="1" i="1" dirty="0">
                  <a:latin typeface="Times New Roman" panose="02020603050405020304" pitchFamily="18" charset="0"/>
                  <a:ea typeface="+mn-ea"/>
                  <a:cs typeface="Times New Roman" panose="02020603050405020304" pitchFamily="18" charset="0"/>
                  <a:sym typeface="Symbol" panose="05050102010706020507"/>
                </a:rPr>
                <a:t>j</a:t>
              </a:r>
              <a:r>
                <a:rPr lang="en-US" altLang="zh-CN" sz="2400" b="1" dirty="0">
                  <a:latin typeface="Times New Roman" panose="02020603050405020304" pitchFamily="18" charset="0"/>
                  <a:ea typeface="+mn-ea"/>
                  <a:cs typeface="Times New Roman" panose="02020603050405020304" pitchFamily="18" charset="0"/>
                  <a:sym typeface="Symbol" panose="05050102010706020507"/>
                </a:rPr>
                <a:t>)</a:t>
              </a:r>
              <a:r>
                <a:rPr lang="en-US" altLang="zh-CN" sz="2400" b="1" i="1" dirty="0">
                  <a:latin typeface="Times New Roman" panose="02020603050405020304" pitchFamily="18" charset="0"/>
                  <a:ea typeface="+mn-ea"/>
                  <a:cs typeface="Times New Roman" panose="02020603050405020304" pitchFamily="18" charset="0"/>
                  <a:sym typeface="Symbol" panose="05050102010706020507"/>
                </a:rPr>
                <a:t>IJ</a:t>
              </a:r>
              <a:r>
                <a:rPr lang="en-US" altLang="zh-CN" sz="2400" b="1" dirty="0">
                  <a:latin typeface="Times New Roman" panose="02020603050405020304" pitchFamily="18" charset="0"/>
                  <a:ea typeface="+mn-ea"/>
                  <a:cs typeface="Times New Roman" panose="02020603050405020304" pitchFamily="18" charset="0"/>
                  <a:sym typeface="Symbol" panose="05050102010706020507"/>
                </a:rPr>
                <a:t>   </a:t>
              </a:r>
              <a:endParaRPr lang="en-US" altLang="zh-CN" sz="2400" b="1" dirty="0">
                <a:latin typeface="Times New Roman" panose="02020603050405020304" pitchFamily="18" charset="0"/>
                <a:ea typeface="+mn-ea"/>
                <a:cs typeface="Times New Roman" panose="02020603050405020304" pitchFamily="18" charset="0"/>
                <a:sym typeface="Symbol" panose="05050102010706020507"/>
              </a:endParaRPr>
            </a:p>
            <a:p>
              <a:pPr marL="342900" indent="-342900">
                <a:spcBef>
                  <a:spcPct val="20000"/>
                </a:spcBef>
                <a:buFont typeface="Arial" panose="020B0604020202020204" pitchFamily="34" charset="0"/>
                <a:buNone/>
                <a:defRPr/>
              </a:pPr>
              <a:r>
                <a:rPr lang="en-US" altLang="zh-CN" sz="2400" b="1" dirty="0">
                  <a:latin typeface="Times New Roman" panose="02020603050405020304" pitchFamily="18" charset="0"/>
                  <a:ea typeface="+mn-ea"/>
                  <a:cs typeface="Times New Roman" panose="02020603050405020304" pitchFamily="18" charset="0"/>
                  <a:sym typeface="Symbol" panose="05050102010706020507"/>
                </a:rPr>
                <a:t>           </a:t>
              </a:r>
              <a:r>
                <a:rPr lang="en-US" altLang="zh-CN" sz="2400" b="1" i="1" dirty="0" err="1">
                  <a:latin typeface="Times New Roman" panose="02020603050405020304" pitchFamily="18" charset="0"/>
                  <a:ea typeface="+mn-ea"/>
                  <a:cs typeface="Times New Roman" panose="02020603050405020304" pitchFamily="18" charset="0"/>
                  <a:sym typeface="Symbol" panose="05050102010706020507"/>
                </a:rPr>
                <a:t>x</a:t>
              </a:r>
              <a:r>
                <a:rPr lang="en-US" altLang="zh-CN" sz="2400" b="1" i="1" baseline="-25000" dirty="0" err="1">
                  <a:latin typeface="Times New Roman" panose="02020603050405020304" pitchFamily="18" charset="0"/>
                  <a:ea typeface="+mn-ea"/>
                  <a:cs typeface="Times New Roman" panose="02020603050405020304" pitchFamily="18" charset="0"/>
                  <a:sym typeface="Symbol" panose="05050102010706020507"/>
                </a:rPr>
                <a:t>ij</a:t>
              </a:r>
              <a:r>
                <a:rPr lang="en-US" altLang="zh-CN" sz="2400" b="1" i="1" baseline="-25000" dirty="0">
                  <a:latin typeface="Times New Roman" panose="02020603050405020304" pitchFamily="18" charset="0"/>
                  <a:ea typeface="+mn-ea"/>
                  <a:cs typeface="Times New Roman" panose="02020603050405020304" pitchFamily="18" charset="0"/>
                  <a:sym typeface="Symbol" panose="05050102010706020507"/>
                </a:rPr>
                <a:t> </a:t>
              </a:r>
              <a:r>
                <a:rPr lang="en-US" altLang="zh-CN" sz="2400" b="1" dirty="0">
                  <a:latin typeface="Times New Roman" panose="02020603050405020304" pitchFamily="18" charset="0"/>
                  <a:ea typeface="+mn-ea"/>
                  <a:cs typeface="Times New Roman" panose="02020603050405020304" pitchFamily="18" charset="0"/>
                  <a:sym typeface="Symbol" panose="05050102010706020507"/>
                </a:rPr>
                <a:t>= 0,      (</a:t>
              </a:r>
              <a:r>
                <a:rPr lang="en-US" altLang="zh-CN" sz="2400" b="1" i="1" dirty="0" err="1">
                  <a:latin typeface="Times New Roman" panose="02020603050405020304" pitchFamily="18" charset="0"/>
                  <a:ea typeface="+mn-ea"/>
                  <a:cs typeface="Times New Roman" panose="02020603050405020304" pitchFamily="18" charset="0"/>
                  <a:sym typeface="Symbol" panose="05050102010706020507"/>
                </a:rPr>
                <a:t>i</a:t>
              </a:r>
              <a:r>
                <a:rPr lang="en-US" altLang="zh-CN" sz="2400" b="1" dirty="0">
                  <a:latin typeface="Times New Roman" panose="02020603050405020304" pitchFamily="18" charset="0"/>
                  <a:ea typeface="+mn-ea"/>
                  <a:cs typeface="Times New Roman" panose="02020603050405020304" pitchFamily="18" charset="0"/>
                  <a:sym typeface="Symbol" panose="05050102010706020507"/>
                </a:rPr>
                <a:t>, </a:t>
              </a:r>
              <a:r>
                <a:rPr lang="en-US" altLang="zh-CN" sz="2400" b="1" i="1" dirty="0">
                  <a:latin typeface="Times New Roman" panose="02020603050405020304" pitchFamily="18" charset="0"/>
                  <a:ea typeface="+mn-ea"/>
                  <a:cs typeface="Times New Roman" panose="02020603050405020304" pitchFamily="18" charset="0"/>
                  <a:sym typeface="Symbol" panose="05050102010706020507"/>
                </a:rPr>
                <a:t>j</a:t>
              </a:r>
              <a:r>
                <a:rPr lang="en-US" altLang="zh-CN" sz="2400" b="1" dirty="0">
                  <a:latin typeface="Times New Roman" panose="02020603050405020304" pitchFamily="18" charset="0"/>
                  <a:ea typeface="+mn-ea"/>
                  <a:cs typeface="Times New Roman" panose="02020603050405020304" pitchFamily="18" charset="0"/>
                  <a:sym typeface="Symbol" panose="05050102010706020507"/>
                </a:rPr>
                <a:t>)</a:t>
              </a:r>
              <a:r>
                <a:rPr lang="en-US" altLang="zh-CN" sz="2400" b="1" i="1" dirty="0">
                  <a:latin typeface="Times New Roman" panose="02020603050405020304" pitchFamily="18" charset="0"/>
                  <a:ea typeface="+mn-ea"/>
                  <a:cs typeface="Times New Roman" panose="02020603050405020304" pitchFamily="18" charset="0"/>
                  <a:sym typeface="Symbol" panose="05050102010706020507"/>
                </a:rPr>
                <a:t>IJ</a:t>
              </a:r>
              <a:endParaRPr lang="en-US" altLang="zh-CN" sz="2400" b="1" i="1" dirty="0">
                <a:latin typeface="Times New Roman" panose="02020603050405020304" pitchFamily="18" charset="0"/>
                <a:ea typeface="+mn-ea"/>
                <a:cs typeface="Times New Roman" panose="02020603050405020304" pitchFamily="18" charset="0"/>
                <a:sym typeface="Symbol" panose="05050102010706020507"/>
              </a:endParaRPr>
            </a:p>
            <a:p>
              <a:pPr marL="342900" indent="-342900">
                <a:spcBef>
                  <a:spcPct val="20000"/>
                </a:spcBef>
                <a:buFont typeface="Arial" panose="020B0604020202020204" pitchFamily="34" charset="0"/>
                <a:buNone/>
                <a:defRPr/>
              </a:pPr>
              <a:r>
                <a:rPr lang="en-US" altLang="zh-CN" sz="2400" b="1" dirty="0">
                  <a:latin typeface="Times New Roman" panose="02020603050405020304" pitchFamily="18" charset="0"/>
                  <a:ea typeface="+mn-ea"/>
                  <a:cs typeface="Times New Roman" panose="02020603050405020304" pitchFamily="18" charset="0"/>
                  <a:sym typeface="Symbol" panose="05050102010706020507"/>
                </a:rPr>
                <a:t>           </a:t>
              </a:r>
              <a:r>
                <a:rPr lang="en-US" altLang="zh-CN" sz="2400" b="1" i="1" dirty="0" err="1">
                  <a:latin typeface="Times New Roman" panose="02020603050405020304" pitchFamily="18" charset="0"/>
                  <a:ea typeface="+mn-ea"/>
                  <a:cs typeface="Times New Roman" panose="02020603050405020304" pitchFamily="18" charset="0"/>
                  <a:sym typeface="Symbol" panose="05050102010706020507"/>
                </a:rPr>
                <a:t>y</a:t>
              </a:r>
              <a:r>
                <a:rPr lang="en-US" altLang="zh-CN" sz="2400" b="1" i="1" baseline="-25000" dirty="0" err="1">
                  <a:latin typeface="Times New Roman" panose="02020603050405020304" pitchFamily="18" charset="0"/>
                  <a:ea typeface="+mn-ea"/>
                  <a:cs typeface="Times New Roman" panose="02020603050405020304" pitchFamily="18" charset="0"/>
                  <a:sym typeface="Symbol" panose="05050102010706020507"/>
                </a:rPr>
                <a:t>k</a:t>
              </a:r>
              <a:r>
                <a:rPr lang="en-US" altLang="zh-CN" sz="2400" b="1" i="1" baseline="-25000" dirty="0">
                  <a:latin typeface="Times New Roman" panose="02020603050405020304" pitchFamily="18" charset="0"/>
                  <a:ea typeface="+mn-ea"/>
                  <a:cs typeface="Times New Roman" panose="02020603050405020304" pitchFamily="18" charset="0"/>
                  <a:sym typeface="Symbol" panose="05050102010706020507"/>
                </a:rPr>
                <a:t> </a:t>
              </a:r>
              <a:r>
                <a:rPr lang="en-US" altLang="zh-CN" sz="2400" b="1" dirty="0">
                  <a:latin typeface="Times New Roman" panose="02020603050405020304" pitchFamily="18" charset="0"/>
                  <a:ea typeface="+mn-ea"/>
                  <a:cs typeface="Times New Roman" panose="02020603050405020304" pitchFamily="18" charset="0"/>
                  <a:sym typeface="Symbol" panose="05050102010706020507"/>
                </a:rPr>
                <a:t> 0,       1 </a:t>
              </a:r>
              <a:r>
                <a:rPr lang="en-US" altLang="zh-CN" sz="2400" b="1" i="1" dirty="0">
                  <a:latin typeface="Times New Roman" panose="02020603050405020304" pitchFamily="18" charset="0"/>
                  <a:ea typeface="+mn-ea"/>
                  <a:cs typeface="Times New Roman" panose="02020603050405020304" pitchFamily="18" charset="0"/>
                  <a:sym typeface="Symbol" panose="05050102010706020507"/>
                </a:rPr>
                <a:t>k </a:t>
              </a:r>
              <a:r>
                <a:rPr lang="en-US" altLang="zh-CN" sz="2400" b="1" dirty="0">
                  <a:latin typeface="Times New Roman" panose="02020603050405020304" pitchFamily="18" charset="0"/>
                  <a:ea typeface="+mn-ea"/>
                  <a:cs typeface="Times New Roman" panose="02020603050405020304" pitchFamily="18" charset="0"/>
                  <a:sym typeface="Symbol" panose="05050102010706020507"/>
                </a:rPr>
                <a:t> 2</a:t>
              </a:r>
              <a:r>
                <a:rPr lang="en-US" altLang="zh-CN" sz="2400" b="1" i="1" dirty="0">
                  <a:latin typeface="Times New Roman" panose="02020603050405020304" pitchFamily="18" charset="0"/>
                  <a:ea typeface="+mn-ea"/>
                  <a:cs typeface="Times New Roman" panose="02020603050405020304" pitchFamily="18" charset="0"/>
                  <a:sym typeface="Symbol" panose="05050102010706020507"/>
                </a:rPr>
                <a:t>n</a:t>
              </a:r>
              <a:endParaRPr lang="en-US" altLang="zh-CN" sz="2400" b="1" i="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r>
                <a:rPr lang="en-US" altLang="zh-CN" sz="2400" b="1" i="1" dirty="0">
                  <a:latin typeface="Times New Roman" panose="02020603050405020304" pitchFamily="18" charset="0"/>
                  <a:cs typeface="Times New Roman" panose="02020603050405020304" pitchFamily="18" charset="0"/>
                </a:rPr>
                <a:t>    </a:t>
              </a:r>
              <a:r>
                <a:rPr lang="en-US" altLang="zh-CN" sz="2400" b="1" i="1" dirty="0" err="1">
                  <a:latin typeface="Times New Roman" panose="02020603050405020304" pitchFamily="18" charset="0"/>
                  <a:cs typeface="Times New Roman" panose="02020603050405020304" pitchFamily="18" charset="0"/>
                </a:rPr>
                <a:t>y</a:t>
              </a:r>
              <a:r>
                <a:rPr lang="en-US" altLang="zh-CN" sz="2400" b="1" i="1" baseline="-25000" dirty="0" err="1">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是人工变量</a:t>
              </a:r>
              <a:endParaRPr lang="en-US" sz="2400" b="1" dirty="0">
                <a:latin typeface="Times New Roman" panose="02020603050405020304" pitchFamily="18" charset="0"/>
                <a:cs typeface="Times New Roman" panose="02020603050405020304" pitchFamily="18" charset="0"/>
              </a:endParaRPr>
            </a:p>
          </p:txBody>
        </p:sp>
        <p:graphicFrame>
          <p:nvGraphicFramePr>
            <p:cNvPr id="88074" name="Object 7"/>
            <p:cNvGraphicFramePr>
              <a:graphicFrameLocks noChangeAspect="1"/>
            </p:cNvGraphicFramePr>
            <p:nvPr/>
          </p:nvGraphicFramePr>
          <p:xfrm>
            <a:off x="4400550" y="1694124"/>
            <a:ext cx="2100276" cy="877620"/>
          </p:xfrm>
          <a:graphic>
            <a:graphicData uri="http://schemas.openxmlformats.org/presentationml/2006/ole">
              <mc:AlternateContent xmlns:mc="http://schemas.openxmlformats.org/markup-compatibility/2006">
                <mc:Choice xmlns:v="urn:schemas-microsoft-com:vml" Requires="v">
                  <p:oleObj spid="_x0000_s88082" name="Equation" r:id="rId1" imgW="1040765" imgH="431800" progId="Equation.3">
                    <p:embed/>
                  </p:oleObj>
                </mc:Choice>
                <mc:Fallback>
                  <p:oleObj name="Equation" r:id="rId1" imgW="1040765" imgH="4318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0550" y="1694124"/>
                          <a:ext cx="2100276" cy="877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8075" name="Object 8"/>
            <p:cNvGraphicFramePr>
              <a:graphicFrameLocks noChangeAspect="1"/>
            </p:cNvGraphicFramePr>
            <p:nvPr/>
          </p:nvGraphicFramePr>
          <p:xfrm>
            <a:off x="4429124" y="2505792"/>
            <a:ext cx="3714776" cy="923208"/>
          </p:xfrm>
          <a:graphic>
            <a:graphicData uri="http://schemas.openxmlformats.org/presentationml/2006/ole">
              <mc:AlternateContent xmlns:mc="http://schemas.openxmlformats.org/markup-compatibility/2006">
                <mc:Choice xmlns:v="urn:schemas-microsoft-com:vml" Requires="v">
                  <p:oleObj spid="_x0000_s88083" name="Equation" r:id="rId3" imgW="1803400" imgH="444500" progId="Equation.3">
                    <p:embed/>
                  </p:oleObj>
                </mc:Choice>
                <mc:Fallback>
                  <p:oleObj name="Equation" r:id="rId3" imgW="1803400" imgH="4445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9124" y="2505792"/>
                          <a:ext cx="3714776" cy="923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8076" name="Object 6"/>
            <p:cNvGraphicFramePr>
              <a:graphicFrameLocks noChangeAspect="1"/>
            </p:cNvGraphicFramePr>
            <p:nvPr/>
          </p:nvGraphicFramePr>
          <p:xfrm>
            <a:off x="5000629" y="3388737"/>
            <a:ext cx="3429023" cy="897519"/>
          </p:xfrm>
          <a:graphic>
            <a:graphicData uri="http://schemas.openxmlformats.org/presentationml/2006/ole">
              <mc:AlternateContent xmlns:mc="http://schemas.openxmlformats.org/markup-compatibility/2006">
                <mc:Choice xmlns:v="urn:schemas-microsoft-com:vml" Requires="v">
                  <p:oleObj spid="_x0000_s88084" name="Equation" r:id="rId5" imgW="1663700" imgH="431800" progId="Equation.3">
                    <p:embed/>
                  </p:oleObj>
                </mc:Choice>
                <mc:Fallback>
                  <p:oleObj name="Equation" r:id="rId5" imgW="1663700" imgH="4318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00629" y="3388737"/>
                          <a:ext cx="3429023" cy="897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88069" name="组合 14"/>
          <p:cNvGrpSpPr/>
          <p:nvPr/>
        </p:nvGrpSpPr>
        <p:grpSpPr bwMode="auto">
          <a:xfrm>
            <a:off x="571500" y="1285875"/>
            <a:ext cx="3471863" cy="4525963"/>
            <a:chOff x="571472" y="1285860"/>
            <a:chExt cx="3471858" cy="4525963"/>
          </a:xfrm>
        </p:grpSpPr>
        <p:graphicFrame>
          <p:nvGraphicFramePr>
            <p:cNvPr id="88070" name="Object 9"/>
            <p:cNvGraphicFramePr>
              <a:graphicFrameLocks noChangeAspect="1"/>
            </p:cNvGraphicFramePr>
            <p:nvPr/>
          </p:nvGraphicFramePr>
          <p:xfrm>
            <a:off x="935034" y="2071678"/>
            <a:ext cx="2709550" cy="928694"/>
          </p:xfrm>
          <a:graphic>
            <a:graphicData uri="http://schemas.openxmlformats.org/presentationml/2006/ole">
              <mc:AlternateContent xmlns:mc="http://schemas.openxmlformats.org/markup-compatibility/2006">
                <mc:Choice xmlns:v="urn:schemas-microsoft-com:vml" Requires="v">
                  <p:oleObj spid="_x0000_s88085" name="Equation" r:id="rId7" imgW="1307465" imgH="444500" progId="Equation.3">
                    <p:embed/>
                  </p:oleObj>
                </mc:Choice>
                <mc:Fallback>
                  <p:oleObj name="Equation" r:id="rId7" imgW="1307465" imgH="4445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5034" y="2071678"/>
                          <a:ext cx="2709550" cy="928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8071" name="Object 10"/>
            <p:cNvGraphicFramePr>
              <a:graphicFrameLocks noChangeAspect="1"/>
            </p:cNvGraphicFramePr>
            <p:nvPr/>
          </p:nvGraphicFramePr>
          <p:xfrm>
            <a:off x="949320" y="2943215"/>
            <a:ext cx="2799923" cy="914413"/>
          </p:xfrm>
          <a:graphic>
            <a:graphicData uri="http://schemas.openxmlformats.org/presentationml/2006/ole">
              <mc:AlternateContent xmlns:mc="http://schemas.openxmlformats.org/markup-compatibility/2006">
                <mc:Choice xmlns:v="urn:schemas-microsoft-com:vml" Requires="v">
                  <p:oleObj spid="_x0000_s88086" name="Equation" r:id="rId9" imgW="1333500" imgH="431800" progId="Equation.3">
                    <p:embed/>
                  </p:oleObj>
                </mc:Choice>
                <mc:Fallback>
                  <p:oleObj name="Equation" r:id="rId9" imgW="1333500" imgH="4318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49320" y="2943215"/>
                          <a:ext cx="2799923" cy="9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内容占位符 2"/>
            <p:cNvSpPr txBox="1"/>
            <p:nvPr/>
          </p:nvSpPr>
          <p:spPr bwMode="auto">
            <a:xfrm>
              <a:off x="571472" y="1285860"/>
              <a:ext cx="3471858" cy="4525963"/>
            </a:xfrm>
            <a:prstGeom prst="rect">
              <a:avLst/>
            </a:prstGeom>
            <a:noFill/>
            <a:ln w="9525">
              <a:noFill/>
              <a:miter lim="800000"/>
            </a:ln>
          </p:spPr>
          <p:txBody>
            <a:bodyPr/>
            <a:lstStyle/>
            <a:p>
              <a:pPr marL="342900" indent="-342900">
                <a:spcBef>
                  <a:spcPct val="20000"/>
                </a:spcBef>
                <a:buFont typeface="Arial" panose="020B0604020202020204" pitchFamily="34" charset="0"/>
                <a:buNone/>
                <a:defRPr/>
              </a:pPr>
              <a:r>
                <a:rPr lang="zh-CN" altLang="en-US" sz="2400" b="1" dirty="0">
                  <a:latin typeface="Times New Roman" panose="02020603050405020304" pitchFamily="18" charset="0"/>
                  <a:ea typeface="+mn-ea"/>
                  <a:cs typeface="Times New Roman" panose="02020603050405020304" pitchFamily="18" charset="0"/>
                </a:rPr>
                <a:t>根据互补松弛性条件</a:t>
              </a:r>
              <a:r>
                <a:rPr lang="en-US" altLang="zh-CN" sz="2400" b="1" dirty="0">
                  <a:latin typeface="Times New Roman" panose="02020603050405020304" pitchFamily="18" charset="0"/>
                  <a:ea typeface="+mn-ea"/>
                  <a:cs typeface="Times New Roman" panose="02020603050405020304" pitchFamily="18" charset="0"/>
                </a:rPr>
                <a:t>, </a:t>
              </a:r>
              <a:endParaRPr lang="en-US" altLang="zh-CN"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r>
                <a:rPr lang="en-US" altLang="zh-CN" sz="2400" b="1" dirty="0">
                  <a:latin typeface="Times New Roman" panose="02020603050405020304" pitchFamily="18" charset="0"/>
                  <a:ea typeface="+mn-ea"/>
                  <a:cs typeface="Times New Roman" panose="02020603050405020304" pitchFamily="18" charset="0"/>
                </a:rPr>
                <a:t>(P)</a:t>
              </a:r>
              <a:r>
                <a:rPr lang="zh-CN" altLang="en-US" sz="2400" b="1" dirty="0">
                  <a:latin typeface="Times New Roman" panose="02020603050405020304" pitchFamily="18" charset="0"/>
                  <a:ea typeface="+mn-ea"/>
                  <a:cs typeface="Times New Roman" panose="02020603050405020304" pitchFamily="18" charset="0"/>
                </a:rPr>
                <a:t>的最优解应满足</a:t>
              </a:r>
              <a:endParaRPr lang="en-US" altLang="zh-CN"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endParaRPr lang="en-US" altLang="zh-CN"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endParaRPr lang="en-US" altLang="zh-CN"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endParaRPr lang="en-US" altLang="zh-CN"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endParaRPr lang="en-US" altLang="zh-CN"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r>
                <a:rPr lang="en-US" altLang="zh-CN" sz="2400" b="1" dirty="0">
                  <a:latin typeface="Times New Roman" panose="02020603050405020304" pitchFamily="18" charset="0"/>
                  <a:ea typeface="+mn-ea"/>
                  <a:cs typeface="Times New Roman" panose="02020603050405020304" pitchFamily="18" charset="0"/>
                </a:rPr>
                <a:t>     </a:t>
              </a:r>
              <a:r>
                <a:rPr lang="en-US" altLang="zh-CN" sz="2400" b="1" i="1" dirty="0" err="1">
                  <a:latin typeface="Times New Roman" panose="02020603050405020304" pitchFamily="18" charset="0"/>
                  <a:ea typeface="+mn-ea"/>
                  <a:cs typeface="Times New Roman" panose="02020603050405020304" pitchFamily="18" charset="0"/>
                </a:rPr>
                <a:t>x</a:t>
              </a:r>
              <a:r>
                <a:rPr lang="en-US" altLang="zh-CN" sz="2400" b="1" i="1" baseline="-25000" dirty="0" err="1">
                  <a:latin typeface="Times New Roman" panose="02020603050405020304" pitchFamily="18" charset="0"/>
                  <a:ea typeface="+mn-ea"/>
                  <a:cs typeface="Times New Roman" panose="02020603050405020304" pitchFamily="18" charset="0"/>
                </a:rPr>
                <a:t>ij</a:t>
              </a:r>
              <a:r>
                <a:rPr lang="en-US" altLang="zh-CN" sz="2400" b="1" i="1" baseline="-25000" dirty="0">
                  <a:latin typeface="Times New Roman" panose="02020603050405020304" pitchFamily="18" charset="0"/>
                  <a:ea typeface="+mn-ea"/>
                  <a:cs typeface="Times New Roman" panose="02020603050405020304" pitchFamily="18" charset="0"/>
                </a:rPr>
                <a:t> </a:t>
              </a:r>
              <a:r>
                <a:rPr lang="en-US" altLang="zh-CN" sz="2400" b="1" dirty="0">
                  <a:latin typeface="Times New Roman" panose="02020603050405020304" pitchFamily="18" charset="0"/>
                  <a:ea typeface="+mn-ea"/>
                  <a:cs typeface="Times New Roman" panose="02020603050405020304" pitchFamily="18" charset="0"/>
                  <a:sym typeface="Symbol" panose="05050102010706020507"/>
                </a:rPr>
                <a:t> 0,     (</a:t>
              </a:r>
              <a:r>
                <a:rPr lang="en-US" altLang="zh-CN" sz="2400" b="1" i="1" dirty="0" err="1">
                  <a:latin typeface="Times New Roman" panose="02020603050405020304" pitchFamily="18" charset="0"/>
                  <a:ea typeface="+mn-ea"/>
                  <a:cs typeface="Times New Roman" panose="02020603050405020304" pitchFamily="18" charset="0"/>
                  <a:sym typeface="Symbol" panose="05050102010706020507"/>
                </a:rPr>
                <a:t>i</a:t>
              </a:r>
              <a:r>
                <a:rPr lang="en-US" altLang="zh-CN" sz="2400" b="1" dirty="0">
                  <a:latin typeface="Times New Roman" panose="02020603050405020304" pitchFamily="18" charset="0"/>
                  <a:ea typeface="+mn-ea"/>
                  <a:cs typeface="Times New Roman" panose="02020603050405020304" pitchFamily="18" charset="0"/>
                  <a:sym typeface="Symbol" panose="05050102010706020507"/>
                </a:rPr>
                <a:t>, </a:t>
              </a:r>
              <a:r>
                <a:rPr lang="en-US" altLang="zh-CN" sz="2400" b="1" i="1" dirty="0">
                  <a:latin typeface="Times New Roman" panose="02020603050405020304" pitchFamily="18" charset="0"/>
                  <a:ea typeface="+mn-ea"/>
                  <a:cs typeface="Times New Roman" panose="02020603050405020304" pitchFamily="18" charset="0"/>
                  <a:sym typeface="Symbol" panose="05050102010706020507"/>
                </a:rPr>
                <a:t>j</a:t>
              </a:r>
              <a:r>
                <a:rPr lang="en-US" altLang="zh-CN" sz="2400" b="1" dirty="0">
                  <a:latin typeface="Times New Roman" panose="02020603050405020304" pitchFamily="18" charset="0"/>
                  <a:ea typeface="+mn-ea"/>
                  <a:cs typeface="Times New Roman" panose="02020603050405020304" pitchFamily="18" charset="0"/>
                  <a:sym typeface="Symbol" panose="05050102010706020507"/>
                </a:rPr>
                <a:t>)</a:t>
              </a:r>
              <a:r>
                <a:rPr lang="en-US" altLang="zh-CN" sz="2400" b="1" i="1" dirty="0">
                  <a:latin typeface="Times New Roman" panose="02020603050405020304" pitchFamily="18" charset="0"/>
                  <a:ea typeface="+mn-ea"/>
                  <a:cs typeface="Times New Roman" panose="02020603050405020304" pitchFamily="18" charset="0"/>
                  <a:sym typeface="Symbol" panose="05050102010706020507"/>
                </a:rPr>
                <a:t>IJ</a:t>
              </a:r>
              <a:r>
                <a:rPr lang="en-US" altLang="zh-CN" sz="2400" b="1" dirty="0">
                  <a:latin typeface="Times New Roman" panose="02020603050405020304" pitchFamily="18" charset="0"/>
                  <a:ea typeface="+mn-ea"/>
                  <a:cs typeface="Times New Roman" panose="02020603050405020304" pitchFamily="18" charset="0"/>
                  <a:sym typeface="Symbol" panose="05050102010706020507"/>
                </a:rPr>
                <a:t>   </a:t>
              </a:r>
              <a:endParaRPr lang="en-US" altLang="zh-CN" sz="2400" b="1" dirty="0">
                <a:latin typeface="Times New Roman" panose="02020603050405020304" pitchFamily="18" charset="0"/>
                <a:ea typeface="+mn-ea"/>
                <a:cs typeface="Times New Roman" panose="02020603050405020304" pitchFamily="18" charset="0"/>
                <a:sym typeface="Symbol" panose="05050102010706020507"/>
              </a:endParaRPr>
            </a:p>
            <a:p>
              <a:pPr marL="342900" indent="-342900">
                <a:spcBef>
                  <a:spcPct val="20000"/>
                </a:spcBef>
                <a:buFont typeface="Arial" panose="020B0604020202020204" pitchFamily="34" charset="0"/>
                <a:buNone/>
                <a:defRPr/>
              </a:pPr>
              <a:r>
                <a:rPr lang="en-US" altLang="zh-CN" sz="2400" b="1" dirty="0">
                  <a:latin typeface="Times New Roman" panose="02020603050405020304" pitchFamily="18" charset="0"/>
                  <a:ea typeface="+mn-ea"/>
                  <a:cs typeface="Times New Roman" panose="02020603050405020304" pitchFamily="18" charset="0"/>
                  <a:sym typeface="Symbol" panose="05050102010706020507"/>
                </a:rPr>
                <a:t>     </a:t>
              </a:r>
              <a:r>
                <a:rPr lang="en-US" altLang="zh-CN" sz="2400" b="1" i="1" dirty="0" err="1">
                  <a:latin typeface="Times New Roman" panose="02020603050405020304" pitchFamily="18" charset="0"/>
                  <a:ea typeface="+mn-ea"/>
                  <a:cs typeface="Times New Roman" panose="02020603050405020304" pitchFamily="18" charset="0"/>
                  <a:sym typeface="Symbol" panose="05050102010706020507"/>
                </a:rPr>
                <a:t>x</a:t>
              </a:r>
              <a:r>
                <a:rPr lang="en-US" altLang="zh-CN" sz="2400" b="1" i="1" baseline="-25000" dirty="0" err="1">
                  <a:latin typeface="Times New Roman" panose="02020603050405020304" pitchFamily="18" charset="0"/>
                  <a:ea typeface="+mn-ea"/>
                  <a:cs typeface="Times New Roman" panose="02020603050405020304" pitchFamily="18" charset="0"/>
                  <a:sym typeface="Symbol" panose="05050102010706020507"/>
                </a:rPr>
                <a:t>ij</a:t>
              </a:r>
              <a:r>
                <a:rPr lang="en-US" altLang="zh-CN" sz="2400" b="1" i="1" baseline="-25000" dirty="0">
                  <a:latin typeface="Times New Roman" panose="02020603050405020304" pitchFamily="18" charset="0"/>
                  <a:ea typeface="+mn-ea"/>
                  <a:cs typeface="Times New Roman" panose="02020603050405020304" pitchFamily="18" charset="0"/>
                  <a:sym typeface="Symbol" panose="05050102010706020507"/>
                </a:rPr>
                <a:t> </a:t>
              </a:r>
              <a:r>
                <a:rPr lang="en-US" altLang="zh-CN" sz="2400" b="1" dirty="0">
                  <a:latin typeface="Times New Roman" panose="02020603050405020304" pitchFamily="18" charset="0"/>
                  <a:ea typeface="+mn-ea"/>
                  <a:cs typeface="Times New Roman" panose="02020603050405020304" pitchFamily="18" charset="0"/>
                  <a:sym typeface="Symbol" panose="05050102010706020507"/>
                </a:rPr>
                <a:t>= 0,      (</a:t>
              </a:r>
              <a:r>
                <a:rPr lang="en-US" altLang="zh-CN" sz="2400" b="1" i="1" dirty="0" err="1">
                  <a:latin typeface="Times New Roman" panose="02020603050405020304" pitchFamily="18" charset="0"/>
                  <a:ea typeface="+mn-ea"/>
                  <a:cs typeface="Times New Roman" panose="02020603050405020304" pitchFamily="18" charset="0"/>
                  <a:sym typeface="Symbol" panose="05050102010706020507"/>
                </a:rPr>
                <a:t>i</a:t>
              </a:r>
              <a:r>
                <a:rPr lang="en-US" altLang="zh-CN" sz="2400" b="1" dirty="0">
                  <a:latin typeface="Times New Roman" panose="02020603050405020304" pitchFamily="18" charset="0"/>
                  <a:ea typeface="+mn-ea"/>
                  <a:cs typeface="Times New Roman" panose="02020603050405020304" pitchFamily="18" charset="0"/>
                  <a:sym typeface="Symbol" panose="05050102010706020507"/>
                </a:rPr>
                <a:t>, </a:t>
              </a:r>
              <a:r>
                <a:rPr lang="en-US" altLang="zh-CN" sz="2400" b="1" i="1" dirty="0">
                  <a:latin typeface="Times New Roman" panose="02020603050405020304" pitchFamily="18" charset="0"/>
                  <a:ea typeface="+mn-ea"/>
                  <a:cs typeface="Times New Roman" panose="02020603050405020304" pitchFamily="18" charset="0"/>
                  <a:sym typeface="Symbol" panose="05050102010706020507"/>
                </a:rPr>
                <a:t>j</a:t>
              </a:r>
              <a:r>
                <a:rPr lang="en-US" altLang="zh-CN" sz="2400" b="1" dirty="0">
                  <a:latin typeface="Times New Roman" panose="02020603050405020304" pitchFamily="18" charset="0"/>
                  <a:ea typeface="+mn-ea"/>
                  <a:cs typeface="Times New Roman" panose="02020603050405020304" pitchFamily="18" charset="0"/>
                  <a:sym typeface="Symbol" panose="05050102010706020507"/>
                </a:rPr>
                <a:t>)</a:t>
              </a:r>
              <a:r>
                <a:rPr lang="en-US" altLang="zh-CN" sz="2400" b="1" i="1" dirty="0">
                  <a:latin typeface="Times New Roman" panose="02020603050405020304" pitchFamily="18" charset="0"/>
                  <a:ea typeface="+mn-ea"/>
                  <a:cs typeface="Times New Roman" panose="02020603050405020304" pitchFamily="18" charset="0"/>
                  <a:sym typeface="Symbol" panose="05050102010706020507"/>
                </a:rPr>
                <a:t>IJ</a:t>
              </a:r>
              <a:endParaRPr lang="en-US" altLang="zh-CN" sz="2400" b="1" i="1" dirty="0">
                <a:latin typeface="Times New Roman" panose="02020603050405020304" pitchFamily="18" charset="0"/>
                <a:ea typeface="+mn-ea"/>
                <a:cs typeface="Times New Roman" panose="02020603050405020304" pitchFamily="18" charset="0"/>
                <a:sym typeface="Symbol" panose="05050102010706020507"/>
              </a:endParaRPr>
            </a:p>
            <a:p>
              <a:pPr marL="342900" indent="-342900">
                <a:spcBef>
                  <a:spcPct val="20000"/>
                </a:spcBef>
                <a:buFont typeface="Arial" panose="020B0604020202020204" pitchFamily="34" charset="0"/>
                <a:buNone/>
                <a:defRPr/>
              </a:pPr>
              <a:r>
                <a:rPr lang="en-US" altLang="zh-CN" sz="2400" b="1" dirty="0">
                  <a:latin typeface="Times New Roman" panose="02020603050405020304" pitchFamily="18" charset="0"/>
                  <a:ea typeface="+mn-ea"/>
                  <a:cs typeface="Times New Roman" panose="02020603050405020304" pitchFamily="18" charset="0"/>
                  <a:sym typeface="Symbol" panose="05050102010706020507"/>
                </a:rPr>
                <a:t>  </a:t>
              </a:r>
              <a:endParaRPr lang="en-US" altLang="zh-CN"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endParaRPr lang="en-US" sz="2400" b="1" dirty="0">
                <a:latin typeface="Times New Roman" panose="02020603050405020304" pitchFamily="18" charset="0"/>
                <a:cs typeface="Times New Roman" panose="02020603050405020304" pitchFamily="18" charset="0"/>
              </a:endParaRPr>
            </a:p>
            <a:p>
              <a:pPr marL="342900" indent="-342900">
                <a:spcBef>
                  <a:spcPct val="20000"/>
                </a:spcBef>
                <a:buFont typeface="Arial" panose="020B0604020202020204" pitchFamily="34" charset="0"/>
                <a:buNone/>
                <a:defRPr/>
              </a:pPr>
              <a:endParaRPr lang="en-US" sz="2400" b="1" dirty="0">
                <a:latin typeface="Times New Roman" panose="02020603050405020304" pitchFamily="18" charset="0"/>
                <a:cs typeface="Times New Roman" panose="02020603050405020304" pitchFamily="18" charset="0"/>
              </a:endParaRPr>
            </a:p>
            <a:p>
              <a:pPr marL="342900" indent="-342900">
                <a:spcBef>
                  <a:spcPct val="20000"/>
                </a:spcBef>
                <a:buFont typeface="Arial" panose="020B0604020202020204" pitchFamily="34" charset="0"/>
                <a:buNone/>
                <a:defRPr/>
              </a:pPr>
              <a:endParaRPr lang="en-US" sz="2400" b="1" dirty="0">
                <a:latin typeface="Times New Roman" panose="02020603050405020304" pitchFamily="18" charset="0"/>
                <a:cs typeface="Times New Roman" panose="02020603050405020304" pitchFamily="18" charset="0"/>
              </a:endParaRPr>
            </a:p>
            <a:p>
              <a:pPr marL="342900" indent="-342900">
                <a:spcBef>
                  <a:spcPct val="20000"/>
                </a:spcBef>
                <a:buFont typeface="Arial" panose="020B0604020202020204" pitchFamily="34" charset="0"/>
                <a:buNone/>
                <a:defRPr/>
              </a:pPr>
              <a:endParaRPr lang="en-US" sz="2400" b="1" dirty="0">
                <a:latin typeface="Times New Roman" panose="02020603050405020304" pitchFamily="18" charset="0"/>
                <a:cs typeface="Times New Roman" panose="02020603050405020304" pitchFamily="18" charset="0"/>
              </a:endParaRPr>
            </a:p>
            <a:p>
              <a:pPr marL="342900" indent="-342900">
                <a:spcBef>
                  <a:spcPct val="20000"/>
                </a:spcBef>
                <a:buFont typeface="Arial" panose="020B0604020202020204" pitchFamily="34" charset="0"/>
                <a:buNone/>
                <a:defRPr/>
              </a:pPr>
              <a:endParaRPr lang="en-US" sz="2400" b="1" dirty="0">
                <a:latin typeface="Times New Roman" panose="02020603050405020304" pitchFamily="18" charset="0"/>
                <a:cs typeface="Times New Roman" panose="02020603050405020304" pitchFamily="18" charset="0"/>
              </a:endParaRPr>
            </a:p>
            <a:p>
              <a:pPr marL="342900" indent="-342900">
                <a:spcBef>
                  <a:spcPct val="20000"/>
                </a:spcBef>
                <a:buFont typeface="Arial" panose="020B0604020202020204" pitchFamily="34" charset="0"/>
                <a:buNone/>
                <a:defRPr/>
              </a:pPr>
              <a:endParaRPr lang="en-US" sz="2400" b="1" dirty="0">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a:xfrm>
            <a:off x="457200" y="179388"/>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匈牙利算法（续</a:t>
            </a:r>
            <a:r>
              <a:rPr lang="en-US" altLang="zh-CN" sz="4000" b="1" smtClean="0">
                <a:solidFill>
                  <a:srgbClr val="C00000"/>
                </a:solidFill>
                <a:latin typeface="Times New Roman" panose="02020603050405020304" pitchFamily="18" charset="0"/>
                <a:cs typeface="Times New Roman" panose="02020603050405020304" pitchFamily="18" charset="0"/>
              </a:rPr>
              <a:t>3</a:t>
            </a:r>
            <a:r>
              <a:rPr lang="zh-CN" altLang="en-US" sz="4000" b="1" smtClean="0">
                <a:solidFill>
                  <a:srgbClr val="C00000"/>
                </a:solidFill>
                <a:latin typeface="Times New Roman" panose="02020603050405020304" pitchFamily="18" charset="0"/>
                <a:cs typeface="Times New Roman" panose="02020603050405020304" pitchFamily="18" charset="0"/>
              </a:rPr>
              <a:t>）</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89091" name="内容占位符 2"/>
          <p:cNvSpPr>
            <a:spLocks noGrp="1"/>
          </p:cNvSpPr>
          <p:nvPr>
            <p:ph idx="1"/>
          </p:nvPr>
        </p:nvSpPr>
        <p:spPr>
          <a:xfrm>
            <a:off x="457200" y="1457325"/>
            <a:ext cx="8229600" cy="4757738"/>
          </a:xfrm>
        </p:spPr>
        <p:txBody>
          <a:bodyPr/>
          <a:lstStyle/>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由于</a:t>
            </a:r>
            <a:endParaRPr lang="en-US" altLang="zh-CN" sz="2400" b="1"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None/>
            </a:pP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(RP)</a:t>
            </a:r>
            <a:r>
              <a:rPr lang="zh-CN" altLang="en-US" sz="2400" b="1" smtClean="0">
                <a:latin typeface="Times New Roman" panose="02020603050405020304" pitchFamily="18" charset="0"/>
                <a:cs typeface="Times New Roman" panose="02020603050405020304" pitchFamily="18" charset="0"/>
              </a:rPr>
              <a:t>等同于</a:t>
            </a:r>
            <a:r>
              <a:rPr lang="en-US" altLang="zh-CN" sz="2400" b="1" smtClean="0">
                <a:solidFill>
                  <a:srgbClr val="C00000"/>
                </a:solidFill>
                <a:latin typeface="Times New Roman" panose="02020603050405020304" pitchFamily="18" charset="0"/>
                <a:cs typeface="Times New Roman" panose="02020603050405020304" pitchFamily="18" charset="0"/>
              </a:rPr>
              <a:t>(RP</a:t>
            </a:r>
            <a:r>
              <a:rPr lang="en-US" altLang="zh-CN" sz="2400" b="1" smtClean="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smtClean="0">
              <a:solidFill>
                <a:srgbClr val="C00000"/>
              </a:solidFill>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0,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IJ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400" b="1" smtClean="0">
              <a:latin typeface="Times New Roman" panose="02020603050405020304" pitchFamily="18" charset="0"/>
              <a:cs typeface="Times New Roman" panose="02020603050405020304" pitchFamily="18" charset="0"/>
              <a:sym typeface="Symbol" panose="05050102010706020507" pitchFamily="18" charset="2"/>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x</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ij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0,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IJ</a:t>
            </a:r>
            <a:endParaRPr lang="en-US" altLang="zh-CN" sz="2400" b="1" i="1" smtClean="0">
              <a:latin typeface="Times New Roman" panose="02020603050405020304" pitchFamily="18" charset="0"/>
              <a:cs typeface="Times New Roman" panose="02020603050405020304" pitchFamily="18" charset="0"/>
              <a:sym typeface="Symbol" panose="05050102010706020507" pitchFamily="18" charset="2"/>
            </a:endParaRPr>
          </a:p>
        </p:txBody>
      </p:sp>
      <p:sp>
        <p:nvSpPr>
          <p:cNvPr id="8909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59DC0E6-DCC7-4FCE-966B-95908B3B892A}" type="slidenum">
              <a:rPr lang="zh-CN" altLang="en-US" sz="1200" smtClean="0">
                <a:solidFill>
                  <a:srgbClr val="898989"/>
                </a:solidFill>
              </a:rPr>
            </a:fld>
            <a:endParaRPr lang="zh-CN" altLang="en-US" sz="1200" smtClean="0">
              <a:solidFill>
                <a:srgbClr val="898989"/>
              </a:solidFill>
            </a:endParaRPr>
          </a:p>
        </p:txBody>
      </p:sp>
      <p:graphicFrame>
        <p:nvGraphicFramePr>
          <p:cNvPr id="89093" name="Object 7"/>
          <p:cNvGraphicFramePr>
            <a:graphicFrameLocks noChangeAspect="1"/>
          </p:cNvGraphicFramePr>
          <p:nvPr/>
        </p:nvGraphicFramePr>
        <p:xfrm>
          <a:off x="1408113" y="1566863"/>
          <a:ext cx="6327775" cy="995362"/>
        </p:xfrm>
        <a:graphic>
          <a:graphicData uri="http://schemas.openxmlformats.org/presentationml/2006/ole">
            <mc:AlternateContent xmlns:mc="http://schemas.openxmlformats.org/markup-compatibility/2006">
              <mc:Choice xmlns:v="urn:schemas-microsoft-com:vml" Requires="v">
                <p:oleObj spid="_x0000_s89101" name="Equation" r:id="rId1" imgW="3175000" imgH="495300" progId="Equation.3">
                  <p:embed/>
                </p:oleObj>
              </mc:Choice>
              <mc:Fallback>
                <p:oleObj name="Equation" r:id="rId1" imgW="3175000" imgH="4953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8113" y="1566863"/>
                        <a:ext cx="6327775" cy="99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9094" name="Object 6"/>
          <p:cNvGraphicFramePr>
            <a:graphicFrameLocks noChangeAspect="1"/>
          </p:cNvGraphicFramePr>
          <p:nvPr/>
        </p:nvGraphicFramePr>
        <p:xfrm>
          <a:off x="3000375" y="2928938"/>
          <a:ext cx="1797050" cy="714375"/>
        </p:xfrm>
        <a:graphic>
          <a:graphicData uri="http://schemas.openxmlformats.org/presentationml/2006/ole">
            <mc:AlternateContent xmlns:mc="http://schemas.openxmlformats.org/markup-compatibility/2006">
              <mc:Choice xmlns:v="urn:schemas-microsoft-com:vml" Requires="v">
                <p:oleObj spid="_x0000_s89102" name="Equation" r:id="rId3" imgW="901065" imgH="355600" progId="Equation.3">
                  <p:embed/>
                </p:oleObj>
              </mc:Choice>
              <mc:Fallback>
                <p:oleObj name="Equation" r:id="rId3" imgW="901065" imgH="355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0375" y="2928938"/>
                        <a:ext cx="17970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9095" name="Object 9"/>
          <p:cNvGraphicFramePr>
            <a:graphicFrameLocks noChangeAspect="1"/>
          </p:cNvGraphicFramePr>
          <p:nvPr/>
        </p:nvGraphicFramePr>
        <p:xfrm>
          <a:off x="3079750" y="3571875"/>
          <a:ext cx="3421063" cy="928688"/>
        </p:xfrm>
        <a:graphic>
          <a:graphicData uri="http://schemas.openxmlformats.org/presentationml/2006/ole">
            <mc:AlternateContent xmlns:mc="http://schemas.openxmlformats.org/markup-compatibility/2006">
              <mc:Choice xmlns:v="urn:schemas-microsoft-com:vml" Requires="v">
                <p:oleObj spid="_x0000_s89103" name="Equation" r:id="rId5" imgW="1651000" imgH="444500" progId="Equation.3">
                  <p:embed/>
                </p:oleObj>
              </mc:Choice>
              <mc:Fallback>
                <p:oleObj name="Equation" r:id="rId5" imgW="1651000" imgH="4445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9750" y="3571875"/>
                        <a:ext cx="3421063"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9096" name="Object 10"/>
          <p:cNvGraphicFramePr>
            <a:graphicFrameLocks noChangeAspect="1"/>
          </p:cNvGraphicFramePr>
          <p:nvPr/>
        </p:nvGraphicFramePr>
        <p:xfrm>
          <a:off x="3771900" y="4443413"/>
          <a:ext cx="2800350" cy="914400"/>
        </p:xfrm>
        <a:graphic>
          <a:graphicData uri="http://schemas.openxmlformats.org/presentationml/2006/ole">
            <mc:AlternateContent xmlns:mc="http://schemas.openxmlformats.org/markup-compatibility/2006">
              <mc:Choice xmlns:v="urn:schemas-microsoft-com:vml" Requires="v">
                <p:oleObj spid="_x0000_s89104" name="Equation" r:id="rId7" imgW="1333500" imgH="431800" progId="Equation.3">
                  <p:embed/>
                </p:oleObj>
              </mc:Choice>
              <mc:Fallback>
                <p:oleObj name="Equation" r:id="rId7" imgW="1333500" imgH="4318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71900" y="4443413"/>
                        <a:ext cx="28003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p:nvPr>
        </p:nvSpPr>
        <p:spPr>
          <a:xfrm>
            <a:off x="457200" y="100013"/>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匈牙利算法（续</a:t>
            </a:r>
            <a:r>
              <a:rPr lang="en-US" altLang="zh-CN" sz="4000" b="1" smtClean="0">
                <a:solidFill>
                  <a:srgbClr val="C00000"/>
                </a:solidFill>
                <a:latin typeface="Times New Roman" panose="02020603050405020304" pitchFamily="18" charset="0"/>
                <a:cs typeface="Times New Roman" panose="02020603050405020304" pitchFamily="18" charset="0"/>
              </a:rPr>
              <a:t>4</a:t>
            </a:r>
            <a:r>
              <a:rPr lang="zh-CN" altLang="en-US" sz="4000" b="1" smtClean="0">
                <a:solidFill>
                  <a:srgbClr val="C00000"/>
                </a:solidFill>
                <a:latin typeface="Times New Roman" panose="02020603050405020304" pitchFamily="18" charset="0"/>
                <a:cs typeface="Times New Roman" panose="02020603050405020304" pitchFamily="18" charset="0"/>
              </a:rPr>
              <a:t>）</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90115" name="内容占位符 2"/>
          <p:cNvSpPr>
            <a:spLocks noGrp="1" noRot="1" noChangeAspect="1" noMove="1" noResize="1" noEditPoints="1" noAdjustHandles="1" noChangeArrowheads="1" noChangeShapeType="1" noTextEdit="1"/>
          </p:cNvSpPr>
          <p:nvPr>
            <p:ph idx="1"/>
          </p:nvPr>
        </p:nvSpPr>
        <p:spPr>
          <a:xfrm>
            <a:off x="434360" y="1286114"/>
            <a:ext cx="8435280" cy="4890354"/>
          </a:xfrm>
          <a:blipFill>
            <a:blip r:embed="rId1"/>
            <a:stretch>
              <a:fillRect l="-1084" t="-1372" r="-1662"/>
            </a:stretch>
          </a:blipFill>
        </p:spPr>
        <p:txBody>
          <a:bodyPr/>
          <a:lstStyle/>
          <a:p>
            <a:pPr>
              <a:defRPr/>
            </a:pPr>
            <a:r>
              <a:rPr lang="zh-CN" altLang="en-US">
                <a:noFill/>
              </a:rPr>
              <a:t> </a:t>
            </a:r>
            <a:endParaRPr lang="zh-CN" altLang="en-US">
              <a:noFill/>
            </a:endParaRPr>
          </a:p>
        </p:txBody>
      </p:sp>
      <p:sp>
        <p:nvSpPr>
          <p:cNvPr id="9011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099BD8D-2831-4B34-B867-06B1566ABD40}" type="slidenum">
              <a:rPr lang="zh-CN" altLang="en-US" sz="1200" smtClean="0">
                <a:solidFill>
                  <a:srgbClr val="898989"/>
                </a:solidFill>
              </a:rPr>
            </a:fld>
            <a:endParaRPr lang="zh-CN" altLang="en-US" sz="1200" smtClean="0">
              <a:solidFill>
                <a:srgbClr val="898989"/>
              </a:solidFill>
            </a:endParaRPr>
          </a:p>
        </p:txBody>
      </p:sp>
      <p:sp>
        <p:nvSpPr>
          <p:cNvPr id="90117"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0118"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90119" name="Object 9"/>
          <p:cNvGraphicFramePr>
            <a:graphicFrameLocks noChangeAspect="1"/>
          </p:cNvGraphicFramePr>
          <p:nvPr/>
        </p:nvGraphicFramePr>
        <p:xfrm>
          <a:off x="1692275" y="2989263"/>
          <a:ext cx="3214688" cy="855662"/>
        </p:xfrm>
        <a:graphic>
          <a:graphicData uri="http://schemas.openxmlformats.org/presentationml/2006/ole">
            <mc:AlternateContent xmlns:mc="http://schemas.openxmlformats.org/markup-compatibility/2006">
              <mc:Choice xmlns:v="urn:schemas-microsoft-com:vml" Requires="v">
                <p:oleObj spid="_x0000_s90126" name="Equation" r:id="rId2" imgW="1651000" imgH="444500" progId="Equation.3">
                  <p:embed/>
                </p:oleObj>
              </mc:Choice>
              <mc:Fallback>
                <p:oleObj name="Equation" r:id="rId2" imgW="1651000" imgH="444500" progId="Equation.3">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2989263"/>
                        <a:ext cx="32146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120" name="Rectangle 1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90121" name="Object 10"/>
          <p:cNvGraphicFramePr>
            <a:graphicFrameLocks noChangeAspect="1"/>
          </p:cNvGraphicFramePr>
          <p:nvPr/>
        </p:nvGraphicFramePr>
        <p:xfrm>
          <a:off x="2006600" y="4103688"/>
          <a:ext cx="4340225" cy="979487"/>
        </p:xfrm>
        <a:graphic>
          <a:graphicData uri="http://schemas.openxmlformats.org/presentationml/2006/ole">
            <mc:AlternateContent xmlns:mc="http://schemas.openxmlformats.org/markup-compatibility/2006">
              <mc:Choice xmlns:v="urn:schemas-microsoft-com:vml" Requires="v">
                <p:oleObj spid="_x0000_s90127" name="Equation" r:id="rId4" imgW="2184400" imgH="495300" progId="Equation.3">
                  <p:embed/>
                </p:oleObj>
              </mc:Choice>
              <mc:Fallback>
                <p:oleObj name="Equation" r:id="rId4" imgW="2184400" imgH="49530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06600" y="4103688"/>
                        <a:ext cx="4340225"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22" name="Object 12"/>
          <p:cNvGraphicFramePr>
            <a:graphicFrameLocks noChangeAspect="1"/>
          </p:cNvGraphicFramePr>
          <p:nvPr/>
        </p:nvGraphicFramePr>
        <p:xfrm>
          <a:off x="2006600" y="5122863"/>
          <a:ext cx="4467225" cy="1054100"/>
        </p:xfrm>
        <a:graphic>
          <a:graphicData uri="http://schemas.openxmlformats.org/presentationml/2006/ole">
            <mc:AlternateContent xmlns:mc="http://schemas.openxmlformats.org/markup-compatibility/2006">
              <mc:Choice xmlns:v="urn:schemas-microsoft-com:vml" Requires="v">
                <p:oleObj spid="_x0000_s90128" name="Equation" r:id="rId6" imgW="2247900" imgH="533400" progId="Equation.3">
                  <p:embed/>
                </p:oleObj>
              </mc:Choice>
              <mc:Fallback>
                <p:oleObj name="Equation" r:id="rId6" imgW="2247900" imgH="533400" progId="Equation.3">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06600" y="5122863"/>
                        <a:ext cx="4467225"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内容占位符 2"/>
          <p:cNvSpPr>
            <a:spLocks noGrp="1"/>
          </p:cNvSpPr>
          <p:nvPr>
            <p:ph idx="1"/>
          </p:nvPr>
        </p:nvSpPr>
        <p:spPr>
          <a:xfrm>
            <a:off x="323850" y="2641600"/>
            <a:ext cx="8362950" cy="3768725"/>
          </a:xfrm>
        </p:spPr>
        <p:txBody>
          <a:bodyPr/>
          <a:lstStyle/>
          <a:p>
            <a:pPr>
              <a:buFont typeface="Arial" panose="020B0604020202020204" pitchFamily="34" charset="0"/>
              <a:buNone/>
            </a:pPr>
            <a:r>
              <a:rPr lang="zh-CN" altLang="en-US" sz="2400" b="1" dirty="0" smtClean="0">
                <a:solidFill>
                  <a:srgbClr val="C00000"/>
                </a:solidFill>
              </a:rPr>
              <a:t>引理</a:t>
            </a:r>
            <a:r>
              <a:rPr lang="en-US" altLang="zh-CN" sz="2400" b="1" dirty="0" smtClean="0">
                <a:solidFill>
                  <a:srgbClr val="C00000"/>
                </a:solidFill>
              </a:rPr>
              <a:t>7.</a:t>
            </a:r>
            <a:r>
              <a:rPr lang="en-US" altLang="zh-CN" sz="2400" b="1" dirty="0" smtClean="0">
                <a:solidFill>
                  <a:srgbClr val="C00000"/>
                </a:solidFill>
                <a:latin typeface="Times New Roman" panose="02020603050405020304" pitchFamily="18" charset="0"/>
                <a:cs typeface="Times New Roman" panose="02020603050405020304" pitchFamily="18" charset="0"/>
              </a:rPr>
              <a:t>15</a:t>
            </a:r>
            <a:r>
              <a:rPr lang="en-US" altLang="zh-CN" sz="2400" dirty="0" smtClean="0">
                <a:solidFill>
                  <a:srgbClr val="C00000"/>
                </a:solidFill>
              </a:rPr>
              <a:t>  </a:t>
            </a:r>
            <a:r>
              <a:rPr lang="en-US" altLang="zh-CN" sz="2400" b="1" i="1" dirty="0" smtClean="0">
                <a:sym typeface="Symbol" panose="05050102010706020507" pitchFamily="18" charset="2"/>
              </a:rPr>
              <a:t></a:t>
            </a:r>
            <a:r>
              <a:rPr lang="en-US" altLang="zh-CN" sz="2400" b="1" i="1" baseline="-25000" dirty="0" err="1" smtClean="0">
                <a:sym typeface="Symbol" panose="05050102010706020507" pitchFamily="18" charset="2"/>
              </a:rPr>
              <a:t>i</a:t>
            </a:r>
            <a:r>
              <a:rPr lang="en-US" altLang="zh-CN" sz="2400" dirty="0" smtClean="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(1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j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是 </a:t>
            </a:r>
            <a:r>
              <a:rPr lang="en-US" altLang="zh-CN" sz="2400" b="1" dirty="0" smtClean="0">
                <a:latin typeface="Times New Roman" panose="02020603050405020304" pitchFamily="18" charset="0"/>
                <a:cs typeface="Times New Roman" panose="02020603050405020304" pitchFamily="18" charset="0"/>
              </a:rPr>
              <a:t>(DRP) </a:t>
            </a:r>
            <a:r>
              <a:rPr lang="zh-CN" altLang="en-US" sz="2400" b="1" dirty="0" smtClean="0">
                <a:latin typeface="Times New Roman" panose="02020603050405020304" pitchFamily="18" charset="0"/>
                <a:cs typeface="Times New Roman" panose="02020603050405020304" pitchFamily="18" charset="0"/>
              </a:rPr>
              <a:t>的最优解</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证</a:t>
            </a:r>
            <a:r>
              <a:rPr lang="zh-CN" altLang="en-US"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j</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IJ</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IJ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如果</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zh-CN" altLang="en-US" sz="2400" b="1" dirty="0" smtClean="0">
                <a:latin typeface="Times New Roman" panose="02020603050405020304" pitchFamily="18" charset="0"/>
                <a:cs typeface="Times New Roman" panose="02020603050405020304" pitchFamily="18" charset="0"/>
              </a:rPr>
              <a:t>已标号</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则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zh-CN" altLang="en-US" sz="2400" b="1" dirty="0" smtClean="0">
                <a:latin typeface="Times New Roman" panose="02020603050405020304" pitchFamily="18" charset="0"/>
                <a:cs typeface="Times New Roman" panose="02020603050405020304" pitchFamily="18" charset="0"/>
              </a:rPr>
              <a:t>也标号</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 因此</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err="1"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0, </a:t>
            </a:r>
            <a:r>
              <a:rPr lang="zh-CN" altLang="en-US" sz="2400" b="1" dirty="0" smtClean="0">
                <a:latin typeface="Times New Roman" panose="02020603050405020304" pitchFamily="18" charset="0"/>
                <a:cs typeface="Times New Roman" panose="02020603050405020304" pitchFamily="18" charset="0"/>
              </a:rPr>
              <a:t>得证</a:t>
            </a:r>
            <a:r>
              <a:rPr lang="en-US" altLang="zh-CN" sz="2400" b="1" i="1" dirty="0" smtClean="0">
                <a:sym typeface="Symbol" panose="05050102010706020507" pitchFamily="18" charset="2"/>
              </a:rPr>
              <a:t></a:t>
            </a:r>
            <a:r>
              <a:rPr lang="en-US" altLang="zh-CN" sz="2400" b="1" i="1" baseline="-25000" dirty="0" err="1" smtClean="0">
                <a:sym typeface="Symbol" panose="05050102010706020507" pitchFamily="18" charset="2"/>
              </a:rPr>
              <a:t>i</a:t>
            </a:r>
            <a:r>
              <a:rPr lang="en-US" altLang="zh-CN" sz="2400" dirty="0" smtClean="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i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是 </a:t>
            </a:r>
            <a:r>
              <a:rPr lang="en-US" altLang="zh-CN" sz="2400" b="1" dirty="0" smtClean="0">
                <a:latin typeface="Times New Roman" panose="02020603050405020304" pitchFamily="18" charset="0"/>
                <a:cs typeface="Times New Roman" panose="02020603050405020304" pitchFamily="18" charset="0"/>
              </a:rPr>
              <a:t>(DRP)</a:t>
            </a:r>
            <a:r>
              <a:rPr lang="zh-CN" altLang="en-US" sz="2400" b="1" dirty="0" smtClean="0">
                <a:latin typeface="Times New Roman" panose="02020603050405020304" pitchFamily="18" charset="0"/>
                <a:cs typeface="Times New Roman" panose="02020603050405020304" pitchFamily="18" charset="0"/>
              </a:rPr>
              <a:t>的可行解</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又</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 </a:t>
            </a:r>
            <a:r>
              <a:rPr lang="zh-CN" altLang="en-US" sz="2400" b="1" dirty="0" smtClean="0">
                <a:latin typeface="Times New Roman" panose="02020603050405020304" pitchFamily="18" charset="0"/>
                <a:cs typeface="Times New Roman" panose="02020603050405020304" pitchFamily="18" charset="0"/>
              </a:rPr>
              <a:t>和</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都已标号或都未标号</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从而</a:t>
            </a:r>
            <a:r>
              <a:rPr lang="en-US" altLang="zh-CN" sz="2400" b="1" i="1" dirty="0" smtClean="0">
                <a:sym typeface="Symbol" panose="05050102010706020507" pitchFamily="18" charset="2"/>
              </a:rPr>
              <a:t></a:t>
            </a:r>
            <a:r>
              <a:rPr lang="en-US" altLang="zh-CN" sz="2400" b="1" i="1" baseline="-25000" dirty="0" err="1" smtClean="0">
                <a:sym typeface="Symbol" panose="05050102010706020507" pitchFamily="18" charset="2"/>
              </a:rPr>
              <a:t>i</a:t>
            </a:r>
            <a:r>
              <a:rPr lang="en-US" altLang="zh-CN" sz="2400" dirty="0" smtClean="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=0 .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其余顶点都是非饱和点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非饱和的 </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zh-CN" altLang="en-US" sz="2400" b="1" dirty="0" smtClean="0">
                <a:latin typeface="Times New Roman" panose="02020603050405020304" pitchFamily="18" charset="0"/>
                <a:cs typeface="Times New Roman" panose="02020603050405020304" pitchFamily="18" charset="0"/>
              </a:rPr>
              <a:t>都已标号</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非饱和的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zh-CN" altLang="en-US" sz="2400" b="1" dirty="0" smtClean="0">
                <a:latin typeface="Times New Roman" panose="02020603050405020304" pitchFamily="18" charset="0"/>
                <a:cs typeface="Times New Roman" panose="02020603050405020304" pitchFamily="18" charset="0"/>
              </a:rPr>
              <a:t>都</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未标号</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从而</a:t>
            </a:r>
            <a:r>
              <a:rPr lang="en-US" altLang="zh-CN" sz="2400" b="1" i="1" dirty="0" smtClean="0">
                <a:sym typeface="Symbol" panose="05050102010706020507" pitchFamily="18" charset="2"/>
              </a:rPr>
              <a:t></a:t>
            </a:r>
            <a:r>
              <a:rPr lang="en-US" altLang="zh-CN" sz="2400" b="1" i="1" baseline="-25000" dirty="0" err="1" smtClean="0">
                <a:sym typeface="Symbol" panose="05050102010706020507" pitchFamily="18" charset="2"/>
              </a:rPr>
              <a:t>i</a:t>
            </a:r>
            <a:r>
              <a:rPr lang="en-US" altLang="zh-CN" sz="2400" dirty="0" smtClean="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于是</a:t>
            </a:r>
            <a:endParaRPr lang="zh-CN" altLang="en-US" sz="2400" b="1"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得证 </a:t>
            </a:r>
            <a:r>
              <a:rPr lang="en-US" altLang="zh-CN" sz="2400" b="1" i="1" dirty="0" smtClean="0">
                <a:sym typeface="Symbol" panose="05050102010706020507" pitchFamily="18" charset="2"/>
              </a:rPr>
              <a:t></a:t>
            </a:r>
            <a:r>
              <a:rPr lang="en-US" altLang="zh-CN" sz="2400" b="1" i="1" baseline="-25000" dirty="0" err="1" smtClean="0">
                <a:sym typeface="Symbol" panose="05050102010706020507" pitchFamily="18" charset="2"/>
              </a:rPr>
              <a:t>i</a:t>
            </a:r>
            <a:r>
              <a:rPr lang="en-US" altLang="zh-CN" sz="2400" dirty="0" smtClean="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(1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j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是 </a:t>
            </a:r>
            <a:r>
              <a:rPr lang="en-US" altLang="zh-CN" sz="2400" b="1" dirty="0" smtClean="0">
                <a:latin typeface="Times New Roman" panose="02020603050405020304" pitchFamily="18" charset="0"/>
                <a:cs typeface="Times New Roman" panose="02020603050405020304" pitchFamily="18" charset="0"/>
              </a:rPr>
              <a:t>(DRP) </a:t>
            </a:r>
            <a:r>
              <a:rPr lang="zh-CN" altLang="en-US" sz="2400" b="1" dirty="0" smtClean="0">
                <a:latin typeface="Times New Roman" panose="02020603050405020304" pitchFamily="18" charset="0"/>
                <a:cs typeface="Times New Roman" panose="02020603050405020304" pitchFamily="18" charset="0"/>
              </a:rPr>
              <a:t>的最优解</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p:txBody>
      </p:sp>
      <p:sp>
        <p:nvSpPr>
          <p:cNvPr id="9113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CE7BED7B-7097-4598-B20B-29924612C171}" type="slidenum">
              <a:rPr lang="zh-CN" altLang="en-US" sz="1200" smtClean="0">
                <a:solidFill>
                  <a:srgbClr val="898989"/>
                </a:solidFill>
              </a:rPr>
            </a:fld>
            <a:endParaRPr lang="zh-CN" altLang="en-US" sz="1200" smtClean="0">
              <a:solidFill>
                <a:srgbClr val="898989"/>
              </a:solidFill>
            </a:endParaRPr>
          </a:p>
        </p:txBody>
      </p:sp>
      <p:graphicFrame>
        <p:nvGraphicFramePr>
          <p:cNvPr id="91140" name="Object 2"/>
          <p:cNvGraphicFramePr>
            <a:graphicFrameLocks noChangeAspect="1"/>
          </p:cNvGraphicFramePr>
          <p:nvPr/>
        </p:nvGraphicFramePr>
        <p:xfrm>
          <a:off x="1835150" y="5229225"/>
          <a:ext cx="5711825" cy="855663"/>
        </p:xfrm>
        <a:graphic>
          <a:graphicData uri="http://schemas.openxmlformats.org/presentationml/2006/ole">
            <mc:AlternateContent xmlns:mc="http://schemas.openxmlformats.org/markup-compatibility/2006">
              <mc:Choice xmlns:v="urn:schemas-microsoft-com:vml" Requires="v">
                <p:oleObj spid="_x0000_s91149" name="Equation" r:id="rId1" imgW="2933700" imgH="444500" progId="Equation.3">
                  <p:embed/>
                </p:oleObj>
              </mc:Choice>
              <mc:Fallback>
                <p:oleObj name="Equation" r:id="rId1" imgW="2933700" imgH="4445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5229225"/>
                        <a:ext cx="5711825"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1141" name="矩形 1"/>
          <p:cNvSpPr>
            <a:spLocks noChangeArrowheads="1"/>
          </p:cNvSpPr>
          <p:nvPr/>
        </p:nvSpPr>
        <p:spPr bwMode="auto">
          <a:xfrm>
            <a:off x="323850" y="396875"/>
            <a:ext cx="275428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 typeface="Arial" panose="020B0604020202020204" pitchFamily="34" charset="0"/>
              <a:buNone/>
            </a:pPr>
            <a:r>
              <a:rPr lang="en-US" altLang="zh-CN" sz="4000" b="1" dirty="0">
                <a:solidFill>
                  <a:srgbClr val="C00000"/>
                </a:solidFill>
                <a:latin typeface="Times New Roman" panose="02020603050405020304" pitchFamily="18" charset="0"/>
                <a:cs typeface="Times New Roman" panose="02020603050405020304" pitchFamily="18" charset="0"/>
              </a:rPr>
              <a:t>(RP)</a:t>
            </a:r>
            <a:r>
              <a:rPr lang="zh-CN" altLang="en-US" sz="4000" b="1" dirty="0">
                <a:solidFill>
                  <a:srgbClr val="C00000"/>
                </a:solidFill>
                <a:latin typeface="Times New Roman" panose="02020603050405020304" pitchFamily="18" charset="0"/>
                <a:cs typeface="Times New Roman" panose="02020603050405020304" pitchFamily="18" charset="0"/>
              </a:rPr>
              <a:t>的对偶</a:t>
            </a:r>
            <a:endParaRPr lang="en-US" altLang="zh-CN" sz="4000" b="1" dirty="0">
              <a:solidFill>
                <a:srgbClr val="C00000"/>
              </a:solidFill>
              <a:latin typeface="Times New Roman" panose="02020603050405020304" pitchFamily="18" charset="0"/>
              <a:cs typeface="Times New Roman" panose="02020603050405020304" pitchFamily="18" charset="0"/>
            </a:endParaRPr>
          </a:p>
          <a:p>
            <a:pPr>
              <a:spcBef>
                <a:spcPct val="0"/>
              </a:spcBef>
              <a:buFont typeface="Arial" panose="020B0604020202020204" pitchFamily="34" charset="0"/>
              <a:buNone/>
            </a:pPr>
            <a:r>
              <a:rPr lang="zh-CN" altLang="en-US" sz="4000" b="1" dirty="0">
                <a:solidFill>
                  <a:srgbClr val="C00000"/>
                </a:solidFill>
                <a:latin typeface="Times New Roman" panose="02020603050405020304" pitchFamily="18" charset="0"/>
                <a:cs typeface="Times New Roman" panose="02020603050405020304" pitchFamily="18" charset="0"/>
              </a:rPr>
              <a:t>规划 </a:t>
            </a:r>
            <a:r>
              <a:rPr lang="en-US" altLang="zh-CN" sz="4000" b="1" dirty="0">
                <a:solidFill>
                  <a:srgbClr val="C00000"/>
                </a:solidFill>
                <a:latin typeface="Times New Roman" panose="02020603050405020304" pitchFamily="18" charset="0"/>
                <a:cs typeface="Times New Roman" panose="02020603050405020304" pitchFamily="18" charset="0"/>
              </a:rPr>
              <a:t>(DRP)</a:t>
            </a:r>
            <a:endParaRPr lang="en-US" altLang="zh-CN" sz="4000" b="1" dirty="0">
              <a:solidFill>
                <a:srgbClr val="C00000"/>
              </a:solidFill>
              <a:latin typeface="Times New Roman" panose="02020603050405020304" pitchFamily="18" charset="0"/>
              <a:cs typeface="Times New Roman" panose="02020603050405020304" pitchFamily="18" charset="0"/>
            </a:endParaRPr>
          </a:p>
        </p:txBody>
      </p:sp>
      <p:grpSp>
        <p:nvGrpSpPr>
          <p:cNvPr id="91142" name="组合 3"/>
          <p:cNvGrpSpPr/>
          <p:nvPr/>
        </p:nvGrpSpPr>
        <p:grpSpPr bwMode="auto">
          <a:xfrm>
            <a:off x="3851275" y="376238"/>
            <a:ext cx="4465638" cy="2184400"/>
            <a:chOff x="3807703" y="424277"/>
            <a:chExt cx="4464496" cy="2184931"/>
          </a:xfrm>
        </p:grpSpPr>
        <p:graphicFrame>
          <p:nvGraphicFramePr>
            <p:cNvPr id="91143" name="Object 7"/>
            <p:cNvGraphicFramePr>
              <a:graphicFrameLocks noChangeAspect="1"/>
            </p:cNvGraphicFramePr>
            <p:nvPr/>
          </p:nvGraphicFramePr>
          <p:xfrm>
            <a:off x="3838575" y="424277"/>
            <a:ext cx="2714625" cy="947738"/>
          </p:xfrm>
          <a:graphic>
            <a:graphicData uri="http://schemas.openxmlformats.org/presentationml/2006/ole">
              <mc:AlternateContent xmlns:mc="http://schemas.openxmlformats.org/markup-compatibility/2006">
                <mc:Choice xmlns:v="urn:schemas-microsoft-com:vml" Requires="v">
                  <p:oleObj spid="_x0000_s91150" name="Equation" r:id="rId3" imgW="1282700" imgH="444500" progId="Equation.3">
                    <p:embed/>
                  </p:oleObj>
                </mc:Choice>
                <mc:Fallback>
                  <p:oleObj name="Equation" r:id="rId3" imgW="1282700" imgH="4445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8575" y="424277"/>
                          <a:ext cx="2714625" cy="94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1144" name="矩形 2"/>
            <p:cNvSpPr>
              <a:spLocks noChangeArrowheads="1"/>
            </p:cNvSpPr>
            <p:nvPr/>
          </p:nvSpPr>
          <p:spPr bwMode="auto">
            <a:xfrm>
              <a:off x="3807703" y="1408879"/>
              <a:ext cx="446449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 typeface="Arial" panose="020B0604020202020204" pitchFamily="34" charset="0"/>
                <a:buNone/>
              </a:pPr>
              <a:r>
                <a:rPr lang="en-US" altLang="zh-CN" sz="1800" b="1">
                  <a:latin typeface="Times New Roman" panose="02020603050405020304" pitchFamily="18" charset="0"/>
                  <a:cs typeface="Times New Roman" panose="02020603050405020304" pitchFamily="18" charset="0"/>
                </a:rPr>
                <a:t> </a:t>
              </a:r>
              <a:r>
                <a:rPr lang="en-US" altLang="zh-CN" sz="2400" b="1">
                  <a:latin typeface="Times New Roman" panose="02020603050405020304" pitchFamily="18" charset="0"/>
                  <a:cs typeface="Times New Roman" panose="02020603050405020304" pitchFamily="18" charset="0"/>
                </a:rPr>
                <a:t>s.t.     </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a:latin typeface="Times New Roman" panose="02020603050405020304" pitchFamily="18" charset="0"/>
                  <a:cs typeface="Times New Roman" panose="02020603050405020304" pitchFamily="18" charset="0"/>
                  <a:sym typeface="Symbol" panose="05050102010706020507" pitchFamily="18" charset="2"/>
                </a:rPr>
                <a:t>i </a:t>
              </a:r>
              <a:r>
                <a:rPr lang="en-US" altLang="zh-CN" sz="2400" b="1">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a:latin typeface="Times New Roman" panose="02020603050405020304" pitchFamily="18" charset="0"/>
                  <a:cs typeface="Times New Roman" panose="02020603050405020304" pitchFamily="18" charset="0"/>
                  <a:sym typeface="Symbol" panose="05050102010706020507" pitchFamily="18" charset="2"/>
                </a:rPr>
                <a:t>j </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 0,      (</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IJ</a:t>
              </a:r>
              <a:r>
                <a:rPr lang="en-US" altLang="zh-CN" sz="2400" b="1">
                  <a:latin typeface="Times New Roman" panose="02020603050405020304" pitchFamily="18" charset="0"/>
                  <a:cs typeface="Times New Roman" panose="02020603050405020304" pitchFamily="18" charset="0"/>
                </a:rPr>
                <a:t>  </a:t>
              </a:r>
              <a:endParaRPr lang="en-US" altLang="zh-CN" sz="2400" b="1">
                <a:latin typeface="Times New Roman" panose="02020603050405020304" pitchFamily="18" charset="0"/>
                <a:cs typeface="Times New Roman" panose="02020603050405020304" pitchFamily="18" charset="0"/>
              </a:endParaRPr>
            </a:p>
            <a:p>
              <a:pPr>
                <a:spcBef>
                  <a:spcPct val="0"/>
                </a:spcBef>
                <a:buFont typeface="Arial" panose="020B0604020202020204" pitchFamily="34" charset="0"/>
                <a:buNone/>
              </a:pP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  1, </a:t>
              </a:r>
              <a:r>
                <a:rPr lang="zh-CN" altLang="en-US" sz="2400" b="1">
                  <a:latin typeface="Times New Roman" panose="02020603050405020304" pitchFamily="18" charset="0"/>
                  <a:cs typeface="Times New Roman" panose="02020603050405020304" pitchFamily="18" charset="0"/>
                  <a:sym typeface="Symbol" panose="05050102010706020507" pitchFamily="18" charset="2"/>
                </a:rPr>
                <a:t>任意</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1 </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i </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n</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a:latin typeface="Times New Roman" panose="02020603050405020304" pitchFamily="18" charset="0"/>
                  <a:cs typeface="Times New Roman" panose="02020603050405020304" pitchFamily="18" charset="0"/>
                </a:rPr>
                <a:t> </a:t>
              </a:r>
              <a:endParaRPr lang="en-US" altLang="zh-CN" sz="2400" b="1">
                <a:latin typeface="Times New Roman" panose="02020603050405020304" pitchFamily="18" charset="0"/>
                <a:cs typeface="Times New Roman" panose="02020603050405020304" pitchFamily="18" charset="0"/>
              </a:endParaRPr>
            </a:p>
            <a:p>
              <a:pPr>
                <a:spcBef>
                  <a:spcPct val="0"/>
                </a:spcBef>
                <a:buFont typeface="Arial" panose="020B0604020202020204" pitchFamily="34" charset="0"/>
                <a:buNone/>
              </a:pP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  1, </a:t>
              </a:r>
              <a:r>
                <a:rPr lang="zh-CN" altLang="en-US" sz="2400" b="1">
                  <a:latin typeface="Times New Roman" panose="02020603050405020304" pitchFamily="18" charset="0"/>
                  <a:cs typeface="Times New Roman" panose="02020603050405020304" pitchFamily="18" charset="0"/>
                  <a:sym typeface="Symbol" panose="05050102010706020507" pitchFamily="18" charset="2"/>
                </a:rPr>
                <a:t>任意</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      1 </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j </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n</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     </a:t>
              </a:r>
              <a:endParaRPr lang="zh-CN" altLang="en-US" sz="2400">
                <a:latin typeface="Arial" panose="020B0604020202020204" pitchFamily="34" charset="0"/>
              </a:endParaRPr>
            </a:p>
          </p:txBody>
        </p:sp>
      </p:gr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a:xfrm>
            <a:off x="457200" y="274638"/>
            <a:ext cx="8229600" cy="939800"/>
          </a:xfrm>
        </p:spPr>
        <p:txBody>
          <a:bodyPr/>
          <a:lstStyle/>
          <a:p>
            <a:r>
              <a:rPr lang="zh-CN" altLang="en-US" sz="4000" b="1" dirty="0" smtClean="0">
                <a:solidFill>
                  <a:srgbClr val="C00000"/>
                </a:solidFill>
                <a:latin typeface="Times New Roman" panose="02020603050405020304" pitchFamily="18" charset="0"/>
                <a:cs typeface="Times New Roman" panose="02020603050405020304" pitchFamily="18" charset="0"/>
              </a:rPr>
              <a:t>匈牙利算法（续</a:t>
            </a:r>
            <a:r>
              <a:rPr lang="en-US" altLang="zh-CN" sz="4000" b="1" dirty="0" smtClean="0">
                <a:solidFill>
                  <a:srgbClr val="C00000"/>
                </a:solidFill>
                <a:latin typeface="Times New Roman" panose="02020603050405020304" pitchFamily="18" charset="0"/>
                <a:cs typeface="Times New Roman" panose="02020603050405020304" pitchFamily="18" charset="0"/>
              </a:rPr>
              <a:t>5</a:t>
            </a:r>
            <a:r>
              <a:rPr lang="zh-CN" altLang="en-US" sz="4000" b="1" dirty="0" smtClean="0">
                <a:solidFill>
                  <a:srgbClr val="C00000"/>
                </a:solidFill>
                <a:latin typeface="Times New Roman" panose="02020603050405020304" pitchFamily="18" charset="0"/>
                <a:cs typeface="Times New Roman" panose="02020603050405020304" pitchFamily="18" charset="0"/>
              </a:rPr>
              <a:t>）</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p:sp>
        <p:nvSpPr>
          <p:cNvPr id="9216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3B9304D-885A-4152-8E57-4ACA94B76FEE}" type="slidenum">
              <a:rPr lang="zh-CN" altLang="en-US" sz="1200" smtClean="0">
                <a:solidFill>
                  <a:srgbClr val="898989"/>
                </a:solidFill>
              </a:rPr>
            </a:fld>
            <a:endParaRPr lang="zh-CN" altLang="en-US" sz="1200" smtClean="0">
              <a:solidFill>
                <a:srgbClr val="898989"/>
              </a:solidFill>
            </a:endParaRPr>
          </a:p>
        </p:txBody>
      </p:sp>
      <p:sp>
        <p:nvSpPr>
          <p:cNvPr id="92164"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2165"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nvGrpSpPr>
          <p:cNvPr id="92166" name="组合 12"/>
          <p:cNvGrpSpPr/>
          <p:nvPr/>
        </p:nvGrpSpPr>
        <p:grpSpPr bwMode="auto">
          <a:xfrm>
            <a:off x="500063" y="1231900"/>
            <a:ext cx="8229600" cy="5197475"/>
            <a:chOff x="500034" y="1231903"/>
            <a:chExt cx="8229600" cy="5197493"/>
          </a:xfrm>
        </p:grpSpPr>
        <p:graphicFrame>
          <p:nvGraphicFramePr>
            <p:cNvPr id="92167" name="Object 5"/>
            <p:cNvGraphicFramePr>
              <a:graphicFrameLocks noChangeAspect="1"/>
            </p:cNvGraphicFramePr>
            <p:nvPr/>
          </p:nvGraphicFramePr>
          <p:xfrm>
            <a:off x="1257323" y="1571612"/>
            <a:ext cx="6672263" cy="1019175"/>
          </p:xfrm>
          <a:graphic>
            <a:graphicData uri="http://schemas.openxmlformats.org/presentationml/2006/ole">
              <mc:AlternateContent xmlns:mc="http://schemas.openxmlformats.org/markup-compatibility/2006">
                <mc:Choice xmlns:v="urn:schemas-microsoft-com:vml" Requires="v">
                  <p:oleObj spid="_x0000_s92176" name="Equation" r:id="rId1" imgW="3390900" imgH="520700" progId="Equation.3">
                    <p:embed/>
                  </p:oleObj>
                </mc:Choice>
                <mc:Fallback>
                  <p:oleObj name="Equation" r:id="rId1" imgW="3390900" imgH="5207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323" y="1571612"/>
                          <a:ext cx="6672263"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168" name="Object 7"/>
            <p:cNvGraphicFramePr>
              <a:graphicFrameLocks noChangeAspect="1"/>
            </p:cNvGraphicFramePr>
            <p:nvPr/>
          </p:nvGraphicFramePr>
          <p:xfrm>
            <a:off x="1223963" y="2516185"/>
            <a:ext cx="6797675" cy="1093788"/>
          </p:xfrm>
          <a:graphic>
            <a:graphicData uri="http://schemas.openxmlformats.org/presentationml/2006/ole">
              <mc:AlternateContent xmlns:mc="http://schemas.openxmlformats.org/markup-compatibility/2006">
                <mc:Choice xmlns:v="urn:schemas-microsoft-com:vml" Requires="v">
                  <p:oleObj spid="_x0000_s92177" name="Equation" r:id="rId3" imgW="3454400" imgH="558800" progId="Equation.3">
                    <p:embed/>
                  </p:oleObj>
                </mc:Choice>
                <mc:Fallback>
                  <p:oleObj name="Equation" r:id="rId3" imgW="3454400" imgH="5588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3963" y="2516185"/>
                          <a:ext cx="6797675" cy="109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169" name="Object 8"/>
            <p:cNvGraphicFramePr>
              <a:graphicFrameLocks noChangeAspect="1"/>
            </p:cNvGraphicFramePr>
            <p:nvPr/>
          </p:nvGraphicFramePr>
          <p:xfrm>
            <a:off x="1230337" y="3619507"/>
            <a:ext cx="6985001" cy="952501"/>
          </p:xfrm>
          <a:graphic>
            <a:graphicData uri="http://schemas.openxmlformats.org/presentationml/2006/ole">
              <mc:AlternateContent xmlns:mc="http://schemas.openxmlformats.org/markup-compatibility/2006">
                <mc:Choice xmlns:v="urn:schemas-microsoft-com:vml" Requires="v">
                  <p:oleObj spid="_x0000_s92178" name="Equation" r:id="rId5" imgW="3581400" imgH="495300" progId="Equation.3">
                    <p:embed/>
                  </p:oleObj>
                </mc:Choice>
                <mc:Fallback>
                  <p:oleObj name="Equation" r:id="rId5" imgW="3581400" imgH="4953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30337" y="3619507"/>
                          <a:ext cx="6985001" cy="952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170" name="Object 10"/>
            <p:cNvGraphicFramePr>
              <a:graphicFrameLocks noChangeAspect="1"/>
            </p:cNvGraphicFramePr>
            <p:nvPr/>
          </p:nvGraphicFramePr>
          <p:xfrm>
            <a:off x="3214678" y="4548185"/>
            <a:ext cx="3170238" cy="952500"/>
          </p:xfrm>
          <a:graphic>
            <a:graphicData uri="http://schemas.openxmlformats.org/presentationml/2006/ole">
              <mc:AlternateContent xmlns:mc="http://schemas.openxmlformats.org/markup-compatibility/2006">
                <mc:Choice xmlns:v="urn:schemas-microsoft-com:vml" Requires="v">
                  <p:oleObj spid="_x0000_s92179" name="Equation" r:id="rId7" imgW="1624965" imgH="495300" progId="Equation.3">
                    <p:embed/>
                  </p:oleObj>
                </mc:Choice>
                <mc:Fallback>
                  <p:oleObj name="Equation" r:id="rId7" imgW="1624965" imgH="4953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14678" y="4548185"/>
                          <a:ext cx="3170238"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内容占位符 2"/>
            <p:cNvSpPr txBox="1"/>
            <p:nvPr/>
          </p:nvSpPr>
          <p:spPr bwMode="auto">
            <a:xfrm>
              <a:off x="500034" y="1231903"/>
              <a:ext cx="8229600" cy="5197493"/>
            </a:xfrm>
            <a:prstGeom prst="rect">
              <a:avLst/>
            </a:prstGeom>
            <a:noFill/>
            <a:ln w="9525">
              <a:noFill/>
              <a:miter lim="800000"/>
            </a:ln>
          </p:spPr>
          <p:txBody>
            <a:bodyPr/>
            <a:lstStyle/>
            <a:p>
              <a:pPr marL="342900" indent="-342900">
                <a:spcBef>
                  <a:spcPct val="20000"/>
                </a:spcBef>
                <a:buFont typeface="Arial" panose="020B0604020202020204" pitchFamily="34" charset="0"/>
                <a:buNone/>
                <a:defRPr/>
              </a:pPr>
              <a:r>
                <a:rPr lang="zh-CN" altLang="en-US" sz="2400" b="1" dirty="0">
                  <a:latin typeface="+mn-lt"/>
                  <a:sym typeface="Symbol" panose="05050102010706020507" pitchFamily="18" charset="2"/>
                </a:rPr>
                <a:t>利用</a:t>
              </a:r>
              <a:r>
                <a:rPr lang="en-US" sz="2400" b="1" i="1" dirty="0">
                  <a:latin typeface="+mn-lt"/>
                  <a:sym typeface="Symbol" panose="05050102010706020507" pitchFamily="18" charset="2"/>
                </a:rPr>
                <a:t></a:t>
              </a:r>
              <a:r>
                <a:rPr lang="en-US" altLang="zh-CN" sz="2400" b="1" i="1" baseline="-25000" dirty="0" err="1">
                  <a:latin typeface="+mn-lt"/>
                  <a:ea typeface="+mn-ea"/>
                  <a:sym typeface="Symbol" panose="05050102010706020507" pitchFamily="18" charset="2"/>
                </a:rPr>
                <a:t>i</a:t>
              </a:r>
              <a:r>
                <a:rPr lang="en-US" altLang="zh-CN" sz="2400" dirty="0">
                  <a:latin typeface="+mn-lt"/>
                  <a:ea typeface="+mn-ea"/>
                  <a:sym typeface="Symbol" panose="05050102010706020507" pitchFamily="18" charset="2"/>
                </a:rPr>
                <a:t>*</a:t>
              </a:r>
              <a:r>
                <a:rPr lang="en-US" altLang="zh-CN" sz="2400" b="1" dirty="0">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400" b="1" i="1" baseline="-25000" dirty="0">
                  <a:latin typeface="Times New Roman" panose="02020603050405020304" pitchFamily="18" charset="0"/>
                  <a:ea typeface="+mn-ea"/>
                  <a:cs typeface="Times New Roman" panose="02020603050405020304" pitchFamily="18" charset="0"/>
                  <a:sym typeface="Symbol" panose="05050102010706020507" pitchFamily="18" charset="2"/>
                </a:rPr>
                <a:t>j</a:t>
              </a:r>
              <a:r>
                <a:rPr lang="en-US" altLang="zh-CN" sz="2400" b="1" dirty="0">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2400" b="1" dirty="0">
                  <a:latin typeface="Times New Roman" panose="02020603050405020304" pitchFamily="18" charset="0"/>
                  <a:ea typeface="+mn-ea"/>
                  <a:cs typeface="Times New Roman" panose="02020603050405020304" pitchFamily="18" charset="0"/>
                  <a:sym typeface="Symbol" panose="05050102010706020507" pitchFamily="18" charset="2"/>
                </a:rPr>
                <a:t>改进</a:t>
              </a:r>
              <a:r>
                <a:rPr lang="en-US" altLang="zh-CN" sz="2400" b="1" dirty="0">
                  <a:latin typeface="Times New Roman" panose="02020603050405020304" pitchFamily="18" charset="0"/>
                  <a:ea typeface="+mn-ea"/>
                  <a:cs typeface="Times New Roman" panose="02020603050405020304" pitchFamily="18" charset="0"/>
                  <a:sym typeface="Symbol" panose="05050102010706020507" pitchFamily="18" charset="2"/>
                </a:rPr>
                <a:t>(D)</a:t>
              </a:r>
              <a:r>
                <a:rPr lang="zh-CN" altLang="en-US" sz="2400" b="1" dirty="0">
                  <a:latin typeface="Times New Roman" panose="02020603050405020304" pitchFamily="18" charset="0"/>
                  <a:ea typeface="+mn-ea"/>
                  <a:cs typeface="Times New Roman" panose="02020603050405020304" pitchFamily="18" charset="0"/>
                  <a:sym typeface="Symbol" panose="05050102010706020507" pitchFamily="18" charset="2"/>
                </a:rPr>
                <a:t>的可行解</a:t>
              </a:r>
              <a:r>
                <a:rPr lang="en-US" altLang="zh-CN" sz="2400" b="1" dirty="0">
                  <a:latin typeface="Times New Roman" panose="02020603050405020304" pitchFamily="18" charset="0"/>
                  <a:ea typeface="+mn-ea"/>
                  <a:cs typeface="Times New Roman" panose="02020603050405020304" pitchFamily="18" charset="0"/>
                  <a:sym typeface="Symbol" panose="05050102010706020507" pitchFamily="18" charset="2"/>
                </a:rPr>
                <a:t>, </a:t>
              </a:r>
              <a:r>
                <a:rPr lang="zh-CN" altLang="en-US" sz="2400" b="1" dirty="0">
                  <a:latin typeface="Times New Roman" panose="02020603050405020304" pitchFamily="18" charset="0"/>
                  <a:ea typeface="+mn-ea"/>
                  <a:cs typeface="Times New Roman" panose="02020603050405020304" pitchFamily="18" charset="0"/>
                  <a:sym typeface="Symbol" panose="05050102010706020507" pitchFamily="18" charset="2"/>
                </a:rPr>
                <a:t>令</a:t>
              </a:r>
              <a:endParaRPr lang="en-US" altLang="zh-CN" sz="2400" b="1" dirty="0">
                <a:latin typeface="Times New Roman" panose="02020603050405020304" pitchFamily="18" charset="0"/>
                <a:ea typeface="+mn-ea"/>
                <a:cs typeface="Times New Roman" panose="02020603050405020304" pitchFamily="18" charset="0"/>
                <a:sym typeface="Symbol" panose="05050102010706020507" pitchFamily="18" charset="2"/>
              </a:endParaRPr>
            </a:p>
            <a:p>
              <a:pPr marL="342900" indent="-342900">
                <a:spcBef>
                  <a:spcPct val="20000"/>
                </a:spcBef>
                <a:buFont typeface="Arial" panose="020B0604020202020204" pitchFamily="34" charset="0"/>
                <a:buNone/>
                <a:defRPr/>
              </a:pPr>
              <a:r>
                <a:rPr lang="en-US" sz="2400" b="1" dirty="0">
                  <a:latin typeface="Times New Roman" panose="02020603050405020304" pitchFamily="18" charset="0"/>
                  <a:cs typeface="Times New Roman" panose="02020603050405020304" pitchFamily="18" charset="0"/>
                  <a:sym typeface="Symbol" panose="05050102010706020507" pitchFamily="18" charset="2"/>
                </a:rPr>
                <a:t>                       </a:t>
              </a:r>
              <a:endParaRPr lang="en-US" sz="2400" b="1" dirty="0">
                <a:latin typeface="Times New Roman" panose="02020603050405020304" pitchFamily="18" charset="0"/>
                <a:cs typeface="Times New Roman" panose="02020603050405020304" pitchFamily="18" charset="0"/>
                <a:sym typeface="Symbol" panose="05050102010706020507" pitchFamily="18" charset="2"/>
              </a:endParaRPr>
            </a:p>
            <a:p>
              <a:pPr marL="342900" indent="-342900">
                <a:spcBef>
                  <a:spcPct val="20000"/>
                </a:spcBef>
                <a:buFont typeface="Arial" panose="020B0604020202020204" pitchFamily="34" charset="0"/>
                <a:buNone/>
                <a:defRPr/>
              </a:pPr>
              <a:endParaRPr lang="en-US" sz="2400" b="1" dirty="0">
                <a:latin typeface="Times New Roman" panose="02020603050405020304" pitchFamily="18" charset="0"/>
                <a:cs typeface="Times New Roman" panose="02020603050405020304" pitchFamily="18" charset="0"/>
                <a:sym typeface="Symbol" panose="05050102010706020507" pitchFamily="18" charset="2"/>
              </a:endParaRPr>
            </a:p>
            <a:p>
              <a:pPr marL="342900" indent="-342900">
                <a:spcBef>
                  <a:spcPct val="20000"/>
                </a:spcBef>
                <a:buFont typeface="Arial" panose="020B0604020202020204" pitchFamily="34" charset="0"/>
                <a:buNone/>
                <a:defRPr/>
              </a:pPr>
              <a:endParaRPr lang="en-US" sz="2400" b="1" dirty="0">
                <a:latin typeface="Times New Roman" panose="02020603050405020304" pitchFamily="18" charset="0"/>
                <a:cs typeface="Times New Roman" panose="02020603050405020304" pitchFamily="18" charset="0"/>
                <a:sym typeface="Symbol" panose="05050102010706020507" pitchFamily="18" charset="2"/>
              </a:endParaRPr>
            </a:p>
            <a:p>
              <a:pPr marL="342900" indent="-342900">
                <a:spcBef>
                  <a:spcPct val="20000"/>
                </a:spcBef>
                <a:buFont typeface="Arial" panose="020B0604020202020204" pitchFamily="34" charset="0"/>
                <a:buNone/>
                <a:defRPr/>
              </a:pPr>
              <a:endParaRPr lang="en-US" sz="2400" b="1" dirty="0">
                <a:latin typeface="Times New Roman" panose="02020603050405020304" pitchFamily="18" charset="0"/>
                <a:cs typeface="Times New Roman" panose="02020603050405020304" pitchFamily="18" charset="0"/>
                <a:sym typeface="Symbol" panose="05050102010706020507" pitchFamily="18" charset="2"/>
              </a:endParaRPr>
            </a:p>
            <a:p>
              <a:pPr marL="342900" indent="-342900">
                <a:spcBef>
                  <a:spcPct val="20000"/>
                </a:spcBef>
                <a:buFont typeface="Arial" panose="020B0604020202020204" pitchFamily="34" charset="0"/>
                <a:buNone/>
                <a:defRPr/>
              </a:pPr>
              <a:r>
                <a:rPr lang="zh-CN" altLang="en-US" sz="2400" b="1" dirty="0">
                  <a:latin typeface="Times New Roman" panose="02020603050405020304" pitchFamily="18" charset="0"/>
                  <a:cs typeface="Times New Roman" panose="02020603050405020304" pitchFamily="18" charset="0"/>
                </a:rPr>
                <a:t>由于</a:t>
              </a:r>
              <a:endParaRPr lang="en-US" altLang="zh-CN" sz="2400" b="1" dirty="0">
                <a:latin typeface="Times New Roman" panose="02020603050405020304" pitchFamily="18" charset="0"/>
                <a:cs typeface="Times New Roman" panose="02020603050405020304" pitchFamily="18" charset="0"/>
              </a:endParaRPr>
            </a:p>
            <a:p>
              <a:pPr marL="342900" indent="-342900">
                <a:spcBef>
                  <a:spcPct val="20000"/>
                </a:spcBef>
                <a:buFont typeface="Arial" panose="020B0604020202020204" pitchFamily="34" charset="0"/>
                <a:buNone/>
                <a:defRPr/>
              </a:pPr>
              <a:endParaRPr lang="en-US" sz="2400" b="1" dirty="0">
                <a:latin typeface="Times New Roman" panose="02020603050405020304" pitchFamily="18" charset="0"/>
                <a:cs typeface="Times New Roman" panose="02020603050405020304" pitchFamily="18" charset="0"/>
              </a:endParaRPr>
            </a:p>
            <a:p>
              <a:pPr marL="342900" indent="-342900">
                <a:spcBef>
                  <a:spcPct val="20000"/>
                </a:spcBef>
                <a:buFont typeface="Arial" panose="020B0604020202020204" pitchFamily="34" charset="0"/>
                <a:buNone/>
                <a:defRPr/>
              </a:pPr>
              <a:endParaRPr lang="en-US" sz="2400" b="1" dirty="0">
                <a:latin typeface="Times New Roman" panose="02020603050405020304" pitchFamily="18" charset="0"/>
                <a:cs typeface="Times New Roman" panose="02020603050405020304" pitchFamily="18" charset="0"/>
              </a:endParaRPr>
            </a:p>
            <a:p>
              <a:pPr marL="342900" indent="-342900">
                <a:lnSpc>
                  <a:spcPct val="150000"/>
                </a:lnSpc>
                <a:spcBef>
                  <a:spcPct val="20000"/>
                </a:spcBef>
                <a:buFont typeface="Arial" panose="020B0604020202020204" pitchFamily="34" charset="0"/>
                <a:buNone/>
                <a:defRPr/>
              </a:pPr>
              <a:endParaRPr lang="en-US" sz="2400" b="1" dirty="0">
                <a:latin typeface="Times New Roman" panose="02020603050405020304" pitchFamily="18" charset="0"/>
                <a:cs typeface="Times New Roman" panose="02020603050405020304" pitchFamily="18" charset="0"/>
              </a:endParaRPr>
            </a:p>
            <a:p>
              <a:pPr marL="342900" indent="-342900">
                <a:spcBef>
                  <a:spcPts val="1200"/>
                </a:spcBef>
                <a:buFont typeface="Arial" panose="020B0604020202020204" pitchFamily="34" charset="0"/>
                <a:buNone/>
                <a:defRPr/>
              </a:pPr>
              <a:r>
                <a:rPr lang="zh-CN" altLang="en-US" sz="2400" b="1" dirty="0">
                  <a:latin typeface="Times New Roman" panose="02020603050405020304" pitchFamily="18" charset="0"/>
                  <a:cs typeface="Times New Roman" panose="02020603050405020304" pitchFamily="18" charset="0"/>
                </a:rPr>
                <a:t>而 </a:t>
              </a:r>
              <a:r>
                <a:rPr lang="zh-CN" altLang="en-US" sz="2400" b="1" i="1" dirty="0">
                  <a:latin typeface="Times New Roman" panose="02020603050405020304" pitchFamily="18" charset="0"/>
                  <a:cs typeface="Times New Roman" panose="02020603050405020304" pitchFamily="18" charset="0"/>
                  <a:sym typeface="Symbol" panose="05050102010706020507"/>
                </a:rPr>
                <a:t> </a:t>
              </a:r>
              <a:r>
                <a:rPr lang="en-US" altLang="zh-CN" sz="2400" b="1" dirty="0">
                  <a:latin typeface="Times New Roman" panose="02020603050405020304" pitchFamily="18" charset="0"/>
                  <a:cs typeface="Times New Roman" panose="02020603050405020304" pitchFamily="18" charset="0"/>
                  <a:sym typeface="Symbol" panose="05050102010706020507"/>
                </a:rPr>
                <a:t>&gt;0, </a:t>
              </a:r>
              <a:r>
                <a:rPr lang="zh-CN" altLang="en-US" sz="2400" b="1" dirty="0">
                  <a:latin typeface="Times New Roman" panose="02020603050405020304" pitchFamily="18" charset="0"/>
                  <a:cs typeface="Times New Roman" panose="02020603050405020304" pitchFamily="18" charset="0"/>
                  <a:sym typeface="Symbol" panose="05050102010706020507"/>
                </a:rPr>
                <a:t>应取</a:t>
              </a:r>
              <a:r>
                <a:rPr lang="zh-CN" altLang="en-US" sz="2400" b="1" i="1" dirty="0">
                  <a:latin typeface="Times New Roman" panose="02020603050405020304" pitchFamily="18" charset="0"/>
                  <a:cs typeface="Times New Roman" panose="02020603050405020304" pitchFamily="18" charset="0"/>
                  <a:sym typeface="Symbol" panose="05050102010706020507"/>
                </a:rPr>
                <a:t> </a:t>
              </a:r>
              <a:r>
                <a:rPr lang="en-US" altLang="zh-CN" sz="2400" b="1" dirty="0">
                  <a:latin typeface="Times New Roman" panose="02020603050405020304" pitchFamily="18" charset="0"/>
                  <a:cs typeface="Times New Roman" panose="02020603050405020304" pitchFamily="18" charset="0"/>
                  <a:sym typeface="Symbol" panose="05050102010706020507"/>
                </a:rPr>
                <a:t>&gt;0. </a:t>
              </a:r>
              <a:r>
                <a:rPr lang="zh-CN" altLang="en-US" sz="2400" b="1" dirty="0">
                  <a:latin typeface="Times New Roman" panose="02020603050405020304" pitchFamily="18" charset="0"/>
                  <a:cs typeface="Times New Roman" panose="02020603050405020304" pitchFamily="18" charset="0"/>
                  <a:sym typeface="Symbol" panose="05050102010706020507"/>
                </a:rPr>
                <a:t>为保证</a:t>
              </a:r>
              <a:r>
                <a:rPr lang="zh-CN" altLang="en-US" sz="2400" b="1" i="1" dirty="0">
                  <a:latin typeface="Times New Roman" panose="02020603050405020304" pitchFamily="18" charset="0"/>
                  <a:cs typeface="Times New Roman" panose="02020603050405020304" pitchFamily="18" charset="0"/>
                  <a:sym typeface="Symbol" panose="05050102010706020507"/>
                </a:rPr>
                <a:t></a:t>
              </a:r>
              <a:r>
                <a:rPr lang="en-US" altLang="zh-CN" sz="2400" b="1" i="1" baseline="-25000" dirty="0" err="1">
                  <a:latin typeface="Times New Roman" panose="02020603050405020304" pitchFamily="18" charset="0"/>
                  <a:cs typeface="Times New Roman" panose="02020603050405020304" pitchFamily="18" charset="0"/>
                  <a:sym typeface="Symbol" panose="05050102010706020507"/>
                </a:rPr>
                <a:t>i</a:t>
              </a:r>
              <a:r>
                <a:rPr lang="en-US" altLang="zh-CN" sz="2400" b="1" baseline="30000" dirty="0">
                  <a:latin typeface="Times New Roman" panose="02020603050405020304" pitchFamily="18" charset="0"/>
                  <a:cs typeface="Times New Roman" panose="02020603050405020304" pitchFamily="18" charset="0"/>
                  <a:sym typeface="Symbol" panose="05050102010706020507"/>
                </a:rPr>
                <a:t>(1)</a:t>
              </a:r>
              <a:r>
                <a:rPr lang="en-US" altLang="zh-CN" sz="2400" b="1" dirty="0">
                  <a:latin typeface="Times New Roman" panose="02020603050405020304" pitchFamily="18" charset="0"/>
                  <a:cs typeface="Times New Roman" panose="02020603050405020304" pitchFamily="18" charset="0"/>
                  <a:sym typeface="Symbol" panose="05050102010706020507"/>
                </a:rPr>
                <a:t>, </a:t>
              </a:r>
              <a:r>
                <a:rPr lang="zh-CN" altLang="en-US" sz="2400" b="1" i="1" dirty="0">
                  <a:latin typeface="Times New Roman" panose="02020603050405020304" pitchFamily="18" charset="0"/>
                  <a:cs typeface="Times New Roman" panose="02020603050405020304" pitchFamily="18" charset="0"/>
                  <a:sym typeface="Symbol" panose="05050102010706020507"/>
                </a:rPr>
                <a:t></a:t>
              </a:r>
              <a:r>
                <a:rPr lang="en-US" altLang="zh-CN" sz="2400" b="1" i="1" baseline="-25000" dirty="0">
                  <a:latin typeface="Times New Roman" panose="02020603050405020304" pitchFamily="18" charset="0"/>
                  <a:cs typeface="Times New Roman" panose="02020603050405020304" pitchFamily="18" charset="0"/>
                  <a:sym typeface="Symbol" panose="05050102010706020507"/>
                </a:rPr>
                <a:t>j</a:t>
              </a:r>
              <a:r>
                <a:rPr lang="en-US" altLang="zh-CN" sz="2400" b="1" baseline="30000" dirty="0">
                  <a:latin typeface="Times New Roman" panose="02020603050405020304" pitchFamily="18" charset="0"/>
                  <a:cs typeface="Times New Roman" panose="02020603050405020304" pitchFamily="18" charset="0"/>
                  <a:sym typeface="Symbol" panose="05050102010706020507"/>
                </a:rPr>
                <a:t>(1)</a:t>
              </a:r>
              <a:r>
                <a:rPr lang="zh-CN" altLang="en-US" sz="2400" b="1" dirty="0">
                  <a:latin typeface="Times New Roman" panose="02020603050405020304" pitchFamily="18" charset="0"/>
                  <a:cs typeface="Times New Roman" panose="02020603050405020304" pitchFamily="18" charset="0"/>
                  <a:sym typeface="Symbol" panose="05050102010706020507"/>
                </a:rPr>
                <a:t>是</a:t>
              </a:r>
              <a:r>
                <a:rPr lang="en-US" altLang="zh-CN" sz="2400" b="1" dirty="0">
                  <a:latin typeface="Times New Roman" panose="02020603050405020304" pitchFamily="18" charset="0"/>
                  <a:cs typeface="Times New Roman" panose="02020603050405020304" pitchFamily="18" charset="0"/>
                  <a:sym typeface="Symbol" panose="05050102010706020507"/>
                </a:rPr>
                <a:t>(D)</a:t>
              </a:r>
              <a:r>
                <a:rPr lang="zh-CN" altLang="en-US" sz="2400" b="1" dirty="0">
                  <a:latin typeface="Times New Roman" panose="02020603050405020304" pitchFamily="18" charset="0"/>
                  <a:cs typeface="Times New Roman" panose="02020603050405020304" pitchFamily="18" charset="0"/>
                  <a:sym typeface="Symbol" panose="05050102010706020507"/>
                </a:rPr>
                <a:t>的可行解</a:t>
              </a:r>
              <a:r>
                <a:rPr lang="en-US" altLang="zh-CN" sz="2400" b="1" dirty="0">
                  <a:latin typeface="Times New Roman" panose="02020603050405020304" pitchFamily="18" charset="0"/>
                  <a:cs typeface="Times New Roman" panose="02020603050405020304" pitchFamily="18" charset="0"/>
                  <a:sym typeface="Symbol" panose="05050102010706020507"/>
                </a:rPr>
                <a:t>, </a:t>
              </a:r>
              <a:r>
                <a:rPr lang="zh-CN" altLang="en-US" sz="2400" b="1" dirty="0">
                  <a:latin typeface="Times New Roman" panose="02020603050405020304" pitchFamily="18" charset="0"/>
                  <a:cs typeface="Times New Roman" panose="02020603050405020304" pitchFamily="18" charset="0"/>
                  <a:sym typeface="Symbol" panose="05050102010706020507"/>
                </a:rPr>
                <a:t>要求</a:t>
              </a:r>
              <a:endParaRPr lang="en-US" altLang="zh-CN" sz="2400" b="1" dirty="0">
                <a:latin typeface="Times New Roman" panose="02020603050405020304" pitchFamily="18" charset="0"/>
                <a:cs typeface="Times New Roman" panose="02020603050405020304" pitchFamily="18" charset="0"/>
                <a:sym typeface="Symbol" panose="05050102010706020507"/>
              </a:endParaRPr>
            </a:p>
            <a:p>
              <a:pPr marL="342900" indent="-342900">
                <a:spcBef>
                  <a:spcPct val="20000"/>
                </a:spcBef>
                <a:buFont typeface="Arial" panose="020B0604020202020204" pitchFamily="34" charset="0"/>
                <a:buNone/>
                <a:defRPr/>
              </a:pPr>
              <a:r>
                <a:rPr lang="en-US" sz="2400" b="1" dirty="0">
                  <a:latin typeface="Times New Roman" panose="02020603050405020304" pitchFamily="18" charset="0"/>
                  <a:cs typeface="Times New Roman" panose="02020603050405020304" pitchFamily="18" charset="0"/>
                  <a:sym typeface="Symbol" panose="05050102010706020507"/>
                </a:rPr>
                <a:t>              </a:t>
              </a:r>
              <a:r>
                <a:rPr lang="en-US" sz="2400" b="1" i="1" dirty="0" err="1">
                  <a:latin typeface="Times New Roman" panose="02020603050405020304" pitchFamily="18" charset="0"/>
                  <a:cs typeface="Times New Roman" panose="02020603050405020304" pitchFamily="18" charset="0"/>
                  <a:sym typeface="Symbol" panose="05050102010706020507"/>
                </a:rPr>
                <a:t>w</a:t>
              </a:r>
              <a:r>
                <a:rPr lang="en-US" sz="2400" b="1" i="1" baseline="-25000" dirty="0" err="1">
                  <a:latin typeface="Times New Roman" panose="02020603050405020304" pitchFamily="18" charset="0"/>
                  <a:cs typeface="Times New Roman" panose="02020603050405020304" pitchFamily="18" charset="0"/>
                  <a:sym typeface="Symbol" panose="05050102010706020507"/>
                </a:rPr>
                <a:t>ij</a:t>
              </a:r>
              <a:r>
                <a:rPr lang="en-US" sz="2400" b="1" dirty="0">
                  <a:latin typeface="Times New Roman" panose="02020603050405020304" pitchFamily="18" charset="0"/>
                  <a:cs typeface="Times New Roman" panose="02020603050405020304" pitchFamily="18" charset="0"/>
                  <a:sym typeface="Symbol" panose="05050102010706020507"/>
                </a:rPr>
                <a:t>  </a:t>
              </a:r>
              <a:r>
                <a:rPr lang="zh-CN" altLang="en-US" sz="2400" b="1" i="1" dirty="0">
                  <a:latin typeface="Times New Roman" panose="02020603050405020304" pitchFamily="18" charset="0"/>
                  <a:cs typeface="Times New Roman" panose="02020603050405020304" pitchFamily="18" charset="0"/>
                  <a:sym typeface="Symbol" panose="05050102010706020507"/>
                </a:rPr>
                <a:t></a:t>
              </a:r>
              <a:r>
                <a:rPr lang="en-US" altLang="zh-CN" sz="2400" b="1" i="1" baseline="-25000" dirty="0" err="1">
                  <a:latin typeface="Times New Roman" panose="02020603050405020304" pitchFamily="18" charset="0"/>
                  <a:cs typeface="Times New Roman" panose="02020603050405020304" pitchFamily="18" charset="0"/>
                  <a:sym typeface="Symbol" panose="05050102010706020507"/>
                </a:rPr>
                <a:t>i</a:t>
              </a:r>
              <a:r>
                <a:rPr lang="en-US" altLang="zh-CN" sz="2400" b="1" baseline="30000" dirty="0">
                  <a:latin typeface="Times New Roman" panose="02020603050405020304" pitchFamily="18" charset="0"/>
                  <a:cs typeface="Times New Roman" panose="02020603050405020304" pitchFamily="18" charset="0"/>
                  <a:sym typeface="Symbol" panose="05050102010706020507"/>
                </a:rPr>
                <a:t>(1)</a:t>
              </a:r>
              <a:r>
                <a:rPr lang="en-US" altLang="zh-CN" sz="2400" b="1" dirty="0">
                  <a:latin typeface="Times New Roman" panose="02020603050405020304" pitchFamily="18" charset="0"/>
                  <a:cs typeface="Times New Roman" panose="02020603050405020304" pitchFamily="18" charset="0"/>
                  <a:sym typeface="Symbol" panose="05050102010706020507"/>
                </a:rPr>
                <a:t>+</a:t>
              </a:r>
              <a:r>
                <a:rPr lang="zh-CN" altLang="en-US" sz="2400" b="1" i="1" dirty="0">
                  <a:latin typeface="Times New Roman" panose="02020603050405020304" pitchFamily="18" charset="0"/>
                  <a:cs typeface="Times New Roman" panose="02020603050405020304" pitchFamily="18" charset="0"/>
                  <a:sym typeface="Symbol" panose="05050102010706020507"/>
                </a:rPr>
                <a:t></a:t>
              </a:r>
              <a:r>
                <a:rPr lang="en-US" altLang="zh-CN" sz="2400" b="1" i="1" baseline="-25000" dirty="0">
                  <a:latin typeface="Times New Roman" panose="02020603050405020304" pitchFamily="18" charset="0"/>
                  <a:cs typeface="Times New Roman" panose="02020603050405020304" pitchFamily="18" charset="0"/>
                  <a:sym typeface="Symbol" panose="05050102010706020507"/>
                </a:rPr>
                <a:t>j</a:t>
              </a:r>
              <a:r>
                <a:rPr lang="en-US" altLang="zh-CN" sz="2400" b="1" baseline="30000" dirty="0">
                  <a:latin typeface="Times New Roman" panose="02020603050405020304" pitchFamily="18" charset="0"/>
                  <a:cs typeface="Times New Roman" panose="02020603050405020304" pitchFamily="18" charset="0"/>
                  <a:sym typeface="Symbol" panose="05050102010706020507"/>
                </a:rPr>
                <a:t>(1) </a:t>
              </a:r>
              <a:r>
                <a:rPr lang="en-US" sz="2400" b="1" dirty="0">
                  <a:latin typeface="Times New Roman" panose="02020603050405020304" pitchFamily="18" charset="0"/>
                  <a:cs typeface="Times New Roman" panose="02020603050405020304" pitchFamily="18" charset="0"/>
                  <a:sym typeface="Symbol" panose="05050102010706020507"/>
                </a:rPr>
                <a:t>= (</a:t>
              </a:r>
              <a:r>
                <a:rPr lang="zh-CN" altLang="en-US" sz="2400" b="1" i="1" dirty="0">
                  <a:latin typeface="Times New Roman" panose="02020603050405020304" pitchFamily="18" charset="0"/>
                  <a:cs typeface="Times New Roman" panose="02020603050405020304" pitchFamily="18" charset="0"/>
                  <a:sym typeface="Symbol" panose="05050102010706020507"/>
                </a:rPr>
                <a:t></a:t>
              </a:r>
              <a:r>
                <a:rPr lang="en-US" altLang="zh-CN" sz="2400" b="1" i="1" baseline="-25000" dirty="0" err="1">
                  <a:latin typeface="Times New Roman" panose="02020603050405020304" pitchFamily="18" charset="0"/>
                  <a:cs typeface="Times New Roman" panose="02020603050405020304" pitchFamily="18" charset="0"/>
                  <a:sym typeface="Symbol" panose="05050102010706020507"/>
                </a:rPr>
                <a:t>i</a:t>
              </a:r>
              <a:r>
                <a:rPr lang="en-US" altLang="zh-CN" sz="2400" b="1" baseline="30000" dirty="0">
                  <a:latin typeface="Times New Roman" panose="02020603050405020304" pitchFamily="18" charset="0"/>
                  <a:cs typeface="Times New Roman" panose="02020603050405020304" pitchFamily="18" charset="0"/>
                  <a:sym typeface="Symbol" panose="05050102010706020507"/>
                </a:rPr>
                <a:t>(0)</a:t>
              </a:r>
              <a:r>
                <a:rPr lang="en-US" altLang="zh-CN" sz="2400" b="1" dirty="0">
                  <a:latin typeface="Times New Roman" panose="02020603050405020304" pitchFamily="18" charset="0"/>
                  <a:cs typeface="Times New Roman" panose="02020603050405020304" pitchFamily="18" charset="0"/>
                  <a:sym typeface="Symbol" panose="05050102010706020507"/>
                </a:rPr>
                <a:t>+</a:t>
              </a:r>
              <a:r>
                <a:rPr lang="zh-CN" altLang="en-US" sz="2400" b="1" i="1" dirty="0">
                  <a:latin typeface="Times New Roman" panose="02020603050405020304" pitchFamily="18" charset="0"/>
                  <a:cs typeface="Times New Roman" panose="02020603050405020304" pitchFamily="18" charset="0"/>
                  <a:sym typeface="Symbol" panose="05050102010706020507"/>
                </a:rPr>
                <a:t></a:t>
              </a:r>
              <a:r>
                <a:rPr lang="en-US" altLang="zh-CN" sz="2400" b="1" i="1" baseline="-25000" dirty="0">
                  <a:latin typeface="Times New Roman" panose="02020603050405020304" pitchFamily="18" charset="0"/>
                  <a:cs typeface="Times New Roman" panose="02020603050405020304" pitchFamily="18" charset="0"/>
                  <a:sym typeface="Symbol" panose="05050102010706020507"/>
                </a:rPr>
                <a:t>j</a:t>
              </a:r>
              <a:r>
                <a:rPr lang="en-US" altLang="zh-CN" sz="2400" b="1" baseline="30000" dirty="0">
                  <a:latin typeface="Times New Roman" panose="02020603050405020304" pitchFamily="18" charset="0"/>
                  <a:cs typeface="Times New Roman" panose="02020603050405020304" pitchFamily="18" charset="0"/>
                  <a:sym typeface="Symbol" panose="05050102010706020507"/>
                </a:rPr>
                <a:t>(0)</a:t>
              </a:r>
              <a:r>
                <a:rPr lang="en-US" sz="2400" b="1" dirty="0">
                  <a:latin typeface="Times New Roman" panose="02020603050405020304" pitchFamily="18" charset="0"/>
                  <a:cs typeface="Times New Roman" panose="02020603050405020304" pitchFamily="18" charset="0"/>
                  <a:sym typeface="Symbol" panose="05050102010706020507"/>
                </a:rPr>
                <a:t>) + </a:t>
              </a:r>
              <a:r>
                <a:rPr lang="en-US" sz="2400" b="1" i="1" dirty="0">
                  <a:latin typeface="Times New Roman" panose="02020603050405020304" pitchFamily="18" charset="0"/>
                  <a:cs typeface="Times New Roman" panose="02020603050405020304" pitchFamily="18" charset="0"/>
                  <a:sym typeface="Symbol" panose="05050102010706020507"/>
                </a:rPr>
                <a:t> </a:t>
              </a:r>
              <a:r>
                <a:rPr lang="en-US" sz="2400" b="1" dirty="0">
                  <a:latin typeface="Times New Roman" panose="02020603050405020304" pitchFamily="18" charset="0"/>
                  <a:cs typeface="Times New Roman" panose="02020603050405020304" pitchFamily="18" charset="0"/>
                  <a:sym typeface="Symbol" panose="05050102010706020507"/>
                </a:rPr>
                <a:t>(</a:t>
              </a:r>
              <a:r>
                <a:rPr lang="zh-CN" altLang="en-US" sz="2400" b="1" i="1" dirty="0">
                  <a:latin typeface="Times New Roman" panose="02020603050405020304" pitchFamily="18" charset="0"/>
                  <a:cs typeface="Times New Roman" panose="02020603050405020304" pitchFamily="18" charset="0"/>
                  <a:sym typeface="Symbol" panose="05050102010706020507"/>
                </a:rPr>
                <a:t></a:t>
              </a:r>
              <a:r>
                <a:rPr lang="en-US" altLang="zh-CN" sz="2400" b="1" i="1" baseline="-25000" dirty="0" err="1">
                  <a:latin typeface="Times New Roman" panose="02020603050405020304" pitchFamily="18" charset="0"/>
                  <a:cs typeface="Times New Roman" panose="02020603050405020304" pitchFamily="18" charset="0"/>
                  <a:sym typeface="Symbol" panose="05050102010706020507"/>
                </a:rPr>
                <a:t>i</a:t>
              </a:r>
              <a:r>
                <a:rPr lang="en-US" altLang="zh-CN" sz="2400" b="1" dirty="0">
                  <a:latin typeface="Times New Roman" panose="02020603050405020304" pitchFamily="18" charset="0"/>
                  <a:cs typeface="Times New Roman" panose="02020603050405020304" pitchFamily="18" charset="0"/>
                  <a:sym typeface="Symbol" panose="05050102010706020507"/>
                </a:rPr>
                <a:t>*+</a:t>
              </a:r>
              <a:r>
                <a:rPr lang="zh-CN" altLang="en-US" sz="2400" b="1" i="1" dirty="0">
                  <a:latin typeface="Times New Roman" panose="02020603050405020304" pitchFamily="18" charset="0"/>
                  <a:cs typeface="Times New Roman" panose="02020603050405020304" pitchFamily="18" charset="0"/>
                  <a:sym typeface="Symbol" panose="05050102010706020507"/>
                </a:rPr>
                <a:t></a:t>
              </a:r>
              <a:r>
                <a:rPr lang="en-US" altLang="zh-CN" sz="2400" b="1" i="1" baseline="-25000" dirty="0">
                  <a:latin typeface="Times New Roman" panose="02020603050405020304" pitchFamily="18" charset="0"/>
                  <a:cs typeface="Times New Roman" panose="02020603050405020304" pitchFamily="18" charset="0"/>
                  <a:sym typeface="Symbol" panose="05050102010706020507"/>
                </a:rPr>
                <a:t>j</a:t>
              </a:r>
              <a:r>
                <a:rPr lang="en-US" sz="2400" b="1" dirty="0">
                  <a:latin typeface="Times New Roman" panose="02020603050405020304" pitchFamily="18" charset="0"/>
                  <a:cs typeface="Times New Roman" panose="02020603050405020304" pitchFamily="18" charset="0"/>
                  <a:sym typeface="Symbol" panose="05050102010706020507"/>
                </a:rPr>
                <a:t>*)</a:t>
              </a:r>
              <a:endParaRPr lang="en-US" sz="2400" b="1" dirty="0">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p:nvPr>
        </p:nvSpPr>
        <p:spPr>
          <a:xfrm>
            <a:off x="457200" y="274638"/>
            <a:ext cx="8229600" cy="9398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匈牙利算法（续</a:t>
            </a:r>
            <a:r>
              <a:rPr lang="en-US" altLang="zh-CN" sz="4000" b="1" smtClean="0">
                <a:solidFill>
                  <a:srgbClr val="C00000"/>
                </a:solidFill>
                <a:latin typeface="Times New Roman" panose="02020603050405020304" pitchFamily="18" charset="0"/>
                <a:cs typeface="Times New Roman" panose="02020603050405020304" pitchFamily="18" charset="0"/>
              </a:rPr>
              <a:t>6</a:t>
            </a:r>
            <a:r>
              <a:rPr lang="zh-CN" altLang="en-US" sz="4000" b="1" smtClean="0">
                <a:solidFill>
                  <a:srgbClr val="C00000"/>
                </a:solidFill>
                <a:latin typeface="Times New Roman" panose="02020603050405020304" pitchFamily="18" charset="0"/>
                <a:cs typeface="Times New Roman" panose="02020603050405020304" pitchFamily="18" charset="0"/>
              </a:rPr>
              <a:t>）</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93187" name="内容占位符 2"/>
          <p:cNvSpPr>
            <a:spLocks noGrp="1"/>
          </p:cNvSpPr>
          <p:nvPr>
            <p:ph idx="1"/>
          </p:nvPr>
        </p:nvSpPr>
        <p:spPr>
          <a:xfrm>
            <a:off x="457200" y="1279525"/>
            <a:ext cx="8229600" cy="5286375"/>
          </a:xfrm>
        </p:spPr>
        <p:txBody>
          <a:bodyPr/>
          <a:lstStyle/>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有 </a:t>
            </a:r>
            <a:r>
              <a:rPr lang="en-US" altLang="zh-CN" sz="2400" b="1" smtClean="0">
                <a:latin typeface="Times New Roman" panose="02020603050405020304" pitchFamily="18" charset="0"/>
                <a:cs typeface="Times New Roman" panose="02020603050405020304" pitchFamily="18" charset="0"/>
              </a:rPr>
              <a:t>4 </a:t>
            </a:r>
            <a:r>
              <a:rPr lang="zh-CN" altLang="en-US" sz="2400" b="1" smtClean="0">
                <a:latin typeface="Times New Roman" panose="02020603050405020304" pitchFamily="18" charset="0"/>
                <a:cs typeface="Times New Roman" panose="02020603050405020304" pitchFamily="18" charset="0"/>
              </a:rPr>
              <a:t>种可能</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(1)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zh-CN" altLang="en-US" sz="2400" b="1" smtClean="0">
                <a:latin typeface="Times New Roman" panose="02020603050405020304" pitchFamily="18" charset="0"/>
                <a:cs typeface="Times New Roman" panose="02020603050405020304" pitchFamily="18" charset="0"/>
              </a:rPr>
              <a:t>已标号</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zh-CN" altLang="en-US" sz="2400" b="1" smtClean="0">
                <a:latin typeface="Times New Roman" panose="02020603050405020304" pitchFamily="18" charset="0"/>
                <a:cs typeface="Times New Roman" panose="02020603050405020304" pitchFamily="18" charset="0"/>
              </a:rPr>
              <a:t>已标号</a:t>
            </a:r>
            <a:r>
              <a:rPr lang="en-US" altLang="zh-CN" sz="2400" b="1" smtClean="0">
                <a:latin typeface="Times New Roman" panose="02020603050405020304" pitchFamily="18" charset="0"/>
                <a:cs typeface="Times New Roman" panose="02020603050405020304" pitchFamily="18" charset="0"/>
              </a:rPr>
              <a:t>,  </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(0)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(0)</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(2)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zh-CN" altLang="en-US" sz="2400" b="1" smtClean="0">
                <a:latin typeface="Times New Roman" panose="02020603050405020304" pitchFamily="18" charset="0"/>
                <a:cs typeface="Times New Roman" panose="02020603050405020304" pitchFamily="18" charset="0"/>
              </a:rPr>
              <a:t>未标号</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zh-CN" altLang="en-US" sz="2400" b="1" smtClean="0">
                <a:latin typeface="Times New Roman" panose="02020603050405020304" pitchFamily="18" charset="0"/>
                <a:cs typeface="Times New Roman" panose="02020603050405020304" pitchFamily="18" charset="0"/>
              </a:rPr>
              <a:t>未标号</a:t>
            </a:r>
            <a:r>
              <a:rPr lang="en-US" altLang="zh-CN" sz="2400" b="1" smtClean="0">
                <a:latin typeface="Times New Roman" panose="02020603050405020304" pitchFamily="18" charset="0"/>
                <a:cs typeface="Times New Roman" panose="02020603050405020304" pitchFamily="18" charset="0"/>
              </a:rPr>
              <a:t>,  </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(0)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(0)</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(3)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zh-CN" altLang="en-US" sz="2400" b="1" smtClean="0">
                <a:latin typeface="Times New Roman" panose="02020603050405020304" pitchFamily="18" charset="0"/>
                <a:cs typeface="Times New Roman" panose="02020603050405020304" pitchFamily="18" charset="0"/>
              </a:rPr>
              <a:t>未标号</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zh-CN" altLang="en-US" sz="2400" b="1" smtClean="0">
                <a:latin typeface="Times New Roman" panose="02020603050405020304" pitchFamily="18" charset="0"/>
                <a:cs typeface="Times New Roman" panose="02020603050405020304" pitchFamily="18" charset="0"/>
              </a:rPr>
              <a:t>已标号</a:t>
            </a:r>
            <a:r>
              <a:rPr lang="en-US" altLang="zh-CN" sz="2400" b="1" smtClean="0">
                <a:latin typeface="Times New Roman" panose="02020603050405020304" pitchFamily="18" charset="0"/>
                <a:cs typeface="Times New Roman" panose="02020603050405020304" pitchFamily="18" charset="0"/>
              </a:rPr>
              <a:t>,  </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(0)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(0)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rPr>
              <a:t>2</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(4)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zh-CN" altLang="en-US" sz="2400" b="1" smtClean="0">
                <a:latin typeface="Times New Roman" panose="02020603050405020304" pitchFamily="18" charset="0"/>
                <a:cs typeface="Times New Roman" panose="02020603050405020304" pitchFamily="18" charset="0"/>
              </a:rPr>
              <a:t>已标号</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zh-CN" altLang="en-US" sz="2400" b="1" smtClean="0">
                <a:latin typeface="Times New Roman" panose="02020603050405020304" pitchFamily="18" charset="0"/>
                <a:cs typeface="Times New Roman" panose="02020603050405020304" pitchFamily="18" charset="0"/>
              </a:rPr>
              <a:t>未标号</a:t>
            </a:r>
            <a:r>
              <a:rPr lang="en-US" altLang="zh-CN" sz="2400" b="1" smtClean="0">
                <a:latin typeface="Times New Roman" panose="02020603050405020304" pitchFamily="18" charset="0"/>
                <a:cs typeface="Times New Roman" panose="02020603050405020304" pitchFamily="18" charset="0"/>
              </a:rPr>
              <a:t>,  </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(0)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(0) </a:t>
            </a:r>
            <a:r>
              <a:rPr lang="en-US" altLang="zh-CN" sz="2400" b="1" smtClean="0">
                <a:latin typeface="Times New Roman" panose="02020603050405020304" pitchFamily="18" charset="0"/>
                <a:cs typeface="Times New Roman" panose="02020603050405020304" pitchFamily="18" charset="0"/>
              </a:rPr>
              <a:t>+ 2</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取  </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min{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w</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ij</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(0)</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(0)</a:t>
            </a:r>
            <a:r>
              <a:rPr lang="en-US" altLang="zh-CN" sz="2400" b="1" smtClean="0">
                <a:latin typeface="Times New Roman" panose="02020603050405020304" pitchFamily="18" charset="0"/>
                <a:cs typeface="Times New Roman" panose="02020603050405020304" pitchFamily="18" charset="0"/>
              </a:rPr>
              <a:t>)/2  |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已标号</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未标号 </a:t>
            </a:r>
            <a:r>
              <a:rPr lang="en-US" altLang="zh-CN"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(1)</a:t>
            </a:r>
            <a:r>
              <a:rPr lang="zh-CN" altLang="en-US" sz="2400" b="1" smtClean="0">
                <a:latin typeface="Times New Roman" panose="02020603050405020304" pitchFamily="18" charset="0"/>
                <a:cs typeface="Times New Roman" panose="02020603050405020304" pitchFamily="18" charset="0"/>
              </a:rPr>
              <a:t>和</a:t>
            </a:r>
            <a:r>
              <a:rPr lang="en-US" altLang="zh-CN" sz="2400" b="1" smtClean="0">
                <a:latin typeface="Times New Roman" panose="02020603050405020304" pitchFamily="18" charset="0"/>
                <a:cs typeface="Times New Roman" panose="02020603050405020304" pitchFamily="18" charset="0"/>
              </a:rPr>
              <a:t>(2)</a:t>
            </a:r>
            <a:r>
              <a:rPr lang="zh-CN" altLang="en-US" sz="2400" b="1" smtClean="0">
                <a:latin typeface="Times New Roman" panose="02020603050405020304" pitchFamily="18" charset="0"/>
                <a:cs typeface="Times New Roman" panose="02020603050405020304" pitchFamily="18" charset="0"/>
              </a:rPr>
              <a:t>不改变</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IJ</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的边</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M</a:t>
            </a:r>
            <a:r>
              <a:rPr lang="zh-CN" altLang="en-US" sz="2400" b="1" smtClean="0">
                <a:latin typeface="Times New Roman" panose="02020603050405020304" pitchFamily="18" charset="0"/>
                <a:cs typeface="Times New Roman" panose="02020603050405020304" pitchFamily="18" charset="0"/>
              </a:rPr>
              <a:t>的边的顶点必属于</a:t>
            </a:r>
            <a:r>
              <a:rPr lang="en-US" altLang="zh-CN" sz="2400" b="1" smtClean="0">
                <a:latin typeface="Times New Roman" panose="02020603050405020304" pitchFamily="18" charset="0"/>
                <a:cs typeface="Times New Roman" panose="02020603050405020304" pitchFamily="18" charset="0"/>
              </a:rPr>
              <a:t>(1)</a:t>
            </a:r>
            <a:r>
              <a:rPr lang="zh-CN" altLang="en-US" sz="2400" b="1" smtClean="0">
                <a:latin typeface="Times New Roman" panose="02020603050405020304" pitchFamily="18" charset="0"/>
                <a:cs typeface="Times New Roman" panose="02020603050405020304" pitchFamily="18" charset="0"/>
              </a:rPr>
              <a:t>或</a:t>
            </a:r>
            <a:r>
              <a:rPr lang="en-US" altLang="zh-CN" sz="2400" b="1" smtClean="0">
                <a:latin typeface="Times New Roman" panose="02020603050405020304" pitchFamily="18" charset="0"/>
                <a:cs typeface="Times New Roman" panose="02020603050405020304" pitchFamily="18" charset="0"/>
              </a:rPr>
              <a:t>(2), </a:t>
            </a:r>
            <a:r>
              <a:rPr lang="zh-CN" altLang="en-US" sz="2400" b="1" smtClean="0">
                <a:latin typeface="Times New Roman" panose="02020603050405020304" pitchFamily="18" charset="0"/>
                <a:cs typeface="Times New Roman" panose="02020603050405020304" pitchFamily="18" charset="0"/>
              </a:rPr>
              <a:t>从而</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M</a:t>
            </a:r>
            <a:r>
              <a:rPr lang="zh-CN" altLang="en-US" sz="2400" b="1" smtClean="0">
                <a:latin typeface="Times New Roman" panose="02020603050405020304" pitchFamily="18" charset="0"/>
                <a:cs typeface="Times New Roman" panose="02020603050405020304" pitchFamily="18" charset="0"/>
              </a:rPr>
              <a:t>仍是新二部图的匹配</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(3)</a:t>
            </a:r>
            <a:r>
              <a:rPr lang="zh-CN" altLang="en-US" sz="2400" b="1" smtClean="0">
                <a:latin typeface="Times New Roman" panose="02020603050405020304" pitchFamily="18" charset="0"/>
                <a:cs typeface="Times New Roman" panose="02020603050405020304" pitchFamily="18" charset="0"/>
              </a:rPr>
              <a:t>若 </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是原图的边</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则在新图被剔除</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不影响下面标号</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(4)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和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使得</a:t>
            </a:r>
            <a:r>
              <a:rPr lang="en-US" altLang="zh-CN" sz="2400" b="1" smtClean="0">
                <a:latin typeface="Times New Roman" panose="02020603050405020304" pitchFamily="18" charset="0"/>
                <a:cs typeface="Times New Roman" panose="02020603050405020304" pitchFamily="18" charset="0"/>
              </a:rPr>
              <a:t> </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(0)</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(0) </a:t>
            </a:r>
            <a:r>
              <a:rPr lang="en-US" altLang="zh-CN" sz="2400" b="1" smtClean="0">
                <a:latin typeface="Times New Roman" panose="02020603050405020304" pitchFamily="18" charset="0"/>
                <a:cs typeface="Times New Roman" panose="02020603050405020304" pitchFamily="18" charset="0"/>
              </a:rPr>
              <a:t>&lt; </a:t>
            </a:r>
            <a:r>
              <a:rPr lang="en-US" altLang="zh-CN" sz="2400" b="1" i="1" smtClean="0">
                <a:latin typeface="Times New Roman" panose="02020603050405020304" pitchFamily="18" charset="0"/>
                <a:cs typeface="Times New Roman" panose="02020603050405020304" pitchFamily="18" charset="0"/>
              </a:rPr>
              <a:t>w</a:t>
            </a:r>
            <a:r>
              <a:rPr lang="en-US" altLang="zh-CN" sz="2400" b="1" i="1" baseline="-25000" smtClean="0">
                <a:latin typeface="Times New Roman" panose="02020603050405020304" pitchFamily="18" charset="0"/>
                <a:cs typeface="Times New Roman" panose="02020603050405020304" pitchFamily="18" charset="0"/>
              </a:rPr>
              <a:t>ij</a:t>
            </a:r>
            <a:r>
              <a:rPr lang="en-US" altLang="zh-CN" sz="2400" b="1" smtClean="0">
                <a:latin typeface="Times New Roman" panose="02020603050405020304" pitchFamily="18" charset="0"/>
                <a:cs typeface="Times New Roman" panose="02020603050405020304" pitchFamily="18" charset="0"/>
              </a:rPr>
              <a:t>, </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baseline="30000" smtClean="0">
                <a:latin typeface="Times New Roman" panose="02020603050405020304" pitchFamily="18" charset="0"/>
                <a:cs typeface="Times New Roman" panose="02020603050405020304" pitchFamily="18" charset="0"/>
                <a:sym typeface="Symbol" panose="05050102010706020507" pitchFamily="18" charset="2"/>
              </a:rPr>
              <a:t>(1) </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w</a:t>
            </a:r>
            <a:r>
              <a:rPr lang="en-US" altLang="zh-CN" sz="2400" b="1" i="1" baseline="-25000" smtClean="0">
                <a:latin typeface="Times New Roman" panose="02020603050405020304" pitchFamily="18" charset="0"/>
                <a:cs typeface="Times New Roman" panose="02020603050405020304" pitchFamily="18" charset="0"/>
              </a:rPr>
              <a:t>ij</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从而新图得到</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一条新边 </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使得终止的标号过程得以继续进行</a:t>
            </a:r>
            <a:r>
              <a:rPr lang="en-US" altLang="zh-CN" sz="2400" b="1" smtClean="0">
                <a:latin typeface="Times New Roman" panose="02020603050405020304" pitchFamily="18" charset="0"/>
                <a:cs typeface="Times New Roman" panose="02020603050405020304" pitchFamily="18" charset="0"/>
              </a:rPr>
              <a:t>. </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zh-CN" altLang="en-US" sz="2400" b="1" smtClean="0">
              <a:latin typeface="Times New Roman" panose="02020603050405020304" pitchFamily="18" charset="0"/>
              <a:cs typeface="Times New Roman" panose="02020603050405020304" pitchFamily="18" charset="0"/>
            </a:endParaRPr>
          </a:p>
        </p:txBody>
      </p:sp>
      <p:sp>
        <p:nvSpPr>
          <p:cNvPr id="9318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A18426FA-1E8E-4DEA-9487-33948A8194FF}"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a:xfrm>
            <a:off x="457200" y="142875"/>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匈牙利算法（续</a:t>
            </a:r>
            <a:r>
              <a:rPr lang="en-US" altLang="zh-CN" sz="4000" b="1" smtClean="0">
                <a:solidFill>
                  <a:srgbClr val="C00000"/>
                </a:solidFill>
                <a:latin typeface="Times New Roman" panose="02020603050405020304" pitchFamily="18" charset="0"/>
                <a:cs typeface="Times New Roman" panose="02020603050405020304" pitchFamily="18" charset="0"/>
              </a:rPr>
              <a:t>7</a:t>
            </a:r>
            <a:r>
              <a:rPr lang="zh-CN" altLang="en-US" sz="4000" b="1" smtClean="0">
                <a:solidFill>
                  <a:srgbClr val="C00000"/>
                </a:solidFill>
                <a:latin typeface="Times New Roman" panose="02020603050405020304" pitchFamily="18" charset="0"/>
                <a:cs typeface="Times New Roman" panose="02020603050405020304" pitchFamily="18" charset="0"/>
              </a:rPr>
              <a:t>）</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94211" name="内容占位符 2"/>
          <p:cNvSpPr>
            <a:spLocks noGrp="1"/>
          </p:cNvSpPr>
          <p:nvPr>
            <p:ph idx="1"/>
          </p:nvPr>
        </p:nvSpPr>
        <p:spPr>
          <a:xfrm>
            <a:off x="457200" y="1285875"/>
            <a:ext cx="8229600" cy="4840288"/>
          </a:xfrm>
        </p:spPr>
        <p:txBody>
          <a:bodyPr/>
          <a:lstStyle/>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算法</a:t>
            </a:r>
            <a:r>
              <a:rPr lang="en-US" altLang="zh-CN" sz="2400" b="1" dirty="0" smtClean="0">
                <a:solidFill>
                  <a:srgbClr val="C00000"/>
                </a:solidFill>
                <a:latin typeface="Times New Roman" panose="02020603050405020304" pitchFamily="18" charset="0"/>
                <a:cs typeface="Times New Roman" panose="02020603050405020304" pitchFamily="18" charset="0"/>
              </a:rPr>
              <a:t>7.8 </a:t>
            </a:r>
            <a:r>
              <a:rPr lang="zh-CN" altLang="en-US" sz="2400" b="1" dirty="0" smtClean="0">
                <a:solidFill>
                  <a:srgbClr val="C00000"/>
                </a:solidFill>
                <a:latin typeface="Times New Roman" panose="02020603050405020304" pitchFamily="18" charset="0"/>
                <a:cs typeface="Times New Roman" panose="02020603050405020304" pitchFamily="18" charset="0"/>
              </a:rPr>
              <a:t>匈牙利算法</a:t>
            </a:r>
            <a:endParaRPr lang="zh-CN" altLang="en-US" sz="2400" b="1" dirty="0" smtClean="0">
              <a:solidFill>
                <a:srgbClr val="C00000"/>
              </a:solidFill>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输入  赋权完全二部图 </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smtClean="0">
                <a:latin typeface="Times New Roman" panose="02020603050405020304" pitchFamily="18" charset="0"/>
                <a:cs typeface="Times New Roman" panose="02020603050405020304" pitchFamily="18" charset="0"/>
              </a:rPr>
              <a:t>A</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B</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w</a:t>
            </a:r>
            <a:r>
              <a:rPr lang="en-US" altLang="zh-CN" sz="2400" b="1" dirty="0" smtClean="0">
                <a:latin typeface="Times New Roman" panose="02020603050405020304" pitchFamily="18" charset="0"/>
                <a:cs typeface="Times New Roman" panose="02020603050405020304" pitchFamily="18" charset="0"/>
              </a:rPr>
              <a:t>&gt;, </a:t>
            </a:r>
            <a:r>
              <a:rPr lang="zh-CN" altLang="en-US" sz="2400" b="1" dirty="0" smtClean="0">
                <a:latin typeface="Times New Roman" panose="02020603050405020304" pitchFamily="18" charset="0"/>
                <a:cs typeface="Times New Roman" panose="02020603050405020304" pitchFamily="18" charset="0"/>
              </a:rPr>
              <a:t>其中</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A</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B</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n</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输出 </a:t>
            </a:r>
            <a:r>
              <a:rPr lang="en-US" altLang="zh-CN" sz="2400" b="1" dirty="0" smtClean="0">
                <a:latin typeface="Times New Roman" panose="02020603050405020304" pitchFamily="18" charset="0"/>
                <a:cs typeface="Times New Roman" panose="02020603050405020304" pitchFamily="18" charset="0"/>
              </a:rPr>
              <a:t>match</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1.    for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=1 to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 do match(</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0,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0                   //</a:t>
            </a:r>
            <a:r>
              <a:rPr lang="zh-CN" altLang="en-US" sz="2400" b="1" dirty="0" smtClean="0">
                <a:latin typeface="Times New Roman" panose="02020603050405020304" pitchFamily="18" charset="0"/>
                <a:cs typeface="Times New Roman" panose="02020603050405020304" pitchFamily="18" charset="0"/>
              </a:rPr>
              <a:t>初始化</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1.1      for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=1 to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 do match(</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0,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min{ </a:t>
            </a:r>
            <a:r>
              <a:rPr lang="en-US" altLang="zh-CN" sz="2400" b="1" i="1" dirty="0" err="1" smtClean="0">
                <a:latin typeface="Times New Roman" panose="02020603050405020304" pitchFamily="18" charset="0"/>
                <a:cs typeface="Times New Roman" panose="02020603050405020304" pitchFamily="18" charset="0"/>
              </a:rPr>
              <a:t>w</a:t>
            </a:r>
            <a:r>
              <a:rPr lang="en-US" altLang="zh-CN" sz="2400" b="1" i="1" baseline="-25000" dirty="0" err="1" smtClean="0">
                <a:latin typeface="Times New Roman" panose="02020603050405020304" pitchFamily="18" charset="0"/>
                <a:cs typeface="Times New Roman" panose="02020603050405020304" pitchFamily="18" charset="0"/>
              </a:rPr>
              <a:t>ij</a:t>
            </a:r>
            <a:r>
              <a:rPr lang="en-US" altLang="zh-CN" sz="2400" b="1" dirty="0" smtClean="0">
                <a:latin typeface="Times New Roman" panose="02020603050405020304" pitchFamily="18" charset="0"/>
                <a:cs typeface="Times New Roman" panose="02020603050405020304" pitchFamily="18" charset="0"/>
              </a:rPr>
              <a:t> | 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n</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2.    for </a:t>
            </a:r>
            <a:r>
              <a:rPr lang="en-US" altLang="zh-CN" sz="2400" b="1" i="1" dirty="0" smtClean="0">
                <a:latin typeface="Times New Roman" panose="02020603050405020304" pitchFamily="18" charset="0"/>
                <a:cs typeface="Times New Roman" panose="02020603050405020304" pitchFamily="18" charset="0"/>
              </a:rPr>
              <a:t>q</a:t>
            </a:r>
            <a:r>
              <a:rPr lang="en-US" altLang="zh-CN" sz="2400" b="1" dirty="0" smtClean="0">
                <a:latin typeface="Times New Roman" panose="02020603050405020304" pitchFamily="18" charset="0"/>
                <a:cs typeface="Times New Roman" panose="02020603050405020304" pitchFamily="18" charset="0"/>
              </a:rPr>
              <a:t>=1 to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 do         //</a:t>
            </a:r>
            <a:r>
              <a:rPr lang="en-US" altLang="zh-CN" sz="2400" b="1" i="1" dirty="0" smtClean="0">
                <a:latin typeface="Times New Roman" panose="02020603050405020304" pitchFamily="18" charset="0"/>
                <a:cs typeface="Times New Roman" panose="02020603050405020304" pitchFamily="18" charset="0"/>
              </a:rPr>
              <a:t>n</a:t>
            </a:r>
            <a:r>
              <a:rPr lang="zh-CN" altLang="en-US" sz="2400" b="1" dirty="0" smtClean="0">
                <a:latin typeface="Times New Roman" panose="02020603050405020304" pitchFamily="18" charset="0"/>
                <a:cs typeface="Times New Roman" panose="02020603050405020304" pitchFamily="18" charset="0"/>
              </a:rPr>
              <a:t>个阶段</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每阶段增加一条匹配边</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2.1      </a:t>
            </a:r>
            <a:r>
              <a:rPr lang="en-US" altLang="zh-CN" sz="2400" b="1" i="1" dirty="0" smtClean="0">
                <a:latin typeface="Times New Roman" panose="02020603050405020304" pitchFamily="18" charset="0"/>
                <a:cs typeface="Times New Roman" panose="02020603050405020304" pitchFamily="18" charset="0"/>
              </a:rPr>
              <a:t>IJ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2.2      for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=1 to n do </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2.3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)=min{</a:t>
            </a:r>
            <a:r>
              <a:rPr lang="en-US" altLang="zh-CN" sz="2400" b="1" i="1" dirty="0" err="1" smtClean="0">
                <a:latin typeface="Times New Roman" panose="02020603050405020304" pitchFamily="18" charset="0"/>
                <a:cs typeface="Times New Roman" panose="02020603050405020304" pitchFamily="18" charset="0"/>
              </a:rPr>
              <a:t>w</a:t>
            </a:r>
            <a:r>
              <a:rPr lang="en-US" altLang="zh-CN" sz="2400" b="1" i="1" baseline="-25000" dirty="0" err="1" smtClean="0">
                <a:latin typeface="Times New Roman" panose="02020603050405020304" pitchFamily="18" charset="0"/>
                <a:cs typeface="Times New Roman" panose="02020603050405020304" pitchFamily="18" charset="0"/>
              </a:rPr>
              <a:t>ij</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zh-CN" altLang="en-US" sz="2400" b="1" dirty="0" smtClean="0">
                <a:latin typeface="Times New Roman" panose="02020603050405020304" pitchFamily="18" charset="0"/>
                <a:cs typeface="Times New Roman" panose="02020603050405020304" pitchFamily="18" charset="0"/>
              </a:rPr>
              <a:t>已标号</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2.4          for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=1 to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 do</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2.5              if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w</a:t>
            </a:r>
            <a:r>
              <a:rPr lang="en-US" altLang="zh-CN" sz="2400" b="1" i="1" baseline="-25000" dirty="0" err="1" smtClean="0">
                <a:latin typeface="Times New Roman" panose="02020603050405020304" pitchFamily="18" charset="0"/>
                <a:cs typeface="Times New Roman" panose="02020603050405020304" pitchFamily="18" charset="0"/>
              </a:rPr>
              <a:t>ij</a:t>
            </a:r>
            <a:r>
              <a:rPr lang="en-US" altLang="zh-CN" sz="2400" b="1" dirty="0" smtClean="0">
                <a:latin typeface="Times New Roman" panose="02020603050405020304" pitchFamily="18" charset="0"/>
                <a:cs typeface="Times New Roman" panose="02020603050405020304" pitchFamily="18" charset="0"/>
              </a:rPr>
              <a:t> then </a:t>
            </a:r>
            <a:r>
              <a:rPr lang="en-US" altLang="zh-CN" sz="2400" b="1" i="1" dirty="0" smtClean="0">
                <a:latin typeface="Times New Roman" panose="02020603050405020304" pitchFamily="18" charset="0"/>
                <a:cs typeface="Times New Roman" panose="02020603050405020304" pitchFamily="18" charset="0"/>
              </a:rPr>
              <a:t>IJ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IJ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构造</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IJ</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p:txBody>
      </p:sp>
      <p:sp>
        <p:nvSpPr>
          <p:cNvPr id="9421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7F6F0E16-090E-4F2C-8C1D-7942BB3FC262}"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内容占位符 2"/>
          <p:cNvSpPr>
            <a:spLocks noGrp="1"/>
          </p:cNvSpPr>
          <p:nvPr>
            <p:ph idx="1"/>
          </p:nvPr>
        </p:nvSpPr>
        <p:spPr>
          <a:xfrm>
            <a:off x="457200" y="428625"/>
            <a:ext cx="8229600" cy="6286500"/>
          </a:xfrm>
        </p:spPr>
        <p:txBody>
          <a:bodyPr/>
          <a:lstStyle/>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3.        </a:t>
            </a:r>
            <a:r>
              <a:rPr lang="en-US" altLang="zh-CN" sz="2400" b="1" i="1" smtClean="0">
                <a:latin typeface="Times New Roman" panose="02020603050405020304" pitchFamily="18" charset="0"/>
                <a:cs typeface="Times New Roman" panose="02020603050405020304" pitchFamily="18" charset="0"/>
              </a:rPr>
              <a:t>X</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XX</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标号过程开始</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3.1       for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A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rPr>
              <a:t>match(</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)=0  do</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3.2            </a:t>
            </a:r>
            <a:r>
              <a:rPr lang="en-US" altLang="zh-CN" sz="2400" b="1" i="1" smtClean="0">
                <a:latin typeface="Times New Roman" panose="02020603050405020304" pitchFamily="18" charset="0"/>
                <a:cs typeface="Times New Roman" panose="02020603050405020304" pitchFamily="18" charset="0"/>
              </a:rPr>
              <a:t>l</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0, </a:t>
            </a:r>
            <a:r>
              <a:rPr lang="en-US" altLang="zh-CN" sz="2400" b="1" i="1" smtClean="0">
                <a:latin typeface="Times New Roman" panose="02020603050405020304" pitchFamily="18" charset="0"/>
                <a:cs typeface="Times New Roman" panose="02020603050405020304" pitchFamily="18" charset="0"/>
              </a:rPr>
              <a:t>X</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X</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XX</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XX</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4.        </a:t>
            </a:r>
            <a:r>
              <a:rPr lang="en-US" altLang="zh-CN" sz="2400" b="1" i="1" smtClean="0">
                <a:latin typeface="Times New Roman" panose="02020603050405020304" pitchFamily="18" charset="0"/>
                <a:cs typeface="Times New Roman" panose="02020603050405020304" pitchFamily="18" charset="0"/>
              </a:rPr>
              <a:t>Y</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B</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X</a:t>
            </a:r>
            <a:r>
              <a:rPr lang="zh-CN" altLang="en-US" sz="2400" b="1" smtClean="0">
                <a:latin typeface="Times New Roman" panose="02020603050405020304" pitchFamily="18" charset="0"/>
                <a:cs typeface="Times New Roman" panose="02020603050405020304" pitchFamily="18" charset="0"/>
              </a:rPr>
              <a:t>是</a:t>
            </a:r>
            <a:r>
              <a:rPr lang="en-US" altLang="zh-CN" sz="2400" b="1" i="1" smtClean="0">
                <a:latin typeface="Times New Roman" panose="02020603050405020304" pitchFamily="18" charset="0"/>
                <a:cs typeface="Times New Roman" panose="02020603050405020304" pitchFamily="18" charset="0"/>
              </a:rPr>
              <a:t>A</a:t>
            </a:r>
            <a:r>
              <a:rPr lang="zh-CN" altLang="en-US" sz="2400" b="1" smtClean="0">
                <a:latin typeface="Times New Roman" panose="02020603050405020304" pitchFamily="18" charset="0"/>
                <a:cs typeface="Times New Roman" panose="02020603050405020304" pitchFamily="18" charset="0"/>
              </a:rPr>
              <a:t>中已标号顶点</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XX</a:t>
            </a:r>
            <a:r>
              <a:rPr lang="zh-CN" altLang="en-US" sz="2400" b="1" smtClean="0">
                <a:latin typeface="Times New Roman" panose="02020603050405020304" pitchFamily="18" charset="0"/>
                <a:cs typeface="Times New Roman" panose="02020603050405020304" pitchFamily="18" charset="0"/>
              </a:rPr>
              <a:t>是</a:t>
            </a:r>
            <a:r>
              <a:rPr lang="en-US" altLang="zh-CN" sz="2400" b="1" i="1" smtClean="0">
                <a:latin typeface="Times New Roman" panose="02020603050405020304" pitchFamily="18" charset="0"/>
                <a:cs typeface="Times New Roman" panose="02020603050405020304" pitchFamily="18" charset="0"/>
              </a:rPr>
              <a:t>A</a:t>
            </a:r>
            <a:r>
              <a:rPr lang="zh-CN" altLang="en-US" sz="2400" b="1" smtClean="0">
                <a:latin typeface="Times New Roman" panose="02020603050405020304" pitchFamily="18" charset="0"/>
                <a:cs typeface="Times New Roman" panose="02020603050405020304" pitchFamily="18" charset="0"/>
              </a:rPr>
              <a:t>中已标号</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4.1      while  </a:t>
            </a:r>
            <a:r>
              <a:rPr lang="en-US" altLang="zh-CN" sz="2400" b="1" i="1" smtClean="0">
                <a:latin typeface="Times New Roman" panose="02020603050405020304" pitchFamily="18" charset="0"/>
                <a:cs typeface="Times New Roman" panose="02020603050405020304" pitchFamily="18" charset="0"/>
              </a:rPr>
              <a:t>XX</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do          </a:t>
            </a:r>
            <a:r>
              <a:rPr lang="zh-CN" altLang="en-US" sz="2400" b="1" smtClean="0">
                <a:latin typeface="Times New Roman" panose="02020603050405020304" pitchFamily="18" charset="0"/>
                <a:cs typeface="Times New Roman" panose="02020603050405020304" pitchFamily="18" charset="0"/>
              </a:rPr>
              <a:t>未检查顶点</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Y</a:t>
            </a:r>
            <a:r>
              <a:rPr lang="zh-CN" altLang="en-US" sz="2400" b="1" smtClean="0">
                <a:latin typeface="Times New Roman" panose="02020603050405020304" pitchFamily="18" charset="0"/>
                <a:cs typeface="Times New Roman" panose="02020603050405020304" pitchFamily="18" charset="0"/>
              </a:rPr>
              <a:t>是</a:t>
            </a:r>
            <a:r>
              <a:rPr lang="en-US" altLang="zh-CN" sz="2400" b="1" i="1" smtClean="0">
                <a:latin typeface="Times New Roman" panose="02020603050405020304" pitchFamily="18" charset="0"/>
                <a:cs typeface="Times New Roman" panose="02020603050405020304" pitchFamily="18" charset="0"/>
              </a:rPr>
              <a:t>B</a:t>
            </a:r>
            <a:r>
              <a:rPr lang="zh-CN" altLang="en-US" sz="2400" b="1" smtClean="0">
                <a:latin typeface="Times New Roman" panose="02020603050405020304" pitchFamily="18" charset="0"/>
                <a:cs typeface="Times New Roman" panose="02020603050405020304" pitchFamily="18" charset="0"/>
              </a:rPr>
              <a:t>中未标号顶点</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4.2            </a:t>
            </a:r>
            <a:r>
              <a:rPr lang="zh-CN" altLang="en-US" sz="2400" b="1" smtClean="0">
                <a:latin typeface="Times New Roman" panose="02020603050405020304" pitchFamily="18" charset="0"/>
                <a:cs typeface="Times New Roman" panose="02020603050405020304" pitchFamily="18" charset="0"/>
              </a:rPr>
              <a:t>任取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XX</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XX</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XX</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4.3            for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Y</a:t>
            </a:r>
            <a:r>
              <a:rPr lang="en-US" altLang="zh-CN" sz="2400" b="1" smtClean="0">
                <a:latin typeface="Times New Roman" panose="02020603050405020304" pitchFamily="18" charset="0"/>
                <a:cs typeface="Times New Roman" panose="02020603050405020304" pitchFamily="18" charset="0"/>
              </a:rPr>
              <a:t>  do</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4.4                 if  0&lt;</a:t>
            </a:r>
            <a:r>
              <a:rPr lang="en-US" altLang="zh-CN" sz="2400" b="1" i="1" smtClean="0">
                <a:latin typeface="Times New Roman" panose="02020603050405020304" pitchFamily="18" charset="0"/>
                <a:cs typeface="Times New Roman" panose="02020603050405020304" pitchFamily="18" charset="0"/>
              </a:rPr>
              <a:t>w</a:t>
            </a:r>
            <a:r>
              <a:rPr lang="en-US" altLang="zh-CN" sz="2400" b="1" i="1" baseline="-25000" smtClean="0">
                <a:latin typeface="Times New Roman" panose="02020603050405020304" pitchFamily="18" charset="0"/>
                <a:cs typeface="Times New Roman" panose="02020603050405020304" pitchFamily="18" charset="0"/>
              </a:rPr>
              <a:t>ij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rPr>
              <a:t>j </a:t>
            </a:r>
            <a:r>
              <a:rPr lang="en-US" altLang="zh-CN" sz="2400" b="1" smtClean="0">
                <a:latin typeface="Times New Roman" panose="02020603050405020304" pitchFamily="18" charset="0"/>
                <a:cs typeface="Times New Roman" panose="02020603050405020304" pitchFamily="18" charset="0"/>
              </a:rPr>
              <a:t>&lt; </a:t>
            </a:r>
            <a:r>
              <a:rPr lang="en-US" altLang="zh-CN" sz="2400" b="1" i="1" smtClean="0">
                <a:latin typeface="Times New Roman" panose="02020603050405020304" pitchFamily="18" charset="0"/>
                <a:cs typeface="Times New Roman" panose="02020603050405020304" pitchFamily="18" charset="0"/>
              </a:rPr>
              <a:t>s</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then</a:t>
            </a:r>
            <a:r>
              <a:rPr lang="en-US" altLang="zh-CN" sz="2400" b="1" i="1" smtClean="0">
                <a:latin typeface="Times New Roman" panose="02020603050405020304" pitchFamily="18" charset="0"/>
                <a:cs typeface="Times New Roman" panose="02020603050405020304" pitchFamily="18" charset="0"/>
              </a:rPr>
              <a:t>      </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4.5                        </a:t>
            </a:r>
            <a:r>
              <a:rPr lang="en-US" altLang="zh-CN" sz="2400" b="1" i="1" smtClean="0">
                <a:latin typeface="Times New Roman" panose="02020603050405020304" pitchFamily="18" charset="0"/>
                <a:cs typeface="Times New Roman" panose="02020603050405020304" pitchFamily="18" charset="0"/>
              </a:rPr>
              <a:t>s</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 w</a:t>
            </a:r>
            <a:r>
              <a:rPr lang="en-US" altLang="zh-CN" sz="2400" b="1" i="1" baseline="-25000" smtClean="0">
                <a:latin typeface="Times New Roman" panose="02020603050405020304" pitchFamily="18" charset="0"/>
                <a:cs typeface="Times New Roman" panose="02020603050405020304" pitchFamily="18" charset="0"/>
              </a:rPr>
              <a:t>ij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h</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4.6                 if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IJ </a:t>
            </a:r>
            <a:r>
              <a:rPr lang="en-US" altLang="zh-CN" sz="2400" b="1" smtClean="0">
                <a:latin typeface="Times New Roman" panose="02020603050405020304" pitchFamily="18" charset="0"/>
                <a:cs typeface="Times New Roman" panose="02020603050405020304" pitchFamily="18" charset="0"/>
              </a:rPr>
              <a:t> then  //</a:t>
            </a:r>
            <a:r>
              <a:rPr lang="en-US" altLang="zh-CN" sz="2400" b="1" i="1" smtClean="0">
                <a:latin typeface="Times New Roman" panose="02020603050405020304" pitchFamily="18" charset="0"/>
                <a:cs typeface="Times New Roman" panose="02020603050405020304" pitchFamily="18" charset="0"/>
              </a:rPr>
              <a:t>h</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是使</a:t>
            </a:r>
            <a:r>
              <a:rPr lang="en-US" altLang="zh-CN" sz="2400" b="1" i="1" smtClean="0">
                <a:latin typeface="Times New Roman" panose="02020603050405020304" pitchFamily="18" charset="0"/>
                <a:cs typeface="Times New Roman" panose="02020603050405020304" pitchFamily="18" charset="0"/>
              </a:rPr>
              <a:t>s</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取最小值的</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4.7                        </a:t>
            </a:r>
            <a:r>
              <a:rPr lang="en-US" altLang="zh-CN" sz="2400" b="1" i="1" smtClean="0">
                <a:latin typeface="Times New Roman" panose="02020603050405020304" pitchFamily="18" charset="0"/>
                <a:cs typeface="Times New Roman" panose="02020603050405020304" pitchFamily="18" charset="0"/>
              </a:rPr>
              <a:t>l</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Y</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Y</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4.8                        if  match(</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)=0  then  goto 6          //</a:t>
            </a:r>
            <a:r>
              <a:rPr lang="zh-CN" altLang="en-US" sz="2400" b="1" smtClean="0">
                <a:latin typeface="Times New Roman" panose="02020603050405020304" pitchFamily="18" charset="0"/>
                <a:cs typeface="Times New Roman" panose="02020603050405020304" pitchFamily="18" charset="0"/>
              </a:rPr>
              <a:t>存在</a:t>
            </a:r>
            <a:r>
              <a:rPr lang="en-US" altLang="zh-CN" sz="2400" b="1" i="1" smtClean="0">
                <a:latin typeface="Times New Roman" panose="02020603050405020304" pitchFamily="18" charset="0"/>
                <a:cs typeface="Times New Roman" panose="02020603050405020304" pitchFamily="18" charset="0"/>
              </a:rPr>
              <a:t>P</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4.9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k</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match(</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l</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k</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                              X</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X</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k</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XX</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XX</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k</a:t>
            </a:r>
            <a:r>
              <a:rPr lang="en-US" altLang="zh-CN" sz="2400" b="1" smtClean="0">
                <a:latin typeface="Times New Roman" panose="02020603050405020304" pitchFamily="18" charset="0"/>
                <a:cs typeface="Times New Roman" panose="02020603050405020304" pitchFamily="18" charset="0"/>
              </a:rPr>
              <a:t>}  </a:t>
            </a:r>
            <a:endParaRPr lang="zh-CN" altLang="en-US" sz="2400" b="1" smtClean="0">
              <a:latin typeface="Times New Roman" panose="02020603050405020304" pitchFamily="18" charset="0"/>
              <a:cs typeface="Times New Roman" panose="02020603050405020304" pitchFamily="18" charset="0"/>
            </a:endParaRPr>
          </a:p>
        </p:txBody>
      </p:sp>
      <p:sp>
        <p:nvSpPr>
          <p:cNvPr id="95235"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5270CDD0-E173-4478-9663-D9CA7FDD2EA4}"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内容占位符 2"/>
          <p:cNvSpPr>
            <a:spLocks noGrp="1"/>
          </p:cNvSpPr>
          <p:nvPr>
            <p:ph idx="1"/>
          </p:nvPr>
        </p:nvSpPr>
        <p:spPr>
          <a:xfrm>
            <a:off x="457200" y="642938"/>
            <a:ext cx="8229600" cy="5483225"/>
          </a:xfrm>
        </p:spPr>
        <p:txBody>
          <a:bodyPr/>
          <a:lstStyle/>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5.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0.5</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min{ </a:t>
            </a:r>
            <a:r>
              <a:rPr lang="en-US" altLang="zh-CN" sz="2400" b="1" i="1" smtClean="0">
                <a:latin typeface="Times New Roman" panose="02020603050405020304" pitchFamily="18" charset="0"/>
                <a:cs typeface="Times New Roman" panose="02020603050405020304" pitchFamily="18" charset="0"/>
              </a:rPr>
              <a:t>s</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Y</a:t>
            </a:r>
            <a:r>
              <a:rPr lang="en-US" altLang="zh-CN" sz="2400" b="1" smtClean="0">
                <a:latin typeface="Times New Roman" panose="02020603050405020304" pitchFamily="18" charset="0"/>
                <a:cs typeface="Times New Roman" panose="02020603050405020304" pitchFamily="18" charset="0"/>
              </a:rPr>
              <a:t> }                        //</a:t>
            </a:r>
            <a:r>
              <a:rPr lang="zh-CN" altLang="en-US" sz="2400" b="1" smtClean="0">
                <a:latin typeface="Times New Roman" panose="02020603050405020304" pitchFamily="18" charset="0"/>
                <a:cs typeface="Times New Roman" panose="02020603050405020304" pitchFamily="18" charset="0"/>
              </a:rPr>
              <a:t>修改</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rPr>
              <a:t>j</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5.1     for </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=1 to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 do</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5.2          if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X</a:t>
            </a:r>
            <a:r>
              <a:rPr lang="en-US" altLang="zh-CN" sz="2400" b="1" smtClean="0">
                <a:latin typeface="Times New Roman" panose="02020603050405020304" pitchFamily="18" charset="0"/>
                <a:cs typeface="Times New Roman" panose="02020603050405020304" pitchFamily="18" charset="0"/>
              </a:rPr>
              <a:t> then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else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5.3     for </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=1 to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 do</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5.4          if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Y</a:t>
            </a:r>
            <a:r>
              <a:rPr lang="en-US" altLang="zh-CN" sz="2400" b="1" smtClean="0">
                <a:latin typeface="Times New Roman" panose="02020603050405020304" pitchFamily="18" charset="0"/>
                <a:cs typeface="Times New Roman" panose="02020603050405020304" pitchFamily="18" charset="0"/>
              </a:rPr>
              <a:t> then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else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5.5     for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Y</a:t>
            </a:r>
            <a:r>
              <a:rPr lang="en-US" altLang="zh-CN" sz="2400" b="1" smtClean="0">
                <a:latin typeface="Times New Roman" panose="02020603050405020304" pitchFamily="18" charset="0"/>
                <a:cs typeface="Times New Roman" panose="02020603050405020304" pitchFamily="18" charset="0"/>
              </a:rPr>
              <a:t> do </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5.6          </a:t>
            </a:r>
            <a:r>
              <a:rPr lang="en-US" altLang="zh-CN" sz="2400" b="1" i="1" smtClean="0">
                <a:latin typeface="Times New Roman" panose="02020603050405020304" pitchFamily="18" charset="0"/>
                <a:cs typeface="Times New Roman" panose="02020603050405020304" pitchFamily="18" charset="0"/>
              </a:rPr>
              <a:t>s</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s</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rPr>
              <a:t>2</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5.6          if  </a:t>
            </a:r>
            <a:r>
              <a:rPr lang="en-US" altLang="zh-CN" sz="2400" b="1" i="1" smtClean="0">
                <a:latin typeface="Times New Roman" panose="02020603050405020304" pitchFamily="18" charset="0"/>
                <a:cs typeface="Times New Roman" panose="02020603050405020304" pitchFamily="18" charset="0"/>
              </a:rPr>
              <a:t>s</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)=0 then </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5.7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h</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XX</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XX</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IJ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IJ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5.8     goto 4.1                                              //</a:t>
            </a:r>
            <a:r>
              <a:rPr lang="zh-CN" altLang="en-US" sz="2400" b="1" smtClean="0">
                <a:latin typeface="Times New Roman" panose="02020603050405020304" pitchFamily="18" charset="0"/>
                <a:cs typeface="Times New Roman" panose="02020603050405020304" pitchFamily="18" charset="0"/>
              </a:rPr>
              <a:t>返回继续标号</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6.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l</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match(</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match(</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M</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M</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P</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6.1     if  </a:t>
            </a:r>
            <a:r>
              <a:rPr lang="en-US" altLang="zh-CN" sz="2400" b="1" i="1" smtClean="0">
                <a:latin typeface="Times New Roman" panose="02020603050405020304" pitchFamily="18" charset="0"/>
                <a:cs typeface="Times New Roman" panose="02020603050405020304" pitchFamily="18" charset="0"/>
              </a:rPr>
              <a:t>l</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0 then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l</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goto 6  //</a:t>
            </a:r>
            <a:r>
              <a:rPr lang="zh-CN" altLang="en-US" sz="2400" b="1" smtClean="0">
                <a:latin typeface="Times New Roman" panose="02020603050405020304" pitchFamily="18" charset="0"/>
                <a:cs typeface="Times New Roman" panose="02020603050405020304" pitchFamily="18" charset="0"/>
              </a:rPr>
              <a:t>否则</a:t>
            </a:r>
            <a:r>
              <a:rPr lang="en-US" altLang="zh-CN" sz="2400" b="1" i="1" smtClean="0">
                <a:latin typeface="Times New Roman" panose="02020603050405020304" pitchFamily="18" charset="0"/>
                <a:cs typeface="Times New Roman" panose="02020603050405020304" pitchFamily="18" charset="0"/>
              </a:rPr>
              <a:t>q</a:t>
            </a:r>
            <a:r>
              <a:rPr lang="zh-CN" altLang="en-US" sz="2400" b="1" smtClean="0">
                <a:latin typeface="Times New Roman" panose="02020603050405020304" pitchFamily="18" charset="0"/>
                <a:cs typeface="Times New Roman" panose="02020603050405020304" pitchFamily="18" charset="0"/>
              </a:rPr>
              <a:t>的这一阶段结束</a:t>
            </a:r>
            <a:endParaRPr lang="zh-CN" altLang="en-US" sz="2400" b="1" smtClean="0">
              <a:latin typeface="Times New Roman" panose="02020603050405020304" pitchFamily="18" charset="0"/>
              <a:cs typeface="Times New Roman" panose="02020603050405020304" pitchFamily="18" charset="0"/>
            </a:endParaRPr>
          </a:p>
        </p:txBody>
      </p:sp>
      <p:sp>
        <p:nvSpPr>
          <p:cNvPr id="9625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4B6C93DC-DAF1-49F5-9FFD-3AEA5AAB136A}"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p:nvPr>
        </p:nvSpPr>
        <p:spPr>
          <a:xfrm>
            <a:off x="446088" y="222250"/>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匈牙利算法（续</a:t>
            </a:r>
            <a:r>
              <a:rPr lang="en-US" altLang="zh-CN" sz="4000" b="1" smtClean="0">
                <a:solidFill>
                  <a:srgbClr val="C00000"/>
                </a:solidFill>
                <a:latin typeface="Times New Roman" panose="02020603050405020304" pitchFamily="18" charset="0"/>
                <a:cs typeface="Times New Roman" panose="02020603050405020304" pitchFamily="18" charset="0"/>
              </a:rPr>
              <a:t>8</a:t>
            </a:r>
            <a:r>
              <a:rPr lang="zh-CN" altLang="en-US" sz="4000" b="1" smtClean="0">
                <a:solidFill>
                  <a:srgbClr val="C00000"/>
                </a:solidFill>
                <a:latin typeface="Times New Roman" panose="02020603050405020304" pitchFamily="18" charset="0"/>
                <a:cs typeface="Times New Roman" panose="02020603050405020304" pitchFamily="18" charset="0"/>
              </a:rPr>
              <a:t>）</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9728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942BB354-4B88-44F2-B6BF-3EA309016426}" type="slidenum">
              <a:rPr lang="zh-CN" altLang="en-US" sz="1200" smtClean="0">
                <a:solidFill>
                  <a:srgbClr val="898989"/>
                </a:solidFill>
              </a:rPr>
            </a:fld>
            <a:endParaRPr lang="zh-CN" altLang="en-US" sz="1200" smtClean="0">
              <a:solidFill>
                <a:srgbClr val="898989"/>
              </a:solidFill>
            </a:endParaRPr>
          </a:p>
        </p:txBody>
      </p:sp>
      <p:sp>
        <p:nvSpPr>
          <p:cNvPr id="97284"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nvGrpSpPr>
          <p:cNvPr id="97285" name="组合 14"/>
          <p:cNvGrpSpPr/>
          <p:nvPr/>
        </p:nvGrpSpPr>
        <p:grpSpPr bwMode="auto">
          <a:xfrm>
            <a:off x="0" y="1477963"/>
            <a:ext cx="9144000" cy="5335587"/>
            <a:chOff x="0" y="1021256"/>
            <a:chExt cx="9144000" cy="5335081"/>
          </a:xfrm>
        </p:grpSpPr>
        <p:sp>
          <p:nvSpPr>
            <p:cNvPr id="13" name="内容占位符 2"/>
            <p:cNvSpPr txBox="1"/>
            <p:nvPr/>
          </p:nvSpPr>
          <p:spPr bwMode="auto">
            <a:xfrm>
              <a:off x="452438" y="1021256"/>
              <a:ext cx="8229600" cy="5335081"/>
            </a:xfrm>
            <a:prstGeom prst="rect">
              <a:avLst/>
            </a:prstGeom>
            <a:noFill/>
            <a:ln w="9525">
              <a:noFill/>
              <a:miter lim="800000"/>
            </a:ln>
          </p:spPr>
          <p:txBody>
            <a:bodyPr/>
            <a:lstStyle/>
            <a:p>
              <a:pPr marL="342900" indent="-342900">
                <a:spcBef>
                  <a:spcPct val="20000"/>
                </a:spcBef>
                <a:buFont typeface="Arial" panose="020B0604020202020204" pitchFamily="34" charset="0"/>
                <a:buNone/>
                <a:defRPr/>
              </a:pPr>
              <a:r>
                <a:rPr lang="zh-CN" altLang="en-US" sz="2400" b="1" dirty="0" smtClean="0">
                  <a:solidFill>
                    <a:srgbClr val="C00000"/>
                  </a:solidFill>
                  <a:latin typeface="Times New Roman" panose="02020603050405020304" pitchFamily="18" charset="0"/>
                  <a:ea typeface="+mn-ea"/>
                  <a:cs typeface="Times New Roman" panose="02020603050405020304" pitchFamily="18" charset="0"/>
                </a:rPr>
                <a:t>定理</a:t>
              </a:r>
              <a:r>
                <a:rPr lang="en-US" altLang="zh-CN" sz="2400" b="1" dirty="0" smtClean="0">
                  <a:solidFill>
                    <a:srgbClr val="C00000"/>
                  </a:solidFill>
                  <a:latin typeface="Times New Roman" panose="02020603050405020304" pitchFamily="18" charset="0"/>
                  <a:ea typeface="+mn-ea"/>
                  <a:cs typeface="Times New Roman" panose="02020603050405020304" pitchFamily="18" charset="0"/>
                </a:rPr>
                <a:t>7.</a:t>
              </a:r>
              <a:r>
                <a:rPr lang="en-US" sz="2400" b="1" dirty="0" smtClean="0">
                  <a:solidFill>
                    <a:srgbClr val="C00000"/>
                  </a:solidFill>
                  <a:latin typeface="Times New Roman" panose="02020603050405020304" pitchFamily="18" charset="0"/>
                  <a:ea typeface="+mn-ea"/>
                  <a:cs typeface="Times New Roman" panose="02020603050405020304" pitchFamily="18" charset="0"/>
                </a:rPr>
                <a:t>11</a:t>
              </a:r>
              <a:r>
                <a:rPr lang="en-US" sz="2400" b="1" dirty="0" smtClean="0">
                  <a:latin typeface="Times New Roman" panose="02020603050405020304" pitchFamily="18" charset="0"/>
                  <a:ea typeface="+mn-ea"/>
                  <a:cs typeface="Times New Roman" panose="02020603050405020304" pitchFamily="18" charset="0"/>
                </a:rPr>
                <a:t> </a:t>
              </a:r>
              <a:r>
                <a:rPr lang="zh-CN" altLang="en-US" sz="2400" b="1" dirty="0" smtClean="0">
                  <a:latin typeface="Times New Roman" panose="02020603050405020304" pitchFamily="18" charset="0"/>
                  <a:ea typeface="+mn-ea"/>
                  <a:cs typeface="Times New Roman" panose="02020603050405020304" pitchFamily="18" charset="0"/>
                </a:rPr>
                <a:t>算法</a:t>
              </a:r>
              <a:r>
                <a:rPr lang="en-US" altLang="zh-CN" sz="2400" b="1" dirty="0" smtClean="0">
                  <a:latin typeface="Times New Roman" panose="02020603050405020304" pitchFamily="18" charset="0"/>
                  <a:ea typeface="+mn-ea"/>
                  <a:cs typeface="Times New Roman" panose="02020603050405020304" pitchFamily="18" charset="0"/>
                </a:rPr>
                <a:t>7.</a:t>
              </a:r>
              <a:r>
                <a:rPr lang="en-US" sz="2400" b="1" dirty="0" smtClean="0">
                  <a:latin typeface="Times New Roman" panose="02020603050405020304" pitchFamily="18" charset="0"/>
                  <a:ea typeface="+mn-ea"/>
                  <a:cs typeface="Times New Roman" panose="02020603050405020304" pitchFamily="18" charset="0"/>
                </a:rPr>
                <a:t>8</a:t>
              </a:r>
              <a:r>
                <a:rPr lang="zh-CN" altLang="en-US" sz="2400" b="1" dirty="0">
                  <a:latin typeface="Times New Roman" panose="02020603050405020304" pitchFamily="18" charset="0"/>
                  <a:ea typeface="+mn-ea"/>
                  <a:cs typeface="Times New Roman" panose="02020603050405020304" pitchFamily="18" charset="0"/>
                </a:rPr>
                <a:t>得到的</a:t>
              </a:r>
              <a:r>
                <a:rPr lang="en-US" sz="2400" b="1" i="1" dirty="0">
                  <a:latin typeface="Times New Roman" panose="02020603050405020304" pitchFamily="18" charset="0"/>
                  <a:ea typeface="+mn-ea"/>
                  <a:cs typeface="Times New Roman" panose="02020603050405020304" pitchFamily="18" charset="0"/>
                </a:rPr>
                <a:t>M</a:t>
              </a:r>
              <a:r>
                <a:rPr lang="zh-CN" altLang="en-US" sz="2400" b="1" dirty="0">
                  <a:latin typeface="Times New Roman" panose="02020603050405020304" pitchFamily="18" charset="0"/>
                  <a:ea typeface="+mn-ea"/>
                  <a:cs typeface="Times New Roman" panose="02020603050405020304" pitchFamily="18" charset="0"/>
                </a:rPr>
                <a:t>是最小权完美匹配</a:t>
              </a:r>
              <a:r>
                <a:rPr lang="en-US" sz="2400" b="1" dirty="0">
                  <a:latin typeface="Times New Roman" panose="02020603050405020304" pitchFamily="18" charset="0"/>
                  <a:ea typeface="+mn-ea"/>
                  <a:cs typeface="Times New Roman" panose="02020603050405020304" pitchFamily="18" charset="0"/>
                </a:rPr>
                <a:t>, </a:t>
              </a:r>
              <a:r>
                <a:rPr lang="zh-CN" altLang="en-US" sz="2400" b="1" dirty="0">
                  <a:latin typeface="Times New Roman" panose="02020603050405020304" pitchFamily="18" charset="0"/>
                  <a:ea typeface="+mn-ea"/>
                  <a:cs typeface="Times New Roman" panose="02020603050405020304" pitchFamily="18" charset="0"/>
                </a:rPr>
                <a:t>并且在</a:t>
              </a:r>
              <a:r>
                <a:rPr lang="en-US" sz="2400" b="1" i="1" dirty="0">
                  <a:latin typeface="Times New Roman" panose="02020603050405020304" pitchFamily="18" charset="0"/>
                  <a:ea typeface="+mn-ea"/>
                  <a:cs typeface="Times New Roman" panose="02020603050405020304" pitchFamily="18" charset="0"/>
                </a:rPr>
                <a:t>O</a:t>
              </a:r>
              <a:r>
                <a:rPr lang="en-US" sz="2400" b="1" dirty="0">
                  <a:latin typeface="Times New Roman" panose="02020603050405020304" pitchFamily="18" charset="0"/>
                  <a:ea typeface="+mn-ea"/>
                  <a:cs typeface="Times New Roman" panose="02020603050405020304" pitchFamily="18" charset="0"/>
                </a:rPr>
                <a:t>(</a:t>
              </a:r>
              <a:r>
                <a:rPr lang="en-US" sz="2400" b="1" i="1" dirty="0">
                  <a:latin typeface="Times New Roman" panose="02020603050405020304" pitchFamily="18" charset="0"/>
                  <a:ea typeface="+mn-ea"/>
                  <a:cs typeface="Times New Roman" panose="02020603050405020304" pitchFamily="18" charset="0"/>
                </a:rPr>
                <a:t>n</a:t>
              </a:r>
              <a:r>
                <a:rPr lang="en-US" sz="2400" b="1" baseline="30000" dirty="0">
                  <a:latin typeface="Times New Roman" panose="02020603050405020304" pitchFamily="18" charset="0"/>
                  <a:ea typeface="+mn-ea"/>
                  <a:cs typeface="Times New Roman" panose="02020603050405020304" pitchFamily="18" charset="0"/>
                </a:rPr>
                <a:t>3</a:t>
              </a:r>
              <a:r>
                <a:rPr lang="en-US" sz="2400" b="1" dirty="0">
                  <a:latin typeface="Times New Roman" panose="02020603050405020304" pitchFamily="18" charset="0"/>
                  <a:ea typeface="+mn-ea"/>
                  <a:cs typeface="Times New Roman" panose="02020603050405020304" pitchFamily="18" charset="0"/>
                </a:rPr>
                <a:t>)</a:t>
              </a:r>
              <a:r>
                <a:rPr lang="zh-CN" altLang="en-US" sz="2400" b="1" dirty="0" smtClean="0">
                  <a:latin typeface="Times New Roman" panose="02020603050405020304" pitchFamily="18" charset="0"/>
                  <a:ea typeface="+mn-ea"/>
                  <a:cs typeface="Times New Roman" panose="02020603050405020304" pitchFamily="18" charset="0"/>
                </a:rPr>
                <a:t>步</a:t>
              </a:r>
              <a:endParaRPr lang="en-US" altLang="zh-CN" sz="2400" b="1" dirty="0" smtClean="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r>
                <a:rPr lang="zh-CN" altLang="en-US" sz="2400" b="1" dirty="0" smtClean="0">
                  <a:latin typeface="Times New Roman" panose="02020603050405020304" pitchFamily="18" charset="0"/>
                  <a:ea typeface="+mn-ea"/>
                  <a:cs typeface="Times New Roman" panose="02020603050405020304" pitchFamily="18" charset="0"/>
                </a:rPr>
                <a:t>内终止</a:t>
              </a:r>
              <a:r>
                <a:rPr lang="zh-CN" altLang="en-US" sz="2400" b="1" dirty="0">
                  <a:latin typeface="Times New Roman" panose="02020603050405020304" pitchFamily="18" charset="0"/>
                  <a:ea typeface="+mn-ea"/>
                  <a:cs typeface="Times New Roman" panose="02020603050405020304" pitchFamily="18" charset="0"/>
                </a:rPr>
                <a:t>计算</a:t>
              </a:r>
              <a:r>
                <a:rPr lang="en-US" sz="2400" b="1" dirty="0">
                  <a:latin typeface="Times New Roman" panose="02020603050405020304" pitchFamily="18" charset="0"/>
                  <a:ea typeface="+mn-ea"/>
                  <a:cs typeface="Times New Roman" panose="02020603050405020304" pitchFamily="18" charset="0"/>
                </a:rPr>
                <a:t>.</a:t>
              </a:r>
              <a:endParaRPr lang="zh-CN" altLang="en-US"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r>
                <a:rPr lang="zh-CN" altLang="en-US" sz="2400" b="1" dirty="0">
                  <a:solidFill>
                    <a:srgbClr val="C00000"/>
                  </a:solidFill>
                  <a:latin typeface="Times New Roman" panose="02020603050405020304" pitchFamily="18" charset="0"/>
                  <a:ea typeface="+mn-ea"/>
                  <a:cs typeface="Times New Roman" panose="02020603050405020304" pitchFamily="18" charset="0"/>
                </a:rPr>
                <a:t>证</a:t>
              </a:r>
              <a:r>
                <a:rPr lang="zh-CN" altLang="en-US" sz="2400" b="1" dirty="0">
                  <a:latin typeface="Times New Roman" panose="02020603050405020304" pitchFamily="18" charset="0"/>
                  <a:ea typeface="+mn-ea"/>
                  <a:cs typeface="Times New Roman" panose="02020603050405020304" pitchFamily="18" charset="0"/>
                </a:rPr>
                <a:t>  每个阶段增加一条匹配边</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n</a:t>
              </a:r>
              <a:r>
                <a:rPr lang="zh-CN" altLang="en-US" sz="2400" b="1" dirty="0">
                  <a:latin typeface="Times New Roman" panose="02020603050405020304" pitchFamily="18" charset="0"/>
                  <a:ea typeface="+mn-ea"/>
                  <a:cs typeface="Times New Roman" panose="02020603050405020304" pitchFamily="18" charset="0"/>
                </a:rPr>
                <a:t>个阶段得到的</a:t>
              </a:r>
              <a:r>
                <a:rPr lang="en-US" sz="2400" b="1" i="1" dirty="0">
                  <a:latin typeface="Times New Roman" panose="02020603050405020304" pitchFamily="18" charset="0"/>
                  <a:ea typeface="+mn-ea"/>
                  <a:cs typeface="Times New Roman" panose="02020603050405020304" pitchFamily="18" charset="0"/>
                </a:rPr>
                <a:t>M</a:t>
              </a:r>
              <a:r>
                <a:rPr lang="zh-CN" altLang="en-US" sz="2400" b="1" dirty="0">
                  <a:latin typeface="Times New Roman" panose="02020603050405020304" pitchFamily="18" charset="0"/>
                  <a:ea typeface="+mn-ea"/>
                  <a:cs typeface="Times New Roman" panose="02020603050405020304" pitchFamily="18" charset="0"/>
                </a:rPr>
                <a:t>是完美匹配</a:t>
              </a:r>
              <a:r>
                <a:rPr lang="en-US" sz="2400" b="1" dirty="0">
                  <a:latin typeface="Times New Roman" panose="02020603050405020304" pitchFamily="18" charset="0"/>
                  <a:ea typeface="+mn-ea"/>
                  <a:cs typeface="Times New Roman" panose="02020603050405020304" pitchFamily="18" charset="0"/>
                </a:rPr>
                <a:t>. </a:t>
              </a:r>
              <a:endParaRPr lang="en-US" sz="2400" b="1" dirty="0">
                <a:latin typeface="Times New Roman" panose="02020603050405020304" pitchFamily="18" charset="0"/>
                <a:ea typeface="+mn-ea"/>
                <a:cs typeface="Times New Roman" panose="02020603050405020304" pitchFamily="18" charset="0"/>
              </a:endParaRPr>
            </a:p>
            <a:p>
              <a:pPr marL="342900" indent="-342900">
                <a:spcBef>
                  <a:spcPct val="20000"/>
                </a:spcBef>
                <a:buFont typeface="Arial" panose="020B0604020202020204" pitchFamily="34" charset="0"/>
                <a:buNone/>
                <a:defRPr/>
              </a:pPr>
              <a:r>
                <a:rPr lang="zh-CN" altLang="en-US" sz="2400" b="1" dirty="0">
                  <a:latin typeface="Times New Roman" panose="02020603050405020304" pitchFamily="18" charset="0"/>
                  <a:ea typeface="+mn-ea"/>
                  <a:cs typeface="Times New Roman" panose="02020603050405020304" pitchFamily="18" charset="0"/>
                </a:rPr>
                <a:t>结束时</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sym typeface="Symbol" panose="05050102010706020507"/>
                </a:rPr>
                <a:t></a:t>
              </a:r>
              <a:r>
                <a:rPr lang="en-US" sz="2400" b="1" i="1" baseline="-25000" dirty="0" err="1">
                  <a:latin typeface="Times New Roman" panose="02020603050405020304" pitchFamily="18" charset="0"/>
                  <a:ea typeface="+mn-ea"/>
                  <a:cs typeface="Times New Roman" panose="02020603050405020304" pitchFamily="18" charset="0"/>
                </a:rPr>
                <a:t>i</a:t>
              </a:r>
              <a:r>
                <a:rPr lang="en-US" sz="2400" b="1" i="1" baseline="-25000" dirty="0">
                  <a:latin typeface="Times New Roman" panose="02020603050405020304" pitchFamily="18" charset="0"/>
                  <a:ea typeface="+mn-ea"/>
                  <a:cs typeface="Times New Roman" panose="02020603050405020304" pitchFamily="18" charset="0"/>
                </a:rPr>
                <a:t> </a:t>
              </a:r>
              <a:r>
                <a:rPr lang="en-US" sz="2400" b="1" dirty="0">
                  <a:latin typeface="Times New Roman" panose="02020603050405020304" pitchFamily="18" charset="0"/>
                  <a:ea typeface="+mn-ea"/>
                  <a:cs typeface="Times New Roman" panose="02020603050405020304" pitchFamily="18" charset="0"/>
                </a:rPr>
                <a:t>(1</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err="1">
                  <a:latin typeface="Times New Roman" panose="02020603050405020304" pitchFamily="18" charset="0"/>
                  <a:ea typeface="+mn-ea"/>
                  <a:cs typeface="Times New Roman" panose="02020603050405020304" pitchFamily="18" charset="0"/>
                </a:rPr>
                <a:t>i</a:t>
              </a:r>
              <a:r>
                <a:rPr lang="en-US" sz="2400" b="1" i="1" dirty="0">
                  <a:latin typeface="Times New Roman" panose="02020603050405020304" pitchFamily="18" charset="0"/>
                  <a:ea typeface="+mn-ea"/>
                  <a:cs typeface="Times New Roman" panose="02020603050405020304" pitchFamily="18" charset="0"/>
                </a:rPr>
                <a:t> </a:t>
              </a:r>
              <a:r>
                <a:rPr lang="en-US" sz="2400" b="1" dirty="0">
                  <a:latin typeface="Times New Roman" panose="02020603050405020304" pitchFamily="18" charset="0"/>
                  <a:ea typeface="+mn-ea"/>
                  <a:cs typeface="Times New Roman" panose="02020603050405020304" pitchFamily="18" charset="0"/>
                  <a:sym typeface="Symbol" panose="05050102010706020507"/>
                </a:rPr>
                <a:t></a:t>
              </a:r>
              <a:r>
                <a:rPr lang="en-US" sz="2400" b="1" i="1" dirty="0">
                  <a:latin typeface="Times New Roman" panose="02020603050405020304" pitchFamily="18" charset="0"/>
                  <a:ea typeface="+mn-ea"/>
                  <a:cs typeface="Times New Roman" panose="02020603050405020304" pitchFamily="18" charset="0"/>
                </a:rPr>
                <a:t>n</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sym typeface="Symbol" panose="05050102010706020507"/>
                </a:rPr>
                <a:t></a:t>
              </a:r>
              <a:r>
                <a:rPr lang="en-US" sz="2400" b="1" i="1" baseline="-25000" dirty="0">
                  <a:latin typeface="Times New Roman" panose="02020603050405020304" pitchFamily="18" charset="0"/>
                  <a:ea typeface="+mn-ea"/>
                  <a:cs typeface="Times New Roman" panose="02020603050405020304" pitchFamily="18" charset="0"/>
                </a:rPr>
                <a:t>j </a:t>
              </a:r>
              <a:r>
                <a:rPr lang="en-US" sz="2400" b="1" dirty="0">
                  <a:latin typeface="Times New Roman" panose="02020603050405020304" pitchFamily="18" charset="0"/>
                  <a:ea typeface="+mn-ea"/>
                  <a:cs typeface="Times New Roman" panose="02020603050405020304" pitchFamily="18" charset="0"/>
                </a:rPr>
                <a:t>(1</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err="1">
                  <a:latin typeface="Times New Roman" panose="02020603050405020304" pitchFamily="18" charset="0"/>
                  <a:ea typeface="+mn-ea"/>
                  <a:cs typeface="Times New Roman" panose="02020603050405020304" pitchFamily="18" charset="0"/>
                </a:rPr>
                <a:t>j</a:t>
              </a:r>
              <a:r>
                <a:rPr lang="en-US" sz="2400" b="1" dirty="0" err="1">
                  <a:latin typeface="Times New Roman" panose="02020603050405020304" pitchFamily="18" charset="0"/>
                  <a:ea typeface="+mn-ea"/>
                  <a:cs typeface="Times New Roman" panose="02020603050405020304" pitchFamily="18" charset="0"/>
                  <a:sym typeface="Symbol" panose="05050102010706020507"/>
                </a:rPr>
                <a:t></a:t>
              </a:r>
              <a:r>
                <a:rPr lang="en-US" sz="2400" b="1" i="1" dirty="0" err="1">
                  <a:latin typeface="Times New Roman" panose="02020603050405020304" pitchFamily="18" charset="0"/>
                  <a:ea typeface="+mn-ea"/>
                  <a:cs typeface="Times New Roman" panose="02020603050405020304" pitchFamily="18" charset="0"/>
                </a:rPr>
                <a:t>n</a:t>
              </a:r>
              <a:r>
                <a:rPr lang="en-US" sz="2400" b="1" dirty="0">
                  <a:latin typeface="Times New Roman" panose="02020603050405020304" pitchFamily="18" charset="0"/>
                  <a:ea typeface="+mn-ea"/>
                  <a:cs typeface="Times New Roman" panose="02020603050405020304" pitchFamily="18" charset="0"/>
                </a:rPr>
                <a:t>) </a:t>
              </a:r>
              <a:r>
                <a:rPr lang="zh-CN" altLang="en-US" sz="2400" b="1" dirty="0">
                  <a:latin typeface="Times New Roman" panose="02020603050405020304" pitchFamily="18" charset="0"/>
                  <a:ea typeface="+mn-ea"/>
                  <a:cs typeface="Times New Roman" panose="02020603050405020304" pitchFamily="18" charset="0"/>
                </a:rPr>
                <a:t>是</a:t>
              </a:r>
              <a:r>
                <a:rPr lang="en-US" sz="2400" b="1" dirty="0">
                  <a:latin typeface="Times New Roman" panose="02020603050405020304" pitchFamily="18" charset="0"/>
                  <a:ea typeface="+mn-ea"/>
                  <a:cs typeface="Times New Roman" panose="02020603050405020304" pitchFamily="18" charset="0"/>
                </a:rPr>
                <a:t>(D)</a:t>
              </a:r>
              <a:r>
                <a:rPr lang="zh-CN" altLang="en-US" sz="2400" b="1" dirty="0">
                  <a:latin typeface="Times New Roman" panose="02020603050405020304" pitchFamily="18" charset="0"/>
                  <a:ea typeface="+mn-ea"/>
                  <a:cs typeface="Times New Roman" panose="02020603050405020304" pitchFamily="18" charset="0"/>
                </a:rPr>
                <a:t>的可行解</a:t>
              </a:r>
              <a:r>
                <a:rPr lang="en-US" sz="2400" b="1" dirty="0">
                  <a:latin typeface="Times New Roman" panose="02020603050405020304" pitchFamily="18" charset="0"/>
                  <a:ea typeface="+mn-ea"/>
                  <a:cs typeface="Times New Roman" panose="02020603050405020304" pitchFamily="18" charset="0"/>
                </a:rPr>
                <a:t>, </a:t>
              </a:r>
              <a:r>
                <a:rPr lang="zh-CN" altLang="en-US" sz="2400" b="1" dirty="0">
                  <a:latin typeface="Times New Roman" panose="02020603050405020304" pitchFamily="18" charset="0"/>
                  <a:ea typeface="+mn-ea"/>
                  <a:cs typeface="Times New Roman" panose="02020603050405020304" pitchFamily="18" charset="0"/>
                </a:rPr>
                <a:t>目标函数值为</a:t>
              </a:r>
              <a:r>
                <a:rPr lang="en-US" sz="2400" b="1" dirty="0">
                  <a:latin typeface="Times New Roman" panose="02020603050405020304" pitchFamily="18" charset="0"/>
                  <a:ea typeface="+mn-ea"/>
                  <a:cs typeface="Times New Roman" panose="02020603050405020304" pitchFamily="18" charset="0"/>
                </a:rPr>
                <a:t> </a:t>
              </a:r>
              <a:endParaRPr lang="en-US" sz="2400" b="1" dirty="0">
                <a:latin typeface="Times New Roman" panose="02020603050405020304" pitchFamily="18" charset="0"/>
                <a:ea typeface="+mn-ea"/>
                <a:cs typeface="Times New Roman" panose="02020603050405020304" pitchFamily="18" charset="0"/>
              </a:endParaRPr>
            </a:p>
            <a:p>
              <a:pPr marL="342900" indent="-342900">
                <a:lnSpc>
                  <a:spcPct val="150000"/>
                </a:lnSpc>
                <a:spcBef>
                  <a:spcPct val="20000"/>
                </a:spcBef>
                <a:buFont typeface="Arial" panose="020B0604020202020204" pitchFamily="34" charset="0"/>
                <a:buNone/>
                <a:defRPr/>
              </a:pPr>
              <a:r>
                <a:rPr lang="en-US" sz="2400" b="1" dirty="0">
                  <a:latin typeface="Times New Roman" panose="02020603050405020304" pitchFamily="18" charset="0"/>
                  <a:ea typeface="+mn-ea"/>
                  <a:cs typeface="Times New Roman" panose="02020603050405020304" pitchFamily="18" charset="0"/>
                </a:rPr>
                <a:t>                    , </a:t>
              </a:r>
              <a:r>
                <a:rPr lang="zh-CN" altLang="en-US" sz="2400" b="1" dirty="0">
                  <a:latin typeface="Times New Roman" panose="02020603050405020304" pitchFamily="18" charset="0"/>
                  <a:ea typeface="+mn-ea"/>
                  <a:cs typeface="Times New Roman" panose="02020603050405020304" pitchFamily="18" charset="0"/>
                </a:rPr>
                <a:t>对应 </a:t>
              </a:r>
              <a:r>
                <a:rPr lang="en-US" sz="2400" b="1" i="1" dirty="0">
                  <a:latin typeface="Times New Roman" panose="02020603050405020304" pitchFamily="18" charset="0"/>
                  <a:ea typeface="+mn-ea"/>
                  <a:cs typeface="Times New Roman" panose="02020603050405020304" pitchFamily="18" charset="0"/>
                </a:rPr>
                <a:t>M </a:t>
              </a:r>
              <a:r>
                <a:rPr lang="zh-CN" altLang="en-US" sz="2400" b="1" dirty="0">
                  <a:latin typeface="Times New Roman" panose="02020603050405020304" pitchFamily="18" charset="0"/>
                  <a:ea typeface="+mn-ea"/>
                  <a:cs typeface="Times New Roman" panose="02020603050405020304" pitchFamily="18" charset="0"/>
                </a:rPr>
                <a:t>的 </a:t>
              </a:r>
              <a:r>
                <a:rPr lang="en-US" sz="2400" b="1" i="1" dirty="0" err="1">
                  <a:latin typeface="Times New Roman" panose="02020603050405020304" pitchFamily="18" charset="0"/>
                  <a:ea typeface="+mn-ea"/>
                  <a:cs typeface="Times New Roman" panose="02020603050405020304" pitchFamily="18" charset="0"/>
                </a:rPr>
                <a:t>x</a:t>
              </a:r>
              <a:r>
                <a:rPr lang="en-US" sz="2400" b="1" i="1" baseline="-25000" dirty="0" err="1">
                  <a:latin typeface="Times New Roman" panose="02020603050405020304" pitchFamily="18" charset="0"/>
                  <a:ea typeface="+mn-ea"/>
                  <a:cs typeface="Times New Roman" panose="02020603050405020304" pitchFamily="18" charset="0"/>
                </a:rPr>
                <a:t>ij</a:t>
              </a:r>
              <a:r>
                <a:rPr lang="en-US" sz="2400" b="1" i="1" baseline="-25000" dirty="0">
                  <a:latin typeface="Times New Roman" panose="02020603050405020304" pitchFamily="18" charset="0"/>
                  <a:ea typeface="+mn-ea"/>
                  <a:cs typeface="Times New Roman" panose="02020603050405020304" pitchFamily="18" charset="0"/>
                </a:rPr>
                <a:t> </a:t>
              </a:r>
              <a:r>
                <a:rPr lang="en-US" sz="2400" b="1" dirty="0">
                  <a:latin typeface="Times New Roman" panose="02020603050405020304" pitchFamily="18" charset="0"/>
                  <a:ea typeface="+mn-ea"/>
                  <a:cs typeface="Times New Roman" panose="02020603050405020304" pitchFamily="18" charset="0"/>
                </a:rPr>
                <a:t>(1</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err="1">
                  <a:latin typeface="Times New Roman" panose="02020603050405020304" pitchFamily="18" charset="0"/>
                  <a:ea typeface="+mn-ea"/>
                  <a:cs typeface="Times New Roman" panose="02020603050405020304" pitchFamily="18" charset="0"/>
                </a:rPr>
                <a:t>i</a:t>
              </a:r>
              <a:r>
                <a:rPr lang="en-US" sz="2400" b="1" i="1" dirty="0">
                  <a:latin typeface="Times New Roman" panose="02020603050405020304" pitchFamily="18" charset="0"/>
                  <a:ea typeface="+mn-ea"/>
                  <a:cs typeface="Times New Roman" panose="02020603050405020304" pitchFamily="18" charset="0"/>
                </a:rPr>
                <a:t> </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a:latin typeface="Times New Roman" panose="02020603050405020304" pitchFamily="18" charset="0"/>
                  <a:ea typeface="+mn-ea"/>
                  <a:cs typeface="Times New Roman" panose="02020603050405020304" pitchFamily="18" charset="0"/>
                </a:rPr>
                <a:t>n</a:t>
              </a:r>
              <a:r>
                <a:rPr lang="en-US" sz="2400" b="1" dirty="0">
                  <a:latin typeface="Times New Roman" panose="02020603050405020304" pitchFamily="18" charset="0"/>
                  <a:ea typeface="+mn-ea"/>
                  <a:cs typeface="Times New Roman" panose="02020603050405020304" pitchFamily="18" charset="0"/>
                </a:rPr>
                <a:t>, 1</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a:latin typeface="Times New Roman" panose="02020603050405020304" pitchFamily="18" charset="0"/>
                  <a:ea typeface="+mn-ea"/>
                  <a:cs typeface="Times New Roman" panose="02020603050405020304" pitchFamily="18" charset="0"/>
                </a:rPr>
                <a:t>j </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a:latin typeface="Times New Roman" panose="02020603050405020304" pitchFamily="18" charset="0"/>
                  <a:ea typeface="+mn-ea"/>
                  <a:cs typeface="Times New Roman" panose="02020603050405020304" pitchFamily="18" charset="0"/>
                </a:rPr>
                <a:t>n</a:t>
              </a:r>
              <a:r>
                <a:rPr lang="en-US" sz="2400" b="1" dirty="0">
                  <a:latin typeface="Times New Roman" panose="02020603050405020304" pitchFamily="18" charset="0"/>
                  <a:ea typeface="+mn-ea"/>
                  <a:cs typeface="Times New Roman" panose="02020603050405020304" pitchFamily="18" charset="0"/>
                </a:rPr>
                <a:t>)</a:t>
              </a:r>
              <a:r>
                <a:rPr lang="zh-CN" altLang="en-US" sz="2400" b="1" dirty="0">
                  <a:latin typeface="Times New Roman" panose="02020603050405020304" pitchFamily="18" charset="0"/>
                  <a:ea typeface="+mn-ea"/>
                  <a:cs typeface="Times New Roman" panose="02020603050405020304" pitchFamily="18" charset="0"/>
                </a:rPr>
                <a:t>是 </a:t>
              </a:r>
              <a:r>
                <a:rPr lang="en-US" sz="2400" b="1" dirty="0">
                  <a:latin typeface="Times New Roman" panose="02020603050405020304" pitchFamily="18" charset="0"/>
                  <a:ea typeface="+mn-ea"/>
                  <a:cs typeface="Times New Roman" panose="02020603050405020304" pitchFamily="18" charset="0"/>
                </a:rPr>
                <a:t>(P)</a:t>
              </a:r>
              <a:r>
                <a:rPr lang="zh-CN" altLang="en-US" sz="2400" b="1" dirty="0">
                  <a:latin typeface="Times New Roman" panose="02020603050405020304" pitchFamily="18" charset="0"/>
                  <a:ea typeface="+mn-ea"/>
                  <a:cs typeface="Times New Roman" panose="02020603050405020304" pitchFamily="18" charset="0"/>
                </a:rPr>
                <a:t>的可行解</a:t>
              </a:r>
              <a:r>
                <a:rPr lang="en-US" sz="2400" b="1" dirty="0">
                  <a:latin typeface="Times New Roman" panose="02020603050405020304" pitchFamily="18" charset="0"/>
                  <a:ea typeface="+mn-ea"/>
                  <a:cs typeface="Times New Roman" panose="02020603050405020304" pitchFamily="18" charset="0"/>
                </a:rPr>
                <a:t>, </a:t>
              </a:r>
              <a:endParaRPr lang="en-US" sz="2400" b="1" dirty="0">
                <a:latin typeface="Times New Roman" panose="02020603050405020304" pitchFamily="18" charset="0"/>
                <a:ea typeface="+mn-ea"/>
                <a:cs typeface="Times New Roman" panose="02020603050405020304" pitchFamily="18" charset="0"/>
              </a:endParaRPr>
            </a:p>
            <a:p>
              <a:pPr marL="342900" indent="-342900">
                <a:lnSpc>
                  <a:spcPct val="150000"/>
                </a:lnSpc>
                <a:spcBef>
                  <a:spcPct val="20000"/>
                </a:spcBef>
                <a:buFont typeface="Arial" panose="020B0604020202020204" pitchFamily="34" charset="0"/>
                <a:buNone/>
                <a:defRPr/>
              </a:pPr>
              <a:r>
                <a:rPr lang="zh-CN" altLang="en-US" sz="2400" b="1" dirty="0">
                  <a:latin typeface="Times New Roman" panose="02020603050405020304" pitchFamily="18" charset="0"/>
                  <a:ea typeface="+mn-ea"/>
                  <a:cs typeface="Times New Roman" panose="02020603050405020304" pitchFamily="18" charset="0"/>
                </a:rPr>
                <a:t>其目标函数值为</a:t>
              </a:r>
              <a:r>
                <a:rPr lang="en-US" sz="2400" b="1" dirty="0">
                  <a:latin typeface="Times New Roman" panose="02020603050405020304" pitchFamily="18" charset="0"/>
                  <a:ea typeface="+mn-ea"/>
                  <a:cs typeface="Times New Roman" panose="02020603050405020304" pitchFamily="18" charset="0"/>
                </a:rPr>
                <a:t> </a:t>
              </a:r>
              <a:endParaRPr lang="en-US" altLang="zh-CN" sz="2400" b="1" dirty="0">
                <a:latin typeface="Times New Roman" panose="02020603050405020304" pitchFamily="18" charset="0"/>
                <a:ea typeface="+mn-ea"/>
                <a:cs typeface="Times New Roman" panose="02020603050405020304" pitchFamily="18" charset="0"/>
              </a:endParaRPr>
            </a:p>
            <a:p>
              <a:pPr marL="342900" indent="-342900">
                <a:lnSpc>
                  <a:spcPct val="150000"/>
                </a:lnSpc>
                <a:spcBef>
                  <a:spcPct val="20000"/>
                </a:spcBef>
                <a:buFont typeface="Arial" panose="020B0604020202020204" pitchFamily="34" charset="0"/>
                <a:buNone/>
                <a:defRPr/>
              </a:pPr>
              <a:endParaRPr lang="en-US" sz="2400" b="1" i="1" dirty="0">
                <a:latin typeface="Times New Roman" panose="02020603050405020304" pitchFamily="18" charset="0"/>
                <a:ea typeface="+mn-ea"/>
                <a:cs typeface="Times New Roman" panose="02020603050405020304" pitchFamily="18" charset="0"/>
                <a:sym typeface="Symbol" panose="05050102010706020507"/>
              </a:endParaRPr>
            </a:p>
            <a:p>
              <a:pPr marL="342900" indent="-342900">
                <a:lnSpc>
                  <a:spcPct val="150000"/>
                </a:lnSpc>
                <a:spcBef>
                  <a:spcPct val="20000"/>
                </a:spcBef>
                <a:buFont typeface="Arial" panose="020B0604020202020204" pitchFamily="34" charset="0"/>
                <a:buNone/>
                <a:defRPr/>
              </a:pPr>
              <a:r>
                <a:rPr lang="zh-CN" altLang="en-US" sz="2400" b="1" dirty="0">
                  <a:latin typeface="Times New Roman" panose="02020603050405020304" pitchFamily="18" charset="0"/>
                  <a:cs typeface="Times New Roman" panose="02020603050405020304" pitchFamily="18" charset="0"/>
                </a:rPr>
                <a:t>故 </a:t>
              </a:r>
              <a:r>
                <a:rPr lang="en-US" sz="2400" b="1" i="1" dirty="0">
                  <a:latin typeface="Times New Roman" panose="02020603050405020304" pitchFamily="18" charset="0"/>
                  <a:ea typeface="+mn-ea"/>
                  <a:cs typeface="Times New Roman" panose="02020603050405020304" pitchFamily="18" charset="0"/>
                  <a:sym typeface="Symbol" panose="05050102010706020507"/>
                </a:rPr>
                <a:t></a:t>
              </a:r>
              <a:r>
                <a:rPr lang="en-US" sz="2400" b="1" i="1" baseline="-25000" dirty="0" err="1">
                  <a:latin typeface="Times New Roman" panose="02020603050405020304" pitchFamily="18" charset="0"/>
                  <a:ea typeface="+mn-ea"/>
                  <a:cs typeface="Times New Roman" panose="02020603050405020304" pitchFamily="18" charset="0"/>
                </a:rPr>
                <a:t>i</a:t>
              </a:r>
              <a:r>
                <a:rPr lang="en-US" sz="2400" b="1"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sym typeface="Symbol" panose="05050102010706020507"/>
                </a:rPr>
                <a:t></a:t>
              </a:r>
              <a:r>
                <a:rPr lang="en-US" sz="2400" b="1" i="1" baseline="-25000" dirty="0">
                  <a:latin typeface="Times New Roman" panose="02020603050405020304" pitchFamily="18" charset="0"/>
                  <a:ea typeface="+mn-ea"/>
                  <a:cs typeface="Times New Roman" panose="02020603050405020304" pitchFamily="18" charset="0"/>
                </a:rPr>
                <a:t>j </a:t>
              </a:r>
              <a:r>
                <a:rPr lang="en-US" sz="2400" b="1" dirty="0">
                  <a:latin typeface="Times New Roman" panose="02020603050405020304" pitchFamily="18" charset="0"/>
                  <a:ea typeface="+mn-ea"/>
                  <a:cs typeface="Times New Roman" panose="02020603050405020304" pitchFamily="18" charset="0"/>
                </a:rPr>
                <a:t>(1</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err="1">
                  <a:latin typeface="Times New Roman" panose="02020603050405020304" pitchFamily="18" charset="0"/>
                  <a:ea typeface="+mn-ea"/>
                  <a:cs typeface="Times New Roman" panose="02020603050405020304" pitchFamily="18" charset="0"/>
                  <a:sym typeface="Symbol" panose="05050102010706020507"/>
                </a:rPr>
                <a:t>i</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a:latin typeface="Times New Roman" panose="02020603050405020304" pitchFamily="18" charset="0"/>
                  <a:ea typeface="+mn-ea"/>
                  <a:cs typeface="Times New Roman" panose="02020603050405020304" pitchFamily="18" charset="0"/>
                </a:rPr>
                <a:t>j </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a:latin typeface="Times New Roman" panose="02020603050405020304" pitchFamily="18" charset="0"/>
                  <a:ea typeface="+mn-ea"/>
                  <a:cs typeface="Times New Roman" panose="02020603050405020304" pitchFamily="18" charset="0"/>
                </a:rPr>
                <a:t>n</a:t>
              </a:r>
              <a:r>
                <a:rPr lang="en-US" sz="2400" b="1" dirty="0">
                  <a:latin typeface="Times New Roman" panose="02020603050405020304" pitchFamily="18" charset="0"/>
                  <a:ea typeface="+mn-ea"/>
                  <a:cs typeface="Times New Roman" panose="02020603050405020304" pitchFamily="18" charset="0"/>
                </a:rPr>
                <a:t>) </a:t>
              </a:r>
              <a:r>
                <a:rPr lang="zh-CN" altLang="en-US" sz="2400" b="1" dirty="0">
                  <a:latin typeface="Times New Roman" panose="02020603050405020304" pitchFamily="18" charset="0"/>
                  <a:ea typeface="+mn-ea"/>
                  <a:cs typeface="Times New Roman" panose="02020603050405020304" pitchFamily="18" charset="0"/>
                </a:rPr>
                <a:t>和 </a:t>
              </a:r>
              <a:r>
                <a:rPr lang="en-US" sz="2400" b="1" i="1" dirty="0" err="1">
                  <a:latin typeface="Times New Roman" panose="02020603050405020304" pitchFamily="18" charset="0"/>
                  <a:ea typeface="+mn-ea"/>
                  <a:cs typeface="Times New Roman" panose="02020603050405020304" pitchFamily="18" charset="0"/>
                </a:rPr>
                <a:t>x</a:t>
              </a:r>
              <a:r>
                <a:rPr lang="en-US" sz="2400" b="1" i="1" baseline="-25000" dirty="0" err="1">
                  <a:latin typeface="Times New Roman" panose="02020603050405020304" pitchFamily="18" charset="0"/>
                  <a:ea typeface="+mn-ea"/>
                  <a:cs typeface="Times New Roman" panose="02020603050405020304" pitchFamily="18" charset="0"/>
                </a:rPr>
                <a:t>ij</a:t>
              </a:r>
              <a:r>
                <a:rPr lang="en-US" sz="2400" b="1" i="1" baseline="-25000" dirty="0">
                  <a:latin typeface="Times New Roman" panose="02020603050405020304" pitchFamily="18" charset="0"/>
                  <a:ea typeface="+mn-ea"/>
                  <a:cs typeface="Times New Roman" panose="02020603050405020304" pitchFamily="18" charset="0"/>
                </a:rPr>
                <a:t> </a:t>
              </a:r>
              <a:r>
                <a:rPr lang="en-US" sz="2400" b="1" dirty="0">
                  <a:latin typeface="Times New Roman" panose="02020603050405020304" pitchFamily="18" charset="0"/>
                  <a:ea typeface="+mn-ea"/>
                  <a:cs typeface="Times New Roman" panose="02020603050405020304" pitchFamily="18" charset="0"/>
                </a:rPr>
                <a:t>(1 </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err="1">
                  <a:latin typeface="Times New Roman" panose="02020603050405020304" pitchFamily="18" charset="0"/>
                  <a:ea typeface="+mn-ea"/>
                  <a:cs typeface="Times New Roman" panose="02020603050405020304" pitchFamily="18" charset="0"/>
                </a:rPr>
                <a:t>i</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a:latin typeface="Times New Roman" panose="02020603050405020304" pitchFamily="18" charset="0"/>
                  <a:ea typeface="+mn-ea"/>
                  <a:cs typeface="Times New Roman" panose="02020603050405020304" pitchFamily="18" charset="0"/>
                </a:rPr>
                <a:t>j </a:t>
              </a:r>
              <a:r>
                <a:rPr lang="en-US" sz="2400" b="1" dirty="0">
                  <a:latin typeface="Times New Roman" panose="02020603050405020304" pitchFamily="18" charset="0"/>
                  <a:ea typeface="+mn-ea"/>
                  <a:cs typeface="Times New Roman" panose="02020603050405020304" pitchFamily="18" charset="0"/>
                  <a:sym typeface="Symbol" panose="05050102010706020507"/>
                </a:rPr>
                <a:t> </a:t>
              </a:r>
              <a:r>
                <a:rPr lang="en-US" sz="2400" b="1" i="1" dirty="0">
                  <a:latin typeface="Times New Roman" panose="02020603050405020304" pitchFamily="18" charset="0"/>
                  <a:ea typeface="+mn-ea"/>
                  <a:cs typeface="Times New Roman" panose="02020603050405020304" pitchFamily="18" charset="0"/>
                </a:rPr>
                <a:t>n</a:t>
              </a:r>
              <a:r>
                <a:rPr lang="en-US" sz="2400" b="1" dirty="0">
                  <a:latin typeface="Times New Roman" panose="02020603050405020304" pitchFamily="18" charset="0"/>
                  <a:ea typeface="+mn-ea"/>
                  <a:cs typeface="Times New Roman" panose="02020603050405020304" pitchFamily="18" charset="0"/>
                </a:rPr>
                <a:t>) </a:t>
              </a:r>
              <a:r>
                <a:rPr lang="zh-CN" altLang="en-US" sz="2400" b="1" dirty="0">
                  <a:latin typeface="Times New Roman" panose="02020603050405020304" pitchFamily="18" charset="0"/>
                  <a:ea typeface="+mn-ea"/>
                  <a:cs typeface="Times New Roman" panose="02020603050405020304" pitchFamily="18" charset="0"/>
                </a:rPr>
                <a:t>分别是 </a:t>
              </a:r>
              <a:r>
                <a:rPr lang="en-US" sz="2400" b="1" dirty="0">
                  <a:latin typeface="Times New Roman" panose="02020603050405020304" pitchFamily="18" charset="0"/>
                  <a:ea typeface="+mn-ea"/>
                  <a:cs typeface="Times New Roman" panose="02020603050405020304" pitchFamily="18" charset="0"/>
                </a:rPr>
                <a:t>(D) </a:t>
              </a:r>
              <a:r>
                <a:rPr lang="zh-CN" altLang="en-US" sz="2400" b="1" dirty="0">
                  <a:latin typeface="Times New Roman" panose="02020603050405020304" pitchFamily="18" charset="0"/>
                  <a:ea typeface="+mn-ea"/>
                  <a:cs typeface="Times New Roman" panose="02020603050405020304" pitchFamily="18" charset="0"/>
                </a:rPr>
                <a:t>和 </a:t>
              </a:r>
              <a:r>
                <a:rPr lang="en-US" sz="2400" b="1" dirty="0">
                  <a:latin typeface="Times New Roman" panose="02020603050405020304" pitchFamily="18" charset="0"/>
                  <a:ea typeface="+mn-ea"/>
                  <a:cs typeface="Times New Roman" panose="02020603050405020304" pitchFamily="18" charset="0"/>
                </a:rPr>
                <a:t>(P) </a:t>
              </a:r>
              <a:r>
                <a:rPr lang="zh-CN" altLang="en-US" sz="2400" b="1" dirty="0">
                  <a:latin typeface="Times New Roman" panose="02020603050405020304" pitchFamily="18" charset="0"/>
                  <a:ea typeface="+mn-ea"/>
                  <a:cs typeface="Times New Roman" panose="02020603050405020304" pitchFamily="18" charset="0"/>
                </a:rPr>
                <a:t>的最</a:t>
              </a:r>
              <a:endParaRPr lang="en-US" altLang="zh-CN" sz="2400" b="1" dirty="0">
                <a:latin typeface="Times New Roman" panose="02020603050405020304" pitchFamily="18" charset="0"/>
                <a:ea typeface="+mn-ea"/>
                <a:cs typeface="Times New Roman" panose="02020603050405020304" pitchFamily="18" charset="0"/>
              </a:endParaRPr>
            </a:p>
            <a:p>
              <a:pPr marL="342900" indent="-342900">
                <a:spcBef>
                  <a:spcPts val="600"/>
                </a:spcBef>
                <a:buFont typeface="Arial" panose="020B0604020202020204" pitchFamily="34" charset="0"/>
                <a:buNone/>
                <a:defRPr/>
              </a:pPr>
              <a:r>
                <a:rPr lang="zh-CN" altLang="en-US" sz="2400" b="1" dirty="0">
                  <a:latin typeface="Times New Roman" panose="02020603050405020304" pitchFamily="18" charset="0"/>
                  <a:ea typeface="+mn-ea"/>
                  <a:cs typeface="Times New Roman" panose="02020603050405020304" pitchFamily="18" charset="0"/>
                </a:rPr>
                <a:t>优解</a:t>
              </a:r>
              <a:r>
                <a:rPr lang="en-US" sz="2400" b="1" dirty="0">
                  <a:latin typeface="Times New Roman" panose="02020603050405020304" pitchFamily="18" charset="0"/>
                  <a:ea typeface="+mn-ea"/>
                  <a:cs typeface="Times New Roman" panose="02020603050405020304" pitchFamily="18" charset="0"/>
                </a:rPr>
                <a:t>, </a:t>
              </a:r>
              <a:r>
                <a:rPr lang="zh-CN" altLang="en-US" sz="2400" b="1" dirty="0">
                  <a:latin typeface="Times New Roman" panose="02020603050405020304" pitchFamily="18" charset="0"/>
                  <a:ea typeface="+mn-ea"/>
                  <a:cs typeface="Times New Roman" panose="02020603050405020304" pitchFamily="18" charset="0"/>
                </a:rPr>
                <a:t>得证 </a:t>
              </a:r>
              <a:r>
                <a:rPr lang="en-US" sz="2400" b="1" i="1" dirty="0">
                  <a:latin typeface="Times New Roman" panose="02020603050405020304" pitchFamily="18" charset="0"/>
                  <a:ea typeface="+mn-ea"/>
                  <a:cs typeface="Times New Roman" panose="02020603050405020304" pitchFamily="18" charset="0"/>
                </a:rPr>
                <a:t>M </a:t>
              </a:r>
              <a:r>
                <a:rPr lang="zh-CN" altLang="en-US" sz="2400" b="1" dirty="0">
                  <a:latin typeface="Times New Roman" panose="02020603050405020304" pitchFamily="18" charset="0"/>
                  <a:ea typeface="+mn-ea"/>
                  <a:cs typeface="Times New Roman" panose="02020603050405020304" pitchFamily="18" charset="0"/>
                </a:rPr>
                <a:t>是最小权完美匹配</a:t>
              </a:r>
              <a:r>
                <a:rPr lang="en-US" sz="2400" b="1" dirty="0">
                  <a:latin typeface="Times New Roman" panose="02020603050405020304" pitchFamily="18" charset="0"/>
                  <a:ea typeface="+mn-ea"/>
                  <a:cs typeface="Times New Roman" panose="02020603050405020304" pitchFamily="18" charset="0"/>
                </a:rPr>
                <a:t>.</a:t>
              </a:r>
              <a:endParaRPr lang="zh-CN" altLang="en-US" sz="2400" b="1" dirty="0">
                <a:latin typeface="Times New Roman" panose="02020603050405020304" pitchFamily="18" charset="0"/>
                <a:ea typeface="+mn-ea"/>
                <a:cs typeface="Times New Roman" panose="02020603050405020304" pitchFamily="18" charset="0"/>
              </a:endParaRPr>
            </a:p>
          </p:txBody>
        </p:sp>
        <p:graphicFrame>
          <p:nvGraphicFramePr>
            <p:cNvPr id="97287" name="Object 7"/>
            <p:cNvGraphicFramePr>
              <a:graphicFrameLocks noChangeAspect="1"/>
            </p:cNvGraphicFramePr>
            <p:nvPr/>
          </p:nvGraphicFramePr>
          <p:xfrm>
            <a:off x="612735" y="2711146"/>
            <a:ext cx="1628761" cy="844072"/>
          </p:xfrm>
          <a:graphic>
            <a:graphicData uri="http://schemas.openxmlformats.org/presentationml/2006/ole">
              <mc:AlternateContent xmlns:mc="http://schemas.openxmlformats.org/markup-compatibility/2006">
                <mc:Choice xmlns:v="urn:schemas-microsoft-com:vml" Requires="v">
                  <p:oleObj spid="_x0000_s97294" name="Equation" r:id="rId1" imgW="862965" imgH="444500" progId="Equation.3">
                    <p:embed/>
                  </p:oleObj>
                </mc:Choice>
                <mc:Fallback>
                  <p:oleObj name="Equation" r:id="rId1" imgW="862965" imgH="4445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735" y="2711146"/>
                          <a:ext cx="1628761" cy="844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7288" name="Object 8"/>
            <p:cNvGraphicFramePr>
              <a:graphicFrameLocks noChangeAspect="1"/>
            </p:cNvGraphicFramePr>
            <p:nvPr/>
          </p:nvGraphicFramePr>
          <p:xfrm>
            <a:off x="2036119" y="3789033"/>
            <a:ext cx="5061105" cy="928694"/>
          </p:xfrm>
          <a:graphic>
            <a:graphicData uri="http://schemas.openxmlformats.org/presentationml/2006/ole">
              <mc:AlternateContent xmlns:mc="http://schemas.openxmlformats.org/markup-compatibility/2006">
                <mc:Choice xmlns:v="urn:schemas-microsoft-com:vml" Requires="v">
                  <p:oleObj spid="_x0000_s97295" name="Equation" r:id="rId3" imgW="2578100" imgH="469900" progId="Equation.3">
                    <p:embed/>
                  </p:oleObj>
                </mc:Choice>
                <mc:Fallback>
                  <p:oleObj name="Equation" r:id="rId3" imgW="2578100" imgH="4699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6119" y="3789033"/>
                          <a:ext cx="5061105" cy="928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7289" name="Rectangle 12"/>
            <p:cNvSpPr>
              <a:spLocks noChangeArrowheads="1"/>
            </p:cNvSpPr>
            <p:nvPr/>
          </p:nvSpPr>
          <p:spPr bwMode="auto">
            <a:xfrm>
              <a:off x="0" y="12096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zh-CN" sz="800">
                  <a:latin typeface="Arial" panose="020B0604020202020204" pitchFamily="34" charset="0"/>
                </a:rPr>
                <a:t> </a:t>
              </a:r>
              <a:endParaRPr lang="zh-CN" altLang="zh-CN" sz="1800">
                <a:latin typeface="Arial" panose="020B0604020202020204" pitchFamily="34" charset="0"/>
              </a:endParaRPr>
            </a:p>
          </p:txBody>
        </p:sp>
      </p:gr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p:nvPr>
        </p:nvSpPr>
        <p:spPr>
          <a:xfrm>
            <a:off x="457200" y="211138"/>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匈牙利算法（续</a:t>
            </a:r>
            <a:r>
              <a:rPr lang="en-US" altLang="zh-CN" sz="4000" b="1" smtClean="0">
                <a:solidFill>
                  <a:srgbClr val="C00000"/>
                </a:solidFill>
                <a:latin typeface="Times New Roman" panose="02020603050405020304" pitchFamily="18" charset="0"/>
                <a:cs typeface="Times New Roman" panose="02020603050405020304" pitchFamily="18" charset="0"/>
              </a:rPr>
              <a:t>9</a:t>
            </a:r>
            <a:r>
              <a:rPr lang="zh-CN" altLang="en-US" sz="4000" b="1" smtClean="0">
                <a:solidFill>
                  <a:srgbClr val="C00000"/>
                </a:solidFill>
                <a:latin typeface="Times New Roman" panose="02020603050405020304" pitchFamily="18" charset="0"/>
                <a:cs typeface="Times New Roman" panose="02020603050405020304" pitchFamily="18" charset="0"/>
              </a:rPr>
              <a:t>）</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98307" name="内容占位符 2"/>
          <p:cNvSpPr>
            <a:spLocks noGrp="1"/>
          </p:cNvSpPr>
          <p:nvPr>
            <p:ph idx="1"/>
          </p:nvPr>
        </p:nvSpPr>
        <p:spPr>
          <a:xfrm>
            <a:off x="457200" y="1362075"/>
            <a:ext cx="8229600" cy="4994275"/>
          </a:xfrm>
        </p:spPr>
        <p:txBody>
          <a:bodyPr/>
          <a:lstStyle/>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共有</a:t>
            </a:r>
            <a:r>
              <a:rPr lang="en-US" altLang="zh-CN" sz="2400" b="1" i="1" smtClean="0">
                <a:latin typeface="Times New Roman" panose="02020603050405020304" pitchFamily="18" charset="0"/>
                <a:cs typeface="Times New Roman" panose="02020603050405020304" pitchFamily="18" charset="0"/>
              </a:rPr>
              <a:t>n</a:t>
            </a:r>
            <a:r>
              <a:rPr lang="zh-CN" altLang="en-US" sz="2400" b="1" smtClean="0">
                <a:latin typeface="Times New Roman" panose="02020603050405020304" pitchFamily="18" charset="0"/>
                <a:cs typeface="Times New Roman" panose="02020603050405020304" pitchFamily="18" charset="0"/>
              </a:rPr>
              <a:t>个阶段</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每个阶段</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构造</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IJ</a:t>
            </a:r>
            <a:r>
              <a:rPr lang="en-US" altLang="zh-CN" sz="2400" b="1" smtClean="0">
                <a:latin typeface="Times New Roman" panose="02020603050405020304" pitchFamily="18" charset="0"/>
                <a:cs typeface="Times New Roman" panose="02020603050405020304" pitchFamily="18" charset="0"/>
              </a:rPr>
              <a:t>)(2.1~2.5)</a:t>
            </a:r>
            <a:r>
              <a:rPr lang="zh-CN" altLang="en-US" sz="2400" b="1" smtClean="0">
                <a:latin typeface="Times New Roman" panose="02020603050405020304" pitchFamily="18" charset="0"/>
                <a:cs typeface="Times New Roman" panose="02020603050405020304" pitchFamily="18" charset="0"/>
              </a:rPr>
              <a:t>的工作量为</a:t>
            </a:r>
            <a:r>
              <a:rPr lang="en-US" altLang="zh-CN" sz="2400" b="1" i="1" smtClean="0">
                <a:latin typeface="Times New Roman" panose="02020603050405020304" pitchFamily="18" charset="0"/>
                <a:cs typeface="Times New Roman" panose="02020603050405020304" pitchFamily="18" charset="0"/>
              </a:rPr>
              <a:t>O</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n</a:t>
            </a:r>
            <a:r>
              <a:rPr lang="en-US" altLang="zh-CN" sz="2400" b="1" baseline="30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至多有</a:t>
            </a:r>
            <a:r>
              <a:rPr lang="en-US" altLang="zh-CN" sz="2400" b="1" i="1" smtClean="0">
                <a:latin typeface="Times New Roman" panose="02020603050405020304" pitchFamily="18" charset="0"/>
                <a:cs typeface="Times New Roman" panose="02020603050405020304" pitchFamily="18" charset="0"/>
              </a:rPr>
              <a:t>n</a:t>
            </a:r>
            <a:r>
              <a:rPr lang="zh-CN" altLang="en-US" sz="2400" b="1" smtClean="0">
                <a:latin typeface="Times New Roman" panose="02020603050405020304" pitchFamily="18" charset="0"/>
                <a:cs typeface="Times New Roman" panose="02020603050405020304" pitchFamily="18" charset="0"/>
              </a:rPr>
              <a:t>个已标号未检查的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检查一个</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(4.2~4.9)</a:t>
            </a:r>
            <a:r>
              <a:rPr lang="zh-CN" altLang="en-US" sz="2400" b="1" smtClean="0">
                <a:latin typeface="Times New Roman" panose="02020603050405020304" pitchFamily="18" charset="0"/>
                <a:cs typeface="Times New Roman" panose="02020603050405020304" pitchFamily="18" charset="0"/>
              </a:rPr>
              <a:t>的工作量</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为 </a:t>
            </a:r>
            <a:r>
              <a:rPr lang="en-US" altLang="zh-CN" sz="2400" b="1" i="1" smtClean="0">
                <a:latin typeface="Times New Roman" panose="02020603050405020304" pitchFamily="18" charset="0"/>
                <a:cs typeface="Times New Roman" panose="02020603050405020304" pitchFamily="18" charset="0"/>
              </a:rPr>
              <a:t>O</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标号的总工作量为 </a:t>
            </a:r>
            <a:r>
              <a:rPr lang="en-US" altLang="zh-CN" sz="2400" b="1" i="1" smtClean="0">
                <a:latin typeface="Times New Roman" panose="02020603050405020304" pitchFamily="18" charset="0"/>
                <a:cs typeface="Times New Roman" panose="02020603050405020304" pitchFamily="18" charset="0"/>
              </a:rPr>
              <a:t>O</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n</a:t>
            </a:r>
            <a:r>
              <a:rPr lang="en-US" altLang="zh-CN" sz="2400" b="1" baseline="30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注意，对那些经过修改对偶变量重新返回的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是已进行的</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标号过程的继续</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不是从头检查一个新的已标号未检查的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所以不增加已标号未检查的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的数量</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每次修改</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rPr>
              <a:t>j </a:t>
            </a:r>
            <a:r>
              <a:rPr lang="en-US" altLang="zh-CN" sz="2400" b="1"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或者找到一条增广交错路径</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或者</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至少使一个未标号的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获得标号</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因此在一个阶段内修改对</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偶变量的次数不超过</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每一次修改</a:t>
            </a:r>
            <a:r>
              <a:rPr lang="en-US" altLang="zh-CN" sz="2400" b="1" smtClean="0">
                <a:latin typeface="Times New Roman" panose="02020603050405020304" pitchFamily="18" charset="0"/>
                <a:cs typeface="Times New Roman" panose="02020603050405020304" pitchFamily="18" charset="0"/>
              </a:rPr>
              <a:t>(5~5.7) </a:t>
            </a:r>
            <a:r>
              <a:rPr lang="zh-CN" altLang="en-US" sz="2400" b="1" smtClean="0">
                <a:latin typeface="Times New Roman" panose="02020603050405020304" pitchFamily="18" charset="0"/>
                <a:cs typeface="Times New Roman" panose="02020603050405020304" pitchFamily="18" charset="0"/>
              </a:rPr>
              <a:t>的工作量是</a:t>
            </a:r>
            <a:r>
              <a:rPr lang="en-US" altLang="zh-CN" sz="2400" b="1" i="1" smtClean="0">
                <a:latin typeface="Times New Roman" panose="02020603050405020304" pitchFamily="18" charset="0"/>
                <a:cs typeface="Times New Roman" panose="02020603050405020304" pitchFamily="18" charset="0"/>
              </a:rPr>
              <a:t>O</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其总的工作量为</a:t>
            </a:r>
            <a:r>
              <a:rPr lang="en-US" altLang="zh-CN" sz="2400" b="1" i="1" smtClean="0">
                <a:latin typeface="Times New Roman" panose="02020603050405020304" pitchFamily="18" charset="0"/>
                <a:cs typeface="Times New Roman" panose="02020603050405020304" pitchFamily="18" charset="0"/>
              </a:rPr>
              <a:t>O</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n</a:t>
            </a:r>
            <a:r>
              <a:rPr lang="en-US" altLang="zh-CN" sz="2400" b="1" baseline="30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综上所述</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每一个阶段的工作量为</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O</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n</a:t>
            </a:r>
            <a:r>
              <a:rPr lang="en-US" altLang="zh-CN" sz="2400" b="1" baseline="30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得证算法的时间复杂度为</a:t>
            </a:r>
            <a:r>
              <a:rPr lang="en-US" altLang="zh-CN" sz="2400" b="1" i="1" smtClean="0">
                <a:latin typeface="Times New Roman" panose="02020603050405020304" pitchFamily="18" charset="0"/>
                <a:cs typeface="Times New Roman" panose="02020603050405020304" pitchFamily="18" charset="0"/>
              </a:rPr>
              <a:t>O</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n</a:t>
            </a:r>
            <a:r>
              <a:rPr lang="en-US" altLang="zh-CN" sz="2400" b="1" baseline="30000" smtClean="0">
                <a:latin typeface="Times New Roman" panose="02020603050405020304" pitchFamily="18" charset="0"/>
                <a:cs typeface="Times New Roman" panose="02020603050405020304" pitchFamily="18" charset="0"/>
              </a:rPr>
              <a:t>3</a:t>
            </a:r>
            <a:r>
              <a:rPr lang="en-US" altLang="zh-CN"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p:txBody>
      </p:sp>
      <p:sp>
        <p:nvSpPr>
          <p:cNvPr id="9830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84E151F-758E-415B-A6CA-C380A876B7DB}" type="slidenum">
              <a:rPr lang="zh-CN" altLang="en-US" sz="1200" smtClean="0">
                <a:solidFill>
                  <a:srgbClr val="898989"/>
                </a:solidFill>
              </a:rPr>
            </a:fld>
            <a:endParaRPr lang="zh-CN" altLang="en-US" sz="1200" smtClean="0">
              <a:solidFill>
                <a:srgbClr val="898989"/>
              </a:solidFill>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p:cNvSpPr>
          <p:nvPr>
            <p:ph type="title"/>
          </p:nvPr>
        </p:nvSpPr>
        <p:spPr>
          <a:xfrm>
            <a:off x="292100" y="363538"/>
            <a:ext cx="1106488" cy="939800"/>
          </a:xfrm>
        </p:spPr>
        <p:txBody>
          <a:bodyPr/>
          <a:lstStyle/>
          <a:p>
            <a:pPr algn="l"/>
            <a:r>
              <a:rPr lang="zh-CN" altLang="en-US" sz="3200" b="1" dirty="0" smtClean="0">
                <a:solidFill>
                  <a:srgbClr val="C00000"/>
                </a:solidFill>
                <a:latin typeface="Times New Roman" panose="02020603050405020304" pitchFamily="18" charset="0"/>
                <a:cs typeface="Times New Roman" panose="02020603050405020304" pitchFamily="18" charset="0"/>
              </a:rPr>
              <a:t>例</a:t>
            </a:r>
            <a:r>
              <a:rPr lang="en-US" altLang="zh-CN" sz="3200" b="1" dirty="0" smtClean="0">
                <a:solidFill>
                  <a:srgbClr val="C00000"/>
                </a:solidFill>
                <a:latin typeface="Times New Roman" panose="02020603050405020304" pitchFamily="18" charset="0"/>
                <a:cs typeface="Times New Roman" panose="02020603050405020304" pitchFamily="18" charset="0"/>
              </a:rPr>
              <a:t>7.6</a:t>
            </a:r>
            <a:br>
              <a:rPr lang="en-US" altLang="zh-CN" sz="3200" b="1" dirty="0" smtClean="0">
                <a:solidFill>
                  <a:srgbClr val="C00000"/>
                </a:solidFill>
                <a:latin typeface="Times New Roman" panose="02020603050405020304" pitchFamily="18" charset="0"/>
                <a:cs typeface="Times New Roman" panose="02020603050405020304" pitchFamily="18" charset="0"/>
              </a:rPr>
            </a:br>
            <a:r>
              <a:rPr lang="en-US" altLang="zh-CN" sz="3200" b="1" dirty="0" smtClean="0">
                <a:solidFill>
                  <a:srgbClr val="C00000"/>
                </a:solidFill>
                <a:latin typeface="Times New Roman" panose="02020603050405020304" pitchFamily="18" charset="0"/>
                <a:cs typeface="Times New Roman" panose="02020603050405020304" pitchFamily="18" charset="0"/>
              </a:rPr>
              <a:t>(</a:t>
            </a:r>
            <a:r>
              <a:rPr lang="zh-CN" altLang="en-US" sz="3200" b="1" dirty="0" smtClean="0">
                <a:solidFill>
                  <a:srgbClr val="C00000"/>
                </a:solidFill>
                <a:latin typeface="Times New Roman" panose="02020603050405020304" pitchFamily="18" charset="0"/>
                <a:cs typeface="Times New Roman" panose="02020603050405020304" pitchFamily="18" charset="0"/>
              </a:rPr>
              <a:t>续</a:t>
            </a:r>
            <a:r>
              <a:rPr lang="en-US" altLang="zh-CN" sz="3200" b="1" dirty="0" smtClean="0">
                <a:solidFill>
                  <a:srgbClr val="C00000"/>
                </a:solidFill>
                <a:latin typeface="Times New Roman" panose="02020603050405020304" pitchFamily="18" charset="0"/>
                <a:cs typeface="Times New Roman" panose="02020603050405020304" pitchFamily="18" charset="0"/>
              </a:rPr>
              <a:t>)</a:t>
            </a:r>
            <a:endParaRPr lang="zh-CN" altLang="en-US" sz="3200" b="1" dirty="0" smtClean="0">
              <a:solidFill>
                <a:srgbClr val="C00000"/>
              </a:solidFill>
              <a:latin typeface="Times New Roman" panose="02020603050405020304" pitchFamily="18" charset="0"/>
              <a:cs typeface="Times New Roman" panose="02020603050405020304" pitchFamily="18" charset="0"/>
            </a:endParaRPr>
          </a:p>
        </p:txBody>
      </p:sp>
      <p:sp>
        <p:nvSpPr>
          <p:cNvPr id="9933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719AFDD1-E43F-4879-A0A5-89753E681CA2}" type="slidenum">
              <a:rPr lang="zh-CN" altLang="en-US" sz="1200" smtClean="0">
                <a:solidFill>
                  <a:srgbClr val="898989"/>
                </a:solidFill>
              </a:rPr>
            </a:fld>
            <a:endParaRPr lang="zh-CN" altLang="en-US" sz="1200" smtClean="0">
              <a:solidFill>
                <a:srgbClr val="898989"/>
              </a:solidFill>
            </a:endParaRPr>
          </a:p>
        </p:txBody>
      </p:sp>
      <p:grpSp>
        <p:nvGrpSpPr>
          <p:cNvPr id="2" name="组合 124"/>
          <p:cNvGrpSpPr/>
          <p:nvPr/>
        </p:nvGrpSpPr>
        <p:grpSpPr bwMode="auto">
          <a:xfrm>
            <a:off x="627063" y="3500438"/>
            <a:ext cx="3143250" cy="3000375"/>
            <a:chOff x="627534" y="3500438"/>
            <a:chExt cx="3142779" cy="3000375"/>
          </a:xfrm>
        </p:grpSpPr>
        <p:grpSp>
          <p:nvGrpSpPr>
            <p:cNvPr id="99415" name="组合 42"/>
            <p:cNvGrpSpPr/>
            <p:nvPr/>
          </p:nvGrpSpPr>
          <p:grpSpPr bwMode="auto">
            <a:xfrm>
              <a:off x="2928942" y="3714750"/>
              <a:ext cx="841371" cy="1795468"/>
              <a:chOff x="5231416" y="785794"/>
              <a:chExt cx="840782" cy="1795220"/>
            </a:xfrm>
          </p:grpSpPr>
          <p:sp>
            <p:nvSpPr>
              <p:cNvPr id="99424" name="Text Box 26"/>
              <p:cNvSpPr txBox="1">
                <a:spLocks noChangeArrowheads="1"/>
              </p:cNvSpPr>
              <p:nvPr/>
            </p:nvSpPr>
            <p:spPr bwMode="auto">
              <a:xfrm>
                <a:off x="5231416" y="785794"/>
                <a:ext cx="269278" cy="206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endParaRPr lang="zh-CN" altLang="zh-CN" sz="2000" b="1">
                  <a:latin typeface="Arial" panose="020B0604020202020204" pitchFamily="34" charset="0"/>
                </a:endParaRPr>
              </a:p>
            </p:txBody>
          </p:sp>
          <p:sp>
            <p:nvSpPr>
              <p:cNvPr id="99425" name="Oval 13"/>
              <p:cNvSpPr>
                <a:spLocks noChangeArrowheads="1"/>
              </p:cNvSpPr>
              <p:nvPr/>
            </p:nvSpPr>
            <p:spPr bwMode="auto">
              <a:xfrm>
                <a:off x="5338262" y="1142985"/>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426" name="Oval 14"/>
              <p:cNvSpPr>
                <a:spLocks noChangeArrowheads="1"/>
              </p:cNvSpPr>
              <p:nvPr/>
            </p:nvSpPr>
            <p:spPr bwMode="auto">
              <a:xfrm>
                <a:off x="5347327" y="1587972"/>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427" name="Oval 15"/>
              <p:cNvSpPr>
                <a:spLocks noChangeArrowheads="1"/>
              </p:cNvSpPr>
              <p:nvPr/>
            </p:nvSpPr>
            <p:spPr bwMode="auto">
              <a:xfrm>
                <a:off x="5347327" y="2006785"/>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428" name="Oval 16"/>
              <p:cNvSpPr>
                <a:spLocks noChangeArrowheads="1"/>
              </p:cNvSpPr>
              <p:nvPr/>
            </p:nvSpPr>
            <p:spPr bwMode="auto">
              <a:xfrm>
                <a:off x="5356393" y="2451772"/>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429" name="Oval 17"/>
              <p:cNvSpPr>
                <a:spLocks noChangeArrowheads="1"/>
              </p:cNvSpPr>
              <p:nvPr/>
            </p:nvSpPr>
            <p:spPr bwMode="auto">
              <a:xfrm>
                <a:off x="5945637" y="1156073"/>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430" name="Oval 18"/>
              <p:cNvSpPr>
                <a:spLocks noChangeArrowheads="1"/>
              </p:cNvSpPr>
              <p:nvPr/>
            </p:nvSpPr>
            <p:spPr bwMode="auto">
              <a:xfrm>
                <a:off x="5954703" y="1601060"/>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431" name="Oval 19"/>
              <p:cNvSpPr>
                <a:spLocks noChangeArrowheads="1"/>
              </p:cNvSpPr>
              <p:nvPr/>
            </p:nvSpPr>
            <p:spPr bwMode="auto">
              <a:xfrm>
                <a:off x="5954703" y="2019872"/>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432" name="Oval 20"/>
              <p:cNvSpPr>
                <a:spLocks noChangeArrowheads="1"/>
              </p:cNvSpPr>
              <p:nvPr/>
            </p:nvSpPr>
            <p:spPr bwMode="auto">
              <a:xfrm>
                <a:off x="5963767" y="2464860"/>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99433" name="AutoShape 21"/>
              <p:cNvCxnSpPr>
                <a:cxnSpLocks noChangeShapeType="1"/>
              </p:cNvCxnSpPr>
              <p:nvPr/>
            </p:nvCxnSpPr>
            <p:spPr bwMode="auto">
              <a:xfrm>
                <a:off x="5441381" y="1259139"/>
                <a:ext cx="522388" cy="341921"/>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99434" name="AutoShape 22"/>
              <p:cNvCxnSpPr>
                <a:cxnSpLocks noChangeShapeType="1"/>
              </p:cNvCxnSpPr>
              <p:nvPr/>
            </p:nvCxnSpPr>
            <p:spPr bwMode="auto">
              <a:xfrm>
                <a:off x="5441381" y="1272227"/>
                <a:ext cx="522388" cy="749282"/>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cxnSp>
            <p:nvCxnSpPr>
              <p:cNvPr id="99435" name="AutoShape 23"/>
              <p:cNvCxnSpPr>
                <a:cxnSpLocks noChangeShapeType="1"/>
              </p:cNvCxnSpPr>
              <p:nvPr/>
            </p:nvCxnSpPr>
            <p:spPr bwMode="auto">
              <a:xfrm flipV="1">
                <a:off x="5441381" y="1272227"/>
                <a:ext cx="522388" cy="749282"/>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99436" name="AutoShape 24"/>
              <p:cNvCxnSpPr>
                <a:cxnSpLocks noChangeShapeType="1"/>
              </p:cNvCxnSpPr>
              <p:nvPr/>
            </p:nvCxnSpPr>
            <p:spPr bwMode="auto">
              <a:xfrm>
                <a:off x="5459511" y="2060771"/>
                <a:ext cx="495192" cy="0"/>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cxnSp>
            <p:nvCxnSpPr>
              <p:cNvPr id="99437" name="AutoShape 25"/>
              <p:cNvCxnSpPr>
                <a:cxnSpLocks noChangeShapeType="1"/>
              </p:cNvCxnSpPr>
              <p:nvPr/>
            </p:nvCxnSpPr>
            <p:spPr bwMode="auto">
              <a:xfrm>
                <a:off x="5450445" y="2122939"/>
                <a:ext cx="513322" cy="341921"/>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sp>
            <p:nvSpPr>
              <p:cNvPr id="99438" name="Text Box 26"/>
              <p:cNvSpPr txBox="1">
                <a:spLocks noChangeArrowheads="1"/>
              </p:cNvSpPr>
              <p:nvPr/>
            </p:nvSpPr>
            <p:spPr bwMode="auto">
              <a:xfrm>
                <a:off x="5802920" y="785794"/>
                <a:ext cx="269278" cy="206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B</a:t>
                </a:r>
                <a:endParaRPr lang="zh-CN" altLang="zh-CN" sz="2000" b="1">
                  <a:latin typeface="Arial" panose="020B0604020202020204" pitchFamily="34" charset="0"/>
                </a:endParaRPr>
              </a:p>
            </p:txBody>
          </p:sp>
        </p:grpSp>
        <p:sp>
          <p:nvSpPr>
            <p:cNvPr id="99416" name="Text Box 29"/>
            <p:cNvSpPr txBox="1">
              <a:spLocks noChangeArrowheads="1"/>
            </p:cNvSpPr>
            <p:nvPr/>
          </p:nvSpPr>
          <p:spPr bwMode="auto">
            <a:xfrm>
              <a:off x="2714625" y="4510077"/>
              <a:ext cx="428626" cy="34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a:solidFill>
                    <a:srgbClr val="0070C0"/>
                  </a:solidFill>
                  <a:latin typeface="Times New Roman" panose="02020603050405020304" pitchFamily="18" charset="0"/>
                </a:rPr>
                <a:t>0</a:t>
              </a:r>
              <a:endParaRPr lang="zh-CN" altLang="zh-CN" sz="2000" b="1">
                <a:solidFill>
                  <a:srgbClr val="0070C0"/>
                </a:solidFill>
                <a:latin typeface="Arial" panose="020B0604020202020204" pitchFamily="34" charset="0"/>
              </a:endParaRPr>
            </a:p>
          </p:txBody>
        </p:sp>
        <p:sp>
          <p:nvSpPr>
            <p:cNvPr id="99417" name="Text Box 29"/>
            <p:cNvSpPr txBox="1">
              <a:spLocks noChangeArrowheads="1"/>
            </p:cNvSpPr>
            <p:nvPr/>
          </p:nvSpPr>
          <p:spPr bwMode="auto">
            <a:xfrm>
              <a:off x="2714625" y="5367336"/>
              <a:ext cx="428626" cy="34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a:solidFill>
                    <a:srgbClr val="0070C0"/>
                  </a:solidFill>
                  <a:latin typeface="Times New Roman" panose="02020603050405020304" pitchFamily="18" charset="0"/>
                </a:rPr>
                <a:t>0</a:t>
              </a:r>
              <a:endParaRPr lang="zh-CN" altLang="zh-CN" sz="2000" b="1">
                <a:solidFill>
                  <a:srgbClr val="0070C0"/>
                </a:solidFill>
                <a:latin typeface="Arial" panose="020B0604020202020204" pitchFamily="34" charset="0"/>
              </a:endParaRPr>
            </a:p>
          </p:txBody>
        </p:sp>
        <p:grpSp>
          <p:nvGrpSpPr>
            <p:cNvPr id="99418" name="组合 95"/>
            <p:cNvGrpSpPr/>
            <p:nvPr/>
          </p:nvGrpSpPr>
          <p:grpSpPr bwMode="auto">
            <a:xfrm>
              <a:off x="627534" y="3500438"/>
              <a:ext cx="2000250" cy="3000375"/>
              <a:chOff x="1310138" y="3500455"/>
              <a:chExt cx="2000238" cy="3000379"/>
            </a:xfrm>
          </p:grpSpPr>
          <p:sp>
            <p:nvSpPr>
              <p:cNvPr id="99419" name="Text Box 7"/>
              <p:cNvSpPr txBox="1">
                <a:spLocks noChangeArrowheads="1"/>
              </p:cNvSpPr>
              <p:nvPr/>
            </p:nvSpPr>
            <p:spPr bwMode="auto">
              <a:xfrm>
                <a:off x="1310138" y="3500455"/>
                <a:ext cx="2000238" cy="3000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2400" b="1">
                    <a:latin typeface="Times New Roman" panose="02020603050405020304" pitchFamily="18" charset="0"/>
                  </a:rPr>
                  <a:t>                   </a:t>
                </a:r>
                <a:r>
                  <a:rPr lang="en-US" altLang="zh-CN" sz="2400" b="1" i="1">
                    <a:latin typeface="Times New Roman" panose="02020603050405020304" pitchFamily="18" charset="0"/>
                    <a:sym typeface="Symbol" panose="05050102010706020507" pitchFamily="18" charset="2"/>
                  </a:rPr>
                  <a:t></a:t>
                </a:r>
                <a:endParaRPr lang="en-US" altLang="zh-CN" sz="2400" b="1" i="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a:t>
                </a:r>
                <a:r>
                  <a:rPr lang="en-US" altLang="zh-CN" sz="2400" b="1">
                    <a:solidFill>
                      <a:srgbClr val="0070C0"/>
                    </a:solidFill>
                    <a:latin typeface="Times New Roman" panose="02020603050405020304" pitchFamily="18" charset="0"/>
                  </a:rPr>
                  <a:t> </a:t>
                </a:r>
                <a:r>
                  <a:rPr lang="en-US" altLang="zh-CN" sz="2400" b="1">
                    <a:solidFill>
                      <a:srgbClr val="FF0000"/>
                    </a:solidFill>
                    <a:latin typeface="Times New Roman" panose="02020603050405020304" pitchFamily="18" charset="0"/>
                  </a:rPr>
                  <a:t>4</a:t>
                </a:r>
                <a:r>
                  <a:rPr lang="en-US" altLang="zh-CN" sz="2400" b="1">
                    <a:solidFill>
                      <a:srgbClr val="0070C0"/>
                    </a:solidFill>
                    <a:latin typeface="Times New Roman" panose="02020603050405020304" pitchFamily="18" charset="0"/>
                  </a:rPr>
                  <a:t>  3</a:t>
                </a:r>
                <a:r>
                  <a:rPr lang="en-US" altLang="zh-CN" sz="2400" b="1">
                    <a:latin typeface="Times New Roman" panose="02020603050405020304" pitchFamily="18" charset="0"/>
                  </a:rPr>
                  <a:t>  9  0</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8  5  8  4  0</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a:t>
                </a:r>
                <a:r>
                  <a:rPr lang="en-US" altLang="zh-CN" sz="2400" b="1">
                    <a:solidFill>
                      <a:srgbClr val="FF0000"/>
                    </a:solidFill>
                    <a:latin typeface="Times New Roman" panose="02020603050405020304" pitchFamily="18" charset="0"/>
                  </a:rPr>
                  <a:t>3</a:t>
                </a:r>
                <a:r>
                  <a:rPr lang="en-US" altLang="zh-CN" sz="2400" b="1">
                    <a:latin typeface="Times New Roman" panose="02020603050405020304" pitchFamily="18" charset="0"/>
                  </a:rPr>
                  <a:t>  8  </a:t>
                </a:r>
                <a:r>
                  <a:rPr lang="en-US" altLang="zh-CN" sz="2400" b="1">
                    <a:solidFill>
                      <a:srgbClr val="0070C0"/>
                    </a:solidFill>
                    <a:latin typeface="Times New Roman" panose="02020603050405020304" pitchFamily="18" charset="0"/>
                  </a:rPr>
                  <a:t>3  1</a:t>
                </a:r>
                <a:r>
                  <a:rPr lang="en-US" altLang="zh-CN" sz="2400" b="1">
                    <a:latin typeface="Times New Roman" panose="02020603050405020304" pitchFamily="18" charset="0"/>
                  </a:rPr>
                  <a:t>  0 </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6  9  6  0</a:t>
                </a:r>
                <a:endParaRPr lang="en-US" altLang="zh-CN" sz="2400" b="1">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sym typeface="Symbol" panose="05050102010706020507" pitchFamily="18" charset="2"/>
                  </a:rPr>
                  <a:t></a:t>
                </a:r>
                <a:r>
                  <a:rPr lang="en-US" altLang="zh-CN" sz="2400" b="1">
                    <a:latin typeface="Times New Roman" panose="02020603050405020304" pitchFamily="18" charset="0"/>
                    <a:sym typeface="Symbol" panose="05050102010706020507" pitchFamily="18" charset="2"/>
                  </a:rPr>
                  <a:t>  3  4  3  1</a:t>
                </a:r>
                <a:endParaRPr lang="en-US" altLang="zh-CN" sz="2400" b="1">
                  <a:latin typeface="Times New Roman" panose="02020603050405020304" pitchFamily="18" charset="0"/>
                  <a:sym typeface="Symbol" panose="05050102010706020507" pitchFamily="18" charset="2"/>
                </a:endParaRPr>
              </a:p>
              <a:p>
                <a:pPr algn="just" eaLnBrk="1" hangingPunct="1">
                  <a:spcBef>
                    <a:spcPct val="0"/>
                  </a:spcBef>
                  <a:buFontTx/>
                  <a:buNone/>
                </a:pPr>
                <a:r>
                  <a:rPr lang="en-US" altLang="zh-CN" sz="2400" b="1" i="1">
                    <a:latin typeface="Times New Roman" panose="02020603050405020304" pitchFamily="18" charset="0"/>
                  </a:rPr>
                  <a:t>s</a:t>
                </a:r>
                <a:r>
                  <a:rPr lang="en-US" altLang="zh-CN" sz="2400" b="1">
                    <a:latin typeface="Times New Roman" panose="02020603050405020304" pitchFamily="18" charset="0"/>
                  </a:rPr>
                  <a:t>   5  </a:t>
                </a:r>
                <a:r>
                  <a:rPr lang="en-US" altLang="zh-CN" sz="2400" b="1">
                    <a:solidFill>
                      <a:srgbClr val="0070C0"/>
                    </a:solidFill>
                    <a:latin typeface="Times New Roman" panose="02020603050405020304" pitchFamily="18" charset="0"/>
                  </a:rPr>
                  <a:t>1</a:t>
                </a:r>
                <a:r>
                  <a:rPr lang="en-US" altLang="zh-CN" sz="2400" b="1">
                    <a:latin typeface="Times New Roman" panose="02020603050405020304" pitchFamily="18" charset="0"/>
                  </a:rPr>
                  <a:t>  5  3</a:t>
                </a:r>
                <a:endParaRPr lang="en-US" altLang="zh-CN" sz="2400" b="1">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rPr>
                  <a:t>h</a:t>
                </a:r>
                <a:endParaRPr lang="en-US" altLang="zh-CN" sz="2400" b="1" i="1">
                  <a:latin typeface="Times New Roman" panose="02020603050405020304" pitchFamily="18" charset="0"/>
                </a:endParaRPr>
              </a:p>
            </p:txBody>
          </p:sp>
          <p:sp>
            <p:nvSpPr>
              <p:cNvPr id="99420" name="Text Box 32"/>
              <p:cNvSpPr txBox="1">
                <a:spLocks noChangeArrowheads="1"/>
              </p:cNvSpPr>
              <p:nvPr/>
            </p:nvSpPr>
            <p:spPr bwMode="auto">
              <a:xfrm>
                <a:off x="1913902" y="6215084"/>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99421" name="Text Box 32"/>
              <p:cNvSpPr txBox="1">
                <a:spLocks noChangeArrowheads="1"/>
              </p:cNvSpPr>
              <p:nvPr/>
            </p:nvSpPr>
            <p:spPr bwMode="auto">
              <a:xfrm>
                <a:off x="2236527" y="6215082"/>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99422" name="Text Box 32"/>
              <p:cNvSpPr txBox="1">
                <a:spLocks noChangeArrowheads="1"/>
              </p:cNvSpPr>
              <p:nvPr/>
            </p:nvSpPr>
            <p:spPr bwMode="auto">
              <a:xfrm>
                <a:off x="2561970" y="6215082"/>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99423" name="Text Box 32"/>
              <p:cNvSpPr txBox="1">
                <a:spLocks noChangeArrowheads="1"/>
              </p:cNvSpPr>
              <p:nvPr/>
            </p:nvSpPr>
            <p:spPr bwMode="auto">
              <a:xfrm>
                <a:off x="1593585" y="6215082"/>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grpSp>
      </p:grpSp>
      <p:grpSp>
        <p:nvGrpSpPr>
          <p:cNvPr id="6" name="组合 112"/>
          <p:cNvGrpSpPr/>
          <p:nvPr/>
        </p:nvGrpSpPr>
        <p:grpSpPr bwMode="auto">
          <a:xfrm>
            <a:off x="4357688" y="3500438"/>
            <a:ext cx="4167187" cy="3000375"/>
            <a:chOff x="4357688" y="3500438"/>
            <a:chExt cx="4167187" cy="3000375"/>
          </a:xfrm>
        </p:grpSpPr>
        <p:grpSp>
          <p:nvGrpSpPr>
            <p:cNvPr id="99389" name="组合 154"/>
            <p:cNvGrpSpPr/>
            <p:nvPr/>
          </p:nvGrpSpPr>
          <p:grpSpPr bwMode="auto">
            <a:xfrm>
              <a:off x="4357688" y="3500438"/>
              <a:ext cx="3157196" cy="3000375"/>
              <a:chOff x="4357686" y="3500438"/>
              <a:chExt cx="3157216" cy="3000379"/>
            </a:xfrm>
          </p:grpSpPr>
          <p:sp>
            <p:nvSpPr>
              <p:cNvPr id="99410" name="Text Box 7"/>
              <p:cNvSpPr txBox="1">
                <a:spLocks noChangeArrowheads="1"/>
              </p:cNvSpPr>
              <p:nvPr/>
            </p:nvSpPr>
            <p:spPr bwMode="auto">
              <a:xfrm>
                <a:off x="4357686" y="3500438"/>
                <a:ext cx="3157216" cy="3000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2400" b="1">
                    <a:latin typeface="Times New Roman" panose="02020603050405020304" pitchFamily="18" charset="0"/>
                  </a:rPr>
                  <a:t>                                 </a:t>
                </a:r>
                <a:r>
                  <a:rPr lang="en-US" altLang="zh-CN" sz="2400" b="1" i="1">
                    <a:latin typeface="Times New Roman" panose="02020603050405020304" pitchFamily="18" charset="0"/>
                    <a:sym typeface="Symbol" panose="05050102010706020507" pitchFamily="18" charset="2"/>
                  </a:rPr>
                  <a:t></a:t>
                </a:r>
                <a:endParaRPr lang="en-US" altLang="zh-CN" sz="2400" b="1" i="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a:t>
                </a:r>
                <a:r>
                  <a:rPr lang="en-US" altLang="zh-CN" sz="2400" b="1">
                    <a:solidFill>
                      <a:srgbClr val="0070C0"/>
                    </a:solidFill>
                    <a:latin typeface="Times New Roman" panose="02020603050405020304" pitchFamily="18" charset="0"/>
                  </a:rPr>
                  <a:t> </a:t>
                </a:r>
                <a:r>
                  <a:rPr lang="en-US" altLang="zh-CN" sz="2400" b="1">
                    <a:solidFill>
                      <a:srgbClr val="FF0000"/>
                    </a:solidFill>
                    <a:latin typeface="Times New Roman" panose="02020603050405020304" pitchFamily="18" charset="0"/>
                  </a:rPr>
                  <a:t>4</a:t>
                </a:r>
                <a:r>
                  <a:rPr lang="en-US" altLang="zh-CN" sz="2400" b="1">
                    <a:solidFill>
                      <a:srgbClr val="0070C0"/>
                    </a:solidFill>
                    <a:latin typeface="Times New Roman" panose="02020603050405020304" pitchFamily="18" charset="0"/>
                  </a:rPr>
                  <a:t>     3</a:t>
                </a:r>
                <a:r>
                  <a:rPr lang="en-US" altLang="zh-CN" sz="2400" b="1">
                    <a:latin typeface="Times New Roman" panose="02020603050405020304" pitchFamily="18" charset="0"/>
                  </a:rPr>
                  <a:t>     9   -0.5</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8     </a:t>
                </a:r>
                <a:r>
                  <a:rPr lang="en-US" altLang="zh-CN" sz="2400" b="1">
                    <a:solidFill>
                      <a:srgbClr val="00B050"/>
                    </a:solidFill>
                    <a:latin typeface="Times New Roman" panose="02020603050405020304" pitchFamily="18" charset="0"/>
                  </a:rPr>
                  <a:t>5</a:t>
                </a:r>
                <a:r>
                  <a:rPr lang="en-US" altLang="zh-CN" sz="2400" b="1">
                    <a:latin typeface="Times New Roman" panose="02020603050405020304" pitchFamily="18" charset="0"/>
                  </a:rPr>
                  <a:t>     8     4    0.5</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a:t>
                </a:r>
                <a:r>
                  <a:rPr lang="en-US" altLang="zh-CN" sz="2400" b="1">
                    <a:solidFill>
                      <a:srgbClr val="FF0000"/>
                    </a:solidFill>
                    <a:latin typeface="Times New Roman" panose="02020603050405020304" pitchFamily="18" charset="0"/>
                  </a:rPr>
                  <a:t>3</a:t>
                </a:r>
                <a:r>
                  <a:rPr lang="en-US" altLang="zh-CN" sz="2400" b="1">
                    <a:latin typeface="Times New Roman" panose="02020603050405020304" pitchFamily="18" charset="0"/>
                  </a:rPr>
                  <a:t>     8     </a:t>
                </a:r>
                <a:r>
                  <a:rPr lang="en-US" altLang="zh-CN" sz="2400" b="1">
                    <a:solidFill>
                      <a:srgbClr val="0070C0"/>
                    </a:solidFill>
                    <a:latin typeface="Times New Roman" panose="02020603050405020304" pitchFamily="18" charset="0"/>
                  </a:rPr>
                  <a:t>3     1</a:t>
                </a:r>
                <a:r>
                  <a:rPr lang="en-US" altLang="zh-CN" sz="2400" b="1">
                    <a:latin typeface="Times New Roman" panose="02020603050405020304" pitchFamily="18" charset="0"/>
                  </a:rPr>
                  <a:t>   -0.5   </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6     9     6    0.5</a:t>
                </a:r>
                <a:endParaRPr lang="en-US" altLang="zh-CN" sz="2400" b="1">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sym typeface="Symbol" panose="05050102010706020507" pitchFamily="18" charset="2"/>
                  </a:rPr>
                  <a:t></a:t>
                </a:r>
                <a:r>
                  <a:rPr lang="en-US" altLang="zh-CN" sz="2400" b="1">
                    <a:latin typeface="Times New Roman" panose="02020603050405020304" pitchFamily="18" charset="0"/>
                    <a:sym typeface="Symbol" panose="05050102010706020507" pitchFamily="18" charset="2"/>
                  </a:rPr>
                  <a:t>  3.5  4.5  3.5  1.5</a:t>
                </a:r>
                <a:endParaRPr lang="en-US" altLang="zh-CN" sz="2400" b="1">
                  <a:latin typeface="Times New Roman" panose="02020603050405020304" pitchFamily="18" charset="0"/>
                  <a:sym typeface="Symbol" panose="05050102010706020507" pitchFamily="18" charset="2"/>
                </a:endParaRPr>
              </a:p>
              <a:p>
                <a:pPr algn="just" eaLnBrk="1" hangingPunct="1">
                  <a:spcBef>
                    <a:spcPct val="0"/>
                  </a:spcBef>
                  <a:buFontTx/>
                  <a:buNone/>
                </a:pPr>
                <a:r>
                  <a:rPr lang="en-US" altLang="zh-CN" sz="2400" b="1" i="1">
                    <a:latin typeface="Times New Roman" panose="02020603050405020304" pitchFamily="18" charset="0"/>
                  </a:rPr>
                  <a:t>s</a:t>
                </a:r>
                <a:r>
                  <a:rPr lang="en-US" altLang="zh-CN" sz="2400" b="1">
                    <a:latin typeface="Times New Roman" panose="02020603050405020304" pitchFamily="18" charset="0"/>
                  </a:rPr>
                  <a:t>    4     </a:t>
                </a:r>
                <a:r>
                  <a:rPr lang="en-US" altLang="zh-CN" sz="2400" b="1">
                    <a:solidFill>
                      <a:srgbClr val="0070C0"/>
                    </a:solidFill>
                    <a:latin typeface="Times New Roman" panose="02020603050405020304" pitchFamily="18" charset="0"/>
                  </a:rPr>
                  <a:t>0   </a:t>
                </a:r>
                <a:r>
                  <a:rPr lang="en-US" altLang="zh-CN" sz="2400" b="1">
                    <a:latin typeface="Times New Roman" panose="02020603050405020304" pitchFamily="18" charset="0"/>
                  </a:rPr>
                  <a:t>  4     2</a:t>
                </a:r>
                <a:endParaRPr lang="en-US" altLang="zh-CN" sz="2400" b="1">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rPr>
                  <a:t>h</a:t>
                </a:r>
                <a:endParaRPr lang="en-US" altLang="zh-CN" sz="2400" b="1" i="1">
                  <a:latin typeface="Times New Roman" panose="02020603050405020304" pitchFamily="18" charset="0"/>
                </a:endParaRPr>
              </a:p>
            </p:txBody>
          </p:sp>
          <p:sp>
            <p:nvSpPr>
              <p:cNvPr id="99411" name="Text Box 32"/>
              <p:cNvSpPr txBox="1">
                <a:spLocks noChangeArrowheads="1"/>
              </p:cNvSpPr>
              <p:nvPr/>
            </p:nvSpPr>
            <p:spPr bwMode="auto">
              <a:xfrm>
                <a:off x="5254633" y="6215067"/>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99412" name="Text Box 32"/>
              <p:cNvSpPr txBox="1">
                <a:spLocks noChangeArrowheads="1"/>
              </p:cNvSpPr>
              <p:nvPr/>
            </p:nvSpPr>
            <p:spPr bwMode="auto">
              <a:xfrm>
                <a:off x="5826137" y="6215065"/>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99413" name="Text Box 32"/>
              <p:cNvSpPr txBox="1">
                <a:spLocks noChangeArrowheads="1"/>
              </p:cNvSpPr>
              <p:nvPr/>
            </p:nvSpPr>
            <p:spPr bwMode="auto">
              <a:xfrm>
                <a:off x="6357950" y="6215065"/>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99414" name="Text Box 32"/>
              <p:cNvSpPr txBox="1">
                <a:spLocks noChangeArrowheads="1"/>
              </p:cNvSpPr>
              <p:nvPr/>
            </p:nvSpPr>
            <p:spPr bwMode="auto">
              <a:xfrm>
                <a:off x="4754567" y="6215065"/>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grpSp>
        <p:grpSp>
          <p:nvGrpSpPr>
            <p:cNvPr id="99390" name="组合 157"/>
            <p:cNvGrpSpPr/>
            <p:nvPr/>
          </p:nvGrpSpPr>
          <p:grpSpPr bwMode="auto">
            <a:xfrm>
              <a:off x="7500938" y="3714750"/>
              <a:ext cx="1023937" cy="2000250"/>
              <a:chOff x="7500958" y="3714772"/>
              <a:chExt cx="1023948" cy="2000244"/>
            </a:xfrm>
          </p:grpSpPr>
          <p:grpSp>
            <p:nvGrpSpPr>
              <p:cNvPr id="99391" name="组合 153"/>
              <p:cNvGrpSpPr/>
              <p:nvPr/>
            </p:nvGrpSpPr>
            <p:grpSpPr bwMode="auto">
              <a:xfrm>
                <a:off x="7683531" y="3714772"/>
                <a:ext cx="841375" cy="1795463"/>
                <a:chOff x="7683531" y="3714772"/>
                <a:chExt cx="841375" cy="1795463"/>
              </a:xfrm>
            </p:grpSpPr>
            <p:sp>
              <p:nvSpPr>
                <p:cNvPr id="99394" name="Text Box 26"/>
                <p:cNvSpPr txBox="1">
                  <a:spLocks noChangeArrowheads="1"/>
                </p:cNvSpPr>
                <p:nvPr/>
              </p:nvSpPr>
              <p:spPr bwMode="auto">
                <a:xfrm>
                  <a:off x="7683531" y="3714772"/>
                  <a:ext cx="269468" cy="206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endParaRPr lang="zh-CN" altLang="zh-CN" sz="2000" b="1">
                    <a:latin typeface="Arial" panose="020B0604020202020204" pitchFamily="34" charset="0"/>
                  </a:endParaRPr>
                </a:p>
              </p:txBody>
            </p:sp>
            <p:sp>
              <p:nvSpPr>
                <p:cNvPr id="99395" name="Oval 13"/>
                <p:cNvSpPr>
                  <a:spLocks noChangeArrowheads="1"/>
                </p:cNvSpPr>
                <p:nvPr/>
              </p:nvSpPr>
              <p:spPr bwMode="auto">
                <a:xfrm>
                  <a:off x="7790452" y="4072011"/>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396" name="Oval 14"/>
                <p:cNvSpPr>
                  <a:spLocks noChangeArrowheads="1"/>
                </p:cNvSpPr>
                <p:nvPr/>
              </p:nvSpPr>
              <p:spPr bwMode="auto">
                <a:xfrm>
                  <a:off x="7799524" y="4517059"/>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397" name="Oval 15"/>
                <p:cNvSpPr>
                  <a:spLocks noChangeArrowheads="1"/>
                </p:cNvSpPr>
                <p:nvPr/>
              </p:nvSpPr>
              <p:spPr bwMode="auto">
                <a:xfrm>
                  <a:off x="7799524" y="4935928"/>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398" name="Oval 16"/>
                <p:cNvSpPr>
                  <a:spLocks noChangeArrowheads="1"/>
                </p:cNvSpPr>
                <p:nvPr/>
              </p:nvSpPr>
              <p:spPr bwMode="auto">
                <a:xfrm>
                  <a:off x="7808596" y="5380976"/>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399" name="Oval 17"/>
                <p:cNvSpPr>
                  <a:spLocks noChangeArrowheads="1"/>
                </p:cNvSpPr>
                <p:nvPr/>
              </p:nvSpPr>
              <p:spPr bwMode="auto">
                <a:xfrm>
                  <a:off x="8398256" y="4085101"/>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400" name="Oval 18"/>
                <p:cNvSpPr>
                  <a:spLocks noChangeArrowheads="1"/>
                </p:cNvSpPr>
                <p:nvPr/>
              </p:nvSpPr>
              <p:spPr bwMode="auto">
                <a:xfrm>
                  <a:off x="8407328" y="4530148"/>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401" name="Oval 19"/>
                <p:cNvSpPr>
                  <a:spLocks noChangeArrowheads="1"/>
                </p:cNvSpPr>
                <p:nvPr/>
              </p:nvSpPr>
              <p:spPr bwMode="auto">
                <a:xfrm>
                  <a:off x="8407328" y="4949017"/>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402" name="Oval 20"/>
                <p:cNvSpPr>
                  <a:spLocks noChangeArrowheads="1"/>
                </p:cNvSpPr>
                <p:nvPr/>
              </p:nvSpPr>
              <p:spPr bwMode="auto">
                <a:xfrm>
                  <a:off x="8416399" y="5394065"/>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99403" name="AutoShape 21"/>
                <p:cNvCxnSpPr>
                  <a:cxnSpLocks noChangeShapeType="1"/>
                </p:cNvCxnSpPr>
                <p:nvPr/>
              </p:nvCxnSpPr>
              <p:spPr bwMode="auto">
                <a:xfrm>
                  <a:off x="7893644" y="4188181"/>
                  <a:ext cx="522756" cy="341967"/>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99404" name="AutoShape 22"/>
                <p:cNvCxnSpPr>
                  <a:cxnSpLocks noChangeShapeType="1"/>
                </p:cNvCxnSpPr>
                <p:nvPr/>
              </p:nvCxnSpPr>
              <p:spPr bwMode="auto">
                <a:xfrm>
                  <a:off x="7893644" y="4201271"/>
                  <a:ext cx="522756" cy="749383"/>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cxnSp>
              <p:nvCxnSpPr>
                <p:cNvPr id="99405" name="AutoShape 23"/>
                <p:cNvCxnSpPr>
                  <a:cxnSpLocks noChangeShapeType="1"/>
                </p:cNvCxnSpPr>
                <p:nvPr/>
              </p:nvCxnSpPr>
              <p:spPr bwMode="auto">
                <a:xfrm flipV="1">
                  <a:off x="7893644" y="4201271"/>
                  <a:ext cx="522756" cy="749383"/>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99406" name="AutoShape 24"/>
                <p:cNvCxnSpPr>
                  <a:cxnSpLocks noChangeShapeType="1"/>
                </p:cNvCxnSpPr>
                <p:nvPr/>
              </p:nvCxnSpPr>
              <p:spPr bwMode="auto">
                <a:xfrm>
                  <a:off x="7911787" y="4989922"/>
                  <a:ext cx="495541" cy="0"/>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cxnSp>
              <p:nvCxnSpPr>
                <p:cNvPr id="99407" name="AutoShape 25"/>
                <p:cNvCxnSpPr>
                  <a:cxnSpLocks noChangeShapeType="1"/>
                </p:cNvCxnSpPr>
                <p:nvPr/>
              </p:nvCxnSpPr>
              <p:spPr bwMode="auto">
                <a:xfrm>
                  <a:off x="7902714" y="5052098"/>
                  <a:ext cx="513684" cy="341967"/>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sp>
              <p:nvSpPr>
                <p:cNvPr id="99408" name="Text Box 26"/>
                <p:cNvSpPr txBox="1">
                  <a:spLocks noChangeArrowheads="1"/>
                </p:cNvSpPr>
                <p:nvPr/>
              </p:nvSpPr>
              <p:spPr bwMode="auto">
                <a:xfrm>
                  <a:off x="8255438" y="3714772"/>
                  <a:ext cx="269468" cy="206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B</a:t>
                  </a:r>
                  <a:endParaRPr lang="zh-CN" altLang="zh-CN" sz="2000" b="1">
                    <a:latin typeface="Arial" panose="020B0604020202020204" pitchFamily="34" charset="0"/>
                  </a:endParaRPr>
                </a:p>
              </p:txBody>
            </p:sp>
            <p:cxnSp>
              <p:nvCxnSpPr>
                <p:cNvPr id="151" name="直接连接符 150"/>
                <p:cNvCxnSpPr>
                  <a:stCxn id="99396" idx="6"/>
                  <a:endCxn id="99400" idx="2"/>
                </p:cNvCxnSpPr>
                <p:nvPr/>
              </p:nvCxnSpPr>
              <p:spPr>
                <a:xfrm>
                  <a:off x="7902599" y="4575195"/>
                  <a:ext cx="504830" cy="12700"/>
                </a:xfrm>
                <a:prstGeom prst="line">
                  <a:avLst/>
                </a:prstGeom>
                <a:ln w="19050">
                  <a:solidFill>
                    <a:srgbClr val="00B050"/>
                  </a:solidFill>
                  <a:prstDash val="solid"/>
                </a:ln>
              </p:spPr>
              <p:style>
                <a:lnRef idx="1">
                  <a:schemeClr val="accent1"/>
                </a:lnRef>
                <a:fillRef idx="0">
                  <a:schemeClr val="accent1"/>
                </a:fillRef>
                <a:effectRef idx="0">
                  <a:schemeClr val="accent1"/>
                </a:effectRef>
                <a:fontRef idx="minor">
                  <a:schemeClr val="tx1"/>
                </a:fontRef>
              </p:style>
            </p:cxnSp>
          </p:grpSp>
          <p:sp>
            <p:nvSpPr>
              <p:cNvPr id="99392" name="Text Box 29"/>
              <p:cNvSpPr txBox="1">
                <a:spLocks noChangeArrowheads="1"/>
              </p:cNvSpPr>
              <p:nvPr/>
            </p:nvSpPr>
            <p:spPr bwMode="auto">
              <a:xfrm>
                <a:off x="7500958" y="4429132"/>
                <a:ext cx="428628"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a:solidFill>
                      <a:srgbClr val="0070C0"/>
                    </a:solidFill>
                    <a:latin typeface="Times New Roman" panose="02020603050405020304" pitchFamily="18" charset="0"/>
                  </a:rPr>
                  <a:t>0</a:t>
                </a:r>
                <a:endParaRPr lang="zh-CN" altLang="zh-CN" sz="2000" b="1">
                  <a:solidFill>
                    <a:srgbClr val="0070C0"/>
                  </a:solidFill>
                  <a:latin typeface="Arial" panose="020B0604020202020204" pitchFamily="34" charset="0"/>
                </a:endParaRPr>
              </a:p>
            </p:txBody>
          </p:sp>
          <p:sp>
            <p:nvSpPr>
              <p:cNvPr id="99393" name="Text Box 29"/>
              <p:cNvSpPr txBox="1">
                <a:spLocks noChangeArrowheads="1"/>
              </p:cNvSpPr>
              <p:nvPr/>
            </p:nvSpPr>
            <p:spPr bwMode="auto">
              <a:xfrm>
                <a:off x="7500958" y="5367353"/>
                <a:ext cx="428628"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a:solidFill>
                      <a:srgbClr val="0070C0"/>
                    </a:solidFill>
                    <a:latin typeface="Times New Roman" panose="02020603050405020304" pitchFamily="18" charset="0"/>
                  </a:rPr>
                  <a:t>0</a:t>
                </a:r>
                <a:endParaRPr lang="zh-CN" altLang="zh-CN" sz="2000" b="1">
                  <a:solidFill>
                    <a:srgbClr val="0070C0"/>
                  </a:solidFill>
                  <a:latin typeface="Arial" panose="020B0604020202020204" pitchFamily="34" charset="0"/>
                </a:endParaRPr>
              </a:p>
            </p:txBody>
          </p:sp>
        </p:grpSp>
      </p:grpSp>
      <p:grpSp>
        <p:nvGrpSpPr>
          <p:cNvPr id="99334" name="组合 122"/>
          <p:cNvGrpSpPr/>
          <p:nvPr/>
        </p:nvGrpSpPr>
        <p:grpSpPr bwMode="auto">
          <a:xfrm>
            <a:off x="1214438" y="357188"/>
            <a:ext cx="3786187" cy="3000375"/>
            <a:chOff x="1214438" y="357188"/>
            <a:chExt cx="3786190" cy="3000375"/>
          </a:xfrm>
        </p:grpSpPr>
        <p:grpSp>
          <p:nvGrpSpPr>
            <p:cNvPr id="99362" name="组合 109"/>
            <p:cNvGrpSpPr/>
            <p:nvPr/>
          </p:nvGrpSpPr>
          <p:grpSpPr bwMode="auto">
            <a:xfrm>
              <a:off x="1214438" y="357188"/>
              <a:ext cx="3270246" cy="3000375"/>
              <a:chOff x="1214438" y="357188"/>
              <a:chExt cx="3270246" cy="3000375"/>
            </a:xfrm>
          </p:grpSpPr>
          <p:grpSp>
            <p:nvGrpSpPr>
              <p:cNvPr id="99368" name="组合 42"/>
              <p:cNvGrpSpPr/>
              <p:nvPr/>
            </p:nvGrpSpPr>
            <p:grpSpPr bwMode="auto">
              <a:xfrm>
                <a:off x="3643313" y="571500"/>
                <a:ext cx="841371" cy="1795466"/>
                <a:chOff x="5231416" y="785794"/>
                <a:chExt cx="840782" cy="1795220"/>
              </a:xfrm>
            </p:grpSpPr>
            <p:sp>
              <p:nvSpPr>
                <p:cNvPr id="99374" name="Text Box 26"/>
                <p:cNvSpPr txBox="1">
                  <a:spLocks noChangeArrowheads="1"/>
                </p:cNvSpPr>
                <p:nvPr/>
              </p:nvSpPr>
              <p:spPr bwMode="auto">
                <a:xfrm>
                  <a:off x="5231416" y="785794"/>
                  <a:ext cx="269278" cy="206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endParaRPr lang="zh-CN" altLang="zh-CN" sz="2000" b="1">
                    <a:latin typeface="Arial" panose="020B0604020202020204" pitchFamily="34" charset="0"/>
                  </a:endParaRPr>
                </a:p>
              </p:txBody>
            </p:sp>
            <p:sp>
              <p:nvSpPr>
                <p:cNvPr id="99375" name="Oval 13"/>
                <p:cNvSpPr>
                  <a:spLocks noChangeArrowheads="1"/>
                </p:cNvSpPr>
                <p:nvPr/>
              </p:nvSpPr>
              <p:spPr bwMode="auto">
                <a:xfrm>
                  <a:off x="5338262" y="1142985"/>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376" name="Oval 14"/>
                <p:cNvSpPr>
                  <a:spLocks noChangeArrowheads="1"/>
                </p:cNvSpPr>
                <p:nvPr/>
              </p:nvSpPr>
              <p:spPr bwMode="auto">
                <a:xfrm>
                  <a:off x="5347327" y="1587972"/>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377" name="Oval 15"/>
                <p:cNvSpPr>
                  <a:spLocks noChangeArrowheads="1"/>
                </p:cNvSpPr>
                <p:nvPr/>
              </p:nvSpPr>
              <p:spPr bwMode="auto">
                <a:xfrm>
                  <a:off x="5347327" y="2006785"/>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378" name="Oval 16"/>
                <p:cNvSpPr>
                  <a:spLocks noChangeArrowheads="1"/>
                </p:cNvSpPr>
                <p:nvPr/>
              </p:nvSpPr>
              <p:spPr bwMode="auto">
                <a:xfrm>
                  <a:off x="5356393" y="2451772"/>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379" name="Oval 17"/>
                <p:cNvSpPr>
                  <a:spLocks noChangeArrowheads="1"/>
                </p:cNvSpPr>
                <p:nvPr/>
              </p:nvSpPr>
              <p:spPr bwMode="auto">
                <a:xfrm>
                  <a:off x="5945637" y="1156073"/>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380" name="Oval 18"/>
                <p:cNvSpPr>
                  <a:spLocks noChangeArrowheads="1"/>
                </p:cNvSpPr>
                <p:nvPr/>
              </p:nvSpPr>
              <p:spPr bwMode="auto">
                <a:xfrm>
                  <a:off x="5954703" y="1601060"/>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381" name="Oval 19"/>
                <p:cNvSpPr>
                  <a:spLocks noChangeArrowheads="1"/>
                </p:cNvSpPr>
                <p:nvPr/>
              </p:nvSpPr>
              <p:spPr bwMode="auto">
                <a:xfrm>
                  <a:off x="5954703" y="2019872"/>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382" name="Oval 20"/>
                <p:cNvSpPr>
                  <a:spLocks noChangeArrowheads="1"/>
                </p:cNvSpPr>
                <p:nvPr/>
              </p:nvSpPr>
              <p:spPr bwMode="auto">
                <a:xfrm>
                  <a:off x="5963767" y="2464860"/>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99383" name="AutoShape 21"/>
                <p:cNvCxnSpPr>
                  <a:cxnSpLocks noChangeShapeType="1"/>
                </p:cNvCxnSpPr>
                <p:nvPr/>
              </p:nvCxnSpPr>
              <p:spPr bwMode="auto">
                <a:xfrm>
                  <a:off x="5441381" y="1259139"/>
                  <a:ext cx="522388" cy="341921"/>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99384" name="AutoShape 22"/>
                <p:cNvCxnSpPr>
                  <a:cxnSpLocks noChangeShapeType="1"/>
                </p:cNvCxnSpPr>
                <p:nvPr/>
              </p:nvCxnSpPr>
              <p:spPr bwMode="auto">
                <a:xfrm>
                  <a:off x="5441381" y="1272227"/>
                  <a:ext cx="522388" cy="749282"/>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cxnSp>
              <p:nvCxnSpPr>
                <p:cNvPr id="99385" name="AutoShape 23"/>
                <p:cNvCxnSpPr>
                  <a:cxnSpLocks noChangeShapeType="1"/>
                </p:cNvCxnSpPr>
                <p:nvPr/>
              </p:nvCxnSpPr>
              <p:spPr bwMode="auto">
                <a:xfrm flipV="1">
                  <a:off x="5441381" y="1272227"/>
                  <a:ext cx="522388" cy="749282"/>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cxnSp>
              <p:nvCxnSpPr>
                <p:cNvPr id="99386" name="AutoShape 24"/>
                <p:cNvCxnSpPr>
                  <a:cxnSpLocks noChangeShapeType="1"/>
                </p:cNvCxnSpPr>
                <p:nvPr/>
              </p:nvCxnSpPr>
              <p:spPr bwMode="auto">
                <a:xfrm>
                  <a:off x="5459511" y="2060771"/>
                  <a:ext cx="495192" cy="0"/>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cxnSp>
              <p:nvCxnSpPr>
                <p:cNvPr id="99387" name="AutoShape 25"/>
                <p:cNvCxnSpPr>
                  <a:cxnSpLocks noChangeShapeType="1"/>
                </p:cNvCxnSpPr>
                <p:nvPr/>
              </p:nvCxnSpPr>
              <p:spPr bwMode="auto">
                <a:xfrm>
                  <a:off x="5450445" y="2122939"/>
                  <a:ext cx="513322" cy="341921"/>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sp>
              <p:nvSpPr>
                <p:cNvPr id="99388" name="Text Box 26"/>
                <p:cNvSpPr txBox="1">
                  <a:spLocks noChangeArrowheads="1"/>
                </p:cNvSpPr>
                <p:nvPr/>
              </p:nvSpPr>
              <p:spPr bwMode="auto">
                <a:xfrm>
                  <a:off x="5802920" y="785794"/>
                  <a:ext cx="269278" cy="206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B</a:t>
                  </a:r>
                  <a:endParaRPr lang="zh-CN" altLang="zh-CN" sz="2000" b="1">
                    <a:latin typeface="Arial" panose="020B0604020202020204" pitchFamily="34" charset="0"/>
                  </a:endParaRPr>
                </a:p>
              </p:txBody>
            </p:sp>
          </p:grpSp>
          <p:grpSp>
            <p:nvGrpSpPr>
              <p:cNvPr id="99369" name="组合 37"/>
              <p:cNvGrpSpPr/>
              <p:nvPr/>
            </p:nvGrpSpPr>
            <p:grpSpPr bwMode="auto">
              <a:xfrm>
                <a:off x="1214438" y="357188"/>
                <a:ext cx="2000250" cy="3000375"/>
                <a:chOff x="928662" y="785811"/>
                <a:chExt cx="2000238" cy="3000379"/>
              </a:xfrm>
            </p:grpSpPr>
            <p:sp>
              <p:nvSpPr>
                <p:cNvPr id="99370" name="Text Box 7"/>
                <p:cNvSpPr txBox="1">
                  <a:spLocks noChangeArrowheads="1"/>
                </p:cNvSpPr>
                <p:nvPr/>
              </p:nvSpPr>
              <p:spPr bwMode="auto">
                <a:xfrm>
                  <a:off x="928662" y="785811"/>
                  <a:ext cx="2000238" cy="3000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2400" b="1">
                      <a:latin typeface="Times New Roman" panose="02020603050405020304" pitchFamily="18" charset="0"/>
                    </a:rPr>
                    <a:t>                   </a:t>
                  </a:r>
                  <a:r>
                    <a:rPr lang="en-US" altLang="zh-CN" sz="2400" b="1" i="1">
                      <a:latin typeface="Times New Roman" panose="02020603050405020304" pitchFamily="18" charset="0"/>
                      <a:sym typeface="Symbol" panose="05050102010706020507" pitchFamily="18" charset="2"/>
                    </a:rPr>
                    <a:t></a:t>
                  </a:r>
                  <a:endParaRPr lang="en-US" altLang="zh-CN" sz="2400" b="1" i="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a:t>
                  </a:r>
                  <a:r>
                    <a:rPr lang="en-US" altLang="zh-CN" sz="2400" b="1">
                      <a:solidFill>
                        <a:srgbClr val="0070C0"/>
                      </a:solidFill>
                      <a:latin typeface="Times New Roman" panose="02020603050405020304" pitchFamily="18" charset="0"/>
                    </a:rPr>
                    <a:t> </a:t>
                  </a:r>
                  <a:r>
                    <a:rPr lang="en-US" altLang="zh-CN" sz="2400" b="1">
                      <a:solidFill>
                        <a:srgbClr val="FF0000"/>
                      </a:solidFill>
                      <a:latin typeface="Times New Roman" panose="02020603050405020304" pitchFamily="18" charset="0"/>
                    </a:rPr>
                    <a:t>4</a:t>
                  </a:r>
                  <a:r>
                    <a:rPr lang="en-US" altLang="zh-CN" sz="2400" b="1">
                      <a:solidFill>
                        <a:srgbClr val="0070C0"/>
                      </a:solidFill>
                      <a:latin typeface="Times New Roman" panose="02020603050405020304" pitchFamily="18" charset="0"/>
                    </a:rPr>
                    <a:t>  3</a:t>
                  </a:r>
                  <a:r>
                    <a:rPr lang="en-US" altLang="zh-CN" sz="2400" b="1">
                      <a:latin typeface="Times New Roman" panose="02020603050405020304" pitchFamily="18" charset="0"/>
                    </a:rPr>
                    <a:t>  9  0</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8  5  8  4  0</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a:t>
                  </a:r>
                  <a:r>
                    <a:rPr lang="en-US" altLang="zh-CN" sz="2400" b="1">
                      <a:solidFill>
                        <a:srgbClr val="0070C0"/>
                      </a:solidFill>
                      <a:latin typeface="Times New Roman" panose="02020603050405020304" pitchFamily="18" charset="0"/>
                    </a:rPr>
                    <a:t>3</a:t>
                  </a:r>
                  <a:r>
                    <a:rPr lang="en-US" altLang="zh-CN" sz="2400" b="1">
                      <a:latin typeface="Times New Roman" panose="02020603050405020304" pitchFamily="18" charset="0"/>
                    </a:rPr>
                    <a:t>  8  </a:t>
                  </a:r>
                  <a:r>
                    <a:rPr lang="en-US" altLang="zh-CN" sz="2400" b="1">
                      <a:solidFill>
                        <a:srgbClr val="0070C0"/>
                      </a:solidFill>
                      <a:latin typeface="Times New Roman" panose="02020603050405020304" pitchFamily="18" charset="0"/>
                    </a:rPr>
                    <a:t>3  1</a:t>
                  </a:r>
                  <a:r>
                    <a:rPr lang="en-US" altLang="zh-CN" sz="2400" b="1">
                      <a:latin typeface="Times New Roman" panose="02020603050405020304" pitchFamily="18" charset="0"/>
                    </a:rPr>
                    <a:t>  0 </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9  6  9  6  0</a:t>
                  </a:r>
                  <a:endParaRPr lang="en-US" altLang="zh-CN" sz="2400" b="1">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sym typeface="Symbol" panose="05050102010706020507" pitchFamily="18" charset="2"/>
                    </a:rPr>
                    <a:t></a:t>
                  </a:r>
                  <a:r>
                    <a:rPr lang="en-US" altLang="zh-CN" sz="2400" b="1">
                      <a:latin typeface="Times New Roman" panose="02020603050405020304" pitchFamily="18" charset="0"/>
                      <a:sym typeface="Symbol" panose="05050102010706020507" pitchFamily="18" charset="2"/>
                    </a:rPr>
                    <a:t>  3  4  3  1</a:t>
                  </a:r>
                  <a:endParaRPr lang="en-US" altLang="zh-CN" sz="2400" b="1">
                    <a:latin typeface="Times New Roman" panose="02020603050405020304" pitchFamily="18" charset="0"/>
                    <a:sym typeface="Symbol" panose="05050102010706020507" pitchFamily="18" charset="2"/>
                  </a:endParaRPr>
                </a:p>
                <a:p>
                  <a:pPr algn="just" eaLnBrk="1" hangingPunct="1">
                    <a:spcBef>
                      <a:spcPct val="0"/>
                    </a:spcBef>
                    <a:buFontTx/>
                    <a:buNone/>
                  </a:pPr>
                  <a:r>
                    <a:rPr lang="en-US" altLang="zh-CN" sz="2400" b="1" i="1">
                      <a:latin typeface="Times New Roman" panose="02020603050405020304" pitchFamily="18" charset="0"/>
                    </a:rPr>
                    <a:t>s</a:t>
                  </a:r>
                  <a:endParaRPr lang="en-US" altLang="zh-CN" sz="2400" b="1">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rPr>
                    <a:t>h</a:t>
                  </a:r>
                  <a:endParaRPr lang="en-US" altLang="zh-CN" sz="2400" b="1" i="1">
                    <a:latin typeface="Times New Roman" panose="02020603050405020304" pitchFamily="18" charset="0"/>
                  </a:endParaRPr>
                </a:p>
              </p:txBody>
            </p:sp>
            <p:sp>
              <p:nvSpPr>
                <p:cNvPr id="99371" name="Text Box 32"/>
                <p:cNvSpPr txBox="1">
                  <a:spLocks noChangeArrowheads="1"/>
                </p:cNvSpPr>
                <p:nvPr/>
              </p:nvSpPr>
              <p:spPr bwMode="auto">
                <a:xfrm>
                  <a:off x="1254105" y="3500440"/>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endParaRPr lang="zh-CN" altLang="zh-CN" sz="2000" b="1">
                    <a:latin typeface="Arial" panose="020B0604020202020204" pitchFamily="34" charset="0"/>
                  </a:endParaRPr>
                </a:p>
              </p:txBody>
            </p:sp>
            <p:sp>
              <p:nvSpPr>
                <p:cNvPr id="99372" name="Text Box 32"/>
                <p:cNvSpPr txBox="1">
                  <a:spLocks noChangeArrowheads="1"/>
                </p:cNvSpPr>
                <p:nvPr/>
              </p:nvSpPr>
              <p:spPr bwMode="auto">
                <a:xfrm>
                  <a:off x="1857356" y="3500438"/>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endParaRPr lang="zh-CN" altLang="zh-CN" sz="2000" b="1">
                    <a:latin typeface="Arial" panose="020B0604020202020204" pitchFamily="34" charset="0"/>
                  </a:endParaRPr>
                </a:p>
              </p:txBody>
            </p:sp>
            <p:sp>
              <p:nvSpPr>
                <p:cNvPr id="99373" name="Text Box 32"/>
                <p:cNvSpPr txBox="1">
                  <a:spLocks noChangeArrowheads="1"/>
                </p:cNvSpPr>
                <p:nvPr/>
              </p:nvSpPr>
              <p:spPr bwMode="auto">
                <a:xfrm>
                  <a:off x="2182799" y="3500438"/>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endParaRPr lang="zh-CN" altLang="zh-CN" sz="2000" b="1">
                    <a:latin typeface="Arial" panose="020B0604020202020204" pitchFamily="34" charset="0"/>
                  </a:endParaRPr>
                </a:p>
              </p:txBody>
            </p:sp>
          </p:grpSp>
        </p:grpSp>
        <p:sp>
          <p:nvSpPr>
            <p:cNvPr id="99363" name="Text Box 29"/>
            <p:cNvSpPr txBox="1">
              <a:spLocks noChangeArrowheads="1"/>
            </p:cNvSpPr>
            <p:nvPr/>
          </p:nvSpPr>
          <p:spPr bwMode="auto">
            <a:xfrm>
              <a:off x="3500432" y="857232"/>
              <a:ext cx="428626" cy="34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a:solidFill>
                    <a:srgbClr val="0070C0"/>
                  </a:solidFill>
                  <a:latin typeface="Times New Roman" panose="02020603050405020304" pitchFamily="18" charset="0"/>
                </a:rPr>
                <a:t>0</a:t>
              </a:r>
              <a:endParaRPr lang="zh-CN" altLang="zh-CN" sz="2000" b="1">
                <a:solidFill>
                  <a:srgbClr val="0070C0"/>
                </a:solidFill>
                <a:latin typeface="Arial" panose="020B0604020202020204" pitchFamily="34" charset="0"/>
              </a:endParaRPr>
            </a:p>
          </p:txBody>
        </p:sp>
        <p:sp>
          <p:nvSpPr>
            <p:cNvPr id="99364" name="Text Box 29"/>
            <p:cNvSpPr txBox="1">
              <a:spLocks noChangeArrowheads="1"/>
            </p:cNvSpPr>
            <p:nvPr/>
          </p:nvSpPr>
          <p:spPr bwMode="auto">
            <a:xfrm>
              <a:off x="3500430" y="1295386"/>
              <a:ext cx="428626" cy="34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a:solidFill>
                    <a:srgbClr val="0070C0"/>
                  </a:solidFill>
                  <a:latin typeface="Times New Roman" panose="02020603050405020304" pitchFamily="18" charset="0"/>
                </a:rPr>
                <a:t>0</a:t>
              </a:r>
              <a:endParaRPr lang="zh-CN" altLang="zh-CN" sz="2000" b="1">
                <a:solidFill>
                  <a:srgbClr val="0070C0"/>
                </a:solidFill>
                <a:latin typeface="Arial" panose="020B0604020202020204" pitchFamily="34" charset="0"/>
              </a:endParaRPr>
            </a:p>
          </p:txBody>
        </p:sp>
        <p:sp>
          <p:nvSpPr>
            <p:cNvPr id="99365" name="Text Box 29"/>
            <p:cNvSpPr txBox="1">
              <a:spLocks noChangeArrowheads="1"/>
            </p:cNvSpPr>
            <p:nvPr/>
          </p:nvSpPr>
          <p:spPr bwMode="auto">
            <a:xfrm>
              <a:off x="3500430" y="1724014"/>
              <a:ext cx="428626" cy="34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a:solidFill>
                    <a:srgbClr val="0070C0"/>
                  </a:solidFill>
                  <a:latin typeface="Times New Roman" panose="02020603050405020304" pitchFamily="18" charset="0"/>
                </a:rPr>
                <a:t>0</a:t>
              </a:r>
              <a:endParaRPr lang="zh-CN" altLang="zh-CN" sz="2000" b="1">
                <a:solidFill>
                  <a:srgbClr val="0070C0"/>
                </a:solidFill>
                <a:latin typeface="Arial" panose="020B0604020202020204" pitchFamily="34" charset="0"/>
              </a:endParaRPr>
            </a:p>
          </p:txBody>
        </p:sp>
        <p:sp>
          <p:nvSpPr>
            <p:cNvPr id="99366" name="Text Box 29"/>
            <p:cNvSpPr txBox="1">
              <a:spLocks noChangeArrowheads="1"/>
            </p:cNvSpPr>
            <p:nvPr/>
          </p:nvSpPr>
          <p:spPr bwMode="auto">
            <a:xfrm>
              <a:off x="3500430" y="2224080"/>
              <a:ext cx="428626" cy="34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a:solidFill>
                    <a:srgbClr val="0070C0"/>
                  </a:solidFill>
                  <a:latin typeface="Times New Roman" panose="02020603050405020304" pitchFamily="18" charset="0"/>
                </a:rPr>
                <a:t>0</a:t>
              </a:r>
              <a:endParaRPr lang="zh-CN" altLang="zh-CN" sz="2000" b="1">
                <a:solidFill>
                  <a:srgbClr val="0070C0"/>
                </a:solidFill>
                <a:latin typeface="Arial" panose="020B0604020202020204" pitchFamily="34" charset="0"/>
              </a:endParaRPr>
            </a:p>
          </p:txBody>
        </p:sp>
        <p:sp>
          <p:nvSpPr>
            <p:cNvPr id="99367" name="Text Box 29"/>
            <p:cNvSpPr txBox="1">
              <a:spLocks noChangeArrowheads="1"/>
            </p:cNvSpPr>
            <p:nvPr/>
          </p:nvSpPr>
          <p:spPr bwMode="auto">
            <a:xfrm>
              <a:off x="4429124" y="1366824"/>
              <a:ext cx="571504" cy="34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solidFill>
                    <a:srgbClr val="0070C0"/>
                  </a:solidFill>
                  <a:latin typeface="Times New Roman" panose="02020603050405020304" pitchFamily="18" charset="0"/>
                </a:rPr>
                <a:t>A</a:t>
              </a:r>
              <a:r>
                <a:rPr lang="en-US" altLang="zh-CN" sz="2000" b="1" baseline="-25000">
                  <a:solidFill>
                    <a:srgbClr val="0070C0"/>
                  </a:solidFill>
                  <a:latin typeface="Times New Roman" panose="02020603050405020304" pitchFamily="18" charset="0"/>
                </a:rPr>
                <a:t>1</a:t>
              </a:r>
              <a:endParaRPr lang="zh-CN" altLang="zh-CN" sz="2000" b="1">
                <a:solidFill>
                  <a:srgbClr val="0070C0"/>
                </a:solidFill>
                <a:latin typeface="Arial" panose="020B0604020202020204" pitchFamily="34" charset="0"/>
              </a:endParaRPr>
            </a:p>
          </p:txBody>
        </p:sp>
      </p:grpSp>
      <p:grpSp>
        <p:nvGrpSpPr>
          <p:cNvPr id="14" name="组合 123"/>
          <p:cNvGrpSpPr/>
          <p:nvPr/>
        </p:nvGrpSpPr>
        <p:grpSpPr bwMode="auto">
          <a:xfrm>
            <a:off x="5143500" y="357188"/>
            <a:ext cx="3786188" cy="3000375"/>
            <a:chOff x="5143500" y="357188"/>
            <a:chExt cx="3786218" cy="3000375"/>
          </a:xfrm>
        </p:grpSpPr>
        <p:grpSp>
          <p:nvGrpSpPr>
            <p:cNvPr id="99336" name="组合 110"/>
            <p:cNvGrpSpPr/>
            <p:nvPr/>
          </p:nvGrpSpPr>
          <p:grpSpPr bwMode="auto">
            <a:xfrm>
              <a:off x="5143500" y="357188"/>
              <a:ext cx="3270249" cy="3000375"/>
              <a:chOff x="5143500" y="357188"/>
              <a:chExt cx="3270249" cy="3000375"/>
            </a:xfrm>
          </p:grpSpPr>
          <p:grpSp>
            <p:nvGrpSpPr>
              <p:cNvPr id="99341" name="组合 42"/>
              <p:cNvGrpSpPr/>
              <p:nvPr/>
            </p:nvGrpSpPr>
            <p:grpSpPr bwMode="auto">
              <a:xfrm>
                <a:off x="7572378" y="571500"/>
                <a:ext cx="841371" cy="1795468"/>
                <a:chOff x="5231416" y="785794"/>
                <a:chExt cx="840782" cy="1795220"/>
              </a:xfrm>
            </p:grpSpPr>
            <p:sp>
              <p:nvSpPr>
                <p:cNvPr id="99347" name="Text Box 26"/>
                <p:cNvSpPr txBox="1">
                  <a:spLocks noChangeArrowheads="1"/>
                </p:cNvSpPr>
                <p:nvPr/>
              </p:nvSpPr>
              <p:spPr bwMode="auto">
                <a:xfrm>
                  <a:off x="5231416" y="785794"/>
                  <a:ext cx="269278" cy="206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endParaRPr lang="zh-CN" altLang="zh-CN" sz="2000" b="1">
                    <a:latin typeface="Arial" panose="020B0604020202020204" pitchFamily="34" charset="0"/>
                  </a:endParaRPr>
                </a:p>
              </p:txBody>
            </p:sp>
            <p:sp>
              <p:nvSpPr>
                <p:cNvPr id="99348" name="Oval 13"/>
                <p:cNvSpPr>
                  <a:spLocks noChangeArrowheads="1"/>
                </p:cNvSpPr>
                <p:nvPr/>
              </p:nvSpPr>
              <p:spPr bwMode="auto">
                <a:xfrm>
                  <a:off x="5338262" y="1142985"/>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349" name="Oval 14"/>
                <p:cNvSpPr>
                  <a:spLocks noChangeArrowheads="1"/>
                </p:cNvSpPr>
                <p:nvPr/>
              </p:nvSpPr>
              <p:spPr bwMode="auto">
                <a:xfrm>
                  <a:off x="5347327" y="1587972"/>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350" name="Oval 15"/>
                <p:cNvSpPr>
                  <a:spLocks noChangeArrowheads="1"/>
                </p:cNvSpPr>
                <p:nvPr/>
              </p:nvSpPr>
              <p:spPr bwMode="auto">
                <a:xfrm>
                  <a:off x="5347327" y="2006785"/>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351" name="Oval 16"/>
                <p:cNvSpPr>
                  <a:spLocks noChangeArrowheads="1"/>
                </p:cNvSpPr>
                <p:nvPr/>
              </p:nvSpPr>
              <p:spPr bwMode="auto">
                <a:xfrm>
                  <a:off x="5356393" y="2451772"/>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352" name="Oval 17"/>
                <p:cNvSpPr>
                  <a:spLocks noChangeArrowheads="1"/>
                </p:cNvSpPr>
                <p:nvPr/>
              </p:nvSpPr>
              <p:spPr bwMode="auto">
                <a:xfrm>
                  <a:off x="5945637" y="1156073"/>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353" name="Oval 18"/>
                <p:cNvSpPr>
                  <a:spLocks noChangeArrowheads="1"/>
                </p:cNvSpPr>
                <p:nvPr/>
              </p:nvSpPr>
              <p:spPr bwMode="auto">
                <a:xfrm>
                  <a:off x="5954703" y="1601060"/>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354" name="Oval 19"/>
                <p:cNvSpPr>
                  <a:spLocks noChangeArrowheads="1"/>
                </p:cNvSpPr>
                <p:nvPr/>
              </p:nvSpPr>
              <p:spPr bwMode="auto">
                <a:xfrm>
                  <a:off x="5954703" y="2019872"/>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9355" name="Oval 20"/>
                <p:cNvSpPr>
                  <a:spLocks noChangeArrowheads="1"/>
                </p:cNvSpPr>
                <p:nvPr/>
              </p:nvSpPr>
              <p:spPr bwMode="auto">
                <a:xfrm>
                  <a:off x="5963767" y="2464860"/>
                  <a:ext cx="103118" cy="116154"/>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99356" name="AutoShape 21"/>
                <p:cNvCxnSpPr>
                  <a:cxnSpLocks noChangeShapeType="1"/>
                </p:cNvCxnSpPr>
                <p:nvPr/>
              </p:nvCxnSpPr>
              <p:spPr bwMode="auto">
                <a:xfrm>
                  <a:off x="5441381" y="1259139"/>
                  <a:ext cx="522388" cy="341921"/>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99357" name="AutoShape 22"/>
                <p:cNvCxnSpPr>
                  <a:cxnSpLocks noChangeShapeType="1"/>
                </p:cNvCxnSpPr>
                <p:nvPr/>
              </p:nvCxnSpPr>
              <p:spPr bwMode="auto">
                <a:xfrm>
                  <a:off x="5441381" y="1272227"/>
                  <a:ext cx="522388" cy="749282"/>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cxnSp>
              <p:nvCxnSpPr>
                <p:cNvPr id="99358" name="AutoShape 23"/>
                <p:cNvCxnSpPr>
                  <a:cxnSpLocks noChangeShapeType="1"/>
                </p:cNvCxnSpPr>
                <p:nvPr/>
              </p:nvCxnSpPr>
              <p:spPr bwMode="auto">
                <a:xfrm flipV="1">
                  <a:off x="5441381" y="1272227"/>
                  <a:ext cx="522388" cy="749282"/>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99359" name="AutoShape 24"/>
                <p:cNvCxnSpPr>
                  <a:cxnSpLocks noChangeShapeType="1"/>
                </p:cNvCxnSpPr>
                <p:nvPr/>
              </p:nvCxnSpPr>
              <p:spPr bwMode="auto">
                <a:xfrm>
                  <a:off x="5459511" y="2060771"/>
                  <a:ext cx="495192" cy="0"/>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cxnSp>
              <p:nvCxnSpPr>
                <p:cNvPr id="99360" name="AutoShape 25"/>
                <p:cNvCxnSpPr>
                  <a:cxnSpLocks noChangeShapeType="1"/>
                </p:cNvCxnSpPr>
                <p:nvPr/>
              </p:nvCxnSpPr>
              <p:spPr bwMode="auto">
                <a:xfrm>
                  <a:off x="5450445" y="2122939"/>
                  <a:ext cx="513322" cy="341921"/>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sp>
              <p:nvSpPr>
                <p:cNvPr id="99361" name="Text Box 26"/>
                <p:cNvSpPr txBox="1">
                  <a:spLocks noChangeArrowheads="1"/>
                </p:cNvSpPr>
                <p:nvPr/>
              </p:nvSpPr>
              <p:spPr bwMode="auto">
                <a:xfrm>
                  <a:off x="5802920" y="785794"/>
                  <a:ext cx="269278" cy="206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B</a:t>
                  </a:r>
                  <a:endParaRPr lang="zh-CN" altLang="zh-CN" sz="2000" b="1">
                    <a:latin typeface="Arial" panose="020B0604020202020204" pitchFamily="34" charset="0"/>
                  </a:endParaRPr>
                </a:p>
              </p:txBody>
            </p:sp>
          </p:grpSp>
          <p:grpSp>
            <p:nvGrpSpPr>
              <p:cNvPr id="99342" name="组合 65"/>
              <p:cNvGrpSpPr/>
              <p:nvPr/>
            </p:nvGrpSpPr>
            <p:grpSpPr bwMode="auto">
              <a:xfrm>
                <a:off x="5143500" y="357188"/>
                <a:ext cx="2000250" cy="3000375"/>
                <a:chOff x="4968881" y="785794"/>
                <a:chExt cx="2000238" cy="3000379"/>
              </a:xfrm>
            </p:grpSpPr>
            <p:sp>
              <p:nvSpPr>
                <p:cNvPr id="99343" name="Text Box 7"/>
                <p:cNvSpPr txBox="1">
                  <a:spLocks noChangeArrowheads="1"/>
                </p:cNvSpPr>
                <p:nvPr/>
              </p:nvSpPr>
              <p:spPr bwMode="auto">
                <a:xfrm>
                  <a:off x="4968881" y="785794"/>
                  <a:ext cx="2000238" cy="3000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2400" b="1">
                      <a:latin typeface="Times New Roman" panose="02020603050405020304" pitchFamily="18" charset="0"/>
                    </a:rPr>
                    <a:t>                   </a:t>
                  </a:r>
                  <a:r>
                    <a:rPr lang="en-US" altLang="zh-CN" sz="2400" b="1" i="1">
                      <a:latin typeface="Times New Roman" panose="02020603050405020304" pitchFamily="18" charset="0"/>
                      <a:sym typeface="Symbol" panose="05050102010706020507" pitchFamily="18" charset="2"/>
                    </a:rPr>
                    <a:t></a:t>
                  </a:r>
                  <a:endParaRPr lang="en-US" altLang="zh-CN" sz="2400" b="1" i="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a:t>
                  </a:r>
                  <a:r>
                    <a:rPr lang="en-US" altLang="zh-CN" sz="2400" b="1">
                      <a:solidFill>
                        <a:srgbClr val="0070C0"/>
                      </a:solidFill>
                      <a:latin typeface="Times New Roman" panose="02020603050405020304" pitchFamily="18" charset="0"/>
                    </a:rPr>
                    <a:t> </a:t>
                  </a:r>
                  <a:r>
                    <a:rPr lang="en-US" altLang="zh-CN" sz="2400" b="1">
                      <a:solidFill>
                        <a:srgbClr val="FF0000"/>
                      </a:solidFill>
                      <a:latin typeface="Times New Roman" panose="02020603050405020304" pitchFamily="18" charset="0"/>
                    </a:rPr>
                    <a:t>4</a:t>
                  </a:r>
                  <a:r>
                    <a:rPr lang="en-US" altLang="zh-CN" sz="2400" b="1">
                      <a:solidFill>
                        <a:srgbClr val="0070C0"/>
                      </a:solidFill>
                      <a:latin typeface="Times New Roman" panose="02020603050405020304" pitchFamily="18" charset="0"/>
                    </a:rPr>
                    <a:t>  3</a:t>
                  </a:r>
                  <a:r>
                    <a:rPr lang="en-US" altLang="zh-CN" sz="2400" b="1">
                      <a:latin typeface="Times New Roman" panose="02020603050405020304" pitchFamily="18" charset="0"/>
                    </a:rPr>
                    <a:t>  9  0</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8  5  8  4  0</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a:t>
                  </a:r>
                  <a:r>
                    <a:rPr lang="en-US" altLang="zh-CN" sz="2400" b="1">
                      <a:solidFill>
                        <a:srgbClr val="FF0000"/>
                      </a:solidFill>
                      <a:latin typeface="Times New Roman" panose="02020603050405020304" pitchFamily="18" charset="0"/>
                    </a:rPr>
                    <a:t>3</a:t>
                  </a:r>
                  <a:r>
                    <a:rPr lang="en-US" altLang="zh-CN" sz="2400" b="1">
                      <a:latin typeface="Times New Roman" panose="02020603050405020304" pitchFamily="18" charset="0"/>
                    </a:rPr>
                    <a:t>  8  </a:t>
                  </a:r>
                  <a:r>
                    <a:rPr lang="en-US" altLang="zh-CN" sz="2400" b="1">
                      <a:solidFill>
                        <a:srgbClr val="0070C0"/>
                      </a:solidFill>
                      <a:latin typeface="Times New Roman" panose="02020603050405020304" pitchFamily="18" charset="0"/>
                    </a:rPr>
                    <a:t>3  1</a:t>
                  </a:r>
                  <a:r>
                    <a:rPr lang="en-US" altLang="zh-CN" sz="2400" b="1">
                      <a:latin typeface="Times New Roman" panose="02020603050405020304" pitchFamily="18" charset="0"/>
                    </a:rPr>
                    <a:t>  0 </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9  6  9  6  0</a:t>
                  </a:r>
                  <a:endParaRPr lang="en-US" altLang="zh-CN" sz="2400" b="1">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sym typeface="Symbol" panose="05050102010706020507" pitchFamily="18" charset="2"/>
                    </a:rPr>
                    <a:t></a:t>
                  </a:r>
                  <a:r>
                    <a:rPr lang="en-US" altLang="zh-CN" sz="2400" b="1">
                      <a:latin typeface="Times New Roman" panose="02020603050405020304" pitchFamily="18" charset="0"/>
                      <a:sym typeface="Symbol" panose="05050102010706020507" pitchFamily="18" charset="2"/>
                    </a:rPr>
                    <a:t>  3  4  3  1</a:t>
                  </a:r>
                  <a:endParaRPr lang="en-US" altLang="zh-CN" sz="2400" b="1">
                    <a:latin typeface="Times New Roman" panose="02020603050405020304" pitchFamily="18" charset="0"/>
                    <a:sym typeface="Symbol" panose="05050102010706020507" pitchFamily="18" charset="2"/>
                  </a:endParaRPr>
                </a:p>
                <a:p>
                  <a:pPr algn="just" eaLnBrk="1" hangingPunct="1">
                    <a:spcBef>
                      <a:spcPct val="0"/>
                    </a:spcBef>
                    <a:buFontTx/>
                    <a:buNone/>
                  </a:pPr>
                  <a:r>
                    <a:rPr lang="en-US" altLang="zh-CN" sz="2400" b="1" i="1">
                      <a:latin typeface="Times New Roman" panose="02020603050405020304" pitchFamily="18" charset="0"/>
                    </a:rPr>
                    <a:t>s</a:t>
                  </a:r>
                  <a:r>
                    <a:rPr lang="en-US" altLang="zh-CN" sz="2400" b="1">
                      <a:latin typeface="Times New Roman" panose="02020603050405020304" pitchFamily="18" charset="0"/>
                    </a:rPr>
                    <a:t>       </a:t>
                  </a:r>
                  <a:endParaRPr lang="en-US" altLang="zh-CN" sz="2400" b="1">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rPr>
                    <a:t>h</a:t>
                  </a:r>
                  <a:endParaRPr lang="en-US" altLang="zh-CN" sz="2400" b="1" i="1">
                    <a:latin typeface="Times New Roman" panose="02020603050405020304" pitchFamily="18" charset="0"/>
                  </a:endParaRPr>
                </a:p>
              </p:txBody>
            </p:sp>
            <p:sp>
              <p:nvSpPr>
                <p:cNvPr id="99344" name="Text Box 32"/>
                <p:cNvSpPr txBox="1">
                  <a:spLocks noChangeArrowheads="1"/>
                </p:cNvSpPr>
                <p:nvPr/>
              </p:nvSpPr>
              <p:spPr bwMode="auto">
                <a:xfrm>
                  <a:off x="5572132" y="3500423"/>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endParaRPr lang="zh-CN" altLang="zh-CN" sz="2000" b="1">
                    <a:latin typeface="Arial" panose="020B0604020202020204" pitchFamily="34" charset="0"/>
                  </a:endParaRPr>
                </a:p>
              </p:txBody>
            </p:sp>
            <p:sp>
              <p:nvSpPr>
                <p:cNvPr id="99345" name="Text Box 32"/>
                <p:cNvSpPr txBox="1">
                  <a:spLocks noChangeArrowheads="1"/>
                </p:cNvSpPr>
                <p:nvPr/>
              </p:nvSpPr>
              <p:spPr bwMode="auto">
                <a:xfrm>
                  <a:off x="5897575" y="3500421"/>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endParaRPr lang="zh-CN" altLang="zh-CN" sz="2000" b="1">
                    <a:latin typeface="Arial" panose="020B0604020202020204" pitchFamily="34" charset="0"/>
                  </a:endParaRPr>
                </a:p>
              </p:txBody>
            </p:sp>
            <p:sp>
              <p:nvSpPr>
                <p:cNvPr id="99346" name="Text Box 32"/>
                <p:cNvSpPr txBox="1">
                  <a:spLocks noChangeArrowheads="1"/>
                </p:cNvSpPr>
                <p:nvPr/>
              </p:nvSpPr>
              <p:spPr bwMode="auto">
                <a:xfrm>
                  <a:off x="6223018" y="3500421"/>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endParaRPr lang="zh-CN" altLang="zh-CN" sz="2000" b="1">
                    <a:latin typeface="Arial" panose="020B0604020202020204" pitchFamily="34" charset="0"/>
                  </a:endParaRPr>
                </a:p>
              </p:txBody>
            </p:sp>
          </p:grpSp>
        </p:grpSp>
        <p:sp>
          <p:nvSpPr>
            <p:cNvPr id="99337" name="Text Box 29"/>
            <p:cNvSpPr txBox="1">
              <a:spLocks noChangeArrowheads="1"/>
            </p:cNvSpPr>
            <p:nvPr/>
          </p:nvSpPr>
          <p:spPr bwMode="auto">
            <a:xfrm>
              <a:off x="8358214" y="857232"/>
              <a:ext cx="571504" cy="34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solidFill>
                    <a:srgbClr val="0070C0"/>
                  </a:solidFill>
                  <a:latin typeface="Times New Roman" panose="02020603050405020304" pitchFamily="18" charset="0"/>
                </a:rPr>
                <a:t>A</a:t>
              </a:r>
              <a:r>
                <a:rPr lang="en-US" altLang="zh-CN" sz="2000" b="1" baseline="-25000">
                  <a:solidFill>
                    <a:srgbClr val="0070C0"/>
                  </a:solidFill>
                  <a:latin typeface="Times New Roman" panose="02020603050405020304" pitchFamily="18" charset="0"/>
                </a:rPr>
                <a:t>3</a:t>
              </a:r>
              <a:endParaRPr lang="zh-CN" altLang="zh-CN" sz="2000" b="1">
                <a:solidFill>
                  <a:srgbClr val="0070C0"/>
                </a:solidFill>
                <a:latin typeface="Arial" panose="020B0604020202020204" pitchFamily="34" charset="0"/>
              </a:endParaRPr>
            </a:p>
          </p:txBody>
        </p:sp>
        <p:sp>
          <p:nvSpPr>
            <p:cNvPr id="99338" name="Text Box 29"/>
            <p:cNvSpPr txBox="1">
              <a:spLocks noChangeArrowheads="1"/>
            </p:cNvSpPr>
            <p:nvPr/>
          </p:nvSpPr>
          <p:spPr bwMode="auto">
            <a:xfrm>
              <a:off x="7429522" y="1285860"/>
              <a:ext cx="428626" cy="34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a:solidFill>
                    <a:srgbClr val="0070C0"/>
                  </a:solidFill>
                  <a:latin typeface="Times New Roman" panose="02020603050405020304" pitchFamily="18" charset="0"/>
                </a:rPr>
                <a:t>0</a:t>
              </a:r>
              <a:endParaRPr lang="zh-CN" altLang="zh-CN" sz="2000" b="1">
                <a:solidFill>
                  <a:srgbClr val="0070C0"/>
                </a:solidFill>
                <a:latin typeface="Arial" panose="020B0604020202020204" pitchFamily="34" charset="0"/>
              </a:endParaRPr>
            </a:p>
          </p:txBody>
        </p:sp>
        <p:sp>
          <p:nvSpPr>
            <p:cNvPr id="99339" name="Text Box 29"/>
            <p:cNvSpPr txBox="1">
              <a:spLocks noChangeArrowheads="1"/>
            </p:cNvSpPr>
            <p:nvPr/>
          </p:nvSpPr>
          <p:spPr bwMode="auto">
            <a:xfrm>
              <a:off x="7429522" y="1714488"/>
              <a:ext cx="428626" cy="34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a:solidFill>
                    <a:srgbClr val="0070C0"/>
                  </a:solidFill>
                  <a:latin typeface="Times New Roman" panose="02020603050405020304" pitchFamily="18" charset="0"/>
                </a:rPr>
                <a:t>0</a:t>
              </a:r>
              <a:endParaRPr lang="zh-CN" altLang="zh-CN" sz="2000" b="1">
                <a:solidFill>
                  <a:srgbClr val="0070C0"/>
                </a:solidFill>
                <a:latin typeface="Arial" panose="020B0604020202020204" pitchFamily="34" charset="0"/>
              </a:endParaRPr>
            </a:p>
          </p:txBody>
        </p:sp>
        <p:sp>
          <p:nvSpPr>
            <p:cNvPr id="99340" name="Text Box 29"/>
            <p:cNvSpPr txBox="1">
              <a:spLocks noChangeArrowheads="1"/>
            </p:cNvSpPr>
            <p:nvPr/>
          </p:nvSpPr>
          <p:spPr bwMode="auto">
            <a:xfrm>
              <a:off x="7429522" y="2214554"/>
              <a:ext cx="428626" cy="34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a:solidFill>
                    <a:srgbClr val="0070C0"/>
                  </a:solidFill>
                  <a:latin typeface="Times New Roman" panose="02020603050405020304" pitchFamily="18" charset="0"/>
                </a:rPr>
                <a:t>0</a:t>
              </a:r>
              <a:endParaRPr lang="zh-CN" altLang="zh-CN" sz="2000" b="1">
                <a:solidFill>
                  <a:srgbClr val="0070C0"/>
                </a:solidFill>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1+#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554D67-FAEB-4D55-9DDD-2837BA929373}" type="slidenum">
              <a:rPr lang="zh-CN" altLang="en-US" sz="1200" smtClean="0">
                <a:solidFill>
                  <a:srgbClr val="898989"/>
                </a:solidFill>
              </a:rPr>
            </a:fld>
            <a:endParaRPr lang="zh-CN" altLang="en-US" sz="1200" smtClean="0">
              <a:solidFill>
                <a:srgbClr val="898989"/>
              </a:solidFill>
            </a:endParaRPr>
          </a:p>
        </p:txBody>
      </p:sp>
      <p:grpSp>
        <p:nvGrpSpPr>
          <p:cNvPr id="100355" name="组合 55"/>
          <p:cNvGrpSpPr/>
          <p:nvPr/>
        </p:nvGrpSpPr>
        <p:grpSpPr bwMode="auto">
          <a:xfrm>
            <a:off x="496888" y="785813"/>
            <a:ext cx="4860925" cy="3000375"/>
            <a:chOff x="496584" y="785807"/>
            <a:chExt cx="4861229" cy="3000375"/>
          </a:xfrm>
        </p:grpSpPr>
        <p:grpSp>
          <p:nvGrpSpPr>
            <p:cNvPr id="100382" name="组合 32"/>
            <p:cNvGrpSpPr/>
            <p:nvPr/>
          </p:nvGrpSpPr>
          <p:grpSpPr bwMode="auto">
            <a:xfrm>
              <a:off x="496584" y="785807"/>
              <a:ext cx="3204558" cy="3000375"/>
              <a:chOff x="496555" y="785805"/>
              <a:chExt cx="3204578" cy="3000379"/>
            </a:xfrm>
          </p:grpSpPr>
          <p:sp>
            <p:nvSpPr>
              <p:cNvPr id="100405" name="Text Box 7"/>
              <p:cNvSpPr txBox="1">
                <a:spLocks noChangeArrowheads="1"/>
              </p:cNvSpPr>
              <p:nvPr/>
            </p:nvSpPr>
            <p:spPr bwMode="auto">
              <a:xfrm>
                <a:off x="496555" y="785805"/>
                <a:ext cx="3204578" cy="3000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2400" b="1">
                    <a:latin typeface="Times New Roman" panose="02020603050405020304" pitchFamily="18" charset="0"/>
                  </a:rPr>
                  <a:t>                                 </a:t>
                </a:r>
                <a:r>
                  <a:rPr lang="en-US" altLang="zh-CN" sz="2400" b="1" i="1">
                    <a:latin typeface="Times New Roman" panose="02020603050405020304" pitchFamily="18" charset="0"/>
                    <a:sym typeface="Symbol" panose="05050102010706020507" pitchFamily="18" charset="2"/>
                  </a:rPr>
                  <a:t></a:t>
                </a:r>
                <a:endParaRPr lang="en-US" altLang="zh-CN" sz="2400" b="1" i="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a:t>
                </a:r>
                <a:r>
                  <a:rPr lang="en-US" altLang="zh-CN" sz="2400" b="1">
                    <a:solidFill>
                      <a:srgbClr val="0070C0"/>
                    </a:solidFill>
                    <a:latin typeface="Times New Roman" panose="02020603050405020304" pitchFamily="18" charset="0"/>
                  </a:rPr>
                  <a:t> </a:t>
                </a:r>
                <a:r>
                  <a:rPr lang="en-US" altLang="zh-CN" sz="2400" b="1">
                    <a:solidFill>
                      <a:srgbClr val="FF0000"/>
                    </a:solidFill>
                    <a:latin typeface="Times New Roman" panose="02020603050405020304" pitchFamily="18" charset="0"/>
                  </a:rPr>
                  <a:t>4</a:t>
                </a:r>
                <a:r>
                  <a:rPr lang="en-US" altLang="zh-CN" sz="2400" b="1">
                    <a:solidFill>
                      <a:srgbClr val="0070C0"/>
                    </a:solidFill>
                    <a:latin typeface="Times New Roman" panose="02020603050405020304" pitchFamily="18" charset="0"/>
                  </a:rPr>
                  <a:t>     3</a:t>
                </a:r>
                <a:r>
                  <a:rPr lang="en-US" altLang="zh-CN" sz="2400" b="1">
                    <a:latin typeface="Times New Roman" panose="02020603050405020304" pitchFamily="18" charset="0"/>
                  </a:rPr>
                  <a:t>     9   -0.5</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8     </a:t>
                </a:r>
                <a:r>
                  <a:rPr lang="en-US" altLang="zh-CN" sz="2400" b="1">
                    <a:solidFill>
                      <a:srgbClr val="0070C0"/>
                    </a:solidFill>
                    <a:latin typeface="Times New Roman" panose="02020603050405020304" pitchFamily="18" charset="0"/>
                  </a:rPr>
                  <a:t>5</a:t>
                </a:r>
                <a:r>
                  <a:rPr lang="en-US" altLang="zh-CN" sz="2400" b="1">
                    <a:latin typeface="Times New Roman" panose="02020603050405020304" pitchFamily="18" charset="0"/>
                  </a:rPr>
                  <a:t>     8     4    0.5</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a:t>
                </a:r>
                <a:r>
                  <a:rPr lang="en-US" altLang="zh-CN" sz="2400" b="1">
                    <a:solidFill>
                      <a:srgbClr val="FF0000"/>
                    </a:solidFill>
                    <a:latin typeface="Times New Roman" panose="02020603050405020304" pitchFamily="18" charset="0"/>
                  </a:rPr>
                  <a:t>3</a:t>
                </a:r>
                <a:r>
                  <a:rPr lang="en-US" altLang="zh-CN" sz="2400" b="1">
                    <a:latin typeface="Times New Roman" panose="02020603050405020304" pitchFamily="18" charset="0"/>
                  </a:rPr>
                  <a:t>     8     </a:t>
                </a:r>
                <a:r>
                  <a:rPr lang="en-US" altLang="zh-CN" sz="2400" b="1">
                    <a:solidFill>
                      <a:srgbClr val="0070C0"/>
                    </a:solidFill>
                    <a:latin typeface="Times New Roman" panose="02020603050405020304" pitchFamily="18" charset="0"/>
                  </a:rPr>
                  <a:t>3     1</a:t>
                </a:r>
                <a:r>
                  <a:rPr lang="en-US" altLang="zh-CN" sz="2400" b="1">
                    <a:latin typeface="Times New Roman" panose="02020603050405020304" pitchFamily="18" charset="0"/>
                  </a:rPr>
                  <a:t>   -0.5   </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9     6     9     6    0.5</a:t>
                </a:r>
                <a:endParaRPr lang="en-US" altLang="zh-CN" sz="2400" b="1">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sym typeface="Symbol" panose="05050102010706020507" pitchFamily="18" charset="2"/>
                  </a:rPr>
                  <a:t></a:t>
                </a:r>
                <a:r>
                  <a:rPr lang="en-US" altLang="zh-CN" sz="2400" b="1">
                    <a:latin typeface="Times New Roman" panose="02020603050405020304" pitchFamily="18" charset="0"/>
                    <a:sym typeface="Symbol" panose="05050102010706020507" pitchFamily="18" charset="2"/>
                  </a:rPr>
                  <a:t>  3.5  4.5  3.5  1.5</a:t>
                </a:r>
                <a:endParaRPr lang="en-US" altLang="zh-CN" sz="2400" b="1">
                  <a:latin typeface="Times New Roman" panose="02020603050405020304" pitchFamily="18" charset="0"/>
                  <a:sym typeface="Symbol" panose="05050102010706020507" pitchFamily="18" charset="2"/>
                </a:endParaRPr>
              </a:p>
              <a:p>
                <a:pPr algn="just" eaLnBrk="1" hangingPunct="1">
                  <a:spcBef>
                    <a:spcPct val="0"/>
                  </a:spcBef>
                  <a:buFontTx/>
                  <a:buNone/>
                </a:pPr>
                <a:r>
                  <a:rPr lang="en-US" altLang="zh-CN" sz="2400" b="1" i="1">
                    <a:latin typeface="Times New Roman" panose="02020603050405020304" pitchFamily="18" charset="0"/>
                  </a:rPr>
                  <a:t>s</a:t>
                </a:r>
                <a:r>
                  <a:rPr lang="en-US" altLang="zh-CN" sz="2400" b="1">
                    <a:latin typeface="Times New Roman" panose="02020603050405020304" pitchFamily="18" charset="0"/>
                  </a:rPr>
                  <a:t>         </a:t>
                </a:r>
                <a:r>
                  <a:rPr lang="en-US" altLang="zh-CN" sz="2400" b="1">
                    <a:solidFill>
                      <a:srgbClr val="0070C0"/>
                    </a:solidFill>
                    <a:latin typeface="Times New Roman" panose="02020603050405020304" pitchFamily="18" charset="0"/>
                  </a:rPr>
                  <a:t>       </a:t>
                </a:r>
                <a:r>
                  <a:rPr lang="en-US" altLang="zh-CN" sz="2400" b="1">
                    <a:latin typeface="Times New Roman" panose="02020603050405020304" pitchFamily="18" charset="0"/>
                  </a:rPr>
                  <a:t>       </a:t>
                </a:r>
                <a:endParaRPr lang="en-US" altLang="zh-CN" sz="2400" b="1">
                  <a:solidFill>
                    <a:srgbClr val="0070C0"/>
                  </a:solidFill>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rPr>
                  <a:t>h</a:t>
                </a:r>
                <a:endParaRPr lang="en-US" altLang="zh-CN" sz="2400" b="1" i="1">
                  <a:latin typeface="Times New Roman" panose="02020603050405020304" pitchFamily="18" charset="0"/>
                </a:endParaRPr>
              </a:p>
            </p:txBody>
          </p:sp>
          <p:sp>
            <p:nvSpPr>
              <p:cNvPr id="100406" name="Text Box 32"/>
              <p:cNvSpPr txBox="1">
                <a:spLocks noChangeArrowheads="1"/>
              </p:cNvSpPr>
              <p:nvPr/>
            </p:nvSpPr>
            <p:spPr bwMode="auto">
              <a:xfrm>
                <a:off x="2786050" y="3429000"/>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endParaRPr lang="zh-CN" altLang="zh-CN" sz="2000" b="1">
                  <a:latin typeface="Arial" panose="020B0604020202020204" pitchFamily="34" charset="0"/>
                </a:endParaRPr>
              </a:p>
            </p:txBody>
          </p:sp>
          <p:sp>
            <p:nvSpPr>
              <p:cNvPr id="100407" name="Text Box 32"/>
              <p:cNvSpPr txBox="1">
                <a:spLocks noChangeArrowheads="1"/>
              </p:cNvSpPr>
              <p:nvPr/>
            </p:nvSpPr>
            <p:spPr bwMode="auto">
              <a:xfrm>
                <a:off x="1182667" y="3429000"/>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endParaRPr lang="zh-CN" altLang="zh-CN" sz="2000" b="1">
                  <a:latin typeface="Arial" panose="020B0604020202020204" pitchFamily="34" charset="0"/>
                </a:endParaRPr>
              </a:p>
            </p:txBody>
          </p:sp>
        </p:grpSp>
        <p:grpSp>
          <p:nvGrpSpPr>
            <p:cNvPr id="100383" name="组合 33"/>
            <p:cNvGrpSpPr/>
            <p:nvPr/>
          </p:nvGrpSpPr>
          <p:grpSpPr bwMode="auto">
            <a:xfrm>
              <a:off x="3857625" y="928688"/>
              <a:ext cx="1500188" cy="2000250"/>
              <a:chOff x="3857620" y="928707"/>
              <a:chExt cx="1500198" cy="2000244"/>
            </a:xfrm>
          </p:grpSpPr>
          <p:sp>
            <p:nvSpPr>
              <p:cNvPr id="100384" name="Text Box 32"/>
              <p:cNvSpPr txBox="1">
                <a:spLocks noChangeArrowheads="1"/>
              </p:cNvSpPr>
              <p:nvPr/>
            </p:nvSpPr>
            <p:spPr bwMode="auto">
              <a:xfrm>
                <a:off x="4897443" y="1714507"/>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solidFill>
                      <a:srgbClr val="0070C0"/>
                    </a:solidFill>
                    <a:latin typeface="Times New Roman" panose="02020603050405020304" pitchFamily="18" charset="0"/>
                  </a:rPr>
                  <a:t>A</a:t>
                </a:r>
                <a:r>
                  <a:rPr lang="en-US" altLang="zh-CN" sz="2000" b="1" baseline="-25000">
                    <a:solidFill>
                      <a:srgbClr val="0070C0"/>
                    </a:solidFill>
                    <a:latin typeface="Times New Roman" panose="02020603050405020304" pitchFamily="18" charset="0"/>
                  </a:rPr>
                  <a:t>2</a:t>
                </a:r>
                <a:endParaRPr lang="zh-CN" altLang="zh-CN" sz="2000" b="1">
                  <a:solidFill>
                    <a:srgbClr val="0070C0"/>
                  </a:solidFill>
                  <a:latin typeface="Arial" panose="020B0604020202020204" pitchFamily="34" charset="0"/>
                </a:endParaRPr>
              </a:p>
            </p:txBody>
          </p:sp>
          <p:sp>
            <p:nvSpPr>
              <p:cNvPr id="100385" name="Text Box 26"/>
              <p:cNvSpPr txBox="1">
                <a:spLocks noChangeArrowheads="1"/>
              </p:cNvSpPr>
              <p:nvPr/>
            </p:nvSpPr>
            <p:spPr bwMode="auto">
              <a:xfrm>
                <a:off x="4111631" y="928707"/>
                <a:ext cx="269468" cy="206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endParaRPr lang="zh-CN" altLang="zh-CN" sz="2000" b="1">
                  <a:latin typeface="Arial" panose="020B0604020202020204" pitchFamily="34" charset="0"/>
                </a:endParaRPr>
              </a:p>
            </p:txBody>
          </p:sp>
          <p:sp>
            <p:nvSpPr>
              <p:cNvPr id="100386" name="Oval 13"/>
              <p:cNvSpPr>
                <a:spLocks noChangeArrowheads="1"/>
              </p:cNvSpPr>
              <p:nvPr/>
            </p:nvSpPr>
            <p:spPr bwMode="auto">
              <a:xfrm>
                <a:off x="4218552" y="1285946"/>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0387" name="Oval 14"/>
              <p:cNvSpPr>
                <a:spLocks noChangeArrowheads="1"/>
              </p:cNvSpPr>
              <p:nvPr/>
            </p:nvSpPr>
            <p:spPr bwMode="auto">
              <a:xfrm>
                <a:off x="4227624" y="1730994"/>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0388" name="Oval 15"/>
              <p:cNvSpPr>
                <a:spLocks noChangeArrowheads="1"/>
              </p:cNvSpPr>
              <p:nvPr/>
            </p:nvSpPr>
            <p:spPr bwMode="auto">
              <a:xfrm>
                <a:off x="4227624" y="2149863"/>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0389" name="Oval 16"/>
              <p:cNvSpPr>
                <a:spLocks noChangeArrowheads="1"/>
              </p:cNvSpPr>
              <p:nvPr/>
            </p:nvSpPr>
            <p:spPr bwMode="auto">
              <a:xfrm>
                <a:off x="4236696" y="2594911"/>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0390" name="Oval 17"/>
              <p:cNvSpPr>
                <a:spLocks noChangeArrowheads="1"/>
              </p:cNvSpPr>
              <p:nvPr/>
            </p:nvSpPr>
            <p:spPr bwMode="auto">
              <a:xfrm>
                <a:off x="4826356" y="1299036"/>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0391" name="Oval 18"/>
              <p:cNvSpPr>
                <a:spLocks noChangeArrowheads="1"/>
              </p:cNvSpPr>
              <p:nvPr/>
            </p:nvSpPr>
            <p:spPr bwMode="auto">
              <a:xfrm>
                <a:off x="4835428" y="1744083"/>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0392" name="Oval 19"/>
              <p:cNvSpPr>
                <a:spLocks noChangeArrowheads="1"/>
              </p:cNvSpPr>
              <p:nvPr/>
            </p:nvSpPr>
            <p:spPr bwMode="auto">
              <a:xfrm>
                <a:off x="4835428" y="2162952"/>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0393" name="Oval 20"/>
              <p:cNvSpPr>
                <a:spLocks noChangeArrowheads="1"/>
              </p:cNvSpPr>
              <p:nvPr/>
            </p:nvSpPr>
            <p:spPr bwMode="auto">
              <a:xfrm>
                <a:off x="4844499" y="2608000"/>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100394" name="AutoShape 21"/>
              <p:cNvCxnSpPr>
                <a:cxnSpLocks noChangeShapeType="1"/>
              </p:cNvCxnSpPr>
              <p:nvPr/>
            </p:nvCxnSpPr>
            <p:spPr bwMode="auto">
              <a:xfrm>
                <a:off x="4321744" y="1402116"/>
                <a:ext cx="522756" cy="341967"/>
              </a:xfrm>
              <a:prstGeom prst="straightConnector1">
                <a:avLst/>
              </a:prstGeom>
              <a:noFill/>
              <a:ln w="19050">
                <a:solidFill>
                  <a:srgbClr val="FF0000"/>
                </a:solidFill>
                <a:prstDash val="dash"/>
                <a:round/>
              </a:ln>
              <a:extLst>
                <a:ext uri="{909E8E84-426E-40DD-AFC4-6F175D3DCCD1}">
                  <a14:hiddenFill xmlns:a14="http://schemas.microsoft.com/office/drawing/2010/main">
                    <a:noFill/>
                  </a14:hiddenFill>
                </a:ext>
              </a:extLst>
            </p:spPr>
          </p:cxnSp>
          <p:cxnSp>
            <p:nvCxnSpPr>
              <p:cNvPr id="100395" name="AutoShape 22"/>
              <p:cNvCxnSpPr>
                <a:cxnSpLocks noChangeShapeType="1"/>
              </p:cNvCxnSpPr>
              <p:nvPr/>
            </p:nvCxnSpPr>
            <p:spPr bwMode="auto">
              <a:xfrm>
                <a:off x="4321744" y="1415206"/>
                <a:ext cx="522756" cy="749383"/>
              </a:xfrm>
              <a:prstGeom prst="straightConnector1">
                <a:avLst/>
              </a:prstGeom>
              <a:noFill/>
              <a:ln w="19050">
                <a:solidFill>
                  <a:srgbClr val="000000"/>
                </a:solidFill>
                <a:prstDash val="dash"/>
                <a:round/>
              </a:ln>
              <a:extLst>
                <a:ext uri="{909E8E84-426E-40DD-AFC4-6F175D3DCCD1}">
                  <a14:hiddenFill xmlns:a14="http://schemas.microsoft.com/office/drawing/2010/main">
                    <a:noFill/>
                  </a14:hiddenFill>
                </a:ext>
              </a:extLst>
            </p:spPr>
          </p:cxnSp>
          <p:cxnSp>
            <p:nvCxnSpPr>
              <p:cNvPr id="100396" name="AutoShape 23"/>
              <p:cNvCxnSpPr>
                <a:cxnSpLocks noChangeShapeType="1"/>
              </p:cNvCxnSpPr>
              <p:nvPr/>
            </p:nvCxnSpPr>
            <p:spPr bwMode="auto">
              <a:xfrm flipV="1">
                <a:off x="4321744" y="1415206"/>
                <a:ext cx="522756" cy="749383"/>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100397" name="AutoShape 24"/>
              <p:cNvCxnSpPr>
                <a:cxnSpLocks noChangeShapeType="1"/>
              </p:cNvCxnSpPr>
              <p:nvPr/>
            </p:nvCxnSpPr>
            <p:spPr bwMode="auto">
              <a:xfrm>
                <a:off x="4339887" y="2203857"/>
                <a:ext cx="495541" cy="0"/>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cxnSp>
            <p:nvCxnSpPr>
              <p:cNvPr id="100398" name="AutoShape 25"/>
              <p:cNvCxnSpPr>
                <a:cxnSpLocks noChangeShapeType="1"/>
              </p:cNvCxnSpPr>
              <p:nvPr/>
            </p:nvCxnSpPr>
            <p:spPr bwMode="auto">
              <a:xfrm>
                <a:off x="4330814" y="2266033"/>
                <a:ext cx="513684" cy="341967"/>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sp>
            <p:nvSpPr>
              <p:cNvPr id="100399" name="Text Box 26"/>
              <p:cNvSpPr txBox="1">
                <a:spLocks noChangeArrowheads="1"/>
              </p:cNvSpPr>
              <p:nvPr/>
            </p:nvSpPr>
            <p:spPr bwMode="auto">
              <a:xfrm>
                <a:off x="4683538" y="928707"/>
                <a:ext cx="269468" cy="206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B</a:t>
                </a:r>
                <a:endParaRPr lang="zh-CN" altLang="zh-CN" sz="2000" b="1">
                  <a:latin typeface="Arial" panose="020B0604020202020204" pitchFamily="34" charset="0"/>
                </a:endParaRPr>
              </a:p>
            </p:txBody>
          </p:sp>
          <p:sp>
            <p:nvSpPr>
              <p:cNvPr id="100400" name="Text Box 29"/>
              <p:cNvSpPr txBox="1">
                <a:spLocks noChangeArrowheads="1"/>
              </p:cNvSpPr>
              <p:nvPr/>
            </p:nvSpPr>
            <p:spPr bwMode="auto">
              <a:xfrm>
                <a:off x="3897311" y="1724032"/>
                <a:ext cx="428628"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a:solidFill>
                      <a:srgbClr val="0070C0"/>
                    </a:solidFill>
                    <a:latin typeface="Times New Roman" panose="02020603050405020304" pitchFamily="18" charset="0"/>
                  </a:rPr>
                  <a:t>0</a:t>
                </a:r>
                <a:endParaRPr lang="zh-CN" altLang="zh-CN" sz="2000" b="1">
                  <a:solidFill>
                    <a:srgbClr val="0070C0"/>
                  </a:solidFill>
                  <a:latin typeface="Arial" panose="020B0604020202020204" pitchFamily="34" charset="0"/>
                </a:endParaRPr>
              </a:p>
            </p:txBody>
          </p:sp>
          <p:sp>
            <p:nvSpPr>
              <p:cNvPr id="100401" name="Text Box 29"/>
              <p:cNvSpPr txBox="1">
                <a:spLocks noChangeArrowheads="1"/>
              </p:cNvSpPr>
              <p:nvPr/>
            </p:nvSpPr>
            <p:spPr bwMode="auto">
              <a:xfrm>
                <a:off x="3897311" y="2581288"/>
                <a:ext cx="428628"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a:solidFill>
                      <a:srgbClr val="0070C0"/>
                    </a:solidFill>
                    <a:latin typeface="Times New Roman" panose="02020603050405020304" pitchFamily="18" charset="0"/>
                  </a:rPr>
                  <a:t>0</a:t>
                </a:r>
                <a:endParaRPr lang="zh-CN" altLang="zh-CN" sz="2000" b="1">
                  <a:solidFill>
                    <a:srgbClr val="0070C0"/>
                  </a:solidFill>
                  <a:latin typeface="Arial" panose="020B0604020202020204" pitchFamily="34" charset="0"/>
                </a:endParaRPr>
              </a:p>
            </p:txBody>
          </p:sp>
          <p:cxnSp>
            <p:nvCxnSpPr>
              <p:cNvPr id="28" name="直接连接符 27"/>
              <p:cNvCxnSpPr>
                <a:stCxn id="100387" idx="6"/>
                <a:endCxn id="100391" idx="2"/>
              </p:cNvCxnSpPr>
              <p:nvPr/>
            </p:nvCxnSpPr>
            <p:spPr>
              <a:xfrm>
                <a:off x="4330634" y="1789123"/>
                <a:ext cx="504860" cy="1270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0403" name="Text Box 32"/>
              <p:cNvSpPr txBox="1">
                <a:spLocks noChangeArrowheads="1"/>
              </p:cNvSpPr>
              <p:nvPr/>
            </p:nvSpPr>
            <p:spPr bwMode="auto">
              <a:xfrm>
                <a:off x="3857620" y="1214439"/>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solidFill>
                      <a:srgbClr val="0070C0"/>
                    </a:solidFill>
                    <a:latin typeface="Times New Roman" panose="02020603050405020304" pitchFamily="18" charset="0"/>
                  </a:rPr>
                  <a:t>B</a:t>
                </a:r>
                <a:r>
                  <a:rPr lang="en-US" altLang="zh-CN" sz="2000" b="1" baseline="-25000">
                    <a:solidFill>
                      <a:srgbClr val="0070C0"/>
                    </a:solidFill>
                    <a:latin typeface="Times New Roman" panose="02020603050405020304" pitchFamily="18" charset="0"/>
                  </a:rPr>
                  <a:t>2</a:t>
                </a:r>
                <a:endParaRPr lang="zh-CN" altLang="zh-CN" sz="2000" b="1">
                  <a:solidFill>
                    <a:srgbClr val="0070C0"/>
                  </a:solidFill>
                  <a:latin typeface="Arial" panose="020B0604020202020204" pitchFamily="34" charset="0"/>
                </a:endParaRPr>
              </a:p>
            </p:txBody>
          </p:sp>
          <p:sp>
            <p:nvSpPr>
              <p:cNvPr id="100404" name="Text Box 32"/>
              <p:cNvSpPr txBox="1">
                <a:spLocks noChangeArrowheads="1"/>
              </p:cNvSpPr>
              <p:nvPr/>
            </p:nvSpPr>
            <p:spPr bwMode="auto">
              <a:xfrm>
                <a:off x="4857752" y="2143135"/>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solidFill>
                      <a:srgbClr val="0070C0"/>
                    </a:solidFill>
                    <a:latin typeface="Times New Roman" panose="02020603050405020304" pitchFamily="18" charset="0"/>
                  </a:rPr>
                  <a:t>A</a:t>
                </a:r>
                <a:r>
                  <a:rPr lang="en-US" altLang="zh-CN" sz="2000" b="1" baseline="-25000">
                    <a:solidFill>
                      <a:srgbClr val="0070C0"/>
                    </a:solidFill>
                    <a:latin typeface="Times New Roman" panose="02020603050405020304" pitchFamily="18" charset="0"/>
                  </a:rPr>
                  <a:t>1</a:t>
                </a:r>
                <a:endParaRPr lang="zh-CN" altLang="zh-CN" sz="2000" b="1">
                  <a:solidFill>
                    <a:srgbClr val="0070C0"/>
                  </a:solidFill>
                  <a:latin typeface="Arial" panose="020B0604020202020204" pitchFamily="34" charset="0"/>
                </a:endParaRPr>
              </a:p>
            </p:txBody>
          </p:sp>
        </p:grpSp>
      </p:grpSp>
      <p:sp>
        <p:nvSpPr>
          <p:cNvPr id="100356" name="标题 1"/>
          <p:cNvSpPr>
            <a:spLocks noGrp="1"/>
          </p:cNvSpPr>
          <p:nvPr>
            <p:ph type="title"/>
          </p:nvPr>
        </p:nvSpPr>
        <p:spPr>
          <a:xfrm>
            <a:off x="6846620" y="748448"/>
            <a:ext cx="1685820" cy="939800"/>
          </a:xfrm>
        </p:spPr>
        <p:txBody>
          <a:bodyPr/>
          <a:lstStyle/>
          <a:p>
            <a:pPr algn="l"/>
            <a:r>
              <a:rPr lang="zh-CN" altLang="en-US" sz="3200" b="1" dirty="0" smtClean="0">
                <a:solidFill>
                  <a:srgbClr val="C00000"/>
                </a:solidFill>
                <a:latin typeface="Times New Roman" panose="02020603050405020304" pitchFamily="18" charset="0"/>
                <a:cs typeface="Times New Roman" panose="02020603050405020304" pitchFamily="18" charset="0"/>
              </a:rPr>
              <a:t>例</a:t>
            </a:r>
            <a:r>
              <a:rPr lang="en-US" altLang="zh-CN" sz="3200" b="1" dirty="0" smtClean="0">
                <a:solidFill>
                  <a:srgbClr val="C00000"/>
                </a:solidFill>
                <a:latin typeface="Times New Roman" panose="02020603050405020304" pitchFamily="18" charset="0"/>
                <a:cs typeface="Times New Roman" panose="02020603050405020304" pitchFamily="18" charset="0"/>
              </a:rPr>
              <a:t>7.6</a:t>
            </a:r>
            <a:br>
              <a:rPr lang="en-US" altLang="zh-CN" sz="3200" b="1" dirty="0" smtClean="0">
                <a:solidFill>
                  <a:srgbClr val="C00000"/>
                </a:solidFill>
                <a:latin typeface="Times New Roman" panose="02020603050405020304" pitchFamily="18" charset="0"/>
                <a:cs typeface="Times New Roman" panose="02020603050405020304" pitchFamily="18" charset="0"/>
              </a:rPr>
            </a:br>
            <a:r>
              <a:rPr lang="en-US" altLang="zh-CN" sz="3200" b="1" dirty="0" smtClean="0">
                <a:solidFill>
                  <a:srgbClr val="C00000"/>
                </a:solidFill>
                <a:latin typeface="Times New Roman" panose="02020603050405020304" pitchFamily="18" charset="0"/>
                <a:cs typeface="Times New Roman" panose="02020603050405020304" pitchFamily="18" charset="0"/>
              </a:rPr>
              <a:t>(</a:t>
            </a:r>
            <a:r>
              <a:rPr lang="zh-CN" altLang="en-US" sz="3200" b="1" dirty="0" smtClean="0">
                <a:solidFill>
                  <a:srgbClr val="C00000"/>
                </a:solidFill>
                <a:latin typeface="Times New Roman" panose="02020603050405020304" pitchFamily="18" charset="0"/>
                <a:cs typeface="Times New Roman" panose="02020603050405020304" pitchFamily="18" charset="0"/>
              </a:rPr>
              <a:t>续</a:t>
            </a:r>
            <a:r>
              <a:rPr lang="en-US" altLang="zh-CN" sz="3200" b="1" dirty="0" smtClean="0">
                <a:solidFill>
                  <a:srgbClr val="C00000"/>
                </a:solidFill>
                <a:latin typeface="Times New Roman" panose="02020603050405020304" pitchFamily="18" charset="0"/>
                <a:cs typeface="Times New Roman" panose="02020603050405020304" pitchFamily="18" charset="0"/>
              </a:rPr>
              <a:t>)</a:t>
            </a:r>
            <a:endParaRPr lang="zh-CN" altLang="en-US" sz="3200" b="1" dirty="0" smtClean="0">
              <a:solidFill>
                <a:srgbClr val="C00000"/>
              </a:solidFill>
              <a:latin typeface="Times New Roman" panose="02020603050405020304" pitchFamily="18" charset="0"/>
              <a:cs typeface="Times New Roman" panose="02020603050405020304" pitchFamily="18" charset="0"/>
            </a:endParaRPr>
          </a:p>
        </p:txBody>
      </p:sp>
      <p:grpSp>
        <p:nvGrpSpPr>
          <p:cNvPr id="6" name="组合 56"/>
          <p:cNvGrpSpPr/>
          <p:nvPr/>
        </p:nvGrpSpPr>
        <p:grpSpPr bwMode="auto">
          <a:xfrm>
            <a:off x="3660775" y="3284538"/>
            <a:ext cx="4364038" cy="3000375"/>
            <a:chOff x="3590014" y="3156467"/>
            <a:chExt cx="4363361" cy="3000375"/>
          </a:xfrm>
        </p:grpSpPr>
        <p:grpSp>
          <p:nvGrpSpPr>
            <p:cNvPr id="100358" name="组合 68"/>
            <p:cNvGrpSpPr/>
            <p:nvPr/>
          </p:nvGrpSpPr>
          <p:grpSpPr bwMode="auto">
            <a:xfrm>
              <a:off x="3590014" y="3156467"/>
              <a:ext cx="3222628" cy="3000375"/>
              <a:chOff x="3804321" y="3370796"/>
              <a:chExt cx="3222648" cy="3000379"/>
            </a:xfrm>
          </p:grpSpPr>
          <p:sp>
            <p:nvSpPr>
              <p:cNvPr id="100377" name="Text Box 7"/>
              <p:cNvSpPr txBox="1">
                <a:spLocks noChangeArrowheads="1"/>
              </p:cNvSpPr>
              <p:nvPr/>
            </p:nvSpPr>
            <p:spPr bwMode="auto">
              <a:xfrm>
                <a:off x="3804321" y="3370796"/>
                <a:ext cx="3222648" cy="3000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2400" b="1">
                    <a:latin typeface="Times New Roman" panose="02020603050405020304" pitchFamily="18" charset="0"/>
                  </a:rPr>
                  <a:t>                                 </a:t>
                </a:r>
                <a:r>
                  <a:rPr lang="en-US" altLang="zh-CN" sz="2400" b="1" i="1">
                    <a:latin typeface="Times New Roman" panose="02020603050405020304" pitchFamily="18" charset="0"/>
                    <a:sym typeface="Symbol" panose="05050102010706020507" pitchFamily="18" charset="2"/>
                  </a:rPr>
                  <a:t></a:t>
                </a:r>
                <a:endParaRPr lang="en-US" altLang="zh-CN" sz="2400" b="1" i="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a:t>
                </a:r>
                <a:r>
                  <a:rPr lang="en-US" altLang="zh-CN" sz="2400" b="1">
                    <a:solidFill>
                      <a:srgbClr val="0070C0"/>
                    </a:solidFill>
                    <a:latin typeface="Times New Roman" panose="02020603050405020304" pitchFamily="18" charset="0"/>
                  </a:rPr>
                  <a:t> 4     </a:t>
                </a:r>
                <a:r>
                  <a:rPr lang="en-US" altLang="zh-CN" sz="2400" b="1">
                    <a:solidFill>
                      <a:srgbClr val="FF0000"/>
                    </a:solidFill>
                    <a:latin typeface="Times New Roman" panose="02020603050405020304" pitchFamily="18" charset="0"/>
                  </a:rPr>
                  <a:t>3</a:t>
                </a:r>
                <a:r>
                  <a:rPr lang="en-US" altLang="zh-CN" sz="2400" b="1">
                    <a:latin typeface="Times New Roman" panose="02020603050405020304" pitchFamily="18" charset="0"/>
                  </a:rPr>
                  <a:t>     9   -0.5</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8     </a:t>
                </a:r>
                <a:r>
                  <a:rPr lang="en-US" altLang="zh-CN" sz="2400" b="1">
                    <a:solidFill>
                      <a:srgbClr val="FF0000"/>
                    </a:solidFill>
                    <a:latin typeface="Times New Roman" panose="02020603050405020304" pitchFamily="18" charset="0"/>
                  </a:rPr>
                  <a:t>5</a:t>
                </a:r>
                <a:r>
                  <a:rPr lang="en-US" altLang="zh-CN" sz="2400" b="1">
                    <a:latin typeface="Times New Roman" panose="02020603050405020304" pitchFamily="18" charset="0"/>
                  </a:rPr>
                  <a:t>     8     4    0.5</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a:t>
                </a:r>
                <a:r>
                  <a:rPr lang="en-US" altLang="zh-CN" sz="2400" b="1">
                    <a:solidFill>
                      <a:srgbClr val="FF0000"/>
                    </a:solidFill>
                    <a:latin typeface="Times New Roman" panose="02020603050405020304" pitchFamily="18" charset="0"/>
                  </a:rPr>
                  <a:t>3</a:t>
                </a:r>
                <a:r>
                  <a:rPr lang="en-US" altLang="zh-CN" sz="2400" b="1">
                    <a:latin typeface="Times New Roman" panose="02020603050405020304" pitchFamily="18" charset="0"/>
                  </a:rPr>
                  <a:t>     8     </a:t>
                </a:r>
                <a:r>
                  <a:rPr lang="en-US" altLang="zh-CN" sz="2400" b="1">
                    <a:solidFill>
                      <a:srgbClr val="0070C0"/>
                    </a:solidFill>
                    <a:latin typeface="Times New Roman" panose="02020603050405020304" pitchFamily="18" charset="0"/>
                  </a:rPr>
                  <a:t>3     1</a:t>
                </a:r>
                <a:r>
                  <a:rPr lang="en-US" altLang="zh-CN" sz="2400" b="1">
                    <a:latin typeface="Times New Roman" panose="02020603050405020304" pitchFamily="18" charset="0"/>
                  </a:rPr>
                  <a:t>   -0.5   </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6     9     6    0.5</a:t>
                </a:r>
                <a:endParaRPr lang="en-US" altLang="zh-CN" sz="2400" b="1">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sym typeface="Symbol" panose="05050102010706020507" pitchFamily="18" charset="2"/>
                  </a:rPr>
                  <a:t></a:t>
                </a:r>
                <a:r>
                  <a:rPr lang="en-US" altLang="zh-CN" sz="2400" b="1">
                    <a:latin typeface="Times New Roman" panose="02020603050405020304" pitchFamily="18" charset="0"/>
                    <a:sym typeface="Symbol" panose="05050102010706020507" pitchFamily="18" charset="2"/>
                  </a:rPr>
                  <a:t>  3.5  4.5  3.5  1.5</a:t>
                </a:r>
                <a:endParaRPr lang="en-US" altLang="zh-CN" sz="2400" b="1">
                  <a:latin typeface="Times New Roman" panose="02020603050405020304" pitchFamily="18" charset="0"/>
                  <a:sym typeface="Symbol" panose="05050102010706020507" pitchFamily="18" charset="2"/>
                </a:endParaRPr>
              </a:p>
              <a:p>
                <a:pPr algn="just" eaLnBrk="1" hangingPunct="1">
                  <a:spcBef>
                    <a:spcPct val="0"/>
                  </a:spcBef>
                  <a:buFontTx/>
                  <a:buNone/>
                </a:pPr>
                <a:r>
                  <a:rPr lang="en-US" altLang="zh-CN" sz="2400" b="1" i="1">
                    <a:latin typeface="Times New Roman" panose="02020603050405020304" pitchFamily="18" charset="0"/>
                  </a:rPr>
                  <a:t>s</a:t>
                </a:r>
                <a:r>
                  <a:rPr lang="en-US" altLang="zh-CN" sz="2400" b="1">
                    <a:latin typeface="Times New Roman" panose="02020603050405020304" pitchFamily="18" charset="0"/>
                  </a:rPr>
                  <a:t>    5     </a:t>
                </a:r>
                <a:r>
                  <a:rPr lang="en-US" altLang="zh-CN" sz="2400" b="1">
                    <a:solidFill>
                      <a:srgbClr val="0070C0"/>
                    </a:solidFill>
                    <a:latin typeface="Times New Roman" panose="02020603050405020304" pitchFamily="18" charset="0"/>
                  </a:rPr>
                  <a:t>1     </a:t>
                </a:r>
                <a:r>
                  <a:rPr lang="en-US" altLang="zh-CN" sz="2400" b="1">
                    <a:latin typeface="Times New Roman" panose="02020603050405020304" pitchFamily="18" charset="0"/>
                  </a:rPr>
                  <a:t>5</a:t>
                </a:r>
                <a:r>
                  <a:rPr lang="en-US" altLang="zh-CN" sz="2400" b="1">
                    <a:solidFill>
                      <a:srgbClr val="0070C0"/>
                    </a:solidFill>
                    <a:latin typeface="Times New Roman" panose="02020603050405020304" pitchFamily="18" charset="0"/>
                  </a:rPr>
                  <a:t> </a:t>
                </a:r>
                <a:r>
                  <a:rPr lang="en-US" altLang="zh-CN" sz="2400" b="1">
                    <a:latin typeface="Times New Roman" panose="02020603050405020304" pitchFamily="18" charset="0"/>
                  </a:rPr>
                  <a:t>     4</a:t>
                </a:r>
                <a:endParaRPr lang="en-US" altLang="zh-CN" sz="2400" b="1">
                  <a:solidFill>
                    <a:srgbClr val="0070C0"/>
                  </a:solidFill>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rPr>
                  <a:t>h</a:t>
                </a:r>
                <a:endParaRPr lang="en-US" altLang="zh-CN" sz="2400" b="1" i="1">
                  <a:latin typeface="Times New Roman" panose="02020603050405020304" pitchFamily="18" charset="0"/>
                </a:endParaRPr>
              </a:p>
            </p:txBody>
          </p:sp>
          <p:sp>
            <p:nvSpPr>
              <p:cNvPr id="100378" name="Text Box 32"/>
              <p:cNvSpPr txBox="1">
                <a:spLocks noChangeArrowheads="1"/>
              </p:cNvSpPr>
              <p:nvPr/>
            </p:nvSpPr>
            <p:spPr bwMode="auto">
              <a:xfrm>
                <a:off x="5867011" y="6072206"/>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sp>
            <p:nvSpPr>
              <p:cNvPr id="100379" name="Text Box 32"/>
              <p:cNvSpPr txBox="1">
                <a:spLocks noChangeArrowheads="1"/>
              </p:cNvSpPr>
              <p:nvPr/>
            </p:nvSpPr>
            <p:spPr bwMode="auto">
              <a:xfrm>
                <a:off x="4210817" y="6072206"/>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sp>
            <p:nvSpPr>
              <p:cNvPr id="100380" name="Text Box 32"/>
              <p:cNvSpPr txBox="1">
                <a:spLocks noChangeArrowheads="1"/>
              </p:cNvSpPr>
              <p:nvPr/>
            </p:nvSpPr>
            <p:spPr bwMode="auto">
              <a:xfrm>
                <a:off x="4786884" y="6072206"/>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sp>
            <p:nvSpPr>
              <p:cNvPr id="100381" name="Text Box 32"/>
              <p:cNvSpPr txBox="1">
                <a:spLocks noChangeArrowheads="1"/>
              </p:cNvSpPr>
              <p:nvPr/>
            </p:nvSpPr>
            <p:spPr bwMode="auto">
              <a:xfrm>
                <a:off x="5290943" y="6072206"/>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grpSp>
        <p:grpSp>
          <p:nvGrpSpPr>
            <p:cNvPr id="100359" name="组合 54"/>
            <p:cNvGrpSpPr/>
            <p:nvPr/>
          </p:nvGrpSpPr>
          <p:grpSpPr bwMode="auto">
            <a:xfrm>
              <a:off x="6897688" y="3357563"/>
              <a:ext cx="1055687" cy="2000250"/>
              <a:chOff x="6897688" y="3357563"/>
              <a:chExt cx="1055687" cy="2000250"/>
            </a:xfrm>
          </p:grpSpPr>
          <p:sp>
            <p:nvSpPr>
              <p:cNvPr id="100360" name="Text Box 26"/>
              <p:cNvSpPr txBox="1">
                <a:spLocks noChangeArrowheads="1"/>
              </p:cNvSpPr>
              <p:nvPr/>
            </p:nvSpPr>
            <p:spPr bwMode="auto">
              <a:xfrm>
                <a:off x="7112006" y="3357563"/>
                <a:ext cx="269466" cy="206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endParaRPr lang="zh-CN" altLang="zh-CN" sz="2000" b="1">
                  <a:latin typeface="Arial" panose="020B0604020202020204" pitchFamily="34" charset="0"/>
                </a:endParaRPr>
              </a:p>
            </p:txBody>
          </p:sp>
          <p:sp>
            <p:nvSpPr>
              <p:cNvPr id="100361" name="Oval 13"/>
              <p:cNvSpPr>
                <a:spLocks noChangeArrowheads="1"/>
              </p:cNvSpPr>
              <p:nvPr/>
            </p:nvSpPr>
            <p:spPr bwMode="auto">
              <a:xfrm>
                <a:off x="7218927" y="3714803"/>
                <a:ext cx="103190"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0362" name="Oval 14"/>
              <p:cNvSpPr>
                <a:spLocks noChangeArrowheads="1"/>
              </p:cNvSpPr>
              <p:nvPr/>
            </p:nvSpPr>
            <p:spPr bwMode="auto">
              <a:xfrm>
                <a:off x="7227998" y="4159852"/>
                <a:ext cx="103190"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0363" name="Oval 15"/>
              <p:cNvSpPr>
                <a:spLocks noChangeArrowheads="1"/>
              </p:cNvSpPr>
              <p:nvPr/>
            </p:nvSpPr>
            <p:spPr bwMode="auto">
              <a:xfrm>
                <a:off x="7227998" y="4578723"/>
                <a:ext cx="103190"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0364" name="Oval 16"/>
              <p:cNvSpPr>
                <a:spLocks noChangeArrowheads="1"/>
              </p:cNvSpPr>
              <p:nvPr/>
            </p:nvSpPr>
            <p:spPr bwMode="auto">
              <a:xfrm>
                <a:off x="7237070" y="5023772"/>
                <a:ext cx="103190"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0365" name="Oval 17"/>
              <p:cNvSpPr>
                <a:spLocks noChangeArrowheads="1"/>
              </p:cNvSpPr>
              <p:nvPr/>
            </p:nvSpPr>
            <p:spPr bwMode="auto">
              <a:xfrm>
                <a:off x="7826726" y="3727893"/>
                <a:ext cx="103190"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0366" name="Oval 18"/>
              <p:cNvSpPr>
                <a:spLocks noChangeArrowheads="1"/>
              </p:cNvSpPr>
              <p:nvPr/>
            </p:nvSpPr>
            <p:spPr bwMode="auto">
              <a:xfrm>
                <a:off x="7835798" y="4172941"/>
                <a:ext cx="103190"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0367" name="Oval 19"/>
              <p:cNvSpPr>
                <a:spLocks noChangeArrowheads="1"/>
              </p:cNvSpPr>
              <p:nvPr/>
            </p:nvSpPr>
            <p:spPr bwMode="auto">
              <a:xfrm>
                <a:off x="7835798" y="4591812"/>
                <a:ext cx="103190"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0368" name="Oval 20"/>
              <p:cNvSpPr>
                <a:spLocks noChangeArrowheads="1"/>
              </p:cNvSpPr>
              <p:nvPr/>
            </p:nvSpPr>
            <p:spPr bwMode="auto">
              <a:xfrm>
                <a:off x="7844869" y="5036861"/>
                <a:ext cx="103190"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100369" name="AutoShape 21"/>
              <p:cNvCxnSpPr>
                <a:cxnSpLocks noChangeShapeType="1"/>
              </p:cNvCxnSpPr>
              <p:nvPr/>
            </p:nvCxnSpPr>
            <p:spPr bwMode="auto">
              <a:xfrm>
                <a:off x="7322118" y="3830973"/>
                <a:ext cx="522752" cy="341968"/>
              </a:xfrm>
              <a:prstGeom prst="straightConnector1">
                <a:avLst/>
              </a:prstGeom>
              <a:noFill/>
              <a:ln w="19050">
                <a:solidFill>
                  <a:schemeClr val="tx1"/>
                </a:solidFill>
                <a:round/>
              </a:ln>
              <a:extLst>
                <a:ext uri="{909E8E84-426E-40DD-AFC4-6F175D3DCCD1}">
                  <a14:hiddenFill xmlns:a14="http://schemas.microsoft.com/office/drawing/2010/main">
                    <a:noFill/>
                  </a14:hiddenFill>
                </a:ext>
              </a:extLst>
            </p:spPr>
          </p:cxnSp>
          <p:cxnSp>
            <p:nvCxnSpPr>
              <p:cNvPr id="100370" name="AutoShape 22"/>
              <p:cNvCxnSpPr>
                <a:cxnSpLocks noChangeShapeType="1"/>
              </p:cNvCxnSpPr>
              <p:nvPr/>
            </p:nvCxnSpPr>
            <p:spPr bwMode="auto">
              <a:xfrm>
                <a:off x="7322118" y="3844063"/>
                <a:ext cx="522752" cy="749385"/>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100371" name="AutoShape 23"/>
              <p:cNvCxnSpPr>
                <a:cxnSpLocks noChangeShapeType="1"/>
              </p:cNvCxnSpPr>
              <p:nvPr/>
            </p:nvCxnSpPr>
            <p:spPr bwMode="auto">
              <a:xfrm flipV="1">
                <a:off x="7322118" y="3844063"/>
                <a:ext cx="522752" cy="749385"/>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100372" name="AutoShape 24"/>
              <p:cNvCxnSpPr>
                <a:cxnSpLocks noChangeShapeType="1"/>
              </p:cNvCxnSpPr>
              <p:nvPr/>
            </p:nvCxnSpPr>
            <p:spPr bwMode="auto">
              <a:xfrm>
                <a:off x="7340261" y="4632717"/>
                <a:ext cx="495537" cy="0"/>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cxnSp>
            <p:nvCxnSpPr>
              <p:cNvPr id="100373" name="AutoShape 25"/>
              <p:cNvCxnSpPr>
                <a:cxnSpLocks noChangeShapeType="1"/>
              </p:cNvCxnSpPr>
              <p:nvPr/>
            </p:nvCxnSpPr>
            <p:spPr bwMode="auto">
              <a:xfrm>
                <a:off x="7331188" y="4694893"/>
                <a:ext cx="513680" cy="341968"/>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sp>
            <p:nvSpPr>
              <p:cNvPr id="100374" name="Text Box 26"/>
              <p:cNvSpPr txBox="1">
                <a:spLocks noChangeArrowheads="1"/>
              </p:cNvSpPr>
              <p:nvPr/>
            </p:nvSpPr>
            <p:spPr bwMode="auto">
              <a:xfrm>
                <a:off x="7683909" y="3357563"/>
                <a:ext cx="269466" cy="206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B</a:t>
                </a:r>
                <a:endParaRPr lang="zh-CN" altLang="zh-CN" sz="2000" b="1">
                  <a:latin typeface="Arial" panose="020B0604020202020204" pitchFamily="34" charset="0"/>
                </a:endParaRPr>
              </a:p>
            </p:txBody>
          </p:sp>
          <p:sp>
            <p:nvSpPr>
              <p:cNvPr id="100375" name="Text Box 29"/>
              <p:cNvSpPr txBox="1">
                <a:spLocks noChangeArrowheads="1"/>
              </p:cNvSpPr>
              <p:nvPr/>
            </p:nvSpPr>
            <p:spPr bwMode="auto">
              <a:xfrm>
                <a:off x="6897688" y="5010149"/>
                <a:ext cx="428625" cy="34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a:solidFill>
                      <a:srgbClr val="0070C0"/>
                    </a:solidFill>
                    <a:latin typeface="Times New Roman" panose="02020603050405020304" pitchFamily="18" charset="0"/>
                  </a:rPr>
                  <a:t>0</a:t>
                </a:r>
                <a:endParaRPr lang="zh-CN" altLang="zh-CN" sz="2000" b="1">
                  <a:solidFill>
                    <a:srgbClr val="0070C0"/>
                  </a:solidFill>
                  <a:latin typeface="Arial" panose="020B0604020202020204" pitchFamily="34" charset="0"/>
                </a:endParaRPr>
              </a:p>
            </p:txBody>
          </p:sp>
          <p:cxnSp>
            <p:nvCxnSpPr>
              <p:cNvPr id="58" name="直接连接符 57"/>
              <p:cNvCxnSpPr>
                <a:stCxn id="100362" idx="6"/>
                <a:endCxn id="100366" idx="2"/>
              </p:cNvCxnSpPr>
              <p:nvPr/>
            </p:nvCxnSpPr>
            <p:spPr bwMode="auto">
              <a:xfrm>
                <a:off x="7331172" y="4218504"/>
                <a:ext cx="504747" cy="12700"/>
              </a:xfrm>
              <a:prstGeom prst="line">
                <a:avLst/>
              </a:prstGeom>
              <a:ln w="19050">
                <a:solidFill>
                  <a:srgbClr val="FF0000"/>
                </a:solidFill>
                <a:prstDash val="solid"/>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0A3E1F5C-5AF7-4B69-9F91-997AAF926694}" type="slidenum">
              <a:rPr lang="zh-CN" altLang="en-US" sz="1200" smtClean="0">
                <a:solidFill>
                  <a:srgbClr val="898989"/>
                </a:solidFill>
              </a:rPr>
            </a:fld>
            <a:endParaRPr lang="zh-CN" altLang="en-US" sz="1200" smtClean="0">
              <a:solidFill>
                <a:srgbClr val="898989"/>
              </a:solidFill>
            </a:endParaRPr>
          </a:p>
        </p:txBody>
      </p:sp>
      <p:sp>
        <p:nvSpPr>
          <p:cNvPr id="101379" name="标题 1"/>
          <p:cNvSpPr>
            <a:spLocks noGrp="1"/>
          </p:cNvSpPr>
          <p:nvPr>
            <p:ph type="title"/>
          </p:nvPr>
        </p:nvSpPr>
        <p:spPr>
          <a:xfrm>
            <a:off x="6724650" y="887203"/>
            <a:ext cx="1574800" cy="939800"/>
          </a:xfrm>
        </p:spPr>
        <p:txBody>
          <a:bodyPr/>
          <a:lstStyle/>
          <a:p>
            <a:pPr algn="l"/>
            <a:r>
              <a:rPr lang="zh-CN" altLang="en-US" sz="3200" b="1" dirty="0" smtClean="0">
                <a:solidFill>
                  <a:srgbClr val="C00000"/>
                </a:solidFill>
                <a:latin typeface="Times New Roman" panose="02020603050405020304" pitchFamily="18" charset="0"/>
                <a:cs typeface="Times New Roman" panose="02020603050405020304" pitchFamily="18" charset="0"/>
              </a:rPr>
              <a:t>例</a:t>
            </a:r>
            <a:r>
              <a:rPr lang="en-US" altLang="zh-CN" sz="3200" b="1" dirty="0" smtClean="0">
                <a:solidFill>
                  <a:srgbClr val="C00000"/>
                </a:solidFill>
                <a:latin typeface="Times New Roman" panose="02020603050405020304" pitchFamily="18" charset="0"/>
                <a:cs typeface="Times New Roman" panose="02020603050405020304" pitchFamily="18" charset="0"/>
              </a:rPr>
              <a:t>7.6</a:t>
            </a:r>
            <a:br>
              <a:rPr lang="en-US" altLang="zh-CN" sz="3200" b="1" dirty="0" smtClean="0">
                <a:solidFill>
                  <a:srgbClr val="C00000"/>
                </a:solidFill>
                <a:latin typeface="Times New Roman" panose="02020603050405020304" pitchFamily="18" charset="0"/>
                <a:cs typeface="Times New Roman" panose="02020603050405020304" pitchFamily="18" charset="0"/>
              </a:rPr>
            </a:br>
            <a:r>
              <a:rPr lang="en-US" altLang="zh-CN" sz="3200" b="1" dirty="0" smtClean="0">
                <a:solidFill>
                  <a:srgbClr val="C00000"/>
                </a:solidFill>
                <a:latin typeface="Times New Roman" panose="02020603050405020304" pitchFamily="18" charset="0"/>
                <a:cs typeface="Times New Roman" panose="02020603050405020304" pitchFamily="18" charset="0"/>
              </a:rPr>
              <a:t>(</a:t>
            </a:r>
            <a:r>
              <a:rPr lang="zh-CN" altLang="en-US" sz="3200" b="1" dirty="0" smtClean="0">
                <a:solidFill>
                  <a:srgbClr val="C00000"/>
                </a:solidFill>
                <a:latin typeface="Times New Roman" panose="02020603050405020304" pitchFamily="18" charset="0"/>
                <a:cs typeface="Times New Roman" panose="02020603050405020304" pitchFamily="18" charset="0"/>
              </a:rPr>
              <a:t>续</a:t>
            </a:r>
            <a:r>
              <a:rPr lang="en-US" altLang="zh-CN" sz="3200" b="1" dirty="0" smtClean="0">
                <a:solidFill>
                  <a:srgbClr val="C00000"/>
                </a:solidFill>
                <a:latin typeface="Times New Roman" panose="02020603050405020304" pitchFamily="18" charset="0"/>
                <a:cs typeface="Times New Roman" panose="02020603050405020304" pitchFamily="18" charset="0"/>
              </a:rPr>
              <a:t>)</a:t>
            </a:r>
            <a:endParaRPr lang="zh-CN" altLang="en-US" sz="3200" b="1" dirty="0" smtClean="0">
              <a:solidFill>
                <a:srgbClr val="C00000"/>
              </a:solidFill>
              <a:latin typeface="Times New Roman" panose="02020603050405020304" pitchFamily="18" charset="0"/>
              <a:cs typeface="Times New Roman" panose="02020603050405020304" pitchFamily="18" charset="0"/>
            </a:endParaRPr>
          </a:p>
        </p:txBody>
      </p:sp>
      <p:grpSp>
        <p:nvGrpSpPr>
          <p:cNvPr id="2" name="组合 60"/>
          <p:cNvGrpSpPr/>
          <p:nvPr/>
        </p:nvGrpSpPr>
        <p:grpSpPr bwMode="auto">
          <a:xfrm>
            <a:off x="3714750" y="3214688"/>
            <a:ext cx="4643438" cy="3000375"/>
            <a:chOff x="3714750" y="3214688"/>
            <a:chExt cx="4643438" cy="3000375"/>
          </a:xfrm>
        </p:grpSpPr>
        <p:grpSp>
          <p:nvGrpSpPr>
            <p:cNvPr id="101407" name="组合 88"/>
            <p:cNvGrpSpPr/>
            <p:nvPr/>
          </p:nvGrpSpPr>
          <p:grpSpPr bwMode="auto">
            <a:xfrm>
              <a:off x="3714750" y="3214688"/>
              <a:ext cx="3032125" cy="3000375"/>
              <a:chOff x="4000496" y="3357579"/>
              <a:chExt cx="3032144" cy="3000379"/>
            </a:xfrm>
          </p:grpSpPr>
          <p:sp>
            <p:nvSpPr>
              <p:cNvPr id="101429" name="Text Box 7"/>
              <p:cNvSpPr txBox="1">
                <a:spLocks noChangeArrowheads="1"/>
              </p:cNvSpPr>
              <p:nvPr/>
            </p:nvSpPr>
            <p:spPr bwMode="auto">
              <a:xfrm>
                <a:off x="4000496" y="3357579"/>
                <a:ext cx="3032144" cy="3000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2400" b="1">
                    <a:latin typeface="Times New Roman" panose="02020603050405020304" pitchFamily="18" charset="0"/>
                  </a:rPr>
                  <a:t>              *                 </a:t>
                </a:r>
                <a:r>
                  <a:rPr lang="en-US" altLang="zh-CN" sz="2400" b="1" i="1">
                    <a:latin typeface="Times New Roman" panose="02020603050405020304" pitchFamily="18" charset="0"/>
                    <a:sym typeface="Symbol" panose="05050102010706020507" pitchFamily="18" charset="2"/>
                  </a:rPr>
                  <a:t></a:t>
                </a:r>
                <a:endParaRPr lang="en-US" altLang="zh-CN" sz="2400" b="1" i="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a:t>
                </a:r>
                <a:r>
                  <a:rPr lang="en-US" altLang="zh-CN" sz="2400" b="1">
                    <a:solidFill>
                      <a:srgbClr val="0070C0"/>
                    </a:solidFill>
                    <a:latin typeface="Times New Roman" panose="02020603050405020304" pitchFamily="18" charset="0"/>
                  </a:rPr>
                  <a:t> 4     </a:t>
                </a:r>
                <a:r>
                  <a:rPr lang="en-US" altLang="zh-CN" sz="2400" b="1">
                    <a:solidFill>
                      <a:srgbClr val="FF0000"/>
                    </a:solidFill>
                    <a:latin typeface="Times New Roman" panose="02020603050405020304" pitchFamily="18" charset="0"/>
                  </a:rPr>
                  <a:t>3</a:t>
                </a:r>
                <a:r>
                  <a:rPr lang="en-US" altLang="zh-CN" sz="2400" b="1">
                    <a:latin typeface="Times New Roman" panose="02020603050405020304" pitchFamily="18" charset="0"/>
                  </a:rPr>
                  <a:t>     9   -1</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8     </a:t>
                </a:r>
                <a:r>
                  <a:rPr lang="en-US" altLang="zh-CN" sz="2400" b="1">
                    <a:solidFill>
                      <a:srgbClr val="FF0000"/>
                    </a:solidFill>
                    <a:latin typeface="Times New Roman" panose="02020603050405020304" pitchFamily="18" charset="0"/>
                  </a:rPr>
                  <a:t>5</a:t>
                </a:r>
                <a:r>
                  <a:rPr lang="en-US" altLang="zh-CN" sz="2400" b="1">
                    <a:latin typeface="Times New Roman" panose="02020603050405020304" pitchFamily="18" charset="0"/>
                  </a:rPr>
                  <a:t>     8     4    0</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a:t>
                </a:r>
                <a:r>
                  <a:rPr lang="en-US" altLang="zh-CN" sz="2400" b="1">
                    <a:solidFill>
                      <a:srgbClr val="FF0000"/>
                    </a:solidFill>
                    <a:latin typeface="Times New Roman" panose="02020603050405020304" pitchFamily="18" charset="0"/>
                  </a:rPr>
                  <a:t>3</a:t>
                </a:r>
                <a:r>
                  <a:rPr lang="en-US" altLang="zh-CN" sz="2400" b="1">
                    <a:latin typeface="Times New Roman" panose="02020603050405020304" pitchFamily="18" charset="0"/>
                  </a:rPr>
                  <a:t>     8     </a:t>
                </a:r>
                <a:r>
                  <a:rPr lang="en-US" altLang="zh-CN" sz="2400" b="1">
                    <a:solidFill>
                      <a:srgbClr val="0070C0"/>
                    </a:solidFill>
                    <a:latin typeface="Times New Roman" panose="02020603050405020304" pitchFamily="18" charset="0"/>
                  </a:rPr>
                  <a:t>3     1</a:t>
                </a:r>
                <a:r>
                  <a:rPr lang="en-US" altLang="zh-CN" sz="2400" b="1">
                    <a:latin typeface="Times New Roman" panose="02020603050405020304" pitchFamily="18" charset="0"/>
                  </a:rPr>
                  <a:t>   -1   </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a:t>
                </a:r>
                <a:r>
                  <a:rPr lang="en-US" altLang="zh-CN" sz="2400" b="1">
                    <a:solidFill>
                      <a:srgbClr val="0070C0"/>
                    </a:solidFill>
                    <a:latin typeface="Times New Roman" panose="02020603050405020304" pitchFamily="18" charset="0"/>
                  </a:rPr>
                  <a:t>6</a:t>
                </a:r>
                <a:r>
                  <a:rPr lang="en-US" altLang="zh-CN" sz="2400" b="1">
                    <a:latin typeface="Times New Roman" panose="02020603050405020304" pitchFamily="18" charset="0"/>
                  </a:rPr>
                  <a:t>     9     6    1</a:t>
                </a:r>
                <a:endParaRPr lang="en-US" altLang="zh-CN" sz="2400" b="1">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sym typeface="Symbol" panose="05050102010706020507" pitchFamily="18" charset="2"/>
                  </a:rPr>
                  <a:t></a:t>
                </a:r>
                <a:r>
                  <a:rPr lang="en-US" altLang="zh-CN" sz="2400" b="1">
                    <a:latin typeface="Times New Roman" panose="02020603050405020304" pitchFamily="18" charset="0"/>
                    <a:sym typeface="Symbol" panose="05050102010706020507" pitchFamily="18" charset="2"/>
                  </a:rPr>
                  <a:t>    4     5     4     2</a:t>
                </a:r>
                <a:endParaRPr lang="en-US" altLang="zh-CN" sz="2400" b="1">
                  <a:latin typeface="Times New Roman" panose="02020603050405020304" pitchFamily="18" charset="0"/>
                  <a:sym typeface="Symbol" panose="05050102010706020507" pitchFamily="18" charset="2"/>
                </a:endParaRPr>
              </a:p>
              <a:p>
                <a:pPr algn="just" eaLnBrk="1" hangingPunct="1">
                  <a:spcBef>
                    <a:spcPct val="0"/>
                  </a:spcBef>
                  <a:buFontTx/>
                  <a:buNone/>
                </a:pPr>
                <a:r>
                  <a:rPr lang="en-US" altLang="zh-CN" sz="2400" b="1" i="1">
                    <a:latin typeface="Times New Roman" panose="02020603050405020304" pitchFamily="18" charset="0"/>
                  </a:rPr>
                  <a:t>s</a:t>
                </a:r>
                <a:r>
                  <a:rPr lang="en-US" altLang="zh-CN" sz="2400" b="1">
                    <a:latin typeface="Times New Roman" panose="02020603050405020304" pitchFamily="18" charset="0"/>
                  </a:rPr>
                  <a:t>    4     </a:t>
                </a:r>
                <a:r>
                  <a:rPr lang="en-US" altLang="zh-CN" sz="2400" b="1">
                    <a:solidFill>
                      <a:srgbClr val="0070C0"/>
                    </a:solidFill>
                    <a:latin typeface="Times New Roman" panose="02020603050405020304" pitchFamily="18" charset="0"/>
                  </a:rPr>
                  <a:t>       </a:t>
                </a:r>
                <a:r>
                  <a:rPr lang="en-US" altLang="zh-CN" sz="2400" b="1">
                    <a:latin typeface="Times New Roman" panose="02020603050405020304" pitchFamily="18" charset="0"/>
                  </a:rPr>
                  <a:t>4</a:t>
                </a:r>
                <a:r>
                  <a:rPr lang="en-US" altLang="zh-CN" sz="2400" b="1">
                    <a:solidFill>
                      <a:srgbClr val="0070C0"/>
                    </a:solidFill>
                    <a:latin typeface="Times New Roman" panose="02020603050405020304" pitchFamily="18" charset="0"/>
                  </a:rPr>
                  <a:t> </a:t>
                </a:r>
                <a:r>
                  <a:rPr lang="en-US" altLang="zh-CN" sz="2400" b="1">
                    <a:latin typeface="Times New Roman" panose="02020603050405020304" pitchFamily="18" charset="0"/>
                  </a:rPr>
                  <a:t>     </a:t>
                </a:r>
                <a:r>
                  <a:rPr lang="en-US" altLang="zh-CN" sz="2400" b="1">
                    <a:solidFill>
                      <a:srgbClr val="0070C0"/>
                    </a:solidFill>
                    <a:latin typeface="Times New Roman" panose="02020603050405020304" pitchFamily="18" charset="0"/>
                  </a:rPr>
                  <a:t>2</a:t>
                </a:r>
                <a:endParaRPr lang="en-US" altLang="zh-CN" sz="2400" b="1">
                  <a:solidFill>
                    <a:srgbClr val="0070C0"/>
                  </a:solidFill>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rPr>
                  <a:t>h</a:t>
                </a:r>
                <a:endParaRPr lang="en-US" altLang="zh-CN" sz="2400" b="1" i="1">
                  <a:latin typeface="Times New Roman" panose="02020603050405020304" pitchFamily="18" charset="0"/>
                </a:endParaRPr>
              </a:p>
            </p:txBody>
          </p:sp>
          <p:sp>
            <p:nvSpPr>
              <p:cNvPr id="101430" name="Text Box 32"/>
              <p:cNvSpPr txBox="1">
                <a:spLocks noChangeArrowheads="1"/>
              </p:cNvSpPr>
              <p:nvPr/>
            </p:nvSpPr>
            <p:spPr bwMode="auto">
              <a:xfrm>
                <a:off x="6000760" y="6072206"/>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101431" name="Text Box 32"/>
              <p:cNvSpPr txBox="1">
                <a:spLocks noChangeArrowheads="1"/>
              </p:cNvSpPr>
              <p:nvPr/>
            </p:nvSpPr>
            <p:spPr bwMode="auto">
              <a:xfrm>
                <a:off x="4397377" y="6072206"/>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101432" name="Text Box 32"/>
              <p:cNvSpPr txBox="1">
                <a:spLocks noChangeArrowheads="1"/>
              </p:cNvSpPr>
              <p:nvPr/>
            </p:nvSpPr>
            <p:spPr bwMode="auto">
              <a:xfrm>
                <a:off x="4897443" y="6072206"/>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endParaRPr lang="zh-CN" altLang="zh-CN" sz="2000" b="1">
                  <a:latin typeface="Arial" panose="020B0604020202020204" pitchFamily="34" charset="0"/>
                </a:endParaRPr>
              </a:p>
            </p:txBody>
          </p:sp>
          <p:sp>
            <p:nvSpPr>
              <p:cNvPr id="101433" name="Text Box 32"/>
              <p:cNvSpPr txBox="1">
                <a:spLocks noChangeArrowheads="1"/>
              </p:cNvSpPr>
              <p:nvPr/>
            </p:nvSpPr>
            <p:spPr bwMode="auto">
              <a:xfrm>
                <a:off x="5468947" y="6072206"/>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grpSp>
        <p:grpSp>
          <p:nvGrpSpPr>
            <p:cNvPr id="101408" name="组合 94"/>
            <p:cNvGrpSpPr/>
            <p:nvPr/>
          </p:nvGrpSpPr>
          <p:grpSpPr bwMode="auto">
            <a:xfrm>
              <a:off x="6826250" y="3429000"/>
              <a:ext cx="1531938" cy="2000250"/>
              <a:chOff x="3825873" y="928707"/>
              <a:chExt cx="1531945" cy="2000244"/>
            </a:xfrm>
          </p:grpSpPr>
          <p:sp>
            <p:nvSpPr>
              <p:cNvPr id="101409" name="Text Box 26"/>
              <p:cNvSpPr txBox="1">
                <a:spLocks noChangeArrowheads="1"/>
              </p:cNvSpPr>
              <p:nvPr/>
            </p:nvSpPr>
            <p:spPr bwMode="auto">
              <a:xfrm>
                <a:off x="4040193" y="928707"/>
                <a:ext cx="269468" cy="206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endParaRPr lang="zh-CN" altLang="zh-CN" sz="2000" b="1">
                  <a:latin typeface="Arial" panose="020B0604020202020204" pitchFamily="34" charset="0"/>
                </a:endParaRPr>
              </a:p>
            </p:txBody>
          </p:sp>
          <p:sp>
            <p:nvSpPr>
              <p:cNvPr id="101410" name="Oval 13"/>
              <p:cNvSpPr>
                <a:spLocks noChangeArrowheads="1"/>
              </p:cNvSpPr>
              <p:nvPr/>
            </p:nvSpPr>
            <p:spPr bwMode="auto">
              <a:xfrm>
                <a:off x="4147114" y="1285946"/>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1411" name="Oval 14"/>
              <p:cNvSpPr>
                <a:spLocks noChangeArrowheads="1"/>
              </p:cNvSpPr>
              <p:nvPr/>
            </p:nvSpPr>
            <p:spPr bwMode="auto">
              <a:xfrm>
                <a:off x="4156186" y="1730994"/>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1412" name="Oval 15"/>
              <p:cNvSpPr>
                <a:spLocks noChangeArrowheads="1"/>
              </p:cNvSpPr>
              <p:nvPr/>
            </p:nvSpPr>
            <p:spPr bwMode="auto">
              <a:xfrm>
                <a:off x="4156186" y="2149863"/>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1413" name="Oval 16"/>
              <p:cNvSpPr>
                <a:spLocks noChangeArrowheads="1"/>
              </p:cNvSpPr>
              <p:nvPr/>
            </p:nvSpPr>
            <p:spPr bwMode="auto">
              <a:xfrm>
                <a:off x="4165258" y="2594911"/>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1414" name="Oval 17"/>
              <p:cNvSpPr>
                <a:spLocks noChangeArrowheads="1"/>
              </p:cNvSpPr>
              <p:nvPr/>
            </p:nvSpPr>
            <p:spPr bwMode="auto">
              <a:xfrm>
                <a:off x="4754918" y="1299036"/>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1415" name="Oval 18"/>
              <p:cNvSpPr>
                <a:spLocks noChangeArrowheads="1"/>
              </p:cNvSpPr>
              <p:nvPr/>
            </p:nvSpPr>
            <p:spPr bwMode="auto">
              <a:xfrm>
                <a:off x="4763990" y="1744083"/>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1416" name="Oval 19"/>
              <p:cNvSpPr>
                <a:spLocks noChangeArrowheads="1"/>
              </p:cNvSpPr>
              <p:nvPr/>
            </p:nvSpPr>
            <p:spPr bwMode="auto">
              <a:xfrm>
                <a:off x="4763990" y="2162952"/>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1417" name="Oval 20"/>
              <p:cNvSpPr>
                <a:spLocks noChangeArrowheads="1"/>
              </p:cNvSpPr>
              <p:nvPr/>
            </p:nvSpPr>
            <p:spPr bwMode="auto">
              <a:xfrm>
                <a:off x="4773061" y="2608000"/>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101418" name="AutoShape 21"/>
              <p:cNvCxnSpPr>
                <a:cxnSpLocks noChangeShapeType="1"/>
              </p:cNvCxnSpPr>
              <p:nvPr/>
            </p:nvCxnSpPr>
            <p:spPr bwMode="auto">
              <a:xfrm>
                <a:off x="4250306" y="1402116"/>
                <a:ext cx="522756" cy="341967"/>
              </a:xfrm>
              <a:prstGeom prst="straightConnector1">
                <a:avLst/>
              </a:prstGeom>
              <a:noFill/>
              <a:ln w="19050">
                <a:solidFill>
                  <a:schemeClr val="tx1"/>
                </a:solidFill>
                <a:round/>
              </a:ln>
              <a:extLst>
                <a:ext uri="{909E8E84-426E-40DD-AFC4-6F175D3DCCD1}">
                  <a14:hiddenFill xmlns:a14="http://schemas.microsoft.com/office/drawing/2010/main">
                    <a:noFill/>
                  </a14:hiddenFill>
                </a:ext>
              </a:extLst>
            </p:spPr>
          </p:cxnSp>
          <p:cxnSp>
            <p:nvCxnSpPr>
              <p:cNvPr id="101419" name="AutoShape 22"/>
              <p:cNvCxnSpPr>
                <a:cxnSpLocks noChangeShapeType="1"/>
              </p:cNvCxnSpPr>
              <p:nvPr/>
            </p:nvCxnSpPr>
            <p:spPr bwMode="auto">
              <a:xfrm>
                <a:off x="4250306" y="1415206"/>
                <a:ext cx="522756" cy="749383"/>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101420" name="AutoShape 23"/>
              <p:cNvCxnSpPr>
                <a:cxnSpLocks noChangeShapeType="1"/>
              </p:cNvCxnSpPr>
              <p:nvPr/>
            </p:nvCxnSpPr>
            <p:spPr bwMode="auto">
              <a:xfrm flipV="1">
                <a:off x="4250306" y="1415206"/>
                <a:ext cx="522756" cy="749383"/>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101421" name="AutoShape 24"/>
              <p:cNvCxnSpPr>
                <a:cxnSpLocks noChangeShapeType="1"/>
              </p:cNvCxnSpPr>
              <p:nvPr/>
            </p:nvCxnSpPr>
            <p:spPr bwMode="auto">
              <a:xfrm>
                <a:off x="4268449" y="2203857"/>
                <a:ext cx="495541" cy="0"/>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cxnSp>
            <p:nvCxnSpPr>
              <p:cNvPr id="101422" name="AutoShape 25"/>
              <p:cNvCxnSpPr>
                <a:cxnSpLocks noChangeShapeType="1"/>
              </p:cNvCxnSpPr>
              <p:nvPr/>
            </p:nvCxnSpPr>
            <p:spPr bwMode="auto">
              <a:xfrm>
                <a:off x="4259376" y="2266033"/>
                <a:ext cx="513684" cy="341967"/>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sp>
            <p:nvSpPr>
              <p:cNvPr id="101423" name="Text Box 26"/>
              <p:cNvSpPr txBox="1">
                <a:spLocks noChangeArrowheads="1"/>
              </p:cNvSpPr>
              <p:nvPr/>
            </p:nvSpPr>
            <p:spPr bwMode="auto">
              <a:xfrm>
                <a:off x="4612100" y="928707"/>
                <a:ext cx="269468" cy="206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B</a:t>
                </a:r>
                <a:endParaRPr lang="zh-CN" altLang="zh-CN" sz="2000" b="1">
                  <a:latin typeface="Arial" panose="020B0604020202020204" pitchFamily="34" charset="0"/>
                </a:endParaRPr>
              </a:p>
            </p:txBody>
          </p:sp>
          <p:sp>
            <p:nvSpPr>
              <p:cNvPr id="101424" name="Text Box 29"/>
              <p:cNvSpPr txBox="1">
                <a:spLocks noChangeArrowheads="1"/>
              </p:cNvSpPr>
              <p:nvPr/>
            </p:nvSpPr>
            <p:spPr bwMode="auto">
              <a:xfrm>
                <a:off x="3825873" y="2581288"/>
                <a:ext cx="428628"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a:solidFill>
                      <a:srgbClr val="0070C0"/>
                    </a:solidFill>
                    <a:latin typeface="Times New Roman" panose="02020603050405020304" pitchFamily="18" charset="0"/>
                  </a:rPr>
                  <a:t>0</a:t>
                </a:r>
                <a:endParaRPr lang="zh-CN" altLang="zh-CN" sz="2000" b="1">
                  <a:solidFill>
                    <a:srgbClr val="0070C0"/>
                  </a:solidFill>
                  <a:latin typeface="Arial" panose="020B0604020202020204" pitchFamily="34" charset="0"/>
                </a:endParaRPr>
              </a:p>
            </p:txBody>
          </p:sp>
          <p:cxnSp>
            <p:nvCxnSpPr>
              <p:cNvPr id="112" name="直接连接符 111"/>
              <p:cNvCxnSpPr>
                <a:stCxn id="101411" idx="6"/>
                <a:endCxn id="101415" idx="2"/>
              </p:cNvCxnSpPr>
              <p:nvPr/>
            </p:nvCxnSpPr>
            <p:spPr>
              <a:xfrm>
                <a:off x="4259263" y="1789129"/>
                <a:ext cx="504827" cy="12700"/>
              </a:xfrm>
              <a:prstGeom prst="line">
                <a:avLst/>
              </a:prstGeom>
              <a:ln w="1905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01426" name="AutoShape 23"/>
              <p:cNvCxnSpPr>
                <a:cxnSpLocks noChangeShapeType="1"/>
                <a:endCxn id="101415" idx="3"/>
              </p:cNvCxnSpPr>
              <p:nvPr/>
            </p:nvCxnSpPr>
            <p:spPr bwMode="auto">
              <a:xfrm rot="5400000" flipH="1" flipV="1">
                <a:off x="4096985" y="1961065"/>
                <a:ext cx="799942" cy="564292"/>
              </a:xfrm>
              <a:prstGeom prst="straightConnector1">
                <a:avLst/>
              </a:prstGeom>
              <a:noFill/>
              <a:ln w="19050">
                <a:solidFill>
                  <a:schemeClr val="tx1"/>
                </a:solidFill>
                <a:round/>
              </a:ln>
              <a:extLst>
                <a:ext uri="{909E8E84-426E-40DD-AFC4-6F175D3DCCD1}">
                  <a14:hiddenFill xmlns:a14="http://schemas.microsoft.com/office/drawing/2010/main">
                    <a:noFill/>
                  </a14:hiddenFill>
                </a:ext>
              </a:extLst>
            </p:spPr>
          </p:cxnSp>
          <p:sp>
            <p:nvSpPr>
              <p:cNvPr id="101427" name="Text Box 29"/>
              <p:cNvSpPr txBox="1">
                <a:spLocks noChangeArrowheads="1"/>
              </p:cNvSpPr>
              <p:nvPr/>
            </p:nvSpPr>
            <p:spPr bwMode="auto">
              <a:xfrm>
                <a:off x="4786314" y="1733556"/>
                <a:ext cx="571504" cy="409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solidFill>
                      <a:srgbClr val="0070C0"/>
                    </a:solidFill>
                    <a:latin typeface="Times New Roman" panose="02020603050405020304" pitchFamily="18" charset="0"/>
                  </a:rPr>
                  <a:t>A</a:t>
                </a:r>
                <a:r>
                  <a:rPr lang="en-US" altLang="zh-CN" sz="2000" b="1" baseline="-25000">
                    <a:solidFill>
                      <a:srgbClr val="0070C0"/>
                    </a:solidFill>
                    <a:latin typeface="Times New Roman" panose="02020603050405020304" pitchFamily="18" charset="0"/>
                  </a:rPr>
                  <a:t>4</a:t>
                </a:r>
                <a:endParaRPr lang="zh-CN" altLang="zh-CN" sz="2000" b="1">
                  <a:solidFill>
                    <a:srgbClr val="0070C0"/>
                  </a:solidFill>
                  <a:latin typeface="Arial" panose="020B0604020202020204" pitchFamily="34" charset="0"/>
                </a:endParaRPr>
              </a:p>
            </p:txBody>
          </p:sp>
          <p:sp>
            <p:nvSpPr>
              <p:cNvPr id="101428" name="Text Box 29"/>
              <p:cNvSpPr txBox="1">
                <a:spLocks noChangeArrowheads="1"/>
              </p:cNvSpPr>
              <p:nvPr/>
            </p:nvSpPr>
            <p:spPr bwMode="auto">
              <a:xfrm>
                <a:off x="3857620" y="1733556"/>
                <a:ext cx="571504" cy="409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solidFill>
                      <a:srgbClr val="0070C0"/>
                    </a:solidFill>
                    <a:latin typeface="Times New Roman" panose="02020603050405020304" pitchFamily="18" charset="0"/>
                  </a:rPr>
                  <a:t>B</a:t>
                </a:r>
                <a:r>
                  <a:rPr lang="en-US" altLang="zh-CN" sz="2000" b="1" baseline="-25000">
                    <a:solidFill>
                      <a:srgbClr val="0070C0"/>
                    </a:solidFill>
                    <a:latin typeface="Times New Roman" panose="02020603050405020304" pitchFamily="18" charset="0"/>
                  </a:rPr>
                  <a:t>2</a:t>
                </a:r>
                <a:endParaRPr lang="zh-CN" altLang="zh-CN" sz="2000" b="1">
                  <a:solidFill>
                    <a:srgbClr val="0070C0"/>
                  </a:solidFill>
                  <a:latin typeface="Arial" panose="020B0604020202020204" pitchFamily="34" charset="0"/>
                </a:endParaRPr>
              </a:p>
            </p:txBody>
          </p:sp>
        </p:grpSp>
      </p:grpSp>
      <p:grpSp>
        <p:nvGrpSpPr>
          <p:cNvPr id="101381" name="组合 59"/>
          <p:cNvGrpSpPr/>
          <p:nvPr/>
        </p:nvGrpSpPr>
        <p:grpSpPr bwMode="auto">
          <a:xfrm>
            <a:off x="714375" y="714375"/>
            <a:ext cx="4167188" cy="3000375"/>
            <a:chOff x="714375" y="714375"/>
            <a:chExt cx="4167190" cy="3000375"/>
          </a:xfrm>
        </p:grpSpPr>
        <p:sp>
          <p:nvSpPr>
            <p:cNvPr id="101382" name="Text Box 26"/>
            <p:cNvSpPr txBox="1">
              <a:spLocks noChangeArrowheads="1"/>
            </p:cNvSpPr>
            <p:nvPr/>
          </p:nvSpPr>
          <p:spPr bwMode="auto">
            <a:xfrm>
              <a:off x="4040194" y="928688"/>
              <a:ext cx="269467" cy="206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endParaRPr lang="zh-CN" altLang="zh-CN" sz="2000" b="1">
                <a:latin typeface="Arial" panose="020B0604020202020204" pitchFamily="34" charset="0"/>
              </a:endParaRPr>
            </a:p>
          </p:txBody>
        </p:sp>
        <p:sp>
          <p:nvSpPr>
            <p:cNvPr id="101383" name="Oval 13"/>
            <p:cNvSpPr>
              <a:spLocks noChangeArrowheads="1"/>
            </p:cNvSpPr>
            <p:nvPr/>
          </p:nvSpPr>
          <p:spPr bwMode="auto">
            <a:xfrm>
              <a:off x="4147115" y="1285928"/>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1384" name="Oval 14"/>
            <p:cNvSpPr>
              <a:spLocks noChangeArrowheads="1"/>
            </p:cNvSpPr>
            <p:nvPr/>
          </p:nvSpPr>
          <p:spPr bwMode="auto">
            <a:xfrm>
              <a:off x="4156186" y="1730977"/>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1385" name="Oval 15"/>
            <p:cNvSpPr>
              <a:spLocks noChangeArrowheads="1"/>
            </p:cNvSpPr>
            <p:nvPr/>
          </p:nvSpPr>
          <p:spPr bwMode="auto">
            <a:xfrm>
              <a:off x="4156186" y="2149848"/>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1386" name="Oval 16"/>
            <p:cNvSpPr>
              <a:spLocks noChangeArrowheads="1"/>
            </p:cNvSpPr>
            <p:nvPr/>
          </p:nvSpPr>
          <p:spPr bwMode="auto">
            <a:xfrm>
              <a:off x="4165258" y="2594897"/>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1387" name="Oval 17"/>
            <p:cNvSpPr>
              <a:spLocks noChangeArrowheads="1"/>
            </p:cNvSpPr>
            <p:nvPr/>
          </p:nvSpPr>
          <p:spPr bwMode="auto">
            <a:xfrm>
              <a:off x="4754916" y="1299018"/>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1388" name="Oval 18"/>
            <p:cNvSpPr>
              <a:spLocks noChangeArrowheads="1"/>
            </p:cNvSpPr>
            <p:nvPr/>
          </p:nvSpPr>
          <p:spPr bwMode="auto">
            <a:xfrm>
              <a:off x="4763988" y="1744066"/>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1389" name="Oval 19"/>
            <p:cNvSpPr>
              <a:spLocks noChangeArrowheads="1"/>
            </p:cNvSpPr>
            <p:nvPr/>
          </p:nvSpPr>
          <p:spPr bwMode="auto">
            <a:xfrm>
              <a:off x="4763988" y="2162937"/>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1390" name="Oval 20"/>
            <p:cNvSpPr>
              <a:spLocks noChangeArrowheads="1"/>
            </p:cNvSpPr>
            <p:nvPr/>
          </p:nvSpPr>
          <p:spPr bwMode="auto">
            <a:xfrm>
              <a:off x="4773059" y="2607986"/>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101391" name="AutoShape 21"/>
            <p:cNvCxnSpPr>
              <a:cxnSpLocks noChangeShapeType="1"/>
            </p:cNvCxnSpPr>
            <p:nvPr/>
          </p:nvCxnSpPr>
          <p:spPr bwMode="auto">
            <a:xfrm>
              <a:off x="4250306" y="1402098"/>
              <a:ext cx="522754" cy="341968"/>
            </a:xfrm>
            <a:prstGeom prst="straightConnector1">
              <a:avLst/>
            </a:prstGeom>
            <a:noFill/>
            <a:ln w="19050">
              <a:solidFill>
                <a:schemeClr val="tx1"/>
              </a:solidFill>
              <a:round/>
            </a:ln>
            <a:extLst>
              <a:ext uri="{909E8E84-426E-40DD-AFC4-6F175D3DCCD1}">
                <a14:hiddenFill xmlns:a14="http://schemas.microsoft.com/office/drawing/2010/main">
                  <a:noFill/>
                </a14:hiddenFill>
              </a:ext>
            </a:extLst>
          </p:spPr>
        </p:cxnSp>
        <p:cxnSp>
          <p:nvCxnSpPr>
            <p:cNvPr id="101392" name="AutoShape 22"/>
            <p:cNvCxnSpPr>
              <a:cxnSpLocks noChangeShapeType="1"/>
            </p:cNvCxnSpPr>
            <p:nvPr/>
          </p:nvCxnSpPr>
          <p:spPr bwMode="auto">
            <a:xfrm>
              <a:off x="4250306" y="1415188"/>
              <a:ext cx="522754" cy="749385"/>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101393" name="AutoShape 23"/>
            <p:cNvCxnSpPr>
              <a:cxnSpLocks noChangeShapeType="1"/>
            </p:cNvCxnSpPr>
            <p:nvPr/>
          </p:nvCxnSpPr>
          <p:spPr bwMode="auto">
            <a:xfrm flipV="1">
              <a:off x="4250306" y="1415188"/>
              <a:ext cx="522754" cy="749385"/>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101394" name="AutoShape 24"/>
            <p:cNvCxnSpPr>
              <a:cxnSpLocks noChangeShapeType="1"/>
            </p:cNvCxnSpPr>
            <p:nvPr/>
          </p:nvCxnSpPr>
          <p:spPr bwMode="auto">
            <a:xfrm>
              <a:off x="4268449" y="2203842"/>
              <a:ext cx="495539" cy="0"/>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cxnSp>
          <p:nvCxnSpPr>
            <p:cNvPr id="101395" name="AutoShape 25"/>
            <p:cNvCxnSpPr>
              <a:cxnSpLocks noChangeShapeType="1"/>
            </p:cNvCxnSpPr>
            <p:nvPr/>
          </p:nvCxnSpPr>
          <p:spPr bwMode="auto">
            <a:xfrm>
              <a:off x="4259376" y="2266018"/>
              <a:ext cx="513682" cy="341968"/>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sp>
          <p:nvSpPr>
            <p:cNvPr id="101396" name="Text Box 26"/>
            <p:cNvSpPr txBox="1">
              <a:spLocks noChangeArrowheads="1"/>
            </p:cNvSpPr>
            <p:nvPr/>
          </p:nvSpPr>
          <p:spPr bwMode="auto">
            <a:xfrm>
              <a:off x="4612098" y="928688"/>
              <a:ext cx="269467" cy="206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B</a:t>
              </a:r>
              <a:endParaRPr lang="zh-CN" altLang="zh-CN" sz="2000" b="1">
                <a:latin typeface="Arial" panose="020B0604020202020204" pitchFamily="34" charset="0"/>
              </a:endParaRPr>
            </a:p>
          </p:txBody>
        </p:sp>
        <p:sp>
          <p:nvSpPr>
            <p:cNvPr id="101397" name="Text Box 29"/>
            <p:cNvSpPr txBox="1">
              <a:spLocks noChangeArrowheads="1"/>
            </p:cNvSpPr>
            <p:nvPr/>
          </p:nvSpPr>
          <p:spPr bwMode="auto">
            <a:xfrm>
              <a:off x="3825875" y="2581274"/>
              <a:ext cx="428626" cy="34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a:solidFill>
                    <a:srgbClr val="0070C0"/>
                  </a:solidFill>
                  <a:latin typeface="Times New Roman" panose="02020603050405020304" pitchFamily="18" charset="0"/>
                </a:rPr>
                <a:t>0</a:t>
              </a:r>
              <a:endParaRPr lang="zh-CN" altLang="zh-CN" sz="2000" b="1">
                <a:solidFill>
                  <a:srgbClr val="0070C0"/>
                </a:solidFill>
                <a:latin typeface="Arial" panose="020B0604020202020204" pitchFamily="34" charset="0"/>
              </a:endParaRPr>
            </a:p>
          </p:txBody>
        </p:sp>
        <p:cxnSp>
          <p:nvCxnSpPr>
            <p:cNvPr id="84" name="直接连接符 83"/>
            <p:cNvCxnSpPr>
              <a:stCxn id="101384" idx="6"/>
              <a:endCxn id="101388" idx="2"/>
            </p:cNvCxnSpPr>
            <p:nvPr/>
          </p:nvCxnSpPr>
          <p:spPr bwMode="auto">
            <a:xfrm>
              <a:off x="4259265" y="1789113"/>
              <a:ext cx="504825" cy="12700"/>
            </a:xfrm>
            <a:prstGeom prst="line">
              <a:avLst/>
            </a:prstGeom>
            <a:ln w="1905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01399" name="AutoShape 23"/>
            <p:cNvCxnSpPr>
              <a:cxnSpLocks noChangeShapeType="1"/>
              <a:endCxn id="101388" idx="3"/>
            </p:cNvCxnSpPr>
            <p:nvPr/>
          </p:nvCxnSpPr>
          <p:spPr bwMode="auto">
            <a:xfrm rot="5400000" flipH="1" flipV="1">
              <a:off x="4096983" y="1961051"/>
              <a:ext cx="799944" cy="564289"/>
            </a:xfrm>
            <a:prstGeom prst="straightConnector1">
              <a:avLst/>
            </a:prstGeom>
            <a:noFill/>
            <a:ln w="19050">
              <a:solidFill>
                <a:srgbClr val="00B050"/>
              </a:solidFill>
              <a:round/>
            </a:ln>
            <a:extLst>
              <a:ext uri="{909E8E84-426E-40DD-AFC4-6F175D3DCCD1}">
                <a14:hiddenFill xmlns:a14="http://schemas.microsoft.com/office/drawing/2010/main">
                  <a:noFill/>
                </a14:hiddenFill>
              </a:ext>
            </a:extLst>
          </p:spPr>
        </p:cxnSp>
        <p:grpSp>
          <p:nvGrpSpPr>
            <p:cNvPr id="101400" name="组合 58"/>
            <p:cNvGrpSpPr/>
            <p:nvPr/>
          </p:nvGrpSpPr>
          <p:grpSpPr bwMode="auto">
            <a:xfrm>
              <a:off x="714375" y="714375"/>
              <a:ext cx="3032125" cy="3000375"/>
              <a:chOff x="714375" y="714375"/>
              <a:chExt cx="3032125" cy="3000375"/>
            </a:xfrm>
          </p:grpSpPr>
          <p:sp>
            <p:nvSpPr>
              <p:cNvPr id="101401" name="Text Box 7"/>
              <p:cNvSpPr txBox="1">
                <a:spLocks noChangeArrowheads="1"/>
              </p:cNvSpPr>
              <p:nvPr/>
            </p:nvSpPr>
            <p:spPr bwMode="auto">
              <a:xfrm>
                <a:off x="714375" y="714375"/>
                <a:ext cx="3032125"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2400" b="1">
                    <a:latin typeface="Times New Roman" panose="02020603050405020304" pitchFamily="18" charset="0"/>
                  </a:rPr>
                  <a:t>                                 </a:t>
                </a:r>
                <a:r>
                  <a:rPr lang="en-US" altLang="zh-CN" sz="2400" b="1" i="1">
                    <a:latin typeface="Times New Roman" panose="02020603050405020304" pitchFamily="18" charset="0"/>
                    <a:sym typeface="Symbol" panose="05050102010706020507" pitchFamily="18" charset="2"/>
                  </a:rPr>
                  <a:t></a:t>
                </a:r>
                <a:endParaRPr lang="en-US" altLang="zh-CN" sz="2400" b="1" i="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a:t>
                </a:r>
                <a:r>
                  <a:rPr lang="en-US" altLang="zh-CN" sz="2400" b="1">
                    <a:solidFill>
                      <a:srgbClr val="0070C0"/>
                    </a:solidFill>
                    <a:latin typeface="Times New Roman" panose="02020603050405020304" pitchFamily="18" charset="0"/>
                  </a:rPr>
                  <a:t> 4     </a:t>
                </a:r>
                <a:r>
                  <a:rPr lang="en-US" altLang="zh-CN" sz="2400" b="1">
                    <a:solidFill>
                      <a:srgbClr val="FF0000"/>
                    </a:solidFill>
                    <a:latin typeface="Times New Roman" panose="02020603050405020304" pitchFamily="18" charset="0"/>
                  </a:rPr>
                  <a:t>3</a:t>
                </a:r>
                <a:r>
                  <a:rPr lang="en-US" altLang="zh-CN" sz="2400" b="1">
                    <a:latin typeface="Times New Roman" panose="02020603050405020304" pitchFamily="18" charset="0"/>
                  </a:rPr>
                  <a:t>     9   -1</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8     </a:t>
                </a:r>
                <a:r>
                  <a:rPr lang="en-US" altLang="zh-CN" sz="2400" b="1">
                    <a:solidFill>
                      <a:srgbClr val="FF0000"/>
                    </a:solidFill>
                    <a:latin typeface="Times New Roman" panose="02020603050405020304" pitchFamily="18" charset="0"/>
                  </a:rPr>
                  <a:t>5</a:t>
                </a:r>
                <a:r>
                  <a:rPr lang="en-US" altLang="zh-CN" sz="2400" b="1">
                    <a:latin typeface="Times New Roman" panose="02020603050405020304" pitchFamily="18" charset="0"/>
                  </a:rPr>
                  <a:t>     8     4    0</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a:t>
                </a:r>
                <a:r>
                  <a:rPr lang="en-US" altLang="zh-CN" sz="2400" b="1">
                    <a:solidFill>
                      <a:srgbClr val="FF0000"/>
                    </a:solidFill>
                    <a:latin typeface="Times New Roman" panose="02020603050405020304" pitchFamily="18" charset="0"/>
                  </a:rPr>
                  <a:t>3</a:t>
                </a:r>
                <a:r>
                  <a:rPr lang="en-US" altLang="zh-CN" sz="2400" b="1">
                    <a:latin typeface="Times New Roman" panose="02020603050405020304" pitchFamily="18" charset="0"/>
                  </a:rPr>
                  <a:t>     8     </a:t>
                </a:r>
                <a:r>
                  <a:rPr lang="en-US" altLang="zh-CN" sz="2400" b="1">
                    <a:solidFill>
                      <a:srgbClr val="0070C0"/>
                    </a:solidFill>
                    <a:latin typeface="Times New Roman" panose="02020603050405020304" pitchFamily="18" charset="0"/>
                  </a:rPr>
                  <a:t>3     1</a:t>
                </a:r>
                <a:r>
                  <a:rPr lang="en-US" altLang="zh-CN" sz="2400" b="1">
                    <a:latin typeface="Times New Roman" panose="02020603050405020304" pitchFamily="18" charset="0"/>
                  </a:rPr>
                  <a:t>   -1   </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a:t>
                </a:r>
                <a:r>
                  <a:rPr lang="en-US" altLang="zh-CN" sz="2400" b="1">
                    <a:solidFill>
                      <a:srgbClr val="00B050"/>
                    </a:solidFill>
                    <a:latin typeface="Times New Roman" panose="02020603050405020304" pitchFamily="18" charset="0"/>
                  </a:rPr>
                  <a:t>6</a:t>
                </a:r>
                <a:r>
                  <a:rPr lang="en-US" altLang="zh-CN" sz="2400" b="1">
                    <a:latin typeface="Times New Roman" panose="02020603050405020304" pitchFamily="18" charset="0"/>
                  </a:rPr>
                  <a:t>     9     6    1</a:t>
                </a:r>
                <a:endParaRPr lang="en-US" altLang="zh-CN" sz="2400" b="1">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sym typeface="Symbol" panose="05050102010706020507" pitchFamily="18" charset="2"/>
                  </a:rPr>
                  <a:t></a:t>
                </a:r>
                <a:r>
                  <a:rPr lang="en-US" altLang="zh-CN" sz="2400" b="1">
                    <a:latin typeface="Times New Roman" panose="02020603050405020304" pitchFamily="18" charset="0"/>
                    <a:sym typeface="Symbol" panose="05050102010706020507" pitchFamily="18" charset="2"/>
                  </a:rPr>
                  <a:t>    4     5     4     2</a:t>
                </a:r>
                <a:endParaRPr lang="en-US" altLang="zh-CN" sz="2400" b="1">
                  <a:latin typeface="Times New Roman" panose="02020603050405020304" pitchFamily="18" charset="0"/>
                  <a:sym typeface="Symbol" panose="05050102010706020507" pitchFamily="18" charset="2"/>
                </a:endParaRPr>
              </a:p>
              <a:p>
                <a:pPr algn="just" eaLnBrk="1" hangingPunct="1">
                  <a:spcBef>
                    <a:spcPct val="0"/>
                  </a:spcBef>
                  <a:buFontTx/>
                  <a:buNone/>
                </a:pPr>
                <a:r>
                  <a:rPr lang="en-US" altLang="zh-CN" sz="2400" b="1" i="1">
                    <a:latin typeface="Times New Roman" panose="02020603050405020304" pitchFamily="18" charset="0"/>
                  </a:rPr>
                  <a:t>s</a:t>
                </a:r>
                <a:r>
                  <a:rPr lang="en-US" altLang="zh-CN" sz="2400" b="1">
                    <a:latin typeface="Times New Roman" panose="02020603050405020304" pitchFamily="18" charset="0"/>
                  </a:rPr>
                  <a:t>    4     0</a:t>
                </a:r>
                <a:r>
                  <a:rPr lang="en-US" altLang="zh-CN" sz="2400" b="1">
                    <a:solidFill>
                      <a:srgbClr val="0070C0"/>
                    </a:solidFill>
                    <a:latin typeface="Times New Roman" panose="02020603050405020304" pitchFamily="18" charset="0"/>
                  </a:rPr>
                  <a:t>     </a:t>
                </a:r>
                <a:r>
                  <a:rPr lang="en-US" altLang="zh-CN" sz="2400" b="1">
                    <a:latin typeface="Times New Roman" panose="02020603050405020304" pitchFamily="18" charset="0"/>
                  </a:rPr>
                  <a:t>4</a:t>
                </a:r>
                <a:r>
                  <a:rPr lang="en-US" altLang="zh-CN" sz="2400" b="1">
                    <a:solidFill>
                      <a:srgbClr val="0070C0"/>
                    </a:solidFill>
                    <a:latin typeface="Times New Roman" panose="02020603050405020304" pitchFamily="18" charset="0"/>
                  </a:rPr>
                  <a:t> </a:t>
                </a:r>
                <a:r>
                  <a:rPr lang="en-US" altLang="zh-CN" sz="2400" b="1">
                    <a:latin typeface="Times New Roman" panose="02020603050405020304" pitchFamily="18" charset="0"/>
                  </a:rPr>
                  <a:t>     3</a:t>
                </a:r>
                <a:endParaRPr lang="en-US" altLang="zh-CN" sz="2400" b="1">
                  <a:solidFill>
                    <a:srgbClr val="0070C0"/>
                  </a:solidFill>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rPr>
                  <a:t>h</a:t>
                </a:r>
                <a:endParaRPr lang="en-US" altLang="zh-CN" sz="2400" b="1" i="1">
                  <a:latin typeface="Times New Roman" panose="02020603050405020304" pitchFamily="18" charset="0"/>
                </a:endParaRPr>
              </a:p>
            </p:txBody>
          </p:sp>
          <p:sp>
            <p:nvSpPr>
              <p:cNvPr id="101402" name="Text Box 32"/>
              <p:cNvSpPr txBox="1">
                <a:spLocks noChangeArrowheads="1"/>
              </p:cNvSpPr>
              <p:nvPr/>
            </p:nvSpPr>
            <p:spPr bwMode="auto">
              <a:xfrm>
                <a:off x="2714626" y="3428998"/>
                <a:ext cx="46037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sp>
            <p:nvSpPr>
              <p:cNvPr id="101403" name="Text Box 32"/>
              <p:cNvSpPr txBox="1">
                <a:spLocks noChangeArrowheads="1"/>
              </p:cNvSpPr>
              <p:nvPr/>
            </p:nvSpPr>
            <p:spPr bwMode="auto">
              <a:xfrm>
                <a:off x="1111254" y="3428998"/>
                <a:ext cx="46037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sp>
            <p:nvSpPr>
              <p:cNvPr id="101404" name="Text Box 32"/>
              <p:cNvSpPr txBox="1">
                <a:spLocks noChangeArrowheads="1"/>
              </p:cNvSpPr>
              <p:nvPr/>
            </p:nvSpPr>
            <p:spPr bwMode="auto">
              <a:xfrm>
                <a:off x="1611316" y="3428998"/>
                <a:ext cx="46037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endParaRPr lang="zh-CN" altLang="zh-CN" sz="2000" b="1">
                  <a:latin typeface="Arial" panose="020B0604020202020204" pitchFamily="34" charset="0"/>
                </a:endParaRPr>
              </a:p>
            </p:txBody>
          </p:sp>
          <p:sp>
            <p:nvSpPr>
              <p:cNvPr id="101405" name="Text Box 32"/>
              <p:cNvSpPr txBox="1">
                <a:spLocks noChangeArrowheads="1"/>
              </p:cNvSpPr>
              <p:nvPr/>
            </p:nvSpPr>
            <p:spPr bwMode="auto">
              <a:xfrm>
                <a:off x="2182817" y="3428998"/>
                <a:ext cx="46037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sp>
            <p:nvSpPr>
              <p:cNvPr id="101406" name="Text Box 32"/>
              <p:cNvSpPr txBox="1">
                <a:spLocks noChangeArrowheads="1"/>
              </p:cNvSpPr>
              <p:nvPr/>
            </p:nvSpPr>
            <p:spPr bwMode="auto">
              <a:xfrm>
                <a:off x="1682736" y="3429000"/>
                <a:ext cx="46037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4</a:t>
                </a:r>
                <a:endParaRPr lang="zh-CN" altLang="zh-CN" sz="2000" b="1">
                  <a:latin typeface="Arial" panose="020B0604020202020204" pitchFamily="34"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F208473-675F-4D74-B86C-4AEC6EA72AD2}" type="slidenum">
              <a:rPr lang="zh-CN" altLang="en-US" sz="1200" smtClean="0">
                <a:solidFill>
                  <a:srgbClr val="898989"/>
                </a:solidFill>
              </a:rPr>
            </a:fld>
            <a:endParaRPr lang="zh-CN" altLang="en-US" sz="1200" smtClean="0">
              <a:solidFill>
                <a:srgbClr val="898989"/>
              </a:solidFill>
            </a:endParaRPr>
          </a:p>
        </p:txBody>
      </p:sp>
      <p:sp>
        <p:nvSpPr>
          <p:cNvPr id="102403" name="标题 1"/>
          <p:cNvSpPr>
            <a:spLocks noGrp="1"/>
          </p:cNvSpPr>
          <p:nvPr>
            <p:ph type="title"/>
          </p:nvPr>
        </p:nvSpPr>
        <p:spPr>
          <a:xfrm>
            <a:off x="6948488" y="609600"/>
            <a:ext cx="1104900" cy="1354138"/>
          </a:xfrm>
        </p:spPr>
        <p:txBody>
          <a:bodyPr/>
          <a:lstStyle/>
          <a:p>
            <a:pPr algn="l"/>
            <a:r>
              <a:rPr lang="zh-CN" altLang="en-US" sz="3200" b="1" dirty="0" smtClean="0">
                <a:solidFill>
                  <a:srgbClr val="C00000"/>
                </a:solidFill>
                <a:latin typeface="Times New Roman" panose="02020603050405020304" pitchFamily="18" charset="0"/>
                <a:cs typeface="Times New Roman" panose="02020603050405020304" pitchFamily="18" charset="0"/>
              </a:rPr>
              <a:t>例</a:t>
            </a:r>
            <a:r>
              <a:rPr lang="en-US" altLang="zh-CN" sz="3200" b="1" dirty="0" smtClean="0">
                <a:solidFill>
                  <a:srgbClr val="C00000"/>
                </a:solidFill>
                <a:latin typeface="Times New Roman" panose="02020603050405020304" pitchFamily="18" charset="0"/>
                <a:cs typeface="Times New Roman" panose="02020603050405020304" pitchFamily="18" charset="0"/>
              </a:rPr>
              <a:t>7.6</a:t>
            </a:r>
            <a:br>
              <a:rPr lang="en-US" altLang="zh-CN" sz="3200" b="1" dirty="0" smtClean="0">
                <a:solidFill>
                  <a:srgbClr val="C00000"/>
                </a:solidFill>
                <a:latin typeface="Times New Roman" panose="02020603050405020304" pitchFamily="18" charset="0"/>
                <a:cs typeface="Times New Roman" panose="02020603050405020304" pitchFamily="18" charset="0"/>
              </a:rPr>
            </a:br>
            <a:r>
              <a:rPr lang="en-US" altLang="zh-CN" sz="3200" b="1" dirty="0" smtClean="0">
                <a:solidFill>
                  <a:srgbClr val="C00000"/>
                </a:solidFill>
                <a:latin typeface="Times New Roman" panose="02020603050405020304" pitchFamily="18" charset="0"/>
                <a:cs typeface="Times New Roman" panose="02020603050405020304" pitchFamily="18" charset="0"/>
              </a:rPr>
              <a:t>(</a:t>
            </a:r>
            <a:r>
              <a:rPr lang="zh-CN" altLang="en-US" sz="3200" b="1" dirty="0" smtClean="0">
                <a:solidFill>
                  <a:srgbClr val="C00000"/>
                </a:solidFill>
                <a:latin typeface="Times New Roman" panose="02020603050405020304" pitchFamily="18" charset="0"/>
                <a:cs typeface="Times New Roman" panose="02020603050405020304" pitchFamily="18" charset="0"/>
              </a:rPr>
              <a:t>续</a:t>
            </a:r>
            <a:r>
              <a:rPr lang="en-US" altLang="zh-CN" sz="3200" b="1" dirty="0" smtClean="0">
                <a:solidFill>
                  <a:srgbClr val="C00000"/>
                </a:solidFill>
                <a:latin typeface="Times New Roman" panose="02020603050405020304" pitchFamily="18" charset="0"/>
                <a:cs typeface="Times New Roman" panose="02020603050405020304" pitchFamily="18" charset="0"/>
              </a:rPr>
              <a:t>)</a:t>
            </a:r>
            <a:endParaRPr lang="zh-CN" altLang="en-US" sz="3200" b="1" dirty="0" smtClean="0">
              <a:solidFill>
                <a:srgbClr val="C00000"/>
              </a:solidFill>
              <a:latin typeface="Times New Roman" panose="02020603050405020304" pitchFamily="18" charset="0"/>
              <a:cs typeface="Times New Roman" panose="02020603050405020304" pitchFamily="18" charset="0"/>
            </a:endParaRPr>
          </a:p>
        </p:txBody>
      </p:sp>
      <p:grpSp>
        <p:nvGrpSpPr>
          <p:cNvPr id="102404" name="组合 88"/>
          <p:cNvGrpSpPr/>
          <p:nvPr/>
        </p:nvGrpSpPr>
        <p:grpSpPr bwMode="auto">
          <a:xfrm>
            <a:off x="857250" y="571500"/>
            <a:ext cx="4643438" cy="3000375"/>
            <a:chOff x="857256" y="571501"/>
            <a:chExt cx="4643438" cy="3000375"/>
          </a:xfrm>
        </p:grpSpPr>
        <p:grpSp>
          <p:nvGrpSpPr>
            <p:cNvPr id="102436" name="组合 88"/>
            <p:cNvGrpSpPr/>
            <p:nvPr/>
          </p:nvGrpSpPr>
          <p:grpSpPr bwMode="auto">
            <a:xfrm>
              <a:off x="857256" y="571501"/>
              <a:ext cx="3032125" cy="3000375"/>
              <a:chOff x="4000496" y="3357579"/>
              <a:chExt cx="3032144" cy="3000379"/>
            </a:xfrm>
          </p:grpSpPr>
          <p:sp>
            <p:nvSpPr>
              <p:cNvPr id="102460" name="Text Box 7"/>
              <p:cNvSpPr txBox="1">
                <a:spLocks noChangeArrowheads="1"/>
              </p:cNvSpPr>
              <p:nvPr/>
            </p:nvSpPr>
            <p:spPr bwMode="auto">
              <a:xfrm>
                <a:off x="4000496" y="3357579"/>
                <a:ext cx="3032144" cy="3000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2400" b="1">
                    <a:latin typeface="Times New Roman" panose="02020603050405020304" pitchFamily="18" charset="0"/>
                  </a:rPr>
                  <a:t>              *                 </a:t>
                </a:r>
                <a:r>
                  <a:rPr lang="en-US" altLang="zh-CN" sz="2400" b="1" i="1">
                    <a:latin typeface="Times New Roman" panose="02020603050405020304" pitchFamily="18" charset="0"/>
                    <a:sym typeface="Symbol" panose="05050102010706020507" pitchFamily="18" charset="2"/>
                  </a:rPr>
                  <a:t></a:t>
                </a:r>
                <a:endParaRPr lang="en-US" altLang="zh-CN" sz="2400" b="1" i="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a:t>
                </a:r>
                <a:r>
                  <a:rPr lang="en-US" altLang="zh-CN" sz="2400" b="1">
                    <a:solidFill>
                      <a:srgbClr val="0070C0"/>
                    </a:solidFill>
                    <a:latin typeface="Times New Roman" panose="02020603050405020304" pitchFamily="18" charset="0"/>
                  </a:rPr>
                  <a:t> 4     </a:t>
                </a:r>
                <a:r>
                  <a:rPr lang="en-US" altLang="zh-CN" sz="2400" b="1">
                    <a:solidFill>
                      <a:srgbClr val="FF0000"/>
                    </a:solidFill>
                    <a:latin typeface="Times New Roman" panose="02020603050405020304" pitchFamily="18" charset="0"/>
                  </a:rPr>
                  <a:t>3</a:t>
                </a:r>
                <a:r>
                  <a:rPr lang="en-US" altLang="zh-CN" sz="2400" b="1">
                    <a:latin typeface="Times New Roman" panose="02020603050405020304" pitchFamily="18" charset="0"/>
                  </a:rPr>
                  <a:t>     9   -2</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8     </a:t>
                </a:r>
                <a:r>
                  <a:rPr lang="en-US" altLang="zh-CN" sz="2400" b="1">
                    <a:solidFill>
                      <a:srgbClr val="FF0000"/>
                    </a:solidFill>
                    <a:latin typeface="Times New Roman" panose="02020603050405020304" pitchFamily="18" charset="0"/>
                  </a:rPr>
                  <a:t>5</a:t>
                </a:r>
                <a:r>
                  <a:rPr lang="en-US" altLang="zh-CN" sz="2400" b="1">
                    <a:latin typeface="Times New Roman" panose="02020603050405020304" pitchFamily="18" charset="0"/>
                  </a:rPr>
                  <a:t>     8     </a:t>
                </a:r>
                <a:r>
                  <a:rPr lang="en-US" altLang="zh-CN" sz="2400" b="1">
                    <a:solidFill>
                      <a:srgbClr val="00B050"/>
                    </a:solidFill>
                    <a:latin typeface="Times New Roman" panose="02020603050405020304" pitchFamily="18" charset="0"/>
                  </a:rPr>
                  <a:t>4</a:t>
                </a:r>
                <a:r>
                  <a:rPr lang="en-US" altLang="zh-CN" sz="2400" b="1">
                    <a:latin typeface="Times New Roman" panose="02020603050405020304" pitchFamily="18" charset="0"/>
                  </a:rPr>
                  <a:t>    1</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a:t>
                </a:r>
                <a:r>
                  <a:rPr lang="en-US" altLang="zh-CN" sz="2400" b="1">
                    <a:solidFill>
                      <a:srgbClr val="FF0000"/>
                    </a:solidFill>
                    <a:latin typeface="Times New Roman" panose="02020603050405020304" pitchFamily="18" charset="0"/>
                  </a:rPr>
                  <a:t>3</a:t>
                </a:r>
                <a:r>
                  <a:rPr lang="en-US" altLang="zh-CN" sz="2400" b="1">
                    <a:latin typeface="Times New Roman" panose="02020603050405020304" pitchFamily="18" charset="0"/>
                  </a:rPr>
                  <a:t>     8     </a:t>
                </a:r>
                <a:r>
                  <a:rPr lang="en-US" altLang="zh-CN" sz="2400" b="1">
                    <a:solidFill>
                      <a:srgbClr val="0070C0"/>
                    </a:solidFill>
                    <a:latin typeface="Times New Roman" panose="02020603050405020304" pitchFamily="18" charset="0"/>
                  </a:rPr>
                  <a:t>3     1</a:t>
                </a:r>
                <a:r>
                  <a:rPr lang="en-US" altLang="zh-CN" sz="2400" b="1">
                    <a:latin typeface="Times New Roman" panose="02020603050405020304" pitchFamily="18" charset="0"/>
                  </a:rPr>
                  <a:t>   -2   </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a:t>
                </a:r>
                <a:r>
                  <a:rPr lang="en-US" altLang="zh-CN" sz="2400" b="1">
                    <a:solidFill>
                      <a:srgbClr val="0070C0"/>
                    </a:solidFill>
                    <a:latin typeface="Times New Roman" panose="02020603050405020304" pitchFamily="18" charset="0"/>
                  </a:rPr>
                  <a:t>6</a:t>
                </a:r>
                <a:r>
                  <a:rPr lang="en-US" altLang="zh-CN" sz="2400" b="1">
                    <a:latin typeface="Times New Roman" panose="02020603050405020304" pitchFamily="18" charset="0"/>
                  </a:rPr>
                  <a:t>     9     6    2</a:t>
                </a:r>
                <a:endParaRPr lang="en-US" altLang="zh-CN" sz="2400" b="1">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sym typeface="Symbol" panose="05050102010706020507" pitchFamily="18" charset="2"/>
                  </a:rPr>
                  <a:t></a:t>
                </a:r>
                <a:r>
                  <a:rPr lang="en-US" altLang="zh-CN" sz="2400" b="1">
                    <a:latin typeface="Times New Roman" panose="02020603050405020304" pitchFamily="18" charset="0"/>
                    <a:sym typeface="Symbol" panose="05050102010706020507" pitchFamily="18" charset="2"/>
                  </a:rPr>
                  <a:t>    5     4     5     3</a:t>
                </a:r>
                <a:endParaRPr lang="en-US" altLang="zh-CN" sz="2400" b="1">
                  <a:latin typeface="Times New Roman" panose="02020603050405020304" pitchFamily="18" charset="0"/>
                  <a:sym typeface="Symbol" panose="05050102010706020507" pitchFamily="18" charset="2"/>
                </a:endParaRPr>
              </a:p>
              <a:p>
                <a:pPr algn="just" eaLnBrk="1" hangingPunct="1">
                  <a:spcBef>
                    <a:spcPct val="0"/>
                  </a:spcBef>
                  <a:buFontTx/>
                  <a:buNone/>
                </a:pPr>
                <a:r>
                  <a:rPr lang="en-US" altLang="zh-CN" sz="2400" b="1" i="1">
                    <a:latin typeface="Times New Roman" panose="02020603050405020304" pitchFamily="18" charset="0"/>
                  </a:rPr>
                  <a:t>s</a:t>
                </a:r>
                <a:r>
                  <a:rPr lang="en-US" altLang="zh-CN" sz="2400" b="1">
                    <a:latin typeface="Times New Roman" panose="02020603050405020304" pitchFamily="18" charset="0"/>
                  </a:rPr>
                  <a:t>    2     </a:t>
                </a:r>
                <a:r>
                  <a:rPr lang="en-US" altLang="zh-CN" sz="2400" b="1">
                    <a:solidFill>
                      <a:srgbClr val="0070C0"/>
                    </a:solidFill>
                    <a:latin typeface="Times New Roman" panose="02020603050405020304" pitchFamily="18" charset="0"/>
                  </a:rPr>
                  <a:t>       </a:t>
                </a:r>
                <a:r>
                  <a:rPr lang="en-US" altLang="zh-CN" sz="2400" b="1">
                    <a:latin typeface="Times New Roman" panose="02020603050405020304" pitchFamily="18" charset="0"/>
                  </a:rPr>
                  <a:t>2</a:t>
                </a:r>
                <a:r>
                  <a:rPr lang="en-US" altLang="zh-CN" sz="2400" b="1">
                    <a:solidFill>
                      <a:srgbClr val="0070C0"/>
                    </a:solidFill>
                    <a:latin typeface="Times New Roman" panose="02020603050405020304" pitchFamily="18" charset="0"/>
                  </a:rPr>
                  <a:t> </a:t>
                </a:r>
                <a:r>
                  <a:rPr lang="en-US" altLang="zh-CN" sz="2400" b="1">
                    <a:latin typeface="Times New Roman" panose="02020603050405020304" pitchFamily="18" charset="0"/>
                  </a:rPr>
                  <a:t>     </a:t>
                </a:r>
                <a:r>
                  <a:rPr lang="en-US" altLang="zh-CN" sz="2400" b="1">
                    <a:solidFill>
                      <a:srgbClr val="0070C0"/>
                    </a:solidFill>
                    <a:latin typeface="Times New Roman" panose="02020603050405020304" pitchFamily="18" charset="0"/>
                  </a:rPr>
                  <a:t>0</a:t>
                </a:r>
                <a:endParaRPr lang="en-US" altLang="zh-CN" sz="2400" b="1">
                  <a:solidFill>
                    <a:srgbClr val="0070C0"/>
                  </a:solidFill>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rPr>
                  <a:t>h</a:t>
                </a:r>
                <a:endParaRPr lang="en-US" altLang="zh-CN" sz="2400" b="1" i="1">
                  <a:latin typeface="Times New Roman" panose="02020603050405020304" pitchFamily="18" charset="0"/>
                </a:endParaRPr>
              </a:p>
            </p:txBody>
          </p:sp>
          <p:sp>
            <p:nvSpPr>
              <p:cNvPr id="102461" name="Text Box 32"/>
              <p:cNvSpPr txBox="1">
                <a:spLocks noChangeArrowheads="1"/>
              </p:cNvSpPr>
              <p:nvPr/>
            </p:nvSpPr>
            <p:spPr bwMode="auto">
              <a:xfrm>
                <a:off x="6000760" y="6072206"/>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102462" name="Text Box 32"/>
              <p:cNvSpPr txBox="1">
                <a:spLocks noChangeArrowheads="1"/>
              </p:cNvSpPr>
              <p:nvPr/>
            </p:nvSpPr>
            <p:spPr bwMode="auto">
              <a:xfrm>
                <a:off x="4397377" y="6072206"/>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sp>
            <p:nvSpPr>
              <p:cNvPr id="102463" name="Text Box 32"/>
              <p:cNvSpPr txBox="1">
                <a:spLocks noChangeArrowheads="1"/>
              </p:cNvSpPr>
              <p:nvPr/>
            </p:nvSpPr>
            <p:spPr bwMode="auto">
              <a:xfrm>
                <a:off x="4897443" y="6072206"/>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endParaRPr lang="zh-CN" altLang="zh-CN" sz="2000" b="1">
                  <a:latin typeface="Arial" panose="020B0604020202020204" pitchFamily="34" charset="0"/>
                </a:endParaRPr>
              </a:p>
            </p:txBody>
          </p:sp>
          <p:sp>
            <p:nvSpPr>
              <p:cNvPr id="102464" name="Text Box 32"/>
              <p:cNvSpPr txBox="1">
                <a:spLocks noChangeArrowheads="1"/>
              </p:cNvSpPr>
              <p:nvPr/>
            </p:nvSpPr>
            <p:spPr bwMode="auto">
              <a:xfrm>
                <a:off x="5468947" y="6072206"/>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r>
                  <a:rPr lang="en-US" altLang="zh-CN" sz="2000" b="1" baseline="-25000">
                    <a:latin typeface="Times New Roman" panose="02020603050405020304" pitchFamily="18" charset="0"/>
                  </a:rPr>
                  <a:t>2</a:t>
                </a:r>
                <a:endParaRPr lang="zh-CN" altLang="zh-CN" sz="2000" b="1">
                  <a:latin typeface="Arial" panose="020B0604020202020204" pitchFamily="34" charset="0"/>
                </a:endParaRPr>
              </a:p>
            </p:txBody>
          </p:sp>
        </p:grpSp>
        <p:grpSp>
          <p:nvGrpSpPr>
            <p:cNvPr id="102437" name="组合 56"/>
            <p:cNvGrpSpPr/>
            <p:nvPr/>
          </p:nvGrpSpPr>
          <p:grpSpPr bwMode="auto">
            <a:xfrm>
              <a:off x="3968756" y="785813"/>
              <a:ext cx="1531938" cy="2000250"/>
              <a:chOff x="3968756" y="785813"/>
              <a:chExt cx="1531938" cy="2000250"/>
            </a:xfrm>
          </p:grpSpPr>
          <p:grpSp>
            <p:nvGrpSpPr>
              <p:cNvPr id="102438" name="组合 94"/>
              <p:cNvGrpSpPr/>
              <p:nvPr/>
            </p:nvGrpSpPr>
            <p:grpSpPr bwMode="auto">
              <a:xfrm>
                <a:off x="3968756" y="785813"/>
                <a:ext cx="1531938" cy="2000250"/>
                <a:chOff x="3825873" y="928707"/>
                <a:chExt cx="1531945" cy="2000244"/>
              </a:xfrm>
            </p:grpSpPr>
            <p:sp>
              <p:nvSpPr>
                <p:cNvPr id="102440" name="Text Box 26"/>
                <p:cNvSpPr txBox="1">
                  <a:spLocks noChangeArrowheads="1"/>
                </p:cNvSpPr>
                <p:nvPr/>
              </p:nvSpPr>
              <p:spPr bwMode="auto">
                <a:xfrm>
                  <a:off x="4040193" y="928707"/>
                  <a:ext cx="269468" cy="206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endParaRPr lang="zh-CN" altLang="zh-CN" sz="2000" b="1">
                    <a:latin typeface="Arial" panose="020B0604020202020204" pitchFamily="34" charset="0"/>
                  </a:endParaRPr>
                </a:p>
              </p:txBody>
            </p:sp>
            <p:sp>
              <p:nvSpPr>
                <p:cNvPr id="102441" name="Oval 13"/>
                <p:cNvSpPr>
                  <a:spLocks noChangeArrowheads="1"/>
                </p:cNvSpPr>
                <p:nvPr/>
              </p:nvSpPr>
              <p:spPr bwMode="auto">
                <a:xfrm>
                  <a:off x="4147114" y="1285946"/>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2442" name="Oval 14"/>
                <p:cNvSpPr>
                  <a:spLocks noChangeArrowheads="1"/>
                </p:cNvSpPr>
                <p:nvPr/>
              </p:nvSpPr>
              <p:spPr bwMode="auto">
                <a:xfrm>
                  <a:off x="4156186" y="1730994"/>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2443" name="Oval 15"/>
                <p:cNvSpPr>
                  <a:spLocks noChangeArrowheads="1"/>
                </p:cNvSpPr>
                <p:nvPr/>
              </p:nvSpPr>
              <p:spPr bwMode="auto">
                <a:xfrm>
                  <a:off x="4156186" y="2149863"/>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2444" name="Oval 16"/>
                <p:cNvSpPr>
                  <a:spLocks noChangeArrowheads="1"/>
                </p:cNvSpPr>
                <p:nvPr/>
              </p:nvSpPr>
              <p:spPr bwMode="auto">
                <a:xfrm>
                  <a:off x="4165258" y="2594911"/>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2445" name="Oval 17"/>
                <p:cNvSpPr>
                  <a:spLocks noChangeArrowheads="1"/>
                </p:cNvSpPr>
                <p:nvPr/>
              </p:nvSpPr>
              <p:spPr bwMode="auto">
                <a:xfrm>
                  <a:off x="4754918" y="1299036"/>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2446" name="Oval 18"/>
                <p:cNvSpPr>
                  <a:spLocks noChangeArrowheads="1"/>
                </p:cNvSpPr>
                <p:nvPr/>
              </p:nvSpPr>
              <p:spPr bwMode="auto">
                <a:xfrm>
                  <a:off x="4763990" y="1744083"/>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2447" name="Oval 19"/>
                <p:cNvSpPr>
                  <a:spLocks noChangeArrowheads="1"/>
                </p:cNvSpPr>
                <p:nvPr/>
              </p:nvSpPr>
              <p:spPr bwMode="auto">
                <a:xfrm>
                  <a:off x="4763990" y="2162952"/>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2448" name="Oval 20"/>
                <p:cNvSpPr>
                  <a:spLocks noChangeArrowheads="1"/>
                </p:cNvSpPr>
                <p:nvPr/>
              </p:nvSpPr>
              <p:spPr bwMode="auto">
                <a:xfrm>
                  <a:off x="4773061" y="2608000"/>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102449" name="AutoShape 21"/>
                <p:cNvCxnSpPr>
                  <a:cxnSpLocks noChangeShapeType="1"/>
                </p:cNvCxnSpPr>
                <p:nvPr/>
              </p:nvCxnSpPr>
              <p:spPr bwMode="auto">
                <a:xfrm>
                  <a:off x="4250306" y="1402116"/>
                  <a:ext cx="522756" cy="341967"/>
                </a:xfrm>
                <a:prstGeom prst="straightConnector1">
                  <a:avLst/>
                </a:prstGeom>
                <a:noFill/>
                <a:ln w="19050">
                  <a:solidFill>
                    <a:schemeClr val="tx1"/>
                  </a:solidFill>
                  <a:round/>
                </a:ln>
                <a:extLst>
                  <a:ext uri="{909E8E84-426E-40DD-AFC4-6F175D3DCCD1}">
                    <a14:hiddenFill xmlns:a14="http://schemas.microsoft.com/office/drawing/2010/main">
                      <a:noFill/>
                    </a14:hiddenFill>
                  </a:ext>
                </a:extLst>
              </p:spPr>
            </p:cxnSp>
            <p:cxnSp>
              <p:nvCxnSpPr>
                <p:cNvPr id="102450" name="AutoShape 22"/>
                <p:cNvCxnSpPr>
                  <a:cxnSpLocks noChangeShapeType="1"/>
                </p:cNvCxnSpPr>
                <p:nvPr/>
              </p:nvCxnSpPr>
              <p:spPr bwMode="auto">
                <a:xfrm>
                  <a:off x="4250306" y="1415206"/>
                  <a:ext cx="522756" cy="749383"/>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102451" name="AutoShape 23"/>
                <p:cNvCxnSpPr>
                  <a:cxnSpLocks noChangeShapeType="1"/>
                </p:cNvCxnSpPr>
                <p:nvPr/>
              </p:nvCxnSpPr>
              <p:spPr bwMode="auto">
                <a:xfrm flipV="1">
                  <a:off x="4250306" y="1415206"/>
                  <a:ext cx="522756" cy="749383"/>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102452" name="AutoShape 24"/>
                <p:cNvCxnSpPr>
                  <a:cxnSpLocks noChangeShapeType="1"/>
                </p:cNvCxnSpPr>
                <p:nvPr/>
              </p:nvCxnSpPr>
              <p:spPr bwMode="auto">
                <a:xfrm>
                  <a:off x="4268449" y="2203857"/>
                  <a:ext cx="495541" cy="0"/>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cxnSp>
              <p:nvCxnSpPr>
                <p:cNvPr id="102453" name="AutoShape 25"/>
                <p:cNvCxnSpPr>
                  <a:cxnSpLocks noChangeShapeType="1"/>
                </p:cNvCxnSpPr>
                <p:nvPr/>
              </p:nvCxnSpPr>
              <p:spPr bwMode="auto">
                <a:xfrm>
                  <a:off x="4259376" y="2266033"/>
                  <a:ext cx="513684" cy="341967"/>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sp>
              <p:nvSpPr>
                <p:cNvPr id="102454" name="Text Box 26"/>
                <p:cNvSpPr txBox="1">
                  <a:spLocks noChangeArrowheads="1"/>
                </p:cNvSpPr>
                <p:nvPr/>
              </p:nvSpPr>
              <p:spPr bwMode="auto">
                <a:xfrm>
                  <a:off x="4612100" y="928707"/>
                  <a:ext cx="269468" cy="206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B</a:t>
                  </a:r>
                  <a:endParaRPr lang="zh-CN" altLang="zh-CN" sz="2000" b="1">
                    <a:latin typeface="Arial" panose="020B0604020202020204" pitchFamily="34" charset="0"/>
                  </a:endParaRPr>
                </a:p>
              </p:txBody>
            </p:sp>
            <p:sp>
              <p:nvSpPr>
                <p:cNvPr id="102455" name="Text Box 29"/>
                <p:cNvSpPr txBox="1">
                  <a:spLocks noChangeArrowheads="1"/>
                </p:cNvSpPr>
                <p:nvPr/>
              </p:nvSpPr>
              <p:spPr bwMode="auto">
                <a:xfrm>
                  <a:off x="3825873" y="2581288"/>
                  <a:ext cx="428628"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a:solidFill>
                        <a:srgbClr val="0070C0"/>
                      </a:solidFill>
                      <a:latin typeface="Times New Roman" panose="02020603050405020304" pitchFamily="18" charset="0"/>
                    </a:rPr>
                    <a:t>0</a:t>
                  </a:r>
                  <a:endParaRPr lang="zh-CN" altLang="zh-CN" sz="2000" b="1">
                    <a:solidFill>
                      <a:srgbClr val="0070C0"/>
                    </a:solidFill>
                    <a:latin typeface="Arial" panose="020B0604020202020204" pitchFamily="34" charset="0"/>
                  </a:endParaRPr>
                </a:p>
              </p:txBody>
            </p:sp>
            <p:cxnSp>
              <p:nvCxnSpPr>
                <p:cNvPr id="112" name="直接连接符 111"/>
                <p:cNvCxnSpPr>
                  <a:stCxn id="102442" idx="6"/>
                  <a:endCxn id="102446" idx="2"/>
                </p:cNvCxnSpPr>
                <p:nvPr/>
              </p:nvCxnSpPr>
              <p:spPr>
                <a:xfrm>
                  <a:off x="4259263" y="1789130"/>
                  <a:ext cx="504827" cy="12700"/>
                </a:xfrm>
                <a:prstGeom prst="line">
                  <a:avLst/>
                </a:prstGeom>
                <a:ln w="1905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02457" name="AutoShape 23"/>
                <p:cNvCxnSpPr>
                  <a:cxnSpLocks noChangeShapeType="1"/>
                  <a:endCxn id="102446" idx="3"/>
                </p:cNvCxnSpPr>
                <p:nvPr/>
              </p:nvCxnSpPr>
              <p:spPr bwMode="auto">
                <a:xfrm rot="5400000" flipH="1" flipV="1">
                  <a:off x="4096985" y="1961065"/>
                  <a:ext cx="799942" cy="564292"/>
                </a:xfrm>
                <a:prstGeom prst="straightConnector1">
                  <a:avLst/>
                </a:prstGeom>
                <a:noFill/>
                <a:ln w="19050">
                  <a:solidFill>
                    <a:schemeClr val="tx1"/>
                  </a:solidFill>
                  <a:round/>
                </a:ln>
                <a:extLst>
                  <a:ext uri="{909E8E84-426E-40DD-AFC4-6F175D3DCCD1}">
                    <a14:hiddenFill xmlns:a14="http://schemas.microsoft.com/office/drawing/2010/main">
                      <a:noFill/>
                    </a14:hiddenFill>
                  </a:ext>
                </a:extLst>
              </p:spPr>
            </p:cxnSp>
            <p:sp>
              <p:nvSpPr>
                <p:cNvPr id="102458" name="Text Box 29"/>
                <p:cNvSpPr txBox="1">
                  <a:spLocks noChangeArrowheads="1"/>
                </p:cNvSpPr>
                <p:nvPr/>
              </p:nvSpPr>
              <p:spPr bwMode="auto">
                <a:xfrm>
                  <a:off x="4786314" y="1733556"/>
                  <a:ext cx="571504" cy="409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solidFill>
                        <a:srgbClr val="0070C0"/>
                      </a:solidFill>
                      <a:latin typeface="Times New Roman" panose="02020603050405020304" pitchFamily="18" charset="0"/>
                    </a:rPr>
                    <a:t>A</a:t>
                  </a:r>
                  <a:r>
                    <a:rPr lang="en-US" altLang="zh-CN" sz="2000" b="1" baseline="-25000">
                      <a:solidFill>
                        <a:srgbClr val="0070C0"/>
                      </a:solidFill>
                      <a:latin typeface="Times New Roman" panose="02020603050405020304" pitchFamily="18" charset="0"/>
                    </a:rPr>
                    <a:t>4</a:t>
                  </a:r>
                  <a:endParaRPr lang="zh-CN" altLang="zh-CN" sz="2000" b="1">
                    <a:solidFill>
                      <a:srgbClr val="0070C0"/>
                    </a:solidFill>
                    <a:latin typeface="Arial" panose="020B0604020202020204" pitchFamily="34" charset="0"/>
                  </a:endParaRPr>
                </a:p>
              </p:txBody>
            </p:sp>
            <p:sp>
              <p:nvSpPr>
                <p:cNvPr id="102459" name="Text Box 29"/>
                <p:cNvSpPr txBox="1">
                  <a:spLocks noChangeArrowheads="1"/>
                </p:cNvSpPr>
                <p:nvPr/>
              </p:nvSpPr>
              <p:spPr bwMode="auto">
                <a:xfrm>
                  <a:off x="3857620" y="1733556"/>
                  <a:ext cx="571504" cy="409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solidFill>
                        <a:srgbClr val="0070C0"/>
                      </a:solidFill>
                      <a:latin typeface="Times New Roman" panose="02020603050405020304" pitchFamily="18" charset="0"/>
                    </a:rPr>
                    <a:t>B</a:t>
                  </a:r>
                  <a:r>
                    <a:rPr lang="en-US" altLang="zh-CN" sz="2000" b="1" baseline="-25000">
                      <a:solidFill>
                        <a:srgbClr val="0070C0"/>
                      </a:solidFill>
                      <a:latin typeface="Times New Roman" panose="02020603050405020304" pitchFamily="18" charset="0"/>
                    </a:rPr>
                    <a:t>2</a:t>
                  </a:r>
                  <a:endParaRPr lang="zh-CN" altLang="zh-CN" sz="2000" b="1">
                    <a:solidFill>
                      <a:srgbClr val="0070C0"/>
                    </a:solidFill>
                    <a:latin typeface="Arial" panose="020B0604020202020204" pitchFamily="34" charset="0"/>
                  </a:endParaRPr>
                </a:p>
              </p:txBody>
            </p:sp>
          </p:grpSp>
          <p:cxnSp>
            <p:nvCxnSpPr>
              <p:cNvPr id="56" name="直接连接符 55"/>
              <p:cNvCxnSpPr>
                <a:stCxn id="102442" idx="5"/>
                <a:endCxn id="102448" idx="1"/>
              </p:cNvCxnSpPr>
              <p:nvPr/>
            </p:nvCxnSpPr>
            <p:spPr>
              <a:xfrm rot="16200000" flipH="1">
                <a:off x="4261650" y="1813720"/>
                <a:ext cx="795337" cy="542925"/>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grpSp>
      </p:grpSp>
      <p:grpSp>
        <p:nvGrpSpPr>
          <p:cNvPr id="7" name="组合 89"/>
          <p:cNvGrpSpPr/>
          <p:nvPr/>
        </p:nvGrpSpPr>
        <p:grpSpPr bwMode="auto">
          <a:xfrm>
            <a:off x="3786188" y="3214688"/>
            <a:ext cx="4643437" cy="3000375"/>
            <a:chOff x="3786182" y="3214686"/>
            <a:chExt cx="4643441" cy="3000375"/>
          </a:xfrm>
        </p:grpSpPr>
        <p:sp>
          <p:nvSpPr>
            <p:cNvPr id="102407" name="Text Box 32"/>
            <p:cNvSpPr txBox="1">
              <a:spLocks noChangeArrowheads="1"/>
            </p:cNvSpPr>
            <p:nvPr/>
          </p:nvSpPr>
          <p:spPr bwMode="auto">
            <a:xfrm>
              <a:off x="7897842" y="5072074"/>
              <a:ext cx="46037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solidFill>
                    <a:srgbClr val="0070C0"/>
                  </a:solidFill>
                  <a:latin typeface="Times New Roman" panose="02020603050405020304" pitchFamily="18" charset="0"/>
                </a:rPr>
                <a:t>A</a:t>
              </a:r>
              <a:r>
                <a:rPr lang="en-US" altLang="zh-CN" sz="2000" b="1" baseline="-25000">
                  <a:solidFill>
                    <a:srgbClr val="0070C0"/>
                  </a:solidFill>
                  <a:latin typeface="Times New Roman" panose="02020603050405020304" pitchFamily="18" charset="0"/>
                </a:rPr>
                <a:t>2</a:t>
              </a:r>
              <a:endParaRPr lang="zh-CN" altLang="zh-CN" sz="2000" b="1">
                <a:solidFill>
                  <a:srgbClr val="0070C0"/>
                </a:solidFill>
                <a:latin typeface="Arial" panose="020B0604020202020204" pitchFamily="34" charset="0"/>
              </a:endParaRPr>
            </a:p>
          </p:txBody>
        </p:sp>
        <p:grpSp>
          <p:nvGrpSpPr>
            <p:cNvPr id="102408" name="组合 88"/>
            <p:cNvGrpSpPr/>
            <p:nvPr/>
          </p:nvGrpSpPr>
          <p:grpSpPr bwMode="auto">
            <a:xfrm>
              <a:off x="3786182" y="3214686"/>
              <a:ext cx="3032125" cy="3000375"/>
              <a:chOff x="4000496" y="3357579"/>
              <a:chExt cx="3032144" cy="3000379"/>
            </a:xfrm>
          </p:grpSpPr>
          <p:sp>
            <p:nvSpPr>
              <p:cNvPr id="102431" name="Text Box 7"/>
              <p:cNvSpPr txBox="1">
                <a:spLocks noChangeArrowheads="1"/>
              </p:cNvSpPr>
              <p:nvPr/>
            </p:nvSpPr>
            <p:spPr bwMode="auto">
              <a:xfrm>
                <a:off x="4000496" y="3357579"/>
                <a:ext cx="3032144" cy="3000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2400" b="1">
                    <a:latin typeface="Times New Roman" panose="02020603050405020304" pitchFamily="18" charset="0"/>
                  </a:rPr>
                  <a:t>              *           *   </a:t>
                </a:r>
                <a:r>
                  <a:rPr lang="en-US" altLang="zh-CN" sz="2400" b="1" i="1">
                    <a:latin typeface="Times New Roman" panose="02020603050405020304" pitchFamily="18" charset="0"/>
                    <a:sym typeface="Symbol" panose="05050102010706020507" pitchFamily="18" charset="2"/>
                  </a:rPr>
                  <a:t></a:t>
                </a:r>
                <a:endParaRPr lang="en-US" altLang="zh-CN" sz="2400" b="1" i="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a:t>
                </a:r>
                <a:r>
                  <a:rPr lang="en-US" altLang="zh-CN" sz="2400" b="1">
                    <a:solidFill>
                      <a:srgbClr val="0070C0"/>
                    </a:solidFill>
                    <a:latin typeface="Times New Roman" panose="02020603050405020304" pitchFamily="18" charset="0"/>
                  </a:rPr>
                  <a:t> 4     </a:t>
                </a:r>
                <a:r>
                  <a:rPr lang="en-US" altLang="zh-CN" sz="2400" b="1">
                    <a:solidFill>
                      <a:srgbClr val="FF0000"/>
                    </a:solidFill>
                    <a:latin typeface="Times New Roman" panose="02020603050405020304" pitchFamily="18" charset="0"/>
                  </a:rPr>
                  <a:t>3</a:t>
                </a:r>
                <a:r>
                  <a:rPr lang="en-US" altLang="zh-CN" sz="2400" b="1">
                    <a:latin typeface="Times New Roman" panose="02020603050405020304" pitchFamily="18" charset="0"/>
                  </a:rPr>
                  <a:t>     9   -2</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8     </a:t>
                </a:r>
                <a:r>
                  <a:rPr lang="en-US" altLang="zh-CN" sz="2400" b="1">
                    <a:solidFill>
                      <a:srgbClr val="FF0000"/>
                    </a:solidFill>
                    <a:latin typeface="Times New Roman" panose="02020603050405020304" pitchFamily="18" charset="0"/>
                  </a:rPr>
                  <a:t>5</a:t>
                </a:r>
                <a:r>
                  <a:rPr lang="en-US" altLang="zh-CN" sz="2400" b="1">
                    <a:latin typeface="Times New Roman" panose="02020603050405020304" pitchFamily="18" charset="0"/>
                  </a:rPr>
                  <a:t>     8     </a:t>
                </a:r>
                <a:r>
                  <a:rPr lang="en-US" altLang="zh-CN" sz="2400" b="1">
                    <a:solidFill>
                      <a:srgbClr val="00B050"/>
                    </a:solidFill>
                    <a:latin typeface="Times New Roman" panose="02020603050405020304" pitchFamily="18" charset="0"/>
                  </a:rPr>
                  <a:t>4</a:t>
                </a:r>
                <a:r>
                  <a:rPr lang="en-US" altLang="zh-CN" sz="2400" b="1">
                    <a:latin typeface="Times New Roman" panose="02020603050405020304" pitchFamily="18" charset="0"/>
                  </a:rPr>
                  <a:t>    1</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a:t>
                </a:r>
                <a:r>
                  <a:rPr lang="en-US" altLang="zh-CN" sz="2400" b="1">
                    <a:solidFill>
                      <a:srgbClr val="FF0000"/>
                    </a:solidFill>
                    <a:latin typeface="Times New Roman" panose="02020603050405020304" pitchFamily="18" charset="0"/>
                  </a:rPr>
                  <a:t>3</a:t>
                </a:r>
                <a:r>
                  <a:rPr lang="en-US" altLang="zh-CN" sz="2400" b="1">
                    <a:latin typeface="Times New Roman" panose="02020603050405020304" pitchFamily="18" charset="0"/>
                  </a:rPr>
                  <a:t>     8     </a:t>
                </a:r>
                <a:r>
                  <a:rPr lang="en-US" altLang="zh-CN" sz="2400" b="1">
                    <a:solidFill>
                      <a:srgbClr val="0070C0"/>
                    </a:solidFill>
                    <a:latin typeface="Times New Roman" panose="02020603050405020304" pitchFamily="18" charset="0"/>
                  </a:rPr>
                  <a:t>3     1</a:t>
                </a:r>
                <a:r>
                  <a:rPr lang="en-US" altLang="zh-CN" sz="2400" b="1">
                    <a:latin typeface="Times New Roman" panose="02020603050405020304" pitchFamily="18" charset="0"/>
                  </a:rPr>
                  <a:t>   -2   </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a:t>
                </a:r>
                <a:r>
                  <a:rPr lang="en-US" altLang="zh-CN" sz="2400" b="1">
                    <a:solidFill>
                      <a:srgbClr val="0070C0"/>
                    </a:solidFill>
                    <a:latin typeface="Times New Roman" panose="02020603050405020304" pitchFamily="18" charset="0"/>
                  </a:rPr>
                  <a:t>6</a:t>
                </a:r>
                <a:r>
                  <a:rPr lang="en-US" altLang="zh-CN" sz="2400" b="1">
                    <a:latin typeface="Times New Roman" panose="02020603050405020304" pitchFamily="18" charset="0"/>
                  </a:rPr>
                  <a:t>     9     6    2</a:t>
                </a:r>
                <a:endParaRPr lang="en-US" altLang="zh-CN" sz="2400" b="1">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sym typeface="Symbol" panose="05050102010706020507" pitchFamily="18" charset="2"/>
                  </a:rPr>
                  <a:t></a:t>
                </a:r>
                <a:r>
                  <a:rPr lang="en-US" altLang="zh-CN" sz="2400" b="1">
                    <a:latin typeface="Times New Roman" panose="02020603050405020304" pitchFamily="18" charset="0"/>
                    <a:sym typeface="Symbol" panose="05050102010706020507" pitchFamily="18" charset="2"/>
                  </a:rPr>
                  <a:t>    5     4     5     3</a:t>
                </a:r>
                <a:endParaRPr lang="en-US" altLang="zh-CN" sz="2400" b="1">
                  <a:latin typeface="Times New Roman" panose="02020603050405020304" pitchFamily="18" charset="0"/>
                  <a:sym typeface="Symbol" panose="05050102010706020507" pitchFamily="18" charset="2"/>
                </a:endParaRPr>
              </a:p>
              <a:p>
                <a:pPr algn="just" eaLnBrk="1" hangingPunct="1">
                  <a:spcBef>
                    <a:spcPct val="0"/>
                  </a:spcBef>
                  <a:buFontTx/>
                  <a:buNone/>
                </a:pPr>
                <a:r>
                  <a:rPr lang="en-US" altLang="zh-CN" sz="2400" b="1" i="1">
                    <a:latin typeface="Times New Roman" panose="02020603050405020304" pitchFamily="18" charset="0"/>
                  </a:rPr>
                  <a:t>s</a:t>
                </a:r>
                <a:endParaRPr lang="en-US" altLang="zh-CN" sz="2400" b="1">
                  <a:solidFill>
                    <a:srgbClr val="0070C0"/>
                  </a:solidFill>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rPr>
                  <a:t>h</a:t>
                </a:r>
                <a:endParaRPr lang="en-US" altLang="zh-CN" sz="2400" b="1" i="1">
                  <a:latin typeface="Times New Roman" panose="02020603050405020304" pitchFamily="18" charset="0"/>
                </a:endParaRPr>
              </a:p>
            </p:txBody>
          </p:sp>
          <p:sp>
            <p:nvSpPr>
              <p:cNvPr id="102432" name="Text Box 32"/>
              <p:cNvSpPr txBox="1">
                <a:spLocks noChangeArrowheads="1"/>
              </p:cNvSpPr>
              <p:nvPr/>
            </p:nvSpPr>
            <p:spPr bwMode="auto">
              <a:xfrm>
                <a:off x="6000760" y="6072206"/>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endParaRPr lang="zh-CN" altLang="zh-CN" sz="2000" b="1">
                  <a:latin typeface="Arial" panose="020B0604020202020204" pitchFamily="34" charset="0"/>
                </a:endParaRPr>
              </a:p>
            </p:txBody>
          </p:sp>
          <p:sp>
            <p:nvSpPr>
              <p:cNvPr id="102433" name="Text Box 32"/>
              <p:cNvSpPr txBox="1">
                <a:spLocks noChangeArrowheads="1"/>
              </p:cNvSpPr>
              <p:nvPr/>
            </p:nvSpPr>
            <p:spPr bwMode="auto">
              <a:xfrm>
                <a:off x="4397377" y="6072206"/>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endParaRPr lang="zh-CN" altLang="zh-CN" sz="2000" b="1">
                  <a:latin typeface="Arial" panose="020B0604020202020204" pitchFamily="34" charset="0"/>
                </a:endParaRPr>
              </a:p>
            </p:txBody>
          </p:sp>
          <p:sp>
            <p:nvSpPr>
              <p:cNvPr id="102434" name="Text Box 32"/>
              <p:cNvSpPr txBox="1">
                <a:spLocks noChangeArrowheads="1"/>
              </p:cNvSpPr>
              <p:nvPr/>
            </p:nvSpPr>
            <p:spPr bwMode="auto">
              <a:xfrm>
                <a:off x="4897443" y="6072206"/>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endParaRPr lang="zh-CN" altLang="zh-CN" sz="2000" b="1">
                  <a:latin typeface="Arial" panose="020B0604020202020204" pitchFamily="34" charset="0"/>
                </a:endParaRPr>
              </a:p>
            </p:txBody>
          </p:sp>
          <p:sp>
            <p:nvSpPr>
              <p:cNvPr id="102435" name="Text Box 32"/>
              <p:cNvSpPr txBox="1">
                <a:spLocks noChangeArrowheads="1"/>
              </p:cNvSpPr>
              <p:nvPr/>
            </p:nvSpPr>
            <p:spPr bwMode="auto">
              <a:xfrm>
                <a:off x="5468947" y="6072206"/>
                <a:ext cx="460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endParaRPr lang="zh-CN" altLang="zh-CN" sz="2000" b="1">
                  <a:latin typeface="Arial" panose="020B0604020202020204" pitchFamily="34" charset="0"/>
                </a:endParaRPr>
              </a:p>
            </p:txBody>
          </p:sp>
        </p:grpSp>
        <p:grpSp>
          <p:nvGrpSpPr>
            <p:cNvPr id="102409" name="组合 94"/>
            <p:cNvGrpSpPr/>
            <p:nvPr/>
          </p:nvGrpSpPr>
          <p:grpSpPr bwMode="auto">
            <a:xfrm>
              <a:off x="6897684" y="3428998"/>
              <a:ext cx="1531939" cy="2000253"/>
              <a:chOff x="3825873" y="928707"/>
              <a:chExt cx="1531945" cy="2000244"/>
            </a:xfrm>
          </p:grpSpPr>
          <p:sp>
            <p:nvSpPr>
              <p:cNvPr id="102411" name="Text Box 26"/>
              <p:cNvSpPr txBox="1">
                <a:spLocks noChangeArrowheads="1"/>
              </p:cNvSpPr>
              <p:nvPr/>
            </p:nvSpPr>
            <p:spPr bwMode="auto">
              <a:xfrm>
                <a:off x="4040193" y="928707"/>
                <a:ext cx="269468" cy="206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endParaRPr lang="zh-CN" altLang="zh-CN" sz="2000" b="1">
                  <a:latin typeface="Arial" panose="020B0604020202020204" pitchFamily="34" charset="0"/>
                </a:endParaRPr>
              </a:p>
            </p:txBody>
          </p:sp>
          <p:sp>
            <p:nvSpPr>
              <p:cNvPr id="102412" name="Oval 13"/>
              <p:cNvSpPr>
                <a:spLocks noChangeArrowheads="1"/>
              </p:cNvSpPr>
              <p:nvPr/>
            </p:nvSpPr>
            <p:spPr bwMode="auto">
              <a:xfrm>
                <a:off x="4147114" y="1285946"/>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2413" name="Oval 14"/>
              <p:cNvSpPr>
                <a:spLocks noChangeArrowheads="1"/>
              </p:cNvSpPr>
              <p:nvPr/>
            </p:nvSpPr>
            <p:spPr bwMode="auto">
              <a:xfrm>
                <a:off x="4156186" y="1730994"/>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2414" name="Oval 15"/>
              <p:cNvSpPr>
                <a:spLocks noChangeArrowheads="1"/>
              </p:cNvSpPr>
              <p:nvPr/>
            </p:nvSpPr>
            <p:spPr bwMode="auto">
              <a:xfrm>
                <a:off x="4156186" y="2149863"/>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2415" name="Oval 16"/>
              <p:cNvSpPr>
                <a:spLocks noChangeArrowheads="1"/>
              </p:cNvSpPr>
              <p:nvPr/>
            </p:nvSpPr>
            <p:spPr bwMode="auto">
              <a:xfrm>
                <a:off x="4165258" y="2594911"/>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2416" name="Oval 17"/>
              <p:cNvSpPr>
                <a:spLocks noChangeArrowheads="1"/>
              </p:cNvSpPr>
              <p:nvPr/>
            </p:nvSpPr>
            <p:spPr bwMode="auto">
              <a:xfrm>
                <a:off x="4754918" y="1299036"/>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2417" name="Oval 18"/>
              <p:cNvSpPr>
                <a:spLocks noChangeArrowheads="1"/>
              </p:cNvSpPr>
              <p:nvPr/>
            </p:nvSpPr>
            <p:spPr bwMode="auto">
              <a:xfrm>
                <a:off x="4763990" y="1744083"/>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2418" name="Oval 19"/>
              <p:cNvSpPr>
                <a:spLocks noChangeArrowheads="1"/>
              </p:cNvSpPr>
              <p:nvPr/>
            </p:nvSpPr>
            <p:spPr bwMode="auto">
              <a:xfrm>
                <a:off x="4763990" y="2162952"/>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2419" name="Oval 20"/>
              <p:cNvSpPr>
                <a:spLocks noChangeArrowheads="1"/>
              </p:cNvSpPr>
              <p:nvPr/>
            </p:nvSpPr>
            <p:spPr bwMode="auto">
              <a:xfrm>
                <a:off x="4773061" y="2608000"/>
                <a:ext cx="103191" cy="116170"/>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102420" name="AutoShape 21"/>
              <p:cNvCxnSpPr>
                <a:cxnSpLocks noChangeShapeType="1"/>
              </p:cNvCxnSpPr>
              <p:nvPr/>
            </p:nvCxnSpPr>
            <p:spPr bwMode="auto">
              <a:xfrm>
                <a:off x="4250306" y="1402116"/>
                <a:ext cx="522756" cy="341967"/>
              </a:xfrm>
              <a:prstGeom prst="straightConnector1">
                <a:avLst/>
              </a:prstGeom>
              <a:noFill/>
              <a:ln w="19050">
                <a:solidFill>
                  <a:schemeClr val="tx1"/>
                </a:solidFill>
                <a:round/>
              </a:ln>
              <a:extLst>
                <a:ext uri="{909E8E84-426E-40DD-AFC4-6F175D3DCCD1}">
                  <a14:hiddenFill xmlns:a14="http://schemas.microsoft.com/office/drawing/2010/main">
                    <a:noFill/>
                  </a14:hiddenFill>
                </a:ext>
              </a:extLst>
            </p:spPr>
          </p:cxnSp>
          <p:cxnSp>
            <p:nvCxnSpPr>
              <p:cNvPr id="102421" name="AutoShape 22"/>
              <p:cNvCxnSpPr>
                <a:cxnSpLocks noChangeShapeType="1"/>
              </p:cNvCxnSpPr>
              <p:nvPr/>
            </p:nvCxnSpPr>
            <p:spPr bwMode="auto">
              <a:xfrm>
                <a:off x="4250306" y="1415206"/>
                <a:ext cx="522756" cy="749383"/>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102422" name="AutoShape 23"/>
              <p:cNvCxnSpPr>
                <a:cxnSpLocks noChangeShapeType="1"/>
              </p:cNvCxnSpPr>
              <p:nvPr/>
            </p:nvCxnSpPr>
            <p:spPr bwMode="auto">
              <a:xfrm flipV="1">
                <a:off x="4250306" y="1415206"/>
                <a:ext cx="522756" cy="749383"/>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102423" name="AutoShape 24"/>
              <p:cNvCxnSpPr>
                <a:cxnSpLocks noChangeShapeType="1"/>
              </p:cNvCxnSpPr>
              <p:nvPr/>
            </p:nvCxnSpPr>
            <p:spPr bwMode="auto">
              <a:xfrm>
                <a:off x="4268449" y="2203857"/>
                <a:ext cx="495541" cy="0"/>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cxnSp>
            <p:nvCxnSpPr>
              <p:cNvPr id="102424" name="AutoShape 25"/>
              <p:cNvCxnSpPr>
                <a:cxnSpLocks noChangeShapeType="1"/>
              </p:cNvCxnSpPr>
              <p:nvPr/>
            </p:nvCxnSpPr>
            <p:spPr bwMode="auto">
              <a:xfrm>
                <a:off x="4259376" y="2266033"/>
                <a:ext cx="513684" cy="341967"/>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sp>
            <p:nvSpPr>
              <p:cNvPr id="102425" name="Text Box 26"/>
              <p:cNvSpPr txBox="1">
                <a:spLocks noChangeArrowheads="1"/>
              </p:cNvSpPr>
              <p:nvPr/>
            </p:nvSpPr>
            <p:spPr bwMode="auto">
              <a:xfrm>
                <a:off x="4612100" y="928707"/>
                <a:ext cx="269468" cy="206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B</a:t>
                </a:r>
                <a:endParaRPr lang="zh-CN" altLang="zh-CN" sz="2000" b="1">
                  <a:latin typeface="Arial" panose="020B0604020202020204" pitchFamily="34" charset="0"/>
                </a:endParaRPr>
              </a:p>
            </p:txBody>
          </p:sp>
          <p:sp>
            <p:nvSpPr>
              <p:cNvPr id="102426" name="Text Box 29"/>
              <p:cNvSpPr txBox="1">
                <a:spLocks noChangeArrowheads="1"/>
              </p:cNvSpPr>
              <p:nvPr/>
            </p:nvSpPr>
            <p:spPr bwMode="auto">
              <a:xfrm>
                <a:off x="3825873" y="2581288"/>
                <a:ext cx="428628"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a:solidFill>
                      <a:srgbClr val="0070C0"/>
                    </a:solidFill>
                    <a:latin typeface="Times New Roman" panose="02020603050405020304" pitchFamily="18" charset="0"/>
                  </a:rPr>
                  <a:t>0</a:t>
                </a:r>
                <a:endParaRPr lang="zh-CN" altLang="zh-CN" sz="2000" b="1">
                  <a:solidFill>
                    <a:srgbClr val="0070C0"/>
                  </a:solidFill>
                  <a:latin typeface="Arial" panose="020B0604020202020204" pitchFamily="34" charset="0"/>
                </a:endParaRPr>
              </a:p>
            </p:txBody>
          </p:sp>
          <p:cxnSp>
            <p:nvCxnSpPr>
              <p:cNvPr id="85" name="直接连接符 84"/>
              <p:cNvCxnSpPr>
                <a:stCxn id="102413" idx="6"/>
                <a:endCxn id="102417" idx="2"/>
              </p:cNvCxnSpPr>
              <p:nvPr/>
            </p:nvCxnSpPr>
            <p:spPr>
              <a:xfrm>
                <a:off x="4259263" y="1789128"/>
                <a:ext cx="504827" cy="127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2428" name="AutoShape 23"/>
              <p:cNvCxnSpPr>
                <a:cxnSpLocks noChangeShapeType="1"/>
                <a:endCxn id="102417" idx="3"/>
              </p:cNvCxnSpPr>
              <p:nvPr/>
            </p:nvCxnSpPr>
            <p:spPr bwMode="auto">
              <a:xfrm rot="5400000" flipH="1" flipV="1">
                <a:off x="4096985" y="1961065"/>
                <a:ext cx="799942" cy="564292"/>
              </a:xfrm>
              <a:prstGeom prst="straightConnector1">
                <a:avLst/>
              </a:prstGeom>
              <a:noFill/>
              <a:ln w="19050">
                <a:solidFill>
                  <a:schemeClr val="tx1"/>
                </a:solidFill>
                <a:prstDash val="dash"/>
                <a:round/>
              </a:ln>
              <a:extLst>
                <a:ext uri="{909E8E84-426E-40DD-AFC4-6F175D3DCCD1}">
                  <a14:hiddenFill xmlns:a14="http://schemas.microsoft.com/office/drawing/2010/main">
                    <a:noFill/>
                  </a14:hiddenFill>
                </a:ext>
              </a:extLst>
            </p:spPr>
          </p:cxnSp>
          <p:sp>
            <p:nvSpPr>
              <p:cNvPr id="102429" name="Text Box 29"/>
              <p:cNvSpPr txBox="1">
                <a:spLocks noChangeArrowheads="1"/>
              </p:cNvSpPr>
              <p:nvPr/>
            </p:nvSpPr>
            <p:spPr bwMode="auto">
              <a:xfrm>
                <a:off x="4786314" y="1733556"/>
                <a:ext cx="571504" cy="409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solidFill>
                      <a:srgbClr val="0070C0"/>
                    </a:solidFill>
                    <a:latin typeface="Times New Roman" panose="02020603050405020304" pitchFamily="18" charset="0"/>
                  </a:rPr>
                  <a:t>A</a:t>
                </a:r>
                <a:r>
                  <a:rPr lang="en-US" altLang="zh-CN" sz="2000" b="1" baseline="-25000">
                    <a:solidFill>
                      <a:srgbClr val="0070C0"/>
                    </a:solidFill>
                    <a:latin typeface="Times New Roman" panose="02020603050405020304" pitchFamily="18" charset="0"/>
                  </a:rPr>
                  <a:t>4</a:t>
                </a:r>
                <a:endParaRPr lang="zh-CN" altLang="zh-CN" sz="2000" b="1">
                  <a:solidFill>
                    <a:srgbClr val="0070C0"/>
                  </a:solidFill>
                  <a:latin typeface="Arial" panose="020B0604020202020204" pitchFamily="34" charset="0"/>
                </a:endParaRPr>
              </a:p>
            </p:txBody>
          </p:sp>
          <p:sp>
            <p:nvSpPr>
              <p:cNvPr id="102430" name="Text Box 29"/>
              <p:cNvSpPr txBox="1">
                <a:spLocks noChangeArrowheads="1"/>
              </p:cNvSpPr>
              <p:nvPr/>
            </p:nvSpPr>
            <p:spPr bwMode="auto">
              <a:xfrm>
                <a:off x="3857620" y="1733556"/>
                <a:ext cx="571504" cy="409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solidFill>
                      <a:srgbClr val="0070C0"/>
                    </a:solidFill>
                    <a:latin typeface="Times New Roman" panose="02020603050405020304" pitchFamily="18" charset="0"/>
                  </a:rPr>
                  <a:t>B</a:t>
                </a:r>
                <a:r>
                  <a:rPr lang="en-US" altLang="zh-CN" sz="2000" b="1" baseline="-25000">
                    <a:solidFill>
                      <a:srgbClr val="0070C0"/>
                    </a:solidFill>
                    <a:latin typeface="Times New Roman" panose="02020603050405020304" pitchFamily="18" charset="0"/>
                  </a:rPr>
                  <a:t>2</a:t>
                </a:r>
                <a:endParaRPr lang="zh-CN" altLang="zh-CN" sz="2000" b="1">
                  <a:solidFill>
                    <a:srgbClr val="0070C0"/>
                  </a:solidFill>
                  <a:latin typeface="Arial" panose="020B0604020202020204" pitchFamily="34" charset="0"/>
                </a:endParaRPr>
              </a:p>
            </p:txBody>
          </p:sp>
        </p:grpSp>
        <p:cxnSp>
          <p:nvCxnSpPr>
            <p:cNvPr id="67" name="直接连接符 66"/>
            <p:cNvCxnSpPr>
              <a:stCxn id="102413" idx="5"/>
              <a:endCxn id="102419" idx="1"/>
            </p:cNvCxnSpPr>
            <p:nvPr/>
          </p:nvCxnSpPr>
          <p:spPr>
            <a:xfrm rot="16200000" flipH="1">
              <a:off x="7190579" y="4456904"/>
              <a:ext cx="795338" cy="542925"/>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91" name="TextBox 90"/>
          <p:cNvSpPr txBox="1">
            <a:spLocks noChangeArrowheads="1"/>
          </p:cNvSpPr>
          <p:nvPr/>
        </p:nvSpPr>
        <p:spPr bwMode="auto">
          <a:xfrm>
            <a:off x="857250" y="4502150"/>
            <a:ext cx="2500313"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b="1">
                <a:solidFill>
                  <a:srgbClr val="C00000"/>
                </a:solidFill>
                <a:latin typeface="Times New Roman" panose="02020603050405020304" pitchFamily="18" charset="0"/>
                <a:cs typeface="Times New Roman" panose="02020603050405020304" pitchFamily="18" charset="0"/>
                <a:sym typeface="Symbol" panose="05050102010706020507" pitchFamily="18" charset="2"/>
              </a:rPr>
              <a:t>说明</a:t>
            </a:r>
            <a:r>
              <a:rPr lang="zh-CN" altLang="en-US" sz="2400" b="1">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a:latin typeface="Times New Roman" panose="02020603050405020304" pitchFamily="18" charset="0"/>
                <a:cs typeface="Times New Roman" panose="02020603050405020304" pitchFamily="18" charset="0"/>
                <a:sym typeface="Symbol" panose="05050102010706020507" pitchFamily="18" charset="2"/>
              </a:rPr>
              <a:t>1</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a:latin typeface="Times New Roman" panose="02020603050405020304" pitchFamily="18" charset="0"/>
                <a:cs typeface="Times New Roman" panose="02020603050405020304" pitchFamily="18" charset="0"/>
                <a:sym typeface="Symbol" panose="05050102010706020507" pitchFamily="18" charset="2"/>
              </a:rPr>
              <a:t>2</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  </a:t>
            </a:r>
            <a:r>
              <a:rPr lang="en-US" altLang="zh-CN" sz="2400" b="1" i="1">
                <a:latin typeface="Times New Roman" panose="02020603050405020304" pitchFamily="18" charset="0"/>
                <a:cs typeface="Times New Roman" panose="02020603050405020304" pitchFamily="18" charset="0"/>
              </a:rPr>
              <a:t>w</a:t>
            </a:r>
            <a:r>
              <a:rPr lang="en-US" altLang="zh-CN" sz="2400" b="1" baseline="-25000">
                <a:latin typeface="Times New Roman" panose="02020603050405020304" pitchFamily="18" charset="0"/>
                <a:cs typeface="Times New Roman" panose="02020603050405020304" pitchFamily="18" charset="0"/>
              </a:rPr>
              <a:t>12</a:t>
            </a:r>
            <a:r>
              <a:rPr lang="en-US" altLang="zh-CN" sz="2400" b="1">
                <a:latin typeface="Times New Roman" panose="02020603050405020304" pitchFamily="18" charset="0"/>
                <a:cs typeface="Times New Roman" panose="02020603050405020304" pitchFamily="18" charset="0"/>
              </a:rPr>
              <a:t>, </a:t>
            </a:r>
            <a:endParaRPr lang="en-US" altLang="zh-CN" sz="2400" b="1">
              <a:latin typeface="Times New Roman" panose="02020603050405020304" pitchFamily="18" charset="0"/>
              <a:cs typeface="Times New Roman" panose="02020603050405020304" pitchFamily="18" charset="0"/>
            </a:endParaRPr>
          </a:p>
          <a:p>
            <a:pPr eaLnBrk="1" hangingPunct="1">
              <a:spcBef>
                <a:spcPct val="0"/>
              </a:spcBef>
              <a:buFontTx/>
              <a:buNone/>
            </a:pPr>
            <a:r>
              <a:rPr lang="en-US" altLang="zh-CN" sz="2400" b="1">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rPr>
              <a:t>A</a:t>
            </a:r>
            <a:r>
              <a:rPr lang="en-US" altLang="zh-CN" sz="2400" b="1" baseline="-25000">
                <a:latin typeface="Times New Roman" panose="02020603050405020304" pitchFamily="18" charset="0"/>
                <a:cs typeface="Times New Roman" panose="02020603050405020304" pitchFamily="18" charset="0"/>
              </a:rPr>
              <a:t>1</a:t>
            </a:r>
            <a:r>
              <a:rPr lang="en-US" altLang="zh-CN" sz="2400" b="1">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rPr>
              <a:t>B</a:t>
            </a:r>
            <a:r>
              <a:rPr lang="en-US" altLang="zh-CN" sz="2400" b="1" baseline="-25000">
                <a:latin typeface="Times New Roman" panose="02020603050405020304" pitchFamily="18" charset="0"/>
                <a:cs typeface="Times New Roman" panose="02020603050405020304" pitchFamily="18" charset="0"/>
              </a:rPr>
              <a:t>2</a:t>
            </a:r>
            <a:r>
              <a:rPr lang="en-US" altLang="zh-CN" sz="2400" b="1">
                <a:latin typeface="Times New Roman" panose="02020603050405020304" pitchFamily="18" charset="0"/>
                <a:cs typeface="Times New Roman" panose="02020603050405020304" pitchFamily="18" charset="0"/>
              </a:rPr>
              <a:t>)</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G</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IJ</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a:latin typeface="Times New Roman" panose="02020603050405020304" pitchFamily="18" charset="0"/>
              <a:cs typeface="Times New Roman" panose="02020603050405020304" pitchFamily="18" charset="0"/>
              <a:sym typeface="Symbol" panose="05050102010706020507" pitchFamily="18" charset="2"/>
            </a:endParaRPr>
          </a:p>
          <a:p>
            <a:pPr eaLnBrk="1" hangingPunct="1">
              <a:spcBef>
                <a:spcPct val="0"/>
              </a:spcBef>
              <a:buFontTx/>
              <a:buNone/>
            </a:pPr>
            <a:r>
              <a:rPr lang="zh-CN" altLang="en-US" sz="2400" b="1">
                <a:latin typeface="Times New Roman" panose="02020603050405020304" pitchFamily="18" charset="0"/>
                <a:cs typeface="Times New Roman" panose="02020603050405020304" pitchFamily="18" charset="0"/>
                <a:sym typeface="Symbol" panose="05050102010706020507" pitchFamily="18" charset="2"/>
              </a:rPr>
              <a:t>但它不影响后面的标号</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a:latin typeface="Times New Roman" panose="02020603050405020304" pitchFamily="18" charset="0"/>
                <a:cs typeface="Times New Roman" panose="02020603050405020304" pitchFamily="18" charset="0"/>
                <a:sym typeface="Symbol" panose="05050102010706020507" pitchFamily="18" charset="2"/>
              </a:rPr>
              <a:t>不必管它</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a:t>
            </a:r>
            <a:endParaRPr lang="zh-CN" altLang="en-US" sz="2400" b="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1"/>
                                        </p:tgtEl>
                                        <p:attrNameLst>
                                          <p:attrName>style.visibility</p:attrName>
                                        </p:attrNameLst>
                                      </p:cBhvr>
                                      <p:to>
                                        <p:strVal val="visible"/>
                                      </p:to>
                                    </p:set>
                                    <p:anim calcmode="lin" valueType="num">
                                      <p:cBhvr additive="base">
                                        <p:cTn id="13" dur="500" fill="hold"/>
                                        <p:tgtEl>
                                          <p:spTgt spid="91"/>
                                        </p:tgtEl>
                                        <p:attrNameLst>
                                          <p:attrName>ppt_x</p:attrName>
                                        </p:attrNameLst>
                                      </p:cBhvr>
                                      <p:tavLst>
                                        <p:tav tm="0">
                                          <p:val>
                                            <p:strVal val="#ppt_x"/>
                                          </p:val>
                                        </p:tav>
                                        <p:tav tm="100000">
                                          <p:val>
                                            <p:strVal val="#ppt_x"/>
                                          </p:val>
                                        </p:tav>
                                      </p:tavLst>
                                    </p:anim>
                                    <p:anim calcmode="lin" valueType="num">
                                      <p:cBhvr additive="base">
                                        <p:cTn id="14" dur="500" fill="hold"/>
                                        <p:tgtEl>
                                          <p:spTgt spid="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3"/>
          <p:cNvSpPr>
            <a:spLocks noGrp="1"/>
          </p:cNvSpPr>
          <p:nvPr>
            <p:ph type="sldNum" sz="quarter" idx="12"/>
          </p:nvPr>
        </p:nvSpPr>
        <p:spPr bwMode="auto">
          <a:xfrm>
            <a:off x="6553200" y="630872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D4DFC98F-C491-4778-84B1-5B0D5BF478F4}" type="slidenum">
              <a:rPr lang="zh-CN" altLang="en-US" sz="1200" smtClean="0">
                <a:solidFill>
                  <a:srgbClr val="898989"/>
                </a:solidFill>
              </a:rPr>
            </a:fld>
            <a:endParaRPr lang="zh-CN" altLang="en-US" sz="1200" smtClean="0">
              <a:solidFill>
                <a:srgbClr val="898989"/>
              </a:solidFill>
            </a:endParaRPr>
          </a:p>
        </p:txBody>
      </p:sp>
      <p:sp>
        <p:nvSpPr>
          <p:cNvPr id="103427" name="标题 1"/>
          <p:cNvSpPr>
            <a:spLocks noGrp="1"/>
          </p:cNvSpPr>
          <p:nvPr>
            <p:ph type="title"/>
          </p:nvPr>
        </p:nvSpPr>
        <p:spPr>
          <a:xfrm>
            <a:off x="568325" y="206375"/>
            <a:ext cx="3195638" cy="1277938"/>
          </a:xfrm>
        </p:spPr>
        <p:txBody>
          <a:bodyPr/>
          <a:lstStyle/>
          <a:p>
            <a:pPr algn="l"/>
            <a:r>
              <a:rPr lang="zh-CN" altLang="en-US" sz="3200" b="1" dirty="0" smtClean="0">
                <a:solidFill>
                  <a:srgbClr val="C00000"/>
                </a:solidFill>
                <a:latin typeface="Times New Roman" panose="02020603050405020304" pitchFamily="18" charset="0"/>
                <a:cs typeface="Times New Roman" panose="02020603050405020304" pitchFamily="18" charset="0"/>
              </a:rPr>
              <a:t>例</a:t>
            </a:r>
            <a:r>
              <a:rPr lang="en-US" altLang="zh-CN" sz="3200" b="1" dirty="0" smtClean="0">
                <a:solidFill>
                  <a:srgbClr val="C00000"/>
                </a:solidFill>
                <a:latin typeface="Times New Roman" panose="02020603050405020304" pitchFamily="18" charset="0"/>
                <a:cs typeface="Times New Roman" panose="02020603050405020304" pitchFamily="18" charset="0"/>
              </a:rPr>
              <a:t>7.6 </a:t>
            </a:r>
            <a:r>
              <a:rPr lang="en-US" altLang="zh-CN" sz="3200" b="1" dirty="0" smtClean="0">
                <a:solidFill>
                  <a:srgbClr val="C00000"/>
                </a:solidFill>
                <a:latin typeface="Times New Roman" panose="02020603050405020304" pitchFamily="18" charset="0"/>
                <a:cs typeface="Times New Roman" panose="02020603050405020304" pitchFamily="18" charset="0"/>
              </a:rPr>
              <a:t>(</a:t>
            </a:r>
            <a:r>
              <a:rPr lang="zh-CN" altLang="en-US" sz="3200" b="1" dirty="0" smtClean="0">
                <a:solidFill>
                  <a:srgbClr val="C00000"/>
                </a:solidFill>
                <a:latin typeface="Times New Roman" panose="02020603050405020304" pitchFamily="18" charset="0"/>
                <a:cs typeface="Times New Roman" panose="02020603050405020304" pitchFamily="18" charset="0"/>
              </a:rPr>
              <a:t>续</a:t>
            </a:r>
            <a:r>
              <a:rPr lang="en-US" altLang="zh-CN" sz="3200" b="1" dirty="0" smtClean="0">
                <a:solidFill>
                  <a:srgbClr val="C00000"/>
                </a:solidFill>
                <a:latin typeface="Times New Roman" panose="02020603050405020304" pitchFamily="18" charset="0"/>
                <a:cs typeface="Times New Roman" panose="02020603050405020304" pitchFamily="18" charset="0"/>
              </a:rPr>
              <a:t>)</a:t>
            </a:r>
            <a:endParaRPr lang="zh-CN" altLang="en-US" sz="3200" b="1" dirty="0" smtClean="0">
              <a:solidFill>
                <a:srgbClr val="C00000"/>
              </a:solidFill>
              <a:latin typeface="Times New Roman" panose="02020603050405020304" pitchFamily="18" charset="0"/>
              <a:cs typeface="Times New Roman" panose="02020603050405020304" pitchFamily="18" charset="0"/>
            </a:endParaRPr>
          </a:p>
        </p:txBody>
      </p:sp>
      <p:grpSp>
        <p:nvGrpSpPr>
          <p:cNvPr id="103428" name="组合 64"/>
          <p:cNvGrpSpPr/>
          <p:nvPr/>
        </p:nvGrpSpPr>
        <p:grpSpPr bwMode="auto">
          <a:xfrm>
            <a:off x="1785938" y="1379538"/>
            <a:ext cx="4167187" cy="3000375"/>
            <a:chOff x="1785918" y="1071546"/>
            <a:chExt cx="4167193" cy="3000375"/>
          </a:xfrm>
        </p:grpSpPr>
        <p:sp>
          <p:nvSpPr>
            <p:cNvPr id="103430" name="Text Box 7"/>
            <p:cNvSpPr txBox="1">
              <a:spLocks noChangeArrowheads="1"/>
            </p:cNvSpPr>
            <p:nvPr/>
          </p:nvSpPr>
          <p:spPr bwMode="auto">
            <a:xfrm>
              <a:off x="1785918" y="1071546"/>
              <a:ext cx="3032125"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2400" b="1">
                  <a:latin typeface="Times New Roman" panose="02020603050405020304" pitchFamily="18" charset="0"/>
                </a:rPr>
                <a:t>                                </a:t>
              </a:r>
              <a:r>
                <a:rPr lang="en-US" altLang="zh-CN" sz="2400" b="1" i="1">
                  <a:latin typeface="Times New Roman" panose="02020603050405020304" pitchFamily="18" charset="0"/>
                  <a:sym typeface="Symbol" panose="05050102010706020507" pitchFamily="18" charset="2"/>
                </a:rPr>
                <a:t></a:t>
              </a:r>
              <a:endParaRPr lang="en-US" altLang="zh-CN" sz="2400" b="1" i="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a:t>
              </a:r>
              <a:r>
                <a:rPr lang="en-US" altLang="zh-CN" sz="2400" b="1">
                  <a:solidFill>
                    <a:srgbClr val="0070C0"/>
                  </a:solidFill>
                  <a:latin typeface="Times New Roman" panose="02020603050405020304" pitchFamily="18" charset="0"/>
                </a:rPr>
                <a:t> 4     </a:t>
              </a:r>
              <a:r>
                <a:rPr lang="en-US" altLang="zh-CN" sz="2400" b="1">
                  <a:solidFill>
                    <a:srgbClr val="FF0000"/>
                  </a:solidFill>
                  <a:latin typeface="Times New Roman" panose="02020603050405020304" pitchFamily="18" charset="0"/>
                </a:rPr>
                <a:t>3</a:t>
              </a:r>
              <a:r>
                <a:rPr lang="en-US" altLang="zh-CN" sz="2400" b="1">
                  <a:latin typeface="Times New Roman" panose="02020603050405020304" pitchFamily="18" charset="0"/>
                </a:rPr>
                <a:t>     9   -2</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8     </a:t>
              </a:r>
              <a:r>
                <a:rPr lang="en-US" altLang="zh-CN" sz="2400" b="1">
                  <a:solidFill>
                    <a:srgbClr val="0070C0"/>
                  </a:solidFill>
                  <a:latin typeface="Times New Roman" panose="02020603050405020304" pitchFamily="18" charset="0"/>
                </a:rPr>
                <a:t>5</a:t>
              </a:r>
              <a:r>
                <a:rPr lang="en-US" altLang="zh-CN" sz="2400" b="1">
                  <a:latin typeface="Times New Roman" panose="02020603050405020304" pitchFamily="18" charset="0"/>
                </a:rPr>
                <a:t>     8     </a:t>
              </a:r>
              <a:r>
                <a:rPr lang="en-US" altLang="zh-CN" sz="2400" b="1">
                  <a:solidFill>
                    <a:srgbClr val="FF0000"/>
                  </a:solidFill>
                  <a:latin typeface="Times New Roman" panose="02020603050405020304" pitchFamily="18" charset="0"/>
                </a:rPr>
                <a:t>4</a:t>
              </a:r>
              <a:r>
                <a:rPr lang="en-US" altLang="zh-CN" sz="2400" b="1">
                  <a:latin typeface="Times New Roman" panose="02020603050405020304" pitchFamily="18" charset="0"/>
                </a:rPr>
                <a:t>    1</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a:t>
              </a:r>
              <a:r>
                <a:rPr lang="en-US" altLang="zh-CN" sz="2400" b="1">
                  <a:solidFill>
                    <a:srgbClr val="FF0000"/>
                  </a:solidFill>
                  <a:latin typeface="Times New Roman" panose="02020603050405020304" pitchFamily="18" charset="0"/>
                </a:rPr>
                <a:t>3</a:t>
              </a:r>
              <a:r>
                <a:rPr lang="en-US" altLang="zh-CN" sz="2400" b="1">
                  <a:latin typeface="Times New Roman" panose="02020603050405020304" pitchFamily="18" charset="0"/>
                </a:rPr>
                <a:t>     8     </a:t>
              </a:r>
              <a:r>
                <a:rPr lang="en-US" altLang="zh-CN" sz="2400" b="1">
                  <a:solidFill>
                    <a:srgbClr val="0070C0"/>
                  </a:solidFill>
                  <a:latin typeface="Times New Roman" panose="02020603050405020304" pitchFamily="18" charset="0"/>
                </a:rPr>
                <a:t>3     1</a:t>
              </a:r>
              <a:r>
                <a:rPr lang="en-US" altLang="zh-CN" sz="2400" b="1">
                  <a:latin typeface="Times New Roman" panose="02020603050405020304" pitchFamily="18" charset="0"/>
                </a:rPr>
                <a:t>   -2   </a:t>
              </a:r>
              <a:endParaRPr lang="en-US" altLang="zh-CN" sz="2400" b="1">
                <a:latin typeface="Times New Roman" panose="02020603050405020304" pitchFamily="18" charset="0"/>
              </a:endParaRPr>
            </a:p>
            <a:p>
              <a:pPr algn="just" eaLnBrk="1" hangingPunct="1">
                <a:spcBef>
                  <a:spcPct val="0"/>
                </a:spcBef>
                <a:buFontTx/>
                <a:buNone/>
              </a:pPr>
              <a:r>
                <a:rPr lang="en-US" altLang="zh-CN" sz="2400" b="1">
                  <a:latin typeface="Times New Roman" panose="02020603050405020304" pitchFamily="18" charset="0"/>
                </a:rPr>
                <a:t>      9     </a:t>
              </a:r>
              <a:r>
                <a:rPr lang="en-US" altLang="zh-CN" sz="2400" b="1">
                  <a:solidFill>
                    <a:srgbClr val="FF0000"/>
                  </a:solidFill>
                  <a:latin typeface="Times New Roman" panose="02020603050405020304" pitchFamily="18" charset="0"/>
                </a:rPr>
                <a:t>6</a:t>
              </a:r>
              <a:r>
                <a:rPr lang="en-US" altLang="zh-CN" sz="2400" b="1">
                  <a:latin typeface="Times New Roman" panose="02020603050405020304" pitchFamily="18" charset="0"/>
                </a:rPr>
                <a:t>     9     6    2</a:t>
              </a:r>
              <a:endParaRPr lang="en-US" altLang="zh-CN" sz="2400" b="1">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sym typeface="Symbol" panose="05050102010706020507" pitchFamily="18" charset="2"/>
                </a:rPr>
                <a:t></a:t>
              </a:r>
              <a:r>
                <a:rPr lang="en-US" altLang="zh-CN" sz="2400" b="1">
                  <a:latin typeface="Times New Roman" panose="02020603050405020304" pitchFamily="18" charset="0"/>
                  <a:sym typeface="Symbol" panose="05050102010706020507" pitchFamily="18" charset="2"/>
                </a:rPr>
                <a:t>    5     4     5     3</a:t>
              </a:r>
              <a:endParaRPr lang="en-US" altLang="zh-CN" sz="2400" b="1">
                <a:latin typeface="Times New Roman" panose="02020603050405020304" pitchFamily="18" charset="0"/>
                <a:sym typeface="Symbol" panose="05050102010706020507" pitchFamily="18" charset="2"/>
              </a:endParaRPr>
            </a:p>
            <a:p>
              <a:pPr algn="just" eaLnBrk="1" hangingPunct="1">
                <a:spcBef>
                  <a:spcPct val="0"/>
                </a:spcBef>
                <a:buFontTx/>
                <a:buNone/>
              </a:pPr>
              <a:r>
                <a:rPr lang="en-US" altLang="zh-CN" sz="2400" b="1" i="1">
                  <a:latin typeface="Times New Roman" panose="02020603050405020304" pitchFamily="18" charset="0"/>
                </a:rPr>
                <a:t>s</a:t>
              </a:r>
              <a:endParaRPr lang="en-US" altLang="zh-CN" sz="2400" b="1">
                <a:solidFill>
                  <a:srgbClr val="0070C0"/>
                </a:solidFill>
                <a:latin typeface="Times New Roman" panose="02020603050405020304" pitchFamily="18" charset="0"/>
              </a:endParaRPr>
            </a:p>
            <a:p>
              <a:pPr algn="just" eaLnBrk="1" hangingPunct="1">
                <a:spcBef>
                  <a:spcPct val="0"/>
                </a:spcBef>
                <a:buFontTx/>
                <a:buNone/>
              </a:pPr>
              <a:r>
                <a:rPr lang="en-US" altLang="zh-CN" sz="2400" b="1" i="1">
                  <a:latin typeface="Times New Roman" panose="02020603050405020304" pitchFamily="18" charset="0"/>
                </a:rPr>
                <a:t>h</a:t>
              </a:r>
              <a:endParaRPr lang="en-US" altLang="zh-CN" sz="2400" b="1" i="1">
                <a:latin typeface="Times New Roman" panose="02020603050405020304" pitchFamily="18" charset="0"/>
              </a:endParaRPr>
            </a:p>
          </p:txBody>
        </p:sp>
        <p:sp>
          <p:nvSpPr>
            <p:cNvPr id="103431" name="Text Box 26"/>
            <p:cNvSpPr txBox="1">
              <a:spLocks noChangeArrowheads="1"/>
            </p:cNvSpPr>
            <p:nvPr/>
          </p:nvSpPr>
          <p:spPr bwMode="auto">
            <a:xfrm>
              <a:off x="5111739" y="1285858"/>
              <a:ext cx="269467" cy="206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A</a:t>
              </a:r>
              <a:endParaRPr lang="zh-CN" altLang="zh-CN" sz="2000" b="1">
                <a:latin typeface="Arial" panose="020B0604020202020204" pitchFamily="34" charset="0"/>
              </a:endParaRPr>
            </a:p>
          </p:txBody>
        </p:sp>
        <p:sp>
          <p:nvSpPr>
            <p:cNvPr id="103432" name="Oval 13"/>
            <p:cNvSpPr>
              <a:spLocks noChangeArrowheads="1"/>
            </p:cNvSpPr>
            <p:nvPr/>
          </p:nvSpPr>
          <p:spPr bwMode="auto">
            <a:xfrm>
              <a:off x="5218660" y="1643099"/>
              <a:ext cx="103191" cy="11617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3433" name="Oval 14"/>
            <p:cNvSpPr>
              <a:spLocks noChangeArrowheads="1"/>
            </p:cNvSpPr>
            <p:nvPr/>
          </p:nvSpPr>
          <p:spPr bwMode="auto">
            <a:xfrm>
              <a:off x="5227732" y="2088149"/>
              <a:ext cx="103191" cy="11617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3434" name="Oval 15"/>
            <p:cNvSpPr>
              <a:spLocks noChangeArrowheads="1"/>
            </p:cNvSpPr>
            <p:nvPr/>
          </p:nvSpPr>
          <p:spPr bwMode="auto">
            <a:xfrm>
              <a:off x="5227732" y="2507019"/>
              <a:ext cx="103191" cy="11617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3435" name="Oval 16"/>
            <p:cNvSpPr>
              <a:spLocks noChangeArrowheads="1"/>
            </p:cNvSpPr>
            <p:nvPr/>
          </p:nvSpPr>
          <p:spPr bwMode="auto">
            <a:xfrm>
              <a:off x="5236804" y="2952069"/>
              <a:ext cx="103191" cy="11617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3436" name="Oval 17"/>
            <p:cNvSpPr>
              <a:spLocks noChangeArrowheads="1"/>
            </p:cNvSpPr>
            <p:nvPr/>
          </p:nvSpPr>
          <p:spPr bwMode="auto">
            <a:xfrm>
              <a:off x="5826461" y="1656189"/>
              <a:ext cx="103191" cy="11617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3437" name="Oval 18"/>
            <p:cNvSpPr>
              <a:spLocks noChangeArrowheads="1"/>
            </p:cNvSpPr>
            <p:nvPr/>
          </p:nvSpPr>
          <p:spPr bwMode="auto">
            <a:xfrm>
              <a:off x="5835533" y="2101238"/>
              <a:ext cx="103191" cy="11617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3438" name="Oval 19"/>
            <p:cNvSpPr>
              <a:spLocks noChangeArrowheads="1"/>
            </p:cNvSpPr>
            <p:nvPr/>
          </p:nvSpPr>
          <p:spPr bwMode="auto">
            <a:xfrm>
              <a:off x="5835533" y="2520109"/>
              <a:ext cx="103191" cy="11617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3439" name="Oval 20"/>
            <p:cNvSpPr>
              <a:spLocks noChangeArrowheads="1"/>
            </p:cNvSpPr>
            <p:nvPr/>
          </p:nvSpPr>
          <p:spPr bwMode="auto">
            <a:xfrm>
              <a:off x="5844604" y="2965159"/>
              <a:ext cx="103191" cy="116171"/>
            </a:xfrm>
            <a:prstGeom prst="ellipse">
              <a:avLst/>
            </a:prstGeom>
            <a:solidFill>
              <a:srgbClr val="FFFFFF"/>
            </a:solidFill>
            <a:ln w="19050">
              <a:solidFill>
                <a:srgbClr val="000000"/>
              </a:solidFill>
              <a:rou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cxnSp>
          <p:nvCxnSpPr>
            <p:cNvPr id="103440" name="AutoShape 21"/>
            <p:cNvCxnSpPr>
              <a:cxnSpLocks noChangeShapeType="1"/>
            </p:cNvCxnSpPr>
            <p:nvPr/>
          </p:nvCxnSpPr>
          <p:spPr bwMode="auto">
            <a:xfrm>
              <a:off x="5321851" y="1759269"/>
              <a:ext cx="522754" cy="341969"/>
            </a:xfrm>
            <a:prstGeom prst="straightConnector1">
              <a:avLst/>
            </a:prstGeom>
            <a:noFill/>
            <a:ln w="19050">
              <a:solidFill>
                <a:schemeClr val="tx1"/>
              </a:solidFill>
              <a:round/>
            </a:ln>
            <a:extLst>
              <a:ext uri="{909E8E84-426E-40DD-AFC4-6F175D3DCCD1}">
                <a14:hiddenFill xmlns:a14="http://schemas.microsoft.com/office/drawing/2010/main">
                  <a:noFill/>
                </a14:hiddenFill>
              </a:ext>
            </a:extLst>
          </p:spPr>
        </p:cxnSp>
        <p:cxnSp>
          <p:nvCxnSpPr>
            <p:cNvPr id="103441" name="AutoShape 22"/>
            <p:cNvCxnSpPr>
              <a:cxnSpLocks noChangeShapeType="1"/>
            </p:cNvCxnSpPr>
            <p:nvPr/>
          </p:nvCxnSpPr>
          <p:spPr bwMode="auto">
            <a:xfrm>
              <a:off x="5321851" y="1772359"/>
              <a:ext cx="522754" cy="749386"/>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103442" name="AutoShape 23"/>
            <p:cNvCxnSpPr>
              <a:cxnSpLocks noChangeShapeType="1"/>
            </p:cNvCxnSpPr>
            <p:nvPr/>
          </p:nvCxnSpPr>
          <p:spPr bwMode="auto">
            <a:xfrm flipV="1">
              <a:off x="5321851" y="1772359"/>
              <a:ext cx="522754" cy="749386"/>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103443" name="AutoShape 24"/>
            <p:cNvCxnSpPr>
              <a:cxnSpLocks noChangeShapeType="1"/>
            </p:cNvCxnSpPr>
            <p:nvPr/>
          </p:nvCxnSpPr>
          <p:spPr bwMode="auto">
            <a:xfrm>
              <a:off x="5339994" y="2561014"/>
              <a:ext cx="495539" cy="0"/>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cxnSp>
          <p:nvCxnSpPr>
            <p:cNvPr id="103444" name="AutoShape 25"/>
            <p:cNvCxnSpPr>
              <a:cxnSpLocks noChangeShapeType="1"/>
            </p:cNvCxnSpPr>
            <p:nvPr/>
          </p:nvCxnSpPr>
          <p:spPr bwMode="auto">
            <a:xfrm>
              <a:off x="5330921" y="2623190"/>
              <a:ext cx="513682" cy="341969"/>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sp>
          <p:nvSpPr>
            <p:cNvPr id="103445" name="Text Box 26"/>
            <p:cNvSpPr txBox="1">
              <a:spLocks noChangeArrowheads="1"/>
            </p:cNvSpPr>
            <p:nvPr/>
          </p:nvSpPr>
          <p:spPr bwMode="auto">
            <a:xfrm>
              <a:off x="5683644" y="1285858"/>
              <a:ext cx="269467" cy="206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64000"/>
                </a:lnSpc>
                <a:spcBef>
                  <a:spcPct val="0"/>
                </a:spcBef>
                <a:buFontTx/>
                <a:buNone/>
              </a:pPr>
              <a:r>
                <a:rPr lang="en-US" altLang="zh-CN" sz="2000" b="1" i="1">
                  <a:latin typeface="Times New Roman" panose="02020603050405020304" pitchFamily="18" charset="0"/>
                </a:rPr>
                <a:t>B</a:t>
              </a:r>
              <a:endParaRPr lang="zh-CN" altLang="zh-CN" sz="2000" b="1">
                <a:latin typeface="Arial" panose="020B0604020202020204" pitchFamily="34" charset="0"/>
              </a:endParaRPr>
            </a:p>
          </p:txBody>
        </p:sp>
        <p:cxnSp>
          <p:nvCxnSpPr>
            <p:cNvPr id="85" name="直接连接符 84"/>
            <p:cNvCxnSpPr>
              <a:stCxn id="103433" idx="6"/>
              <a:endCxn id="103437" idx="2"/>
            </p:cNvCxnSpPr>
            <p:nvPr/>
          </p:nvCxnSpPr>
          <p:spPr bwMode="auto">
            <a:xfrm>
              <a:off x="5330810" y="2146283"/>
              <a:ext cx="504826" cy="1270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03447" name="AutoShape 23"/>
            <p:cNvCxnSpPr>
              <a:cxnSpLocks noChangeShapeType="1"/>
              <a:endCxn id="103437" idx="3"/>
            </p:cNvCxnSpPr>
            <p:nvPr/>
          </p:nvCxnSpPr>
          <p:spPr bwMode="auto">
            <a:xfrm rot="5400000" flipH="1" flipV="1">
              <a:off x="5168528" y="2318223"/>
              <a:ext cx="799946" cy="564290"/>
            </a:xfrm>
            <a:prstGeom prst="straightConnector1">
              <a:avLst/>
            </a:prstGeom>
            <a:noFill/>
            <a:ln w="19050">
              <a:solidFill>
                <a:srgbClr val="FF0000"/>
              </a:solidFill>
              <a:round/>
            </a:ln>
            <a:extLst>
              <a:ext uri="{909E8E84-426E-40DD-AFC4-6F175D3DCCD1}">
                <a14:hiddenFill xmlns:a14="http://schemas.microsoft.com/office/drawing/2010/main">
                  <a:noFill/>
                </a14:hiddenFill>
              </a:ext>
            </a:extLst>
          </p:spPr>
        </p:cxnSp>
        <p:cxnSp>
          <p:nvCxnSpPr>
            <p:cNvPr id="67" name="直接连接符 66"/>
            <p:cNvCxnSpPr/>
            <p:nvPr/>
          </p:nvCxnSpPr>
          <p:spPr>
            <a:xfrm rot="16200000" flipH="1">
              <a:off x="5190317" y="2313764"/>
              <a:ext cx="795338" cy="542926"/>
            </a:xfrm>
            <a:prstGeom prst="line">
              <a:avLst/>
            </a:prstGeom>
            <a:ln w="19050">
              <a:solidFill>
                <a:srgbClr val="FF0000"/>
              </a:solidFill>
              <a:prstDash val="solid"/>
            </a:ln>
          </p:spPr>
          <p:style>
            <a:lnRef idx="1">
              <a:schemeClr val="accent1"/>
            </a:lnRef>
            <a:fillRef idx="0">
              <a:schemeClr val="accent1"/>
            </a:fillRef>
            <a:effectRef idx="0">
              <a:schemeClr val="accent1"/>
            </a:effectRef>
            <a:fontRef idx="minor">
              <a:schemeClr val="tx1"/>
            </a:fontRef>
          </p:style>
        </p:cxnSp>
      </p:grpSp>
      <p:sp>
        <p:nvSpPr>
          <p:cNvPr id="24" name="TextBox 23"/>
          <p:cNvSpPr txBox="1">
            <a:spLocks noChangeArrowheads="1"/>
          </p:cNvSpPr>
          <p:nvPr/>
        </p:nvSpPr>
        <p:spPr bwMode="auto">
          <a:xfrm>
            <a:off x="971550" y="4846638"/>
            <a:ext cx="720090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b="1">
                <a:latin typeface="Times New Roman" panose="02020603050405020304" pitchFamily="18" charset="0"/>
                <a:cs typeface="Times New Roman" panose="02020603050405020304" pitchFamily="18" charset="0"/>
                <a:sym typeface="Symbol" panose="05050102010706020507" pitchFamily="18" charset="2"/>
              </a:rPr>
              <a:t>最优解 </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M</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 = { (</a:t>
            </a:r>
            <a:r>
              <a:rPr lang="en-US" altLang="zh-CN" sz="2400" b="1" i="1">
                <a:latin typeface="Times New Roman" panose="02020603050405020304" pitchFamily="18" charset="0"/>
                <a:cs typeface="Times New Roman" panose="02020603050405020304" pitchFamily="18" charset="0"/>
              </a:rPr>
              <a:t>A</a:t>
            </a:r>
            <a:r>
              <a:rPr lang="en-US" altLang="zh-CN" sz="2400" b="1" baseline="-25000">
                <a:latin typeface="Times New Roman" panose="02020603050405020304" pitchFamily="18" charset="0"/>
                <a:cs typeface="Times New Roman" panose="02020603050405020304" pitchFamily="18" charset="0"/>
              </a:rPr>
              <a:t>1</a:t>
            </a: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B</a:t>
            </a:r>
            <a:r>
              <a:rPr lang="en-US" altLang="zh-CN" sz="2400" b="1" baseline="-25000">
                <a:latin typeface="Times New Roman" panose="02020603050405020304" pitchFamily="18" charset="0"/>
                <a:cs typeface="Times New Roman" panose="02020603050405020304" pitchFamily="18" charset="0"/>
              </a:rPr>
              <a:t>3</a:t>
            </a: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A</a:t>
            </a:r>
            <a:r>
              <a:rPr lang="en-US" altLang="zh-CN" sz="2400" b="1" baseline="-25000">
                <a:latin typeface="Times New Roman" panose="02020603050405020304" pitchFamily="18" charset="0"/>
                <a:cs typeface="Times New Roman" panose="02020603050405020304" pitchFamily="18" charset="0"/>
              </a:rPr>
              <a:t>2</a:t>
            </a: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B</a:t>
            </a:r>
            <a:r>
              <a:rPr lang="en-US" altLang="zh-CN" sz="2400" b="1" baseline="-25000">
                <a:latin typeface="Times New Roman" panose="02020603050405020304" pitchFamily="18" charset="0"/>
                <a:cs typeface="Times New Roman" panose="02020603050405020304" pitchFamily="18" charset="0"/>
              </a:rPr>
              <a:t>4</a:t>
            </a:r>
            <a:r>
              <a:rPr lang="en-US" altLang="zh-CN" sz="2400" b="1">
                <a:latin typeface="Times New Roman" panose="02020603050405020304" pitchFamily="18" charset="0"/>
                <a:cs typeface="Times New Roman" panose="02020603050405020304" pitchFamily="18" charset="0"/>
              </a:rPr>
              <a:t>), </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a:latin typeface="Times New Roman" panose="02020603050405020304" pitchFamily="18" charset="0"/>
                <a:cs typeface="Times New Roman" panose="02020603050405020304" pitchFamily="18" charset="0"/>
              </a:rPr>
              <a:t>A</a:t>
            </a:r>
            <a:r>
              <a:rPr lang="en-US" altLang="zh-CN" sz="2400" b="1" baseline="-25000">
                <a:latin typeface="Times New Roman" panose="02020603050405020304" pitchFamily="18" charset="0"/>
                <a:cs typeface="Times New Roman" panose="02020603050405020304" pitchFamily="18" charset="0"/>
              </a:rPr>
              <a:t>3</a:t>
            </a: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B</a:t>
            </a:r>
            <a:r>
              <a:rPr lang="en-US" altLang="zh-CN" sz="2400" b="1" baseline="-25000">
                <a:latin typeface="Times New Roman" panose="02020603050405020304" pitchFamily="18" charset="0"/>
                <a:cs typeface="Times New Roman" panose="02020603050405020304" pitchFamily="18" charset="0"/>
              </a:rPr>
              <a:t>1</a:t>
            </a: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A</a:t>
            </a:r>
            <a:r>
              <a:rPr lang="en-US" altLang="zh-CN" sz="2400" b="1" baseline="-25000">
                <a:latin typeface="Times New Roman" panose="02020603050405020304" pitchFamily="18" charset="0"/>
                <a:cs typeface="Times New Roman" panose="02020603050405020304" pitchFamily="18" charset="0"/>
              </a:rPr>
              <a:t>4</a:t>
            </a: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B</a:t>
            </a:r>
            <a:r>
              <a:rPr lang="en-US" altLang="zh-CN" sz="2400" b="1" baseline="-25000">
                <a:latin typeface="Times New Roman" panose="02020603050405020304" pitchFamily="18" charset="0"/>
                <a:cs typeface="Times New Roman" panose="02020603050405020304" pitchFamily="18" charset="0"/>
              </a:rPr>
              <a:t>2</a:t>
            </a:r>
            <a:r>
              <a:rPr lang="en-US" altLang="zh-CN" sz="2400" b="1">
                <a:latin typeface="Times New Roman" panose="02020603050405020304" pitchFamily="18" charset="0"/>
                <a:cs typeface="Times New Roman" panose="02020603050405020304" pitchFamily="18" charset="0"/>
              </a:rPr>
              <a:t>) },</a:t>
            </a:r>
            <a:endParaRPr lang="en-US" altLang="zh-CN" sz="2400" b="1">
              <a:latin typeface="Times New Roman" panose="02020603050405020304" pitchFamily="18" charset="0"/>
              <a:cs typeface="Times New Roman" panose="02020603050405020304" pitchFamily="18" charset="0"/>
              <a:sym typeface="Symbol" panose="05050102010706020507" pitchFamily="18" charset="2"/>
            </a:endParaRPr>
          </a:p>
          <a:p>
            <a:pPr eaLnBrk="1" hangingPunct="1">
              <a:spcBef>
                <a:spcPts val="1200"/>
              </a:spcBef>
              <a:buFontTx/>
              <a:buNone/>
            </a:pP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w</a:t>
            </a:r>
            <a:r>
              <a:rPr lang="en-US" altLang="zh-CN" sz="2400" b="1">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rPr>
              <a:t>M</a:t>
            </a:r>
            <a:r>
              <a:rPr lang="en-US" altLang="zh-CN" sz="2400" b="1">
                <a:latin typeface="Times New Roman" panose="02020603050405020304" pitchFamily="18" charset="0"/>
                <a:cs typeface="Times New Roman" panose="02020603050405020304" pitchFamily="18" charset="0"/>
              </a:rPr>
              <a:t>) = 3  +4 + 3 + 6 = 16.</a:t>
            </a:r>
            <a:endParaRPr lang="zh-CN" altLang="en-US" sz="2400" b="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tags/tag1.xml><?xml version="1.0" encoding="utf-8"?>
<p:tagLst xmlns:p="http://schemas.openxmlformats.org/presentationml/2006/main">
  <p:tag name="KSO_WM_UNIT_PLACING_PICTURE_USER_VIEWPORT" val="{&quot;height&quot;:1965,&quot;width&quot;:5340}"/>
</p:tagLst>
</file>

<file path=ppt/tags/tag2.xml><?xml version="1.0" encoding="utf-8"?>
<p:tagLst xmlns:p="http://schemas.openxmlformats.org/presentationml/2006/main">
  <p:tag name="KSO_WPP_MARK_KEY" val="307ffba3-ae30-4086-973f-2eec711483b8"/>
  <p:tag name="COMMONDATA" val="eyJoZGlkIjoiZDBmZTc0ODk3N2IyMzc2ODZhMDBiODE4YzYzZDNiND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29639</Words>
  <Application>WPS 演示</Application>
  <PresentationFormat>全屏显示(4:3)</PresentationFormat>
  <Paragraphs>2955</Paragraphs>
  <Slides>99</Slides>
  <Notes>2</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76</vt:i4>
      </vt:variant>
      <vt:variant>
        <vt:lpstr>幻灯片标题</vt:lpstr>
      </vt:variant>
      <vt:variant>
        <vt:i4>99</vt:i4>
      </vt:variant>
    </vt:vector>
  </HeadingPairs>
  <TitlesOfParts>
    <vt:vector size="189" baseType="lpstr">
      <vt:lpstr>Arial</vt:lpstr>
      <vt:lpstr>宋体</vt:lpstr>
      <vt:lpstr>Wingdings</vt:lpstr>
      <vt:lpstr>Calibri</vt:lpstr>
      <vt:lpstr>Times New Roman</vt:lpstr>
      <vt:lpstr>黑体</vt:lpstr>
      <vt:lpstr>Symbol</vt:lpstr>
      <vt:lpstr>Cambria Math</vt:lpstr>
      <vt:lpstr>微软雅黑</vt:lpstr>
      <vt:lpstr>Arial Unicode MS</vt:lpstr>
      <vt:lpstr>Symbol</vt:lpstr>
      <vt:lpstr>Adobe Garamond Pro Bold</vt:lpstr>
      <vt:lpstr>Garamond</vt:lpstr>
      <vt:lpstr>Office 主题</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第7章  网络流算法</vt:lpstr>
      <vt:lpstr>第7章  网络流算法</vt:lpstr>
      <vt:lpstr>7.1 最大流算法</vt:lpstr>
      <vt:lpstr>最大流问题</vt:lpstr>
      <vt:lpstr>最小割集</vt:lpstr>
      <vt:lpstr>引理7.1证明</vt:lpstr>
      <vt:lpstr>引理7.1证明（续）</vt:lpstr>
      <vt:lpstr>7.1.2 Ford-Fulkerson算法</vt:lpstr>
      <vt:lpstr>最大流的性质</vt:lpstr>
      <vt:lpstr>定理</vt:lpstr>
      <vt:lpstr>FF算法</vt:lpstr>
      <vt:lpstr>FF算法设计思想</vt:lpstr>
      <vt:lpstr>FF算法</vt:lpstr>
      <vt:lpstr>FF算法（续）</vt:lpstr>
      <vt:lpstr>例</vt:lpstr>
      <vt:lpstr>例7.1 (续)</vt:lpstr>
      <vt:lpstr>FF算法的运行时间和有限终止性</vt:lpstr>
      <vt:lpstr>7.1.3 Dinic有效算法</vt:lpstr>
      <vt:lpstr>引理</vt:lpstr>
      <vt:lpstr>引理</vt:lpstr>
      <vt:lpstr>引理证明（续）</vt:lpstr>
      <vt:lpstr>引理证明（续）</vt:lpstr>
      <vt:lpstr>分层辅助网络</vt:lpstr>
      <vt:lpstr>例7.2</vt:lpstr>
      <vt:lpstr>Dinic算法</vt:lpstr>
      <vt:lpstr>例2 (续)</vt:lpstr>
      <vt:lpstr>例2(续)</vt:lpstr>
      <vt:lpstr> 例2(续)</vt:lpstr>
      <vt:lpstr>例2(续)</vt:lpstr>
      <vt:lpstr>Dinic算法</vt:lpstr>
      <vt:lpstr>Dinic算法（续）</vt:lpstr>
      <vt:lpstr>Dinic算法的性质</vt:lpstr>
      <vt:lpstr>Dinic算法的性质(续1)</vt:lpstr>
      <vt:lpstr> Dinic算法的性质（续2）</vt:lpstr>
      <vt:lpstr>Dinic算法的性质（续3）</vt:lpstr>
      <vt:lpstr>Dinic算法的性质（续4）</vt:lpstr>
      <vt:lpstr>Dinic算法的性质（续5）</vt:lpstr>
      <vt:lpstr>7.2  最小费用流</vt:lpstr>
      <vt:lpstr>7.2.1 Floyd算法</vt:lpstr>
      <vt:lpstr>Floyd算法</vt:lpstr>
      <vt:lpstr>Floyd算法</vt:lpstr>
      <vt:lpstr>Floyd算法</vt:lpstr>
      <vt:lpstr>例7.3 最短路径</vt:lpstr>
      <vt:lpstr>例7.3 (续)</vt:lpstr>
      <vt:lpstr>例7.3 (续)</vt:lpstr>
      <vt:lpstr>7.2.2 最小费用流的负回路算法</vt:lpstr>
      <vt:lpstr>最小费用流的负回路算法</vt:lpstr>
      <vt:lpstr>最小费用流的负回路算法</vt:lpstr>
      <vt:lpstr>最小费用流的负回路算法</vt:lpstr>
      <vt:lpstr>最小费用流的负回路算法</vt:lpstr>
      <vt:lpstr>最小费用流的负回路算法</vt:lpstr>
      <vt:lpstr>最小费用流的负回路算法</vt:lpstr>
      <vt:lpstr>算法7.4的有限终止性</vt:lpstr>
      <vt:lpstr>7.2.3 最小费用流的最短路径算法</vt:lpstr>
      <vt:lpstr>最小费用流的最短路径算法</vt:lpstr>
      <vt:lpstr>最小费用流的最短路径算法</vt:lpstr>
      <vt:lpstr>PowerPoint 演示文稿</vt:lpstr>
      <vt:lpstr>7.3 运输问题</vt:lpstr>
      <vt:lpstr>产销不平衡的处理</vt:lpstr>
      <vt:lpstr>模型</vt:lpstr>
      <vt:lpstr>7.3.1 确定初始调运方案</vt:lpstr>
      <vt:lpstr>调运方案的性质</vt:lpstr>
      <vt:lpstr>7.3.2 改进调运方案</vt:lpstr>
      <vt:lpstr>改进调运方案</vt:lpstr>
      <vt:lpstr>改进调运方案</vt:lpstr>
      <vt:lpstr>定理证明</vt:lpstr>
      <vt:lpstr>位势算法</vt:lpstr>
      <vt:lpstr>7.3.3  表 上 作 业 法</vt:lpstr>
      <vt:lpstr>PowerPoint 演示文稿</vt:lpstr>
      <vt:lpstr>7.4 二部图匹配</vt:lpstr>
      <vt:lpstr>增广交错路径</vt:lpstr>
      <vt:lpstr>匈牙利算法</vt:lpstr>
      <vt:lpstr>例7.5 (续)</vt:lpstr>
      <vt:lpstr>匈牙利算法</vt:lpstr>
      <vt:lpstr>匈牙利算法</vt:lpstr>
      <vt:lpstr>匈牙利算法</vt:lpstr>
      <vt:lpstr>匈牙利算法</vt:lpstr>
      <vt:lpstr>匈牙利算法的时间复杂度</vt:lpstr>
      <vt:lpstr>最大匹配算法与最大流</vt:lpstr>
      <vt:lpstr>Dinic算法的应用</vt:lpstr>
      <vt:lpstr>7.4.2 赋权二部图的匹配</vt:lpstr>
      <vt:lpstr>匈牙利算法</vt:lpstr>
      <vt:lpstr>匈牙利算法 (续1)</vt:lpstr>
      <vt:lpstr>匈牙利算法（续2）</vt:lpstr>
      <vt:lpstr>匈牙利算法（续3）</vt:lpstr>
      <vt:lpstr>匈牙利算法（续4）</vt:lpstr>
      <vt:lpstr>PowerPoint 演示文稿</vt:lpstr>
      <vt:lpstr>匈牙利算法（续5）</vt:lpstr>
      <vt:lpstr>匈牙利算法（续6）</vt:lpstr>
      <vt:lpstr>匈牙利算法（续7）</vt:lpstr>
      <vt:lpstr>PowerPoint 演示文稿</vt:lpstr>
      <vt:lpstr>PowerPoint 演示文稿</vt:lpstr>
      <vt:lpstr>匈牙利算法（续8）</vt:lpstr>
      <vt:lpstr>匈牙利算法（续9）</vt:lpstr>
      <vt:lpstr>例7.6 (续)</vt:lpstr>
      <vt:lpstr>例7.6 (续)</vt:lpstr>
      <vt:lpstr>例7.6 (续)</vt:lpstr>
      <vt:lpstr>例7.6 (续)</vt:lpstr>
      <vt:lpstr>例7.6 (续)</vt:lpstr>
    </vt:vector>
  </TitlesOfParts>
  <Company>Beijing Universtiy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Zhang Li Ang</dc:creator>
  <cp:lastModifiedBy>魏黄</cp:lastModifiedBy>
  <cp:revision>576</cp:revision>
  <dcterms:created xsi:type="dcterms:W3CDTF">2010-12-08T08:34:00Z</dcterms:created>
  <dcterms:modified xsi:type="dcterms:W3CDTF">2023-05-09T15:17:47Z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4518FA4ADEC24B4BA99E51750D9FD778</vt:lpwstr>
  </property>
  <property fmtid="{D5CDD505-2E9C-101B-9397-08002B2CF9AE}" pid="3" name="KSOProductBuildVer">
    <vt:lpwstr>2052-11.1.0.14036</vt:lpwstr>
  </property>
</Properties>
</file>