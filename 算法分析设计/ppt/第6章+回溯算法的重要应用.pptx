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7" r:id="rId2"/>
    <p:sldId id="258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0" d="100"/>
          <a:sy n="60" d="100"/>
        </p:scale>
        <p:origin x="-1456" y="-1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780AD1-9F0A-4CB2-A2ED-D3E3110F60D5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93BBAC-DE2B-4976-A366-E15706C88A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9776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6A08E5-8769-484F-A1C1-FF7F58C4BCA2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6486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7676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2635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27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043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2441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729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014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9134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27243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4368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70073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b="0"/>
            </a:lvl1pPr>
          </a:lstStyle>
          <a:p>
            <a:fld id="{1BD687D1-D925-45FB-BD11-1A15B22470BE}" type="datetime1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fld id="{38B6C1F8-11CD-4249-A6B6-D494F5070295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08881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C00000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6/13/2019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350756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6/13/2019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rgbClr val="808080"/>
                </a:solidFill>
                <a:latin typeface="Arial"/>
                <a:cs typeface="Arial"/>
              </a:defRPr>
            </a:lvl1pPr>
          </a:lstStyle>
          <a:p>
            <a:pPr marL="25400">
              <a:lnSpc>
                <a:spcPts val="2090"/>
              </a:lnSpc>
            </a:pPr>
            <a:fld id="{81D60167-4931-47E6-BA6A-407CBD079E47}" type="slidenum">
              <a:rPr spc="-5" dirty="0"/>
              <a:t>‹#›</a:t>
            </a:fld>
            <a:endParaRPr spc="-5" dirty="0"/>
          </a:p>
        </p:txBody>
      </p:sp>
    </p:spTree>
    <p:extLst>
      <p:ext uri="{BB962C8B-B14F-4D97-AF65-F5344CB8AC3E}">
        <p14:creationId xmlns:p14="http://schemas.microsoft.com/office/powerpoint/2010/main" val="1263224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58B1F-BF23-40B2-A972-570F3BC8773C}" type="datetimeFigureOut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282B4C-4D78-4A19-B0D1-F191B29463D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929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notesSlide" Target="../notesSlides/notesSlide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microsoft.com/office/2007/relationships/hdphoto" Target="../media/hdphoto1.wdp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19" Type="http://schemas.openxmlformats.org/officeDocument/2006/relationships/image" Target="../media/image1.pn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Relationship Id="rId9" Type="http://schemas.openxmlformats.org/officeDocument/2006/relationships/image" Target="../media/image50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A_淘宝网chenying0907出品 21"/>
          <p:cNvSpPr txBox="1"/>
          <p:nvPr>
            <p:custDataLst>
              <p:tags r:id="rId1"/>
            </p:custDataLst>
          </p:nvPr>
        </p:nvSpPr>
        <p:spPr>
          <a:xfrm>
            <a:off x="413538" y="2087838"/>
            <a:ext cx="51698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《</a:t>
            </a:r>
            <a:r>
              <a:rPr lang="zh-CN" altLang="en-US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算法分析与设计</a:t>
            </a:r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》</a:t>
            </a:r>
          </a:p>
          <a:p>
            <a:pPr algn="ctr"/>
            <a:r>
              <a:rPr lang="en-US" altLang="zh-CN" sz="40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——</a:t>
            </a:r>
            <a:r>
              <a:rPr lang="zh-CN" altLang="en-US" sz="2800" b="1" dirty="0" smtClean="0">
                <a:solidFill>
                  <a:schemeClr val="accent1">
                    <a:lumMod val="50000"/>
                  </a:schemeClr>
                </a:solidFill>
                <a:latin typeface="微软雅黑" pitchFamily="34" charset="-122"/>
                <a:ea typeface="微软雅黑" pitchFamily="34" charset="-122"/>
              </a:rPr>
              <a:t>回溯算法的应用及小结</a:t>
            </a:r>
            <a:endParaRPr lang="en-US" altLang="zh-CN" sz="2800" b="1" dirty="0" smtClean="0">
              <a:solidFill>
                <a:schemeClr val="accent1">
                  <a:lumMod val="50000"/>
                </a:schemeClr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5" name="PA_淘宝网chenying0907出品 3"/>
          <p:cNvSpPr/>
          <p:nvPr>
            <p:custDataLst>
              <p:tags r:id="rId2"/>
            </p:custDataLst>
          </p:nvPr>
        </p:nvSpPr>
        <p:spPr>
          <a:xfrm>
            <a:off x="413538" y="1772818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_淘宝网chenying0907出品 4"/>
          <p:cNvSpPr/>
          <p:nvPr>
            <p:custDataLst>
              <p:tags r:id="rId3"/>
            </p:custDataLst>
          </p:nvPr>
        </p:nvSpPr>
        <p:spPr>
          <a:xfrm>
            <a:off x="5378056" y="1772818"/>
            <a:ext cx="233314" cy="2545237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PA_淘宝网chenying0907出品 7"/>
          <p:cNvSpPr/>
          <p:nvPr>
            <p:custDataLst>
              <p:tags r:id="rId4"/>
            </p:custDataLst>
          </p:nvPr>
        </p:nvSpPr>
        <p:spPr>
          <a:xfrm>
            <a:off x="5598116" y="2319198"/>
            <a:ext cx="289874" cy="198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" name="PA_直接连接符 9"/>
          <p:cNvCxnSpPr/>
          <p:nvPr>
            <p:custDataLst>
              <p:tags r:id="rId5"/>
            </p:custDataLst>
          </p:nvPr>
        </p:nvCxnSpPr>
        <p:spPr>
          <a:xfrm>
            <a:off x="5378056" y="4318053"/>
            <a:ext cx="3298400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A_淘宝网chenying0907出品 10"/>
          <p:cNvSpPr/>
          <p:nvPr>
            <p:custDataLst>
              <p:tags r:id="rId6"/>
            </p:custDataLst>
          </p:nvPr>
        </p:nvSpPr>
        <p:spPr>
          <a:xfrm>
            <a:off x="5902128" y="2391198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PA_淘宝网chenying0907出品 11"/>
          <p:cNvSpPr/>
          <p:nvPr>
            <p:custDataLst>
              <p:tags r:id="rId7"/>
            </p:custDataLst>
          </p:nvPr>
        </p:nvSpPr>
        <p:spPr>
          <a:xfrm>
            <a:off x="6212147" y="2391198"/>
            <a:ext cx="289874" cy="190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PA_淘宝网chenying0907出品 12"/>
          <p:cNvSpPr/>
          <p:nvPr>
            <p:custDataLst>
              <p:tags r:id="rId8"/>
            </p:custDataLst>
          </p:nvPr>
        </p:nvSpPr>
        <p:spPr>
          <a:xfrm>
            <a:off x="6516710" y="2427198"/>
            <a:ext cx="289874" cy="1872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 flip="none" rotWithShape="1"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  <a:tileRect/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PA_淘宝网chenying0907出品 13"/>
          <p:cNvSpPr/>
          <p:nvPr>
            <p:custDataLst>
              <p:tags r:id="rId9"/>
            </p:custDataLst>
          </p:nvPr>
        </p:nvSpPr>
        <p:spPr>
          <a:xfrm>
            <a:off x="6835962" y="2463198"/>
            <a:ext cx="289874" cy="1836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PA_淘宝网chenying0907出品 14"/>
          <p:cNvSpPr/>
          <p:nvPr>
            <p:custDataLst>
              <p:tags r:id="rId10"/>
            </p:custDataLst>
          </p:nvPr>
        </p:nvSpPr>
        <p:spPr>
          <a:xfrm>
            <a:off x="7152907" y="2499198"/>
            <a:ext cx="289874" cy="1800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PA_淘宝网chenying0907出品 15"/>
          <p:cNvSpPr/>
          <p:nvPr>
            <p:custDataLst>
              <p:tags r:id="rId11"/>
            </p:custDataLst>
          </p:nvPr>
        </p:nvSpPr>
        <p:spPr>
          <a:xfrm rot="20959521">
            <a:off x="7560304" y="2550354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PA_淘宝网chenying0907出品 16"/>
          <p:cNvSpPr/>
          <p:nvPr>
            <p:custDataLst>
              <p:tags r:id="rId12"/>
            </p:custDataLst>
          </p:nvPr>
        </p:nvSpPr>
        <p:spPr>
          <a:xfrm rot="19779136">
            <a:off x="8070722" y="2591950"/>
            <a:ext cx="289874" cy="1728000"/>
          </a:xfrm>
          <a:custGeom>
            <a:avLst/>
            <a:gdLst>
              <a:gd name="connsiteX0" fmla="*/ 177538 w 386499"/>
              <a:gd name="connsiteY0" fmla="*/ 0 h 1395167"/>
              <a:gd name="connsiteX1" fmla="*/ 208961 w 386499"/>
              <a:gd name="connsiteY1" fmla="*/ 0 h 1395167"/>
              <a:gd name="connsiteX2" fmla="*/ 386499 w 386499"/>
              <a:gd name="connsiteY2" fmla="*/ 177538 h 1395167"/>
              <a:gd name="connsiteX3" fmla="*/ 386499 w 386499"/>
              <a:gd name="connsiteY3" fmla="*/ 1395167 h 1395167"/>
              <a:gd name="connsiteX4" fmla="*/ 0 w 386499"/>
              <a:gd name="connsiteY4" fmla="*/ 1395167 h 1395167"/>
              <a:gd name="connsiteX5" fmla="*/ 0 w 386499"/>
              <a:gd name="connsiteY5" fmla="*/ 177538 h 1395167"/>
              <a:gd name="connsiteX6" fmla="*/ 177538 w 386499"/>
              <a:gd name="connsiteY6" fmla="*/ 0 h 1395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86499" h="1395167">
                <a:moveTo>
                  <a:pt x="177538" y="0"/>
                </a:moveTo>
                <a:lnTo>
                  <a:pt x="208961" y="0"/>
                </a:lnTo>
                <a:cubicBezTo>
                  <a:pt x="307013" y="0"/>
                  <a:pt x="386499" y="79486"/>
                  <a:pt x="386499" y="177538"/>
                </a:cubicBezTo>
                <a:lnTo>
                  <a:pt x="386499" y="1395167"/>
                </a:lnTo>
                <a:lnTo>
                  <a:pt x="0" y="1395167"/>
                </a:lnTo>
                <a:lnTo>
                  <a:pt x="0" y="177538"/>
                </a:lnTo>
                <a:cubicBezTo>
                  <a:pt x="0" y="79486"/>
                  <a:pt x="79486" y="0"/>
                  <a:pt x="177538" y="0"/>
                </a:cubicBezTo>
                <a:close/>
              </a:path>
            </a:pathLst>
          </a:custGeom>
          <a:gradFill>
            <a:gsLst>
              <a:gs pos="0">
                <a:schemeClr val="bg1">
                  <a:lumMod val="85000"/>
                </a:schemeClr>
              </a:gs>
              <a:gs pos="46000">
                <a:schemeClr val="bg1">
                  <a:lumMod val="75000"/>
                </a:schemeClr>
              </a:gs>
              <a:gs pos="100000">
                <a:schemeClr val="bg1">
                  <a:lumMod val="50000"/>
                </a:schemeClr>
              </a:gs>
            </a:gsLst>
            <a:path path="circle">
              <a:fillToRect l="50000" t="130000" r="50000" b="-30000"/>
            </a:path>
          </a:gradFill>
          <a:ln w="508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6" name="PA_直接连接符 17"/>
          <p:cNvCxnSpPr/>
          <p:nvPr>
            <p:custDataLst>
              <p:tags r:id="rId13"/>
            </p:custDataLst>
          </p:nvPr>
        </p:nvCxnSpPr>
        <p:spPr>
          <a:xfrm>
            <a:off x="674043" y="4305353"/>
            <a:ext cx="4698522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PA_直接连接符 19"/>
          <p:cNvCxnSpPr/>
          <p:nvPr>
            <p:custDataLst>
              <p:tags r:id="rId14"/>
            </p:custDataLst>
          </p:nvPr>
        </p:nvCxnSpPr>
        <p:spPr>
          <a:xfrm>
            <a:off x="629563" y="1772817"/>
            <a:ext cx="4815179" cy="0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PA_直接连接符 20"/>
          <p:cNvCxnSpPr/>
          <p:nvPr>
            <p:custDataLst>
              <p:tags r:id="rId15"/>
            </p:custDataLst>
          </p:nvPr>
        </p:nvCxnSpPr>
        <p:spPr>
          <a:xfrm flipV="1">
            <a:off x="575557" y="3573016"/>
            <a:ext cx="4834604" cy="11318"/>
          </a:xfrm>
          <a:prstGeom prst="line">
            <a:avLst/>
          </a:prstGeom>
          <a:ln w="15875">
            <a:solidFill>
              <a:schemeClr val="accent1">
                <a:lumMod val="50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PA_淘宝网chenying0907出品 22"/>
          <p:cNvSpPr txBox="1"/>
          <p:nvPr>
            <p:custDataLst>
              <p:tags r:id="rId16"/>
            </p:custDataLst>
          </p:nvPr>
        </p:nvSpPr>
        <p:spPr>
          <a:xfrm>
            <a:off x="859723" y="3762400"/>
            <a:ext cx="3820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latin typeface="微软雅黑" pitchFamily="34" charset="-122"/>
                <a:ea typeface="微软雅黑" pitchFamily="34" charset="-122"/>
              </a:rPr>
              <a:t>试讲人：李志勇</a:t>
            </a:r>
          </a:p>
        </p:txBody>
      </p:sp>
      <p:pic>
        <p:nvPicPr>
          <p:cNvPr id="28" name="Picture 2" descr="https://xxgc.sicau.edu.cn/dfiles/14355/wp-content/uploads/2017/04/logo.png"/>
          <p:cNvPicPr>
            <a:picLocks noChangeAspect="1" noChangeArrowheads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harpenSoften amoun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204" y="10100"/>
            <a:ext cx="3394708" cy="819151"/>
          </a:xfrm>
          <a:prstGeom prst="rect">
            <a:avLst/>
          </a:prstGeom>
          <a:noFill/>
        </p:spPr>
      </p:pic>
      <p:sp>
        <p:nvSpPr>
          <p:cNvPr id="2" name="矩形 1"/>
          <p:cNvSpPr/>
          <p:nvPr/>
        </p:nvSpPr>
        <p:spPr>
          <a:xfrm>
            <a:off x="413538" y="5003884"/>
            <a:ext cx="8187337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《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算法设计与分析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》(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第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2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版</a:t>
            </a:r>
            <a:r>
              <a:rPr lang="en-US" altLang="zh-CN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)</a:t>
            </a:r>
            <a:r>
              <a:rPr lang="zh-CN" altLang="en-US" sz="1600" b="1" dirty="0">
                <a:latin typeface="黑体" panose="02010609060101010101" pitchFamily="49" charset="-122"/>
                <a:ea typeface="黑体" panose="02010609060101010101" pitchFamily="49" charset="-122"/>
              </a:rPr>
              <a:t>，屈婉玲、刘田、张立昂、王捍贫，</a:t>
            </a:r>
            <a:r>
              <a:rPr lang="zh-CN" altLang="en-US" sz="16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清华大学出版社</a:t>
            </a:r>
            <a:endParaRPr lang="zh-CN" altLang="en-US" sz="1600" b="1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日期占位符 2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C6765-BE6E-4593-A223-F2D7034B6D81}" type="datetime1">
              <a:rPr lang="zh-CN" altLang="en-US" smtClean="0"/>
              <a:t>2019/6/13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3" name="灯片编号占位符 2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6C1F8-11CD-4249-A6B6-D494F5070295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13218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500"/>
                            </p:stCondLst>
                            <p:childTnLst>
                              <p:par>
                                <p:cTn id="5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5000"/>
                            </p:stCondLst>
                            <p:childTnLst>
                              <p:par>
                                <p:cTn id="5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5500"/>
                            </p:stCondLst>
                            <p:childTnLst>
                              <p:par>
                                <p:cTn id="60" presetID="17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000"/>
                            </p:stCondLst>
                            <p:childTnLst>
                              <p:par>
                                <p:cTn id="73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9" dur="500" tmFilter="0,0; .5, 1; 1, 1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7500"/>
                            </p:stCondLst>
                            <p:childTnLst>
                              <p:par>
                                <p:cTn id="8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5" grpId="0" animBg="1"/>
      <p:bldP spid="5" grpId="1" animBg="1"/>
      <p:bldP spid="6" grpId="0" animBg="1"/>
      <p:bldP spid="7" grpId="0" animBg="1"/>
      <p:bldP spid="9" grpId="0" animBg="1"/>
      <p:bldP spid="10" grpId="0" bldLvl="0" animBg="1"/>
      <p:bldP spid="11" grpId="0" bldLvl="0" animBg="1"/>
      <p:bldP spid="12" grpId="0" animBg="1"/>
      <p:bldP spid="13" grpId="0" animBg="1"/>
      <p:bldP spid="14" grpId="0" animBg="1"/>
      <p:bldP spid="15" grpId="0" animBg="1"/>
      <p:bldP spid="20" grpId="0"/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03848" y="5463793"/>
            <a:ext cx="414342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分支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限界：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背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包问题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438717" y="2585046"/>
            <a:ext cx="1066800" cy="2540000"/>
          </a:xfrm>
          <a:custGeom>
            <a:avLst/>
            <a:gdLst/>
            <a:ahLst/>
            <a:cxnLst/>
            <a:rect l="l" t="t" r="r" b="b"/>
            <a:pathLst>
              <a:path w="1066800" h="1905000">
                <a:moveTo>
                  <a:pt x="0" y="177800"/>
                </a:moveTo>
                <a:lnTo>
                  <a:pt x="6351" y="130533"/>
                </a:lnTo>
                <a:lnTo>
                  <a:pt x="24274" y="88060"/>
                </a:lnTo>
                <a:lnTo>
                  <a:pt x="52076" y="52076"/>
                </a:lnTo>
                <a:lnTo>
                  <a:pt x="88060" y="24274"/>
                </a:lnTo>
                <a:lnTo>
                  <a:pt x="130533" y="6351"/>
                </a:lnTo>
                <a:lnTo>
                  <a:pt x="177800" y="0"/>
                </a:lnTo>
                <a:lnTo>
                  <a:pt x="889000" y="0"/>
                </a:lnTo>
                <a:lnTo>
                  <a:pt x="936266" y="6351"/>
                </a:lnTo>
                <a:lnTo>
                  <a:pt x="978739" y="24274"/>
                </a:lnTo>
                <a:lnTo>
                  <a:pt x="1014723" y="52076"/>
                </a:lnTo>
                <a:lnTo>
                  <a:pt x="1042525" y="88060"/>
                </a:lnTo>
                <a:lnTo>
                  <a:pt x="1060448" y="130533"/>
                </a:lnTo>
                <a:lnTo>
                  <a:pt x="1066800" y="177800"/>
                </a:lnTo>
                <a:lnTo>
                  <a:pt x="1066800" y="1727187"/>
                </a:lnTo>
                <a:lnTo>
                  <a:pt x="1060448" y="1774458"/>
                </a:lnTo>
                <a:lnTo>
                  <a:pt x="1042525" y="1816935"/>
                </a:lnTo>
                <a:lnTo>
                  <a:pt x="1014723" y="1852922"/>
                </a:lnTo>
                <a:lnTo>
                  <a:pt x="978739" y="1880724"/>
                </a:lnTo>
                <a:lnTo>
                  <a:pt x="936266" y="1898648"/>
                </a:lnTo>
                <a:lnTo>
                  <a:pt x="889000" y="1905000"/>
                </a:lnTo>
                <a:lnTo>
                  <a:pt x="177800" y="1905000"/>
                </a:lnTo>
                <a:lnTo>
                  <a:pt x="130533" y="1898648"/>
                </a:lnTo>
                <a:lnTo>
                  <a:pt x="88060" y="1880724"/>
                </a:lnTo>
                <a:lnTo>
                  <a:pt x="52076" y="1852922"/>
                </a:lnTo>
                <a:lnTo>
                  <a:pt x="24274" y="1816935"/>
                </a:lnTo>
                <a:lnTo>
                  <a:pt x="6351" y="1774458"/>
                </a:lnTo>
                <a:lnTo>
                  <a:pt x="0" y="1727187"/>
                </a:lnTo>
                <a:lnTo>
                  <a:pt x="0" y="1778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699792" y="2771736"/>
            <a:ext cx="533401" cy="2166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 algn="ctr">
              <a:lnSpc>
                <a:spcPct val="100000"/>
              </a:lnSpc>
              <a:spcBef>
                <a:spcPts val="95"/>
              </a:spcBef>
            </a:pP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最大团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390092" y="477523"/>
            <a:ext cx="669674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</a:pPr>
            <a:r>
              <a:rPr sz="4000" b="1" spc="-10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回</a:t>
            </a:r>
            <a:r>
              <a:rPr sz="4000" b="1" spc="-1070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溯</a:t>
            </a:r>
            <a:r>
              <a:rPr sz="4000" b="1" baseline="8148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r>
              <a:rPr sz="4000" b="1" spc="-5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算法的</a:t>
            </a:r>
            <a:r>
              <a:rPr sz="40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应</a:t>
            </a:r>
            <a:r>
              <a:rPr sz="4000" b="1" spc="-5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用及</a:t>
            </a:r>
            <a:r>
              <a:rPr sz="4000" b="1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15" dirty="0" err="1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  <a:endParaRPr sz="40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81717" y="2585045"/>
            <a:ext cx="990600" cy="2540000"/>
          </a:xfrm>
          <a:custGeom>
            <a:avLst/>
            <a:gdLst/>
            <a:ahLst/>
            <a:cxnLst/>
            <a:rect l="l" t="t" r="r" b="b"/>
            <a:pathLst>
              <a:path w="990600" h="1905000">
                <a:moveTo>
                  <a:pt x="0" y="165099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825500" y="0"/>
                </a:lnTo>
                <a:lnTo>
                  <a:pt x="869391" y="5897"/>
                </a:lnTo>
                <a:lnTo>
                  <a:pt x="908830" y="22540"/>
                </a:lnTo>
                <a:lnTo>
                  <a:pt x="942244" y="48355"/>
                </a:lnTo>
                <a:lnTo>
                  <a:pt x="968059" y="81769"/>
                </a:lnTo>
                <a:lnTo>
                  <a:pt x="984702" y="121208"/>
                </a:lnTo>
                <a:lnTo>
                  <a:pt x="990600" y="165099"/>
                </a:lnTo>
                <a:lnTo>
                  <a:pt x="990600" y="1739899"/>
                </a:lnTo>
                <a:lnTo>
                  <a:pt x="984702" y="1783787"/>
                </a:lnTo>
                <a:lnTo>
                  <a:pt x="968059" y="1823225"/>
                </a:lnTo>
                <a:lnTo>
                  <a:pt x="942244" y="1856639"/>
                </a:lnTo>
                <a:lnTo>
                  <a:pt x="908830" y="1882457"/>
                </a:lnTo>
                <a:lnTo>
                  <a:pt x="869391" y="1899101"/>
                </a:lnTo>
                <a:lnTo>
                  <a:pt x="825500" y="1904999"/>
                </a:lnTo>
                <a:lnTo>
                  <a:pt x="165100" y="1904999"/>
                </a:lnTo>
                <a:lnTo>
                  <a:pt x="121208" y="1899101"/>
                </a:lnTo>
                <a:lnTo>
                  <a:pt x="81769" y="1882457"/>
                </a:lnTo>
                <a:lnTo>
                  <a:pt x="48355" y="1856639"/>
                </a:lnTo>
                <a:lnTo>
                  <a:pt x="22540" y="1823225"/>
                </a:lnTo>
                <a:lnTo>
                  <a:pt x="5897" y="1783787"/>
                </a:lnTo>
                <a:lnTo>
                  <a:pt x="0" y="1739899"/>
                </a:lnTo>
                <a:lnTo>
                  <a:pt x="0" y="165099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74701" y="2879722"/>
            <a:ext cx="534670" cy="176138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L="12700" marR="5080"/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货郎 问题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438717" y="1670643"/>
            <a:ext cx="4419600" cy="8128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4318000" y="0"/>
                </a:lnTo>
                <a:lnTo>
                  <a:pt x="4357545" y="7984"/>
                </a:lnTo>
                <a:lnTo>
                  <a:pt x="4389840" y="29759"/>
                </a:lnTo>
                <a:lnTo>
                  <a:pt x="4411615" y="62054"/>
                </a:lnTo>
                <a:lnTo>
                  <a:pt x="4419600" y="101600"/>
                </a:lnTo>
                <a:lnTo>
                  <a:pt x="4419600" y="508000"/>
                </a:lnTo>
                <a:lnTo>
                  <a:pt x="4411615" y="547545"/>
                </a:lnTo>
                <a:lnTo>
                  <a:pt x="4389840" y="579840"/>
                </a:lnTo>
                <a:lnTo>
                  <a:pt x="4357545" y="601615"/>
                </a:lnTo>
                <a:lnTo>
                  <a:pt x="43180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314123" y="1812011"/>
            <a:ext cx="2653894" cy="5046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sz="3200" b="1" spc="-5" dirty="0">
                <a:latin typeface="黑体" pitchFamily="49" charset="-122"/>
                <a:ea typeface="黑体" pitchFamily="49" charset="-122"/>
                <a:cs typeface="宋体"/>
              </a:rPr>
              <a:t>回溯</a:t>
            </a:r>
            <a:r>
              <a:rPr sz="3200" b="1" dirty="0">
                <a:latin typeface="黑体" pitchFamily="49" charset="-122"/>
                <a:ea typeface="黑体" pitchFamily="49" charset="-122"/>
                <a:cs typeface="宋体"/>
              </a:rPr>
              <a:t>算法小结</a:t>
            </a:r>
            <a:endParaRPr sz="32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648517" y="2585046"/>
            <a:ext cx="1066800" cy="2540000"/>
          </a:xfrm>
          <a:custGeom>
            <a:avLst/>
            <a:gdLst/>
            <a:ahLst/>
            <a:cxnLst/>
            <a:rect l="l" t="t" r="r" b="b"/>
            <a:pathLst>
              <a:path w="1066800" h="1905000">
                <a:moveTo>
                  <a:pt x="0" y="177800"/>
                </a:moveTo>
                <a:lnTo>
                  <a:pt x="6351" y="130533"/>
                </a:lnTo>
                <a:lnTo>
                  <a:pt x="24274" y="88060"/>
                </a:lnTo>
                <a:lnTo>
                  <a:pt x="52076" y="52076"/>
                </a:lnTo>
                <a:lnTo>
                  <a:pt x="88060" y="24274"/>
                </a:lnTo>
                <a:lnTo>
                  <a:pt x="130533" y="6351"/>
                </a:lnTo>
                <a:lnTo>
                  <a:pt x="177800" y="0"/>
                </a:lnTo>
                <a:lnTo>
                  <a:pt x="889000" y="0"/>
                </a:lnTo>
                <a:lnTo>
                  <a:pt x="936266" y="6351"/>
                </a:lnTo>
                <a:lnTo>
                  <a:pt x="978739" y="24274"/>
                </a:lnTo>
                <a:lnTo>
                  <a:pt x="1014723" y="52076"/>
                </a:lnTo>
                <a:lnTo>
                  <a:pt x="1042525" y="88060"/>
                </a:lnTo>
                <a:lnTo>
                  <a:pt x="1060448" y="130533"/>
                </a:lnTo>
                <a:lnTo>
                  <a:pt x="1066800" y="177800"/>
                </a:lnTo>
                <a:lnTo>
                  <a:pt x="1066800" y="1727187"/>
                </a:lnTo>
                <a:lnTo>
                  <a:pt x="1060448" y="1774458"/>
                </a:lnTo>
                <a:lnTo>
                  <a:pt x="1042525" y="1816935"/>
                </a:lnTo>
                <a:lnTo>
                  <a:pt x="1014723" y="1852922"/>
                </a:lnTo>
                <a:lnTo>
                  <a:pt x="978739" y="1880724"/>
                </a:lnTo>
                <a:lnTo>
                  <a:pt x="936266" y="1898648"/>
                </a:lnTo>
                <a:lnTo>
                  <a:pt x="889000" y="1905000"/>
                </a:lnTo>
                <a:lnTo>
                  <a:pt x="177800" y="1905000"/>
                </a:lnTo>
                <a:lnTo>
                  <a:pt x="130533" y="1898648"/>
                </a:lnTo>
                <a:lnTo>
                  <a:pt x="88060" y="1880724"/>
                </a:lnTo>
                <a:lnTo>
                  <a:pt x="52076" y="1852922"/>
                </a:lnTo>
                <a:lnTo>
                  <a:pt x="24274" y="1816935"/>
                </a:lnTo>
                <a:lnTo>
                  <a:pt x="6351" y="1774458"/>
                </a:lnTo>
                <a:lnTo>
                  <a:pt x="0" y="1727187"/>
                </a:lnTo>
                <a:lnTo>
                  <a:pt x="0" y="1778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5002750" y="2771735"/>
            <a:ext cx="649370" cy="216661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圆排列 问题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91517" y="2585046"/>
            <a:ext cx="1143000" cy="2540000"/>
          </a:xfrm>
          <a:custGeom>
            <a:avLst/>
            <a:gdLst/>
            <a:ahLst/>
            <a:cxnLst/>
            <a:rect l="l" t="t" r="r" b="b"/>
            <a:pathLst>
              <a:path w="1143000" h="1905000">
                <a:moveTo>
                  <a:pt x="0" y="190500"/>
                </a:moveTo>
                <a:lnTo>
                  <a:pt x="5031" y="146821"/>
                </a:lnTo>
                <a:lnTo>
                  <a:pt x="19363" y="106724"/>
                </a:lnTo>
                <a:lnTo>
                  <a:pt x="41851" y="71353"/>
                </a:lnTo>
                <a:lnTo>
                  <a:pt x="71353" y="41851"/>
                </a:lnTo>
                <a:lnTo>
                  <a:pt x="106724" y="19363"/>
                </a:lnTo>
                <a:lnTo>
                  <a:pt x="146821" y="5031"/>
                </a:lnTo>
                <a:lnTo>
                  <a:pt x="190500" y="0"/>
                </a:lnTo>
                <a:lnTo>
                  <a:pt x="952500" y="0"/>
                </a:lnTo>
                <a:lnTo>
                  <a:pt x="996178" y="5031"/>
                </a:lnTo>
                <a:lnTo>
                  <a:pt x="1036275" y="19363"/>
                </a:lnTo>
                <a:lnTo>
                  <a:pt x="1071646" y="41851"/>
                </a:lnTo>
                <a:lnTo>
                  <a:pt x="1101148" y="71353"/>
                </a:lnTo>
                <a:lnTo>
                  <a:pt x="1123636" y="106724"/>
                </a:lnTo>
                <a:lnTo>
                  <a:pt x="1137968" y="146821"/>
                </a:lnTo>
                <a:lnTo>
                  <a:pt x="1143000" y="190500"/>
                </a:lnTo>
                <a:lnTo>
                  <a:pt x="1143000" y="1714487"/>
                </a:lnTo>
                <a:lnTo>
                  <a:pt x="1137968" y="1758170"/>
                </a:lnTo>
                <a:lnTo>
                  <a:pt x="1123636" y="1798270"/>
                </a:lnTo>
                <a:lnTo>
                  <a:pt x="1101148" y="1833644"/>
                </a:lnTo>
                <a:lnTo>
                  <a:pt x="1071646" y="1863147"/>
                </a:lnTo>
                <a:lnTo>
                  <a:pt x="1036275" y="1885636"/>
                </a:lnTo>
                <a:lnTo>
                  <a:pt x="996178" y="1899968"/>
                </a:lnTo>
                <a:lnTo>
                  <a:pt x="952500" y="1905000"/>
                </a:lnTo>
                <a:lnTo>
                  <a:pt x="190500" y="1905000"/>
                </a:lnTo>
                <a:lnTo>
                  <a:pt x="146821" y="1899968"/>
                </a:lnTo>
                <a:lnTo>
                  <a:pt x="106724" y="1885636"/>
                </a:lnTo>
                <a:lnTo>
                  <a:pt x="71353" y="1863147"/>
                </a:lnTo>
                <a:lnTo>
                  <a:pt x="41851" y="1833644"/>
                </a:lnTo>
                <a:lnTo>
                  <a:pt x="19363" y="1798270"/>
                </a:lnTo>
                <a:lnTo>
                  <a:pt x="5031" y="1758170"/>
                </a:lnTo>
                <a:lnTo>
                  <a:pt x="0" y="1714487"/>
                </a:lnTo>
                <a:lnTo>
                  <a:pt x="0" y="1905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6165516" y="2543467"/>
            <a:ext cx="395001" cy="2623154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marR="5080"/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连续邮 资问题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4" name="object 8"/>
          <p:cNvSpPr/>
          <p:nvPr/>
        </p:nvSpPr>
        <p:spPr>
          <a:xfrm>
            <a:off x="2528664" y="5278928"/>
            <a:ext cx="4419600" cy="812800"/>
          </a:xfrm>
          <a:custGeom>
            <a:avLst/>
            <a:gdLst/>
            <a:ahLst/>
            <a:cxnLst/>
            <a:rect l="l" t="t" r="r" b="b"/>
            <a:pathLst>
              <a:path w="4419600" h="6096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4318000" y="0"/>
                </a:lnTo>
                <a:lnTo>
                  <a:pt x="4357545" y="7984"/>
                </a:lnTo>
                <a:lnTo>
                  <a:pt x="4389840" y="29759"/>
                </a:lnTo>
                <a:lnTo>
                  <a:pt x="4411615" y="62054"/>
                </a:lnTo>
                <a:lnTo>
                  <a:pt x="4419600" y="101600"/>
                </a:lnTo>
                <a:lnTo>
                  <a:pt x="4419600" y="508000"/>
                </a:lnTo>
                <a:lnTo>
                  <a:pt x="4411615" y="547545"/>
                </a:lnTo>
                <a:lnTo>
                  <a:pt x="4389840" y="579840"/>
                </a:lnTo>
                <a:lnTo>
                  <a:pt x="4357545" y="601615"/>
                </a:lnTo>
                <a:lnTo>
                  <a:pt x="4318000" y="609600"/>
                </a:lnTo>
                <a:lnTo>
                  <a:pt x="101600" y="609600"/>
                </a:lnTo>
                <a:lnTo>
                  <a:pt x="62054" y="601615"/>
                </a:lnTo>
                <a:lnTo>
                  <a:pt x="29759" y="579840"/>
                </a:lnTo>
                <a:lnTo>
                  <a:pt x="7984" y="547545"/>
                </a:lnTo>
                <a:lnTo>
                  <a:pt x="0" y="508000"/>
                </a:lnTo>
                <a:lnTo>
                  <a:pt x="0" y="1016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784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animBg="1"/>
      <p:bldP spid="4" grpId="0"/>
      <p:bldP spid="6" grpId="0" animBg="1"/>
      <p:bldP spid="7" grpId="0"/>
      <p:bldP spid="8" grpId="0" animBg="1"/>
      <p:bldP spid="9" grpId="0"/>
      <p:bldP spid="10" grpId="0" animBg="1"/>
      <p:bldP spid="11" grpId="0"/>
      <p:bldP spid="12" grpId="0" animBg="1"/>
      <p:bldP spid="13" grpId="0"/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64" y="2308230"/>
            <a:ext cx="6120680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分支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限</a:t>
            </a:r>
            <a:r>
              <a:rPr sz="6600" spc="-20" dirty="0" err="1" smtClean="0">
                <a:latin typeface="黑体" pitchFamily="49" charset="-122"/>
                <a:ea typeface="黑体" pitchFamily="49" charset="-122"/>
              </a:rPr>
              <a:t>界</a:t>
            </a:r>
            <a:r>
              <a:rPr lang="en-US" sz="6600" spc="-20" dirty="0" smtClean="0">
                <a:latin typeface="黑体" pitchFamily="49" charset="-122"/>
                <a:ea typeface="黑体" pitchFamily="49" charset="-122"/>
              </a:rPr>
              <a:t/>
            </a:r>
            <a:br>
              <a:rPr lang="en-US" sz="6600" spc="-20" dirty="0" smtClean="0">
                <a:latin typeface="黑体" pitchFamily="49" charset="-122"/>
                <a:ea typeface="黑体" pitchFamily="49" charset="-122"/>
              </a:rPr>
            </a:b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及其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应</a:t>
            </a:r>
            <a:r>
              <a:rPr sz="6600" spc="-25" dirty="0" err="1" smtClean="0">
                <a:latin typeface="黑体" pitchFamily="49" charset="-122"/>
                <a:ea typeface="黑体" pitchFamily="49" charset="-122"/>
              </a:rPr>
              <a:t>用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18175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7704" y="363433"/>
            <a:ext cx="553538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组合优化问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5536" y="1190747"/>
            <a:ext cx="8394516" cy="4419158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>
              <a:lnSpc>
                <a:spcPts val="2865"/>
              </a:lnSpc>
              <a:spcBef>
                <a:spcPts val="600"/>
              </a:spcBef>
              <a:buFont typeface="Wingdings" pitchFamily="2" charset="2"/>
              <a:buChar char="l"/>
              <a:tabLst>
                <a:tab pos="1515745" algn="l"/>
              </a:tabLst>
            </a:pP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组合优化问题的相关概念 </a:t>
            </a:r>
          </a:p>
          <a:p>
            <a:pPr>
              <a:lnSpc>
                <a:spcPts val="2865"/>
              </a:lnSpc>
              <a:spcBef>
                <a:spcPts val="600"/>
              </a:spcBef>
              <a:tabLst>
                <a:tab pos="1515745" algn="l"/>
              </a:tabLst>
            </a:pPr>
            <a:r>
              <a:rPr lang="zh-CN" altLang="en-US" sz="2800" b="1" spc="-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 目标函数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（极大化或极小化） </a:t>
            </a:r>
          </a:p>
          <a:p>
            <a:pPr>
              <a:lnSpc>
                <a:spcPts val="2865"/>
              </a:lnSpc>
              <a:spcBef>
                <a:spcPts val="600"/>
              </a:spcBef>
              <a:tabLst>
                <a:tab pos="1515745" algn="l"/>
              </a:tabLst>
            </a:pPr>
            <a:r>
              <a:rPr lang="zh-CN" altLang="en-US" sz="2800" b="1" spc="-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 约束条件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（解满足的条件）</a:t>
            </a:r>
          </a:p>
          <a:p>
            <a:pPr>
              <a:lnSpc>
                <a:spcPts val="2865"/>
              </a:lnSpc>
              <a:spcBef>
                <a:spcPts val="600"/>
              </a:spcBef>
              <a:tabLst>
                <a:tab pos="1515745" algn="l"/>
              </a:tabLst>
            </a:pPr>
            <a:r>
              <a:rPr lang="zh-CN" altLang="en-US" sz="2800" b="1" spc="-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 可行解</a:t>
            </a:r>
            <a:r>
              <a:rPr lang="en-US" altLang="zh-CN" sz="2800" b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:</a:t>
            </a:r>
            <a:r>
              <a:rPr lang="zh-CN" altLang="en-US" sz="2800" b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搜索空间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满足约束条件的解 </a:t>
            </a:r>
          </a:p>
          <a:p>
            <a:pPr>
              <a:lnSpc>
                <a:spcPts val="2865"/>
              </a:lnSpc>
              <a:spcBef>
                <a:spcPts val="600"/>
              </a:spcBef>
              <a:tabLst>
                <a:tab pos="1515745" algn="l"/>
              </a:tabLst>
            </a:pPr>
            <a:r>
              <a:rPr lang="zh-CN" altLang="en-US" sz="2800" b="1" spc="-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  最优解</a:t>
            </a:r>
            <a:r>
              <a:rPr lang="en-US" altLang="zh-CN" sz="2800" b="1" spc="-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:</a:t>
            </a:r>
            <a:r>
              <a:rPr lang="zh-CN" altLang="en-US" sz="2800" b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使得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目标函数达到极</a:t>
            </a:r>
            <a:r>
              <a:rPr lang="zh-CN" altLang="en-US" sz="2800" b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大</a:t>
            </a:r>
            <a:r>
              <a:rPr lang="en-US" altLang="zh-CN" sz="2800" b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(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或极小</a:t>
            </a:r>
            <a:r>
              <a:rPr lang="en-US" altLang="zh-CN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)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的可行解</a:t>
            </a:r>
          </a:p>
          <a:p>
            <a:pPr>
              <a:lnSpc>
                <a:spcPts val="2865"/>
              </a:lnSpc>
              <a:spcBef>
                <a:spcPts val="4800"/>
              </a:spcBef>
              <a:buFont typeface="Wingdings" pitchFamily="2" charset="2"/>
              <a:buChar char="l"/>
              <a:tabLst>
                <a:tab pos="1515745" algn="l"/>
              </a:tabLst>
            </a:pPr>
            <a:r>
              <a:rPr lang="zh-CN" altLang="en-US"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背包</a:t>
            </a:r>
            <a:r>
              <a:rPr lang="zh-CN" altLang="en-US" sz="2800" b="1" spc="-5" dirty="0" smtClean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Times New Roman"/>
              </a:rPr>
              <a:t>问题</a:t>
            </a:r>
            <a:endParaRPr lang="en-US" sz="2800" b="1" spc="-5" dirty="0">
              <a:latin typeface="Times New Roman"/>
              <a:cs typeface="Times New Roman"/>
            </a:endParaRPr>
          </a:p>
          <a:p>
            <a:pPr marL="728345">
              <a:lnSpc>
                <a:spcPts val="2865"/>
              </a:lnSpc>
              <a:tabLst>
                <a:tab pos="1515745" algn="l"/>
              </a:tabLst>
            </a:pPr>
            <a:r>
              <a:rPr sz="2800" b="1" spc="-5" dirty="0" smtClean="0">
                <a:latin typeface="Times New Roman"/>
                <a:cs typeface="Times New Roman"/>
              </a:rPr>
              <a:t>max</a:t>
            </a:r>
            <a:r>
              <a:rPr sz="2800" b="1" spc="-5" dirty="0">
                <a:latin typeface="Times New Roman"/>
                <a:cs typeface="Times New Roman"/>
              </a:rPr>
              <a:t>	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Times New Roman"/>
                <a:cs typeface="Times New Roman"/>
              </a:rPr>
              <a:t>+ 3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Times New Roman"/>
                <a:cs typeface="Times New Roman"/>
              </a:rPr>
              <a:t>+ 5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3 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spc="-27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9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4</a:t>
            </a:r>
            <a:endParaRPr sz="2800" baseline="-20833" dirty="0">
              <a:latin typeface="Times New Roman"/>
              <a:cs typeface="Times New Roman"/>
            </a:endParaRPr>
          </a:p>
          <a:p>
            <a:pPr marL="1485265">
              <a:lnSpc>
                <a:spcPct val="100000"/>
              </a:lnSpc>
              <a:spcBef>
                <a:spcPts val="65"/>
              </a:spcBef>
            </a:pP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Times New Roman"/>
                <a:cs typeface="Times New Roman"/>
              </a:rPr>
              <a:t>+ 3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Times New Roman"/>
                <a:cs typeface="Times New Roman"/>
              </a:rPr>
              <a:t>+ 4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3 </a:t>
            </a:r>
            <a:r>
              <a:rPr sz="2800" b="1" dirty="0">
                <a:latin typeface="Times New Roman"/>
                <a:cs typeface="Times New Roman"/>
              </a:rPr>
              <a:t>+ 7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4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9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10</a:t>
            </a:r>
            <a:endParaRPr sz="2800" dirty="0">
              <a:latin typeface="Times New Roman"/>
              <a:cs typeface="Times New Roman"/>
            </a:endParaRPr>
          </a:p>
          <a:p>
            <a:pPr marL="1561465">
              <a:lnSpc>
                <a:spcPct val="100000"/>
              </a:lnSpc>
              <a:tabLst>
                <a:tab pos="2437765" algn="l"/>
              </a:tabLst>
            </a:pP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Symbol"/>
                <a:cs typeface="Symbol"/>
              </a:rPr>
              <a:t></a:t>
            </a:r>
            <a:r>
              <a:rPr sz="2800" b="1" spc="-5" dirty="0">
                <a:latin typeface="Times New Roman"/>
                <a:cs typeface="Times New Roman"/>
              </a:rPr>
              <a:t>N,	</a:t>
            </a: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1,2,3,4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79827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9991" y="321573"/>
            <a:ext cx="579063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代价函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44" y="1107083"/>
            <a:ext cx="8208912" cy="2925929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algn="just">
              <a:lnSpc>
                <a:spcPts val="336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 err="1" smtClean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计算</a:t>
            </a:r>
            <a:r>
              <a:rPr lang="zh-CN" altLang="en-US"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位置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：搜索树的结点</a:t>
            </a:r>
          </a:p>
          <a:p>
            <a:pPr algn="just">
              <a:lnSpc>
                <a:spcPts val="336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zh-CN" altLang="en-US"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：极大化问题是以该点为根的子树所有可行解的值的上界 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 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极小化问题为下界）</a:t>
            </a:r>
          </a:p>
          <a:p>
            <a:pPr algn="just">
              <a:lnSpc>
                <a:spcPts val="336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lang="zh-CN" altLang="en-US"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性质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：对极大化问题父结点代价不小于子结点的代价 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极小化问题相反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</a:p>
          <a:p>
            <a:pPr algn="just">
              <a:lnSpc>
                <a:spcPts val="336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631392" y="3780204"/>
            <a:ext cx="297180" cy="437856"/>
          </a:xfrm>
          <a:custGeom>
            <a:avLst/>
            <a:gdLst/>
            <a:ahLst/>
            <a:cxnLst/>
            <a:rect l="l" t="t" r="r" b="b"/>
            <a:pathLst>
              <a:path w="297180" h="417829">
                <a:moveTo>
                  <a:pt x="296862" y="0"/>
                </a:moveTo>
                <a:lnTo>
                  <a:pt x="0" y="417512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305638" y="4969432"/>
            <a:ext cx="169926" cy="17806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09320" y="3740070"/>
            <a:ext cx="167640" cy="17806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771800" y="4293096"/>
            <a:ext cx="1405255" cy="1515193"/>
          </a:xfrm>
          <a:custGeom>
            <a:avLst/>
            <a:gdLst/>
            <a:ahLst/>
            <a:cxnLst/>
            <a:rect l="l" t="t" r="r" b="b"/>
            <a:pathLst>
              <a:path w="1405255" h="1445895">
                <a:moveTo>
                  <a:pt x="779500" y="0"/>
                </a:moveTo>
                <a:lnTo>
                  <a:pt x="508457" y="35394"/>
                </a:lnTo>
                <a:lnTo>
                  <a:pt x="190080" y="192925"/>
                </a:lnTo>
                <a:lnTo>
                  <a:pt x="0" y="487984"/>
                </a:lnTo>
                <a:lnTo>
                  <a:pt x="4038" y="946099"/>
                </a:lnTo>
                <a:lnTo>
                  <a:pt x="301472" y="1272120"/>
                </a:lnTo>
                <a:lnTo>
                  <a:pt x="839647" y="1445641"/>
                </a:lnTo>
                <a:lnTo>
                  <a:pt x="1186307" y="1176159"/>
                </a:lnTo>
                <a:lnTo>
                  <a:pt x="1404645" y="769137"/>
                </a:lnTo>
                <a:lnTo>
                  <a:pt x="1271663" y="331279"/>
                </a:lnTo>
                <a:lnTo>
                  <a:pt x="858456" y="30607"/>
                </a:lnTo>
                <a:lnTo>
                  <a:pt x="852538" y="45872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02233" y="4258231"/>
            <a:ext cx="169926" cy="178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359358" y="4366434"/>
            <a:ext cx="228600" cy="487763"/>
          </a:xfrm>
          <a:custGeom>
            <a:avLst/>
            <a:gdLst/>
            <a:ahLst/>
            <a:cxnLst/>
            <a:rect l="l" t="t" r="r" b="b"/>
            <a:pathLst>
              <a:path w="228600" h="465454">
                <a:moveTo>
                  <a:pt x="228600" y="0"/>
                </a:moveTo>
                <a:lnTo>
                  <a:pt x="0" y="465137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2978739" y="4766232"/>
            <a:ext cx="169926" cy="1780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62942" y="4370498"/>
            <a:ext cx="452755" cy="324731"/>
          </a:xfrm>
          <a:custGeom>
            <a:avLst/>
            <a:gdLst/>
            <a:ahLst/>
            <a:cxnLst/>
            <a:rect l="l" t="t" r="r" b="b"/>
            <a:pathLst>
              <a:path w="452755" h="309879">
                <a:moveTo>
                  <a:pt x="452437" y="0"/>
                </a:moveTo>
                <a:lnTo>
                  <a:pt x="0" y="309562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3654633" y="4867832"/>
            <a:ext cx="169926" cy="17806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39013" y="4438571"/>
            <a:ext cx="101600" cy="351349"/>
          </a:xfrm>
          <a:custGeom>
            <a:avLst/>
            <a:gdLst/>
            <a:ahLst/>
            <a:cxnLst/>
            <a:rect l="l" t="t" r="r" b="b"/>
            <a:pathLst>
              <a:path w="101600" h="335279">
                <a:moveTo>
                  <a:pt x="0" y="0"/>
                </a:moveTo>
                <a:lnTo>
                  <a:pt x="101600" y="334962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3288493" y="5179235"/>
            <a:ext cx="71755" cy="294787"/>
          </a:xfrm>
          <a:custGeom>
            <a:avLst/>
            <a:gdLst/>
            <a:ahLst/>
            <a:cxnLst/>
            <a:rect l="l" t="t" r="r" b="b"/>
            <a:pathLst>
              <a:path w="71755" h="281304">
                <a:moveTo>
                  <a:pt x="71437" y="0"/>
                </a:moveTo>
                <a:lnTo>
                  <a:pt x="0" y="280987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3199720" y="5568871"/>
            <a:ext cx="167640" cy="1764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494613" y="5568871"/>
            <a:ext cx="177546" cy="22278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359358" y="5179234"/>
            <a:ext cx="224154" cy="319408"/>
          </a:xfrm>
          <a:custGeom>
            <a:avLst/>
            <a:gdLst/>
            <a:ahLst/>
            <a:cxnLst/>
            <a:rect l="l" t="t" r="r" b="b"/>
            <a:pathLst>
              <a:path w="224155" h="304800">
                <a:moveTo>
                  <a:pt x="0" y="0"/>
                </a:moveTo>
                <a:lnTo>
                  <a:pt x="223837" y="304800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3966755" y="4090894"/>
            <a:ext cx="271279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i="1" spc="-114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代价</a:t>
            </a:r>
            <a:r>
              <a:rPr sz="2800" b="1" dirty="0">
                <a:latin typeface="宋体"/>
                <a:cs typeface="宋体"/>
              </a:rPr>
              <a:t>函</a:t>
            </a:r>
            <a:r>
              <a:rPr sz="2800" b="1" spc="-10" dirty="0">
                <a:latin typeface="宋体"/>
                <a:cs typeface="宋体"/>
              </a:rPr>
              <a:t>数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865990" y="5488330"/>
            <a:ext cx="250621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latin typeface="宋体"/>
                <a:cs typeface="宋体"/>
              </a:rPr>
              <a:t>可行</a:t>
            </a:r>
            <a:r>
              <a:rPr sz="2800" b="1" spc="-10" dirty="0">
                <a:latin typeface="宋体"/>
                <a:cs typeface="宋体"/>
              </a:rPr>
              <a:t>解</a:t>
            </a:r>
            <a:r>
              <a:rPr sz="2800" b="1" spc="-51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011510" y="4478453"/>
            <a:ext cx="2376914" cy="87459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dirty="0">
                <a:latin typeface="Times New Roman"/>
                <a:cs typeface="Times New Roman"/>
              </a:rPr>
              <a:t>F </a:t>
            </a:r>
            <a:r>
              <a:rPr sz="2800" b="1" spc="-5" dirty="0">
                <a:latin typeface="Symbol"/>
                <a:cs typeface="Symbol"/>
              </a:rPr>
              <a:t></a:t>
            </a:r>
            <a:r>
              <a:rPr sz="2800" b="1" spc="-14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800" b="1" spc="-5" dirty="0">
                <a:latin typeface="宋体"/>
                <a:cs typeface="宋体"/>
              </a:rPr>
              <a:t>极大</a:t>
            </a:r>
            <a:r>
              <a:rPr sz="2800" b="1" spc="-10" dirty="0">
                <a:latin typeface="宋体"/>
                <a:cs typeface="宋体"/>
              </a:rPr>
              <a:t>化</a:t>
            </a:r>
            <a:endParaRPr sz="28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28332936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427984" y="363433"/>
            <a:ext cx="53403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界</a:t>
            </a:r>
          </a:p>
        </p:txBody>
      </p:sp>
      <p:sp>
        <p:nvSpPr>
          <p:cNvPr id="4" name="object 4"/>
          <p:cNvSpPr/>
          <p:nvPr/>
        </p:nvSpPr>
        <p:spPr>
          <a:xfrm>
            <a:off x="4540752" y="3960774"/>
            <a:ext cx="385953" cy="567507"/>
          </a:xfrm>
          <a:custGeom>
            <a:avLst/>
            <a:gdLst/>
            <a:ahLst/>
            <a:cxnLst/>
            <a:rect l="l" t="t" r="r" b="b"/>
            <a:pathLst>
              <a:path w="297180" h="417829">
                <a:moveTo>
                  <a:pt x="296862" y="0"/>
                </a:moveTo>
                <a:lnTo>
                  <a:pt x="0" y="417512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59194" y="5174276"/>
            <a:ext cx="169926" cy="18425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762876" y="3944914"/>
            <a:ext cx="167640" cy="1842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25356" y="4497939"/>
            <a:ext cx="1405255" cy="1567820"/>
          </a:xfrm>
          <a:custGeom>
            <a:avLst/>
            <a:gdLst/>
            <a:ahLst/>
            <a:cxnLst/>
            <a:rect l="l" t="t" r="r" b="b"/>
            <a:pathLst>
              <a:path w="1405255" h="1445895">
                <a:moveTo>
                  <a:pt x="779500" y="0"/>
                </a:moveTo>
                <a:lnTo>
                  <a:pt x="508457" y="35394"/>
                </a:lnTo>
                <a:lnTo>
                  <a:pt x="190080" y="192925"/>
                </a:lnTo>
                <a:lnTo>
                  <a:pt x="0" y="487984"/>
                </a:lnTo>
                <a:lnTo>
                  <a:pt x="4038" y="946099"/>
                </a:lnTo>
                <a:lnTo>
                  <a:pt x="301472" y="1272120"/>
                </a:lnTo>
                <a:lnTo>
                  <a:pt x="839647" y="1445641"/>
                </a:lnTo>
                <a:lnTo>
                  <a:pt x="1186307" y="1176159"/>
                </a:lnTo>
                <a:lnTo>
                  <a:pt x="1404645" y="769137"/>
                </a:lnTo>
                <a:lnTo>
                  <a:pt x="1271663" y="331279"/>
                </a:lnTo>
                <a:lnTo>
                  <a:pt x="858456" y="30607"/>
                </a:lnTo>
                <a:lnTo>
                  <a:pt x="852538" y="45872"/>
                </a:lnTo>
              </a:path>
            </a:pathLst>
          </a:custGeom>
          <a:ln w="25400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455789" y="4463074"/>
            <a:ext cx="169926" cy="18425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20916" y="4571277"/>
            <a:ext cx="220598" cy="602999"/>
          </a:xfrm>
          <a:custGeom>
            <a:avLst/>
            <a:gdLst/>
            <a:ahLst/>
            <a:cxnLst/>
            <a:rect l="l" t="t" r="r" b="b"/>
            <a:pathLst>
              <a:path w="228600" h="465454">
                <a:moveTo>
                  <a:pt x="228600" y="0"/>
                </a:moveTo>
                <a:lnTo>
                  <a:pt x="0" y="465137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932295" y="4971076"/>
            <a:ext cx="169926" cy="1842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087673" y="4575341"/>
            <a:ext cx="381580" cy="414681"/>
          </a:xfrm>
          <a:custGeom>
            <a:avLst/>
            <a:gdLst/>
            <a:ahLst/>
            <a:cxnLst/>
            <a:rect l="l" t="t" r="r" b="b"/>
            <a:pathLst>
              <a:path w="452755" h="309879">
                <a:moveTo>
                  <a:pt x="452437" y="0"/>
                </a:moveTo>
                <a:lnTo>
                  <a:pt x="0" y="309562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608189" y="5072676"/>
            <a:ext cx="169926" cy="18425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40752" y="4598766"/>
            <a:ext cx="107570" cy="550862"/>
          </a:xfrm>
          <a:custGeom>
            <a:avLst/>
            <a:gdLst/>
            <a:ahLst/>
            <a:cxnLst/>
            <a:rect l="l" t="t" r="r" b="b"/>
            <a:pathLst>
              <a:path w="101600" h="335279">
                <a:moveTo>
                  <a:pt x="0" y="0"/>
                </a:moveTo>
                <a:lnTo>
                  <a:pt x="101600" y="334962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48044" y="5256931"/>
            <a:ext cx="72872" cy="635704"/>
          </a:xfrm>
          <a:custGeom>
            <a:avLst/>
            <a:gdLst/>
            <a:ahLst/>
            <a:cxnLst/>
            <a:rect l="l" t="t" r="r" b="b"/>
            <a:pathLst>
              <a:path w="71755" h="281304">
                <a:moveTo>
                  <a:pt x="71437" y="0"/>
                </a:moveTo>
                <a:lnTo>
                  <a:pt x="0" y="280987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153276" y="5773714"/>
            <a:ext cx="167640" cy="182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448169" y="5773714"/>
            <a:ext cx="177546" cy="23052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313683" y="5327747"/>
            <a:ext cx="227831" cy="445966"/>
          </a:xfrm>
          <a:custGeom>
            <a:avLst/>
            <a:gdLst/>
            <a:ahLst/>
            <a:cxnLst/>
            <a:rect l="l" t="t" r="r" b="b"/>
            <a:pathLst>
              <a:path w="224155" h="304800">
                <a:moveTo>
                  <a:pt x="0" y="0"/>
                </a:moveTo>
                <a:lnTo>
                  <a:pt x="223837" y="304800"/>
                </a:lnTo>
              </a:path>
            </a:pathLst>
          </a:custGeom>
          <a:ln w="25146">
            <a:solidFill>
              <a:srgbClr val="4A7EB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539551" y="1149435"/>
            <a:ext cx="8136905" cy="3447098"/>
          </a:xfrm>
          <a:prstGeom prst="rect">
            <a:avLst/>
          </a:prstGeom>
        </p:spPr>
        <p:txBody>
          <a:bodyPr vert="horz" wrap="square" lIns="0" tIns="38100" rIns="0" bIns="0" rtlCol="0">
            <a:spAutoFit/>
          </a:bodyPr>
          <a:lstStyle/>
          <a:p>
            <a:pPr marR="5080">
              <a:lnSpc>
                <a:spcPct val="15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含义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当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前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得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到可行解的目标函数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的最大值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(极小化问题相反）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210820">
              <a:lnSpc>
                <a:spcPct val="15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初值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：极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大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化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问题初值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</a:t>
            </a:r>
            <a:r>
              <a:rPr sz="2800" b="1" spc="-62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0</a:t>
            </a:r>
            <a:r>
              <a:rPr sz="2800" b="1" spc="-4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化问题为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大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更新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：得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到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更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好的可行解时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550" dirty="0">
              <a:latin typeface="Times New Roman"/>
              <a:cs typeface="Times New Roman"/>
            </a:endParaRPr>
          </a:p>
          <a:p>
            <a:pPr marL="2146300">
              <a:lnSpc>
                <a:spcPct val="100000"/>
              </a:lnSpc>
            </a:pP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</a:t>
            </a:r>
            <a:r>
              <a:rPr sz="2800" b="1" i="1" spc="-4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代价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函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877409" y="5734781"/>
            <a:ext cx="2552316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界</a:t>
            </a:r>
            <a:r>
              <a:rPr sz="2800" b="1" spc="-56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B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=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sz="2800" b="1" i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)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57759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42057" y="393581"/>
            <a:ext cx="585427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分支限</a:t>
            </a:r>
            <a:r>
              <a:rPr sz="4000" b="1" spc="-1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1" y="1253914"/>
            <a:ext cx="7996499" cy="181011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algn="just">
              <a:lnSpc>
                <a:spcPct val="100000"/>
              </a:lnSpc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停止分支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回</a:t>
            </a:r>
            <a:r>
              <a:rPr sz="2800" b="1" spc="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溯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父结点的依据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algn="just">
              <a:lnSpc>
                <a:spcPct val="100000"/>
              </a:lnSpc>
              <a:buFont typeface="Times New Roman"/>
              <a:buAutoNum type="arabicPeriod"/>
              <a:tabLst>
                <a:tab pos="317500" algn="l"/>
              </a:tabLs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不满足约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束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条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件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R="5080" algn="just">
              <a:lnSpc>
                <a:spcPct val="100000"/>
              </a:lnSpc>
              <a:buFont typeface="Times New Roman"/>
              <a:buAutoNum type="arabicPeriod"/>
              <a:tabLst>
                <a:tab pos="317500" algn="l"/>
              </a:tabLst>
            </a:pP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对于极大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化</a:t>
            </a:r>
            <a:r>
              <a:rPr sz="2800" b="1" spc="5" dirty="0" err="1">
                <a:latin typeface="黑体" pitchFamily="49" charset="-122"/>
                <a:ea typeface="黑体" pitchFamily="49" charset="-122"/>
                <a:cs typeface="宋体"/>
              </a:rPr>
              <a:t>问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题，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代价函数值小于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当前界</a:t>
            </a: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（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对</a:t>
            </a:r>
            <a:r>
              <a:rPr sz="2800" b="1" spc="5" dirty="0" err="1">
                <a:latin typeface="黑体" pitchFamily="49" charset="-122"/>
                <a:ea typeface="黑体" pitchFamily="49" charset="-122"/>
                <a:cs typeface="宋体"/>
              </a:rPr>
              <a:t>于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极小化问题是大于界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）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1" y="3644561"/>
            <a:ext cx="8140515" cy="1813895"/>
          </a:xfrm>
          <a:prstGeom prst="rect">
            <a:avLst/>
          </a:prstGeom>
        </p:spPr>
        <p:txBody>
          <a:bodyPr vert="horz" wrap="square" lIns="0" tIns="10223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界的更</a:t>
            </a:r>
            <a:r>
              <a:rPr sz="2800" b="1" spc="-1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新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5080" algn="just">
              <a:lnSpc>
                <a:spcPct val="98500"/>
              </a:lnSpc>
            </a:pP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    对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极大化问题，如果一个新的可行解的优化函数值大于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极小化问题为小于</a:t>
            </a:r>
            <a:r>
              <a:rPr lang="en-US" altLang="zh-CN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当前的界，则把界更新为该可行解的值</a:t>
            </a:r>
          </a:p>
        </p:txBody>
      </p:sp>
    </p:spTree>
    <p:extLst>
      <p:ext uri="{BB962C8B-B14F-4D97-AF65-F5344CB8AC3E}">
        <p14:creationId xmlns:p14="http://schemas.microsoft.com/office/powerpoint/2010/main" val="15904665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55269"/>
            <a:ext cx="9144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</a:t>
            </a:r>
            <a:r>
              <a:rPr sz="4000" b="1" spc="-1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08941" y="1198630"/>
            <a:ext cx="8267515" cy="4619213"/>
          </a:xfrm>
          <a:prstGeom prst="rect">
            <a:avLst/>
          </a:prstGeom>
        </p:spPr>
        <p:txBody>
          <a:bodyPr vert="horz" wrap="square" lIns="0" tIns="101600" rIns="0" bIns="0" rtlCol="0">
            <a:spAutoFit/>
          </a:bodyPr>
          <a:lstStyle/>
          <a:p>
            <a:pPr marL="63500">
              <a:lnSpc>
                <a:spcPct val="100000"/>
              </a:lnSpc>
              <a:spcBef>
                <a:spcPts val="800"/>
              </a:spcBef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背包问题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63500">
              <a:lnSpc>
                <a:spcPct val="100000"/>
              </a:lnSpc>
              <a:spcBef>
                <a:spcPts val="700"/>
              </a:spcBef>
            </a:pP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4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种物品，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重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量</a:t>
            </a:r>
            <a:r>
              <a:rPr sz="2800" b="1" spc="-58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w</a:t>
            </a:r>
            <a:r>
              <a:rPr sz="2800" b="1" i="1" baseline="-20833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7" baseline="-20833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与价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值</a:t>
            </a:r>
            <a:r>
              <a:rPr sz="2800" b="1" spc="-60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v</a:t>
            </a:r>
            <a:r>
              <a:rPr sz="2800" b="1" i="1" baseline="-20833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sz="2800" b="1" i="1" spc="-15" baseline="-20833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分别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endParaRPr lang="en-US"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63500" algn="ctr">
              <a:lnSpc>
                <a:spcPct val="100000"/>
              </a:lnSpc>
              <a:spcBef>
                <a:spcPts val="700"/>
              </a:spcBef>
            </a:pPr>
            <a:r>
              <a:rPr sz="2800" b="1" i="1" dirty="0" smtClean="0">
                <a:latin typeface="Times New Roman"/>
                <a:cs typeface="Times New Roman"/>
              </a:rPr>
              <a:t>v</a:t>
            </a:r>
            <a:r>
              <a:rPr sz="2800" b="1" baseline="-20833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=1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=3,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=5, </a:t>
            </a:r>
            <a:r>
              <a:rPr sz="2800" b="1" i="1" dirty="0" smtClean="0">
                <a:latin typeface="Times New Roman"/>
                <a:cs typeface="Times New Roman"/>
              </a:rPr>
              <a:t>v</a:t>
            </a:r>
            <a:r>
              <a:rPr sz="2800" b="1" baseline="-20833" dirty="0" smtClean="0">
                <a:latin typeface="Times New Roman"/>
                <a:cs typeface="Times New Roman"/>
              </a:rPr>
              <a:t>4</a:t>
            </a:r>
            <a:r>
              <a:rPr sz="2800" b="1" dirty="0" smtClean="0">
                <a:latin typeface="Times New Roman"/>
                <a:cs typeface="Times New Roman"/>
              </a:rPr>
              <a:t>=9</a:t>
            </a:r>
            <a:r>
              <a:rPr lang="zh-CN" altLang="en-US" sz="2800" b="1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 smtClean="0">
                <a:latin typeface="Times New Roman"/>
                <a:cs typeface="Times New Roman"/>
              </a:rPr>
              <a:t>,</a:t>
            </a:r>
          </a:p>
          <a:p>
            <a:pPr marL="63500" algn="ctr">
              <a:lnSpc>
                <a:spcPct val="100000"/>
              </a:lnSpc>
              <a:spcBef>
                <a:spcPts val="700"/>
              </a:spcBef>
            </a:pPr>
            <a:r>
              <a:rPr lang="en-US" altLang="zh-CN" sz="2800" b="1" dirty="0" smtClean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w</a:t>
            </a:r>
            <a:r>
              <a:rPr sz="2800" b="1" baseline="-20833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=2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=3,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3</a:t>
            </a:r>
            <a:r>
              <a:rPr sz="2800" b="1" dirty="0">
                <a:latin typeface="Times New Roman"/>
                <a:cs typeface="Times New Roman"/>
              </a:rPr>
              <a:t>=4,</a:t>
            </a:r>
            <a:r>
              <a:rPr sz="2800" b="1" spc="-1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baseline="-20833" dirty="0">
                <a:latin typeface="Times New Roman"/>
                <a:cs typeface="Times New Roman"/>
              </a:rPr>
              <a:t>4</a:t>
            </a:r>
            <a:r>
              <a:rPr sz="2800" b="1" dirty="0">
                <a:latin typeface="Times New Roman"/>
                <a:cs typeface="Times New Roman"/>
              </a:rPr>
              <a:t>=7</a:t>
            </a:r>
            <a:endParaRPr sz="2800" dirty="0">
              <a:latin typeface="Times New Roman"/>
              <a:cs typeface="Times New Roman"/>
            </a:endParaRPr>
          </a:p>
          <a:p>
            <a:pPr marL="63500">
              <a:lnSpc>
                <a:spcPct val="100000"/>
              </a:lnSpc>
              <a:spcBef>
                <a:spcPts val="47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背包重量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限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制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10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  <a:p>
            <a:pPr marL="140335" algn="ctr">
              <a:lnSpc>
                <a:spcPct val="100000"/>
              </a:lnSpc>
              <a:spcBef>
                <a:spcPts val="3000"/>
              </a:spcBef>
            </a:pPr>
            <a:r>
              <a:rPr sz="2800" b="1" spc="-100" dirty="0">
                <a:latin typeface="Times New Roman"/>
                <a:cs typeface="Times New Roman"/>
              </a:rPr>
              <a:t>max 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1 </a:t>
            </a:r>
            <a:r>
              <a:rPr sz="2800" b="1" spc="-100" dirty="0">
                <a:latin typeface="Symbol"/>
                <a:cs typeface="Symbol"/>
              </a:rPr>
              <a:t></a:t>
            </a:r>
            <a:r>
              <a:rPr sz="2800" b="1" spc="-100" dirty="0">
                <a:latin typeface="Times New Roman"/>
                <a:cs typeface="Times New Roman"/>
              </a:rPr>
              <a:t> 3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2 </a:t>
            </a:r>
            <a:r>
              <a:rPr sz="2800" b="1" spc="-100" dirty="0">
                <a:latin typeface="Symbol"/>
                <a:cs typeface="Symbol"/>
              </a:rPr>
              <a:t></a:t>
            </a:r>
            <a:r>
              <a:rPr sz="2800" b="1" spc="-100" dirty="0">
                <a:latin typeface="Times New Roman"/>
                <a:cs typeface="Times New Roman"/>
              </a:rPr>
              <a:t> 5 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3 </a:t>
            </a:r>
            <a:r>
              <a:rPr sz="2800" b="1" spc="-100" dirty="0">
                <a:latin typeface="Symbol"/>
                <a:cs typeface="Symbol"/>
              </a:rPr>
              <a:t></a:t>
            </a:r>
            <a:r>
              <a:rPr sz="2800" b="1" spc="-100" dirty="0">
                <a:latin typeface="Times New Roman"/>
                <a:cs typeface="Times New Roman"/>
              </a:rPr>
              <a:t> 9 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4</a:t>
            </a:r>
          </a:p>
          <a:p>
            <a:pPr marL="815975" algn="ctr">
              <a:lnSpc>
                <a:spcPct val="100000"/>
              </a:lnSpc>
              <a:spcBef>
                <a:spcPts val="600"/>
              </a:spcBef>
            </a:pPr>
            <a:r>
              <a:rPr sz="2800" b="1" spc="-100" dirty="0">
                <a:latin typeface="Times New Roman"/>
                <a:cs typeface="Times New Roman"/>
              </a:rPr>
              <a:t>2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1 </a:t>
            </a:r>
            <a:r>
              <a:rPr sz="2800" b="1" spc="-100" dirty="0">
                <a:latin typeface="Symbol"/>
                <a:cs typeface="Symbol"/>
              </a:rPr>
              <a:t></a:t>
            </a:r>
            <a:r>
              <a:rPr sz="2800" b="1" spc="-100" dirty="0">
                <a:latin typeface="Times New Roman"/>
                <a:cs typeface="Times New Roman"/>
              </a:rPr>
              <a:t> 3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2 </a:t>
            </a:r>
            <a:r>
              <a:rPr sz="2800" b="1" spc="-100" dirty="0">
                <a:latin typeface="Symbol"/>
                <a:cs typeface="Symbol"/>
              </a:rPr>
              <a:t></a:t>
            </a:r>
            <a:r>
              <a:rPr sz="2800" b="1" spc="-100" dirty="0">
                <a:latin typeface="Times New Roman"/>
                <a:cs typeface="Times New Roman"/>
              </a:rPr>
              <a:t> 4 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3 </a:t>
            </a:r>
            <a:r>
              <a:rPr sz="2800" b="1" spc="-100" dirty="0">
                <a:latin typeface="Symbol"/>
                <a:cs typeface="Symbol"/>
              </a:rPr>
              <a:t></a:t>
            </a:r>
            <a:r>
              <a:rPr sz="2800" b="1" spc="-100" dirty="0">
                <a:latin typeface="Times New Roman"/>
                <a:cs typeface="Times New Roman"/>
              </a:rPr>
              <a:t> 7 </a:t>
            </a: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spc="-100" baseline="-23809" dirty="0">
                <a:latin typeface="Times New Roman"/>
                <a:cs typeface="Times New Roman"/>
              </a:rPr>
              <a:t>4 </a:t>
            </a:r>
            <a:r>
              <a:rPr sz="2800" b="1" spc="-100" dirty="0">
                <a:latin typeface="Symbol"/>
                <a:cs typeface="Symbol"/>
              </a:rPr>
              <a:t></a:t>
            </a:r>
            <a:r>
              <a:rPr sz="2800" b="1" spc="-100" dirty="0">
                <a:latin typeface="Times New Roman"/>
                <a:cs typeface="Times New Roman"/>
              </a:rPr>
              <a:t> 10</a:t>
            </a:r>
          </a:p>
          <a:p>
            <a:pPr marL="840105" algn="ctr">
              <a:lnSpc>
                <a:spcPts val="2800"/>
              </a:lnSpc>
              <a:spcBef>
                <a:spcPts val="600"/>
              </a:spcBef>
            </a:pPr>
            <a:r>
              <a:rPr sz="2800" b="1" i="1" spc="-100" dirty="0">
                <a:latin typeface="Times New Roman"/>
                <a:cs typeface="Times New Roman"/>
              </a:rPr>
              <a:t>x</a:t>
            </a:r>
            <a:r>
              <a:rPr sz="2800" b="1" i="1" spc="-100" baseline="-23809" dirty="0">
                <a:latin typeface="Times New Roman"/>
                <a:cs typeface="Times New Roman"/>
              </a:rPr>
              <a:t>i </a:t>
            </a:r>
            <a:r>
              <a:rPr sz="2800" b="1" spc="-100" dirty="0">
                <a:latin typeface="Symbol"/>
                <a:cs typeface="Symbol"/>
              </a:rPr>
              <a:t></a:t>
            </a:r>
            <a:r>
              <a:rPr sz="2800" b="1" spc="-100" dirty="0">
                <a:latin typeface="Times New Roman"/>
                <a:cs typeface="Times New Roman"/>
              </a:rPr>
              <a:t> N, </a:t>
            </a:r>
            <a:r>
              <a:rPr sz="2800" b="1" i="1" spc="-100" dirty="0">
                <a:latin typeface="Times New Roman"/>
                <a:cs typeface="Times New Roman"/>
              </a:rPr>
              <a:t>i </a:t>
            </a:r>
            <a:r>
              <a:rPr sz="2800" b="1" spc="-100" dirty="0">
                <a:latin typeface="Symbol"/>
                <a:cs typeface="Symbol"/>
              </a:rPr>
              <a:t></a:t>
            </a:r>
            <a:r>
              <a:rPr sz="2800" b="1" spc="-100" dirty="0">
                <a:latin typeface="Times New Roman"/>
                <a:cs typeface="Times New Roman"/>
              </a:rPr>
              <a:t> 1,2,3,4</a:t>
            </a:r>
          </a:p>
          <a:p>
            <a:pPr marR="17780" algn="r">
              <a:lnSpc>
                <a:spcPts val="2080"/>
              </a:lnSpc>
            </a:pP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57160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9348" y="465589"/>
            <a:ext cx="667301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代价函数的设</a:t>
            </a:r>
            <a:r>
              <a:rPr sz="4000" b="1" spc="-1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定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52" y="1275884"/>
            <a:ext cx="8136904" cy="2084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31495" algn="just">
              <a:lnSpc>
                <a:spcPct val="114599"/>
              </a:lnSpc>
              <a:spcBef>
                <a:spcPts val="1200"/>
              </a:spcBef>
              <a:buFont typeface="Arial"/>
              <a:buChar char="•"/>
              <a:tabLst>
                <a:tab pos="418465" algn="l"/>
                <a:tab pos="419100" algn="l"/>
              </a:tabLst>
            </a:pPr>
            <a:r>
              <a:rPr lang="zh-CN" altLang="en-US" sz="2800" b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对结点</a:t>
            </a:r>
            <a:r>
              <a:rPr lang="en-US" altLang="zh-CN" sz="2800" b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&lt;</a:t>
            </a:r>
            <a:r>
              <a:rPr lang="en-US" altLang="zh-CN" sz="2800" b="1" i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10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1</a:t>
            </a:r>
            <a:r>
              <a:rPr lang="en-US" altLang="zh-CN" sz="2800" b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i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10" baseline="-2500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2</a:t>
            </a:r>
            <a:r>
              <a:rPr lang="en-US" altLang="zh-CN" sz="2800" b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, </a:t>
            </a:r>
            <a:r>
              <a:rPr lang="en-US" altLang="zh-CN" sz="2800" b="1" spc="-10" dirty="0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… , </a:t>
            </a:r>
            <a:r>
              <a:rPr lang="en-US" altLang="zh-CN" sz="2800" b="1" i="1" spc="-10" dirty="0" err="1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x</a:t>
            </a:r>
            <a:r>
              <a:rPr lang="en-US" altLang="zh-CN" sz="2800" b="1" spc="-10" baseline="-25000" dirty="0" err="1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k</a:t>
            </a:r>
            <a:r>
              <a:rPr lang="en-US" altLang="zh-CN" sz="2800" b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&gt;</a:t>
            </a:r>
            <a:r>
              <a:rPr lang="zh-CN" altLang="en-US" sz="2800" b="1" spc="-10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，估计以该结点为根的子树中可行解的上界</a:t>
            </a:r>
            <a:r>
              <a:rPr lang="en-US" altLang="zh-CN" sz="2800" b="1" spc="-10" dirty="0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.</a:t>
            </a:r>
            <a:endParaRPr lang="en-US" sz="2800" b="1" spc="-10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R="531495" algn="just">
              <a:lnSpc>
                <a:spcPct val="114599"/>
              </a:lnSpc>
              <a:spcBef>
                <a:spcPts val="1200"/>
              </a:spcBef>
              <a:buFont typeface="Arial"/>
              <a:buChar char="•"/>
              <a:tabLst>
                <a:tab pos="418465" algn="l"/>
                <a:tab pos="419100" algn="l"/>
              </a:tabLst>
            </a:pP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按</a:t>
            </a:r>
            <a:r>
              <a:rPr sz="2800" b="1" spc="-670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22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/</a:t>
            </a:r>
            <a:r>
              <a:rPr sz="2800" b="1" i="1" dirty="0">
                <a:latin typeface="Times New Roman"/>
                <a:cs typeface="Times New Roman"/>
              </a:rPr>
              <a:t>w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从大到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小排序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1,2,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160"/>
              </a:spcBef>
            </a:pPr>
            <a:endParaRPr sz="18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39552" y="2996952"/>
            <a:ext cx="5904656" cy="2448272"/>
          </a:xfrm>
          <a:custGeom>
            <a:avLst/>
            <a:gdLst/>
            <a:ahLst/>
            <a:cxnLst/>
            <a:rect l="l" t="t" r="r" b="b"/>
            <a:pathLst>
              <a:path w="5105400" h="1828800">
                <a:moveTo>
                  <a:pt x="0" y="304800"/>
                </a:moveTo>
                <a:lnTo>
                  <a:pt x="3989" y="255359"/>
                </a:lnTo>
                <a:lnTo>
                  <a:pt x="15538" y="208458"/>
                </a:lnTo>
                <a:lnTo>
                  <a:pt x="34020" y="164725"/>
                </a:lnTo>
                <a:lnTo>
                  <a:pt x="58808" y="124788"/>
                </a:lnTo>
                <a:lnTo>
                  <a:pt x="89273" y="89273"/>
                </a:lnTo>
                <a:lnTo>
                  <a:pt x="124788" y="58808"/>
                </a:lnTo>
                <a:lnTo>
                  <a:pt x="164725" y="34020"/>
                </a:lnTo>
                <a:lnTo>
                  <a:pt x="208458" y="15538"/>
                </a:lnTo>
                <a:lnTo>
                  <a:pt x="255359" y="3989"/>
                </a:lnTo>
                <a:lnTo>
                  <a:pt x="304800" y="0"/>
                </a:lnTo>
                <a:lnTo>
                  <a:pt x="4800600" y="0"/>
                </a:lnTo>
                <a:lnTo>
                  <a:pt x="4850040" y="3989"/>
                </a:lnTo>
                <a:lnTo>
                  <a:pt x="4896941" y="15538"/>
                </a:lnTo>
                <a:lnTo>
                  <a:pt x="4940674" y="34020"/>
                </a:lnTo>
                <a:lnTo>
                  <a:pt x="4980611" y="58808"/>
                </a:lnTo>
                <a:lnTo>
                  <a:pt x="5016126" y="89273"/>
                </a:lnTo>
                <a:lnTo>
                  <a:pt x="5046591" y="124788"/>
                </a:lnTo>
                <a:lnTo>
                  <a:pt x="5071379" y="164725"/>
                </a:lnTo>
                <a:lnTo>
                  <a:pt x="5089861" y="208458"/>
                </a:lnTo>
                <a:lnTo>
                  <a:pt x="5101410" y="255359"/>
                </a:lnTo>
                <a:lnTo>
                  <a:pt x="5105400" y="304800"/>
                </a:lnTo>
                <a:lnTo>
                  <a:pt x="5105400" y="1523987"/>
                </a:lnTo>
                <a:lnTo>
                  <a:pt x="5101410" y="1573428"/>
                </a:lnTo>
                <a:lnTo>
                  <a:pt x="5089861" y="1620329"/>
                </a:lnTo>
                <a:lnTo>
                  <a:pt x="5071379" y="1664064"/>
                </a:lnTo>
                <a:lnTo>
                  <a:pt x="5046591" y="1704003"/>
                </a:lnTo>
                <a:lnTo>
                  <a:pt x="5016126" y="1739520"/>
                </a:lnTo>
                <a:lnTo>
                  <a:pt x="4980611" y="1769987"/>
                </a:lnTo>
                <a:lnTo>
                  <a:pt x="4940674" y="1794776"/>
                </a:lnTo>
                <a:lnTo>
                  <a:pt x="4896941" y="1813259"/>
                </a:lnTo>
                <a:lnTo>
                  <a:pt x="4850040" y="1824810"/>
                </a:lnTo>
                <a:lnTo>
                  <a:pt x="4800600" y="1828800"/>
                </a:lnTo>
                <a:lnTo>
                  <a:pt x="304800" y="1828800"/>
                </a:lnTo>
                <a:lnTo>
                  <a:pt x="255359" y="1824810"/>
                </a:lnTo>
                <a:lnTo>
                  <a:pt x="208458" y="1813259"/>
                </a:lnTo>
                <a:lnTo>
                  <a:pt x="164725" y="1794776"/>
                </a:lnTo>
                <a:lnTo>
                  <a:pt x="124788" y="1769987"/>
                </a:lnTo>
                <a:lnTo>
                  <a:pt x="89273" y="1739520"/>
                </a:lnTo>
                <a:lnTo>
                  <a:pt x="58808" y="1704003"/>
                </a:lnTo>
                <a:lnTo>
                  <a:pt x="34020" y="1664064"/>
                </a:lnTo>
                <a:lnTo>
                  <a:pt x="15538" y="1620329"/>
                </a:lnTo>
                <a:lnTo>
                  <a:pt x="3989" y="1573428"/>
                </a:lnTo>
                <a:lnTo>
                  <a:pt x="0" y="1523987"/>
                </a:lnTo>
                <a:lnTo>
                  <a:pt x="0" y="3048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矩形 4"/>
          <p:cNvSpPr/>
          <p:nvPr/>
        </p:nvSpPr>
        <p:spPr>
          <a:xfrm>
            <a:off x="438516" y="3127027"/>
            <a:ext cx="8280920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  <a:buFont typeface="Arial"/>
              <a:buChar char="•"/>
              <a:tabLst>
                <a:tab pos="418465" algn="l"/>
                <a:tab pos="419100" algn="l"/>
              </a:tabLst>
            </a:pP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代价函</a:t>
            </a:r>
            <a:r>
              <a:rPr lang="zh-CN" altLang="en-US" sz="2800" b="1" spc="560" dirty="0">
                <a:latin typeface="黑体" pitchFamily="49" charset="-122"/>
                <a:ea typeface="黑体" pitchFamily="49" charset="-122"/>
                <a:cs typeface="宋体"/>
              </a:rPr>
              <a:t>数</a:t>
            </a:r>
            <a:r>
              <a:rPr lang="en-US" altLang="zh-CN" sz="2800" b="1" dirty="0">
                <a:latin typeface="Times New Roman"/>
                <a:cs typeface="Times New Roman"/>
              </a:rPr>
              <a:t>=</a:t>
            </a:r>
            <a:r>
              <a:rPr lang="zh-CN" altLang="en-US" sz="2800" b="1" spc="-15" dirty="0">
                <a:latin typeface="Times New Roman"/>
                <a:cs typeface="Times New Roman"/>
              </a:rPr>
              <a:t> 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已装入价值</a:t>
            </a:r>
            <a:r>
              <a:rPr lang="en-US" altLang="zh-CN" sz="2800" b="1" dirty="0">
                <a:latin typeface="Times New Roman"/>
                <a:cs typeface="Times New Roman"/>
              </a:rPr>
              <a:t>+</a:t>
            </a:r>
            <a:r>
              <a:rPr lang="zh-CN" altLang="en-US" sz="2800" b="1" spc="25" dirty="0">
                <a:latin typeface="Times New Roman"/>
                <a:cs typeface="Times New Roman"/>
              </a:rPr>
              <a:t> </a:t>
            </a:r>
            <a:r>
              <a:rPr lang="zh-CN" altLang="en-US" sz="2800" b="1" spc="-5" dirty="0">
                <a:latin typeface="Symbol"/>
                <a:cs typeface="Symbol"/>
              </a:rPr>
              <a:t></a:t>
            </a:r>
            <a:endParaRPr lang="zh-CN" altLang="en-US" sz="2800" dirty="0">
              <a:latin typeface="Symbol"/>
              <a:cs typeface="Symbol"/>
            </a:endParaRPr>
          </a:p>
          <a:p>
            <a:pPr marL="360000">
              <a:lnSpc>
                <a:spcPct val="150000"/>
              </a:lnSpc>
            </a:pPr>
            <a:r>
              <a:rPr lang="zh-CN" altLang="en-US" sz="2800" b="1" spc="-5" dirty="0">
                <a:latin typeface="Symbol"/>
                <a:cs typeface="Symbol"/>
              </a:rPr>
              <a:t></a:t>
            </a:r>
            <a:r>
              <a:rPr lang="zh-CN" altLang="en-US" sz="2800" b="1" spc="-5" dirty="0">
                <a:latin typeface="宋体"/>
                <a:cs typeface="宋体"/>
              </a:rPr>
              <a:t>：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还可继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宋体"/>
              </a:rPr>
              <a:t>续装入</a:t>
            </a:r>
            <a:r>
              <a:rPr lang="zh-CN" altLang="en-US" sz="2800" b="1" spc="5" dirty="0">
                <a:latin typeface="黑体" pitchFamily="49" charset="-122"/>
                <a:ea typeface="黑体" pitchFamily="49" charset="-122"/>
                <a:cs typeface="宋体"/>
              </a:rPr>
              <a:t>最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宋体"/>
              </a:rPr>
              <a:t>大价值的上界</a:t>
            </a:r>
            <a:endParaRPr lang="zh-CN" altLang="en-US"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60000">
              <a:lnSpc>
                <a:spcPct val="150000"/>
              </a:lnSpc>
              <a:tabLst>
                <a:tab pos="4392295" algn="l"/>
              </a:tabLst>
            </a:pPr>
            <a:r>
              <a:rPr lang="zh-CN" altLang="en-US" sz="2800" b="1" spc="-5" dirty="0">
                <a:latin typeface="Symbol"/>
                <a:cs typeface="Symbol"/>
              </a:rPr>
              <a:t></a:t>
            </a:r>
            <a:r>
              <a:rPr lang="zh-CN" altLang="en-US" sz="2800" b="1" spc="15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=</a:t>
            </a:r>
            <a:r>
              <a:rPr lang="zh-CN" altLang="en-US" sz="2800" b="1" spc="-5" dirty="0">
                <a:latin typeface="Times New Roman"/>
                <a:cs typeface="Times New Roman"/>
              </a:rPr>
              <a:t> </a:t>
            </a:r>
            <a:r>
              <a:rPr lang="zh-CN" alt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背包剩余</a:t>
            </a:r>
            <a:r>
              <a:rPr lang="zh-CN" altLang="en-US" sz="2800" b="1" dirty="0">
                <a:latin typeface="黑体" pitchFamily="49" charset="-122"/>
                <a:ea typeface="黑体" pitchFamily="49" charset="-122"/>
                <a:cs typeface="宋体"/>
              </a:rPr>
              <a:t>重</a:t>
            </a:r>
            <a:r>
              <a:rPr lang="zh-CN" altLang="en-US" sz="2800" b="1" spc="565" dirty="0">
                <a:latin typeface="黑体" pitchFamily="49" charset="-122"/>
                <a:ea typeface="黑体" pitchFamily="49" charset="-122"/>
                <a:cs typeface="宋体"/>
              </a:rPr>
              <a:t>量</a:t>
            </a:r>
            <a:r>
              <a:rPr lang="zh-CN" altLang="en-US" sz="2800" b="1" spc="-5" dirty="0">
                <a:latin typeface="Symbol"/>
                <a:cs typeface="Symbol"/>
              </a:rPr>
              <a:t></a:t>
            </a:r>
            <a:r>
              <a:rPr lang="zh-CN" altLang="en-US" sz="2800" b="1" spc="5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v</a:t>
            </a:r>
            <a:r>
              <a:rPr lang="en-US" altLang="zh-CN" sz="2800" b="1" i="1" spc="-7" baseline="-20833" dirty="0">
                <a:latin typeface="Times New Roman"/>
                <a:cs typeface="Times New Roman"/>
              </a:rPr>
              <a:t>k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+1</a:t>
            </a:r>
            <a:r>
              <a:rPr lang="en-US" altLang="zh-CN" sz="2800" b="1" spc="-5" dirty="0">
                <a:latin typeface="Times New Roman"/>
                <a:cs typeface="Times New Roman"/>
              </a:rPr>
              <a:t>/</a:t>
            </a:r>
            <a:r>
              <a:rPr lang="en-US" altLang="zh-CN" sz="2800" b="1" i="1" spc="-5" dirty="0">
                <a:latin typeface="Times New Roman"/>
                <a:cs typeface="Times New Roman"/>
              </a:rPr>
              <a:t>w</a:t>
            </a:r>
            <a:r>
              <a:rPr lang="en-US" altLang="zh-CN" sz="2800" b="1" i="1" spc="-7" baseline="-20833" dirty="0">
                <a:latin typeface="Times New Roman"/>
                <a:cs typeface="Times New Roman"/>
              </a:rPr>
              <a:t>k</a:t>
            </a:r>
            <a:r>
              <a:rPr lang="en-US" altLang="zh-CN" sz="2800" b="1" spc="-7" baseline="-20833" dirty="0">
                <a:latin typeface="Times New Roman"/>
                <a:cs typeface="Times New Roman"/>
              </a:rPr>
              <a:t>+1 </a:t>
            </a:r>
            <a:r>
              <a:rPr lang="en-US" altLang="zh-CN" sz="2800" b="1" spc="-5" dirty="0">
                <a:latin typeface="Times New Roman"/>
                <a:cs typeface="Times New Roman"/>
              </a:rPr>
              <a:t>(</a:t>
            </a:r>
            <a:r>
              <a:rPr lang="zh-CN" altLang="en-US" sz="2800" b="1" spc="-5" dirty="0">
                <a:latin typeface="宋体"/>
                <a:cs typeface="宋体"/>
              </a:rPr>
              <a:t>可装</a:t>
            </a:r>
            <a:r>
              <a:rPr lang="en-US" altLang="zh-CN" sz="2800" b="1" dirty="0">
                <a:latin typeface="Times New Roman"/>
                <a:cs typeface="Times New Roman"/>
              </a:rPr>
              <a:t>)</a:t>
            </a:r>
            <a:endParaRPr lang="zh-CN" altLang="en-US" sz="2800" dirty="0">
              <a:latin typeface="Times New Roman"/>
              <a:cs typeface="Times New Roman"/>
            </a:endParaRPr>
          </a:p>
          <a:p>
            <a:pPr marL="360000">
              <a:lnSpc>
                <a:spcPct val="150000"/>
              </a:lnSpc>
              <a:tabLst>
                <a:tab pos="1350645" algn="l"/>
              </a:tabLst>
            </a:pPr>
            <a:r>
              <a:rPr lang="zh-CN" altLang="en-US" sz="2800" b="1" spc="-5" dirty="0">
                <a:latin typeface="Symbol"/>
                <a:cs typeface="Symbol"/>
              </a:rPr>
              <a:t></a:t>
            </a:r>
            <a:r>
              <a:rPr lang="zh-CN" altLang="en-US" sz="2800" b="1" spc="5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=</a:t>
            </a:r>
            <a:r>
              <a:rPr lang="zh-CN" altLang="en-US" sz="2800" b="1" spc="-10" dirty="0">
                <a:latin typeface="Times New Roman"/>
                <a:cs typeface="Times New Roman"/>
              </a:rPr>
              <a:t> </a:t>
            </a:r>
            <a:r>
              <a:rPr lang="en-US" altLang="zh-CN" sz="2800" b="1" dirty="0">
                <a:latin typeface="Times New Roman"/>
                <a:cs typeface="Times New Roman"/>
              </a:rPr>
              <a:t>0 </a:t>
            </a:r>
            <a:r>
              <a:rPr lang="en-US" altLang="zh-CN" sz="2800" b="1" spc="-5" dirty="0">
                <a:latin typeface="Times New Roman"/>
                <a:cs typeface="Times New Roman"/>
              </a:rPr>
              <a:t>(</a:t>
            </a:r>
            <a:r>
              <a:rPr lang="zh-CN" altLang="en-US" sz="2800" b="1" spc="-5" dirty="0">
                <a:latin typeface="宋体"/>
                <a:cs typeface="宋体"/>
              </a:rPr>
              <a:t>不可装</a:t>
            </a:r>
            <a:r>
              <a:rPr lang="en-US" altLang="zh-CN" sz="2800" b="1" dirty="0">
                <a:latin typeface="Times New Roman"/>
                <a:cs typeface="Times New Roman"/>
              </a:rPr>
              <a:t>)</a:t>
            </a:r>
            <a:endParaRPr lang="zh-CN" altLang="en-US"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41393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3568" y="1158717"/>
            <a:ext cx="7566126" cy="1552348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25"/>
              </a:spcBef>
            </a:pPr>
            <a:r>
              <a:rPr sz="2800" b="1" dirty="0">
                <a:latin typeface="Times New Roman"/>
                <a:cs typeface="Times New Roman"/>
              </a:rPr>
              <a:t>max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Symbol"/>
                <a:cs typeface="Symbol"/>
              </a:rPr>
              <a:t></a:t>
            </a:r>
            <a:r>
              <a:rPr sz="2800" b="1" dirty="0">
                <a:latin typeface="Times New Roman"/>
                <a:cs typeface="Times New Roman"/>
              </a:rPr>
              <a:t> 3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Symbol"/>
                <a:cs typeface="Symbol"/>
              </a:rPr>
              <a:t></a:t>
            </a:r>
            <a:r>
              <a:rPr sz="2800" b="1" dirty="0">
                <a:latin typeface="Times New Roman"/>
                <a:cs typeface="Times New Roman"/>
              </a:rPr>
              <a:t> 5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3 </a:t>
            </a:r>
            <a:r>
              <a:rPr sz="2800" b="1" dirty="0">
                <a:latin typeface="Symbol"/>
                <a:cs typeface="Symbol"/>
              </a:rPr>
              <a:t></a:t>
            </a:r>
            <a:r>
              <a:rPr sz="2800" b="1" dirty="0">
                <a:latin typeface="Times New Roman"/>
                <a:cs typeface="Times New Roman"/>
              </a:rPr>
              <a:t> 9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4</a:t>
            </a:r>
          </a:p>
          <a:p>
            <a:pPr marL="630555">
              <a:lnSpc>
                <a:spcPct val="100000"/>
              </a:lnSpc>
              <a:spcBef>
                <a:spcPts val="630"/>
              </a:spcBef>
            </a:pPr>
            <a:r>
              <a:rPr sz="2800" b="1" dirty="0">
                <a:latin typeface="Times New Roman"/>
                <a:cs typeface="Times New Roman"/>
              </a:rPr>
              <a:t>2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Symbol"/>
                <a:cs typeface="Symbol"/>
              </a:rPr>
              <a:t></a:t>
            </a:r>
            <a:r>
              <a:rPr sz="2800" b="1" dirty="0">
                <a:latin typeface="Times New Roman"/>
                <a:cs typeface="Times New Roman"/>
              </a:rPr>
              <a:t> 3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2 </a:t>
            </a:r>
            <a:r>
              <a:rPr sz="2800" b="1" dirty="0">
                <a:latin typeface="Symbol"/>
                <a:cs typeface="Symbol"/>
              </a:rPr>
              <a:t></a:t>
            </a:r>
            <a:r>
              <a:rPr sz="2800" b="1" dirty="0">
                <a:latin typeface="Times New Roman"/>
                <a:cs typeface="Times New Roman"/>
              </a:rPr>
              <a:t> 4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3 </a:t>
            </a:r>
            <a:r>
              <a:rPr sz="2800" b="1" dirty="0">
                <a:latin typeface="Symbol"/>
                <a:cs typeface="Symbol"/>
              </a:rPr>
              <a:t></a:t>
            </a:r>
            <a:r>
              <a:rPr sz="2800" b="1" dirty="0">
                <a:latin typeface="Times New Roman"/>
                <a:cs typeface="Times New Roman"/>
              </a:rPr>
              <a:t> 7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154" dirty="0">
                <a:latin typeface="Times New Roman"/>
                <a:cs typeface="Times New Roman"/>
              </a:rPr>
              <a:t>4 </a:t>
            </a:r>
            <a:r>
              <a:rPr sz="2800" b="1" dirty="0">
                <a:latin typeface="Symbol"/>
                <a:cs typeface="Symbol"/>
              </a:rPr>
              <a:t></a:t>
            </a:r>
            <a:r>
              <a:rPr sz="2800" b="1" dirty="0">
                <a:latin typeface="Times New Roman"/>
                <a:cs typeface="Times New Roman"/>
              </a:rPr>
              <a:t> 10</a:t>
            </a:r>
          </a:p>
          <a:p>
            <a:pPr marL="652145">
              <a:lnSpc>
                <a:spcPct val="100000"/>
              </a:lnSpc>
              <a:spcBef>
                <a:spcPts val="715"/>
              </a:spcBef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4154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Symbol"/>
                <a:cs typeface="Symbol"/>
              </a:rPr>
              <a:t></a:t>
            </a:r>
            <a:r>
              <a:rPr sz="2800" b="1" dirty="0">
                <a:latin typeface="Times New Roman"/>
                <a:cs typeface="Times New Roman"/>
              </a:rPr>
              <a:t> N, </a:t>
            </a:r>
            <a:r>
              <a:rPr sz="2800" b="1" i="1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Symbol"/>
                <a:cs typeface="Symbol"/>
              </a:rPr>
              <a:t></a:t>
            </a:r>
            <a:r>
              <a:rPr sz="2800" b="1" dirty="0">
                <a:latin typeface="Times New Roman"/>
                <a:cs typeface="Times New Roman"/>
              </a:rPr>
              <a:t> 1,2,3,4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9926" y="3164289"/>
            <a:ext cx="3378785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对变元重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新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排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序使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得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520348" y="321573"/>
            <a:ext cx="578795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实例：背包问</a:t>
            </a:r>
            <a:r>
              <a:rPr sz="4000" b="1" spc="-1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题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64527" y="3960494"/>
            <a:ext cx="7939921" cy="2181366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30"/>
              </a:spcBef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排序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后</a:t>
            </a:r>
          </a:p>
          <a:p>
            <a:pPr marR="60960" algn="ctr"/>
            <a:r>
              <a:rPr sz="2800" b="1" spc="-100" dirty="0" smtClean="0">
                <a:latin typeface="Times New Roman"/>
                <a:cs typeface="Times New Roman"/>
              </a:rPr>
              <a:t>max 9 </a:t>
            </a:r>
            <a:r>
              <a:rPr sz="2800" b="1" i="1" spc="-100" dirty="0" smtClean="0">
                <a:latin typeface="Times New Roman"/>
                <a:cs typeface="Times New Roman"/>
              </a:rPr>
              <a:t>x</a:t>
            </a:r>
            <a:r>
              <a:rPr sz="2800" b="1" spc="-100" baseline="-25462" dirty="0" smtClean="0">
                <a:latin typeface="Times New Roman"/>
                <a:cs typeface="Times New Roman"/>
              </a:rPr>
              <a:t>1 </a:t>
            </a:r>
            <a:r>
              <a:rPr sz="2800" b="1" spc="-100" dirty="0" smtClean="0">
                <a:latin typeface="Symbol"/>
                <a:cs typeface="Symbol"/>
              </a:rPr>
              <a:t></a:t>
            </a:r>
            <a:r>
              <a:rPr sz="2800" b="1" spc="-100" dirty="0" smtClean="0">
                <a:latin typeface="Times New Roman"/>
                <a:cs typeface="Times New Roman"/>
              </a:rPr>
              <a:t> 5 </a:t>
            </a:r>
            <a:r>
              <a:rPr sz="2800" b="1" i="1" spc="-100" dirty="0" smtClean="0">
                <a:latin typeface="Times New Roman"/>
                <a:cs typeface="Times New Roman"/>
              </a:rPr>
              <a:t>x</a:t>
            </a:r>
            <a:r>
              <a:rPr sz="2800" b="1" spc="-100" baseline="-25462" dirty="0" smtClean="0">
                <a:latin typeface="Times New Roman"/>
                <a:cs typeface="Times New Roman"/>
              </a:rPr>
              <a:t>2 </a:t>
            </a:r>
            <a:r>
              <a:rPr sz="2800" b="1" spc="-100" dirty="0" smtClean="0">
                <a:latin typeface="Symbol"/>
                <a:cs typeface="Symbol"/>
              </a:rPr>
              <a:t></a:t>
            </a:r>
            <a:r>
              <a:rPr sz="2800" b="1" spc="-100" dirty="0" smtClean="0">
                <a:latin typeface="Times New Roman"/>
                <a:cs typeface="Times New Roman"/>
              </a:rPr>
              <a:t> 3 </a:t>
            </a:r>
            <a:r>
              <a:rPr sz="2800" b="1" i="1" spc="-100" dirty="0" smtClean="0">
                <a:latin typeface="Times New Roman"/>
                <a:cs typeface="Times New Roman"/>
              </a:rPr>
              <a:t>x</a:t>
            </a:r>
            <a:r>
              <a:rPr sz="2800" b="1" spc="-100" baseline="-25462" dirty="0" smtClean="0">
                <a:latin typeface="Times New Roman"/>
                <a:cs typeface="Times New Roman"/>
              </a:rPr>
              <a:t>3</a:t>
            </a:r>
            <a:r>
              <a:rPr lang="zh-CN" altLang="en-US" sz="2800" b="1" spc="-100" dirty="0">
                <a:latin typeface="Symbol"/>
                <a:cs typeface="Symbol"/>
              </a:rPr>
              <a:t> </a:t>
            </a:r>
            <a:r>
              <a:rPr lang="zh-CN" altLang="en-US" sz="2800" b="1" spc="-100" dirty="0">
                <a:latin typeface="Times New Roman"/>
                <a:cs typeface="Times New Roman"/>
              </a:rPr>
              <a:t> </a:t>
            </a:r>
            <a:r>
              <a:rPr lang="en-US" altLang="zh-CN" sz="2800" b="1" i="1" spc="-100" dirty="0" smtClean="0">
                <a:latin typeface="Times New Roman"/>
                <a:cs typeface="Times New Roman"/>
              </a:rPr>
              <a:t>x</a:t>
            </a:r>
            <a:r>
              <a:rPr lang="en-US" altLang="zh-CN" sz="2800" b="1" spc="-100" baseline="-25462" dirty="0" smtClean="0">
                <a:latin typeface="Times New Roman"/>
                <a:cs typeface="Times New Roman"/>
              </a:rPr>
              <a:t>4</a:t>
            </a:r>
            <a:endParaRPr sz="2800" spc="-100" baseline="-25462" dirty="0" smtClean="0">
              <a:latin typeface="Times New Roman"/>
              <a:cs typeface="Times New Roman"/>
            </a:endParaRPr>
          </a:p>
          <a:p>
            <a:pPr marR="30480" algn="ctr"/>
            <a:r>
              <a:rPr sz="2800" b="1" spc="-100" dirty="0" smtClean="0">
                <a:latin typeface="Times New Roman"/>
                <a:cs typeface="Times New Roman"/>
              </a:rPr>
              <a:t>7 </a:t>
            </a:r>
            <a:r>
              <a:rPr sz="2800" b="1" i="1" spc="-100" dirty="0" smtClean="0">
                <a:latin typeface="Times New Roman"/>
                <a:cs typeface="Times New Roman"/>
              </a:rPr>
              <a:t>x</a:t>
            </a:r>
            <a:r>
              <a:rPr sz="2800" b="1" spc="-100" baseline="-25462" dirty="0" smtClean="0">
                <a:latin typeface="Times New Roman"/>
                <a:cs typeface="Times New Roman"/>
              </a:rPr>
              <a:t>1 </a:t>
            </a:r>
            <a:r>
              <a:rPr sz="2800" b="1" spc="-100" dirty="0" smtClean="0">
                <a:latin typeface="Symbol"/>
                <a:cs typeface="Symbol"/>
              </a:rPr>
              <a:t></a:t>
            </a:r>
            <a:r>
              <a:rPr sz="2800" b="1" spc="-100" dirty="0" smtClean="0">
                <a:latin typeface="Times New Roman"/>
                <a:cs typeface="Times New Roman"/>
              </a:rPr>
              <a:t> 4 </a:t>
            </a:r>
            <a:r>
              <a:rPr sz="2800" b="1" i="1" spc="-100" dirty="0" smtClean="0">
                <a:latin typeface="Times New Roman"/>
                <a:cs typeface="Times New Roman"/>
              </a:rPr>
              <a:t>x</a:t>
            </a:r>
            <a:r>
              <a:rPr sz="2800" b="1" spc="-100" baseline="-25462" dirty="0" smtClean="0">
                <a:latin typeface="Times New Roman"/>
                <a:cs typeface="Times New Roman"/>
              </a:rPr>
              <a:t>2 </a:t>
            </a:r>
            <a:r>
              <a:rPr sz="2800" b="1" spc="-100" dirty="0" smtClean="0">
                <a:latin typeface="Symbol"/>
                <a:cs typeface="Symbol"/>
              </a:rPr>
              <a:t></a:t>
            </a:r>
            <a:r>
              <a:rPr sz="2800" b="1" spc="-100" dirty="0" smtClean="0">
                <a:latin typeface="Times New Roman"/>
                <a:cs typeface="Times New Roman"/>
              </a:rPr>
              <a:t> 3 </a:t>
            </a:r>
            <a:r>
              <a:rPr sz="2800" b="1" i="1" spc="-100" dirty="0" smtClean="0">
                <a:latin typeface="Times New Roman"/>
                <a:cs typeface="Times New Roman"/>
              </a:rPr>
              <a:t>x</a:t>
            </a:r>
            <a:r>
              <a:rPr sz="2800" b="1" spc="-100" baseline="-25462" dirty="0" smtClean="0">
                <a:latin typeface="Times New Roman"/>
                <a:cs typeface="Times New Roman"/>
              </a:rPr>
              <a:t>3</a:t>
            </a:r>
            <a:r>
              <a:rPr lang="en-US" altLang="zh-CN" sz="2800" b="1" spc="-100" dirty="0">
                <a:latin typeface="Symbol"/>
                <a:cs typeface="Symbol"/>
              </a:rPr>
              <a:t></a:t>
            </a:r>
            <a:r>
              <a:rPr lang="en-US" altLang="zh-CN" sz="2800" b="1" spc="-100" dirty="0">
                <a:latin typeface="Times New Roman"/>
                <a:cs typeface="Times New Roman"/>
              </a:rPr>
              <a:t> 2 </a:t>
            </a:r>
            <a:r>
              <a:rPr lang="en-US" altLang="zh-CN" sz="2800" b="1" i="1" spc="-100" dirty="0">
                <a:latin typeface="Times New Roman"/>
                <a:cs typeface="Times New Roman"/>
              </a:rPr>
              <a:t>x</a:t>
            </a:r>
            <a:r>
              <a:rPr lang="en-US" altLang="zh-CN" sz="2800" b="1" spc="-100" baseline="-25462" dirty="0">
                <a:latin typeface="Times New Roman"/>
                <a:cs typeface="Times New Roman"/>
              </a:rPr>
              <a:t>4 </a:t>
            </a:r>
            <a:r>
              <a:rPr lang="en-US" altLang="zh-CN" sz="2800" b="1" spc="-100" dirty="0">
                <a:latin typeface="Symbol"/>
                <a:cs typeface="Symbol"/>
              </a:rPr>
              <a:t></a:t>
            </a:r>
            <a:r>
              <a:rPr lang="en-US" altLang="zh-CN" sz="2800" b="1" spc="-100" dirty="0">
                <a:latin typeface="Times New Roman"/>
                <a:cs typeface="Times New Roman"/>
              </a:rPr>
              <a:t> </a:t>
            </a:r>
            <a:r>
              <a:rPr lang="en-US" altLang="zh-CN" sz="2800" b="1" spc="-100" dirty="0" smtClean="0">
                <a:latin typeface="Times New Roman"/>
                <a:cs typeface="Times New Roman"/>
              </a:rPr>
              <a:t>10</a:t>
            </a:r>
          </a:p>
          <a:p>
            <a:pPr marR="30480" algn="ctr"/>
            <a:r>
              <a:rPr lang="en-US" altLang="zh-CN" sz="2800" b="1" i="1" spc="-100" dirty="0">
                <a:latin typeface="Times New Roman"/>
                <a:cs typeface="Times New Roman"/>
              </a:rPr>
              <a:t>x</a:t>
            </a:r>
            <a:r>
              <a:rPr lang="en-US" altLang="zh-CN" sz="2800" b="1" i="1" spc="-100" baseline="-25462" dirty="0">
                <a:latin typeface="Times New Roman"/>
                <a:cs typeface="Times New Roman"/>
              </a:rPr>
              <a:t>i </a:t>
            </a:r>
            <a:r>
              <a:rPr lang="en-US" altLang="zh-CN" sz="2800" b="1" spc="-100" dirty="0">
                <a:latin typeface="Symbol"/>
                <a:cs typeface="Symbol"/>
              </a:rPr>
              <a:t></a:t>
            </a:r>
            <a:r>
              <a:rPr lang="en-US" altLang="zh-CN" sz="2800" b="1" spc="-100" dirty="0">
                <a:latin typeface="Times New Roman"/>
                <a:cs typeface="Times New Roman"/>
              </a:rPr>
              <a:t> N, </a:t>
            </a:r>
            <a:r>
              <a:rPr lang="en-US" altLang="zh-CN" sz="2800" b="1" i="1" spc="-100" dirty="0" err="1">
                <a:latin typeface="Times New Roman"/>
                <a:cs typeface="Times New Roman"/>
              </a:rPr>
              <a:t>i</a:t>
            </a:r>
            <a:r>
              <a:rPr lang="en-US" altLang="zh-CN" sz="2800" b="1" i="1" spc="-100" dirty="0">
                <a:latin typeface="Times New Roman"/>
                <a:cs typeface="Times New Roman"/>
              </a:rPr>
              <a:t> </a:t>
            </a:r>
            <a:r>
              <a:rPr lang="en-US" altLang="zh-CN" sz="2800" b="1" spc="-100" dirty="0">
                <a:latin typeface="Symbol"/>
                <a:cs typeface="Symbol"/>
              </a:rPr>
              <a:t></a:t>
            </a:r>
            <a:r>
              <a:rPr lang="en-US" altLang="zh-CN" sz="2800" b="1" spc="-100" dirty="0">
                <a:latin typeface="Times New Roman"/>
                <a:cs typeface="Times New Roman"/>
              </a:rPr>
              <a:t> </a:t>
            </a:r>
            <a:r>
              <a:rPr lang="en-US" altLang="zh-CN" sz="2800" b="1" spc="-100" dirty="0" smtClean="0">
                <a:latin typeface="Times New Roman"/>
                <a:cs typeface="Times New Roman"/>
              </a:rPr>
              <a:t>1,2,3,4</a:t>
            </a:r>
            <a:endParaRPr lang="en-US" altLang="zh-CN" sz="2800" spc="-100" dirty="0">
              <a:latin typeface="Times New Roman"/>
              <a:cs typeface="Times New Roman"/>
            </a:endParaRPr>
          </a:p>
          <a:p>
            <a:pPr marR="30480" algn="r">
              <a:lnSpc>
                <a:spcPct val="100000"/>
              </a:lnSpc>
              <a:spcBef>
                <a:spcPts val="720"/>
              </a:spcBef>
            </a:pPr>
            <a:endParaRPr sz="2800" baseline="-25462" dirty="0">
              <a:latin typeface="Times New Roman"/>
              <a:cs typeface="Times New Roman"/>
            </a:endParaRPr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5936" y="3063559"/>
            <a:ext cx="1942857" cy="8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8031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7894" y="1428707"/>
            <a:ext cx="787852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结点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305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305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430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代价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函</a:t>
            </a:r>
            <a:r>
              <a:rPr sz="28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64312" y="4941168"/>
            <a:ext cx="633993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分支策略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----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深度优先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title"/>
          </p:nvPr>
        </p:nvSpPr>
        <p:spPr>
          <a:xfrm>
            <a:off x="515270" y="315097"/>
            <a:ext cx="758512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代价函数与分</a:t>
            </a:r>
            <a:r>
              <a:rPr sz="40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支策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略</a:t>
            </a: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 rotWithShape="1">
          <a:blip r:embed="rId2"/>
          <a:srcRect b="65818"/>
          <a:stretch/>
        </p:blipFill>
        <p:spPr>
          <a:xfrm>
            <a:off x="1314117" y="1947939"/>
            <a:ext cx="6126074" cy="778055"/>
          </a:xfrm>
          <a:prstGeom prst="rect">
            <a:avLst/>
          </a:prstGeom>
        </p:spPr>
      </p:pic>
      <p:pic>
        <p:nvPicPr>
          <p:cNvPr id="25" name="图片 24"/>
          <p:cNvPicPr>
            <a:picLocks noChangeAspect="1"/>
          </p:cNvPicPr>
          <p:nvPr/>
        </p:nvPicPr>
        <p:blipFill rotWithShape="1">
          <a:blip r:embed="rId2"/>
          <a:srcRect t="34799" r="54158" b="33566"/>
          <a:stretch/>
        </p:blipFill>
        <p:spPr>
          <a:xfrm>
            <a:off x="1043608" y="3307219"/>
            <a:ext cx="2808312" cy="720080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2"/>
          <a:srcRect t="69341"/>
          <a:stretch/>
        </p:blipFill>
        <p:spPr>
          <a:xfrm>
            <a:off x="1326246" y="4027299"/>
            <a:ext cx="6126074" cy="697845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 rotWithShape="1">
          <a:blip r:embed="rId2"/>
          <a:srcRect l="49922" t="34799" b="32915"/>
          <a:stretch/>
        </p:blipFill>
        <p:spPr>
          <a:xfrm>
            <a:off x="4411443" y="3307219"/>
            <a:ext cx="3067833" cy="734891"/>
          </a:xfrm>
          <a:prstGeom prst="rect">
            <a:avLst/>
          </a:prstGeom>
        </p:spPr>
      </p:pic>
      <p:sp>
        <p:nvSpPr>
          <p:cNvPr id="28" name="文本框 27"/>
          <p:cNvSpPr txBox="1"/>
          <p:nvPr/>
        </p:nvSpPr>
        <p:spPr>
          <a:xfrm>
            <a:off x="3919168" y="3361194"/>
            <a:ext cx="5252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 smtClean="0">
                <a:latin typeface="黑体" panose="02010609060101010101" pitchFamily="49" charset="-122"/>
                <a:ea typeface="黑体" panose="02010609060101010101" pitchFamily="49" charset="-122"/>
              </a:rPr>
              <a:t>有</a:t>
            </a:r>
            <a:endParaRPr lang="zh-CN" altLang="en-US" sz="28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16766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2051720" y="344789"/>
            <a:ext cx="6559902" cy="908582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725"/>
              </a:spcBef>
            </a:pPr>
            <a:r>
              <a:rPr sz="2400" b="1" dirty="0">
                <a:latin typeface="Times New Roman"/>
                <a:cs typeface="Times New Roman"/>
              </a:rPr>
              <a:t>max 9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1 </a:t>
            </a:r>
            <a:r>
              <a:rPr sz="2400" b="1" dirty="0">
                <a:latin typeface="Symbol"/>
                <a:cs typeface="Symbol"/>
              </a:rPr>
              <a:t></a:t>
            </a:r>
            <a:r>
              <a:rPr sz="2400" b="1" dirty="0">
                <a:latin typeface="Times New Roman"/>
                <a:cs typeface="Times New Roman"/>
              </a:rPr>
              <a:t> 5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Symbol"/>
                <a:cs typeface="Symbol"/>
              </a:rPr>
              <a:t></a:t>
            </a:r>
            <a:r>
              <a:rPr sz="2400" b="1" dirty="0">
                <a:latin typeface="Times New Roman"/>
                <a:cs typeface="Times New Roman"/>
              </a:rPr>
              <a:t> 3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3 </a:t>
            </a:r>
            <a:r>
              <a:rPr sz="2400" b="1" dirty="0">
                <a:latin typeface="Symbol"/>
                <a:cs typeface="Symbol"/>
              </a:rPr>
              <a:t></a:t>
            </a:r>
            <a:r>
              <a:rPr sz="2400" b="1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4</a:t>
            </a:r>
            <a:endParaRPr sz="2400" baseline="-20833" dirty="0">
              <a:latin typeface="Times New Roman"/>
              <a:cs typeface="Times New Roman"/>
            </a:endParaRPr>
          </a:p>
          <a:p>
            <a:pPr marL="41275">
              <a:lnSpc>
                <a:spcPct val="100000"/>
              </a:lnSpc>
              <a:spcBef>
                <a:spcPts val="625"/>
              </a:spcBef>
            </a:pPr>
            <a:r>
              <a:rPr sz="2400" b="1" dirty="0">
                <a:latin typeface="Times New Roman"/>
                <a:cs typeface="Times New Roman"/>
              </a:rPr>
              <a:t>7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1 </a:t>
            </a:r>
            <a:r>
              <a:rPr sz="2400" b="1" dirty="0">
                <a:latin typeface="Symbol"/>
                <a:cs typeface="Symbol"/>
              </a:rPr>
              <a:t></a:t>
            </a:r>
            <a:r>
              <a:rPr sz="2400" b="1" dirty="0">
                <a:latin typeface="Times New Roman"/>
                <a:cs typeface="Times New Roman"/>
              </a:rPr>
              <a:t> 4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2 </a:t>
            </a:r>
            <a:r>
              <a:rPr sz="2400" b="1" dirty="0">
                <a:latin typeface="Symbol"/>
                <a:cs typeface="Symbol"/>
              </a:rPr>
              <a:t></a:t>
            </a:r>
            <a:r>
              <a:rPr sz="2400" b="1" dirty="0">
                <a:latin typeface="Times New Roman"/>
                <a:cs typeface="Times New Roman"/>
              </a:rPr>
              <a:t> 3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3 </a:t>
            </a:r>
            <a:r>
              <a:rPr sz="2400" b="1" dirty="0">
                <a:latin typeface="Symbol"/>
                <a:cs typeface="Symbol"/>
              </a:rPr>
              <a:t></a:t>
            </a:r>
            <a:r>
              <a:rPr sz="2400" b="1" dirty="0">
                <a:latin typeface="Times New Roman"/>
                <a:cs typeface="Times New Roman"/>
              </a:rPr>
              <a:t> 2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baseline="-20833" dirty="0">
                <a:latin typeface="Times New Roman"/>
                <a:cs typeface="Times New Roman"/>
              </a:rPr>
              <a:t>4 </a:t>
            </a:r>
            <a:r>
              <a:rPr sz="2400" b="1" dirty="0">
                <a:latin typeface="Symbol"/>
                <a:cs typeface="Symbol"/>
              </a:rPr>
              <a:t></a:t>
            </a:r>
            <a:r>
              <a:rPr sz="2400" b="1" dirty="0">
                <a:latin typeface="Times New Roman"/>
                <a:cs typeface="Times New Roman"/>
              </a:rPr>
              <a:t> 10, </a:t>
            </a:r>
            <a:r>
              <a:rPr sz="2400" b="1" i="1" dirty="0">
                <a:latin typeface="Times New Roman"/>
                <a:cs typeface="Times New Roman"/>
              </a:rPr>
              <a:t>x</a:t>
            </a:r>
            <a:r>
              <a:rPr sz="2400" b="1" i="1" baseline="-20833" dirty="0">
                <a:latin typeface="Times New Roman"/>
                <a:cs typeface="Times New Roman"/>
              </a:rPr>
              <a:t>i </a:t>
            </a:r>
            <a:r>
              <a:rPr sz="2400" b="1" dirty="0">
                <a:latin typeface="Symbol"/>
                <a:cs typeface="Symbol"/>
              </a:rPr>
              <a:t></a:t>
            </a:r>
            <a:r>
              <a:rPr sz="2400" b="1" dirty="0">
                <a:latin typeface="Times New Roman"/>
                <a:cs typeface="Times New Roman"/>
              </a:rPr>
              <a:t> N, </a:t>
            </a:r>
            <a:r>
              <a:rPr sz="2400" b="1" i="1" dirty="0">
                <a:latin typeface="Times New Roman"/>
                <a:cs typeface="Times New Roman"/>
              </a:rPr>
              <a:t>i </a:t>
            </a:r>
            <a:r>
              <a:rPr sz="2400" b="1" dirty="0">
                <a:latin typeface="Symbol"/>
                <a:cs typeface="Symbol"/>
              </a:rPr>
              <a:t></a:t>
            </a:r>
            <a:r>
              <a:rPr sz="2400" b="1" dirty="0">
                <a:latin typeface="Times New Roman"/>
                <a:cs typeface="Times New Roman"/>
              </a:rPr>
              <a:t> 1,2,3,4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xfrm>
            <a:off x="764069" y="250206"/>
            <a:ext cx="1143635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2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实例</a:t>
            </a:r>
            <a:endParaRPr sz="40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648" y="1253371"/>
            <a:ext cx="6552728" cy="5116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3597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858" y="483329"/>
            <a:ext cx="432038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52" y="1412776"/>
            <a:ext cx="8136904" cy="35522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1200"/>
              </a:spcBef>
              <a:buFont typeface="Arial"/>
              <a:buChar char="•"/>
              <a:tabLst>
                <a:tab pos="283845" algn="l"/>
                <a:tab pos="284480" algn="l"/>
              </a:tabLst>
            </a:pP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分支限界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适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用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于组合优化问题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  <a:spcBef>
                <a:spcPts val="1200"/>
              </a:spcBef>
              <a:buFont typeface="Arial"/>
              <a:buChar char="•"/>
              <a:tabLst>
                <a:tab pos="283845" algn="l"/>
                <a:tab pos="284480" algn="l"/>
              </a:tabLst>
            </a:pP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对结点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 ...,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定义代价函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145415">
              <a:lnSpc>
                <a:spcPct val="150000"/>
              </a:lnSpc>
            </a:pPr>
            <a:r>
              <a:rPr 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当前结点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为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根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子树的可行解的上界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或下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界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  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极大化问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题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极小化问题的区别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0" lvl="1">
              <a:lnSpc>
                <a:spcPct val="150000"/>
              </a:lnSpc>
              <a:spcBef>
                <a:spcPts val="1200"/>
              </a:spcBef>
              <a:buFont typeface="Arial"/>
              <a:buChar char="•"/>
              <a:tabLst>
                <a:tab pos="360045" algn="l"/>
                <a:tab pos="360680" algn="l"/>
              </a:tabLst>
            </a:pP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定义界的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初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</a:t>
            </a:r>
            <a:r>
              <a:rPr lang="zh-CN" altLang="en-US" sz="280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得到新的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更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好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的可行解就更新界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48151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7744" y="2472571"/>
            <a:ext cx="4968552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5" dirty="0">
                <a:latin typeface="黑体" pitchFamily="49" charset="-122"/>
                <a:ea typeface="黑体" pitchFamily="49" charset="-122"/>
              </a:rPr>
              <a:t>最大</a:t>
            </a:r>
            <a:r>
              <a:rPr sz="6600" spc="5" dirty="0">
                <a:latin typeface="黑体" pitchFamily="49" charset="-122"/>
                <a:ea typeface="黑体" pitchFamily="49" charset="-122"/>
              </a:rPr>
              <a:t>团</a:t>
            </a:r>
            <a:r>
              <a:rPr sz="6600" spc="-5" dirty="0">
                <a:latin typeface="黑体" pitchFamily="49" charset="-122"/>
                <a:ea typeface="黑体" pitchFamily="49" charset="-122"/>
              </a:rPr>
              <a:t>问</a:t>
            </a:r>
            <a:r>
              <a:rPr sz="6600" spc="-25" dirty="0">
                <a:latin typeface="黑体" pitchFamily="49" charset="-122"/>
                <a:ea typeface="黑体" pitchFamily="49" charset="-122"/>
              </a:rPr>
              <a:t>题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1581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31949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最大团问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6336" y="4841078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795229" y="4292438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05266" y="3863207"/>
            <a:ext cx="1003935" cy="0"/>
          </a:xfrm>
          <a:custGeom>
            <a:avLst/>
            <a:gdLst/>
            <a:ahLst/>
            <a:cxnLst/>
            <a:rect l="l" t="t" r="r" b="b"/>
            <a:pathLst>
              <a:path w="1003935">
                <a:moveTo>
                  <a:pt x="0" y="0"/>
                </a:moveTo>
                <a:lnTo>
                  <a:pt x="1003554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5005265" y="3912991"/>
            <a:ext cx="1581150" cy="491067"/>
          </a:xfrm>
          <a:custGeom>
            <a:avLst/>
            <a:gdLst/>
            <a:ahLst/>
            <a:cxnLst/>
            <a:rect l="l" t="t" r="r" b="b"/>
            <a:pathLst>
              <a:path w="1581150" h="368300">
                <a:moveTo>
                  <a:pt x="0" y="0"/>
                </a:moveTo>
                <a:lnTo>
                  <a:pt x="1581150" y="36804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944304" y="3961758"/>
            <a:ext cx="0" cy="982980"/>
          </a:xfrm>
          <a:custGeom>
            <a:avLst/>
            <a:gdLst/>
            <a:ahLst/>
            <a:cxnLst/>
            <a:rect l="l" t="t" r="r" b="b"/>
            <a:pathLst>
              <a:path h="737235">
                <a:moveTo>
                  <a:pt x="0" y="0"/>
                </a:moveTo>
                <a:lnTo>
                  <a:pt x="0" y="7368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005265" y="5041766"/>
            <a:ext cx="1033780" cy="0"/>
          </a:xfrm>
          <a:custGeom>
            <a:avLst/>
            <a:gdLst/>
            <a:ahLst/>
            <a:cxnLst/>
            <a:rect l="l" t="t" r="r" b="b"/>
            <a:pathLst>
              <a:path w="1033779">
                <a:moveTo>
                  <a:pt x="0" y="0"/>
                </a:moveTo>
                <a:lnTo>
                  <a:pt x="103327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069016" y="3961758"/>
            <a:ext cx="0" cy="982980"/>
          </a:xfrm>
          <a:custGeom>
            <a:avLst/>
            <a:gdLst/>
            <a:ahLst/>
            <a:cxnLst/>
            <a:rect l="l" t="t" r="r" b="b"/>
            <a:pathLst>
              <a:path h="737235">
                <a:moveTo>
                  <a:pt x="0" y="0"/>
                </a:moveTo>
                <a:lnTo>
                  <a:pt x="0" y="73685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099498" y="3912991"/>
            <a:ext cx="517525" cy="441960"/>
          </a:xfrm>
          <a:custGeom>
            <a:avLst/>
            <a:gdLst/>
            <a:ahLst/>
            <a:cxnLst/>
            <a:rect l="l" t="t" r="r" b="b"/>
            <a:pathLst>
              <a:path w="517525" h="331470">
                <a:moveTo>
                  <a:pt x="0" y="0"/>
                </a:moveTo>
                <a:lnTo>
                  <a:pt x="517398" y="33147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129978" y="4502272"/>
            <a:ext cx="487045" cy="490220"/>
          </a:xfrm>
          <a:custGeom>
            <a:avLst/>
            <a:gdLst/>
            <a:ahLst/>
            <a:cxnLst/>
            <a:rect l="l" t="t" r="r" b="b"/>
            <a:pathLst>
              <a:path w="487045" h="367664">
                <a:moveTo>
                  <a:pt x="0" y="367284"/>
                </a:moveTo>
                <a:lnTo>
                  <a:pt x="486918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74785" y="3961759"/>
            <a:ext cx="1064260" cy="1030393"/>
          </a:xfrm>
          <a:custGeom>
            <a:avLst/>
            <a:gdLst/>
            <a:ahLst/>
            <a:cxnLst/>
            <a:rect l="l" t="t" r="r" b="b"/>
            <a:pathLst>
              <a:path w="1064260" h="772795">
                <a:moveTo>
                  <a:pt x="0" y="0"/>
                </a:moveTo>
                <a:lnTo>
                  <a:pt x="1063752" y="772668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900872" y="3799200"/>
            <a:ext cx="169925" cy="2245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900872" y="4918831"/>
            <a:ext cx="169925" cy="2265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72699" y="4327518"/>
            <a:ext cx="169925" cy="2265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025584" y="4918831"/>
            <a:ext cx="169925" cy="2265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996628" y="3789040"/>
            <a:ext cx="169925" cy="22351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238847" y="4913607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27583" y="3928811"/>
            <a:ext cx="3813007" cy="718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80"/>
              </a:lnSpc>
              <a:spcBef>
                <a:spcPts val="100"/>
              </a:spcBef>
            </a:pP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实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例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2700">
              <a:lnSpc>
                <a:spcPts val="2640"/>
              </a:lnSpc>
            </a:pP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最大团：{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1,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3,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4,</a:t>
            </a:r>
            <a:r>
              <a:rPr sz="2800" b="1" spc="-2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5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},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object 21"/>
              <p:cNvSpPr txBox="1"/>
              <p:nvPr/>
            </p:nvSpPr>
            <p:spPr>
              <a:xfrm>
                <a:off x="539552" y="1057849"/>
                <a:ext cx="7992888" cy="2846870"/>
              </a:xfrm>
              <a:prstGeom prst="rect">
                <a:avLst/>
              </a:prstGeom>
            </p:spPr>
            <p:txBody>
              <a:bodyPr vert="horz" wrap="square" lIns="0" tIns="196215" rIns="0" bIns="0" rtlCol="0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zh-CN" altLang="en-US" sz="2400" b="1" spc="-5" dirty="0" smtClean="0">
                    <a:latin typeface="黑体" pitchFamily="49" charset="-122"/>
                    <a:ea typeface="黑体" pitchFamily="49" charset="-122"/>
                    <a:cs typeface="宋体"/>
                  </a:rPr>
                  <a:t>问题</a:t>
                </a:r>
                <a:r>
                  <a:rPr lang="en-US" altLang="zh-CN" sz="2400" b="1" dirty="0">
                    <a:latin typeface="黑体" pitchFamily="49" charset="-122"/>
                    <a:ea typeface="黑体" pitchFamily="49" charset="-122"/>
                    <a:cs typeface="Times New Roman"/>
                  </a:rPr>
                  <a:t>: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Times New Roman"/>
                  </a:rPr>
                  <a:t> 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无向图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G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=&lt;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V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,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E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&gt;,</a:t>
                </a:r>
                <a:r>
                  <a:rPr lang="zh-CN" altLang="en-US" sz="2400" b="1" spc="-20" dirty="0">
                    <a:latin typeface="Times New Roman"/>
                    <a:cs typeface="Times New Roman"/>
                  </a:rPr>
                  <a:t> 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求</a:t>
                </a:r>
                <a:r>
                  <a:rPr lang="en-US" altLang="zh-CN" sz="2400" b="1" i="1" spc="-5" dirty="0">
                    <a:latin typeface="黑体" pitchFamily="49" charset="-122"/>
                    <a:ea typeface="黑体" pitchFamily="49" charset="-122"/>
                    <a:cs typeface="Times New Roman"/>
                  </a:rPr>
                  <a:t>G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的最</a:t>
                </a:r>
                <a:r>
                  <a:rPr lang="zh-CN" altLang="en-US" sz="2400" b="1" dirty="0">
                    <a:latin typeface="黑体" pitchFamily="49" charset="-122"/>
                    <a:ea typeface="黑体" pitchFamily="49" charset="-122"/>
                    <a:cs typeface="宋体"/>
                  </a:rPr>
                  <a:t>大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团</a:t>
                </a:r>
                <a:r>
                  <a:rPr lang="en-US" altLang="zh-CN" sz="2400" b="1" dirty="0">
                    <a:latin typeface="黑体" pitchFamily="49" charset="-122"/>
                    <a:ea typeface="黑体" pitchFamily="49" charset="-122"/>
                    <a:cs typeface="Times New Roman"/>
                  </a:rPr>
                  <a:t>.</a:t>
                </a:r>
                <a:endParaRPr lang="zh-CN" altLang="en-US" sz="2400" dirty="0">
                  <a:latin typeface="黑体" pitchFamily="49" charset="-122"/>
                  <a:ea typeface="黑体" pitchFamily="49" charset="-122"/>
                  <a:cs typeface="Times New Roman"/>
                </a:endParaRP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altLang="zh-CN" sz="2400" b="1" i="1" dirty="0">
                    <a:latin typeface="黑体" pitchFamily="49" charset="-122"/>
                    <a:ea typeface="黑体" pitchFamily="49" charset="-122"/>
                    <a:cs typeface="Times New Roman"/>
                  </a:rPr>
                  <a:t>G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的</a:t>
                </a:r>
                <a:r>
                  <a:rPr lang="zh-CN" altLang="en-US" sz="2400" b="1" spc="-5" dirty="0">
                    <a:solidFill>
                      <a:srgbClr val="A50021"/>
                    </a:solidFill>
                    <a:latin typeface="黑体" pitchFamily="49" charset="-122"/>
                    <a:ea typeface="黑体" pitchFamily="49" charset="-122"/>
                    <a:cs typeface="宋体"/>
                  </a:rPr>
                  <a:t>子图</a:t>
                </a:r>
                <a:r>
                  <a:rPr lang="zh-CN" altLang="en-US" sz="2400" b="1" dirty="0">
                    <a:latin typeface="宋体"/>
                    <a:cs typeface="宋体"/>
                  </a:rPr>
                  <a:t>：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G'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=</a:t>
                </a:r>
                <a:r>
                  <a:rPr lang="zh-CN" altLang="en-US" sz="2400" b="1" spc="-5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sz="2400" b="1" spc="-5" dirty="0">
                    <a:latin typeface="Times New Roman"/>
                    <a:cs typeface="Times New Roman"/>
                  </a:rPr>
                  <a:t>&lt;</a:t>
                </a:r>
                <a:r>
                  <a:rPr lang="en-US" altLang="zh-CN" sz="2400" b="1" i="1" spc="-5" dirty="0">
                    <a:latin typeface="Times New Roman"/>
                    <a:cs typeface="Times New Roman"/>
                  </a:rPr>
                  <a:t>V</a:t>
                </a:r>
                <a:r>
                  <a:rPr lang="zh-CN" altLang="en-US" sz="2400" b="1" i="1" spc="-60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sz="2400" b="1" spc="-5" dirty="0">
                    <a:latin typeface="Times New Roman"/>
                    <a:cs typeface="Times New Roman"/>
                  </a:rPr>
                  <a:t>',</a:t>
                </a:r>
                <a:r>
                  <a:rPr lang="en-US" altLang="zh-CN" sz="2400" b="1" i="1" spc="-5" dirty="0">
                    <a:latin typeface="Times New Roman"/>
                    <a:cs typeface="Times New Roman"/>
                  </a:rPr>
                  <a:t>E</a:t>
                </a:r>
                <a:r>
                  <a:rPr lang="en-US" altLang="zh-CN" sz="2400" b="1" spc="-5" dirty="0">
                    <a:latin typeface="Times New Roman"/>
                    <a:cs typeface="Times New Roman"/>
                  </a:rPr>
                  <a:t>'&gt;,</a:t>
                </a:r>
                <a:r>
                  <a:rPr lang="zh-CN" altLang="en-US" sz="2400" b="1" spc="-15" dirty="0">
                    <a:latin typeface="Times New Roman"/>
                    <a:cs typeface="Times New Roman"/>
                  </a:rPr>
                  <a:t> 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其中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V</a:t>
                </a:r>
                <a:r>
                  <a:rPr lang="zh-CN" altLang="en-US" sz="2400" b="1" i="1" spc="-45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'</a:t>
                </a:r>
                <a:r>
                  <a:rPr lang="zh-CN" altLang="en-US" sz="2400" b="1" dirty="0">
                    <a:latin typeface="Symbol"/>
                    <a:cs typeface="Symbol"/>
                  </a:rPr>
                  <a:t>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V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,</a:t>
                </a:r>
                <a:r>
                  <a:rPr lang="zh-CN" altLang="en-US" sz="2400" b="1" spc="-15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E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'</a:t>
                </a:r>
                <a:r>
                  <a:rPr lang="zh-CN" altLang="en-US" sz="2400" b="1" dirty="0">
                    <a:latin typeface="Symbol"/>
                    <a:cs typeface="Symbol"/>
                  </a:rPr>
                  <a:t></a:t>
                </a:r>
                <a:r>
                  <a:rPr lang="en-US" altLang="zh-CN" sz="2400" b="1" i="1" dirty="0">
                    <a:latin typeface="Times New Roman"/>
                    <a:cs typeface="Times New Roman"/>
                  </a:rPr>
                  <a:t>E</a:t>
                </a:r>
                <a:r>
                  <a:rPr lang="en-US" altLang="zh-CN" sz="2400" b="1" dirty="0">
                    <a:latin typeface="Times New Roman"/>
                    <a:cs typeface="Times New Roman"/>
                  </a:rPr>
                  <a:t>,</a:t>
                </a:r>
                <a:endParaRPr lang="zh-CN" altLang="en-US" sz="2400" dirty="0">
                  <a:latin typeface="Times New Roman"/>
                  <a:cs typeface="Times New Roman"/>
                </a:endParaRPr>
              </a:p>
              <a:p>
                <a:pPr marR="246379" indent="-1327785"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altLang="zh-CN" sz="2400" b="1" i="1" dirty="0" err="1">
                    <a:latin typeface="黑体" pitchFamily="49" charset="-122"/>
                    <a:ea typeface="黑体" pitchFamily="49" charset="-122"/>
                    <a:cs typeface="Times New Roman"/>
                  </a:rPr>
                  <a:t>G</a:t>
                </a:r>
                <a:r>
                  <a:rPr lang="zh-CN" altLang="en-US" sz="2400" b="1" spc="-5" dirty="0" err="1" smtClean="0">
                    <a:latin typeface="黑体" pitchFamily="49" charset="-122"/>
                    <a:ea typeface="黑体" pitchFamily="49" charset="-122"/>
                    <a:cs typeface="宋体"/>
                  </a:rPr>
                  <a:t>的</a:t>
                </a:r>
                <a:r>
                  <a:rPr lang="zh-CN" altLang="en-US" sz="2400" b="1" spc="-5" dirty="0" err="1" smtClean="0">
                    <a:solidFill>
                      <a:srgbClr val="A50021"/>
                    </a:solidFill>
                    <a:latin typeface="黑体" pitchFamily="49" charset="-122"/>
                    <a:ea typeface="黑体" pitchFamily="49" charset="-122"/>
                    <a:cs typeface="宋体"/>
                  </a:rPr>
                  <a:t>补图</a:t>
                </a:r>
                <a:r>
                  <a:rPr lang="zh-CN" altLang="en-US" sz="2400" b="1" spc="10" dirty="0" smtClean="0">
                    <a:latin typeface="宋体"/>
                    <a:cs typeface="宋体"/>
                  </a:rPr>
                  <a:t>：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400" b="1" i="1" spc="10" smtClean="0">
                            <a:latin typeface="Cambria Math"/>
                          </a:rPr>
                        </m:ctrlPr>
                      </m:accPr>
                      <m:e>
                        <m:r>
                          <a:rPr lang="zh-CN" altLang="en-US" sz="2400" b="1" i="1" spc="10">
                            <a:latin typeface="Cambria Math"/>
                            <a:cs typeface="宋体"/>
                          </a:rPr>
                          <m:t>𝑮</m:t>
                        </m:r>
                      </m:e>
                    </m:acc>
                  </m:oMath>
                </a14:m>
                <a:r>
                  <a:rPr lang="en-US" altLang="zh-CN" sz="2400" b="1" spc="10" dirty="0" smtClean="0">
                    <a:latin typeface="Times New Roman"/>
                    <a:cs typeface="Times New Roman"/>
                  </a:rPr>
                  <a:t>=&lt;</a:t>
                </a:r>
                <a:r>
                  <a:rPr lang="en-US" altLang="zh-CN" sz="2400" b="1" i="1" spc="10" dirty="0">
                    <a:latin typeface="Times New Roman"/>
                    <a:cs typeface="Times New Roman"/>
                  </a:rPr>
                  <a:t>V</a:t>
                </a:r>
                <a:r>
                  <a:rPr lang="en-US" altLang="zh-CN" sz="2400" b="1" spc="10" dirty="0">
                    <a:latin typeface="Times New Roman"/>
                    <a:cs typeface="Times New Roman"/>
                  </a:rPr>
                  <a:t>,</a:t>
                </a:r>
                <a:r>
                  <a:rPr lang="zh-CN" altLang="en-US" sz="2400" b="1" spc="-45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sz="2400" b="1" i="1" spc="-5" dirty="0">
                    <a:latin typeface="Times New Roman"/>
                    <a:cs typeface="Times New Roman"/>
                  </a:rPr>
                  <a:t>E</a:t>
                </a:r>
                <a:r>
                  <a:rPr lang="en-US" altLang="zh-CN" sz="2400" b="1" spc="-5" dirty="0">
                    <a:latin typeface="Times New Roman"/>
                    <a:cs typeface="Times New Roman"/>
                  </a:rPr>
                  <a:t>'&gt;,</a:t>
                </a:r>
                <a:r>
                  <a:rPr lang="zh-CN" altLang="en-US" sz="2400" b="1" spc="-30" dirty="0">
                    <a:latin typeface="Times New Roman"/>
                    <a:cs typeface="Times New Roman"/>
                  </a:rPr>
                  <a:t> </a:t>
                </a:r>
                <a:r>
                  <a:rPr lang="en-US" altLang="zh-CN" sz="2400" b="1" i="1" spc="-5" dirty="0" err="1">
                    <a:latin typeface="Times New Roman"/>
                    <a:cs typeface="Times New Roman"/>
                  </a:rPr>
                  <a:t>E</a:t>
                </a:r>
                <a:r>
                  <a:rPr lang="en-US" altLang="zh-CN" sz="2400" b="1" spc="-5" dirty="0" err="1">
                    <a:latin typeface="Times New Roman"/>
                    <a:cs typeface="Times New Roman"/>
                  </a:rPr>
                  <a:t>'</a:t>
                </a:r>
                <a:r>
                  <a:rPr lang="zh-CN" altLang="en-US" sz="2400" b="1" spc="-5" dirty="0" err="1">
                    <a:latin typeface="黑体" pitchFamily="49" charset="-122"/>
                    <a:ea typeface="黑体" pitchFamily="49" charset="-122"/>
                    <a:cs typeface="宋体"/>
                  </a:rPr>
                  <a:t>是</a:t>
                </a:r>
                <a:r>
                  <a:rPr lang="en-US" altLang="zh-CN" sz="2400" b="1" i="1" dirty="0" err="1">
                    <a:latin typeface="黑体" pitchFamily="49" charset="-122"/>
                    <a:ea typeface="黑体" pitchFamily="49" charset="-122"/>
                    <a:cs typeface="Times New Roman"/>
                  </a:rPr>
                  <a:t>E</a:t>
                </a:r>
                <a:r>
                  <a:rPr lang="zh-CN" altLang="en-US" sz="2400" b="1" spc="-5" dirty="0" err="1" smtClean="0">
                    <a:latin typeface="黑体" pitchFamily="49" charset="-122"/>
                    <a:ea typeface="黑体" pitchFamily="49" charset="-122"/>
                    <a:cs typeface="宋体"/>
                  </a:rPr>
                  <a:t>关于完全图边集的补集</a:t>
                </a:r>
                <a:endParaRPr lang="zh-CN" altLang="en-US" sz="2400" dirty="0">
                  <a:latin typeface="黑体" pitchFamily="49" charset="-122"/>
                  <a:ea typeface="黑体" pitchFamily="49" charset="-122"/>
                  <a:cs typeface="宋体"/>
                </a:endParaRPr>
              </a:p>
              <a:p>
                <a:pPr>
                  <a:lnSpc>
                    <a:spcPts val="2635"/>
                  </a:lnSpc>
                  <a:spcBef>
                    <a:spcPts val="600"/>
                  </a:spcBef>
                </a:pPr>
                <a:r>
                  <a:rPr lang="en-US" altLang="zh-CN" sz="2400" b="1" i="1" dirty="0">
                    <a:latin typeface="黑体" pitchFamily="49" charset="-122"/>
                    <a:ea typeface="黑体" pitchFamily="49" charset="-122"/>
                    <a:cs typeface="Times New Roman"/>
                  </a:rPr>
                  <a:t>G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中的</a:t>
                </a:r>
                <a:r>
                  <a:rPr lang="zh-CN" altLang="en-US" sz="2400" b="1" spc="-5" dirty="0">
                    <a:solidFill>
                      <a:srgbClr val="A50021"/>
                    </a:solidFill>
                    <a:latin typeface="黑体" pitchFamily="49" charset="-122"/>
                    <a:ea typeface="黑体" pitchFamily="49" charset="-122"/>
                    <a:cs typeface="宋体"/>
                  </a:rPr>
                  <a:t>团</a:t>
                </a:r>
                <a:r>
                  <a:rPr lang="zh-CN" altLang="en-US" sz="2400" b="1" spc="-5" dirty="0">
                    <a:latin typeface="宋体"/>
                    <a:cs typeface="宋体"/>
                  </a:rPr>
                  <a:t>：</a:t>
                </a:r>
                <a:r>
                  <a:rPr lang="en-US" altLang="zh-CN" sz="2400" b="1" i="1" spc="-5" dirty="0">
                    <a:latin typeface="黑体" pitchFamily="49" charset="-122"/>
                    <a:ea typeface="黑体" pitchFamily="49" charset="-122"/>
                    <a:cs typeface="Times New Roman"/>
                  </a:rPr>
                  <a:t>G</a:t>
                </a:r>
                <a:r>
                  <a:rPr lang="zh-CN" altLang="en-US" sz="2400" b="1" i="1" spc="5" dirty="0">
                    <a:latin typeface="黑体" pitchFamily="49" charset="-122"/>
                    <a:ea typeface="黑体" pitchFamily="49" charset="-122"/>
                    <a:cs typeface="Times New Roman"/>
                  </a:rPr>
                  <a:t> </a:t>
                </a:r>
                <a:r>
                  <a:rPr lang="zh-CN" altLang="en-US" sz="24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的完全子图</a:t>
                </a:r>
                <a:endParaRPr lang="zh-CN" altLang="en-US" sz="2400" dirty="0">
                  <a:latin typeface="黑体" pitchFamily="49" charset="-122"/>
                  <a:ea typeface="黑体" pitchFamily="49" charset="-122"/>
                  <a:cs typeface="宋体"/>
                </a:endParaRPr>
              </a:p>
              <a:p>
                <a:pPr>
                  <a:lnSpc>
                    <a:spcPts val="2875"/>
                  </a:lnSpc>
                  <a:spcBef>
                    <a:spcPts val="600"/>
                  </a:spcBef>
                </a:pPr>
                <a:r>
                  <a:rPr lang="en-US" altLang="zh-CN" sz="2800" b="1" i="1" spc="-5" dirty="0">
                    <a:latin typeface="黑体" pitchFamily="49" charset="-122"/>
                    <a:ea typeface="黑体" pitchFamily="49" charset="-122"/>
                    <a:cs typeface="Times New Roman"/>
                  </a:rPr>
                  <a:t>G</a:t>
                </a:r>
                <a:r>
                  <a:rPr lang="zh-CN" altLang="en-US" sz="28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的</a:t>
                </a:r>
                <a:r>
                  <a:rPr lang="zh-CN" altLang="en-US" sz="2800" b="1" spc="-5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宋体"/>
                  </a:rPr>
                  <a:t>最大</a:t>
                </a:r>
                <a:r>
                  <a:rPr lang="zh-CN" altLang="en-US" sz="2800" b="1" dirty="0">
                    <a:solidFill>
                      <a:srgbClr val="C00000"/>
                    </a:solidFill>
                    <a:latin typeface="黑体" pitchFamily="49" charset="-122"/>
                    <a:ea typeface="黑体" pitchFamily="49" charset="-122"/>
                    <a:cs typeface="宋体"/>
                  </a:rPr>
                  <a:t>团</a:t>
                </a:r>
                <a:r>
                  <a:rPr lang="zh-CN" altLang="en-US" sz="2800" b="1" dirty="0">
                    <a:latin typeface="宋体"/>
                    <a:cs typeface="宋体"/>
                  </a:rPr>
                  <a:t>：</a:t>
                </a:r>
                <a:r>
                  <a:rPr lang="zh-CN" altLang="en-US" sz="2800" b="1" dirty="0">
                    <a:latin typeface="黑体" pitchFamily="49" charset="-122"/>
                    <a:ea typeface="黑体" pitchFamily="49" charset="-122"/>
                    <a:cs typeface="宋体"/>
                  </a:rPr>
                  <a:t>顶点数最多</a:t>
                </a:r>
                <a:r>
                  <a:rPr lang="zh-CN" altLang="en-US" sz="2800" b="1" spc="5" dirty="0">
                    <a:latin typeface="黑体" pitchFamily="49" charset="-122"/>
                    <a:ea typeface="黑体" pitchFamily="49" charset="-122"/>
                    <a:cs typeface="宋体"/>
                  </a:rPr>
                  <a:t>的</a:t>
                </a:r>
                <a:r>
                  <a:rPr lang="zh-CN" altLang="en-US" sz="2800" b="1" spc="-10" dirty="0">
                    <a:latin typeface="黑体" pitchFamily="49" charset="-122"/>
                    <a:ea typeface="黑体" pitchFamily="49" charset="-122"/>
                    <a:cs typeface="宋体"/>
                  </a:rPr>
                  <a:t>团</a:t>
                </a:r>
                <a:endParaRPr lang="zh-CN" altLang="en-US" sz="2800" dirty="0">
                  <a:latin typeface="黑体" pitchFamily="49" charset="-122"/>
                  <a:ea typeface="黑体" pitchFamily="49" charset="-122"/>
                  <a:cs typeface="宋体"/>
                </a:endParaRPr>
              </a:p>
              <a:p>
                <a:pPr marL="2933700">
                  <a:lnSpc>
                    <a:spcPct val="100000"/>
                  </a:lnSpc>
                  <a:spcBef>
                    <a:spcPts val="1690"/>
                  </a:spcBef>
                  <a:tabLst>
                    <a:tab pos="4486910" algn="l"/>
                  </a:tabLst>
                </a:pPr>
                <a:r>
                  <a:rPr lang="zh-CN" altLang="en-US" sz="1800" spc="-5" dirty="0" smtClean="0">
                    <a:latin typeface="Arial"/>
                    <a:cs typeface="Arial"/>
                  </a:rPr>
                  <a:t>                      </a:t>
                </a:r>
                <a:r>
                  <a:rPr lang="en-US" altLang="zh-CN" sz="1800" spc="-5" dirty="0" smtClean="0">
                    <a:latin typeface="Arial"/>
                    <a:cs typeface="Arial"/>
                  </a:rPr>
                  <a:t>1</a:t>
                </a:r>
                <a:r>
                  <a:rPr lang="zh-CN" altLang="en-US" sz="1800" spc="-5" dirty="0" smtClean="0">
                    <a:latin typeface="Arial"/>
                    <a:cs typeface="Arial"/>
                  </a:rPr>
                  <a:t>   </a:t>
                </a:r>
                <a:r>
                  <a:rPr lang="zh-CN" altLang="en-US" sz="1800" spc="-5" dirty="0">
                    <a:latin typeface="Arial"/>
                    <a:cs typeface="Arial"/>
                  </a:rPr>
                  <a:t>	</a:t>
                </a:r>
                <a:r>
                  <a:rPr lang="en-US" altLang="zh-CN" sz="1800" spc="-5" dirty="0">
                    <a:latin typeface="Arial"/>
                    <a:cs typeface="Arial"/>
                  </a:rPr>
                  <a:t>3</a:t>
                </a:r>
                <a:endParaRPr sz="1800" dirty="0">
                  <a:latin typeface="Arial"/>
                  <a:cs typeface="Arial"/>
                </a:endParaRPr>
              </a:p>
            </p:txBody>
          </p:sp>
        </mc:Choice>
        <mc:Fallback xmlns="">
          <p:sp>
            <p:nvSpPr>
              <p:cNvPr id="21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552" y="1057849"/>
                <a:ext cx="7992888" cy="2846870"/>
              </a:xfrm>
              <a:prstGeom prst="rect">
                <a:avLst/>
              </a:prstGeom>
              <a:blipFill rotWithShape="1">
                <a:blip r:embed="rId7"/>
                <a:stretch>
                  <a:fillRect l="-2746" b="-29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6624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86515" y="321573"/>
            <a:ext cx="529379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独立集与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团</a:t>
            </a:r>
          </a:p>
        </p:txBody>
      </p:sp>
      <p:sp>
        <p:nvSpPr>
          <p:cNvPr id="3" name="object 3"/>
          <p:cNvSpPr/>
          <p:nvPr/>
        </p:nvSpPr>
        <p:spPr>
          <a:xfrm>
            <a:off x="5204530" y="4862635"/>
            <a:ext cx="1552575" cy="0"/>
          </a:xfrm>
          <a:custGeom>
            <a:avLst/>
            <a:gdLst/>
            <a:ahLst/>
            <a:cxnLst/>
            <a:rect l="l" t="t" r="r" b="b"/>
            <a:pathLst>
              <a:path w="1552575">
                <a:moveTo>
                  <a:pt x="0" y="0"/>
                </a:moveTo>
                <a:lnTo>
                  <a:pt x="1552575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5731072" y="5648003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531428" y="3991924"/>
            <a:ext cx="163829" cy="2062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6297999" y="3991924"/>
            <a:ext cx="165353" cy="20624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5055559" y="4758495"/>
            <a:ext cx="188213" cy="23875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531428" y="5529132"/>
            <a:ext cx="163829" cy="205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6787204" y="4775260"/>
            <a:ext cx="163067" cy="20523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6297999" y="5529132"/>
            <a:ext cx="165353" cy="20523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09101" y="4167692"/>
            <a:ext cx="346075" cy="639233"/>
          </a:xfrm>
          <a:custGeom>
            <a:avLst/>
            <a:gdLst/>
            <a:ahLst/>
            <a:cxnLst/>
            <a:rect l="l" t="t" r="r" b="b"/>
            <a:pathLst>
              <a:path w="346075" h="479425">
                <a:moveTo>
                  <a:pt x="0" y="479425"/>
                </a:moveTo>
                <a:lnTo>
                  <a:pt x="346075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670874" y="4167692"/>
            <a:ext cx="650875" cy="1391073"/>
          </a:xfrm>
          <a:custGeom>
            <a:avLst/>
            <a:gdLst/>
            <a:ahLst/>
            <a:cxnLst/>
            <a:rect l="l" t="t" r="r" b="b"/>
            <a:pathLst>
              <a:path w="650875" h="1043304">
                <a:moveTo>
                  <a:pt x="0" y="1042987"/>
                </a:moveTo>
                <a:lnTo>
                  <a:pt x="650875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670874" y="4167692"/>
            <a:ext cx="1138555" cy="639233"/>
          </a:xfrm>
          <a:custGeom>
            <a:avLst/>
            <a:gdLst/>
            <a:ahLst/>
            <a:cxnLst/>
            <a:rect l="l" t="t" r="r" b="b"/>
            <a:pathLst>
              <a:path w="1138554" h="479425">
                <a:moveTo>
                  <a:pt x="1138237" y="479425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5612198" y="4198171"/>
            <a:ext cx="0" cy="1331807"/>
          </a:xfrm>
          <a:custGeom>
            <a:avLst/>
            <a:gdLst/>
            <a:ahLst/>
            <a:cxnLst/>
            <a:rect l="l" t="t" r="r" b="b"/>
            <a:pathLst>
              <a:path h="998854">
                <a:moveTo>
                  <a:pt x="0" y="998537"/>
                </a:moveTo>
                <a:lnTo>
                  <a:pt x="0" y="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518980" y="5027230"/>
            <a:ext cx="268605" cy="442807"/>
          </a:xfrm>
          <a:custGeom>
            <a:avLst/>
            <a:gdLst/>
            <a:ahLst/>
            <a:cxnLst/>
            <a:rect l="l" t="t" r="r" b="b"/>
            <a:pathLst>
              <a:path w="268604" h="332104">
                <a:moveTo>
                  <a:pt x="0" y="331787"/>
                </a:moveTo>
                <a:lnTo>
                  <a:pt x="268287" y="0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461829" y="4096571"/>
            <a:ext cx="463550" cy="711200"/>
          </a:xfrm>
          <a:custGeom>
            <a:avLst/>
            <a:gdLst/>
            <a:ahLst/>
            <a:cxnLst/>
            <a:rect l="l" t="t" r="r" b="b"/>
            <a:pathLst>
              <a:path w="463550" h="533400">
                <a:moveTo>
                  <a:pt x="0" y="0"/>
                </a:moveTo>
                <a:lnTo>
                  <a:pt x="463550" y="533400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670874" y="4167692"/>
            <a:ext cx="650875" cy="1391073"/>
          </a:xfrm>
          <a:custGeom>
            <a:avLst/>
            <a:gdLst/>
            <a:ahLst/>
            <a:cxnLst/>
            <a:rect l="l" t="t" r="r" b="b"/>
            <a:pathLst>
              <a:path w="650875" h="1043304">
                <a:moveTo>
                  <a:pt x="0" y="0"/>
                </a:moveTo>
                <a:lnTo>
                  <a:pt x="650875" y="1042987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378771" y="4198171"/>
            <a:ext cx="0" cy="1329267"/>
          </a:xfrm>
          <a:custGeom>
            <a:avLst/>
            <a:gdLst/>
            <a:ahLst/>
            <a:cxnLst/>
            <a:rect l="l" t="t" r="r" b="b"/>
            <a:pathLst>
              <a:path h="996950">
                <a:moveTo>
                  <a:pt x="0" y="0"/>
                </a:moveTo>
                <a:lnTo>
                  <a:pt x="0" y="996950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09100" y="4951028"/>
            <a:ext cx="322580" cy="679873"/>
          </a:xfrm>
          <a:custGeom>
            <a:avLst/>
            <a:gdLst/>
            <a:ahLst/>
            <a:cxnLst/>
            <a:rect l="l" t="t" r="r" b="b"/>
            <a:pathLst>
              <a:path w="322579" h="509904">
                <a:moveTo>
                  <a:pt x="0" y="0"/>
                </a:moveTo>
                <a:lnTo>
                  <a:pt x="322262" y="509587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336355" y="4951027"/>
            <a:ext cx="986155" cy="607907"/>
          </a:xfrm>
          <a:custGeom>
            <a:avLst/>
            <a:gdLst/>
            <a:ahLst/>
            <a:cxnLst/>
            <a:rect l="l" t="t" r="r" b="b"/>
            <a:pathLst>
              <a:path w="986154" h="455929">
                <a:moveTo>
                  <a:pt x="0" y="0"/>
                </a:moveTo>
                <a:lnTo>
                  <a:pt x="985837" y="455612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5295206" y="4096571"/>
            <a:ext cx="1002030" cy="694267"/>
          </a:xfrm>
          <a:custGeom>
            <a:avLst/>
            <a:gdLst/>
            <a:ahLst/>
            <a:cxnLst/>
            <a:rect l="l" t="t" r="r" b="b"/>
            <a:pathLst>
              <a:path w="1002029" h="520700">
                <a:moveTo>
                  <a:pt x="0" y="520700"/>
                </a:moveTo>
                <a:lnTo>
                  <a:pt x="1001712" y="0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5717354" y="4951027"/>
            <a:ext cx="1092200" cy="673100"/>
          </a:xfrm>
          <a:custGeom>
            <a:avLst/>
            <a:gdLst/>
            <a:ahLst/>
            <a:cxnLst/>
            <a:rect l="l" t="t" r="r" b="b"/>
            <a:pathLst>
              <a:path w="1092200" h="504825">
                <a:moveTo>
                  <a:pt x="0" y="504825"/>
                </a:moveTo>
                <a:lnTo>
                  <a:pt x="1092200" y="0"/>
                </a:lnTo>
              </a:path>
            </a:pathLst>
          </a:custGeom>
          <a:ln w="12954">
            <a:solidFill>
              <a:srgbClr val="0070C0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/>
          <p:nvPr/>
        </p:nvSpPr>
        <p:spPr>
          <a:xfrm>
            <a:off x="5246185" y="3800747"/>
            <a:ext cx="104775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41959" algn="l"/>
                <a:tab pos="1034415" algn="l"/>
              </a:tabLst>
            </a:pPr>
            <a:r>
              <a:rPr sz="2000" spc="-5" dirty="0">
                <a:latin typeface="Calibri"/>
                <a:cs typeface="Calibri"/>
              </a:rPr>
              <a:t>1	</a:t>
            </a:r>
            <a:r>
              <a:rPr sz="2000" u="heavy" spc="-10" dirty="0">
                <a:uFill>
                  <a:solidFill>
                    <a:srgbClr val="0070C0"/>
                  </a:solidFill>
                </a:uFill>
                <a:latin typeface="Calibri"/>
                <a:cs typeface="Calibri"/>
              </a:rPr>
              <a:t> </a:t>
            </a:r>
            <a:r>
              <a:rPr sz="2000" u="heavy" spc="-5" dirty="0">
                <a:uFill>
                  <a:solidFill>
                    <a:srgbClr val="0070C0"/>
                  </a:solidFill>
                </a:uFill>
                <a:latin typeface="Calibri"/>
                <a:cs typeface="Calibri"/>
              </a:rPr>
              <a:t>	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541559" y="3819692"/>
            <a:ext cx="154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029005" y="4689533"/>
            <a:ext cx="154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3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331965" y="5735305"/>
            <a:ext cx="154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4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555756" y="5756620"/>
            <a:ext cx="154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5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25451" y="4624236"/>
            <a:ext cx="1543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Calibri"/>
                <a:cs typeface="Calibri"/>
              </a:rPr>
              <a:t>6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5536" y="4274202"/>
            <a:ext cx="2772112" cy="96372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G</a:t>
            </a:r>
            <a:r>
              <a:rPr sz="2800" b="1" i="1" spc="-2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的最大团</a:t>
            </a:r>
            <a:r>
              <a:rPr sz="2400" b="1" spc="-10" dirty="0">
                <a:latin typeface="宋体"/>
                <a:cs typeface="宋体"/>
              </a:rPr>
              <a:t>：</a:t>
            </a:r>
            <a:endParaRPr sz="2400" dirty="0">
              <a:latin typeface="宋体"/>
              <a:cs typeface="宋体"/>
            </a:endParaRPr>
          </a:p>
          <a:p>
            <a:pPr marL="317500">
              <a:lnSpc>
                <a:spcPct val="100000"/>
              </a:lnSpc>
              <a:spcBef>
                <a:spcPts val="575"/>
              </a:spcBef>
            </a:pPr>
            <a:r>
              <a:rPr sz="2400" b="1" i="1" spc="-5" dirty="0">
                <a:latin typeface="Times New Roman"/>
                <a:cs typeface="Times New Roman"/>
              </a:rPr>
              <a:t>U </a:t>
            </a:r>
            <a:r>
              <a:rPr sz="2400" b="1" dirty="0">
                <a:latin typeface="Times New Roman"/>
                <a:cs typeface="Times New Roman"/>
              </a:rPr>
              <a:t>= </a:t>
            </a:r>
            <a:r>
              <a:rPr sz="2400" b="1" spc="-5" dirty="0">
                <a:latin typeface="Times New Roman"/>
                <a:cs typeface="Times New Roman"/>
              </a:rPr>
              <a:t>{ </a:t>
            </a:r>
            <a:r>
              <a:rPr sz="2400" b="1" dirty="0">
                <a:latin typeface="Times New Roman"/>
                <a:cs typeface="Times New Roman"/>
              </a:rPr>
              <a:t>1, 3, 6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}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2683862" y="5638105"/>
            <a:ext cx="189230" cy="0"/>
          </a:xfrm>
          <a:custGeom>
            <a:avLst/>
            <a:gdLst/>
            <a:ahLst/>
            <a:cxnLst/>
            <a:rect l="l" t="t" r="r" b="b"/>
            <a:pathLst>
              <a:path w="189230">
                <a:moveTo>
                  <a:pt x="0" y="0"/>
                </a:moveTo>
                <a:lnTo>
                  <a:pt x="189034" y="0"/>
                </a:lnTo>
              </a:path>
            </a:pathLst>
          </a:custGeom>
          <a:ln w="1172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bject 31"/>
              <p:cNvSpPr txBox="1"/>
              <p:nvPr/>
            </p:nvSpPr>
            <p:spPr>
              <a:xfrm>
                <a:off x="467544" y="5274601"/>
                <a:ext cx="3830025" cy="443711"/>
              </a:xfrm>
              <a:prstGeom prst="rect">
                <a:avLst/>
              </a:prstGeom>
            </p:spPr>
            <p:txBody>
              <a:bodyPr vert="horz" wrap="square" lIns="0" tIns="12700" rIns="0" bIns="0" rtlCol="0">
                <a:spAutoFit/>
              </a:bodyPr>
              <a:lstStyle/>
              <a:p>
                <a:pPr marL="12700">
                  <a:lnSpc>
                    <a:spcPct val="100000"/>
                  </a:lnSpc>
                  <a:spcBef>
                    <a:spcPts val="100"/>
                  </a:spcBef>
                </a:pPr>
                <a:r>
                  <a:rPr sz="2800" b="1" spc="-5" dirty="0">
                    <a:latin typeface="黑体" pitchFamily="49" charset="-122"/>
                    <a:ea typeface="黑体" pitchFamily="49" charset="-122"/>
                    <a:cs typeface="宋体"/>
                  </a:rPr>
                  <a:t>补</a:t>
                </a:r>
                <a:r>
                  <a:rPr sz="2800" b="1" spc="-10" dirty="0">
                    <a:latin typeface="黑体" pitchFamily="49" charset="-122"/>
                    <a:ea typeface="黑体" pitchFamily="49" charset="-122"/>
                    <a:cs typeface="宋体"/>
                  </a:rPr>
                  <a:t>图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zh-CN" altLang="en-US" sz="2800" b="1" i="1" spc="10">
                            <a:latin typeface="Cambria Math"/>
                          </a:rPr>
                        </m:ctrlPr>
                      </m:accPr>
                      <m:e>
                        <m:r>
                          <a:rPr lang="zh-CN" altLang="en-US" sz="2800" b="1" i="1" spc="10">
                            <a:latin typeface="Cambria Math"/>
                            <a:cs typeface="宋体"/>
                          </a:rPr>
                          <m:t>𝑮</m:t>
                        </m:r>
                      </m:e>
                    </m:acc>
                  </m:oMath>
                </a14:m>
                <a:r>
                  <a:rPr sz="2800" b="1" spc="-5" dirty="0" err="1" smtClean="0">
                    <a:latin typeface="黑体" pitchFamily="49" charset="-122"/>
                    <a:ea typeface="黑体" pitchFamily="49" charset="-122"/>
                    <a:cs typeface="宋体"/>
                  </a:rPr>
                  <a:t>的最大</a:t>
                </a:r>
                <a:r>
                  <a:rPr sz="2800" b="1" dirty="0" err="1" smtClean="0">
                    <a:latin typeface="黑体" pitchFamily="49" charset="-122"/>
                    <a:ea typeface="黑体" pitchFamily="49" charset="-122"/>
                    <a:cs typeface="宋体"/>
                  </a:rPr>
                  <a:t>点独立</a:t>
                </a:r>
                <a:r>
                  <a:rPr sz="2800" b="1" spc="-10" dirty="0" err="1" smtClean="0">
                    <a:latin typeface="黑体" pitchFamily="49" charset="-122"/>
                    <a:ea typeface="黑体" pitchFamily="49" charset="-122"/>
                    <a:cs typeface="宋体"/>
                  </a:rPr>
                  <a:t>集</a:t>
                </a:r>
                <a:endParaRPr sz="2800" dirty="0">
                  <a:latin typeface="黑体" pitchFamily="49" charset="-122"/>
                  <a:ea typeface="黑体" pitchFamily="49" charset="-122"/>
                  <a:cs typeface="宋体"/>
                </a:endParaRPr>
              </a:p>
            </p:txBody>
          </p:sp>
        </mc:Choice>
        <mc:Fallback xmlns="">
          <p:sp>
            <p:nvSpPr>
              <p:cNvPr id="31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4" y="5274601"/>
                <a:ext cx="3830025" cy="443711"/>
              </a:xfrm>
              <a:prstGeom prst="rect">
                <a:avLst/>
              </a:prstGeom>
              <a:blipFill rotWithShape="1">
                <a:blip r:embed="rId6"/>
                <a:stretch>
                  <a:fillRect l="-5414" t="-23288" b="-452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bject 33"/>
          <p:cNvSpPr txBox="1"/>
          <p:nvPr/>
        </p:nvSpPr>
        <p:spPr>
          <a:xfrm>
            <a:off x="383541" y="1228681"/>
            <a:ext cx="8148899" cy="268535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870"/>
              </a:lnSpc>
              <a:spcBef>
                <a:spcPts val="100"/>
              </a:spcBef>
            </a:pP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G</a:t>
            </a:r>
            <a:r>
              <a:rPr sz="2800" b="1" i="1" spc="-10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点独立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G</a:t>
            </a:r>
            <a:r>
              <a:rPr sz="2800" b="1" i="1" spc="10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的顶点子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spc="-59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A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，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且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algn="ctr">
              <a:lnSpc>
                <a:spcPct val="150000"/>
              </a:lnSpc>
              <a:spcBef>
                <a:spcPts val="600"/>
              </a:spcBef>
            </a:pPr>
            <a:r>
              <a:rPr sz="2800" b="1" spc="-5" dirty="0">
                <a:latin typeface="Symbol"/>
                <a:cs typeface="Symbol"/>
              </a:rPr>
              <a:t></a:t>
            </a:r>
            <a:r>
              <a:rPr sz="2800" b="1" i="1" spc="-5" dirty="0">
                <a:latin typeface="Times New Roman"/>
                <a:cs typeface="Times New Roman"/>
              </a:rPr>
              <a:t>u</a:t>
            </a:r>
            <a:r>
              <a:rPr sz="2800" b="1" spc="-5" dirty="0">
                <a:latin typeface="Times New Roman"/>
                <a:cs typeface="Times New Roman"/>
              </a:rPr>
              <a:t>, 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dirty="0">
                <a:latin typeface="Symbol"/>
                <a:cs typeface="Symbol"/>
              </a:rPr>
              <a:t></a:t>
            </a:r>
            <a:r>
              <a:rPr sz="2800" b="1" i="1" dirty="0">
                <a:latin typeface="Times New Roman"/>
                <a:cs typeface="Times New Roman"/>
              </a:rPr>
              <a:t>A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Times New Roman"/>
                <a:cs typeface="Times New Roman"/>
              </a:rPr>
              <a:t>{</a:t>
            </a:r>
            <a:r>
              <a:rPr sz="2800" b="1" i="1" spc="-5" dirty="0">
                <a:latin typeface="Times New Roman"/>
                <a:cs typeface="Times New Roman"/>
              </a:rPr>
              <a:t>u,v</a:t>
            </a:r>
            <a:r>
              <a:rPr sz="2800" b="1" spc="-5" dirty="0">
                <a:latin typeface="Times New Roman"/>
                <a:cs typeface="Times New Roman"/>
              </a:rPr>
              <a:t>}</a:t>
            </a:r>
            <a:r>
              <a:rPr sz="2800" b="1" spc="-5" dirty="0">
                <a:latin typeface="Symbol"/>
                <a:cs typeface="Symbol"/>
              </a:rPr>
              <a:t>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E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最大点独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立</a:t>
            </a:r>
            <a:r>
              <a:rPr sz="2800" b="1" spc="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：顶点最多的点独立集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8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命题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U</a:t>
            </a:r>
            <a:r>
              <a:rPr sz="2800" b="1" i="1" spc="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是</a:t>
            </a:r>
            <a:r>
              <a:rPr sz="2800" b="1" spc="-61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G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的最大团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当且仅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当</a:t>
            </a:r>
            <a:r>
              <a:rPr sz="2800" b="1" spc="-59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U 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是</a:t>
            </a:r>
            <a:r>
              <a:rPr sz="2800" b="1" i="1" spc="10" dirty="0" err="1" smtClean="0">
                <a:latin typeface="黑体" pitchFamily="49" charset="-122"/>
                <a:ea typeface="黑体" pitchFamily="49" charset="-122"/>
                <a:cs typeface="Times New Roman"/>
              </a:rPr>
              <a:t>G</a:t>
            </a:r>
            <a:r>
              <a:rPr sz="2800" b="1" i="1" spc="130" dirty="0" smtClean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的最大点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独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立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277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/>
      <p:bldP spid="24" grpId="0"/>
      <p:bldP spid="25" grpId="0"/>
      <p:bldP spid="26" grpId="0"/>
      <p:bldP spid="27" grpId="0"/>
      <p:bldP spid="28" grpId="0"/>
      <p:bldP spid="29" grpId="0"/>
      <p:bldP spid="30" grpId="0" animBg="1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32074" y="249565"/>
            <a:ext cx="417217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应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用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383541" y="1127081"/>
            <a:ext cx="8220907" cy="32444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50000"/>
              </a:lnSpc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编码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b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故障诊断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计算机视觉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聚类分析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经济学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移动通信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,VLSI电路设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计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,...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700" marR="302895">
              <a:lnSpc>
                <a:spcPct val="150000"/>
              </a:lnSpc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例子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sz="2800" b="1" spc="-3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噪音使信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道传输字符发生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淆</a:t>
            </a:r>
            <a:endParaRPr lang="en-US" sz="2800" b="1" spc="-10" dirty="0" smtClean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12700" marR="302895">
              <a:lnSpc>
                <a:spcPct val="150000"/>
              </a:lnSpc>
            </a:pPr>
            <a:r>
              <a:rPr sz="2800" b="1" spc="-5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混淆</a:t>
            </a:r>
            <a:r>
              <a:rPr sz="2800" b="1" spc="-10" dirty="0" err="1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图</a:t>
            </a:r>
            <a:r>
              <a:rPr sz="2800" b="1" spc="-645" dirty="0" smtClean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spc="-40" dirty="0">
                <a:latin typeface="Times New Roman"/>
                <a:cs typeface="Times New Roman"/>
              </a:rPr>
              <a:t>G</a:t>
            </a:r>
            <a:r>
              <a:rPr sz="2800" b="1" spc="-40" dirty="0">
                <a:latin typeface="Times New Roman"/>
                <a:cs typeface="Times New Roman"/>
              </a:rPr>
              <a:t>=&lt;</a:t>
            </a:r>
            <a:r>
              <a:rPr sz="2800" b="1" i="1" spc="-40" dirty="0">
                <a:latin typeface="Times New Roman"/>
                <a:cs typeface="Times New Roman"/>
              </a:rPr>
              <a:t>V,E</a:t>
            </a:r>
            <a:r>
              <a:rPr sz="2800" b="1" spc="-40" dirty="0">
                <a:latin typeface="Times New Roman"/>
                <a:cs typeface="Times New Roman"/>
              </a:rPr>
              <a:t>&gt;</a:t>
            </a:r>
            <a:r>
              <a:rPr sz="2800" b="1" spc="-40" dirty="0">
                <a:latin typeface="宋体"/>
                <a:cs typeface="宋体"/>
              </a:rPr>
              <a:t>，</a:t>
            </a:r>
            <a:r>
              <a:rPr sz="2800" b="1" i="1" spc="-40" dirty="0">
                <a:latin typeface="Times New Roman"/>
                <a:cs typeface="Times New Roman"/>
              </a:rPr>
              <a:t>V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为有穷字符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集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50190" algn="ctr">
              <a:lnSpc>
                <a:spcPct val="150000"/>
              </a:lnSpc>
            </a:pPr>
            <a:r>
              <a:rPr sz="2800" b="1" spc="-5" dirty="0">
                <a:latin typeface="Times New Roman"/>
                <a:cs typeface="Times New Roman"/>
              </a:rPr>
              <a:t>{</a:t>
            </a:r>
            <a:r>
              <a:rPr sz="2800" b="1" i="1" spc="-5" dirty="0">
                <a:latin typeface="Times New Roman"/>
                <a:cs typeface="Times New Roman"/>
              </a:rPr>
              <a:t>u,v</a:t>
            </a:r>
            <a:r>
              <a:rPr sz="2800" b="1" spc="-5" dirty="0">
                <a:latin typeface="Times New Roman"/>
                <a:cs typeface="Times New Roman"/>
              </a:rPr>
              <a:t>}</a:t>
            </a:r>
            <a:r>
              <a:rPr sz="2800" b="1" spc="-5" dirty="0">
                <a:latin typeface="Symbol"/>
                <a:cs typeface="Symbol"/>
              </a:rPr>
              <a:t></a:t>
            </a:r>
            <a:r>
              <a:rPr sz="2800" b="1" i="1" spc="-5" dirty="0">
                <a:latin typeface="Times New Roman"/>
                <a:cs typeface="Times New Roman"/>
              </a:rPr>
              <a:t>E </a:t>
            </a:r>
            <a:r>
              <a:rPr sz="2800" b="1" spc="-5" dirty="0">
                <a:latin typeface="Symbol"/>
                <a:cs typeface="Symbol"/>
              </a:rPr>
              <a:t>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u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i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易混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淆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2074" y="4293096"/>
            <a:ext cx="3472497" cy="203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673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02840" y="189155"/>
            <a:ext cx="511743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编码设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1349654" y="1081770"/>
            <a:ext cx="7283147" cy="102528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sz="2800" b="1" i="1" dirty="0">
                <a:latin typeface="Times New Roman"/>
                <a:cs typeface="Times New Roman"/>
              </a:rPr>
              <a:t>xy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i="1" spc="-5" dirty="0">
                <a:latin typeface="Times New Roman"/>
                <a:cs typeface="Times New Roman"/>
              </a:rPr>
              <a:t>uv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淆</a:t>
            </a:r>
            <a:r>
              <a:rPr sz="2800" b="1" spc="-640" dirty="0">
                <a:latin typeface="宋体"/>
                <a:cs typeface="宋体"/>
              </a:rPr>
              <a:t> </a:t>
            </a:r>
            <a:r>
              <a:rPr sz="2800" b="1" spc="-5" dirty="0">
                <a:latin typeface="Symbol"/>
                <a:cs typeface="Symbol"/>
              </a:rPr>
              <a:t>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i="1" spc="-10" dirty="0">
                <a:latin typeface="Times New Roman"/>
                <a:cs typeface="Times New Roman"/>
              </a:rPr>
              <a:t>u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混淆且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y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i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v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混淆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226695">
              <a:lnSpc>
                <a:spcPct val="100000"/>
              </a:lnSpc>
              <a:spcBef>
                <a:spcPts val="575"/>
              </a:spcBef>
            </a:pPr>
            <a:r>
              <a:rPr sz="2800" b="1" spc="-5" dirty="0">
                <a:latin typeface="Symbol"/>
                <a:cs typeface="Symbol"/>
              </a:rPr>
              <a:t>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x=u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且</a:t>
            </a: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i="1" dirty="0">
                <a:latin typeface="Times New Roman"/>
                <a:cs typeface="Times New Roman"/>
              </a:rPr>
              <a:t>v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混淆</a:t>
            </a:r>
            <a:r>
              <a:rPr sz="2800" b="1" spc="-5" dirty="0">
                <a:latin typeface="Symbol"/>
                <a:cs typeface="Symbol"/>
              </a:rPr>
              <a:t>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dirty="0" err="1">
                <a:latin typeface="Times New Roman"/>
                <a:cs typeface="Times New Roman"/>
              </a:rPr>
              <a:t>x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与</a:t>
            </a:r>
            <a:r>
              <a:rPr sz="2800" b="1" i="1" spc="-10" dirty="0" err="1">
                <a:latin typeface="Times New Roman"/>
                <a:cs typeface="Times New Roman"/>
              </a:rPr>
              <a:t>u</a:t>
            </a: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混淆且</a:t>
            </a:r>
            <a:r>
              <a:rPr sz="2800" b="1" i="1" dirty="0" err="1" smtClean="0">
                <a:latin typeface="Times New Roman"/>
                <a:cs typeface="Times New Roman"/>
              </a:rPr>
              <a:t>y</a:t>
            </a:r>
            <a:r>
              <a:rPr sz="2800" b="1" i="1" dirty="0" smtClean="0">
                <a:latin typeface="Times New Roman"/>
                <a:cs typeface="Times New Roman"/>
              </a:rPr>
              <a:t>=v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535941" y="5350979"/>
            <a:ext cx="8068507" cy="814325"/>
          </a:xfrm>
          <a:prstGeom prst="rect">
            <a:avLst/>
          </a:prstGeom>
        </p:spPr>
        <p:txBody>
          <a:bodyPr vert="horz" wrap="square" lIns="0" tIns="95250" rIns="0" bIns="0" rtlCol="0">
            <a:spAutoFit/>
          </a:bodyPr>
          <a:lstStyle/>
          <a:p>
            <a:pPr marR="5080" algn="just">
              <a:lnSpc>
                <a:spcPts val="2760"/>
              </a:lnSpc>
              <a:spcBef>
                <a:spcPts val="1060"/>
              </a:spcBef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为减少噪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音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干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扰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，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设计代码应该找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混淆图中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最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大点独立集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143970" y="1027525"/>
            <a:ext cx="6067019" cy="1320800"/>
          </a:xfrm>
          <a:custGeom>
            <a:avLst/>
            <a:gdLst/>
            <a:ahLst/>
            <a:cxnLst/>
            <a:rect l="l" t="t" r="r" b="b"/>
            <a:pathLst>
              <a:path w="5181600" h="990600">
                <a:moveTo>
                  <a:pt x="0" y="165100"/>
                </a:moveTo>
                <a:lnTo>
                  <a:pt x="5897" y="121208"/>
                </a:lnTo>
                <a:lnTo>
                  <a:pt x="22540" y="81769"/>
                </a:lnTo>
                <a:lnTo>
                  <a:pt x="48355" y="48355"/>
                </a:lnTo>
                <a:lnTo>
                  <a:pt x="81769" y="22540"/>
                </a:lnTo>
                <a:lnTo>
                  <a:pt x="121208" y="5897"/>
                </a:lnTo>
                <a:lnTo>
                  <a:pt x="165100" y="0"/>
                </a:lnTo>
                <a:lnTo>
                  <a:pt x="5016500" y="0"/>
                </a:lnTo>
                <a:lnTo>
                  <a:pt x="5060391" y="5897"/>
                </a:lnTo>
                <a:lnTo>
                  <a:pt x="5099830" y="22540"/>
                </a:lnTo>
                <a:lnTo>
                  <a:pt x="5133244" y="48355"/>
                </a:lnTo>
                <a:lnTo>
                  <a:pt x="5159059" y="81769"/>
                </a:lnTo>
                <a:lnTo>
                  <a:pt x="5175702" y="121208"/>
                </a:lnTo>
                <a:lnTo>
                  <a:pt x="5181600" y="165100"/>
                </a:lnTo>
                <a:lnTo>
                  <a:pt x="5181600" y="825487"/>
                </a:lnTo>
                <a:lnTo>
                  <a:pt x="5175702" y="869379"/>
                </a:lnTo>
                <a:lnTo>
                  <a:pt x="5159059" y="908821"/>
                </a:lnTo>
                <a:lnTo>
                  <a:pt x="5133244" y="942238"/>
                </a:lnTo>
                <a:lnTo>
                  <a:pt x="5099830" y="968056"/>
                </a:lnTo>
                <a:lnTo>
                  <a:pt x="5060391" y="984701"/>
                </a:lnTo>
                <a:lnTo>
                  <a:pt x="5016500" y="990600"/>
                </a:lnTo>
                <a:lnTo>
                  <a:pt x="165100" y="990600"/>
                </a:lnTo>
                <a:lnTo>
                  <a:pt x="121208" y="984701"/>
                </a:lnTo>
                <a:lnTo>
                  <a:pt x="81769" y="968056"/>
                </a:lnTo>
                <a:lnTo>
                  <a:pt x="48355" y="942238"/>
                </a:lnTo>
                <a:lnTo>
                  <a:pt x="22540" y="908821"/>
                </a:lnTo>
                <a:lnTo>
                  <a:pt x="5897" y="869379"/>
                </a:lnTo>
                <a:lnTo>
                  <a:pt x="0" y="825487"/>
                </a:lnTo>
                <a:lnTo>
                  <a:pt x="0" y="165100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6" name="图片 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4010" y="2514172"/>
            <a:ext cx="5869764" cy="2177615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5292080" y="4725144"/>
            <a:ext cx="279378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0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 G</a:t>
            </a:r>
            <a:r>
              <a:rPr lang="zh-CN" altLang="en-US" sz="2000" b="1" spc="-5" dirty="0">
                <a:latin typeface="黑体" pitchFamily="49" charset="-122"/>
                <a:ea typeface="黑体" pitchFamily="49" charset="-122"/>
                <a:cs typeface="宋体"/>
              </a:rPr>
              <a:t>与</a:t>
            </a:r>
            <a:r>
              <a:rPr lang="en-US" altLang="zh-CN" sz="2000" b="1" i="1" dirty="0">
                <a:latin typeface="黑体" pitchFamily="49" charset="-122"/>
                <a:ea typeface="黑体" pitchFamily="49" charset="-122"/>
                <a:cs typeface="Times New Roman"/>
              </a:rPr>
              <a:t>H</a:t>
            </a:r>
            <a:r>
              <a:rPr lang="en-US" altLang="zh-CN" sz="2000" b="1" i="1" spc="-2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zh-CN" altLang="en-US" sz="2000" b="1" spc="-5" dirty="0">
                <a:latin typeface="黑体" pitchFamily="49" charset="-122"/>
                <a:ea typeface="黑体" pitchFamily="49" charset="-122"/>
                <a:cs typeface="宋体"/>
              </a:rPr>
              <a:t>的正规积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465916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6965" y="393581"/>
            <a:ext cx="600740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最大团问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39265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marR="55244" indent="0" algn="just">
              <a:lnSpc>
                <a:spcPct val="100000"/>
              </a:lnSpc>
              <a:spcBef>
                <a:spcPts val="100"/>
              </a:spcBef>
            </a:pPr>
            <a:r>
              <a:rPr sz="2800" b="1" spc="-5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</a:t>
            </a:r>
            <a:r>
              <a:rPr sz="2800" b="1" spc="-5" dirty="0" err="1">
                <a:latin typeface="宋体"/>
                <a:cs typeface="宋体"/>
              </a:rPr>
              <a:t>：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给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定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无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向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图</a:t>
            </a:r>
            <a:r>
              <a:rPr sz="2800" b="1" i="1" spc="-5" dirty="0" err="1" smtClean="0">
                <a:latin typeface="Times New Roman"/>
                <a:cs typeface="Times New Roman"/>
              </a:rPr>
              <a:t>G</a:t>
            </a:r>
            <a:r>
              <a:rPr sz="2800" b="1" dirty="0" smtClean="0"/>
              <a:t>=</a:t>
            </a:r>
            <a:r>
              <a:rPr sz="2800" b="1" spc="-20" dirty="0" smtClean="0"/>
              <a:t> </a:t>
            </a:r>
            <a:r>
              <a:rPr sz="2800" b="1" dirty="0" smtClean="0"/>
              <a:t>&lt;</a:t>
            </a:r>
            <a:r>
              <a:rPr sz="2800" b="1" i="1" dirty="0" smtClean="0">
                <a:latin typeface="Times New Roman"/>
                <a:cs typeface="Times New Roman"/>
              </a:rPr>
              <a:t>V</a:t>
            </a:r>
            <a:r>
              <a:rPr sz="2800" b="1" dirty="0" smtClean="0"/>
              <a:t>,</a:t>
            </a:r>
            <a:r>
              <a:rPr sz="2800" b="1" i="1" dirty="0" smtClean="0">
                <a:latin typeface="Times New Roman"/>
                <a:cs typeface="Times New Roman"/>
              </a:rPr>
              <a:t>E</a:t>
            </a:r>
            <a:r>
              <a:rPr sz="2800" b="1" dirty="0" smtClean="0"/>
              <a:t>&gt;,</a:t>
            </a:r>
            <a:r>
              <a:rPr sz="2800" b="1" spc="-20" dirty="0" smtClean="0"/>
              <a:t>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其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中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顶点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i="1" dirty="0" err="1" smtClean="0">
                <a:latin typeface="Times New Roman"/>
                <a:cs typeface="Times New Roman"/>
              </a:rPr>
              <a:t>V</a:t>
            </a:r>
            <a:r>
              <a:rPr sz="2800" b="1" dirty="0" smtClean="0"/>
              <a:t>=</a:t>
            </a:r>
            <a:r>
              <a:rPr sz="2800" b="1" spc="-20" dirty="0" smtClean="0"/>
              <a:t> </a:t>
            </a:r>
            <a:r>
              <a:rPr sz="2800" b="1" spc="-5" dirty="0" smtClean="0"/>
              <a:t>{</a:t>
            </a:r>
            <a:r>
              <a:rPr sz="2800" b="1" dirty="0" smtClean="0"/>
              <a:t>1,2</a:t>
            </a:r>
            <a:r>
              <a:rPr sz="2800" b="1" dirty="0"/>
              <a:t>,</a:t>
            </a:r>
            <a:r>
              <a:rPr sz="2800" b="1" spc="-5" dirty="0"/>
              <a:t> </a:t>
            </a:r>
            <a:r>
              <a:rPr sz="2800" b="1" dirty="0"/>
              <a:t>…</a:t>
            </a:r>
            <a:r>
              <a:rPr sz="2800" b="1" spc="-10" dirty="0"/>
              <a:t> </a:t>
            </a:r>
            <a:r>
              <a:rPr sz="2800" b="1" dirty="0"/>
              <a:t>,</a:t>
            </a:r>
            <a:r>
              <a:rPr sz="2800" b="1" spc="-5" dirty="0"/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5" dirty="0" smtClean="0"/>
              <a:t>}</a:t>
            </a:r>
            <a:r>
              <a:rPr sz="2800" b="1" spc="-5" dirty="0" smtClean="0">
                <a:latin typeface="宋体"/>
                <a:cs typeface="宋体"/>
              </a:rPr>
              <a:t>，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边集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i="1" dirty="0" err="1" smtClean="0">
                <a:latin typeface="黑体" pitchFamily="49" charset="-122"/>
                <a:ea typeface="黑体" pitchFamily="49" charset="-122"/>
                <a:cs typeface="Times New Roman"/>
              </a:rPr>
              <a:t>E</a:t>
            </a:r>
            <a:r>
              <a:rPr sz="2800" b="1" i="1" spc="-10" dirty="0" smtClean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dirty="0"/>
              <a:t>.  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求</a:t>
            </a:r>
            <a:r>
              <a:rPr sz="2800" b="1" i="1" spc="-5" dirty="0" err="1" smtClean="0">
                <a:latin typeface="黑体" pitchFamily="49" charset="-122"/>
                <a:ea typeface="黑体" pitchFamily="49" charset="-122"/>
                <a:cs typeface="Times New Roman"/>
              </a:rPr>
              <a:t>G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中的最大团</a:t>
            </a:r>
            <a:r>
              <a:rPr sz="2800" b="1" dirty="0"/>
              <a:t>.</a:t>
            </a:r>
          </a:p>
          <a:p>
            <a:pPr marL="0" indent="0" algn="just">
              <a:lnSpc>
                <a:spcPct val="100000"/>
              </a:lnSpc>
              <a:spcBef>
                <a:spcPts val="36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解</a:t>
            </a:r>
            <a:r>
              <a:rPr sz="2800" b="1" spc="-10" dirty="0" smtClean="0">
                <a:latin typeface="宋体"/>
                <a:cs typeface="宋体"/>
              </a:rPr>
              <a:t>：</a:t>
            </a:r>
            <a:r>
              <a:rPr sz="2800" b="1" dirty="0" smtClean="0"/>
              <a:t>&lt;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/>
              <a:t>1</a:t>
            </a:r>
            <a:r>
              <a:rPr sz="2800" b="1" dirty="0"/>
              <a:t>,</a:t>
            </a:r>
            <a:r>
              <a:rPr sz="2800" b="1" spc="-10" dirty="0"/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/>
              <a:t>2</a:t>
            </a:r>
            <a:r>
              <a:rPr sz="2800" b="1" dirty="0"/>
              <a:t>,</a:t>
            </a:r>
            <a:r>
              <a:rPr sz="2800" b="1" spc="-15" dirty="0"/>
              <a:t> </a:t>
            </a:r>
            <a:r>
              <a:rPr sz="2800" b="1" dirty="0"/>
              <a:t>…</a:t>
            </a:r>
            <a:r>
              <a:rPr sz="2800" b="1" spc="-5" dirty="0"/>
              <a:t> </a:t>
            </a:r>
            <a:r>
              <a:rPr sz="2800" b="1" dirty="0"/>
              <a:t>,</a:t>
            </a:r>
            <a:r>
              <a:rPr sz="2800" b="1" spc="-10" dirty="0"/>
              <a:t> </a:t>
            </a:r>
            <a:r>
              <a:rPr sz="2800" b="1" i="1" spc="-5" dirty="0" err="1" smtClean="0">
                <a:latin typeface="Times New Roman"/>
                <a:cs typeface="Times New Roman"/>
              </a:rPr>
              <a:t>x</a:t>
            </a:r>
            <a:r>
              <a:rPr sz="2800" b="1" i="1" spc="-7" baseline="-20833" dirty="0" err="1" smtClean="0">
                <a:latin typeface="Times New Roman"/>
                <a:cs typeface="Times New Roman"/>
              </a:rPr>
              <a:t>n</a:t>
            </a:r>
            <a:r>
              <a:rPr sz="2800" b="1" dirty="0" smtClean="0"/>
              <a:t>&gt;</a:t>
            </a:r>
            <a:r>
              <a:rPr sz="2800" b="1" spc="-10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</a:t>
            </a:r>
            <a:r>
              <a:rPr sz="2800" b="1" spc="-10" dirty="0" smtClean="0">
                <a:latin typeface="宋体"/>
                <a:cs typeface="宋体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0-1向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量</a:t>
            </a:r>
            <a:r>
              <a:rPr sz="2800" b="1" spc="-10" dirty="0" smtClean="0">
                <a:latin typeface="宋体"/>
                <a:cs typeface="宋体"/>
              </a:rPr>
              <a:t>，</a:t>
            </a:r>
            <a:r>
              <a:rPr sz="2800" b="1" i="1" spc="-5" dirty="0" smtClean="0">
                <a:latin typeface="Times New Roman"/>
                <a:cs typeface="Times New Roman"/>
              </a:rPr>
              <a:t>x</a:t>
            </a:r>
            <a:r>
              <a:rPr sz="2800" b="1" i="1" spc="-7" baseline="-20833" dirty="0" smtClean="0">
                <a:latin typeface="Times New Roman"/>
                <a:cs typeface="Times New Roman"/>
              </a:rPr>
              <a:t>k</a:t>
            </a:r>
            <a:r>
              <a:rPr sz="2800" b="1" spc="-5" dirty="0" smtClean="0">
                <a:latin typeface="宋体"/>
                <a:cs typeface="宋体"/>
              </a:rPr>
              <a:t>=1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当且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仅当顶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点</a:t>
            </a:r>
            <a:r>
              <a:rPr sz="2800" b="1" spc="-1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lang="en-US" sz="2800" b="1" i="1" dirty="0" smtClean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属于最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大团</a:t>
            </a:r>
            <a:r>
              <a:rPr sz="2800" b="1" spc="-10" dirty="0">
                <a:latin typeface="宋体"/>
                <a:cs typeface="宋体"/>
              </a:rPr>
              <a:t>.</a:t>
            </a:r>
            <a:endParaRPr sz="2800" b="1" dirty="0">
              <a:latin typeface="宋体"/>
              <a:cs typeface="宋体"/>
            </a:endParaRPr>
          </a:p>
          <a:p>
            <a:pPr marL="0" marR="43180" indent="0" algn="just">
              <a:lnSpc>
                <a:spcPct val="97700"/>
              </a:lnSpc>
              <a:spcBef>
                <a:spcPts val="3600"/>
              </a:spcBef>
            </a:pPr>
            <a:r>
              <a:rPr sz="2800" b="1" spc="-5" dirty="0" err="1">
                <a:solidFill>
                  <a:srgbClr val="C000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蛮力算法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每个顶点子集，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检查是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否构成团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即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其中每对顶点之间是否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都有边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sz="2800" b="1" spc="56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</a:t>
            </a:r>
            <a:r>
              <a:rPr sz="2800" b="1" spc="-62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sz="2800" b="1" i="1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i="1" spc="-30" baseline="2430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个子集，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至少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需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要指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lang="zh-CN" alt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时间</a:t>
            </a:r>
            <a:r>
              <a:rPr lang="en-US" altLang="zh-CN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endParaRPr lang="zh-CN" altLang="en-US" sz="2800" dirty="0" smtClean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8047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07846" y="355269"/>
            <a:ext cx="678848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分支限界算法</a:t>
            </a:r>
            <a:r>
              <a:rPr sz="40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设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44" y="1363810"/>
            <a:ext cx="8136904" cy="3749360"/>
          </a:xfrm>
          <a:prstGeom prst="rect">
            <a:avLst/>
          </a:prstGeom>
        </p:spPr>
        <p:txBody>
          <a:bodyPr vert="horz" wrap="square" lIns="0" tIns="1225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36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搜索树为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子</a:t>
            </a:r>
            <a:r>
              <a:rPr sz="2800" b="1" spc="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树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6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结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点</a:t>
            </a:r>
            <a:r>
              <a:rPr sz="2800" b="1" spc="-60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k 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的含义</a:t>
            </a:r>
            <a:r>
              <a:rPr sz="2800" b="1" spc="-10" dirty="0" err="1" smtClean="0">
                <a:latin typeface="宋体"/>
                <a:cs typeface="宋体"/>
              </a:rPr>
              <a:t>：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已检索顶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点</a:t>
            </a:r>
            <a:r>
              <a:rPr sz="2800" b="1" spc="-590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k,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其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中</a:t>
            </a:r>
            <a:r>
              <a:rPr sz="2800" b="1" spc="-60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=1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表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示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顶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点</a:t>
            </a:r>
            <a:r>
              <a:rPr sz="2800" b="1" i="1" dirty="0" smtClean="0">
                <a:latin typeface="黑体" pitchFamily="49" charset="-122"/>
                <a:ea typeface="黑体" pitchFamily="49" charset="-122"/>
                <a:cs typeface="Times New Roman"/>
              </a:rPr>
              <a:t>i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在当前的</a:t>
            </a:r>
            <a:r>
              <a:rPr sz="2800" b="1" dirty="0" smtClean="0">
                <a:latin typeface="黑体" pitchFamily="49" charset="-122"/>
                <a:ea typeface="黑体" pitchFamily="49" charset="-122"/>
                <a:cs typeface="宋体"/>
              </a:rPr>
              <a:t>团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内</a:t>
            </a:r>
            <a:r>
              <a:rPr sz="2800" b="1" dirty="0" smtClean="0">
                <a:latin typeface="Times New Roman"/>
                <a:cs typeface="Times New Roman"/>
              </a:rPr>
              <a:t>,</a:t>
            </a:r>
            <a:r>
              <a:rPr lang="en-US" sz="2800" b="1" dirty="0" smtClean="0">
                <a:latin typeface="Times New Roman"/>
                <a:cs typeface="Times New Roman"/>
              </a:rPr>
              <a:t> </a:t>
            </a:r>
            <a:r>
              <a:rPr sz="2800" b="1" dirty="0" smtClean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= 1, 2, … ,</a:t>
            </a:r>
            <a:r>
              <a:rPr sz="2800" b="1" spc="-7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endParaRPr sz="2800" dirty="0">
              <a:latin typeface="Times New Roman"/>
              <a:cs typeface="Times New Roman"/>
            </a:endParaRPr>
          </a:p>
          <a:p>
            <a:pPr marR="60325" algn="just">
              <a:lnSpc>
                <a:spcPct val="120000"/>
              </a:lnSpc>
              <a:spcBef>
                <a:spcPts val="3600"/>
              </a:spcBef>
            </a:pPr>
            <a:r>
              <a:rPr sz="2800" b="1" spc="-5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约束条件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该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顶点与当前团内每个顶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点都有边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相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连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algn="just">
              <a:lnSpc>
                <a:spcPct val="100000"/>
              </a:lnSpc>
              <a:spcBef>
                <a:spcPts val="3600"/>
              </a:spcBef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界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：当前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已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检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索到的极大团的顶点数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326843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64740" y="456869"/>
            <a:ext cx="522753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代价函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数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640" y="1620857"/>
            <a:ext cx="8110800" cy="259365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0800" marR="358140" algn="just">
              <a:lnSpc>
                <a:spcPct val="132300"/>
              </a:lnSpc>
              <a:spcBef>
                <a:spcPts val="100"/>
              </a:spcBef>
            </a:pPr>
            <a:r>
              <a:rPr sz="2800" b="1" spc="-5" dirty="0" err="1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代价函数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目</a:t>
            </a:r>
            <a:r>
              <a:rPr lang="zh-CN" altLang="en-US" sz="2800" b="1" spc="5" dirty="0">
                <a:latin typeface="黑体" pitchFamily="49" charset="-122"/>
                <a:ea typeface="黑体" pitchFamily="49" charset="-122"/>
                <a:cs typeface="宋体"/>
              </a:rPr>
              <a:t>前的团可能扩张为极大团的顶点数</a:t>
            </a:r>
            <a:r>
              <a:rPr lang="zh-CN" altLang="en-US" sz="2800" b="1" spc="5" dirty="0" smtClean="0">
                <a:latin typeface="黑体" pitchFamily="49" charset="-122"/>
                <a:ea typeface="黑体" pitchFamily="49" charset="-122"/>
                <a:cs typeface="宋体"/>
              </a:rPr>
              <a:t>上界</a:t>
            </a:r>
            <a:r>
              <a:rPr sz="2800" b="1" i="1" dirty="0" smtClean="0">
                <a:latin typeface="Times New Roman"/>
                <a:cs typeface="Times New Roman"/>
              </a:rPr>
              <a:t>F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+ </a:t>
            </a:r>
            <a:r>
              <a:rPr sz="2800" b="1" i="1" spc="-5" dirty="0">
                <a:latin typeface="Times New Roman"/>
                <a:cs typeface="Times New Roman"/>
              </a:rPr>
              <a:t>n </a:t>
            </a:r>
            <a:r>
              <a:rPr sz="2800" b="1" spc="-5" dirty="0">
                <a:latin typeface="Symbol"/>
                <a:cs typeface="Symbol"/>
              </a:rPr>
              <a:t></a:t>
            </a:r>
            <a:r>
              <a:rPr sz="2800" b="1" spc="-70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lang="zh-CN" altLang="en-US" sz="2800" dirty="0">
                <a:latin typeface="Times New Roman"/>
                <a:cs typeface="Times New Roman"/>
              </a:rPr>
              <a:t>，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其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中</a:t>
            </a:r>
            <a:r>
              <a:rPr sz="2800" b="1" spc="-635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C</a:t>
            </a:r>
            <a:r>
              <a:rPr sz="2800" b="1" i="1" baseline="-20833" dirty="0">
                <a:latin typeface="黑体" pitchFamily="49" charset="-122"/>
                <a:ea typeface="黑体" pitchFamily="49" charset="-122"/>
                <a:cs typeface="Times New Roman"/>
              </a:rPr>
              <a:t>n</a:t>
            </a:r>
            <a:r>
              <a:rPr sz="2800" b="1" i="1" spc="247" baseline="-20833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为目前团的顶点数（初始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0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）</a:t>
            </a:r>
            <a:r>
              <a:rPr lang="zh-CN" altLang="en-US" sz="2800" dirty="0">
                <a:latin typeface="黑体" pitchFamily="49" charset="-122"/>
                <a:ea typeface="黑体" pitchFamily="49" charset="-122"/>
                <a:cs typeface="宋体"/>
              </a:rPr>
              <a:t>，</a:t>
            </a:r>
            <a:r>
              <a:rPr sz="2800" b="1" i="1" dirty="0" smtClean="0"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  <a:r>
              <a:rPr sz="2800" b="1" i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为结点层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127000">
              <a:lnSpc>
                <a:spcPct val="100000"/>
              </a:lnSpc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最坏情况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下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时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间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i="1" dirty="0">
                <a:latin typeface="Times New Roman"/>
                <a:cs typeface="Times New Roman"/>
              </a:rPr>
              <a:t>O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spc="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i="1" spc="-15" baseline="2430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88557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2758" y="329870"/>
            <a:ext cx="509952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0541" y="3565481"/>
            <a:ext cx="8237923" cy="2505814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l"/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顶点编号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顺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序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2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3,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5,</a:t>
            </a:r>
            <a:endParaRPr sz="2800" dirty="0">
              <a:latin typeface="Times New Roman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l"/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对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应</a:t>
            </a:r>
            <a:r>
              <a:rPr sz="2800" b="1" spc="1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3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4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5</a:t>
            </a:r>
            <a:r>
              <a:rPr sz="2800" b="1" dirty="0" smtClean="0">
                <a:latin typeface="Times New Roman"/>
                <a:cs typeface="Times New Roman"/>
              </a:rPr>
              <a:t>,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i="1" baseline="-20833" dirty="0" smtClean="0">
                <a:latin typeface="Times New Roman"/>
                <a:cs typeface="Times New Roman"/>
              </a:rPr>
              <a:t>i</a:t>
            </a:r>
            <a:r>
              <a:rPr sz="2800" b="1" i="1" spc="-7" baseline="-20833" dirty="0" smtClean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当且仅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当</a:t>
            </a:r>
            <a:r>
              <a:rPr sz="2800" b="1" spc="-59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i</a:t>
            </a:r>
            <a:r>
              <a:rPr sz="2800" b="1" i="1" spc="-1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在团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内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l"/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分支规定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左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子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树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-61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1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，右子树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-61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0.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  <a:p>
            <a:pPr marL="457200" indent="-457200">
              <a:lnSpc>
                <a:spcPct val="100000"/>
              </a:lnSpc>
              <a:spcBef>
                <a:spcPts val="1800"/>
              </a:spcBef>
              <a:buFont typeface="Wingdings" pitchFamily="2" charset="2"/>
              <a:buChar char="l"/>
            </a:pP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B</a:t>
            </a:r>
            <a:r>
              <a:rPr sz="2800" b="1" i="1" spc="-10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为界，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F</a:t>
            </a:r>
            <a:r>
              <a:rPr sz="2800" b="1" i="1" spc="-3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为代价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函数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值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267655" y="2871691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88733" y="1220285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3</a:t>
            </a:r>
            <a:endParaRPr sz="1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5297" y="2100853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672721" y="1512990"/>
            <a:ext cx="1521460" cy="0"/>
          </a:xfrm>
          <a:custGeom>
            <a:avLst/>
            <a:gdLst/>
            <a:ahLst/>
            <a:cxnLst/>
            <a:rect l="l" t="t" r="r" b="b"/>
            <a:pathLst>
              <a:path w="1521460">
                <a:moveTo>
                  <a:pt x="0" y="0"/>
                </a:moveTo>
                <a:lnTo>
                  <a:pt x="152095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72721" y="1583094"/>
            <a:ext cx="2396490" cy="689187"/>
          </a:xfrm>
          <a:custGeom>
            <a:avLst/>
            <a:gdLst/>
            <a:ahLst/>
            <a:cxnLst/>
            <a:rect l="l" t="t" r="r" b="b"/>
            <a:pathLst>
              <a:path w="2396490" h="516889">
                <a:moveTo>
                  <a:pt x="0" y="0"/>
                </a:moveTo>
                <a:lnTo>
                  <a:pt x="2396490" y="51663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79757" y="1651165"/>
            <a:ext cx="0" cy="1380067"/>
          </a:xfrm>
          <a:custGeom>
            <a:avLst/>
            <a:gdLst/>
            <a:ahLst/>
            <a:cxnLst/>
            <a:rect l="l" t="t" r="r" b="b"/>
            <a:pathLst>
              <a:path h="1035050">
                <a:moveTo>
                  <a:pt x="0" y="0"/>
                </a:moveTo>
                <a:lnTo>
                  <a:pt x="0" y="103479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672721" y="3169070"/>
            <a:ext cx="1567180" cy="0"/>
          </a:xfrm>
          <a:custGeom>
            <a:avLst/>
            <a:gdLst/>
            <a:ahLst/>
            <a:cxnLst/>
            <a:rect l="l" t="t" r="r" b="b"/>
            <a:pathLst>
              <a:path w="1567180">
                <a:moveTo>
                  <a:pt x="0" y="0"/>
                </a:moveTo>
                <a:lnTo>
                  <a:pt x="156667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285112" y="1651165"/>
            <a:ext cx="0" cy="1380067"/>
          </a:xfrm>
          <a:custGeom>
            <a:avLst/>
            <a:gdLst/>
            <a:ahLst/>
            <a:cxnLst/>
            <a:rect l="l" t="t" r="r" b="b"/>
            <a:pathLst>
              <a:path h="1035050">
                <a:moveTo>
                  <a:pt x="0" y="0"/>
                </a:moveTo>
                <a:lnTo>
                  <a:pt x="0" y="1034796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5331594" y="1583094"/>
            <a:ext cx="783590" cy="619760"/>
          </a:xfrm>
          <a:custGeom>
            <a:avLst/>
            <a:gdLst/>
            <a:ahLst/>
            <a:cxnLst/>
            <a:rect l="l" t="t" r="r" b="b"/>
            <a:pathLst>
              <a:path w="783589" h="464819">
                <a:moveTo>
                  <a:pt x="0" y="0"/>
                </a:moveTo>
                <a:lnTo>
                  <a:pt x="783336" y="46482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377315" y="2410117"/>
            <a:ext cx="737870" cy="689187"/>
          </a:xfrm>
          <a:custGeom>
            <a:avLst/>
            <a:gdLst/>
            <a:ahLst/>
            <a:cxnLst/>
            <a:rect l="l" t="t" r="r" b="b"/>
            <a:pathLst>
              <a:path w="737870" h="516889">
                <a:moveTo>
                  <a:pt x="0" y="516636"/>
                </a:moveTo>
                <a:lnTo>
                  <a:pt x="737616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3627001" y="1651165"/>
            <a:ext cx="1612900" cy="1447800"/>
          </a:xfrm>
          <a:custGeom>
            <a:avLst/>
            <a:gdLst/>
            <a:ahLst/>
            <a:cxnLst/>
            <a:rect l="l" t="t" r="r" b="b"/>
            <a:pathLst>
              <a:path w="1612900" h="1085850">
                <a:moveTo>
                  <a:pt x="0" y="0"/>
                </a:moveTo>
                <a:lnTo>
                  <a:pt x="1612392" y="108585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3268671" y="1320579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1</a:t>
            </a:r>
            <a:endParaRPr sz="1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524131" y="1426629"/>
            <a:ext cx="245363" cy="30378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521083" y="3003461"/>
            <a:ext cx="245363" cy="302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056257" y="2173391"/>
            <a:ext cx="245363" cy="30276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5226439" y="3003461"/>
            <a:ext cx="245363" cy="3027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5184529" y="1411391"/>
            <a:ext cx="244601" cy="30276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5501962" y="2973578"/>
            <a:ext cx="15303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80637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9722" y="291425"/>
            <a:ext cx="508655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搜索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树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33551"/>
            <a:ext cx="3910330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a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3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宋体"/>
                <a:cs typeface="宋体"/>
              </a:rPr>
              <a:t>极大</a:t>
            </a:r>
            <a:r>
              <a:rPr sz="2400" b="1" spc="-10" dirty="0">
                <a:latin typeface="宋体"/>
                <a:cs typeface="宋体"/>
              </a:rPr>
              <a:t>团</a:t>
            </a:r>
            <a:r>
              <a:rPr sz="2400" b="1" spc="-605" dirty="0">
                <a:latin typeface="宋体"/>
                <a:cs typeface="宋体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{1,2,4</a:t>
            </a:r>
            <a:r>
              <a:rPr sz="2400" b="1" spc="-5" dirty="0" smtClean="0">
                <a:latin typeface="Times New Roman"/>
                <a:cs typeface="Times New Roman"/>
              </a:rPr>
              <a:t>},</a:t>
            </a:r>
            <a:r>
              <a:rPr lang="zh-CN" altLang="en-US" sz="2400" b="1" dirty="0">
                <a:latin typeface="宋体"/>
                <a:cs typeface="宋体"/>
              </a:rPr>
              <a:t>顶点数</a:t>
            </a:r>
            <a:r>
              <a:rPr lang="zh-CN" altLang="en-US" sz="2400" b="1" spc="-10" dirty="0">
                <a:latin typeface="宋体"/>
                <a:cs typeface="宋体"/>
              </a:rPr>
              <a:t>为</a:t>
            </a:r>
            <a:r>
              <a:rPr lang="zh-CN" altLang="en-US" sz="2400" b="1" spc="-620" dirty="0">
                <a:latin typeface="宋体"/>
                <a:cs typeface="宋体"/>
              </a:rPr>
              <a:t> </a:t>
            </a:r>
            <a:r>
              <a:rPr lang="en-US" altLang="zh-CN" sz="2400" b="1" dirty="0">
                <a:latin typeface="Times New Roman"/>
                <a:cs typeface="Times New Roman"/>
              </a:rPr>
              <a:t>3,</a:t>
            </a:r>
            <a:r>
              <a:rPr lang="zh-CN" altLang="en-US" sz="2400" b="1" spc="-5" dirty="0">
                <a:latin typeface="Times New Roman"/>
                <a:cs typeface="Times New Roman"/>
              </a:rPr>
              <a:t> </a:t>
            </a:r>
            <a:r>
              <a:rPr lang="zh-CN" altLang="en-US" sz="2400" b="1" spc="-10" dirty="0">
                <a:latin typeface="宋体"/>
                <a:cs typeface="宋体"/>
              </a:rPr>
              <a:t>界</a:t>
            </a:r>
            <a:r>
              <a:rPr lang="zh-CN" altLang="en-US" sz="2400" b="1" spc="-615" dirty="0">
                <a:latin typeface="宋体"/>
                <a:cs typeface="宋体"/>
              </a:rPr>
              <a:t> </a:t>
            </a:r>
            <a:r>
              <a:rPr lang="en-US" altLang="zh-CN" sz="2400" b="1" i="1" spc="-5" dirty="0">
                <a:latin typeface="Times New Roman"/>
                <a:cs typeface="Times New Roman"/>
              </a:rPr>
              <a:t>B</a:t>
            </a:r>
            <a:r>
              <a:rPr lang="en-US" altLang="zh-CN" sz="2400" b="1" spc="-5" dirty="0">
                <a:latin typeface="Times New Roman"/>
                <a:cs typeface="Times New Roman"/>
              </a:rPr>
              <a:t>=3</a:t>
            </a:r>
            <a:r>
              <a:rPr lang="zh-CN" altLang="en-US" sz="2400" b="1" spc="-5" dirty="0" smtClean="0">
                <a:latin typeface="宋体"/>
                <a:cs typeface="宋体"/>
              </a:rPr>
              <a:t>；</a:t>
            </a:r>
            <a:endParaRPr lang="zh-CN" altLang="en-US" sz="2400" dirty="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197858" y="1702815"/>
            <a:ext cx="798830" cy="1016000"/>
          </a:xfrm>
          <a:custGeom>
            <a:avLst/>
            <a:gdLst/>
            <a:ahLst/>
            <a:cxnLst/>
            <a:rect l="l" t="t" r="r" b="b"/>
            <a:pathLst>
              <a:path w="798829" h="762000">
                <a:moveTo>
                  <a:pt x="798576" y="0"/>
                </a:moveTo>
                <a:lnTo>
                  <a:pt x="0" y="7620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74820" y="2718815"/>
            <a:ext cx="142240" cy="1341120"/>
          </a:xfrm>
          <a:custGeom>
            <a:avLst/>
            <a:gdLst/>
            <a:ahLst/>
            <a:cxnLst/>
            <a:rect l="l" t="t" r="r" b="b"/>
            <a:pathLst>
              <a:path w="142239" h="1005839">
                <a:moveTo>
                  <a:pt x="0" y="0"/>
                </a:moveTo>
                <a:lnTo>
                  <a:pt x="141732" y="100584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776472" y="3326384"/>
            <a:ext cx="498475" cy="609600"/>
          </a:xfrm>
          <a:custGeom>
            <a:avLst/>
            <a:gdLst/>
            <a:ahLst/>
            <a:cxnLst/>
            <a:rect l="l" t="t" r="r" b="b"/>
            <a:pathLst>
              <a:path w="498475" h="457200">
                <a:moveTo>
                  <a:pt x="498348" y="0"/>
                </a:moveTo>
                <a:lnTo>
                  <a:pt x="0" y="4572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853435" y="2594865"/>
            <a:ext cx="498475" cy="530860"/>
          </a:xfrm>
          <a:custGeom>
            <a:avLst/>
            <a:gdLst/>
            <a:ahLst/>
            <a:cxnLst/>
            <a:rect l="l" t="t" r="r" b="b"/>
            <a:pathLst>
              <a:path w="498475" h="398144">
                <a:moveTo>
                  <a:pt x="498348" y="0"/>
                </a:moveTo>
                <a:lnTo>
                  <a:pt x="0" y="397764"/>
                </a:lnTo>
              </a:path>
            </a:pathLst>
          </a:custGeom>
          <a:ln w="28955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320796" y="3935984"/>
            <a:ext cx="458470" cy="611293"/>
          </a:xfrm>
          <a:custGeom>
            <a:avLst/>
            <a:gdLst/>
            <a:ahLst/>
            <a:cxnLst/>
            <a:rect l="l" t="t" r="r" b="b"/>
            <a:pathLst>
              <a:path w="458470" h="458470">
                <a:moveTo>
                  <a:pt x="457962" y="0"/>
                </a:moveTo>
                <a:lnTo>
                  <a:pt x="0" y="457962"/>
                </a:lnTo>
              </a:path>
            </a:pathLst>
          </a:custGeom>
          <a:ln w="28956">
            <a:solidFill>
              <a:srgbClr val="000000"/>
            </a:solidFill>
            <a:prstDash val="lg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10940" y="3935984"/>
            <a:ext cx="307340" cy="731520"/>
          </a:xfrm>
          <a:custGeom>
            <a:avLst/>
            <a:gdLst/>
            <a:ahLst/>
            <a:cxnLst/>
            <a:rect l="l" t="t" r="r" b="b"/>
            <a:pathLst>
              <a:path w="307339" h="548639">
                <a:moveTo>
                  <a:pt x="0" y="0"/>
                </a:moveTo>
                <a:lnTo>
                  <a:pt x="307086" y="54864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615434" y="2109215"/>
            <a:ext cx="261620" cy="508000"/>
          </a:xfrm>
          <a:custGeom>
            <a:avLst/>
            <a:gdLst/>
            <a:ahLst/>
            <a:cxnLst/>
            <a:rect l="l" t="t" r="r" b="b"/>
            <a:pathLst>
              <a:path w="261620" h="381000">
                <a:moveTo>
                  <a:pt x="0" y="0"/>
                </a:moveTo>
                <a:lnTo>
                  <a:pt x="261365" y="3810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691635" y="2718815"/>
            <a:ext cx="262255" cy="1825413"/>
          </a:xfrm>
          <a:custGeom>
            <a:avLst/>
            <a:gdLst/>
            <a:ahLst/>
            <a:cxnLst/>
            <a:rect l="l" t="t" r="r" b="b"/>
            <a:pathLst>
              <a:path w="262254" h="1369060">
                <a:moveTo>
                  <a:pt x="262127" y="0"/>
                </a:moveTo>
                <a:lnTo>
                  <a:pt x="0" y="1368552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907279" y="1482344"/>
            <a:ext cx="221742" cy="272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526279" y="2054351"/>
            <a:ext cx="221742" cy="2733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787646" y="2578607"/>
            <a:ext cx="221742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787646" y="3192272"/>
            <a:ext cx="221742" cy="272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692015" y="3939539"/>
            <a:ext cx="196596" cy="2397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185665" y="2563368"/>
            <a:ext cx="221742" cy="27228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17670" y="3192272"/>
            <a:ext cx="220980" cy="27228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644646" y="3885184"/>
            <a:ext cx="221742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305300" y="3922776"/>
            <a:ext cx="221742" cy="273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3814953" y="4426206"/>
            <a:ext cx="307340" cy="363220"/>
          </a:xfrm>
          <a:custGeom>
            <a:avLst/>
            <a:gdLst/>
            <a:ahLst/>
            <a:cxnLst/>
            <a:rect l="l" t="t" r="r" b="b"/>
            <a:pathLst>
              <a:path w="307339" h="272414">
                <a:moveTo>
                  <a:pt x="261747" y="0"/>
                </a:moveTo>
                <a:lnTo>
                  <a:pt x="45339" y="0"/>
                </a:lnTo>
                <a:lnTo>
                  <a:pt x="27689" y="3562"/>
                </a:lnTo>
                <a:lnTo>
                  <a:pt x="13277" y="13277"/>
                </a:lnTo>
                <a:lnTo>
                  <a:pt x="3562" y="27689"/>
                </a:lnTo>
                <a:lnTo>
                  <a:pt x="0" y="45338"/>
                </a:lnTo>
                <a:lnTo>
                  <a:pt x="0" y="226694"/>
                </a:lnTo>
                <a:lnTo>
                  <a:pt x="3562" y="244344"/>
                </a:lnTo>
                <a:lnTo>
                  <a:pt x="13277" y="258756"/>
                </a:lnTo>
                <a:lnTo>
                  <a:pt x="27689" y="268471"/>
                </a:lnTo>
                <a:lnTo>
                  <a:pt x="45339" y="272033"/>
                </a:lnTo>
                <a:lnTo>
                  <a:pt x="261747" y="272033"/>
                </a:lnTo>
                <a:lnTo>
                  <a:pt x="279396" y="268471"/>
                </a:lnTo>
                <a:lnTo>
                  <a:pt x="293808" y="258756"/>
                </a:lnTo>
                <a:lnTo>
                  <a:pt x="303523" y="244344"/>
                </a:lnTo>
                <a:lnTo>
                  <a:pt x="307086" y="226694"/>
                </a:lnTo>
                <a:lnTo>
                  <a:pt x="307086" y="45338"/>
                </a:lnTo>
                <a:lnTo>
                  <a:pt x="303523" y="27689"/>
                </a:lnTo>
                <a:lnTo>
                  <a:pt x="293808" y="13277"/>
                </a:lnTo>
                <a:lnTo>
                  <a:pt x="279396" y="3562"/>
                </a:lnTo>
                <a:lnTo>
                  <a:pt x="261747" y="0"/>
                </a:lnTo>
                <a:close/>
              </a:path>
            </a:pathLst>
          </a:custGeom>
          <a:solidFill>
            <a:srgbClr val="C898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814953" y="4426206"/>
            <a:ext cx="307340" cy="363220"/>
          </a:xfrm>
          <a:custGeom>
            <a:avLst/>
            <a:gdLst/>
            <a:ahLst/>
            <a:cxnLst/>
            <a:rect l="l" t="t" r="r" b="b"/>
            <a:pathLst>
              <a:path w="307339" h="272414">
                <a:moveTo>
                  <a:pt x="0" y="45338"/>
                </a:moveTo>
                <a:lnTo>
                  <a:pt x="3562" y="27689"/>
                </a:lnTo>
                <a:lnTo>
                  <a:pt x="13277" y="13277"/>
                </a:lnTo>
                <a:lnTo>
                  <a:pt x="27689" y="3562"/>
                </a:lnTo>
                <a:lnTo>
                  <a:pt x="45339" y="0"/>
                </a:lnTo>
                <a:lnTo>
                  <a:pt x="261747" y="0"/>
                </a:lnTo>
                <a:lnTo>
                  <a:pt x="279396" y="3562"/>
                </a:lnTo>
                <a:lnTo>
                  <a:pt x="293808" y="13277"/>
                </a:lnTo>
                <a:lnTo>
                  <a:pt x="303523" y="27689"/>
                </a:lnTo>
                <a:lnTo>
                  <a:pt x="307086" y="45338"/>
                </a:lnTo>
                <a:lnTo>
                  <a:pt x="307086" y="226694"/>
                </a:lnTo>
                <a:lnTo>
                  <a:pt x="303523" y="244344"/>
                </a:lnTo>
                <a:lnTo>
                  <a:pt x="293808" y="258756"/>
                </a:lnTo>
                <a:lnTo>
                  <a:pt x="279396" y="268471"/>
                </a:lnTo>
                <a:lnTo>
                  <a:pt x="261747" y="272033"/>
                </a:lnTo>
                <a:lnTo>
                  <a:pt x="45339" y="272033"/>
                </a:lnTo>
                <a:lnTo>
                  <a:pt x="27689" y="268471"/>
                </a:lnTo>
                <a:lnTo>
                  <a:pt x="13277" y="258756"/>
                </a:lnTo>
                <a:lnTo>
                  <a:pt x="3562" y="244344"/>
                </a:lnTo>
                <a:lnTo>
                  <a:pt x="0" y="226694"/>
                </a:lnTo>
                <a:lnTo>
                  <a:pt x="0" y="45338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538853" y="4483102"/>
            <a:ext cx="307340" cy="364913"/>
          </a:xfrm>
          <a:custGeom>
            <a:avLst/>
            <a:gdLst/>
            <a:ahLst/>
            <a:cxnLst/>
            <a:rect l="l" t="t" r="r" b="b"/>
            <a:pathLst>
              <a:path w="307339" h="273685">
                <a:moveTo>
                  <a:pt x="261493" y="0"/>
                </a:moveTo>
                <a:lnTo>
                  <a:pt x="45593" y="0"/>
                </a:lnTo>
                <a:lnTo>
                  <a:pt x="27844" y="3582"/>
                </a:lnTo>
                <a:lnTo>
                  <a:pt x="13352" y="13352"/>
                </a:lnTo>
                <a:lnTo>
                  <a:pt x="3582" y="27844"/>
                </a:lnTo>
                <a:lnTo>
                  <a:pt x="0" y="45593"/>
                </a:lnTo>
                <a:lnTo>
                  <a:pt x="0" y="227965"/>
                </a:lnTo>
                <a:lnTo>
                  <a:pt x="3582" y="245713"/>
                </a:lnTo>
                <a:lnTo>
                  <a:pt x="13352" y="260205"/>
                </a:lnTo>
                <a:lnTo>
                  <a:pt x="27844" y="269975"/>
                </a:lnTo>
                <a:lnTo>
                  <a:pt x="45593" y="273558"/>
                </a:lnTo>
                <a:lnTo>
                  <a:pt x="261493" y="273558"/>
                </a:lnTo>
                <a:lnTo>
                  <a:pt x="279241" y="269975"/>
                </a:lnTo>
                <a:lnTo>
                  <a:pt x="293733" y="260205"/>
                </a:lnTo>
                <a:lnTo>
                  <a:pt x="303503" y="245713"/>
                </a:lnTo>
                <a:lnTo>
                  <a:pt x="307086" y="227965"/>
                </a:lnTo>
                <a:lnTo>
                  <a:pt x="307086" y="45593"/>
                </a:lnTo>
                <a:lnTo>
                  <a:pt x="303503" y="27844"/>
                </a:lnTo>
                <a:lnTo>
                  <a:pt x="293733" y="13352"/>
                </a:lnTo>
                <a:lnTo>
                  <a:pt x="279241" y="3582"/>
                </a:lnTo>
                <a:lnTo>
                  <a:pt x="261493" y="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538853" y="4483102"/>
            <a:ext cx="307340" cy="364913"/>
          </a:xfrm>
          <a:custGeom>
            <a:avLst/>
            <a:gdLst/>
            <a:ahLst/>
            <a:cxnLst/>
            <a:rect l="l" t="t" r="r" b="b"/>
            <a:pathLst>
              <a:path w="307339" h="273685">
                <a:moveTo>
                  <a:pt x="0" y="45593"/>
                </a:moveTo>
                <a:lnTo>
                  <a:pt x="3582" y="27844"/>
                </a:lnTo>
                <a:lnTo>
                  <a:pt x="13352" y="13352"/>
                </a:lnTo>
                <a:lnTo>
                  <a:pt x="27844" y="3582"/>
                </a:lnTo>
                <a:lnTo>
                  <a:pt x="45593" y="0"/>
                </a:lnTo>
                <a:lnTo>
                  <a:pt x="261493" y="0"/>
                </a:lnTo>
                <a:lnTo>
                  <a:pt x="279241" y="3582"/>
                </a:lnTo>
                <a:lnTo>
                  <a:pt x="293733" y="13352"/>
                </a:lnTo>
                <a:lnTo>
                  <a:pt x="303503" y="27844"/>
                </a:lnTo>
                <a:lnTo>
                  <a:pt x="307086" y="45593"/>
                </a:lnTo>
                <a:lnTo>
                  <a:pt x="307086" y="227965"/>
                </a:lnTo>
                <a:lnTo>
                  <a:pt x="303503" y="245713"/>
                </a:lnTo>
                <a:lnTo>
                  <a:pt x="293733" y="260205"/>
                </a:lnTo>
                <a:lnTo>
                  <a:pt x="279241" y="269975"/>
                </a:lnTo>
                <a:lnTo>
                  <a:pt x="261493" y="273558"/>
                </a:lnTo>
                <a:lnTo>
                  <a:pt x="45593" y="273558"/>
                </a:lnTo>
                <a:lnTo>
                  <a:pt x="27844" y="269975"/>
                </a:lnTo>
                <a:lnTo>
                  <a:pt x="13352" y="260205"/>
                </a:lnTo>
                <a:lnTo>
                  <a:pt x="3582" y="245713"/>
                </a:lnTo>
                <a:lnTo>
                  <a:pt x="0" y="227965"/>
                </a:lnTo>
                <a:lnTo>
                  <a:pt x="0" y="45593"/>
                </a:lnTo>
                <a:close/>
              </a:path>
            </a:pathLst>
          </a:custGeom>
          <a:ln w="25146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778459" y="4581030"/>
            <a:ext cx="554990" cy="67454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 indent="76200">
              <a:lnSpc>
                <a:spcPts val="2300"/>
              </a:lnSpc>
              <a:spcBef>
                <a:spcPts val="660"/>
              </a:spcBef>
            </a:pPr>
            <a:r>
              <a:rPr sz="2400" b="1" i="1" dirty="0">
                <a:latin typeface="Times New Roman"/>
                <a:cs typeface="Times New Roman"/>
              </a:rPr>
              <a:t>a  B</a:t>
            </a:r>
            <a:r>
              <a:rPr sz="2400" b="1" dirty="0"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142292" y="3785913"/>
            <a:ext cx="472440" cy="559127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8415" marR="5080" indent="-6350">
              <a:lnSpc>
                <a:spcPts val="1920"/>
              </a:lnSpc>
              <a:spcBef>
                <a:spcPts val="560"/>
              </a:spcBef>
            </a:pPr>
            <a:r>
              <a:rPr sz="2000" b="1" i="1" spc="-5" dirty="0">
                <a:latin typeface="Times New Roman"/>
                <a:cs typeface="Times New Roman"/>
              </a:rPr>
              <a:t>b  F</a:t>
            </a:r>
            <a:r>
              <a:rPr sz="2000" b="1" spc="-5" dirty="0">
                <a:latin typeface="Times New Roman"/>
                <a:cs typeface="Times New Roman"/>
              </a:rPr>
              <a:t>=3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540658" y="4683167"/>
            <a:ext cx="554990" cy="67454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12700" marR="5080">
              <a:lnSpc>
                <a:spcPts val="2300"/>
              </a:lnSpc>
              <a:spcBef>
                <a:spcPts val="660"/>
              </a:spcBef>
            </a:pPr>
            <a:r>
              <a:rPr sz="2400" b="1" i="1" dirty="0">
                <a:latin typeface="Times New Roman"/>
                <a:cs typeface="Times New Roman"/>
              </a:rPr>
              <a:t>c  B</a:t>
            </a:r>
            <a:r>
              <a:rPr sz="2400" b="1" dirty="0">
                <a:latin typeface="Times New Roman"/>
                <a:cs typeface="Times New Roman"/>
              </a:rPr>
              <a:t>=4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3720084" y="3072384"/>
            <a:ext cx="221742" cy="272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230879" y="4494784"/>
            <a:ext cx="222504" cy="272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5260338" y="1635287"/>
            <a:ext cx="675005" cy="1524905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32080" marR="5080">
              <a:lnSpc>
                <a:spcPct val="80000"/>
              </a:lnSpc>
              <a:spcBef>
                <a:spcPts val="675"/>
              </a:spcBef>
            </a:pPr>
            <a:r>
              <a:rPr sz="2400" b="1" i="1" dirty="0">
                <a:latin typeface="Times New Roman"/>
                <a:cs typeface="Times New Roman"/>
              </a:rPr>
              <a:t>e  F</a:t>
            </a:r>
            <a:r>
              <a:rPr sz="2400" b="1" dirty="0">
                <a:latin typeface="Times New Roman"/>
                <a:cs typeface="Times New Roman"/>
              </a:rPr>
              <a:t>=4</a:t>
            </a:r>
            <a:endParaRPr sz="2400">
              <a:latin typeface="Times New Roman"/>
              <a:cs typeface="Times New Roman"/>
            </a:endParaRPr>
          </a:p>
          <a:p>
            <a:pPr marL="12700" marR="124460">
              <a:lnSpc>
                <a:spcPct val="80000"/>
              </a:lnSpc>
              <a:spcBef>
                <a:spcPts val="2005"/>
              </a:spcBef>
            </a:pPr>
            <a:r>
              <a:rPr sz="2400" b="1" i="1" dirty="0">
                <a:latin typeface="Times New Roman"/>
                <a:cs typeface="Times New Roman"/>
              </a:rPr>
              <a:t>d  F</a:t>
            </a:r>
            <a:r>
              <a:rPr sz="2400" b="1" dirty="0">
                <a:latin typeface="Times New Roman"/>
                <a:cs typeface="Times New Roman"/>
              </a:rPr>
              <a:t>=3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5072634" y="1699767"/>
            <a:ext cx="304800" cy="508000"/>
          </a:xfrm>
          <a:custGeom>
            <a:avLst/>
            <a:gdLst/>
            <a:ahLst/>
            <a:cxnLst/>
            <a:rect l="l" t="t" r="r" b="b"/>
            <a:pathLst>
              <a:path w="304800" h="381000">
                <a:moveTo>
                  <a:pt x="0" y="0"/>
                </a:moveTo>
                <a:lnTo>
                  <a:pt x="304800" y="3810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5212079" y="2068577"/>
            <a:ext cx="222504" cy="27330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264867" y="5711140"/>
            <a:ext cx="447167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8620" algn="l"/>
              </a:tabLst>
            </a:pPr>
            <a:r>
              <a:rPr sz="2400" b="1" spc="-5" dirty="0">
                <a:latin typeface="宋体"/>
                <a:cs typeface="宋体"/>
              </a:rPr>
              <a:t>输出最大</a:t>
            </a:r>
            <a:r>
              <a:rPr sz="2400" b="1" spc="-10" dirty="0">
                <a:latin typeface="宋体"/>
                <a:cs typeface="宋体"/>
              </a:rPr>
              <a:t>团</a:t>
            </a:r>
            <a:r>
              <a:rPr sz="2400" b="1" spc="-560" dirty="0">
                <a:latin typeface="宋体"/>
                <a:cs typeface="宋体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{1,3,4,5},	</a:t>
            </a:r>
            <a:r>
              <a:rPr sz="2400" b="1" spc="-5" dirty="0">
                <a:latin typeface="宋体"/>
                <a:cs typeface="宋体"/>
              </a:rPr>
              <a:t>顶点数</a:t>
            </a:r>
            <a:r>
              <a:rPr sz="2400" b="1" spc="-10" dirty="0">
                <a:latin typeface="宋体"/>
                <a:cs typeface="宋体"/>
              </a:rPr>
              <a:t>为</a:t>
            </a:r>
            <a:r>
              <a:rPr sz="2400" b="1" spc="-665" dirty="0">
                <a:latin typeface="宋体"/>
                <a:cs typeface="宋体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4.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671352" y="2374892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2</a:t>
            </a:r>
            <a:endParaRPr sz="12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789816" y="1532019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3</a:t>
            </a:r>
            <a:endParaRPr sz="12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185751" y="2017056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5</a:t>
            </a:r>
            <a:endParaRPr sz="12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6898356" y="1723163"/>
            <a:ext cx="711835" cy="0"/>
          </a:xfrm>
          <a:custGeom>
            <a:avLst/>
            <a:gdLst/>
            <a:ahLst/>
            <a:cxnLst/>
            <a:rect l="l" t="t" r="r" b="b"/>
            <a:pathLst>
              <a:path w="711835">
                <a:moveTo>
                  <a:pt x="0" y="0"/>
                </a:moveTo>
                <a:lnTo>
                  <a:pt x="711708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6898356" y="1755676"/>
            <a:ext cx="1122045" cy="320039"/>
          </a:xfrm>
          <a:custGeom>
            <a:avLst/>
            <a:gdLst/>
            <a:ahLst/>
            <a:cxnLst/>
            <a:rect l="l" t="t" r="r" b="b"/>
            <a:pathLst>
              <a:path w="1122045" h="240029">
                <a:moveTo>
                  <a:pt x="0" y="0"/>
                </a:moveTo>
                <a:lnTo>
                  <a:pt x="1121664" y="240029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6854921" y="1787170"/>
            <a:ext cx="0" cy="641773"/>
          </a:xfrm>
          <a:custGeom>
            <a:avLst/>
            <a:gdLst/>
            <a:ahLst/>
            <a:cxnLst/>
            <a:rect l="l" t="t" r="r" b="b"/>
            <a:pathLst>
              <a:path h="481330">
                <a:moveTo>
                  <a:pt x="0" y="0"/>
                </a:moveTo>
                <a:lnTo>
                  <a:pt x="0" y="480822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6898356" y="2492274"/>
            <a:ext cx="733425" cy="0"/>
          </a:xfrm>
          <a:custGeom>
            <a:avLst/>
            <a:gdLst/>
            <a:ahLst/>
            <a:cxnLst/>
            <a:rect l="l" t="t" r="r" b="b"/>
            <a:pathLst>
              <a:path w="733425">
                <a:moveTo>
                  <a:pt x="0" y="0"/>
                </a:moveTo>
                <a:lnTo>
                  <a:pt x="733044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7652735" y="1787170"/>
            <a:ext cx="0" cy="641773"/>
          </a:xfrm>
          <a:custGeom>
            <a:avLst/>
            <a:gdLst/>
            <a:ahLst/>
            <a:cxnLst/>
            <a:rect l="l" t="t" r="r" b="b"/>
            <a:pathLst>
              <a:path h="481330">
                <a:moveTo>
                  <a:pt x="0" y="0"/>
                </a:moveTo>
                <a:lnTo>
                  <a:pt x="0" y="480822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7674833" y="1755676"/>
            <a:ext cx="367030" cy="288713"/>
          </a:xfrm>
          <a:custGeom>
            <a:avLst/>
            <a:gdLst/>
            <a:ahLst/>
            <a:cxnLst/>
            <a:rect l="l" t="t" r="r" b="b"/>
            <a:pathLst>
              <a:path w="367029" h="216534">
                <a:moveTo>
                  <a:pt x="0" y="0"/>
                </a:moveTo>
                <a:lnTo>
                  <a:pt x="366522" y="216408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7696168" y="2139724"/>
            <a:ext cx="345440" cy="320039"/>
          </a:xfrm>
          <a:custGeom>
            <a:avLst/>
            <a:gdLst/>
            <a:ahLst/>
            <a:cxnLst/>
            <a:rect l="l" t="t" r="r" b="b"/>
            <a:pathLst>
              <a:path w="345439" h="240030">
                <a:moveTo>
                  <a:pt x="0" y="240029"/>
                </a:moveTo>
                <a:lnTo>
                  <a:pt x="345186" y="0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6876256" y="1787170"/>
            <a:ext cx="755650" cy="673100"/>
          </a:xfrm>
          <a:custGeom>
            <a:avLst/>
            <a:gdLst/>
            <a:ahLst/>
            <a:cxnLst/>
            <a:rect l="l" t="t" r="r" b="b"/>
            <a:pathLst>
              <a:path w="755650" h="504825">
                <a:moveTo>
                  <a:pt x="0" y="0"/>
                </a:moveTo>
                <a:lnTo>
                  <a:pt x="755142" y="504444"/>
                </a:lnTo>
              </a:path>
            </a:pathLst>
          </a:custGeom>
          <a:ln w="1295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6671114" y="1531985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1</a:t>
            </a:r>
            <a:endParaRPr sz="1200">
              <a:latin typeface="Arial"/>
              <a:cs typeface="Arial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20249" y="1674903"/>
            <a:ext cx="128778" cy="1584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6820249" y="2406422"/>
            <a:ext cx="127254" cy="1584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8005922" y="2022375"/>
            <a:ext cx="128016" cy="1584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7618825" y="2406422"/>
            <a:ext cx="126492" cy="1584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7598252" y="1668806"/>
            <a:ext cx="128016" cy="1584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 txBox="1"/>
          <p:nvPr/>
        </p:nvSpPr>
        <p:spPr>
          <a:xfrm>
            <a:off x="7780231" y="2422192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" dirty="0">
                <a:latin typeface="Arial"/>
                <a:cs typeface="Arial"/>
              </a:rPr>
              <a:t>4</a:t>
            </a:r>
            <a:endParaRPr sz="120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4953000" y="2819400"/>
            <a:ext cx="228600" cy="4064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0" y="0"/>
                </a:moveTo>
                <a:lnTo>
                  <a:pt x="228600" y="30480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093208" y="3209543"/>
            <a:ext cx="221742" cy="2722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 txBox="1"/>
          <p:nvPr/>
        </p:nvSpPr>
        <p:spPr>
          <a:xfrm>
            <a:off x="285243" y="2200302"/>
            <a:ext cx="3563620" cy="565539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30"/>
              </a:spcBef>
              <a:tabLst>
                <a:tab pos="2631440" algn="l"/>
              </a:tabLst>
            </a:pPr>
            <a:r>
              <a:rPr sz="2400" b="1" i="1" dirty="0" smtClean="0">
                <a:latin typeface="Times New Roman"/>
                <a:cs typeface="Times New Roman"/>
              </a:rPr>
              <a:t>b</a:t>
            </a:r>
            <a:r>
              <a:rPr sz="2400" b="1" spc="-5" dirty="0">
                <a:latin typeface="Times New Roman"/>
                <a:cs typeface="Times New Roman"/>
              </a:rPr>
              <a:t>:</a:t>
            </a:r>
            <a:r>
              <a:rPr sz="2400" b="1" dirty="0">
                <a:latin typeface="宋体"/>
                <a:cs typeface="宋体"/>
              </a:rPr>
              <a:t>代价函数</a:t>
            </a:r>
            <a:r>
              <a:rPr sz="2400" b="1" spc="-10" dirty="0">
                <a:latin typeface="宋体"/>
                <a:cs typeface="宋体"/>
              </a:rPr>
              <a:t>值</a:t>
            </a:r>
            <a:r>
              <a:rPr sz="2400" b="1" spc="-600" dirty="0">
                <a:latin typeface="宋体"/>
                <a:cs typeface="宋体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dirty="0">
                <a:latin typeface="Times New Roman"/>
                <a:cs typeface="Times New Roman"/>
              </a:rPr>
              <a:t>=3,	</a:t>
            </a:r>
            <a:r>
              <a:rPr sz="2400" b="1" dirty="0" err="1">
                <a:latin typeface="宋体"/>
                <a:cs typeface="宋体"/>
              </a:rPr>
              <a:t>回溯</a:t>
            </a:r>
            <a:r>
              <a:rPr sz="2400" b="1" dirty="0" smtClean="0">
                <a:latin typeface="宋体"/>
                <a:cs typeface="宋体"/>
              </a:rPr>
              <a:t>；</a:t>
            </a:r>
            <a:endParaRPr sz="2400" dirty="0">
              <a:latin typeface="宋体"/>
              <a:cs typeface="宋体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10034" y="4608835"/>
            <a:ext cx="2317750" cy="4043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d</a:t>
            </a:r>
            <a:r>
              <a:rPr sz="2400" b="1" dirty="0">
                <a:latin typeface="Times New Roman"/>
                <a:cs typeface="Times New Roman"/>
              </a:rPr>
              <a:t>:</a:t>
            </a:r>
            <a:r>
              <a:rPr sz="2400" b="1" spc="-75" dirty="0">
                <a:latin typeface="Times New Roman"/>
                <a:cs typeface="Times New Roman"/>
              </a:rPr>
              <a:t> </a:t>
            </a: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dirty="0">
                <a:latin typeface="Times New Roman"/>
                <a:cs typeface="Times New Roman"/>
              </a:rPr>
              <a:t>=3,</a:t>
            </a:r>
            <a:r>
              <a:rPr sz="2400" b="1" spc="-5" dirty="0">
                <a:latin typeface="宋体"/>
                <a:cs typeface="宋体"/>
              </a:rPr>
              <a:t>不必搜索</a:t>
            </a:r>
            <a:r>
              <a:rPr sz="2400" b="1" dirty="0">
                <a:latin typeface="Times New Roman"/>
                <a:cs typeface="Times New Roman"/>
              </a:rPr>
              <a:t>;  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179512" y="3164775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lang="en-US" altLang="zh-CN" sz="2400" b="1" i="1" dirty="0">
                <a:latin typeface="Times New Roman"/>
                <a:cs typeface="Times New Roman"/>
              </a:rPr>
              <a:t>c</a:t>
            </a:r>
            <a:r>
              <a:rPr lang="en-US" altLang="zh-CN" sz="2400" b="1" dirty="0">
                <a:latin typeface="Times New Roman"/>
                <a:cs typeface="Times New Roman"/>
              </a:rPr>
              <a:t>:</a:t>
            </a:r>
            <a:r>
              <a:rPr lang="zh-CN" altLang="en-US" sz="2400" b="1" spc="-15" dirty="0">
                <a:latin typeface="Times New Roman"/>
                <a:cs typeface="Times New Roman"/>
              </a:rPr>
              <a:t> </a:t>
            </a:r>
            <a:r>
              <a:rPr lang="zh-CN" altLang="en-US" sz="2400" b="1" spc="-5" dirty="0">
                <a:latin typeface="宋体"/>
                <a:cs typeface="宋体"/>
              </a:rPr>
              <a:t>极大</a:t>
            </a:r>
            <a:r>
              <a:rPr lang="zh-CN" altLang="en-US" sz="2400" b="1" spc="-10" dirty="0">
                <a:latin typeface="宋体"/>
                <a:cs typeface="宋体"/>
              </a:rPr>
              <a:t>团</a:t>
            </a:r>
            <a:r>
              <a:rPr lang="zh-CN" altLang="en-US" sz="2400" b="1" spc="-585" dirty="0">
                <a:latin typeface="宋体"/>
                <a:cs typeface="宋体"/>
              </a:rPr>
              <a:t> </a:t>
            </a:r>
            <a:r>
              <a:rPr lang="en-US" altLang="zh-CN" sz="2400" b="1" spc="-5" dirty="0">
                <a:latin typeface="Times New Roman"/>
                <a:cs typeface="Times New Roman"/>
              </a:rPr>
              <a:t>{1,3,4,5},</a:t>
            </a:r>
            <a:endParaRPr lang="zh-CN" altLang="en-US" sz="2400" dirty="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lang="zh-CN" altLang="en-US" sz="2400" b="1" spc="-5" dirty="0">
                <a:latin typeface="宋体"/>
                <a:cs typeface="宋体"/>
              </a:rPr>
              <a:t>顶点数</a:t>
            </a:r>
            <a:r>
              <a:rPr lang="zh-CN" altLang="en-US" sz="2400" b="1" spc="-10" dirty="0">
                <a:latin typeface="宋体"/>
                <a:cs typeface="宋体"/>
              </a:rPr>
              <a:t>为</a:t>
            </a:r>
            <a:r>
              <a:rPr lang="zh-CN" altLang="en-US" sz="2400" b="1" spc="-585" dirty="0">
                <a:latin typeface="宋体"/>
                <a:cs typeface="宋体"/>
              </a:rPr>
              <a:t> </a:t>
            </a:r>
            <a:r>
              <a:rPr lang="en-US" altLang="zh-CN" sz="2400" b="1" dirty="0">
                <a:latin typeface="Times New Roman"/>
                <a:cs typeface="Times New Roman"/>
              </a:rPr>
              <a:t>4,</a:t>
            </a:r>
            <a:endParaRPr lang="zh-CN" altLang="en-US" sz="2400" dirty="0">
              <a:latin typeface="Times New Roman"/>
              <a:cs typeface="Times New Roman"/>
            </a:endParaRPr>
          </a:p>
          <a:p>
            <a:pPr marL="317500">
              <a:lnSpc>
                <a:spcPct val="100000"/>
              </a:lnSpc>
            </a:pPr>
            <a:r>
              <a:rPr lang="zh-CN" altLang="en-US" sz="2400" b="1" spc="-5" dirty="0">
                <a:latin typeface="宋体"/>
                <a:cs typeface="宋体"/>
              </a:rPr>
              <a:t>修改</a:t>
            </a:r>
            <a:r>
              <a:rPr lang="zh-CN" altLang="en-US" sz="2400" b="1" spc="-10" dirty="0">
                <a:latin typeface="宋体"/>
                <a:cs typeface="宋体"/>
              </a:rPr>
              <a:t>界</a:t>
            </a:r>
            <a:r>
              <a:rPr lang="zh-CN" altLang="en-US" sz="2400" b="1" spc="-595" dirty="0">
                <a:latin typeface="宋体"/>
                <a:cs typeface="宋体"/>
              </a:rPr>
              <a:t> </a:t>
            </a:r>
            <a:r>
              <a:rPr lang="en-US" altLang="zh-CN" sz="2400" b="1" i="1" spc="-5" dirty="0">
                <a:latin typeface="Times New Roman"/>
                <a:cs typeface="Times New Roman"/>
              </a:rPr>
              <a:t>B</a:t>
            </a:r>
            <a:r>
              <a:rPr lang="en-US" altLang="zh-CN" sz="2400" b="1" spc="-5" dirty="0">
                <a:latin typeface="Times New Roman"/>
                <a:cs typeface="Times New Roman"/>
              </a:rPr>
              <a:t>=4</a:t>
            </a:r>
            <a:r>
              <a:rPr lang="zh-CN" altLang="en-US" sz="2400" b="1" spc="-5" dirty="0">
                <a:latin typeface="宋体"/>
                <a:cs typeface="宋体"/>
              </a:rPr>
              <a:t>；</a:t>
            </a:r>
            <a:endParaRPr lang="zh-CN" altLang="en-US" sz="2400" dirty="0">
              <a:latin typeface="宋体"/>
              <a:cs typeface="宋体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235739" y="4971533"/>
            <a:ext cx="2502608" cy="4838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12700" marR="5080">
              <a:lnSpc>
                <a:spcPct val="105500"/>
              </a:lnSpc>
              <a:spcBef>
                <a:spcPts val="100"/>
              </a:spcBef>
            </a:pPr>
            <a:r>
              <a:rPr lang="en-US" altLang="zh-CN" sz="2400" b="1" i="1" dirty="0">
                <a:latin typeface="Times New Roman"/>
                <a:cs typeface="Times New Roman"/>
              </a:rPr>
              <a:t>e</a:t>
            </a:r>
            <a:r>
              <a:rPr lang="en-US" altLang="zh-CN" sz="2400" b="1" dirty="0">
                <a:latin typeface="Times New Roman"/>
                <a:cs typeface="Times New Roman"/>
              </a:rPr>
              <a:t>:</a:t>
            </a:r>
            <a:r>
              <a:rPr lang="en-US" altLang="zh-CN" sz="2400" b="1" spc="-60" dirty="0">
                <a:latin typeface="Times New Roman"/>
                <a:cs typeface="Times New Roman"/>
              </a:rPr>
              <a:t> </a:t>
            </a:r>
            <a:r>
              <a:rPr lang="en-US" altLang="zh-CN" sz="2400" b="1" i="1" dirty="0">
                <a:latin typeface="Times New Roman"/>
                <a:cs typeface="Times New Roman"/>
              </a:rPr>
              <a:t>F</a:t>
            </a:r>
            <a:r>
              <a:rPr lang="en-US" altLang="zh-CN" sz="2400" b="1" dirty="0">
                <a:latin typeface="Times New Roman"/>
                <a:cs typeface="Times New Roman"/>
              </a:rPr>
              <a:t>=4,</a:t>
            </a:r>
            <a:r>
              <a:rPr lang="en-US" altLang="zh-CN" sz="2400" b="1" spc="-60" dirty="0">
                <a:latin typeface="Times New Roman"/>
                <a:cs typeface="Times New Roman"/>
              </a:rPr>
              <a:t> </a:t>
            </a:r>
            <a:r>
              <a:rPr lang="zh-CN" altLang="en-US" sz="2400" b="1" spc="-5" dirty="0">
                <a:latin typeface="宋体"/>
                <a:cs typeface="宋体"/>
              </a:rPr>
              <a:t>不必搜索</a:t>
            </a:r>
            <a:r>
              <a:rPr lang="en-US" altLang="zh-CN" sz="2400" b="1" dirty="0">
                <a:latin typeface="Times New Roman"/>
                <a:cs typeface="Times New Roman"/>
              </a:rPr>
              <a:t>.</a:t>
            </a:r>
            <a:endParaRPr lang="zh-CN" altLang="en-US" sz="24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9796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3" grpId="0"/>
      <p:bldP spid="55" grpId="0"/>
      <p:bldP spid="56" grpId="0"/>
      <p:bldP spid="5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219417"/>
            <a:ext cx="9144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4" name="矩形 3"/>
          <p:cNvSpPr/>
          <p:nvPr/>
        </p:nvSpPr>
        <p:spPr>
          <a:xfrm>
            <a:off x="467544" y="1196752"/>
            <a:ext cx="8136903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/>
              <a:t>最大团问题的定义与点独立集的关系</a:t>
            </a:r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/>
              <a:t>分支限界算法的设计树的结构：子集树</a:t>
            </a:r>
          </a:p>
          <a:p>
            <a:pPr>
              <a:spcBef>
                <a:spcPts val="1200"/>
              </a:spcBef>
            </a:pPr>
            <a:r>
              <a:rPr lang="zh-CN" altLang="en-US" sz="2800" b="1" dirty="0"/>
              <a:t>  </a:t>
            </a:r>
            <a:r>
              <a:rPr lang="zh-CN" altLang="en-US" sz="2800" b="1" dirty="0" smtClean="0"/>
              <a:t>    </a:t>
            </a:r>
            <a:r>
              <a:rPr lang="zh-CN" altLang="en-US" sz="2800" b="1" dirty="0"/>
              <a:t>分支约束条件</a:t>
            </a:r>
          </a:p>
          <a:p>
            <a:pPr>
              <a:spcBef>
                <a:spcPts val="1200"/>
              </a:spcBef>
            </a:pPr>
            <a:r>
              <a:rPr lang="zh-CN" altLang="en-US" sz="2800" b="1" dirty="0"/>
              <a:t>   </a:t>
            </a:r>
            <a:r>
              <a:rPr lang="zh-CN" altLang="en-US" sz="2800" b="1" dirty="0" smtClean="0"/>
              <a:t>   </a:t>
            </a:r>
            <a:r>
              <a:rPr lang="zh-CN" altLang="en-US" sz="2800" b="1" dirty="0"/>
              <a:t>代价函数与界的</a:t>
            </a:r>
            <a:r>
              <a:rPr lang="zh-CN" altLang="en-US" sz="2800" b="1" dirty="0" smtClean="0"/>
              <a:t>设定</a:t>
            </a:r>
            <a:endParaRPr lang="en-US" altLang="zh-CN" sz="2800" b="1" dirty="0" smtClean="0"/>
          </a:p>
          <a:p>
            <a:pPr marL="285750" indent="-285750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800" b="1" dirty="0"/>
              <a:t>最坏情况的时间复杂</a:t>
            </a:r>
            <a:r>
              <a:rPr lang="zh-CN" altLang="en-US" sz="2800" b="1" dirty="0" smtClean="0"/>
              <a:t>度</a:t>
            </a:r>
            <a:r>
              <a:rPr lang="en-US" altLang="zh-CN" sz="2800" b="1" i="1" spc="-5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O</a:t>
            </a:r>
            <a:r>
              <a:rPr lang="en-US" altLang="zh-CN" sz="2800" b="1" spc="-5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lang="en-US" altLang="zh-CN" sz="2800" b="1" i="1" spc="-5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2800" b="1" spc="-5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2</a:t>
            </a:r>
            <a:r>
              <a:rPr lang="en-US" altLang="zh-CN" sz="2800" b="1" i="1" spc="-7" baseline="24305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lang="en-US" altLang="zh-CN" sz="2800" b="1" spc="-5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 </a:t>
            </a:r>
            <a:endParaRPr lang="zh-CN" alt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173982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99792" y="2636912"/>
            <a:ext cx="4464496" cy="936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5" dirty="0">
                <a:latin typeface="黑体" pitchFamily="49" charset="-122"/>
                <a:ea typeface="黑体" pitchFamily="49" charset="-122"/>
              </a:rPr>
              <a:t>货郎</a:t>
            </a:r>
            <a:r>
              <a:rPr sz="6000" spc="5" dirty="0">
                <a:latin typeface="黑体" pitchFamily="49" charset="-122"/>
                <a:ea typeface="黑体" pitchFamily="49" charset="-122"/>
              </a:rPr>
              <a:t>问</a:t>
            </a:r>
            <a:r>
              <a:rPr sz="6000" spc="-25" dirty="0">
                <a:latin typeface="黑体" pitchFamily="49" charset="-122"/>
                <a:ea typeface="黑体" pitchFamily="49" charset="-122"/>
              </a:rPr>
              <a:t>题</a:t>
            </a:r>
            <a:endParaRPr sz="60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1133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9348" y="446287"/>
            <a:ext cx="660100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货郎问题的定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341" y="1515194"/>
            <a:ext cx="8098099" cy="155619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755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800" b="1" spc="-5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输</a:t>
            </a:r>
            <a:r>
              <a:rPr sz="2800" b="1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入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42900">
              <a:lnSpc>
                <a:spcPct val="100000"/>
              </a:lnSpc>
              <a:spcBef>
                <a:spcPts val="65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有穷个城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市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集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合</a:t>
            </a:r>
            <a:r>
              <a:rPr sz="2800" b="1" spc="-60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={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4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…,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},</a:t>
            </a:r>
            <a:endParaRPr sz="2800" dirty="0">
              <a:latin typeface="Times New Roman"/>
              <a:cs typeface="Times New Roman"/>
            </a:endParaRPr>
          </a:p>
          <a:p>
            <a:pPr marL="34290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距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离</a:t>
            </a:r>
            <a:r>
              <a:rPr sz="2800" b="1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j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j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c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Symbol"/>
                <a:cs typeface="Symbol"/>
              </a:rPr>
              <a:t></a:t>
            </a:r>
            <a:r>
              <a:rPr sz="2800" b="1" spc="-5" dirty="0">
                <a:latin typeface="Times New Roman"/>
                <a:cs typeface="Times New Roman"/>
              </a:rPr>
              <a:t>Z</a:t>
            </a:r>
            <a:r>
              <a:rPr sz="2800" b="1" spc="-7" baseline="24305" dirty="0">
                <a:latin typeface="Times New Roman"/>
                <a:cs typeface="Times New Roman"/>
              </a:rPr>
              <a:t>+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i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j </a:t>
            </a:r>
            <a:r>
              <a:rPr sz="2800" b="1" spc="-5" dirty="0">
                <a:latin typeface="Symbol"/>
                <a:cs typeface="Symbol"/>
              </a:rPr>
              <a:t>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06349" y="3797313"/>
            <a:ext cx="8098099" cy="557845"/>
          </a:xfrm>
          <a:prstGeom prst="rect">
            <a:avLst/>
          </a:prstGeom>
        </p:spPr>
        <p:txBody>
          <a:bodyPr vert="horz" wrap="square" lIns="0" tIns="125730" rIns="0" bIns="0" rtlCol="0">
            <a:spAutoFit/>
          </a:bodyPr>
          <a:lstStyle/>
          <a:p>
            <a:pPr marL="381000" indent="-342900">
              <a:lnSpc>
                <a:spcPct val="100000"/>
              </a:lnSpc>
              <a:spcBef>
                <a:spcPts val="990"/>
              </a:spcBef>
              <a:buFont typeface="Arial"/>
              <a:buChar char="•"/>
              <a:tabLst>
                <a:tab pos="380365" algn="l"/>
                <a:tab pos="381000" algn="l"/>
              </a:tabLst>
            </a:pP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解</a:t>
            </a:r>
            <a:r>
              <a:rPr sz="2800" b="1" dirty="0">
                <a:latin typeface="宋体"/>
                <a:cs typeface="宋体"/>
              </a:rPr>
              <a:t>：</a:t>
            </a:r>
            <a:r>
              <a:rPr sz="2800" b="1" dirty="0">
                <a:latin typeface="Times New Roman"/>
                <a:cs typeface="Times New Roman"/>
              </a:rPr>
              <a:t>1,2,…,</a:t>
            </a:r>
            <a:r>
              <a:rPr sz="2800" b="1" i="1" dirty="0">
                <a:latin typeface="Times New Roman"/>
                <a:cs typeface="Times New Roman"/>
              </a:rPr>
              <a:t>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的排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列</a:t>
            </a:r>
            <a:r>
              <a:rPr sz="2800" b="1" spc="-62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i="1" spc="-5" dirty="0" err="1">
                <a:latin typeface="Times New Roman"/>
                <a:cs typeface="Times New Roman"/>
              </a:rPr>
              <a:t>k</a:t>
            </a:r>
            <a:r>
              <a:rPr sz="2800" b="1" i="1" spc="-7" baseline="-20833" dirty="0" err="1">
                <a:latin typeface="Times New Roman"/>
                <a:cs typeface="Times New Roman"/>
              </a:rPr>
              <a:t>n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使得</a:t>
            </a:r>
            <a:r>
              <a:rPr sz="2800" b="1" dirty="0" smtClean="0">
                <a:latin typeface="宋体"/>
                <a:cs typeface="宋体"/>
              </a:rPr>
              <a:t>：</a:t>
            </a:r>
            <a:endParaRPr sz="2800" dirty="0">
              <a:latin typeface="宋体"/>
              <a:cs typeface="宋体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4359537"/>
            <a:ext cx="5328592" cy="1190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2723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7190" y="340453"/>
            <a:ext cx="48191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算法设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97841" y="1274401"/>
            <a:ext cx="8106607" cy="424975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508000" indent="-457200">
              <a:lnSpc>
                <a:spcPct val="100000"/>
              </a:lnSpc>
              <a:spcBef>
                <a:spcPts val="675"/>
              </a:spcBef>
              <a:buFont typeface="Wingdings" pitchFamily="2" charset="2"/>
              <a:buChar char="l"/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解向量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-58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&lt;1,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22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其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中</a:t>
            </a:r>
            <a:r>
              <a:rPr sz="2800" b="1" i="1" spc="-5" dirty="0" smtClean="0">
                <a:latin typeface="Times New Roman"/>
                <a:cs typeface="Times New Roman"/>
              </a:rPr>
              <a:t>i</a:t>
            </a:r>
            <a:r>
              <a:rPr sz="2800" b="1" spc="-7" baseline="-20833" dirty="0" smtClean="0">
                <a:latin typeface="Times New Roman"/>
                <a:cs typeface="Times New Roman"/>
              </a:rPr>
              <a:t>1</a:t>
            </a:r>
            <a:r>
              <a:rPr sz="2800" b="1" spc="-5" dirty="0" smtClean="0">
                <a:latin typeface="Times New Roman"/>
                <a:cs typeface="Times New Roman"/>
              </a:rPr>
              <a:t>,</a:t>
            </a:r>
            <a:r>
              <a:rPr sz="2800" b="1" i="1" spc="-5" dirty="0" smtClean="0">
                <a:latin typeface="Times New Roman"/>
                <a:cs typeface="Times New Roman"/>
              </a:rPr>
              <a:t>i</a:t>
            </a:r>
            <a:r>
              <a:rPr sz="2800" b="1" spc="-7" baseline="-20833" dirty="0" smtClean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-5" dirty="0" smtClean="0">
                <a:latin typeface="Times New Roman"/>
                <a:cs typeface="Times New Roman"/>
              </a:rPr>
              <a:t>{</a:t>
            </a:r>
            <a:r>
              <a:rPr sz="2800" b="1" spc="-5" dirty="0">
                <a:latin typeface="Times New Roman"/>
                <a:cs typeface="Times New Roman"/>
              </a:rPr>
              <a:t>2,3,…,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 smtClean="0">
                <a:latin typeface="Times New Roman"/>
                <a:cs typeface="Times New Roman"/>
              </a:rPr>
              <a:t>}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的排列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  <a:p>
            <a:pPr marL="508000" marR="30480" indent="-457200">
              <a:lnSpc>
                <a:spcPct val="120000"/>
              </a:lnSpc>
              <a:spcBef>
                <a:spcPts val="1490"/>
              </a:spcBef>
              <a:buFont typeface="Wingdings" pitchFamily="2" charset="2"/>
              <a:buChar char="l"/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搜索空间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为</a:t>
            </a:r>
            <a:r>
              <a:rPr sz="2800" b="1" spc="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排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列树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结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点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,…,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&gt;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表示得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到</a:t>
            </a:r>
            <a:r>
              <a:rPr sz="2800" b="1" spc="-58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黑体" pitchFamily="49" charset="-122"/>
                <a:ea typeface="黑体" pitchFamily="49" charset="-122"/>
                <a:cs typeface="Times New Roman"/>
              </a:rPr>
              <a:t>k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步路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线</a:t>
            </a:r>
            <a:r>
              <a:rPr sz="2800" b="1" spc="-58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508000" indent="-457200">
              <a:lnSpc>
                <a:spcPct val="100000"/>
              </a:lnSpc>
              <a:spcBef>
                <a:spcPts val="2280"/>
              </a:spcBef>
              <a:buFont typeface="Wingdings" pitchFamily="2" charset="2"/>
              <a:buChar char="l"/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约束条件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令</a:t>
            </a:r>
            <a:r>
              <a:rPr sz="2800" b="1" spc="-575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 smtClean="0">
                <a:latin typeface="Times New Roman"/>
                <a:cs typeface="Times New Roman"/>
              </a:rPr>
              <a:t>{</a:t>
            </a:r>
            <a:r>
              <a:rPr sz="2800" b="1" i="1" spc="-5" dirty="0" smtClean="0">
                <a:latin typeface="Times New Roman"/>
                <a:cs typeface="Times New Roman"/>
              </a:rPr>
              <a:t>i</a:t>
            </a:r>
            <a:r>
              <a:rPr sz="2800" b="1" spc="-7" baseline="-20833" dirty="0" smtClean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i="1" spc="-5" dirty="0" err="1" smtClean="0">
                <a:latin typeface="Times New Roman"/>
                <a:cs typeface="Times New Roman"/>
              </a:rPr>
              <a:t>i</a:t>
            </a:r>
            <a:r>
              <a:rPr sz="2800" b="1" i="1" spc="-7" baseline="-20833" dirty="0" err="1" smtClean="0">
                <a:latin typeface="Times New Roman"/>
                <a:cs typeface="Times New Roman"/>
              </a:rPr>
              <a:t>k</a:t>
            </a:r>
            <a:r>
              <a:rPr sz="2800" b="1" spc="-5" dirty="0" smtClean="0">
                <a:latin typeface="Times New Roman"/>
                <a:cs typeface="Times New Roman"/>
              </a:rPr>
              <a:t>}, 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则</a:t>
            </a:r>
            <a:endParaRPr lang="en-US"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50800">
              <a:lnSpc>
                <a:spcPct val="100000"/>
              </a:lnSpc>
              <a:spcBef>
                <a:spcPts val="2280"/>
              </a:spcBef>
            </a:pPr>
            <a:r>
              <a:rPr lang="en-US"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 </a:t>
            </a:r>
            <a:r>
              <a:rPr lang="en-US" sz="2800" b="1" i="1" spc="-5" dirty="0" smtClean="0">
                <a:latin typeface="黑体" pitchFamily="49" charset="-122"/>
                <a:ea typeface="黑体" pitchFamily="49" charset="-122"/>
                <a:cs typeface="Times New Roman"/>
              </a:rPr>
              <a:t>              </a:t>
            </a:r>
            <a:r>
              <a:rPr sz="2800" b="1" i="1" spc="-5" dirty="0" smtClean="0">
                <a:latin typeface="Times New Roman"/>
                <a:cs typeface="Times New Roman"/>
              </a:rPr>
              <a:t>i</a:t>
            </a:r>
            <a:r>
              <a:rPr sz="2800" b="1" i="1" spc="-7" baseline="-20833" dirty="0" smtClean="0">
                <a:latin typeface="Times New Roman"/>
                <a:cs typeface="Times New Roman"/>
              </a:rPr>
              <a:t>k</a:t>
            </a:r>
            <a:r>
              <a:rPr sz="2800" b="1" spc="-7" baseline="-20833" dirty="0" smtClean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Symbol"/>
                <a:cs typeface="Symbol"/>
              </a:rPr>
              <a:t></a:t>
            </a:r>
            <a:r>
              <a:rPr sz="2800" b="1" spc="-5" dirty="0">
                <a:latin typeface="Times New Roman"/>
                <a:cs typeface="Times New Roman"/>
              </a:rPr>
              <a:t>{ </a:t>
            </a:r>
            <a:r>
              <a:rPr sz="2800" b="1" dirty="0">
                <a:latin typeface="Times New Roman"/>
                <a:cs typeface="Times New Roman"/>
              </a:rPr>
              <a:t>2, … ,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}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endParaRPr sz="2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60"/>
              </a:spcBef>
            </a:pPr>
            <a:r>
              <a:rPr lang="en-US" sz="2800" b="1" spc="-5" dirty="0">
                <a:latin typeface="黑体" pitchFamily="49" charset="-122"/>
                <a:ea typeface="黑体" pitchFamily="49" charset="-122"/>
                <a:cs typeface="宋体"/>
              </a:rPr>
              <a:t>  </a:t>
            </a:r>
            <a:r>
              <a:rPr lang="en-US"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即每个结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点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只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能访问一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次</a:t>
            </a:r>
            <a:r>
              <a:rPr sz="2800" b="1" spc="-585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dirty="0">
                <a:latin typeface="黑体" pitchFamily="49" charset="-122"/>
                <a:ea typeface="黑体" pitchFamily="49" charset="-122"/>
                <a:cs typeface="Times New Roman"/>
              </a:rPr>
              <a:t>.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3523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93826" y="355269"/>
            <a:ext cx="620251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代价函数与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界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1574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界</a:t>
            </a:r>
            <a:r>
              <a:rPr sz="2800" b="1" spc="-5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：当前</a:t>
            </a:r>
            <a:r>
              <a:rPr sz="28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得</a:t>
            </a:r>
            <a:r>
              <a:rPr sz="2800" b="1" spc="5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到</a:t>
            </a:r>
            <a:r>
              <a:rPr sz="2800" b="1" dirty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的最短巡回路线长度</a:t>
            </a:r>
          </a:p>
          <a:p>
            <a:pPr marL="0" marR="43180" algn="just">
              <a:lnSpc>
                <a:spcPct val="100000"/>
              </a:lnSpc>
              <a:spcBef>
                <a:spcPts val="2105"/>
              </a:spcBef>
            </a:pPr>
            <a:r>
              <a:rPr sz="2800" b="1" spc="-5" dirty="0" err="1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代价函数</a:t>
            </a:r>
            <a:r>
              <a:rPr sz="2800" dirty="0" err="1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：</a:t>
            </a:r>
            <a:r>
              <a:rPr sz="2800" b="1" spc="5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设</a:t>
            </a:r>
            <a:r>
              <a:rPr sz="2800" b="1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顶</a:t>
            </a:r>
            <a:r>
              <a:rPr sz="2800" b="1" spc="-10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点</a:t>
            </a:r>
            <a:r>
              <a:rPr sz="2800" b="1" i="1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c</a:t>
            </a:r>
            <a:r>
              <a:rPr sz="2800" b="1" i="1" baseline="-20833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sz="2800" b="1" spc="-5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出发的</a:t>
            </a:r>
            <a:r>
              <a:rPr sz="2800" b="1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最短</a:t>
            </a:r>
            <a:r>
              <a:rPr sz="2800" b="1" spc="-10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边</a:t>
            </a:r>
            <a:r>
              <a:rPr sz="2800" b="1" spc="-5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长度</a:t>
            </a:r>
            <a:r>
              <a:rPr sz="2800" b="1" spc="-10" dirty="0" err="1" smtClean="0"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为</a:t>
            </a:r>
            <a:r>
              <a:rPr sz="2800" b="1" i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sz="2800" b="1" i="1" spc="-7" baseline="-20833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zh-CN" altLang="en-US" sz="2800" b="1" i="1" spc="-7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2800" b="1" i="1" spc="-5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2800" b="1" i="1" spc="-7" baseline="-20833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为选定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巡回路线中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第</a:t>
            </a:r>
            <a:r>
              <a:rPr lang="en-US" sz="2800" b="1" spc="-1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800" b="1" spc="-6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spc="-605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</a:t>
            </a:r>
            <a:r>
              <a:rPr sz="2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 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段的长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度</a:t>
            </a:r>
            <a:endParaRPr sz="2800" b="1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5" y="3501008"/>
            <a:ext cx="4752528" cy="23941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1862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93340" y="355269"/>
            <a:ext cx="564701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代价函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数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539552" y="3386677"/>
            <a:ext cx="4270422" cy="153183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665"/>
              </a:spcBef>
            </a:pPr>
            <a:r>
              <a:rPr sz="2800" b="1" spc="-5" dirty="0">
                <a:latin typeface="宋体"/>
                <a:cs typeface="宋体"/>
              </a:rPr>
              <a:t>部分路线</a:t>
            </a:r>
            <a:r>
              <a:rPr sz="2800" b="1" dirty="0">
                <a:latin typeface="Times New Roman"/>
                <a:cs typeface="Times New Roman"/>
              </a:rPr>
              <a:t>&lt;1,3,2&gt;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7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L</a:t>
            </a:r>
            <a:r>
              <a:rPr sz="2800" b="1" spc="-5" dirty="0">
                <a:latin typeface="Times New Roman"/>
                <a:cs typeface="Times New Roman"/>
              </a:rPr>
              <a:t>=9+13+2+2=26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30"/>
              </a:spcBef>
            </a:pPr>
            <a:r>
              <a:rPr sz="2800" b="1" dirty="0">
                <a:latin typeface="Times New Roman"/>
                <a:cs typeface="Times New Roman"/>
              </a:rPr>
              <a:t>9+13</a:t>
            </a:r>
            <a:r>
              <a:rPr sz="2800" b="1" spc="-5" dirty="0">
                <a:latin typeface="宋体"/>
                <a:cs typeface="宋体"/>
              </a:rPr>
              <a:t>为走过的</a:t>
            </a:r>
            <a:r>
              <a:rPr sz="2800" b="1" dirty="0">
                <a:latin typeface="宋体"/>
                <a:cs typeface="宋体"/>
              </a:rPr>
              <a:t>路径长</a:t>
            </a:r>
            <a:r>
              <a:rPr sz="2800" b="1" spc="-10" dirty="0">
                <a:latin typeface="宋体"/>
                <a:cs typeface="宋体"/>
              </a:rPr>
              <a:t>度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1691" y="4987021"/>
            <a:ext cx="8000691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宋体"/>
                <a:cs typeface="宋体"/>
              </a:rPr>
              <a:t>后两项分</a:t>
            </a:r>
            <a:r>
              <a:rPr sz="2800" b="1" dirty="0">
                <a:latin typeface="宋体"/>
                <a:cs typeface="宋体"/>
              </a:rPr>
              <a:t>别</a:t>
            </a:r>
            <a:r>
              <a:rPr sz="2800" b="1" spc="5" dirty="0">
                <a:latin typeface="宋体"/>
                <a:cs typeface="宋体"/>
              </a:rPr>
              <a:t>为</a:t>
            </a:r>
            <a:r>
              <a:rPr sz="2800" b="1" dirty="0">
                <a:latin typeface="宋体"/>
                <a:cs typeface="宋体"/>
              </a:rPr>
              <a:t>从结</a:t>
            </a:r>
            <a:r>
              <a:rPr sz="2800" b="1" spc="-5" dirty="0">
                <a:latin typeface="宋体"/>
                <a:cs typeface="宋体"/>
              </a:rPr>
              <a:t>点</a:t>
            </a:r>
            <a:r>
              <a:rPr sz="2800" b="1" spc="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宋体"/>
                <a:cs typeface="宋体"/>
              </a:rPr>
              <a:t>及</a:t>
            </a:r>
            <a:r>
              <a:rPr sz="2800" b="1" spc="5" dirty="0">
                <a:latin typeface="Times New Roman"/>
                <a:cs typeface="Times New Roman"/>
              </a:rPr>
              <a:t>4</a:t>
            </a:r>
            <a:r>
              <a:rPr sz="2800" b="1" dirty="0" smtClean="0">
                <a:latin typeface="宋体"/>
                <a:cs typeface="宋体"/>
              </a:rPr>
              <a:t>出发的最短</a:t>
            </a:r>
            <a:r>
              <a:rPr sz="2800" b="1" spc="-5" dirty="0" smtClean="0">
                <a:latin typeface="宋体"/>
                <a:cs typeface="宋体"/>
              </a:rPr>
              <a:t>边</a:t>
            </a:r>
            <a:r>
              <a:rPr sz="2800" b="1" spc="-10" dirty="0" smtClean="0">
                <a:latin typeface="宋体"/>
                <a:cs typeface="宋体"/>
              </a:rPr>
              <a:t>长</a:t>
            </a:r>
            <a:endParaRPr sz="2800" dirty="0">
              <a:latin typeface="宋体"/>
              <a:cs typeface="宋体"/>
            </a:endParaRPr>
          </a:p>
        </p:txBody>
      </p:sp>
      <p:pic>
        <p:nvPicPr>
          <p:cNvPr id="26" name="图片 2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661" y="1477419"/>
            <a:ext cx="3652343" cy="1217448"/>
          </a:xfrm>
          <a:prstGeom prst="rect">
            <a:avLst/>
          </a:prstGeom>
        </p:spPr>
      </p:pic>
      <p:pic>
        <p:nvPicPr>
          <p:cNvPr id="27" name="图片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0086" y="1125486"/>
            <a:ext cx="3019048" cy="25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33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299459" y="347302"/>
            <a:ext cx="290994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搜索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树</a:t>
            </a:r>
            <a:endParaRPr sz="40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367666" y="4407837"/>
            <a:ext cx="52206" cy="915666"/>
          </a:xfrm>
          <a:custGeom>
            <a:avLst/>
            <a:gdLst/>
            <a:ahLst/>
            <a:cxnLst/>
            <a:rect l="l" t="t" r="r" b="b"/>
            <a:pathLst>
              <a:path h="631825">
                <a:moveTo>
                  <a:pt x="0" y="0"/>
                </a:moveTo>
                <a:lnTo>
                  <a:pt x="0" y="6318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428920" y="4712827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952949" y="4687693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2</a:t>
            </a:r>
            <a:endParaRPr sz="20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4540" y="5592856"/>
            <a:ext cx="7073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B</a:t>
            </a:r>
            <a:r>
              <a:rPr sz="2400" b="1" dirty="0">
                <a:latin typeface="Times New Roman"/>
                <a:cs typeface="Times New Roman"/>
              </a:rPr>
              <a:t>=29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28927" y="5592856"/>
            <a:ext cx="7073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B</a:t>
            </a:r>
            <a:r>
              <a:rPr sz="2400" b="1" dirty="0">
                <a:latin typeface="Times New Roman"/>
                <a:cs typeface="Times New Roman"/>
              </a:rPr>
              <a:t>=23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2535" y="4512239"/>
            <a:ext cx="70739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i="1" dirty="0">
                <a:latin typeface="Times New Roman"/>
                <a:cs typeface="Times New Roman"/>
              </a:rPr>
              <a:t>F</a:t>
            </a:r>
            <a:r>
              <a:rPr sz="2400" b="1" dirty="0">
                <a:latin typeface="Times New Roman"/>
                <a:cs typeface="Times New Roman"/>
              </a:rPr>
              <a:t>=26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70414" y="2710163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70824" y="4739868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4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930399" y="3664238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4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055496" y="4740076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080779" y="2870142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862239" y="2672801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4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612310" y="3677112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320716" y="3668696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4</a:t>
            </a:r>
            <a:endParaRPr sz="20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01591" y="3643248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2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15816" y="2420888"/>
            <a:ext cx="209154" cy="2231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629536" y="3296549"/>
            <a:ext cx="211014" cy="204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2947034" y="3296549"/>
            <a:ext cx="209155" cy="204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332351" y="3296549"/>
            <a:ext cx="211944" cy="20445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19758" y="4206746"/>
            <a:ext cx="204236" cy="238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925953" y="4206746"/>
            <a:ext cx="202437" cy="238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2582036" y="4242306"/>
            <a:ext cx="204236" cy="238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3217159" y="4225542"/>
            <a:ext cx="274721" cy="27738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113657" y="4242306"/>
            <a:ext cx="204236" cy="238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845176" y="4242306"/>
            <a:ext cx="202437" cy="2387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033901" y="2636912"/>
            <a:ext cx="45719" cy="707533"/>
          </a:xfrm>
          <a:custGeom>
            <a:avLst/>
            <a:gdLst/>
            <a:ahLst/>
            <a:cxnLst/>
            <a:rect l="l" t="t" r="r" b="b"/>
            <a:pathLst>
              <a:path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749549" y="2636912"/>
            <a:ext cx="1197359" cy="671067"/>
          </a:xfrm>
          <a:custGeom>
            <a:avLst/>
            <a:gdLst/>
            <a:ahLst/>
            <a:cxnLst/>
            <a:rect l="l" t="t" r="r" b="b"/>
            <a:pathLst>
              <a:path w="1170305" h="455930">
                <a:moveTo>
                  <a:pt x="1169987" y="0"/>
                </a:moveTo>
                <a:lnTo>
                  <a:pt x="0" y="4556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205102" y="3431539"/>
            <a:ext cx="450850" cy="774700"/>
          </a:xfrm>
          <a:custGeom>
            <a:avLst/>
            <a:gdLst/>
            <a:ahLst/>
            <a:cxnLst/>
            <a:rect l="l" t="t" r="r" b="b"/>
            <a:pathLst>
              <a:path w="450850" h="581025">
                <a:moveTo>
                  <a:pt x="450850" y="0"/>
                </a:moveTo>
                <a:lnTo>
                  <a:pt x="0" y="5810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752981" y="3468115"/>
            <a:ext cx="259079" cy="739140"/>
          </a:xfrm>
          <a:custGeom>
            <a:avLst/>
            <a:gdLst/>
            <a:ahLst/>
            <a:cxnLst/>
            <a:rect l="l" t="t" r="r" b="b"/>
            <a:pathLst>
              <a:path w="259080" h="554355">
                <a:moveTo>
                  <a:pt x="0" y="0"/>
                </a:moveTo>
                <a:lnTo>
                  <a:pt x="258762" y="55403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15616" y="5229200"/>
            <a:ext cx="212669" cy="24105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907704" y="5229200"/>
            <a:ext cx="210796" cy="24105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275856" y="5229200"/>
            <a:ext cx="251868" cy="27662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067944" y="5267808"/>
            <a:ext cx="212669" cy="238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841036" y="5267808"/>
            <a:ext cx="210796" cy="2380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2729102" y="3495547"/>
            <a:ext cx="290830" cy="783167"/>
          </a:xfrm>
          <a:custGeom>
            <a:avLst/>
            <a:gdLst/>
            <a:ahLst/>
            <a:cxnLst/>
            <a:rect l="l" t="t" r="r" b="b"/>
            <a:pathLst>
              <a:path w="290830" h="587375">
                <a:moveTo>
                  <a:pt x="290512" y="0"/>
                </a:moveTo>
                <a:lnTo>
                  <a:pt x="0" y="58737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01287" y="3431539"/>
            <a:ext cx="219075" cy="811107"/>
          </a:xfrm>
          <a:custGeom>
            <a:avLst/>
            <a:gdLst/>
            <a:ahLst/>
            <a:cxnLst/>
            <a:rect l="l" t="t" r="r" b="b"/>
            <a:pathLst>
              <a:path w="219075" h="608330">
                <a:moveTo>
                  <a:pt x="219075" y="0"/>
                </a:moveTo>
                <a:lnTo>
                  <a:pt x="0" y="6080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3097911" y="3495547"/>
            <a:ext cx="257175" cy="739140"/>
          </a:xfrm>
          <a:custGeom>
            <a:avLst/>
            <a:gdLst/>
            <a:ahLst/>
            <a:cxnLst/>
            <a:rect l="l" t="t" r="r" b="b"/>
            <a:pathLst>
              <a:path w="257175" h="554355">
                <a:moveTo>
                  <a:pt x="0" y="0"/>
                </a:moveTo>
                <a:lnTo>
                  <a:pt x="257175" y="554037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4503802" y="3468114"/>
            <a:ext cx="365125" cy="811107"/>
          </a:xfrm>
          <a:custGeom>
            <a:avLst/>
            <a:gdLst/>
            <a:ahLst/>
            <a:cxnLst/>
            <a:rect l="l" t="t" r="r" b="b"/>
            <a:pathLst>
              <a:path w="365125" h="608330">
                <a:moveTo>
                  <a:pt x="0" y="0"/>
                </a:moveTo>
                <a:lnTo>
                  <a:pt x="365125" y="6080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86481" y="2589276"/>
            <a:ext cx="1333881" cy="774873"/>
          </a:xfrm>
          <a:custGeom>
            <a:avLst/>
            <a:gdLst/>
            <a:ahLst/>
            <a:cxnLst/>
            <a:rect l="l" t="t" r="r" b="b"/>
            <a:pathLst>
              <a:path w="1271904" h="504825">
                <a:moveTo>
                  <a:pt x="0" y="0"/>
                </a:moveTo>
                <a:lnTo>
                  <a:pt x="1271587" y="5048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 flipH="1">
            <a:off x="1205101" y="4375612"/>
            <a:ext cx="45719" cy="909789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32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 flipH="1">
            <a:off x="1999106" y="4367391"/>
            <a:ext cx="45719" cy="882449"/>
          </a:xfrm>
          <a:custGeom>
            <a:avLst/>
            <a:gdLst/>
            <a:ahLst/>
            <a:cxnLst/>
            <a:rect l="l" t="t" r="r" b="b"/>
            <a:pathLst>
              <a:path h="603250">
                <a:moveTo>
                  <a:pt x="0" y="0"/>
                </a:moveTo>
                <a:lnTo>
                  <a:pt x="0" y="603250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186809" y="4481068"/>
            <a:ext cx="14604" cy="878840"/>
          </a:xfrm>
          <a:custGeom>
            <a:avLst/>
            <a:gdLst/>
            <a:ahLst/>
            <a:cxnLst/>
            <a:rect l="l" t="t" r="r" b="b"/>
            <a:pathLst>
              <a:path w="14604" h="659129">
                <a:moveTo>
                  <a:pt x="14287" y="0"/>
                </a:moveTo>
                <a:lnTo>
                  <a:pt x="0" y="6588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 txBox="1"/>
          <p:nvPr/>
        </p:nvSpPr>
        <p:spPr>
          <a:xfrm>
            <a:off x="1210775" y="3664238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767017" y="1887385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1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018088" y="4723254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691912" y="3637722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3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916804" y="4445507"/>
            <a:ext cx="12700" cy="878840"/>
          </a:xfrm>
          <a:custGeom>
            <a:avLst/>
            <a:gdLst/>
            <a:ahLst/>
            <a:cxnLst/>
            <a:rect l="l" t="t" r="r" b="b"/>
            <a:pathLst>
              <a:path w="12700" h="659129">
                <a:moveTo>
                  <a:pt x="12700" y="0"/>
                </a:moveTo>
                <a:lnTo>
                  <a:pt x="0" y="658812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2915816" y="1693723"/>
            <a:ext cx="209154" cy="22310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3013329" y="1921396"/>
            <a:ext cx="0" cy="571500"/>
          </a:xfrm>
          <a:custGeom>
            <a:avLst/>
            <a:gdLst/>
            <a:ahLst/>
            <a:cxnLst/>
            <a:rect l="l" t="t" r="r" b="b"/>
            <a:pathLst>
              <a:path h="428625">
                <a:moveTo>
                  <a:pt x="0" y="0"/>
                </a:moveTo>
                <a:lnTo>
                  <a:pt x="0" y="428625"/>
                </a:lnTo>
              </a:path>
            </a:pathLst>
          </a:custGeom>
          <a:ln w="2514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5913484" y="1451775"/>
            <a:ext cx="1201420" cy="0"/>
          </a:xfrm>
          <a:custGeom>
            <a:avLst/>
            <a:gdLst/>
            <a:ahLst/>
            <a:cxnLst/>
            <a:rect l="l" t="t" r="r" b="b"/>
            <a:pathLst>
              <a:path w="1201420">
                <a:moveTo>
                  <a:pt x="0" y="0"/>
                </a:moveTo>
                <a:lnTo>
                  <a:pt x="1200912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5913484" y="1451775"/>
            <a:ext cx="0" cy="1307253"/>
          </a:xfrm>
          <a:custGeom>
            <a:avLst/>
            <a:gdLst/>
            <a:ahLst/>
            <a:cxnLst/>
            <a:rect l="l" t="t" r="r" b="b"/>
            <a:pathLst>
              <a:path h="980440">
                <a:moveTo>
                  <a:pt x="0" y="0"/>
                </a:moveTo>
                <a:lnTo>
                  <a:pt x="0" y="979932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5913484" y="2322488"/>
            <a:ext cx="801370" cy="364067"/>
          </a:xfrm>
          <a:custGeom>
            <a:avLst/>
            <a:gdLst/>
            <a:ahLst/>
            <a:cxnLst/>
            <a:rect l="l" t="t" r="r" b="b"/>
            <a:pathLst>
              <a:path w="801370" h="273050">
                <a:moveTo>
                  <a:pt x="0" y="272796"/>
                </a:moveTo>
                <a:lnTo>
                  <a:pt x="800862" y="0"/>
                </a:lnTo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6714346" y="1451775"/>
            <a:ext cx="400050" cy="871220"/>
          </a:xfrm>
          <a:custGeom>
            <a:avLst/>
            <a:gdLst/>
            <a:ahLst/>
            <a:cxnLst/>
            <a:rect l="l" t="t" r="r" b="b"/>
            <a:pathLst>
              <a:path w="400050" h="653415">
                <a:moveTo>
                  <a:pt x="0" y="653034"/>
                </a:moveTo>
                <a:lnTo>
                  <a:pt x="400050" y="0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5908150" y="1432473"/>
            <a:ext cx="802005" cy="871220"/>
          </a:xfrm>
          <a:custGeom>
            <a:avLst/>
            <a:gdLst/>
            <a:ahLst/>
            <a:cxnLst/>
            <a:rect l="l" t="t" r="r" b="b"/>
            <a:pathLst>
              <a:path w="802004" h="653415">
                <a:moveTo>
                  <a:pt x="0" y="0"/>
                </a:moveTo>
                <a:lnTo>
                  <a:pt x="801624" y="653034"/>
                </a:lnTo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5913485" y="1451778"/>
            <a:ext cx="1320165" cy="1489287"/>
          </a:xfrm>
          <a:custGeom>
            <a:avLst/>
            <a:gdLst/>
            <a:ahLst/>
            <a:cxnLst/>
            <a:rect l="l" t="t" r="r" b="b"/>
            <a:pathLst>
              <a:path w="1320164" h="1116965">
                <a:moveTo>
                  <a:pt x="0" y="925702"/>
                </a:moveTo>
                <a:lnTo>
                  <a:pt x="35642" y="950890"/>
                </a:lnTo>
                <a:lnTo>
                  <a:pt x="72052" y="975697"/>
                </a:lnTo>
                <a:lnTo>
                  <a:pt x="109880" y="999633"/>
                </a:lnTo>
                <a:lnTo>
                  <a:pt x="149777" y="1022203"/>
                </a:lnTo>
                <a:lnTo>
                  <a:pt x="192393" y="1042917"/>
                </a:lnTo>
                <a:lnTo>
                  <a:pt x="238379" y="1061280"/>
                </a:lnTo>
                <a:lnTo>
                  <a:pt x="288386" y="1076801"/>
                </a:lnTo>
                <a:lnTo>
                  <a:pt x="343065" y="1088986"/>
                </a:lnTo>
                <a:lnTo>
                  <a:pt x="387334" y="1096241"/>
                </a:lnTo>
                <a:lnTo>
                  <a:pt x="436208" y="1102775"/>
                </a:lnTo>
                <a:lnTo>
                  <a:pt x="488664" y="1108345"/>
                </a:lnTo>
                <a:lnTo>
                  <a:pt x="543678" y="1112708"/>
                </a:lnTo>
                <a:lnTo>
                  <a:pt x="600226" y="1115621"/>
                </a:lnTo>
                <a:lnTo>
                  <a:pt x="657286" y="1116838"/>
                </a:lnTo>
                <a:lnTo>
                  <a:pt x="713833" y="1116118"/>
                </a:lnTo>
                <a:lnTo>
                  <a:pt x="768846" y="1113216"/>
                </a:lnTo>
                <a:lnTo>
                  <a:pt x="821300" y="1107889"/>
                </a:lnTo>
                <a:lnTo>
                  <a:pt x="870171" y="1099894"/>
                </a:lnTo>
                <a:lnTo>
                  <a:pt x="914438" y="1088986"/>
                </a:lnTo>
                <a:lnTo>
                  <a:pt x="964197" y="1070906"/>
                </a:lnTo>
                <a:lnTo>
                  <a:pt x="1011580" y="1047677"/>
                </a:lnTo>
                <a:lnTo>
                  <a:pt x="1056356" y="1020198"/>
                </a:lnTo>
                <a:lnTo>
                  <a:pt x="1098299" y="989370"/>
                </a:lnTo>
                <a:lnTo>
                  <a:pt x="1137179" y="956090"/>
                </a:lnTo>
                <a:lnTo>
                  <a:pt x="1172768" y="921258"/>
                </a:lnTo>
                <a:lnTo>
                  <a:pt x="1204837" y="885774"/>
                </a:lnTo>
                <a:lnTo>
                  <a:pt x="1233158" y="850536"/>
                </a:lnTo>
                <a:lnTo>
                  <a:pt x="1257503" y="816444"/>
                </a:lnTo>
                <a:lnTo>
                  <a:pt x="1282230" y="774095"/>
                </a:lnTo>
                <a:lnTo>
                  <a:pt x="1299786" y="731851"/>
                </a:lnTo>
                <a:lnTo>
                  <a:pt x="1311187" y="688788"/>
                </a:lnTo>
                <a:lnTo>
                  <a:pt x="1317446" y="643982"/>
                </a:lnTo>
                <a:lnTo>
                  <a:pt x="1319580" y="596509"/>
                </a:lnTo>
                <a:lnTo>
                  <a:pt x="1318602" y="545444"/>
                </a:lnTo>
                <a:lnTo>
                  <a:pt x="1315529" y="489864"/>
                </a:lnTo>
                <a:lnTo>
                  <a:pt x="1311600" y="447944"/>
                </a:lnTo>
                <a:lnTo>
                  <a:pt x="1305288" y="403762"/>
                </a:lnTo>
                <a:lnTo>
                  <a:pt x="1296855" y="357578"/>
                </a:lnTo>
                <a:lnTo>
                  <a:pt x="1286568" y="309650"/>
                </a:lnTo>
                <a:lnTo>
                  <a:pt x="1274692" y="260238"/>
                </a:lnTo>
                <a:lnTo>
                  <a:pt x="1261492" y="209602"/>
                </a:lnTo>
                <a:lnTo>
                  <a:pt x="1247232" y="158001"/>
                </a:lnTo>
                <a:lnTo>
                  <a:pt x="1232178" y="105694"/>
                </a:lnTo>
                <a:lnTo>
                  <a:pt x="1216594" y="52940"/>
                </a:lnTo>
                <a:lnTo>
                  <a:pt x="1200746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5842618" y="2519592"/>
            <a:ext cx="193547" cy="25603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5783944" y="1284136"/>
            <a:ext cx="201167" cy="25603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6576425" y="2157896"/>
            <a:ext cx="201929" cy="25603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7038197" y="1360336"/>
            <a:ext cx="200405" cy="26111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 txBox="1"/>
          <p:nvPr/>
        </p:nvSpPr>
        <p:spPr>
          <a:xfrm>
            <a:off x="6501549" y="1110723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5</a:t>
            </a:r>
            <a:endParaRPr sz="20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209995" y="2166983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7</a:t>
            </a:r>
            <a:endParaRPr sz="20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5707324" y="1939627"/>
            <a:ext cx="1670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Arial"/>
                <a:cs typeface="Arial"/>
              </a:rPr>
              <a:t>9</a:t>
            </a:r>
            <a:endParaRPr sz="200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5707323" y="1148277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7137943" y="1092453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2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5827091" y="2656881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417812" y="1533295"/>
            <a:ext cx="660400" cy="1061188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75"/>
              </a:spcBef>
              <a:tabLst>
                <a:tab pos="363220" algn="l"/>
              </a:tabLst>
            </a:pPr>
            <a:r>
              <a:rPr sz="2000" spc="-5" dirty="0">
                <a:latin typeface="Arial"/>
                <a:cs typeface="Arial"/>
              </a:rPr>
              <a:t>4	2</a:t>
            </a:r>
            <a:endParaRPr sz="2000">
              <a:latin typeface="Arial"/>
              <a:cs typeface="Arial"/>
            </a:endParaRPr>
          </a:p>
          <a:p>
            <a:pPr marL="387350">
              <a:lnSpc>
                <a:spcPts val="2305"/>
              </a:lnSpc>
              <a:spcBef>
                <a:spcPts val="580"/>
              </a:spcBef>
            </a:pPr>
            <a:r>
              <a:rPr sz="2000" b="1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  <a:p>
            <a:pPr marL="365125">
              <a:lnSpc>
                <a:spcPts val="2305"/>
              </a:lnSpc>
            </a:pPr>
            <a:r>
              <a:rPr sz="2000" spc="-10" dirty="0">
                <a:latin typeface="Arial"/>
                <a:cs typeface="Arial"/>
              </a:rPr>
              <a:t>1</a:t>
            </a:r>
            <a:r>
              <a:rPr sz="2000" spc="-5" dirty="0">
                <a:latin typeface="Arial"/>
                <a:cs typeface="Arial"/>
              </a:rPr>
              <a:t>3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1459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23728" y="439152"/>
            <a:ext cx="540965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实例运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67544" y="1117938"/>
            <a:ext cx="8208912" cy="4539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宋体"/>
                <a:cs typeface="宋体"/>
              </a:rPr>
              <a:t>深度优先</a:t>
            </a:r>
            <a:r>
              <a:rPr sz="2800" b="1" dirty="0">
                <a:latin typeface="宋体"/>
                <a:cs typeface="宋体"/>
              </a:rPr>
              <a:t>遍</a:t>
            </a:r>
            <a:r>
              <a:rPr sz="2800" b="1" spc="5" dirty="0">
                <a:latin typeface="宋体"/>
                <a:cs typeface="宋体"/>
              </a:rPr>
              <a:t>历</a:t>
            </a:r>
            <a:r>
              <a:rPr sz="2800" b="1" dirty="0">
                <a:latin typeface="宋体"/>
                <a:cs typeface="宋体"/>
              </a:rPr>
              <a:t>搜索</a:t>
            </a:r>
            <a:r>
              <a:rPr sz="2800" b="1" spc="-10" dirty="0">
                <a:latin typeface="宋体"/>
                <a:cs typeface="宋体"/>
              </a:rPr>
              <a:t>树</a:t>
            </a:r>
            <a:endParaRPr sz="2800" dirty="0">
              <a:latin typeface="宋体"/>
              <a:cs typeface="宋体"/>
            </a:endParaRPr>
          </a:p>
          <a:p>
            <a:pPr marL="469900" indent="-3429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宋体"/>
                <a:cs typeface="宋体"/>
              </a:rPr>
              <a:t>第一个界</a:t>
            </a:r>
            <a:r>
              <a:rPr sz="2800" b="1" dirty="0">
                <a:latin typeface="Calibri"/>
                <a:cs typeface="Calibri"/>
              </a:rPr>
              <a:t>:</a:t>
            </a:r>
            <a:r>
              <a:rPr sz="2800" b="1" spc="-15" dirty="0">
                <a:latin typeface="Calibri"/>
                <a:cs typeface="Calibri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&lt;1,2,3,4&gt;</a:t>
            </a:r>
            <a:r>
              <a:rPr sz="2800" b="1" spc="-5" dirty="0">
                <a:latin typeface="宋体"/>
                <a:cs typeface="宋体"/>
              </a:rPr>
              <a:t>，长度</a:t>
            </a:r>
            <a:r>
              <a:rPr sz="2800" b="1" spc="-10" dirty="0">
                <a:latin typeface="宋体"/>
                <a:cs typeface="宋体"/>
              </a:rPr>
              <a:t>为</a:t>
            </a:r>
            <a:r>
              <a:rPr sz="2800" b="1" spc="-61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29</a:t>
            </a:r>
            <a:endParaRPr sz="2800" dirty="0">
              <a:latin typeface="Times New Roman"/>
              <a:cs typeface="Times New Roman"/>
            </a:endParaRPr>
          </a:p>
          <a:p>
            <a:pPr marL="469900" indent="-342900">
              <a:lnSpc>
                <a:spcPct val="100000"/>
              </a:lnSpc>
              <a:spcBef>
                <a:spcPts val="55"/>
              </a:spcBef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宋体"/>
                <a:cs typeface="宋体"/>
              </a:rPr>
              <a:t>第二个界</a:t>
            </a:r>
            <a:r>
              <a:rPr sz="2800" b="1" dirty="0">
                <a:latin typeface="Times New Roman"/>
                <a:cs typeface="Times New Roman"/>
              </a:rPr>
              <a:t>:</a:t>
            </a:r>
            <a:r>
              <a:rPr sz="2800" b="1" spc="-5" dirty="0">
                <a:latin typeface="Times New Roman"/>
                <a:cs typeface="Times New Roman"/>
              </a:rPr>
              <a:t> &lt;1,2,4,3&gt;</a:t>
            </a:r>
            <a:r>
              <a:rPr sz="2800" b="1" spc="-5" dirty="0">
                <a:latin typeface="宋体"/>
                <a:cs typeface="宋体"/>
              </a:rPr>
              <a:t>，长度</a:t>
            </a:r>
            <a:r>
              <a:rPr sz="2800" b="1" spc="-10" dirty="0">
                <a:latin typeface="宋体"/>
                <a:cs typeface="宋体"/>
              </a:rPr>
              <a:t>为</a:t>
            </a:r>
            <a:r>
              <a:rPr sz="2800" b="1" spc="-62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23</a:t>
            </a:r>
            <a:endParaRPr sz="2800" dirty="0">
              <a:latin typeface="Times New Roman"/>
              <a:cs typeface="Times New Roman"/>
            </a:endParaRPr>
          </a:p>
          <a:p>
            <a:pPr marL="469900" marR="185420" indent="-3429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宋体"/>
                <a:cs typeface="宋体"/>
              </a:rPr>
              <a:t>结</a:t>
            </a:r>
            <a:r>
              <a:rPr sz="2800" b="1" spc="-10" dirty="0">
                <a:latin typeface="宋体"/>
                <a:cs typeface="宋体"/>
              </a:rPr>
              <a:t>点</a:t>
            </a:r>
            <a:r>
              <a:rPr sz="2800" b="1" spc="-62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&lt;1,3,2&gt;: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代价函数</a:t>
            </a:r>
            <a:r>
              <a:rPr sz="2800" b="1" spc="-10" dirty="0">
                <a:latin typeface="宋体"/>
                <a:cs typeface="宋体"/>
              </a:rPr>
              <a:t>值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26&gt;23</a:t>
            </a:r>
            <a:r>
              <a:rPr sz="2800" b="1" spc="-5" dirty="0" smtClean="0">
                <a:latin typeface="宋体"/>
                <a:cs typeface="宋体"/>
              </a:rPr>
              <a:t>，不再搜索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宋体"/>
                <a:cs typeface="宋体"/>
              </a:rPr>
              <a:t>返回</a:t>
            </a:r>
            <a:r>
              <a:rPr sz="2800" b="1" spc="-5" dirty="0">
                <a:latin typeface="Times New Roman"/>
                <a:cs typeface="Times New Roman"/>
              </a:rPr>
              <a:t>&lt;1,3&gt;,</a:t>
            </a:r>
            <a:r>
              <a:rPr sz="2800" b="1" spc="-5" dirty="0">
                <a:latin typeface="宋体"/>
                <a:cs typeface="宋体"/>
              </a:rPr>
              <a:t>右子树</a:t>
            </a:r>
            <a:r>
              <a:rPr sz="2800" b="1" dirty="0">
                <a:latin typeface="宋体"/>
                <a:cs typeface="宋体"/>
              </a:rPr>
              <a:t>向</a:t>
            </a:r>
            <a:r>
              <a:rPr sz="2800" b="1" spc="-10" dirty="0">
                <a:latin typeface="宋体"/>
                <a:cs typeface="宋体"/>
              </a:rPr>
              <a:t>下</a:t>
            </a:r>
            <a:endParaRPr sz="2800" dirty="0">
              <a:latin typeface="宋体"/>
              <a:cs typeface="宋体"/>
            </a:endParaRPr>
          </a:p>
          <a:p>
            <a:pPr marL="469900" indent="-3429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宋体"/>
                <a:cs typeface="宋体"/>
              </a:rPr>
              <a:t>结点</a:t>
            </a:r>
            <a:r>
              <a:rPr sz="2800" b="1" spc="-5" dirty="0">
                <a:latin typeface="Times New Roman"/>
                <a:cs typeface="Times New Roman"/>
              </a:rPr>
              <a:t>&lt;1,3,4&gt;</a:t>
            </a:r>
            <a:r>
              <a:rPr sz="2800" b="1" spc="-5" dirty="0">
                <a:latin typeface="宋体"/>
                <a:cs typeface="宋体"/>
              </a:rPr>
              <a:t>，代价</a:t>
            </a:r>
            <a:r>
              <a:rPr sz="2800" b="1" dirty="0">
                <a:latin typeface="宋体"/>
                <a:cs typeface="宋体"/>
              </a:rPr>
              <a:t>函数</a:t>
            </a:r>
            <a:r>
              <a:rPr sz="2800" b="1" spc="-10" dirty="0">
                <a:latin typeface="宋体"/>
                <a:cs typeface="宋体"/>
              </a:rPr>
              <a:t>值</a:t>
            </a:r>
            <a:endParaRPr sz="2800" dirty="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  <a:tabLst>
                <a:tab pos="2304415" algn="l"/>
              </a:tabLst>
            </a:pPr>
            <a:r>
              <a:rPr sz="2800" b="1" spc="-5" dirty="0">
                <a:latin typeface="Times New Roman"/>
                <a:cs typeface="Times New Roman"/>
              </a:rPr>
              <a:t>9+7+2+2=20,	</a:t>
            </a:r>
            <a:r>
              <a:rPr sz="2800" b="1" spc="-5" dirty="0">
                <a:latin typeface="宋体"/>
                <a:cs typeface="宋体"/>
              </a:rPr>
              <a:t>继续，</a:t>
            </a:r>
            <a:r>
              <a:rPr sz="2800" b="1" dirty="0">
                <a:latin typeface="宋体"/>
                <a:cs typeface="宋体"/>
              </a:rPr>
              <a:t>得到可行解</a:t>
            </a:r>
            <a:endParaRPr sz="2800" dirty="0">
              <a:latin typeface="宋体"/>
              <a:cs typeface="宋体"/>
            </a:endParaRPr>
          </a:p>
          <a:p>
            <a:pPr marL="469900">
              <a:lnSpc>
                <a:spcPct val="100000"/>
              </a:lnSpc>
            </a:pPr>
            <a:r>
              <a:rPr sz="2800" b="1" spc="-5" dirty="0">
                <a:latin typeface="Times New Roman"/>
                <a:cs typeface="Times New Roman"/>
              </a:rPr>
              <a:t>&lt;1,3,4,2&gt;</a:t>
            </a:r>
            <a:r>
              <a:rPr sz="2800" b="1" spc="-5" dirty="0">
                <a:latin typeface="宋体"/>
                <a:cs typeface="宋体"/>
              </a:rPr>
              <a:t>，长</a:t>
            </a:r>
            <a:r>
              <a:rPr sz="2800" b="1" spc="-10" dirty="0">
                <a:latin typeface="宋体"/>
                <a:cs typeface="宋体"/>
              </a:rPr>
              <a:t>度</a:t>
            </a:r>
            <a:r>
              <a:rPr sz="2800" b="1" spc="-60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23.</a:t>
            </a:r>
            <a:endParaRPr sz="2800" dirty="0">
              <a:latin typeface="Times New Roman"/>
              <a:cs typeface="Times New Roman"/>
            </a:endParaRPr>
          </a:p>
          <a:p>
            <a:pPr marL="469900" indent="-342900">
              <a:lnSpc>
                <a:spcPct val="100000"/>
              </a:lnSpc>
              <a:buFont typeface="Arial"/>
              <a:buChar char="•"/>
              <a:tabLst>
                <a:tab pos="469265" algn="l"/>
                <a:tab pos="469900" algn="l"/>
              </a:tabLst>
            </a:pPr>
            <a:r>
              <a:rPr sz="2800" b="1" spc="-5" dirty="0">
                <a:latin typeface="宋体"/>
                <a:cs typeface="宋体"/>
              </a:rPr>
              <a:t>回溯到结点</a:t>
            </a:r>
            <a:r>
              <a:rPr sz="2800" b="1" dirty="0">
                <a:latin typeface="Times New Roman"/>
                <a:cs typeface="Times New Roman"/>
              </a:rPr>
              <a:t>&lt;1&gt;</a:t>
            </a:r>
            <a:r>
              <a:rPr sz="2800" b="1" dirty="0">
                <a:latin typeface="宋体"/>
                <a:cs typeface="宋体"/>
              </a:rPr>
              <a:t>，</a:t>
            </a:r>
            <a:r>
              <a:rPr sz="2800" b="1" spc="-5" dirty="0">
                <a:latin typeface="宋体"/>
                <a:cs typeface="宋体"/>
              </a:rPr>
              <a:t>沿</a:t>
            </a:r>
            <a:r>
              <a:rPr sz="2800" b="1" dirty="0">
                <a:latin typeface="Times New Roman"/>
                <a:cs typeface="Times New Roman"/>
              </a:rPr>
              <a:t>&lt;1,4&gt;</a:t>
            </a:r>
            <a:r>
              <a:rPr sz="2800" b="1" spc="-5" dirty="0">
                <a:latin typeface="宋体"/>
                <a:cs typeface="宋体"/>
              </a:rPr>
              <a:t>向下</a:t>
            </a:r>
            <a:r>
              <a:rPr sz="2800" b="1" dirty="0">
                <a:latin typeface="Times New Roman"/>
                <a:cs typeface="Times New Roman"/>
              </a:rPr>
              <a:t>...</a:t>
            </a:r>
            <a:endParaRPr sz="2800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639"/>
              </a:spcBef>
              <a:tabLst>
                <a:tab pos="5003165" algn="l"/>
              </a:tabLst>
            </a:pPr>
            <a:r>
              <a:rPr sz="2800" b="1" spc="-5" dirty="0">
                <a:latin typeface="宋体"/>
                <a:cs typeface="宋体"/>
              </a:rPr>
              <a:t>最优解</a:t>
            </a:r>
            <a:r>
              <a:rPr sz="2800" b="1" spc="-5" dirty="0">
                <a:latin typeface="Times New Roman"/>
                <a:cs typeface="Times New Roman"/>
              </a:rPr>
              <a:t>&lt;1,2,4,3&gt;</a:t>
            </a:r>
            <a:r>
              <a:rPr sz="2800" b="1" spc="-5" dirty="0">
                <a:latin typeface="宋体"/>
                <a:cs typeface="宋体"/>
              </a:rPr>
              <a:t>或</a:t>
            </a:r>
            <a:r>
              <a:rPr sz="2800" b="1" spc="-5" dirty="0">
                <a:latin typeface="Times New Roman"/>
                <a:cs typeface="Times New Roman"/>
              </a:rPr>
              <a:t>&lt;1,3,4,2&gt;</a:t>
            </a:r>
            <a:r>
              <a:rPr sz="2800" b="1" spc="-5" dirty="0">
                <a:latin typeface="宋体"/>
                <a:cs typeface="宋体"/>
              </a:rPr>
              <a:t>，长度</a:t>
            </a:r>
            <a:r>
              <a:rPr sz="2800" b="1" dirty="0">
                <a:latin typeface="Times New Roman"/>
                <a:cs typeface="Times New Roman"/>
              </a:rPr>
              <a:t>23	</a:t>
            </a:r>
            <a:endParaRPr sz="2800" baseline="-2006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3476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12340" y="554236"/>
            <a:ext cx="523592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算法分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析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1" y="1635082"/>
            <a:ext cx="8148899" cy="23211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276225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>
                <a:latin typeface="宋体"/>
                <a:cs typeface="宋体"/>
              </a:rPr>
              <a:t>搜索树的</a:t>
            </a:r>
            <a:r>
              <a:rPr sz="2800" b="1" dirty="0">
                <a:latin typeface="宋体"/>
                <a:cs typeface="宋体"/>
              </a:rPr>
              <a:t>树</a:t>
            </a:r>
            <a:r>
              <a:rPr sz="2800" b="1" spc="5" dirty="0">
                <a:latin typeface="宋体"/>
                <a:cs typeface="宋体"/>
              </a:rPr>
              <a:t>叶</a:t>
            </a:r>
            <a:r>
              <a:rPr sz="2800" b="1" dirty="0">
                <a:latin typeface="宋体"/>
                <a:cs typeface="宋体"/>
              </a:rPr>
              <a:t>个数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Times New Roman"/>
                <a:cs typeface="Times New Roman"/>
              </a:rPr>
              <a:t>(</a:t>
            </a:r>
            <a:r>
              <a:rPr sz="2800" b="1" i="1" spc="-10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)!)</a:t>
            </a:r>
            <a:r>
              <a:rPr sz="2800" b="1" spc="-10" dirty="0">
                <a:latin typeface="宋体"/>
                <a:cs typeface="宋体"/>
              </a:rPr>
              <a:t>， </a:t>
            </a:r>
            <a:r>
              <a:rPr sz="2800" b="1" spc="-5" dirty="0">
                <a:latin typeface="宋体"/>
                <a:cs typeface="宋体"/>
              </a:rPr>
              <a:t>每片树叶</a:t>
            </a:r>
            <a:r>
              <a:rPr sz="2800" b="1" dirty="0">
                <a:latin typeface="宋体"/>
                <a:cs typeface="宋体"/>
              </a:rPr>
              <a:t>对</a:t>
            </a:r>
            <a:r>
              <a:rPr sz="2800" b="1" spc="-10" dirty="0">
                <a:latin typeface="宋体"/>
                <a:cs typeface="宋体"/>
              </a:rPr>
              <a:t>应</a:t>
            </a:r>
            <a:r>
              <a:rPr sz="2800" b="1" spc="-62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40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宋体"/>
                <a:cs typeface="宋体"/>
              </a:rPr>
              <a:t>条路径，</a:t>
            </a:r>
            <a:r>
              <a:rPr sz="2800" b="1" dirty="0" err="1" smtClean="0">
                <a:latin typeface="宋体"/>
                <a:cs typeface="宋体"/>
              </a:rPr>
              <a:t>每条</a:t>
            </a:r>
            <a:r>
              <a:rPr sz="2800" b="1" spc="-10" dirty="0" err="1" smtClean="0">
                <a:latin typeface="宋体"/>
                <a:cs typeface="宋体"/>
              </a:rPr>
              <a:t>路</a:t>
            </a:r>
            <a:r>
              <a:rPr sz="2800" b="1" spc="-5" dirty="0" err="1" smtClean="0">
                <a:latin typeface="宋体"/>
                <a:cs typeface="宋体"/>
              </a:rPr>
              <a:t>径</a:t>
            </a:r>
            <a:r>
              <a:rPr sz="2800" b="1" spc="-10" dirty="0" err="1" smtClean="0">
                <a:latin typeface="宋体"/>
                <a:cs typeface="宋体"/>
              </a:rPr>
              <a:t>有</a:t>
            </a:r>
            <a:r>
              <a:rPr sz="2800" b="1" spc="-600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 </a:t>
            </a:r>
            <a:r>
              <a:rPr sz="2800" b="1" spc="-5" dirty="0">
                <a:latin typeface="宋体"/>
                <a:cs typeface="宋体"/>
              </a:rPr>
              <a:t>个结点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 err="1">
                <a:latin typeface="宋体"/>
                <a:cs typeface="宋体"/>
              </a:rPr>
              <a:t>每个结点</a:t>
            </a:r>
            <a:r>
              <a:rPr sz="2800" b="1" dirty="0" err="1">
                <a:latin typeface="宋体"/>
                <a:cs typeface="宋体"/>
              </a:rPr>
              <a:t>代</a:t>
            </a:r>
            <a:r>
              <a:rPr sz="2800" b="1" spc="5" dirty="0" err="1">
                <a:latin typeface="宋体"/>
                <a:cs typeface="宋体"/>
              </a:rPr>
              <a:t>价</a:t>
            </a:r>
            <a:r>
              <a:rPr sz="2800" b="1" dirty="0" err="1">
                <a:latin typeface="宋体"/>
                <a:cs typeface="宋体"/>
              </a:rPr>
              <a:t>函数计算时间</a:t>
            </a:r>
            <a:r>
              <a:rPr sz="2800" b="1" i="1" spc="-5" dirty="0" err="1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5" dirty="0" smtClean="0">
                <a:latin typeface="Times New Roman"/>
                <a:cs typeface="Times New Roman"/>
              </a:rPr>
              <a:t>)</a:t>
            </a:r>
            <a:r>
              <a:rPr sz="2800" b="1" spc="-10" dirty="0" smtClean="0">
                <a:latin typeface="宋体"/>
                <a:cs typeface="宋体"/>
              </a:rPr>
              <a:t>，</a:t>
            </a:r>
            <a:r>
              <a:rPr sz="2800" b="1" spc="-5" dirty="0" err="1" smtClean="0">
                <a:latin typeface="宋体"/>
                <a:cs typeface="宋体"/>
              </a:rPr>
              <a:t>每条路径</a:t>
            </a:r>
            <a:r>
              <a:rPr sz="2800" b="1" dirty="0" err="1" smtClean="0">
                <a:latin typeface="宋体"/>
                <a:cs typeface="宋体"/>
              </a:rPr>
              <a:t>的</a:t>
            </a:r>
            <a:r>
              <a:rPr sz="2800" b="1" spc="5" dirty="0" err="1" smtClean="0">
                <a:latin typeface="宋体"/>
                <a:cs typeface="宋体"/>
              </a:rPr>
              <a:t>计</a:t>
            </a:r>
            <a:r>
              <a:rPr sz="2800" b="1" dirty="0" err="1" smtClean="0">
                <a:latin typeface="宋体"/>
                <a:cs typeface="宋体"/>
              </a:rPr>
              <a:t>算时间</a:t>
            </a:r>
            <a:r>
              <a:rPr sz="2800" b="1" spc="-10" dirty="0" err="1" smtClean="0">
                <a:latin typeface="宋体"/>
                <a:cs typeface="宋体"/>
              </a:rPr>
              <a:t>为</a:t>
            </a:r>
            <a:r>
              <a:rPr sz="2800" b="1" spc="-585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355600" indent="-342900" algn="just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>
                <a:latin typeface="宋体"/>
                <a:cs typeface="宋体"/>
              </a:rPr>
              <a:t>最坏情况</a:t>
            </a:r>
            <a:r>
              <a:rPr sz="2800" b="1" dirty="0">
                <a:latin typeface="宋体"/>
                <a:cs typeface="宋体"/>
              </a:rPr>
              <a:t>下</a:t>
            </a:r>
            <a:r>
              <a:rPr sz="2800" b="1" spc="5" dirty="0">
                <a:latin typeface="宋体"/>
                <a:cs typeface="宋体"/>
              </a:rPr>
              <a:t>算</a:t>
            </a:r>
            <a:r>
              <a:rPr sz="2800" b="1" dirty="0">
                <a:latin typeface="宋体"/>
                <a:cs typeface="宋体"/>
              </a:rPr>
              <a:t>法的时</a:t>
            </a:r>
            <a:r>
              <a:rPr sz="2800" b="1" spc="-10" dirty="0">
                <a:latin typeface="宋体"/>
                <a:cs typeface="宋体"/>
              </a:rPr>
              <a:t>间</a:t>
            </a:r>
            <a:r>
              <a:rPr sz="2800" b="1" spc="-58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!)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01793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11858" y="483328"/>
            <a:ext cx="460841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1" y="1537716"/>
            <a:ext cx="8369115" cy="2425151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271780" indent="-259079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271145" algn="l"/>
                <a:tab pos="271780" algn="l"/>
              </a:tabLst>
            </a:pPr>
            <a:r>
              <a:rPr sz="2800" b="1" spc="-5" dirty="0">
                <a:latin typeface="宋体"/>
                <a:cs typeface="宋体"/>
              </a:rPr>
              <a:t>货郎问题</a:t>
            </a:r>
            <a:r>
              <a:rPr sz="2800" b="1" dirty="0">
                <a:latin typeface="宋体"/>
                <a:cs typeface="宋体"/>
              </a:rPr>
              <a:t>的</a:t>
            </a:r>
            <a:r>
              <a:rPr sz="2800" b="1" spc="5" dirty="0">
                <a:latin typeface="宋体"/>
                <a:cs typeface="宋体"/>
              </a:rPr>
              <a:t>分</a:t>
            </a:r>
            <a:r>
              <a:rPr sz="2800" b="1" dirty="0">
                <a:latin typeface="宋体"/>
                <a:cs typeface="宋体"/>
              </a:rPr>
              <a:t>支限界算法：</a:t>
            </a:r>
            <a:endParaRPr sz="2800" dirty="0">
              <a:latin typeface="宋体"/>
              <a:cs typeface="宋体"/>
            </a:endParaRPr>
          </a:p>
          <a:p>
            <a:pPr marL="317500" marR="5080">
              <a:lnSpc>
                <a:spcPct val="120800"/>
              </a:lnSpc>
            </a:pPr>
            <a:r>
              <a:rPr sz="2800" b="1" spc="-5" dirty="0" err="1">
                <a:latin typeface="宋体"/>
                <a:cs typeface="宋体"/>
              </a:rPr>
              <a:t>约束条件</a:t>
            </a:r>
            <a:r>
              <a:rPr sz="2800" b="1" dirty="0" err="1">
                <a:latin typeface="宋体"/>
                <a:cs typeface="宋体"/>
              </a:rPr>
              <a:t>：</a:t>
            </a:r>
            <a:r>
              <a:rPr sz="2800" b="1" spc="5" dirty="0" err="1">
                <a:latin typeface="宋体"/>
                <a:cs typeface="宋体"/>
              </a:rPr>
              <a:t>只</a:t>
            </a:r>
            <a:r>
              <a:rPr sz="2800" b="1" dirty="0" err="1">
                <a:latin typeface="宋体"/>
                <a:cs typeface="宋体"/>
              </a:rPr>
              <a:t>能选没有走过的结点</a:t>
            </a:r>
            <a:r>
              <a:rPr sz="2800" b="1" dirty="0">
                <a:latin typeface="宋体"/>
                <a:cs typeface="宋体"/>
              </a:rPr>
              <a:t> </a:t>
            </a:r>
            <a:endParaRPr lang="en-US" sz="2800" b="1" dirty="0" smtClean="0">
              <a:latin typeface="宋体"/>
              <a:cs typeface="宋体"/>
            </a:endParaRPr>
          </a:p>
          <a:p>
            <a:pPr marL="317500" marR="5080">
              <a:lnSpc>
                <a:spcPct val="120800"/>
              </a:lnSpc>
            </a:pPr>
            <a:r>
              <a:rPr sz="2800" b="1" spc="-5" dirty="0" err="1" smtClean="0">
                <a:latin typeface="宋体"/>
                <a:cs typeface="宋体"/>
              </a:rPr>
              <a:t>代价函数</a:t>
            </a:r>
            <a:r>
              <a:rPr sz="2800" b="1" dirty="0" err="1">
                <a:latin typeface="宋体"/>
                <a:cs typeface="宋体"/>
              </a:rPr>
              <a:t>：</a:t>
            </a:r>
            <a:r>
              <a:rPr sz="2800" b="1" spc="5" dirty="0" err="1">
                <a:latin typeface="宋体"/>
                <a:cs typeface="宋体"/>
              </a:rPr>
              <a:t>走</a:t>
            </a:r>
            <a:r>
              <a:rPr sz="2800" b="1" dirty="0" err="1">
                <a:latin typeface="宋体"/>
                <a:cs typeface="宋体"/>
              </a:rPr>
              <a:t>过长</a:t>
            </a:r>
            <a:r>
              <a:rPr sz="2800" b="1" spc="-5" dirty="0" err="1">
                <a:latin typeface="宋体"/>
                <a:cs typeface="宋体"/>
              </a:rPr>
              <a:t>度</a:t>
            </a:r>
            <a:r>
              <a:rPr sz="2800" b="1" dirty="0" err="1">
                <a:latin typeface="Times New Roman"/>
                <a:cs typeface="Times New Roman"/>
              </a:rPr>
              <a:t>+</a:t>
            </a:r>
            <a:r>
              <a:rPr sz="2800" b="1" dirty="0" err="1" smtClean="0">
                <a:latin typeface="宋体"/>
                <a:cs typeface="宋体"/>
              </a:rPr>
              <a:t>后续长度的</a:t>
            </a:r>
            <a:r>
              <a:rPr sz="2800" b="1" spc="-5" dirty="0" err="1" smtClean="0">
                <a:latin typeface="宋体"/>
                <a:cs typeface="宋体"/>
              </a:rPr>
              <a:t>下</a:t>
            </a:r>
            <a:r>
              <a:rPr sz="2800" b="1" spc="-10" dirty="0" err="1" smtClean="0">
                <a:latin typeface="宋体"/>
                <a:cs typeface="宋体"/>
              </a:rPr>
              <a:t>界</a:t>
            </a:r>
            <a:endParaRPr sz="2800" dirty="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800" dirty="0">
              <a:latin typeface="Times New Roman"/>
              <a:cs typeface="Times New Roman"/>
            </a:endParaRPr>
          </a:p>
          <a:p>
            <a:pPr marL="339725" lvl="1" indent="-259715">
              <a:lnSpc>
                <a:spcPct val="100000"/>
              </a:lnSpc>
              <a:buFont typeface="Arial"/>
              <a:buChar char="•"/>
              <a:tabLst>
                <a:tab pos="339725" algn="l"/>
                <a:tab pos="340360" algn="l"/>
                <a:tab pos="2125980" algn="l"/>
              </a:tabLst>
            </a:pPr>
            <a:r>
              <a:rPr sz="2800" b="1" spc="-5" dirty="0" err="1">
                <a:latin typeface="宋体"/>
                <a:cs typeface="宋体"/>
              </a:rPr>
              <a:t>时间复杂</a:t>
            </a:r>
            <a:r>
              <a:rPr sz="2800" b="1" dirty="0" err="1">
                <a:latin typeface="宋体"/>
                <a:cs typeface="宋体"/>
              </a:rPr>
              <a:t>度</a:t>
            </a:r>
            <a:r>
              <a:rPr sz="2800" b="1" dirty="0" err="1" smtClean="0">
                <a:latin typeface="Times New Roman"/>
                <a:cs typeface="Times New Roman"/>
              </a:rPr>
              <a:t>:</a:t>
            </a:r>
            <a:r>
              <a:rPr sz="2800" b="1" i="1" spc="-5" dirty="0" err="1" smtClean="0">
                <a:latin typeface="Times New Roman"/>
                <a:cs typeface="Times New Roman"/>
              </a:rPr>
              <a:t>O</a:t>
            </a:r>
            <a:r>
              <a:rPr sz="2800" b="1" spc="-5" dirty="0" smtClean="0">
                <a:latin typeface="Times New Roman"/>
                <a:cs typeface="Times New Roman"/>
              </a:rPr>
              <a:t>(</a:t>
            </a:r>
            <a:r>
              <a:rPr sz="2800" b="1" i="1" spc="-5" dirty="0" smtClean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!)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94379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51720" y="2616587"/>
            <a:ext cx="5472608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5" dirty="0">
                <a:latin typeface="黑体" pitchFamily="49" charset="-122"/>
                <a:ea typeface="黑体" pitchFamily="49" charset="-122"/>
              </a:rPr>
              <a:t>园排</a:t>
            </a:r>
            <a:r>
              <a:rPr sz="6600" spc="5" dirty="0">
                <a:latin typeface="黑体" pitchFamily="49" charset="-122"/>
                <a:ea typeface="黑体" pitchFamily="49" charset="-122"/>
              </a:rPr>
              <a:t>列</a:t>
            </a:r>
            <a:r>
              <a:rPr sz="6600" spc="-5" dirty="0">
                <a:latin typeface="黑体" pitchFamily="49" charset="-122"/>
                <a:ea typeface="黑体" pitchFamily="49" charset="-122"/>
              </a:rPr>
              <a:t>问</a:t>
            </a:r>
            <a:r>
              <a:rPr sz="6600" spc="-25" dirty="0">
                <a:latin typeface="黑体" pitchFamily="49" charset="-122"/>
                <a:ea typeface="黑体" pitchFamily="49" charset="-122"/>
              </a:rPr>
              <a:t>题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69269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90116" y="291425"/>
            <a:ext cx="628248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圆排列问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345440" y="1228681"/>
            <a:ext cx="8475032" cy="226530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0800" marR="85725" algn="just">
              <a:lnSpc>
                <a:spcPct val="99100"/>
              </a:lnSpc>
              <a:spcBef>
                <a:spcPts val="125"/>
              </a:spcBef>
            </a:pPr>
            <a:r>
              <a:rPr sz="2800" b="1" spc="-5" dirty="0">
                <a:latin typeface="宋体"/>
                <a:cs typeface="宋体"/>
              </a:rPr>
              <a:t>给定</a:t>
            </a:r>
            <a:r>
              <a:rPr sz="2800" b="1" i="1" spc="-10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宋体"/>
                <a:cs typeface="宋体"/>
              </a:rPr>
              <a:t>个</a:t>
            </a:r>
            <a:r>
              <a:rPr sz="2800" b="1" dirty="0">
                <a:latin typeface="宋体"/>
                <a:cs typeface="宋体"/>
              </a:rPr>
              <a:t>圆的半</a:t>
            </a:r>
            <a:r>
              <a:rPr sz="2800" b="1" spc="5" dirty="0">
                <a:latin typeface="宋体"/>
                <a:cs typeface="宋体"/>
              </a:rPr>
              <a:t>径</a:t>
            </a:r>
            <a:r>
              <a:rPr sz="2800" b="1" dirty="0">
                <a:latin typeface="宋体"/>
                <a:cs typeface="宋体"/>
              </a:rPr>
              <a:t>序</a:t>
            </a:r>
            <a:r>
              <a:rPr sz="2800" b="1" spc="-5" dirty="0">
                <a:latin typeface="宋体"/>
                <a:cs typeface="宋体"/>
              </a:rPr>
              <a:t>列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55" dirty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宋体"/>
                <a:cs typeface="宋体"/>
              </a:rPr>
              <a:t>各圆与底</a:t>
            </a:r>
            <a:r>
              <a:rPr sz="2800" b="1" dirty="0" err="1" smtClean="0">
                <a:latin typeface="宋体"/>
                <a:cs typeface="宋体"/>
              </a:rPr>
              <a:t>线</a:t>
            </a:r>
            <a:r>
              <a:rPr sz="2800" b="1" spc="-10" dirty="0" err="1" smtClean="0">
                <a:latin typeface="宋体"/>
                <a:cs typeface="宋体"/>
              </a:rPr>
              <a:t>相</a:t>
            </a:r>
            <a:r>
              <a:rPr sz="2800" b="1" spc="-5" dirty="0" err="1" smtClean="0">
                <a:latin typeface="宋体"/>
                <a:cs typeface="宋体"/>
              </a:rPr>
              <a:t>切排列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假定每</a:t>
            </a:r>
            <a:r>
              <a:rPr sz="2800" b="1" dirty="0">
                <a:latin typeface="宋体"/>
                <a:cs typeface="宋体"/>
              </a:rPr>
              <a:t>个圆占大</a:t>
            </a:r>
            <a:r>
              <a:rPr sz="2800" b="1" spc="-5" dirty="0">
                <a:latin typeface="宋体"/>
                <a:cs typeface="宋体"/>
              </a:rPr>
              <a:t>于</a:t>
            </a:r>
            <a:r>
              <a:rPr sz="2800" b="1" spc="5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宋体"/>
                <a:cs typeface="宋体"/>
              </a:rPr>
              <a:t>的长</a:t>
            </a:r>
            <a:r>
              <a:rPr sz="2800" b="1" spc="-5" dirty="0">
                <a:latin typeface="宋体"/>
                <a:cs typeface="宋体"/>
              </a:rPr>
              <a:t>度</a:t>
            </a:r>
            <a:r>
              <a:rPr sz="2800" b="1" dirty="0">
                <a:latin typeface="Times New Roman"/>
                <a:cs typeface="Times New Roman"/>
              </a:rPr>
              <a:t>,  </a:t>
            </a:r>
            <a:r>
              <a:rPr sz="2800" b="1" spc="-5" dirty="0">
                <a:latin typeface="宋体"/>
                <a:cs typeface="宋体"/>
              </a:rPr>
              <a:t>求具有最</a:t>
            </a:r>
            <a:r>
              <a:rPr sz="2800" b="1" dirty="0">
                <a:latin typeface="宋体"/>
                <a:cs typeface="宋体"/>
              </a:rPr>
              <a:t>小</a:t>
            </a:r>
            <a:r>
              <a:rPr sz="2800" b="1" spc="5" dirty="0">
                <a:latin typeface="宋体"/>
                <a:cs typeface="宋体"/>
              </a:rPr>
              <a:t>长</a:t>
            </a:r>
            <a:r>
              <a:rPr sz="2800" b="1" spc="-10" dirty="0">
                <a:latin typeface="宋体"/>
                <a:cs typeface="宋体"/>
              </a:rPr>
              <a:t>度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i="1" spc="-37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的圆的排</a:t>
            </a:r>
            <a:r>
              <a:rPr sz="2800" b="1" dirty="0">
                <a:latin typeface="宋体"/>
                <a:cs typeface="宋体"/>
              </a:rPr>
              <a:t>列顺</a:t>
            </a:r>
            <a:r>
              <a:rPr sz="2800" b="1" spc="-5" dirty="0">
                <a:latin typeface="宋体"/>
                <a:cs typeface="宋体"/>
              </a:rPr>
              <a:t>序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endParaRPr sz="28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45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050" dirty="0">
              <a:latin typeface="Times New Roman"/>
              <a:cs typeface="Times New Roman"/>
            </a:endParaRPr>
          </a:p>
          <a:p>
            <a:pPr marR="147955" algn="r">
              <a:lnSpc>
                <a:spcPct val="100000"/>
              </a:lnSpc>
            </a:pPr>
            <a:endParaRPr sz="1800" dirty="0">
              <a:latin typeface="Arial"/>
              <a:cs typeface="Arial"/>
            </a:endParaRPr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639" y="2637729"/>
            <a:ext cx="3463111" cy="3629151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4288948" y="3140968"/>
            <a:ext cx="368365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zh-CN" altLang="en-US" sz="2800" b="1" spc="-5" dirty="0" smtClean="0">
                <a:latin typeface="宋体"/>
                <a:cs typeface="宋体"/>
              </a:rPr>
              <a:t>三</a:t>
            </a:r>
            <a:r>
              <a:rPr lang="zh-CN" altLang="en-US" sz="2800" b="1" spc="-5" dirty="0">
                <a:latin typeface="宋体"/>
                <a:cs typeface="宋体"/>
              </a:rPr>
              <a:t>个圆</a:t>
            </a:r>
            <a:r>
              <a:rPr lang="en-US" altLang="zh-CN" sz="2800" b="1" spc="-5" dirty="0">
                <a:latin typeface="Arial"/>
                <a:cs typeface="Arial"/>
              </a:rPr>
              <a:t>,</a:t>
            </a:r>
            <a:r>
              <a:rPr lang="zh-CN" altLang="en-US" sz="2800" b="1" spc="-5" dirty="0">
                <a:latin typeface="宋体"/>
                <a:cs typeface="宋体"/>
              </a:rPr>
              <a:t>半</a:t>
            </a:r>
            <a:r>
              <a:rPr lang="zh-CN" altLang="en-US" sz="2800" b="1" dirty="0">
                <a:latin typeface="宋体"/>
                <a:cs typeface="宋体"/>
              </a:rPr>
              <a:t>径给定</a:t>
            </a:r>
            <a:r>
              <a:rPr lang="zh-CN" altLang="en-US" sz="2800" b="1" spc="-5" dirty="0">
                <a:latin typeface="宋体"/>
                <a:cs typeface="宋体"/>
              </a:rPr>
              <a:t>两种</a:t>
            </a:r>
            <a:r>
              <a:rPr lang="zh-CN" altLang="en-US" sz="2800" b="1" spc="-5" dirty="0" smtClean="0">
                <a:latin typeface="宋体"/>
                <a:cs typeface="宋体"/>
              </a:rPr>
              <a:t>排列</a:t>
            </a:r>
            <a:r>
              <a:rPr lang="zh-CN" altLang="en-US" sz="2800" b="1" dirty="0" smtClean="0">
                <a:latin typeface="宋体"/>
                <a:cs typeface="宋体"/>
              </a:rPr>
              <a:t>具</a:t>
            </a:r>
            <a:r>
              <a:rPr lang="zh-CN" altLang="en-US" sz="2800" b="1" spc="5" dirty="0" smtClean="0">
                <a:latin typeface="宋体"/>
                <a:cs typeface="宋体"/>
              </a:rPr>
              <a:t>有</a:t>
            </a:r>
            <a:r>
              <a:rPr lang="zh-CN" altLang="en-US" sz="2800" b="1" spc="-10" dirty="0">
                <a:latin typeface="宋体"/>
                <a:cs typeface="宋体"/>
              </a:rPr>
              <a:t>不</a:t>
            </a:r>
            <a:r>
              <a:rPr lang="zh-CN" altLang="en-US" sz="2800" b="1" spc="-5" dirty="0">
                <a:latin typeface="宋体"/>
                <a:cs typeface="宋体"/>
              </a:rPr>
              <a:t>同排列长</a:t>
            </a:r>
            <a:r>
              <a:rPr lang="zh-CN" altLang="en-US" sz="2800" b="1" dirty="0">
                <a:latin typeface="宋体"/>
                <a:cs typeface="宋体"/>
              </a:rPr>
              <a:t>度</a:t>
            </a:r>
            <a:r>
              <a:rPr lang="zh-CN" altLang="en-US" sz="2800" b="1" spc="5" dirty="0">
                <a:latin typeface="宋体"/>
                <a:cs typeface="宋体"/>
              </a:rPr>
              <a:t>，</a:t>
            </a:r>
            <a:r>
              <a:rPr lang="zh-CN" altLang="en-US" sz="2800" b="1" spc="-10" dirty="0">
                <a:latin typeface="宋体"/>
                <a:cs typeface="宋体"/>
              </a:rPr>
              <a:t>第</a:t>
            </a:r>
            <a:r>
              <a:rPr lang="zh-CN" altLang="en-US" sz="2800" b="1" spc="-5" dirty="0">
                <a:latin typeface="宋体"/>
                <a:cs typeface="宋体"/>
              </a:rPr>
              <a:t>一种方式</a:t>
            </a:r>
            <a:r>
              <a:rPr lang="zh-CN" altLang="en-US" sz="2800" b="1" dirty="0">
                <a:latin typeface="宋体"/>
                <a:cs typeface="宋体"/>
              </a:rPr>
              <a:t>具</a:t>
            </a:r>
            <a:r>
              <a:rPr lang="zh-CN" altLang="en-US" sz="2800" b="1" spc="5" dirty="0">
                <a:latin typeface="宋体"/>
                <a:cs typeface="宋体"/>
              </a:rPr>
              <a:t>有</a:t>
            </a:r>
            <a:r>
              <a:rPr lang="zh-CN" altLang="en-US" sz="2800" b="1" spc="-10" dirty="0">
                <a:latin typeface="宋体"/>
                <a:cs typeface="宋体"/>
              </a:rPr>
              <a:t>更</a:t>
            </a:r>
            <a:r>
              <a:rPr lang="zh-CN" altLang="en-US" sz="2800" b="1" spc="-5" dirty="0">
                <a:latin typeface="宋体"/>
                <a:cs typeface="宋体"/>
              </a:rPr>
              <a:t>小的排列</a:t>
            </a:r>
            <a:r>
              <a:rPr lang="zh-CN" altLang="en-US" sz="2800" b="1" dirty="0">
                <a:latin typeface="宋体"/>
                <a:cs typeface="宋体"/>
              </a:rPr>
              <a:t>长</a:t>
            </a:r>
            <a:r>
              <a:rPr lang="zh-CN" altLang="en-US" sz="2800" b="1" spc="-10" dirty="0">
                <a:latin typeface="宋体"/>
                <a:cs typeface="宋体"/>
              </a:rPr>
              <a:t>度</a:t>
            </a:r>
            <a:endParaRPr lang="zh-CN" altLang="en-US" sz="2800" dirty="0"/>
          </a:p>
        </p:txBody>
      </p:sp>
    </p:spTree>
    <p:extLst>
      <p:ext uri="{BB962C8B-B14F-4D97-AF65-F5344CB8AC3E}">
        <p14:creationId xmlns:p14="http://schemas.microsoft.com/office/powerpoint/2010/main" val="37576099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9570" y="355269"/>
            <a:ext cx="797487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算法设计：分</a:t>
            </a:r>
            <a:r>
              <a:rPr sz="40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支限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2140" y="4797152"/>
            <a:ext cx="7848292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界</a:t>
            </a:r>
            <a:r>
              <a:rPr sz="2800" b="1" spc="-5" dirty="0">
                <a:latin typeface="宋体"/>
                <a:cs typeface="宋体"/>
              </a:rPr>
              <a:t>：当前</a:t>
            </a:r>
            <a:r>
              <a:rPr sz="2800" b="1" dirty="0">
                <a:latin typeface="宋体"/>
                <a:cs typeface="宋体"/>
              </a:rPr>
              <a:t>得</a:t>
            </a:r>
            <a:r>
              <a:rPr sz="2800" b="1" spc="5" dirty="0">
                <a:latin typeface="宋体"/>
                <a:cs typeface="宋体"/>
              </a:rPr>
              <a:t>到</a:t>
            </a:r>
            <a:r>
              <a:rPr sz="2800" b="1" dirty="0">
                <a:latin typeface="宋体"/>
                <a:cs typeface="宋体"/>
              </a:rPr>
              <a:t>的最小园排列长度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9441" y="1136225"/>
            <a:ext cx="8077015" cy="220162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 marR="49530" algn="just">
              <a:lnSpc>
                <a:spcPct val="139800"/>
              </a:lnSpc>
              <a:spcBef>
                <a:spcPts val="100"/>
              </a:spcBef>
              <a:tabLst>
                <a:tab pos="584835" algn="l"/>
              </a:tabLst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解</a:t>
            </a:r>
            <a:r>
              <a:rPr sz="2800" b="1" dirty="0">
                <a:latin typeface="Times New Roman"/>
                <a:cs typeface="Times New Roman"/>
              </a:rPr>
              <a:t>:	</a:t>
            </a:r>
            <a:r>
              <a:rPr sz="2800" b="1" spc="-5" dirty="0">
                <a:latin typeface="Times New Roman"/>
                <a:cs typeface="Times New Roman"/>
              </a:rPr>
              <a:t>&lt;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spc="-3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为</a:t>
            </a:r>
            <a:r>
              <a:rPr sz="2800" b="1" spc="-605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1,2,…,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宋体"/>
                <a:cs typeface="宋体"/>
              </a:rPr>
              <a:t>的排</a:t>
            </a:r>
            <a:r>
              <a:rPr sz="2800" b="1" spc="-10" dirty="0" err="1" smtClean="0">
                <a:latin typeface="宋体"/>
                <a:cs typeface="宋体"/>
              </a:rPr>
              <a:t>列</a:t>
            </a:r>
            <a:r>
              <a:rPr sz="2800" b="1" spc="-5" dirty="0" err="1" smtClean="0">
                <a:latin typeface="宋体"/>
                <a:cs typeface="宋体"/>
              </a:rPr>
              <a:t>搜索空间</a:t>
            </a:r>
            <a:r>
              <a:rPr sz="2800" b="1" dirty="0" err="1" smtClean="0">
                <a:latin typeface="宋体"/>
                <a:cs typeface="宋体"/>
              </a:rPr>
              <a:t>为</a:t>
            </a:r>
            <a:r>
              <a:rPr sz="2800" b="1" spc="5" dirty="0" err="1" smtClean="0">
                <a:latin typeface="宋体"/>
                <a:cs typeface="宋体"/>
              </a:rPr>
              <a:t>排</a:t>
            </a:r>
            <a:r>
              <a:rPr sz="2800" b="1" dirty="0" err="1" smtClean="0">
                <a:latin typeface="宋体"/>
                <a:cs typeface="宋体"/>
              </a:rPr>
              <a:t>列</a:t>
            </a:r>
            <a:r>
              <a:rPr sz="2800" b="1" spc="-10" dirty="0" err="1" smtClean="0">
                <a:latin typeface="宋体"/>
                <a:cs typeface="宋体"/>
              </a:rPr>
              <a:t>树</a:t>
            </a:r>
            <a:r>
              <a:rPr sz="2800" b="1" spc="-5" dirty="0" err="1" smtClean="0">
                <a:latin typeface="宋体"/>
                <a:cs typeface="宋体"/>
              </a:rPr>
              <a:t>部分解向</a:t>
            </a:r>
            <a:r>
              <a:rPr sz="2800" b="1" spc="-10" dirty="0" err="1" smtClean="0">
                <a:latin typeface="宋体"/>
                <a:cs typeface="宋体"/>
              </a:rPr>
              <a:t>量</a:t>
            </a:r>
            <a:r>
              <a:rPr sz="2800" b="1" spc="-605" dirty="0" smtClean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&lt;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5" dirty="0" err="1">
                <a:latin typeface="宋体"/>
                <a:cs typeface="宋体"/>
              </a:rPr>
              <a:t>表示</a:t>
            </a:r>
            <a:r>
              <a:rPr sz="2800" b="1" spc="-10" dirty="0" err="1">
                <a:latin typeface="宋体"/>
                <a:cs typeface="宋体"/>
              </a:rPr>
              <a:t>前</a:t>
            </a:r>
            <a:r>
              <a:rPr sz="2800" b="1" spc="-625" dirty="0">
                <a:latin typeface="宋体"/>
                <a:cs typeface="宋体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k</a:t>
            </a:r>
            <a:r>
              <a:rPr lang="en-US" sz="2800" dirty="0">
                <a:latin typeface="Times New Roman"/>
                <a:cs typeface="Times New Roman"/>
              </a:rPr>
              <a:t> </a:t>
            </a:r>
            <a:r>
              <a:rPr sz="2800" b="1" spc="-5" dirty="0" err="1" smtClean="0">
                <a:latin typeface="宋体"/>
                <a:cs typeface="宋体"/>
              </a:rPr>
              <a:t>个圆已排好</a:t>
            </a:r>
            <a:r>
              <a:rPr sz="2800" b="1" dirty="0">
                <a:latin typeface="Times New Roman"/>
                <a:cs typeface="Times New Roman"/>
              </a:rPr>
              <a:t>.</a:t>
            </a:r>
            <a:r>
              <a:rPr sz="2800" b="1" spc="25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令</a:t>
            </a:r>
            <a:endParaRPr sz="2800" dirty="0">
              <a:latin typeface="宋体"/>
              <a:cs typeface="宋体"/>
            </a:endParaRPr>
          </a:p>
          <a:p>
            <a:pPr marR="114935" algn="just">
              <a:lnSpc>
                <a:spcPts val="2865"/>
              </a:lnSpc>
            </a:pPr>
            <a:r>
              <a:rPr sz="2800" b="1" i="1" spc="-5" dirty="0">
                <a:latin typeface="Times New Roman"/>
                <a:cs typeface="Times New Roman"/>
              </a:rPr>
              <a:t>B</a:t>
            </a:r>
            <a:r>
              <a:rPr sz="2800" b="1" spc="-5" dirty="0">
                <a:latin typeface="Times New Roman"/>
                <a:cs typeface="Times New Roman"/>
              </a:rPr>
              <a:t>={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…,</a:t>
            </a:r>
            <a:r>
              <a:rPr sz="2800" b="1" i="1" spc="-5" dirty="0" err="1">
                <a:latin typeface="Times New Roman"/>
                <a:cs typeface="Times New Roman"/>
              </a:rPr>
              <a:t>i</a:t>
            </a:r>
            <a:r>
              <a:rPr sz="2800" b="1" i="1" spc="-7" baseline="-20833" dirty="0" err="1">
                <a:latin typeface="Times New Roman"/>
                <a:cs typeface="Times New Roman"/>
              </a:rPr>
              <a:t>k</a:t>
            </a:r>
            <a:r>
              <a:rPr sz="2800" b="1" spc="-5" dirty="0" smtClean="0">
                <a:latin typeface="Times New Roman"/>
                <a:cs typeface="Times New Roman"/>
              </a:rPr>
              <a:t>}</a:t>
            </a:r>
            <a:r>
              <a:rPr lang="en-US" sz="2800" dirty="0">
                <a:latin typeface="Times New Roman"/>
                <a:cs typeface="Times New Roman"/>
              </a:rPr>
              <a:t>,</a:t>
            </a:r>
            <a:r>
              <a:rPr sz="2800" b="1" spc="-5" dirty="0" err="1" smtClean="0">
                <a:latin typeface="宋体"/>
                <a:cs typeface="宋体"/>
              </a:rPr>
              <a:t>下一个园</a:t>
            </a:r>
            <a:r>
              <a:rPr sz="2800" b="1" dirty="0" err="1" smtClean="0">
                <a:latin typeface="宋体"/>
                <a:cs typeface="宋体"/>
              </a:rPr>
              <a:t>选</a:t>
            </a:r>
            <a:r>
              <a:rPr sz="2800" b="1" spc="-10" dirty="0" err="1" smtClean="0">
                <a:latin typeface="宋体"/>
                <a:cs typeface="宋体"/>
              </a:rPr>
              <a:t>择</a:t>
            </a:r>
            <a:r>
              <a:rPr sz="2800" b="1" spc="-575" dirty="0" smtClean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+1</a:t>
            </a:r>
            <a:endParaRPr sz="2800" baseline="-20833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1440"/>
              </a:spcBef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约束条件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Symbol"/>
                <a:cs typeface="Symbol"/>
              </a:rPr>
              <a:t></a:t>
            </a:r>
            <a:r>
              <a:rPr sz="2800" b="1" spc="-5" dirty="0">
                <a:latin typeface="Times New Roman"/>
                <a:cs typeface="Times New Roman"/>
              </a:rPr>
              <a:t>{</a:t>
            </a:r>
            <a:r>
              <a:rPr sz="2800" b="1" spc="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2,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 </a:t>
            </a:r>
            <a:r>
              <a:rPr sz="2800" b="1" dirty="0">
                <a:latin typeface="Times New Roman"/>
                <a:cs typeface="Times New Roman"/>
              </a:rPr>
              <a:t>}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i="1" dirty="0">
                <a:latin typeface="Times New Roman"/>
                <a:cs typeface="Times New Roman"/>
              </a:rPr>
              <a:t>B</a:t>
            </a:r>
            <a:endParaRPr sz="28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665781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0440" y="253669"/>
            <a:ext cx="670999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符号说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明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188" y="1141306"/>
            <a:ext cx="8602308" cy="3122843"/>
          </a:xfrm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775"/>
              </a:spcBef>
            </a:pP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：算法已</a:t>
            </a:r>
            <a:r>
              <a:rPr sz="2800" b="1" dirty="0">
                <a:latin typeface="宋体"/>
                <a:cs typeface="宋体"/>
              </a:rPr>
              <a:t>经选择了</a:t>
            </a:r>
            <a:r>
              <a:rPr sz="2800" b="1" spc="-5" dirty="0">
                <a:latin typeface="宋体"/>
                <a:cs typeface="宋体"/>
              </a:rPr>
              <a:t>第</a:t>
            </a:r>
            <a:r>
              <a:rPr sz="2800" b="1" dirty="0">
                <a:latin typeface="Times New Roman"/>
                <a:cs typeface="Times New Roman"/>
              </a:rPr>
              <a:t>1—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个</a:t>
            </a:r>
            <a:r>
              <a:rPr sz="2800" b="1" spc="-10" dirty="0">
                <a:latin typeface="宋体"/>
                <a:cs typeface="宋体"/>
              </a:rPr>
              <a:t>圆</a:t>
            </a:r>
            <a:endParaRPr sz="2800" dirty="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2800" b="1" i="1" dirty="0">
                <a:latin typeface="Times New Roman"/>
                <a:cs typeface="Times New Roman"/>
              </a:rPr>
              <a:t>r</a:t>
            </a:r>
            <a:r>
              <a:rPr sz="2800" b="1" i="1" baseline="-24305" dirty="0">
                <a:latin typeface="Times New Roman"/>
                <a:cs typeface="Times New Roman"/>
              </a:rPr>
              <a:t>k</a:t>
            </a:r>
            <a:r>
              <a:rPr sz="2800" b="1" i="1" spc="-15" baseline="-2430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10" dirty="0">
                <a:latin typeface="宋体"/>
                <a:cs typeface="宋体"/>
              </a:rPr>
              <a:t>第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个圆的</a:t>
            </a:r>
            <a:r>
              <a:rPr sz="2800" b="1" dirty="0">
                <a:latin typeface="宋体"/>
                <a:cs typeface="宋体"/>
              </a:rPr>
              <a:t>半</a:t>
            </a:r>
            <a:r>
              <a:rPr sz="2800" b="1" spc="-10" dirty="0">
                <a:latin typeface="宋体"/>
                <a:cs typeface="宋体"/>
              </a:rPr>
              <a:t>径</a:t>
            </a:r>
            <a:endParaRPr sz="2800" dirty="0">
              <a:latin typeface="宋体"/>
              <a:cs typeface="宋体"/>
            </a:endParaRPr>
          </a:p>
          <a:p>
            <a:pPr marL="647700" marR="30480" indent="-609600">
              <a:lnSpc>
                <a:spcPct val="100000"/>
              </a:lnSpc>
              <a:spcBef>
                <a:spcPts val="600"/>
              </a:spcBef>
            </a:pP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4305" dirty="0">
                <a:latin typeface="Times New Roman"/>
                <a:cs typeface="Times New Roman"/>
              </a:rPr>
              <a:t>k</a:t>
            </a:r>
            <a:r>
              <a:rPr sz="2800" b="1" i="1" spc="-44" baseline="-2430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10" dirty="0">
                <a:latin typeface="宋体"/>
                <a:cs typeface="宋体"/>
              </a:rPr>
              <a:t>第</a:t>
            </a:r>
            <a:r>
              <a:rPr sz="2800" b="1" spc="-62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Symbol"/>
                <a:cs typeface="Symbol"/>
              </a:rPr>
              <a:t>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宋体"/>
                <a:cs typeface="宋体"/>
              </a:rPr>
              <a:t>个圆到</a:t>
            </a:r>
            <a:r>
              <a:rPr sz="2800" b="1" spc="-10" dirty="0">
                <a:latin typeface="宋体"/>
                <a:cs typeface="宋体"/>
              </a:rPr>
              <a:t>第</a:t>
            </a:r>
            <a:r>
              <a:rPr sz="2800" b="1" spc="-62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宋体"/>
                <a:cs typeface="宋体"/>
              </a:rPr>
              <a:t>个圆的</a:t>
            </a:r>
            <a:r>
              <a:rPr sz="2800" b="1" dirty="0">
                <a:latin typeface="宋体"/>
                <a:cs typeface="宋体"/>
              </a:rPr>
              <a:t>圆心水</a:t>
            </a:r>
            <a:r>
              <a:rPr sz="2800" b="1" spc="-10" dirty="0">
                <a:latin typeface="宋体"/>
                <a:cs typeface="宋体"/>
              </a:rPr>
              <a:t>平 </a:t>
            </a:r>
            <a:r>
              <a:rPr sz="2800" b="1" spc="-5" dirty="0">
                <a:latin typeface="宋体"/>
                <a:cs typeface="宋体"/>
              </a:rPr>
              <a:t>距离，</a:t>
            </a:r>
            <a:r>
              <a:rPr sz="2800" b="1" i="1" spc="-5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&gt;1</a:t>
            </a:r>
            <a:endParaRPr sz="2800" dirty="0">
              <a:latin typeface="Times New Roman"/>
              <a:cs typeface="Times New Roman"/>
            </a:endParaRPr>
          </a:p>
          <a:p>
            <a:pPr marL="38100" marR="70485">
              <a:lnSpc>
                <a:spcPct val="120800"/>
              </a:lnSpc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4305" dirty="0">
                <a:latin typeface="Times New Roman"/>
                <a:cs typeface="Times New Roman"/>
              </a:rPr>
              <a:t>k</a:t>
            </a:r>
            <a:r>
              <a:rPr sz="2800" b="1" i="1" spc="-37" baseline="-2430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10" dirty="0">
                <a:latin typeface="宋体"/>
                <a:cs typeface="宋体"/>
              </a:rPr>
              <a:t>第</a:t>
            </a:r>
            <a:r>
              <a:rPr sz="2800" b="1" spc="-61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个圆的</a:t>
            </a:r>
            <a:r>
              <a:rPr sz="2800" b="1" dirty="0">
                <a:latin typeface="宋体"/>
                <a:cs typeface="宋体"/>
              </a:rPr>
              <a:t>圆心坐标，规</a:t>
            </a:r>
            <a:r>
              <a:rPr sz="2800" b="1" spc="-10" dirty="0">
                <a:latin typeface="宋体"/>
                <a:cs typeface="宋体"/>
              </a:rPr>
              <a:t>定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4305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=0,  </a:t>
            </a:r>
            <a:endParaRPr lang="en-US" sz="2800" b="1" dirty="0" smtClean="0">
              <a:latin typeface="Times New Roman"/>
              <a:cs typeface="Times New Roman"/>
            </a:endParaRPr>
          </a:p>
          <a:p>
            <a:pPr marL="38100" marR="70485">
              <a:lnSpc>
                <a:spcPct val="120800"/>
              </a:lnSpc>
            </a:pPr>
            <a:r>
              <a:rPr sz="2800" b="1" i="1" dirty="0" err="1" smtClean="0">
                <a:latin typeface="Times New Roman"/>
                <a:cs typeface="Times New Roman"/>
              </a:rPr>
              <a:t>l</a:t>
            </a:r>
            <a:r>
              <a:rPr sz="2800" b="1" i="1" baseline="-24305" dirty="0" err="1" smtClean="0">
                <a:latin typeface="Times New Roman"/>
                <a:cs typeface="Times New Roman"/>
              </a:rPr>
              <a:t>k</a:t>
            </a:r>
            <a:r>
              <a:rPr sz="2800" b="1" i="1" spc="-22" baseline="-24305" dirty="0" smtClean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宋体"/>
                <a:cs typeface="宋体"/>
              </a:rPr>
              <a:t>：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spc="-10" dirty="0">
                <a:latin typeface="宋体"/>
                <a:cs typeface="宋体"/>
              </a:rPr>
              <a:t>第</a:t>
            </a:r>
            <a:r>
              <a:rPr sz="2800" b="1" spc="-60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1—</a:t>
            </a:r>
            <a:r>
              <a:rPr sz="2800" b="1" spc="-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k</a:t>
            </a:r>
            <a:r>
              <a:rPr sz="2800" b="1" i="1" spc="-5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宋体"/>
                <a:cs typeface="宋体"/>
              </a:rPr>
              <a:t>个圆的排</a:t>
            </a:r>
            <a:r>
              <a:rPr sz="2800" b="1" dirty="0" err="1">
                <a:latin typeface="宋体"/>
                <a:cs typeface="宋体"/>
              </a:rPr>
              <a:t>列长</a:t>
            </a:r>
            <a:r>
              <a:rPr sz="2800" b="1" spc="-10" dirty="0" err="1">
                <a:latin typeface="宋体"/>
                <a:cs typeface="宋体"/>
              </a:rPr>
              <a:t>度</a:t>
            </a:r>
            <a:r>
              <a:rPr sz="2800" b="1" spc="-10" dirty="0">
                <a:latin typeface="宋体"/>
                <a:cs typeface="宋体"/>
              </a:rPr>
              <a:t> </a:t>
            </a:r>
            <a:endParaRPr lang="en-US" sz="2800" b="1" spc="-10" dirty="0" smtClean="0">
              <a:latin typeface="宋体"/>
              <a:cs typeface="宋体"/>
            </a:endParaRPr>
          </a:p>
          <a:p>
            <a:pPr marL="38100" marR="70485">
              <a:lnSpc>
                <a:spcPct val="120800"/>
              </a:lnSpc>
            </a:pPr>
            <a:r>
              <a:rPr sz="2800" b="1" i="1" dirty="0" err="1" smtClean="0">
                <a:latin typeface="Times New Roman"/>
                <a:cs typeface="Times New Roman"/>
              </a:rPr>
              <a:t>L</a:t>
            </a:r>
            <a:r>
              <a:rPr sz="2800" b="1" i="1" baseline="-24509" dirty="0" err="1" smtClean="0">
                <a:latin typeface="Times New Roman"/>
                <a:cs typeface="Times New Roman"/>
              </a:rPr>
              <a:t>k</a:t>
            </a:r>
            <a:r>
              <a:rPr sz="2800" b="1" dirty="0" err="1">
                <a:latin typeface="宋体"/>
                <a:cs typeface="宋体"/>
              </a:rPr>
              <a:t>：</a:t>
            </a:r>
            <a:r>
              <a:rPr sz="2800" b="1" spc="-10" dirty="0" err="1">
                <a:latin typeface="宋体"/>
                <a:cs typeface="宋体"/>
              </a:rPr>
              <a:t>放</a:t>
            </a:r>
            <a:r>
              <a:rPr sz="2800" b="1" spc="-15" dirty="0" err="1">
                <a:latin typeface="宋体"/>
                <a:cs typeface="宋体"/>
              </a:rPr>
              <a:t>好</a:t>
            </a:r>
            <a:r>
              <a:rPr sz="2800" b="1" spc="-650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1—</a:t>
            </a:r>
            <a:r>
              <a:rPr sz="2800" b="1" i="1" spc="-5" dirty="0">
                <a:latin typeface="Times New Roman"/>
                <a:cs typeface="Times New Roman"/>
              </a:rPr>
              <a:t>k</a:t>
            </a:r>
            <a:r>
              <a:rPr sz="2800" b="1" i="1" spc="-10" dirty="0">
                <a:latin typeface="Times New Roman"/>
                <a:cs typeface="Times New Roman"/>
              </a:rPr>
              <a:t> </a:t>
            </a:r>
            <a:r>
              <a:rPr sz="2800" b="1" spc="-10" dirty="0" err="1">
                <a:latin typeface="宋体"/>
                <a:cs typeface="宋体"/>
              </a:rPr>
              <a:t>个圆以</a:t>
            </a:r>
            <a:r>
              <a:rPr sz="2800" b="1" spc="-5" dirty="0" err="1">
                <a:latin typeface="宋体"/>
                <a:cs typeface="宋体"/>
              </a:rPr>
              <a:t>后</a:t>
            </a:r>
            <a:r>
              <a:rPr sz="2800" b="1" dirty="0" err="1">
                <a:latin typeface="宋体"/>
                <a:cs typeface="宋体"/>
              </a:rPr>
              <a:t>，</a:t>
            </a:r>
            <a:r>
              <a:rPr sz="2800" b="1" spc="-5" dirty="0" err="1" smtClean="0">
                <a:latin typeface="宋体"/>
                <a:cs typeface="宋体"/>
              </a:rPr>
              <a:t>对</a:t>
            </a:r>
            <a:r>
              <a:rPr sz="2800" b="1" dirty="0" err="1" smtClean="0">
                <a:latin typeface="宋体"/>
                <a:cs typeface="宋体"/>
              </a:rPr>
              <a:t>应</a:t>
            </a:r>
            <a:r>
              <a:rPr sz="2800" b="1" spc="-15" dirty="0" err="1" smtClean="0">
                <a:latin typeface="宋体"/>
                <a:cs typeface="宋体"/>
              </a:rPr>
              <a:t>结</a:t>
            </a:r>
            <a:r>
              <a:rPr sz="2800" b="1" spc="-10" dirty="0" err="1" smtClean="0">
                <a:latin typeface="宋体"/>
                <a:cs typeface="宋体"/>
              </a:rPr>
              <a:t>点的</a:t>
            </a:r>
            <a:r>
              <a:rPr sz="2800" b="1" spc="-5" dirty="0" err="1" smtClean="0">
                <a:latin typeface="宋体"/>
                <a:cs typeface="宋体"/>
              </a:rPr>
              <a:t>代价函</a:t>
            </a:r>
            <a:r>
              <a:rPr sz="2800" b="1" dirty="0" err="1" smtClean="0">
                <a:latin typeface="宋体"/>
                <a:cs typeface="宋体"/>
              </a:rPr>
              <a:t>数</a:t>
            </a:r>
            <a:r>
              <a:rPr sz="2800" b="1" spc="-15" dirty="0" err="1" smtClean="0">
                <a:latin typeface="宋体"/>
                <a:cs typeface="宋体"/>
              </a:rPr>
              <a:t>值</a:t>
            </a:r>
            <a:r>
              <a:rPr sz="2800" b="1" i="1" spc="5" dirty="0" err="1" smtClean="0">
                <a:latin typeface="Times New Roman"/>
                <a:cs typeface="Times New Roman"/>
              </a:rPr>
              <a:t>L</a:t>
            </a:r>
            <a:r>
              <a:rPr sz="2800" b="1" i="1" spc="7" baseline="-24509" dirty="0" err="1" smtClean="0">
                <a:latin typeface="Times New Roman"/>
                <a:cs typeface="Times New Roman"/>
              </a:rPr>
              <a:t>k</a:t>
            </a:r>
            <a:r>
              <a:rPr sz="2800" b="1" i="1" spc="15" baseline="-24509" dirty="0" smtClean="0">
                <a:latin typeface="Times New Roman"/>
                <a:cs typeface="Times New Roman"/>
              </a:rPr>
              <a:t> </a:t>
            </a:r>
            <a:r>
              <a:rPr sz="2800" b="1" spc="-5" dirty="0" smtClean="0">
                <a:latin typeface="Symbol"/>
                <a:cs typeface="Symbol"/>
              </a:rPr>
              <a:t></a:t>
            </a:r>
            <a:r>
              <a:rPr sz="2800" b="1" i="1" spc="5" dirty="0" smtClean="0">
                <a:latin typeface="Times New Roman"/>
                <a:cs typeface="Times New Roman"/>
              </a:rPr>
              <a:t>l</a:t>
            </a:r>
            <a:r>
              <a:rPr sz="2800" b="1" i="1" spc="7" baseline="-24509" dirty="0" smtClean="0">
                <a:latin typeface="Times New Roman"/>
                <a:cs typeface="Times New Roman"/>
              </a:rPr>
              <a:t>n</a:t>
            </a:r>
            <a:endParaRPr sz="2800" baseline="-24509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612207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5048" y="176412"/>
            <a:ext cx="7003336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圆排列长度估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11560" y="1028784"/>
            <a:ext cx="8208912" cy="1559401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780"/>
              </a:spcBef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r>
              <a:rPr sz="2800" b="1" baseline="-20833" dirty="0">
                <a:latin typeface="Times New Roman"/>
                <a:cs typeface="Times New Roman"/>
              </a:rPr>
              <a:t>-1</a:t>
            </a:r>
            <a:r>
              <a:rPr sz="2800" b="1" dirty="0">
                <a:latin typeface="Times New Roman"/>
                <a:cs typeface="Times New Roman"/>
              </a:rPr>
              <a:t>+</a:t>
            </a:r>
            <a:r>
              <a:rPr sz="2800" b="1" i="1" dirty="0">
                <a:latin typeface="Times New Roman"/>
                <a:cs typeface="Times New Roman"/>
              </a:rPr>
              <a:t>d</a:t>
            </a:r>
            <a:r>
              <a:rPr sz="2800" b="1" i="1" baseline="-20833" dirty="0">
                <a:latin typeface="Times New Roman"/>
                <a:cs typeface="Times New Roman"/>
              </a:rPr>
              <a:t>k</a:t>
            </a:r>
            <a:endParaRPr sz="2800" baseline="-20833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85"/>
              </a:spcBef>
            </a:pPr>
            <a:r>
              <a:rPr sz="2800" b="1" spc="-5" dirty="0">
                <a:latin typeface="宋体"/>
                <a:cs typeface="宋体"/>
              </a:rPr>
              <a:t>部分排列</a:t>
            </a:r>
            <a:r>
              <a:rPr sz="2800" b="1" dirty="0">
                <a:latin typeface="宋体"/>
                <a:cs typeface="宋体"/>
              </a:rPr>
              <a:t>长</a:t>
            </a:r>
            <a:r>
              <a:rPr sz="2800" b="1" spc="-10" dirty="0">
                <a:latin typeface="宋体"/>
                <a:cs typeface="宋体"/>
              </a:rPr>
              <a:t>度</a:t>
            </a:r>
            <a:r>
              <a:rPr sz="2800" b="1" spc="-57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=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endParaRPr sz="2800" baseline="-20833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宋体"/>
                <a:cs typeface="宋体"/>
              </a:rPr>
              <a:t>排列长</a:t>
            </a:r>
            <a:r>
              <a:rPr sz="2800" b="1" spc="-10" dirty="0">
                <a:latin typeface="宋体"/>
                <a:cs typeface="宋体"/>
              </a:rPr>
              <a:t>度</a:t>
            </a:r>
            <a:r>
              <a:rPr sz="2800" b="1" spc="-61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l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i="1" spc="-5" dirty="0">
                <a:latin typeface="Times New Roman"/>
                <a:cs typeface="Times New Roman"/>
              </a:rPr>
              <a:t>=x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i="1" spc="-7" baseline="-20833" dirty="0">
                <a:latin typeface="Times New Roman"/>
                <a:cs typeface="Times New Roman"/>
              </a:rPr>
              <a:t>k</a:t>
            </a:r>
            <a:r>
              <a:rPr sz="2800" b="1" spc="-7" baseline="-20833" dirty="0">
                <a:latin typeface="Times New Roman"/>
                <a:cs typeface="Times New Roman"/>
              </a:rPr>
              <a:t>+2</a:t>
            </a:r>
            <a:r>
              <a:rPr sz="2800" b="1" spc="-5" dirty="0">
                <a:latin typeface="Times New Roman"/>
                <a:cs typeface="Times New Roman"/>
              </a:rPr>
              <a:t>+…+</a:t>
            </a:r>
            <a:r>
              <a:rPr sz="2800" b="1" i="1" spc="-5" dirty="0">
                <a:latin typeface="Times New Roman"/>
                <a:cs typeface="Times New Roman"/>
              </a:rPr>
              <a:t>d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i="1" spc="-7" baseline="-20833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endParaRPr sz="2800" baseline="-20833" dirty="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3080241" y="2600668"/>
            <a:ext cx="3505200" cy="0"/>
          </a:xfrm>
          <a:custGeom>
            <a:avLst/>
            <a:gdLst/>
            <a:ahLst/>
            <a:cxnLst/>
            <a:rect l="l" t="t" r="r" b="b"/>
            <a:pathLst>
              <a:path w="3505200">
                <a:moveTo>
                  <a:pt x="0" y="0"/>
                </a:moveTo>
                <a:lnTo>
                  <a:pt x="3505200" y="0"/>
                </a:lnTo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4" name="图片 6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111" y="2996952"/>
            <a:ext cx="6723809" cy="3228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78843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80230" y="432528"/>
            <a:ext cx="652016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有关量的计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</a:t>
            </a: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340768"/>
            <a:ext cx="5514286" cy="45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5090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1159" y="332656"/>
            <a:ext cx="452003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代价函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数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8666" y="1124238"/>
            <a:ext cx="6866667" cy="46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0898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76965" y="554236"/>
            <a:ext cx="535933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时间复杂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度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1" y="1537547"/>
            <a:ext cx="7996499" cy="2040943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宋体"/>
                <a:cs typeface="宋体"/>
              </a:rPr>
              <a:t>搜索树树</a:t>
            </a:r>
            <a:r>
              <a:rPr sz="2800" b="1" dirty="0">
                <a:latin typeface="宋体"/>
                <a:cs typeface="宋体"/>
              </a:rPr>
              <a:t>叶</a:t>
            </a:r>
            <a:r>
              <a:rPr sz="2800" b="1" spc="5" dirty="0">
                <a:latin typeface="宋体"/>
                <a:cs typeface="宋体"/>
              </a:rPr>
              <a:t>数</a:t>
            </a:r>
            <a:r>
              <a:rPr sz="2800" b="1" spc="-10" dirty="0">
                <a:latin typeface="宋体"/>
                <a:cs typeface="宋体"/>
              </a:rPr>
              <a:t>为</a:t>
            </a:r>
            <a:r>
              <a:rPr sz="2800" b="1" spc="-58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!)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宋体"/>
                <a:cs typeface="宋体"/>
              </a:rPr>
              <a:t>每条路径</a:t>
            </a:r>
            <a:r>
              <a:rPr sz="2800" b="1" dirty="0">
                <a:latin typeface="宋体"/>
                <a:cs typeface="宋体"/>
              </a:rPr>
              <a:t>代</a:t>
            </a:r>
            <a:r>
              <a:rPr sz="2800" b="1" spc="5" dirty="0">
                <a:latin typeface="宋体"/>
                <a:cs typeface="宋体"/>
              </a:rPr>
              <a:t>价</a:t>
            </a:r>
            <a:r>
              <a:rPr sz="2800" b="1" dirty="0">
                <a:latin typeface="宋体"/>
                <a:cs typeface="宋体"/>
              </a:rPr>
              <a:t>函数的计算</a:t>
            </a:r>
            <a:r>
              <a:rPr sz="2800" b="1" spc="-10" dirty="0">
                <a:latin typeface="宋体"/>
                <a:cs typeface="宋体"/>
              </a:rPr>
              <a:t>为</a:t>
            </a:r>
            <a:r>
              <a:rPr sz="2800" b="1" spc="-64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55600" indent="-342900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latin typeface="宋体"/>
                <a:cs typeface="宋体"/>
              </a:rPr>
              <a:t>最坏情况</a:t>
            </a:r>
            <a:r>
              <a:rPr sz="2800" b="1" dirty="0">
                <a:latin typeface="宋体"/>
                <a:cs typeface="宋体"/>
              </a:rPr>
              <a:t>下</a:t>
            </a:r>
            <a:r>
              <a:rPr sz="2800" b="1" spc="5" dirty="0">
                <a:latin typeface="宋体"/>
                <a:cs typeface="宋体"/>
              </a:rPr>
              <a:t>算</a:t>
            </a:r>
            <a:r>
              <a:rPr sz="2800" b="1" dirty="0">
                <a:latin typeface="宋体"/>
                <a:cs typeface="宋体"/>
              </a:rPr>
              <a:t>法时间复杂度为</a:t>
            </a:r>
            <a:endParaRPr sz="2800">
              <a:latin typeface="宋体"/>
              <a:cs typeface="宋体"/>
            </a:endParaRPr>
          </a:p>
          <a:p>
            <a:pPr marL="1003300">
              <a:lnSpc>
                <a:spcPct val="100000"/>
              </a:lnSpc>
              <a:spcBef>
                <a:spcPts val="55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 n</a:t>
            </a:r>
            <a:r>
              <a:rPr sz="2800" b="1" spc="-5" dirty="0">
                <a:latin typeface="Times New Roman"/>
                <a:cs typeface="Times New Roman"/>
              </a:rPr>
              <a:t>!) </a:t>
            </a:r>
            <a:r>
              <a:rPr sz="2800" b="1" dirty="0">
                <a:latin typeface="Times New Roman"/>
                <a:cs typeface="Times New Roman"/>
              </a:rPr>
              <a:t>= 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+1)!)</a:t>
            </a:r>
            <a:endParaRPr sz="28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268758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4658" y="279069"/>
            <a:ext cx="492159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例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83568" y="1127081"/>
            <a:ext cx="495849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latin typeface="宋体"/>
                <a:cs typeface="宋体"/>
              </a:rPr>
              <a:t>输入</a:t>
            </a:r>
            <a:r>
              <a:rPr sz="2800" b="1" spc="-10" dirty="0">
                <a:latin typeface="宋体"/>
                <a:cs typeface="宋体"/>
              </a:rPr>
              <a:t>：</a:t>
            </a:r>
            <a:r>
              <a:rPr sz="2800" b="1" spc="-67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</a:t>
            </a:r>
            <a:r>
              <a:rPr sz="2800" b="1" dirty="0">
                <a:latin typeface="Times New Roman"/>
                <a:cs typeface="Times New Roman"/>
              </a:rPr>
              <a:t>={1,1,2,2,3,5}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082040" algn="l"/>
              </a:tabLst>
            </a:pPr>
            <a:r>
              <a:rPr sz="2800" b="1" spc="-5" dirty="0">
                <a:latin typeface="宋体"/>
                <a:cs typeface="宋体"/>
              </a:rPr>
              <a:t>排</a:t>
            </a:r>
            <a:r>
              <a:rPr sz="2800" b="1" spc="-10" dirty="0">
                <a:latin typeface="宋体"/>
                <a:cs typeface="宋体"/>
              </a:rPr>
              <a:t>列	</a:t>
            </a:r>
            <a:r>
              <a:rPr sz="2800" b="1" dirty="0">
                <a:latin typeface="Times New Roman"/>
                <a:cs typeface="Times New Roman"/>
              </a:rPr>
              <a:t>&lt;1,2,3,4,5,6&gt;</a:t>
            </a: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tabLst>
                <a:tab pos="1492250" algn="l"/>
              </a:tabLst>
            </a:pPr>
            <a:r>
              <a:rPr sz="2800" b="1" spc="-5" dirty="0">
                <a:latin typeface="宋体"/>
                <a:cs typeface="宋体"/>
              </a:rPr>
              <a:t>半径排列</a:t>
            </a:r>
            <a:r>
              <a:rPr sz="2800" b="1" dirty="0">
                <a:latin typeface="Times New Roman"/>
                <a:cs typeface="Times New Roman"/>
              </a:rPr>
              <a:t>:	1,1,2,2,3,5</a:t>
            </a:r>
            <a:endParaRPr sz="2800" dirty="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8159574"/>
              </p:ext>
            </p:extLst>
          </p:nvPr>
        </p:nvGraphicFramePr>
        <p:xfrm>
          <a:off x="2051988" y="2685181"/>
          <a:ext cx="4726938" cy="356234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9575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86233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64234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864235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862329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  <a:gridCol w="864235">
                  <a:extLst>
                    <a:ext uri="{9D8B030D-6E8A-4147-A177-3AD203B41FA5}">
                      <a16:colId xmlns="" xmlns:a16="http://schemas.microsoft.com/office/drawing/2014/main" val="20005"/>
                    </a:ext>
                  </a:extLst>
                </a:gridCol>
              </a:tblGrid>
              <a:tr h="514351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k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3845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i="1" spc="5" dirty="0">
                          <a:latin typeface="Times New Roman"/>
                          <a:cs typeface="Times New Roman"/>
                        </a:rPr>
                        <a:t>r</a:t>
                      </a:r>
                      <a:r>
                        <a:rPr sz="2600" b="1" i="1" spc="7" baseline="-2564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00" baseline="-25641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i="1" spc="5" dirty="0">
                          <a:latin typeface="Times New Roman"/>
                          <a:cs typeface="Times New Roman"/>
                        </a:rPr>
                        <a:t>d</a:t>
                      </a:r>
                      <a:r>
                        <a:rPr sz="2600" b="1" i="1" spc="7" baseline="-2564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00" baseline="-25641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i="1" spc="5" dirty="0">
                          <a:latin typeface="Times New Roman"/>
                          <a:cs typeface="Times New Roman"/>
                        </a:rPr>
                        <a:t>x</a:t>
                      </a:r>
                      <a:r>
                        <a:rPr sz="2600" b="1" i="1" spc="7" baseline="-2564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00" baseline="-25641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i="1" spc="5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600" b="1" i="1" spc="7" baseline="-2564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00" baseline="-25641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i="1" dirty="0">
                          <a:latin typeface="Times New Roman"/>
                          <a:cs typeface="Times New Roman"/>
                        </a:rPr>
                        <a:t>L</a:t>
                      </a:r>
                      <a:r>
                        <a:rPr sz="2600" b="1" i="1" baseline="-25641" dirty="0">
                          <a:latin typeface="Times New Roman"/>
                          <a:cs typeface="Times New Roman"/>
                        </a:rPr>
                        <a:t>k</a:t>
                      </a:r>
                      <a:endParaRPr sz="2600" baseline="-25641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01648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0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1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12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3867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2.8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4.8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7.8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19.8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2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8.8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30" dirty="0">
                          <a:latin typeface="Times New Roman"/>
                          <a:cs typeface="Times New Roman"/>
                        </a:rPr>
                        <a:t>11.8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19.8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3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4.9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13.7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17.7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20891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23.7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511175">
                <a:tc>
                  <a:txBody>
                    <a:bodyPr/>
                    <a:lstStyle/>
                    <a:p>
                      <a:pPr marL="14033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6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366395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dirty="0">
                          <a:latin typeface="Times New Roman"/>
                          <a:cs typeface="Times New Roman"/>
                        </a:rPr>
                        <a:t>5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7.7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21.4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27.4</a:t>
                      </a:r>
                      <a:endParaRPr sz="270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tc>
                  <a:txBody>
                    <a:bodyPr/>
                    <a:lstStyle/>
                    <a:p>
                      <a:pPr marL="259079"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r>
                        <a:rPr sz="2700" b="1" spc="-5" dirty="0">
                          <a:latin typeface="Times New Roman"/>
                          <a:cs typeface="Times New Roman"/>
                        </a:rPr>
                        <a:t>27.4</a:t>
                      </a:r>
                      <a:endParaRPr sz="27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ADAD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bject 6"/>
          <p:cNvSpPr txBox="1"/>
          <p:nvPr/>
        </p:nvSpPr>
        <p:spPr>
          <a:xfrm>
            <a:off x="6247762" y="1649385"/>
            <a:ext cx="68516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455930" algn="l"/>
              </a:tabLst>
            </a:pPr>
            <a:r>
              <a:rPr sz="1800" b="1" i="1" dirty="0">
                <a:latin typeface="Times New Roman"/>
                <a:cs typeface="Times New Roman"/>
              </a:rPr>
              <a:t>d</a:t>
            </a:r>
            <a:r>
              <a:rPr sz="1800" b="1" baseline="-20833" dirty="0">
                <a:latin typeface="Times New Roman"/>
                <a:cs typeface="Times New Roman"/>
              </a:rPr>
              <a:t>2	</a:t>
            </a:r>
            <a:r>
              <a:rPr sz="1800" b="1" i="1" dirty="0">
                <a:latin typeface="Times New Roman"/>
                <a:cs typeface="Times New Roman"/>
              </a:rPr>
              <a:t>d</a:t>
            </a:r>
            <a:r>
              <a:rPr sz="1800" b="1" baseline="-20833" dirty="0">
                <a:latin typeface="Times New Roman"/>
                <a:cs typeface="Times New Roman"/>
              </a:rPr>
              <a:t>3</a:t>
            </a:r>
            <a:endParaRPr sz="1800" baseline="-20833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6147390" y="1556003"/>
            <a:ext cx="0" cy="3556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6519246" y="1556003"/>
            <a:ext cx="0" cy="3556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961844" y="1111503"/>
            <a:ext cx="347980" cy="444500"/>
          </a:xfrm>
          <a:custGeom>
            <a:avLst/>
            <a:gdLst/>
            <a:ahLst/>
            <a:cxnLst/>
            <a:rect l="l" t="t" r="r" b="b"/>
            <a:pathLst>
              <a:path w="347979" h="333375">
                <a:moveTo>
                  <a:pt x="173736" y="0"/>
                </a:moveTo>
                <a:lnTo>
                  <a:pt x="127551" y="5947"/>
                </a:lnTo>
                <a:lnTo>
                  <a:pt x="86049" y="22733"/>
                </a:lnTo>
                <a:lnTo>
                  <a:pt x="50887" y="48768"/>
                </a:lnTo>
                <a:lnTo>
                  <a:pt x="23720" y="82465"/>
                </a:lnTo>
                <a:lnTo>
                  <a:pt x="6206" y="122237"/>
                </a:lnTo>
                <a:lnTo>
                  <a:pt x="0" y="166497"/>
                </a:lnTo>
                <a:lnTo>
                  <a:pt x="6206" y="210756"/>
                </a:lnTo>
                <a:lnTo>
                  <a:pt x="23720" y="250528"/>
                </a:lnTo>
                <a:lnTo>
                  <a:pt x="50887" y="284226"/>
                </a:lnTo>
                <a:lnTo>
                  <a:pt x="86049" y="310261"/>
                </a:lnTo>
                <a:lnTo>
                  <a:pt x="127551" y="327046"/>
                </a:lnTo>
                <a:lnTo>
                  <a:pt x="173736" y="332994"/>
                </a:lnTo>
                <a:lnTo>
                  <a:pt x="219920" y="327046"/>
                </a:lnTo>
                <a:lnTo>
                  <a:pt x="261422" y="310261"/>
                </a:lnTo>
                <a:lnTo>
                  <a:pt x="296584" y="284226"/>
                </a:lnTo>
                <a:lnTo>
                  <a:pt x="323751" y="250528"/>
                </a:lnTo>
                <a:lnTo>
                  <a:pt x="341265" y="210756"/>
                </a:lnTo>
                <a:lnTo>
                  <a:pt x="347472" y="166497"/>
                </a:lnTo>
                <a:lnTo>
                  <a:pt x="341265" y="122237"/>
                </a:lnTo>
                <a:lnTo>
                  <a:pt x="323751" y="82465"/>
                </a:lnTo>
                <a:lnTo>
                  <a:pt x="296584" y="48768"/>
                </a:lnTo>
                <a:lnTo>
                  <a:pt x="261422" y="22733"/>
                </a:lnTo>
                <a:lnTo>
                  <a:pt x="219920" y="5947"/>
                </a:lnTo>
                <a:lnTo>
                  <a:pt x="173736" y="0"/>
                </a:lnTo>
                <a:close/>
              </a:path>
            </a:pathLst>
          </a:custGeom>
          <a:solidFill>
            <a:srgbClr val="C3D6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961844" y="1111506"/>
            <a:ext cx="347980" cy="444500"/>
          </a:xfrm>
          <a:custGeom>
            <a:avLst/>
            <a:gdLst/>
            <a:ahLst/>
            <a:cxnLst/>
            <a:rect l="l" t="t" r="r" b="b"/>
            <a:pathLst>
              <a:path w="347979" h="333375">
                <a:moveTo>
                  <a:pt x="0" y="166497"/>
                </a:moveTo>
                <a:lnTo>
                  <a:pt x="6206" y="122237"/>
                </a:lnTo>
                <a:lnTo>
                  <a:pt x="23720" y="82465"/>
                </a:lnTo>
                <a:lnTo>
                  <a:pt x="50887" y="48768"/>
                </a:lnTo>
                <a:lnTo>
                  <a:pt x="86049" y="22733"/>
                </a:lnTo>
                <a:lnTo>
                  <a:pt x="127551" y="5947"/>
                </a:lnTo>
                <a:lnTo>
                  <a:pt x="173736" y="0"/>
                </a:lnTo>
                <a:lnTo>
                  <a:pt x="219920" y="5947"/>
                </a:lnTo>
                <a:lnTo>
                  <a:pt x="261422" y="22733"/>
                </a:lnTo>
                <a:lnTo>
                  <a:pt x="296584" y="48768"/>
                </a:lnTo>
                <a:lnTo>
                  <a:pt x="323751" y="82465"/>
                </a:lnTo>
                <a:lnTo>
                  <a:pt x="341265" y="122237"/>
                </a:lnTo>
                <a:lnTo>
                  <a:pt x="347472" y="166497"/>
                </a:lnTo>
                <a:lnTo>
                  <a:pt x="341265" y="210756"/>
                </a:lnTo>
                <a:lnTo>
                  <a:pt x="323751" y="250528"/>
                </a:lnTo>
                <a:lnTo>
                  <a:pt x="296584" y="284226"/>
                </a:lnTo>
                <a:lnTo>
                  <a:pt x="261422" y="310261"/>
                </a:lnTo>
                <a:lnTo>
                  <a:pt x="219920" y="327046"/>
                </a:lnTo>
                <a:lnTo>
                  <a:pt x="173736" y="332994"/>
                </a:lnTo>
                <a:lnTo>
                  <a:pt x="127551" y="327046"/>
                </a:lnTo>
                <a:lnTo>
                  <a:pt x="86049" y="310261"/>
                </a:lnTo>
                <a:lnTo>
                  <a:pt x="50887" y="284226"/>
                </a:lnTo>
                <a:lnTo>
                  <a:pt x="23720" y="250528"/>
                </a:lnTo>
                <a:lnTo>
                  <a:pt x="6206" y="210756"/>
                </a:lnTo>
                <a:lnTo>
                  <a:pt x="0" y="166497"/>
                </a:lnTo>
                <a:close/>
              </a:path>
            </a:pathLst>
          </a:custGeom>
          <a:ln w="2895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33700" y="1111503"/>
            <a:ext cx="349250" cy="444500"/>
          </a:xfrm>
          <a:custGeom>
            <a:avLst/>
            <a:gdLst/>
            <a:ahLst/>
            <a:cxnLst/>
            <a:rect l="l" t="t" r="r" b="b"/>
            <a:pathLst>
              <a:path w="349250" h="333375">
                <a:moveTo>
                  <a:pt x="174498" y="0"/>
                </a:moveTo>
                <a:lnTo>
                  <a:pt x="128111" y="5947"/>
                </a:lnTo>
                <a:lnTo>
                  <a:pt x="86427" y="22733"/>
                </a:lnTo>
                <a:lnTo>
                  <a:pt x="51111" y="48768"/>
                </a:lnTo>
                <a:lnTo>
                  <a:pt x="23825" y="82465"/>
                </a:lnTo>
                <a:lnTo>
                  <a:pt x="6233" y="122237"/>
                </a:lnTo>
                <a:lnTo>
                  <a:pt x="0" y="166497"/>
                </a:lnTo>
                <a:lnTo>
                  <a:pt x="6233" y="210756"/>
                </a:lnTo>
                <a:lnTo>
                  <a:pt x="23825" y="250528"/>
                </a:lnTo>
                <a:lnTo>
                  <a:pt x="51111" y="284226"/>
                </a:lnTo>
                <a:lnTo>
                  <a:pt x="86427" y="310261"/>
                </a:lnTo>
                <a:lnTo>
                  <a:pt x="128111" y="327046"/>
                </a:lnTo>
                <a:lnTo>
                  <a:pt x="174498" y="332994"/>
                </a:lnTo>
                <a:lnTo>
                  <a:pt x="220884" y="327046"/>
                </a:lnTo>
                <a:lnTo>
                  <a:pt x="262568" y="310261"/>
                </a:lnTo>
                <a:lnTo>
                  <a:pt x="297884" y="284226"/>
                </a:lnTo>
                <a:lnTo>
                  <a:pt x="325170" y="250528"/>
                </a:lnTo>
                <a:lnTo>
                  <a:pt x="342762" y="210756"/>
                </a:lnTo>
                <a:lnTo>
                  <a:pt x="348996" y="166497"/>
                </a:lnTo>
                <a:lnTo>
                  <a:pt x="342762" y="122237"/>
                </a:lnTo>
                <a:lnTo>
                  <a:pt x="325170" y="82465"/>
                </a:lnTo>
                <a:lnTo>
                  <a:pt x="297884" y="48768"/>
                </a:lnTo>
                <a:lnTo>
                  <a:pt x="262568" y="22733"/>
                </a:lnTo>
                <a:lnTo>
                  <a:pt x="220884" y="5947"/>
                </a:lnTo>
                <a:lnTo>
                  <a:pt x="174498" y="0"/>
                </a:lnTo>
                <a:close/>
              </a:path>
            </a:pathLst>
          </a:custGeom>
          <a:solidFill>
            <a:srgbClr val="C3D69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333700" y="1111506"/>
            <a:ext cx="349250" cy="444500"/>
          </a:xfrm>
          <a:custGeom>
            <a:avLst/>
            <a:gdLst/>
            <a:ahLst/>
            <a:cxnLst/>
            <a:rect l="l" t="t" r="r" b="b"/>
            <a:pathLst>
              <a:path w="349250" h="333375">
                <a:moveTo>
                  <a:pt x="0" y="166497"/>
                </a:moveTo>
                <a:lnTo>
                  <a:pt x="6233" y="122237"/>
                </a:lnTo>
                <a:lnTo>
                  <a:pt x="23825" y="82465"/>
                </a:lnTo>
                <a:lnTo>
                  <a:pt x="51111" y="48768"/>
                </a:lnTo>
                <a:lnTo>
                  <a:pt x="86427" y="22733"/>
                </a:lnTo>
                <a:lnTo>
                  <a:pt x="128111" y="5947"/>
                </a:lnTo>
                <a:lnTo>
                  <a:pt x="174498" y="0"/>
                </a:lnTo>
                <a:lnTo>
                  <a:pt x="220884" y="5947"/>
                </a:lnTo>
                <a:lnTo>
                  <a:pt x="262568" y="22733"/>
                </a:lnTo>
                <a:lnTo>
                  <a:pt x="297884" y="48768"/>
                </a:lnTo>
                <a:lnTo>
                  <a:pt x="325170" y="82465"/>
                </a:lnTo>
                <a:lnTo>
                  <a:pt x="342762" y="122237"/>
                </a:lnTo>
                <a:lnTo>
                  <a:pt x="348996" y="166497"/>
                </a:lnTo>
                <a:lnTo>
                  <a:pt x="342762" y="210756"/>
                </a:lnTo>
                <a:lnTo>
                  <a:pt x="325170" y="250528"/>
                </a:lnTo>
                <a:lnTo>
                  <a:pt x="297884" y="284226"/>
                </a:lnTo>
                <a:lnTo>
                  <a:pt x="262568" y="310261"/>
                </a:lnTo>
                <a:lnTo>
                  <a:pt x="220884" y="327046"/>
                </a:lnTo>
                <a:lnTo>
                  <a:pt x="174498" y="332994"/>
                </a:lnTo>
                <a:lnTo>
                  <a:pt x="128111" y="327046"/>
                </a:lnTo>
                <a:lnTo>
                  <a:pt x="86427" y="310261"/>
                </a:lnTo>
                <a:lnTo>
                  <a:pt x="51111" y="284226"/>
                </a:lnTo>
                <a:lnTo>
                  <a:pt x="23825" y="250528"/>
                </a:lnTo>
                <a:lnTo>
                  <a:pt x="6233" y="210756"/>
                </a:lnTo>
                <a:lnTo>
                  <a:pt x="0" y="166497"/>
                </a:lnTo>
                <a:close/>
              </a:path>
            </a:pathLst>
          </a:custGeom>
          <a:ln w="2895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6658693" y="667003"/>
            <a:ext cx="695960" cy="889000"/>
          </a:xfrm>
          <a:custGeom>
            <a:avLst/>
            <a:gdLst/>
            <a:ahLst/>
            <a:cxnLst/>
            <a:rect l="l" t="t" r="r" b="b"/>
            <a:pathLst>
              <a:path w="695960" h="666750">
                <a:moveTo>
                  <a:pt x="347853" y="0"/>
                </a:moveTo>
                <a:lnTo>
                  <a:pt x="300651" y="3043"/>
                </a:lnTo>
                <a:lnTo>
                  <a:pt x="255380" y="11908"/>
                </a:lnTo>
                <a:lnTo>
                  <a:pt x="212453" y="26199"/>
                </a:lnTo>
                <a:lnTo>
                  <a:pt x="172285" y="45516"/>
                </a:lnTo>
                <a:lnTo>
                  <a:pt x="135290" y="69464"/>
                </a:lnTo>
                <a:lnTo>
                  <a:pt x="101884" y="97645"/>
                </a:lnTo>
                <a:lnTo>
                  <a:pt x="72479" y="129662"/>
                </a:lnTo>
                <a:lnTo>
                  <a:pt x="47492" y="165116"/>
                </a:lnTo>
                <a:lnTo>
                  <a:pt x="27336" y="203612"/>
                </a:lnTo>
                <a:lnTo>
                  <a:pt x="12425" y="244752"/>
                </a:lnTo>
                <a:lnTo>
                  <a:pt x="3175" y="288139"/>
                </a:lnTo>
                <a:lnTo>
                  <a:pt x="0" y="333375"/>
                </a:lnTo>
                <a:lnTo>
                  <a:pt x="3175" y="378610"/>
                </a:lnTo>
                <a:lnTo>
                  <a:pt x="12425" y="421997"/>
                </a:lnTo>
                <a:lnTo>
                  <a:pt x="27336" y="463137"/>
                </a:lnTo>
                <a:lnTo>
                  <a:pt x="47492" y="501633"/>
                </a:lnTo>
                <a:lnTo>
                  <a:pt x="72479" y="537087"/>
                </a:lnTo>
                <a:lnTo>
                  <a:pt x="101884" y="569104"/>
                </a:lnTo>
                <a:lnTo>
                  <a:pt x="135290" y="597285"/>
                </a:lnTo>
                <a:lnTo>
                  <a:pt x="172285" y="621233"/>
                </a:lnTo>
                <a:lnTo>
                  <a:pt x="212453" y="640550"/>
                </a:lnTo>
                <a:lnTo>
                  <a:pt x="255380" y="654841"/>
                </a:lnTo>
                <a:lnTo>
                  <a:pt x="300651" y="663706"/>
                </a:lnTo>
                <a:lnTo>
                  <a:pt x="347853" y="666750"/>
                </a:lnTo>
                <a:lnTo>
                  <a:pt x="395054" y="663706"/>
                </a:lnTo>
                <a:lnTo>
                  <a:pt x="440325" y="654841"/>
                </a:lnTo>
                <a:lnTo>
                  <a:pt x="483252" y="640550"/>
                </a:lnTo>
                <a:lnTo>
                  <a:pt x="523420" y="621233"/>
                </a:lnTo>
                <a:lnTo>
                  <a:pt x="560415" y="597285"/>
                </a:lnTo>
                <a:lnTo>
                  <a:pt x="593821" y="569104"/>
                </a:lnTo>
                <a:lnTo>
                  <a:pt x="623226" y="537087"/>
                </a:lnTo>
                <a:lnTo>
                  <a:pt x="648213" y="501633"/>
                </a:lnTo>
                <a:lnTo>
                  <a:pt x="668369" y="463137"/>
                </a:lnTo>
                <a:lnTo>
                  <a:pt x="683280" y="421997"/>
                </a:lnTo>
                <a:lnTo>
                  <a:pt x="692530" y="378610"/>
                </a:lnTo>
                <a:lnTo>
                  <a:pt x="695706" y="333375"/>
                </a:lnTo>
                <a:lnTo>
                  <a:pt x="692530" y="288139"/>
                </a:lnTo>
                <a:lnTo>
                  <a:pt x="683280" y="244752"/>
                </a:lnTo>
                <a:lnTo>
                  <a:pt x="668369" y="203612"/>
                </a:lnTo>
                <a:lnTo>
                  <a:pt x="648213" y="165116"/>
                </a:lnTo>
                <a:lnTo>
                  <a:pt x="623226" y="129662"/>
                </a:lnTo>
                <a:lnTo>
                  <a:pt x="593821" y="97645"/>
                </a:lnTo>
                <a:lnTo>
                  <a:pt x="560415" y="69464"/>
                </a:lnTo>
                <a:lnTo>
                  <a:pt x="523420" y="45516"/>
                </a:lnTo>
                <a:lnTo>
                  <a:pt x="483252" y="26199"/>
                </a:lnTo>
                <a:lnTo>
                  <a:pt x="440325" y="11908"/>
                </a:lnTo>
                <a:lnTo>
                  <a:pt x="395054" y="3043"/>
                </a:lnTo>
                <a:lnTo>
                  <a:pt x="347853" y="0"/>
                </a:lnTo>
                <a:close/>
              </a:path>
            </a:pathLst>
          </a:custGeom>
          <a:solidFill>
            <a:srgbClr val="C4BD97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6658693" y="667003"/>
            <a:ext cx="695960" cy="889000"/>
          </a:xfrm>
          <a:custGeom>
            <a:avLst/>
            <a:gdLst/>
            <a:ahLst/>
            <a:cxnLst/>
            <a:rect l="l" t="t" r="r" b="b"/>
            <a:pathLst>
              <a:path w="695960" h="666750">
                <a:moveTo>
                  <a:pt x="0" y="333375"/>
                </a:moveTo>
                <a:lnTo>
                  <a:pt x="3175" y="288139"/>
                </a:lnTo>
                <a:lnTo>
                  <a:pt x="12425" y="244752"/>
                </a:lnTo>
                <a:lnTo>
                  <a:pt x="27336" y="203612"/>
                </a:lnTo>
                <a:lnTo>
                  <a:pt x="47492" y="165116"/>
                </a:lnTo>
                <a:lnTo>
                  <a:pt x="72479" y="129662"/>
                </a:lnTo>
                <a:lnTo>
                  <a:pt x="101884" y="97645"/>
                </a:lnTo>
                <a:lnTo>
                  <a:pt x="135290" y="69464"/>
                </a:lnTo>
                <a:lnTo>
                  <a:pt x="172285" y="45516"/>
                </a:lnTo>
                <a:lnTo>
                  <a:pt x="212453" y="26199"/>
                </a:lnTo>
                <a:lnTo>
                  <a:pt x="255380" y="11908"/>
                </a:lnTo>
                <a:lnTo>
                  <a:pt x="300651" y="3043"/>
                </a:lnTo>
                <a:lnTo>
                  <a:pt x="347853" y="0"/>
                </a:lnTo>
                <a:lnTo>
                  <a:pt x="395054" y="3043"/>
                </a:lnTo>
                <a:lnTo>
                  <a:pt x="440325" y="11908"/>
                </a:lnTo>
                <a:lnTo>
                  <a:pt x="483252" y="26199"/>
                </a:lnTo>
                <a:lnTo>
                  <a:pt x="523420" y="45516"/>
                </a:lnTo>
                <a:lnTo>
                  <a:pt x="560415" y="69464"/>
                </a:lnTo>
                <a:lnTo>
                  <a:pt x="593821" y="97645"/>
                </a:lnTo>
                <a:lnTo>
                  <a:pt x="623226" y="129662"/>
                </a:lnTo>
                <a:lnTo>
                  <a:pt x="648213" y="165116"/>
                </a:lnTo>
                <a:lnTo>
                  <a:pt x="668369" y="203612"/>
                </a:lnTo>
                <a:lnTo>
                  <a:pt x="683280" y="244752"/>
                </a:lnTo>
                <a:lnTo>
                  <a:pt x="692530" y="288139"/>
                </a:lnTo>
                <a:lnTo>
                  <a:pt x="695706" y="333375"/>
                </a:lnTo>
                <a:lnTo>
                  <a:pt x="692530" y="378610"/>
                </a:lnTo>
                <a:lnTo>
                  <a:pt x="683280" y="421997"/>
                </a:lnTo>
                <a:lnTo>
                  <a:pt x="668369" y="463137"/>
                </a:lnTo>
                <a:lnTo>
                  <a:pt x="648213" y="501633"/>
                </a:lnTo>
                <a:lnTo>
                  <a:pt x="623226" y="537087"/>
                </a:lnTo>
                <a:lnTo>
                  <a:pt x="593821" y="569104"/>
                </a:lnTo>
                <a:lnTo>
                  <a:pt x="560415" y="597285"/>
                </a:lnTo>
                <a:lnTo>
                  <a:pt x="523420" y="621233"/>
                </a:lnTo>
                <a:lnTo>
                  <a:pt x="483252" y="640550"/>
                </a:lnTo>
                <a:lnTo>
                  <a:pt x="440325" y="654841"/>
                </a:lnTo>
                <a:lnTo>
                  <a:pt x="395054" y="663706"/>
                </a:lnTo>
                <a:lnTo>
                  <a:pt x="347853" y="666750"/>
                </a:lnTo>
                <a:lnTo>
                  <a:pt x="300651" y="663706"/>
                </a:lnTo>
                <a:lnTo>
                  <a:pt x="255380" y="654841"/>
                </a:lnTo>
                <a:lnTo>
                  <a:pt x="212453" y="640550"/>
                </a:lnTo>
                <a:lnTo>
                  <a:pt x="172285" y="621233"/>
                </a:lnTo>
                <a:lnTo>
                  <a:pt x="135290" y="597285"/>
                </a:lnTo>
                <a:lnTo>
                  <a:pt x="101884" y="569104"/>
                </a:lnTo>
                <a:lnTo>
                  <a:pt x="72479" y="537087"/>
                </a:lnTo>
                <a:lnTo>
                  <a:pt x="47492" y="501633"/>
                </a:lnTo>
                <a:lnTo>
                  <a:pt x="27336" y="463137"/>
                </a:lnTo>
                <a:lnTo>
                  <a:pt x="12425" y="421997"/>
                </a:lnTo>
                <a:lnTo>
                  <a:pt x="3175" y="378610"/>
                </a:lnTo>
                <a:lnTo>
                  <a:pt x="0" y="333375"/>
                </a:lnTo>
                <a:close/>
              </a:path>
            </a:pathLst>
          </a:custGeom>
          <a:ln w="2514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6984828" y="1556003"/>
            <a:ext cx="0" cy="355600"/>
          </a:xfrm>
          <a:custGeom>
            <a:avLst/>
            <a:gdLst/>
            <a:ahLst/>
            <a:cxnLst/>
            <a:rect l="l" t="t" r="r" b="b"/>
            <a:pathLst>
              <a:path h="266700">
                <a:moveTo>
                  <a:pt x="0" y="0"/>
                </a:moveTo>
                <a:lnTo>
                  <a:pt x="0" y="266700"/>
                </a:lnTo>
              </a:path>
            </a:pathLst>
          </a:custGeom>
          <a:ln w="990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6582746" y="1674876"/>
            <a:ext cx="339090" cy="0"/>
          </a:xfrm>
          <a:custGeom>
            <a:avLst/>
            <a:gdLst/>
            <a:ahLst/>
            <a:cxnLst/>
            <a:rect l="l" t="t" r="r" b="b"/>
            <a:pathLst>
              <a:path w="339089">
                <a:moveTo>
                  <a:pt x="0" y="0"/>
                </a:moveTo>
                <a:lnTo>
                  <a:pt x="338582" y="0"/>
                </a:lnTo>
              </a:path>
            </a:pathLst>
          </a:custGeom>
          <a:ln w="1270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6908630" y="1624072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76200">
                <a:moveTo>
                  <a:pt x="0" y="0"/>
                </a:moveTo>
                <a:lnTo>
                  <a:pt x="0" y="76200"/>
                </a:lnTo>
                <a:lnTo>
                  <a:pt x="7620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6147392" y="1624072"/>
            <a:ext cx="448056" cy="1016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6105164" y="1265607"/>
            <a:ext cx="511809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2430" algn="l"/>
              </a:tabLst>
            </a:pPr>
            <a:r>
              <a:rPr sz="1500" spc="-5" dirty="0">
                <a:latin typeface="Arial"/>
                <a:cs typeface="Arial"/>
              </a:rPr>
              <a:t>0	2</a:t>
            </a:r>
            <a:endParaRPr sz="15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847922" y="1236905"/>
            <a:ext cx="289560" cy="2436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" dirty="0">
                <a:latin typeface="Arial"/>
                <a:cs typeface="Arial"/>
              </a:rPr>
              <a:t>4.8</a:t>
            </a:r>
            <a:endParaRPr sz="15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730959" y="2073402"/>
            <a:ext cx="1937385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2200" b="1" i="1" spc="-5" dirty="0">
                <a:solidFill>
                  <a:srgbClr val="0070C0"/>
                </a:solidFill>
                <a:latin typeface="Times New Roman"/>
                <a:cs typeface="Times New Roman"/>
              </a:rPr>
              <a:t>L</a:t>
            </a:r>
            <a:r>
              <a:rPr sz="2175" b="1" spc="-7" baseline="-21072" dirty="0">
                <a:solidFill>
                  <a:srgbClr val="0070C0"/>
                </a:solidFill>
                <a:latin typeface="Times New Roman"/>
                <a:cs typeface="Times New Roman"/>
              </a:rPr>
              <a:t>3</a:t>
            </a:r>
            <a:r>
              <a:rPr sz="2200" b="1" spc="-5" dirty="0">
                <a:solidFill>
                  <a:srgbClr val="0070C0"/>
                </a:solidFill>
                <a:latin typeface="Times New Roman"/>
                <a:cs typeface="Times New Roman"/>
              </a:rPr>
              <a:t>=7.8+12=19.8</a:t>
            </a:r>
            <a:endParaRPr sz="22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94040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71452" y="260648"/>
            <a:ext cx="382128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实例计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9552" y="1204553"/>
            <a:ext cx="7992888" cy="1025281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5"/>
              </a:spcBef>
              <a:tabLst>
                <a:tab pos="1504950" algn="l"/>
              </a:tabLst>
            </a:pPr>
            <a:r>
              <a:rPr sz="2800" b="1" spc="-5" dirty="0">
                <a:latin typeface="宋体"/>
                <a:cs typeface="宋体"/>
              </a:rPr>
              <a:t>半径排列</a:t>
            </a:r>
            <a:r>
              <a:rPr sz="2800" b="1" dirty="0">
                <a:latin typeface="Times New Roman"/>
                <a:cs typeface="Times New Roman"/>
              </a:rPr>
              <a:t>:	</a:t>
            </a:r>
            <a:r>
              <a:rPr sz="2800" b="1" spc="-5" dirty="0">
                <a:latin typeface="Times New Roman"/>
                <a:cs typeface="Times New Roman"/>
              </a:rPr>
              <a:t>1,1,2,2,3,5</a:t>
            </a:r>
            <a:r>
              <a:rPr sz="2800" b="1" spc="-5" dirty="0">
                <a:latin typeface="宋体"/>
                <a:cs typeface="宋体"/>
              </a:rPr>
              <a:t>，可行解</a:t>
            </a:r>
            <a:r>
              <a:rPr sz="2800" b="1" i="1" spc="-5" dirty="0">
                <a:latin typeface="Times New Roman"/>
                <a:cs typeface="Times New Roman"/>
              </a:rPr>
              <a:t>l</a:t>
            </a:r>
            <a:r>
              <a:rPr sz="2800" b="1" spc="-7" baseline="-20833" dirty="0">
                <a:latin typeface="Times New Roman"/>
                <a:cs typeface="Times New Roman"/>
              </a:rPr>
              <a:t>6</a:t>
            </a:r>
            <a:r>
              <a:rPr sz="2800" b="1" spc="-15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=27.4</a:t>
            </a:r>
            <a:endParaRPr sz="2800" dirty="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75"/>
              </a:spcBef>
            </a:pPr>
            <a:r>
              <a:rPr sz="2800" b="1" spc="-5" dirty="0">
                <a:latin typeface="宋体"/>
                <a:cs typeface="宋体"/>
              </a:rPr>
              <a:t>最优解：</a:t>
            </a:r>
            <a:r>
              <a:rPr sz="2800" b="1" spc="-5" dirty="0">
                <a:latin typeface="Times New Roman"/>
                <a:cs typeface="Times New Roman"/>
              </a:rPr>
              <a:t>&lt;1,3,5,6,4,2&gt;,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最短长度</a:t>
            </a:r>
            <a:r>
              <a:rPr sz="2800" b="1" dirty="0">
                <a:latin typeface="Times New Roman"/>
                <a:cs typeface="Times New Roman"/>
              </a:rPr>
              <a:t>26.5</a:t>
            </a:r>
            <a:endParaRPr sz="2800" dirty="0">
              <a:latin typeface="Times New Roman"/>
              <a:cs typeface="Times New Roman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592" y="2708920"/>
            <a:ext cx="6666667" cy="30380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8147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45305" y="404664"/>
            <a:ext cx="1042669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0" y="1537716"/>
            <a:ext cx="8292916" cy="279704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1780" indent="-259079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271145" algn="l"/>
                <a:tab pos="271780" algn="l"/>
              </a:tabLs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园排列问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题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定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义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271780" indent="-259079">
              <a:lnSpc>
                <a:spcPct val="100000"/>
              </a:lnSpc>
              <a:spcBef>
                <a:spcPts val="1895"/>
              </a:spcBef>
              <a:buFont typeface="Arial"/>
              <a:buChar char="•"/>
              <a:tabLst>
                <a:tab pos="271145" algn="l"/>
                <a:tab pos="271780" algn="l"/>
              </a:tabLs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如何设计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代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价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函数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？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17500" marR="5080">
              <a:lnSpc>
                <a:spcPct val="120800"/>
              </a:lnSpc>
            </a:pP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已有的排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列</a:t>
            </a:r>
            <a:r>
              <a:rPr sz="2800" b="1" spc="5" dirty="0" err="1">
                <a:latin typeface="黑体" pitchFamily="49" charset="-122"/>
                <a:ea typeface="黑体" pitchFamily="49" charset="-122"/>
                <a:cs typeface="宋体"/>
              </a:rPr>
              <a:t>长</a:t>
            </a: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度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Times New Roman"/>
              </a:rPr>
              <a:t>+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后续的圆排列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17500" marR="5080">
              <a:lnSpc>
                <a:spcPct val="120800"/>
              </a:lnSpc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长度的下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界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271780" indent="-259079">
              <a:lnSpc>
                <a:spcPct val="100000"/>
              </a:lnSpc>
              <a:spcBef>
                <a:spcPts val="1560"/>
              </a:spcBef>
              <a:buFont typeface="Arial"/>
              <a:buChar char="•"/>
              <a:tabLst>
                <a:tab pos="271145" algn="l"/>
                <a:tab pos="271780" algn="l"/>
              </a:tabLst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时间复杂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度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估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计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：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O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((</a:t>
            </a:r>
            <a:r>
              <a:rPr sz="2800" b="1" i="1" spc="-5" dirty="0">
                <a:latin typeface="黑体" pitchFamily="49" charset="-122"/>
                <a:ea typeface="黑体" pitchFamily="49" charset="-122"/>
                <a:cs typeface="Times New Roman"/>
              </a:rPr>
              <a:t>n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Times New Roman"/>
              </a:rPr>
              <a:t>+1)!)</a:t>
            </a:r>
            <a:endParaRPr sz="2800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081019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1640" y="2544579"/>
            <a:ext cx="6840760" cy="10284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600" spc="-15" dirty="0">
                <a:latin typeface="黑体" pitchFamily="49" charset="-122"/>
                <a:ea typeface="黑体" pitchFamily="49" charset="-122"/>
              </a:rPr>
              <a:t>连续</a:t>
            </a:r>
            <a:r>
              <a:rPr sz="6600" spc="5" dirty="0">
                <a:latin typeface="黑体" pitchFamily="49" charset="-122"/>
                <a:ea typeface="黑体" pitchFamily="49" charset="-122"/>
              </a:rPr>
              <a:t>邮</a:t>
            </a:r>
            <a:r>
              <a:rPr sz="6600" spc="-5" dirty="0">
                <a:latin typeface="黑体" pitchFamily="49" charset="-122"/>
                <a:ea typeface="黑体" pitchFamily="49" charset="-122"/>
              </a:rPr>
              <a:t>资问</a:t>
            </a:r>
            <a:r>
              <a:rPr sz="6600" spc="-25" dirty="0">
                <a:latin typeface="黑体" pitchFamily="49" charset="-122"/>
                <a:ea typeface="黑体" pitchFamily="49" charset="-122"/>
              </a:rPr>
              <a:t>题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9676659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31925" y="391254"/>
            <a:ext cx="580437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连续邮资问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题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9740" y="1431881"/>
            <a:ext cx="8072700" cy="130548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问题</a:t>
            </a:r>
            <a:r>
              <a:rPr sz="2800" b="1" spc="-5" dirty="0">
                <a:latin typeface="宋体"/>
                <a:cs typeface="宋体"/>
              </a:rPr>
              <a:t>：给</a:t>
            </a:r>
            <a:r>
              <a:rPr sz="2800" b="1" spc="-10" dirty="0">
                <a:latin typeface="宋体"/>
                <a:cs typeface="宋体"/>
              </a:rPr>
              <a:t>定</a:t>
            </a:r>
            <a:r>
              <a:rPr sz="2800" b="1" spc="-600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-25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宋体"/>
                <a:cs typeface="宋体"/>
              </a:rPr>
              <a:t>种不同</a:t>
            </a:r>
            <a:r>
              <a:rPr sz="2800" b="1" dirty="0" err="1">
                <a:latin typeface="宋体"/>
                <a:cs typeface="宋体"/>
              </a:rPr>
              <a:t>面值的邮</a:t>
            </a:r>
            <a:r>
              <a:rPr sz="2800" b="1" spc="-5" dirty="0" err="1">
                <a:latin typeface="宋体"/>
                <a:cs typeface="宋体"/>
              </a:rPr>
              <a:t>票</a:t>
            </a:r>
            <a:r>
              <a:rPr sz="2800" b="1" spc="5" dirty="0" err="1">
                <a:latin typeface="Times New Roman"/>
                <a:cs typeface="Times New Roman"/>
              </a:rPr>
              <a:t>,</a:t>
            </a:r>
            <a:r>
              <a:rPr sz="2800" b="1" spc="-10" dirty="0" err="1" smtClean="0">
                <a:latin typeface="宋体"/>
                <a:cs typeface="宋体"/>
              </a:rPr>
              <a:t>每</a:t>
            </a:r>
            <a:r>
              <a:rPr sz="2800" b="1" spc="-5" dirty="0" err="1" smtClean="0">
                <a:latin typeface="宋体"/>
                <a:cs typeface="宋体"/>
              </a:rPr>
              <a:t>个信封至</a:t>
            </a:r>
            <a:r>
              <a:rPr sz="2800" b="1" dirty="0" err="1" smtClean="0">
                <a:latin typeface="宋体"/>
                <a:cs typeface="宋体"/>
              </a:rPr>
              <a:t>多</a:t>
            </a:r>
            <a:r>
              <a:rPr sz="2800" b="1" spc="-10" dirty="0" err="1" smtClean="0">
                <a:latin typeface="宋体"/>
                <a:cs typeface="宋体"/>
              </a:rPr>
              <a:t>贴</a:t>
            </a:r>
            <a:r>
              <a:rPr sz="2800" b="1" spc="-595" dirty="0" smtClean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i="1" spc="-35" dirty="0">
                <a:latin typeface="Times New Roman"/>
                <a:cs typeface="Times New Roman"/>
              </a:rPr>
              <a:t> </a:t>
            </a:r>
            <a:r>
              <a:rPr sz="2800" b="1" spc="-5" dirty="0" err="1">
                <a:latin typeface="宋体"/>
                <a:cs typeface="宋体"/>
              </a:rPr>
              <a:t>张，</a:t>
            </a:r>
            <a:r>
              <a:rPr sz="2800" b="1" spc="-5" dirty="0" err="1" smtClean="0">
                <a:latin typeface="宋体"/>
                <a:cs typeface="宋体"/>
              </a:rPr>
              <a:t>试给</a:t>
            </a:r>
            <a:r>
              <a:rPr sz="2800" b="1" dirty="0" err="1" smtClean="0">
                <a:latin typeface="宋体"/>
                <a:cs typeface="宋体"/>
              </a:rPr>
              <a:t>出邮</a:t>
            </a:r>
            <a:r>
              <a:rPr sz="2800" b="1" spc="5" dirty="0" err="1" smtClean="0">
                <a:latin typeface="宋体"/>
                <a:cs typeface="宋体"/>
              </a:rPr>
              <a:t>票</a:t>
            </a:r>
            <a:r>
              <a:rPr sz="2800" b="1" spc="-10" dirty="0" err="1" smtClean="0">
                <a:latin typeface="宋体"/>
                <a:cs typeface="宋体"/>
              </a:rPr>
              <a:t>的</a:t>
            </a:r>
            <a:r>
              <a:rPr sz="2800" b="1" spc="-5" dirty="0" err="1" smtClean="0">
                <a:latin typeface="宋体"/>
                <a:cs typeface="宋体"/>
              </a:rPr>
              <a:t>最佳设计</a:t>
            </a:r>
            <a:r>
              <a:rPr sz="2800" b="1" dirty="0" err="1">
                <a:latin typeface="宋体"/>
                <a:cs typeface="宋体"/>
              </a:rPr>
              <a:t>，</a:t>
            </a:r>
            <a:r>
              <a:rPr sz="2800" b="1" spc="5" dirty="0" err="1">
                <a:latin typeface="宋体"/>
                <a:cs typeface="宋体"/>
              </a:rPr>
              <a:t>使</a:t>
            </a:r>
            <a:r>
              <a:rPr sz="2800" b="1" dirty="0" err="1">
                <a:latin typeface="宋体"/>
                <a:cs typeface="宋体"/>
              </a:rPr>
              <a:t>得</a:t>
            </a:r>
            <a:r>
              <a:rPr sz="2800" b="1" spc="-10" dirty="0" err="1">
                <a:latin typeface="宋体"/>
                <a:cs typeface="宋体"/>
              </a:rPr>
              <a:t>从</a:t>
            </a:r>
            <a:r>
              <a:rPr sz="2800" b="1" spc="-610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宋体"/>
                <a:cs typeface="宋体"/>
              </a:rPr>
              <a:t>开始，增</a:t>
            </a:r>
            <a:r>
              <a:rPr sz="2800" b="1" dirty="0">
                <a:latin typeface="宋体"/>
                <a:cs typeface="宋体"/>
              </a:rPr>
              <a:t>量</a:t>
            </a:r>
            <a:r>
              <a:rPr sz="2800" b="1" spc="-10" dirty="0">
                <a:latin typeface="宋体"/>
                <a:cs typeface="宋体"/>
              </a:rPr>
              <a:t>为</a:t>
            </a:r>
            <a:r>
              <a:rPr sz="2800" b="1" spc="-60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1  </a:t>
            </a:r>
            <a:r>
              <a:rPr sz="2800" b="1" spc="-5" dirty="0">
                <a:latin typeface="宋体"/>
                <a:cs typeface="宋体"/>
              </a:rPr>
              <a:t>的连续邮</a:t>
            </a:r>
            <a:r>
              <a:rPr sz="2800" b="1" dirty="0">
                <a:latin typeface="宋体"/>
                <a:cs typeface="宋体"/>
              </a:rPr>
              <a:t>资</a:t>
            </a:r>
            <a:r>
              <a:rPr sz="2800" b="1" spc="5" dirty="0">
                <a:latin typeface="宋体"/>
                <a:cs typeface="宋体"/>
              </a:rPr>
              <a:t>区</a:t>
            </a:r>
            <a:r>
              <a:rPr sz="2800" b="1" dirty="0">
                <a:latin typeface="宋体"/>
                <a:cs typeface="宋体"/>
              </a:rPr>
              <a:t>间达到最大</a:t>
            </a:r>
            <a:r>
              <a:rPr sz="2800" b="1" spc="-10" dirty="0">
                <a:latin typeface="宋体"/>
                <a:cs typeface="宋体"/>
              </a:rPr>
              <a:t>？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4340" y="3545163"/>
            <a:ext cx="8098100" cy="2451953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820"/>
              </a:spcBef>
            </a:pPr>
            <a:r>
              <a:rPr sz="2800" b="1" spc="-5" dirty="0">
                <a:solidFill>
                  <a:srgbClr val="C00000"/>
                </a:solidFill>
                <a:latin typeface="宋体"/>
                <a:cs typeface="宋体"/>
              </a:rPr>
              <a:t>实例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i="1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5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m</a:t>
            </a:r>
            <a:r>
              <a:rPr sz="2800" b="1" i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4.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20"/>
              </a:spcBef>
            </a:pPr>
            <a:r>
              <a:rPr sz="2800" b="1" spc="-5" dirty="0">
                <a:latin typeface="宋体"/>
                <a:cs typeface="宋体"/>
              </a:rPr>
              <a:t>设计</a:t>
            </a:r>
            <a:r>
              <a:rPr sz="2800" b="1" spc="-5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宋体"/>
                <a:cs typeface="宋体"/>
              </a:rPr>
              <a:t>：面</a:t>
            </a:r>
            <a:r>
              <a:rPr sz="2800" b="1" spc="-10" dirty="0">
                <a:latin typeface="宋体"/>
                <a:cs typeface="宋体"/>
              </a:rPr>
              <a:t>值</a:t>
            </a:r>
            <a:r>
              <a:rPr sz="2800" b="1" spc="-2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spc="-22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10" dirty="0">
                <a:latin typeface="Times New Roman"/>
                <a:cs typeface="Times New Roman"/>
              </a:rPr>
              <a:t>&lt;1,3,11,15,32&gt;</a:t>
            </a:r>
            <a:r>
              <a:rPr sz="2800" b="1" spc="-10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1104900">
              <a:lnSpc>
                <a:spcPct val="100000"/>
              </a:lnSpc>
            </a:pPr>
            <a:r>
              <a:rPr sz="2800" b="1" spc="-5" dirty="0">
                <a:latin typeface="宋体"/>
                <a:cs typeface="宋体"/>
              </a:rPr>
              <a:t>邮资连续</a:t>
            </a:r>
            <a:r>
              <a:rPr sz="2800" b="1" dirty="0">
                <a:latin typeface="宋体"/>
                <a:cs typeface="宋体"/>
              </a:rPr>
              <a:t>区</a:t>
            </a:r>
            <a:r>
              <a:rPr sz="2800" b="1" spc="-10" dirty="0">
                <a:latin typeface="宋体"/>
                <a:cs typeface="宋体"/>
              </a:rPr>
              <a:t>间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{1,2,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,70}</a:t>
            </a:r>
            <a:endParaRPr sz="2800" dirty="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40"/>
              </a:spcBef>
            </a:pPr>
            <a:r>
              <a:rPr sz="2800" b="1" spc="-5" dirty="0">
                <a:latin typeface="宋体"/>
                <a:cs typeface="宋体"/>
              </a:rPr>
              <a:t>设计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宋体"/>
                <a:cs typeface="宋体"/>
              </a:rPr>
              <a:t>：面</a:t>
            </a:r>
            <a:r>
              <a:rPr sz="2800" b="1" spc="-10" dirty="0">
                <a:latin typeface="宋体"/>
                <a:cs typeface="宋体"/>
              </a:rPr>
              <a:t>值</a:t>
            </a:r>
            <a:r>
              <a:rPr sz="2800" b="1" spc="1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spc="-15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2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&lt;1,6,10,20,30&gt;</a:t>
            </a:r>
            <a:r>
              <a:rPr sz="2800" b="1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1104900">
              <a:lnSpc>
                <a:spcPct val="100000"/>
              </a:lnSpc>
            </a:pPr>
            <a:r>
              <a:rPr sz="2800" b="1" spc="-5" dirty="0">
                <a:latin typeface="宋体"/>
                <a:cs typeface="宋体"/>
              </a:rPr>
              <a:t>邮资连续</a:t>
            </a:r>
            <a:r>
              <a:rPr sz="2800" b="1" dirty="0">
                <a:latin typeface="宋体"/>
                <a:cs typeface="宋体"/>
              </a:rPr>
              <a:t>区</a:t>
            </a:r>
            <a:r>
              <a:rPr sz="2800" b="1" spc="-10" dirty="0">
                <a:latin typeface="宋体"/>
                <a:cs typeface="宋体"/>
              </a:rPr>
              <a:t>间</a:t>
            </a:r>
            <a:r>
              <a:rPr sz="2800" b="1" spc="-580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{1,2,3,4}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5800" y="5203965"/>
            <a:ext cx="655122" cy="313267"/>
          </a:xfrm>
          <a:custGeom>
            <a:avLst/>
            <a:gdLst/>
            <a:ahLst/>
            <a:cxnLst/>
            <a:rect l="l" t="t" r="r" b="b"/>
            <a:pathLst>
              <a:path w="379730" h="234950">
                <a:moveTo>
                  <a:pt x="0" y="44704"/>
                </a:moveTo>
                <a:lnTo>
                  <a:pt x="145097" y="234696"/>
                </a:lnTo>
                <a:lnTo>
                  <a:pt x="379476" y="0"/>
                </a:lnTo>
              </a:path>
            </a:pathLst>
          </a:custGeom>
          <a:ln w="38100">
            <a:solidFill>
              <a:srgbClr val="FF0000"/>
            </a:solidFill>
          </a:ln>
        </p:spPr>
        <p:txBody>
          <a:bodyPr wrap="square" lIns="0" tIns="0" rIns="0" bIns="0" rtlCol="0"/>
          <a:lstStyle/>
          <a:p>
            <a:endParaRPr sz="2800"/>
          </a:p>
        </p:txBody>
      </p:sp>
    </p:spTree>
    <p:extLst>
      <p:ext uri="{BB962C8B-B14F-4D97-AF65-F5344CB8AC3E}">
        <p14:creationId xmlns:p14="http://schemas.microsoft.com/office/powerpoint/2010/main" val="359341694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79040" y="355270"/>
            <a:ext cx="576131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算法设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641" y="1436964"/>
            <a:ext cx="8326823" cy="384592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670"/>
              </a:spcBef>
              <a:tabLst>
                <a:tab pos="208407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可行</a:t>
            </a:r>
            <a:r>
              <a:rPr sz="2800" b="1" spc="-10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spc="-590" dirty="0">
                <a:solidFill>
                  <a:srgbClr val="C00000"/>
                </a:solidFill>
                <a:latin typeface="宋体"/>
                <a:cs typeface="宋体"/>
              </a:rPr>
              <a:t> 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5" dirty="0">
                <a:latin typeface="Times New Roman"/>
                <a:cs typeface="Times New Roman"/>
              </a:rPr>
              <a:t>&lt;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1</a:t>
            </a:r>
            <a:r>
              <a:rPr sz="2800" b="1" dirty="0" smtClean="0">
                <a:latin typeface="Times New Roman"/>
                <a:cs typeface="Times New Roman"/>
              </a:rPr>
              <a:t>,</a:t>
            </a:r>
            <a:r>
              <a:rPr sz="2800" b="1" i="1" dirty="0" smtClean="0">
                <a:latin typeface="Times New Roman"/>
                <a:cs typeface="Times New Roman"/>
              </a:rPr>
              <a:t>x</a:t>
            </a:r>
            <a:r>
              <a:rPr sz="2800" b="1" baseline="-20833" dirty="0" smtClean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, … ,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n 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1 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spc="-6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R="666750" algn="ctr">
              <a:lnSpc>
                <a:spcPct val="100000"/>
              </a:lnSpc>
              <a:spcBef>
                <a:spcPts val="570"/>
              </a:spcBef>
            </a:pP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&lt;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2</a:t>
            </a:r>
            <a:r>
              <a:rPr sz="2800" b="1" dirty="0">
                <a:latin typeface="Times New Roman"/>
                <a:cs typeface="Times New Roman"/>
              </a:rPr>
              <a:t>&lt; …&lt;</a:t>
            </a:r>
            <a:r>
              <a:rPr sz="2800" b="1" spc="-5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n</a:t>
            </a:r>
            <a:endParaRPr sz="2800" baseline="-20833" dirty="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470"/>
              </a:spcBef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搜索策略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深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度优先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50800" marR="43180">
              <a:lnSpc>
                <a:spcPct val="100000"/>
              </a:lnSpc>
              <a:spcBef>
                <a:spcPts val="1920"/>
              </a:spcBef>
            </a:pP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约束条件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：在结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点</a:t>
            </a:r>
            <a:r>
              <a:rPr sz="2800" b="1" spc="-6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&lt;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1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,…,</a:t>
            </a:r>
            <a:r>
              <a:rPr sz="2800" b="1" spc="-25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&gt;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处，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邮资最大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连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续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为</a:t>
            </a:r>
            <a:r>
              <a:rPr sz="2800" b="1" dirty="0">
                <a:latin typeface="Times New Roman"/>
                <a:cs typeface="Times New Roman"/>
              </a:rPr>
              <a:t>{1,</a:t>
            </a:r>
            <a:r>
              <a:rPr sz="2800" b="1" spc="1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r</a:t>
            </a:r>
            <a:r>
              <a:rPr sz="2800" b="1" i="1" baseline="-20833" dirty="0">
                <a:latin typeface="Times New Roman"/>
                <a:cs typeface="Times New Roman"/>
              </a:rPr>
              <a:t>i </a:t>
            </a:r>
            <a:r>
              <a:rPr sz="2800" b="1" spc="-5" dirty="0">
                <a:latin typeface="Times New Roman"/>
                <a:cs typeface="Times New Roman"/>
              </a:rPr>
              <a:t>}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+1 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的取值范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围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是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427990" algn="ctr">
              <a:lnSpc>
                <a:spcPts val="2850"/>
              </a:lnSpc>
            </a:pPr>
            <a:r>
              <a:rPr sz="2800" b="1" spc="-5" dirty="0">
                <a:latin typeface="Times New Roman"/>
                <a:cs typeface="Times New Roman"/>
              </a:rPr>
              <a:t>{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+1, … , </a:t>
            </a:r>
            <a:r>
              <a:rPr sz="2800" b="1" i="1" dirty="0">
                <a:latin typeface="Times New Roman"/>
                <a:cs typeface="Times New Roman"/>
              </a:rPr>
              <a:t>r</a:t>
            </a:r>
            <a:r>
              <a:rPr sz="2800" b="1" i="1" baseline="-20833" dirty="0">
                <a:latin typeface="Times New Roman"/>
                <a:cs typeface="Times New Roman"/>
              </a:rPr>
              <a:t>i </a:t>
            </a:r>
            <a:r>
              <a:rPr sz="2800" b="1" dirty="0">
                <a:latin typeface="Times New Roman"/>
                <a:cs typeface="Times New Roman"/>
              </a:rPr>
              <a:t>+1</a:t>
            </a:r>
            <a:r>
              <a:rPr sz="2800" b="1" spc="-30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R="421640" algn="ctr">
              <a:lnSpc>
                <a:spcPct val="100000"/>
              </a:lnSpc>
              <a:spcBef>
                <a:spcPts val="30"/>
              </a:spcBef>
              <a:tabLst>
                <a:tab pos="1636395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/>
                <a:cs typeface="Times New Roman"/>
              </a:rPr>
              <a:t>&gt;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+1,	</a:t>
            </a:r>
            <a:r>
              <a:rPr sz="2800" b="1" i="1" spc="-5" dirty="0">
                <a:latin typeface="Times New Roman"/>
                <a:cs typeface="Times New Roman"/>
              </a:rPr>
              <a:t>r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5" dirty="0">
                <a:latin typeface="Times New Roman"/>
                <a:cs typeface="Times New Roman"/>
              </a:rPr>
              <a:t>+1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的邮资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将没法支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付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R="207010" algn="r">
              <a:lnSpc>
                <a:spcPct val="100000"/>
              </a:lnSpc>
              <a:spcBef>
                <a:spcPts val="90"/>
              </a:spcBef>
            </a:pP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98463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611560" y="1387178"/>
            <a:ext cx="7848872" cy="357200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110489">
              <a:lnSpc>
                <a:spcPct val="111100"/>
              </a:lnSpc>
              <a:spcBef>
                <a:spcPts val="95"/>
              </a:spcBef>
            </a:pPr>
            <a:r>
              <a:rPr sz="2800" b="1" i="1" dirty="0">
                <a:latin typeface="Times New Roman"/>
                <a:cs typeface="Times New Roman"/>
              </a:rPr>
              <a:t>y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15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j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宋体"/>
                <a:cs typeface="宋体"/>
              </a:rPr>
              <a:t>：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用至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多</a:t>
            </a:r>
            <a:r>
              <a:rPr sz="2800" b="1" spc="-595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m</a:t>
            </a:r>
            <a:r>
              <a:rPr sz="2800" b="1" i="1" spc="-15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张面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sz="2800" b="1" spc="-60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i="1" baseline="-20833" dirty="0">
                <a:latin typeface="Times New Roman"/>
                <a:cs typeface="Times New Roman"/>
              </a:rPr>
              <a:t>i</a:t>
            </a:r>
            <a:r>
              <a:rPr sz="2800" b="1" i="1" spc="-7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的邮票加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上</a:t>
            </a:r>
            <a:r>
              <a:rPr sz="2800" b="1" spc="-10" dirty="0">
                <a:latin typeface="宋体"/>
                <a:cs typeface="宋体"/>
              </a:rPr>
              <a:t> </a:t>
            </a:r>
            <a:r>
              <a:rPr sz="2800" b="1" i="1" dirty="0">
                <a:latin typeface="Times New Roman"/>
                <a:cs typeface="Times New Roman"/>
              </a:rPr>
              <a:t>x</a:t>
            </a:r>
            <a:r>
              <a:rPr sz="2800" b="1" baseline="-20833" dirty="0">
                <a:latin typeface="Times New Roman"/>
                <a:cs typeface="Times New Roman"/>
              </a:rPr>
              <a:t>1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5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7" baseline="-20833" dirty="0">
                <a:latin typeface="Times New Roman"/>
                <a:cs typeface="Times New Roman"/>
              </a:rPr>
              <a:t>2</a:t>
            </a:r>
            <a:r>
              <a:rPr sz="2800" b="1" spc="-5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…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,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i="1" spc="-7" baseline="-20833" dirty="0">
                <a:latin typeface="Times New Roman"/>
                <a:cs typeface="Times New Roman"/>
              </a:rPr>
              <a:t>i</a:t>
            </a:r>
            <a:r>
              <a:rPr sz="2800" b="1" spc="-7" baseline="-20833" dirty="0">
                <a:latin typeface="Times New Roman"/>
                <a:cs typeface="Times New Roman"/>
              </a:rPr>
              <a:t>-1</a:t>
            </a:r>
            <a:r>
              <a:rPr sz="2800" b="1" baseline="-20833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面值的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邮票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贴</a:t>
            </a:r>
            <a:r>
              <a:rPr sz="2800" b="1" spc="-58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i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j</a:t>
            </a:r>
            <a:r>
              <a:rPr sz="2800" b="1" i="1" spc="-2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邮资时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最少邮票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数</a:t>
            </a:r>
            <a:r>
              <a:rPr sz="2800" b="1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b="1" spc="-1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2400" dirty="0">
              <a:latin typeface="Times New Roman"/>
              <a:cs typeface="Times New Roman"/>
            </a:endParaRPr>
          </a:p>
          <a:p>
            <a:pPr marL="471170">
              <a:lnSpc>
                <a:spcPts val="2600"/>
              </a:lnSpc>
            </a:pPr>
            <a:r>
              <a:rPr sz="2800" b="1" i="1" spc="-20" dirty="0">
                <a:latin typeface="Times New Roman"/>
                <a:cs typeface="Times New Roman"/>
              </a:rPr>
              <a:t>y</a:t>
            </a:r>
            <a:r>
              <a:rPr sz="2800" b="1" i="1" spc="-30" baseline="-24691" dirty="0">
                <a:latin typeface="Times New Roman"/>
                <a:cs typeface="Times New Roman"/>
              </a:rPr>
              <a:t>i</a:t>
            </a:r>
            <a:r>
              <a:rPr sz="2800" b="1" i="1" spc="-75" baseline="-24691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(</a:t>
            </a:r>
            <a:r>
              <a:rPr sz="2800" b="1" spc="-120" dirty="0">
                <a:latin typeface="Times New Roman"/>
                <a:cs typeface="Times New Roman"/>
              </a:rPr>
              <a:t> </a:t>
            </a:r>
            <a:r>
              <a:rPr sz="2800" b="1" i="1" spc="20" dirty="0">
                <a:latin typeface="Times New Roman"/>
                <a:cs typeface="Times New Roman"/>
              </a:rPr>
              <a:t>j</a:t>
            </a:r>
            <a:r>
              <a:rPr sz="2800" b="1" spc="20" dirty="0">
                <a:latin typeface="Times New Roman"/>
                <a:cs typeface="Times New Roman"/>
              </a:rPr>
              <a:t>)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spc="-95" dirty="0">
                <a:latin typeface="Symbol"/>
                <a:cs typeface="Symbol"/>
              </a:rPr>
              <a:t></a:t>
            </a:r>
            <a:r>
              <a:rPr sz="2800" b="1" spc="-10" dirty="0">
                <a:latin typeface="Times New Roman"/>
                <a:cs typeface="Times New Roman"/>
              </a:rPr>
              <a:t> </a:t>
            </a:r>
            <a:r>
              <a:rPr sz="2800" b="1" spc="-75" dirty="0">
                <a:latin typeface="Times New Roman"/>
                <a:cs typeface="Times New Roman"/>
              </a:rPr>
              <a:t>min{</a:t>
            </a:r>
            <a:r>
              <a:rPr sz="2800" b="1" spc="-295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t</a:t>
            </a:r>
            <a:r>
              <a:rPr sz="2800" b="1" i="1" spc="-75" dirty="0">
                <a:latin typeface="Times New Roman"/>
                <a:cs typeface="Times New Roman"/>
              </a:rPr>
              <a:t> </a:t>
            </a:r>
            <a:r>
              <a:rPr sz="2800" b="1" spc="-95" dirty="0">
                <a:latin typeface="Symbol"/>
                <a:cs typeface="Symbol"/>
              </a:rPr>
              <a:t></a:t>
            </a:r>
            <a:r>
              <a:rPr sz="2800" b="1" spc="160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y</a:t>
            </a:r>
            <a:r>
              <a:rPr sz="2800" b="1" i="1" spc="-30" baseline="-24691" dirty="0">
                <a:latin typeface="Times New Roman"/>
                <a:cs typeface="Times New Roman"/>
              </a:rPr>
              <a:t>i</a:t>
            </a:r>
            <a:r>
              <a:rPr sz="2800" b="1" i="1" spc="-300" baseline="-24691" dirty="0">
                <a:latin typeface="Times New Roman"/>
                <a:cs typeface="Times New Roman"/>
              </a:rPr>
              <a:t> </a:t>
            </a:r>
            <a:r>
              <a:rPr sz="2800" b="1" spc="-37" baseline="-24691" dirty="0">
                <a:latin typeface="Symbol"/>
                <a:cs typeface="Symbol"/>
              </a:rPr>
              <a:t></a:t>
            </a:r>
            <a:r>
              <a:rPr sz="2800" b="1" spc="-37" baseline="-24691" dirty="0">
                <a:latin typeface="Times New Roman"/>
                <a:cs typeface="Times New Roman"/>
              </a:rPr>
              <a:t>1</a:t>
            </a:r>
            <a:r>
              <a:rPr sz="2800" b="1" spc="-254" baseline="-24691" dirty="0">
                <a:latin typeface="Times New Roman"/>
                <a:cs typeface="Times New Roman"/>
              </a:rPr>
              <a:t> </a:t>
            </a:r>
            <a:r>
              <a:rPr sz="2800" b="1" spc="-55" dirty="0">
                <a:latin typeface="Times New Roman"/>
                <a:cs typeface="Times New Roman"/>
              </a:rPr>
              <a:t>(</a:t>
            </a:r>
            <a:r>
              <a:rPr sz="2800" b="1" spc="-125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j</a:t>
            </a:r>
            <a:r>
              <a:rPr sz="2800" b="1" i="1" spc="-140" dirty="0">
                <a:latin typeface="Times New Roman"/>
                <a:cs typeface="Times New Roman"/>
              </a:rPr>
              <a:t> </a:t>
            </a:r>
            <a:r>
              <a:rPr sz="2800" b="1" spc="-95" dirty="0">
                <a:latin typeface="Symbol"/>
                <a:cs typeface="Symbol"/>
              </a:rPr>
              <a:t></a:t>
            </a:r>
            <a:r>
              <a:rPr sz="2800" b="1" spc="-150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t</a:t>
            </a:r>
            <a:r>
              <a:rPr sz="2800" b="1" i="1" spc="35" dirty="0">
                <a:latin typeface="Times New Roman"/>
                <a:cs typeface="Times New Roman"/>
              </a:rPr>
              <a:t> </a:t>
            </a:r>
            <a:r>
              <a:rPr sz="2800" b="1" i="1" spc="-20" dirty="0">
                <a:latin typeface="Times New Roman"/>
                <a:cs typeface="Times New Roman"/>
              </a:rPr>
              <a:t>x</a:t>
            </a:r>
            <a:r>
              <a:rPr sz="2800" b="1" i="1" spc="-30" baseline="-24691" dirty="0">
                <a:latin typeface="Times New Roman"/>
                <a:cs typeface="Times New Roman"/>
              </a:rPr>
              <a:t>i</a:t>
            </a:r>
            <a:r>
              <a:rPr sz="2800" b="1" i="1" spc="37" baseline="-24691" dirty="0">
                <a:latin typeface="Times New Roman"/>
                <a:cs typeface="Times New Roman"/>
              </a:rPr>
              <a:t> </a:t>
            </a:r>
            <a:r>
              <a:rPr sz="2800" b="1" spc="-60" dirty="0">
                <a:latin typeface="Times New Roman"/>
                <a:cs typeface="Times New Roman"/>
              </a:rPr>
              <a:t>)}</a:t>
            </a:r>
            <a:endParaRPr sz="2800" dirty="0">
              <a:latin typeface="Times New Roman"/>
              <a:cs typeface="Times New Roman"/>
            </a:endParaRPr>
          </a:p>
          <a:p>
            <a:pPr marL="1301115">
              <a:lnSpc>
                <a:spcPts val="1400"/>
              </a:lnSpc>
            </a:pPr>
            <a:r>
              <a:rPr sz="1600" b="1" dirty="0">
                <a:latin typeface="Times New Roman"/>
                <a:cs typeface="Times New Roman"/>
              </a:rPr>
              <a:t>1</a:t>
            </a:r>
            <a:r>
              <a:rPr sz="1600" b="1" dirty="0">
                <a:latin typeface="Symbol"/>
                <a:cs typeface="Symbol"/>
              </a:rPr>
              <a:t></a:t>
            </a:r>
            <a:r>
              <a:rPr sz="1600" b="1" i="1" dirty="0">
                <a:latin typeface="Times New Roman"/>
                <a:cs typeface="Times New Roman"/>
              </a:rPr>
              <a:t>t</a:t>
            </a:r>
            <a:r>
              <a:rPr sz="1600" b="1" i="1" spc="-204" dirty="0">
                <a:latin typeface="Times New Roman"/>
                <a:cs typeface="Times New Roman"/>
              </a:rPr>
              <a:t> </a:t>
            </a:r>
            <a:r>
              <a:rPr sz="1600" b="1" spc="5" dirty="0">
                <a:latin typeface="Symbol"/>
                <a:cs typeface="Symbol"/>
              </a:rPr>
              <a:t></a:t>
            </a:r>
            <a:r>
              <a:rPr sz="1600" b="1" i="1" spc="5" dirty="0">
                <a:latin typeface="Times New Roman"/>
                <a:cs typeface="Times New Roman"/>
              </a:rPr>
              <a:t>m</a:t>
            </a:r>
            <a:endParaRPr sz="1600" dirty="0">
              <a:latin typeface="Times New Roman"/>
              <a:cs typeface="Times New Roman"/>
            </a:endParaRPr>
          </a:p>
          <a:p>
            <a:pPr marL="470534">
              <a:lnSpc>
                <a:spcPct val="100000"/>
              </a:lnSpc>
              <a:spcBef>
                <a:spcPts val="425"/>
              </a:spcBef>
            </a:pPr>
            <a:r>
              <a:rPr sz="2800" b="1" i="1" spc="-65" dirty="0">
                <a:latin typeface="Times New Roman"/>
                <a:cs typeface="Times New Roman"/>
              </a:rPr>
              <a:t>y</a:t>
            </a:r>
            <a:r>
              <a:rPr sz="2800" b="1" spc="-97" baseline="-24691" dirty="0">
                <a:latin typeface="Times New Roman"/>
                <a:cs typeface="Times New Roman"/>
              </a:rPr>
              <a:t>1 </a:t>
            </a:r>
            <a:r>
              <a:rPr sz="2800" b="1" spc="-55" dirty="0">
                <a:latin typeface="Times New Roman"/>
                <a:cs typeface="Times New Roman"/>
              </a:rPr>
              <a:t>( </a:t>
            </a:r>
            <a:r>
              <a:rPr sz="2800" b="1" i="1" spc="20" dirty="0">
                <a:latin typeface="Times New Roman"/>
                <a:cs typeface="Times New Roman"/>
              </a:rPr>
              <a:t>j</a:t>
            </a:r>
            <a:r>
              <a:rPr sz="2800" b="1" spc="20" dirty="0">
                <a:latin typeface="Times New Roman"/>
                <a:cs typeface="Times New Roman"/>
              </a:rPr>
              <a:t>) </a:t>
            </a:r>
            <a:r>
              <a:rPr sz="2800" b="1" spc="-95" dirty="0">
                <a:latin typeface="Symbol"/>
                <a:cs typeface="Symbol"/>
              </a:rPr>
              <a:t></a:t>
            </a:r>
            <a:r>
              <a:rPr sz="2800" b="1" spc="40" dirty="0">
                <a:latin typeface="Times New Roman"/>
                <a:cs typeface="Times New Roman"/>
              </a:rPr>
              <a:t> </a:t>
            </a:r>
            <a:r>
              <a:rPr sz="2800" b="1" i="1" spc="-50" dirty="0">
                <a:latin typeface="Times New Roman"/>
                <a:cs typeface="Times New Roman"/>
              </a:rPr>
              <a:t>j</a:t>
            </a:r>
            <a:endParaRPr sz="2800" dirty="0">
              <a:latin typeface="Times New Roman"/>
              <a:cs typeface="Times New Roman"/>
            </a:endParaRPr>
          </a:p>
          <a:p>
            <a:pPr marL="436245">
              <a:lnSpc>
                <a:spcPct val="100000"/>
              </a:lnSpc>
              <a:spcBef>
                <a:spcPts val="800"/>
              </a:spcBef>
            </a:pPr>
            <a:r>
              <a:rPr sz="2800" b="1" i="1" spc="-110" dirty="0">
                <a:latin typeface="Times New Roman"/>
                <a:cs typeface="Times New Roman"/>
              </a:rPr>
              <a:t>r</a:t>
            </a:r>
            <a:r>
              <a:rPr sz="2800" b="1" i="1" spc="-165" baseline="-24691" dirty="0">
                <a:latin typeface="Times New Roman"/>
                <a:cs typeface="Times New Roman"/>
              </a:rPr>
              <a:t>i </a:t>
            </a:r>
            <a:r>
              <a:rPr sz="2800" b="1" spc="-95" dirty="0">
                <a:latin typeface="Symbol"/>
                <a:cs typeface="Symbol"/>
              </a:rPr>
              <a:t>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85" dirty="0">
                <a:latin typeface="Times New Roman"/>
                <a:cs typeface="Times New Roman"/>
              </a:rPr>
              <a:t>min{ </a:t>
            </a:r>
            <a:r>
              <a:rPr sz="2800" b="1" i="1" spc="-50" dirty="0">
                <a:latin typeface="Times New Roman"/>
                <a:cs typeface="Times New Roman"/>
              </a:rPr>
              <a:t>j </a:t>
            </a:r>
            <a:r>
              <a:rPr sz="2800" b="1" spc="-40" dirty="0">
                <a:latin typeface="Times New Roman"/>
                <a:cs typeface="Times New Roman"/>
              </a:rPr>
              <a:t>| </a:t>
            </a:r>
            <a:r>
              <a:rPr sz="2800" b="1" i="1" spc="-20" dirty="0">
                <a:latin typeface="Times New Roman"/>
                <a:cs typeface="Times New Roman"/>
              </a:rPr>
              <a:t>y</a:t>
            </a:r>
            <a:r>
              <a:rPr sz="2800" b="1" i="1" spc="-30" baseline="-24691" dirty="0">
                <a:latin typeface="Times New Roman"/>
                <a:cs typeface="Times New Roman"/>
              </a:rPr>
              <a:t>i </a:t>
            </a:r>
            <a:r>
              <a:rPr sz="2800" b="1" spc="-55" dirty="0">
                <a:latin typeface="Times New Roman"/>
                <a:cs typeface="Times New Roman"/>
              </a:rPr>
              <a:t>( </a:t>
            </a:r>
            <a:r>
              <a:rPr sz="2800" b="1" i="1" spc="20" dirty="0">
                <a:latin typeface="Times New Roman"/>
                <a:cs typeface="Times New Roman"/>
              </a:rPr>
              <a:t>j</a:t>
            </a:r>
            <a:r>
              <a:rPr sz="2800" b="1" spc="20" dirty="0">
                <a:latin typeface="Times New Roman"/>
                <a:cs typeface="Times New Roman"/>
              </a:rPr>
              <a:t>) </a:t>
            </a:r>
            <a:r>
              <a:rPr sz="2800" b="1" spc="-95" dirty="0">
                <a:latin typeface="Symbol"/>
                <a:cs typeface="Symbol"/>
              </a:rPr>
              <a:t>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i="1" spc="-30" dirty="0">
                <a:latin typeface="Times New Roman"/>
                <a:cs typeface="Times New Roman"/>
              </a:rPr>
              <a:t>m</a:t>
            </a:r>
            <a:r>
              <a:rPr sz="2800" b="1" spc="-30" dirty="0">
                <a:latin typeface="Times New Roman"/>
                <a:cs typeface="Times New Roman"/>
              </a:rPr>
              <a:t>, </a:t>
            </a:r>
            <a:r>
              <a:rPr sz="2800" b="1" i="1" spc="-20" dirty="0">
                <a:latin typeface="Times New Roman"/>
                <a:cs typeface="Times New Roman"/>
              </a:rPr>
              <a:t>y</a:t>
            </a:r>
            <a:r>
              <a:rPr sz="2800" b="1" i="1" spc="-30" baseline="-24691" dirty="0">
                <a:latin typeface="Times New Roman"/>
                <a:cs typeface="Times New Roman"/>
              </a:rPr>
              <a:t>i </a:t>
            </a:r>
            <a:r>
              <a:rPr sz="2800" b="1" spc="-55" dirty="0">
                <a:latin typeface="Times New Roman"/>
                <a:cs typeface="Times New Roman"/>
              </a:rPr>
              <a:t>( </a:t>
            </a:r>
            <a:r>
              <a:rPr sz="2800" b="1" i="1" spc="-50" dirty="0">
                <a:latin typeface="Times New Roman"/>
                <a:cs typeface="Times New Roman"/>
              </a:rPr>
              <a:t>j </a:t>
            </a:r>
            <a:r>
              <a:rPr sz="2800" b="1" spc="-95" dirty="0">
                <a:latin typeface="Symbol"/>
                <a:cs typeface="Symbol"/>
              </a:rPr>
              <a:t></a:t>
            </a:r>
            <a:r>
              <a:rPr sz="2800" b="1" spc="-95" dirty="0">
                <a:latin typeface="Times New Roman"/>
                <a:cs typeface="Times New Roman"/>
              </a:rPr>
              <a:t> </a:t>
            </a:r>
            <a:r>
              <a:rPr sz="2800" b="1" spc="-90" dirty="0">
                <a:latin typeface="Times New Roman"/>
                <a:cs typeface="Times New Roman"/>
              </a:rPr>
              <a:t>1) </a:t>
            </a:r>
            <a:r>
              <a:rPr sz="2800" b="1" spc="-95" dirty="0">
                <a:latin typeface="Symbol"/>
                <a:cs typeface="Symbol"/>
              </a:rPr>
              <a:t></a:t>
            </a:r>
            <a:r>
              <a:rPr sz="2800" b="1" spc="-240" dirty="0">
                <a:latin typeface="Times New Roman"/>
                <a:cs typeface="Times New Roman"/>
              </a:rPr>
              <a:t> </a:t>
            </a:r>
            <a:r>
              <a:rPr sz="2800" b="1" i="1" spc="-45" dirty="0">
                <a:latin typeface="Times New Roman"/>
                <a:cs typeface="Times New Roman"/>
              </a:rPr>
              <a:t>m</a:t>
            </a:r>
            <a:r>
              <a:rPr sz="2800" b="1" spc="-45" dirty="0">
                <a:latin typeface="Times New Roman"/>
                <a:cs typeface="Times New Roman"/>
              </a:rPr>
              <a:t>}</a:t>
            </a:r>
            <a:endParaRPr sz="2800" dirty="0">
              <a:latin typeface="Times New Roman"/>
              <a:cs typeface="Times New Roman"/>
            </a:endParaRPr>
          </a:p>
          <a:p>
            <a:pPr marL="127000">
              <a:lnSpc>
                <a:spcPts val="2660"/>
              </a:lnSpc>
              <a:spcBef>
                <a:spcPts val="2775"/>
              </a:spcBef>
            </a:pPr>
            <a:r>
              <a:rPr sz="28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界</a:t>
            </a:r>
            <a:r>
              <a:rPr sz="2800" b="1" spc="-5" dirty="0" err="1">
                <a:latin typeface="宋体"/>
                <a:cs typeface="宋体"/>
              </a:rPr>
              <a:t>：</a:t>
            </a:r>
            <a:r>
              <a:rPr sz="2800" b="1" i="1" spc="-5" dirty="0" err="1">
                <a:latin typeface="Times New Roman"/>
                <a:cs typeface="Times New Roman"/>
              </a:rPr>
              <a:t>max</a:t>
            </a:r>
            <a:r>
              <a:rPr sz="2800" b="1" spc="-5" dirty="0" err="1">
                <a:latin typeface="宋体"/>
                <a:cs typeface="宋体"/>
              </a:rPr>
              <a:t>，</a:t>
            </a:r>
            <a:r>
              <a:rPr sz="2800" b="1" i="1" spc="-5" dirty="0" err="1">
                <a:latin typeface="Times New Roman"/>
                <a:cs typeface="Times New Roman"/>
              </a:rPr>
              <a:t>m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张邮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票连</a:t>
            </a:r>
            <a:r>
              <a:rPr sz="2800" b="1" spc="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续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付的最大邮资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461136" y="420293"/>
            <a:ext cx="61352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4000" b="1" i="1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r</a:t>
            </a:r>
            <a:r>
              <a:rPr sz="4000" b="1" i="1" baseline="-20964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i</a:t>
            </a:r>
            <a:r>
              <a:rPr sz="4000" b="1" i="1" spc="-104" baseline="-20964" dirty="0">
                <a:solidFill>
                  <a:srgbClr val="C00000"/>
                </a:solidFill>
                <a:latin typeface="Times New Roman" panose="02020603050405020304" pitchFamily="18" charset="0"/>
                <a:ea typeface="黑体" pitchFamily="49" charset="-122"/>
                <a:cs typeface="Times New Roman" panose="02020603050405020304" pitchFamily="18" charset="0"/>
              </a:rPr>
              <a:t> </a:t>
            </a: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的计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</a:t>
            </a:r>
            <a:endParaRPr sz="4000" b="1" dirty="0">
              <a:solidFill>
                <a:srgbClr val="C00000"/>
              </a:solidFill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99592" y="2636912"/>
            <a:ext cx="5256584" cy="1728192"/>
          </a:xfrm>
          <a:custGeom>
            <a:avLst/>
            <a:gdLst/>
            <a:ahLst/>
            <a:cxnLst/>
            <a:rect l="l" t="t" r="r" b="b"/>
            <a:pathLst>
              <a:path w="4648200" h="1600200">
                <a:moveTo>
                  <a:pt x="0" y="266712"/>
                </a:moveTo>
                <a:lnTo>
                  <a:pt x="4296" y="218772"/>
                </a:lnTo>
                <a:lnTo>
                  <a:pt x="16685" y="173650"/>
                </a:lnTo>
                <a:lnTo>
                  <a:pt x="36412" y="132100"/>
                </a:lnTo>
                <a:lnTo>
                  <a:pt x="62725" y="94875"/>
                </a:lnTo>
                <a:lnTo>
                  <a:pt x="94870" y="62729"/>
                </a:lnTo>
                <a:lnTo>
                  <a:pt x="132095" y="36415"/>
                </a:lnTo>
                <a:lnTo>
                  <a:pt x="173645" y="16686"/>
                </a:lnTo>
                <a:lnTo>
                  <a:pt x="218769" y="4297"/>
                </a:lnTo>
                <a:lnTo>
                  <a:pt x="266712" y="0"/>
                </a:lnTo>
                <a:lnTo>
                  <a:pt x="4381487" y="0"/>
                </a:lnTo>
                <a:lnTo>
                  <a:pt x="4429430" y="4297"/>
                </a:lnTo>
                <a:lnTo>
                  <a:pt x="4474554" y="16686"/>
                </a:lnTo>
                <a:lnTo>
                  <a:pt x="4516104" y="36415"/>
                </a:lnTo>
                <a:lnTo>
                  <a:pt x="4553329" y="62729"/>
                </a:lnTo>
                <a:lnTo>
                  <a:pt x="4585474" y="94875"/>
                </a:lnTo>
                <a:lnTo>
                  <a:pt x="4611787" y="132100"/>
                </a:lnTo>
                <a:lnTo>
                  <a:pt x="4631514" y="173650"/>
                </a:lnTo>
                <a:lnTo>
                  <a:pt x="4643903" y="218772"/>
                </a:lnTo>
                <a:lnTo>
                  <a:pt x="4648200" y="266712"/>
                </a:lnTo>
                <a:lnTo>
                  <a:pt x="4648200" y="1333500"/>
                </a:lnTo>
                <a:lnTo>
                  <a:pt x="4643903" y="1381439"/>
                </a:lnTo>
                <a:lnTo>
                  <a:pt x="4631514" y="1426560"/>
                </a:lnTo>
                <a:lnTo>
                  <a:pt x="4611787" y="1468108"/>
                </a:lnTo>
                <a:lnTo>
                  <a:pt x="4585474" y="1505331"/>
                </a:lnTo>
                <a:lnTo>
                  <a:pt x="4553329" y="1537475"/>
                </a:lnTo>
                <a:lnTo>
                  <a:pt x="4516104" y="1563787"/>
                </a:lnTo>
                <a:lnTo>
                  <a:pt x="4474554" y="1583514"/>
                </a:lnTo>
                <a:lnTo>
                  <a:pt x="4429430" y="1595903"/>
                </a:lnTo>
                <a:lnTo>
                  <a:pt x="4381487" y="1600200"/>
                </a:lnTo>
                <a:lnTo>
                  <a:pt x="266712" y="1600200"/>
                </a:lnTo>
                <a:lnTo>
                  <a:pt x="218769" y="1595903"/>
                </a:lnTo>
                <a:lnTo>
                  <a:pt x="173645" y="1583514"/>
                </a:lnTo>
                <a:lnTo>
                  <a:pt x="132095" y="1563787"/>
                </a:lnTo>
                <a:lnTo>
                  <a:pt x="94870" y="1537475"/>
                </a:lnTo>
                <a:lnTo>
                  <a:pt x="62725" y="1505331"/>
                </a:lnTo>
                <a:lnTo>
                  <a:pt x="36412" y="1468108"/>
                </a:lnTo>
                <a:lnTo>
                  <a:pt x="16685" y="1426560"/>
                </a:lnTo>
                <a:lnTo>
                  <a:pt x="4296" y="1381439"/>
                </a:lnTo>
                <a:lnTo>
                  <a:pt x="0" y="1333500"/>
                </a:lnTo>
                <a:lnTo>
                  <a:pt x="0" y="266712"/>
                </a:lnTo>
                <a:close/>
              </a:path>
            </a:pathLst>
          </a:custGeom>
          <a:ln w="2514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95924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9592" y="260648"/>
            <a:ext cx="7337471" cy="6899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部分搜索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树</a:t>
            </a:r>
            <a:r>
              <a:rPr spc="-65" dirty="0"/>
              <a:t> </a:t>
            </a:r>
            <a:r>
              <a:rPr i="1" dirty="0">
                <a:latin typeface="Times New Roman"/>
                <a:cs typeface="Times New Roman"/>
              </a:rPr>
              <a:t>n</a:t>
            </a:r>
            <a:r>
              <a:rPr dirty="0">
                <a:latin typeface="Times New Roman"/>
                <a:cs typeface="Times New Roman"/>
              </a:rPr>
              <a:t>=4,</a:t>
            </a:r>
            <a:r>
              <a:rPr i="1" dirty="0">
                <a:latin typeface="Times New Roman"/>
                <a:cs typeface="Times New Roman"/>
              </a:rPr>
              <a:t>m</a:t>
            </a:r>
            <a:r>
              <a:rPr dirty="0">
                <a:latin typeface="Times New Roman"/>
                <a:cs typeface="Times New Roman"/>
              </a:rPr>
              <a:t>=3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181151" y="2791525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18438" y="3774368"/>
            <a:ext cx="28003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10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517364" y="2743820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286683" y="2776639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80436" y="2689688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098924" y="2684613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8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62241" y="2939036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5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455222" y="1029540"/>
            <a:ext cx="42481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i="1" spc="-5" dirty="0">
                <a:latin typeface="Times New Roman"/>
                <a:cs typeface="Times New Roman"/>
              </a:rPr>
              <a:t>x</a:t>
            </a:r>
            <a:r>
              <a:rPr sz="2000" b="1" spc="-5" dirty="0">
                <a:latin typeface="Times New Roman"/>
                <a:cs typeface="Times New Roman"/>
              </a:rPr>
              <a:t>=1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024238" y="1843142"/>
            <a:ext cx="1162685" cy="5764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640080">
              <a:lnSpc>
                <a:spcPts val="2185"/>
              </a:lnSpc>
              <a:spcBef>
                <a:spcPts val="95"/>
              </a:spcBef>
            </a:pPr>
            <a:r>
              <a:rPr sz="2000" b="1" i="1" dirty="0">
                <a:latin typeface="Times New Roman"/>
                <a:cs typeface="Times New Roman"/>
              </a:rPr>
              <a:t>x</a:t>
            </a:r>
            <a:r>
              <a:rPr sz="1950" b="1" baseline="-25641" dirty="0">
                <a:latin typeface="Times New Roman"/>
                <a:cs typeface="Times New Roman"/>
              </a:rPr>
              <a:t>2</a:t>
            </a:r>
            <a:r>
              <a:rPr sz="2000" b="1" dirty="0">
                <a:latin typeface="Times New Roman"/>
                <a:cs typeface="Times New Roman"/>
              </a:rPr>
              <a:t>=2</a:t>
            </a:r>
            <a:endParaRPr sz="2000">
              <a:latin typeface="Times New Roman"/>
              <a:cs typeface="Times New Roman"/>
            </a:endParaRPr>
          </a:p>
          <a:p>
            <a:pPr marL="38100">
              <a:lnSpc>
                <a:spcPts val="2185"/>
              </a:lnSpc>
            </a:pP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2000" b="1" i="1" spc="155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=6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228079" y="1887304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latin typeface="Times New Roman"/>
                <a:cs typeface="Times New Roman"/>
              </a:rPr>
              <a:t>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29821" y="1283624"/>
            <a:ext cx="532130" cy="1127873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000" b="1" i="1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1950" b="1" baseline="-25641" dirty="0">
                <a:solidFill>
                  <a:srgbClr val="C00000"/>
                </a:solidFill>
                <a:latin typeface="Times New Roman"/>
                <a:cs typeface="Times New Roman"/>
              </a:rPr>
              <a:t>1</a:t>
            </a:r>
            <a:r>
              <a:rPr sz="2000" b="1" dirty="0">
                <a:solidFill>
                  <a:srgbClr val="C00000"/>
                </a:solidFill>
                <a:latin typeface="Times New Roman"/>
                <a:cs typeface="Times New Roman"/>
              </a:rPr>
              <a:t>=3</a:t>
            </a:r>
            <a:endParaRPr sz="2000">
              <a:latin typeface="Times New Roman"/>
              <a:cs typeface="Times New Roman"/>
            </a:endParaRPr>
          </a:p>
          <a:p>
            <a:pPr marL="236854">
              <a:lnSpc>
                <a:spcPts val="2255"/>
              </a:lnSpc>
              <a:spcBef>
                <a:spcPts val="1680"/>
              </a:spcBef>
            </a:pPr>
            <a:r>
              <a:rPr sz="2000" b="1" spc="-5" dirty="0">
                <a:latin typeface="Times New Roman"/>
                <a:cs typeface="Times New Roman"/>
              </a:rPr>
              <a:t>3</a:t>
            </a:r>
            <a:endParaRPr sz="2000">
              <a:latin typeface="Times New Roman"/>
              <a:cs typeface="Times New Roman"/>
            </a:endParaRPr>
          </a:p>
          <a:p>
            <a:pPr marL="279400">
              <a:lnSpc>
                <a:spcPts val="2255"/>
              </a:lnSpc>
            </a:pP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7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52508" y="2390275"/>
            <a:ext cx="560070" cy="529632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8419" algn="r">
              <a:lnSpc>
                <a:spcPts val="1550"/>
              </a:lnSpc>
              <a:spcBef>
                <a:spcPts val="130"/>
              </a:spcBef>
            </a:pPr>
            <a:r>
              <a:rPr sz="1300" b="1" spc="15" dirty="0">
                <a:solidFill>
                  <a:srgbClr val="C00000"/>
                </a:solidFill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  <a:p>
            <a:pPr marL="38100">
              <a:lnSpc>
                <a:spcPts val="2390"/>
              </a:lnSpc>
            </a:pPr>
            <a:r>
              <a:rPr sz="2000" b="1" i="1" dirty="0">
                <a:latin typeface="Times New Roman"/>
                <a:cs typeface="Times New Roman"/>
              </a:rPr>
              <a:t>x</a:t>
            </a:r>
            <a:r>
              <a:rPr sz="1950" b="1" baseline="-25641" dirty="0">
                <a:latin typeface="Times New Roman"/>
                <a:cs typeface="Times New Roman"/>
              </a:rPr>
              <a:t>3</a:t>
            </a:r>
            <a:r>
              <a:rPr sz="2000" b="1" dirty="0">
                <a:latin typeface="Times New Roman"/>
                <a:cs typeface="Times New Roman"/>
              </a:rPr>
              <a:t>=3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68785" y="3119045"/>
            <a:ext cx="989330" cy="6960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 indent="457200">
              <a:lnSpc>
                <a:spcPct val="111000"/>
              </a:lnSpc>
              <a:spcBef>
                <a:spcPts val="100"/>
              </a:spcBef>
            </a:pPr>
            <a:r>
              <a:rPr sz="2000" b="1" i="1" spc="-5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1950" b="1" spc="22" baseline="-25641" dirty="0">
                <a:solidFill>
                  <a:srgbClr val="C00000"/>
                </a:solidFill>
                <a:latin typeface="Times New Roman"/>
                <a:cs typeface="Times New Roman"/>
              </a:rPr>
              <a:t>3</a:t>
            </a: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=9  </a:t>
            </a:r>
            <a:r>
              <a:rPr sz="2000" b="1" i="1" spc="-5" dirty="0">
                <a:latin typeface="Times New Roman"/>
                <a:cs typeface="Times New Roman"/>
              </a:rPr>
              <a:t>x</a:t>
            </a:r>
            <a:r>
              <a:rPr sz="1950" b="1" spc="-7" baseline="-25641" dirty="0">
                <a:latin typeface="Times New Roman"/>
                <a:cs typeface="Times New Roman"/>
              </a:rPr>
              <a:t>4</a:t>
            </a:r>
            <a:r>
              <a:rPr sz="2000" b="1" spc="-5" dirty="0">
                <a:latin typeface="Times New Roman"/>
                <a:cs typeface="Times New Roman"/>
              </a:rPr>
              <a:t>=4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862788" y="2264935"/>
            <a:ext cx="152400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b="1" spc="-5" dirty="0">
                <a:solidFill>
                  <a:srgbClr val="C00000"/>
                </a:solidFill>
                <a:latin typeface="Times New Roman"/>
                <a:cs typeface="Times New Roman"/>
              </a:rPr>
              <a:t>6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44651" y="1776984"/>
            <a:ext cx="5385054" cy="30053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3066179" y="3828380"/>
            <a:ext cx="110426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000" spc="-5" dirty="0">
                <a:latin typeface="Times New Roman"/>
                <a:cs typeface="Times New Roman"/>
              </a:rPr>
              <a:t>. . . . . . . .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.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28728" y="4690623"/>
            <a:ext cx="8159696" cy="12330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95"/>
              </a:spcBef>
              <a:tabLst>
                <a:tab pos="4442460" algn="l"/>
                <a:tab pos="5432425" algn="l"/>
              </a:tabLst>
            </a:pPr>
            <a:r>
              <a:rPr sz="3000" b="1" i="1" spc="-157" baseline="1388" dirty="0">
                <a:solidFill>
                  <a:srgbClr val="C00000"/>
                </a:solidFill>
                <a:latin typeface="Times New Roman"/>
                <a:cs typeface="Times New Roman"/>
              </a:rPr>
              <a:t>r</a:t>
            </a:r>
            <a:r>
              <a:rPr sz="1950" b="1" spc="-157" baseline="-23504" dirty="0">
                <a:solidFill>
                  <a:srgbClr val="C00000"/>
                </a:solidFill>
                <a:latin typeface="Times New Roman"/>
                <a:cs typeface="Times New Roman"/>
              </a:rPr>
              <a:t>4</a:t>
            </a:r>
            <a:r>
              <a:rPr sz="3000" b="1" spc="-157" baseline="1388" dirty="0">
                <a:solidFill>
                  <a:srgbClr val="C00000"/>
                </a:solidFill>
                <a:latin typeface="Times New Roman"/>
                <a:cs typeface="Times New Roman"/>
              </a:rPr>
              <a:t>=12 </a:t>
            </a:r>
            <a:r>
              <a:rPr sz="3000" b="1" spc="-112" baseline="-5555" dirty="0">
                <a:solidFill>
                  <a:srgbClr val="C00000"/>
                </a:solidFill>
                <a:latin typeface="Times New Roman"/>
                <a:cs typeface="Times New Roman"/>
              </a:rPr>
              <a:t>13 </a:t>
            </a:r>
            <a:r>
              <a:rPr sz="20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15 </a:t>
            </a:r>
            <a:r>
              <a:rPr sz="3000" b="1" spc="-112" baseline="-4166" dirty="0">
                <a:solidFill>
                  <a:srgbClr val="C00000"/>
                </a:solidFill>
                <a:latin typeface="Times New Roman"/>
                <a:cs typeface="Times New Roman"/>
              </a:rPr>
              <a:t>17 </a:t>
            </a:r>
            <a:r>
              <a:rPr sz="3000" b="1" spc="-112" baseline="1388" dirty="0">
                <a:solidFill>
                  <a:srgbClr val="C00000"/>
                </a:solidFill>
                <a:latin typeface="Times New Roman"/>
                <a:cs typeface="Times New Roman"/>
              </a:rPr>
              <a:t>14</a:t>
            </a:r>
            <a:r>
              <a:rPr sz="3000" b="1" spc="442" baseline="1388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3000" b="1" spc="-112" baseline="-4166" dirty="0">
                <a:solidFill>
                  <a:srgbClr val="C00000"/>
                </a:solidFill>
                <a:latin typeface="Times New Roman"/>
                <a:cs typeface="Times New Roman"/>
              </a:rPr>
              <a:t>15</a:t>
            </a:r>
            <a:r>
              <a:rPr sz="3000" b="1" spc="-225" baseline="-4166" dirty="0">
                <a:solidFill>
                  <a:srgbClr val="C00000"/>
                </a:solidFill>
                <a:latin typeface="Times New Roman"/>
                <a:cs typeface="Times New Roman"/>
              </a:rPr>
              <a:t> </a:t>
            </a:r>
            <a:r>
              <a:rPr sz="2000" b="1" spc="-75" dirty="0">
                <a:solidFill>
                  <a:srgbClr val="C00000"/>
                </a:solidFill>
                <a:latin typeface="Times New Roman"/>
                <a:cs typeface="Times New Roman"/>
              </a:rPr>
              <a:t>16	</a:t>
            </a:r>
            <a:r>
              <a:rPr sz="3000" b="1" spc="-7" baseline="1388" dirty="0">
                <a:solidFill>
                  <a:srgbClr val="C00000"/>
                </a:solidFill>
                <a:latin typeface="Times New Roman"/>
                <a:cs typeface="Times New Roman"/>
              </a:rPr>
              <a:t>18	</a:t>
            </a:r>
            <a:r>
              <a:rPr sz="3000" b="1" spc="-7" baseline="1388" dirty="0">
                <a:solidFill>
                  <a:srgbClr val="FF0000"/>
                </a:solidFill>
                <a:latin typeface="Times New Roman"/>
                <a:cs typeface="Times New Roman"/>
              </a:rPr>
              <a:t>21</a:t>
            </a:r>
            <a:endParaRPr sz="3000" baseline="1388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050" dirty="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</a:pPr>
            <a:r>
              <a:rPr sz="2800" b="1" spc="-5" dirty="0">
                <a:latin typeface="宋体"/>
                <a:cs typeface="宋体"/>
              </a:rPr>
              <a:t>解：</a:t>
            </a:r>
            <a:r>
              <a:rPr sz="2800" b="1" i="1" spc="-5" dirty="0">
                <a:latin typeface="Times New Roman"/>
                <a:cs typeface="Times New Roman"/>
              </a:rPr>
              <a:t>X</a:t>
            </a:r>
            <a:r>
              <a:rPr sz="2800" b="1" spc="-5" dirty="0">
                <a:latin typeface="Times New Roman"/>
                <a:cs typeface="Times New Roman"/>
              </a:rPr>
              <a:t>=&lt;1,4,6,7&gt;</a:t>
            </a:r>
            <a:r>
              <a:rPr sz="2800" b="1" spc="-5" dirty="0">
                <a:latin typeface="宋体"/>
                <a:cs typeface="宋体"/>
              </a:rPr>
              <a:t>，最大连</a:t>
            </a:r>
            <a:r>
              <a:rPr sz="2800" b="1" dirty="0">
                <a:latin typeface="宋体"/>
                <a:cs typeface="宋体"/>
              </a:rPr>
              <a:t>续区</a:t>
            </a:r>
            <a:r>
              <a:rPr sz="2800" b="1" spc="-10" dirty="0">
                <a:latin typeface="宋体"/>
                <a:cs typeface="宋体"/>
              </a:rPr>
              <a:t>间</a:t>
            </a:r>
            <a:r>
              <a:rPr sz="2800" b="1" spc="-580" dirty="0">
                <a:latin typeface="宋体"/>
                <a:cs typeface="宋体"/>
              </a:rPr>
              <a:t> </a:t>
            </a:r>
            <a:r>
              <a:rPr sz="2800" b="1" spc="-5" dirty="0">
                <a:latin typeface="Times New Roman"/>
                <a:cs typeface="Times New Roman"/>
              </a:rPr>
              <a:t>{1,…,21}</a:t>
            </a:r>
            <a:endParaRPr sz="28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46955" y="3809557"/>
            <a:ext cx="1487805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890905" algn="l"/>
                <a:tab pos="1195705" algn="l"/>
              </a:tabLst>
            </a:pPr>
            <a:r>
              <a:rPr sz="2000" b="1" spc="-5" dirty="0">
                <a:latin typeface="Times New Roman"/>
                <a:cs typeface="Times New Roman"/>
              </a:rPr>
              <a:t>6</a:t>
            </a:r>
            <a:r>
              <a:rPr sz="2000" b="1" spc="-305" dirty="0">
                <a:latin typeface="Times New Roman"/>
                <a:cs typeface="Times New Roman"/>
              </a:rPr>
              <a:t> </a:t>
            </a:r>
            <a:r>
              <a:rPr sz="3000" spc="-7" baseline="-11111" dirty="0">
                <a:latin typeface="Arial"/>
                <a:cs typeface="Arial"/>
              </a:rPr>
              <a:t>…	</a:t>
            </a:r>
            <a:r>
              <a:rPr sz="2000" b="1" spc="-5" dirty="0">
                <a:latin typeface="Times New Roman"/>
                <a:cs typeface="Times New Roman"/>
              </a:rPr>
              <a:t>7	</a:t>
            </a:r>
            <a:r>
              <a:rPr sz="2000" spc="-5" dirty="0">
                <a:latin typeface="Arial"/>
                <a:cs typeface="Arial"/>
              </a:rPr>
              <a:t>…</a:t>
            </a:r>
            <a:endParaRPr sz="20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344614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7077" y="435441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回溯算法小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1" y="1164714"/>
            <a:ext cx="8760459" cy="1595309"/>
          </a:xfrm>
          <a:prstGeom prst="rect">
            <a:avLst/>
          </a:prstGeom>
        </p:spPr>
        <p:txBody>
          <a:bodyPr vert="horz" wrap="square" lIns="0" tIns="104140" rIns="0" bIns="0" rtlCol="0">
            <a:spAutoFit/>
          </a:bodyPr>
          <a:lstStyle/>
          <a:p>
            <a:pPr marL="444500" indent="-432434">
              <a:lnSpc>
                <a:spcPct val="100000"/>
              </a:lnSpc>
              <a:spcBef>
                <a:spcPts val="820"/>
              </a:spcBef>
              <a:buFont typeface="Times New Roman"/>
              <a:buAutoNum type="arabicParenBoth"/>
              <a:tabLst>
                <a:tab pos="445134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适于求解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组合搜索问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题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及优化问题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444500" indent="-432434">
              <a:lnSpc>
                <a:spcPct val="100000"/>
              </a:lnSpc>
              <a:spcBef>
                <a:spcPts val="720"/>
              </a:spcBef>
              <a:buFont typeface="Times New Roman"/>
              <a:buAutoNum type="arabicParenBoth"/>
              <a:tabLst>
                <a:tab pos="445134" algn="l"/>
              </a:tabLst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求解条件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：满足多米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诺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性质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ts val="2590"/>
              </a:lnSpc>
              <a:spcBef>
                <a:spcPts val="1645"/>
              </a:spcBef>
              <a:buFont typeface="Times New Roman"/>
              <a:buAutoNum type="arabicParenBoth"/>
              <a:tabLst>
                <a:tab pos="445134" algn="l"/>
              </a:tabLst>
            </a:pPr>
            <a:r>
              <a:rPr sz="2800" b="1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解的表示</a:t>
            </a:r>
            <a:r>
              <a:rPr sz="2800" b="1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：解向量，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解是不断扩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充解向量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过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程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1533" y="2780928"/>
            <a:ext cx="8508939" cy="2342308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44500" indent="-432434">
              <a:lnSpc>
                <a:spcPct val="100000"/>
              </a:lnSpc>
              <a:spcBef>
                <a:spcPts val="385"/>
              </a:spcBef>
              <a:buFont typeface="Times New Roman"/>
              <a:buAutoNum type="arabicParenBoth" startAt="4"/>
              <a:tabLst>
                <a:tab pos="445134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回溯条件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93700">
              <a:lnSpc>
                <a:spcPct val="100000"/>
              </a:lnSpc>
              <a:spcBef>
                <a:spcPts val="290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搜索问题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——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约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束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条件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93700">
              <a:lnSpc>
                <a:spcPct val="100000"/>
              </a:lnSpc>
              <a:spcBef>
                <a:spcPts val="290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优化问题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——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约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束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条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件</a:t>
            </a:r>
            <a:r>
              <a:rPr sz="2800" b="1" spc="-61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+</a:t>
            </a:r>
            <a:r>
              <a:rPr sz="2800" b="1" spc="-40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代价函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355600" marR="5080" indent="-342900">
              <a:lnSpc>
                <a:spcPts val="2710"/>
              </a:lnSpc>
              <a:spcBef>
                <a:spcPts val="1814"/>
              </a:spcBef>
              <a:buFont typeface="Times New Roman"/>
              <a:buAutoNum type="arabicParenBoth" startAt="5"/>
              <a:tabLst>
                <a:tab pos="445134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分支策略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：深度优先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、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宽度优先、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宽深结合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、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函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优先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616799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64" y="332656"/>
            <a:ext cx="667224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小结（续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1" y="1344507"/>
            <a:ext cx="8225099" cy="4255266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44500" indent="-432434">
              <a:lnSpc>
                <a:spcPct val="100000"/>
              </a:lnSpc>
              <a:spcBef>
                <a:spcPts val="869"/>
              </a:spcBef>
              <a:buFont typeface="Times New Roman"/>
              <a:buAutoNum type="arabicParenBoth" startAt="6"/>
              <a:tabLst>
                <a:tab pos="445134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结点状态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：白结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点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,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黑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点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Times New Roman"/>
              </a:rPr>
              <a:t>,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灰结点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44500" indent="-432434">
              <a:lnSpc>
                <a:spcPct val="100000"/>
              </a:lnSpc>
              <a:spcBef>
                <a:spcPts val="775"/>
              </a:spcBef>
              <a:buFont typeface="Times New Roman"/>
              <a:buAutoNum type="arabicParenBoth" startAt="6"/>
              <a:tabLst>
                <a:tab pos="445134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算法时间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复杂度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：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394335" algn="ctr">
              <a:lnSpc>
                <a:spcPct val="100000"/>
              </a:lnSpc>
              <a:spcBef>
                <a:spcPts val="26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W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dirty="0">
                <a:latin typeface="Times New Roman"/>
                <a:cs typeface="Times New Roman"/>
              </a:rPr>
              <a:t>= ( </a:t>
            </a:r>
            <a:r>
              <a:rPr sz="2800" b="1" i="1" spc="-5" dirty="0">
                <a:latin typeface="Times New Roman"/>
                <a:cs typeface="Times New Roman"/>
              </a:rPr>
              <a:t>p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 </a:t>
            </a: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5" dirty="0">
                <a:latin typeface="Times New Roman"/>
                <a:cs typeface="Times New Roman"/>
              </a:rPr>
              <a:t> </a:t>
            </a:r>
            <a:r>
              <a:rPr sz="2800" b="1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315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其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中</a:t>
            </a:r>
            <a:r>
              <a:rPr sz="2800" b="1" spc="-605" dirty="0">
                <a:latin typeface="宋体"/>
                <a:cs typeface="宋体"/>
              </a:rPr>
              <a:t> </a:t>
            </a:r>
            <a:r>
              <a:rPr sz="2800" b="1" i="1" spc="-5" dirty="0">
                <a:latin typeface="Times New Roman"/>
                <a:cs typeface="Times New Roman"/>
              </a:rPr>
              <a:t>p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为每个结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点的工作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量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46100">
              <a:lnSpc>
                <a:spcPct val="100000"/>
              </a:lnSpc>
              <a:spcBef>
                <a:spcPts val="290"/>
              </a:spcBef>
            </a:pPr>
            <a:r>
              <a:rPr sz="2800" b="1" i="1" spc="-5" dirty="0">
                <a:latin typeface="Times New Roman"/>
                <a:cs typeface="Times New Roman"/>
              </a:rPr>
              <a:t>f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为结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点个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69900" marR="952500">
              <a:lnSpc>
                <a:spcPct val="110000"/>
              </a:lnSpc>
            </a:pPr>
            <a:r>
              <a:rPr sz="28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最坏情况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下</a:t>
            </a:r>
            <a:r>
              <a:rPr sz="2800" b="1" spc="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时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间通常为指数级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endParaRPr lang="en-US" sz="2800" b="1" dirty="0" smtClean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69900" marR="952500">
              <a:lnSpc>
                <a:spcPct val="110000"/>
              </a:lnSpc>
            </a:pP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平均情况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下</a:t>
            </a:r>
            <a:r>
              <a:rPr sz="2800" b="1" spc="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比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蛮力算法好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469900">
              <a:lnSpc>
                <a:spcPct val="100000"/>
              </a:lnSpc>
              <a:spcBef>
                <a:spcPts val="235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空间代价</a:t>
            </a:r>
            <a:r>
              <a:rPr sz="2800" b="1" spc="-10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小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5080" algn="r">
              <a:lnSpc>
                <a:spcPct val="100000"/>
              </a:lnSpc>
              <a:spcBef>
                <a:spcPts val="660"/>
              </a:spcBef>
            </a:pPr>
            <a:r>
              <a:rPr sz="1800" spc="-5" dirty="0">
                <a:solidFill>
                  <a:srgbClr val="808080"/>
                </a:solidFill>
                <a:latin typeface="Arial"/>
                <a:cs typeface="Arial"/>
              </a:rPr>
              <a:t>7</a:t>
            </a: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930051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63574" y="483328"/>
            <a:ext cx="665284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小结（续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）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58141" y="1334347"/>
            <a:ext cx="8174299" cy="4273606"/>
          </a:xfrm>
          <a:prstGeom prst="rect">
            <a:avLst/>
          </a:prstGeom>
        </p:spPr>
        <p:txBody>
          <a:bodyPr vert="horz" wrap="square" lIns="0" tIns="48895" rIns="0" bIns="0" rtlCol="0">
            <a:spAutoFit/>
          </a:bodyPr>
          <a:lstStyle/>
          <a:p>
            <a:pPr marL="469900" indent="-432434">
              <a:lnSpc>
                <a:spcPct val="100000"/>
              </a:lnSpc>
              <a:spcBef>
                <a:spcPts val="385"/>
              </a:spcBef>
              <a:buFont typeface="Times New Roman"/>
              <a:buAutoNum type="arabicParenBoth" startAt="8"/>
              <a:tabLst>
                <a:tab pos="470534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降低时间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复杂性的主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要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途径：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77215" lvl="1" indent="-343535">
              <a:lnSpc>
                <a:spcPct val="100000"/>
              </a:lnSpc>
              <a:spcBef>
                <a:spcPts val="290"/>
              </a:spcBef>
              <a:buFont typeface="Arial"/>
              <a:buChar char="•"/>
              <a:tabLst>
                <a:tab pos="577215" algn="l"/>
                <a:tab pos="577850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根据树的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支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设计优先策略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571500">
              <a:lnSpc>
                <a:spcPct val="100000"/>
              </a:lnSpc>
              <a:spcBef>
                <a:spcPts val="234"/>
              </a:spcBef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结点少分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支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优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先，解多分支优先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609600" lvl="1" indent="-342900" algn="just">
              <a:lnSpc>
                <a:spcPct val="100000"/>
              </a:lnSpc>
              <a:spcBef>
                <a:spcPts val="1035"/>
              </a:spcBef>
              <a:buFont typeface="Arial"/>
              <a:buChar char="•"/>
              <a:tabLst>
                <a:tab pos="609600" algn="l"/>
              </a:tabLst>
            </a:pP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利用搜索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树</a:t>
            </a:r>
            <a:r>
              <a:rPr sz="28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</a:t>
            </a:r>
            <a:r>
              <a:rPr sz="28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对称性裁减子树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618490" marR="175895" lvl="1" indent="-342900" algn="just">
              <a:spcBef>
                <a:spcPts val="1050"/>
              </a:spcBef>
              <a:buFont typeface="Arial"/>
              <a:buChar char="•"/>
              <a:tabLst>
                <a:tab pos="619125" algn="l"/>
              </a:tabLst>
            </a:pPr>
            <a:r>
              <a:rPr sz="28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分解为子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问</a:t>
            </a:r>
            <a:r>
              <a:rPr sz="2800" b="1" spc="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题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，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若求解时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间</a:t>
            </a:r>
            <a:r>
              <a:rPr lang="en-US" sz="28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 </a:t>
            </a:r>
            <a:r>
              <a:rPr sz="2800" b="1" i="1" dirty="0" smtClean="0">
                <a:latin typeface="Times New Roman"/>
                <a:cs typeface="Times New Roman"/>
              </a:rPr>
              <a:t>f</a:t>
            </a:r>
            <a:r>
              <a:rPr sz="2800" b="1" dirty="0" smtClean="0">
                <a:latin typeface="Times New Roman"/>
                <a:cs typeface="Times New Roman"/>
              </a:rPr>
              <a:t>(</a:t>
            </a:r>
            <a:r>
              <a:rPr sz="2800" b="1" i="1" spc="-10" dirty="0" smtClean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dirty="0">
                <a:latin typeface="Times New Roman"/>
                <a:cs typeface="Times New Roman"/>
              </a:rPr>
              <a:t>=</a:t>
            </a:r>
            <a:r>
              <a:rPr sz="2800" b="1" i="1" dirty="0">
                <a:latin typeface="Times New Roman"/>
                <a:cs typeface="Times New Roman"/>
              </a:rPr>
              <a:t>c</a:t>
            </a:r>
            <a:r>
              <a:rPr sz="2800" b="1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dirty="0">
                <a:latin typeface="Times New Roman"/>
                <a:cs typeface="Times New Roman"/>
              </a:rPr>
              <a:t>, </a:t>
            </a:r>
            <a:r>
              <a:rPr sz="28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组合时间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(2</a:t>
            </a:r>
            <a:r>
              <a:rPr sz="2800" b="1" i="1" spc="-7" baseline="24305" dirty="0">
                <a:latin typeface="Times New Roman"/>
                <a:cs typeface="Times New Roman"/>
              </a:rPr>
              <a:t>n/k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r>
              <a:rPr sz="2800" b="1" spc="-5" dirty="0">
                <a:latin typeface="宋体"/>
                <a:cs typeface="宋体"/>
              </a:rPr>
              <a:t>，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分解</a:t>
            </a:r>
            <a:r>
              <a:rPr sz="28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为</a:t>
            </a:r>
            <a:r>
              <a:rPr sz="2800" b="1" i="1" spc="5" dirty="0" err="1">
                <a:latin typeface="Times New Roman"/>
                <a:cs typeface="Times New Roman"/>
              </a:rPr>
              <a:t>k</a:t>
            </a:r>
            <a:r>
              <a:rPr sz="2800" b="1" dirty="0" err="1" smtClean="0">
                <a:latin typeface="宋体"/>
                <a:cs typeface="宋体"/>
              </a:rPr>
              <a:t>个</a:t>
            </a:r>
            <a:r>
              <a:rPr lang="en-US" sz="2800" b="1" dirty="0" smtClean="0">
                <a:latin typeface="宋体"/>
                <a:cs typeface="宋体"/>
              </a:rPr>
              <a:t> </a:t>
            </a:r>
            <a:r>
              <a:rPr sz="2800" b="1" i="1" spc="-5" dirty="0" smtClean="0">
                <a:latin typeface="Times New Roman"/>
                <a:cs typeface="Times New Roman"/>
              </a:rPr>
              <a:t>n/k</a:t>
            </a:r>
            <a:r>
              <a:rPr lang="en-US" sz="2800" b="1" i="1" spc="-5" dirty="0" smtClean="0">
                <a:latin typeface="Times New Roman"/>
                <a:cs typeface="Times New Roman"/>
              </a:rPr>
              <a:t> </a:t>
            </a:r>
            <a:r>
              <a:rPr sz="2800" b="1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规模</a:t>
            </a:r>
            <a:r>
              <a:rPr sz="28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子问题</a:t>
            </a:r>
            <a:r>
              <a:rPr sz="2800" b="1" spc="-5" dirty="0" err="1">
                <a:latin typeface="宋体"/>
                <a:cs typeface="宋体"/>
              </a:rPr>
              <a:t>，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则</a:t>
            </a:r>
            <a:r>
              <a:rPr sz="2800" b="1" spc="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该</a:t>
            </a:r>
            <a:r>
              <a:rPr sz="28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算法时间为</a:t>
            </a:r>
            <a:endParaRPr sz="28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L="647700">
              <a:lnSpc>
                <a:spcPct val="100000"/>
              </a:lnSpc>
              <a:spcBef>
                <a:spcPts val="225"/>
              </a:spcBef>
            </a:pPr>
            <a:r>
              <a:rPr sz="2800" b="1" i="1" spc="-5" dirty="0">
                <a:latin typeface="Times New Roman"/>
                <a:cs typeface="Times New Roman"/>
              </a:rPr>
              <a:t>T</a:t>
            </a:r>
            <a:r>
              <a:rPr sz="2800" b="1" spc="-5" dirty="0">
                <a:latin typeface="Times New Roman"/>
                <a:cs typeface="Times New Roman"/>
              </a:rPr>
              <a:t>(</a:t>
            </a:r>
            <a:r>
              <a:rPr sz="2800" b="1" i="1" spc="-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kc</a:t>
            </a:r>
            <a:r>
              <a:rPr sz="2800" b="1" spc="-5" dirty="0">
                <a:latin typeface="Times New Roman"/>
                <a:cs typeface="Times New Roman"/>
              </a:rPr>
              <a:t>2</a:t>
            </a:r>
            <a:r>
              <a:rPr sz="2800" b="1" i="1" spc="-7" baseline="24305" dirty="0">
                <a:latin typeface="Times New Roman"/>
                <a:cs typeface="Times New Roman"/>
              </a:rPr>
              <a:t>n/k</a:t>
            </a:r>
            <a:r>
              <a:rPr sz="2800" b="1" spc="-5" dirty="0">
                <a:latin typeface="Times New Roman"/>
                <a:cs typeface="Times New Roman"/>
              </a:rPr>
              <a:t>+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(2</a:t>
            </a:r>
            <a:r>
              <a:rPr sz="2800" b="1" i="1" spc="-7" baseline="24305" dirty="0">
                <a:latin typeface="Times New Roman"/>
                <a:cs typeface="Times New Roman"/>
              </a:rPr>
              <a:t>n/k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(2</a:t>
            </a:r>
            <a:r>
              <a:rPr sz="2800" b="1" i="1" spc="-7" baseline="24305" dirty="0">
                <a:latin typeface="Times New Roman"/>
                <a:cs typeface="Times New Roman"/>
              </a:rPr>
              <a:t>n/k</a:t>
            </a:r>
            <a:r>
              <a:rPr sz="2800" b="1" spc="-5" dirty="0">
                <a:latin typeface="Times New Roman"/>
                <a:cs typeface="Times New Roman"/>
              </a:rPr>
              <a:t>)=</a:t>
            </a:r>
            <a:r>
              <a:rPr sz="2800" b="1" i="1" spc="-5" dirty="0">
                <a:latin typeface="Times New Roman"/>
                <a:cs typeface="Times New Roman"/>
              </a:rPr>
              <a:t>o</a:t>
            </a:r>
            <a:r>
              <a:rPr sz="2800" b="1" spc="-5" dirty="0">
                <a:latin typeface="Times New Roman"/>
                <a:cs typeface="Times New Roman"/>
              </a:rPr>
              <a:t>(2</a:t>
            </a:r>
            <a:r>
              <a:rPr sz="2800" b="1" i="1" spc="-7" baseline="24305" dirty="0">
                <a:latin typeface="Times New Roman"/>
                <a:cs typeface="Times New Roman"/>
              </a:rPr>
              <a:t>n</a:t>
            </a:r>
            <a:r>
              <a:rPr sz="2800" b="1" spc="-5" dirty="0">
                <a:latin typeface="Times New Roman"/>
                <a:cs typeface="Times New Roman"/>
              </a:rPr>
              <a:t>)</a:t>
            </a:r>
            <a:endParaRPr sz="2800" dirty="0">
              <a:latin typeface="Times New Roman"/>
              <a:cs typeface="Times New Roman"/>
            </a:endParaRPr>
          </a:p>
          <a:p>
            <a:pPr marR="17780" algn="r">
              <a:lnSpc>
                <a:spcPct val="100000"/>
              </a:lnSpc>
              <a:spcBef>
                <a:spcPts val="1090"/>
              </a:spcBef>
            </a:pP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6031462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5373" y="2154915"/>
            <a:ext cx="7563051" cy="204414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45844" marR="5080" indent="-1033780">
              <a:lnSpc>
                <a:spcPct val="100000"/>
              </a:lnSpc>
              <a:spcBef>
                <a:spcPts val="100"/>
              </a:spcBef>
            </a:pPr>
            <a:r>
              <a:rPr sz="6600" spc="-15" dirty="0" err="1">
                <a:latin typeface="黑体" pitchFamily="49" charset="-122"/>
                <a:ea typeface="黑体" pitchFamily="49" charset="-122"/>
              </a:rPr>
              <a:t>算法</a:t>
            </a:r>
            <a:r>
              <a:rPr sz="6600" spc="5" dirty="0" err="1">
                <a:latin typeface="黑体" pitchFamily="49" charset="-122"/>
                <a:ea typeface="黑体" pitchFamily="49" charset="-122"/>
              </a:rPr>
              <a:t>设</a:t>
            </a:r>
            <a:r>
              <a:rPr sz="6600" dirty="0" err="1">
                <a:latin typeface="黑体" pitchFamily="49" charset="-122"/>
                <a:ea typeface="黑体" pitchFamily="49" charset="-122"/>
              </a:rPr>
              <a:t>计与分析</a:t>
            </a:r>
            <a:r>
              <a:rPr sz="6600" dirty="0">
                <a:latin typeface="黑体" pitchFamily="49" charset="-122"/>
                <a:ea typeface="黑体" pitchFamily="49" charset="-122"/>
              </a:rPr>
              <a:t> </a:t>
            </a:r>
            <a:r>
              <a:rPr lang="en-US" sz="6600" dirty="0">
                <a:latin typeface="黑体" pitchFamily="49" charset="-122"/>
                <a:ea typeface="黑体" pitchFamily="49" charset="-122"/>
              </a:rPr>
              <a:t/>
            </a:r>
            <a:br>
              <a:rPr lang="en-US" sz="6600" dirty="0">
                <a:latin typeface="黑体" pitchFamily="49" charset="-122"/>
                <a:ea typeface="黑体" pitchFamily="49" charset="-122"/>
              </a:rPr>
            </a:br>
            <a:r>
              <a:rPr sz="6600" spc="-15" dirty="0" err="1" smtClean="0">
                <a:latin typeface="黑体" pitchFamily="49" charset="-122"/>
                <a:ea typeface="黑体" pitchFamily="49" charset="-122"/>
              </a:rPr>
              <a:t>课程</a:t>
            </a:r>
            <a:r>
              <a:rPr sz="6600" spc="5" dirty="0" err="1" smtClean="0">
                <a:latin typeface="黑体" pitchFamily="49" charset="-122"/>
                <a:ea typeface="黑体" pitchFamily="49" charset="-122"/>
              </a:rPr>
              <a:t>总</a:t>
            </a:r>
            <a:r>
              <a:rPr sz="6600" spc="-25" dirty="0" err="1" smtClean="0">
                <a:latin typeface="黑体" pitchFamily="49" charset="-122"/>
                <a:ea typeface="黑体" pitchFamily="49" charset="-122"/>
              </a:rPr>
              <a:t>结</a:t>
            </a:r>
            <a:endParaRPr sz="6600" dirty="0">
              <a:latin typeface="黑体" pitchFamily="49" charset="-122"/>
              <a:ea typeface="黑体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2449408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316938" y="4579150"/>
            <a:ext cx="4419600" cy="1727200"/>
          </a:xfrm>
          <a:custGeom>
            <a:avLst/>
            <a:gdLst/>
            <a:ahLst/>
            <a:cxnLst/>
            <a:rect l="l" t="t" r="r" b="b"/>
            <a:pathLst>
              <a:path w="4419600" h="1295400">
                <a:moveTo>
                  <a:pt x="0" y="215900"/>
                </a:moveTo>
                <a:lnTo>
                  <a:pt x="5701" y="166395"/>
                </a:lnTo>
                <a:lnTo>
                  <a:pt x="21943" y="120951"/>
                </a:lnTo>
                <a:lnTo>
                  <a:pt x="47430" y="80864"/>
                </a:lnTo>
                <a:lnTo>
                  <a:pt x="80864" y="47430"/>
                </a:lnTo>
                <a:lnTo>
                  <a:pt x="120951" y="21943"/>
                </a:lnTo>
                <a:lnTo>
                  <a:pt x="166395" y="5701"/>
                </a:lnTo>
                <a:lnTo>
                  <a:pt x="215900" y="0"/>
                </a:lnTo>
                <a:lnTo>
                  <a:pt x="4203700" y="0"/>
                </a:lnTo>
                <a:lnTo>
                  <a:pt x="4253204" y="5701"/>
                </a:lnTo>
                <a:lnTo>
                  <a:pt x="4298648" y="21943"/>
                </a:lnTo>
                <a:lnTo>
                  <a:pt x="4338735" y="47430"/>
                </a:lnTo>
                <a:lnTo>
                  <a:pt x="4372169" y="80864"/>
                </a:lnTo>
                <a:lnTo>
                  <a:pt x="4397656" y="120951"/>
                </a:lnTo>
                <a:lnTo>
                  <a:pt x="4413898" y="166395"/>
                </a:lnTo>
                <a:lnTo>
                  <a:pt x="4419600" y="215900"/>
                </a:lnTo>
                <a:lnTo>
                  <a:pt x="4419600" y="1079487"/>
                </a:lnTo>
                <a:lnTo>
                  <a:pt x="4413898" y="1128992"/>
                </a:lnTo>
                <a:lnTo>
                  <a:pt x="4397656" y="1174438"/>
                </a:lnTo>
                <a:lnTo>
                  <a:pt x="4372169" y="1214527"/>
                </a:lnTo>
                <a:lnTo>
                  <a:pt x="4338735" y="1247964"/>
                </a:lnTo>
                <a:lnTo>
                  <a:pt x="4298648" y="1273453"/>
                </a:lnTo>
                <a:lnTo>
                  <a:pt x="4253204" y="1289697"/>
                </a:lnTo>
                <a:lnTo>
                  <a:pt x="4203700" y="1295400"/>
                </a:lnTo>
                <a:lnTo>
                  <a:pt x="215900" y="1295400"/>
                </a:lnTo>
                <a:lnTo>
                  <a:pt x="166395" y="1289697"/>
                </a:lnTo>
                <a:lnTo>
                  <a:pt x="120951" y="1273453"/>
                </a:lnTo>
                <a:lnTo>
                  <a:pt x="80864" y="1247964"/>
                </a:lnTo>
                <a:lnTo>
                  <a:pt x="47430" y="1214527"/>
                </a:lnTo>
                <a:lnTo>
                  <a:pt x="21943" y="1174438"/>
                </a:lnTo>
                <a:lnTo>
                  <a:pt x="5701" y="1128992"/>
                </a:lnTo>
                <a:lnTo>
                  <a:pt x="0" y="1079487"/>
                </a:lnTo>
                <a:lnTo>
                  <a:pt x="0" y="2159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2316938" y="1124744"/>
            <a:ext cx="609600" cy="2235200"/>
          </a:xfrm>
          <a:custGeom>
            <a:avLst/>
            <a:gdLst/>
            <a:ahLst/>
            <a:cxnLst/>
            <a:rect l="l" t="t" r="r" b="b"/>
            <a:pathLst>
              <a:path w="609600" h="16764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508000" y="0"/>
                </a:lnTo>
                <a:lnTo>
                  <a:pt x="547545" y="7984"/>
                </a:lnTo>
                <a:lnTo>
                  <a:pt x="579840" y="29759"/>
                </a:lnTo>
                <a:lnTo>
                  <a:pt x="601615" y="62054"/>
                </a:lnTo>
                <a:lnTo>
                  <a:pt x="609600" y="101600"/>
                </a:lnTo>
                <a:lnTo>
                  <a:pt x="609600" y="1574800"/>
                </a:lnTo>
                <a:lnTo>
                  <a:pt x="601615" y="1614345"/>
                </a:lnTo>
                <a:lnTo>
                  <a:pt x="579840" y="1646640"/>
                </a:lnTo>
                <a:lnTo>
                  <a:pt x="547545" y="1668415"/>
                </a:lnTo>
                <a:lnTo>
                  <a:pt x="508000" y="1676400"/>
                </a:lnTo>
                <a:lnTo>
                  <a:pt x="101600" y="1676400"/>
                </a:lnTo>
                <a:lnTo>
                  <a:pt x="62054" y="1668415"/>
                </a:lnTo>
                <a:lnTo>
                  <a:pt x="29759" y="1646640"/>
                </a:lnTo>
                <a:lnTo>
                  <a:pt x="7984" y="1614345"/>
                </a:lnTo>
                <a:lnTo>
                  <a:pt x="0" y="1574800"/>
                </a:lnTo>
                <a:lnTo>
                  <a:pt x="0" y="1016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619672" y="342469"/>
            <a:ext cx="5976664" cy="62773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4000" b="1" spc="-375" dirty="0" err="1" smtClean="0">
                <a:latin typeface="黑体" pitchFamily="49" charset="-122"/>
                <a:ea typeface="黑体" pitchFamily="49" charset="-122"/>
              </a:rPr>
              <a:t>算</a:t>
            </a:r>
            <a:r>
              <a:rPr sz="4000" b="1" spc="-10" dirty="0" err="1" smtClean="0">
                <a:latin typeface="黑体" pitchFamily="49" charset="-122"/>
                <a:ea typeface="黑体" pitchFamily="49" charset="-122"/>
              </a:rPr>
              <a:t>法</a:t>
            </a:r>
            <a:r>
              <a:rPr sz="4000" b="1" spc="-5" dirty="0" err="1" smtClean="0">
                <a:latin typeface="黑体" pitchFamily="49" charset="-122"/>
                <a:ea typeface="黑体" pitchFamily="49" charset="-122"/>
              </a:rPr>
              <a:t>课程的</a:t>
            </a:r>
            <a:r>
              <a:rPr sz="4000" b="1" dirty="0" err="1" smtClean="0">
                <a:latin typeface="黑体" pitchFamily="49" charset="-122"/>
                <a:ea typeface="黑体" pitchFamily="49" charset="-122"/>
              </a:rPr>
              <a:t>知</a:t>
            </a:r>
            <a:r>
              <a:rPr sz="4000" b="1" spc="-5" dirty="0" err="1" smtClean="0">
                <a:latin typeface="黑体" pitchFamily="49" charset="-122"/>
                <a:ea typeface="黑体" pitchFamily="49" charset="-122"/>
              </a:rPr>
              <a:t>识框架</a:t>
            </a:r>
            <a:endParaRPr sz="4000" b="1" dirty="0">
              <a:latin typeface="黑体" pitchFamily="49" charset="-122"/>
              <a:ea typeface="黑体" pitchFamily="49" charset="-122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002738" y="1124744"/>
            <a:ext cx="609600" cy="2235200"/>
          </a:xfrm>
          <a:custGeom>
            <a:avLst/>
            <a:gdLst/>
            <a:ahLst/>
            <a:cxnLst/>
            <a:rect l="l" t="t" r="r" b="b"/>
            <a:pathLst>
              <a:path w="609600" h="1676400">
                <a:moveTo>
                  <a:pt x="0" y="101600"/>
                </a:moveTo>
                <a:lnTo>
                  <a:pt x="7984" y="62054"/>
                </a:lnTo>
                <a:lnTo>
                  <a:pt x="29759" y="29759"/>
                </a:lnTo>
                <a:lnTo>
                  <a:pt x="62054" y="7984"/>
                </a:lnTo>
                <a:lnTo>
                  <a:pt x="101600" y="0"/>
                </a:lnTo>
                <a:lnTo>
                  <a:pt x="508000" y="0"/>
                </a:lnTo>
                <a:lnTo>
                  <a:pt x="547545" y="7984"/>
                </a:lnTo>
                <a:lnTo>
                  <a:pt x="579840" y="29759"/>
                </a:lnTo>
                <a:lnTo>
                  <a:pt x="601615" y="62054"/>
                </a:lnTo>
                <a:lnTo>
                  <a:pt x="609600" y="101600"/>
                </a:lnTo>
                <a:lnTo>
                  <a:pt x="609600" y="1574800"/>
                </a:lnTo>
                <a:lnTo>
                  <a:pt x="601615" y="1614345"/>
                </a:lnTo>
                <a:lnTo>
                  <a:pt x="579840" y="1646640"/>
                </a:lnTo>
                <a:lnTo>
                  <a:pt x="547545" y="1668415"/>
                </a:lnTo>
                <a:lnTo>
                  <a:pt x="508000" y="1676400"/>
                </a:lnTo>
                <a:lnTo>
                  <a:pt x="101600" y="1676400"/>
                </a:lnTo>
                <a:lnTo>
                  <a:pt x="62054" y="1668415"/>
                </a:lnTo>
                <a:lnTo>
                  <a:pt x="29759" y="1646640"/>
                </a:lnTo>
                <a:lnTo>
                  <a:pt x="7984" y="1614345"/>
                </a:lnTo>
                <a:lnTo>
                  <a:pt x="0" y="1574800"/>
                </a:lnTo>
                <a:lnTo>
                  <a:pt x="0" y="1016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480926" y="1423278"/>
            <a:ext cx="1613535" cy="152541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325"/>
              </a:lnSpc>
              <a:spcBef>
                <a:spcPts val="95"/>
              </a:spcBef>
              <a:tabLst>
                <a:tab pos="697865" algn="l"/>
              </a:tabLst>
            </a:pPr>
            <a:r>
              <a:rPr lang="zh-CN" altLang="en-US" sz="2400" b="1" spc="-10" dirty="0">
                <a:latin typeface="黑体" pitchFamily="49" charset="-122"/>
                <a:ea typeface="黑体" pitchFamily="49" charset="-122"/>
                <a:cs typeface="宋体"/>
              </a:rPr>
              <a:t>分	动</a:t>
            </a:r>
            <a:endParaRPr lang="zh-CN" altLang="en-US" sz="24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>
              <a:lnSpc>
                <a:spcPts val="2325"/>
              </a:lnSpc>
              <a:tabLst>
                <a:tab pos="697865" algn="l"/>
              </a:tabLst>
            </a:pPr>
            <a:r>
              <a:rPr lang="zh-CN" altLang="en-US" sz="2400" b="1" spc="-10" dirty="0">
                <a:latin typeface="黑体" pitchFamily="49" charset="-122"/>
                <a:ea typeface="黑体" pitchFamily="49" charset="-122"/>
                <a:cs typeface="宋体"/>
              </a:rPr>
              <a:t>治	态</a:t>
            </a:r>
          </a:p>
          <a:p>
            <a:pPr marL="12700">
              <a:lnSpc>
                <a:spcPts val="2325"/>
              </a:lnSpc>
              <a:tabLst>
                <a:tab pos="697865" algn="l"/>
              </a:tabLst>
            </a:pPr>
            <a:r>
              <a:rPr lang="zh-CN" altLang="en-US" sz="2400" b="1" spc="-10" dirty="0" smtClean="0">
                <a:latin typeface="黑体" pitchFamily="49" charset="-122"/>
                <a:ea typeface="黑体" pitchFamily="49" charset="-122"/>
                <a:cs typeface="宋体"/>
              </a:rPr>
              <a:t>策</a:t>
            </a:r>
            <a:r>
              <a:rPr lang="zh-CN" altLang="en-US" sz="2400" b="1" spc="-10" dirty="0">
                <a:latin typeface="黑体" pitchFamily="49" charset="-122"/>
                <a:ea typeface="黑体" pitchFamily="49" charset="-122"/>
                <a:cs typeface="宋体"/>
              </a:rPr>
              <a:t>	规</a:t>
            </a:r>
            <a:endParaRPr lang="zh-CN" altLang="en-US" sz="24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>
              <a:lnSpc>
                <a:spcPts val="2325"/>
              </a:lnSpc>
              <a:tabLst>
                <a:tab pos="697865" algn="l"/>
              </a:tabLst>
            </a:pPr>
            <a:r>
              <a:rPr lang="zh-CN" altLang="en-US" sz="2400" b="1" spc="-10" dirty="0">
                <a:latin typeface="黑体" pitchFamily="49" charset="-122"/>
                <a:ea typeface="黑体" pitchFamily="49" charset="-122"/>
                <a:cs typeface="宋体"/>
              </a:rPr>
              <a:t>略	划</a:t>
            </a:r>
            <a:endParaRPr lang="zh-CN" altLang="en-US" sz="24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>
              <a:lnSpc>
                <a:spcPts val="2325"/>
              </a:lnSpc>
              <a:spcBef>
                <a:spcPts val="95"/>
              </a:spcBef>
              <a:tabLst>
                <a:tab pos="697865" algn="l"/>
              </a:tabLst>
            </a:pP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316938" y="3461544"/>
            <a:ext cx="4419600" cy="1016000"/>
          </a:xfrm>
          <a:custGeom>
            <a:avLst/>
            <a:gdLst/>
            <a:ahLst/>
            <a:cxnLst/>
            <a:rect l="l" t="t" r="r" b="b"/>
            <a:pathLst>
              <a:path w="4419600" h="762000">
                <a:moveTo>
                  <a:pt x="0" y="127000"/>
                </a:moveTo>
                <a:lnTo>
                  <a:pt x="9980" y="77565"/>
                </a:lnTo>
                <a:lnTo>
                  <a:pt x="37196" y="37196"/>
                </a:lnTo>
                <a:lnTo>
                  <a:pt x="77565" y="9980"/>
                </a:lnTo>
                <a:lnTo>
                  <a:pt x="127000" y="0"/>
                </a:lnTo>
                <a:lnTo>
                  <a:pt x="4292600" y="0"/>
                </a:lnTo>
                <a:lnTo>
                  <a:pt x="4342034" y="9980"/>
                </a:lnTo>
                <a:lnTo>
                  <a:pt x="4382403" y="37196"/>
                </a:lnTo>
                <a:lnTo>
                  <a:pt x="4409619" y="77565"/>
                </a:lnTo>
                <a:lnTo>
                  <a:pt x="4419600" y="127000"/>
                </a:lnTo>
                <a:lnTo>
                  <a:pt x="4419600" y="635000"/>
                </a:lnTo>
                <a:lnTo>
                  <a:pt x="4409619" y="684434"/>
                </a:lnTo>
                <a:lnTo>
                  <a:pt x="4382403" y="724803"/>
                </a:lnTo>
                <a:lnTo>
                  <a:pt x="4342034" y="752019"/>
                </a:lnTo>
                <a:lnTo>
                  <a:pt x="4292600" y="762000"/>
                </a:lnTo>
                <a:lnTo>
                  <a:pt x="127000" y="762000"/>
                </a:lnTo>
                <a:lnTo>
                  <a:pt x="77565" y="752019"/>
                </a:lnTo>
                <a:lnTo>
                  <a:pt x="37196" y="724803"/>
                </a:lnTo>
                <a:lnTo>
                  <a:pt x="9980" y="684434"/>
                </a:lnTo>
                <a:lnTo>
                  <a:pt x="0" y="635000"/>
                </a:lnTo>
                <a:lnTo>
                  <a:pt x="0" y="1270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688538" y="1124746"/>
            <a:ext cx="533400" cy="2235200"/>
          </a:xfrm>
          <a:custGeom>
            <a:avLst/>
            <a:gdLst/>
            <a:ahLst/>
            <a:cxnLst/>
            <a:rect l="l" t="t" r="r" b="b"/>
            <a:pathLst>
              <a:path w="533400" h="1676400">
                <a:moveTo>
                  <a:pt x="0" y="88900"/>
                </a:moveTo>
                <a:lnTo>
                  <a:pt x="6986" y="54296"/>
                </a:lnTo>
                <a:lnTo>
                  <a:pt x="26038" y="26038"/>
                </a:lnTo>
                <a:lnTo>
                  <a:pt x="54296" y="6986"/>
                </a:lnTo>
                <a:lnTo>
                  <a:pt x="88900" y="0"/>
                </a:lnTo>
                <a:lnTo>
                  <a:pt x="444500" y="0"/>
                </a:lnTo>
                <a:lnTo>
                  <a:pt x="479103" y="6986"/>
                </a:lnTo>
                <a:lnTo>
                  <a:pt x="507361" y="26038"/>
                </a:lnTo>
                <a:lnTo>
                  <a:pt x="526413" y="54296"/>
                </a:lnTo>
                <a:lnTo>
                  <a:pt x="533400" y="88900"/>
                </a:lnTo>
                <a:lnTo>
                  <a:pt x="533400" y="1587500"/>
                </a:lnTo>
                <a:lnTo>
                  <a:pt x="526413" y="1622103"/>
                </a:lnTo>
                <a:lnTo>
                  <a:pt x="507361" y="1650361"/>
                </a:lnTo>
                <a:lnTo>
                  <a:pt x="479103" y="1669413"/>
                </a:lnTo>
                <a:lnTo>
                  <a:pt x="444500" y="1676400"/>
                </a:lnTo>
                <a:lnTo>
                  <a:pt x="88900" y="1676400"/>
                </a:lnTo>
                <a:lnTo>
                  <a:pt x="54296" y="1669413"/>
                </a:lnTo>
                <a:lnTo>
                  <a:pt x="26038" y="1650361"/>
                </a:lnTo>
                <a:lnTo>
                  <a:pt x="6986" y="1622103"/>
                </a:lnTo>
                <a:lnTo>
                  <a:pt x="0" y="1587500"/>
                </a:lnTo>
                <a:lnTo>
                  <a:pt x="0" y="889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779912" y="1441236"/>
            <a:ext cx="279400" cy="1096519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 algn="just">
              <a:lnSpc>
                <a:spcPct val="96900"/>
              </a:lnSpc>
              <a:spcBef>
                <a:spcPts val="170"/>
              </a:spcBef>
            </a:pPr>
            <a:r>
              <a:rPr sz="24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贪心法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298138" y="1124747"/>
            <a:ext cx="838200" cy="2235200"/>
          </a:xfrm>
          <a:custGeom>
            <a:avLst/>
            <a:gdLst/>
            <a:ahLst/>
            <a:cxnLst/>
            <a:rect l="l" t="t" r="r" b="b"/>
            <a:pathLst>
              <a:path w="838200" h="1676400">
                <a:moveTo>
                  <a:pt x="0" y="139700"/>
                </a:moveTo>
                <a:lnTo>
                  <a:pt x="7122" y="95544"/>
                </a:lnTo>
                <a:lnTo>
                  <a:pt x="26954" y="57195"/>
                </a:lnTo>
                <a:lnTo>
                  <a:pt x="57195" y="26954"/>
                </a:lnTo>
                <a:lnTo>
                  <a:pt x="95544" y="7122"/>
                </a:lnTo>
                <a:lnTo>
                  <a:pt x="139700" y="0"/>
                </a:lnTo>
                <a:lnTo>
                  <a:pt x="698500" y="0"/>
                </a:lnTo>
                <a:lnTo>
                  <a:pt x="742655" y="7122"/>
                </a:lnTo>
                <a:lnTo>
                  <a:pt x="781004" y="26954"/>
                </a:lnTo>
                <a:lnTo>
                  <a:pt x="811245" y="57195"/>
                </a:lnTo>
                <a:lnTo>
                  <a:pt x="831077" y="95544"/>
                </a:lnTo>
                <a:lnTo>
                  <a:pt x="838200" y="139700"/>
                </a:lnTo>
                <a:lnTo>
                  <a:pt x="838200" y="1536687"/>
                </a:lnTo>
                <a:lnTo>
                  <a:pt x="831077" y="1580848"/>
                </a:lnTo>
                <a:lnTo>
                  <a:pt x="811245" y="1619201"/>
                </a:lnTo>
                <a:lnTo>
                  <a:pt x="781004" y="1649444"/>
                </a:lnTo>
                <a:lnTo>
                  <a:pt x="742655" y="1669277"/>
                </a:lnTo>
                <a:lnTo>
                  <a:pt x="698500" y="1676400"/>
                </a:lnTo>
                <a:lnTo>
                  <a:pt x="139700" y="1676400"/>
                </a:lnTo>
                <a:lnTo>
                  <a:pt x="95544" y="1669277"/>
                </a:lnTo>
                <a:lnTo>
                  <a:pt x="57195" y="1649444"/>
                </a:lnTo>
                <a:lnTo>
                  <a:pt x="26954" y="1619201"/>
                </a:lnTo>
                <a:lnTo>
                  <a:pt x="7122" y="1580848"/>
                </a:lnTo>
                <a:lnTo>
                  <a:pt x="0" y="1536687"/>
                </a:lnTo>
                <a:lnTo>
                  <a:pt x="0" y="139700"/>
                </a:lnTo>
                <a:close/>
              </a:path>
            </a:pathLst>
          </a:custGeom>
          <a:ln w="25146">
            <a:solidFill>
              <a:srgbClr val="385D8A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409378" y="1404989"/>
            <a:ext cx="666678" cy="147655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algn="just">
              <a:lnSpc>
                <a:spcPct val="99400"/>
              </a:lnSpc>
              <a:spcBef>
                <a:spcPts val="110"/>
              </a:spcBef>
            </a:pP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回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溯 </a:t>
            </a: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与分 支限 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界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212538" y="1124750"/>
            <a:ext cx="1524000" cy="2235200"/>
          </a:xfrm>
          <a:custGeom>
            <a:avLst/>
            <a:gdLst/>
            <a:ahLst/>
            <a:cxnLst/>
            <a:rect l="l" t="t" r="r" b="b"/>
            <a:pathLst>
              <a:path w="1524000" h="1676400">
                <a:moveTo>
                  <a:pt x="0" y="254000"/>
                </a:moveTo>
                <a:lnTo>
                  <a:pt x="4092" y="208342"/>
                </a:lnTo>
                <a:lnTo>
                  <a:pt x="15890" y="165369"/>
                </a:lnTo>
                <a:lnTo>
                  <a:pt x="34677" y="125799"/>
                </a:lnTo>
                <a:lnTo>
                  <a:pt x="59736" y="90349"/>
                </a:lnTo>
                <a:lnTo>
                  <a:pt x="90349" y="59736"/>
                </a:lnTo>
                <a:lnTo>
                  <a:pt x="125799" y="34677"/>
                </a:lnTo>
                <a:lnTo>
                  <a:pt x="165369" y="15890"/>
                </a:lnTo>
                <a:lnTo>
                  <a:pt x="208342" y="4092"/>
                </a:lnTo>
                <a:lnTo>
                  <a:pt x="254000" y="0"/>
                </a:lnTo>
                <a:lnTo>
                  <a:pt x="1270000" y="0"/>
                </a:lnTo>
                <a:lnTo>
                  <a:pt x="1315657" y="4092"/>
                </a:lnTo>
                <a:lnTo>
                  <a:pt x="1358630" y="15890"/>
                </a:lnTo>
                <a:lnTo>
                  <a:pt x="1398200" y="34677"/>
                </a:lnTo>
                <a:lnTo>
                  <a:pt x="1433650" y="59736"/>
                </a:lnTo>
                <a:lnTo>
                  <a:pt x="1464263" y="90349"/>
                </a:lnTo>
                <a:lnTo>
                  <a:pt x="1489322" y="125799"/>
                </a:lnTo>
                <a:lnTo>
                  <a:pt x="1508109" y="165369"/>
                </a:lnTo>
                <a:lnTo>
                  <a:pt x="1519907" y="208342"/>
                </a:lnTo>
                <a:lnTo>
                  <a:pt x="1524000" y="254000"/>
                </a:lnTo>
                <a:lnTo>
                  <a:pt x="1524000" y="1422387"/>
                </a:lnTo>
                <a:lnTo>
                  <a:pt x="1519907" y="1468045"/>
                </a:lnTo>
                <a:lnTo>
                  <a:pt x="1508109" y="1511019"/>
                </a:lnTo>
                <a:lnTo>
                  <a:pt x="1489322" y="1550590"/>
                </a:lnTo>
                <a:lnTo>
                  <a:pt x="1464263" y="1586043"/>
                </a:lnTo>
                <a:lnTo>
                  <a:pt x="1433650" y="1616658"/>
                </a:lnTo>
                <a:lnTo>
                  <a:pt x="1398200" y="1641719"/>
                </a:lnTo>
                <a:lnTo>
                  <a:pt x="1358630" y="1660507"/>
                </a:lnTo>
                <a:lnTo>
                  <a:pt x="1315657" y="1672307"/>
                </a:lnTo>
                <a:lnTo>
                  <a:pt x="1270000" y="1676400"/>
                </a:lnTo>
                <a:lnTo>
                  <a:pt x="254000" y="1676400"/>
                </a:lnTo>
                <a:lnTo>
                  <a:pt x="208342" y="1672307"/>
                </a:lnTo>
                <a:lnTo>
                  <a:pt x="165369" y="1660507"/>
                </a:lnTo>
                <a:lnTo>
                  <a:pt x="125799" y="1641719"/>
                </a:lnTo>
                <a:lnTo>
                  <a:pt x="90349" y="1616658"/>
                </a:lnTo>
                <a:lnTo>
                  <a:pt x="59736" y="1586043"/>
                </a:lnTo>
                <a:lnTo>
                  <a:pt x="34677" y="1550590"/>
                </a:lnTo>
                <a:lnTo>
                  <a:pt x="15890" y="1511019"/>
                </a:lnTo>
                <a:lnTo>
                  <a:pt x="4092" y="1468045"/>
                </a:lnTo>
                <a:lnTo>
                  <a:pt x="0" y="1422387"/>
                </a:lnTo>
                <a:lnTo>
                  <a:pt x="0" y="254000"/>
                </a:lnTo>
                <a:close/>
              </a:path>
            </a:pathLst>
          </a:custGeom>
          <a:ln w="25146">
            <a:solidFill>
              <a:srgbClr val="385D8A"/>
            </a:solidFill>
            <a:prstDash val="sysDash"/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5306594" y="1241611"/>
            <a:ext cx="1523999" cy="185884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使用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条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件 </a:t>
            </a: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主要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步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骤 </a:t>
            </a: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分析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方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法 </a:t>
            </a: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改进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途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径 </a:t>
            </a: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典型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例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子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1738" y="3531478"/>
            <a:ext cx="5190622" cy="277960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3180">
              <a:lnSpc>
                <a:spcPct val="100000"/>
              </a:lnSpc>
              <a:spcBef>
                <a:spcPts val="95"/>
              </a:spcBef>
            </a:pPr>
            <a:r>
              <a:rPr sz="24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</a:t>
            </a:r>
            <a:r>
              <a:rPr sz="2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的数学</a:t>
            </a:r>
            <a:r>
              <a:rPr sz="24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基</a:t>
            </a:r>
            <a:r>
              <a:rPr sz="2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础：</a:t>
            </a:r>
            <a:endParaRPr sz="2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3655">
              <a:lnSpc>
                <a:spcPct val="100000"/>
              </a:lnSpc>
            </a:pPr>
            <a:r>
              <a:rPr sz="24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序列</a:t>
            </a:r>
            <a:r>
              <a:rPr sz="2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求和、</a:t>
            </a:r>
            <a:r>
              <a:rPr sz="24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</a:t>
            </a:r>
            <a:r>
              <a:rPr sz="2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推方</a:t>
            </a:r>
            <a:r>
              <a:rPr sz="24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程</a:t>
            </a:r>
            <a:r>
              <a:rPr sz="24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求解</a:t>
            </a:r>
            <a:endParaRPr sz="24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2700" marR="1995805">
              <a:lnSpc>
                <a:spcPct val="100000"/>
              </a:lnSpc>
              <a:spcBef>
                <a:spcPts val="2400"/>
              </a:spcBef>
            </a:pPr>
            <a:r>
              <a:rPr sz="2400" b="1" spc="-5" dirty="0">
                <a:latin typeface="黑体" pitchFamily="49" charset="-122"/>
                <a:ea typeface="黑体" pitchFamily="49" charset="-122"/>
                <a:cs typeface="宋体"/>
              </a:rPr>
              <a:t>算法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的基本</a:t>
            </a:r>
            <a:r>
              <a:rPr sz="2400" b="1" spc="5" dirty="0">
                <a:latin typeface="黑体" pitchFamily="49" charset="-122"/>
                <a:ea typeface="黑体" pitchFamily="49" charset="-122"/>
                <a:cs typeface="宋体"/>
              </a:rPr>
              <a:t>概</a:t>
            </a:r>
            <a:r>
              <a:rPr sz="2400" b="1" dirty="0">
                <a:latin typeface="黑体" pitchFamily="49" charset="-122"/>
                <a:ea typeface="黑体" pitchFamily="49" charset="-122"/>
                <a:cs typeface="宋体"/>
              </a:rPr>
              <a:t>念： </a:t>
            </a:r>
            <a:endParaRPr lang="en-US" sz="2400" b="1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 marR="1995805">
              <a:lnSpc>
                <a:spcPct val="100000"/>
              </a:lnSpc>
            </a:pPr>
            <a:r>
              <a:rPr sz="24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算法</a:t>
            </a: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的伪码</a:t>
            </a:r>
            <a:r>
              <a:rPr sz="24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表</a:t>
            </a:r>
            <a:r>
              <a:rPr sz="24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示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 marR="1487170">
              <a:lnSpc>
                <a:spcPct val="100000"/>
              </a:lnSpc>
            </a:pPr>
            <a:r>
              <a:rPr sz="2400" b="1" spc="-5" dirty="0" err="1">
                <a:latin typeface="黑体" pitchFamily="49" charset="-122"/>
                <a:ea typeface="黑体" pitchFamily="49" charset="-122"/>
                <a:cs typeface="宋体"/>
              </a:rPr>
              <a:t>算法</a:t>
            </a:r>
            <a:r>
              <a:rPr sz="2400" b="1" dirty="0" err="1">
                <a:latin typeface="黑体" pitchFamily="49" charset="-122"/>
                <a:ea typeface="黑体" pitchFamily="49" charset="-122"/>
                <a:cs typeface="宋体"/>
              </a:rPr>
              <a:t>的两种</a:t>
            </a:r>
            <a:r>
              <a:rPr sz="2400" b="1" spc="5" dirty="0" err="1">
                <a:latin typeface="黑体" pitchFamily="49" charset="-122"/>
                <a:ea typeface="黑体" pitchFamily="49" charset="-122"/>
                <a:cs typeface="宋体"/>
              </a:rPr>
              <a:t>时</a:t>
            </a:r>
            <a:r>
              <a:rPr sz="2400" b="1" dirty="0" err="1">
                <a:latin typeface="黑体" pitchFamily="49" charset="-122"/>
                <a:ea typeface="黑体" pitchFamily="49" charset="-122"/>
                <a:cs typeface="宋体"/>
              </a:rPr>
              <a:t>间复</a:t>
            </a:r>
            <a:r>
              <a:rPr sz="2400" b="1" spc="5" dirty="0" err="1">
                <a:latin typeface="黑体" pitchFamily="49" charset="-122"/>
                <a:ea typeface="黑体" pitchFamily="49" charset="-122"/>
                <a:cs typeface="宋体"/>
              </a:rPr>
              <a:t>杂</a:t>
            </a:r>
            <a:r>
              <a:rPr sz="2400" b="1" spc="-10" dirty="0" err="1">
                <a:latin typeface="黑体" pitchFamily="49" charset="-122"/>
                <a:ea typeface="黑体" pitchFamily="49" charset="-122"/>
                <a:cs typeface="宋体"/>
              </a:rPr>
              <a:t>度</a:t>
            </a:r>
            <a:r>
              <a:rPr sz="2400" b="1" spc="-1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400" b="1" spc="-10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12700" marR="1487170">
              <a:lnSpc>
                <a:spcPct val="100000"/>
              </a:lnSpc>
            </a:pPr>
            <a:r>
              <a:rPr sz="24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复杂</a:t>
            </a: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度函数</a:t>
            </a:r>
            <a:r>
              <a:rPr sz="24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阶</a:t>
            </a:r>
            <a:r>
              <a:rPr sz="2400" b="1" dirty="0" err="1" smtClean="0">
                <a:latin typeface="黑体" pitchFamily="49" charset="-122"/>
                <a:ea typeface="黑体" pitchFamily="49" charset="-122"/>
                <a:cs typeface="宋体"/>
              </a:rPr>
              <a:t>的表示</a:t>
            </a:r>
            <a:endParaRPr sz="24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R="5080" algn="r">
              <a:lnSpc>
                <a:spcPts val="1900"/>
              </a:lnSpc>
            </a:pP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0404559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6140" y="319201"/>
            <a:ext cx="624822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函数的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阶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5441" y="1218885"/>
            <a:ext cx="8114991" cy="3448508"/>
          </a:xfrm>
          <a:prstGeom prst="rect">
            <a:avLst/>
          </a:prstGeom>
        </p:spPr>
        <p:txBody>
          <a:bodyPr vert="horz" wrap="square" lIns="0" tIns="194310" rIns="0" bIns="0" rtlCol="0">
            <a:spAutoFit/>
          </a:bodyPr>
          <a:lstStyle/>
          <a:p>
            <a:pPr indent="-342900">
              <a:lnSpc>
                <a:spcPct val="100000"/>
              </a:lnSpc>
              <a:spcBef>
                <a:spcPts val="1530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400" b="1" spc="-5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阶的符号</a:t>
            </a:r>
            <a:r>
              <a:rPr sz="2400" b="1" dirty="0">
                <a:latin typeface="宋体"/>
                <a:cs typeface="宋体"/>
              </a:rPr>
              <a:t>：</a:t>
            </a:r>
            <a:r>
              <a:rPr sz="2400" b="1" i="1" dirty="0">
                <a:latin typeface="Times New Roman"/>
                <a:cs typeface="Times New Roman"/>
              </a:rPr>
              <a:t>O</a:t>
            </a:r>
            <a:r>
              <a:rPr sz="2400" b="1" dirty="0">
                <a:latin typeface="Times New Roman"/>
                <a:cs typeface="Times New Roman"/>
              </a:rPr>
              <a:t>,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i="1" spc="-40" dirty="0">
                <a:latin typeface="Symbol"/>
                <a:cs typeface="Symbol"/>
              </a:rPr>
              <a:t></a:t>
            </a:r>
            <a:r>
              <a:rPr sz="2400" b="1" spc="-40" dirty="0">
                <a:latin typeface="Times New Roman"/>
                <a:cs typeface="Times New Roman"/>
              </a:rPr>
              <a:t>,</a:t>
            </a:r>
            <a:r>
              <a:rPr sz="2400" b="1" i="1" spc="-40" dirty="0">
                <a:latin typeface="Symbol"/>
                <a:cs typeface="Symbol"/>
              </a:rPr>
              <a:t></a:t>
            </a:r>
            <a:r>
              <a:rPr sz="2400" b="1" spc="-40" dirty="0">
                <a:latin typeface="Times New Roman"/>
                <a:cs typeface="Times New Roman"/>
              </a:rPr>
              <a:t>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25" dirty="0">
                <a:latin typeface="Times New Roman"/>
                <a:cs typeface="Times New Roman"/>
              </a:rPr>
              <a:t>o</a:t>
            </a:r>
            <a:r>
              <a:rPr sz="2400" b="1" spc="-25" dirty="0">
                <a:latin typeface="Times New Roman"/>
                <a:cs typeface="Times New Roman"/>
              </a:rPr>
              <a:t>,</a:t>
            </a:r>
            <a:r>
              <a:rPr sz="2400" b="1" i="1" spc="-25" dirty="0">
                <a:latin typeface="Symbol"/>
                <a:cs typeface="Symbol"/>
              </a:rPr>
              <a:t></a:t>
            </a:r>
            <a:endParaRPr sz="2400" dirty="0">
              <a:latin typeface="Symbol"/>
              <a:cs typeface="Symbol"/>
            </a:endParaRPr>
          </a:p>
          <a:p>
            <a:pPr indent="-342900">
              <a:lnSpc>
                <a:spcPct val="100000"/>
              </a:lnSpc>
              <a:spcBef>
                <a:spcPts val="1340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400" b="1" spc="-5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阶的高</a:t>
            </a:r>
            <a:r>
              <a:rPr sz="2400" b="1" spc="-10" dirty="0">
                <a:solidFill>
                  <a:srgbClr val="C000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低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 </a:t>
            </a:r>
            <a:r>
              <a:rPr sz="24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至少指</a:t>
            </a:r>
            <a:r>
              <a:rPr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数级</a:t>
            </a:r>
            <a:r>
              <a:rPr sz="2400" b="1" spc="-5" dirty="0">
                <a:latin typeface="宋体"/>
                <a:cs typeface="宋体"/>
              </a:rPr>
              <a:t>：</a:t>
            </a:r>
            <a:r>
              <a:rPr sz="2400" b="1" spc="-5" dirty="0">
                <a:latin typeface="Times New Roman"/>
                <a:cs typeface="Times New Roman"/>
              </a:rPr>
              <a:t>2</a:t>
            </a:r>
            <a:r>
              <a:rPr sz="2400" b="1" i="1" spc="-7" baseline="2430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r>
              <a:rPr sz="2400" b="1" spc="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3</a:t>
            </a:r>
            <a:r>
              <a:rPr sz="2400" b="1" i="1" spc="-7" baseline="2430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!,</a:t>
            </a:r>
            <a:r>
              <a:rPr sz="2400" b="1" dirty="0">
                <a:latin typeface="Times New Roman"/>
                <a:cs typeface="Times New Roman"/>
              </a:rPr>
              <a:t> …</a:t>
            </a:r>
            <a:endParaRPr sz="2400" dirty="0">
              <a:latin typeface="Times New Roman"/>
              <a:cs typeface="Times New Roman"/>
            </a:endParaRPr>
          </a:p>
          <a:p>
            <a:pPr marR="401320">
              <a:lnSpc>
                <a:spcPct val="108200"/>
              </a:lnSpc>
              <a:spcBef>
                <a:spcPts val="170"/>
              </a:spcBef>
            </a:pPr>
            <a:r>
              <a:rPr lang="en-US" sz="2400" b="1" spc="-5" dirty="0" smtClean="0">
                <a:latin typeface="宋体"/>
                <a:cs typeface="宋体"/>
              </a:rPr>
              <a:t>     </a:t>
            </a:r>
            <a:r>
              <a:rPr sz="2400" b="1" spc="-5" dirty="0" err="1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多项式级</a:t>
            </a:r>
            <a:r>
              <a:rPr sz="2400" b="1" spc="-5" dirty="0" err="1">
                <a:latin typeface="宋体"/>
                <a:cs typeface="宋体"/>
              </a:rPr>
              <a:t>：</a:t>
            </a:r>
            <a:r>
              <a:rPr sz="2400" b="1" i="1" spc="-5" dirty="0" err="1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r>
              <a:rPr sz="2400" b="1" spc="15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spc="-5" dirty="0">
                <a:latin typeface="Times New Roman"/>
                <a:cs typeface="Times New Roman"/>
              </a:rPr>
              <a:t>,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r>
              <a:rPr sz="2400" b="1" spc="-10" dirty="0">
                <a:latin typeface="Times New Roman"/>
                <a:cs typeface="Times New Roman"/>
              </a:rPr>
              <a:t> 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spc="-7" baseline="24305" dirty="0">
                <a:latin typeface="Times New Roman"/>
                <a:cs typeface="Times New Roman"/>
              </a:rPr>
              <a:t>1/2</a:t>
            </a:r>
            <a:r>
              <a:rPr sz="2400" b="1" spc="-5" dirty="0">
                <a:latin typeface="Times New Roman"/>
                <a:cs typeface="Times New Roman"/>
              </a:rPr>
              <a:t>,…  </a:t>
            </a:r>
            <a:endParaRPr lang="en-US" sz="2400" b="1" spc="-5" dirty="0" smtClean="0">
              <a:latin typeface="Times New Roman"/>
              <a:cs typeface="Times New Roman"/>
            </a:endParaRPr>
          </a:p>
          <a:p>
            <a:pPr marR="401320">
              <a:lnSpc>
                <a:spcPct val="108200"/>
              </a:lnSpc>
              <a:spcBef>
                <a:spcPts val="170"/>
              </a:spcBef>
            </a:pPr>
            <a:r>
              <a:rPr lang="en-US" sz="2400" b="1" spc="-5" dirty="0">
                <a:latin typeface="Times New Roman"/>
                <a:cs typeface="Times New Roman"/>
              </a:rPr>
              <a:t> </a:t>
            </a:r>
            <a:r>
              <a:rPr lang="en-US" sz="2400" b="1" spc="-5" dirty="0" smtClean="0">
                <a:latin typeface="Times New Roman"/>
                <a:cs typeface="Times New Roman"/>
              </a:rPr>
              <a:t>         </a:t>
            </a:r>
            <a:r>
              <a:rPr sz="2400" b="1" spc="-5" dirty="0" err="1" smtClean="0">
                <a:latin typeface="Times New Roman"/>
                <a:cs typeface="Times New Roman"/>
              </a:rPr>
              <a:t>log</a:t>
            </a:r>
            <a:r>
              <a:rPr sz="2400" b="1" i="1" spc="-5" dirty="0" err="1" smtClean="0">
                <a:latin typeface="Times New Roman"/>
                <a:cs typeface="Times New Roman"/>
              </a:rPr>
              <a:t>n</a:t>
            </a:r>
            <a:r>
              <a:rPr sz="2400" b="1" spc="-5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的多项</a:t>
            </a:r>
            <a:r>
              <a:rPr sz="2400" b="1" dirty="0" err="1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式级</a:t>
            </a:r>
            <a:r>
              <a:rPr sz="2400" b="1" spc="-5" dirty="0" err="1">
                <a:latin typeface="宋体"/>
                <a:cs typeface="宋体"/>
              </a:rPr>
              <a:t>：</a:t>
            </a:r>
            <a:r>
              <a:rPr sz="2400" b="1" spc="-5" dirty="0" err="1">
                <a:latin typeface="Times New Roman"/>
                <a:cs typeface="Times New Roman"/>
              </a:rPr>
              <a:t>log</a:t>
            </a:r>
            <a:r>
              <a:rPr sz="2400" b="1" i="1" spc="-5" dirty="0" err="1">
                <a:latin typeface="Times New Roman"/>
                <a:cs typeface="Times New Roman"/>
              </a:rPr>
              <a:t>n</a:t>
            </a:r>
            <a:r>
              <a:rPr sz="2400" b="1" spc="-5" dirty="0">
                <a:latin typeface="Times New Roman"/>
                <a:cs typeface="Times New Roman"/>
              </a:rPr>
              <a:t>,</a:t>
            </a:r>
            <a:r>
              <a:rPr sz="2400" b="1" spc="-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log</a:t>
            </a:r>
            <a:r>
              <a:rPr sz="2400" b="1" spc="-7" baseline="24305" dirty="0">
                <a:latin typeface="Times New Roman"/>
                <a:cs typeface="Times New Roman"/>
              </a:rPr>
              <a:t>2</a:t>
            </a:r>
            <a:r>
              <a:rPr sz="2400" b="1" i="1" spc="-5" dirty="0">
                <a:latin typeface="Times New Roman"/>
                <a:cs typeface="Times New Roman"/>
              </a:rPr>
              <a:t>n,…</a:t>
            </a:r>
            <a:endParaRPr sz="2400" dirty="0">
              <a:latin typeface="Times New Roman"/>
              <a:cs typeface="Times New Roman"/>
            </a:endParaRPr>
          </a:p>
          <a:p>
            <a:pPr indent="-342900">
              <a:lnSpc>
                <a:spcPct val="100000"/>
              </a:lnSpc>
              <a:spcBef>
                <a:spcPts val="2140"/>
              </a:spcBef>
              <a:buFont typeface="Arial"/>
              <a:buChar char="•"/>
              <a:tabLst>
                <a:tab pos="393065" algn="l"/>
                <a:tab pos="393700" algn="l"/>
              </a:tabLst>
            </a:pPr>
            <a:r>
              <a:rPr sz="2400" b="1" spc="-5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注</a:t>
            </a:r>
            <a:r>
              <a:rPr sz="2400" b="1" spc="-10" dirty="0">
                <a:solidFill>
                  <a:srgbClr val="CC3300"/>
                </a:solidFill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意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  <a:p>
            <a:pPr marR="170180" indent="38100">
              <a:lnSpc>
                <a:spcPts val="2590"/>
              </a:lnSpc>
              <a:spcBef>
                <a:spcPts val="640"/>
              </a:spcBef>
            </a:pPr>
            <a:r>
              <a:rPr sz="2400" b="1" spc="-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阶反映的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是</a:t>
            </a:r>
            <a:r>
              <a:rPr sz="2400" b="1" spc="5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大</a:t>
            </a:r>
            <a:r>
              <a:rPr sz="2400" b="1" dirty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</a:t>
            </a:r>
            <a:r>
              <a:rPr sz="2400" b="1" i="1" spc="-5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宋体"/>
                <a:cs typeface="宋体"/>
              </a:rPr>
              <a:t>（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dirty="0">
                <a:latin typeface="Times New Roman"/>
                <a:cs typeface="Times New Roman"/>
              </a:rPr>
              <a:t>&gt;</a:t>
            </a:r>
            <a:r>
              <a:rPr sz="2400" b="1" i="1" spc="-10" dirty="0">
                <a:latin typeface="Times New Roman"/>
                <a:cs typeface="Times New Roman"/>
              </a:rPr>
              <a:t>n</a:t>
            </a:r>
            <a:r>
              <a:rPr sz="2400" b="1" baseline="-20833" dirty="0">
                <a:latin typeface="Times New Roman"/>
                <a:cs typeface="Times New Roman"/>
              </a:rPr>
              <a:t>0</a:t>
            </a:r>
            <a:r>
              <a:rPr sz="2400" b="1" dirty="0">
                <a:latin typeface="宋体"/>
                <a:cs typeface="宋体"/>
              </a:rPr>
              <a:t>）</a:t>
            </a:r>
            <a:r>
              <a:rPr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的情况</a:t>
            </a:r>
            <a:r>
              <a:rPr sz="2400" b="1" spc="-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可以忽略</a:t>
            </a:r>
            <a:r>
              <a:rPr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前</a:t>
            </a:r>
            <a:r>
              <a:rPr sz="2400" b="1" spc="5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面</a:t>
            </a:r>
            <a:r>
              <a:rPr sz="2400" b="1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的有限</a:t>
            </a:r>
            <a:r>
              <a:rPr sz="2400" b="1" spc="-10" dirty="0" smtClean="0">
                <a:latin typeface="黑体" panose="02010609060101010101" pitchFamily="49" charset="-122"/>
                <a:ea typeface="黑体" panose="02010609060101010101" pitchFamily="49" charset="-122"/>
                <a:cs typeface="宋体"/>
              </a:rPr>
              <a:t>项</a:t>
            </a:r>
            <a:endParaRPr sz="2400" dirty="0">
              <a:latin typeface="黑体" panose="02010609060101010101" pitchFamily="49" charset="-122"/>
              <a:ea typeface="黑体" panose="02010609060101010101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57781056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636140" y="319201"/>
            <a:ext cx="567216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序列求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和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83541" y="1367705"/>
            <a:ext cx="8148899" cy="43973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695" marR="2222500" indent="-341630">
              <a:lnSpc>
                <a:spcPct val="1208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基本求和</a:t>
            </a:r>
            <a:r>
              <a:rPr sz="2800" b="1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公</a:t>
            </a:r>
            <a:r>
              <a:rPr sz="2800" b="1" spc="-10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式</a:t>
            </a:r>
            <a:r>
              <a:rPr sz="2800" b="1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solidFill>
                <a:srgbClr val="CC3300"/>
              </a:solidFill>
              <a:latin typeface="黑体" pitchFamily="49" charset="-122"/>
              <a:ea typeface="黑体" pitchFamily="49" charset="-122"/>
              <a:cs typeface="宋体"/>
            </a:endParaRPr>
          </a:p>
          <a:p>
            <a:pPr marL="12065" marR="2222500">
              <a:lnSpc>
                <a:spcPct val="120800"/>
              </a:lnSpc>
              <a:spcBef>
                <a:spcPts val="100"/>
              </a:spcBef>
              <a:tabLst>
                <a:tab pos="354965" algn="l"/>
                <a:tab pos="355600" algn="l"/>
              </a:tabLst>
            </a:pPr>
            <a:r>
              <a:rPr lang="en-US" sz="2800" b="1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lang="en-US" sz="2800" b="1" spc="-10" dirty="0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等比数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列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3695" marR="2530475">
              <a:lnSpc>
                <a:spcPct val="120800"/>
              </a:lnSpc>
            </a:pP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等差数</a:t>
            </a:r>
            <a:r>
              <a:rPr sz="2800" b="1" spc="-10" dirty="0" err="1">
                <a:latin typeface="黑体" pitchFamily="49" charset="-122"/>
                <a:ea typeface="黑体" pitchFamily="49" charset="-122"/>
                <a:cs typeface="宋体"/>
              </a:rPr>
              <a:t>列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3695" marR="2530475">
              <a:lnSpc>
                <a:spcPct val="120800"/>
              </a:lnSpc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调和数级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数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5600" indent="-342900">
              <a:lnSpc>
                <a:spcPct val="100000"/>
              </a:lnSpc>
              <a:spcBef>
                <a:spcPts val="177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估计和式</a:t>
            </a:r>
            <a:r>
              <a:rPr sz="28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的</a:t>
            </a:r>
            <a:r>
              <a:rPr sz="28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  <a:cs typeface="宋体"/>
              </a:rPr>
              <a:t>阶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93700" marR="1290955" indent="-25400">
              <a:lnSpc>
                <a:spcPct val="114999"/>
              </a:lnSpc>
              <a:spcBef>
                <a:spcPts val="195"/>
              </a:spcBef>
            </a:pPr>
            <a:r>
              <a:rPr sz="2800" b="1" spc="-5" dirty="0" err="1">
                <a:latin typeface="黑体" pitchFamily="49" charset="-122"/>
                <a:ea typeface="黑体" pitchFamily="49" charset="-122"/>
                <a:cs typeface="宋体"/>
              </a:rPr>
              <a:t>放大，然</a:t>
            </a:r>
            <a:r>
              <a:rPr sz="2800" b="1" dirty="0" err="1">
                <a:latin typeface="黑体" pitchFamily="49" charset="-122"/>
                <a:ea typeface="黑体" pitchFamily="49" charset="-122"/>
                <a:cs typeface="宋体"/>
              </a:rPr>
              <a:t>后估计上</a:t>
            </a:r>
            <a:r>
              <a:rPr sz="2800" b="1" spc="-10" dirty="0" err="1">
                <a:latin typeface="黑体" pitchFamily="49" charset="-122"/>
                <a:ea typeface="黑体" pitchFamily="49" charset="-122"/>
                <a:cs typeface="宋体"/>
              </a:rPr>
              <a:t>界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93700" marR="1290955" indent="-25400">
              <a:lnSpc>
                <a:spcPct val="114999"/>
              </a:lnSpc>
              <a:spcBef>
                <a:spcPts val="195"/>
              </a:spcBef>
            </a:pP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用积分估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计</a:t>
            </a:r>
            <a:r>
              <a:rPr sz="2800" b="1" spc="5" dirty="0" err="1" smtClean="0">
                <a:latin typeface="黑体" pitchFamily="49" charset="-122"/>
                <a:ea typeface="黑体" pitchFamily="49" charset="-122"/>
                <a:cs typeface="宋体"/>
              </a:rPr>
              <a:t>上</a:t>
            </a:r>
            <a:r>
              <a:rPr sz="2800" b="1" dirty="0" err="1" smtClean="0">
                <a:latin typeface="黑体" pitchFamily="49" charset="-122"/>
                <a:ea typeface="黑体" pitchFamily="49" charset="-122"/>
                <a:cs typeface="宋体"/>
              </a:rPr>
              <a:t>下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界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900" dirty="0">
              <a:latin typeface="Times New Roman"/>
              <a:cs typeface="Times New Roman"/>
            </a:endParaRPr>
          </a:p>
          <a:p>
            <a:pPr marR="5080" algn="r">
              <a:lnSpc>
                <a:spcPct val="100000"/>
              </a:lnSpc>
              <a:spcBef>
                <a:spcPts val="5"/>
              </a:spcBef>
            </a:pP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4699742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27126" y="319201"/>
            <a:ext cx="690125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递推方程求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解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383540" y="1367704"/>
            <a:ext cx="8076892" cy="2411622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7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主要的求</a:t>
            </a:r>
            <a:r>
              <a:rPr sz="2800" b="1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sz="2800" b="1" spc="5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方</a:t>
            </a:r>
            <a:r>
              <a:rPr sz="2800" b="1" spc="-10" dirty="0">
                <a:solidFill>
                  <a:srgbClr val="CC33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法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3695" marR="638175">
              <a:lnSpc>
                <a:spcPct val="120800"/>
              </a:lnSpc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迭</a:t>
            </a:r>
            <a:r>
              <a:rPr sz="2800" b="1" spc="54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代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sz="2800" b="1" spc="-1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进行序</a:t>
            </a:r>
            <a:r>
              <a:rPr sz="2800" b="1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列求</a:t>
            </a:r>
            <a:r>
              <a:rPr sz="2800" b="1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sz="2800" b="1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递归</a:t>
            </a:r>
            <a:r>
              <a:rPr sz="2800" b="1" spc="55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树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+</a:t>
            </a:r>
            <a:r>
              <a:rPr sz="2800" b="1" spc="-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求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和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3695">
              <a:lnSpc>
                <a:spcPct val="100000"/>
              </a:lnSpc>
              <a:spcBef>
                <a:spcPts val="600"/>
              </a:spcBef>
            </a:pPr>
            <a:r>
              <a:rPr sz="2800" b="1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主定理：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注意</a:t>
            </a:r>
            <a:r>
              <a:rPr sz="2800" b="1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条</a:t>
            </a:r>
            <a:r>
              <a:rPr sz="2800" b="1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件验</a:t>
            </a:r>
            <a:r>
              <a:rPr sz="2800" b="1" spc="-1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证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一些常见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b="1" spc="5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递</a:t>
            </a:r>
            <a:r>
              <a:rPr sz="2800" b="1" dirty="0">
                <a:solidFill>
                  <a:srgbClr val="C00000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推方程的解</a:t>
            </a:r>
            <a:endParaRPr sz="280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2517" y="4199452"/>
            <a:ext cx="3590476" cy="71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88864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7242" y="238854"/>
            <a:ext cx="633307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算法设计技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术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16337"/>
            <a:ext cx="8140516" cy="4514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5125" marR="1524000" indent="-34163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67030" algn="l"/>
              </a:tabLst>
            </a:pPr>
            <a:r>
              <a:rPr sz="2800" b="1" spc="-5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设计技</a:t>
            </a:r>
            <a:r>
              <a:rPr sz="2800" b="1" spc="-10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术</a:t>
            </a:r>
            <a:r>
              <a:rPr sz="2800" b="1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solidFill>
                <a:srgbClr val="CC3300"/>
              </a:solidFill>
              <a:latin typeface="黑体" pitchFamily="49" charset="-122"/>
              <a:ea typeface="黑体" pitchFamily="49" charset="-122"/>
              <a:cs typeface="宋体"/>
            </a:endParaRPr>
          </a:p>
          <a:p>
            <a:pPr marL="23495" marR="1524000" algn="just">
              <a:lnSpc>
                <a:spcPct val="100000"/>
              </a:lnSpc>
              <a:spcBef>
                <a:spcPts val="100"/>
              </a:spcBef>
              <a:tabLst>
                <a:tab pos="367030" algn="l"/>
              </a:tabLst>
            </a:pPr>
            <a:r>
              <a:rPr lang="en-US"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 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分治策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略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23495" marR="1524000" algn="just">
              <a:lnSpc>
                <a:spcPct val="100000"/>
              </a:lnSpc>
              <a:spcBef>
                <a:spcPts val="100"/>
              </a:spcBef>
              <a:tabLst>
                <a:tab pos="367030" algn="l"/>
              </a:tabLst>
            </a:pPr>
            <a:r>
              <a:rPr lang="en-US"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 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动态规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划</a:t>
            </a:r>
            <a:r>
              <a:rPr sz="2800" b="1" spc="-10" dirty="0" smtClean="0"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latin typeface="黑体" pitchFamily="49" charset="-122"/>
              <a:ea typeface="黑体" pitchFamily="49" charset="-122"/>
              <a:cs typeface="宋体"/>
            </a:endParaRPr>
          </a:p>
          <a:p>
            <a:pPr marL="23495" marR="1524000" algn="just">
              <a:lnSpc>
                <a:spcPct val="100000"/>
              </a:lnSpc>
              <a:spcBef>
                <a:spcPts val="100"/>
              </a:spcBef>
              <a:tabLst>
                <a:tab pos="367030" algn="l"/>
              </a:tabLst>
            </a:pPr>
            <a:r>
              <a:rPr lang="en-US" sz="2800" b="1" spc="-5" dirty="0" smtClean="0">
                <a:latin typeface="黑体" pitchFamily="49" charset="-122"/>
                <a:ea typeface="黑体" pitchFamily="49" charset="-122"/>
                <a:cs typeface="宋体"/>
              </a:rPr>
              <a:t> 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贪心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法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65125">
              <a:lnSpc>
                <a:spcPct val="100000"/>
              </a:lnSpc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回溯和分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支限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界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3695" marR="1534795" indent="-341630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关注问</a:t>
            </a:r>
            <a:r>
              <a:rPr sz="2800" b="1" spc="-10" dirty="0" err="1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题</a:t>
            </a:r>
            <a:r>
              <a:rPr sz="2800" b="1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endParaRPr lang="en-US" sz="2800" b="1" spc="-10" dirty="0" smtClean="0">
              <a:solidFill>
                <a:srgbClr val="CC3300"/>
              </a:solidFill>
              <a:latin typeface="黑体" pitchFamily="49" charset="-122"/>
              <a:ea typeface="黑体" pitchFamily="49" charset="-122"/>
              <a:cs typeface="宋体"/>
            </a:endParaRPr>
          </a:p>
          <a:p>
            <a:pPr marL="12065" marR="1534795">
              <a:lnSpc>
                <a:spcPct val="100000"/>
              </a:lnSpc>
              <a:spcBef>
                <a:spcPts val="600"/>
              </a:spcBef>
              <a:tabLst>
                <a:tab pos="354965" algn="l"/>
                <a:tab pos="355600" algn="l"/>
              </a:tabLst>
            </a:pPr>
            <a:r>
              <a:rPr lang="en-US" sz="2800" b="1" spc="-10" dirty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lang="en-US" sz="2800" b="1" spc="-10" dirty="0" smtClean="0">
                <a:solidFill>
                  <a:srgbClr val="CC3300"/>
                </a:solidFill>
                <a:latin typeface="黑体" pitchFamily="49" charset="-122"/>
                <a:ea typeface="黑体" pitchFamily="49" charset="-122"/>
                <a:cs typeface="宋体"/>
              </a:rPr>
              <a:t> </a:t>
            </a:r>
            <a:r>
              <a:rPr sz="2800" b="1" spc="-5" dirty="0" err="1" smtClean="0">
                <a:latin typeface="黑体" pitchFamily="49" charset="-122"/>
                <a:ea typeface="黑体" pitchFamily="49" charset="-122"/>
                <a:cs typeface="宋体"/>
              </a:rPr>
              <a:t>使用条</a:t>
            </a:r>
            <a:r>
              <a:rPr sz="2800" b="1" spc="-10" dirty="0" err="1" smtClean="0">
                <a:latin typeface="黑体" pitchFamily="49" charset="-122"/>
                <a:ea typeface="黑体" pitchFamily="49" charset="-122"/>
                <a:cs typeface="宋体"/>
              </a:rPr>
              <a:t>件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3695">
              <a:lnSpc>
                <a:spcPct val="100000"/>
              </a:lnSpc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主要设计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步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骤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3695" marR="5080">
              <a:lnSpc>
                <a:spcPct val="100000"/>
              </a:lnSpc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时间复杂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度分</a:t>
            </a:r>
            <a:r>
              <a:rPr sz="2800" b="1" spc="5" dirty="0">
                <a:latin typeface="黑体" pitchFamily="49" charset="-122"/>
                <a:ea typeface="黑体" pitchFamily="49" charset="-122"/>
                <a:cs typeface="宋体"/>
              </a:rPr>
              <a:t>析</a:t>
            </a:r>
            <a:r>
              <a:rPr sz="2800" b="1" dirty="0">
                <a:latin typeface="黑体" pitchFamily="49" charset="-122"/>
                <a:ea typeface="黑体" pitchFamily="49" charset="-122"/>
                <a:cs typeface="宋体"/>
              </a:rPr>
              <a:t>方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法 </a:t>
            </a: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改进途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径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  <a:p>
            <a:pPr marL="353695">
              <a:lnSpc>
                <a:spcPct val="100000"/>
              </a:lnSpc>
            </a:pPr>
            <a:r>
              <a:rPr sz="2800" b="1" spc="-5" dirty="0">
                <a:latin typeface="黑体" pitchFamily="49" charset="-122"/>
                <a:ea typeface="黑体" pitchFamily="49" charset="-122"/>
                <a:cs typeface="宋体"/>
              </a:rPr>
              <a:t>典型例</a:t>
            </a:r>
            <a:r>
              <a:rPr sz="2800" b="1" spc="-10" dirty="0">
                <a:latin typeface="黑体" pitchFamily="49" charset="-122"/>
                <a:ea typeface="黑体" pitchFamily="49" charset="-122"/>
                <a:cs typeface="宋体"/>
              </a:rPr>
              <a:t>子</a:t>
            </a:r>
            <a:endParaRPr sz="2800" dirty="0">
              <a:latin typeface="黑体" pitchFamily="49" charset="-122"/>
              <a:ea typeface="黑体" pitchFamily="49" charset="-122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3601958140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9940" y="243087"/>
            <a:ext cx="646844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分治策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略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83541" y="919817"/>
            <a:ext cx="8220907" cy="4420441"/>
          </a:xfrm>
          <a:prstGeom prst="rect">
            <a:avLst/>
          </a:prstGeom>
        </p:spPr>
        <p:txBody>
          <a:bodyPr vert="horz" wrap="square" lIns="0" tIns="161290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27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适用条件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归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约为独立求解子问题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117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设计步骤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归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约方法,</a:t>
            </a:r>
            <a:r>
              <a:rPr sz="2800" b="1" spc="-6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初始子问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题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计算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1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子问题解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的综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合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方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.</a:t>
            </a:r>
            <a:r>
              <a:rPr sz="2800" b="1" spc="509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注意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问题划分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均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衡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，类型相同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71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递归算法</a:t>
            </a:r>
            <a:r>
              <a:rPr sz="2800" b="1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分</a:t>
            </a:r>
            <a:r>
              <a:rPr sz="2800" b="1" spc="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析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：求解递推方程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indent="-342900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改进途径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减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少子问题数,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预处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理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marR="78105" indent="-342900">
              <a:spcBef>
                <a:spcPts val="1320"/>
              </a:spcBef>
              <a:buFont typeface="Arial"/>
              <a:buChar char="•"/>
              <a:tabLst>
                <a:tab pos="354965" algn="l"/>
                <a:tab pos="355600" algn="l"/>
                <a:tab pos="1801495" algn="l"/>
              </a:tabLst>
            </a:pPr>
            <a:r>
              <a:rPr sz="2800" b="1" spc="-5" dirty="0" err="1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典型问题</a:t>
            </a:r>
            <a:r>
              <a:rPr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</a:t>
            </a:r>
            <a:r>
              <a:rPr lang="en-US" sz="2800" b="1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二分检索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归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并排序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芯片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测试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幂乘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矩阵乘法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最临近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点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对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多</a:t>
            </a:r>
            <a:r>
              <a:rPr lang="zh-CN" altLang="en-US"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项式求</a:t>
            </a:r>
            <a:r>
              <a:rPr lang="zh-CN" altLang="en-US"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值</a:t>
            </a:r>
            <a:endParaRPr lang="zh-CN" altLang="en-US"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12700" marR="78105">
              <a:lnSpc>
                <a:spcPct val="100000"/>
              </a:lnSpc>
              <a:spcBef>
                <a:spcPts val="1320"/>
              </a:spcBef>
              <a:tabLst>
                <a:tab pos="354965" algn="l"/>
                <a:tab pos="355600" algn="l"/>
                <a:tab pos="1801495" algn="l"/>
              </a:tabLst>
            </a:pPr>
            <a:endParaRPr sz="2400" dirty="0">
              <a:latin typeface="宋体"/>
              <a:cs typeface="宋体"/>
            </a:endParaRPr>
          </a:p>
        </p:txBody>
      </p:sp>
    </p:spTree>
    <p:extLst>
      <p:ext uri="{BB962C8B-B14F-4D97-AF65-F5344CB8AC3E}">
        <p14:creationId xmlns:p14="http://schemas.microsoft.com/office/powerpoint/2010/main" val="66109431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8540" y="336220"/>
            <a:ext cx="6095827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动态规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划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852" y="1117938"/>
            <a:ext cx="8387596" cy="43011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418465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适用条件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优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化问题,</a:t>
            </a:r>
            <a:r>
              <a:rPr sz="2800" b="1" spc="-6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多步判断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求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解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满足优化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原则</a:t>
            </a:r>
            <a:r>
              <a:rPr sz="2800" b="1" spc="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子问题重叠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marR="110489" indent="-342900" algn="just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设计步骤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确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定子问题边界,</a:t>
            </a:r>
            <a:r>
              <a:rPr sz="2800" b="1" spc="-6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列关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于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目标函数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的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推方程及初值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；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自底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向上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备忘录存储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；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标记函数及解的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追踪方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法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indent="-342900" algn="just">
              <a:lnSpc>
                <a:spcPct val="100000"/>
              </a:lnSpc>
              <a:spcBef>
                <a:spcPts val="108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复杂度分</a:t>
            </a:r>
            <a:r>
              <a:rPr sz="2800" b="1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析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备忘录,</a:t>
            </a:r>
            <a:r>
              <a:rPr sz="2800" b="1" spc="1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递推方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程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69570" marR="5080" indent="-342900" algn="just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370205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典型问题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</a:t>
            </a:r>
            <a:r>
              <a:rPr sz="2800" b="1" spc="50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矩阵链相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乘</a:t>
            </a:r>
            <a:r>
              <a:rPr sz="2800" b="1" spc="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1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投资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背包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长公共子序列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图像压缩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最大子段和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最优二分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检</a:t>
            </a:r>
            <a:r>
              <a:rPr sz="2800" b="1" spc="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索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树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生物信息学应用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46700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814480" y="336220"/>
            <a:ext cx="534980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贪心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法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853" y="1117937"/>
            <a:ext cx="8315587" cy="38315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626745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适用条件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组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合优化问题,</a:t>
            </a:r>
            <a:r>
              <a:rPr sz="2800" b="1" spc="-6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多步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判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断求解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有贪心选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择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性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质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marR="464184" indent="-342900" algn="just">
              <a:lnSpc>
                <a:spcPct val="96800"/>
              </a:lnSpc>
              <a:spcBef>
                <a:spcPts val="111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1" spc="-5" dirty="0" err="1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设计步骤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局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部优化策略的确定及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算法正确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性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证</a:t>
            </a:r>
            <a:r>
              <a:rPr sz="2800" b="1" spc="56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明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(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直接证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明,</a:t>
            </a:r>
            <a:r>
              <a:rPr sz="2800" b="1" spc="-7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lang="en-US" sz="2800" b="1" spc="-70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数学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归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纳法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交换论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证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)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69570" indent="-343535" algn="just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69570" algn="l"/>
                <a:tab pos="370205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复杂度分</a:t>
            </a:r>
            <a:r>
              <a:rPr sz="2800" b="1" spc="-10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析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69570" marR="311785" indent="-342900" algn="just">
              <a:lnSpc>
                <a:spcPct val="100000"/>
              </a:lnSpc>
              <a:spcBef>
                <a:spcPts val="1320"/>
              </a:spcBef>
              <a:buFont typeface="Arial"/>
              <a:buChar char="•"/>
              <a:tabLst>
                <a:tab pos="369570" algn="l"/>
                <a:tab pos="370205" algn="l"/>
                <a:tab pos="1816100" algn="l"/>
              </a:tabLst>
            </a:pPr>
            <a:r>
              <a:rPr sz="2800" b="1" spc="-5" dirty="0" err="1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典型问题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活动选择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装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载问题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6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小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延迟调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度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最优前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缀码</a:t>
            </a:r>
            <a:r>
              <a:rPr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最小生成树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 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单源最短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路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R="5080" algn="r">
              <a:lnSpc>
                <a:spcPct val="100000"/>
              </a:lnSpc>
              <a:spcBef>
                <a:spcPts val="900"/>
              </a:spcBef>
            </a:pPr>
            <a:endParaRPr sz="1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94357989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3148" y="336220"/>
            <a:ext cx="6893228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回溯和分支限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界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16853" y="1117937"/>
            <a:ext cx="8387595" cy="4403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91160" indent="-342900" algn="just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适用条件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</a:t>
            </a:r>
            <a:r>
              <a:rPr sz="2800" b="1" spc="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搜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索或优化问题,</a:t>
            </a:r>
            <a:r>
              <a:rPr sz="2800" b="1" spc="-6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多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步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判断求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解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满足多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米诺性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质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55600" marR="5080" indent="-342900" algn="just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b="1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设计步骤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：确定解向量,</a:t>
            </a:r>
            <a:r>
              <a:rPr sz="2800" b="1" spc="-8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搜索树结构, 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搜索顺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序</a:t>
            </a:r>
            <a:r>
              <a:rPr sz="2800" b="1" spc="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结点分支搜索的约束条件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与代价函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路径存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储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69570" indent="-343535" algn="just">
              <a:lnSpc>
                <a:spcPct val="100000"/>
              </a:lnSpc>
              <a:spcBef>
                <a:spcPts val="960"/>
              </a:spcBef>
              <a:buFont typeface="Arial"/>
              <a:buChar char="•"/>
              <a:tabLst>
                <a:tab pos="369570" algn="l"/>
                <a:tab pos="370205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搜索树结</a:t>
            </a:r>
            <a:r>
              <a:rPr sz="2800" b="1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点</a:t>
            </a:r>
            <a:r>
              <a:rPr sz="2800" b="1" spc="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数</a:t>
            </a:r>
            <a:r>
              <a:rPr sz="2800" b="1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估</a:t>
            </a:r>
            <a:r>
              <a:rPr sz="2800" b="1" spc="-10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计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69570" indent="-343535" algn="just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369570" algn="l"/>
                <a:tab pos="370205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复杂度分</a:t>
            </a:r>
            <a:r>
              <a:rPr sz="2800" b="1" spc="-10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析</a:t>
            </a: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  <a:p>
            <a:pPr marL="369570" marR="150495" indent="-342900" algn="just">
              <a:spcBef>
                <a:spcPts val="840"/>
              </a:spcBef>
              <a:buFont typeface="Arial"/>
              <a:buChar char="•"/>
              <a:tabLst>
                <a:tab pos="369570" algn="l"/>
                <a:tab pos="370205" algn="l"/>
              </a:tabLst>
            </a:pPr>
            <a:r>
              <a:rPr sz="2800" b="1" spc="-5" dirty="0">
                <a:solidFill>
                  <a:srgbClr val="CC3300"/>
                </a:solidFill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典型问题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:</a:t>
            </a:r>
            <a:r>
              <a:rPr sz="2800" b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i="1" spc="-1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n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后问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题, </a:t>
            </a:r>
            <a:r>
              <a:rPr sz="2800" b="1" spc="-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背包问</a:t>
            </a:r>
            <a:r>
              <a:rPr sz="2800" b="1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题</a:t>
            </a:r>
            <a:r>
              <a:rPr sz="2800" b="1" spc="5" dirty="0" err="1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货郎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</a:t>
            </a:r>
            <a:r>
              <a:rPr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lang="en-US" sz="2800" b="1" spc="-5" dirty="0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装载问题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,</a:t>
            </a:r>
            <a:r>
              <a:rPr sz="2800" b="1" spc="-2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最大团</a:t>
            </a:r>
            <a:r>
              <a:rPr sz="2800" b="1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问题,</a:t>
            </a:r>
            <a:r>
              <a:rPr sz="2800" b="1" spc="-20" dirty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 </a:t>
            </a:r>
            <a:r>
              <a:rPr sz="2800" b="1" spc="-5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圆排</a:t>
            </a:r>
            <a:r>
              <a:rPr sz="2800" b="1" spc="-10" dirty="0" err="1" smtClean="0">
                <a:latin typeface="Times New Roman" pitchFamily="18" charset="0"/>
                <a:ea typeface="黑体" pitchFamily="49" charset="-122"/>
                <a:cs typeface="Times New Roman" pitchFamily="18" charset="0"/>
              </a:rPr>
              <a:t>列</a:t>
            </a:r>
            <a:r>
              <a:rPr lang="zh-CN" altLang="en-US" sz="2800" b="1" spc="-5" dirty="0">
                <a:latin typeface="宋体"/>
                <a:cs typeface="宋体"/>
              </a:rPr>
              <a:t>问题</a:t>
            </a:r>
            <a:r>
              <a:rPr lang="en-US" altLang="zh-CN" sz="2800" b="1" dirty="0">
                <a:cs typeface="Calibri"/>
              </a:rPr>
              <a:t>,</a:t>
            </a:r>
            <a:r>
              <a:rPr lang="zh-CN" altLang="en-US" sz="2800" b="1" spc="-70" dirty="0">
                <a:cs typeface="Calibri"/>
              </a:rPr>
              <a:t> </a:t>
            </a:r>
            <a:r>
              <a:rPr lang="zh-CN" altLang="en-US" sz="2800" b="1" spc="-5" dirty="0">
                <a:latin typeface="宋体"/>
                <a:cs typeface="宋体"/>
              </a:rPr>
              <a:t>连续邮资</a:t>
            </a:r>
            <a:r>
              <a:rPr lang="zh-CN" altLang="en-US" sz="2800" b="1" dirty="0">
                <a:latin typeface="宋体"/>
                <a:cs typeface="宋体"/>
              </a:rPr>
              <a:t>问</a:t>
            </a:r>
            <a:r>
              <a:rPr lang="zh-CN" altLang="en-US" sz="2800" b="1" spc="-10" dirty="0">
                <a:latin typeface="宋体"/>
                <a:cs typeface="宋体"/>
              </a:rPr>
              <a:t>题</a:t>
            </a:r>
            <a:endParaRPr lang="zh-CN" altLang="en-US" sz="2800" dirty="0">
              <a:latin typeface="宋体"/>
              <a:cs typeface="宋体"/>
            </a:endParaRPr>
          </a:p>
          <a:p>
            <a:pPr marL="26670" marR="150495" algn="just">
              <a:lnSpc>
                <a:spcPct val="100000"/>
              </a:lnSpc>
              <a:spcBef>
                <a:spcPts val="840"/>
              </a:spcBef>
              <a:tabLst>
                <a:tab pos="369570" algn="l"/>
                <a:tab pos="370205" algn="l"/>
              </a:tabLst>
            </a:pPr>
            <a:endParaRPr sz="2800" dirty="0">
              <a:latin typeface="Times New Roman" pitchFamily="18" charset="0"/>
              <a:ea typeface="黑体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32929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531949"/>
            <a:ext cx="8229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算法设</a:t>
            </a:r>
            <a:r>
              <a:rPr sz="4000" b="1" spc="-15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计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2255105"/>
          </a:xfrm>
          <a:prstGeom prst="rect">
            <a:avLst/>
          </a:prstGeom>
        </p:spPr>
        <p:txBody>
          <a:bodyPr vert="horz" wrap="square" lIns="0" tIns="203835" rIns="0" bIns="0" rtlCol="0">
            <a:spAutoFit/>
          </a:bodyPr>
          <a:lstStyle/>
          <a:p>
            <a:pPr marL="355600" indent="-342900" algn="just">
              <a:lnSpc>
                <a:spcPct val="100000"/>
              </a:lnSpc>
              <a:spcBef>
                <a:spcPts val="160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设计思想</a:t>
            </a:r>
            <a:r>
              <a:rPr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sz="2800" spc="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尽</a:t>
            </a:r>
            <a:r>
              <a:rPr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量选复杂度低的算法</a:t>
            </a:r>
          </a:p>
          <a:p>
            <a:pPr marL="355600" marR="85725" indent="-342900" algn="just">
              <a:lnSpc>
                <a:spcPts val="2690"/>
              </a:lnSpc>
              <a:spcBef>
                <a:spcPts val="175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spc="-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算法实现</a:t>
            </a:r>
            <a:r>
              <a:rPr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依</a:t>
            </a:r>
            <a:r>
              <a:rPr sz="2800" spc="5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赖</a:t>
            </a:r>
            <a:r>
              <a:rPr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于数据结构，</a:t>
            </a:r>
            <a:r>
              <a:rPr sz="28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选择合</a:t>
            </a:r>
            <a:r>
              <a:rPr sz="2800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适的数据</a:t>
            </a:r>
            <a:r>
              <a:rPr sz="28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结</a:t>
            </a:r>
            <a:r>
              <a:rPr sz="2800" spc="-1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构</a:t>
            </a:r>
            <a:endParaRPr sz="2800" spc="-10" dirty="0">
              <a:latin typeface="Times New Roman" panose="02020603050405020304" pitchFamily="18" charset="0"/>
              <a:ea typeface="黑体" panose="02010609060101010101" pitchFamily="49" charset="-122"/>
              <a:cs typeface="Times New Roman" panose="02020603050405020304" pitchFamily="18" charset="0"/>
            </a:endParaRPr>
          </a:p>
          <a:p>
            <a:pPr marL="355600" marR="5080" algn="just">
              <a:spcBef>
                <a:spcPts val="1385"/>
              </a:spcBef>
              <a:buFont typeface="Arial"/>
              <a:buChar char="•"/>
              <a:tabLst>
                <a:tab pos="354965" algn="l"/>
                <a:tab pos="355600" algn="l"/>
              </a:tabLst>
            </a:pPr>
            <a:r>
              <a:rPr sz="2800" dirty="0" err="1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实际问题中的综合考虑：</a:t>
            </a:r>
            <a:r>
              <a:rPr sz="28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时空权衡</a:t>
            </a:r>
            <a:r>
              <a:rPr lang="zh-CN" altLang="en-US"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sz="2800" spc="-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实现成本</a:t>
            </a:r>
            <a:r>
              <a:rPr sz="28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sz="2800" spc="5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权</a:t>
            </a:r>
            <a:r>
              <a:rPr sz="2800" dirty="0" err="1" smtClean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衡</a:t>
            </a:r>
            <a:r>
              <a:rPr sz="2800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,</a:t>
            </a:r>
            <a:r>
              <a:rPr sz="2800" spc="1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sz="2800" spc="-5" dirty="0"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193058564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2054</Words>
  <Application>Microsoft Office PowerPoint</Application>
  <PresentationFormat>全屏显示(4:3)</PresentationFormat>
  <Paragraphs>471</Paragraphs>
  <Slides>63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63</vt:i4>
      </vt:variant>
    </vt:vector>
  </HeadingPairs>
  <TitlesOfParts>
    <vt:vector size="64" baseType="lpstr">
      <vt:lpstr>Office 主题​​</vt:lpstr>
      <vt:lpstr>PowerPoint 演示文稿</vt:lpstr>
      <vt:lpstr>回溯.算法的应用及小结</vt:lpstr>
      <vt:lpstr>分支限界 及其应用</vt:lpstr>
      <vt:lpstr>组合优化问题</vt:lpstr>
      <vt:lpstr>代价函数</vt:lpstr>
      <vt:lpstr>界</vt:lpstr>
      <vt:lpstr>分支限界</vt:lpstr>
      <vt:lpstr>实例</vt:lpstr>
      <vt:lpstr>代价函数的设定</vt:lpstr>
      <vt:lpstr>实例：背包问题</vt:lpstr>
      <vt:lpstr>代价函数与分支策略</vt:lpstr>
      <vt:lpstr>实例</vt:lpstr>
      <vt:lpstr>小结</vt:lpstr>
      <vt:lpstr>最大团问题</vt:lpstr>
      <vt:lpstr>最大团问题</vt:lpstr>
      <vt:lpstr>独立集与团</vt:lpstr>
      <vt:lpstr>应用</vt:lpstr>
      <vt:lpstr>编码设计</vt:lpstr>
      <vt:lpstr>最大团问题</vt:lpstr>
      <vt:lpstr>分支限界算法设计</vt:lpstr>
      <vt:lpstr>代价函数</vt:lpstr>
      <vt:lpstr>实例</vt:lpstr>
      <vt:lpstr>搜索树</vt:lpstr>
      <vt:lpstr>小结</vt:lpstr>
      <vt:lpstr>货郎问题</vt:lpstr>
      <vt:lpstr>货郎问题的定义</vt:lpstr>
      <vt:lpstr>算法设计</vt:lpstr>
      <vt:lpstr>代价函数与界</vt:lpstr>
      <vt:lpstr>代价函数</vt:lpstr>
      <vt:lpstr>PowerPoint 演示文稿</vt:lpstr>
      <vt:lpstr>实例运行</vt:lpstr>
      <vt:lpstr>算法分析</vt:lpstr>
      <vt:lpstr>小结</vt:lpstr>
      <vt:lpstr>园排列问题</vt:lpstr>
      <vt:lpstr>圆排列问题</vt:lpstr>
      <vt:lpstr>算法设计：分支限界</vt:lpstr>
      <vt:lpstr>符号说明</vt:lpstr>
      <vt:lpstr>圆排列长度估计</vt:lpstr>
      <vt:lpstr>有关量的计算</vt:lpstr>
      <vt:lpstr>代价函数</vt:lpstr>
      <vt:lpstr>时间复杂度</vt:lpstr>
      <vt:lpstr>实例</vt:lpstr>
      <vt:lpstr>实例计算</vt:lpstr>
      <vt:lpstr>小结</vt:lpstr>
      <vt:lpstr>连续邮资问题</vt:lpstr>
      <vt:lpstr>连续邮资问题</vt:lpstr>
      <vt:lpstr>算法设计</vt:lpstr>
      <vt:lpstr>ri 的计算</vt:lpstr>
      <vt:lpstr>部分搜索树 n=4,m=3</vt:lpstr>
      <vt:lpstr>回溯算法小结</vt:lpstr>
      <vt:lpstr>小结（续）</vt:lpstr>
      <vt:lpstr>小结（续）</vt:lpstr>
      <vt:lpstr>算法设计与分析  课程总结</vt:lpstr>
      <vt:lpstr>算法课程的知识框架</vt:lpstr>
      <vt:lpstr>函数的阶</vt:lpstr>
      <vt:lpstr>序列求和</vt:lpstr>
      <vt:lpstr>递推方程求解</vt:lpstr>
      <vt:lpstr>算法设计技术</vt:lpstr>
      <vt:lpstr>分治策略</vt:lpstr>
      <vt:lpstr>动态规划</vt:lpstr>
      <vt:lpstr>贪心法</vt:lpstr>
      <vt:lpstr>回溯和分支限界</vt:lpstr>
      <vt:lpstr>算法设计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ks</dc:creator>
  <cp:lastModifiedBy>admin</cp:lastModifiedBy>
  <cp:revision>37</cp:revision>
  <dcterms:created xsi:type="dcterms:W3CDTF">2019-06-03T06:40:17Z</dcterms:created>
  <dcterms:modified xsi:type="dcterms:W3CDTF">2019-06-12T22:11:48Z</dcterms:modified>
</cp:coreProperties>
</file>