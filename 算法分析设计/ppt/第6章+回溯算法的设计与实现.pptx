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3"/>
  </p:notesMasterIdLst>
  <p:sldIdLst>
    <p:sldId id="257" r:id="rId2"/>
    <p:sldId id="25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4" r:id="rId19"/>
    <p:sldId id="275" r:id="rId20"/>
    <p:sldId id="276" r:id="rId21"/>
    <p:sldId id="277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298" r:id="rId42"/>
    <p:sldId id="299" r:id="rId43"/>
    <p:sldId id="300" r:id="rId44"/>
    <p:sldId id="301" r:id="rId45"/>
    <p:sldId id="302" r:id="rId46"/>
    <p:sldId id="303" r:id="rId47"/>
    <p:sldId id="304" r:id="rId48"/>
    <p:sldId id="305" r:id="rId49"/>
    <p:sldId id="306" r:id="rId50"/>
    <p:sldId id="307" r:id="rId51"/>
    <p:sldId id="308" r:id="rId52"/>
  </p:sldIdLst>
  <p:sldSz cx="9145588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88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029" autoAdjust="0"/>
    <p:restoredTop sz="94660"/>
  </p:normalViewPr>
  <p:slideViewPr>
    <p:cSldViewPr snapToGrid="0">
      <p:cViewPr varScale="1">
        <p:scale>
          <a:sx n="68" d="100"/>
          <a:sy n="68" d="100"/>
        </p:scale>
        <p:origin x="-1584" y="-64"/>
      </p:cViewPr>
      <p:guideLst>
        <p:guide orient="horz" pos="2160"/>
        <p:guide pos="3840"/>
        <p:guide pos="288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65263F-E784-43F0-8B81-07A5269847ED}" type="datetimeFigureOut">
              <a:rPr lang="zh-CN" altLang="en-US" smtClean="0"/>
              <a:t>2019/6/11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E17242-85F7-4D2C-BCD6-ACAD53D6FD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22017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6A08E5-8769-484F-A1C1-FF7F58C4BCA2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46486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199" y="1122363"/>
            <a:ext cx="6859191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199" y="3602038"/>
            <a:ext cx="6859191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9FAD7-4541-4966-9E76-2EE92881919E}" type="datetimeFigureOut">
              <a:rPr lang="zh-CN" altLang="en-US" smtClean="0"/>
              <a:t>2019/6/11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51AAB-9A38-46AB-8449-20F560EAF6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26395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9FAD7-4541-4966-9E76-2EE92881919E}" type="datetimeFigureOut">
              <a:rPr lang="zh-CN" altLang="en-US" smtClean="0"/>
              <a:t>2019/6/11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51AAB-9A38-46AB-8449-20F560EAF6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60494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996" y="1709739"/>
            <a:ext cx="788807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996" y="4589464"/>
            <a:ext cx="788807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9FAD7-4541-4966-9E76-2EE92881919E}" type="datetimeFigureOut">
              <a:rPr lang="zh-CN" altLang="en-US" smtClean="0"/>
              <a:t>2019/6/11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51AAB-9A38-46AB-8449-20F560EAF6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97861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759" y="1825625"/>
            <a:ext cx="3886875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954" y="1825625"/>
            <a:ext cx="3886875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9FAD7-4541-4966-9E76-2EE92881919E}" type="datetimeFigureOut">
              <a:rPr lang="zh-CN" altLang="en-US" smtClean="0"/>
              <a:t>2019/6/11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51AAB-9A38-46AB-8449-20F560EAF6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73082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950" y="365126"/>
            <a:ext cx="788807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951" y="1681163"/>
            <a:ext cx="386901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951" y="2505075"/>
            <a:ext cx="3869012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954" y="1681163"/>
            <a:ext cx="388806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954" y="2505075"/>
            <a:ext cx="3888066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9FAD7-4541-4966-9E76-2EE92881919E}" type="datetimeFigureOut">
              <a:rPr lang="zh-CN" altLang="en-US" smtClean="0"/>
              <a:t>2019/6/11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51AAB-9A38-46AB-8449-20F560EAF6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03801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9FAD7-4541-4966-9E76-2EE92881919E}" type="datetimeFigureOut">
              <a:rPr lang="zh-CN" altLang="en-US" smtClean="0"/>
              <a:t>2019/6/11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51AAB-9A38-46AB-8449-20F560EAF6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67373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9FAD7-4541-4966-9E76-2EE92881919E}" type="datetimeFigureOut">
              <a:rPr lang="zh-CN" altLang="en-US" smtClean="0"/>
              <a:t>2019/6/11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51AAB-9A38-46AB-8449-20F560EAF6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98303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951" y="457200"/>
            <a:ext cx="2949690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8066" y="987426"/>
            <a:ext cx="4629954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951" y="2057400"/>
            <a:ext cx="294969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9FAD7-4541-4966-9E76-2EE92881919E}" type="datetimeFigureOut">
              <a:rPr lang="zh-CN" altLang="en-US" smtClean="0"/>
              <a:t>2019/6/11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51AAB-9A38-46AB-8449-20F560EAF6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39675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951" y="457200"/>
            <a:ext cx="2949690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8066" y="987426"/>
            <a:ext cx="4629954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951" y="2057400"/>
            <a:ext cx="294969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9FAD7-4541-4966-9E76-2EE92881919E}" type="datetimeFigureOut">
              <a:rPr lang="zh-CN" altLang="en-US" smtClean="0"/>
              <a:t>2019/6/11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51AAB-9A38-46AB-8449-20F560EAF6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0841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9FAD7-4541-4966-9E76-2EE92881919E}" type="datetimeFigureOut">
              <a:rPr lang="zh-CN" altLang="en-US" smtClean="0"/>
              <a:t>2019/6/11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51AAB-9A38-46AB-8449-20F560EAF6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8937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4812" y="365125"/>
            <a:ext cx="1972017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759" y="365125"/>
            <a:ext cx="5801732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9FAD7-4541-4966-9E76-2EE92881919E}" type="datetimeFigureOut">
              <a:rPr lang="zh-CN" altLang="en-US" smtClean="0"/>
              <a:t>2019/6/11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51AAB-9A38-46AB-8449-20F560EAF6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49601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/>
            </a:lvl1pPr>
          </a:lstStyle>
          <a:p>
            <a:fld id="{1BD687D1-D925-45FB-BD11-1A15B22470BE}" type="datetime1">
              <a:rPr lang="zh-CN" altLang="en-US" smtClean="0"/>
              <a:t>2019/6/11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/>
            </a:lvl1pPr>
          </a:lstStyle>
          <a:p>
            <a:fld id="{38B6C1F8-11CD-4249-A6B6-D494F507029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048499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333" b="1" i="0">
                <a:solidFill>
                  <a:srgbClr val="C00000"/>
                </a:solidFill>
                <a:latin typeface="宋体"/>
                <a:cs typeface="宋体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6/11/2019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49641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759" y="365126"/>
            <a:ext cx="788807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759" y="1825625"/>
            <a:ext cx="788807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759" y="6356351"/>
            <a:ext cx="205775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B9FAD7-4541-4966-9E76-2EE92881919E}" type="datetimeFigureOut">
              <a:rPr lang="zh-CN" altLang="en-US" smtClean="0"/>
              <a:t>2019/6/11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9476" y="6356351"/>
            <a:ext cx="30866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9072" y="6356351"/>
            <a:ext cx="205775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F51AAB-9A38-46AB-8449-20F560EAF6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90819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notesSlide" Target="../notesSlides/notesSlide1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slideLayout" Target="../slideLayouts/slideLayout12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microsoft.com/office/2007/relationships/hdphoto" Target="../media/hdphoto1.wdp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19" Type="http://schemas.openxmlformats.org/officeDocument/2006/relationships/image" Target="../media/image1.png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image" Target="../media/image46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12" Type="http://schemas.openxmlformats.org/officeDocument/2006/relationships/image" Target="../media/image45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11" Type="http://schemas.openxmlformats.org/officeDocument/2006/relationships/image" Target="../media/image44.png"/><Relationship Id="rId5" Type="http://schemas.openxmlformats.org/officeDocument/2006/relationships/image" Target="../media/image38.png"/><Relationship Id="rId10" Type="http://schemas.openxmlformats.org/officeDocument/2006/relationships/image" Target="../media/image43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13" Type="http://schemas.openxmlformats.org/officeDocument/2006/relationships/image" Target="../media/image68.png"/><Relationship Id="rId3" Type="http://schemas.openxmlformats.org/officeDocument/2006/relationships/image" Target="../media/image58.png"/><Relationship Id="rId7" Type="http://schemas.openxmlformats.org/officeDocument/2006/relationships/image" Target="../media/image62.png"/><Relationship Id="rId12" Type="http://schemas.openxmlformats.org/officeDocument/2006/relationships/image" Target="../media/image67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11" Type="http://schemas.openxmlformats.org/officeDocument/2006/relationships/image" Target="../media/image66.png"/><Relationship Id="rId5" Type="http://schemas.openxmlformats.org/officeDocument/2006/relationships/image" Target="../media/image60.png"/><Relationship Id="rId10" Type="http://schemas.openxmlformats.org/officeDocument/2006/relationships/image" Target="../media/image65.png"/><Relationship Id="rId4" Type="http://schemas.openxmlformats.org/officeDocument/2006/relationships/image" Target="../media/image59.png"/><Relationship Id="rId9" Type="http://schemas.openxmlformats.org/officeDocument/2006/relationships/image" Target="../media/image64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13" Type="http://schemas.openxmlformats.org/officeDocument/2006/relationships/image" Target="../media/image80.png"/><Relationship Id="rId18" Type="http://schemas.openxmlformats.org/officeDocument/2006/relationships/image" Target="../media/image85.png"/><Relationship Id="rId3" Type="http://schemas.openxmlformats.org/officeDocument/2006/relationships/image" Target="../media/image70.png"/><Relationship Id="rId21" Type="http://schemas.openxmlformats.org/officeDocument/2006/relationships/image" Target="../media/image88.png"/><Relationship Id="rId7" Type="http://schemas.openxmlformats.org/officeDocument/2006/relationships/image" Target="../media/image74.png"/><Relationship Id="rId12" Type="http://schemas.openxmlformats.org/officeDocument/2006/relationships/image" Target="../media/image79.png"/><Relationship Id="rId17" Type="http://schemas.openxmlformats.org/officeDocument/2006/relationships/image" Target="../media/image84.png"/><Relationship Id="rId2" Type="http://schemas.openxmlformats.org/officeDocument/2006/relationships/image" Target="../media/image69.png"/><Relationship Id="rId16" Type="http://schemas.openxmlformats.org/officeDocument/2006/relationships/image" Target="../media/image83.png"/><Relationship Id="rId20" Type="http://schemas.openxmlformats.org/officeDocument/2006/relationships/image" Target="../media/image8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3.png"/><Relationship Id="rId11" Type="http://schemas.openxmlformats.org/officeDocument/2006/relationships/image" Target="../media/image78.png"/><Relationship Id="rId5" Type="http://schemas.openxmlformats.org/officeDocument/2006/relationships/image" Target="../media/image72.png"/><Relationship Id="rId15" Type="http://schemas.openxmlformats.org/officeDocument/2006/relationships/image" Target="../media/image82.png"/><Relationship Id="rId10" Type="http://schemas.openxmlformats.org/officeDocument/2006/relationships/image" Target="../media/image77.png"/><Relationship Id="rId19" Type="http://schemas.openxmlformats.org/officeDocument/2006/relationships/image" Target="../media/image86.png"/><Relationship Id="rId4" Type="http://schemas.openxmlformats.org/officeDocument/2006/relationships/image" Target="../media/image71.png"/><Relationship Id="rId9" Type="http://schemas.openxmlformats.org/officeDocument/2006/relationships/image" Target="../media/image76.png"/><Relationship Id="rId14" Type="http://schemas.openxmlformats.org/officeDocument/2006/relationships/image" Target="../media/image81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13" Type="http://schemas.openxmlformats.org/officeDocument/2006/relationships/image" Target="../media/image81.png"/><Relationship Id="rId18" Type="http://schemas.openxmlformats.org/officeDocument/2006/relationships/image" Target="../media/image86.png"/><Relationship Id="rId3" Type="http://schemas.openxmlformats.org/officeDocument/2006/relationships/image" Target="../media/image90.png"/><Relationship Id="rId7" Type="http://schemas.openxmlformats.org/officeDocument/2006/relationships/image" Target="../media/image75.png"/><Relationship Id="rId12" Type="http://schemas.openxmlformats.org/officeDocument/2006/relationships/image" Target="../media/image80.png"/><Relationship Id="rId17" Type="http://schemas.openxmlformats.org/officeDocument/2006/relationships/image" Target="../media/image85.png"/><Relationship Id="rId2" Type="http://schemas.openxmlformats.org/officeDocument/2006/relationships/image" Target="../media/image89.png"/><Relationship Id="rId16" Type="http://schemas.openxmlformats.org/officeDocument/2006/relationships/image" Target="../media/image84.png"/><Relationship Id="rId20" Type="http://schemas.openxmlformats.org/officeDocument/2006/relationships/image" Target="../media/image8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4.png"/><Relationship Id="rId11" Type="http://schemas.openxmlformats.org/officeDocument/2006/relationships/image" Target="../media/image79.png"/><Relationship Id="rId5" Type="http://schemas.openxmlformats.org/officeDocument/2006/relationships/image" Target="../media/image92.png"/><Relationship Id="rId15" Type="http://schemas.openxmlformats.org/officeDocument/2006/relationships/image" Target="../media/image83.png"/><Relationship Id="rId10" Type="http://schemas.openxmlformats.org/officeDocument/2006/relationships/image" Target="../media/image93.png"/><Relationship Id="rId19" Type="http://schemas.openxmlformats.org/officeDocument/2006/relationships/image" Target="../media/image87.png"/><Relationship Id="rId4" Type="http://schemas.openxmlformats.org/officeDocument/2006/relationships/image" Target="../media/image91.png"/><Relationship Id="rId9" Type="http://schemas.openxmlformats.org/officeDocument/2006/relationships/image" Target="../media/image77.png"/><Relationship Id="rId14" Type="http://schemas.openxmlformats.org/officeDocument/2006/relationships/image" Target="../media/image82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13" Type="http://schemas.openxmlformats.org/officeDocument/2006/relationships/image" Target="../media/image85.png"/><Relationship Id="rId18" Type="http://schemas.openxmlformats.org/officeDocument/2006/relationships/image" Target="../media/image89.png"/><Relationship Id="rId3" Type="http://schemas.openxmlformats.org/officeDocument/2006/relationships/image" Target="../media/image75.png"/><Relationship Id="rId21" Type="http://schemas.openxmlformats.org/officeDocument/2006/relationships/image" Target="../media/image95.png"/><Relationship Id="rId7" Type="http://schemas.openxmlformats.org/officeDocument/2006/relationships/image" Target="../media/image79.png"/><Relationship Id="rId12" Type="http://schemas.openxmlformats.org/officeDocument/2006/relationships/image" Target="../media/image84.png"/><Relationship Id="rId17" Type="http://schemas.openxmlformats.org/officeDocument/2006/relationships/image" Target="../media/image91.png"/><Relationship Id="rId2" Type="http://schemas.openxmlformats.org/officeDocument/2006/relationships/image" Target="../media/image74.png"/><Relationship Id="rId16" Type="http://schemas.openxmlformats.org/officeDocument/2006/relationships/image" Target="../media/image88.png"/><Relationship Id="rId20" Type="http://schemas.openxmlformats.org/officeDocument/2006/relationships/image" Target="../media/image9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3.png"/><Relationship Id="rId11" Type="http://schemas.openxmlformats.org/officeDocument/2006/relationships/image" Target="../media/image83.png"/><Relationship Id="rId24" Type="http://schemas.openxmlformats.org/officeDocument/2006/relationships/image" Target="../media/image98.png"/><Relationship Id="rId5" Type="http://schemas.openxmlformats.org/officeDocument/2006/relationships/image" Target="../media/image77.png"/><Relationship Id="rId15" Type="http://schemas.openxmlformats.org/officeDocument/2006/relationships/image" Target="../media/image87.png"/><Relationship Id="rId23" Type="http://schemas.openxmlformats.org/officeDocument/2006/relationships/image" Target="../media/image97.png"/><Relationship Id="rId10" Type="http://schemas.openxmlformats.org/officeDocument/2006/relationships/image" Target="../media/image82.png"/><Relationship Id="rId19" Type="http://schemas.openxmlformats.org/officeDocument/2006/relationships/image" Target="../media/image90.png"/><Relationship Id="rId4" Type="http://schemas.openxmlformats.org/officeDocument/2006/relationships/image" Target="../media/image76.png"/><Relationship Id="rId9" Type="http://schemas.openxmlformats.org/officeDocument/2006/relationships/image" Target="../media/image81.png"/><Relationship Id="rId14" Type="http://schemas.openxmlformats.org/officeDocument/2006/relationships/image" Target="../media/image86.png"/><Relationship Id="rId22" Type="http://schemas.openxmlformats.org/officeDocument/2006/relationships/image" Target="../media/image96.png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A_淘宝网chenying0907出品 21"/>
          <p:cNvSpPr txBox="1"/>
          <p:nvPr>
            <p:custDataLst>
              <p:tags r:id="rId1"/>
            </p:custDataLst>
          </p:nvPr>
        </p:nvSpPr>
        <p:spPr>
          <a:xfrm>
            <a:off x="413609" y="2087838"/>
            <a:ext cx="517078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dirty="0" smtClean="0">
                <a:solidFill>
                  <a:schemeClr val="accent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《</a:t>
            </a:r>
            <a:r>
              <a:rPr lang="zh-CN" altLang="en-US" sz="4000" b="1" dirty="0" smtClean="0">
                <a:solidFill>
                  <a:schemeClr val="accent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算法分析与设计</a:t>
            </a:r>
            <a:r>
              <a:rPr lang="en-US" altLang="zh-CN" sz="4000" b="1" dirty="0" smtClean="0">
                <a:solidFill>
                  <a:schemeClr val="accent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》</a:t>
            </a:r>
          </a:p>
          <a:p>
            <a:pPr algn="ctr"/>
            <a:r>
              <a:rPr lang="en-US" altLang="zh-CN" sz="4000" b="1" dirty="0" smtClean="0">
                <a:solidFill>
                  <a:schemeClr val="accent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——</a:t>
            </a:r>
            <a:r>
              <a:rPr lang="zh-CN" altLang="en-US" sz="2800" b="1" dirty="0" smtClean="0">
                <a:solidFill>
                  <a:schemeClr val="accent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回溯算法的设计与实现</a:t>
            </a:r>
            <a:endParaRPr lang="en-US" altLang="zh-CN" sz="2800" b="1" dirty="0" smtClean="0">
              <a:solidFill>
                <a:schemeClr val="accent1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PA_淘宝网chenying0907出品 3"/>
          <p:cNvSpPr/>
          <p:nvPr>
            <p:custDataLst>
              <p:tags r:id="rId2"/>
            </p:custDataLst>
          </p:nvPr>
        </p:nvSpPr>
        <p:spPr>
          <a:xfrm>
            <a:off x="413610" y="1772818"/>
            <a:ext cx="233354" cy="2545237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PA_淘宝网chenying0907出品 4"/>
          <p:cNvSpPr/>
          <p:nvPr>
            <p:custDataLst>
              <p:tags r:id="rId3"/>
            </p:custDataLst>
          </p:nvPr>
        </p:nvSpPr>
        <p:spPr>
          <a:xfrm>
            <a:off x="5378990" y="1772818"/>
            <a:ext cx="233354" cy="2545237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PA_淘宝网chenying0907出品 7"/>
          <p:cNvSpPr/>
          <p:nvPr>
            <p:custDataLst>
              <p:tags r:id="rId4"/>
            </p:custDataLst>
          </p:nvPr>
        </p:nvSpPr>
        <p:spPr>
          <a:xfrm>
            <a:off x="5599088" y="2319198"/>
            <a:ext cx="289925" cy="1980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PA_直接连接符 9"/>
          <p:cNvCxnSpPr/>
          <p:nvPr>
            <p:custDataLst>
              <p:tags r:id="rId5"/>
            </p:custDataLst>
          </p:nvPr>
        </p:nvCxnSpPr>
        <p:spPr>
          <a:xfrm>
            <a:off x="5378990" y="4318053"/>
            <a:ext cx="3298973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A_淘宝网chenying0907出品 10"/>
          <p:cNvSpPr/>
          <p:nvPr>
            <p:custDataLst>
              <p:tags r:id="rId6"/>
            </p:custDataLst>
          </p:nvPr>
        </p:nvSpPr>
        <p:spPr>
          <a:xfrm>
            <a:off x="5903152" y="2391198"/>
            <a:ext cx="289925" cy="190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PA_淘宝网chenying0907出品 11"/>
          <p:cNvSpPr/>
          <p:nvPr>
            <p:custDataLst>
              <p:tags r:id="rId7"/>
            </p:custDataLst>
          </p:nvPr>
        </p:nvSpPr>
        <p:spPr>
          <a:xfrm>
            <a:off x="6213226" y="2391198"/>
            <a:ext cx="289925" cy="190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PA_淘宝网chenying0907出品 12"/>
          <p:cNvSpPr/>
          <p:nvPr>
            <p:custDataLst>
              <p:tags r:id="rId8"/>
            </p:custDataLst>
          </p:nvPr>
        </p:nvSpPr>
        <p:spPr>
          <a:xfrm>
            <a:off x="6517841" y="2427198"/>
            <a:ext cx="289925" cy="1872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PA_淘宝网chenying0907出品 13"/>
          <p:cNvSpPr/>
          <p:nvPr>
            <p:custDataLst>
              <p:tags r:id="rId9"/>
            </p:custDataLst>
          </p:nvPr>
        </p:nvSpPr>
        <p:spPr>
          <a:xfrm>
            <a:off x="6837149" y="2463198"/>
            <a:ext cx="289925" cy="1836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PA_淘宝网chenying0907出品 14"/>
          <p:cNvSpPr/>
          <p:nvPr>
            <p:custDataLst>
              <p:tags r:id="rId10"/>
            </p:custDataLst>
          </p:nvPr>
        </p:nvSpPr>
        <p:spPr>
          <a:xfrm>
            <a:off x="7154148" y="2499198"/>
            <a:ext cx="289925" cy="1800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PA_淘宝网chenying0907出品 15"/>
          <p:cNvSpPr/>
          <p:nvPr>
            <p:custDataLst>
              <p:tags r:id="rId11"/>
            </p:custDataLst>
          </p:nvPr>
        </p:nvSpPr>
        <p:spPr>
          <a:xfrm rot="20959521">
            <a:off x="7561616" y="2550354"/>
            <a:ext cx="289925" cy="172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PA_淘宝网chenying0907出品 16"/>
          <p:cNvSpPr/>
          <p:nvPr>
            <p:custDataLst>
              <p:tags r:id="rId12"/>
            </p:custDataLst>
          </p:nvPr>
        </p:nvSpPr>
        <p:spPr>
          <a:xfrm rot="19779136">
            <a:off x="8072123" y="2591950"/>
            <a:ext cx="289925" cy="172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PA_直接连接符 17"/>
          <p:cNvCxnSpPr/>
          <p:nvPr>
            <p:custDataLst>
              <p:tags r:id="rId13"/>
            </p:custDataLst>
          </p:nvPr>
        </p:nvCxnSpPr>
        <p:spPr>
          <a:xfrm>
            <a:off x="674160" y="4305353"/>
            <a:ext cx="4699338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PA_直接连接符 19"/>
          <p:cNvCxnSpPr/>
          <p:nvPr>
            <p:custDataLst>
              <p:tags r:id="rId14"/>
            </p:custDataLst>
          </p:nvPr>
        </p:nvCxnSpPr>
        <p:spPr>
          <a:xfrm>
            <a:off x="629672" y="1772817"/>
            <a:ext cx="4816015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PA_直接连接符 20"/>
          <p:cNvCxnSpPr/>
          <p:nvPr>
            <p:custDataLst>
              <p:tags r:id="rId15"/>
            </p:custDataLst>
          </p:nvPr>
        </p:nvCxnSpPr>
        <p:spPr>
          <a:xfrm flipV="1">
            <a:off x="575656" y="3573016"/>
            <a:ext cx="4835444" cy="11318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PA_淘宝网chenying0907出品 22"/>
          <p:cNvSpPr txBox="1"/>
          <p:nvPr>
            <p:custDataLst>
              <p:tags r:id="rId16"/>
            </p:custDataLst>
          </p:nvPr>
        </p:nvSpPr>
        <p:spPr>
          <a:xfrm>
            <a:off x="859873" y="3762400"/>
            <a:ext cx="38209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试讲人：李志勇</a:t>
            </a:r>
          </a:p>
        </p:txBody>
      </p:sp>
      <p:pic>
        <p:nvPicPr>
          <p:cNvPr id="28" name="Picture 2" descr="https://xxgc.sicau.edu.cn/dfiles/14355/wp-content/uploads/2017/04/logo.png"/>
          <p:cNvPicPr>
            <a:picLocks noChangeAspect="1" noChangeArrowheads="1"/>
          </p:cNvPicPr>
          <p:nvPr/>
        </p:nvPicPr>
        <p:blipFill>
          <a:blip r:embed="rId1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sharpenSoften amoun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271" y="10100"/>
            <a:ext cx="3215246" cy="819151"/>
          </a:xfrm>
          <a:prstGeom prst="rect">
            <a:avLst/>
          </a:prstGeom>
          <a:noFill/>
        </p:spPr>
      </p:pic>
      <p:sp>
        <p:nvSpPr>
          <p:cNvPr id="2" name="矩形 1"/>
          <p:cNvSpPr/>
          <p:nvPr/>
        </p:nvSpPr>
        <p:spPr>
          <a:xfrm>
            <a:off x="413610" y="5003884"/>
            <a:ext cx="818875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《</a:t>
            </a:r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算法设计与分析</a:t>
            </a:r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》(</a:t>
            </a:r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第</a:t>
            </a:r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版</a:t>
            </a:r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，屈婉玲、刘田、张立昂、王捍贫，</a:t>
            </a:r>
            <a:r>
              <a:rPr lang="zh-CN" altLang="en-US" sz="16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清华大学出版社</a:t>
            </a:r>
            <a:endParaRPr lang="zh-CN" altLang="en-US" sz="1600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1" name="日期占位符 2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C6765-BE6E-4593-A223-F2D7034B6D81}" type="datetime1">
              <a:rPr lang="zh-CN" altLang="en-US" smtClean="0"/>
              <a:t>2019/6/11</a:t>
            </a:fld>
            <a:endParaRPr lang="zh-CN" altLang="en-US"/>
          </a:p>
        </p:txBody>
      </p:sp>
      <p:sp>
        <p:nvSpPr>
          <p:cNvPr id="22" name="页脚占位符 2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6C1F8-11CD-4249-A6B6-D494F5070295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1039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500"/>
                            </p:stCondLst>
                            <p:childTnLst>
                              <p:par>
                                <p:cTn id="4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000"/>
                            </p:stCondLst>
                            <p:childTnLst>
                              <p:par>
                                <p:cTn id="4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500"/>
                            </p:stCondLst>
                            <p:childTnLst>
                              <p:par>
                                <p:cTn id="5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0"/>
                            </p:stCondLst>
                            <p:childTnLst>
                              <p:par>
                                <p:cTn id="5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500"/>
                            </p:stCondLst>
                            <p:childTnLst>
                              <p:par>
                                <p:cTn id="60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6000"/>
                            </p:stCondLst>
                            <p:childTnLst>
                              <p:par>
                                <p:cTn id="73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7500"/>
                            </p:stCondLst>
                            <p:childTnLst>
                              <p:par>
                                <p:cTn id="8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5" grpId="0" animBg="1"/>
      <p:bldP spid="5" grpId="1" animBg="1"/>
      <p:bldP spid="6" grpId="0" animBg="1"/>
      <p:bldP spid="7" grpId="0" animBg="1"/>
      <p:bldP spid="9" grpId="0" animBg="1"/>
      <p:bldP spid="10" grpId="0" bldLvl="0" animBg="1"/>
      <p:bldP spid="11" grpId="0" bldLvl="0" animBg="1"/>
      <p:bldP spid="12" grpId="0" animBg="1"/>
      <p:bldP spid="13" grpId="0" animBg="1"/>
      <p:bldP spid="14" grpId="0" animBg="1"/>
      <p:bldP spid="15" grpId="0" animBg="1"/>
      <p:bldP spid="20" grpId="0"/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3"/>
          <p:cNvSpPr/>
          <p:nvPr/>
        </p:nvSpPr>
        <p:spPr>
          <a:xfrm>
            <a:off x="2830402" y="1767907"/>
            <a:ext cx="4107677" cy="533400"/>
          </a:xfrm>
          <a:custGeom>
            <a:avLst/>
            <a:gdLst/>
            <a:ahLst/>
            <a:cxnLst/>
            <a:rect l="l" t="t" r="r" b="b"/>
            <a:pathLst>
              <a:path w="4267200" h="533400">
                <a:moveTo>
                  <a:pt x="0" y="88900"/>
                </a:moveTo>
                <a:lnTo>
                  <a:pt x="6986" y="54296"/>
                </a:lnTo>
                <a:lnTo>
                  <a:pt x="26038" y="26038"/>
                </a:lnTo>
                <a:lnTo>
                  <a:pt x="54296" y="6986"/>
                </a:lnTo>
                <a:lnTo>
                  <a:pt x="88900" y="0"/>
                </a:lnTo>
                <a:lnTo>
                  <a:pt x="4178300" y="0"/>
                </a:lnTo>
                <a:lnTo>
                  <a:pt x="4212903" y="6986"/>
                </a:lnTo>
                <a:lnTo>
                  <a:pt x="4241161" y="26038"/>
                </a:lnTo>
                <a:lnTo>
                  <a:pt x="4260213" y="54296"/>
                </a:lnTo>
                <a:lnTo>
                  <a:pt x="4267200" y="88900"/>
                </a:lnTo>
                <a:lnTo>
                  <a:pt x="4267200" y="444500"/>
                </a:lnTo>
                <a:lnTo>
                  <a:pt x="4260213" y="479103"/>
                </a:lnTo>
                <a:lnTo>
                  <a:pt x="4241161" y="507361"/>
                </a:lnTo>
                <a:lnTo>
                  <a:pt x="4212903" y="526413"/>
                </a:lnTo>
                <a:lnTo>
                  <a:pt x="4178300" y="533400"/>
                </a:lnTo>
                <a:lnTo>
                  <a:pt x="88900" y="533400"/>
                </a:lnTo>
                <a:lnTo>
                  <a:pt x="54296" y="526413"/>
                </a:lnTo>
                <a:lnTo>
                  <a:pt x="26038" y="507361"/>
                </a:lnTo>
                <a:lnTo>
                  <a:pt x="6986" y="479103"/>
                </a:lnTo>
                <a:lnTo>
                  <a:pt x="0" y="444500"/>
                </a:lnTo>
                <a:lnTo>
                  <a:pt x="0" y="88900"/>
                </a:lnTo>
                <a:close/>
              </a:path>
            </a:pathLst>
          </a:custGeom>
          <a:ln w="25146">
            <a:solidFill>
              <a:srgbClr val="385D8A"/>
            </a:solidFill>
          </a:ln>
        </p:spPr>
        <p:txBody>
          <a:bodyPr wrap="square" lIns="0" tIns="0" rIns="0" bIns="0" rtlCol="0"/>
          <a:lstStyle/>
          <a:p>
            <a:endParaRPr sz="280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object 4"/>
          <p:cNvSpPr txBox="1">
            <a:spLocks/>
          </p:cNvSpPr>
          <p:nvPr/>
        </p:nvSpPr>
        <p:spPr>
          <a:xfrm>
            <a:off x="578223" y="513354"/>
            <a:ext cx="7175076" cy="751488"/>
          </a:xfrm>
          <a:prstGeom prst="rect">
            <a:avLst/>
          </a:prstGeom>
        </p:spPr>
        <p:txBody>
          <a:bodyPr vert="horz" wrap="square" lIns="0" tIns="12700" rIns="0" bIns="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4800" b="1" spc="-10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回溯算法的设</a:t>
            </a:r>
            <a:r>
              <a:rPr lang="zh-CN" altLang="en-US" sz="4800" b="1" spc="-5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计与实</a:t>
            </a:r>
            <a:r>
              <a:rPr lang="zh-CN" altLang="en-US" sz="4800" b="1" spc="-15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现</a:t>
            </a:r>
            <a:endParaRPr lang="zh-CN" altLang="en-US" sz="4800" b="1" spc="-15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object 5"/>
          <p:cNvSpPr/>
          <p:nvPr/>
        </p:nvSpPr>
        <p:spPr>
          <a:xfrm>
            <a:off x="2830402" y="2514142"/>
            <a:ext cx="4107677" cy="533400"/>
          </a:xfrm>
          <a:custGeom>
            <a:avLst/>
            <a:gdLst/>
            <a:ahLst/>
            <a:cxnLst/>
            <a:rect l="l" t="t" r="r" b="b"/>
            <a:pathLst>
              <a:path w="4267200" h="533400">
                <a:moveTo>
                  <a:pt x="0" y="88900"/>
                </a:moveTo>
                <a:lnTo>
                  <a:pt x="6986" y="54296"/>
                </a:lnTo>
                <a:lnTo>
                  <a:pt x="26038" y="26038"/>
                </a:lnTo>
                <a:lnTo>
                  <a:pt x="54296" y="6986"/>
                </a:lnTo>
                <a:lnTo>
                  <a:pt x="88900" y="0"/>
                </a:lnTo>
                <a:lnTo>
                  <a:pt x="4178300" y="0"/>
                </a:lnTo>
                <a:lnTo>
                  <a:pt x="4212903" y="6986"/>
                </a:lnTo>
                <a:lnTo>
                  <a:pt x="4241161" y="26038"/>
                </a:lnTo>
                <a:lnTo>
                  <a:pt x="4260213" y="54296"/>
                </a:lnTo>
                <a:lnTo>
                  <a:pt x="4267200" y="88900"/>
                </a:lnTo>
                <a:lnTo>
                  <a:pt x="4267200" y="444500"/>
                </a:lnTo>
                <a:lnTo>
                  <a:pt x="4260213" y="479103"/>
                </a:lnTo>
                <a:lnTo>
                  <a:pt x="4241161" y="507361"/>
                </a:lnTo>
                <a:lnTo>
                  <a:pt x="4212903" y="526413"/>
                </a:lnTo>
                <a:lnTo>
                  <a:pt x="4178300" y="533400"/>
                </a:lnTo>
                <a:lnTo>
                  <a:pt x="88900" y="533400"/>
                </a:lnTo>
                <a:lnTo>
                  <a:pt x="54296" y="526413"/>
                </a:lnTo>
                <a:lnTo>
                  <a:pt x="26038" y="507361"/>
                </a:lnTo>
                <a:lnTo>
                  <a:pt x="6986" y="479103"/>
                </a:lnTo>
                <a:lnTo>
                  <a:pt x="0" y="444500"/>
                </a:lnTo>
                <a:lnTo>
                  <a:pt x="0" y="88900"/>
                </a:lnTo>
                <a:close/>
              </a:path>
            </a:pathLst>
          </a:custGeom>
          <a:ln w="25146">
            <a:solidFill>
              <a:srgbClr val="385D8A"/>
            </a:solidFill>
          </a:ln>
        </p:spPr>
        <p:txBody>
          <a:bodyPr wrap="square" lIns="0" tIns="0" rIns="0" bIns="0" rtlCol="0"/>
          <a:lstStyle/>
          <a:p>
            <a:endParaRPr sz="280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object 6"/>
          <p:cNvSpPr/>
          <p:nvPr/>
        </p:nvSpPr>
        <p:spPr>
          <a:xfrm>
            <a:off x="2501154" y="4658253"/>
            <a:ext cx="4961964" cy="1008664"/>
          </a:xfrm>
          <a:custGeom>
            <a:avLst/>
            <a:gdLst/>
            <a:ahLst/>
            <a:cxnLst/>
            <a:rect l="l" t="t" r="r" b="b"/>
            <a:pathLst>
              <a:path w="4267200" h="762000">
                <a:moveTo>
                  <a:pt x="0" y="127000"/>
                </a:moveTo>
                <a:lnTo>
                  <a:pt x="9980" y="77565"/>
                </a:lnTo>
                <a:lnTo>
                  <a:pt x="37196" y="37196"/>
                </a:lnTo>
                <a:lnTo>
                  <a:pt x="77565" y="9980"/>
                </a:lnTo>
                <a:lnTo>
                  <a:pt x="127000" y="0"/>
                </a:lnTo>
                <a:lnTo>
                  <a:pt x="4140200" y="0"/>
                </a:lnTo>
                <a:lnTo>
                  <a:pt x="4189634" y="9980"/>
                </a:lnTo>
                <a:lnTo>
                  <a:pt x="4230003" y="37196"/>
                </a:lnTo>
                <a:lnTo>
                  <a:pt x="4257219" y="77565"/>
                </a:lnTo>
                <a:lnTo>
                  <a:pt x="4267200" y="127000"/>
                </a:lnTo>
                <a:lnTo>
                  <a:pt x="4267200" y="634987"/>
                </a:lnTo>
                <a:lnTo>
                  <a:pt x="4257219" y="684424"/>
                </a:lnTo>
                <a:lnTo>
                  <a:pt x="4230003" y="724796"/>
                </a:lnTo>
                <a:lnTo>
                  <a:pt x="4189634" y="752017"/>
                </a:lnTo>
                <a:lnTo>
                  <a:pt x="4140200" y="762000"/>
                </a:lnTo>
                <a:lnTo>
                  <a:pt x="127000" y="762000"/>
                </a:lnTo>
                <a:lnTo>
                  <a:pt x="77565" y="752017"/>
                </a:lnTo>
                <a:lnTo>
                  <a:pt x="37196" y="724796"/>
                </a:lnTo>
                <a:lnTo>
                  <a:pt x="9980" y="684424"/>
                </a:lnTo>
                <a:lnTo>
                  <a:pt x="0" y="634987"/>
                </a:lnTo>
                <a:lnTo>
                  <a:pt x="0" y="127000"/>
                </a:lnTo>
                <a:close/>
              </a:path>
            </a:pathLst>
          </a:custGeom>
          <a:ln w="25146">
            <a:solidFill>
              <a:srgbClr val="385D8A"/>
            </a:solidFill>
          </a:ln>
        </p:spPr>
        <p:txBody>
          <a:bodyPr wrap="square" lIns="0" tIns="0" rIns="0" bIns="0" rtlCol="0"/>
          <a:lstStyle/>
          <a:p>
            <a:endParaRPr sz="280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" name="object 7"/>
          <p:cNvSpPr/>
          <p:nvPr/>
        </p:nvSpPr>
        <p:spPr>
          <a:xfrm>
            <a:off x="2501154" y="3239352"/>
            <a:ext cx="4961964" cy="533400"/>
          </a:xfrm>
          <a:custGeom>
            <a:avLst/>
            <a:gdLst/>
            <a:ahLst/>
            <a:cxnLst/>
            <a:rect l="l" t="t" r="r" b="b"/>
            <a:pathLst>
              <a:path w="4267200" h="533400">
                <a:moveTo>
                  <a:pt x="0" y="88900"/>
                </a:moveTo>
                <a:lnTo>
                  <a:pt x="6986" y="54296"/>
                </a:lnTo>
                <a:lnTo>
                  <a:pt x="26038" y="26038"/>
                </a:lnTo>
                <a:lnTo>
                  <a:pt x="54296" y="6986"/>
                </a:lnTo>
                <a:lnTo>
                  <a:pt x="88900" y="0"/>
                </a:lnTo>
                <a:lnTo>
                  <a:pt x="4178300" y="0"/>
                </a:lnTo>
                <a:lnTo>
                  <a:pt x="4212903" y="6986"/>
                </a:lnTo>
                <a:lnTo>
                  <a:pt x="4241161" y="26038"/>
                </a:lnTo>
                <a:lnTo>
                  <a:pt x="4260213" y="54296"/>
                </a:lnTo>
                <a:lnTo>
                  <a:pt x="4267200" y="88900"/>
                </a:lnTo>
                <a:lnTo>
                  <a:pt x="4267200" y="444500"/>
                </a:lnTo>
                <a:lnTo>
                  <a:pt x="4260213" y="479103"/>
                </a:lnTo>
                <a:lnTo>
                  <a:pt x="4241161" y="507361"/>
                </a:lnTo>
                <a:lnTo>
                  <a:pt x="4212903" y="526413"/>
                </a:lnTo>
                <a:lnTo>
                  <a:pt x="4178300" y="533400"/>
                </a:lnTo>
                <a:lnTo>
                  <a:pt x="88900" y="533400"/>
                </a:lnTo>
                <a:lnTo>
                  <a:pt x="54296" y="526413"/>
                </a:lnTo>
                <a:lnTo>
                  <a:pt x="26038" y="507361"/>
                </a:lnTo>
                <a:lnTo>
                  <a:pt x="6986" y="479103"/>
                </a:lnTo>
                <a:lnTo>
                  <a:pt x="0" y="444500"/>
                </a:lnTo>
                <a:lnTo>
                  <a:pt x="0" y="88900"/>
                </a:lnTo>
                <a:close/>
              </a:path>
            </a:pathLst>
          </a:custGeom>
          <a:ln w="25146">
            <a:solidFill>
              <a:srgbClr val="385D8A"/>
            </a:solidFill>
          </a:ln>
        </p:spPr>
        <p:txBody>
          <a:bodyPr wrap="square" lIns="0" tIns="0" rIns="0" bIns="0" rtlCol="0"/>
          <a:lstStyle/>
          <a:p>
            <a:endParaRPr sz="280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object 8"/>
          <p:cNvSpPr/>
          <p:nvPr/>
        </p:nvSpPr>
        <p:spPr>
          <a:xfrm>
            <a:off x="2299448" y="3933036"/>
            <a:ext cx="5298140" cy="533400"/>
          </a:xfrm>
          <a:custGeom>
            <a:avLst/>
            <a:gdLst/>
            <a:ahLst/>
            <a:cxnLst/>
            <a:rect l="l" t="t" r="r" b="b"/>
            <a:pathLst>
              <a:path w="4267200" h="533400">
                <a:moveTo>
                  <a:pt x="0" y="88900"/>
                </a:moveTo>
                <a:lnTo>
                  <a:pt x="6986" y="54296"/>
                </a:lnTo>
                <a:lnTo>
                  <a:pt x="26038" y="26038"/>
                </a:lnTo>
                <a:lnTo>
                  <a:pt x="54296" y="6986"/>
                </a:lnTo>
                <a:lnTo>
                  <a:pt x="88900" y="0"/>
                </a:lnTo>
                <a:lnTo>
                  <a:pt x="4178300" y="0"/>
                </a:lnTo>
                <a:lnTo>
                  <a:pt x="4212903" y="6986"/>
                </a:lnTo>
                <a:lnTo>
                  <a:pt x="4241161" y="26038"/>
                </a:lnTo>
                <a:lnTo>
                  <a:pt x="4260213" y="54296"/>
                </a:lnTo>
                <a:lnTo>
                  <a:pt x="4267200" y="88900"/>
                </a:lnTo>
                <a:lnTo>
                  <a:pt x="4267200" y="444500"/>
                </a:lnTo>
                <a:lnTo>
                  <a:pt x="4260213" y="479103"/>
                </a:lnTo>
                <a:lnTo>
                  <a:pt x="4241161" y="507361"/>
                </a:lnTo>
                <a:lnTo>
                  <a:pt x="4212903" y="526413"/>
                </a:lnTo>
                <a:lnTo>
                  <a:pt x="4178300" y="533400"/>
                </a:lnTo>
                <a:lnTo>
                  <a:pt x="88900" y="533400"/>
                </a:lnTo>
                <a:lnTo>
                  <a:pt x="54296" y="526413"/>
                </a:lnTo>
                <a:lnTo>
                  <a:pt x="26038" y="507361"/>
                </a:lnTo>
                <a:lnTo>
                  <a:pt x="6986" y="479103"/>
                </a:lnTo>
                <a:lnTo>
                  <a:pt x="0" y="444500"/>
                </a:lnTo>
                <a:lnTo>
                  <a:pt x="0" y="88900"/>
                </a:lnTo>
                <a:close/>
              </a:path>
            </a:pathLst>
          </a:custGeom>
          <a:ln w="25146">
            <a:solidFill>
              <a:srgbClr val="385D8A"/>
            </a:solidFill>
          </a:ln>
        </p:spPr>
        <p:txBody>
          <a:bodyPr wrap="square" lIns="0" tIns="0" rIns="0" bIns="0" rtlCol="0"/>
          <a:lstStyle/>
          <a:p>
            <a:endParaRPr sz="280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object 9"/>
          <p:cNvSpPr txBox="1"/>
          <p:nvPr/>
        </p:nvSpPr>
        <p:spPr>
          <a:xfrm>
            <a:off x="2830402" y="1805654"/>
            <a:ext cx="4107677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95"/>
              </a:spcBef>
            </a:pPr>
            <a:r>
              <a:rPr sz="2800" b="1" spc="-5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搜索</a:t>
            </a:r>
            <a:r>
              <a:rPr sz="2800" b="1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树结点</a:t>
            </a:r>
            <a:r>
              <a:rPr sz="2800" b="1" spc="5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数</a:t>
            </a:r>
            <a:r>
              <a:rPr sz="2800" b="1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的估计</a:t>
            </a:r>
            <a:endParaRPr sz="28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2830402" y="2542871"/>
            <a:ext cx="410767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2800" b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图的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着色问题</a:t>
            </a:r>
            <a:endParaRPr lang="zh-CN" altLang="en-US" sz="28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2127144" y="3228219"/>
            <a:ext cx="563655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800" b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回溯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算法的</a:t>
            </a:r>
            <a:r>
              <a:rPr lang="zh-CN" altLang="en-US" sz="2800" b="1" spc="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递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归与</a:t>
            </a:r>
            <a:r>
              <a:rPr lang="zh-CN" altLang="en-US" sz="2800" b="1" spc="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迭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代</a:t>
            </a:r>
            <a:r>
              <a:rPr lang="zh-CN" altLang="en-US" sz="2800" b="1" spc="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实</a:t>
            </a:r>
            <a:r>
              <a:rPr lang="zh-CN" altLang="en-US" sz="2800" b="1" spc="-1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现</a:t>
            </a:r>
            <a:endParaRPr lang="zh-CN" altLang="en-US" sz="28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2269726" y="3943216"/>
            <a:ext cx="551329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800" b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回溯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算法的</a:t>
            </a:r>
            <a:r>
              <a:rPr lang="zh-CN" altLang="en-US" sz="2800" b="1" spc="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基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本思</a:t>
            </a:r>
            <a:r>
              <a:rPr lang="zh-CN" altLang="en-US" sz="2800" b="1" spc="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想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zh-CN" altLang="en-US" sz="2800" b="1" spc="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适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用条件</a:t>
            </a:r>
            <a:endParaRPr lang="zh-CN" altLang="en-US" sz="28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2299447" y="4702301"/>
            <a:ext cx="5453852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35" algn="ctr">
              <a:lnSpc>
                <a:spcPct val="100000"/>
              </a:lnSpc>
            </a:pPr>
            <a:r>
              <a:rPr lang="zh-CN" altLang="en-US" sz="2800" b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回溯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算法的</a:t>
            </a:r>
            <a:r>
              <a:rPr lang="zh-CN" altLang="en-US" sz="2800" b="1" spc="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子：</a:t>
            </a:r>
            <a:endParaRPr lang="zh-CN" altLang="en-US" sz="28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</a:pPr>
            <a:r>
              <a:rPr lang="en-US" altLang="zh-CN" sz="2800" b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zh-CN" altLang="en-US" sz="2800" b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后放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置</a:t>
            </a:r>
            <a:r>
              <a:rPr lang="zh-CN" altLang="en-US" sz="2800" b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sz="2800" b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0-1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背包</a:t>
            </a:r>
            <a:r>
              <a:rPr lang="zh-CN" altLang="en-US" sz="2800" b="1" spc="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货</a:t>
            </a:r>
            <a:r>
              <a:rPr lang="zh-CN" altLang="en-US" sz="2800" b="1" spc="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郎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问题</a:t>
            </a:r>
            <a:endParaRPr lang="zh-CN" altLang="en-US" sz="28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689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8" grpId="0" animBg="1"/>
      <p:bldP spid="9" grpId="0" animBg="1"/>
      <p:bldP spid="10" grpId="0"/>
      <p:bldP spid="13" grpId="0"/>
      <p:bldP spid="14" grpId="0"/>
      <p:bldP spid="15" grpId="0"/>
      <p:bldP spid="1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89212" y="2317440"/>
            <a:ext cx="7126941" cy="2048424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394424" marR="6773" indent="-1378339" algn="ctr">
              <a:lnSpc>
                <a:spcPct val="100000"/>
              </a:lnSpc>
              <a:spcBef>
                <a:spcPts val="133"/>
              </a:spcBef>
            </a:pPr>
            <a:r>
              <a:rPr sz="6600" spc="-20" dirty="0" err="1" smtClean="0">
                <a:latin typeface="黑体" panose="02010609060101010101" pitchFamily="49" charset="-122"/>
                <a:ea typeface="黑体" panose="02010609060101010101" pitchFamily="49" charset="-122"/>
              </a:rPr>
              <a:t>几个</a:t>
            </a:r>
            <a:r>
              <a:rPr sz="6600" spc="7" dirty="0" err="1" smtClean="0">
                <a:latin typeface="黑体" panose="02010609060101010101" pitchFamily="49" charset="-122"/>
                <a:ea typeface="黑体" panose="02010609060101010101" pitchFamily="49" charset="-122"/>
              </a:rPr>
              <a:t>回</a:t>
            </a:r>
            <a:r>
              <a:rPr sz="6600" spc="-7" dirty="0" err="1" smtClean="0">
                <a:latin typeface="黑体" panose="02010609060101010101" pitchFamily="49" charset="-122"/>
                <a:ea typeface="黑体" panose="02010609060101010101" pitchFamily="49" charset="-122"/>
              </a:rPr>
              <a:t>溯算</a:t>
            </a:r>
            <a:r>
              <a:rPr sz="6600" spc="-27" dirty="0" err="1" smtClean="0">
                <a:latin typeface="黑体" panose="02010609060101010101" pitchFamily="49" charset="-122"/>
                <a:ea typeface="黑体" panose="02010609060101010101" pitchFamily="49" charset="-122"/>
              </a:rPr>
              <a:t>法</a:t>
            </a:r>
            <a:r>
              <a:rPr lang="en-US" sz="6600" spc="-27" dirty="0" smtClean="0">
                <a:latin typeface="黑体" panose="02010609060101010101" pitchFamily="49" charset="-122"/>
                <a:ea typeface="黑体" panose="02010609060101010101" pitchFamily="49" charset="-122"/>
              </a:rPr>
              <a:t/>
            </a:r>
            <a:br>
              <a:rPr lang="en-US" sz="6600" spc="-27" dirty="0" smtClean="0">
                <a:latin typeface="黑体" panose="02010609060101010101" pitchFamily="49" charset="-122"/>
                <a:ea typeface="黑体" panose="02010609060101010101" pitchFamily="49" charset="-122"/>
              </a:rPr>
            </a:br>
            <a:r>
              <a:rPr sz="6600" spc="-20" dirty="0" err="1" smtClean="0">
                <a:latin typeface="黑体" panose="02010609060101010101" pitchFamily="49" charset="-122"/>
                <a:ea typeface="黑体" panose="02010609060101010101" pitchFamily="49" charset="-122"/>
              </a:rPr>
              <a:t>的例子</a:t>
            </a:r>
            <a:endParaRPr sz="66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65800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48621" y="296203"/>
            <a:ext cx="1807524" cy="632651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4000" b="1" spc="-13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4后问</a:t>
            </a:r>
            <a:r>
              <a:rPr sz="4000" b="1" spc="-2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题</a:t>
            </a:r>
          </a:p>
        </p:txBody>
      </p:sp>
      <p:sp>
        <p:nvSpPr>
          <p:cNvPr id="3" name="object 3"/>
          <p:cNvSpPr/>
          <p:nvPr/>
        </p:nvSpPr>
        <p:spPr>
          <a:xfrm>
            <a:off x="6489987" y="3130942"/>
            <a:ext cx="2038050" cy="194324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4"/>
              <p:cNvSpPr txBox="1"/>
              <p:nvPr/>
            </p:nvSpPr>
            <p:spPr>
              <a:xfrm>
                <a:off x="345500" y="1106632"/>
                <a:ext cx="8413765" cy="1338828"/>
              </a:xfrm>
              <a:prstGeom prst="rect">
                <a:avLst/>
              </a:prstGeom>
            </p:spPr>
            <p:txBody>
              <a:bodyPr vert="horz" wrap="square" lIns="0" tIns="45720" rIns="0" bIns="0" rtlCol="0">
                <a:spAutoFit/>
              </a:bodyPr>
              <a:lstStyle/>
              <a:p>
                <a:pPr marL="67732" marR="57572" algn="just">
                  <a:lnSpc>
                    <a:spcPct val="100299"/>
                  </a:lnSpc>
                  <a:spcBef>
                    <a:spcPts val="360"/>
                  </a:spcBef>
                </a:pPr>
                <a:r>
                  <a:rPr sz="2800" b="1" spc="-7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4后问题</a:t>
                </a:r>
                <a:r>
                  <a:rPr sz="2800" b="1" spc="-7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：</a:t>
                </a:r>
                <a:r>
                  <a:rPr sz="2800" b="1" spc="-13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在</a:t>
                </a:r>
                <a:r>
                  <a:rPr sz="2800" b="1" spc="-793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sz="2800" b="1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4</a:t>
                </a:r>
                <a14:m>
                  <m:oMath xmlns:m="http://schemas.openxmlformats.org/officeDocument/2006/math">
                    <m:r>
                      <a:rPr lang="en-US" sz="2800" b="1" i="1" spc="-13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</m:oMath>
                </a14:m>
                <a:r>
                  <a:rPr sz="2800" b="1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4</a:t>
                </a:r>
                <a:r>
                  <a:rPr sz="2800" b="1" spc="-2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sz="2800" b="1" spc="-7" dirty="0" err="1" smtClean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的方格棋</a:t>
                </a:r>
                <a:r>
                  <a:rPr sz="2800" b="1" dirty="0" err="1" smtClean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盘上放置</a:t>
                </a:r>
                <a:r>
                  <a:rPr lang="en-US" sz="2800" b="1" dirty="0" smtClean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sz="2800" b="1" dirty="0" smtClean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4 个皇后</a:t>
                </a:r>
                <a:r>
                  <a:rPr sz="2800" b="1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，使得没有两个皇后在同一行</a:t>
                </a:r>
                <a:r>
                  <a:rPr sz="2800" b="1" dirty="0" smtClean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、</a:t>
                </a:r>
                <a:r>
                  <a:rPr sz="2800" b="1" spc="-7" dirty="0" smtClean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同一列</a:t>
                </a:r>
                <a:r>
                  <a:rPr sz="2800" b="1" spc="-7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、</a:t>
                </a:r>
                <a:r>
                  <a:rPr sz="2800" b="1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也</a:t>
                </a:r>
                <a:r>
                  <a:rPr sz="2800" b="1" spc="7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不</a:t>
                </a:r>
                <a:r>
                  <a:rPr sz="2800" b="1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在同一</a:t>
                </a:r>
                <a:r>
                  <a:rPr sz="2800" b="1" spc="-7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条</a:t>
                </a:r>
                <a:r>
                  <a:rPr sz="2800" b="1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45度的斜线</a:t>
                </a:r>
                <a:r>
                  <a:rPr sz="2800" b="1" spc="-7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上</a:t>
                </a:r>
                <a:r>
                  <a:rPr sz="2800" b="1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. </a:t>
                </a:r>
                <a:r>
                  <a:rPr sz="2800" b="1" spc="-7" dirty="0" err="1" smtClean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问有多少</a:t>
                </a:r>
                <a:r>
                  <a:rPr sz="2800" b="1" dirty="0" err="1" smtClean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种</a:t>
                </a:r>
                <a:r>
                  <a:rPr sz="2800" b="1" spc="7" dirty="0" err="1" smtClean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可</a:t>
                </a:r>
                <a:r>
                  <a:rPr sz="2800" b="1" dirty="0" err="1" smtClean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能的布局</a:t>
                </a:r>
                <a:r>
                  <a:rPr sz="2800" b="1" dirty="0" smtClean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？</a:t>
                </a:r>
                <a:endParaRPr sz="2800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586" y="1106631"/>
                <a:ext cx="11216406" cy="907941"/>
              </a:xfrm>
              <a:prstGeom prst="rect">
                <a:avLst/>
              </a:prstGeom>
              <a:blipFill>
                <a:blip r:embed="rId3"/>
                <a:stretch>
                  <a:fillRect l="-1359" t="-9459" r="-1359" b="-243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矩形 4"/>
          <p:cNvSpPr/>
          <p:nvPr/>
        </p:nvSpPr>
        <p:spPr>
          <a:xfrm>
            <a:off x="244549" y="3923777"/>
            <a:ext cx="4572794" cy="1384995"/>
          </a:xfrm>
          <a:prstGeom prst="rect">
            <a:avLst/>
          </a:prstGeom>
        </p:spPr>
        <p:txBody>
          <a:bodyPr>
            <a:spAutoFit/>
          </a:bodyPr>
          <a:lstStyle/>
          <a:p>
            <a:pPr marL="67732">
              <a:spcBef>
                <a:spcPts val="2719"/>
              </a:spcBef>
            </a:pPr>
            <a:r>
              <a:rPr lang="zh-CN" altLang="en-US" sz="2800" b="1" spc="-7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推广</a:t>
            </a:r>
            <a:r>
              <a:rPr lang="zh-CN" altLang="en-US" sz="2800" b="1" spc="-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到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8</a:t>
            </a:r>
            <a:r>
              <a:rPr lang="zh-CN" altLang="en-US" sz="2800" b="1" spc="-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后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问</a:t>
            </a:r>
            <a:r>
              <a:rPr lang="zh-CN" altLang="en-US" sz="2800" b="1" spc="-13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题</a:t>
            </a:r>
            <a:endParaRPr lang="zh-CN" altLang="en-US" sz="28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67732"/>
            <a:r>
              <a:rPr lang="zh-CN" altLang="en-US" sz="2800" b="1" spc="-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zh-CN" altLang="en-US" sz="2800" b="1" spc="-13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zh-CN" altLang="en-US" sz="2800" b="1" spc="-8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8</a:t>
            </a:r>
            <a:r>
              <a:rPr lang="zh-CN" altLang="en-US" sz="2800" b="1" spc="-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维向量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zh-CN" altLang="en-US" sz="2800" b="1" spc="-13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有</a:t>
            </a:r>
            <a:r>
              <a:rPr lang="zh-CN" altLang="en-US" sz="2800" b="1" spc="-773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92</a:t>
            </a:r>
            <a:r>
              <a:rPr lang="zh-CN" altLang="en-US" sz="2800" b="1" spc="-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个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lang="zh-CN" altLang="en-US" sz="28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67732"/>
            <a:r>
              <a:rPr lang="zh-CN" altLang="en-US" sz="2800" b="1" spc="-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例如：</a:t>
            </a:r>
            <a:r>
              <a:rPr lang="en-US" altLang="zh-CN" sz="2800" b="1" spc="-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&lt;</a:t>
            </a:r>
            <a:r>
              <a:rPr lang="en-US" altLang="zh-CN" sz="2800" b="1" spc="-7" dirty="0">
                <a:latin typeface="Times New Roman"/>
                <a:cs typeface="Times New Roman"/>
              </a:rPr>
              <a:t>1,5,8,6,3,7,2,4&gt;</a:t>
            </a:r>
            <a:r>
              <a:rPr lang="zh-CN" altLang="en-US" sz="2800" b="1" spc="-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是解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lang="zh-CN" altLang="en-US" sz="28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44549" y="2728585"/>
            <a:ext cx="4572794" cy="954107"/>
          </a:xfrm>
          <a:prstGeom prst="rect">
            <a:avLst/>
          </a:prstGeom>
        </p:spPr>
        <p:txBody>
          <a:bodyPr>
            <a:spAutoFit/>
          </a:bodyPr>
          <a:lstStyle/>
          <a:p>
            <a:pPr marL="67732">
              <a:spcBef>
                <a:spcPts val="1920"/>
              </a:spcBef>
            </a:pPr>
            <a:r>
              <a:rPr lang="zh-CN" altLang="en-US" sz="2800" b="1" spc="-7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zh-CN" altLang="en-US" sz="2800" b="1" spc="-13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是</a:t>
            </a:r>
            <a:r>
              <a:rPr lang="zh-CN" altLang="en-US" sz="2800" b="1" spc="-800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</a:t>
            </a:r>
            <a:r>
              <a:rPr lang="zh-CN" altLang="en-US" sz="2800" b="1" spc="-7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维向</a:t>
            </a:r>
            <a:r>
              <a:rPr lang="zh-CN" altLang="en-US" sz="2800" b="1" spc="-13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量</a:t>
            </a:r>
            <a:r>
              <a:rPr lang="zh-CN" altLang="en-US" sz="2800" b="1" spc="-787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/>
                <a:cs typeface="Times New Roman"/>
              </a:rPr>
              <a:t>&lt;</a:t>
            </a:r>
            <a:r>
              <a:rPr lang="zh-CN" altLang="en-US" sz="2800" b="1" spc="-7" dirty="0">
                <a:latin typeface="Times New Roman"/>
                <a:cs typeface="Times New Roman"/>
              </a:rPr>
              <a:t> </a:t>
            </a:r>
            <a:r>
              <a:rPr lang="en-US" altLang="zh-CN" sz="2800" b="1" i="1" dirty="0">
                <a:latin typeface="Times New Roman"/>
                <a:cs typeface="Times New Roman"/>
              </a:rPr>
              <a:t>x</a:t>
            </a:r>
            <a:r>
              <a:rPr lang="en-US" altLang="zh-CN" sz="2800" b="1" baseline="-20833" dirty="0">
                <a:latin typeface="Times New Roman"/>
                <a:cs typeface="Times New Roman"/>
              </a:rPr>
              <a:t>1</a:t>
            </a:r>
            <a:r>
              <a:rPr lang="en-US" altLang="zh-CN" sz="2800" b="1" dirty="0">
                <a:latin typeface="Times New Roman"/>
                <a:cs typeface="Times New Roman"/>
              </a:rPr>
              <a:t>,</a:t>
            </a:r>
            <a:r>
              <a:rPr lang="zh-CN" altLang="en-US" sz="2800" b="1" spc="-7" dirty="0">
                <a:latin typeface="Times New Roman"/>
                <a:cs typeface="Times New Roman"/>
              </a:rPr>
              <a:t> </a:t>
            </a:r>
            <a:r>
              <a:rPr lang="en-US" altLang="zh-CN" sz="2800" b="1" i="1" spc="-7" dirty="0">
                <a:latin typeface="Times New Roman"/>
                <a:cs typeface="Times New Roman"/>
              </a:rPr>
              <a:t>x</a:t>
            </a:r>
            <a:r>
              <a:rPr lang="en-US" altLang="zh-CN" sz="2800" b="1" spc="-9" baseline="-20833" dirty="0">
                <a:latin typeface="Times New Roman"/>
                <a:cs typeface="Times New Roman"/>
              </a:rPr>
              <a:t>2</a:t>
            </a:r>
            <a:r>
              <a:rPr lang="en-US" altLang="zh-CN" sz="2800" b="1" spc="-7" dirty="0">
                <a:latin typeface="Times New Roman"/>
                <a:cs typeface="Times New Roman"/>
              </a:rPr>
              <a:t>,</a:t>
            </a:r>
            <a:r>
              <a:rPr lang="zh-CN" altLang="en-US" sz="2800" b="1" spc="-13" dirty="0">
                <a:latin typeface="Times New Roman"/>
                <a:cs typeface="Times New Roman"/>
              </a:rPr>
              <a:t> </a:t>
            </a:r>
            <a:r>
              <a:rPr lang="en-US" altLang="zh-CN" sz="2800" b="1" i="1" spc="-7" dirty="0">
                <a:latin typeface="Times New Roman"/>
                <a:cs typeface="Times New Roman"/>
              </a:rPr>
              <a:t>x</a:t>
            </a:r>
            <a:r>
              <a:rPr lang="en-US" altLang="zh-CN" sz="2800" b="1" spc="-9" baseline="-20833" dirty="0">
                <a:latin typeface="Times New Roman"/>
                <a:cs typeface="Times New Roman"/>
              </a:rPr>
              <a:t>3</a:t>
            </a:r>
            <a:r>
              <a:rPr lang="en-US" altLang="zh-CN" sz="2800" b="1" spc="-7" dirty="0">
                <a:latin typeface="Times New Roman"/>
                <a:cs typeface="Times New Roman"/>
              </a:rPr>
              <a:t>,</a:t>
            </a:r>
            <a:r>
              <a:rPr lang="zh-CN" altLang="en-US" sz="2800" b="1" dirty="0">
                <a:latin typeface="Times New Roman"/>
                <a:cs typeface="Times New Roman"/>
              </a:rPr>
              <a:t> </a:t>
            </a:r>
            <a:r>
              <a:rPr lang="en-US" altLang="zh-CN" sz="2800" b="1" i="1" dirty="0">
                <a:latin typeface="Times New Roman"/>
                <a:cs typeface="Times New Roman"/>
              </a:rPr>
              <a:t>x</a:t>
            </a:r>
            <a:r>
              <a:rPr lang="en-US" altLang="zh-CN" sz="2800" b="1" baseline="-20833" dirty="0">
                <a:latin typeface="Times New Roman"/>
                <a:cs typeface="Times New Roman"/>
              </a:rPr>
              <a:t>4</a:t>
            </a:r>
            <a:r>
              <a:rPr lang="zh-CN" altLang="en-US" sz="2800" b="1" spc="-20" baseline="-20833" dirty="0">
                <a:latin typeface="Times New Roman"/>
                <a:cs typeface="Times New Roman"/>
              </a:rPr>
              <a:t> </a:t>
            </a:r>
            <a:r>
              <a:rPr lang="en-US" altLang="zh-CN" sz="2800" b="1" dirty="0">
                <a:latin typeface="Times New Roman"/>
                <a:cs typeface="Times New Roman"/>
              </a:rPr>
              <a:t>&gt;</a:t>
            </a:r>
            <a:endParaRPr lang="zh-CN" altLang="en-US" sz="2800" dirty="0">
              <a:latin typeface="Times New Roman"/>
              <a:cs typeface="Times New Roman"/>
            </a:endParaRPr>
          </a:p>
          <a:p>
            <a:pPr marL="67732">
              <a:tabLst>
                <a:tab pos="813626" algn="l"/>
              </a:tabLst>
            </a:pPr>
            <a:r>
              <a:rPr lang="zh-CN" altLang="en-US" sz="2800" b="1" spc="-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en-US" sz="2800" b="1" dirty="0">
                <a:latin typeface="Times New Roman"/>
                <a:cs typeface="Times New Roman"/>
              </a:rPr>
              <a:t>	</a:t>
            </a:r>
            <a:r>
              <a:rPr lang="en-US" altLang="zh-CN" sz="2800" b="1" spc="-7" dirty="0">
                <a:latin typeface="Times New Roman"/>
                <a:cs typeface="Times New Roman"/>
              </a:rPr>
              <a:t>&lt;2,4,1,3&gt;</a:t>
            </a:r>
            <a:r>
              <a:rPr lang="zh-CN" altLang="en-US" sz="2800" b="1" spc="-7" dirty="0">
                <a:latin typeface="宋体"/>
                <a:cs typeface="宋体"/>
              </a:rPr>
              <a:t>，</a:t>
            </a:r>
            <a:r>
              <a:rPr lang="en-US" altLang="zh-CN" sz="2800" b="1" spc="-7" dirty="0">
                <a:latin typeface="Times New Roman"/>
                <a:cs typeface="Times New Roman"/>
              </a:rPr>
              <a:t>&lt;3,1,4,2&gt;</a:t>
            </a:r>
            <a:endParaRPr lang="zh-CN" altLang="en-US" sz="28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532930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/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object 37"/>
          <p:cNvSpPr txBox="1"/>
          <p:nvPr/>
        </p:nvSpPr>
        <p:spPr>
          <a:xfrm>
            <a:off x="462478" y="3563416"/>
            <a:ext cx="8439783" cy="247161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457200" indent="-457200" algn="just">
              <a:spcBef>
                <a:spcPts val="1920"/>
              </a:spcBef>
              <a:buFont typeface="Wingdings" panose="05000000000000000000" pitchFamily="2" charset="2"/>
              <a:buChar char="l"/>
            </a:pPr>
            <a:r>
              <a:rPr lang="zh-CN" altLang="en-US" sz="2800" b="1" spc="-7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每个结点有</a:t>
            </a:r>
            <a:r>
              <a:rPr lang="en-US" altLang="zh-CN" sz="2800" b="1" spc="-7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</a:t>
            </a:r>
            <a:r>
              <a:rPr lang="zh-CN" altLang="en-US" sz="2800" b="1" spc="-7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个儿子，分别代表选择</a:t>
            </a:r>
            <a:r>
              <a:rPr lang="en-US" altLang="zh-CN" sz="2800" b="1" spc="-7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1,2,3,4</a:t>
            </a:r>
            <a:r>
              <a:rPr lang="zh-CN" altLang="en-US" sz="2800" b="1" spc="-7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列位置</a:t>
            </a:r>
          </a:p>
          <a:p>
            <a:pPr marL="457200" indent="-457200" algn="just">
              <a:spcBef>
                <a:spcPts val="1920"/>
              </a:spcBef>
              <a:buFont typeface="Wingdings" panose="05000000000000000000" pitchFamily="2" charset="2"/>
              <a:buChar char="l"/>
            </a:pPr>
            <a:r>
              <a:rPr lang="zh-CN" altLang="en-US" sz="2800" b="1" spc="-7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第 </a:t>
            </a:r>
            <a:r>
              <a:rPr lang="en-US" altLang="zh-CN" sz="2800" b="1" spc="-7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sz="2800" b="1" spc="-7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spc="-7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层选择解向量中第 </a:t>
            </a:r>
            <a:r>
              <a:rPr lang="en-US" altLang="zh-CN" sz="2800" b="1" spc="-7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sz="2800" b="1" spc="-7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spc="-7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个分量的值</a:t>
            </a:r>
            <a:endParaRPr lang="en-US" altLang="zh-CN" sz="2800" b="1" spc="-7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457200" indent="-457200" algn="just">
              <a:spcBef>
                <a:spcPts val="1920"/>
              </a:spcBef>
              <a:buFont typeface="Wingdings" panose="05000000000000000000" pitchFamily="2" charset="2"/>
              <a:buChar char="l"/>
            </a:pPr>
            <a:r>
              <a:rPr lang="zh-CN" altLang="en-US" sz="2800" b="1" spc="-7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最深层的树叶是解</a:t>
            </a:r>
          </a:p>
          <a:p>
            <a:pPr marL="457200" indent="-457200" algn="just">
              <a:spcBef>
                <a:spcPts val="1920"/>
              </a:spcBef>
              <a:buFont typeface="Wingdings" panose="05000000000000000000" pitchFamily="2" charset="2"/>
              <a:buChar char="l"/>
            </a:pPr>
            <a:r>
              <a:rPr lang="zh-CN" altLang="en-US" sz="2800" b="1" spc="-7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按深度优先次序遍历树，找到所有解</a:t>
            </a:r>
          </a:p>
        </p:txBody>
      </p:sp>
      <p:sp>
        <p:nvSpPr>
          <p:cNvPr id="34" name="object 34"/>
          <p:cNvSpPr txBox="1">
            <a:spLocks noGrp="1"/>
          </p:cNvSpPr>
          <p:nvPr>
            <p:ph type="title"/>
          </p:nvPr>
        </p:nvSpPr>
        <p:spPr>
          <a:xfrm>
            <a:off x="3085619" y="229425"/>
            <a:ext cx="3846228" cy="632651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4000" b="1" spc="-13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搜索空间：4</a:t>
            </a:r>
            <a:r>
              <a:rPr sz="4000" b="1" spc="-7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叉树</a:t>
            </a:r>
          </a:p>
        </p:txBody>
      </p:sp>
      <p:pic>
        <p:nvPicPr>
          <p:cNvPr id="35" name="图片 3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6444" y="1009630"/>
            <a:ext cx="4811501" cy="2406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9832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64736" y="332113"/>
            <a:ext cx="2827511" cy="632651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4000" b="1" spc="-13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0-1背包问</a:t>
            </a:r>
            <a:r>
              <a:rPr sz="4000" b="1" spc="-20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题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5432" y="1290660"/>
            <a:ext cx="8379601" cy="4573047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algn="just"/>
            <a:r>
              <a:rPr sz="2800" b="1" spc="-7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问题</a:t>
            </a:r>
            <a:r>
              <a:rPr sz="2800" b="1" spc="-13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endParaRPr sz="28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R="233674" algn="just">
              <a:lnSpc>
                <a:spcPts val="4133"/>
              </a:lnSpc>
            </a:pPr>
            <a:r>
              <a:rPr sz="2800" b="1" spc="-7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有</a:t>
            </a:r>
            <a:r>
              <a:rPr lang="en-US" sz="2800" b="1" spc="-7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i="1" spc="-13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en-US" sz="2800" b="1" i="1" spc="-13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spc="-7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种物</a:t>
            </a:r>
            <a:r>
              <a:rPr sz="2800" b="1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品</a:t>
            </a:r>
            <a:r>
              <a:rPr sz="2800" b="1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sz="2800" b="1" u="sng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每</a:t>
            </a:r>
            <a:r>
              <a:rPr sz="2800" b="1" u="sng" spc="7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种</a:t>
            </a:r>
            <a:r>
              <a:rPr sz="2800" b="1" u="sng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物品只</a:t>
            </a:r>
            <a:r>
              <a:rPr sz="2800" b="1" u="sng" spc="-13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有</a:t>
            </a:r>
            <a:r>
              <a:rPr sz="2800" b="1" u="sng" spc="-80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u="sng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en-US" sz="2800" b="1" u="sng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u="sng" spc="-7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个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r>
              <a:rPr sz="2800" b="1" spc="-33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spc="-7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第</a:t>
            </a:r>
            <a:r>
              <a:rPr lang="en-US" sz="2800" b="1" spc="-7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i="1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sz="2800" b="1" i="1" spc="-40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spc="-13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种</a:t>
            </a:r>
            <a:r>
              <a:rPr sz="2800" b="1" spc="-7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物品价值</a:t>
            </a:r>
            <a:r>
              <a:rPr sz="2800" b="1" spc="-13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为</a:t>
            </a:r>
            <a:r>
              <a:rPr sz="2800" b="1" spc="-787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sz="2800" b="1" i="1" baseline="-20833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sz="2800" b="1" i="1" spc="-9" baseline="-20833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sz="2800" b="1" spc="-2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spc="-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重量</a:t>
            </a:r>
            <a:r>
              <a:rPr sz="2800" b="1" spc="-13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为</a:t>
            </a:r>
            <a:r>
              <a:rPr sz="2800" b="1" spc="-8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w</a:t>
            </a:r>
            <a:r>
              <a:rPr sz="2800" b="1" i="1" baseline="-20833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 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sz="2800" b="1" spc="-2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i="1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=1,2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,…,</a:t>
            </a:r>
            <a:r>
              <a:rPr sz="2800" b="1" spc="-2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i="1" spc="-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sz="2800" b="1" spc="-7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r>
              <a:rPr lang="en-US" sz="28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spc="-7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问如何选</a:t>
            </a:r>
            <a:r>
              <a:rPr sz="2800" b="1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择</a:t>
            </a:r>
            <a:r>
              <a:rPr sz="2800" b="1" spc="7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放</a:t>
            </a:r>
            <a:r>
              <a:rPr sz="2800" b="1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入背包的物品</a:t>
            </a:r>
            <a:r>
              <a:rPr sz="2800" b="1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sz="2800" b="1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使得总</a:t>
            </a:r>
            <a:r>
              <a:rPr sz="2800" b="1" spc="-7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重量不超</a:t>
            </a:r>
            <a:r>
              <a:rPr sz="2800" b="1" spc="-13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过</a:t>
            </a:r>
            <a:r>
              <a:rPr sz="2800" b="1" spc="-787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B,</a:t>
            </a:r>
            <a:r>
              <a:rPr sz="2800" b="1" i="1" spc="-13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spc="-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而价值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达到最大？</a:t>
            </a:r>
            <a:endParaRPr sz="28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spcBef>
                <a:spcPts val="3600"/>
              </a:spcBef>
            </a:pPr>
            <a:r>
              <a:rPr sz="2800" b="1" spc="-7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实例</a:t>
            </a:r>
            <a:r>
              <a:rPr sz="2800" b="1" spc="-13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endParaRPr sz="28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tabLst>
                <a:tab pos="3306151" algn="l"/>
                <a:tab pos="5642892" algn="l"/>
              </a:tabLst>
            </a:pPr>
            <a:r>
              <a:rPr sz="2800" b="1" i="1" spc="-13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sz="2800" b="1" spc="-13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={12,11,9,8},	</a:t>
            </a:r>
            <a:r>
              <a:rPr sz="2800" b="1" i="1" spc="-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W</a:t>
            </a:r>
            <a:r>
              <a:rPr sz="2800" b="1" spc="-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={8,6,4,3},	</a:t>
            </a:r>
            <a:r>
              <a:rPr sz="2800" b="1" i="1" spc="-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sz="2800" b="1" spc="-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=13</a:t>
            </a:r>
            <a:endParaRPr sz="28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spcBef>
                <a:spcPts val="2400"/>
              </a:spcBef>
            </a:pPr>
            <a:r>
              <a:rPr sz="2800" b="1" spc="-7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最优解</a:t>
            </a:r>
            <a:r>
              <a:rPr sz="2800" b="1" spc="-13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endParaRPr sz="28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lnSpc>
                <a:spcPts val="3540"/>
              </a:lnSpc>
            </a:pPr>
            <a:r>
              <a:rPr sz="2800" b="1" spc="-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&lt;0,1,1,1&gt;，价值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sz="2800" b="1" spc="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spc="-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28，重量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sz="2800" b="1" spc="13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13</a:t>
            </a:r>
            <a:endParaRPr sz="28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72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77513" y="359454"/>
            <a:ext cx="2061568" cy="632651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4000" b="1" spc="-13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算法设</a:t>
            </a:r>
            <a:r>
              <a:rPr sz="4000" b="1" spc="-20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5005" y="4411919"/>
            <a:ext cx="8234559" cy="44798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800" b="1" spc="-7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可行解</a:t>
            </a:r>
            <a:r>
              <a:rPr sz="2800" b="1" spc="-7" dirty="0"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:</a:t>
            </a:r>
            <a:r>
              <a:rPr sz="2800" b="1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满足约束条件</a:t>
            </a:r>
            <a:endParaRPr sz="2800" dirty="0">
              <a:latin typeface="黑体" panose="02010609060101010101" pitchFamily="49" charset="-122"/>
              <a:ea typeface="黑体" panose="02010609060101010101" pitchFamily="49" charset="-122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19630" y="4309767"/>
            <a:ext cx="107968" cy="28975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6933">
              <a:spcBef>
                <a:spcPts val="180"/>
              </a:spcBef>
            </a:pPr>
            <a:r>
              <a:rPr sz="1733" b="1" i="1" spc="-100" dirty="0">
                <a:latin typeface="Times New Roman"/>
                <a:cs typeface="Times New Roman"/>
              </a:rPr>
              <a:t>n</a:t>
            </a:r>
            <a:endParaRPr sz="1733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76950" y="4574683"/>
            <a:ext cx="713614" cy="28975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6933">
              <a:spcBef>
                <a:spcPts val="180"/>
              </a:spcBef>
              <a:tabLst>
                <a:tab pos="308179" algn="l"/>
              </a:tabLst>
            </a:pPr>
            <a:r>
              <a:rPr sz="1733" b="1" i="1" spc="-53" dirty="0">
                <a:latin typeface="Times New Roman"/>
                <a:cs typeface="Times New Roman"/>
              </a:rPr>
              <a:t>i	i</a:t>
            </a:r>
            <a:endParaRPr sz="1733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238120" y="4399714"/>
            <a:ext cx="3072419" cy="48908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  <a:tabLst>
                <a:tab pos="722189" algn="l"/>
              </a:tabLst>
            </a:pPr>
            <a:r>
              <a:rPr sz="3067" b="1" i="1" spc="-267" dirty="0">
                <a:latin typeface="Times New Roman"/>
                <a:cs typeface="Times New Roman"/>
              </a:rPr>
              <a:t>w</a:t>
            </a:r>
            <a:r>
              <a:rPr sz="3067" b="1" i="1" spc="207" dirty="0">
                <a:latin typeface="Times New Roman"/>
                <a:cs typeface="Times New Roman"/>
              </a:rPr>
              <a:t> </a:t>
            </a:r>
            <a:r>
              <a:rPr sz="3067" b="1" i="1" spc="-200" dirty="0">
                <a:latin typeface="Times New Roman"/>
                <a:cs typeface="Times New Roman"/>
              </a:rPr>
              <a:t>x	</a:t>
            </a:r>
            <a:r>
              <a:rPr sz="3067" b="1" spc="-227" dirty="0">
                <a:latin typeface="Symbol"/>
                <a:cs typeface="Symbol"/>
              </a:rPr>
              <a:t></a:t>
            </a:r>
            <a:r>
              <a:rPr sz="3067" b="1" spc="-33" dirty="0">
                <a:latin typeface="Times New Roman"/>
                <a:cs typeface="Times New Roman"/>
              </a:rPr>
              <a:t> </a:t>
            </a:r>
            <a:r>
              <a:rPr sz="3067" b="1" i="1" spc="-267" dirty="0" smtClean="0">
                <a:latin typeface="Times New Roman"/>
                <a:cs typeface="Times New Roman"/>
              </a:rPr>
              <a:t>B</a:t>
            </a:r>
            <a:endParaRPr sz="2800" baseline="-2314" dirty="0">
              <a:latin typeface="黑体" panose="02010609060101010101" pitchFamily="49" charset="-122"/>
              <a:ea typeface="黑体" panose="02010609060101010101" pitchFamily="49" charset="-122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725350" y="4282072"/>
            <a:ext cx="297232" cy="720647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6933">
              <a:spcBef>
                <a:spcPts val="180"/>
              </a:spcBef>
            </a:pPr>
            <a:r>
              <a:rPr sz="4533" b="1" spc="-387" dirty="0">
                <a:latin typeface="Symbol"/>
                <a:cs typeface="Symbol"/>
              </a:rPr>
              <a:t></a:t>
            </a:r>
            <a:endParaRPr sz="4533" dirty="0">
              <a:latin typeface="Symbol"/>
              <a:cs typeface="Symbo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146523" y="4724244"/>
            <a:ext cx="687234" cy="28975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6933">
              <a:spcBef>
                <a:spcPts val="180"/>
              </a:spcBef>
            </a:pPr>
            <a:r>
              <a:rPr sz="1733" b="1" i="1" spc="-53" dirty="0">
                <a:latin typeface="Times New Roman"/>
                <a:cs typeface="Times New Roman"/>
              </a:rPr>
              <a:t>i</a:t>
            </a:r>
            <a:r>
              <a:rPr sz="1733" b="1" i="1" spc="-333" dirty="0">
                <a:latin typeface="Times New Roman"/>
                <a:cs typeface="Times New Roman"/>
              </a:rPr>
              <a:t> </a:t>
            </a:r>
            <a:r>
              <a:rPr sz="1733" b="1" spc="-80" dirty="0">
                <a:latin typeface="Symbol"/>
                <a:cs typeface="Symbol"/>
              </a:rPr>
              <a:t></a:t>
            </a:r>
            <a:r>
              <a:rPr sz="1733" b="1" spc="-80" dirty="0">
                <a:latin typeface="Times New Roman"/>
                <a:cs typeface="Times New Roman"/>
              </a:rPr>
              <a:t>1</a:t>
            </a:r>
            <a:endParaRPr sz="1733" dirty="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92892" y="5093109"/>
            <a:ext cx="7815887" cy="44798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800" b="1" spc="-7" dirty="0" err="1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最优解</a:t>
            </a:r>
            <a:r>
              <a:rPr sz="2800" b="1" spc="-7" dirty="0" err="1"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:</a:t>
            </a:r>
            <a:r>
              <a:rPr sz="2800" b="1" dirty="0" err="1" smtClean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可行解中价值达到最大</a:t>
            </a:r>
            <a:r>
              <a:rPr sz="2800" b="1" spc="7" dirty="0" err="1" smtClean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的</a:t>
            </a:r>
            <a:r>
              <a:rPr sz="2800" b="1" spc="-13" dirty="0" err="1" smtClean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解</a:t>
            </a:r>
            <a:endParaRPr sz="2800" dirty="0">
              <a:latin typeface="黑体" panose="02010609060101010101" pitchFamily="49" charset="-122"/>
              <a:ea typeface="黑体" panose="02010609060101010101" pitchFamily="49" charset="-122"/>
              <a:cs typeface="宋体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body" idx="1"/>
          </p:nvPr>
        </p:nvSpPr>
        <p:spPr>
          <a:xfrm>
            <a:off x="383607" y="1083971"/>
            <a:ext cx="8352006" cy="334108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0" marR="451262" indent="0" algn="just">
              <a:lnSpc>
                <a:spcPct val="150000"/>
              </a:lnSpc>
              <a:spcBef>
                <a:spcPts val="0"/>
              </a:spcBef>
            </a:pPr>
            <a:r>
              <a:rPr b="1" spc="-7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b="1" spc="-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b="1" i="1" spc="-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b="1" spc="-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维</a:t>
            </a:r>
            <a:r>
              <a:rPr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0-1向</a:t>
            </a:r>
            <a:r>
              <a:rPr b="1" spc="-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量</a:t>
            </a:r>
            <a:r>
              <a:rPr b="1" dirty="0"/>
              <a:t>&lt;</a:t>
            </a:r>
            <a:r>
              <a:rPr b="1" i="1" dirty="0">
                <a:latin typeface="Times New Roman"/>
                <a:cs typeface="Times New Roman"/>
              </a:rPr>
              <a:t>x</a:t>
            </a:r>
            <a:r>
              <a:rPr b="1" baseline="-20833" dirty="0"/>
              <a:t>1</a:t>
            </a:r>
            <a:r>
              <a:rPr b="1" dirty="0"/>
              <a:t>,</a:t>
            </a:r>
            <a:r>
              <a:rPr b="1" spc="-27" dirty="0"/>
              <a:t> </a:t>
            </a:r>
            <a:r>
              <a:rPr b="1" i="1" dirty="0">
                <a:latin typeface="Times New Roman"/>
                <a:cs typeface="Times New Roman"/>
              </a:rPr>
              <a:t>x</a:t>
            </a:r>
            <a:r>
              <a:rPr b="1" baseline="-20833" dirty="0"/>
              <a:t>2</a:t>
            </a:r>
            <a:r>
              <a:rPr b="1" dirty="0"/>
              <a:t>,</a:t>
            </a:r>
            <a:r>
              <a:rPr b="1" spc="-47" dirty="0"/>
              <a:t> </a:t>
            </a:r>
            <a:r>
              <a:rPr b="1" dirty="0"/>
              <a:t>...,</a:t>
            </a:r>
            <a:r>
              <a:rPr b="1" spc="-40" dirty="0"/>
              <a:t> </a:t>
            </a:r>
            <a:r>
              <a:rPr b="1" i="1" spc="-7" dirty="0" err="1">
                <a:latin typeface="Times New Roman"/>
                <a:cs typeface="Times New Roman"/>
              </a:rPr>
              <a:t>x</a:t>
            </a:r>
            <a:r>
              <a:rPr b="1" i="1" spc="-9" baseline="-20833" dirty="0" err="1">
                <a:latin typeface="Times New Roman"/>
                <a:cs typeface="Times New Roman"/>
              </a:rPr>
              <a:t>n</a:t>
            </a:r>
            <a:r>
              <a:rPr b="1" spc="-7" dirty="0" smtClean="0"/>
              <a:t>&gt;</a:t>
            </a:r>
            <a:r>
              <a:rPr b="1" spc="-7" dirty="0" smtClean="0">
                <a:latin typeface="宋体"/>
                <a:cs typeface="宋体"/>
              </a:rPr>
              <a:t>， </a:t>
            </a:r>
            <a:r>
              <a:rPr b="1" i="1" dirty="0">
                <a:latin typeface="Times New Roman"/>
                <a:cs typeface="Times New Roman"/>
              </a:rPr>
              <a:t>x</a:t>
            </a:r>
            <a:r>
              <a:rPr b="1" i="1" baseline="-20833" dirty="0">
                <a:latin typeface="Times New Roman"/>
                <a:cs typeface="Times New Roman"/>
              </a:rPr>
              <a:t>i</a:t>
            </a:r>
            <a:r>
              <a:rPr b="1" i="1" spc="-9" baseline="-20833" dirty="0">
                <a:latin typeface="Times New Roman"/>
                <a:cs typeface="Times New Roman"/>
              </a:rPr>
              <a:t> </a:t>
            </a:r>
            <a:r>
              <a:rPr b="1" dirty="0"/>
              <a:t>=</a:t>
            </a:r>
            <a:r>
              <a:rPr b="1" dirty="0" smtClean="0"/>
              <a:t>1</a:t>
            </a:r>
            <a:r>
              <a:rPr lang="en-US" b="1" dirty="0" smtClean="0"/>
              <a:t> </a:t>
            </a:r>
            <a:r>
              <a:rPr b="1" dirty="0" smtClean="0">
                <a:latin typeface="Symbol"/>
                <a:cs typeface="Symbol"/>
              </a:rPr>
              <a:t></a:t>
            </a:r>
            <a:r>
              <a:rPr lang="en-US" b="1" dirty="0" smtClean="0">
                <a:latin typeface="Symbol"/>
                <a:cs typeface="Symbol"/>
              </a:rPr>
              <a:t> </a:t>
            </a:r>
            <a:r>
              <a:rPr b="1" spc="-7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物</a:t>
            </a:r>
            <a:r>
              <a:rPr b="1" spc="-13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品</a:t>
            </a:r>
            <a:r>
              <a:rPr b="1" spc="-820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b="1" i="1" spc="-33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b="1" spc="-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选入背</a:t>
            </a:r>
            <a:r>
              <a:rPr b="1" spc="-13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包</a:t>
            </a:r>
            <a:endParaRPr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spcBef>
                <a:spcPts val="0"/>
              </a:spcBef>
            </a:pPr>
            <a:r>
              <a:rPr b="1" spc="-7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结点</a:t>
            </a:r>
            <a:r>
              <a:rPr b="1" spc="-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：&lt;</a:t>
            </a:r>
            <a:r>
              <a:rPr b="1" i="1" spc="-7" dirty="0">
                <a:latin typeface="Times New Roman"/>
                <a:cs typeface="Times New Roman"/>
              </a:rPr>
              <a:t>x</a:t>
            </a:r>
            <a:r>
              <a:rPr b="1" spc="-9" baseline="-20833" dirty="0"/>
              <a:t>1</a:t>
            </a:r>
            <a:r>
              <a:rPr b="1" spc="-7" dirty="0"/>
              <a:t>, </a:t>
            </a:r>
            <a:r>
              <a:rPr b="1" i="1" dirty="0">
                <a:latin typeface="Times New Roman"/>
                <a:cs typeface="Times New Roman"/>
              </a:rPr>
              <a:t>x</a:t>
            </a:r>
            <a:r>
              <a:rPr b="1" baseline="-20833" dirty="0"/>
              <a:t>2</a:t>
            </a:r>
            <a:r>
              <a:rPr b="1" dirty="0"/>
              <a:t>,...,</a:t>
            </a:r>
            <a:r>
              <a:rPr b="1" spc="-27" dirty="0"/>
              <a:t> </a:t>
            </a:r>
            <a:r>
              <a:rPr b="1" i="1" spc="-7" dirty="0">
                <a:latin typeface="Times New Roman"/>
                <a:cs typeface="Times New Roman"/>
              </a:rPr>
              <a:t>x</a:t>
            </a:r>
            <a:r>
              <a:rPr b="1" i="1" spc="-9" baseline="-20833" dirty="0">
                <a:latin typeface="Times New Roman"/>
                <a:cs typeface="Times New Roman"/>
              </a:rPr>
              <a:t>k</a:t>
            </a:r>
            <a:r>
              <a:rPr b="1" spc="-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&gt;（部分向量</a:t>
            </a:r>
            <a:r>
              <a:rPr b="1" spc="-13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</a:t>
            </a:r>
            <a:endParaRPr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0" marR="23706" indent="0" algn="just">
              <a:lnSpc>
                <a:spcPct val="150000"/>
              </a:lnSpc>
              <a:spcBef>
                <a:spcPts val="0"/>
              </a:spcBef>
              <a:tabLst>
                <a:tab pos="5373659" algn="l"/>
              </a:tabLst>
            </a:pPr>
            <a:r>
              <a:rPr b="1" spc="-7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搜索空间</a:t>
            </a:r>
            <a:r>
              <a:rPr b="1" spc="-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0-</a:t>
            </a:r>
            <a:r>
              <a:rPr b="1" spc="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取值的二叉</a:t>
            </a:r>
            <a:r>
              <a:rPr b="1" spc="-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树</a:t>
            </a:r>
            <a:r>
              <a:rPr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en-US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b="1" spc="-7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称</a:t>
            </a:r>
            <a:r>
              <a:rPr b="1" spc="-13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为</a:t>
            </a:r>
            <a:r>
              <a:rPr b="1" spc="-7" dirty="0" smtClean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子集树</a:t>
            </a:r>
            <a:r>
              <a:rPr b="1" spc="-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，有</a:t>
            </a:r>
            <a:r>
              <a:rPr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b="1" i="1" baseline="2430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片</a:t>
            </a:r>
            <a:r>
              <a:rPr b="1" spc="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树</a:t>
            </a:r>
            <a:r>
              <a:rPr b="1" spc="-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叶</a:t>
            </a:r>
            <a:r>
              <a:rPr sz="3200" dirty="0"/>
              <a:t>.</a:t>
            </a:r>
            <a:endParaRPr sz="3200" dirty="0">
              <a:latin typeface="宋体"/>
              <a:cs typeface="宋体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5429394" y="4356644"/>
            <a:ext cx="90601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的解</a:t>
            </a:r>
          </a:p>
        </p:txBody>
      </p:sp>
    </p:spTree>
    <p:extLst>
      <p:ext uri="{BB962C8B-B14F-4D97-AF65-F5344CB8AC3E}">
        <p14:creationId xmlns:p14="http://schemas.microsoft.com/office/powerpoint/2010/main" val="2403203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  <p:bldP spid="8" grpId="0"/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95926" y="195479"/>
            <a:ext cx="1042850" cy="632651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4000" b="1" spc="-13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</a:t>
            </a:r>
            <a:r>
              <a:rPr sz="4000" b="1" spc="-2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9668" y="1335363"/>
            <a:ext cx="8315366" cy="2979448"/>
          </a:xfrm>
          <a:prstGeom prst="rect">
            <a:avLst/>
          </a:prstGeom>
        </p:spPr>
        <p:txBody>
          <a:bodyPr vert="horz" wrap="square" lIns="0" tIns="113453" rIns="0" bIns="0" rtlCol="0">
            <a:spAutoFit/>
          </a:bodyPr>
          <a:lstStyle/>
          <a:p>
            <a:pPr marL="16933">
              <a:spcBef>
                <a:spcPts val="893"/>
              </a:spcBef>
            </a:pPr>
            <a:r>
              <a:rPr sz="2800" b="1" spc="-7" dirty="0" err="1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输入</a:t>
            </a:r>
            <a:r>
              <a:rPr sz="2800" b="1" spc="-13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sz="2800" b="1" i="1" spc="-13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sz="2800" b="1" spc="-13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={12,11,9,8},	</a:t>
            </a:r>
            <a:r>
              <a:rPr sz="2800" b="1" i="1" spc="-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W</a:t>
            </a:r>
            <a:r>
              <a:rPr sz="2800" b="1" spc="-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={8,6,4,3},	</a:t>
            </a:r>
            <a:r>
              <a:rPr sz="2800" b="1" i="1" spc="-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sz="2800" b="1" spc="-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=13</a:t>
            </a:r>
            <a:endParaRPr sz="28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16933">
              <a:lnSpc>
                <a:spcPts val="3840"/>
              </a:lnSpc>
              <a:spcBef>
                <a:spcPts val="2760"/>
              </a:spcBef>
            </a:pPr>
            <a:r>
              <a:rPr sz="28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sz="2800" b="1" spc="-7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个可行解</a:t>
            </a:r>
            <a:r>
              <a:rPr sz="2800" b="1" spc="-13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endParaRPr sz="28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16933" marR="6773">
              <a:tabLst>
                <a:tab pos="1899873" algn="l"/>
              </a:tabLst>
            </a:pPr>
            <a:r>
              <a:rPr 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</a:t>
            </a:r>
            <a:r>
              <a:rPr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&lt;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0,1</a:t>
            </a:r>
            <a:r>
              <a:rPr sz="2800" b="1" spc="-13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1,1</a:t>
            </a:r>
            <a:r>
              <a:rPr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&gt;,选入物</a:t>
            </a:r>
            <a:r>
              <a:rPr sz="2800" b="1" spc="-7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品</a:t>
            </a:r>
            <a:r>
              <a:rPr sz="2800" b="1" spc="7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,3,4</a:t>
            </a:r>
            <a:r>
              <a:rPr 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价值</a:t>
            </a:r>
            <a:r>
              <a:rPr sz="2800" b="1" spc="-7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为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sz="2800" b="1" spc="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8</a:t>
            </a:r>
            <a:r>
              <a:rPr sz="2800" b="1" spc="-13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sz="2800" b="1" spc="-7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重量为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13</a:t>
            </a:r>
            <a:endParaRPr sz="28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16933" marR="210815" indent="-847"/>
            <a:r>
              <a:rPr 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 </a:t>
            </a:r>
            <a:r>
              <a:rPr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&lt;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1,0,1,0</a:t>
            </a:r>
            <a:r>
              <a:rPr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&gt;</a:t>
            </a:r>
            <a:r>
              <a:rPr 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sz="2800" b="1" spc="-7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选入物品</a:t>
            </a:r>
            <a:r>
              <a:rPr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1,3</a:t>
            </a:r>
            <a:r>
              <a:rPr 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价值</a:t>
            </a:r>
            <a:r>
              <a:rPr sz="2800" b="1" spc="-7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为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sz="2800" b="1" spc="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sz="2800" b="1" spc="-13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 </a:t>
            </a:r>
            <a:r>
              <a:rPr sz="2800" b="1" spc="-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重量为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12</a:t>
            </a:r>
            <a:endParaRPr sz="28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16933">
              <a:spcBef>
                <a:spcPts val="2327"/>
              </a:spcBef>
            </a:pPr>
            <a:r>
              <a:rPr sz="2800" b="1" spc="-7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最优解</a:t>
            </a:r>
            <a:r>
              <a:rPr sz="2800" b="1" spc="-13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sz="2800" b="1" spc="-78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&lt;0,1,1,1</a:t>
            </a:r>
            <a:r>
              <a:rPr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&gt;</a:t>
            </a:r>
            <a:endParaRPr sz="28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4254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01834" y="2268159"/>
            <a:ext cx="6300321" cy="285191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2312895" y="5308735"/>
            <a:ext cx="1841716" cy="75576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algn="ctr">
              <a:spcBef>
                <a:spcPts val="133"/>
              </a:spcBef>
            </a:pPr>
            <a:r>
              <a:rPr sz="2400" b="1" spc="-13" dirty="0">
                <a:latin typeface="Arial"/>
                <a:cs typeface="Arial"/>
              </a:rPr>
              <a:t>&lt;</a:t>
            </a:r>
            <a:r>
              <a:rPr sz="2400" b="1" spc="-7" dirty="0">
                <a:latin typeface="Arial"/>
                <a:cs typeface="Arial"/>
              </a:rPr>
              <a:t>1,</a:t>
            </a:r>
            <a:r>
              <a:rPr sz="2400" b="1" dirty="0">
                <a:latin typeface="Arial"/>
                <a:cs typeface="Arial"/>
              </a:rPr>
              <a:t>0</a:t>
            </a:r>
            <a:r>
              <a:rPr sz="2400" b="1" spc="-7" dirty="0">
                <a:latin typeface="Arial"/>
                <a:cs typeface="Arial"/>
              </a:rPr>
              <a:t>,</a:t>
            </a:r>
            <a:r>
              <a:rPr sz="2400" b="1" dirty="0">
                <a:latin typeface="Arial"/>
                <a:cs typeface="Arial"/>
              </a:rPr>
              <a:t>1</a:t>
            </a:r>
            <a:r>
              <a:rPr sz="2400" b="1" spc="-7" dirty="0">
                <a:latin typeface="Arial"/>
                <a:cs typeface="Arial"/>
              </a:rPr>
              <a:t>,</a:t>
            </a:r>
            <a:r>
              <a:rPr sz="2400" b="1" dirty="0">
                <a:latin typeface="Arial"/>
                <a:cs typeface="Arial"/>
              </a:rPr>
              <a:t>0&gt;</a:t>
            </a:r>
            <a:endParaRPr sz="2400" dirty="0">
              <a:latin typeface="Arial"/>
              <a:cs typeface="Arial"/>
            </a:endParaRPr>
          </a:p>
          <a:p>
            <a:pPr marR="20319" algn="ctr">
              <a:spcBef>
                <a:spcPts val="20"/>
              </a:spcBef>
            </a:pPr>
            <a:r>
              <a:rPr sz="2400" b="1" spc="-7" dirty="0">
                <a:latin typeface="宋体"/>
                <a:cs typeface="宋体"/>
              </a:rPr>
              <a:t>可行解</a:t>
            </a:r>
            <a:endParaRPr sz="2400" dirty="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22143" y="5308735"/>
            <a:ext cx="1897975" cy="75576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algn="ctr">
              <a:spcBef>
                <a:spcPts val="133"/>
              </a:spcBef>
            </a:pPr>
            <a:r>
              <a:rPr sz="2400" b="1" spc="-13" dirty="0">
                <a:latin typeface="Arial"/>
                <a:cs typeface="Arial"/>
              </a:rPr>
              <a:t>&lt;</a:t>
            </a:r>
            <a:r>
              <a:rPr sz="2400" b="1" spc="-7" dirty="0">
                <a:latin typeface="Arial"/>
                <a:cs typeface="Arial"/>
              </a:rPr>
              <a:t>0,</a:t>
            </a:r>
            <a:r>
              <a:rPr sz="2400" b="1" dirty="0">
                <a:latin typeface="Arial"/>
                <a:cs typeface="Arial"/>
              </a:rPr>
              <a:t>1</a:t>
            </a:r>
            <a:r>
              <a:rPr sz="2400" b="1" spc="-7" dirty="0">
                <a:latin typeface="Arial"/>
                <a:cs typeface="Arial"/>
              </a:rPr>
              <a:t>,</a:t>
            </a:r>
            <a:r>
              <a:rPr sz="2400" b="1" dirty="0">
                <a:latin typeface="Arial"/>
                <a:cs typeface="Arial"/>
              </a:rPr>
              <a:t>1</a:t>
            </a:r>
            <a:r>
              <a:rPr sz="2400" b="1" spc="-7" dirty="0">
                <a:latin typeface="Arial"/>
                <a:cs typeface="Arial"/>
              </a:rPr>
              <a:t>,</a:t>
            </a:r>
            <a:r>
              <a:rPr sz="2400" b="1" dirty="0">
                <a:latin typeface="Arial"/>
                <a:cs typeface="Arial"/>
              </a:rPr>
              <a:t>1&gt;</a:t>
            </a:r>
            <a:endParaRPr sz="2400" dirty="0">
              <a:latin typeface="Arial"/>
              <a:cs typeface="Arial"/>
            </a:endParaRPr>
          </a:p>
          <a:p>
            <a:pPr marR="20319" algn="ctr">
              <a:spcBef>
                <a:spcPts val="20"/>
              </a:spcBef>
            </a:pPr>
            <a:r>
              <a:rPr sz="2400" b="1" spc="-7" dirty="0">
                <a:latin typeface="宋体"/>
                <a:cs typeface="宋体"/>
              </a:rPr>
              <a:t>最优解</a:t>
            </a:r>
            <a:endParaRPr sz="2400" dirty="0">
              <a:latin typeface="宋体"/>
              <a:cs typeface="宋体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186871" y="221516"/>
            <a:ext cx="4738670" cy="632651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 algn="ctr">
              <a:lnSpc>
                <a:spcPct val="100000"/>
              </a:lnSpc>
              <a:spcBef>
                <a:spcPts val="133"/>
              </a:spcBef>
            </a:pPr>
            <a:r>
              <a:rPr sz="4000" b="1" spc="-13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搜索空</a:t>
            </a:r>
            <a:r>
              <a:rPr sz="4000" b="1" spc="-20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间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70870" y="1042830"/>
            <a:ext cx="8162251" cy="1846659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33866">
              <a:spcBef>
                <a:spcPts val="1100"/>
              </a:spcBef>
            </a:pPr>
            <a:r>
              <a:rPr sz="2800" b="1" spc="-7" dirty="0">
                <a:latin typeface="宋体"/>
                <a:cs typeface="宋体"/>
              </a:rPr>
              <a:t>实例</a:t>
            </a:r>
            <a:r>
              <a:rPr sz="2800" b="1" spc="-13" dirty="0">
                <a:latin typeface="Times New Roman"/>
                <a:cs typeface="Times New Roman"/>
              </a:rPr>
              <a:t>:</a:t>
            </a:r>
            <a:r>
              <a:rPr sz="2800" b="1" i="1" spc="-13" dirty="0">
                <a:latin typeface="Times New Roman"/>
                <a:cs typeface="Times New Roman"/>
              </a:rPr>
              <a:t>V</a:t>
            </a:r>
            <a:r>
              <a:rPr sz="2800" b="1" spc="-13" dirty="0">
                <a:latin typeface="Times New Roman"/>
                <a:cs typeface="Times New Roman"/>
              </a:rPr>
              <a:t>={12,11,9,8},</a:t>
            </a:r>
            <a:r>
              <a:rPr sz="2800" b="1" spc="7" dirty="0">
                <a:latin typeface="Times New Roman"/>
                <a:cs typeface="Times New Roman"/>
              </a:rPr>
              <a:t> </a:t>
            </a:r>
            <a:r>
              <a:rPr sz="2800" b="1" i="1" spc="-7" dirty="0">
                <a:latin typeface="Times New Roman"/>
                <a:cs typeface="Times New Roman"/>
              </a:rPr>
              <a:t>W</a:t>
            </a:r>
            <a:r>
              <a:rPr sz="2800" b="1" spc="-7" dirty="0">
                <a:latin typeface="Times New Roman"/>
                <a:cs typeface="Times New Roman"/>
              </a:rPr>
              <a:t>={8,6,4,3},</a:t>
            </a:r>
            <a:r>
              <a:rPr sz="2800" b="1" dirty="0">
                <a:latin typeface="Times New Roman"/>
                <a:cs typeface="Times New Roman"/>
              </a:rPr>
              <a:t> </a:t>
            </a:r>
            <a:r>
              <a:rPr sz="2800" b="1" i="1" spc="-7" dirty="0">
                <a:latin typeface="Times New Roman"/>
                <a:cs typeface="Times New Roman"/>
              </a:rPr>
              <a:t>B</a:t>
            </a:r>
            <a:r>
              <a:rPr sz="2800" b="1" spc="-7" dirty="0">
                <a:latin typeface="Times New Roman"/>
                <a:cs typeface="Times New Roman"/>
              </a:rPr>
              <a:t>=13</a:t>
            </a:r>
            <a:endParaRPr sz="2800" dirty="0">
              <a:latin typeface="Times New Roman"/>
              <a:cs typeface="Times New Roman"/>
            </a:endParaRPr>
          </a:p>
          <a:p>
            <a:pPr marL="52492">
              <a:spcBef>
                <a:spcPts val="967"/>
              </a:spcBef>
            </a:pPr>
            <a:r>
              <a:rPr sz="2800" b="1" spc="-7" dirty="0">
                <a:latin typeface="宋体"/>
                <a:cs typeface="宋体"/>
              </a:rPr>
              <a:t>搜索空间</a:t>
            </a:r>
            <a:r>
              <a:rPr sz="2800" b="1" dirty="0">
                <a:latin typeface="宋体"/>
                <a:cs typeface="宋体"/>
              </a:rPr>
              <a:t>：</a:t>
            </a:r>
            <a:r>
              <a:rPr sz="2800" b="1" spc="7" dirty="0">
                <a:solidFill>
                  <a:srgbClr val="A50021"/>
                </a:solidFill>
                <a:latin typeface="宋体"/>
                <a:cs typeface="宋体"/>
              </a:rPr>
              <a:t>子</a:t>
            </a:r>
            <a:r>
              <a:rPr sz="2800" b="1" dirty="0">
                <a:solidFill>
                  <a:srgbClr val="A50021"/>
                </a:solidFill>
                <a:latin typeface="宋体"/>
                <a:cs typeface="宋体"/>
              </a:rPr>
              <a:t>集树</a:t>
            </a:r>
            <a:r>
              <a:rPr sz="2800" b="1" spc="-7" dirty="0">
                <a:latin typeface="宋体"/>
                <a:cs typeface="宋体"/>
              </a:rPr>
              <a:t>，</a:t>
            </a:r>
            <a:r>
              <a:rPr sz="2800" b="1" spc="-7" dirty="0">
                <a:latin typeface="Times New Roman"/>
                <a:cs typeface="Times New Roman"/>
              </a:rPr>
              <a:t>2</a:t>
            </a:r>
            <a:r>
              <a:rPr sz="2800" b="1" i="1" spc="-9" baseline="24305" dirty="0">
                <a:latin typeface="Times New Roman"/>
                <a:cs typeface="Times New Roman"/>
              </a:rPr>
              <a:t>n</a:t>
            </a:r>
            <a:r>
              <a:rPr sz="2800" b="1" dirty="0">
                <a:latin typeface="宋体"/>
                <a:cs typeface="宋体"/>
              </a:rPr>
              <a:t>片树叶</a:t>
            </a:r>
            <a:endParaRPr sz="2800" dirty="0">
              <a:latin typeface="宋体"/>
              <a:cs typeface="宋体"/>
            </a:endParaRPr>
          </a:p>
          <a:p>
            <a:pPr marR="59265" algn="ctr">
              <a:spcBef>
                <a:spcPts val="2680"/>
              </a:spcBef>
              <a:tabLst>
                <a:tab pos="1356325" algn="l"/>
              </a:tabLst>
            </a:pPr>
            <a:r>
              <a:rPr sz="2400" b="1" spc="-7" dirty="0">
                <a:latin typeface="Arial"/>
                <a:cs typeface="Arial"/>
              </a:rPr>
              <a:t>&lt;1&gt;	&lt;0&gt;</a:t>
            </a:r>
            <a:endParaRPr sz="24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291853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42390" y="241170"/>
            <a:ext cx="2061568" cy="632651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4000" b="1" spc="-13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货郎问</a:t>
            </a:r>
            <a:r>
              <a:rPr sz="4000" b="1" spc="-2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题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1714" y="1457282"/>
            <a:ext cx="8227174" cy="303330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R="23706" algn="just"/>
            <a:r>
              <a:rPr sz="2800" b="1" spc="-7" dirty="0" err="1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问题</a:t>
            </a:r>
            <a:r>
              <a:rPr sz="2800" b="1" spc="-7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：有</a:t>
            </a:r>
            <a:r>
              <a:rPr sz="2800" b="1" i="1" spc="-7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sz="2800" b="1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个城</a:t>
            </a:r>
            <a:r>
              <a:rPr sz="2800" b="1" spc="7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市</a:t>
            </a:r>
            <a:r>
              <a:rPr sz="2800" b="1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sz="2800" b="1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已知任两个城市</a:t>
            </a:r>
            <a:r>
              <a:rPr sz="2800" b="1" spc="-7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之间的距</a:t>
            </a:r>
            <a:r>
              <a:rPr sz="2800" b="1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离</a:t>
            </a:r>
            <a:r>
              <a:rPr sz="2800" b="1" spc="7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sz="2800" b="1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求一条每个城市恰好经</a:t>
            </a:r>
            <a:r>
              <a:rPr sz="2800" b="1" spc="-7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过一次的</a:t>
            </a:r>
            <a:r>
              <a:rPr sz="2800" b="1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回</a:t>
            </a:r>
            <a:r>
              <a:rPr sz="2800" b="1" spc="7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路</a:t>
            </a:r>
            <a:r>
              <a:rPr sz="2800" b="1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，使得总长度最</a:t>
            </a:r>
            <a:r>
              <a:rPr sz="2800" b="1" spc="-7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小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sz="28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endParaRPr sz="2800" dirty="0">
              <a:latin typeface="Times New Roman"/>
              <a:cs typeface="Times New Roman"/>
            </a:endParaRPr>
          </a:p>
          <a:p>
            <a:pPr marR="692556" algn="just"/>
            <a:r>
              <a:rPr sz="2800" b="1" spc="-7" dirty="0" err="1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建模</a:t>
            </a:r>
            <a:r>
              <a:rPr sz="2800" b="1" spc="-7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sz="2800" b="1" spc="-7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城</a:t>
            </a:r>
            <a:r>
              <a:rPr sz="2800" b="1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市集</a:t>
            </a:r>
            <a:r>
              <a:rPr sz="2800" b="1" i="1" dirty="0" err="1" smtClean="0">
                <a:latin typeface="Times New Roman"/>
                <a:cs typeface="Times New Roman"/>
              </a:rPr>
              <a:t>C</a:t>
            </a:r>
            <a:r>
              <a:rPr sz="2800" b="1" dirty="0">
                <a:latin typeface="Times New Roman"/>
                <a:cs typeface="Times New Roman"/>
              </a:rPr>
              <a:t>={</a:t>
            </a:r>
            <a:r>
              <a:rPr sz="2800" b="1" i="1" dirty="0">
                <a:latin typeface="Times New Roman"/>
                <a:cs typeface="Times New Roman"/>
              </a:rPr>
              <a:t>c</a:t>
            </a:r>
            <a:r>
              <a:rPr sz="2800" b="1" baseline="-20833" dirty="0">
                <a:latin typeface="Times New Roman"/>
                <a:cs typeface="Times New Roman"/>
              </a:rPr>
              <a:t>1</a:t>
            </a:r>
            <a:r>
              <a:rPr sz="2800" b="1" dirty="0">
                <a:latin typeface="Times New Roman"/>
                <a:cs typeface="Times New Roman"/>
              </a:rPr>
              <a:t>,</a:t>
            </a:r>
            <a:r>
              <a:rPr sz="2800" b="1" i="1" dirty="0">
                <a:latin typeface="Times New Roman"/>
                <a:cs typeface="Times New Roman"/>
              </a:rPr>
              <a:t>c</a:t>
            </a:r>
            <a:r>
              <a:rPr sz="2800" b="1" baseline="-20833" dirty="0">
                <a:latin typeface="Times New Roman"/>
                <a:cs typeface="Times New Roman"/>
              </a:rPr>
              <a:t>2</a:t>
            </a:r>
            <a:r>
              <a:rPr sz="2800" b="1" dirty="0">
                <a:latin typeface="Times New Roman"/>
                <a:cs typeface="Times New Roman"/>
              </a:rPr>
              <a:t>,...,</a:t>
            </a:r>
            <a:r>
              <a:rPr sz="2800" b="1" i="1" dirty="0" err="1">
                <a:latin typeface="Times New Roman"/>
                <a:cs typeface="Times New Roman"/>
              </a:rPr>
              <a:t>c</a:t>
            </a:r>
            <a:r>
              <a:rPr sz="2800" b="1" i="1" baseline="-20833" dirty="0" err="1">
                <a:latin typeface="Times New Roman"/>
                <a:cs typeface="Times New Roman"/>
              </a:rPr>
              <a:t>n</a:t>
            </a:r>
            <a:r>
              <a:rPr sz="2800" b="1" dirty="0" smtClean="0">
                <a:latin typeface="Times New Roman"/>
                <a:cs typeface="Times New Roman"/>
              </a:rPr>
              <a:t>},</a:t>
            </a:r>
            <a:endParaRPr lang="en-US" sz="2800" b="1" dirty="0" smtClean="0">
              <a:latin typeface="Times New Roman"/>
              <a:cs typeface="Times New Roman"/>
            </a:endParaRPr>
          </a:p>
          <a:p>
            <a:pPr marR="692556" algn="just"/>
            <a:r>
              <a:rPr lang="en-US" sz="2800" b="1" spc="-7" dirty="0">
                <a:latin typeface="Times New Roman"/>
                <a:ea typeface="黑体" panose="02010609060101010101" pitchFamily="49" charset="-122"/>
                <a:cs typeface="Times New Roman"/>
              </a:rPr>
              <a:t> </a:t>
            </a:r>
            <a:r>
              <a:rPr lang="en-US" sz="2800" b="1" spc="-7" dirty="0" smtClean="0">
                <a:latin typeface="Times New Roman"/>
                <a:ea typeface="黑体" panose="02010609060101010101" pitchFamily="49" charset="-122"/>
                <a:cs typeface="Times New Roman"/>
              </a:rPr>
              <a:t>           </a:t>
            </a:r>
            <a:r>
              <a:rPr sz="2800" b="1" spc="-7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距</a:t>
            </a:r>
            <a:r>
              <a:rPr sz="2800" b="1" spc="-13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离</a:t>
            </a:r>
            <a:r>
              <a:rPr lang="en-US" sz="2800" b="1" spc="-13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i="1" spc="-7" dirty="0" smtClean="0">
                <a:latin typeface="Times New Roman"/>
                <a:cs typeface="Times New Roman"/>
              </a:rPr>
              <a:t>d</a:t>
            </a:r>
            <a:r>
              <a:rPr sz="2800" b="1" spc="-7" dirty="0" smtClean="0">
                <a:latin typeface="Times New Roman"/>
                <a:cs typeface="Times New Roman"/>
              </a:rPr>
              <a:t>(</a:t>
            </a:r>
            <a:r>
              <a:rPr sz="2800" b="1" i="1" spc="-7" dirty="0" err="1" smtClean="0">
                <a:latin typeface="Times New Roman"/>
                <a:cs typeface="Times New Roman"/>
              </a:rPr>
              <a:t>c</a:t>
            </a:r>
            <a:r>
              <a:rPr sz="2800" b="1" i="1" spc="-9" baseline="-20833" dirty="0" err="1" smtClean="0">
                <a:latin typeface="Times New Roman"/>
                <a:cs typeface="Times New Roman"/>
              </a:rPr>
              <a:t>i</a:t>
            </a:r>
            <a:r>
              <a:rPr sz="2800" b="1" spc="-7" dirty="0" err="1" smtClean="0">
                <a:latin typeface="Times New Roman"/>
                <a:cs typeface="Times New Roman"/>
              </a:rPr>
              <a:t>,</a:t>
            </a:r>
            <a:r>
              <a:rPr sz="2800" b="1" i="1" spc="-7" dirty="0" err="1" smtClean="0">
                <a:latin typeface="Times New Roman"/>
                <a:cs typeface="Times New Roman"/>
              </a:rPr>
              <a:t>c</a:t>
            </a:r>
            <a:r>
              <a:rPr sz="2800" b="1" i="1" spc="-9" baseline="-20833" dirty="0" err="1" smtClean="0">
                <a:latin typeface="Times New Roman"/>
                <a:cs typeface="Times New Roman"/>
              </a:rPr>
              <a:t>j</a:t>
            </a:r>
            <a:r>
              <a:rPr sz="2800" b="1" spc="-7" dirty="0">
                <a:latin typeface="Times New Roman"/>
                <a:cs typeface="Times New Roman"/>
              </a:rPr>
              <a:t>)=</a:t>
            </a:r>
            <a:r>
              <a:rPr sz="2800" b="1" i="1" spc="-7" dirty="0">
                <a:latin typeface="Times New Roman"/>
                <a:cs typeface="Times New Roman"/>
              </a:rPr>
              <a:t>d</a:t>
            </a:r>
            <a:r>
              <a:rPr sz="2800" b="1" spc="-7" dirty="0">
                <a:latin typeface="Times New Roman"/>
                <a:cs typeface="Times New Roman"/>
              </a:rPr>
              <a:t>(</a:t>
            </a:r>
            <a:r>
              <a:rPr sz="2800" b="1" i="1" spc="-7" dirty="0">
                <a:latin typeface="Times New Roman"/>
                <a:cs typeface="Times New Roman"/>
              </a:rPr>
              <a:t>c</a:t>
            </a:r>
            <a:r>
              <a:rPr sz="2800" b="1" i="1" spc="-9" baseline="-20833" dirty="0">
                <a:latin typeface="Times New Roman"/>
                <a:cs typeface="Times New Roman"/>
              </a:rPr>
              <a:t>j</a:t>
            </a:r>
            <a:r>
              <a:rPr sz="2800" b="1" spc="-7" dirty="0">
                <a:latin typeface="Times New Roman"/>
                <a:cs typeface="Times New Roman"/>
              </a:rPr>
              <a:t>,</a:t>
            </a:r>
            <a:r>
              <a:rPr sz="2800" b="1" i="1" spc="-7" dirty="0">
                <a:latin typeface="Times New Roman"/>
                <a:cs typeface="Times New Roman"/>
              </a:rPr>
              <a:t>c</a:t>
            </a:r>
            <a:r>
              <a:rPr sz="2800" b="1" i="1" spc="-9" baseline="-20833" dirty="0">
                <a:latin typeface="Times New Roman"/>
                <a:cs typeface="Times New Roman"/>
              </a:rPr>
              <a:t>i</a:t>
            </a:r>
            <a:r>
              <a:rPr sz="2800" b="1" spc="-7" dirty="0">
                <a:latin typeface="Times New Roman"/>
                <a:cs typeface="Times New Roman"/>
              </a:rPr>
              <a:t>)</a:t>
            </a:r>
            <a:r>
              <a:rPr sz="2800" b="1" spc="-7" dirty="0">
                <a:latin typeface="Symbol"/>
                <a:cs typeface="Symbol"/>
              </a:rPr>
              <a:t></a:t>
            </a:r>
            <a:r>
              <a:rPr sz="2800" b="1" spc="-7" dirty="0">
                <a:latin typeface="Times New Roman"/>
                <a:cs typeface="Times New Roman"/>
              </a:rPr>
              <a:t>Z</a:t>
            </a:r>
            <a:r>
              <a:rPr sz="2800" b="1" spc="-9" baseline="24305" dirty="0">
                <a:latin typeface="Times New Roman"/>
                <a:cs typeface="Times New Roman"/>
              </a:rPr>
              <a:t>+</a:t>
            </a:r>
            <a:r>
              <a:rPr sz="2800" b="1" spc="-7" dirty="0">
                <a:latin typeface="Times New Roman"/>
                <a:cs typeface="Times New Roman"/>
              </a:rPr>
              <a:t>,</a:t>
            </a:r>
            <a:r>
              <a:rPr sz="2800" b="1" spc="-27" dirty="0">
                <a:latin typeface="Times New Roman"/>
                <a:cs typeface="Times New Roman"/>
              </a:rPr>
              <a:t> </a:t>
            </a:r>
            <a:r>
              <a:rPr sz="2800" b="1" spc="-7" dirty="0">
                <a:latin typeface="Times New Roman"/>
                <a:cs typeface="Times New Roman"/>
              </a:rPr>
              <a:t>1</a:t>
            </a:r>
            <a:r>
              <a:rPr sz="2800" b="1" spc="-7" dirty="0">
                <a:latin typeface="Symbol"/>
                <a:cs typeface="Symbol"/>
              </a:rPr>
              <a:t></a:t>
            </a:r>
            <a:r>
              <a:rPr sz="2800" b="1" i="1" spc="-7" dirty="0">
                <a:latin typeface="Times New Roman"/>
                <a:cs typeface="Times New Roman"/>
              </a:rPr>
              <a:t>i</a:t>
            </a:r>
            <a:r>
              <a:rPr sz="2800" b="1" spc="-7" dirty="0">
                <a:latin typeface="Times New Roman"/>
                <a:cs typeface="Times New Roman"/>
              </a:rPr>
              <a:t>&lt;</a:t>
            </a:r>
            <a:r>
              <a:rPr sz="2800" b="1" i="1" spc="-7" dirty="0">
                <a:latin typeface="Times New Roman"/>
                <a:cs typeface="Times New Roman"/>
              </a:rPr>
              <a:t>j</a:t>
            </a:r>
            <a:r>
              <a:rPr sz="2800" b="1" spc="-7" dirty="0">
                <a:latin typeface="Symbol"/>
                <a:cs typeface="Symbol"/>
              </a:rPr>
              <a:t></a:t>
            </a:r>
            <a:r>
              <a:rPr sz="2800" b="1" i="1" spc="-7" dirty="0">
                <a:latin typeface="Times New Roman"/>
                <a:cs typeface="Times New Roman"/>
              </a:rPr>
              <a:t>n</a:t>
            </a:r>
            <a:endParaRPr sz="2800" dirty="0">
              <a:latin typeface="Times New Roman"/>
              <a:cs typeface="Times New Roman"/>
            </a:endParaRPr>
          </a:p>
          <a:p>
            <a:r>
              <a:rPr lang="en-US" sz="2800" b="1" spc="-7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       </a:t>
            </a:r>
            <a:r>
              <a:rPr sz="2800" b="1" spc="-7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求</a:t>
            </a:r>
            <a:r>
              <a:rPr sz="2800" b="1" spc="-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：1,2,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...,</a:t>
            </a:r>
            <a:r>
              <a:rPr sz="2800" b="1" spc="-13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i="1" spc="-13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sz="2800" b="1" spc="-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的排</a:t>
            </a:r>
            <a:r>
              <a:rPr sz="2800" b="1" spc="-13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列</a:t>
            </a:r>
            <a:r>
              <a:rPr sz="2800" b="1" spc="-78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k</a:t>
            </a:r>
            <a:r>
              <a:rPr sz="2800" b="1" baseline="-20833" dirty="0">
                <a:latin typeface="Times New Roman"/>
                <a:cs typeface="Times New Roman"/>
              </a:rPr>
              <a:t>1</a:t>
            </a:r>
            <a:r>
              <a:rPr sz="2800" b="1" dirty="0">
                <a:latin typeface="Times New Roman"/>
                <a:cs typeface="Times New Roman"/>
              </a:rPr>
              <a:t>,</a:t>
            </a:r>
            <a:r>
              <a:rPr sz="2800" b="1" spc="-7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k</a:t>
            </a:r>
            <a:r>
              <a:rPr sz="2800" b="1" baseline="-20833" dirty="0">
                <a:latin typeface="Times New Roman"/>
                <a:cs typeface="Times New Roman"/>
              </a:rPr>
              <a:t>2</a:t>
            </a:r>
            <a:r>
              <a:rPr sz="2800" b="1" dirty="0">
                <a:latin typeface="Times New Roman"/>
                <a:cs typeface="Times New Roman"/>
              </a:rPr>
              <a:t>,</a:t>
            </a:r>
            <a:r>
              <a:rPr sz="2800" b="1" spc="-2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...,</a:t>
            </a:r>
            <a:r>
              <a:rPr sz="2800" b="1" spc="-13" dirty="0">
                <a:latin typeface="Times New Roman"/>
                <a:cs typeface="Times New Roman"/>
              </a:rPr>
              <a:t> </a:t>
            </a:r>
            <a:r>
              <a:rPr sz="2800" b="1" i="1" spc="-7" dirty="0">
                <a:latin typeface="Times New Roman"/>
                <a:cs typeface="Times New Roman"/>
              </a:rPr>
              <a:t>k</a:t>
            </a:r>
            <a:r>
              <a:rPr sz="2800" b="1" i="1" spc="-9" baseline="-20833" dirty="0">
                <a:latin typeface="Times New Roman"/>
                <a:cs typeface="Times New Roman"/>
              </a:rPr>
              <a:t>n</a:t>
            </a:r>
            <a:r>
              <a:rPr sz="2800" b="1" spc="-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使</a:t>
            </a:r>
            <a:r>
              <a:rPr sz="2800" b="1" spc="-13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得</a:t>
            </a:r>
            <a:endParaRPr sz="28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460" y="4674659"/>
            <a:ext cx="7371428" cy="110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31624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36698" y="979434"/>
            <a:ext cx="2531549" cy="3443677"/>
          </a:xfrm>
          <a:prstGeom prst="rect">
            <a:avLst/>
          </a:prstGeom>
        </p:spPr>
        <p:txBody>
          <a:bodyPr vert="horz" wrap="square" lIns="0" tIns="118533" rIns="0" bIns="0" rtlCol="0">
            <a:spAutoFit/>
          </a:bodyPr>
          <a:lstStyle/>
          <a:p>
            <a:pPr marL="16933">
              <a:spcBef>
                <a:spcPts val="933"/>
              </a:spcBef>
            </a:pPr>
            <a:r>
              <a:rPr sz="2800" b="1" i="1" dirty="0">
                <a:latin typeface="Times New Roman"/>
                <a:cs typeface="Times New Roman"/>
              </a:rPr>
              <a:t>C</a:t>
            </a:r>
            <a:r>
              <a:rPr sz="2800" b="1" i="1" spc="-13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={1,2,3,4}</a:t>
            </a:r>
          </a:p>
          <a:p>
            <a:pPr marL="16933">
              <a:spcBef>
                <a:spcPts val="800"/>
              </a:spcBef>
            </a:pPr>
            <a:r>
              <a:rPr sz="2800" b="1" i="1" spc="-7" dirty="0">
                <a:latin typeface="Times New Roman"/>
                <a:cs typeface="Times New Roman"/>
              </a:rPr>
              <a:t>d</a:t>
            </a:r>
            <a:r>
              <a:rPr sz="2800" b="1" spc="-7" dirty="0">
                <a:latin typeface="Times New Roman"/>
                <a:cs typeface="Times New Roman"/>
              </a:rPr>
              <a:t>(1,2)=5,</a:t>
            </a:r>
            <a:r>
              <a:rPr sz="2800" b="1" spc="-13" dirty="0">
                <a:latin typeface="Times New Roman"/>
                <a:cs typeface="Times New Roman"/>
              </a:rPr>
              <a:t> </a:t>
            </a:r>
            <a:r>
              <a:rPr sz="2800" b="1" i="1" spc="-7" dirty="0">
                <a:latin typeface="Times New Roman"/>
                <a:cs typeface="Times New Roman"/>
              </a:rPr>
              <a:t>d</a:t>
            </a:r>
            <a:r>
              <a:rPr sz="2800" b="1" spc="-7" dirty="0">
                <a:latin typeface="Times New Roman"/>
                <a:cs typeface="Times New Roman"/>
              </a:rPr>
              <a:t>(1,3)=9,</a:t>
            </a:r>
            <a:endParaRPr sz="2800" b="1" dirty="0">
              <a:latin typeface="Times New Roman"/>
              <a:cs typeface="Times New Roman"/>
            </a:endParaRPr>
          </a:p>
          <a:p>
            <a:pPr marL="16933">
              <a:spcBef>
                <a:spcPts val="800"/>
              </a:spcBef>
            </a:pPr>
            <a:r>
              <a:rPr sz="2800" b="1" i="1" spc="-7" dirty="0">
                <a:latin typeface="Times New Roman"/>
                <a:cs typeface="Times New Roman"/>
              </a:rPr>
              <a:t>d</a:t>
            </a:r>
            <a:r>
              <a:rPr sz="2800" b="1" spc="-7" dirty="0">
                <a:latin typeface="Times New Roman"/>
                <a:cs typeface="Times New Roman"/>
              </a:rPr>
              <a:t>(1,4)=4,</a:t>
            </a:r>
            <a:r>
              <a:rPr sz="2800" b="1" spc="-33" dirty="0">
                <a:latin typeface="Times New Roman"/>
                <a:cs typeface="Times New Roman"/>
              </a:rPr>
              <a:t> </a:t>
            </a:r>
            <a:r>
              <a:rPr sz="2800" b="1" i="1" spc="-7" dirty="0">
                <a:latin typeface="Times New Roman"/>
                <a:cs typeface="Times New Roman"/>
              </a:rPr>
              <a:t>d</a:t>
            </a:r>
            <a:r>
              <a:rPr sz="2800" b="1" spc="-7" dirty="0">
                <a:latin typeface="Times New Roman"/>
                <a:cs typeface="Times New Roman"/>
              </a:rPr>
              <a:t>(2,3)=13,</a:t>
            </a:r>
            <a:endParaRPr sz="2800" b="1" dirty="0">
              <a:latin typeface="Times New Roman"/>
              <a:cs typeface="Times New Roman"/>
            </a:endParaRPr>
          </a:p>
          <a:p>
            <a:pPr marL="16933">
              <a:spcBef>
                <a:spcPts val="800"/>
              </a:spcBef>
            </a:pPr>
            <a:r>
              <a:rPr sz="2800" b="1" i="1" spc="-7" dirty="0">
                <a:latin typeface="Times New Roman"/>
                <a:cs typeface="Times New Roman"/>
              </a:rPr>
              <a:t>d</a:t>
            </a:r>
            <a:r>
              <a:rPr sz="2800" b="1" spc="-7" dirty="0">
                <a:latin typeface="Times New Roman"/>
                <a:cs typeface="Times New Roman"/>
              </a:rPr>
              <a:t>(2,4)=2,</a:t>
            </a:r>
            <a:r>
              <a:rPr sz="2800" b="1" spc="-13" dirty="0">
                <a:latin typeface="Times New Roman"/>
                <a:cs typeface="Times New Roman"/>
              </a:rPr>
              <a:t> </a:t>
            </a:r>
            <a:r>
              <a:rPr sz="2800" b="1" i="1" spc="-7" dirty="0">
                <a:latin typeface="Times New Roman"/>
                <a:cs typeface="Times New Roman"/>
              </a:rPr>
              <a:t>d</a:t>
            </a:r>
            <a:r>
              <a:rPr sz="2800" b="1" spc="-7" dirty="0">
                <a:latin typeface="Times New Roman"/>
                <a:cs typeface="Times New Roman"/>
              </a:rPr>
              <a:t>(3,4)=7</a:t>
            </a:r>
            <a:endParaRPr sz="2800" b="1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164873" y="190555"/>
            <a:ext cx="1042850" cy="632651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4000" b="1" spc="-13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</a:t>
            </a:r>
            <a:r>
              <a:rPr sz="4000" b="1" spc="-2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</a:p>
        </p:txBody>
      </p:sp>
      <p:sp>
        <p:nvSpPr>
          <p:cNvPr id="4" name="object 4"/>
          <p:cNvSpPr/>
          <p:nvPr/>
        </p:nvSpPr>
        <p:spPr>
          <a:xfrm>
            <a:off x="5001691" y="2114646"/>
            <a:ext cx="1218776" cy="0"/>
          </a:xfrm>
          <a:custGeom>
            <a:avLst/>
            <a:gdLst/>
            <a:ahLst/>
            <a:cxnLst/>
            <a:rect l="l" t="t" r="r" b="b"/>
            <a:pathLst>
              <a:path w="1218564">
                <a:moveTo>
                  <a:pt x="0" y="0"/>
                </a:moveTo>
                <a:lnTo>
                  <a:pt x="1218438" y="0"/>
                </a:lnTo>
              </a:path>
            </a:pathLst>
          </a:custGeom>
          <a:ln w="28956">
            <a:solidFill>
              <a:srgbClr val="FF33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" name="object 5"/>
          <p:cNvSpPr/>
          <p:nvPr/>
        </p:nvSpPr>
        <p:spPr>
          <a:xfrm>
            <a:off x="5001690" y="2114648"/>
            <a:ext cx="0" cy="1431713"/>
          </a:xfrm>
          <a:custGeom>
            <a:avLst/>
            <a:gdLst/>
            <a:ahLst/>
            <a:cxnLst/>
            <a:rect l="l" t="t" r="r" b="b"/>
            <a:pathLst>
              <a:path h="1073785">
                <a:moveTo>
                  <a:pt x="0" y="0"/>
                </a:moveTo>
                <a:lnTo>
                  <a:pt x="0" y="1073658"/>
                </a:lnTo>
              </a:path>
            </a:pathLst>
          </a:custGeom>
          <a:ln w="2895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" name="object 6"/>
          <p:cNvSpPr/>
          <p:nvPr/>
        </p:nvSpPr>
        <p:spPr>
          <a:xfrm>
            <a:off x="5001690" y="3068671"/>
            <a:ext cx="813576" cy="398780"/>
          </a:xfrm>
          <a:custGeom>
            <a:avLst/>
            <a:gdLst/>
            <a:ahLst/>
            <a:cxnLst/>
            <a:rect l="l" t="t" r="r" b="b"/>
            <a:pathLst>
              <a:path w="813435" h="299085">
                <a:moveTo>
                  <a:pt x="0" y="298704"/>
                </a:moveTo>
                <a:lnTo>
                  <a:pt x="813054" y="0"/>
                </a:lnTo>
              </a:path>
            </a:pathLst>
          </a:custGeom>
          <a:ln w="2895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" name="object 7"/>
          <p:cNvSpPr/>
          <p:nvPr/>
        </p:nvSpPr>
        <p:spPr>
          <a:xfrm>
            <a:off x="5814887" y="2114648"/>
            <a:ext cx="405835" cy="954193"/>
          </a:xfrm>
          <a:custGeom>
            <a:avLst/>
            <a:gdLst/>
            <a:ahLst/>
            <a:cxnLst/>
            <a:rect l="l" t="t" r="r" b="b"/>
            <a:pathLst>
              <a:path w="405764" h="715644">
                <a:moveTo>
                  <a:pt x="0" y="715518"/>
                </a:moveTo>
                <a:lnTo>
                  <a:pt x="405384" y="0"/>
                </a:lnTo>
              </a:path>
            </a:pathLst>
          </a:custGeom>
          <a:ln w="2895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" name="object 8"/>
          <p:cNvSpPr/>
          <p:nvPr/>
        </p:nvSpPr>
        <p:spPr>
          <a:xfrm>
            <a:off x="5001690" y="2114648"/>
            <a:ext cx="813576" cy="954193"/>
          </a:xfrm>
          <a:custGeom>
            <a:avLst/>
            <a:gdLst/>
            <a:ahLst/>
            <a:cxnLst/>
            <a:rect l="l" t="t" r="r" b="b"/>
            <a:pathLst>
              <a:path w="813435" h="715644">
                <a:moveTo>
                  <a:pt x="0" y="0"/>
                </a:moveTo>
                <a:lnTo>
                  <a:pt x="813054" y="715518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" name="object 9"/>
          <p:cNvSpPr/>
          <p:nvPr/>
        </p:nvSpPr>
        <p:spPr>
          <a:xfrm>
            <a:off x="5001690" y="2114651"/>
            <a:ext cx="1340083" cy="1632373"/>
          </a:xfrm>
          <a:custGeom>
            <a:avLst/>
            <a:gdLst/>
            <a:ahLst/>
            <a:cxnLst/>
            <a:rect l="l" t="t" r="r" b="b"/>
            <a:pathLst>
              <a:path w="1339850" h="1224280">
                <a:moveTo>
                  <a:pt x="0" y="1014603"/>
                </a:moveTo>
                <a:lnTo>
                  <a:pt x="36174" y="1042211"/>
                </a:lnTo>
                <a:lnTo>
                  <a:pt x="73129" y="1069402"/>
                </a:lnTo>
                <a:lnTo>
                  <a:pt x="111524" y="1095636"/>
                </a:lnTo>
                <a:lnTo>
                  <a:pt x="152020" y="1120374"/>
                </a:lnTo>
                <a:lnTo>
                  <a:pt x="195276" y="1143077"/>
                </a:lnTo>
                <a:lnTo>
                  <a:pt x="241953" y="1163203"/>
                </a:lnTo>
                <a:lnTo>
                  <a:pt x="292710" y="1180215"/>
                </a:lnTo>
                <a:lnTo>
                  <a:pt x="348208" y="1193571"/>
                </a:lnTo>
                <a:lnTo>
                  <a:pt x="389198" y="1200884"/>
                </a:lnTo>
                <a:lnTo>
                  <a:pt x="434188" y="1207552"/>
                </a:lnTo>
                <a:lnTo>
                  <a:pt x="482379" y="1213372"/>
                </a:lnTo>
                <a:lnTo>
                  <a:pt x="532971" y="1218136"/>
                </a:lnTo>
                <a:lnTo>
                  <a:pt x="585164" y="1221638"/>
                </a:lnTo>
                <a:lnTo>
                  <a:pt x="638157" y="1223675"/>
                </a:lnTo>
                <a:lnTo>
                  <a:pt x="691150" y="1224038"/>
                </a:lnTo>
                <a:lnTo>
                  <a:pt x="743344" y="1222524"/>
                </a:lnTo>
                <a:lnTo>
                  <a:pt x="793937" y="1218926"/>
                </a:lnTo>
                <a:lnTo>
                  <a:pt x="842130" y="1213038"/>
                </a:lnTo>
                <a:lnTo>
                  <a:pt x="887123" y="1204655"/>
                </a:lnTo>
                <a:lnTo>
                  <a:pt x="928116" y="1193571"/>
                </a:lnTo>
                <a:lnTo>
                  <a:pt x="978620" y="1173754"/>
                </a:lnTo>
                <a:lnTo>
                  <a:pt x="1026711" y="1148293"/>
                </a:lnTo>
                <a:lnTo>
                  <a:pt x="1072158" y="1118175"/>
                </a:lnTo>
                <a:lnTo>
                  <a:pt x="1114728" y="1084384"/>
                </a:lnTo>
                <a:lnTo>
                  <a:pt x="1154190" y="1047908"/>
                </a:lnTo>
                <a:lnTo>
                  <a:pt x="1190312" y="1009730"/>
                </a:lnTo>
                <a:lnTo>
                  <a:pt x="1222863" y="970839"/>
                </a:lnTo>
                <a:lnTo>
                  <a:pt x="1251611" y="932218"/>
                </a:lnTo>
                <a:lnTo>
                  <a:pt x="1276324" y="894854"/>
                </a:lnTo>
                <a:lnTo>
                  <a:pt x="1301418" y="848436"/>
                </a:lnTo>
                <a:lnTo>
                  <a:pt x="1319234" y="802133"/>
                </a:lnTo>
                <a:lnTo>
                  <a:pt x="1330803" y="754934"/>
                </a:lnTo>
                <a:lnTo>
                  <a:pt x="1337154" y="705824"/>
                </a:lnTo>
                <a:lnTo>
                  <a:pt x="1339318" y="653792"/>
                </a:lnTo>
                <a:lnTo>
                  <a:pt x="1338323" y="597823"/>
                </a:lnTo>
                <a:lnTo>
                  <a:pt x="1335201" y="536905"/>
                </a:lnTo>
                <a:lnTo>
                  <a:pt x="1331682" y="495243"/>
                </a:lnTo>
                <a:lnTo>
                  <a:pt x="1326142" y="451511"/>
                </a:lnTo>
                <a:lnTo>
                  <a:pt x="1318784" y="405923"/>
                </a:lnTo>
                <a:lnTo>
                  <a:pt x="1309810" y="358691"/>
                </a:lnTo>
                <a:lnTo>
                  <a:pt x="1299422" y="310030"/>
                </a:lnTo>
                <a:lnTo>
                  <a:pt x="1287822" y="260153"/>
                </a:lnTo>
                <a:lnTo>
                  <a:pt x="1275213" y="209274"/>
                </a:lnTo>
                <a:lnTo>
                  <a:pt x="1261795" y="157605"/>
                </a:lnTo>
                <a:lnTo>
                  <a:pt x="1247772" y="105361"/>
                </a:lnTo>
                <a:lnTo>
                  <a:pt x="1233345" y="52754"/>
                </a:lnTo>
                <a:lnTo>
                  <a:pt x="1218717" y="0"/>
                </a:lnTo>
              </a:path>
            </a:pathLst>
          </a:custGeom>
          <a:ln w="289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0" name="object 10"/>
          <p:cNvSpPr/>
          <p:nvPr/>
        </p:nvSpPr>
        <p:spPr>
          <a:xfrm>
            <a:off x="4929289" y="3287112"/>
            <a:ext cx="203489" cy="27533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1" name="object 11"/>
          <p:cNvSpPr/>
          <p:nvPr/>
        </p:nvSpPr>
        <p:spPr>
          <a:xfrm>
            <a:off x="4870605" y="1932782"/>
            <a:ext cx="202726" cy="27736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2" name="object 12"/>
          <p:cNvSpPr/>
          <p:nvPr/>
        </p:nvSpPr>
        <p:spPr>
          <a:xfrm>
            <a:off x="5680752" y="2889854"/>
            <a:ext cx="203489" cy="27431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3" name="object 13"/>
          <p:cNvSpPr/>
          <p:nvPr/>
        </p:nvSpPr>
        <p:spPr>
          <a:xfrm>
            <a:off x="6148701" y="2015078"/>
            <a:ext cx="201964" cy="27736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4" name="object 14"/>
          <p:cNvSpPr txBox="1"/>
          <p:nvPr/>
        </p:nvSpPr>
        <p:spPr>
          <a:xfrm>
            <a:off x="5597211" y="1521725"/>
            <a:ext cx="153062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spc="-7" dirty="0">
                <a:latin typeface="Arial"/>
                <a:cs typeface="Arial"/>
              </a:rPr>
              <a:t>5</a:t>
            </a:r>
            <a:endParaRPr sz="24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511927" y="2170034"/>
            <a:ext cx="509359" cy="1125094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  <a:tabLst>
                <a:tab pos="491901" algn="l"/>
              </a:tabLst>
            </a:pPr>
            <a:r>
              <a:rPr sz="2400" spc="-7" dirty="0">
                <a:latin typeface="Arial"/>
                <a:cs typeface="Arial"/>
              </a:rPr>
              <a:t>4	2</a:t>
            </a:r>
            <a:endParaRPr sz="24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306611" y="2778110"/>
            <a:ext cx="153062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spc="-7" dirty="0">
                <a:latin typeface="Arial"/>
                <a:cs typeface="Arial"/>
              </a:rPr>
              <a:t>7</a:t>
            </a:r>
            <a:endParaRPr sz="24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790570" y="2508058"/>
            <a:ext cx="153062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spc="-7" dirty="0">
                <a:latin typeface="Arial"/>
                <a:cs typeface="Arial"/>
              </a:rPr>
              <a:t>9</a:t>
            </a:r>
            <a:endParaRPr sz="24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899900" y="1556640"/>
            <a:ext cx="127657" cy="3453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133" b="1" dirty="0">
                <a:latin typeface="Times New Roman"/>
                <a:cs typeface="Times New Roman"/>
              </a:rPr>
              <a:t>1</a:t>
            </a:r>
            <a:endParaRPr sz="2133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230728" y="1564246"/>
            <a:ext cx="139725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b="1" dirty="0">
                <a:latin typeface="Times New Roman"/>
                <a:cs typeface="Times New Roman"/>
              </a:rPr>
              <a:t>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947601" y="3590557"/>
            <a:ext cx="139725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b="1" dirty="0">
                <a:latin typeface="Times New Roman"/>
                <a:cs typeface="Times New Roman"/>
              </a:rPr>
              <a:t>3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892570" y="3011437"/>
            <a:ext cx="139725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b="1" dirty="0">
                <a:latin typeface="Times New Roman"/>
                <a:cs typeface="Times New Roman"/>
              </a:rPr>
              <a:t>4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128069" y="3385426"/>
            <a:ext cx="280719" cy="75576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spc="-7" dirty="0">
                <a:latin typeface="Arial"/>
                <a:cs typeface="Arial"/>
              </a:rPr>
              <a:t>13</a:t>
            </a:r>
            <a:endParaRPr sz="24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742304" y="4899563"/>
            <a:ext cx="4701087" cy="1084057"/>
          </a:xfrm>
          <a:prstGeom prst="rect">
            <a:avLst/>
          </a:prstGeom>
        </p:spPr>
        <p:txBody>
          <a:bodyPr vert="horz" wrap="square" lIns="0" tIns="118533" rIns="0" bIns="0" rtlCol="0">
            <a:spAutoFit/>
          </a:bodyPr>
          <a:lstStyle/>
          <a:p>
            <a:pPr marL="16933">
              <a:spcBef>
                <a:spcPts val="933"/>
              </a:spcBef>
            </a:pPr>
            <a:r>
              <a:rPr sz="2800" b="1" spc="-7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解</a:t>
            </a:r>
            <a:r>
              <a:rPr sz="2800" b="1" spc="-7" dirty="0">
                <a:latin typeface="宋体"/>
                <a:cs typeface="宋体"/>
              </a:rPr>
              <a:t>：</a:t>
            </a:r>
            <a:r>
              <a:rPr sz="2800" b="1" spc="-7" dirty="0">
                <a:latin typeface="Times New Roman"/>
                <a:cs typeface="Times New Roman"/>
              </a:rPr>
              <a:t>&lt;</a:t>
            </a:r>
            <a:r>
              <a:rPr sz="2800" b="1" dirty="0">
                <a:latin typeface="Times New Roman"/>
                <a:cs typeface="Times New Roman"/>
              </a:rPr>
              <a:t> 1,</a:t>
            </a:r>
            <a:r>
              <a:rPr sz="2800" b="1" spc="-7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2, 4,</a:t>
            </a:r>
            <a:r>
              <a:rPr sz="2800" b="1" spc="-7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3 &gt;</a:t>
            </a:r>
            <a:r>
              <a:rPr sz="2800" b="1" spc="-2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,</a:t>
            </a:r>
          </a:p>
          <a:p>
            <a:pPr marL="16933">
              <a:spcBef>
                <a:spcPts val="800"/>
              </a:spcBef>
            </a:pPr>
            <a:r>
              <a:rPr sz="2800" b="1" spc="-7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长</a:t>
            </a:r>
            <a:r>
              <a:rPr sz="2800" b="1" spc="-13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度</a:t>
            </a:r>
            <a:r>
              <a:rPr sz="2800" b="1" spc="-800" dirty="0">
                <a:latin typeface="宋体"/>
                <a:cs typeface="宋体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=</a:t>
            </a:r>
            <a:r>
              <a:rPr sz="2800" b="1" spc="-2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5 +</a:t>
            </a:r>
            <a:r>
              <a:rPr sz="2800" b="1" spc="-2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2</a:t>
            </a:r>
            <a:r>
              <a:rPr sz="2800" b="1" spc="-7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+</a:t>
            </a:r>
            <a:r>
              <a:rPr sz="2800" b="1" spc="-13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7</a:t>
            </a:r>
            <a:r>
              <a:rPr sz="2800" b="1" spc="-7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+</a:t>
            </a:r>
            <a:r>
              <a:rPr sz="2800" b="1" spc="-7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9 =</a:t>
            </a:r>
            <a:r>
              <a:rPr sz="2800" b="1" spc="-20" dirty="0">
                <a:latin typeface="Times New Roman"/>
                <a:cs typeface="Times New Roman"/>
              </a:rPr>
              <a:t> </a:t>
            </a:r>
            <a:r>
              <a:rPr sz="2800" b="1" dirty="0" smtClean="0">
                <a:latin typeface="Times New Roman"/>
                <a:cs typeface="Times New Roman"/>
              </a:rPr>
              <a:t>23</a:t>
            </a:r>
            <a:endParaRPr sz="2800" b="1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7771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8098" y="219931"/>
            <a:ext cx="2061568" cy="632651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4000" spc="-13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搜索空</a:t>
            </a:r>
            <a:r>
              <a:rPr sz="4000" spc="-2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间</a:t>
            </a:r>
          </a:p>
        </p:txBody>
      </p:sp>
      <p:sp>
        <p:nvSpPr>
          <p:cNvPr id="3" name="object 3"/>
          <p:cNvSpPr/>
          <p:nvPr/>
        </p:nvSpPr>
        <p:spPr>
          <a:xfrm>
            <a:off x="5827264" y="4640610"/>
            <a:ext cx="54966" cy="491931"/>
          </a:xfrm>
          <a:custGeom>
            <a:avLst/>
            <a:gdLst/>
            <a:ahLst/>
            <a:cxnLst/>
            <a:rect l="l" t="t" r="r" b="b"/>
            <a:pathLst>
              <a:path h="444500">
                <a:moveTo>
                  <a:pt x="0" y="0"/>
                </a:moveTo>
                <a:lnTo>
                  <a:pt x="0" y="444246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" name="object 4"/>
          <p:cNvSpPr/>
          <p:nvPr/>
        </p:nvSpPr>
        <p:spPr>
          <a:xfrm>
            <a:off x="2979938" y="4543074"/>
            <a:ext cx="54966" cy="491931"/>
          </a:xfrm>
          <a:custGeom>
            <a:avLst/>
            <a:gdLst/>
            <a:ahLst/>
            <a:cxnLst/>
            <a:rect l="l" t="t" r="r" b="b"/>
            <a:pathLst>
              <a:path h="444500">
                <a:moveTo>
                  <a:pt x="0" y="0"/>
                </a:moveTo>
                <a:lnTo>
                  <a:pt x="0" y="444245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" name="object 5"/>
          <p:cNvSpPr/>
          <p:nvPr/>
        </p:nvSpPr>
        <p:spPr>
          <a:xfrm>
            <a:off x="3522575" y="4638577"/>
            <a:ext cx="54966" cy="491931"/>
          </a:xfrm>
          <a:custGeom>
            <a:avLst/>
            <a:gdLst/>
            <a:ahLst/>
            <a:cxnLst/>
            <a:rect l="l" t="t" r="r" b="b"/>
            <a:pathLst>
              <a:path h="444500">
                <a:moveTo>
                  <a:pt x="0" y="0"/>
                </a:moveTo>
                <a:lnTo>
                  <a:pt x="0" y="444246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" name="object 6"/>
          <p:cNvSpPr/>
          <p:nvPr/>
        </p:nvSpPr>
        <p:spPr>
          <a:xfrm>
            <a:off x="4132281" y="4543074"/>
            <a:ext cx="54966" cy="491931"/>
          </a:xfrm>
          <a:custGeom>
            <a:avLst/>
            <a:gdLst/>
            <a:ahLst/>
            <a:cxnLst/>
            <a:rect l="l" t="t" r="r" b="b"/>
            <a:pathLst>
              <a:path h="444500">
                <a:moveTo>
                  <a:pt x="0" y="0"/>
                </a:moveTo>
                <a:lnTo>
                  <a:pt x="0" y="444245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" name="object 7"/>
          <p:cNvSpPr/>
          <p:nvPr/>
        </p:nvSpPr>
        <p:spPr>
          <a:xfrm>
            <a:off x="4674919" y="4543074"/>
            <a:ext cx="54966" cy="491931"/>
          </a:xfrm>
          <a:custGeom>
            <a:avLst/>
            <a:gdLst/>
            <a:ahLst/>
            <a:cxnLst/>
            <a:rect l="l" t="t" r="r" b="b"/>
            <a:pathLst>
              <a:path h="444500">
                <a:moveTo>
                  <a:pt x="0" y="0"/>
                </a:moveTo>
                <a:lnTo>
                  <a:pt x="0" y="444245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" name="object 8"/>
          <p:cNvSpPr/>
          <p:nvPr/>
        </p:nvSpPr>
        <p:spPr>
          <a:xfrm>
            <a:off x="5217558" y="4543074"/>
            <a:ext cx="54966" cy="491931"/>
          </a:xfrm>
          <a:custGeom>
            <a:avLst/>
            <a:gdLst/>
            <a:ahLst/>
            <a:cxnLst/>
            <a:rect l="l" t="t" r="r" b="b"/>
            <a:pathLst>
              <a:path h="444500">
                <a:moveTo>
                  <a:pt x="0" y="0"/>
                </a:moveTo>
                <a:lnTo>
                  <a:pt x="0" y="444245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" name="object 9"/>
          <p:cNvSpPr/>
          <p:nvPr/>
        </p:nvSpPr>
        <p:spPr>
          <a:xfrm>
            <a:off x="5217559" y="3755673"/>
            <a:ext cx="244342" cy="490525"/>
          </a:xfrm>
          <a:custGeom>
            <a:avLst/>
            <a:gdLst/>
            <a:ahLst/>
            <a:cxnLst/>
            <a:rect l="l" t="t" r="r" b="b"/>
            <a:pathLst>
              <a:path w="203200" h="443229">
                <a:moveTo>
                  <a:pt x="202691" y="0"/>
                </a:moveTo>
                <a:lnTo>
                  <a:pt x="0" y="442722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0" name="object 10"/>
          <p:cNvSpPr/>
          <p:nvPr/>
        </p:nvSpPr>
        <p:spPr>
          <a:xfrm>
            <a:off x="5420286" y="3658136"/>
            <a:ext cx="409274" cy="571343"/>
          </a:xfrm>
          <a:custGeom>
            <a:avLst/>
            <a:gdLst/>
            <a:ahLst/>
            <a:cxnLst/>
            <a:rect l="l" t="t" r="r" b="b"/>
            <a:pathLst>
              <a:path w="340360" h="516254">
                <a:moveTo>
                  <a:pt x="0" y="0"/>
                </a:moveTo>
                <a:lnTo>
                  <a:pt x="339852" y="515873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1" name="object 11"/>
          <p:cNvSpPr/>
          <p:nvPr/>
        </p:nvSpPr>
        <p:spPr>
          <a:xfrm>
            <a:off x="4132281" y="3755673"/>
            <a:ext cx="246633" cy="490525"/>
          </a:xfrm>
          <a:custGeom>
            <a:avLst/>
            <a:gdLst/>
            <a:ahLst/>
            <a:cxnLst/>
            <a:rect l="l" t="t" r="r" b="b"/>
            <a:pathLst>
              <a:path w="205105" h="443229">
                <a:moveTo>
                  <a:pt x="204978" y="0"/>
                </a:moveTo>
                <a:lnTo>
                  <a:pt x="0" y="442722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2" name="object 12"/>
          <p:cNvSpPr/>
          <p:nvPr/>
        </p:nvSpPr>
        <p:spPr>
          <a:xfrm>
            <a:off x="4404364" y="3755673"/>
            <a:ext cx="325281" cy="490525"/>
          </a:xfrm>
          <a:custGeom>
            <a:avLst/>
            <a:gdLst/>
            <a:ahLst/>
            <a:cxnLst/>
            <a:rect l="l" t="t" r="r" b="b"/>
            <a:pathLst>
              <a:path w="270510" h="443229">
                <a:moveTo>
                  <a:pt x="0" y="0"/>
                </a:moveTo>
                <a:lnTo>
                  <a:pt x="270510" y="442722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3" name="object 13"/>
          <p:cNvSpPr/>
          <p:nvPr/>
        </p:nvSpPr>
        <p:spPr>
          <a:xfrm>
            <a:off x="4368543" y="2331243"/>
            <a:ext cx="54966" cy="408302"/>
          </a:xfrm>
          <a:custGeom>
            <a:avLst/>
            <a:gdLst/>
            <a:ahLst/>
            <a:cxnLst/>
            <a:rect l="l" t="t" r="r" b="b"/>
            <a:pathLst>
              <a:path h="368935">
                <a:moveTo>
                  <a:pt x="0" y="0"/>
                </a:moveTo>
                <a:lnTo>
                  <a:pt x="0" y="368808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4" name="object 14"/>
          <p:cNvSpPr/>
          <p:nvPr/>
        </p:nvSpPr>
        <p:spPr>
          <a:xfrm>
            <a:off x="4368543" y="3065808"/>
            <a:ext cx="54966" cy="409005"/>
          </a:xfrm>
          <a:custGeom>
            <a:avLst/>
            <a:gdLst/>
            <a:ahLst/>
            <a:cxnLst/>
            <a:rect l="l" t="t" r="r" b="b"/>
            <a:pathLst>
              <a:path h="369569">
                <a:moveTo>
                  <a:pt x="0" y="0"/>
                </a:moveTo>
                <a:lnTo>
                  <a:pt x="0" y="369570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5" name="object 15"/>
          <p:cNvSpPr/>
          <p:nvPr/>
        </p:nvSpPr>
        <p:spPr>
          <a:xfrm>
            <a:off x="4264131" y="2075210"/>
            <a:ext cx="255643" cy="25552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6" name="object 16"/>
          <p:cNvSpPr/>
          <p:nvPr/>
        </p:nvSpPr>
        <p:spPr>
          <a:xfrm>
            <a:off x="4264131" y="2767108"/>
            <a:ext cx="255643" cy="25552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7" name="object 17"/>
          <p:cNvSpPr/>
          <p:nvPr/>
        </p:nvSpPr>
        <p:spPr>
          <a:xfrm>
            <a:off x="3245922" y="3454938"/>
            <a:ext cx="256559" cy="25552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8" name="object 18"/>
          <p:cNvSpPr/>
          <p:nvPr/>
        </p:nvSpPr>
        <p:spPr>
          <a:xfrm>
            <a:off x="4264131" y="3454938"/>
            <a:ext cx="255643" cy="25552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9" name="object 19"/>
          <p:cNvSpPr/>
          <p:nvPr/>
        </p:nvSpPr>
        <p:spPr>
          <a:xfrm>
            <a:off x="5280055" y="3454938"/>
            <a:ext cx="256559" cy="25552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0" name="object 20"/>
          <p:cNvSpPr/>
          <p:nvPr/>
        </p:nvSpPr>
        <p:spPr>
          <a:xfrm>
            <a:off x="2839705" y="4339876"/>
            <a:ext cx="256559" cy="25552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1" name="object 21"/>
          <p:cNvSpPr/>
          <p:nvPr/>
        </p:nvSpPr>
        <p:spPr>
          <a:xfrm>
            <a:off x="3382345" y="4339876"/>
            <a:ext cx="255643" cy="25552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2" name="object 22"/>
          <p:cNvSpPr/>
          <p:nvPr/>
        </p:nvSpPr>
        <p:spPr>
          <a:xfrm>
            <a:off x="3992051" y="4339876"/>
            <a:ext cx="255643" cy="25552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3" name="object 23"/>
          <p:cNvSpPr/>
          <p:nvPr/>
        </p:nvSpPr>
        <p:spPr>
          <a:xfrm>
            <a:off x="4531639" y="4339876"/>
            <a:ext cx="255643" cy="25552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4" name="object 24"/>
          <p:cNvSpPr/>
          <p:nvPr/>
        </p:nvSpPr>
        <p:spPr>
          <a:xfrm>
            <a:off x="5084185" y="4339876"/>
            <a:ext cx="256559" cy="25552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5" name="object 25"/>
          <p:cNvSpPr/>
          <p:nvPr/>
        </p:nvSpPr>
        <p:spPr>
          <a:xfrm>
            <a:off x="5686270" y="4339876"/>
            <a:ext cx="256559" cy="25552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6" name="object 26"/>
          <p:cNvSpPr/>
          <p:nvPr/>
        </p:nvSpPr>
        <p:spPr>
          <a:xfrm>
            <a:off x="2839705" y="5125241"/>
            <a:ext cx="256559" cy="25552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7" name="object 27"/>
          <p:cNvSpPr/>
          <p:nvPr/>
        </p:nvSpPr>
        <p:spPr>
          <a:xfrm>
            <a:off x="3992051" y="5125241"/>
            <a:ext cx="255643" cy="25552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8" name="object 28"/>
          <p:cNvSpPr/>
          <p:nvPr/>
        </p:nvSpPr>
        <p:spPr>
          <a:xfrm>
            <a:off x="4531639" y="5125241"/>
            <a:ext cx="255643" cy="25552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9" name="object 29"/>
          <p:cNvSpPr/>
          <p:nvPr/>
        </p:nvSpPr>
        <p:spPr>
          <a:xfrm>
            <a:off x="5084185" y="5125241"/>
            <a:ext cx="256559" cy="25552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0" name="object 30"/>
          <p:cNvSpPr/>
          <p:nvPr/>
        </p:nvSpPr>
        <p:spPr>
          <a:xfrm>
            <a:off x="5686270" y="5125241"/>
            <a:ext cx="256559" cy="25552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1" name="object 31"/>
          <p:cNvSpPr/>
          <p:nvPr/>
        </p:nvSpPr>
        <p:spPr>
          <a:xfrm>
            <a:off x="3387299" y="5233445"/>
            <a:ext cx="325281" cy="244559"/>
          </a:xfrm>
          <a:custGeom>
            <a:avLst/>
            <a:gdLst/>
            <a:ahLst/>
            <a:cxnLst/>
            <a:rect l="l" t="t" r="r" b="b"/>
            <a:pathLst>
              <a:path w="270510" h="220979">
                <a:moveTo>
                  <a:pt x="233679" y="0"/>
                </a:moveTo>
                <a:lnTo>
                  <a:pt x="36830" y="0"/>
                </a:lnTo>
                <a:lnTo>
                  <a:pt x="22492" y="2893"/>
                </a:lnTo>
                <a:lnTo>
                  <a:pt x="10785" y="10785"/>
                </a:lnTo>
                <a:lnTo>
                  <a:pt x="2893" y="22492"/>
                </a:lnTo>
                <a:lnTo>
                  <a:pt x="0" y="36830"/>
                </a:lnTo>
                <a:lnTo>
                  <a:pt x="0" y="184150"/>
                </a:lnTo>
                <a:lnTo>
                  <a:pt x="2893" y="198487"/>
                </a:lnTo>
                <a:lnTo>
                  <a:pt x="10785" y="210194"/>
                </a:lnTo>
                <a:lnTo>
                  <a:pt x="22492" y="218086"/>
                </a:lnTo>
                <a:lnTo>
                  <a:pt x="36830" y="220980"/>
                </a:lnTo>
                <a:lnTo>
                  <a:pt x="233679" y="220980"/>
                </a:lnTo>
                <a:lnTo>
                  <a:pt x="248017" y="218086"/>
                </a:lnTo>
                <a:lnTo>
                  <a:pt x="259724" y="210194"/>
                </a:lnTo>
                <a:lnTo>
                  <a:pt x="267616" y="198487"/>
                </a:lnTo>
                <a:lnTo>
                  <a:pt x="270510" y="184150"/>
                </a:lnTo>
                <a:lnTo>
                  <a:pt x="270510" y="36830"/>
                </a:lnTo>
                <a:lnTo>
                  <a:pt x="267616" y="22492"/>
                </a:lnTo>
                <a:lnTo>
                  <a:pt x="259724" y="10785"/>
                </a:lnTo>
                <a:lnTo>
                  <a:pt x="248017" y="2893"/>
                </a:lnTo>
                <a:lnTo>
                  <a:pt x="233679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2" name="object 32"/>
          <p:cNvSpPr/>
          <p:nvPr/>
        </p:nvSpPr>
        <p:spPr>
          <a:xfrm>
            <a:off x="3387299" y="5233445"/>
            <a:ext cx="325281" cy="244559"/>
          </a:xfrm>
          <a:custGeom>
            <a:avLst/>
            <a:gdLst/>
            <a:ahLst/>
            <a:cxnLst/>
            <a:rect l="l" t="t" r="r" b="b"/>
            <a:pathLst>
              <a:path w="270510" h="220979">
                <a:moveTo>
                  <a:pt x="0" y="36830"/>
                </a:moveTo>
                <a:lnTo>
                  <a:pt x="2893" y="22492"/>
                </a:lnTo>
                <a:lnTo>
                  <a:pt x="10785" y="10785"/>
                </a:lnTo>
                <a:lnTo>
                  <a:pt x="22492" y="2893"/>
                </a:lnTo>
                <a:lnTo>
                  <a:pt x="36830" y="0"/>
                </a:lnTo>
                <a:lnTo>
                  <a:pt x="233679" y="0"/>
                </a:lnTo>
                <a:lnTo>
                  <a:pt x="248017" y="2893"/>
                </a:lnTo>
                <a:lnTo>
                  <a:pt x="259724" y="10785"/>
                </a:lnTo>
                <a:lnTo>
                  <a:pt x="267616" y="22492"/>
                </a:lnTo>
                <a:lnTo>
                  <a:pt x="270510" y="36830"/>
                </a:lnTo>
                <a:lnTo>
                  <a:pt x="270510" y="184150"/>
                </a:lnTo>
                <a:lnTo>
                  <a:pt x="267616" y="198487"/>
                </a:lnTo>
                <a:lnTo>
                  <a:pt x="259724" y="210194"/>
                </a:lnTo>
                <a:lnTo>
                  <a:pt x="248017" y="218086"/>
                </a:lnTo>
                <a:lnTo>
                  <a:pt x="233679" y="220980"/>
                </a:lnTo>
                <a:lnTo>
                  <a:pt x="36830" y="220980"/>
                </a:lnTo>
                <a:lnTo>
                  <a:pt x="22492" y="218086"/>
                </a:lnTo>
                <a:lnTo>
                  <a:pt x="10785" y="210194"/>
                </a:lnTo>
                <a:lnTo>
                  <a:pt x="2893" y="198487"/>
                </a:lnTo>
                <a:lnTo>
                  <a:pt x="0" y="184150"/>
                </a:lnTo>
                <a:lnTo>
                  <a:pt x="0" y="36830"/>
                </a:lnTo>
                <a:close/>
              </a:path>
            </a:pathLst>
          </a:custGeom>
          <a:ln w="99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3" name="object 33"/>
          <p:cNvSpPr/>
          <p:nvPr/>
        </p:nvSpPr>
        <p:spPr>
          <a:xfrm>
            <a:off x="3453985" y="2968274"/>
            <a:ext cx="979661" cy="490525"/>
          </a:xfrm>
          <a:custGeom>
            <a:avLst/>
            <a:gdLst/>
            <a:ahLst/>
            <a:cxnLst/>
            <a:rect l="l" t="t" r="r" b="b"/>
            <a:pathLst>
              <a:path w="814705" h="443230">
                <a:moveTo>
                  <a:pt x="814577" y="0"/>
                </a:moveTo>
                <a:lnTo>
                  <a:pt x="0" y="442722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4" name="object 34"/>
          <p:cNvSpPr/>
          <p:nvPr/>
        </p:nvSpPr>
        <p:spPr>
          <a:xfrm>
            <a:off x="4471433" y="2968274"/>
            <a:ext cx="978134" cy="490525"/>
          </a:xfrm>
          <a:custGeom>
            <a:avLst/>
            <a:gdLst/>
            <a:ahLst/>
            <a:cxnLst/>
            <a:rect l="l" t="t" r="r" b="b"/>
            <a:pathLst>
              <a:path w="813435" h="443230">
                <a:moveTo>
                  <a:pt x="0" y="0"/>
                </a:moveTo>
                <a:lnTo>
                  <a:pt x="813054" y="442722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5" name="object 35"/>
          <p:cNvSpPr/>
          <p:nvPr/>
        </p:nvSpPr>
        <p:spPr>
          <a:xfrm>
            <a:off x="3047768" y="3755673"/>
            <a:ext cx="327572" cy="490525"/>
          </a:xfrm>
          <a:custGeom>
            <a:avLst/>
            <a:gdLst/>
            <a:ahLst/>
            <a:cxnLst/>
            <a:rect l="l" t="t" r="r" b="b"/>
            <a:pathLst>
              <a:path w="272414" h="443229">
                <a:moveTo>
                  <a:pt x="272034" y="0"/>
                </a:moveTo>
                <a:lnTo>
                  <a:pt x="0" y="442722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6" name="object 36"/>
          <p:cNvSpPr/>
          <p:nvPr/>
        </p:nvSpPr>
        <p:spPr>
          <a:xfrm>
            <a:off x="3386917" y="3755673"/>
            <a:ext cx="80939" cy="490525"/>
          </a:xfrm>
          <a:custGeom>
            <a:avLst/>
            <a:gdLst/>
            <a:ahLst/>
            <a:cxnLst/>
            <a:rect l="l" t="t" r="r" b="b"/>
            <a:pathLst>
              <a:path w="67310" h="443229">
                <a:moveTo>
                  <a:pt x="0" y="0"/>
                </a:moveTo>
                <a:lnTo>
                  <a:pt x="67056" y="442722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7" name="object 37"/>
          <p:cNvSpPr txBox="1"/>
          <p:nvPr/>
        </p:nvSpPr>
        <p:spPr>
          <a:xfrm>
            <a:off x="664797" y="1330283"/>
            <a:ext cx="4685335" cy="163799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800" b="1" spc="-7" dirty="0">
                <a:solidFill>
                  <a:srgbClr val="C00000"/>
                </a:solidFill>
                <a:latin typeface="宋体"/>
                <a:cs typeface="宋体"/>
              </a:rPr>
              <a:t>排列树</a:t>
            </a:r>
            <a:r>
              <a:rPr sz="2800" b="1" dirty="0">
                <a:latin typeface="Times New Roman"/>
                <a:cs typeface="Times New Roman"/>
              </a:rPr>
              <a:t>,</a:t>
            </a:r>
            <a:r>
              <a:rPr sz="2800" b="1" spc="-73" dirty="0">
                <a:latin typeface="Times New Roman"/>
                <a:cs typeface="Times New Roman"/>
              </a:rPr>
              <a:t> </a:t>
            </a:r>
            <a:r>
              <a:rPr sz="2800" b="1" spc="-7" dirty="0">
                <a:latin typeface="宋体"/>
                <a:cs typeface="宋体"/>
              </a:rPr>
              <a:t>有</a:t>
            </a:r>
            <a:r>
              <a:rPr sz="2800" b="1" spc="-7" dirty="0">
                <a:latin typeface="Times New Roman"/>
                <a:cs typeface="Times New Roman"/>
              </a:rPr>
              <a:t>(</a:t>
            </a:r>
            <a:r>
              <a:rPr sz="2800" b="1" i="1" spc="-7" dirty="0">
                <a:latin typeface="Times New Roman"/>
                <a:cs typeface="Times New Roman"/>
              </a:rPr>
              <a:t>n</a:t>
            </a:r>
            <a:r>
              <a:rPr sz="2800" b="1" spc="-7" dirty="0">
                <a:latin typeface="Times New Roman"/>
                <a:cs typeface="Times New Roman"/>
              </a:rPr>
              <a:t>-1)!</a:t>
            </a:r>
            <a:r>
              <a:rPr sz="2800" b="1" dirty="0">
                <a:latin typeface="宋体"/>
                <a:cs typeface="宋体"/>
              </a:rPr>
              <a:t>片树叶</a:t>
            </a:r>
            <a:endParaRPr sz="2800" dirty="0">
              <a:latin typeface="宋体"/>
              <a:cs typeface="宋体"/>
            </a:endParaRPr>
          </a:p>
          <a:p>
            <a:pPr>
              <a:spcBef>
                <a:spcPts val="33"/>
              </a:spcBef>
            </a:pPr>
            <a:endParaRPr sz="4933" dirty="0">
              <a:latin typeface="Times New Roman"/>
              <a:cs typeface="Times New Roman"/>
            </a:endParaRPr>
          </a:p>
          <a:p>
            <a:pPr marR="419936" algn="r"/>
            <a:r>
              <a:rPr sz="2400" b="1" spc="-13" dirty="0">
                <a:latin typeface="Arial"/>
                <a:cs typeface="Arial"/>
              </a:rPr>
              <a:t>&lt;</a:t>
            </a:r>
            <a:r>
              <a:rPr sz="2400" b="1" spc="-7" dirty="0">
                <a:latin typeface="Arial"/>
                <a:cs typeface="Arial"/>
              </a:rPr>
              <a:t>1</a:t>
            </a:r>
            <a:r>
              <a:rPr sz="2400" b="1" dirty="0">
                <a:latin typeface="Arial"/>
                <a:cs typeface="Arial"/>
              </a:rPr>
              <a:t>&gt;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2902291" y="3037813"/>
            <a:ext cx="1240403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b="1" spc="-13" dirty="0">
                <a:latin typeface="Arial"/>
                <a:cs typeface="Arial"/>
              </a:rPr>
              <a:t>&lt;</a:t>
            </a:r>
            <a:r>
              <a:rPr sz="2400" b="1" spc="-7" dirty="0">
                <a:latin typeface="Arial"/>
                <a:cs typeface="Arial"/>
              </a:rPr>
              <a:t>1,</a:t>
            </a:r>
            <a:r>
              <a:rPr sz="2400" b="1" dirty="0">
                <a:latin typeface="Arial"/>
                <a:cs typeface="Arial"/>
              </a:rPr>
              <a:t>2&gt;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5147421" y="3003266"/>
            <a:ext cx="1631657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b="1" spc="-13" dirty="0">
                <a:latin typeface="Arial"/>
                <a:cs typeface="Arial"/>
              </a:rPr>
              <a:t>&lt;</a:t>
            </a:r>
            <a:r>
              <a:rPr sz="2400" b="1" spc="-7" dirty="0">
                <a:latin typeface="Arial"/>
                <a:cs typeface="Arial"/>
              </a:rPr>
              <a:t>1,</a:t>
            </a:r>
            <a:r>
              <a:rPr sz="2400" b="1" dirty="0">
                <a:latin typeface="Arial"/>
                <a:cs typeface="Arial"/>
              </a:rPr>
              <a:t>4&gt;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3058998" y="5563872"/>
            <a:ext cx="2187189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b="1" spc="-7" dirty="0">
                <a:latin typeface="Arial"/>
                <a:cs typeface="Arial"/>
              </a:rPr>
              <a:t>&lt;1,2,4,3&gt;</a:t>
            </a:r>
            <a:endParaRPr sz="24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47806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33914" y="287264"/>
            <a:ext cx="1042850" cy="632651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4000" b="1" spc="-13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小</a:t>
            </a:r>
            <a:r>
              <a:rPr sz="4000" b="1" spc="-2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结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78372" y="1345025"/>
            <a:ext cx="8492358" cy="4541414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457200" marR="16933" indent="-457200" algn="just">
              <a:lnSpc>
                <a:spcPct val="150000"/>
              </a:lnSpc>
              <a:buFont typeface="Wingdings" panose="05000000000000000000" pitchFamily="2" charset="2"/>
              <a:buChar char="l"/>
              <a:tabLst>
                <a:tab pos="463115" algn="l"/>
                <a:tab pos="463962" algn="l"/>
              </a:tabLst>
            </a:pPr>
            <a:r>
              <a:rPr sz="2800" b="1" spc="-7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回朔算法</a:t>
            </a:r>
            <a:r>
              <a:rPr sz="2800" b="1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sz="2800" b="1" spc="7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sz="2800" b="1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子</a:t>
            </a:r>
            <a:r>
              <a:rPr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endParaRPr lang="en-US" sz="2800" b="1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R="16933" algn="just">
              <a:lnSpc>
                <a:spcPct val="150000"/>
              </a:lnSpc>
              <a:tabLst>
                <a:tab pos="463115" algn="l"/>
                <a:tab pos="463962" algn="l"/>
              </a:tabLst>
            </a:pPr>
            <a:r>
              <a:rPr lang="en-US" sz="2800" b="1" spc="-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sz="2800" b="1" spc="-7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</a:t>
            </a:r>
            <a:r>
              <a:rPr sz="2800" b="1" spc="-7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后问题</a:t>
            </a:r>
            <a:r>
              <a:rPr sz="2800" b="1" spc="-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0-1</a:t>
            </a:r>
            <a:r>
              <a:rPr sz="2800" b="1" spc="-13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背</a:t>
            </a:r>
            <a:r>
              <a:rPr sz="2800" b="1" spc="-7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包问题</a:t>
            </a:r>
            <a:r>
              <a:rPr sz="2800" b="1" spc="-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货</a:t>
            </a:r>
            <a:r>
              <a:rPr sz="2800" b="1" spc="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郎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问</a:t>
            </a:r>
            <a:r>
              <a:rPr sz="2800" b="1" spc="-13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题</a:t>
            </a:r>
            <a:endParaRPr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l"/>
              <a:tabLst>
                <a:tab pos="463115" algn="l"/>
                <a:tab pos="463962" algn="l"/>
              </a:tabLst>
            </a:pPr>
            <a:r>
              <a:rPr sz="2800" b="1" spc="-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解：向</a:t>
            </a:r>
            <a:r>
              <a:rPr sz="2800" b="1" spc="-13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量</a:t>
            </a:r>
            <a:endParaRPr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457200" marR="6773" indent="-457200" algn="just">
              <a:lnSpc>
                <a:spcPct val="150000"/>
              </a:lnSpc>
              <a:buFont typeface="Wingdings" panose="05000000000000000000" pitchFamily="2" charset="2"/>
              <a:buChar char="l"/>
              <a:tabLst>
                <a:tab pos="463115" algn="l"/>
                <a:tab pos="463962" algn="l"/>
              </a:tabLst>
            </a:pPr>
            <a:r>
              <a:rPr sz="2800" b="1" spc="-7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搜索空间</a:t>
            </a:r>
            <a:r>
              <a:rPr sz="2800" b="1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sz="2800" b="1" spc="7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树</a:t>
            </a:r>
            <a:r>
              <a:rPr sz="2800" b="1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sz="2800" b="1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可能是</a:t>
            </a:r>
            <a:r>
              <a:rPr 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spc="-7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en-US" sz="2800" b="1" spc="-7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叉树</a:t>
            </a:r>
            <a:r>
              <a:rPr sz="2800" b="1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sz="2800" b="1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子</a:t>
            </a:r>
            <a:r>
              <a:rPr sz="2800" b="1" spc="-7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集树</a:t>
            </a:r>
            <a:r>
              <a:rPr sz="2800" b="1" spc="-7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、排</a:t>
            </a:r>
            <a:r>
              <a:rPr sz="2800" b="1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列</a:t>
            </a:r>
            <a:r>
              <a:rPr sz="2800" b="1" spc="7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树</a:t>
            </a:r>
            <a:r>
              <a:rPr sz="2800" b="1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等等，</a:t>
            </a:r>
            <a:r>
              <a:rPr sz="2800" b="1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树的结点对应</a:t>
            </a:r>
            <a:r>
              <a:rPr sz="2800" b="1" spc="-7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于部分向</a:t>
            </a:r>
            <a:r>
              <a:rPr sz="2800" b="1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量</a:t>
            </a:r>
            <a:r>
              <a:rPr sz="2800" b="1" spc="7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sz="2800" b="1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可行解在叶结点</a:t>
            </a:r>
            <a:endParaRPr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l"/>
              <a:tabLst>
                <a:tab pos="353051" algn="l"/>
                <a:tab pos="353898" algn="l"/>
              </a:tabLst>
            </a:pPr>
            <a:r>
              <a:rPr sz="2800" b="1" spc="-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搜索方法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sz="2800" b="1" spc="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深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度优</a:t>
            </a:r>
            <a:r>
              <a:rPr sz="2800" b="1" spc="-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先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sz="2800" b="1" spc="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spc="-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宽度优先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sz="2800" b="1" spc="-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...</a:t>
            </a:r>
            <a:r>
              <a:rPr 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sz="2800" b="1" spc="-7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跳越式遍</a:t>
            </a:r>
            <a:r>
              <a:rPr sz="2800" b="1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历</a:t>
            </a:r>
            <a:r>
              <a:rPr sz="2800" b="1" spc="7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搜</a:t>
            </a:r>
            <a:r>
              <a:rPr sz="2800" b="1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索树</a:t>
            </a:r>
            <a:r>
              <a:rPr sz="2800" b="1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sz="2800" b="1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找到解</a:t>
            </a:r>
            <a:endParaRPr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1382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02659" y="2035921"/>
            <a:ext cx="7315199" cy="2233090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 marR="6773" algn="ctr">
              <a:lnSpc>
                <a:spcPct val="100000"/>
              </a:lnSpc>
              <a:spcBef>
                <a:spcPts val="133"/>
              </a:spcBef>
            </a:pPr>
            <a:r>
              <a:rPr sz="7200" spc="-20" dirty="0" err="1" smtClean="0"/>
              <a:t>回溯</a:t>
            </a:r>
            <a:r>
              <a:rPr sz="7200" spc="7" dirty="0" err="1" smtClean="0"/>
              <a:t>算</a:t>
            </a:r>
            <a:r>
              <a:rPr sz="7200" dirty="0" err="1" smtClean="0"/>
              <a:t>法的设计</a:t>
            </a:r>
            <a:r>
              <a:rPr sz="7200" spc="-20" dirty="0" err="1" smtClean="0"/>
              <a:t>思想</a:t>
            </a:r>
            <a:r>
              <a:rPr sz="7200" spc="7" dirty="0" err="1" smtClean="0"/>
              <a:t>和</a:t>
            </a:r>
            <a:r>
              <a:rPr sz="7200" spc="-7" dirty="0" err="1" smtClean="0"/>
              <a:t>适用条件</a:t>
            </a:r>
            <a:endParaRPr sz="7200" dirty="0"/>
          </a:p>
        </p:txBody>
      </p:sp>
    </p:spTree>
    <p:extLst>
      <p:ext uri="{BB962C8B-B14F-4D97-AF65-F5344CB8AC3E}">
        <p14:creationId xmlns:p14="http://schemas.microsoft.com/office/powerpoint/2010/main" val="1420077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88926" y="139423"/>
            <a:ext cx="2061568" cy="632651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4000" b="1" spc="-13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问题分</a:t>
            </a:r>
            <a:r>
              <a:rPr sz="4000" b="1" spc="-2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析</a:t>
            </a: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3439853"/>
              </p:ext>
            </p:extLst>
          </p:nvPr>
        </p:nvGraphicFramePr>
        <p:xfrm>
          <a:off x="183523" y="5034578"/>
          <a:ext cx="8832973" cy="77893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70726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04857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31289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538344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441524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464628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720763">
                <a:tc>
                  <a:txBody>
                    <a:bodyPr/>
                    <a:lstStyle/>
                    <a:p>
                      <a:pPr marL="90805" marR="234950" algn="ctr">
                        <a:lnSpc>
                          <a:spcPts val="2030"/>
                        </a:lnSpc>
                        <a:spcBef>
                          <a:spcPts val="590"/>
                        </a:spcBef>
                      </a:pPr>
                      <a:r>
                        <a:rPr sz="2400" b="1" dirty="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特 点</a:t>
                      </a:r>
                      <a:endParaRPr sz="2400" dirty="0">
                        <a:latin typeface="宋体"/>
                        <a:cs typeface="宋体"/>
                      </a:endParaRPr>
                    </a:p>
                  </a:txBody>
                  <a:tcPr marL="0" marR="0" marT="99907" marB="0"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90805" marR="121285" algn="ctr">
                        <a:lnSpc>
                          <a:spcPts val="2030"/>
                        </a:lnSpc>
                        <a:spcBef>
                          <a:spcPts val="590"/>
                        </a:spcBef>
                      </a:pPr>
                      <a:r>
                        <a:rPr sz="2400" b="1" spc="5" dirty="0" err="1" smtClean="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搜索</a:t>
                      </a:r>
                      <a:r>
                        <a:rPr sz="2400" b="1" spc="-10" dirty="0" err="1" smtClean="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解</a:t>
                      </a:r>
                      <a:endParaRPr sz="2400" dirty="0">
                        <a:latin typeface="宋体"/>
                        <a:cs typeface="宋体"/>
                      </a:endParaRPr>
                    </a:p>
                  </a:txBody>
                  <a:tcPr marL="0" marR="0" marT="99907" marB="0"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90805" marR="215900" algn="ctr">
                        <a:lnSpc>
                          <a:spcPts val="2060"/>
                        </a:lnSpc>
                        <a:spcBef>
                          <a:spcPts val="565"/>
                        </a:spcBef>
                      </a:pPr>
                      <a:r>
                        <a:rPr sz="2400" b="1" spc="5" dirty="0" err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向量，</a:t>
                      </a:r>
                      <a:r>
                        <a:rPr sz="2400" b="1" spc="5" dirty="0" err="1" smtClean="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不</a:t>
                      </a:r>
                      <a:r>
                        <a:rPr sz="2400" b="1" spc="10" dirty="0" err="1" smtClean="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断</a:t>
                      </a:r>
                      <a:r>
                        <a:rPr sz="2400" b="1" dirty="0" err="1" smtClean="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扩</a:t>
                      </a:r>
                      <a:r>
                        <a:rPr sz="2400" b="1" spc="-5" dirty="0" err="1" smtClean="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张部分向量</a:t>
                      </a:r>
                      <a:endParaRPr sz="2400" dirty="0">
                        <a:latin typeface="宋体"/>
                        <a:cs typeface="宋体"/>
                      </a:endParaRPr>
                    </a:p>
                  </a:txBody>
                  <a:tcPr marL="0" marR="0" marT="95673" marB="0"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9080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树</a:t>
                      </a:r>
                      <a:endParaRPr sz="2400" dirty="0">
                        <a:latin typeface="宋体"/>
                        <a:cs typeface="宋体"/>
                      </a:endParaRPr>
                    </a:p>
                  </a:txBody>
                  <a:tcPr marL="0" marR="0" marT="47413" marB="0"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90805" marR="295275" algn="ctr">
                        <a:lnSpc>
                          <a:spcPts val="2030"/>
                        </a:lnSpc>
                        <a:spcBef>
                          <a:spcPts val="590"/>
                        </a:spcBef>
                      </a:pPr>
                      <a:r>
                        <a:rPr sz="2400" b="1" spc="5" dirty="0" err="1" smtClean="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跳跃式</a:t>
                      </a:r>
                      <a:r>
                        <a:rPr sz="2400" b="1" spc="-5" dirty="0" err="1" smtClean="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遍历</a:t>
                      </a:r>
                      <a:endParaRPr sz="2400" dirty="0">
                        <a:latin typeface="宋体"/>
                        <a:cs typeface="宋体"/>
                      </a:endParaRPr>
                    </a:p>
                  </a:txBody>
                  <a:tcPr marL="0" marR="0" marT="99907" marB="0"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8732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spc="5" dirty="0" err="1" smtClean="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约束条件回溯判定</a:t>
                      </a:r>
                      <a:endParaRPr sz="2400" dirty="0">
                        <a:latin typeface="宋体"/>
                        <a:cs typeface="宋体"/>
                      </a:endParaRPr>
                    </a:p>
                  </a:txBody>
                  <a:tcPr marL="0" marR="0" marT="47413" marB="0"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1495006"/>
              </p:ext>
            </p:extLst>
          </p:nvPr>
        </p:nvGraphicFramePr>
        <p:xfrm>
          <a:off x="162955" y="1102206"/>
          <a:ext cx="8853542" cy="36904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6422">
                  <a:extLst>
                    <a:ext uri="{9D8B030D-6E8A-4147-A177-3AD203B41FA5}">
                      <a16:colId xmlns:a16="http://schemas.microsoft.com/office/drawing/2014/main" xmlns="" val="1347132740"/>
                    </a:ext>
                  </a:extLst>
                </a:gridCol>
                <a:gridCol w="1215614">
                  <a:extLst>
                    <a:ext uri="{9D8B030D-6E8A-4147-A177-3AD203B41FA5}">
                      <a16:colId xmlns:a16="http://schemas.microsoft.com/office/drawing/2014/main" xmlns="" val="2817335431"/>
                    </a:ext>
                  </a:extLst>
                </a:gridCol>
                <a:gridCol w="2302136">
                  <a:extLst>
                    <a:ext uri="{9D8B030D-6E8A-4147-A177-3AD203B41FA5}">
                      <a16:colId xmlns:a16="http://schemas.microsoft.com/office/drawing/2014/main" xmlns="" val="597282135"/>
                    </a:ext>
                  </a:extLst>
                </a:gridCol>
                <a:gridCol w="1538344">
                  <a:extLst>
                    <a:ext uri="{9D8B030D-6E8A-4147-A177-3AD203B41FA5}">
                      <a16:colId xmlns:a16="http://schemas.microsoft.com/office/drawing/2014/main" xmlns="" val="955079454"/>
                    </a:ext>
                  </a:extLst>
                </a:gridCol>
                <a:gridCol w="1452282">
                  <a:extLst>
                    <a:ext uri="{9D8B030D-6E8A-4147-A177-3AD203B41FA5}">
                      <a16:colId xmlns:a16="http://schemas.microsoft.com/office/drawing/2014/main" xmlns="" val="641188855"/>
                    </a:ext>
                  </a:extLst>
                </a:gridCol>
                <a:gridCol w="1468744">
                  <a:extLst>
                    <a:ext uri="{9D8B030D-6E8A-4147-A177-3AD203B41FA5}">
                      <a16:colId xmlns:a16="http://schemas.microsoft.com/office/drawing/2014/main" xmlns="" val="1206645238"/>
                    </a:ext>
                  </a:extLst>
                </a:gridCol>
              </a:tblGrid>
              <a:tr h="68675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 smtClean="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问 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 smtClean="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解性质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 smtClean="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解描述向量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 smtClean="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搜索空间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 smtClean="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搜索方式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 smtClean="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约束条件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457216224"/>
                  </a:ext>
                </a:extLst>
              </a:tr>
              <a:tr h="73270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 smtClean="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lang="zh-CN" altLang="en-US" sz="2400" dirty="0" smtClean="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后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 smtClean="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可行解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 smtClean="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&lt;x</a:t>
                      </a:r>
                      <a:r>
                        <a:rPr lang="en-US" altLang="zh-CN" sz="2400" baseline="-25000" dirty="0" smtClean="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US" altLang="zh-CN" sz="2400" dirty="0" smtClean="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, x</a:t>
                      </a:r>
                      <a:r>
                        <a:rPr lang="en-US" altLang="zh-CN" sz="2400" baseline="-25000" dirty="0" smtClean="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altLang="zh-CN" sz="2400" dirty="0" smtClean="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,…,</a:t>
                      </a:r>
                      <a:r>
                        <a:rPr lang="en-US" altLang="zh-CN" sz="2400" dirty="0" err="1" smtClean="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altLang="zh-CN" sz="2400" baseline="-25000" dirty="0" err="1" smtClean="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lang="en-US" altLang="zh-CN" sz="2400" dirty="0" smtClean="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&gt; </a:t>
                      </a:r>
                    </a:p>
                    <a:p>
                      <a:pPr algn="ctr"/>
                      <a:r>
                        <a:rPr lang="en-US" altLang="zh-CN" sz="2400" dirty="0" smtClean="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 x</a:t>
                      </a:r>
                      <a:r>
                        <a:rPr lang="en-US" altLang="zh-CN" sz="2400" baseline="-25000" dirty="0" smtClean="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zh-CN" altLang="en-US" sz="2400" dirty="0" smtClean="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：第 </a:t>
                      </a:r>
                      <a:r>
                        <a:rPr lang="en-US" altLang="zh-CN" sz="2400" dirty="0" err="1" smtClean="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altLang="zh-CN" sz="2400" dirty="0" smtClean="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zh-CN" altLang="en-US" sz="2400" dirty="0" smtClean="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行列号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 smtClean="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lang="zh-CN" altLang="en-US" sz="2400" dirty="0" smtClean="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叉树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 smtClean="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深度</a:t>
                      </a:r>
                      <a:r>
                        <a:rPr lang="en-US" altLang="zh-CN" sz="2400" dirty="0" smtClean="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zh-CN" altLang="en-US" sz="2400" dirty="0" smtClean="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宽度优先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 smtClean="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彼此不攻击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2913401034"/>
                  </a:ext>
                </a:extLst>
              </a:tr>
              <a:tr h="105835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 smtClean="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0-1</a:t>
                      </a:r>
                      <a:r>
                        <a:rPr lang="zh-CN" altLang="en-US" sz="2400" dirty="0" smtClean="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背包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 smtClean="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最优解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 smtClean="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&lt;x</a:t>
                      </a:r>
                      <a:r>
                        <a:rPr lang="en-US" altLang="zh-CN" sz="2400" baseline="-25000" dirty="0" smtClean="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US" altLang="zh-CN" sz="2400" dirty="0" smtClean="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, x</a:t>
                      </a:r>
                      <a:r>
                        <a:rPr lang="en-US" altLang="zh-CN" sz="2400" baseline="-25000" dirty="0" smtClean="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altLang="zh-CN" sz="2400" dirty="0" smtClean="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,…,</a:t>
                      </a:r>
                      <a:r>
                        <a:rPr lang="en-US" altLang="zh-CN" sz="2400" dirty="0" err="1" smtClean="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altLang="zh-CN" sz="2400" baseline="-25000" dirty="0" err="1" smtClean="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lang="en-US" altLang="zh-CN" sz="2400" dirty="0" smtClean="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&gt; </a:t>
                      </a:r>
                    </a:p>
                    <a:p>
                      <a:pPr algn="ctr"/>
                      <a:r>
                        <a:rPr lang="en-US" altLang="zh-CN" sz="2400" dirty="0" smtClean="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 xi = 0,1,</a:t>
                      </a:r>
                    </a:p>
                    <a:p>
                      <a:pPr algn="ctr"/>
                      <a:r>
                        <a:rPr lang="en-US" altLang="zh-CN" sz="2400" dirty="0" smtClean="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xi =1 </a:t>
                      </a:r>
                      <a:r>
                        <a:rPr lang="zh-CN" altLang="en-US" sz="2400" dirty="0" smtClean="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选 </a:t>
                      </a:r>
                      <a:r>
                        <a:rPr lang="en-US" altLang="zh-CN" sz="2400" dirty="0" err="1" smtClean="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i</a:t>
                      </a:r>
                      <a:endParaRPr lang="en-US" altLang="zh-CN" sz="2400" dirty="0" smtClean="0"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 smtClean="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子集树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 smtClean="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深度</a:t>
                      </a:r>
                      <a:r>
                        <a:rPr lang="en-US" altLang="zh-CN" sz="2400" dirty="0" smtClean="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zh-CN" altLang="en-US" sz="2400" dirty="0" smtClean="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宽度优先</a:t>
                      </a:r>
                      <a:endParaRPr lang="zh-CN" altLang="en-US" sz="2400" dirty="0"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 smtClean="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不超背包重量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501568389"/>
                  </a:ext>
                </a:extLst>
              </a:tr>
              <a:tr h="99197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 smtClean="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货郎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 smtClean="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最优解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altLang="zh-CN" sz="2400" dirty="0" smtClean="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&lt; i</a:t>
                      </a:r>
                      <a:r>
                        <a:rPr lang="it-IT" altLang="zh-CN" sz="2400" baseline="-25000" dirty="0" smtClean="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it-IT" altLang="zh-CN" sz="2400" dirty="0" smtClean="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=1, i</a:t>
                      </a:r>
                      <a:r>
                        <a:rPr lang="it-IT" altLang="zh-CN" sz="2400" baseline="-25000" dirty="0" smtClean="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it-IT" altLang="zh-CN" sz="2400" dirty="0" smtClean="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,…,i</a:t>
                      </a:r>
                      <a:r>
                        <a:rPr lang="it-IT" altLang="zh-CN" sz="2400" baseline="-25000" dirty="0" smtClean="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lang="it-IT" altLang="zh-CN" sz="2400" dirty="0" smtClean="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&gt;  1,2,…,n</a:t>
                      </a:r>
                      <a:r>
                        <a:rPr lang="zh-CN" altLang="it-IT" sz="2400" dirty="0" smtClean="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的排列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 smtClean="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排列树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 smtClean="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深度</a:t>
                      </a:r>
                      <a:r>
                        <a:rPr lang="en-US" altLang="zh-CN" sz="2400" dirty="0" smtClean="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zh-CN" altLang="en-US" sz="2400" dirty="0" smtClean="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宽度优先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 smtClean="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选没有经 过的城市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4765800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0021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65151" y="266604"/>
            <a:ext cx="4608360" cy="632651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 algn="ctr">
              <a:lnSpc>
                <a:spcPct val="100000"/>
              </a:lnSpc>
              <a:spcBef>
                <a:spcPts val="133"/>
              </a:spcBef>
            </a:pPr>
            <a:r>
              <a:rPr sz="4000" b="1" spc="-13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深度与宽度优</a:t>
            </a:r>
            <a:r>
              <a:rPr sz="4000" b="1" spc="-7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先搜</a:t>
            </a:r>
            <a:r>
              <a:rPr sz="4000" b="1" spc="-2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索</a:t>
            </a:r>
          </a:p>
        </p:txBody>
      </p:sp>
      <p:sp>
        <p:nvSpPr>
          <p:cNvPr id="3" name="object 3"/>
          <p:cNvSpPr/>
          <p:nvPr/>
        </p:nvSpPr>
        <p:spPr>
          <a:xfrm>
            <a:off x="2427396" y="2265732"/>
            <a:ext cx="75632" cy="474252"/>
          </a:xfrm>
          <a:custGeom>
            <a:avLst/>
            <a:gdLst/>
            <a:ahLst/>
            <a:cxnLst/>
            <a:rect l="l" t="t" r="r" b="b"/>
            <a:pathLst>
              <a:path w="12700" h="393700">
                <a:moveTo>
                  <a:pt x="0" y="0"/>
                </a:moveTo>
                <a:lnTo>
                  <a:pt x="12700" y="393700"/>
                </a:lnTo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" name="object 4"/>
          <p:cNvSpPr/>
          <p:nvPr/>
        </p:nvSpPr>
        <p:spPr>
          <a:xfrm>
            <a:off x="2332384" y="1961440"/>
            <a:ext cx="248827" cy="22838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" name="object 5"/>
          <p:cNvSpPr/>
          <p:nvPr/>
        </p:nvSpPr>
        <p:spPr>
          <a:xfrm>
            <a:off x="1658635" y="2791511"/>
            <a:ext cx="249614" cy="22838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" name="object 6"/>
          <p:cNvSpPr/>
          <p:nvPr/>
        </p:nvSpPr>
        <p:spPr>
          <a:xfrm>
            <a:off x="2344553" y="2774239"/>
            <a:ext cx="249615" cy="22838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" name="object 7"/>
          <p:cNvSpPr/>
          <p:nvPr/>
        </p:nvSpPr>
        <p:spPr>
          <a:xfrm>
            <a:off x="3030472" y="2774239"/>
            <a:ext cx="249615" cy="22838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" name="object 8"/>
          <p:cNvSpPr/>
          <p:nvPr/>
        </p:nvSpPr>
        <p:spPr>
          <a:xfrm>
            <a:off x="2027531" y="3604311"/>
            <a:ext cx="248827" cy="22838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" name="object 9"/>
          <p:cNvSpPr/>
          <p:nvPr/>
        </p:nvSpPr>
        <p:spPr>
          <a:xfrm>
            <a:off x="2561024" y="3587039"/>
            <a:ext cx="248827" cy="22838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0" name="object 10"/>
          <p:cNvSpPr/>
          <p:nvPr/>
        </p:nvSpPr>
        <p:spPr>
          <a:xfrm>
            <a:off x="3094516" y="3587039"/>
            <a:ext cx="248827" cy="22838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1" name="object 11"/>
          <p:cNvSpPr/>
          <p:nvPr/>
        </p:nvSpPr>
        <p:spPr>
          <a:xfrm>
            <a:off x="2344553" y="4501442"/>
            <a:ext cx="249615" cy="22838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2" name="object 12"/>
          <p:cNvSpPr/>
          <p:nvPr/>
        </p:nvSpPr>
        <p:spPr>
          <a:xfrm>
            <a:off x="1722680" y="4518712"/>
            <a:ext cx="248826" cy="22838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3" name="object 13"/>
          <p:cNvSpPr/>
          <p:nvPr/>
        </p:nvSpPr>
        <p:spPr>
          <a:xfrm>
            <a:off x="1776517" y="2202739"/>
            <a:ext cx="620640" cy="568261"/>
          </a:xfrm>
          <a:custGeom>
            <a:avLst/>
            <a:gdLst/>
            <a:ahLst/>
            <a:cxnLst/>
            <a:rect l="l" t="t" r="r" b="b"/>
            <a:pathLst>
              <a:path w="533400" h="485775">
                <a:moveTo>
                  <a:pt x="533400" y="0"/>
                </a:moveTo>
                <a:lnTo>
                  <a:pt x="0" y="485775"/>
                </a:lnTo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4" name="object 14"/>
          <p:cNvSpPr/>
          <p:nvPr/>
        </p:nvSpPr>
        <p:spPr>
          <a:xfrm>
            <a:off x="2518498" y="2224076"/>
            <a:ext cx="571400" cy="567435"/>
          </a:xfrm>
          <a:custGeom>
            <a:avLst/>
            <a:gdLst/>
            <a:ahLst/>
            <a:cxnLst/>
            <a:rect l="l" t="t" r="r" b="b"/>
            <a:pathLst>
              <a:path w="546100" h="457200">
                <a:moveTo>
                  <a:pt x="0" y="0"/>
                </a:moveTo>
                <a:lnTo>
                  <a:pt x="546100" y="457200"/>
                </a:lnTo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5" name="object 15"/>
          <p:cNvSpPr/>
          <p:nvPr/>
        </p:nvSpPr>
        <p:spPr>
          <a:xfrm>
            <a:off x="2131881" y="3036876"/>
            <a:ext cx="265022" cy="515908"/>
          </a:xfrm>
          <a:custGeom>
            <a:avLst/>
            <a:gdLst/>
            <a:ahLst/>
            <a:cxnLst/>
            <a:rect l="l" t="t" r="r" b="b"/>
            <a:pathLst>
              <a:path w="241300" h="438150">
                <a:moveTo>
                  <a:pt x="241300" y="0"/>
                </a:moveTo>
                <a:lnTo>
                  <a:pt x="0" y="438150"/>
                </a:lnTo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6" name="object 16"/>
          <p:cNvSpPr/>
          <p:nvPr/>
        </p:nvSpPr>
        <p:spPr>
          <a:xfrm>
            <a:off x="2562832" y="2994204"/>
            <a:ext cx="620259" cy="554277"/>
          </a:xfrm>
          <a:custGeom>
            <a:avLst/>
            <a:gdLst/>
            <a:ahLst/>
            <a:cxnLst/>
            <a:rect l="l" t="t" r="r" b="b"/>
            <a:pathLst>
              <a:path w="565150" h="488950">
                <a:moveTo>
                  <a:pt x="0" y="0"/>
                </a:moveTo>
                <a:lnTo>
                  <a:pt x="565150" y="488950"/>
                </a:lnTo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7" name="object 17"/>
          <p:cNvSpPr/>
          <p:nvPr/>
        </p:nvSpPr>
        <p:spPr>
          <a:xfrm>
            <a:off x="2469791" y="3014911"/>
            <a:ext cx="183228" cy="533571"/>
          </a:xfrm>
          <a:custGeom>
            <a:avLst/>
            <a:gdLst/>
            <a:ahLst/>
            <a:cxnLst/>
            <a:rect l="l" t="t" r="r" b="b"/>
            <a:pathLst>
              <a:path w="139700" h="425450">
                <a:moveTo>
                  <a:pt x="0" y="0"/>
                </a:moveTo>
                <a:lnTo>
                  <a:pt x="139700" y="425450"/>
                </a:lnTo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8" name="object 18"/>
          <p:cNvSpPr/>
          <p:nvPr/>
        </p:nvSpPr>
        <p:spPr>
          <a:xfrm>
            <a:off x="1908249" y="3853204"/>
            <a:ext cx="203419" cy="665508"/>
          </a:xfrm>
          <a:custGeom>
            <a:avLst/>
            <a:gdLst/>
            <a:ahLst/>
            <a:cxnLst/>
            <a:rect l="l" t="t" r="r" b="b"/>
            <a:pathLst>
              <a:path w="196850" h="469900">
                <a:moveTo>
                  <a:pt x="196850" y="0"/>
                </a:moveTo>
                <a:lnTo>
                  <a:pt x="0" y="469900"/>
                </a:lnTo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9" name="object 19"/>
          <p:cNvSpPr/>
          <p:nvPr/>
        </p:nvSpPr>
        <p:spPr>
          <a:xfrm>
            <a:off x="2196889" y="3797021"/>
            <a:ext cx="272902" cy="700119"/>
          </a:xfrm>
          <a:custGeom>
            <a:avLst/>
            <a:gdLst/>
            <a:ahLst/>
            <a:cxnLst/>
            <a:rect l="l" t="t" r="r" b="b"/>
            <a:pathLst>
              <a:path w="206375" h="488950">
                <a:moveTo>
                  <a:pt x="0" y="0"/>
                </a:moveTo>
                <a:lnTo>
                  <a:pt x="206375" y="488950"/>
                </a:lnTo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0" name="object 20"/>
          <p:cNvSpPr txBox="1"/>
          <p:nvPr/>
        </p:nvSpPr>
        <p:spPr>
          <a:xfrm>
            <a:off x="1385787" y="2657713"/>
            <a:ext cx="172578" cy="426677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16933">
              <a:spcBef>
                <a:spcPts val="127"/>
              </a:spcBef>
            </a:pPr>
            <a:r>
              <a:rPr sz="2667" spc="-7" dirty="0">
                <a:latin typeface="Arial"/>
                <a:cs typeface="Arial"/>
              </a:rPr>
              <a:t>2</a:t>
            </a:r>
            <a:endParaRPr sz="2667" dirty="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523585" y="1622985"/>
            <a:ext cx="172578" cy="426677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16933">
              <a:spcBef>
                <a:spcPts val="127"/>
              </a:spcBef>
            </a:pPr>
            <a:r>
              <a:rPr sz="2667" spc="-7" dirty="0">
                <a:latin typeface="Arial"/>
                <a:cs typeface="Arial"/>
              </a:rPr>
              <a:t>1</a:t>
            </a:r>
            <a:endParaRPr sz="2667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639742" y="2627755"/>
            <a:ext cx="172578" cy="426677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16933">
              <a:spcBef>
                <a:spcPts val="127"/>
              </a:spcBef>
            </a:pPr>
            <a:r>
              <a:rPr sz="2667" spc="-7" dirty="0">
                <a:latin typeface="Arial"/>
                <a:cs typeface="Arial"/>
              </a:rPr>
              <a:t>3</a:t>
            </a:r>
            <a:endParaRPr sz="2667" dirty="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308050" y="2647444"/>
            <a:ext cx="172578" cy="426677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16933">
              <a:spcBef>
                <a:spcPts val="127"/>
              </a:spcBef>
            </a:pPr>
            <a:r>
              <a:rPr sz="2667" spc="-7" dirty="0">
                <a:latin typeface="Arial"/>
                <a:cs typeface="Arial"/>
              </a:rPr>
              <a:t>4</a:t>
            </a:r>
            <a:endParaRPr sz="2667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741151" y="3510857"/>
            <a:ext cx="172578" cy="426677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16933">
              <a:spcBef>
                <a:spcPts val="127"/>
              </a:spcBef>
            </a:pPr>
            <a:r>
              <a:rPr sz="2667" spc="-7" dirty="0">
                <a:latin typeface="Arial"/>
                <a:cs typeface="Arial"/>
              </a:rPr>
              <a:t>5</a:t>
            </a:r>
            <a:endParaRPr sz="2667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766251" y="3471715"/>
            <a:ext cx="172578" cy="426677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16933">
              <a:spcBef>
                <a:spcPts val="127"/>
              </a:spcBef>
            </a:pPr>
            <a:r>
              <a:rPr sz="2667" spc="-7" dirty="0">
                <a:latin typeface="Arial"/>
                <a:cs typeface="Arial"/>
              </a:rPr>
              <a:t>6</a:t>
            </a:r>
            <a:endParaRPr sz="2667" dirty="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338778" y="3487891"/>
            <a:ext cx="172578" cy="426677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16933">
              <a:spcBef>
                <a:spcPts val="127"/>
              </a:spcBef>
            </a:pPr>
            <a:r>
              <a:rPr sz="2667" spc="-7" dirty="0">
                <a:latin typeface="Arial"/>
                <a:cs typeface="Arial"/>
              </a:rPr>
              <a:t>7</a:t>
            </a:r>
            <a:endParaRPr sz="2667" dirty="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543311" y="4497140"/>
            <a:ext cx="172578" cy="426677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16933">
              <a:spcBef>
                <a:spcPts val="127"/>
              </a:spcBef>
            </a:pPr>
            <a:r>
              <a:rPr sz="2667" spc="-7" dirty="0">
                <a:latin typeface="Arial"/>
                <a:cs typeface="Arial"/>
              </a:rPr>
              <a:t>8</a:t>
            </a:r>
            <a:endParaRPr sz="2667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623900" y="4419563"/>
            <a:ext cx="228640" cy="426677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16933">
              <a:spcBef>
                <a:spcPts val="127"/>
              </a:spcBef>
            </a:pPr>
            <a:r>
              <a:rPr sz="2667" spc="-7" dirty="0">
                <a:latin typeface="Arial"/>
                <a:cs typeface="Arial"/>
              </a:rPr>
              <a:t>9</a:t>
            </a:r>
            <a:endParaRPr sz="2667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501748" y="1689664"/>
            <a:ext cx="3956451" cy="148416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lnSpc>
                <a:spcPts val="3820"/>
              </a:lnSpc>
              <a:spcBef>
                <a:spcPts val="133"/>
              </a:spcBef>
            </a:pPr>
            <a:r>
              <a:rPr sz="3200" b="1" spc="-7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深度优先</a:t>
            </a:r>
            <a:r>
              <a:rPr sz="3200" b="1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访</a:t>
            </a:r>
            <a:r>
              <a:rPr sz="3200" b="1" spc="7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问</a:t>
            </a:r>
            <a:r>
              <a:rPr sz="3200" b="1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顺序</a:t>
            </a:r>
            <a:r>
              <a:rPr sz="3200" b="1" spc="-13" dirty="0">
                <a:latin typeface="宋体"/>
                <a:cs typeface="宋体"/>
              </a:rPr>
              <a:t>：</a:t>
            </a:r>
            <a:endParaRPr sz="3200" dirty="0">
              <a:latin typeface="宋体"/>
              <a:cs typeface="宋体"/>
            </a:endParaRPr>
          </a:p>
          <a:p>
            <a:pPr marL="16933">
              <a:lnSpc>
                <a:spcPts val="3820"/>
              </a:lnSpc>
            </a:pPr>
            <a:r>
              <a:rPr sz="3200" b="1" dirty="0">
                <a:latin typeface="Times New Roman"/>
                <a:cs typeface="Times New Roman"/>
              </a:rPr>
              <a:t>1</a:t>
            </a:r>
            <a:r>
              <a:rPr sz="3200" b="1" dirty="0">
                <a:latin typeface="Symbol"/>
                <a:cs typeface="Symbol"/>
              </a:rPr>
              <a:t></a:t>
            </a:r>
            <a:r>
              <a:rPr sz="3200" b="1" dirty="0">
                <a:latin typeface="Times New Roman"/>
                <a:cs typeface="Times New Roman"/>
              </a:rPr>
              <a:t>2</a:t>
            </a:r>
            <a:r>
              <a:rPr sz="3200" b="1" dirty="0">
                <a:latin typeface="Symbol"/>
                <a:cs typeface="Symbol"/>
              </a:rPr>
              <a:t></a:t>
            </a:r>
            <a:r>
              <a:rPr sz="3200" b="1" dirty="0">
                <a:latin typeface="Times New Roman"/>
                <a:cs typeface="Times New Roman"/>
              </a:rPr>
              <a:t>3</a:t>
            </a:r>
            <a:r>
              <a:rPr sz="3200" b="1" dirty="0">
                <a:latin typeface="Symbol"/>
                <a:cs typeface="Symbol"/>
              </a:rPr>
              <a:t></a:t>
            </a:r>
            <a:r>
              <a:rPr sz="3200" b="1" dirty="0">
                <a:latin typeface="Times New Roman"/>
                <a:cs typeface="Times New Roman"/>
              </a:rPr>
              <a:t>5</a:t>
            </a:r>
            <a:r>
              <a:rPr sz="3200" b="1" dirty="0">
                <a:latin typeface="Symbol"/>
                <a:cs typeface="Symbol"/>
              </a:rPr>
              <a:t></a:t>
            </a:r>
            <a:r>
              <a:rPr sz="3200" b="1" dirty="0">
                <a:latin typeface="Times New Roman"/>
                <a:cs typeface="Times New Roman"/>
              </a:rPr>
              <a:t>8</a:t>
            </a:r>
            <a:r>
              <a:rPr sz="3200" b="1" dirty="0">
                <a:latin typeface="Symbol"/>
                <a:cs typeface="Symbol"/>
              </a:rPr>
              <a:t></a:t>
            </a:r>
            <a:r>
              <a:rPr sz="3200" b="1" dirty="0">
                <a:latin typeface="Times New Roman"/>
                <a:cs typeface="Times New Roman"/>
              </a:rPr>
              <a:t>9</a:t>
            </a:r>
            <a:endParaRPr sz="3200" dirty="0">
              <a:latin typeface="Times New Roman"/>
              <a:cs typeface="Times New Roman"/>
            </a:endParaRPr>
          </a:p>
          <a:p>
            <a:pPr marL="118530"/>
            <a:r>
              <a:rPr sz="3200" b="1" dirty="0">
                <a:latin typeface="Symbol"/>
                <a:cs typeface="Symbol"/>
              </a:rPr>
              <a:t></a:t>
            </a:r>
            <a:r>
              <a:rPr sz="3200" b="1" dirty="0">
                <a:latin typeface="Times New Roman"/>
                <a:cs typeface="Times New Roman"/>
              </a:rPr>
              <a:t>6</a:t>
            </a:r>
            <a:r>
              <a:rPr sz="3200" b="1" dirty="0">
                <a:latin typeface="Symbol"/>
                <a:cs typeface="Symbol"/>
              </a:rPr>
              <a:t></a:t>
            </a:r>
            <a:r>
              <a:rPr sz="3200" b="1" dirty="0">
                <a:latin typeface="Times New Roman"/>
                <a:cs typeface="Times New Roman"/>
              </a:rPr>
              <a:t>7</a:t>
            </a:r>
            <a:r>
              <a:rPr sz="3200" b="1" dirty="0">
                <a:latin typeface="Symbol"/>
                <a:cs typeface="Symbol"/>
              </a:rPr>
              <a:t></a:t>
            </a:r>
            <a:r>
              <a:rPr sz="3200" b="1" dirty="0">
                <a:latin typeface="Times New Roman"/>
                <a:cs typeface="Times New Roman"/>
              </a:rPr>
              <a:t>4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577961" y="4128064"/>
            <a:ext cx="3691979" cy="148416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lnSpc>
                <a:spcPts val="3820"/>
              </a:lnSpc>
              <a:spcBef>
                <a:spcPts val="133"/>
              </a:spcBef>
            </a:pPr>
            <a:r>
              <a:rPr sz="3200" b="1" spc="-7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宽度优先</a:t>
            </a:r>
            <a:r>
              <a:rPr sz="3200" b="1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访</a:t>
            </a:r>
            <a:r>
              <a:rPr sz="3200" b="1" spc="7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问</a:t>
            </a:r>
            <a:r>
              <a:rPr sz="3200" b="1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顺序</a:t>
            </a:r>
            <a:r>
              <a:rPr sz="3200" b="1" spc="-13" dirty="0">
                <a:latin typeface="宋体"/>
                <a:cs typeface="宋体"/>
              </a:rPr>
              <a:t>：</a:t>
            </a:r>
            <a:endParaRPr sz="3200" dirty="0">
              <a:latin typeface="宋体"/>
              <a:cs typeface="宋体"/>
            </a:endParaRPr>
          </a:p>
          <a:p>
            <a:pPr marL="16933">
              <a:lnSpc>
                <a:spcPts val="3820"/>
              </a:lnSpc>
            </a:pPr>
            <a:r>
              <a:rPr sz="3200" b="1" dirty="0">
                <a:latin typeface="Times New Roman"/>
                <a:cs typeface="Times New Roman"/>
              </a:rPr>
              <a:t>1</a:t>
            </a:r>
            <a:r>
              <a:rPr sz="3200" b="1" dirty="0">
                <a:latin typeface="Symbol"/>
                <a:cs typeface="Symbol"/>
              </a:rPr>
              <a:t></a:t>
            </a:r>
            <a:r>
              <a:rPr sz="3200" b="1" dirty="0">
                <a:latin typeface="Times New Roman"/>
                <a:cs typeface="Times New Roman"/>
              </a:rPr>
              <a:t>2</a:t>
            </a:r>
            <a:r>
              <a:rPr sz="3200" b="1" dirty="0">
                <a:latin typeface="Symbol"/>
                <a:cs typeface="Symbol"/>
              </a:rPr>
              <a:t></a:t>
            </a:r>
            <a:r>
              <a:rPr sz="3200" b="1" dirty="0">
                <a:latin typeface="Times New Roman"/>
                <a:cs typeface="Times New Roman"/>
              </a:rPr>
              <a:t>3</a:t>
            </a:r>
            <a:r>
              <a:rPr sz="3200" b="1" dirty="0">
                <a:latin typeface="Symbol"/>
                <a:cs typeface="Symbol"/>
              </a:rPr>
              <a:t></a:t>
            </a:r>
            <a:r>
              <a:rPr sz="3200" b="1" dirty="0">
                <a:latin typeface="Times New Roman"/>
                <a:cs typeface="Times New Roman"/>
              </a:rPr>
              <a:t>4</a:t>
            </a:r>
            <a:r>
              <a:rPr sz="3200" b="1" dirty="0">
                <a:latin typeface="Symbol"/>
                <a:cs typeface="Symbol"/>
              </a:rPr>
              <a:t></a:t>
            </a:r>
            <a:r>
              <a:rPr sz="3200" b="1" dirty="0">
                <a:latin typeface="Times New Roman"/>
                <a:cs typeface="Times New Roman"/>
              </a:rPr>
              <a:t>5</a:t>
            </a:r>
            <a:r>
              <a:rPr sz="3200" b="1" dirty="0">
                <a:latin typeface="Symbol"/>
                <a:cs typeface="Symbol"/>
              </a:rPr>
              <a:t></a:t>
            </a:r>
            <a:r>
              <a:rPr sz="3200" b="1" dirty="0">
                <a:latin typeface="Times New Roman"/>
                <a:cs typeface="Times New Roman"/>
              </a:rPr>
              <a:t>6</a:t>
            </a:r>
            <a:endParaRPr sz="3200" dirty="0">
              <a:latin typeface="Times New Roman"/>
              <a:cs typeface="Times New Roman"/>
            </a:endParaRPr>
          </a:p>
          <a:p>
            <a:pPr marL="16933"/>
            <a:r>
              <a:rPr sz="3200" b="1" dirty="0">
                <a:latin typeface="Symbol"/>
                <a:cs typeface="Symbol"/>
              </a:rPr>
              <a:t></a:t>
            </a:r>
            <a:r>
              <a:rPr sz="3200" b="1" dirty="0">
                <a:latin typeface="Times New Roman"/>
                <a:cs typeface="Times New Roman"/>
              </a:rPr>
              <a:t>7</a:t>
            </a:r>
            <a:r>
              <a:rPr sz="3200" b="1" dirty="0">
                <a:latin typeface="Symbol"/>
                <a:cs typeface="Symbol"/>
              </a:rPr>
              <a:t></a:t>
            </a:r>
            <a:r>
              <a:rPr sz="3200" b="1" dirty="0">
                <a:latin typeface="Times New Roman"/>
                <a:cs typeface="Times New Roman"/>
              </a:rPr>
              <a:t>8</a:t>
            </a:r>
            <a:r>
              <a:rPr sz="3200" b="1" dirty="0">
                <a:latin typeface="Symbol"/>
                <a:cs typeface="Symbol"/>
              </a:rPr>
              <a:t></a:t>
            </a:r>
            <a:r>
              <a:rPr sz="3200" b="1" dirty="0">
                <a:latin typeface="Times New Roman"/>
                <a:cs typeface="Times New Roman"/>
              </a:rPr>
              <a:t>9</a:t>
            </a:r>
            <a:endParaRPr sz="32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83516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57087" y="158653"/>
            <a:ext cx="4098366" cy="632651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 algn="ctr">
              <a:lnSpc>
                <a:spcPct val="100000"/>
              </a:lnSpc>
              <a:spcBef>
                <a:spcPts val="133"/>
              </a:spcBef>
            </a:pPr>
            <a:r>
              <a:rPr sz="4000" b="1" spc="-13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回溯算法基本</a:t>
            </a:r>
            <a:r>
              <a:rPr sz="4000" b="1" spc="-7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思</a:t>
            </a:r>
            <a:r>
              <a:rPr sz="4000" b="1" spc="-2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想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9819" y="791304"/>
            <a:ext cx="8240428" cy="5899906"/>
          </a:xfrm>
          <a:prstGeom prst="rect">
            <a:avLst/>
          </a:prstGeom>
        </p:spPr>
        <p:txBody>
          <a:bodyPr vert="horz" wrap="square" lIns="0" tIns="295487" rIns="0" bIns="0" rtlCol="0">
            <a:spAutoFit/>
          </a:bodyPr>
          <a:lstStyle/>
          <a:p>
            <a:pPr marL="592652" indent="-576564">
              <a:buClr>
                <a:srgbClr val="000000"/>
              </a:buClr>
              <a:buFont typeface="Times New Roman"/>
              <a:buAutoNum type="arabicParenBoth"/>
              <a:tabLst>
                <a:tab pos="593497" algn="l"/>
              </a:tabLst>
            </a:pPr>
            <a:r>
              <a:rPr sz="2800" b="1" spc="-7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适用</a:t>
            </a:r>
            <a:r>
              <a:rPr sz="2800" b="1" spc="-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：求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解搜索问题</a:t>
            </a:r>
            <a:r>
              <a:rPr sz="2800" b="1" spc="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优化问</a:t>
            </a:r>
            <a:r>
              <a:rPr sz="2800" b="1" spc="-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题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</a:p>
          <a:p>
            <a:pPr marL="593497" marR="414856" indent="-593497">
              <a:buClr>
                <a:srgbClr val="000000"/>
              </a:buClr>
              <a:buFont typeface="Times New Roman"/>
              <a:buAutoNum type="arabicParenBoth"/>
              <a:tabLst>
                <a:tab pos="593497" algn="l"/>
              </a:tabLst>
            </a:pPr>
            <a:r>
              <a:rPr sz="2800" b="1" spc="-7" dirty="0" err="1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搜索空间</a:t>
            </a:r>
            <a:r>
              <a:rPr sz="2800" b="1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：树，</a:t>
            </a:r>
            <a:r>
              <a:rPr sz="2800" b="1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结点</a:t>
            </a:r>
            <a:r>
              <a:rPr sz="2800" b="1" spc="7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对</a:t>
            </a:r>
            <a:r>
              <a:rPr sz="2800" b="1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应部分解</a:t>
            </a:r>
            <a:r>
              <a:rPr sz="2800" b="1" spc="-7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向量</a:t>
            </a:r>
            <a:r>
              <a:rPr sz="2800" b="1" spc="-7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，可</a:t>
            </a:r>
            <a:r>
              <a:rPr sz="2800" b="1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行</a:t>
            </a:r>
            <a:r>
              <a:rPr sz="2800" b="1" spc="7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sz="2800" b="1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在树叶</a:t>
            </a:r>
            <a:r>
              <a:rPr sz="2800" b="1" spc="-7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上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</a:p>
          <a:p>
            <a:pPr marL="593497" marR="414856" indent="-593497">
              <a:buClr>
                <a:srgbClr val="000000"/>
              </a:buClr>
              <a:buFont typeface="Times New Roman"/>
              <a:buAutoNum type="arabicParenBoth"/>
              <a:tabLst>
                <a:tab pos="593497" algn="l"/>
              </a:tabLst>
            </a:pPr>
            <a:r>
              <a:rPr sz="2800" b="1" spc="-7" dirty="0" err="1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搜索过程</a:t>
            </a:r>
            <a:r>
              <a:rPr sz="2800" b="1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sz="2800" b="1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采用系统</a:t>
            </a:r>
            <a:r>
              <a:rPr sz="2800" b="1" spc="7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sz="2800" b="1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方法隐含</a:t>
            </a:r>
            <a:r>
              <a:rPr sz="2800" b="1" spc="-7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遍历搜索树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</a:p>
          <a:p>
            <a:pPr marL="593497" marR="6773" indent="-593497">
              <a:buClr>
                <a:srgbClr val="000000"/>
              </a:buClr>
              <a:buFont typeface="Times New Roman"/>
              <a:buAutoNum type="arabicParenBoth"/>
              <a:tabLst>
                <a:tab pos="593497" algn="l"/>
              </a:tabLst>
            </a:pPr>
            <a:r>
              <a:rPr sz="2800" b="1" spc="-7" dirty="0" err="1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搜索策略</a:t>
            </a:r>
            <a:r>
              <a:rPr sz="2800" b="1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：深度优先</a:t>
            </a:r>
            <a:r>
              <a:rPr sz="2800" b="1" spc="7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sz="2800" b="1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宽度优先</a:t>
            </a:r>
            <a:r>
              <a:rPr sz="2800" b="1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sz="2800" b="1" spc="-7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函数优先</a:t>
            </a:r>
            <a:r>
              <a:rPr sz="2800" b="1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sz="2800" b="1" spc="7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宽</a:t>
            </a:r>
            <a:r>
              <a:rPr sz="2800" b="1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深结合</a:t>
            </a:r>
            <a:r>
              <a:rPr sz="2800" b="1" spc="-7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等</a:t>
            </a:r>
            <a:r>
              <a:rPr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lang="en-US" sz="2800" b="1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593497" marR="6773" indent="-593497">
              <a:buClr>
                <a:srgbClr val="000000"/>
              </a:buClr>
              <a:buFont typeface="Times New Roman"/>
              <a:buAutoNum type="arabicParenBoth"/>
              <a:tabLst>
                <a:tab pos="593497" algn="l"/>
              </a:tabLst>
            </a:pP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结点分支判定条件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：满足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约束条件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---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分支扩张解向量不满足约束条件，回溯到该结点的父结点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</a:p>
          <a:p>
            <a:pPr marL="593497" marR="6773" indent="-593497">
              <a:buClr>
                <a:srgbClr val="000000"/>
              </a:buClr>
              <a:buFont typeface="Times New Roman"/>
              <a:buAutoNum type="arabicParenBoth"/>
              <a:tabLst>
                <a:tab pos="593497" algn="l"/>
              </a:tabLst>
            </a:pP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结点状态：动态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生成</a:t>
            </a:r>
            <a:endParaRPr lang="en-US" altLang="zh-CN" sz="2800" b="1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R="6773">
              <a:buClr>
                <a:srgbClr val="000000"/>
              </a:buClr>
              <a:tabLst>
                <a:tab pos="593497" algn="l"/>
              </a:tabLst>
            </a:pP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白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结点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尚未访问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</a:p>
          <a:p>
            <a:pPr marR="6773">
              <a:buClr>
                <a:srgbClr val="000000"/>
              </a:buClr>
              <a:tabLst>
                <a:tab pos="593497" algn="l"/>
              </a:tabLst>
            </a:pP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 灰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结点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正在访问该结点为根的子树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 </a:t>
            </a:r>
            <a:endParaRPr lang="en-US" altLang="zh-CN" sz="2800" b="1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R="6773">
              <a:buClr>
                <a:srgbClr val="000000"/>
              </a:buClr>
              <a:tabLst>
                <a:tab pos="593497" algn="l"/>
              </a:tabLst>
            </a:pP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黑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结点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该结点为根的子树遍历完成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</a:p>
          <a:p>
            <a:pPr marR="6773">
              <a:buClr>
                <a:srgbClr val="000000"/>
              </a:buClr>
              <a:tabLst>
                <a:tab pos="593497" algn="l"/>
              </a:tabLst>
            </a:pP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(7) 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存储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：当前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路径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5259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07030" y="287963"/>
            <a:ext cx="2061568" cy="632651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4000" b="1" spc="-13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结点状</a:t>
            </a:r>
            <a:r>
              <a:rPr sz="4000" b="1" spc="-2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态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9394" y="1472692"/>
            <a:ext cx="4334994" cy="114150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1003275">
              <a:lnSpc>
                <a:spcPct val="120000"/>
              </a:lnSpc>
              <a:spcBef>
                <a:spcPts val="133"/>
              </a:spcBef>
            </a:pPr>
            <a:r>
              <a:rPr sz="2800" b="1" spc="-7" dirty="0" err="1" smtClean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深度优</a:t>
            </a:r>
            <a:r>
              <a:rPr sz="2800" b="1" spc="-13" dirty="0" err="1" smtClean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先</a:t>
            </a:r>
            <a:r>
              <a:rPr sz="2800" b="1" spc="-7" dirty="0" err="1" smtClean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访问次序</a:t>
            </a:r>
            <a:r>
              <a:rPr sz="3200" b="1" spc="-13" dirty="0">
                <a:latin typeface="宋体"/>
                <a:cs typeface="宋体"/>
              </a:rPr>
              <a:t>：</a:t>
            </a:r>
            <a:endParaRPr sz="3200" dirty="0">
              <a:latin typeface="宋体"/>
              <a:cs typeface="宋体"/>
            </a:endParaRPr>
          </a:p>
          <a:p>
            <a:pPr marL="423323">
              <a:spcBef>
                <a:spcPts val="813"/>
              </a:spcBef>
            </a:pPr>
            <a:r>
              <a:rPr sz="2800" b="1" dirty="0">
                <a:latin typeface="Times New Roman"/>
                <a:cs typeface="Times New Roman"/>
              </a:rPr>
              <a:t>1</a:t>
            </a:r>
            <a:r>
              <a:rPr sz="2800" b="1" dirty="0">
                <a:latin typeface="Symbol"/>
                <a:cs typeface="Symbol"/>
              </a:rPr>
              <a:t></a:t>
            </a:r>
            <a:r>
              <a:rPr sz="2800" b="1" dirty="0">
                <a:latin typeface="Times New Roman"/>
                <a:cs typeface="Times New Roman"/>
              </a:rPr>
              <a:t>2</a:t>
            </a:r>
            <a:r>
              <a:rPr sz="2800" b="1" dirty="0">
                <a:latin typeface="Symbol"/>
                <a:cs typeface="Symbol"/>
              </a:rPr>
              <a:t></a:t>
            </a:r>
            <a:r>
              <a:rPr sz="2800" b="1" dirty="0">
                <a:latin typeface="Times New Roman"/>
                <a:cs typeface="Times New Roman"/>
              </a:rPr>
              <a:t>3</a:t>
            </a:r>
            <a:r>
              <a:rPr sz="2800" b="1" dirty="0">
                <a:latin typeface="Symbol"/>
                <a:cs typeface="Symbol"/>
              </a:rPr>
              <a:t></a:t>
            </a:r>
            <a:r>
              <a:rPr sz="2800" b="1" dirty="0">
                <a:latin typeface="Times New Roman"/>
                <a:cs typeface="Times New Roman"/>
              </a:rPr>
              <a:t>5</a:t>
            </a:r>
            <a:r>
              <a:rPr sz="2800" b="1" dirty="0">
                <a:latin typeface="Symbol"/>
                <a:cs typeface="Symbol"/>
              </a:rPr>
              <a:t></a:t>
            </a:r>
            <a:r>
              <a:rPr sz="2800" b="1" dirty="0">
                <a:latin typeface="Times New Roman"/>
                <a:cs typeface="Times New Roman"/>
              </a:rPr>
              <a:t>8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531723" y="2157343"/>
            <a:ext cx="45719" cy="422373"/>
          </a:xfrm>
          <a:custGeom>
            <a:avLst/>
            <a:gdLst/>
            <a:ahLst/>
            <a:cxnLst/>
            <a:rect l="l" t="t" r="r" b="b"/>
            <a:pathLst>
              <a:path w="12700" h="393700">
                <a:moveTo>
                  <a:pt x="0" y="0"/>
                </a:moveTo>
                <a:lnTo>
                  <a:pt x="12700" y="393700"/>
                </a:lnTo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" name="object 5"/>
          <p:cNvSpPr/>
          <p:nvPr/>
        </p:nvSpPr>
        <p:spPr>
          <a:xfrm>
            <a:off x="6433064" y="1957229"/>
            <a:ext cx="223965" cy="18693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" name="object 6"/>
          <p:cNvSpPr/>
          <p:nvPr/>
        </p:nvSpPr>
        <p:spPr>
          <a:xfrm>
            <a:off x="5787846" y="2596561"/>
            <a:ext cx="223965" cy="18634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" name="object 7"/>
          <p:cNvSpPr/>
          <p:nvPr/>
        </p:nvSpPr>
        <p:spPr>
          <a:xfrm>
            <a:off x="6473765" y="2579716"/>
            <a:ext cx="223965" cy="18693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" name="object 8"/>
          <p:cNvSpPr/>
          <p:nvPr/>
        </p:nvSpPr>
        <p:spPr>
          <a:xfrm>
            <a:off x="7159684" y="2579716"/>
            <a:ext cx="223965" cy="18693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" name="object 9"/>
          <p:cNvSpPr/>
          <p:nvPr/>
        </p:nvSpPr>
        <p:spPr>
          <a:xfrm>
            <a:off x="6155956" y="3409361"/>
            <a:ext cx="223965" cy="18634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0" name="object 10"/>
          <p:cNvSpPr/>
          <p:nvPr/>
        </p:nvSpPr>
        <p:spPr>
          <a:xfrm>
            <a:off x="6689449" y="3392516"/>
            <a:ext cx="223965" cy="18693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1" name="object 11"/>
          <p:cNvSpPr/>
          <p:nvPr/>
        </p:nvSpPr>
        <p:spPr>
          <a:xfrm>
            <a:off x="7222942" y="3392516"/>
            <a:ext cx="223965" cy="18693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2" name="object 12"/>
          <p:cNvSpPr/>
          <p:nvPr/>
        </p:nvSpPr>
        <p:spPr>
          <a:xfrm>
            <a:off x="6473765" y="4306916"/>
            <a:ext cx="223965" cy="18693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3" name="object 13"/>
          <p:cNvSpPr/>
          <p:nvPr/>
        </p:nvSpPr>
        <p:spPr>
          <a:xfrm>
            <a:off x="5851104" y="4323761"/>
            <a:ext cx="223965" cy="18634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4" name="object 14"/>
          <p:cNvSpPr/>
          <p:nvPr/>
        </p:nvSpPr>
        <p:spPr>
          <a:xfrm>
            <a:off x="5956032" y="2144843"/>
            <a:ext cx="544689" cy="434873"/>
          </a:xfrm>
          <a:custGeom>
            <a:avLst/>
            <a:gdLst/>
            <a:ahLst/>
            <a:cxnLst/>
            <a:rect l="l" t="t" r="r" b="b"/>
            <a:pathLst>
              <a:path w="533400" h="485775">
                <a:moveTo>
                  <a:pt x="533400" y="0"/>
                </a:moveTo>
                <a:lnTo>
                  <a:pt x="0" y="485775"/>
                </a:lnTo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5" name="object 15"/>
          <p:cNvSpPr/>
          <p:nvPr/>
        </p:nvSpPr>
        <p:spPr>
          <a:xfrm>
            <a:off x="6616309" y="2120277"/>
            <a:ext cx="594209" cy="428844"/>
          </a:xfrm>
          <a:custGeom>
            <a:avLst/>
            <a:gdLst/>
            <a:ahLst/>
            <a:cxnLst/>
            <a:rect l="l" t="t" r="r" b="b"/>
            <a:pathLst>
              <a:path w="546100" h="457200">
                <a:moveTo>
                  <a:pt x="0" y="0"/>
                </a:moveTo>
                <a:lnTo>
                  <a:pt x="546100" y="457200"/>
                </a:lnTo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6" name="object 16"/>
          <p:cNvSpPr/>
          <p:nvPr/>
        </p:nvSpPr>
        <p:spPr>
          <a:xfrm>
            <a:off x="6287984" y="2774195"/>
            <a:ext cx="276683" cy="618321"/>
          </a:xfrm>
          <a:custGeom>
            <a:avLst/>
            <a:gdLst/>
            <a:ahLst/>
            <a:cxnLst/>
            <a:rect l="l" t="t" r="r" b="b"/>
            <a:pathLst>
              <a:path w="241300" h="438150">
                <a:moveTo>
                  <a:pt x="241300" y="0"/>
                </a:moveTo>
                <a:lnTo>
                  <a:pt x="0" y="438150"/>
                </a:lnTo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7" name="object 17"/>
          <p:cNvSpPr/>
          <p:nvPr/>
        </p:nvSpPr>
        <p:spPr>
          <a:xfrm>
            <a:off x="6640893" y="2782298"/>
            <a:ext cx="713358" cy="610218"/>
          </a:xfrm>
          <a:custGeom>
            <a:avLst/>
            <a:gdLst/>
            <a:ahLst/>
            <a:cxnLst/>
            <a:rect l="l" t="t" r="r" b="b"/>
            <a:pathLst>
              <a:path w="565150" h="488950">
                <a:moveTo>
                  <a:pt x="0" y="0"/>
                </a:moveTo>
                <a:lnTo>
                  <a:pt x="565150" y="488950"/>
                </a:lnTo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8" name="object 18"/>
          <p:cNvSpPr/>
          <p:nvPr/>
        </p:nvSpPr>
        <p:spPr>
          <a:xfrm>
            <a:off x="6598926" y="2768451"/>
            <a:ext cx="179634" cy="591773"/>
          </a:xfrm>
          <a:custGeom>
            <a:avLst/>
            <a:gdLst/>
            <a:ahLst/>
            <a:cxnLst/>
            <a:rect l="l" t="t" r="r" b="b"/>
            <a:pathLst>
              <a:path w="139700" h="425450">
                <a:moveTo>
                  <a:pt x="0" y="0"/>
                </a:moveTo>
                <a:lnTo>
                  <a:pt x="139700" y="425450"/>
                </a:lnTo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9" name="object 19"/>
          <p:cNvSpPr/>
          <p:nvPr/>
        </p:nvSpPr>
        <p:spPr>
          <a:xfrm>
            <a:off x="5972637" y="3568494"/>
            <a:ext cx="272403" cy="662381"/>
          </a:xfrm>
          <a:custGeom>
            <a:avLst/>
            <a:gdLst/>
            <a:ahLst/>
            <a:cxnLst/>
            <a:rect l="l" t="t" r="r" b="b"/>
            <a:pathLst>
              <a:path w="196850" h="469900">
                <a:moveTo>
                  <a:pt x="196850" y="0"/>
                </a:moveTo>
                <a:lnTo>
                  <a:pt x="0" y="469900"/>
                </a:lnTo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0" name="object 20"/>
          <p:cNvSpPr/>
          <p:nvPr/>
        </p:nvSpPr>
        <p:spPr>
          <a:xfrm>
            <a:off x="6276939" y="3579452"/>
            <a:ext cx="321987" cy="727464"/>
          </a:xfrm>
          <a:custGeom>
            <a:avLst/>
            <a:gdLst/>
            <a:ahLst/>
            <a:cxnLst/>
            <a:rect l="l" t="t" r="r" b="b"/>
            <a:pathLst>
              <a:path w="206375" h="488950">
                <a:moveTo>
                  <a:pt x="0" y="0"/>
                </a:moveTo>
                <a:lnTo>
                  <a:pt x="206375" y="488950"/>
                </a:lnTo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1" name="object 21"/>
          <p:cNvSpPr txBox="1"/>
          <p:nvPr/>
        </p:nvSpPr>
        <p:spPr>
          <a:xfrm>
            <a:off x="5459028" y="2485308"/>
            <a:ext cx="155334" cy="426677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16933">
              <a:spcBef>
                <a:spcPts val="127"/>
              </a:spcBef>
            </a:pPr>
            <a:r>
              <a:rPr sz="2667" spc="-7" dirty="0">
                <a:latin typeface="Arial"/>
                <a:cs typeface="Arial"/>
              </a:rPr>
              <a:t>2</a:t>
            </a:r>
            <a:endParaRPr sz="2667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656834" y="1663005"/>
            <a:ext cx="155334" cy="426677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16933">
              <a:spcBef>
                <a:spcPts val="127"/>
              </a:spcBef>
            </a:pPr>
            <a:r>
              <a:rPr sz="2667" spc="-7" dirty="0">
                <a:latin typeface="Arial"/>
                <a:cs typeface="Arial"/>
              </a:rPr>
              <a:t>1</a:t>
            </a:r>
            <a:endParaRPr sz="2667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711481" y="2446061"/>
            <a:ext cx="155334" cy="426677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16933">
              <a:spcBef>
                <a:spcPts val="127"/>
              </a:spcBef>
            </a:pPr>
            <a:r>
              <a:rPr sz="2667" spc="-7" dirty="0">
                <a:latin typeface="Arial"/>
                <a:cs typeface="Arial"/>
              </a:rPr>
              <a:t>3</a:t>
            </a:r>
            <a:endParaRPr sz="2667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442506" y="2439569"/>
            <a:ext cx="155334" cy="426677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16933">
              <a:spcBef>
                <a:spcPts val="127"/>
              </a:spcBef>
            </a:pPr>
            <a:r>
              <a:rPr sz="2667" spc="-7" dirty="0">
                <a:latin typeface="Arial"/>
                <a:cs typeface="Arial"/>
              </a:rPr>
              <a:t>4</a:t>
            </a:r>
            <a:endParaRPr sz="2667" dirty="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949604" y="3360224"/>
            <a:ext cx="155334" cy="426677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16933">
              <a:spcBef>
                <a:spcPts val="127"/>
              </a:spcBef>
            </a:pPr>
            <a:r>
              <a:rPr sz="2667" spc="-7" dirty="0">
                <a:latin typeface="Arial"/>
                <a:cs typeface="Arial"/>
              </a:rPr>
              <a:t>5</a:t>
            </a:r>
            <a:endParaRPr sz="2667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903342" y="3355155"/>
            <a:ext cx="155334" cy="426677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16933">
              <a:spcBef>
                <a:spcPts val="127"/>
              </a:spcBef>
            </a:pPr>
            <a:r>
              <a:rPr sz="2667" spc="-7" dirty="0">
                <a:latin typeface="Arial"/>
                <a:cs typeface="Arial"/>
              </a:rPr>
              <a:t>6</a:t>
            </a:r>
            <a:endParaRPr sz="2667" dirty="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464027" y="3355154"/>
            <a:ext cx="155334" cy="426677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16933">
              <a:spcBef>
                <a:spcPts val="127"/>
              </a:spcBef>
            </a:pPr>
            <a:r>
              <a:rPr sz="2667" spc="-7" dirty="0">
                <a:latin typeface="Arial"/>
                <a:cs typeface="Arial"/>
              </a:rPr>
              <a:t>7</a:t>
            </a:r>
            <a:endParaRPr sz="2667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675024" y="4354800"/>
            <a:ext cx="155334" cy="426677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16933">
              <a:spcBef>
                <a:spcPts val="127"/>
              </a:spcBef>
            </a:pPr>
            <a:r>
              <a:rPr sz="2667" spc="-7" dirty="0">
                <a:latin typeface="Arial"/>
                <a:cs typeface="Arial"/>
              </a:rPr>
              <a:t>8</a:t>
            </a:r>
            <a:endParaRPr sz="2667" dirty="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699608" y="4230875"/>
            <a:ext cx="155334" cy="426677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16933">
              <a:spcBef>
                <a:spcPts val="127"/>
              </a:spcBef>
            </a:pPr>
            <a:r>
              <a:rPr sz="2667" spc="-7" dirty="0">
                <a:latin typeface="Arial"/>
                <a:cs typeface="Arial"/>
              </a:rPr>
              <a:t>9</a:t>
            </a:r>
            <a:endParaRPr sz="2667" dirty="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999394" y="2869202"/>
            <a:ext cx="4442836" cy="1613262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16933">
              <a:spcBef>
                <a:spcPts val="900"/>
              </a:spcBef>
            </a:pPr>
            <a:r>
              <a:rPr sz="2800" b="1" spc="-7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已完成访</a:t>
            </a:r>
            <a:r>
              <a:rPr sz="2800" b="1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问</a:t>
            </a:r>
            <a:r>
              <a:rPr sz="2800" b="1" dirty="0">
                <a:latin typeface="宋体"/>
                <a:cs typeface="宋体"/>
              </a:rPr>
              <a:t>：</a:t>
            </a:r>
            <a:r>
              <a:rPr sz="2800" b="1" dirty="0">
                <a:latin typeface="Times New Roman"/>
                <a:cs typeface="Times New Roman"/>
              </a:rPr>
              <a:t>2,</a:t>
            </a:r>
            <a:r>
              <a:rPr sz="2800" b="1" spc="27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8</a:t>
            </a:r>
            <a:endParaRPr sz="2800" dirty="0">
              <a:latin typeface="Times New Roman"/>
              <a:cs typeface="Times New Roman"/>
            </a:endParaRPr>
          </a:p>
          <a:p>
            <a:pPr marL="16933">
              <a:spcBef>
                <a:spcPts val="767"/>
              </a:spcBef>
            </a:pPr>
            <a:r>
              <a:rPr sz="2800" b="1" spc="-7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已访问但</a:t>
            </a:r>
            <a:r>
              <a:rPr sz="2800" b="1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未</a:t>
            </a:r>
            <a:r>
              <a:rPr sz="2800" b="1" spc="7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结</a:t>
            </a:r>
            <a:r>
              <a:rPr sz="2800" b="1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束</a:t>
            </a:r>
            <a:r>
              <a:rPr sz="2800" b="1" spc="-7" dirty="0">
                <a:latin typeface="宋体"/>
                <a:cs typeface="宋体"/>
              </a:rPr>
              <a:t>：</a:t>
            </a:r>
            <a:r>
              <a:rPr sz="2800" b="1" spc="-7" dirty="0">
                <a:latin typeface="Times New Roman"/>
                <a:cs typeface="Times New Roman"/>
              </a:rPr>
              <a:t>1,</a:t>
            </a:r>
            <a:r>
              <a:rPr sz="2800" b="1" spc="-13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3,</a:t>
            </a:r>
            <a:r>
              <a:rPr sz="2800" b="1" spc="-53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5</a:t>
            </a:r>
            <a:endParaRPr sz="2800" dirty="0">
              <a:latin typeface="Times New Roman"/>
              <a:cs typeface="Times New Roman"/>
            </a:endParaRPr>
          </a:p>
          <a:p>
            <a:pPr marL="16933">
              <a:spcBef>
                <a:spcPts val="767"/>
              </a:spcBef>
            </a:pPr>
            <a:r>
              <a:rPr sz="2800" b="1" spc="-7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尚未访问</a:t>
            </a:r>
            <a:r>
              <a:rPr sz="2800" b="1" spc="-7" dirty="0">
                <a:latin typeface="宋体"/>
                <a:cs typeface="宋体"/>
              </a:rPr>
              <a:t>：</a:t>
            </a:r>
            <a:r>
              <a:rPr sz="2800" b="1" spc="-7" dirty="0">
                <a:latin typeface="Times New Roman"/>
                <a:cs typeface="Times New Roman"/>
              </a:rPr>
              <a:t>9,</a:t>
            </a:r>
            <a:r>
              <a:rPr sz="2800" b="1" spc="27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6,</a:t>
            </a:r>
            <a:r>
              <a:rPr sz="2800" b="1" spc="-13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7,</a:t>
            </a:r>
            <a:r>
              <a:rPr sz="2800" b="1" spc="-7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4</a:t>
            </a:r>
            <a:endParaRPr sz="28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822255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82584" y="220003"/>
            <a:ext cx="4608360" cy="632651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 algn="ctr">
              <a:lnSpc>
                <a:spcPct val="100000"/>
              </a:lnSpc>
              <a:spcBef>
                <a:spcPts val="133"/>
              </a:spcBef>
            </a:pPr>
            <a:r>
              <a:rPr sz="4000" b="1" spc="-13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回溯算法的适</a:t>
            </a:r>
            <a:r>
              <a:rPr sz="4000" b="1" spc="-7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用条</a:t>
            </a:r>
            <a:r>
              <a:rPr sz="4000" b="1" spc="-2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件</a:t>
            </a:r>
          </a:p>
        </p:txBody>
      </p:sp>
      <p:sp>
        <p:nvSpPr>
          <p:cNvPr id="3" name="object 3"/>
          <p:cNvSpPr/>
          <p:nvPr/>
        </p:nvSpPr>
        <p:spPr>
          <a:xfrm>
            <a:off x="405098" y="3289732"/>
            <a:ext cx="7286619" cy="1219200"/>
          </a:xfrm>
          <a:custGeom>
            <a:avLst/>
            <a:gdLst/>
            <a:ahLst/>
            <a:cxnLst/>
            <a:rect l="l" t="t" r="r" b="b"/>
            <a:pathLst>
              <a:path w="5334000" h="914400">
                <a:moveTo>
                  <a:pt x="0" y="152400"/>
                </a:moveTo>
                <a:lnTo>
                  <a:pt x="7769" y="104226"/>
                </a:lnTo>
                <a:lnTo>
                  <a:pt x="29405" y="62391"/>
                </a:lnTo>
                <a:lnTo>
                  <a:pt x="62396" y="29402"/>
                </a:lnTo>
                <a:lnTo>
                  <a:pt x="104231" y="7768"/>
                </a:lnTo>
                <a:lnTo>
                  <a:pt x="152400" y="0"/>
                </a:lnTo>
                <a:lnTo>
                  <a:pt x="5181600" y="0"/>
                </a:lnTo>
                <a:lnTo>
                  <a:pt x="5229768" y="7768"/>
                </a:lnTo>
                <a:lnTo>
                  <a:pt x="5271603" y="29402"/>
                </a:lnTo>
                <a:lnTo>
                  <a:pt x="5304594" y="62391"/>
                </a:lnTo>
                <a:lnTo>
                  <a:pt x="5326230" y="104226"/>
                </a:lnTo>
                <a:lnTo>
                  <a:pt x="5334000" y="152400"/>
                </a:lnTo>
                <a:lnTo>
                  <a:pt x="5334000" y="762000"/>
                </a:lnTo>
                <a:lnTo>
                  <a:pt x="5326230" y="810168"/>
                </a:lnTo>
                <a:lnTo>
                  <a:pt x="5304594" y="852003"/>
                </a:lnTo>
                <a:lnTo>
                  <a:pt x="5271603" y="884994"/>
                </a:lnTo>
                <a:lnTo>
                  <a:pt x="5229768" y="906630"/>
                </a:lnTo>
                <a:lnTo>
                  <a:pt x="5181600" y="914400"/>
                </a:lnTo>
                <a:lnTo>
                  <a:pt x="152400" y="914400"/>
                </a:lnTo>
                <a:lnTo>
                  <a:pt x="104231" y="906630"/>
                </a:lnTo>
                <a:lnTo>
                  <a:pt x="62396" y="884994"/>
                </a:lnTo>
                <a:lnTo>
                  <a:pt x="29405" y="852003"/>
                </a:lnTo>
                <a:lnTo>
                  <a:pt x="7769" y="810168"/>
                </a:lnTo>
                <a:lnTo>
                  <a:pt x="0" y="762000"/>
                </a:lnTo>
                <a:lnTo>
                  <a:pt x="0" y="152400"/>
                </a:lnTo>
                <a:close/>
              </a:path>
            </a:pathLst>
          </a:custGeom>
          <a:ln w="25146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" name="object 4"/>
          <p:cNvSpPr txBox="1"/>
          <p:nvPr/>
        </p:nvSpPr>
        <p:spPr>
          <a:xfrm>
            <a:off x="405098" y="1127082"/>
            <a:ext cx="8385704" cy="491376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0799">
              <a:spcBef>
                <a:spcPts val="133"/>
              </a:spcBef>
            </a:pPr>
            <a:r>
              <a:rPr sz="2800" b="1" spc="-7" dirty="0">
                <a:latin typeface="宋体"/>
                <a:cs typeface="宋体"/>
              </a:rPr>
              <a:t>在结点</a:t>
            </a:r>
            <a:r>
              <a:rPr sz="2800" b="1" i="1" dirty="0">
                <a:latin typeface="Times New Roman"/>
                <a:cs typeface="Times New Roman"/>
              </a:rPr>
              <a:t>&lt;x</a:t>
            </a:r>
            <a:r>
              <a:rPr sz="2800" b="1" baseline="-20833" dirty="0">
                <a:latin typeface="Times New Roman"/>
                <a:cs typeface="Times New Roman"/>
              </a:rPr>
              <a:t>1</a:t>
            </a:r>
            <a:r>
              <a:rPr sz="2800" b="1" i="1" dirty="0">
                <a:latin typeface="Times New Roman"/>
                <a:cs typeface="Times New Roman"/>
              </a:rPr>
              <a:t>,x</a:t>
            </a:r>
            <a:r>
              <a:rPr sz="2800" b="1" baseline="-20833" dirty="0">
                <a:latin typeface="Times New Roman"/>
                <a:cs typeface="Times New Roman"/>
              </a:rPr>
              <a:t>2</a:t>
            </a:r>
            <a:r>
              <a:rPr sz="2800" b="1" i="1" dirty="0">
                <a:latin typeface="Times New Roman"/>
                <a:cs typeface="Times New Roman"/>
              </a:rPr>
              <a:t>,...,x</a:t>
            </a:r>
            <a:r>
              <a:rPr sz="2800" b="1" i="1" baseline="-20833" dirty="0">
                <a:latin typeface="Times New Roman"/>
                <a:cs typeface="Times New Roman"/>
              </a:rPr>
              <a:t>k</a:t>
            </a:r>
            <a:r>
              <a:rPr sz="2800" b="1" i="1" dirty="0">
                <a:latin typeface="Times New Roman"/>
                <a:cs typeface="Times New Roman"/>
              </a:rPr>
              <a:t>&gt;</a:t>
            </a:r>
            <a:r>
              <a:rPr sz="2800" b="1" spc="-13" dirty="0" smtClean="0">
                <a:latin typeface="宋体"/>
                <a:cs typeface="宋体"/>
              </a:rPr>
              <a:t>处</a:t>
            </a:r>
            <a:r>
              <a:rPr lang="en-US" sz="2800" dirty="0">
                <a:latin typeface="宋体"/>
                <a:cs typeface="宋体"/>
              </a:rPr>
              <a:t> </a:t>
            </a:r>
            <a:r>
              <a:rPr sz="2800" b="1" i="1" spc="-7" dirty="0" smtClean="0">
                <a:latin typeface="Times New Roman"/>
                <a:cs typeface="Times New Roman"/>
              </a:rPr>
              <a:t>P</a:t>
            </a:r>
            <a:r>
              <a:rPr sz="2800" b="1" spc="-7" dirty="0" smtClean="0">
                <a:latin typeface="Times New Roman"/>
                <a:cs typeface="Times New Roman"/>
              </a:rPr>
              <a:t>(</a:t>
            </a:r>
            <a:r>
              <a:rPr sz="2800" b="1" i="1" spc="-7" dirty="0" smtClean="0">
                <a:latin typeface="Times New Roman"/>
                <a:cs typeface="Times New Roman"/>
              </a:rPr>
              <a:t>x</a:t>
            </a:r>
            <a:r>
              <a:rPr sz="2800" b="1" spc="-9" baseline="-20833" dirty="0" smtClean="0">
                <a:latin typeface="Times New Roman"/>
                <a:cs typeface="Times New Roman"/>
              </a:rPr>
              <a:t>1</a:t>
            </a:r>
            <a:r>
              <a:rPr sz="2800" b="1" spc="-7" dirty="0">
                <a:latin typeface="Times New Roman"/>
                <a:cs typeface="Times New Roman"/>
              </a:rPr>
              <a:t>,</a:t>
            </a:r>
            <a:r>
              <a:rPr sz="2800" b="1" spc="-13" dirty="0">
                <a:latin typeface="Times New Roman"/>
                <a:cs typeface="Times New Roman"/>
              </a:rPr>
              <a:t> </a:t>
            </a:r>
            <a:r>
              <a:rPr sz="2800" b="1" i="1" spc="-7" dirty="0">
                <a:latin typeface="Times New Roman"/>
                <a:cs typeface="Times New Roman"/>
              </a:rPr>
              <a:t>x</a:t>
            </a:r>
            <a:r>
              <a:rPr sz="2800" b="1" spc="-9" baseline="-20833" dirty="0">
                <a:latin typeface="Times New Roman"/>
                <a:cs typeface="Times New Roman"/>
              </a:rPr>
              <a:t>2</a:t>
            </a:r>
            <a:r>
              <a:rPr sz="2800" b="1" spc="-7" dirty="0">
                <a:latin typeface="Times New Roman"/>
                <a:cs typeface="Times New Roman"/>
              </a:rPr>
              <a:t>,</a:t>
            </a:r>
            <a:r>
              <a:rPr sz="2800" b="1" dirty="0">
                <a:latin typeface="Times New Roman"/>
                <a:cs typeface="Times New Roman"/>
              </a:rPr>
              <a:t> …,</a:t>
            </a:r>
            <a:r>
              <a:rPr sz="2800" b="1" spc="-7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x</a:t>
            </a:r>
            <a:r>
              <a:rPr sz="2800" b="1" i="1" baseline="-20833" dirty="0">
                <a:latin typeface="Times New Roman"/>
                <a:cs typeface="Times New Roman"/>
              </a:rPr>
              <a:t>k</a:t>
            </a:r>
            <a:r>
              <a:rPr sz="2800" b="1" dirty="0">
                <a:latin typeface="Times New Roman"/>
                <a:cs typeface="Times New Roman"/>
              </a:rPr>
              <a:t>)</a:t>
            </a:r>
            <a:r>
              <a:rPr sz="2800" b="1" spc="-13" dirty="0">
                <a:latin typeface="Times New Roman"/>
                <a:cs typeface="Times New Roman"/>
              </a:rPr>
              <a:t> </a:t>
            </a:r>
            <a:r>
              <a:rPr sz="2800" b="1" spc="-7" dirty="0">
                <a:latin typeface="宋体"/>
                <a:cs typeface="宋体"/>
              </a:rPr>
              <a:t>为</a:t>
            </a:r>
            <a:r>
              <a:rPr sz="2800" b="1" spc="-13" dirty="0">
                <a:latin typeface="宋体"/>
                <a:cs typeface="宋体"/>
              </a:rPr>
              <a:t>真</a:t>
            </a:r>
            <a:endParaRPr sz="2800" dirty="0">
              <a:latin typeface="宋体"/>
              <a:cs typeface="宋体"/>
            </a:endParaRPr>
          </a:p>
          <a:p>
            <a:pPr marL="457189"/>
            <a:r>
              <a:rPr sz="2800" b="1" spc="-7" dirty="0">
                <a:latin typeface="Symbol"/>
                <a:cs typeface="Symbol"/>
              </a:rPr>
              <a:t></a:t>
            </a:r>
            <a:r>
              <a:rPr sz="2800" b="1" spc="-13" dirty="0">
                <a:latin typeface="Times New Roman"/>
                <a:cs typeface="Times New Roman"/>
              </a:rPr>
              <a:t> </a:t>
            </a:r>
            <a:r>
              <a:rPr sz="2800" b="1" spc="-7" dirty="0">
                <a:latin typeface="宋体"/>
                <a:cs typeface="宋体"/>
              </a:rPr>
              <a:t>向量</a:t>
            </a:r>
            <a:r>
              <a:rPr sz="2800" b="1" dirty="0">
                <a:latin typeface="Times New Roman"/>
                <a:cs typeface="Times New Roman"/>
              </a:rPr>
              <a:t>&lt;</a:t>
            </a:r>
            <a:r>
              <a:rPr sz="2800" b="1" i="1" dirty="0">
                <a:latin typeface="Times New Roman"/>
                <a:cs typeface="Times New Roman"/>
              </a:rPr>
              <a:t>x</a:t>
            </a:r>
            <a:r>
              <a:rPr sz="2800" b="1" baseline="-20833" dirty="0">
                <a:latin typeface="Times New Roman"/>
                <a:cs typeface="Times New Roman"/>
              </a:rPr>
              <a:t>1</a:t>
            </a:r>
            <a:r>
              <a:rPr sz="2800" b="1" dirty="0">
                <a:latin typeface="Times New Roman"/>
                <a:cs typeface="Times New Roman"/>
              </a:rPr>
              <a:t>,</a:t>
            </a:r>
            <a:r>
              <a:rPr sz="2800" b="1" spc="-13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x</a:t>
            </a:r>
            <a:r>
              <a:rPr sz="2800" b="1" baseline="-20833" dirty="0">
                <a:latin typeface="Times New Roman"/>
                <a:cs typeface="Times New Roman"/>
              </a:rPr>
              <a:t>2</a:t>
            </a:r>
            <a:r>
              <a:rPr sz="2800" b="1" dirty="0">
                <a:latin typeface="Times New Roman"/>
                <a:cs typeface="Times New Roman"/>
              </a:rPr>
              <a:t>,</a:t>
            </a:r>
            <a:r>
              <a:rPr sz="2800" b="1" spc="-7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…,</a:t>
            </a:r>
            <a:r>
              <a:rPr sz="2800" b="1" spc="-13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x</a:t>
            </a:r>
            <a:r>
              <a:rPr sz="2800" b="1" i="1" baseline="-20833" dirty="0">
                <a:latin typeface="Times New Roman"/>
                <a:cs typeface="Times New Roman"/>
              </a:rPr>
              <a:t>k</a:t>
            </a:r>
            <a:r>
              <a:rPr sz="2800" b="1" i="1" spc="-20" baseline="-20833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&gt;</a:t>
            </a:r>
            <a:r>
              <a:rPr sz="2800" b="1" spc="-20" dirty="0">
                <a:latin typeface="Times New Roman"/>
                <a:cs typeface="Times New Roman"/>
              </a:rPr>
              <a:t> </a:t>
            </a:r>
            <a:r>
              <a:rPr sz="2800" b="1" spc="-7" dirty="0">
                <a:latin typeface="宋体"/>
                <a:cs typeface="宋体"/>
              </a:rPr>
              <a:t>满足某个</a:t>
            </a:r>
            <a:r>
              <a:rPr sz="2800" b="1" dirty="0">
                <a:latin typeface="宋体"/>
                <a:cs typeface="宋体"/>
              </a:rPr>
              <a:t>性</a:t>
            </a:r>
            <a:r>
              <a:rPr sz="2800" b="1" spc="-13" dirty="0">
                <a:latin typeface="宋体"/>
                <a:cs typeface="宋体"/>
              </a:rPr>
              <a:t>质</a:t>
            </a:r>
            <a:endParaRPr sz="2800" dirty="0">
              <a:latin typeface="宋体"/>
              <a:cs typeface="宋体"/>
            </a:endParaRPr>
          </a:p>
          <a:p>
            <a:pPr marL="50799"/>
            <a:r>
              <a:rPr sz="2800" b="1" spc="-7" dirty="0">
                <a:latin typeface="Times New Roman"/>
                <a:cs typeface="Times New Roman"/>
              </a:rPr>
              <a:t>(</a:t>
            </a:r>
            <a:r>
              <a:rPr sz="2800" b="1" i="1" spc="-7" dirty="0">
                <a:latin typeface="Times New Roman"/>
                <a:cs typeface="Times New Roman"/>
              </a:rPr>
              <a:t>n</a:t>
            </a:r>
            <a:r>
              <a:rPr sz="2800" b="1" spc="-7" dirty="0">
                <a:latin typeface="宋体"/>
                <a:cs typeface="宋体"/>
              </a:rPr>
              <a:t>后</a:t>
            </a:r>
            <a:r>
              <a:rPr sz="2800" b="1" spc="-13" dirty="0">
                <a:latin typeface="宋体"/>
                <a:cs typeface="宋体"/>
              </a:rPr>
              <a:t>中</a:t>
            </a:r>
            <a:r>
              <a:rPr sz="2800" b="1" spc="-827" dirty="0">
                <a:latin typeface="宋体"/>
                <a:cs typeface="宋体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k</a:t>
            </a:r>
            <a:r>
              <a:rPr sz="2800" b="1" spc="-7" dirty="0">
                <a:latin typeface="宋体"/>
                <a:cs typeface="宋体"/>
              </a:rPr>
              <a:t>个皇后</a:t>
            </a:r>
            <a:r>
              <a:rPr sz="2800" b="1" dirty="0">
                <a:latin typeface="宋体"/>
                <a:cs typeface="宋体"/>
              </a:rPr>
              <a:t>放在彼此不攻击的位</a:t>
            </a:r>
            <a:r>
              <a:rPr sz="2800" b="1" spc="7" dirty="0">
                <a:latin typeface="宋体"/>
                <a:cs typeface="宋体"/>
              </a:rPr>
              <a:t>置</a:t>
            </a:r>
            <a:r>
              <a:rPr sz="2800" b="1" spc="-13" dirty="0">
                <a:latin typeface="宋体"/>
                <a:cs typeface="宋体"/>
              </a:rPr>
              <a:t>）</a:t>
            </a:r>
            <a:endParaRPr sz="2800" dirty="0">
              <a:latin typeface="宋体"/>
              <a:cs typeface="宋体"/>
            </a:endParaRPr>
          </a:p>
          <a:p>
            <a:pPr marL="272620">
              <a:lnSpc>
                <a:spcPts val="3827"/>
              </a:lnSpc>
              <a:spcBef>
                <a:spcPts val="2719"/>
              </a:spcBef>
            </a:pPr>
            <a:r>
              <a:rPr sz="2800" b="1" spc="-7" dirty="0">
                <a:solidFill>
                  <a:srgbClr val="C00000"/>
                </a:solidFill>
                <a:latin typeface="宋体"/>
                <a:cs typeface="宋体"/>
              </a:rPr>
              <a:t>多米诺性</a:t>
            </a:r>
            <a:r>
              <a:rPr sz="2800" b="1" spc="-13" dirty="0">
                <a:solidFill>
                  <a:srgbClr val="C00000"/>
                </a:solidFill>
                <a:latin typeface="宋体"/>
                <a:cs typeface="宋体"/>
              </a:rPr>
              <a:t>质</a:t>
            </a:r>
            <a:endParaRPr sz="2800" dirty="0">
              <a:latin typeface="宋体"/>
              <a:cs typeface="宋体"/>
            </a:endParaRPr>
          </a:p>
          <a:p>
            <a:pPr marL="272620">
              <a:lnSpc>
                <a:spcPts val="3827"/>
              </a:lnSpc>
              <a:tabLst>
                <a:tab pos="5761423" algn="l"/>
              </a:tabLst>
            </a:pPr>
            <a:r>
              <a:rPr sz="2800" b="1" i="1" spc="-7" dirty="0">
                <a:latin typeface="Times New Roman"/>
                <a:cs typeface="Times New Roman"/>
              </a:rPr>
              <a:t>P</a:t>
            </a:r>
            <a:r>
              <a:rPr sz="2800" b="1" spc="-7" dirty="0">
                <a:latin typeface="Times New Roman"/>
                <a:cs typeface="Times New Roman"/>
              </a:rPr>
              <a:t>(</a:t>
            </a:r>
            <a:r>
              <a:rPr sz="2800" b="1" i="1" spc="-7" dirty="0">
                <a:latin typeface="Times New Roman"/>
                <a:cs typeface="Times New Roman"/>
              </a:rPr>
              <a:t>x</a:t>
            </a:r>
            <a:r>
              <a:rPr sz="2800" b="1" spc="-9" baseline="-20833" dirty="0">
                <a:latin typeface="Times New Roman"/>
                <a:cs typeface="Times New Roman"/>
              </a:rPr>
              <a:t>1</a:t>
            </a:r>
            <a:r>
              <a:rPr sz="2800" b="1" spc="-7" dirty="0">
                <a:latin typeface="Times New Roman"/>
                <a:cs typeface="Times New Roman"/>
              </a:rPr>
              <a:t>,</a:t>
            </a:r>
            <a:r>
              <a:rPr sz="2800" b="1" i="1" spc="-7" dirty="0">
                <a:latin typeface="Times New Roman"/>
                <a:cs typeface="Times New Roman"/>
              </a:rPr>
              <a:t>x</a:t>
            </a:r>
            <a:r>
              <a:rPr sz="2800" b="1" spc="-9" baseline="-20833" dirty="0">
                <a:latin typeface="Times New Roman"/>
                <a:cs typeface="Times New Roman"/>
              </a:rPr>
              <a:t>2</a:t>
            </a:r>
            <a:r>
              <a:rPr sz="2800" b="1" spc="-7" dirty="0">
                <a:latin typeface="Times New Roman"/>
                <a:cs typeface="Times New Roman"/>
              </a:rPr>
              <a:t>,…,</a:t>
            </a:r>
            <a:r>
              <a:rPr sz="2800" b="1" i="1" spc="-7" dirty="0">
                <a:latin typeface="Times New Roman"/>
                <a:cs typeface="Times New Roman"/>
              </a:rPr>
              <a:t>x</a:t>
            </a:r>
            <a:r>
              <a:rPr sz="2800" b="1" i="1" spc="-9" baseline="-20833" dirty="0">
                <a:latin typeface="Times New Roman"/>
                <a:cs typeface="Times New Roman"/>
              </a:rPr>
              <a:t>k</a:t>
            </a:r>
            <a:r>
              <a:rPr sz="2800" b="1" spc="-9" baseline="-20833" dirty="0">
                <a:latin typeface="Times New Roman"/>
                <a:cs typeface="Times New Roman"/>
              </a:rPr>
              <a:t>+1</a:t>
            </a:r>
            <a:r>
              <a:rPr sz="2800" b="1" spc="-7" dirty="0">
                <a:latin typeface="Times New Roman"/>
                <a:cs typeface="Times New Roman"/>
              </a:rPr>
              <a:t>)</a:t>
            </a:r>
            <a:r>
              <a:rPr sz="2800" b="1" spc="-7" dirty="0">
                <a:latin typeface="Symbol"/>
                <a:cs typeface="Symbol"/>
              </a:rPr>
              <a:t></a:t>
            </a:r>
            <a:r>
              <a:rPr sz="2800" b="1" i="1" spc="-7" dirty="0">
                <a:latin typeface="Times New Roman"/>
                <a:cs typeface="Times New Roman"/>
              </a:rPr>
              <a:t>P</a:t>
            </a:r>
            <a:r>
              <a:rPr sz="2800" b="1" spc="-7" dirty="0">
                <a:latin typeface="Times New Roman"/>
                <a:cs typeface="Times New Roman"/>
              </a:rPr>
              <a:t>(</a:t>
            </a:r>
            <a:r>
              <a:rPr sz="2800" b="1" i="1" spc="-7" dirty="0">
                <a:latin typeface="Times New Roman"/>
                <a:cs typeface="Times New Roman"/>
              </a:rPr>
              <a:t>x</a:t>
            </a:r>
            <a:r>
              <a:rPr sz="2800" b="1" spc="-9" baseline="-20833" dirty="0">
                <a:latin typeface="Times New Roman"/>
                <a:cs typeface="Times New Roman"/>
              </a:rPr>
              <a:t>1</a:t>
            </a:r>
            <a:r>
              <a:rPr sz="2800" b="1" spc="-7" dirty="0">
                <a:latin typeface="Times New Roman"/>
                <a:cs typeface="Times New Roman"/>
              </a:rPr>
              <a:t>,</a:t>
            </a:r>
            <a:r>
              <a:rPr sz="2800" b="1" i="1" spc="-7" dirty="0">
                <a:latin typeface="Times New Roman"/>
                <a:cs typeface="Times New Roman"/>
              </a:rPr>
              <a:t>x</a:t>
            </a:r>
            <a:r>
              <a:rPr sz="2800" b="1" spc="-9" baseline="-20833" dirty="0">
                <a:latin typeface="Times New Roman"/>
                <a:cs typeface="Times New Roman"/>
              </a:rPr>
              <a:t>2</a:t>
            </a:r>
            <a:r>
              <a:rPr sz="2800" b="1" spc="-7" dirty="0">
                <a:latin typeface="Times New Roman"/>
                <a:cs typeface="Times New Roman"/>
              </a:rPr>
              <a:t>,…,</a:t>
            </a:r>
            <a:r>
              <a:rPr sz="2800" b="1" i="1" spc="-7" dirty="0">
                <a:latin typeface="Times New Roman"/>
                <a:cs typeface="Times New Roman"/>
              </a:rPr>
              <a:t>x</a:t>
            </a:r>
            <a:r>
              <a:rPr sz="2800" b="1" i="1" spc="-9" baseline="-20833" dirty="0">
                <a:latin typeface="Times New Roman"/>
                <a:cs typeface="Times New Roman"/>
              </a:rPr>
              <a:t>k</a:t>
            </a:r>
            <a:r>
              <a:rPr sz="2800" b="1" spc="-7" dirty="0">
                <a:latin typeface="Times New Roman"/>
                <a:cs typeface="Times New Roman"/>
              </a:rPr>
              <a:t>)	0&lt;</a:t>
            </a:r>
            <a:r>
              <a:rPr sz="2800" b="1" i="1" spc="-7" dirty="0">
                <a:latin typeface="Times New Roman"/>
                <a:cs typeface="Times New Roman"/>
              </a:rPr>
              <a:t>k</a:t>
            </a:r>
            <a:r>
              <a:rPr sz="2800" b="1" spc="-7" dirty="0">
                <a:latin typeface="Times New Roman"/>
                <a:cs typeface="Times New Roman"/>
              </a:rPr>
              <a:t>&lt;</a:t>
            </a:r>
            <a:r>
              <a:rPr sz="2800" b="1" i="1" spc="-7" dirty="0">
                <a:latin typeface="Times New Roman"/>
                <a:cs typeface="Times New Roman"/>
              </a:rPr>
              <a:t>n</a:t>
            </a:r>
            <a:endParaRPr sz="2800" dirty="0">
              <a:latin typeface="Times New Roman"/>
              <a:cs typeface="Times New Roman"/>
            </a:endParaRPr>
          </a:p>
          <a:p>
            <a:pPr marL="609597" marR="242141" indent="-457200">
              <a:lnSpc>
                <a:spcPct val="129099"/>
              </a:lnSpc>
              <a:spcBef>
                <a:spcPts val="1073"/>
              </a:spcBef>
              <a:buFont typeface="Symbol" panose="05050102010706020507" pitchFamily="18" charset="2"/>
              <a:buChar char="Ø"/>
              <a:tabLst>
                <a:tab pos="6118707" algn="l"/>
              </a:tabLst>
            </a:pPr>
            <a:r>
              <a:rPr sz="2800" b="1" i="1" spc="-7" dirty="0" smtClean="0">
                <a:latin typeface="Times New Roman"/>
                <a:cs typeface="Times New Roman"/>
              </a:rPr>
              <a:t>P</a:t>
            </a:r>
            <a:r>
              <a:rPr sz="2800" b="1" dirty="0" smtClean="0">
                <a:latin typeface="Times New Roman"/>
                <a:cs typeface="Times New Roman"/>
              </a:rPr>
              <a:t>(</a:t>
            </a:r>
            <a:r>
              <a:rPr sz="2800" b="1" i="1" spc="-7" dirty="0" smtClean="0">
                <a:latin typeface="Times New Roman"/>
                <a:cs typeface="Times New Roman"/>
              </a:rPr>
              <a:t>x</a:t>
            </a:r>
            <a:r>
              <a:rPr sz="2800" b="1" baseline="-20833" dirty="0" smtClean="0">
                <a:latin typeface="Times New Roman"/>
                <a:cs typeface="Times New Roman"/>
              </a:rPr>
              <a:t>1</a:t>
            </a:r>
            <a:r>
              <a:rPr sz="2800" b="1" dirty="0" smtClean="0">
                <a:latin typeface="Times New Roman"/>
                <a:cs typeface="Times New Roman"/>
              </a:rPr>
              <a:t>,</a:t>
            </a:r>
            <a:r>
              <a:rPr sz="2800" b="1" i="1" dirty="0" smtClean="0">
                <a:latin typeface="Times New Roman"/>
                <a:cs typeface="Times New Roman"/>
              </a:rPr>
              <a:t>x</a:t>
            </a:r>
            <a:r>
              <a:rPr sz="2800" b="1" baseline="-20833" dirty="0" smtClean="0">
                <a:latin typeface="Times New Roman"/>
                <a:cs typeface="Times New Roman"/>
              </a:rPr>
              <a:t>2</a:t>
            </a:r>
            <a:r>
              <a:rPr sz="2800" b="1" dirty="0">
                <a:latin typeface="Times New Roman"/>
                <a:cs typeface="Times New Roman"/>
              </a:rPr>
              <a:t>,…,</a:t>
            </a:r>
            <a:r>
              <a:rPr sz="2800" b="1" i="1" dirty="0">
                <a:latin typeface="Times New Roman"/>
                <a:cs typeface="Times New Roman"/>
              </a:rPr>
              <a:t>x</a:t>
            </a:r>
            <a:r>
              <a:rPr sz="2800" b="1" i="1" baseline="-20833" dirty="0">
                <a:latin typeface="Times New Roman"/>
                <a:cs typeface="Times New Roman"/>
              </a:rPr>
              <a:t>k</a:t>
            </a:r>
            <a:r>
              <a:rPr sz="2800" b="1" spc="-7" dirty="0">
                <a:latin typeface="Times New Roman"/>
                <a:cs typeface="Times New Roman"/>
              </a:rPr>
              <a:t>)</a:t>
            </a:r>
            <a:r>
              <a:rPr sz="2800" b="1" dirty="0" smtClean="0">
                <a:latin typeface="Symbol"/>
                <a:cs typeface="Symbol"/>
              </a:rPr>
              <a:t></a:t>
            </a:r>
            <a:r>
              <a:rPr lang="zh-CN" altLang="en-US" sz="2800" b="1" dirty="0">
                <a:latin typeface="Symbol"/>
                <a:cs typeface="Symbol"/>
              </a:rPr>
              <a:t>  </a:t>
            </a:r>
            <a:r>
              <a:rPr sz="2800" b="1" i="1" spc="-7" dirty="0" smtClean="0">
                <a:latin typeface="Times New Roman"/>
                <a:cs typeface="Times New Roman"/>
              </a:rPr>
              <a:t>P</a:t>
            </a:r>
            <a:r>
              <a:rPr sz="2800" b="1" dirty="0" smtClean="0">
                <a:latin typeface="Times New Roman"/>
                <a:cs typeface="Times New Roman"/>
              </a:rPr>
              <a:t>(</a:t>
            </a:r>
            <a:r>
              <a:rPr sz="2800" b="1" i="1" spc="-7" dirty="0" smtClean="0">
                <a:latin typeface="Times New Roman"/>
                <a:cs typeface="Times New Roman"/>
              </a:rPr>
              <a:t>x</a:t>
            </a:r>
            <a:r>
              <a:rPr sz="2800" b="1" baseline="-20833" dirty="0" smtClean="0">
                <a:latin typeface="Times New Roman"/>
                <a:cs typeface="Times New Roman"/>
              </a:rPr>
              <a:t>1</a:t>
            </a:r>
            <a:r>
              <a:rPr sz="2800" b="1" dirty="0" smtClean="0">
                <a:latin typeface="Times New Roman"/>
                <a:cs typeface="Times New Roman"/>
              </a:rPr>
              <a:t>,</a:t>
            </a:r>
            <a:r>
              <a:rPr sz="2800" b="1" i="1" dirty="0" smtClean="0">
                <a:latin typeface="Times New Roman"/>
                <a:cs typeface="Times New Roman"/>
              </a:rPr>
              <a:t>x</a:t>
            </a:r>
            <a:r>
              <a:rPr sz="2800" b="1" spc="-9" baseline="-20833" dirty="0" smtClean="0">
                <a:latin typeface="Times New Roman"/>
                <a:cs typeface="Times New Roman"/>
              </a:rPr>
              <a:t>2</a:t>
            </a:r>
            <a:r>
              <a:rPr sz="2800" b="1" dirty="0">
                <a:latin typeface="Times New Roman"/>
                <a:cs typeface="Times New Roman"/>
              </a:rPr>
              <a:t>,…,</a:t>
            </a:r>
            <a:r>
              <a:rPr sz="2800" b="1" i="1" dirty="0">
                <a:latin typeface="Times New Roman"/>
                <a:cs typeface="Times New Roman"/>
              </a:rPr>
              <a:t>x</a:t>
            </a:r>
            <a:r>
              <a:rPr sz="2800" b="1" i="1" spc="-9" baseline="-20833" dirty="0">
                <a:latin typeface="Times New Roman"/>
                <a:cs typeface="Times New Roman"/>
              </a:rPr>
              <a:t>k</a:t>
            </a:r>
            <a:r>
              <a:rPr sz="2800" b="1" spc="-9" baseline="-20833" dirty="0">
                <a:latin typeface="Times New Roman"/>
                <a:cs typeface="Times New Roman"/>
              </a:rPr>
              <a:t>+</a:t>
            </a:r>
            <a:r>
              <a:rPr sz="2800" b="1" baseline="-20833" dirty="0">
                <a:latin typeface="Times New Roman"/>
                <a:cs typeface="Times New Roman"/>
              </a:rPr>
              <a:t>1</a:t>
            </a:r>
            <a:r>
              <a:rPr sz="2800" b="1" dirty="0">
                <a:latin typeface="Times New Roman"/>
                <a:cs typeface="Times New Roman"/>
              </a:rPr>
              <a:t>)	0&lt;</a:t>
            </a:r>
            <a:r>
              <a:rPr sz="2800" b="1" i="1" dirty="0">
                <a:latin typeface="Times New Roman"/>
                <a:cs typeface="Times New Roman"/>
              </a:rPr>
              <a:t>k</a:t>
            </a:r>
            <a:r>
              <a:rPr sz="2800" b="1" dirty="0">
                <a:latin typeface="Times New Roman"/>
                <a:cs typeface="Times New Roman"/>
              </a:rPr>
              <a:t>&lt;</a:t>
            </a:r>
            <a:r>
              <a:rPr sz="2800" b="1" i="1" spc="-7" dirty="0">
                <a:latin typeface="Times New Roman"/>
                <a:cs typeface="Times New Roman"/>
              </a:rPr>
              <a:t>n  </a:t>
            </a:r>
            <a:endParaRPr lang="en-US" sz="2800" b="1" i="1" spc="-7" dirty="0" smtClean="0">
              <a:latin typeface="Times New Roman"/>
              <a:cs typeface="Times New Roman"/>
            </a:endParaRPr>
          </a:p>
          <a:p>
            <a:pPr marR="242141">
              <a:lnSpc>
                <a:spcPct val="129099"/>
              </a:lnSpc>
              <a:spcBef>
                <a:spcPts val="1073"/>
              </a:spcBef>
              <a:tabLst>
                <a:tab pos="6118707" algn="l"/>
              </a:tabLst>
            </a:pPr>
            <a:r>
              <a:rPr sz="2800" b="1" i="1" dirty="0" smtClean="0">
                <a:latin typeface="Times New Roman"/>
                <a:cs typeface="Times New Roman"/>
              </a:rPr>
              <a:t>k</a:t>
            </a:r>
            <a:r>
              <a:rPr sz="2800" b="1" i="1" spc="-53" dirty="0" smtClean="0">
                <a:latin typeface="Times New Roman"/>
                <a:cs typeface="Times New Roman"/>
              </a:rPr>
              <a:t> </a:t>
            </a:r>
            <a:r>
              <a:rPr sz="2800" b="1" spc="-7" dirty="0" err="1">
                <a:latin typeface="宋体"/>
                <a:cs typeface="宋体"/>
              </a:rPr>
              <a:t>维向量不</a:t>
            </a:r>
            <a:r>
              <a:rPr sz="2800" b="1" dirty="0" err="1">
                <a:latin typeface="宋体"/>
                <a:cs typeface="宋体"/>
              </a:rPr>
              <a:t>满</a:t>
            </a:r>
            <a:r>
              <a:rPr sz="2800" b="1" spc="7" dirty="0" err="1">
                <a:latin typeface="宋体"/>
                <a:cs typeface="宋体"/>
              </a:rPr>
              <a:t>足</a:t>
            </a:r>
            <a:r>
              <a:rPr sz="2800" b="1" dirty="0" err="1">
                <a:latin typeface="宋体"/>
                <a:cs typeface="宋体"/>
              </a:rPr>
              <a:t>约束条件，</a:t>
            </a:r>
            <a:r>
              <a:rPr sz="2800" b="1" dirty="0" err="1" smtClean="0">
                <a:latin typeface="宋体"/>
                <a:cs typeface="宋体"/>
              </a:rPr>
              <a:t>扩张向量到</a:t>
            </a:r>
            <a:r>
              <a:rPr lang="en-US" sz="2800" dirty="0">
                <a:latin typeface="宋体"/>
                <a:cs typeface="宋体"/>
              </a:rPr>
              <a:t> </a:t>
            </a:r>
            <a:r>
              <a:rPr sz="2800" b="1" i="1" dirty="0" smtClean="0">
                <a:latin typeface="Times New Roman"/>
                <a:cs typeface="Times New Roman"/>
              </a:rPr>
              <a:t>k</a:t>
            </a:r>
            <a:r>
              <a:rPr sz="2800" b="1" dirty="0" smtClean="0">
                <a:latin typeface="Times New Roman"/>
                <a:cs typeface="Times New Roman"/>
              </a:rPr>
              <a:t>+1</a:t>
            </a:r>
            <a:r>
              <a:rPr sz="2800" b="1" spc="-7" dirty="0">
                <a:latin typeface="宋体"/>
                <a:cs typeface="宋体"/>
              </a:rPr>
              <a:t>维仍旧不</a:t>
            </a:r>
            <a:r>
              <a:rPr sz="2800" b="1" dirty="0">
                <a:latin typeface="宋体"/>
                <a:cs typeface="宋体"/>
              </a:rPr>
              <a:t>满足，可以回溯</a:t>
            </a:r>
            <a:r>
              <a:rPr sz="2800" b="1" spc="-13" dirty="0">
                <a:latin typeface="宋体"/>
                <a:cs typeface="宋体"/>
              </a:rPr>
              <a:t>.</a:t>
            </a:r>
            <a:endParaRPr sz="2800" dirty="0">
              <a:latin typeface="宋体"/>
              <a:cs typeface="宋体"/>
            </a:endParaRPr>
          </a:p>
          <a:p>
            <a:pPr marR="74505" algn="r">
              <a:lnSpc>
                <a:spcPts val="2600"/>
              </a:lnSpc>
            </a:pPr>
            <a:endParaRPr sz="24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45229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82356" y="171913"/>
            <a:ext cx="2061568" cy="632651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4000" b="1" spc="-13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一个反</a:t>
            </a:r>
            <a:r>
              <a:rPr sz="4000" b="1" spc="-2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4692" y="1167299"/>
            <a:ext cx="8385733" cy="3700158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33866">
              <a:lnSpc>
                <a:spcPts val="3827"/>
              </a:lnSpc>
              <a:spcBef>
                <a:spcPts val="133"/>
              </a:spcBef>
            </a:pPr>
            <a:r>
              <a:rPr sz="2800" b="1" spc="-13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例</a:t>
            </a:r>
            <a:r>
              <a:rPr sz="28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 </a:t>
            </a:r>
            <a:r>
              <a:rPr sz="2800" b="1" spc="-7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求不等</a:t>
            </a:r>
            <a:r>
              <a:rPr sz="2800" b="1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式的整数解</a:t>
            </a:r>
            <a:endParaRPr sz="2800" dirty="0">
              <a:latin typeface="黑体" panose="02010609060101010101" pitchFamily="49" charset="-122"/>
              <a:ea typeface="黑体" panose="02010609060101010101" pitchFamily="49" charset="-122"/>
              <a:cs typeface="宋体"/>
            </a:endParaRPr>
          </a:p>
          <a:p>
            <a:pPr marL="135463" indent="609585">
              <a:lnSpc>
                <a:spcPts val="3827"/>
              </a:lnSpc>
              <a:tabLst>
                <a:tab pos="3553371" algn="l"/>
                <a:tab pos="5148451" algn="l"/>
              </a:tabLst>
            </a:pPr>
            <a:r>
              <a:rPr sz="2800" b="1" spc="-7" dirty="0">
                <a:latin typeface="Times New Roman"/>
                <a:cs typeface="Times New Roman"/>
              </a:rPr>
              <a:t>5</a:t>
            </a:r>
            <a:r>
              <a:rPr sz="2800" b="1" i="1" spc="-7" dirty="0">
                <a:latin typeface="Times New Roman"/>
                <a:cs typeface="Times New Roman"/>
              </a:rPr>
              <a:t>x</a:t>
            </a:r>
            <a:r>
              <a:rPr sz="2800" b="1" spc="-9" baseline="-20833" dirty="0">
                <a:latin typeface="Times New Roman"/>
                <a:cs typeface="Times New Roman"/>
              </a:rPr>
              <a:t>1</a:t>
            </a:r>
            <a:r>
              <a:rPr sz="2800" b="1" spc="-7" dirty="0">
                <a:latin typeface="Times New Roman"/>
                <a:cs typeface="Times New Roman"/>
              </a:rPr>
              <a:t>+4</a:t>
            </a:r>
            <a:r>
              <a:rPr sz="2800" b="1" i="1" spc="-7" dirty="0">
                <a:latin typeface="Times New Roman"/>
                <a:cs typeface="Times New Roman"/>
              </a:rPr>
              <a:t>x</a:t>
            </a:r>
            <a:r>
              <a:rPr sz="2800" b="1" spc="-9" baseline="-20833" dirty="0">
                <a:latin typeface="Times New Roman"/>
                <a:cs typeface="Times New Roman"/>
              </a:rPr>
              <a:t>2</a:t>
            </a:r>
            <a:r>
              <a:rPr sz="2800" b="1" spc="-7" dirty="0">
                <a:latin typeface="Symbol"/>
                <a:cs typeface="Symbol"/>
              </a:rPr>
              <a:t></a:t>
            </a:r>
            <a:r>
              <a:rPr sz="2800" b="1" i="1" spc="-7" dirty="0">
                <a:latin typeface="Times New Roman"/>
                <a:cs typeface="Times New Roman"/>
              </a:rPr>
              <a:t>x</a:t>
            </a:r>
            <a:r>
              <a:rPr sz="2800" b="1" spc="-9" baseline="-20833" dirty="0">
                <a:latin typeface="Times New Roman"/>
                <a:cs typeface="Times New Roman"/>
              </a:rPr>
              <a:t>3</a:t>
            </a:r>
            <a:r>
              <a:rPr sz="2800" b="1" spc="-7" dirty="0">
                <a:latin typeface="Symbol"/>
                <a:cs typeface="Symbol"/>
              </a:rPr>
              <a:t></a:t>
            </a:r>
            <a:r>
              <a:rPr sz="2800" b="1" spc="-7" dirty="0">
                <a:latin typeface="Times New Roman"/>
                <a:cs typeface="Times New Roman"/>
              </a:rPr>
              <a:t>10,	1</a:t>
            </a:r>
            <a:r>
              <a:rPr sz="2800" b="1" spc="-7" dirty="0">
                <a:latin typeface="Symbol"/>
                <a:cs typeface="Symbol"/>
              </a:rPr>
              <a:t></a:t>
            </a:r>
            <a:r>
              <a:rPr sz="2800" b="1" spc="-13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x</a:t>
            </a:r>
            <a:r>
              <a:rPr sz="2800" b="1" i="1" baseline="-20833" dirty="0">
                <a:latin typeface="Times New Roman"/>
                <a:cs typeface="Times New Roman"/>
              </a:rPr>
              <a:t>k</a:t>
            </a:r>
            <a:r>
              <a:rPr sz="2800" b="1" dirty="0">
                <a:latin typeface="Symbol"/>
                <a:cs typeface="Symbol"/>
              </a:rPr>
              <a:t></a:t>
            </a:r>
            <a:r>
              <a:rPr sz="2800" b="1" dirty="0">
                <a:latin typeface="Times New Roman"/>
                <a:cs typeface="Times New Roman"/>
              </a:rPr>
              <a:t>3,	</a:t>
            </a:r>
            <a:r>
              <a:rPr sz="2800" b="1" i="1" dirty="0">
                <a:latin typeface="Times New Roman"/>
                <a:cs typeface="Times New Roman"/>
              </a:rPr>
              <a:t>k</a:t>
            </a:r>
            <a:r>
              <a:rPr sz="2800" b="1" dirty="0">
                <a:latin typeface="Times New Roman"/>
                <a:cs typeface="Times New Roman"/>
              </a:rPr>
              <a:t>=1,2,3</a:t>
            </a:r>
            <a:endParaRPr sz="2800" dirty="0">
              <a:latin typeface="Times New Roman"/>
              <a:cs typeface="Times New Roman"/>
            </a:endParaRPr>
          </a:p>
          <a:p>
            <a:pPr marL="33866" marR="23706" indent="101597" algn="just">
              <a:spcBef>
                <a:spcPts val="20"/>
              </a:spcBef>
            </a:pPr>
            <a:r>
              <a:rPr sz="2800" b="1" i="1" spc="-7" dirty="0">
                <a:latin typeface="Times New Roman"/>
                <a:cs typeface="Times New Roman"/>
              </a:rPr>
              <a:t>P</a:t>
            </a:r>
            <a:r>
              <a:rPr sz="2800" b="1" spc="-7" dirty="0">
                <a:latin typeface="Times New Roman"/>
                <a:cs typeface="Times New Roman"/>
              </a:rPr>
              <a:t>(</a:t>
            </a:r>
            <a:r>
              <a:rPr sz="2800" b="1" i="1" spc="-7" dirty="0">
                <a:latin typeface="Times New Roman"/>
                <a:cs typeface="Times New Roman"/>
              </a:rPr>
              <a:t>x</a:t>
            </a:r>
            <a:r>
              <a:rPr sz="2800" b="1" spc="-9" baseline="-20833" dirty="0">
                <a:latin typeface="Times New Roman"/>
                <a:cs typeface="Times New Roman"/>
              </a:rPr>
              <a:t>1</a:t>
            </a:r>
            <a:r>
              <a:rPr sz="2800" b="1" spc="-7" dirty="0">
                <a:latin typeface="Times New Roman"/>
                <a:cs typeface="Times New Roman"/>
              </a:rPr>
              <a:t>,</a:t>
            </a:r>
            <a:r>
              <a:rPr sz="2800" b="1" spc="-27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…,</a:t>
            </a:r>
            <a:r>
              <a:rPr sz="2800" b="1" spc="-7" dirty="0">
                <a:latin typeface="Times New Roman"/>
                <a:cs typeface="Times New Roman"/>
              </a:rPr>
              <a:t> </a:t>
            </a:r>
            <a:r>
              <a:rPr sz="2800" b="1" i="1" spc="-7" dirty="0">
                <a:latin typeface="Times New Roman"/>
                <a:cs typeface="Times New Roman"/>
              </a:rPr>
              <a:t>x</a:t>
            </a:r>
            <a:r>
              <a:rPr sz="2800" b="1" i="1" spc="-9" baseline="-20833" dirty="0">
                <a:latin typeface="Times New Roman"/>
                <a:cs typeface="Times New Roman"/>
              </a:rPr>
              <a:t>k</a:t>
            </a:r>
            <a:r>
              <a:rPr sz="2800" b="1" spc="-7" dirty="0">
                <a:latin typeface="Times New Roman"/>
                <a:cs typeface="Times New Roman"/>
              </a:rPr>
              <a:t>)</a:t>
            </a:r>
            <a:r>
              <a:rPr sz="2800" b="1" spc="-13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:</a:t>
            </a:r>
            <a:r>
              <a:rPr sz="2800" b="1" spc="-13" dirty="0">
                <a:latin typeface="Times New Roman"/>
                <a:cs typeface="Times New Roman"/>
              </a:rPr>
              <a:t> </a:t>
            </a:r>
            <a:r>
              <a:rPr sz="2800" b="1" spc="-13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将</a:t>
            </a:r>
            <a:r>
              <a:rPr sz="2800" b="1" spc="-800" dirty="0">
                <a:latin typeface="宋体"/>
                <a:cs typeface="宋体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x</a:t>
            </a:r>
            <a:r>
              <a:rPr sz="2800" b="1" baseline="-20833" dirty="0">
                <a:latin typeface="Times New Roman"/>
                <a:cs typeface="Times New Roman"/>
              </a:rPr>
              <a:t>1</a:t>
            </a:r>
            <a:r>
              <a:rPr sz="2800" b="1" dirty="0">
                <a:latin typeface="Times New Roman"/>
                <a:cs typeface="Times New Roman"/>
              </a:rPr>
              <a:t>,</a:t>
            </a:r>
            <a:r>
              <a:rPr sz="2800" b="1" spc="-13" dirty="0">
                <a:latin typeface="Times New Roman"/>
                <a:cs typeface="Times New Roman"/>
              </a:rPr>
              <a:t> </a:t>
            </a:r>
            <a:r>
              <a:rPr sz="2800" b="1" i="1" spc="-7" dirty="0">
                <a:latin typeface="Times New Roman"/>
                <a:cs typeface="Times New Roman"/>
              </a:rPr>
              <a:t>x</a:t>
            </a:r>
            <a:r>
              <a:rPr sz="2800" b="1" spc="-9" baseline="-20833" dirty="0">
                <a:latin typeface="Times New Roman"/>
                <a:cs typeface="Times New Roman"/>
              </a:rPr>
              <a:t>2</a:t>
            </a:r>
            <a:r>
              <a:rPr sz="2800" b="1" spc="-7" dirty="0">
                <a:latin typeface="Times New Roman"/>
                <a:cs typeface="Times New Roman"/>
              </a:rPr>
              <a:t>,</a:t>
            </a:r>
            <a:r>
              <a:rPr sz="2800" b="1" spc="-2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…</a:t>
            </a:r>
            <a:r>
              <a:rPr sz="2800" b="1" spc="-7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,</a:t>
            </a:r>
            <a:r>
              <a:rPr sz="2800" b="1" spc="-7" dirty="0">
                <a:latin typeface="Times New Roman"/>
                <a:cs typeface="Times New Roman"/>
              </a:rPr>
              <a:t> </a:t>
            </a:r>
            <a:r>
              <a:rPr sz="2800" b="1" i="1" spc="-7" dirty="0" err="1">
                <a:latin typeface="Times New Roman"/>
                <a:cs typeface="Times New Roman"/>
              </a:rPr>
              <a:t>x</a:t>
            </a:r>
            <a:r>
              <a:rPr sz="2800" b="1" i="1" spc="-9" baseline="-20833" dirty="0" err="1">
                <a:latin typeface="Times New Roman"/>
                <a:cs typeface="Times New Roman"/>
              </a:rPr>
              <a:t>k</a:t>
            </a:r>
            <a:r>
              <a:rPr sz="2800" b="1" i="1" spc="-20" baseline="-20833" dirty="0">
                <a:latin typeface="Times New Roman"/>
                <a:cs typeface="Times New Roman"/>
              </a:rPr>
              <a:t> </a:t>
            </a:r>
            <a:r>
              <a:rPr sz="2800" b="1" spc="-7" dirty="0" smtClean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代入原</a:t>
            </a:r>
            <a:r>
              <a:rPr sz="2800" b="1" spc="-13" dirty="0" smtClean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不</a:t>
            </a:r>
            <a:r>
              <a:rPr sz="2800" b="1" spc="-7" dirty="0" smtClean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等式的相</a:t>
            </a:r>
            <a:r>
              <a:rPr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应</a:t>
            </a:r>
            <a:r>
              <a:rPr sz="2800" b="1" spc="7" dirty="0" smtClean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部</a:t>
            </a:r>
            <a:r>
              <a:rPr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分</a:t>
            </a:r>
            <a:r>
              <a:rPr sz="2800" b="1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，部分和小于等</a:t>
            </a:r>
            <a:r>
              <a:rPr sz="2800" b="1" spc="-7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于</a:t>
            </a:r>
            <a:r>
              <a:rPr sz="28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10</a:t>
            </a:r>
            <a:endParaRPr sz="2800" dirty="0">
              <a:latin typeface="黑体" panose="02010609060101010101" pitchFamily="49" charset="-122"/>
              <a:ea typeface="黑体" panose="02010609060101010101" pitchFamily="49" charset="-122"/>
              <a:cs typeface="Times New Roman"/>
            </a:endParaRPr>
          </a:p>
          <a:p>
            <a:pPr marL="33866">
              <a:lnSpc>
                <a:spcPts val="3700"/>
              </a:lnSpc>
              <a:spcBef>
                <a:spcPts val="1125"/>
              </a:spcBef>
            </a:pPr>
            <a:r>
              <a:rPr sz="2800" b="1" spc="-7" dirty="0" err="1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不满足多</a:t>
            </a:r>
            <a:r>
              <a:rPr sz="2800" b="1" dirty="0" err="1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米</a:t>
            </a:r>
            <a:r>
              <a:rPr sz="2800" b="1" spc="7" dirty="0" err="1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诺</a:t>
            </a:r>
            <a:r>
              <a:rPr sz="2800" b="1" dirty="0" err="1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性质</a:t>
            </a:r>
            <a:r>
              <a:rPr sz="2800" b="1" spc="-13" dirty="0" smtClean="0">
                <a:latin typeface="宋体"/>
                <a:cs typeface="宋体"/>
              </a:rPr>
              <a:t>：</a:t>
            </a:r>
            <a:endParaRPr lang="en-US" sz="2800" b="1" spc="-13" dirty="0" smtClean="0">
              <a:latin typeface="宋体"/>
              <a:cs typeface="宋体"/>
            </a:endParaRPr>
          </a:p>
          <a:p>
            <a:pPr marL="33866">
              <a:lnSpc>
                <a:spcPts val="3700"/>
              </a:lnSpc>
              <a:spcBef>
                <a:spcPts val="1125"/>
              </a:spcBef>
            </a:pPr>
            <a:r>
              <a:rPr lang="en-US" sz="2800" b="1" spc="-13" dirty="0">
                <a:latin typeface="宋体"/>
                <a:cs typeface="Times New Roman"/>
              </a:rPr>
              <a:t> </a:t>
            </a:r>
            <a:r>
              <a:rPr lang="en-US" sz="2800" b="1" spc="-13" dirty="0" smtClean="0">
                <a:latin typeface="宋体"/>
                <a:cs typeface="Times New Roman"/>
              </a:rPr>
              <a:t>             </a:t>
            </a:r>
            <a:r>
              <a:rPr sz="2800" b="1" dirty="0" smtClean="0">
                <a:latin typeface="Times New Roman"/>
                <a:cs typeface="Times New Roman"/>
              </a:rPr>
              <a:t>5</a:t>
            </a:r>
            <a:r>
              <a:rPr sz="2800" b="1" i="1" dirty="0" smtClean="0">
                <a:latin typeface="Times New Roman"/>
                <a:cs typeface="Times New Roman"/>
              </a:rPr>
              <a:t>x</a:t>
            </a:r>
            <a:r>
              <a:rPr sz="2800" b="1" baseline="-20833" dirty="0" smtClean="0">
                <a:latin typeface="Times New Roman"/>
                <a:cs typeface="Times New Roman"/>
              </a:rPr>
              <a:t>1 </a:t>
            </a:r>
            <a:r>
              <a:rPr sz="2800" b="1" dirty="0">
                <a:latin typeface="Times New Roman"/>
                <a:cs typeface="Times New Roman"/>
              </a:rPr>
              <a:t>+ 4</a:t>
            </a:r>
            <a:r>
              <a:rPr sz="2800" b="1" i="1" dirty="0">
                <a:latin typeface="Times New Roman"/>
                <a:cs typeface="Times New Roman"/>
              </a:rPr>
              <a:t>x</a:t>
            </a:r>
            <a:r>
              <a:rPr sz="2800" b="1" baseline="-20833" dirty="0">
                <a:latin typeface="Times New Roman"/>
                <a:cs typeface="Times New Roman"/>
              </a:rPr>
              <a:t>2 </a:t>
            </a:r>
            <a:r>
              <a:rPr sz="2800" b="1" spc="-7" dirty="0">
                <a:latin typeface="Symbol"/>
                <a:cs typeface="Symbol"/>
              </a:rPr>
              <a:t></a:t>
            </a:r>
            <a:r>
              <a:rPr sz="2800" b="1" spc="-7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x</a:t>
            </a:r>
            <a:r>
              <a:rPr sz="2800" b="1" baseline="-20833" dirty="0">
                <a:latin typeface="Times New Roman"/>
                <a:cs typeface="Times New Roman"/>
              </a:rPr>
              <a:t>3 </a:t>
            </a:r>
            <a:r>
              <a:rPr sz="2800" b="1" spc="-7" dirty="0">
                <a:latin typeface="Symbol"/>
                <a:cs typeface="Symbol"/>
              </a:rPr>
              <a:t></a:t>
            </a:r>
            <a:r>
              <a:rPr sz="2800" b="1" spc="-7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10 </a:t>
            </a:r>
            <a:r>
              <a:rPr sz="2800" b="1" spc="-7" dirty="0">
                <a:latin typeface="Lucida Sans Unicode"/>
                <a:cs typeface="Lucida Sans Unicode"/>
              </a:rPr>
              <a:t>⇏ </a:t>
            </a:r>
            <a:r>
              <a:rPr sz="2800" b="1" dirty="0">
                <a:latin typeface="Times New Roman"/>
                <a:cs typeface="Times New Roman"/>
              </a:rPr>
              <a:t>5</a:t>
            </a:r>
            <a:r>
              <a:rPr sz="2800" b="1" i="1" dirty="0">
                <a:latin typeface="Times New Roman"/>
                <a:cs typeface="Times New Roman"/>
              </a:rPr>
              <a:t>x</a:t>
            </a:r>
            <a:r>
              <a:rPr sz="2800" b="1" baseline="-20833" dirty="0">
                <a:latin typeface="Times New Roman"/>
                <a:cs typeface="Times New Roman"/>
              </a:rPr>
              <a:t>1 </a:t>
            </a:r>
            <a:r>
              <a:rPr sz="2800" b="1" dirty="0">
                <a:latin typeface="Times New Roman"/>
                <a:cs typeface="Times New Roman"/>
              </a:rPr>
              <a:t>+ 4</a:t>
            </a:r>
            <a:r>
              <a:rPr sz="2800" b="1" i="1" dirty="0">
                <a:latin typeface="Times New Roman"/>
                <a:cs typeface="Times New Roman"/>
              </a:rPr>
              <a:t>x</a:t>
            </a:r>
            <a:r>
              <a:rPr sz="2800" b="1" baseline="-20833" dirty="0">
                <a:latin typeface="Times New Roman"/>
                <a:cs typeface="Times New Roman"/>
              </a:rPr>
              <a:t>2 </a:t>
            </a:r>
            <a:r>
              <a:rPr sz="2800" b="1" spc="-7" dirty="0">
                <a:latin typeface="Symbol"/>
                <a:cs typeface="Symbol"/>
              </a:rPr>
              <a:t></a:t>
            </a:r>
            <a:r>
              <a:rPr sz="2800" b="1" spc="-152" dirty="0">
                <a:latin typeface="Times New Roman"/>
                <a:cs typeface="Times New Roman"/>
              </a:rPr>
              <a:t> </a:t>
            </a:r>
            <a:r>
              <a:rPr sz="2800" b="1" dirty="0" smtClean="0">
                <a:latin typeface="Times New Roman"/>
                <a:cs typeface="Times New Roman"/>
              </a:rPr>
              <a:t>10</a:t>
            </a:r>
            <a:endParaRPr lang="en-US" sz="2800" b="1" dirty="0" smtClean="0">
              <a:latin typeface="Times New Roman"/>
              <a:cs typeface="Times New Roman"/>
            </a:endParaRPr>
          </a:p>
          <a:p>
            <a:pPr marL="33866">
              <a:lnSpc>
                <a:spcPts val="3700"/>
              </a:lnSpc>
              <a:spcBef>
                <a:spcPts val="1125"/>
              </a:spcBef>
            </a:pP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868094" y="5524746"/>
            <a:ext cx="5079118" cy="44798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0799">
              <a:spcBef>
                <a:spcPts val="133"/>
              </a:spcBef>
              <a:tabLst>
                <a:tab pos="1322459" algn="l"/>
                <a:tab pos="2561103" algn="l"/>
              </a:tabLst>
            </a:pPr>
            <a:r>
              <a:rPr sz="2800" b="1" dirty="0">
                <a:latin typeface="Times New Roman"/>
                <a:cs typeface="Times New Roman"/>
              </a:rPr>
              <a:t>1 </a:t>
            </a:r>
            <a:r>
              <a:rPr sz="2800" b="1" spc="-7" dirty="0">
                <a:latin typeface="Symbol"/>
                <a:cs typeface="Symbol"/>
              </a:rPr>
              <a:t></a:t>
            </a:r>
            <a:r>
              <a:rPr sz="2800" b="1" spc="-7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x</a:t>
            </a:r>
            <a:r>
              <a:rPr sz="2800" b="1" baseline="-20833" dirty="0">
                <a:latin typeface="Times New Roman"/>
                <a:cs typeface="Times New Roman"/>
              </a:rPr>
              <a:t>1</a:t>
            </a:r>
            <a:r>
              <a:rPr sz="2800" b="1" dirty="0">
                <a:latin typeface="Times New Roman"/>
                <a:cs typeface="Times New Roman"/>
              </a:rPr>
              <a:t>,	</a:t>
            </a:r>
            <a:r>
              <a:rPr sz="2800" b="1" i="1" spc="-7" dirty="0">
                <a:latin typeface="Times New Roman"/>
                <a:cs typeface="Times New Roman"/>
              </a:rPr>
              <a:t>x</a:t>
            </a:r>
            <a:r>
              <a:rPr sz="2800" b="1" spc="-9" baseline="-20833" dirty="0">
                <a:latin typeface="Times New Roman"/>
                <a:cs typeface="Times New Roman"/>
              </a:rPr>
              <a:t>2 </a:t>
            </a:r>
            <a:r>
              <a:rPr sz="2800" b="1" spc="-7" dirty="0">
                <a:latin typeface="Symbol"/>
                <a:cs typeface="Symbol"/>
              </a:rPr>
              <a:t></a:t>
            </a:r>
            <a:r>
              <a:rPr sz="2800" b="1" dirty="0">
                <a:latin typeface="Times New Roman"/>
                <a:cs typeface="Times New Roman"/>
              </a:rPr>
              <a:t> 3,	0 </a:t>
            </a:r>
            <a:r>
              <a:rPr sz="2800" b="1" spc="-7" dirty="0">
                <a:latin typeface="Symbol"/>
                <a:cs typeface="Symbol"/>
              </a:rPr>
              <a:t></a:t>
            </a:r>
            <a:r>
              <a:rPr sz="2800" b="1" spc="-7" dirty="0">
                <a:latin typeface="Times New Roman"/>
                <a:cs typeface="Times New Roman"/>
              </a:rPr>
              <a:t> </a:t>
            </a:r>
            <a:r>
              <a:rPr sz="2800" b="1" i="1" spc="-7" dirty="0">
                <a:latin typeface="Times New Roman"/>
                <a:cs typeface="Times New Roman"/>
              </a:rPr>
              <a:t>x</a:t>
            </a:r>
            <a:r>
              <a:rPr sz="2800" b="1" spc="-9" baseline="-20833" dirty="0">
                <a:latin typeface="Times New Roman"/>
                <a:cs typeface="Times New Roman"/>
              </a:rPr>
              <a:t>3</a:t>
            </a:r>
            <a:r>
              <a:rPr sz="2800" b="1" spc="-7" dirty="0">
                <a:latin typeface="Times New Roman"/>
                <a:cs typeface="Times New Roman"/>
              </a:rPr>
              <a:t>'</a:t>
            </a:r>
            <a:r>
              <a:rPr sz="2800" b="1" spc="-7" dirty="0">
                <a:latin typeface="Symbol"/>
                <a:cs typeface="Symbol"/>
              </a:rPr>
              <a:t></a:t>
            </a:r>
            <a:r>
              <a:rPr sz="2800" b="1" spc="-12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2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17697" y="4288510"/>
            <a:ext cx="8462727" cy="12362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3866" marR="1098946">
              <a:spcBef>
                <a:spcPts val="2200"/>
              </a:spcBef>
            </a:pPr>
            <a:r>
              <a:rPr lang="zh-CN" altLang="en-US" sz="2800" b="1" spc="-7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变换使得</a:t>
            </a:r>
            <a:r>
              <a:rPr lang="zh-CN" altLang="en-US" sz="28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问</a:t>
            </a:r>
            <a:r>
              <a:rPr lang="zh-CN" altLang="en-US" sz="2800" b="1" spc="7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题</a:t>
            </a:r>
            <a:r>
              <a:rPr lang="zh-CN" altLang="en-US" sz="28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满足多米诺性质</a:t>
            </a:r>
            <a:r>
              <a:rPr lang="zh-CN" altLang="en-US" sz="2800" b="1" spc="-13" dirty="0">
                <a:latin typeface="宋体"/>
                <a:cs typeface="宋体"/>
              </a:rPr>
              <a:t>： </a:t>
            </a:r>
            <a:endParaRPr lang="en-US" altLang="zh-CN" sz="2800" b="1" spc="-13" dirty="0" smtClean="0">
              <a:latin typeface="宋体"/>
              <a:cs typeface="宋体"/>
            </a:endParaRPr>
          </a:p>
          <a:p>
            <a:pPr marL="33866" marR="1098946">
              <a:spcBef>
                <a:spcPts val="2200"/>
              </a:spcBef>
            </a:pPr>
            <a:r>
              <a:rPr lang="zh-CN" altLang="en-US" sz="2800" b="1" spc="-13" dirty="0" smtClean="0">
                <a:latin typeface="宋体"/>
                <a:cs typeface="宋体"/>
              </a:rPr>
              <a:t>令 </a:t>
            </a:r>
            <a:r>
              <a:rPr lang="en-US" altLang="zh-CN" sz="2800" b="1" i="1" dirty="0">
                <a:latin typeface="Times New Roman"/>
                <a:cs typeface="Times New Roman"/>
              </a:rPr>
              <a:t>x</a:t>
            </a:r>
            <a:r>
              <a:rPr lang="en-US" altLang="zh-CN" sz="2800" b="1" baseline="-20833" dirty="0">
                <a:latin typeface="Times New Roman"/>
                <a:cs typeface="Times New Roman"/>
              </a:rPr>
              <a:t>3 </a:t>
            </a:r>
            <a:r>
              <a:rPr lang="en-US" altLang="zh-CN" sz="2800" b="1" dirty="0">
                <a:latin typeface="Times New Roman"/>
                <a:cs typeface="Times New Roman"/>
              </a:rPr>
              <a:t>= 3</a:t>
            </a:r>
            <a:r>
              <a:rPr lang="zh-CN" altLang="en-US" sz="2800" b="1" spc="-27" dirty="0">
                <a:latin typeface="Times New Roman"/>
                <a:cs typeface="Times New Roman"/>
              </a:rPr>
              <a:t> </a:t>
            </a:r>
            <a:r>
              <a:rPr lang="zh-CN" altLang="en-US" sz="2800" b="1" dirty="0" smtClean="0">
                <a:latin typeface="Symbol"/>
                <a:cs typeface="Symbol"/>
              </a:rPr>
              <a:t></a:t>
            </a:r>
            <a:r>
              <a:rPr lang="en-US" altLang="zh-CN" sz="2800" b="1" i="1" spc="-7" dirty="0">
                <a:latin typeface="Times New Roman"/>
                <a:cs typeface="Times New Roman"/>
              </a:rPr>
              <a:t> x</a:t>
            </a:r>
            <a:r>
              <a:rPr lang="en-US" altLang="zh-CN" sz="2800" b="1" spc="-9" baseline="-20833" dirty="0">
                <a:latin typeface="Times New Roman"/>
                <a:cs typeface="Times New Roman"/>
              </a:rPr>
              <a:t>3</a:t>
            </a:r>
            <a:r>
              <a:rPr lang="en-US" altLang="zh-CN" sz="2800" b="1" spc="-7" dirty="0">
                <a:latin typeface="Times New Roman"/>
                <a:cs typeface="Times New Roman"/>
              </a:rPr>
              <a:t>' </a:t>
            </a:r>
            <a:r>
              <a:rPr lang="en-US" altLang="zh-CN" sz="2800" b="1" spc="-7" dirty="0" smtClean="0">
                <a:latin typeface="Times New Roman"/>
                <a:cs typeface="Times New Roman"/>
              </a:rPr>
              <a:t>             </a:t>
            </a:r>
            <a:r>
              <a:rPr lang="en-US" altLang="zh-CN" sz="2800" b="1" dirty="0" smtClean="0">
                <a:latin typeface="Times New Roman"/>
                <a:cs typeface="Times New Roman"/>
              </a:rPr>
              <a:t>5</a:t>
            </a:r>
            <a:r>
              <a:rPr lang="en-US" altLang="zh-CN" sz="2800" b="1" i="1" dirty="0" smtClean="0">
                <a:latin typeface="Times New Roman"/>
                <a:cs typeface="Times New Roman"/>
              </a:rPr>
              <a:t>x</a:t>
            </a:r>
            <a:r>
              <a:rPr lang="en-US" altLang="zh-CN" sz="2800" b="1" baseline="-20833" dirty="0" smtClean="0">
                <a:latin typeface="Times New Roman"/>
                <a:cs typeface="Times New Roman"/>
              </a:rPr>
              <a:t>1</a:t>
            </a:r>
            <a:r>
              <a:rPr lang="en-US" altLang="zh-CN" sz="2800" b="1" dirty="0">
                <a:latin typeface="Times New Roman"/>
                <a:cs typeface="Times New Roman"/>
              </a:rPr>
              <a:t>+ 4</a:t>
            </a:r>
            <a:r>
              <a:rPr lang="en-US" altLang="zh-CN" sz="2800" b="1" i="1" dirty="0">
                <a:latin typeface="Times New Roman"/>
                <a:cs typeface="Times New Roman"/>
              </a:rPr>
              <a:t>x</a:t>
            </a:r>
            <a:r>
              <a:rPr lang="en-US" altLang="zh-CN" sz="2800" b="1" baseline="-20833" dirty="0">
                <a:latin typeface="Times New Roman"/>
                <a:cs typeface="Times New Roman"/>
              </a:rPr>
              <a:t>2 </a:t>
            </a:r>
            <a:r>
              <a:rPr lang="en-US" altLang="zh-CN" sz="2800" b="1" dirty="0">
                <a:latin typeface="Times New Roman"/>
                <a:cs typeface="Times New Roman"/>
              </a:rPr>
              <a:t>+ </a:t>
            </a:r>
            <a:r>
              <a:rPr lang="en-US" altLang="zh-CN" sz="2800" b="1" i="1" spc="-7" dirty="0">
                <a:latin typeface="Times New Roman"/>
                <a:cs typeface="Times New Roman"/>
              </a:rPr>
              <a:t>x</a:t>
            </a:r>
            <a:r>
              <a:rPr lang="en-US" altLang="zh-CN" sz="2800" b="1" spc="-9" baseline="-20833" dirty="0">
                <a:latin typeface="Times New Roman"/>
                <a:cs typeface="Times New Roman"/>
              </a:rPr>
              <a:t>3</a:t>
            </a:r>
            <a:r>
              <a:rPr lang="en-US" altLang="zh-CN" sz="2800" b="1" spc="-7" dirty="0">
                <a:latin typeface="Times New Roman"/>
                <a:cs typeface="Times New Roman"/>
              </a:rPr>
              <a:t>'</a:t>
            </a:r>
            <a:r>
              <a:rPr lang="zh-CN" altLang="en-US" sz="2800" b="1" spc="-7" dirty="0">
                <a:latin typeface="Symbol"/>
                <a:cs typeface="Symbol"/>
              </a:rPr>
              <a:t></a:t>
            </a:r>
            <a:r>
              <a:rPr lang="zh-CN" altLang="en-US" sz="2800" b="1" spc="-73" dirty="0">
                <a:latin typeface="Times New Roman"/>
                <a:cs typeface="Times New Roman"/>
              </a:rPr>
              <a:t> </a:t>
            </a:r>
            <a:r>
              <a:rPr lang="en-US" altLang="zh-CN" sz="2800" b="1" dirty="0">
                <a:latin typeface="Times New Roman"/>
                <a:cs typeface="Times New Roman"/>
              </a:rPr>
              <a:t>13</a:t>
            </a:r>
            <a:endParaRPr lang="zh-CN" altLang="en-US" sz="28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5532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12351" y="318795"/>
            <a:ext cx="1042850" cy="632651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4000" b="1" spc="-13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小</a:t>
            </a:r>
            <a:r>
              <a:rPr sz="4000" b="1" spc="-20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结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5500" y="1065604"/>
            <a:ext cx="8405882" cy="5064634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R="2484057">
              <a:spcBef>
                <a:spcPts val="300"/>
              </a:spcBef>
              <a:buFont typeface="Arial"/>
              <a:buChar char="•"/>
              <a:tabLst>
                <a:tab pos="414856" algn="l"/>
                <a:tab pos="415703" algn="l"/>
              </a:tabLst>
            </a:pPr>
            <a:r>
              <a:rPr sz="2800" b="1" spc="-7" dirty="0" err="1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回溯算</a:t>
            </a:r>
            <a:r>
              <a:rPr sz="2800" b="1" dirty="0" err="1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法的适用条件</a:t>
            </a:r>
            <a:r>
              <a:rPr sz="2800" b="1" dirty="0" err="1" smtClean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：</a:t>
            </a:r>
            <a:r>
              <a:rPr sz="2800" b="1" spc="-7" dirty="0" err="1" smtClean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多米诺</a:t>
            </a:r>
            <a:r>
              <a:rPr sz="2800" b="1" dirty="0" err="1" smtClean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性</a:t>
            </a:r>
            <a:r>
              <a:rPr sz="2800" b="1" spc="-13" dirty="0" err="1" smtClean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质</a:t>
            </a:r>
            <a:endParaRPr sz="2800" dirty="0">
              <a:latin typeface="黑体" panose="02010609060101010101" pitchFamily="49" charset="-122"/>
              <a:ea typeface="黑体" panose="02010609060101010101" pitchFamily="49" charset="-122"/>
              <a:cs typeface="Times New Roman"/>
            </a:endParaRPr>
          </a:p>
          <a:p>
            <a:pPr>
              <a:spcBef>
                <a:spcPts val="300"/>
              </a:spcBef>
              <a:buFont typeface="Arial"/>
              <a:buChar char="•"/>
              <a:tabLst>
                <a:tab pos="414856" algn="l"/>
                <a:tab pos="415703" algn="l"/>
              </a:tabLst>
            </a:pPr>
            <a:r>
              <a:rPr sz="2800" b="1" spc="-7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回溯算</a:t>
            </a:r>
            <a:r>
              <a:rPr sz="28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法的设计步骤</a:t>
            </a:r>
            <a:endParaRPr sz="2800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  <a:cs typeface="宋体"/>
            </a:endParaRPr>
          </a:p>
          <a:p>
            <a:pPr marL="0" marR="430096" lvl="1" indent="457200">
              <a:spcBef>
                <a:spcPts val="300"/>
              </a:spcBef>
              <a:buFont typeface="Times New Roman"/>
              <a:buAutoNum type="arabicParenBoth"/>
              <a:tabLst>
                <a:tab pos="935543" algn="l"/>
              </a:tabLst>
            </a:pPr>
            <a:r>
              <a:rPr sz="2800" b="1" spc="-7" dirty="0" err="1" smtClean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定义解向量和</a:t>
            </a:r>
            <a:r>
              <a:rPr sz="2800" b="1" dirty="0" err="1" smtClean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每个分</a:t>
            </a:r>
            <a:r>
              <a:rPr sz="2800" b="1" spc="-7" dirty="0" err="1" smtClean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量</a:t>
            </a:r>
            <a:r>
              <a:rPr sz="2800" b="1" dirty="0" err="1" smtClean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的取值</a:t>
            </a:r>
            <a:r>
              <a:rPr sz="2800" b="1" spc="-7" dirty="0" err="1" smtClean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范围解向</a:t>
            </a:r>
            <a:r>
              <a:rPr sz="2800" b="1" spc="-13" dirty="0" err="1" smtClean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量为</a:t>
            </a:r>
            <a:r>
              <a:rPr sz="2800" b="1" dirty="0" smtClean="0">
                <a:latin typeface="Times New Roman"/>
                <a:cs typeface="Times New Roman"/>
              </a:rPr>
              <a:t>&lt;</a:t>
            </a:r>
            <a:r>
              <a:rPr sz="2800" b="1" spc="-20" dirty="0" smtClean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x</a:t>
            </a:r>
            <a:r>
              <a:rPr sz="2800" b="1" baseline="-21072" dirty="0">
                <a:latin typeface="Times New Roman"/>
                <a:cs typeface="Times New Roman"/>
              </a:rPr>
              <a:t>1</a:t>
            </a:r>
            <a:r>
              <a:rPr sz="2800" b="1" dirty="0">
                <a:latin typeface="Times New Roman"/>
                <a:cs typeface="Times New Roman"/>
              </a:rPr>
              <a:t>,</a:t>
            </a:r>
            <a:r>
              <a:rPr sz="2800" b="1" spc="-7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x</a:t>
            </a:r>
            <a:r>
              <a:rPr sz="2800" b="1" baseline="-21072" dirty="0">
                <a:latin typeface="Times New Roman"/>
                <a:cs typeface="Times New Roman"/>
              </a:rPr>
              <a:t>2</a:t>
            </a:r>
            <a:r>
              <a:rPr sz="2800" b="1" dirty="0">
                <a:latin typeface="Times New Roman"/>
                <a:cs typeface="Times New Roman"/>
              </a:rPr>
              <a:t>,</a:t>
            </a:r>
            <a:r>
              <a:rPr sz="2800" b="1" spc="-7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…,</a:t>
            </a:r>
            <a:r>
              <a:rPr sz="2800" b="1" i="1" dirty="0" err="1">
                <a:latin typeface="Times New Roman"/>
                <a:cs typeface="Times New Roman"/>
              </a:rPr>
              <a:t>x</a:t>
            </a:r>
            <a:r>
              <a:rPr sz="2800" b="1" i="1" baseline="-21072" dirty="0" err="1">
                <a:latin typeface="Times New Roman"/>
                <a:cs typeface="Times New Roman"/>
              </a:rPr>
              <a:t>n</a:t>
            </a:r>
            <a:r>
              <a:rPr sz="2800" b="1" dirty="0" smtClean="0">
                <a:latin typeface="Times New Roman"/>
                <a:cs typeface="Times New Roman"/>
              </a:rPr>
              <a:t>&gt;</a:t>
            </a:r>
            <a:r>
              <a:rPr lang="zh-CN" altLang="en-US" sz="2800" b="1" dirty="0" smtClean="0">
                <a:latin typeface="Times New Roman"/>
                <a:cs typeface="Times New Roman"/>
              </a:rPr>
              <a:t>，</a:t>
            </a:r>
            <a:r>
              <a:rPr sz="2800" b="1" spc="-7" dirty="0" err="1" smtClean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确</a:t>
            </a:r>
            <a:r>
              <a:rPr sz="2800" b="1" spc="-13" dirty="0" err="1" smtClean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定</a:t>
            </a:r>
            <a:r>
              <a:rPr sz="2800" b="1" spc="-747" dirty="0" smtClean="0">
                <a:latin typeface="宋体"/>
                <a:cs typeface="宋体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x</a:t>
            </a:r>
            <a:r>
              <a:rPr sz="2800" b="1" i="1" baseline="-21072" dirty="0">
                <a:latin typeface="Times New Roman"/>
                <a:cs typeface="Times New Roman"/>
              </a:rPr>
              <a:t>i</a:t>
            </a:r>
            <a:r>
              <a:rPr sz="2800" b="1" i="1" spc="-20" baseline="-21072" dirty="0">
                <a:latin typeface="Times New Roman"/>
                <a:cs typeface="Times New Roman"/>
              </a:rPr>
              <a:t> </a:t>
            </a:r>
            <a:r>
              <a:rPr sz="2800" b="1" spc="-7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的取值集合</a:t>
            </a:r>
            <a:r>
              <a:rPr sz="2800" b="1" spc="-13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为</a:t>
            </a:r>
            <a:r>
              <a:rPr sz="2800" b="1" spc="-713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X</a:t>
            </a:r>
            <a:r>
              <a:rPr sz="2800" b="1" i="1" baseline="-21072" dirty="0">
                <a:latin typeface="Times New Roman"/>
                <a:cs typeface="Times New Roman"/>
              </a:rPr>
              <a:t>i</a:t>
            </a:r>
            <a:r>
              <a:rPr sz="2800" b="1" i="1" spc="349" baseline="-21072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,</a:t>
            </a:r>
            <a:r>
              <a:rPr sz="2800" b="1" spc="-13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i</a:t>
            </a:r>
            <a:r>
              <a:rPr sz="2800" b="1" i="1" spc="-13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=1,2,…,</a:t>
            </a:r>
            <a:r>
              <a:rPr sz="2800" b="1" spc="-47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n</a:t>
            </a:r>
            <a:r>
              <a:rPr sz="2800" b="1" dirty="0" smtClean="0">
                <a:latin typeface="Times New Roman"/>
                <a:cs typeface="Times New Roman"/>
              </a:rPr>
              <a:t>.</a:t>
            </a:r>
            <a:endParaRPr lang="en-US" sz="2800" b="1" dirty="0" smtClean="0">
              <a:latin typeface="Times New Roman"/>
              <a:cs typeface="Times New Roman"/>
            </a:endParaRPr>
          </a:p>
          <a:p>
            <a:pPr marR="40639">
              <a:spcBef>
                <a:spcPts val="300"/>
              </a:spcBef>
              <a:buFont typeface="Times New Roman"/>
              <a:buAutoNum type="arabicParenBoth" startAt="2"/>
              <a:tabLst>
                <a:tab pos="580797" algn="l"/>
                <a:tab pos="1969297" algn="l"/>
              </a:tabLst>
            </a:pPr>
            <a:r>
              <a:rPr lang="zh-CN" altLang="en-US" sz="2800" b="1" spc="-7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在</a:t>
            </a:r>
            <a:r>
              <a:rPr lang="en-US" altLang="zh-CN" sz="2800" b="1" dirty="0">
                <a:latin typeface="Times New Roman"/>
                <a:cs typeface="Times New Roman"/>
              </a:rPr>
              <a:t>&lt;</a:t>
            </a:r>
            <a:r>
              <a:rPr lang="en-US" altLang="zh-CN" sz="2800" b="1" i="1" dirty="0">
                <a:latin typeface="Times New Roman"/>
                <a:cs typeface="Times New Roman"/>
              </a:rPr>
              <a:t>x</a:t>
            </a:r>
            <a:r>
              <a:rPr lang="en-US" altLang="zh-CN" sz="2800" b="1" baseline="-21072" dirty="0">
                <a:latin typeface="Times New Roman"/>
                <a:cs typeface="Times New Roman"/>
              </a:rPr>
              <a:t>1</a:t>
            </a:r>
            <a:r>
              <a:rPr lang="en-US" altLang="zh-CN" sz="2800" b="1" dirty="0">
                <a:latin typeface="Times New Roman"/>
                <a:cs typeface="Times New Roman"/>
              </a:rPr>
              <a:t>,</a:t>
            </a:r>
            <a:r>
              <a:rPr lang="en-US" altLang="zh-CN" sz="2800" b="1" i="1" dirty="0">
                <a:latin typeface="Times New Roman"/>
                <a:cs typeface="Times New Roman"/>
              </a:rPr>
              <a:t>x</a:t>
            </a:r>
            <a:r>
              <a:rPr lang="en-US" altLang="zh-CN" sz="2800" b="1" baseline="-21072" dirty="0">
                <a:latin typeface="Times New Roman"/>
                <a:cs typeface="Times New Roman"/>
              </a:rPr>
              <a:t>2</a:t>
            </a:r>
            <a:r>
              <a:rPr lang="en-US" altLang="zh-CN" sz="2800" b="1" dirty="0">
                <a:latin typeface="Times New Roman"/>
                <a:cs typeface="Times New Roman"/>
              </a:rPr>
              <a:t>,…,</a:t>
            </a:r>
            <a:r>
              <a:rPr lang="en-US" altLang="zh-CN" sz="2800" b="1" i="1" dirty="0">
                <a:latin typeface="Times New Roman"/>
                <a:cs typeface="Times New Roman"/>
              </a:rPr>
              <a:t>x</a:t>
            </a:r>
            <a:r>
              <a:rPr lang="en-US" altLang="zh-CN" sz="2800" b="1" i="1" baseline="-21072" dirty="0">
                <a:latin typeface="Times New Roman"/>
                <a:cs typeface="Times New Roman"/>
              </a:rPr>
              <a:t>k</a:t>
            </a:r>
            <a:r>
              <a:rPr lang="en-US" altLang="zh-CN" sz="2800" b="1" baseline="-21072" dirty="0">
                <a:latin typeface="Times New Roman"/>
                <a:cs typeface="Times New Roman"/>
              </a:rPr>
              <a:t>-1</a:t>
            </a:r>
            <a:r>
              <a:rPr lang="en-US" altLang="zh-CN" sz="2800" b="1" dirty="0">
                <a:latin typeface="Times New Roman"/>
                <a:cs typeface="Times New Roman"/>
              </a:rPr>
              <a:t>&gt;</a:t>
            </a:r>
            <a:r>
              <a:rPr lang="zh-CN" altLang="en-US" sz="2800" b="1" spc="-7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确定如何计</a:t>
            </a:r>
            <a:r>
              <a:rPr lang="zh-CN" altLang="en-US" sz="2800" b="1" spc="-13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算</a:t>
            </a:r>
            <a:r>
              <a:rPr lang="zh-CN" altLang="en-US" sz="2800" b="1" spc="-740" dirty="0">
                <a:latin typeface="宋体"/>
                <a:cs typeface="宋体"/>
              </a:rPr>
              <a:t> </a:t>
            </a:r>
            <a:r>
              <a:rPr lang="en-US" altLang="zh-CN" sz="2800" b="1" i="1" dirty="0" err="1">
                <a:latin typeface="Times New Roman"/>
                <a:cs typeface="Times New Roman"/>
              </a:rPr>
              <a:t>x</a:t>
            </a:r>
            <a:r>
              <a:rPr lang="en-US" altLang="zh-CN" sz="2800" b="1" i="1" baseline="-21072" dirty="0" err="1">
                <a:latin typeface="Times New Roman"/>
                <a:cs typeface="Times New Roman"/>
              </a:rPr>
              <a:t>k</a:t>
            </a:r>
            <a:r>
              <a:rPr lang="zh-CN" altLang="en-US" sz="2800" b="1" i="1" spc="-29" baseline="-21072" dirty="0">
                <a:latin typeface="Times New Roman"/>
                <a:cs typeface="Times New Roman"/>
              </a:rPr>
              <a:t> </a:t>
            </a:r>
            <a:r>
              <a:rPr lang="zh-CN" altLang="en-US" sz="2800" b="1" spc="-7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取值集合</a:t>
            </a:r>
            <a:r>
              <a:rPr lang="en-US" altLang="zh-CN" sz="2800" b="1" i="1" dirty="0" err="1">
                <a:latin typeface="Times New Roman"/>
                <a:cs typeface="Times New Roman"/>
              </a:rPr>
              <a:t>S</a:t>
            </a:r>
            <a:r>
              <a:rPr lang="en-US" altLang="zh-CN" sz="2800" b="1" i="1" baseline="-21072" dirty="0" err="1">
                <a:latin typeface="Times New Roman"/>
                <a:cs typeface="Times New Roman"/>
              </a:rPr>
              <a:t>k</a:t>
            </a:r>
            <a:r>
              <a:rPr lang="en-US" altLang="zh-CN" sz="2800" b="1" dirty="0" smtClean="0">
                <a:latin typeface="Times New Roman"/>
                <a:cs typeface="Times New Roman"/>
              </a:rPr>
              <a:t>,  </a:t>
            </a:r>
            <a:r>
              <a:rPr lang="en-US" altLang="zh-CN" sz="2800" b="1" i="1" dirty="0" err="1" smtClean="0">
                <a:latin typeface="Times New Roman"/>
                <a:cs typeface="Times New Roman"/>
              </a:rPr>
              <a:t>S</a:t>
            </a:r>
            <a:r>
              <a:rPr lang="en-US" altLang="zh-CN" sz="2800" b="1" i="1" baseline="-21072" dirty="0" err="1" smtClean="0">
                <a:latin typeface="Times New Roman"/>
                <a:cs typeface="Times New Roman"/>
              </a:rPr>
              <a:t>k</a:t>
            </a:r>
            <a:r>
              <a:rPr lang="en-US" altLang="zh-CN" sz="2800" b="1" i="1" baseline="-21072" dirty="0" smtClean="0">
                <a:latin typeface="Times New Roman"/>
                <a:cs typeface="Times New Roman"/>
              </a:rPr>
              <a:t> </a:t>
            </a:r>
            <a:r>
              <a:rPr lang="zh-CN" altLang="en-US" sz="2800" b="1" dirty="0">
                <a:latin typeface="Symbol"/>
                <a:cs typeface="Symbol"/>
              </a:rPr>
              <a:t></a:t>
            </a:r>
            <a:r>
              <a:rPr lang="zh-CN" altLang="en-US" sz="2800" b="1" spc="-233" dirty="0">
                <a:latin typeface="Times New Roman"/>
                <a:cs typeface="Times New Roman"/>
              </a:rPr>
              <a:t> </a:t>
            </a:r>
            <a:r>
              <a:rPr lang="en-US" altLang="zh-CN" sz="2800" b="1" i="1" dirty="0" err="1">
                <a:latin typeface="Times New Roman"/>
                <a:cs typeface="Times New Roman"/>
              </a:rPr>
              <a:t>X</a:t>
            </a:r>
            <a:r>
              <a:rPr lang="en-US" altLang="zh-CN" sz="2800" b="1" i="1" baseline="-21072" dirty="0" err="1">
                <a:latin typeface="Times New Roman"/>
                <a:cs typeface="Times New Roman"/>
              </a:rPr>
              <a:t>k</a:t>
            </a:r>
            <a:endParaRPr lang="zh-CN" altLang="en-US" sz="2800" baseline="-21072" dirty="0">
              <a:latin typeface="Times New Roman"/>
              <a:cs typeface="Times New Roman"/>
            </a:endParaRPr>
          </a:p>
          <a:p>
            <a:pPr>
              <a:spcBef>
                <a:spcPts val="300"/>
              </a:spcBef>
              <a:buFont typeface="Times New Roman"/>
              <a:buAutoNum type="arabicParenBoth" startAt="2"/>
              <a:tabLst>
                <a:tab pos="580797" algn="l"/>
              </a:tabLst>
            </a:pPr>
            <a:r>
              <a:rPr lang="zh-CN" altLang="en-US" sz="2800" b="1" spc="-7" dirty="0">
                <a:latin typeface="Times New Roman" panose="02020603050405020304" pitchFamily="18" charset="0"/>
                <a:cs typeface="Times New Roman" panose="02020603050405020304" pitchFamily="18" charset="0"/>
              </a:rPr>
              <a:t>确定结点儿子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zh-CN" altLang="en-US" sz="2800" b="1" spc="-7" dirty="0">
                <a:latin typeface="Times New Roman" panose="02020603050405020304" pitchFamily="18" charset="0"/>
                <a:cs typeface="Times New Roman" panose="02020603050405020304" pitchFamily="18" charset="0"/>
              </a:rPr>
              <a:t>排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列规</a:t>
            </a:r>
            <a:r>
              <a:rPr lang="zh-CN" altLang="en-US" sz="2800" b="1" spc="-13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300"/>
              </a:spcBef>
              <a:buFont typeface="Times New Roman"/>
              <a:buAutoNum type="arabicParenBoth" startAt="2"/>
              <a:tabLst>
                <a:tab pos="580797" algn="l"/>
              </a:tabLst>
            </a:pPr>
            <a:r>
              <a:rPr lang="zh-CN" altLang="en-US" sz="2800" b="1" spc="-7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判断是否满足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多</a:t>
            </a:r>
            <a:r>
              <a:rPr lang="zh-CN" altLang="en-US" sz="2800" b="1" spc="-7" dirty="0">
                <a:latin typeface="Times New Roman" panose="02020603050405020304" pitchFamily="18" charset="0"/>
                <a:cs typeface="Times New Roman" panose="02020603050405020304" pitchFamily="18" charset="0"/>
              </a:rPr>
              <a:t>米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诺性</a:t>
            </a:r>
            <a:r>
              <a:rPr lang="zh-CN" altLang="en-US" sz="2800" b="1" spc="-13" dirty="0">
                <a:latin typeface="Times New Roman" panose="02020603050405020304" pitchFamily="18" charset="0"/>
                <a:cs typeface="Times New Roman" panose="02020603050405020304" pitchFamily="18" charset="0"/>
              </a:rPr>
              <a:t>质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300"/>
              </a:spcBef>
              <a:buFont typeface="Times New Roman"/>
              <a:buAutoNum type="arabicParenBoth" startAt="2"/>
              <a:tabLst>
                <a:tab pos="597730" algn="l"/>
              </a:tabLst>
            </a:pPr>
            <a:r>
              <a:rPr lang="zh-CN" altLang="en-US" sz="2800" b="1" spc="-7" dirty="0">
                <a:latin typeface="Times New Roman" panose="02020603050405020304" pitchFamily="18" charset="0"/>
                <a:cs typeface="Times New Roman" panose="02020603050405020304" pitchFamily="18" charset="0"/>
              </a:rPr>
              <a:t>确定每个结点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分</a:t>
            </a:r>
            <a:r>
              <a:rPr lang="zh-CN" altLang="en-US" sz="2800" b="1" spc="-7" dirty="0">
                <a:latin typeface="Times New Roman" panose="02020603050405020304" pitchFamily="18" charset="0"/>
                <a:cs typeface="Times New Roman" panose="02020603050405020304" pitchFamily="18" charset="0"/>
              </a:rPr>
              <a:t>支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的约束</a:t>
            </a:r>
            <a:r>
              <a:rPr lang="zh-CN" altLang="en-US" sz="2800" b="1" spc="-7" dirty="0">
                <a:latin typeface="Times New Roman" panose="02020603050405020304" pitchFamily="18" charset="0"/>
                <a:cs typeface="Times New Roman" panose="02020603050405020304" pitchFamily="18" charset="0"/>
              </a:rPr>
              <a:t>条件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300"/>
              </a:spcBef>
              <a:buFont typeface="Times New Roman"/>
              <a:buAutoNum type="arabicParenBoth" startAt="2"/>
              <a:tabLst>
                <a:tab pos="597730" algn="l"/>
              </a:tabLst>
            </a:pPr>
            <a:r>
              <a:rPr lang="zh-CN" altLang="en-US" sz="2800" b="1" spc="-7" dirty="0">
                <a:latin typeface="Times New Roman" panose="02020603050405020304" pitchFamily="18" charset="0"/>
                <a:cs typeface="Times New Roman" panose="02020603050405020304" pitchFamily="18" charset="0"/>
              </a:rPr>
              <a:t>确定搜索策</a:t>
            </a:r>
            <a:r>
              <a:rPr lang="zh-CN" altLang="en-US" sz="2800" b="1" spc="-13" dirty="0">
                <a:latin typeface="Times New Roman" panose="02020603050405020304" pitchFamily="18" charset="0"/>
                <a:cs typeface="Times New Roman" panose="02020603050405020304" pitchFamily="18" charset="0"/>
              </a:rPr>
              <a:t>略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en-US" sz="2800" b="1" spc="1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800" b="1" spc="-7" dirty="0">
                <a:latin typeface="Times New Roman" panose="02020603050405020304" pitchFamily="18" charset="0"/>
                <a:cs typeface="Times New Roman" panose="02020603050405020304" pitchFamily="18" charset="0"/>
              </a:rPr>
              <a:t>深度优</a:t>
            </a:r>
            <a:r>
              <a:rPr lang="zh-CN" altLang="en-US" sz="2800" b="1" spc="-13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先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en-US" sz="2800" b="1" spc="-7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宽度优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先</a:t>
            </a:r>
            <a:r>
              <a:rPr lang="zh-CN" altLang="en-US" sz="2800" b="1" spc="-13" dirty="0">
                <a:latin typeface="Times New Roman" panose="02020603050405020304" pitchFamily="18" charset="0"/>
                <a:cs typeface="Times New Roman" panose="02020603050405020304" pitchFamily="18" charset="0"/>
              </a:rPr>
              <a:t>等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300"/>
              </a:spcBef>
              <a:buFont typeface="Times New Roman"/>
              <a:buAutoNum type="arabicParenBoth" startAt="2"/>
              <a:tabLst>
                <a:tab pos="571486" algn="l"/>
              </a:tabLst>
            </a:pPr>
            <a:r>
              <a:rPr lang="zh-CN" altLang="en-US" sz="2800" b="1" spc="-7" dirty="0">
                <a:latin typeface="Times New Roman" panose="02020603050405020304" pitchFamily="18" charset="0"/>
                <a:cs typeface="Times New Roman" panose="02020603050405020304" pitchFamily="18" charset="0"/>
              </a:rPr>
              <a:t>确定存储搜索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路径的</a:t>
            </a:r>
            <a:r>
              <a:rPr lang="zh-CN" altLang="en-US" sz="2800" b="1" spc="-7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数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据结</a:t>
            </a:r>
            <a:r>
              <a:rPr lang="zh-CN" altLang="en-US" sz="2800" b="1" spc="-13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构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3510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34671" y="2128254"/>
            <a:ext cx="6078070" cy="2048424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 marR="6773" algn="ctr">
              <a:lnSpc>
                <a:spcPct val="100000"/>
              </a:lnSpc>
              <a:spcBef>
                <a:spcPts val="133"/>
              </a:spcBef>
            </a:pPr>
            <a:r>
              <a:rPr sz="6600" spc="-20" dirty="0" err="1" smtClean="0">
                <a:latin typeface="黑体" panose="02010609060101010101" pitchFamily="49" charset="-122"/>
                <a:ea typeface="黑体" panose="02010609060101010101" pitchFamily="49" charset="-122"/>
              </a:rPr>
              <a:t>回溯</a:t>
            </a:r>
            <a:r>
              <a:rPr sz="6600" spc="7" dirty="0" err="1" smtClean="0">
                <a:latin typeface="黑体" panose="02010609060101010101" pitchFamily="49" charset="-122"/>
                <a:ea typeface="黑体" panose="02010609060101010101" pitchFamily="49" charset="-122"/>
              </a:rPr>
              <a:t>算</a:t>
            </a:r>
            <a:r>
              <a:rPr sz="6600" spc="-7" dirty="0" err="1" smtClean="0">
                <a:latin typeface="黑体" panose="02010609060101010101" pitchFamily="49" charset="-122"/>
                <a:ea typeface="黑体" panose="02010609060101010101" pitchFamily="49" charset="-122"/>
              </a:rPr>
              <a:t>法</a:t>
            </a:r>
            <a:r>
              <a:rPr sz="6600" spc="-27" dirty="0" err="1" smtClean="0"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r>
              <a:rPr sz="6600" spc="-20" dirty="0" err="1" smtClean="0">
                <a:latin typeface="黑体" panose="02010609060101010101" pitchFamily="49" charset="-122"/>
                <a:ea typeface="黑体" panose="02010609060101010101" pitchFamily="49" charset="-122"/>
              </a:rPr>
              <a:t>实现</a:t>
            </a:r>
            <a:r>
              <a:rPr sz="6600" spc="7" dirty="0" err="1" smtClean="0">
                <a:latin typeface="黑体" panose="02010609060101010101" pitchFamily="49" charset="-122"/>
                <a:ea typeface="黑体" panose="02010609060101010101" pitchFamily="49" charset="-122"/>
              </a:rPr>
              <a:t>及</a:t>
            </a:r>
            <a:r>
              <a:rPr sz="6600" spc="-7" dirty="0" err="1" smtClean="0">
                <a:latin typeface="黑体" panose="02010609060101010101" pitchFamily="49" charset="-122"/>
                <a:ea typeface="黑体" panose="02010609060101010101" pitchFamily="49" charset="-122"/>
              </a:rPr>
              <a:t>实</a:t>
            </a:r>
            <a:r>
              <a:rPr sz="6600" spc="-33" dirty="0" err="1" smtClean="0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endParaRPr sz="66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81276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15354" y="240635"/>
            <a:ext cx="4098366" cy="632651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 algn="ctr">
              <a:lnSpc>
                <a:spcPct val="100000"/>
              </a:lnSpc>
              <a:spcBef>
                <a:spcPts val="133"/>
              </a:spcBef>
            </a:pPr>
            <a:r>
              <a:rPr sz="4000" b="1" spc="-13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回溯算法递归</a:t>
            </a:r>
            <a:r>
              <a:rPr sz="4000" b="1" spc="-7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</a:t>
            </a:r>
            <a:r>
              <a:rPr sz="4000" b="1" spc="-2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现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6843" y="4277699"/>
            <a:ext cx="7669651" cy="217935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0799">
              <a:spcBef>
                <a:spcPts val="133"/>
              </a:spcBef>
            </a:pPr>
            <a:r>
              <a:rPr sz="2800" b="1" spc="-7" dirty="0">
                <a:latin typeface="宋体"/>
                <a:cs typeface="宋体"/>
              </a:rPr>
              <a:t>算</a:t>
            </a:r>
            <a:r>
              <a:rPr sz="2800" b="1" spc="-13" dirty="0">
                <a:latin typeface="宋体"/>
                <a:cs typeface="宋体"/>
              </a:rPr>
              <a:t>法</a:t>
            </a:r>
            <a:r>
              <a:rPr sz="2800" b="1" spc="-7" dirty="0">
                <a:latin typeface="宋体"/>
                <a:cs typeface="宋体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ReBacktrack</a:t>
            </a:r>
            <a:r>
              <a:rPr sz="2800" b="1" spc="-33" dirty="0">
                <a:latin typeface="Times New Roman"/>
                <a:cs typeface="Times New Roman"/>
              </a:rPr>
              <a:t> </a:t>
            </a:r>
            <a:r>
              <a:rPr sz="2800" b="1" spc="-7" dirty="0">
                <a:latin typeface="Times New Roman"/>
                <a:cs typeface="Times New Roman"/>
              </a:rPr>
              <a:t>(</a:t>
            </a:r>
            <a:r>
              <a:rPr sz="2800" b="1" i="1" spc="-7" dirty="0">
                <a:latin typeface="Times New Roman"/>
                <a:cs typeface="Times New Roman"/>
              </a:rPr>
              <a:t>n</a:t>
            </a:r>
            <a:r>
              <a:rPr sz="2800" b="1" spc="-7" dirty="0">
                <a:latin typeface="Times New Roman"/>
                <a:cs typeface="Times New Roman"/>
              </a:rPr>
              <a:t>)</a:t>
            </a:r>
            <a:endParaRPr sz="2800" dirty="0">
              <a:latin typeface="Times New Roman"/>
              <a:cs typeface="Times New Roman"/>
            </a:endParaRPr>
          </a:p>
          <a:p>
            <a:pPr marL="50799"/>
            <a:r>
              <a:rPr sz="2800" b="1" spc="-7" dirty="0">
                <a:latin typeface="宋体"/>
                <a:cs typeface="宋体"/>
              </a:rPr>
              <a:t>输入：</a:t>
            </a:r>
            <a:r>
              <a:rPr sz="2800" b="1" i="1" spc="-7" dirty="0">
                <a:latin typeface="Times New Roman"/>
                <a:cs typeface="Times New Roman"/>
              </a:rPr>
              <a:t>n</a:t>
            </a:r>
            <a:endParaRPr sz="2800" dirty="0">
              <a:latin typeface="Times New Roman"/>
              <a:cs typeface="Times New Roman"/>
            </a:endParaRPr>
          </a:p>
          <a:p>
            <a:pPr marL="50799"/>
            <a:r>
              <a:rPr sz="2800" b="1" spc="-7" dirty="0">
                <a:latin typeface="宋体"/>
                <a:cs typeface="宋体"/>
              </a:rPr>
              <a:t>输出：所有的解</a:t>
            </a:r>
            <a:endParaRPr sz="2800" dirty="0">
              <a:latin typeface="宋体"/>
              <a:cs typeface="宋体"/>
            </a:endParaRPr>
          </a:p>
          <a:p>
            <a:pPr marL="516454" indent="-466502">
              <a:lnSpc>
                <a:spcPts val="3500"/>
              </a:lnSpc>
              <a:buAutoNum type="arabicPeriod"/>
              <a:tabLst>
                <a:tab pos="516454" algn="l"/>
                <a:tab pos="517300" algn="l"/>
                <a:tab pos="1171757" algn="l"/>
              </a:tabLst>
            </a:pPr>
            <a:r>
              <a:rPr sz="2800" b="1" spc="-7" dirty="0">
                <a:latin typeface="Times New Roman"/>
                <a:cs typeface="Times New Roman"/>
              </a:rPr>
              <a:t>for	</a:t>
            </a:r>
            <a:r>
              <a:rPr sz="2800" b="1" i="1" dirty="0">
                <a:latin typeface="Times New Roman"/>
                <a:cs typeface="Times New Roman"/>
              </a:rPr>
              <a:t>k</a:t>
            </a:r>
            <a:r>
              <a:rPr sz="2800" b="1" dirty="0">
                <a:latin typeface="Symbol"/>
                <a:cs typeface="Symbol"/>
              </a:rPr>
              <a:t></a:t>
            </a:r>
            <a:r>
              <a:rPr sz="2800" b="1" dirty="0">
                <a:latin typeface="Times New Roman"/>
                <a:cs typeface="Times New Roman"/>
              </a:rPr>
              <a:t>1</a:t>
            </a:r>
            <a:r>
              <a:rPr sz="2800" b="1" spc="-33" dirty="0">
                <a:latin typeface="Times New Roman"/>
                <a:cs typeface="Times New Roman"/>
              </a:rPr>
              <a:t> </a:t>
            </a:r>
            <a:r>
              <a:rPr sz="2800" b="1" spc="-7" dirty="0">
                <a:latin typeface="Times New Roman"/>
                <a:cs typeface="Times New Roman"/>
              </a:rPr>
              <a:t>to </a:t>
            </a:r>
            <a:r>
              <a:rPr sz="2800" b="1" i="1" dirty="0">
                <a:latin typeface="Times New Roman"/>
                <a:cs typeface="Times New Roman"/>
              </a:rPr>
              <a:t>n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spc="-7" dirty="0">
                <a:latin typeface="宋体"/>
                <a:cs typeface="宋体"/>
              </a:rPr>
              <a:t>计</a:t>
            </a:r>
            <a:r>
              <a:rPr sz="2800" b="1" spc="-13" dirty="0">
                <a:latin typeface="宋体"/>
                <a:cs typeface="宋体"/>
              </a:rPr>
              <a:t>算</a:t>
            </a:r>
            <a:r>
              <a:rPr sz="2800" b="1" spc="-733" dirty="0">
                <a:latin typeface="宋体"/>
                <a:cs typeface="宋体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X</a:t>
            </a:r>
            <a:r>
              <a:rPr sz="2800" b="1" i="1" baseline="-21072" dirty="0">
                <a:latin typeface="Times New Roman"/>
                <a:cs typeface="Times New Roman"/>
              </a:rPr>
              <a:t>k</a:t>
            </a:r>
            <a:r>
              <a:rPr sz="2800" b="1" spc="-7" dirty="0">
                <a:latin typeface="宋体"/>
                <a:cs typeface="宋体"/>
              </a:rPr>
              <a:t>且</a:t>
            </a:r>
            <a:r>
              <a:rPr sz="2800" b="1" i="1" dirty="0">
                <a:latin typeface="Times New Roman"/>
                <a:cs typeface="Times New Roman"/>
              </a:rPr>
              <a:t>S</a:t>
            </a:r>
            <a:r>
              <a:rPr sz="2800" b="1" i="1" baseline="-21072" dirty="0">
                <a:latin typeface="Times New Roman"/>
                <a:cs typeface="Times New Roman"/>
              </a:rPr>
              <a:t>k</a:t>
            </a:r>
            <a:r>
              <a:rPr sz="2800" b="1" dirty="0">
                <a:latin typeface="Symbol"/>
                <a:cs typeface="Symbol"/>
              </a:rPr>
              <a:t></a:t>
            </a:r>
            <a:r>
              <a:rPr sz="2800" b="1" i="1" dirty="0">
                <a:latin typeface="Times New Roman"/>
                <a:cs typeface="Times New Roman"/>
              </a:rPr>
              <a:t>X</a:t>
            </a:r>
            <a:r>
              <a:rPr sz="2800" b="1" i="1" baseline="-21072" dirty="0">
                <a:latin typeface="Times New Roman"/>
                <a:cs typeface="Times New Roman"/>
              </a:rPr>
              <a:t>k</a:t>
            </a:r>
            <a:endParaRPr sz="2800" baseline="-21072" dirty="0">
              <a:latin typeface="Times New Roman"/>
              <a:cs typeface="Times New Roman"/>
            </a:endParaRPr>
          </a:p>
          <a:p>
            <a:pPr marL="516454" indent="-466502">
              <a:lnSpc>
                <a:spcPts val="3500"/>
              </a:lnSpc>
              <a:buAutoNum type="arabicPeriod"/>
              <a:tabLst>
                <a:tab pos="516454" algn="l"/>
                <a:tab pos="517300" algn="l"/>
              </a:tabLst>
            </a:pPr>
            <a:r>
              <a:rPr sz="2800" b="1" spc="-7" dirty="0">
                <a:latin typeface="Times New Roman"/>
                <a:cs typeface="Times New Roman"/>
              </a:rPr>
              <a:t>ReBack</a:t>
            </a:r>
            <a:r>
              <a:rPr sz="2800" b="1" spc="-33" dirty="0">
                <a:latin typeface="Times New Roman"/>
                <a:cs typeface="Times New Roman"/>
              </a:rPr>
              <a:t> </a:t>
            </a:r>
            <a:r>
              <a:rPr sz="2800" b="1" spc="-7" dirty="0">
                <a:latin typeface="Times New Roman"/>
                <a:cs typeface="Times New Roman"/>
              </a:rPr>
              <a:t>(1)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4140" y="994750"/>
            <a:ext cx="7884060" cy="316148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67732">
              <a:spcBef>
                <a:spcPts val="133"/>
              </a:spcBef>
            </a:pPr>
            <a:r>
              <a:rPr sz="2800" b="1" spc="-7" dirty="0">
                <a:latin typeface="宋体"/>
                <a:cs typeface="宋体"/>
              </a:rPr>
              <a:t>算</a:t>
            </a:r>
            <a:r>
              <a:rPr sz="2800" b="1" spc="-13" dirty="0">
                <a:latin typeface="宋体"/>
                <a:cs typeface="宋体"/>
              </a:rPr>
              <a:t>法</a:t>
            </a:r>
            <a:r>
              <a:rPr sz="2800" b="1" spc="-7" dirty="0">
                <a:latin typeface="宋体"/>
                <a:cs typeface="宋体"/>
              </a:rPr>
              <a:t> </a:t>
            </a:r>
            <a:r>
              <a:rPr sz="2800" b="1" dirty="0">
                <a:solidFill>
                  <a:srgbClr val="C00000"/>
                </a:solidFill>
                <a:latin typeface="Times New Roman"/>
                <a:cs typeface="Times New Roman"/>
              </a:rPr>
              <a:t>ReBack</a:t>
            </a:r>
            <a:r>
              <a:rPr sz="2800" b="1" spc="-33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spc="-7" dirty="0">
                <a:latin typeface="Times New Roman"/>
                <a:cs typeface="Times New Roman"/>
              </a:rPr>
              <a:t>(</a:t>
            </a:r>
            <a:r>
              <a:rPr sz="2800" b="1" i="1" spc="-7" dirty="0">
                <a:latin typeface="Times New Roman"/>
                <a:cs typeface="Times New Roman"/>
              </a:rPr>
              <a:t>k</a:t>
            </a:r>
            <a:r>
              <a:rPr sz="2800" b="1" spc="-7" dirty="0">
                <a:latin typeface="Times New Roman"/>
                <a:cs typeface="Times New Roman"/>
              </a:rPr>
              <a:t>)</a:t>
            </a:r>
            <a:endParaRPr sz="2800" dirty="0">
              <a:latin typeface="Times New Roman"/>
              <a:cs typeface="Times New Roman"/>
            </a:endParaRPr>
          </a:p>
          <a:p>
            <a:pPr marL="440256" indent="-374217">
              <a:lnSpc>
                <a:spcPts val="3507"/>
              </a:lnSpc>
              <a:buAutoNum type="arabicPeriod"/>
              <a:tabLst>
                <a:tab pos="441102" algn="l"/>
                <a:tab pos="854265" algn="l"/>
              </a:tabLst>
            </a:pPr>
            <a:r>
              <a:rPr sz="2800" b="1" dirty="0">
                <a:latin typeface="Times New Roman"/>
                <a:cs typeface="Times New Roman"/>
              </a:rPr>
              <a:t>if	</a:t>
            </a:r>
            <a:r>
              <a:rPr sz="2800" b="1" i="1" spc="-7" dirty="0">
                <a:latin typeface="Times New Roman"/>
                <a:cs typeface="Times New Roman"/>
              </a:rPr>
              <a:t>k</a:t>
            </a:r>
            <a:r>
              <a:rPr sz="2800" b="1" spc="-7" dirty="0">
                <a:latin typeface="Times New Roman"/>
                <a:cs typeface="Times New Roman"/>
              </a:rPr>
              <a:t>&gt;</a:t>
            </a:r>
            <a:r>
              <a:rPr sz="2800" b="1" i="1" spc="-7" dirty="0">
                <a:latin typeface="Times New Roman"/>
                <a:cs typeface="Times New Roman"/>
              </a:rPr>
              <a:t>n</a:t>
            </a:r>
            <a:r>
              <a:rPr sz="2800" b="1" i="1" spc="-27" dirty="0">
                <a:latin typeface="Times New Roman"/>
                <a:cs typeface="Times New Roman"/>
              </a:rPr>
              <a:t> </a:t>
            </a:r>
            <a:r>
              <a:rPr sz="2800" b="1" spc="-7" dirty="0">
                <a:latin typeface="Times New Roman"/>
                <a:cs typeface="Times New Roman"/>
              </a:rPr>
              <a:t>then</a:t>
            </a:r>
            <a:r>
              <a:rPr sz="2800" b="1" spc="-2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&lt;</a:t>
            </a:r>
            <a:r>
              <a:rPr sz="2800" b="1" i="1" dirty="0">
                <a:latin typeface="Times New Roman"/>
                <a:cs typeface="Times New Roman"/>
              </a:rPr>
              <a:t>x</a:t>
            </a:r>
            <a:r>
              <a:rPr sz="2800" b="1" baseline="-21072" dirty="0">
                <a:latin typeface="Times New Roman"/>
                <a:cs typeface="Times New Roman"/>
              </a:rPr>
              <a:t>1</a:t>
            </a:r>
            <a:r>
              <a:rPr sz="2800" b="1" dirty="0">
                <a:latin typeface="Times New Roman"/>
                <a:cs typeface="Times New Roman"/>
              </a:rPr>
              <a:t>,</a:t>
            </a:r>
            <a:r>
              <a:rPr sz="2800" b="1" i="1" dirty="0">
                <a:latin typeface="Times New Roman"/>
                <a:cs typeface="Times New Roman"/>
              </a:rPr>
              <a:t>x</a:t>
            </a:r>
            <a:r>
              <a:rPr sz="2800" b="1" baseline="-21072" dirty="0">
                <a:latin typeface="Times New Roman"/>
                <a:cs typeface="Times New Roman"/>
              </a:rPr>
              <a:t>2</a:t>
            </a:r>
            <a:r>
              <a:rPr sz="2800" b="1" dirty="0">
                <a:latin typeface="Times New Roman"/>
                <a:cs typeface="Times New Roman"/>
              </a:rPr>
              <a:t>,…,</a:t>
            </a:r>
            <a:r>
              <a:rPr sz="2800" b="1" i="1" dirty="0">
                <a:latin typeface="Times New Roman"/>
                <a:cs typeface="Times New Roman"/>
              </a:rPr>
              <a:t>x</a:t>
            </a:r>
            <a:r>
              <a:rPr sz="2800" b="1" i="1" baseline="-21072" dirty="0">
                <a:latin typeface="Times New Roman"/>
                <a:cs typeface="Times New Roman"/>
              </a:rPr>
              <a:t>n</a:t>
            </a:r>
            <a:r>
              <a:rPr sz="2800" b="1" dirty="0">
                <a:latin typeface="Times New Roman"/>
                <a:cs typeface="Times New Roman"/>
              </a:rPr>
              <a:t>&gt;</a:t>
            </a:r>
            <a:r>
              <a:rPr sz="2800" b="1" spc="-7" dirty="0">
                <a:latin typeface="宋体"/>
                <a:cs typeface="宋体"/>
              </a:rPr>
              <a:t>是解</a:t>
            </a:r>
            <a:endParaRPr sz="2800" dirty="0">
              <a:latin typeface="宋体"/>
              <a:cs typeface="宋体"/>
            </a:endParaRPr>
          </a:p>
          <a:p>
            <a:pPr marL="440256" indent="-373371">
              <a:lnSpc>
                <a:spcPts val="3507"/>
              </a:lnSpc>
              <a:buAutoNum type="arabicPeriod"/>
              <a:tabLst>
                <a:tab pos="441102" algn="l"/>
                <a:tab pos="1203929" algn="l"/>
                <a:tab pos="2239377" algn="l"/>
                <a:tab pos="3424681" algn="l"/>
              </a:tabLst>
            </a:pPr>
            <a:r>
              <a:rPr sz="2800" b="1" dirty="0">
                <a:latin typeface="Times New Roman"/>
                <a:cs typeface="Times New Roman"/>
              </a:rPr>
              <a:t>else	while	</a:t>
            </a:r>
            <a:r>
              <a:rPr sz="2800" b="1" i="1" dirty="0">
                <a:latin typeface="Times New Roman"/>
                <a:cs typeface="Times New Roman"/>
              </a:rPr>
              <a:t>S</a:t>
            </a:r>
            <a:r>
              <a:rPr sz="2800" b="1" i="1" baseline="-21072" dirty="0">
                <a:latin typeface="Times New Roman"/>
                <a:cs typeface="Times New Roman"/>
              </a:rPr>
              <a:t>k </a:t>
            </a:r>
            <a:r>
              <a:rPr sz="2800" b="1" dirty="0">
                <a:latin typeface="Symbol"/>
                <a:cs typeface="Symbol"/>
              </a:rPr>
              <a:t></a:t>
            </a:r>
            <a:r>
              <a:rPr sz="2800" b="1" spc="7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Symbol"/>
                <a:cs typeface="Symbol"/>
              </a:rPr>
              <a:t>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b="1" dirty="0">
                <a:latin typeface="Times New Roman"/>
                <a:cs typeface="Times New Roman"/>
              </a:rPr>
              <a:t>do</a:t>
            </a:r>
            <a:endParaRPr sz="2800" dirty="0">
              <a:latin typeface="Times New Roman"/>
              <a:cs typeface="Times New Roman"/>
            </a:endParaRPr>
          </a:p>
          <a:p>
            <a:pPr marL="1184457" indent="-1117572">
              <a:lnSpc>
                <a:spcPts val="3507"/>
              </a:lnSpc>
              <a:spcBef>
                <a:spcPts val="33"/>
              </a:spcBef>
              <a:buFont typeface="Times New Roman"/>
              <a:buAutoNum type="arabicPeriod"/>
              <a:tabLst>
                <a:tab pos="1184457" algn="l"/>
                <a:tab pos="1185304" algn="l"/>
              </a:tabLst>
            </a:pPr>
            <a:r>
              <a:rPr sz="2800" b="1" i="1" dirty="0">
                <a:latin typeface="Times New Roman"/>
                <a:cs typeface="Times New Roman"/>
              </a:rPr>
              <a:t>x</a:t>
            </a:r>
            <a:r>
              <a:rPr sz="2800" b="1" i="1" baseline="-21072" dirty="0">
                <a:latin typeface="Times New Roman"/>
                <a:cs typeface="Times New Roman"/>
              </a:rPr>
              <a:t>k</a:t>
            </a:r>
            <a:r>
              <a:rPr sz="2800" b="1" i="1" spc="-9" baseline="-21072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Symbol"/>
                <a:cs typeface="Symbol"/>
              </a:rPr>
              <a:t></a:t>
            </a:r>
            <a:r>
              <a:rPr sz="2800" b="1" spc="-7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S</a:t>
            </a:r>
            <a:r>
              <a:rPr sz="2800" b="1" i="1" baseline="-21072" dirty="0">
                <a:latin typeface="Times New Roman"/>
                <a:cs typeface="Times New Roman"/>
              </a:rPr>
              <a:t>k</a:t>
            </a:r>
            <a:r>
              <a:rPr sz="2800" b="1" i="1" spc="-9" baseline="-21072" dirty="0">
                <a:latin typeface="Times New Roman"/>
                <a:cs typeface="Times New Roman"/>
              </a:rPr>
              <a:t> </a:t>
            </a:r>
            <a:r>
              <a:rPr sz="2800" b="1" spc="-7" dirty="0">
                <a:latin typeface="宋体"/>
                <a:cs typeface="宋体"/>
              </a:rPr>
              <a:t>中最小值</a:t>
            </a:r>
            <a:endParaRPr sz="2800" dirty="0">
              <a:latin typeface="宋体"/>
              <a:cs typeface="宋体"/>
            </a:endParaRPr>
          </a:p>
          <a:p>
            <a:pPr marL="1184457" indent="-1117572">
              <a:lnSpc>
                <a:spcPts val="3507"/>
              </a:lnSpc>
              <a:buFont typeface="Times New Roman"/>
              <a:buAutoNum type="arabicPeriod"/>
              <a:tabLst>
                <a:tab pos="1184457" algn="l"/>
                <a:tab pos="1185304" algn="l"/>
              </a:tabLst>
            </a:pPr>
            <a:r>
              <a:rPr sz="2800" b="1" i="1" dirty="0">
                <a:latin typeface="Times New Roman"/>
                <a:cs typeface="Times New Roman"/>
              </a:rPr>
              <a:t>S</a:t>
            </a:r>
            <a:r>
              <a:rPr sz="2800" b="1" i="1" baseline="-21072" dirty="0">
                <a:latin typeface="Times New Roman"/>
                <a:cs typeface="Times New Roman"/>
              </a:rPr>
              <a:t>k </a:t>
            </a:r>
            <a:r>
              <a:rPr sz="2800" b="1" dirty="0">
                <a:latin typeface="Symbol"/>
                <a:cs typeface="Symbol"/>
              </a:rPr>
              <a:t></a:t>
            </a:r>
            <a:r>
              <a:rPr sz="2800" b="1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S</a:t>
            </a:r>
            <a:r>
              <a:rPr sz="2800" b="1" i="1" baseline="-21072" dirty="0">
                <a:latin typeface="Times New Roman"/>
                <a:cs typeface="Times New Roman"/>
              </a:rPr>
              <a:t>k </a:t>
            </a:r>
            <a:r>
              <a:rPr sz="2800" b="1" dirty="0">
                <a:latin typeface="Times New Roman"/>
                <a:cs typeface="Times New Roman"/>
              </a:rPr>
              <a:t>– { </a:t>
            </a:r>
            <a:r>
              <a:rPr sz="2800" b="1" i="1" dirty="0">
                <a:latin typeface="Times New Roman"/>
                <a:cs typeface="Times New Roman"/>
              </a:rPr>
              <a:t>x</a:t>
            </a:r>
            <a:r>
              <a:rPr sz="2800" b="1" i="1" baseline="-21072" dirty="0">
                <a:latin typeface="Times New Roman"/>
                <a:cs typeface="Times New Roman"/>
              </a:rPr>
              <a:t>k</a:t>
            </a:r>
            <a:r>
              <a:rPr sz="2800" b="1" i="1" spc="-59" baseline="-21072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}</a:t>
            </a:r>
            <a:endParaRPr sz="2800" dirty="0">
              <a:latin typeface="Times New Roman"/>
              <a:cs typeface="Times New Roman"/>
            </a:endParaRPr>
          </a:p>
          <a:p>
            <a:pPr marL="1091326" indent="-1024441">
              <a:lnSpc>
                <a:spcPts val="3500"/>
              </a:lnSpc>
              <a:spcBef>
                <a:spcPts val="33"/>
              </a:spcBef>
              <a:buFont typeface="Times New Roman"/>
              <a:buAutoNum type="arabicPeriod"/>
              <a:tabLst>
                <a:tab pos="1091326" algn="l"/>
                <a:tab pos="1092173" algn="l"/>
              </a:tabLst>
            </a:pPr>
            <a:r>
              <a:rPr sz="2800" b="1" spc="-7" dirty="0">
                <a:latin typeface="宋体"/>
                <a:cs typeface="宋体"/>
              </a:rPr>
              <a:t>计</a:t>
            </a:r>
            <a:r>
              <a:rPr sz="2800" b="1" spc="-13" dirty="0">
                <a:latin typeface="宋体"/>
                <a:cs typeface="宋体"/>
              </a:rPr>
              <a:t>算</a:t>
            </a:r>
            <a:r>
              <a:rPr sz="2800" b="1" spc="-727" dirty="0">
                <a:latin typeface="宋体"/>
                <a:cs typeface="宋体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S</a:t>
            </a:r>
            <a:r>
              <a:rPr sz="2800" b="1" i="1" baseline="-21072" dirty="0">
                <a:latin typeface="Times New Roman"/>
                <a:cs typeface="Times New Roman"/>
              </a:rPr>
              <a:t>k+</a:t>
            </a:r>
            <a:r>
              <a:rPr sz="2800" b="1" baseline="-21072" dirty="0">
                <a:latin typeface="Times New Roman"/>
                <a:cs typeface="Times New Roman"/>
              </a:rPr>
              <a:t>1</a:t>
            </a:r>
            <a:endParaRPr sz="2800" baseline="-21072" dirty="0">
              <a:latin typeface="Times New Roman"/>
              <a:cs typeface="Times New Roman"/>
            </a:endParaRPr>
          </a:p>
          <a:p>
            <a:pPr marL="1091326" indent="-1024441">
              <a:lnSpc>
                <a:spcPts val="3500"/>
              </a:lnSpc>
              <a:buClr>
                <a:srgbClr val="000000"/>
              </a:buClr>
              <a:buAutoNum type="arabicPeriod"/>
              <a:tabLst>
                <a:tab pos="1091326" algn="l"/>
                <a:tab pos="1092173" algn="l"/>
              </a:tabLst>
            </a:pPr>
            <a:r>
              <a:rPr sz="2800" b="1" dirty="0">
                <a:solidFill>
                  <a:srgbClr val="C00000"/>
                </a:solidFill>
                <a:latin typeface="Times New Roman"/>
                <a:cs typeface="Times New Roman"/>
              </a:rPr>
              <a:t>ReBack</a:t>
            </a:r>
            <a:r>
              <a:rPr sz="2800" b="1" spc="-27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spc="-7" dirty="0">
                <a:latin typeface="Times New Roman"/>
                <a:cs typeface="Times New Roman"/>
              </a:rPr>
              <a:t>(</a:t>
            </a:r>
            <a:r>
              <a:rPr sz="2800" b="1" i="1" spc="-7" dirty="0">
                <a:latin typeface="Times New Roman"/>
                <a:cs typeface="Times New Roman"/>
              </a:rPr>
              <a:t>k</a:t>
            </a:r>
            <a:r>
              <a:rPr sz="2800" b="1" spc="-7" dirty="0">
                <a:latin typeface="Times New Roman"/>
                <a:cs typeface="Times New Roman"/>
              </a:rPr>
              <a:t>+1)</a:t>
            </a:r>
            <a:endParaRPr sz="28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91894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05605" y="173529"/>
            <a:ext cx="2061568" cy="632651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4000" b="1" spc="-13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迭代实</a:t>
            </a:r>
            <a:r>
              <a:rPr sz="4000" b="1" spc="-2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现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23332" y="1026499"/>
            <a:ext cx="8244150" cy="1822464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33866">
              <a:spcBef>
                <a:spcPts val="133"/>
              </a:spcBef>
            </a:pPr>
            <a:r>
              <a:rPr sz="2933" b="1" spc="-7" dirty="0">
                <a:latin typeface="宋体"/>
                <a:cs typeface="宋体"/>
              </a:rPr>
              <a:t>迭代算</a:t>
            </a:r>
            <a:r>
              <a:rPr sz="2933" b="1" spc="-13" dirty="0">
                <a:latin typeface="宋体"/>
                <a:cs typeface="宋体"/>
              </a:rPr>
              <a:t>法</a:t>
            </a:r>
            <a:r>
              <a:rPr sz="2933" b="1" spc="-727" dirty="0">
                <a:latin typeface="宋体"/>
                <a:cs typeface="宋体"/>
              </a:rPr>
              <a:t> </a:t>
            </a:r>
            <a:r>
              <a:rPr sz="2933" b="1" dirty="0">
                <a:latin typeface="Times New Roman"/>
                <a:cs typeface="Times New Roman"/>
              </a:rPr>
              <a:t>Backtrack</a:t>
            </a:r>
            <a:endParaRPr sz="2933" dirty="0">
              <a:latin typeface="Times New Roman"/>
              <a:cs typeface="Times New Roman"/>
            </a:endParaRPr>
          </a:p>
          <a:p>
            <a:pPr marL="33866"/>
            <a:r>
              <a:rPr sz="2933" b="1" spc="-7" dirty="0">
                <a:latin typeface="宋体"/>
                <a:cs typeface="宋体"/>
              </a:rPr>
              <a:t>输入：</a:t>
            </a:r>
            <a:r>
              <a:rPr sz="2933" b="1" i="1" spc="-7" dirty="0">
                <a:latin typeface="Times New Roman"/>
                <a:cs typeface="Times New Roman"/>
              </a:rPr>
              <a:t>n</a:t>
            </a:r>
            <a:endParaRPr sz="2933" dirty="0">
              <a:latin typeface="Times New Roman"/>
              <a:cs typeface="Times New Roman"/>
            </a:endParaRPr>
          </a:p>
          <a:p>
            <a:pPr marL="33866"/>
            <a:r>
              <a:rPr sz="2933" b="1" spc="-7" dirty="0">
                <a:latin typeface="宋体"/>
                <a:cs typeface="宋体"/>
              </a:rPr>
              <a:t>输出：所有的解</a:t>
            </a:r>
            <a:endParaRPr sz="2933" dirty="0">
              <a:latin typeface="宋体"/>
              <a:cs typeface="宋体"/>
            </a:endParaRPr>
          </a:p>
          <a:p>
            <a:pPr marL="33866">
              <a:tabLst>
                <a:tab pos="499521" algn="l"/>
              </a:tabLst>
            </a:pPr>
            <a:r>
              <a:rPr sz="2933" b="1" dirty="0">
                <a:latin typeface="Times New Roman"/>
                <a:cs typeface="Times New Roman"/>
              </a:rPr>
              <a:t>1.	</a:t>
            </a:r>
            <a:r>
              <a:rPr sz="2933" b="1" spc="-7" dirty="0">
                <a:latin typeface="宋体"/>
                <a:cs typeface="宋体"/>
              </a:rPr>
              <a:t>对</a:t>
            </a:r>
            <a:r>
              <a:rPr sz="2933" b="1" spc="-13" dirty="0">
                <a:latin typeface="宋体"/>
                <a:cs typeface="宋体"/>
              </a:rPr>
              <a:t>于</a:t>
            </a:r>
            <a:r>
              <a:rPr sz="2933" b="1" spc="-747" dirty="0">
                <a:latin typeface="宋体"/>
                <a:cs typeface="宋体"/>
              </a:rPr>
              <a:t> </a:t>
            </a:r>
            <a:r>
              <a:rPr sz="2933" b="1" i="1" dirty="0">
                <a:latin typeface="Times New Roman"/>
                <a:cs typeface="Times New Roman"/>
              </a:rPr>
              <a:t>i</a:t>
            </a:r>
            <a:r>
              <a:rPr sz="2933" b="1" i="1" spc="-20" dirty="0">
                <a:latin typeface="Times New Roman"/>
                <a:cs typeface="Times New Roman"/>
              </a:rPr>
              <a:t> </a:t>
            </a:r>
            <a:r>
              <a:rPr sz="2933" b="1" spc="-7" dirty="0">
                <a:latin typeface="Times New Roman"/>
                <a:cs typeface="Times New Roman"/>
              </a:rPr>
              <a:t>=1,</a:t>
            </a:r>
            <a:r>
              <a:rPr sz="2933" b="1" spc="-27" dirty="0">
                <a:latin typeface="Times New Roman"/>
                <a:cs typeface="Times New Roman"/>
              </a:rPr>
              <a:t> </a:t>
            </a:r>
            <a:r>
              <a:rPr sz="2933" b="1" dirty="0">
                <a:latin typeface="Times New Roman"/>
                <a:cs typeface="Times New Roman"/>
              </a:rPr>
              <a:t>2,</a:t>
            </a:r>
            <a:r>
              <a:rPr sz="2933" b="1" spc="-13" dirty="0">
                <a:latin typeface="Times New Roman"/>
                <a:cs typeface="Times New Roman"/>
              </a:rPr>
              <a:t> </a:t>
            </a:r>
            <a:r>
              <a:rPr sz="2933" b="1" dirty="0">
                <a:latin typeface="Times New Roman"/>
                <a:cs typeface="Times New Roman"/>
              </a:rPr>
              <a:t>…</a:t>
            </a:r>
            <a:r>
              <a:rPr sz="2933" b="1" spc="-20" dirty="0">
                <a:latin typeface="Times New Roman"/>
                <a:cs typeface="Times New Roman"/>
              </a:rPr>
              <a:t> </a:t>
            </a:r>
            <a:r>
              <a:rPr sz="2933" b="1" dirty="0">
                <a:latin typeface="Times New Roman"/>
                <a:cs typeface="Times New Roman"/>
              </a:rPr>
              <a:t>,</a:t>
            </a:r>
            <a:r>
              <a:rPr sz="2933" b="1" spc="-13" dirty="0">
                <a:latin typeface="Times New Roman"/>
                <a:cs typeface="Times New Roman"/>
              </a:rPr>
              <a:t> </a:t>
            </a:r>
            <a:r>
              <a:rPr sz="2933" b="1" i="1" dirty="0">
                <a:latin typeface="Times New Roman"/>
                <a:cs typeface="Times New Roman"/>
              </a:rPr>
              <a:t>n</a:t>
            </a:r>
            <a:r>
              <a:rPr sz="2933" b="1" i="1" spc="-13" dirty="0">
                <a:latin typeface="Times New Roman"/>
                <a:cs typeface="Times New Roman"/>
              </a:rPr>
              <a:t> </a:t>
            </a:r>
            <a:r>
              <a:rPr sz="2933" b="1" spc="-7" dirty="0">
                <a:latin typeface="宋体"/>
                <a:cs typeface="宋体"/>
              </a:rPr>
              <a:t>确定</a:t>
            </a:r>
            <a:r>
              <a:rPr sz="2933" b="1" i="1" dirty="0">
                <a:latin typeface="Times New Roman"/>
                <a:cs typeface="Times New Roman"/>
              </a:rPr>
              <a:t>X</a:t>
            </a:r>
            <a:r>
              <a:rPr sz="2900" b="1" i="1" baseline="-21072" dirty="0">
                <a:latin typeface="Times New Roman"/>
                <a:cs typeface="Times New Roman"/>
              </a:rPr>
              <a:t>i</a:t>
            </a:r>
            <a:endParaRPr sz="2900" baseline="-21072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0630" y="2810595"/>
            <a:ext cx="4078846" cy="91978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0799">
              <a:spcBef>
                <a:spcPts val="133"/>
              </a:spcBef>
              <a:tabLst>
                <a:tab pos="516454" algn="l"/>
              </a:tabLst>
            </a:pPr>
            <a:r>
              <a:rPr sz="2933" b="1" dirty="0">
                <a:latin typeface="Times New Roman"/>
                <a:cs typeface="Times New Roman"/>
              </a:rPr>
              <a:t>2.	</a:t>
            </a:r>
            <a:r>
              <a:rPr sz="2933" b="1" i="1" dirty="0">
                <a:latin typeface="Times New Roman"/>
                <a:cs typeface="Times New Roman"/>
              </a:rPr>
              <a:t>k </a:t>
            </a:r>
            <a:r>
              <a:rPr sz="2933" b="1" dirty="0">
                <a:latin typeface="Symbol"/>
                <a:cs typeface="Symbol"/>
              </a:rPr>
              <a:t></a:t>
            </a:r>
            <a:r>
              <a:rPr sz="2933" b="1" spc="-60" dirty="0">
                <a:latin typeface="Times New Roman"/>
                <a:cs typeface="Times New Roman"/>
              </a:rPr>
              <a:t> </a:t>
            </a:r>
            <a:r>
              <a:rPr sz="2933" b="1" dirty="0">
                <a:latin typeface="Times New Roman"/>
                <a:cs typeface="Times New Roman"/>
              </a:rPr>
              <a:t>1</a:t>
            </a:r>
            <a:endParaRPr sz="2933" dirty="0">
              <a:latin typeface="Times New Roman"/>
              <a:cs typeface="Times New Roman"/>
            </a:endParaRPr>
          </a:p>
          <a:p>
            <a:pPr marL="50799">
              <a:spcBef>
                <a:spcPts val="33"/>
              </a:spcBef>
              <a:tabLst>
                <a:tab pos="516454" algn="l"/>
              </a:tabLst>
            </a:pPr>
            <a:r>
              <a:rPr sz="2933" b="1" dirty="0">
                <a:latin typeface="Times New Roman"/>
                <a:cs typeface="Times New Roman"/>
              </a:rPr>
              <a:t>3.	</a:t>
            </a:r>
            <a:r>
              <a:rPr sz="2933" b="1" spc="-7" dirty="0">
                <a:latin typeface="宋体"/>
                <a:cs typeface="宋体"/>
              </a:rPr>
              <a:t>计</a:t>
            </a:r>
            <a:r>
              <a:rPr sz="2933" b="1" spc="-13" dirty="0">
                <a:latin typeface="宋体"/>
                <a:cs typeface="宋体"/>
              </a:rPr>
              <a:t>算</a:t>
            </a:r>
            <a:r>
              <a:rPr sz="2933" b="1" spc="-813" dirty="0">
                <a:latin typeface="宋体"/>
                <a:cs typeface="宋体"/>
              </a:rPr>
              <a:t> </a:t>
            </a:r>
            <a:r>
              <a:rPr sz="2933" b="1" i="1" dirty="0">
                <a:latin typeface="Times New Roman"/>
                <a:cs typeface="Times New Roman"/>
              </a:rPr>
              <a:t>S</a:t>
            </a:r>
            <a:r>
              <a:rPr sz="2900" b="1" i="1" baseline="-21072" dirty="0">
                <a:latin typeface="Times New Roman"/>
                <a:cs typeface="Times New Roman"/>
              </a:rPr>
              <a:t>k</a:t>
            </a:r>
            <a:endParaRPr sz="2900" baseline="-21072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17177" y="3922099"/>
            <a:ext cx="118766" cy="316263"/>
          </a:xfrm>
          <a:prstGeom prst="rect">
            <a:avLst/>
          </a:prstGeom>
        </p:spPr>
        <p:txBody>
          <a:bodyPr vert="horz" wrap="square" lIns="0" tIns="18627" rIns="0" bIns="0" rtlCol="0">
            <a:spAutoFit/>
          </a:bodyPr>
          <a:lstStyle/>
          <a:p>
            <a:pPr marL="16933">
              <a:spcBef>
                <a:spcPts val="147"/>
              </a:spcBef>
            </a:pPr>
            <a:r>
              <a:rPr sz="1933" b="1" i="1" spc="7" dirty="0">
                <a:latin typeface="Times New Roman"/>
                <a:cs typeface="Times New Roman"/>
              </a:rPr>
              <a:t>k</a:t>
            </a:r>
            <a:endParaRPr sz="1933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6033" y="3704674"/>
            <a:ext cx="7707014" cy="46844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  <a:tabLst>
                <a:tab pos="482588" algn="l"/>
                <a:tab pos="1517189" algn="l"/>
                <a:tab pos="1910879" algn="l"/>
                <a:tab pos="2702492" algn="l"/>
              </a:tabLst>
            </a:pPr>
            <a:r>
              <a:rPr sz="2933" b="1" dirty="0">
                <a:latin typeface="Times New Roman"/>
                <a:cs typeface="Times New Roman"/>
              </a:rPr>
              <a:t>4.	</a:t>
            </a:r>
            <a:r>
              <a:rPr sz="2933" b="1" u="heavy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while	</a:t>
            </a:r>
            <a:r>
              <a:rPr sz="2933" b="1" i="1" u="heavy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S	</a:t>
            </a:r>
            <a:r>
              <a:rPr sz="2933" b="1" u="heavy" dirty="0">
                <a:uFill>
                  <a:solidFill>
                    <a:srgbClr val="C00000"/>
                  </a:solidFill>
                </a:uFill>
                <a:latin typeface="Symbol"/>
                <a:cs typeface="Symbol"/>
              </a:rPr>
              <a:t></a:t>
            </a:r>
            <a:r>
              <a:rPr sz="2933" u="heavy" spc="-7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933" b="1" u="heavy" dirty="0">
                <a:uFill>
                  <a:solidFill>
                    <a:srgbClr val="C00000"/>
                  </a:solidFill>
                </a:uFill>
                <a:latin typeface="Symbol"/>
                <a:cs typeface="Symbol"/>
              </a:rPr>
              <a:t></a:t>
            </a:r>
            <a:r>
              <a:rPr sz="2933" dirty="0">
                <a:latin typeface="Times New Roman"/>
                <a:cs typeface="Times New Roman"/>
              </a:rPr>
              <a:t>	</a:t>
            </a:r>
            <a:r>
              <a:rPr sz="2933" b="1" dirty="0">
                <a:latin typeface="Times New Roman"/>
                <a:cs typeface="Times New Roman"/>
              </a:rPr>
              <a:t>do</a:t>
            </a:r>
            <a:endParaRPr sz="2933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10628" y="4155779"/>
            <a:ext cx="8256853" cy="934444"/>
          </a:xfrm>
          <a:prstGeom prst="rect">
            <a:avLst/>
          </a:prstGeom>
        </p:spPr>
        <p:txBody>
          <a:bodyPr vert="horz" wrap="square" lIns="0" tIns="36407" rIns="0" bIns="0" rtlCol="0">
            <a:spAutoFit/>
          </a:bodyPr>
          <a:lstStyle/>
          <a:p>
            <a:pPr marL="50799" marR="57572">
              <a:lnSpc>
                <a:spcPts val="3480"/>
              </a:lnSpc>
              <a:spcBef>
                <a:spcPts val="287"/>
              </a:spcBef>
              <a:tabLst>
                <a:tab pos="1074393" algn="l"/>
                <a:tab pos="3896263" algn="l"/>
              </a:tabLst>
            </a:pPr>
            <a:r>
              <a:rPr sz="2933" b="1" dirty="0">
                <a:latin typeface="Times New Roman"/>
                <a:cs typeface="Times New Roman"/>
              </a:rPr>
              <a:t>5.	</a:t>
            </a:r>
            <a:r>
              <a:rPr sz="2933" b="1" i="1" dirty="0">
                <a:latin typeface="Times New Roman"/>
                <a:cs typeface="Times New Roman"/>
              </a:rPr>
              <a:t>x</a:t>
            </a:r>
            <a:r>
              <a:rPr sz="2900" b="1" i="1" baseline="-21072" dirty="0">
                <a:latin typeface="Times New Roman"/>
                <a:cs typeface="Times New Roman"/>
              </a:rPr>
              <a:t>k</a:t>
            </a:r>
            <a:r>
              <a:rPr sz="2933" b="1" dirty="0">
                <a:latin typeface="Symbol"/>
                <a:cs typeface="Symbol"/>
              </a:rPr>
              <a:t></a:t>
            </a:r>
            <a:r>
              <a:rPr sz="2933" b="1" i="1" dirty="0">
                <a:latin typeface="Times New Roman"/>
                <a:cs typeface="Times New Roman"/>
              </a:rPr>
              <a:t>S</a:t>
            </a:r>
            <a:r>
              <a:rPr sz="2900" b="1" i="1" baseline="-21072" dirty="0">
                <a:latin typeface="Times New Roman"/>
                <a:cs typeface="Times New Roman"/>
              </a:rPr>
              <a:t>k</a:t>
            </a:r>
            <a:r>
              <a:rPr sz="2933" b="1" spc="-7" dirty="0">
                <a:latin typeface="宋体"/>
                <a:cs typeface="宋体"/>
              </a:rPr>
              <a:t>中最小</a:t>
            </a:r>
            <a:r>
              <a:rPr sz="2933" b="1" spc="-13" dirty="0">
                <a:latin typeface="宋体"/>
                <a:cs typeface="宋体"/>
              </a:rPr>
              <a:t>值</a:t>
            </a:r>
            <a:r>
              <a:rPr sz="2933" b="1" dirty="0">
                <a:latin typeface="Times New Roman"/>
                <a:cs typeface="Times New Roman"/>
              </a:rPr>
              <a:t>;	</a:t>
            </a:r>
            <a:r>
              <a:rPr sz="2933" b="1" i="1" dirty="0">
                <a:latin typeface="Times New Roman"/>
                <a:cs typeface="Times New Roman"/>
              </a:rPr>
              <a:t>S</a:t>
            </a:r>
            <a:r>
              <a:rPr sz="2900" b="1" i="1" baseline="-21072" dirty="0">
                <a:latin typeface="Times New Roman"/>
                <a:cs typeface="Times New Roman"/>
              </a:rPr>
              <a:t>k</a:t>
            </a:r>
            <a:r>
              <a:rPr sz="2933" b="1" dirty="0">
                <a:latin typeface="Symbol"/>
                <a:cs typeface="Symbol"/>
              </a:rPr>
              <a:t></a:t>
            </a:r>
            <a:r>
              <a:rPr sz="2933" b="1" i="1" dirty="0">
                <a:latin typeface="Times New Roman"/>
                <a:cs typeface="Times New Roman"/>
              </a:rPr>
              <a:t>S</a:t>
            </a:r>
            <a:r>
              <a:rPr sz="2900" b="1" i="1" baseline="-21072" dirty="0">
                <a:latin typeface="Times New Roman"/>
                <a:cs typeface="Times New Roman"/>
              </a:rPr>
              <a:t>k</a:t>
            </a:r>
            <a:r>
              <a:rPr sz="2900" b="1" i="1" spc="-119" baseline="-21072" dirty="0">
                <a:latin typeface="Times New Roman"/>
                <a:cs typeface="Times New Roman"/>
              </a:rPr>
              <a:t> </a:t>
            </a:r>
            <a:r>
              <a:rPr sz="2933" b="1" dirty="0">
                <a:latin typeface="Times New Roman"/>
                <a:cs typeface="Times New Roman"/>
              </a:rPr>
              <a:t>–{</a:t>
            </a:r>
            <a:r>
              <a:rPr sz="2933" b="1" i="1" dirty="0">
                <a:latin typeface="Times New Roman"/>
                <a:cs typeface="Times New Roman"/>
              </a:rPr>
              <a:t>x</a:t>
            </a:r>
            <a:r>
              <a:rPr sz="2900" b="1" i="1" baseline="-21072" dirty="0">
                <a:latin typeface="Times New Roman"/>
                <a:cs typeface="Times New Roman"/>
              </a:rPr>
              <a:t>k</a:t>
            </a:r>
            <a:r>
              <a:rPr sz="2933" b="1" dirty="0">
                <a:latin typeface="Times New Roman"/>
                <a:cs typeface="Times New Roman"/>
              </a:rPr>
              <a:t>}  6.</a:t>
            </a:r>
            <a:endParaRPr sz="2933" dirty="0">
              <a:latin typeface="Times New Roman"/>
              <a:cs typeface="Times New Roman"/>
            </a:endParaRPr>
          </a:p>
          <a:p>
            <a:pPr marL="50799">
              <a:lnSpc>
                <a:spcPts val="3453"/>
              </a:lnSpc>
            </a:pPr>
            <a:r>
              <a:rPr sz="2933" b="1" dirty="0">
                <a:latin typeface="Times New Roman"/>
                <a:cs typeface="Times New Roman"/>
              </a:rPr>
              <a:t>7.</a:t>
            </a:r>
            <a:endParaRPr sz="2933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78888" y="4597739"/>
            <a:ext cx="6345594" cy="91978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0799">
              <a:spcBef>
                <a:spcPts val="133"/>
              </a:spcBef>
              <a:tabLst>
                <a:tab pos="465655" algn="l"/>
                <a:tab pos="1442684" algn="l"/>
              </a:tabLst>
            </a:pPr>
            <a:r>
              <a:rPr sz="2933" b="1" dirty="0">
                <a:latin typeface="Times New Roman"/>
                <a:cs typeface="Times New Roman"/>
              </a:rPr>
              <a:t>if	</a:t>
            </a:r>
            <a:r>
              <a:rPr sz="2933" b="1" i="1" dirty="0">
                <a:latin typeface="Times New Roman"/>
                <a:cs typeface="Times New Roman"/>
              </a:rPr>
              <a:t>k</a:t>
            </a:r>
            <a:r>
              <a:rPr sz="2933" b="1" i="1" spc="-7" dirty="0">
                <a:latin typeface="Times New Roman"/>
                <a:cs typeface="Times New Roman"/>
              </a:rPr>
              <a:t> </a:t>
            </a:r>
            <a:r>
              <a:rPr sz="2933" b="1" dirty="0">
                <a:latin typeface="Times New Roman"/>
                <a:cs typeface="Times New Roman"/>
              </a:rPr>
              <a:t>&lt;</a:t>
            </a:r>
            <a:r>
              <a:rPr sz="2933" b="1" spc="-13" dirty="0">
                <a:latin typeface="Times New Roman"/>
                <a:cs typeface="Times New Roman"/>
              </a:rPr>
              <a:t> </a:t>
            </a:r>
            <a:r>
              <a:rPr sz="2933" b="1" i="1" dirty="0">
                <a:latin typeface="Times New Roman"/>
                <a:cs typeface="Times New Roman"/>
              </a:rPr>
              <a:t>n	</a:t>
            </a:r>
            <a:r>
              <a:rPr sz="2933" b="1" spc="-7" dirty="0">
                <a:latin typeface="Times New Roman"/>
                <a:cs typeface="Times New Roman"/>
              </a:rPr>
              <a:t>then</a:t>
            </a:r>
            <a:endParaRPr sz="2933" dirty="0">
              <a:latin typeface="Times New Roman"/>
              <a:cs typeface="Times New Roman"/>
            </a:endParaRPr>
          </a:p>
          <a:p>
            <a:pPr marL="517300">
              <a:spcBef>
                <a:spcPts val="40"/>
              </a:spcBef>
              <a:tabLst>
                <a:tab pos="2246151" algn="l"/>
              </a:tabLst>
            </a:pPr>
            <a:r>
              <a:rPr sz="2933" b="1" i="1" dirty="0">
                <a:latin typeface="Times New Roman"/>
                <a:cs typeface="Times New Roman"/>
              </a:rPr>
              <a:t>k</a:t>
            </a:r>
            <a:r>
              <a:rPr sz="2933" b="1" i="1" spc="-13" dirty="0">
                <a:latin typeface="Times New Roman"/>
                <a:cs typeface="Times New Roman"/>
              </a:rPr>
              <a:t> </a:t>
            </a:r>
            <a:r>
              <a:rPr sz="2933" b="1" dirty="0">
                <a:latin typeface="Symbol"/>
                <a:cs typeface="Symbol"/>
              </a:rPr>
              <a:t></a:t>
            </a:r>
            <a:r>
              <a:rPr sz="2933" b="1" spc="7" dirty="0">
                <a:latin typeface="Times New Roman"/>
                <a:cs typeface="Times New Roman"/>
              </a:rPr>
              <a:t> </a:t>
            </a:r>
            <a:r>
              <a:rPr sz="2933" b="1" i="1" spc="-7" dirty="0">
                <a:latin typeface="Times New Roman"/>
                <a:cs typeface="Times New Roman"/>
              </a:rPr>
              <a:t>k</a:t>
            </a:r>
            <a:r>
              <a:rPr sz="2933" b="1" spc="-7" dirty="0">
                <a:latin typeface="Times New Roman"/>
                <a:cs typeface="Times New Roman"/>
              </a:rPr>
              <a:t>+1;	</a:t>
            </a:r>
            <a:r>
              <a:rPr sz="2933" b="1" spc="-7" dirty="0">
                <a:latin typeface="宋体"/>
                <a:cs typeface="宋体"/>
              </a:rPr>
              <a:t>计</a:t>
            </a:r>
            <a:r>
              <a:rPr sz="2933" b="1" spc="-13" dirty="0">
                <a:latin typeface="宋体"/>
                <a:cs typeface="宋体"/>
              </a:rPr>
              <a:t>算</a:t>
            </a:r>
            <a:r>
              <a:rPr sz="2933" b="1" spc="-807" dirty="0">
                <a:latin typeface="宋体"/>
                <a:cs typeface="宋体"/>
              </a:rPr>
              <a:t> </a:t>
            </a:r>
            <a:r>
              <a:rPr sz="2933" b="1" i="1" dirty="0">
                <a:latin typeface="Times New Roman"/>
                <a:cs typeface="Times New Roman"/>
              </a:rPr>
              <a:t>S</a:t>
            </a:r>
            <a:r>
              <a:rPr sz="2900" b="1" i="1" baseline="-21072" dirty="0">
                <a:latin typeface="Times New Roman"/>
                <a:cs typeface="Times New Roman"/>
              </a:rPr>
              <a:t>k</a:t>
            </a:r>
            <a:endParaRPr sz="2900" baseline="-21072" dirty="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10629" y="5496898"/>
            <a:ext cx="7880336" cy="46844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0799">
              <a:spcBef>
                <a:spcPts val="133"/>
              </a:spcBef>
              <a:tabLst>
                <a:tab pos="982109" algn="l"/>
                <a:tab pos="1746630" algn="l"/>
              </a:tabLst>
            </a:pPr>
            <a:r>
              <a:rPr sz="2933" b="1" dirty="0">
                <a:latin typeface="Times New Roman"/>
                <a:cs typeface="Times New Roman"/>
              </a:rPr>
              <a:t>8.	else	&lt;</a:t>
            </a:r>
            <a:r>
              <a:rPr sz="2933" b="1" spc="-33" dirty="0">
                <a:latin typeface="Times New Roman"/>
                <a:cs typeface="Times New Roman"/>
              </a:rPr>
              <a:t> </a:t>
            </a:r>
            <a:r>
              <a:rPr sz="2933" b="1" i="1" dirty="0">
                <a:latin typeface="Times New Roman"/>
                <a:cs typeface="Times New Roman"/>
              </a:rPr>
              <a:t>x</a:t>
            </a:r>
            <a:r>
              <a:rPr sz="2900" b="1" baseline="-21072" dirty="0">
                <a:latin typeface="Times New Roman"/>
                <a:cs typeface="Times New Roman"/>
              </a:rPr>
              <a:t>1</a:t>
            </a:r>
            <a:r>
              <a:rPr sz="2933" b="1" dirty="0">
                <a:latin typeface="Times New Roman"/>
                <a:cs typeface="Times New Roman"/>
              </a:rPr>
              <a:t>,</a:t>
            </a:r>
            <a:r>
              <a:rPr sz="2933" b="1" spc="-20" dirty="0">
                <a:latin typeface="Times New Roman"/>
                <a:cs typeface="Times New Roman"/>
              </a:rPr>
              <a:t> </a:t>
            </a:r>
            <a:r>
              <a:rPr sz="2933" b="1" i="1" dirty="0">
                <a:latin typeface="Times New Roman"/>
                <a:cs typeface="Times New Roman"/>
              </a:rPr>
              <a:t>x</a:t>
            </a:r>
            <a:r>
              <a:rPr sz="2900" b="1" baseline="-21072" dirty="0">
                <a:latin typeface="Times New Roman"/>
                <a:cs typeface="Times New Roman"/>
              </a:rPr>
              <a:t>2</a:t>
            </a:r>
            <a:r>
              <a:rPr sz="2933" b="1" dirty="0">
                <a:latin typeface="Times New Roman"/>
                <a:cs typeface="Times New Roman"/>
              </a:rPr>
              <a:t>,</a:t>
            </a:r>
            <a:r>
              <a:rPr sz="2933" b="1" spc="-13" dirty="0">
                <a:latin typeface="Times New Roman"/>
                <a:cs typeface="Times New Roman"/>
              </a:rPr>
              <a:t> </a:t>
            </a:r>
            <a:r>
              <a:rPr sz="2933" b="1" dirty="0">
                <a:latin typeface="Times New Roman"/>
                <a:cs typeface="Times New Roman"/>
              </a:rPr>
              <a:t>…</a:t>
            </a:r>
            <a:r>
              <a:rPr sz="2933" b="1" spc="-27" dirty="0">
                <a:latin typeface="Times New Roman"/>
                <a:cs typeface="Times New Roman"/>
              </a:rPr>
              <a:t> </a:t>
            </a:r>
            <a:r>
              <a:rPr sz="2933" b="1" dirty="0">
                <a:latin typeface="Times New Roman"/>
                <a:cs typeface="Times New Roman"/>
              </a:rPr>
              <a:t>,</a:t>
            </a:r>
            <a:r>
              <a:rPr sz="2933" b="1" spc="-13" dirty="0">
                <a:latin typeface="Times New Roman"/>
                <a:cs typeface="Times New Roman"/>
              </a:rPr>
              <a:t> </a:t>
            </a:r>
            <a:r>
              <a:rPr sz="2933" b="1" i="1" dirty="0">
                <a:latin typeface="Times New Roman"/>
                <a:cs typeface="Times New Roman"/>
              </a:rPr>
              <a:t>x</a:t>
            </a:r>
            <a:r>
              <a:rPr sz="2900" b="1" i="1" baseline="-21072" dirty="0">
                <a:latin typeface="Times New Roman"/>
                <a:cs typeface="Times New Roman"/>
              </a:rPr>
              <a:t>n</a:t>
            </a:r>
            <a:r>
              <a:rPr sz="2933" b="1" dirty="0">
                <a:latin typeface="Times New Roman"/>
                <a:cs typeface="Times New Roman"/>
              </a:rPr>
              <a:t>&gt;</a:t>
            </a:r>
            <a:r>
              <a:rPr sz="2933" b="1" spc="-7" dirty="0">
                <a:latin typeface="宋体"/>
                <a:cs typeface="宋体"/>
              </a:rPr>
              <a:t>是解</a:t>
            </a:r>
            <a:endParaRPr sz="2933" dirty="0">
              <a:latin typeface="宋体"/>
              <a:cs typeface="宋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36034" y="5934795"/>
            <a:ext cx="8231447" cy="46844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  <a:tabLst>
                <a:tab pos="482588" algn="l"/>
                <a:tab pos="897444" algn="l"/>
                <a:tab pos="1761023" algn="l"/>
                <a:tab pos="2652540" algn="l"/>
              </a:tabLst>
            </a:pPr>
            <a:r>
              <a:rPr sz="2933" b="1" dirty="0">
                <a:latin typeface="Times New Roman"/>
                <a:cs typeface="Times New Roman"/>
              </a:rPr>
              <a:t>9.	if	</a:t>
            </a:r>
            <a:r>
              <a:rPr sz="2933" b="1" i="1" dirty="0">
                <a:latin typeface="Times New Roman"/>
                <a:cs typeface="Times New Roman"/>
              </a:rPr>
              <a:t>k</a:t>
            </a:r>
            <a:r>
              <a:rPr sz="2933" b="1" i="1" spc="-7" dirty="0">
                <a:latin typeface="Times New Roman"/>
                <a:cs typeface="Times New Roman"/>
              </a:rPr>
              <a:t> </a:t>
            </a:r>
            <a:r>
              <a:rPr sz="2933" b="1" spc="-7" dirty="0">
                <a:latin typeface="Times New Roman"/>
                <a:cs typeface="Times New Roman"/>
              </a:rPr>
              <a:t>&gt;1	then	</a:t>
            </a:r>
            <a:r>
              <a:rPr sz="2933" b="1" i="1" dirty="0">
                <a:latin typeface="Times New Roman"/>
                <a:cs typeface="Times New Roman"/>
              </a:rPr>
              <a:t>k </a:t>
            </a:r>
            <a:r>
              <a:rPr sz="2933" b="1" dirty="0">
                <a:latin typeface="Symbol"/>
                <a:cs typeface="Symbol"/>
              </a:rPr>
              <a:t></a:t>
            </a:r>
            <a:r>
              <a:rPr sz="2933" b="1" dirty="0">
                <a:latin typeface="Times New Roman"/>
                <a:cs typeface="Times New Roman"/>
              </a:rPr>
              <a:t> </a:t>
            </a:r>
            <a:r>
              <a:rPr sz="2933" b="1" i="1" spc="-7" dirty="0">
                <a:latin typeface="Times New Roman"/>
                <a:cs typeface="Times New Roman"/>
              </a:rPr>
              <a:t>k</a:t>
            </a:r>
            <a:r>
              <a:rPr sz="2933" b="1" spc="-7" dirty="0">
                <a:latin typeface="Times New Roman"/>
                <a:cs typeface="Times New Roman"/>
              </a:rPr>
              <a:t>-1</a:t>
            </a:r>
            <a:r>
              <a:rPr sz="2933" b="1" spc="-7" dirty="0">
                <a:latin typeface="宋体"/>
                <a:cs typeface="宋体"/>
              </a:rPr>
              <a:t>；</a:t>
            </a:r>
            <a:r>
              <a:rPr sz="2933" b="1" spc="-833" dirty="0">
                <a:latin typeface="宋体"/>
                <a:cs typeface="宋体"/>
              </a:rPr>
              <a:t> </a:t>
            </a:r>
            <a:r>
              <a:rPr sz="2933" b="1" spc="-7" dirty="0">
                <a:latin typeface="Times New Roman"/>
                <a:cs typeface="Times New Roman"/>
              </a:rPr>
              <a:t>goto </a:t>
            </a:r>
            <a:r>
              <a:rPr sz="2933" b="1" dirty="0">
                <a:latin typeface="Times New Roman"/>
                <a:cs typeface="Times New Roman"/>
              </a:rPr>
              <a:t>4</a:t>
            </a:r>
            <a:endParaRPr sz="2933" dirty="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887572" y="1260358"/>
            <a:ext cx="1371838" cy="1223433"/>
          </a:xfrm>
          <a:custGeom>
            <a:avLst/>
            <a:gdLst/>
            <a:ahLst/>
            <a:cxnLst/>
            <a:rect l="l" t="t" r="r" b="b"/>
            <a:pathLst>
              <a:path w="1371600" h="917575">
                <a:moveTo>
                  <a:pt x="689812" y="0"/>
                </a:moveTo>
                <a:lnTo>
                  <a:pt x="639698" y="926"/>
                </a:lnTo>
                <a:lnTo>
                  <a:pt x="589802" y="4076"/>
                </a:lnTo>
                <a:lnTo>
                  <a:pt x="540339" y="9446"/>
                </a:lnTo>
                <a:lnTo>
                  <a:pt x="491525" y="17032"/>
                </a:lnTo>
                <a:lnTo>
                  <a:pt x="443576" y="26830"/>
                </a:lnTo>
                <a:lnTo>
                  <a:pt x="396707" y="38835"/>
                </a:lnTo>
                <a:lnTo>
                  <a:pt x="351134" y="53045"/>
                </a:lnTo>
                <a:lnTo>
                  <a:pt x="307073" y="69454"/>
                </a:lnTo>
                <a:lnTo>
                  <a:pt x="264738" y="88059"/>
                </a:lnTo>
                <a:lnTo>
                  <a:pt x="224345" y="108856"/>
                </a:lnTo>
                <a:lnTo>
                  <a:pt x="186110" y="131841"/>
                </a:lnTo>
                <a:lnTo>
                  <a:pt x="145367" y="160791"/>
                </a:lnTo>
                <a:lnTo>
                  <a:pt x="109664" y="191324"/>
                </a:lnTo>
                <a:lnTo>
                  <a:pt x="78991" y="223229"/>
                </a:lnTo>
                <a:lnTo>
                  <a:pt x="53337" y="256297"/>
                </a:lnTo>
                <a:lnTo>
                  <a:pt x="32693" y="290319"/>
                </a:lnTo>
                <a:lnTo>
                  <a:pt x="17047" y="325086"/>
                </a:lnTo>
                <a:lnTo>
                  <a:pt x="711" y="396018"/>
                </a:lnTo>
                <a:lnTo>
                  <a:pt x="0" y="431765"/>
                </a:lnTo>
                <a:lnTo>
                  <a:pt x="4245" y="467421"/>
                </a:lnTo>
                <a:lnTo>
                  <a:pt x="27568" y="537621"/>
                </a:lnTo>
                <a:lnTo>
                  <a:pt x="46624" y="571747"/>
                </a:lnTo>
                <a:lnTo>
                  <a:pt x="70596" y="604944"/>
                </a:lnTo>
                <a:lnTo>
                  <a:pt x="99473" y="637005"/>
                </a:lnTo>
                <a:lnTo>
                  <a:pt x="133245" y="667718"/>
                </a:lnTo>
                <a:lnTo>
                  <a:pt x="171903" y="696877"/>
                </a:lnTo>
                <a:lnTo>
                  <a:pt x="215434" y="724270"/>
                </a:lnTo>
                <a:lnTo>
                  <a:pt x="170832" y="917234"/>
                </a:lnTo>
                <a:lnTo>
                  <a:pt x="436732" y="809652"/>
                </a:lnTo>
                <a:lnTo>
                  <a:pt x="934105" y="809652"/>
                </a:lnTo>
                <a:lnTo>
                  <a:pt x="978912" y="797908"/>
                </a:lnTo>
                <a:lnTo>
                  <a:pt x="1023766" y="783679"/>
                </a:lnTo>
                <a:lnTo>
                  <a:pt x="1066993" y="767380"/>
                </a:lnTo>
                <a:lnTo>
                  <a:pt x="1108388" y="749038"/>
                </a:lnTo>
                <a:lnTo>
                  <a:pt x="1147746" y="728681"/>
                </a:lnTo>
                <a:lnTo>
                  <a:pt x="1184863" y="706338"/>
                </a:lnTo>
                <a:lnTo>
                  <a:pt x="1225607" y="677387"/>
                </a:lnTo>
                <a:lnTo>
                  <a:pt x="1261310" y="646855"/>
                </a:lnTo>
                <a:lnTo>
                  <a:pt x="1291983" y="614950"/>
                </a:lnTo>
                <a:lnTo>
                  <a:pt x="1317636" y="581882"/>
                </a:lnTo>
                <a:lnTo>
                  <a:pt x="1338280" y="547860"/>
                </a:lnTo>
                <a:lnTo>
                  <a:pt x="1353926" y="513093"/>
                </a:lnTo>
                <a:lnTo>
                  <a:pt x="1370262" y="442161"/>
                </a:lnTo>
                <a:lnTo>
                  <a:pt x="1370972" y="406415"/>
                </a:lnTo>
                <a:lnTo>
                  <a:pt x="1366726" y="370760"/>
                </a:lnTo>
                <a:lnTo>
                  <a:pt x="1343402" y="300562"/>
                </a:lnTo>
                <a:lnTo>
                  <a:pt x="1324345" y="266437"/>
                </a:lnTo>
                <a:lnTo>
                  <a:pt x="1300372" y="233240"/>
                </a:lnTo>
                <a:lnTo>
                  <a:pt x="1271493" y="201181"/>
                </a:lnTo>
                <a:lnTo>
                  <a:pt x="1237719" y="170469"/>
                </a:lnTo>
                <a:lnTo>
                  <a:pt x="1199060" y="141312"/>
                </a:lnTo>
                <a:lnTo>
                  <a:pt x="1155526" y="113921"/>
                </a:lnTo>
                <a:lnTo>
                  <a:pt x="1115087" y="92390"/>
                </a:lnTo>
                <a:lnTo>
                  <a:pt x="1072710" y="73123"/>
                </a:lnTo>
                <a:lnTo>
                  <a:pt x="1028611" y="56115"/>
                </a:lnTo>
                <a:lnTo>
                  <a:pt x="983006" y="41364"/>
                </a:lnTo>
                <a:lnTo>
                  <a:pt x="936110" y="28864"/>
                </a:lnTo>
                <a:lnTo>
                  <a:pt x="888139" y="18611"/>
                </a:lnTo>
                <a:lnTo>
                  <a:pt x="839308" y="10603"/>
                </a:lnTo>
                <a:lnTo>
                  <a:pt x="789833" y="4834"/>
                </a:lnTo>
                <a:lnTo>
                  <a:pt x="739929" y="1301"/>
                </a:lnTo>
                <a:lnTo>
                  <a:pt x="689812" y="0"/>
                </a:lnTo>
                <a:close/>
              </a:path>
              <a:path w="1371600" h="917575">
                <a:moveTo>
                  <a:pt x="934105" y="809652"/>
                </a:moveTo>
                <a:lnTo>
                  <a:pt x="436732" y="809652"/>
                </a:lnTo>
                <a:lnTo>
                  <a:pt x="485962" y="820070"/>
                </a:lnTo>
                <a:lnTo>
                  <a:pt x="535819" y="828106"/>
                </a:lnTo>
                <a:lnTo>
                  <a:pt x="586097" y="833788"/>
                </a:lnTo>
                <a:lnTo>
                  <a:pt x="636591" y="837145"/>
                </a:lnTo>
                <a:lnTo>
                  <a:pt x="687098" y="838205"/>
                </a:lnTo>
                <a:lnTo>
                  <a:pt x="737411" y="836996"/>
                </a:lnTo>
                <a:lnTo>
                  <a:pt x="787326" y="833547"/>
                </a:lnTo>
                <a:lnTo>
                  <a:pt x="836639" y="827885"/>
                </a:lnTo>
                <a:lnTo>
                  <a:pt x="885144" y="820039"/>
                </a:lnTo>
                <a:lnTo>
                  <a:pt x="932637" y="810037"/>
                </a:lnTo>
                <a:lnTo>
                  <a:pt x="934105" y="809652"/>
                </a:lnTo>
                <a:close/>
              </a:path>
            </a:pathLst>
          </a:custGeom>
          <a:solidFill>
            <a:srgbClr val="4F81BD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2" name="object 12"/>
          <p:cNvSpPr/>
          <p:nvPr/>
        </p:nvSpPr>
        <p:spPr>
          <a:xfrm>
            <a:off x="3887572" y="1260358"/>
            <a:ext cx="1371838" cy="1223433"/>
          </a:xfrm>
          <a:custGeom>
            <a:avLst/>
            <a:gdLst/>
            <a:ahLst/>
            <a:cxnLst/>
            <a:rect l="l" t="t" r="r" b="b"/>
            <a:pathLst>
              <a:path w="1371600" h="917575">
                <a:moveTo>
                  <a:pt x="170832" y="917234"/>
                </a:moveTo>
                <a:lnTo>
                  <a:pt x="215434" y="724270"/>
                </a:lnTo>
                <a:lnTo>
                  <a:pt x="171903" y="696877"/>
                </a:lnTo>
                <a:lnTo>
                  <a:pt x="133245" y="667718"/>
                </a:lnTo>
                <a:lnTo>
                  <a:pt x="99473" y="637005"/>
                </a:lnTo>
                <a:lnTo>
                  <a:pt x="70596" y="604944"/>
                </a:lnTo>
                <a:lnTo>
                  <a:pt x="46624" y="571747"/>
                </a:lnTo>
                <a:lnTo>
                  <a:pt x="27568" y="537621"/>
                </a:lnTo>
                <a:lnTo>
                  <a:pt x="4245" y="467421"/>
                </a:lnTo>
                <a:lnTo>
                  <a:pt x="0" y="431765"/>
                </a:lnTo>
                <a:lnTo>
                  <a:pt x="711" y="396018"/>
                </a:lnTo>
                <a:lnTo>
                  <a:pt x="17047" y="325086"/>
                </a:lnTo>
                <a:lnTo>
                  <a:pt x="32693" y="290319"/>
                </a:lnTo>
                <a:lnTo>
                  <a:pt x="53337" y="256297"/>
                </a:lnTo>
                <a:lnTo>
                  <a:pt x="78991" y="223229"/>
                </a:lnTo>
                <a:lnTo>
                  <a:pt x="109664" y="191324"/>
                </a:lnTo>
                <a:lnTo>
                  <a:pt x="145367" y="160791"/>
                </a:lnTo>
                <a:lnTo>
                  <a:pt x="186110" y="131841"/>
                </a:lnTo>
                <a:lnTo>
                  <a:pt x="224345" y="108856"/>
                </a:lnTo>
                <a:lnTo>
                  <a:pt x="264738" y="88059"/>
                </a:lnTo>
                <a:lnTo>
                  <a:pt x="307073" y="69454"/>
                </a:lnTo>
                <a:lnTo>
                  <a:pt x="351134" y="53045"/>
                </a:lnTo>
                <a:lnTo>
                  <a:pt x="396707" y="38835"/>
                </a:lnTo>
                <a:lnTo>
                  <a:pt x="443576" y="26830"/>
                </a:lnTo>
                <a:lnTo>
                  <a:pt x="491525" y="17032"/>
                </a:lnTo>
                <a:lnTo>
                  <a:pt x="540339" y="9446"/>
                </a:lnTo>
                <a:lnTo>
                  <a:pt x="589802" y="4076"/>
                </a:lnTo>
                <a:lnTo>
                  <a:pt x="639698" y="926"/>
                </a:lnTo>
                <a:lnTo>
                  <a:pt x="689812" y="0"/>
                </a:lnTo>
                <a:lnTo>
                  <a:pt x="739929" y="1301"/>
                </a:lnTo>
                <a:lnTo>
                  <a:pt x="789833" y="4834"/>
                </a:lnTo>
                <a:lnTo>
                  <a:pt x="839308" y="10603"/>
                </a:lnTo>
                <a:lnTo>
                  <a:pt x="888139" y="18611"/>
                </a:lnTo>
                <a:lnTo>
                  <a:pt x="936110" y="28864"/>
                </a:lnTo>
                <a:lnTo>
                  <a:pt x="983006" y="41364"/>
                </a:lnTo>
                <a:lnTo>
                  <a:pt x="1028611" y="56115"/>
                </a:lnTo>
                <a:lnTo>
                  <a:pt x="1072710" y="73123"/>
                </a:lnTo>
                <a:lnTo>
                  <a:pt x="1115087" y="92390"/>
                </a:lnTo>
                <a:lnTo>
                  <a:pt x="1155526" y="113921"/>
                </a:lnTo>
                <a:lnTo>
                  <a:pt x="1199060" y="141312"/>
                </a:lnTo>
                <a:lnTo>
                  <a:pt x="1237719" y="170469"/>
                </a:lnTo>
                <a:lnTo>
                  <a:pt x="1271493" y="201181"/>
                </a:lnTo>
                <a:lnTo>
                  <a:pt x="1300372" y="233240"/>
                </a:lnTo>
                <a:lnTo>
                  <a:pt x="1324345" y="266437"/>
                </a:lnTo>
                <a:lnTo>
                  <a:pt x="1343402" y="300562"/>
                </a:lnTo>
                <a:lnTo>
                  <a:pt x="1366726" y="370760"/>
                </a:lnTo>
                <a:lnTo>
                  <a:pt x="1370972" y="406415"/>
                </a:lnTo>
                <a:lnTo>
                  <a:pt x="1370262" y="442161"/>
                </a:lnTo>
                <a:lnTo>
                  <a:pt x="1353926" y="513093"/>
                </a:lnTo>
                <a:lnTo>
                  <a:pt x="1338280" y="547860"/>
                </a:lnTo>
                <a:lnTo>
                  <a:pt x="1317636" y="581882"/>
                </a:lnTo>
                <a:lnTo>
                  <a:pt x="1291983" y="614950"/>
                </a:lnTo>
                <a:lnTo>
                  <a:pt x="1261310" y="646855"/>
                </a:lnTo>
                <a:lnTo>
                  <a:pt x="1225607" y="677387"/>
                </a:lnTo>
                <a:lnTo>
                  <a:pt x="1184863" y="706338"/>
                </a:lnTo>
                <a:lnTo>
                  <a:pt x="1147746" y="728681"/>
                </a:lnTo>
                <a:lnTo>
                  <a:pt x="1108388" y="749038"/>
                </a:lnTo>
                <a:lnTo>
                  <a:pt x="1066993" y="767380"/>
                </a:lnTo>
                <a:lnTo>
                  <a:pt x="1023766" y="783679"/>
                </a:lnTo>
                <a:lnTo>
                  <a:pt x="978912" y="797908"/>
                </a:lnTo>
                <a:lnTo>
                  <a:pt x="932637" y="810037"/>
                </a:lnTo>
                <a:lnTo>
                  <a:pt x="885144" y="820039"/>
                </a:lnTo>
                <a:lnTo>
                  <a:pt x="836639" y="827885"/>
                </a:lnTo>
                <a:lnTo>
                  <a:pt x="787326" y="833547"/>
                </a:lnTo>
                <a:lnTo>
                  <a:pt x="737411" y="836996"/>
                </a:lnTo>
                <a:lnTo>
                  <a:pt x="687098" y="838205"/>
                </a:lnTo>
                <a:lnTo>
                  <a:pt x="636591" y="837145"/>
                </a:lnTo>
                <a:lnTo>
                  <a:pt x="586097" y="833788"/>
                </a:lnTo>
                <a:lnTo>
                  <a:pt x="535819" y="828106"/>
                </a:lnTo>
                <a:lnTo>
                  <a:pt x="485962" y="820070"/>
                </a:lnTo>
                <a:lnTo>
                  <a:pt x="436732" y="809652"/>
                </a:lnTo>
                <a:lnTo>
                  <a:pt x="170832" y="917234"/>
                </a:lnTo>
                <a:close/>
              </a:path>
            </a:pathLst>
          </a:custGeom>
          <a:ln w="25146">
            <a:solidFill>
              <a:srgbClr val="385D8A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3" name="object 13"/>
          <p:cNvSpPr txBox="1"/>
          <p:nvPr/>
        </p:nvSpPr>
        <p:spPr>
          <a:xfrm>
            <a:off x="3939987" y="1444669"/>
            <a:ext cx="1512187" cy="739519"/>
          </a:xfrm>
          <a:prstGeom prst="rect">
            <a:avLst/>
          </a:prstGeom>
        </p:spPr>
        <p:txBody>
          <a:bodyPr vert="horz" wrap="square" lIns="0" tIns="46567" rIns="0" bIns="0" rtlCol="0">
            <a:spAutoFit/>
          </a:bodyPr>
          <a:lstStyle/>
          <a:p>
            <a:pPr marL="16933" marR="6773" algn="ctr">
              <a:lnSpc>
                <a:spcPts val="2707"/>
              </a:lnSpc>
              <a:spcBef>
                <a:spcPts val="367"/>
              </a:spcBef>
            </a:pPr>
            <a:r>
              <a:rPr sz="2400" b="1" spc="-7" dirty="0" err="1" smtClean="0">
                <a:solidFill>
                  <a:srgbClr val="FFFFFF"/>
                </a:solidFill>
                <a:latin typeface="宋体"/>
                <a:cs typeface="宋体"/>
              </a:rPr>
              <a:t>确定初始取值</a:t>
            </a:r>
            <a:endParaRPr sz="2400" dirty="0">
              <a:latin typeface="宋体"/>
              <a:cs typeface="宋体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681902" y="3124669"/>
            <a:ext cx="1743378" cy="936413"/>
          </a:xfrm>
          <a:custGeom>
            <a:avLst/>
            <a:gdLst/>
            <a:ahLst/>
            <a:cxnLst/>
            <a:rect l="l" t="t" r="r" b="b"/>
            <a:pathLst>
              <a:path w="1743075" h="702310">
                <a:moveTo>
                  <a:pt x="1502084" y="602873"/>
                </a:moveTo>
                <a:lnTo>
                  <a:pt x="399249" y="602873"/>
                </a:lnTo>
                <a:lnTo>
                  <a:pt x="438910" y="618796"/>
                </a:lnTo>
                <a:lnTo>
                  <a:pt x="480499" y="633366"/>
                </a:lnTo>
                <a:lnTo>
                  <a:pt x="523849" y="646571"/>
                </a:lnTo>
                <a:lnTo>
                  <a:pt x="568792" y="658397"/>
                </a:lnTo>
                <a:lnTo>
                  <a:pt x="615162" y="668831"/>
                </a:lnTo>
                <a:lnTo>
                  <a:pt x="662789" y="677860"/>
                </a:lnTo>
                <a:lnTo>
                  <a:pt x="711506" y="685470"/>
                </a:lnTo>
                <a:lnTo>
                  <a:pt x="761146" y="691648"/>
                </a:lnTo>
                <a:lnTo>
                  <a:pt x="811541" y="696381"/>
                </a:lnTo>
                <a:lnTo>
                  <a:pt x="862522" y="699656"/>
                </a:lnTo>
                <a:lnTo>
                  <a:pt x="913922" y="701460"/>
                </a:lnTo>
                <a:lnTo>
                  <a:pt x="965574" y="701778"/>
                </a:lnTo>
                <a:lnTo>
                  <a:pt x="1017310" y="700599"/>
                </a:lnTo>
                <a:lnTo>
                  <a:pt x="1068961" y="697909"/>
                </a:lnTo>
                <a:lnTo>
                  <a:pt x="1120361" y="693694"/>
                </a:lnTo>
                <a:lnTo>
                  <a:pt x="1171341" y="687941"/>
                </a:lnTo>
                <a:lnTo>
                  <a:pt x="1221734" y="680638"/>
                </a:lnTo>
                <a:lnTo>
                  <a:pt x="1271371" y="671770"/>
                </a:lnTo>
                <a:lnTo>
                  <a:pt x="1335981" y="657524"/>
                </a:lnTo>
                <a:lnTo>
                  <a:pt x="1396385" y="641056"/>
                </a:lnTo>
                <a:lnTo>
                  <a:pt x="1452443" y="622530"/>
                </a:lnTo>
                <a:lnTo>
                  <a:pt x="1502084" y="602873"/>
                </a:lnTo>
                <a:close/>
              </a:path>
              <a:path w="1743075" h="702310">
                <a:moveTo>
                  <a:pt x="964927" y="0"/>
                </a:moveTo>
                <a:lnTo>
                  <a:pt x="908820" y="419"/>
                </a:lnTo>
                <a:lnTo>
                  <a:pt x="852544" y="2631"/>
                </a:lnTo>
                <a:lnTo>
                  <a:pt x="796301" y="6669"/>
                </a:lnTo>
                <a:lnTo>
                  <a:pt x="740293" y="12569"/>
                </a:lnTo>
                <a:lnTo>
                  <a:pt x="684723" y="20364"/>
                </a:lnTo>
                <a:lnTo>
                  <a:pt x="629793" y="30090"/>
                </a:lnTo>
                <a:lnTo>
                  <a:pt x="565167" y="44340"/>
                </a:lnTo>
                <a:lnTo>
                  <a:pt x="504778" y="60804"/>
                </a:lnTo>
                <a:lnTo>
                  <a:pt x="448721" y="79329"/>
                </a:lnTo>
                <a:lnTo>
                  <a:pt x="397153" y="99749"/>
                </a:lnTo>
                <a:lnTo>
                  <a:pt x="350217" y="121900"/>
                </a:lnTo>
                <a:lnTo>
                  <a:pt x="308055" y="145619"/>
                </a:lnTo>
                <a:lnTo>
                  <a:pt x="270810" y="170742"/>
                </a:lnTo>
                <a:lnTo>
                  <a:pt x="238624" y="197106"/>
                </a:lnTo>
                <a:lnTo>
                  <a:pt x="211640" y="224548"/>
                </a:lnTo>
                <a:lnTo>
                  <a:pt x="173846" y="282009"/>
                </a:lnTo>
                <a:lnTo>
                  <a:pt x="158568" y="341820"/>
                </a:lnTo>
                <a:lnTo>
                  <a:pt x="159728" y="372197"/>
                </a:lnTo>
                <a:lnTo>
                  <a:pt x="166944" y="402672"/>
                </a:lnTo>
                <a:lnTo>
                  <a:pt x="180358" y="433080"/>
                </a:lnTo>
                <a:lnTo>
                  <a:pt x="200113" y="463258"/>
                </a:lnTo>
                <a:lnTo>
                  <a:pt x="226352" y="493043"/>
                </a:lnTo>
                <a:lnTo>
                  <a:pt x="0" y="644592"/>
                </a:lnTo>
                <a:lnTo>
                  <a:pt x="399249" y="602873"/>
                </a:lnTo>
                <a:lnTo>
                  <a:pt x="1502084" y="602873"/>
                </a:lnTo>
                <a:lnTo>
                  <a:pt x="1504011" y="602110"/>
                </a:lnTo>
                <a:lnTo>
                  <a:pt x="1550947" y="579958"/>
                </a:lnTo>
                <a:lnTo>
                  <a:pt x="1593109" y="556238"/>
                </a:lnTo>
                <a:lnTo>
                  <a:pt x="1630354" y="531114"/>
                </a:lnTo>
                <a:lnTo>
                  <a:pt x="1662539" y="504750"/>
                </a:lnTo>
                <a:lnTo>
                  <a:pt x="1689523" y="477308"/>
                </a:lnTo>
                <a:lnTo>
                  <a:pt x="1727317" y="419845"/>
                </a:lnTo>
                <a:lnTo>
                  <a:pt x="1742596" y="360035"/>
                </a:lnTo>
                <a:lnTo>
                  <a:pt x="1741436" y="329658"/>
                </a:lnTo>
                <a:lnTo>
                  <a:pt x="1720806" y="268777"/>
                </a:lnTo>
                <a:lnTo>
                  <a:pt x="1674812" y="208817"/>
                </a:lnTo>
                <a:lnTo>
                  <a:pt x="1619556" y="162948"/>
                </a:lnTo>
                <a:lnTo>
                  <a:pt x="1587028" y="141906"/>
                </a:lnTo>
                <a:lnTo>
                  <a:pt x="1551502" y="122173"/>
                </a:lnTo>
                <a:lnTo>
                  <a:pt x="1513180" y="103782"/>
                </a:lnTo>
                <a:lnTo>
                  <a:pt x="1472265" y="86769"/>
                </a:lnTo>
                <a:lnTo>
                  <a:pt x="1428959" y="71168"/>
                </a:lnTo>
                <a:lnTo>
                  <a:pt x="1383463" y="57014"/>
                </a:lnTo>
                <a:lnTo>
                  <a:pt x="1335961" y="44336"/>
                </a:lnTo>
                <a:lnTo>
                  <a:pt x="1286712" y="33182"/>
                </a:lnTo>
                <a:lnTo>
                  <a:pt x="1235860" y="23575"/>
                </a:lnTo>
                <a:lnTo>
                  <a:pt x="1183628" y="15552"/>
                </a:lnTo>
                <a:lnTo>
                  <a:pt x="1130216" y="9148"/>
                </a:lnTo>
                <a:lnTo>
                  <a:pt x="1075827" y="4399"/>
                </a:lnTo>
                <a:lnTo>
                  <a:pt x="1020664" y="1338"/>
                </a:lnTo>
                <a:lnTo>
                  <a:pt x="964927" y="0"/>
                </a:lnTo>
                <a:close/>
              </a:path>
            </a:pathLst>
          </a:custGeom>
          <a:solidFill>
            <a:srgbClr val="4F81BD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5" name="object 15"/>
          <p:cNvSpPr/>
          <p:nvPr/>
        </p:nvSpPr>
        <p:spPr>
          <a:xfrm>
            <a:off x="3681902" y="3124669"/>
            <a:ext cx="1743378" cy="936413"/>
          </a:xfrm>
          <a:custGeom>
            <a:avLst/>
            <a:gdLst/>
            <a:ahLst/>
            <a:cxnLst/>
            <a:rect l="l" t="t" r="r" b="b"/>
            <a:pathLst>
              <a:path w="1743075" h="702310">
                <a:moveTo>
                  <a:pt x="0" y="644592"/>
                </a:moveTo>
                <a:lnTo>
                  <a:pt x="226352" y="493043"/>
                </a:lnTo>
                <a:lnTo>
                  <a:pt x="200113" y="463258"/>
                </a:lnTo>
                <a:lnTo>
                  <a:pt x="180358" y="433080"/>
                </a:lnTo>
                <a:lnTo>
                  <a:pt x="166944" y="402672"/>
                </a:lnTo>
                <a:lnTo>
                  <a:pt x="159728" y="372197"/>
                </a:lnTo>
                <a:lnTo>
                  <a:pt x="158568" y="341820"/>
                </a:lnTo>
                <a:lnTo>
                  <a:pt x="163322" y="311703"/>
                </a:lnTo>
                <a:lnTo>
                  <a:pt x="190000" y="252903"/>
                </a:lnTo>
                <a:lnTo>
                  <a:pt x="238624" y="197106"/>
                </a:lnTo>
                <a:lnTo>
                  <a:pt x="270810" y="170742"/>
                </a:lnTo>
                <a:lnTo>
                  <a:pt x="308055" y="145619"/>
                </a:lnTo>
                <a:lnTo>
                  <a:pt x="350217" y="121900"/>
                </a:lnTo>
                <a:lnTo>
                  <a:pt x="397153" y="99749"/>
                </a:lnTo>
                <a:lnTo>
                  <a:pt x="448721" y="79329"/>
                </a:lnTo>
                <a:lnTo>
                  <a:pt x="504778" y="60804"/>
                </a:lnTo>
                <a:lnTo>
                  <a:pt x="565183" y="44336"/>
                </a:lnTo>
                <a:lnTo>
                  <a:pt x="629793" y="30090"/>
                </a:lnTo>
                <a:lnTo>
                  <a:pt x="684723" y="20364"/>
                </a:lnTo>
                <a:lnTo>
                  <a:pt x="740293" y="12569"/>
                </a:lnTo>
                <a:lnTo>
                  <a:pt x="796301" y="6669"/>
                </a:lnTo>
                <a:lnTo>
                  <a:pt x="852544" y="2631"/>
                </a:lnTo>
                <a:lnTo>
                  <a:pt x="908820" y="419"/>
                </a:lnTo>
                <a:lnTo>
                  <a:pt x="964927" y="0"/>
                </a:lnTo>
                <a:lnTo>
                  <a:pt x="1020664" y="1338"/>
                </a:lnTo>
                <a:lnTo>
                  <a:pt x="1075827" y="4399"/>
                </a:lnTo>
                <a:lnTo>
                  <a:pt x="1130216" y="9148"/>
                </a:lnTo>
                <a:lnTo>
                  <a:pt x="1183628" y="15552"/>
                </a:lnTo>
                <a:lnTo>
                  <a:pt x="1235860" y="23575"/>
                </a:lnTo>
                <a:lnTo>
                  <a:pt x="1286712" y="33182"/>
                </a:lnTo>
                <a:lnTo>
                  <a:pt x="1335980" y="44340"/>
                </a:lnTo>
                <a:lnTo>
                  <a:pt x="1383463" y="57014"/>
                </a:lnTo>
                <a:lnTo>
                  <a:pt x="1428959" y="71168"/>
                </a:lnTo>
                <a:lnTo>
                  <a:pt x="1472265" y="86769"/>
                </a:lnTo>
                <a:lnTo>
                  <a:pt x="1513180" y="103782"/>
                </a:lnTo>
                <a:lnTo>
                  <a:pt x="1551502" y="122173"/>
                </a:lnTo>
                <a:lnTo>
                  <a:pt x="1587028" y="141906"/>
                </a:lnTo>
                <a:lnTo>
                  <a:pt x="1619556" y="162948"/>
                </a:lnTo>
                <a:lnTo>
                  <a:pt x="1674812" y="208817"/>
                </a:lnTo>
                <a:lnTo>
                  <a:pt x="1701050" y="238600"/>
                </a:lnTo>
                <a:lnTo>
                  <a:pt x="1734220" y="299184"/>
                </a:lnTo>
                <a:lnTo>
                  <a:pt x="1742596" y="360035"/>
                </a:lnTo>
                <a:lnTo>
                  <a:pt x="1737842" y="390152"/>
                </a:lnTo>
                <a:lnTo>
                  <a:pt x="1711163" y="448952"/>
                </a:lnTo>
                <a:lnTo>
                  <a:pt x="1662539" y="504750"/>
                </a:lnTo>
                <a:lnTo>
                  <a:pt x="1630354" y="531114"/>
                </a:lnTo>
                <a:lnTo>
                  <a:pt x="1593109" y="556238"/>
                </a:lnTo>
                <a:lnTo>
                  <a:pt x="1550947" y="579958"/>
                </a:lnTo>
                <a:lnTo>
                  <a:pt x="1504011" y="602110"/>
                </a:lnTo>
                <a:lnTo>
                  <a:pt x="1452443" y="622530"/>
                </a:lnTo>
                <a:lnTo>
                  <a:pt x="1396385" y="641056"/>
                </a:lnTo>
                <a:lnTo>
                  <a:pt x="1335981" y="657524"/>
                </a:lnTo>
                <a:lnTo>
                  <a:pt x="1271371" y="671770"/>
                </a:lnTo>
                <a:lnTo>
                  <a:pt x="1221734" y="680638"/>
                </a:lnTo>
                <a:lnTo>
                  <a:pt x="1171341" y="687941"/>
                </a:lnTo>
                <a:lnTo>
                  <a:pt x="1120361" y="693694"/>
                </a:lnTo>
                <a:lnTo>
                  <a:pt x="1068961" y="697909"/>
                </a:lnTo>
                <a:lnTo>
                  <a:pt x="1017310" y="700599"/>
                </a:lnTo>
                <a:lnTo>
                  <a:pt x="965574" y="701778"/>
                </a:lnTo>
                <a:lnTo>
                  <a:pt x="913922" y="701460"/>
                </a:lnTo>
                <a:lnTo>
                  <a:pt x="862522" y="699656"/>
                </a:lnTo>
                <a:lnTo>
                  <a:pt x="811541" y="696381"/>
                </a:lnTo>
                <a:lnTo>
                  <a:pt x="761146" y="691648"/>
                </a:lnTo>
                <a:lnTo>
                  <a:pt x="711506" y="685470"/>
                </a:lnTo>
                <a:lnTo>
                  <a:pt x="662789" y="677860"/>
                </a:lnTo>
                <a:lnTo>
                  <a:pt x="615162" y="668831"/>
                </a:lnTo>
                <a:lnTo>
                  <a:pt x="568792" y="658397"/>
                </a:lnTo>
                <a:lnTo>
                  <a:pt x="523849" y="646571"/>
                </a:lnTo>
                <a:lnTo>
                  <a:pt x="480499" y="633366"/>
                </a:lnTo>
                <a:lnTo>
                  <a:pt x="438910" y="618796"/>
                </a:lnTo>
                <a:lnTo>
                  <a:pt x="399249" y="602873"/>
                </a:lnTo>
                <a:lnTo>
                  <a:pt x="0" y="644592"/>
                </a:lnTo>
                <a:close/>
              </a:path>
            </a:pathLst>
          </a:custGeom>
          <a:ln w="25145">
            <a:solidFill>
              <a:srgbClr val="385D8A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6" name="object 16"/>
          <p:cNvSpPr txBox="1"/>
          <p:nvPr/>
        </p:nvSpPr>
        <p:spPr>
          <a:xfrm>
            <a:off x="3939987" y="3204987"/>
            <a:ext cx="1512188" cy="739519"/>
          </a:xfrm>
          <a:prstGeom prst="rect">
            <a:avLst/>
          </a:prstGeom>
        </p:spPr>
        <p:txBody>
          <a:bodyPr vert="horz" wrap="square" lIns="0" tIns="46567" rIns="0" bIns="0" rtlCol="0">
            <a:spAutoFit/>
          </a:bodyPr>
          <a:lstStyle/>
          <a:p>
            <a:pPr marL="16933" marR="6773">
              <a:lnSpc>
                <a:spcPts val="2707"/>
              </a:lnSpc>
              <a:spcBef>
                <a:spcPts val="367"/>
              </a:spcBef>
            </a:pPr>
            <a:r>
              <a:rPr sz="2400" b="1" spc="-7" dirty="0">
                <a:solidFill>
                  <a:srgbClr val="FFFFFF"/>
                </a:solidFill>
                <a:latin typeface="宋体"/>
                <a:cs typeface="宋体"/>
              </a:rPr>
              <a:t>满足约束 分支搜索</a:t>
            </a:r>
            <a:endParaRPr sz="2400" dirty="0">
              <a:latin typeface="宋体"/>
              <a:cs typeface="宋体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668454" y="4623001"/>
            <a:ext cx="1126686" cy="1118447"/>
          </a:xfrm>
          <a:custGeom>
            <a:avLst/>
            <a:gdLst/>
            <a:ahLst/>
            <a:cxnLst/>
            <a:rect l="l" t="t" r="r" b="b"/>
            <a:pathLst>
              <a:path w="1126489" h="838835">
                <a:moveTo>
                  <a:pt x="941039" y="731118"/>
                </a:moveTo>
                <a:lnTo>
                  <a:pt x="197713" y="731118"/>
                </a:lnTo>
                <a:lnTo>
                  <a:pt x="237997" y="755866"/>
                </a:lnTo>
                <a:lnTo>
                  <a:pt x="280632" y="777436"/>
                </a:lnTo>
                <a:lnTo>
                  <a:pt x="325305" y="795795"/>
                </a:lnTo>
                <a:lnTo>
                  <a:pt x="371700" y="810909"/>
                </a:lnTo>
                <a:lnTo>
                  <a:pt x="419502" y="822745"/>
                </a:lnTo>
                <a:lnTo>
                  <a:pt x="468395" y="831271"/>
                </a:lnTo>
                <a:lnTo>
                  <a:pt x="518066" y="836455"/>
                </a:lnTo>
                <a:lnTo>
                  <a:pt x="568199" y="838262"/>
                </a:lnTo>
                <a:lnTo>
                  <a:pt x="618479" y="836660"/>
                </a:lnTo>
                <a:lnTo>
                  <a:pt x="668590" y="831617"/>
                </a:lnTo>
                <a:lnTo>
                  <a:pt x="718219" y="823098"/>
                </a:lnTo>
                <a:lnTo>
                  <a:pt x="767050" y="811073"/>
                </a:lnTo>
                <a:lnTo>
                  <a:pt x="814768" y="795507"/>
                </a:lnTo>
                <a:lnTo>
                  <a:pt x="864645" y="774710"/>
                </a:lnTo>
                <a:lnTo>
                  <a:pt x="910596" y="750697"/>
                </a:lnTo>
                <a:lnTo>
                  <a:pt x="941039" y="731118"/>
                </a:lnTo>
                <a:close/>
              </a:path>
              <a:path w="1126489" h="838835">
                <a:moveTo>
                  <a:pt x="576741" y="0"/>
                </a:moveTo>
                <a:lnTo>
                  <a:pt x="525800" y="1246"/>
                </a:lnTo>
                <a:lnTo>
                  <a:pt x="474802" y="6069"/>
                </a:lnTo>
                <a:lnTo>
                  <a:pt x="424058" y="14549"/>
                </a:lnTo>
                <a:lnTo>
                  <a:pt x="373882" y="26767"/>
                </a:lnTo>
                <a:lnTo>
                  <a:pt x="324586" y="42803"/>
                </a:lnTo>
                <a:lnTo>
                  <a:pt x="274709" y="63600"/>
                </a:lnTo>
                <a:lnTo>
                  <a:pt x="228758" y="87612"/>
                </a:lnTo>
                <a:lnTo>
                  <a:pt x="186861" y="114558"/>
                </a:lnTo>
                <a:lnTo>
                  <a:pt x="149146" y="144155"/>
                </a:lnTo>
                <a:lnTo>
                  <a:pt x="115742" y="176122"/>
                </a:lnTo>
                <a:lnTo>
                  <a:pt x="86776" y="210177"/>
                </a:lnTo>
                <a:lnTo>
                  <a:pt x="62378" y="246038"/>
                </a:lnTo>
                <a:lnTo>
                  <a:pt x="42675" y="283424"/>
                </a:lnTo>
                <a:lnTo>
                  <a:pt x="27795" y="322051"/>
                </a:lnTo>
                <a:lnTo>
                  <a:pt x="17867" y="361640"/>
                </a:lnTo>
                <a:lnTo>
                  <a:pt x="13019" y="401907"/>
                </a:lnTo>
                <a:lnTo>
                  <a:pt x="13379" y="442571"/>
                </a:lnTo>
                <a:lnTo>
                  <a:pt x="19076" y="483350"/>
                </a:lnTo>
                <a:lnTo>
                  <a:pt x="30238" y="523962"/>
                </a:lnTo>
                <a:lnTo>
                  <a:pt x="46993" y="564126"/>
                </a:lnTo>
                <a:lnTo>
                  <a:pt x="69469" y="603559"/>
                </a:lnTo>
                <a:lnTo>
                  <a:pt x="0" y="743361"/>
                </a:lnTo>
                <a:lnTo>
                  <a:pt x="197713" y="731118"/>
                </a:lnTo>
                <a:lnTo>
                  <a:pt x="941039" y="731118"/>
                </a:lnTo>
                <a:lnTo>
                  <a:pt x="952493" y="723751"/>
                </a:lnTo>
                <a:lnTo>
                  <a:pt x="990208" y="694153"/>
                </a:lnTo>
                <a:lnTo>
                  <a:pt x="1023612" y="662185"/>
                </a:lnTo>
                <a:lnTo>
                  <a:pt x="1052578" y="628129"/>
                </a:lnTo>
                <a:lnTo>
                  <a:pt x="1076976" y="592267"/>
                </a:lnTo>
                <a:lnTo>
                  <a:pt x="1096679" y="554881"/>
                </a:lnTo>
                <a:lnTo>
                  <a:pt x="1111559" y="516253"/>
                </a:lnTo>
                <a:lnTo>
                  <a:pt x="1121487" y="476664"/>
                </a:lnTo>
                <a:lnTo>
                  <a:pt x="1126335" y="436397"/>
                </a:lnTo>
                <a:lnTo>
                  <a:pt x="1125975" y="395734"/>
                </a:lnTo>
                <a:lnTo>
                  <a:pt x="1120278" y="354955"/>
                </a:lnTo>
                <a:lnTo>
                  <a:pt x="1109116" y="314344"/>
                </a:lnTo>
                <a:lnTo>
                  <a:pt x="1092362" y="274182"/>
                </a:lnTo>
                <a:lnTo>
                  <a:pt x="1069886" y="234751"/>
                </a:lnTo>
                <a:lnTo>
                  <a:pt x="1043992" y="199351"/>
                </a:lnTo>
                <a:lnTo>
                  <a:pt x="1014294" y="166562"/>
                </a:lnTo>
                <a:lnTo>
                  <a:pt x="981103" y="136465"/>
                </a:lnTo>
                <a:lnTo>
                  <a:pt x="944732" y="109140"/>
                </a:lnTo>
                <a:lnTo>
                  <a:pt x="905492" y="84668"/>
                </a:lnTo>
                <a:lnTo>
                  <a:pt x="863697" y="63130"/>
                </a:lnTo>
                <a:lnTo>
                  <a:pt x="819658" y="44604"/>
                </a:lnTo>
                <a:lnTo>
                  <a:pt x="773687" y="29174"/>
                </a:lnTo>
                <a:lnTo>
                  <a:pt x="726098" y="16917"/>
                </a:lnTo>
                <a:lnTo>
                  <a:pt x="677203" y="7916"/>
                </a:lnTo>
                <a:lnTo>
                  <a:pt x="627313" y="2250"/>
                </a:lnTo>
                <a:lnTo>
                  <a:pt x="576741" y="0"/>
                </a:lnTo>
                <a:close/>
              </a:path>
            </a:pathLst>
          </a:custGeom>
          <a:solidFill>
            <a:srgbClr val="4F81BD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8" name="object 18"/>
          <p:cNvSpPr/>
          <p:nvPr/>
        </p:nvSpPr>
        <p:spPr>
          <a:xfrm>
            <a:off x="5663984" y="4623001"/>
            <a:ext cx="1126686" cy="1118447"/>
          </a:xfrm>
          <a:custGeom>
            <a:avLst/>
            <a:gdLst/>
            <a:ahLst/>
            <a:cxnLst/>
            <a:rect l="l" t="t" r="r" b="b"/>
            <a:pathLst>
              <a:path w="1126489" h="838835">
                <a:moveTo>
                  <a:pt x="0" y="743361"/>
                </a:moveTo>
                <a:lnTo>
                  <a:pt x="69469" y="603559"/>
                </a:lnTo>
                <a:lnTo>
                  <a:pt x="46993" y="564126"/>
                </a:lnTo>
                <a:lnTo>
                  <a:pt x="30238" y="523962"/>
                </a:lnTo>
                <a:lnTo>
                  <a:pt x="19076" y="483350"/>
                </a:lnTo>
                <a:lnTo>
                  <a:pt x="13379" y="442571"/>
                </a:lnTo>
                <a:lnTo>
                  <a:pt x="13019" y="401907"/>
                </a:lnTo>
                <a:lnTo>
                  <a:pt x="17867" y="361640"/>
                </a:lnTo>
                <a:lnTo>
                  <a:pt x="27795" y="322051"/>
                </a:lnTo>
                <a:lnTo>
                  <a:pt x="42675" y="283424"/>
                </a:lnTo>
                <a:lnTo>
                  <a:pt x="62378" y="246038"/>
                </a:lnTo>
                <a:lnTo>
                  <a:pt x="86776" y="210177"/>
                </a:lnTo>
                <a:lnTo>
                  <a:pt x="115742" y="176122"/>
                </a:lnTo>
                <a:lnTo>
                  <a:pt x="149146" y="144155"/>
                </a:lnTo>
                <a:lnTo>
                  <a:pt x="186861" y="114558"/>
                </a:lnTo>
                <a:lnTo>
                  <a:pt x="228758" y="87612"/>
                </a:lnTo>
                <a:lnTo>
                  <a:pt x="274709" y="63600"/>
                </a:lnTo>
                <a:lnTo>
                  <a:pt x="324586" y="42803"/>
                </a:lnTo>
                <a:lnTo>
                  <a:pt x="373882" y="26767"/>
                </a:lnTo>
                <a:lnTo>
                  <a:pt x="424058" y="14549"/>
                </a:lnTo>
                <a:lnTo>
                  <a:pt x="474802" y="6069"/>
                </a:lnTo>
                <a:lnTo>
                  <a:pt x="525800" y="1246"/>
                </a:lnTo>
                <a:lnTo>
                  <a:pt x="576741" y="0"/>
                </a:lnTo>
                <a:lnTo>
                  <a:pt x="627313" y="2250"/>
                </a:lnTo>
                <a:lnTo>
                  <a:pt x="677203" y="7916"/>
                </a:lnTo>
                <a:lnTo>
                  <a:pt x="726098" y="16917"/>
                </a:lnTo>
                <a:lnTo>
                  <a:pt x="773687" y="29174"/>
                </a:lnTo>
                <a:lnTo>
                  <a:pt x="819658" y="44604"/>
                </a:lnTo>
                <a:lnTo>
                  <a:pt x="863697" y="63130"/>
                </a:lnTo>
                <a:lnTo>
                  <a:pt x="905492" y="84668"/>
                </a:lnTo>
                <a:lnTo>
                  <a:pt x="944732" y="109140"/>
                </a:lnTo>
                <a:lnTo>
                  <a:pt x="981103" y="136465"/>
                </a:lnTo>
                <a:lnTo>
                  <a:pt x="1014294" y="166562"/>
                </a:lnTo>
                <a:lnTo>
                  <a:pt x="1043992" y="199351"/>
                </a:lnTo>
                <a:lnTo>
                  <a:pt x="1069886" y="234751"/>
                </a:lnTo>
                <a:lnTo>
                  <a:pt x="1092362" y="274182"/>
                </a:lnTo>
                <a:lnTo>
                  <a:pt x="1109116" y="314344"/>
                </a:lnTo>
                <a:lnTo>
                  <a:pt x="1120278" y="354955"/>
                </a:lnTo>
                <a:lnTo>
                  <a:pt x="1125975" y="395734"/>
                </a:lnTo>
                <a:lnTo>
                  <a:pt x="1126335" y="436397"/>
                </a:lnTo>
                <a:lnTo>
                  <a:pt x="1121487" y="476664"/>
                </a:lnTo>
                <a:lnTo>
                  <a:pt x="1111559" y="516253"/>
                </a:lnTo>
                <a:lnTo>
                  <a:pt x="1096679" y="554881"/>
                </a:lnTo>
                <a:lnTo>
                  <a:pt x="1076976" y="592267"/>
                </a:lnTo>
                <a:lnTo>
                  <a:pt x="1052578" y="628129"/>
                </a:lnTo>
                <a:lnTo>
                  <a:pt x="1023612" y="662185"/>
                </a:lnTo>
                <a:lnTo>
                  <a:pt x="990208" y="694153"/>
                </a:lnTo>
                <a:lnTo>
                  <a:pt x="952493" y="723751"/>
                </a:lnTo>
                <a:lnTo>
                  <a:pt x="910596" y="750697"/>
                </a:lnTo>
                <a:lnTo>
                  <a:pt x="864645" y="774710"/>
                </a:lnTo>
                <a:lnTo>
                  <a:pt x="814768" y="795507"/>
                </a:lnTo>
                <a:lnTo>
                  <a:pt x="767050" y="811073"/>
                </a:lnTo>
                <a:lnTo>
                  <a:pt x="718219" y="823098"/>
                </a:lnTo>
                <a:lnTo>
                  <a:pt x="668590" y="831617"/>
                </a:lnTo>
                <a:lnTo>
                  <a:pt x="618479" y="836660"/>
                </a:lnTo>
                <a:lnTo>
                  <a:pt x="568199" y="838262"/>
                </a:lnTo>
                <a:lnTo>
                  <a:pt x="518066" y="836455"/>
                </a:lnTo>
                <a:lnTo>
                  <a:pt x="468395" y="831271"/>
                </a:lnTo>
                <a:lnTo>
                  <a:pt x="419502" y="822745"/>
                </a:lnTo>
                <a:lnTo>
                  <a:pt x="371700" y="810909"/>
                </a:lnTo>
                <a:lnTo>
                  <a:pt x="325305" y="795795"/>
                </a:lnTo>
                <a:lnTo>
                  <a:pt x="280632" y="777436"/>
                </a:lnTo>
                <a:lnTo>
                  <a:pt x="237997" y="755866"/>
                </a:lnTo>
                <a:lnTo>
                  <a:pt x="197713" y="731118"/>
                </a:lnTo>
                <a:lnTo>
                  <a:pt x="0" y="743361"/>
                </a:lnTo>
                <a:close/>
              </a:path>
            </a:pathLst>
          </a:custGeom>
          <a:ln w="25146">
            <a:solidFill>
              <a:srgbClr val="385D8A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9" name="object 19"/>
          <p:cNvSpPr txBox="1"/>
          <p:nvPr/>
        </p:nvSpPr>
        <p:spPr>
          <a:xfrm>
            <a:off x="5995685" y="4968594"/>
            <a:ext cx="484589" cy="75576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b="1" spc="-7" dirty="0">
                <a:solidFill>
                  <a:srgbClr val="FFFFFF"/>
                </a:solidFill>
                <a:latin typeface="宋体"/>
                <a:cs typeface="宋体"/>
              </a:rPr>
              <a:t>回溯</a:t>
            </a:r>
            <a:endParaRPr sz="2400">
              <a:latin typeface="宋体"/>
              <a:cs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31233026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99304" y="195479"/>
            <a:ext cx="2061568" cy="632651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4000" b="1" spc="-13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装载问</a:t>
            </a:r>
            <a:r>
              <a:rPr sz="4000" b="1" spc="-2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题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99544" y="1182354"/>
            <a:ext cx="8151838" cy="4240990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33866" marR="23706" algn="just">
              <a:lnSpc>
                <a:spcPct val="117400"/>
              </a:lnSpc>
              <a:spcBef>
                <a:spcPts val="127"/>
              </a:spcBef>
              <a:tabLst>
                <a:tab pos="3890336" algn="l"/>
              </a:tabLst>
            </a:pPr>
            <a:r>
              <a:rPr sz="2800" b="1" spc="-7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问题</a:t>
            </a:r>
            <a:r>
              <a:rPr sz="2800" b="1" spc="-7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：</a:t>
            </a:r>
            <a:r>
              <a:rPr sz="2800" b="1" spc="-7" dirty="0" smtClean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有</a:t>
            </a:r>
            <a:r>
              <a:rPr sz="2800" b="1" i="1" spc="-7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n</a:t>
            </a:r>
            <a:r>
              <a:rPr sz="2800" b="1" spc="-7" dirty="0" smtClean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个集</a:t>
            </a:r>
            <a:r>
              <a:rPr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装箱</a:t>
            </a:r>
            <a:r>
              <a:rPr sz="2800" b="1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，</a:t>
            </a:r>
            <a:r>
              <a:rPr sz="2800" b="1" spc="-7" dirty="0" smtClean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需</a:t>
            </a:r>
            <a:r>
              <a:rPr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要装上</a:t>
            </a:r>
            <a:r>
              <a:rPr sz="2800" b="1" spc="-7" dirty="0" smtClean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两</a:t>
            </a:r>
            <a:r>
              <a:rPr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艘</a:t>
            </a:r>
            <a:r>
              <a:rPr sz="2800" b="1" spc="-7" dirty="0" smtClean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载重分别</a:t>
            </a:r>
            <a:r>
              <a:rPr sz="2800" b="1" spc="-13" dirty="0" smtClean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为</a:t>
            </a:r>
            <a:r>
              <a:rPr sz="2800" b="1" i="1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c</a:t>
            </a:r>
            <a:r>
              <a:rPr sz="2800" b="1" baseline="-21072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1</a:t>
            </a:r>
            <a:r>
              <a:rPr sz="2800" b="1" spc="-7" dirty="0" smtClean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和</a:t>
            </a:r>
            <a:r>
              <a:rPr lang="en-US" sz="2800" b="1" spc="-7" dirty="0" smtClean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 </a:t>
            </a:r>
            <a:r>
              <a:rPr sz="2800" b="1" i="1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c</a:t>
            </a:r>
            <a:r>
              <a:rPr sz="2800" b="1" baseline="-21072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2</a:t>
            </a:r>
            <a:r>
              <a:rPr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的轮</a:t>
            </a:r>
            <a:r>
              <a:rPr sz="2800" b="1" spc="-7" dirty="0" smtClean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船</a:t>
            </a:r>
            <a:r>
              <a:rPr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.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w</a:t>
            </a:r>
            <a:r>
              <a:rPr sz="2800" b="1" baseline="-21072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i</a:t>
            </a:r>
            <a:r>
              <a:rPr sz="2800" b="1" spc="-7" dirty="0" smtClean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为</a:t>
            </a:r>
            <a:r>
              <a:rPr sz="2800" b="1" spc="-13" dirty="0" smtClean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第</a:t>
            </a:r>
            <a:r>
              <a:rPr sz="2800" b="1" i="1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i</a:t>
            </a:r>
            <a:r>
              <a:rPr sz="2800" b="1" spc="-7" dirty="0" smtClean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个集装箱的重量</a:t>
            </a:r>
            <a:r>
              <a:rPr sz="2800" b="1" spc="-7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，</a:t>
            </a:r>
            <a:r>
              <a:rPr sz="2800" b="1" spc="-13" dirty="0" smtClean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且</a:t>
            </a:r>
            <a:r>
              <a:rPr sz="2800" b="1" i="1" dirty="0" smtClean="0">
                <a:latin typeface="Times New Roman"/>
                <a:cs typeface="Times New Roman"/>
              </a:rPr>
              <a:t>w</a:t>
            </a:r>
            <a:r>
              <a:rPr sz="2800" b="1" baseline="-21072" dirty="0" smtClean="0">
                <a:latin typeface="Times New Roman"/>
                <a:cs typeface="Times New Roman"/>
              </a:rPr>
              <a:t>1</a:t>
            </a:r>
            <a:r>
              <a:rPr sz="2800" b="1" dirty="0" smtClean="0">
                <a:latin typeface="Times New Roman"/>
                <a:cs typeface="Times New Roman"/>
              </a:rPr>
              <a:t>+</a:t>
            </a:r>
            <a:r>
              <a:rPr sz="2800" b="1" i="1" dirty="0" smtClean="0">
                <a:latin typeface="Times New Roman"/>
                <a:cs typeface="Times New Roman"/>
              </a:rPr>
              <a:t>w</a:t>
            </a:r>
            <a:r>
              <a:rPr sz="2800" b="1" baseline="-21072" dirty="0" smtClean="0">
                <a:latin typeface="Times New Roman"/>
                <a:cs typeface="Times New Roman"/>
              </a:rPr>
              <a:t>2</a:t>
            </a:r>
            <a:r>
              <a:rPr sz="2800" b="1" dirty="0">
                <a:latin typeface="Times New Roman"/>
                <a:cs typeface="Times New Roman"/>
              </a:rPr>
              <a:t>+...+</a:t>
            </a:r>
            <a:r>
              <a:rPr sz="2800" b="1" i="1" dirty="0" err="1">
                <a:latin typeface="Times New Roman"/>
                <a:cs typeface="Times New Roman"/>
              </a:rPr>
              <a:t>w</a:t>
            </a:r>
            <a:r>
              <a:rPr sz="2800" b="1" i="1" baseline="-21072" dirty="0" err="1">
                <a:latin typeface="Times New Roman"/>
                <a:cs typeface="Times New Roman"/>
              </a:rPr>
              <a:t>n</a:t>
            </a:r>
            <a:r>
              <a:rPr sz="2800" b="1" i="1" spc="-49" baseline="-21072" dirty="0">
                <a:latin typeface="Times New Roman"/>
                <a:cs typeface="Times New Roman"/>
              </a:rPr>
              <a:t> </a:t>
            </a:r>
            <a:r>
              <a:rPr sz="2800" b="1" dirty="0" smtClean="0">
                <a:latin typeface="Symbol"/>
                <a:cs typeface="Symbol"/>
              </a:rPr>
              <a:t></a:t>
            </a:r>
            <a:r>
              <a:rPr sz="2800" b="1" i="1" dirty="0" smtClean="0">
                <a:latin typeface="Times New Roman"/>
                <a:cs typeface="Times New Roman"/>
              </a:rPr>
              <a:t>c</a:t>
            </a:r>
            <a:r>
              <a:rPr sz="2800" b="1" baseline="-21072" dirty="0" smtClean="0">
                <a:latin typeface="Times New Roman"/>
                <a:cs typeface="Times New Roman"/>
              </a:rPr>
              <a:t>1</a:t>
            </a:r>
            <a:r>
              <a:rPr sz="2800" b="1" dirty="0" smtClean="0">
                <a:latin typeface="Times New Roman"/>
                <a:cs typeface="Times New Roman"/>
              </a:rPr>
              <a:t>+</a:t>
            </a:r>
            <a:r>
              <a:rPr sz="2800" b="1" i="1" dirty="0" smtClean="0">
                <a:latin typeface="Times New Roman"/>
                <a:cs typeface="Times New Roman"/>
              </a:rPr>
              <a:t>c</a:t>
            </a:r>
            <a:r>
              <a:rPr sz="2800" b="1" baseline="-21072" dirty="0" smtClean="0">
                <a:latin typeface="Times New Roman"/>
                <a:cs typeface="Times New Roman"/>
              </a:rPr>
              <a:t>2</a:t>
            </a:r>
            <a:r>
              <a:rPr lang="en-US" sz="2800" b="1" baseline="-21072" dirty="0" smtClean="0">
                <a:latin typeface="Times New Roman"/>
                <a:cs typeface="Times New Roman"/>
              </a:rPr>
              <a:t>.</a:t>
            </a:r>
            <a:r>
              <a:rPr lang="en-US" sz="2800" b="1" dirty="0" smtClean="0">
                <a:latin typeface="Times New Roman"/>
                <a:cs typeface="Times New Roman"/>
              </a:rPr>
              <a:t> </a:t>
            </a:r>
            <a:r>
              <a:rPr sz="2800" b="1" spc="-7" dirty="0" err="1" smtClean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问</a:t>
            </a:r>
            <a:r>
              <a:rPr sz="2800" b="1" spc="-7" dirty="0" err="1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：</a:t>
            </a:r>
            <a:r>
              <a:rPr sz="2800" b="1" spc="-7" dirty="0" err="1" smtClean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是否存在</a:t>
            </a:r>
            <a:r>
              <a:rPr sz="2800" b="1" dirty="0" err="1" smtClean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一种合</a:t>
            </a:r>
            <a:r>
              <a:rPr sz="2800" b="1" spc="-7" dirty="0" err="1" smtClean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理</a:t>
            </a:r>
            <a:r>
              <a:rPr sz="2800" b="1" dirty="0" err="1" smtClean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的装载</a:t>
            </a:r>
            <a:r>
              <a:rPr sz="2800" b="1" spc="-7" dirty="0" err="1" smtClean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方</a:t>
            </a:r>
            <a:r>
              <a:rPr sz="2800" b="1" dirty="0" err="1" smtClean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案</a:t>
            </a:r>
            <a:r>
              <a:rPr sz="2800" b="1" spc="-13" dirty="0" err="1" smtClean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把这</a:t>
            </a:r>
            <a:r>
              <a:rPr sz="2800" b="1" i="1" dirty="0" err="1" smtClean="0"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n</a:t>
            </a:r>
            <a:r>
              <a:rPr sz="2800" b="1" spc="-7" dirty="0" err="1" smtClean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个集装箱装</a:t>
            </a:r>
            <a:r>
              <a:rPr sz="2800" b="1" dirty="0" err="1" smtClean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上</a:t>
            </a:r>
            <a:r>
              <a:rPr sz="2800" b="1" spc="-7" dirty="0" err="1" smtClean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船</a:t>
            </a:r>
            <a:r>
              <a:rPr sz="2800" b="1" dirty="0" err="1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？如果</a:t>
            </a:r>
            <a:r>
              <a:rPr sz="2800" b="1" spc="-7" dirty="0" err="1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有</a:t>
            </a:r>
            <a:r>
              <a:rPr sz="2800" b="1" dirty="0" err="1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，</a:t>
            </a:r>
            <a:r>
              <a:rPr sz="2800" b="1" dirty="0" err="1" smtClean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请</a:t>
            </a:r>
            <a:r>
              <a:rPr sz="2800" b="1" spc="-13" dirty="0" err="1" smtClean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给</a:t>
            </a:r>
            <a:r>
              <a:rPr sz="2800" b="1" spc="-7" dirty="0" err="1" smtClean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出一种方</a:t>
            </a:r>
            <a:r>
              <a:rPr sz="2800" b="1" spc="-13" dirty="0" err="1" smtClean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案</a:t>
            </a:r>
            <a:r>
              <a:rPr sz="2800" b="1" dirty="0">
                <a:latin typeface="Times New Roman"/>
                <a:cs typeface="Times New Roman"/>
              </a:rPr>
              <a:t>.</a:t>
            </a:r>
            <a:endParaRPr sz="2800" dirty="0">
              <a:latin typeface="Times New Roman"/>
              <a:cs typeface="Times New Roman"/>
            </a:endParaRPr>
          </a:p>
          <a:p>
            <a:pPr marL="33866">
              <a:lnSpc>
                <a:spcPts val="3500"/>
              </a:lnSpc>
              <a:spcBef>
                <a:spcPts val="1987"/>
              </a:spcBef>
            </a:pPr>
            <a:r>
              <a:rPr sz="2800" b="1" spc="-7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实例</a:t>
            </a:r>
            <a:r>
              <a:rPr sz="2800" b="1" spc="-13" dirty="0">
                <a:latin typeface="宋体"/>
                <a:cs typeface="宋体"/>
              </a:rPr>
              <a:t>：</a:t>
            </a:r>
            <a:endParaRPr sz="2800" dirty="0">
              <a:latin typeface="宋体"/>
              <a:cs typeface="宋体"/>
            </a:endParaRPr>
          </a:p>
          <a:p>
            <a:pPr marL="33866">
              <a:lnSpc>
                <a:spcPts val="3500"/>
              </a:lnSpc>
            </a:pPr>
            <a:r>
              <a:rPr sz="2800" b="1" i="1" dirty="0"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W </a:t>
            </a:r>
            <a:r>
              <a:rPr sz="2800" b="1" dirty="0">
                <a:latin typeface="Times New Roman"/>
                <a:cs typeface="Times New Roman"/>
              </a:rPr>
              <a:t>= &lt; </a:t>
            </a:r>
            <a:r>
              <a:rPr sz="2800" b="1" u="heavy" spc="-7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90</a:t>
            </a:r>
            <a:r>
              <a:rPr sz="2800" b="1" spc="-7" dirty="0">
                <a:latin typeface="Times New Roman"/>
                <a:cs typeface="Times New Roman"/>
              </a:rPr>
              <a:t>,80,</a:t>
            </a:r>
            <a:r>
              <a:rPr sz="2800" b="1" u="sng" spc="-7" dirty="0">
                <a:latin typeface="Times New Roman"/>
                <a:cs typeface="Times New Roman"/>
              </a:rPr>
              <a:t>4</a:t>
            </a:r>
            <a:r>
              <a:rPr sz="2800" b="1" u="sng" spc="-7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0</a:t>
            </a:r>
            <a:r>
              <a:rPr sz="2800" b="1" spc="-7" dirty="0">
                <a:latin typeface="Times New Roman"/>
                <a:cs typeface="Times New Roman"/>
              </a:rPr>
              <a:t>,30,20,1</a:t>
            </a:r>
            <a:r>
              <a:rPr sz="2800" b="1" u="heavy" spc="-7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2,10</a:t>
            </a:r>
            <a:r>
              <a:rPr sz="2800" b="1" spc="-127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&gt;</a:t>
            </a:r>
            <a:endParaRPr sz="2800" dirty="0">
              <a:latin typeface="Times New Roman"/>
              <a:cs typeface="Times New Roman"/>
            </a:endParaRPr>
          </a:p>
          <a:p>
            <a:pPr marL="126150">
              <a:tabLst>
                <a:tab pos="1466390" algn="l"/>
              </a:tabLst>
            </a:pPr>
            <a:r>
              <a:rPr sz="2800" b="1" i="1" dirty="0">
                <a:latin typeface="Times New Roman"/>
                <a:cs typeface="Times New Roman"/>
              </a:rPr>
              <a:t>c</a:t>
            </a:r>
            <a:r>
              <a:rPr sz="2800" b="1" baseline="-24904" dirty="0">
                <a:latin typeface="Times New Roman"/>
                <a:cs typeface="Times New Roman"/>
              </a:rPr>
              <a:t>1</a:t>
            </a:r>
            <a:r>
              <a:rPr sz="2800" b="1" dirty="0">
                <a:latin typeface="Times New Roman"/>
                <a:cs typeface="Times New Roman"/>
              </a:rPr>
              <a:t>=152,	</a:t>
            </a:r>
            <a:r>
              <a:rPr sz="2800" b="1" i="1" dirty="0">
                <a:latin typeface="Times New Roman"/>
                <a:cs typeface="Times New Roman"/>
              </a:rPr>
              <a:t>c</a:t>
            </a:r>
            <a:r>
              <a:rPr sz="2800" b="1" baseline="-24904" dirty="0">
                <a:latin typeface="Times New Roman"/>
                <a:cs typeface="Times New Roman"/>
              </a:rPr>
              <a:t>2</a:t>
            </a:r>
            <a:r>
              <a:rPr sz="2800" b="1" dirty="0">
                <a:latin typeface="Times New Roman"/>
                <a:cs typeface="Times New Roman"/>
              </a:rPr>
              <a:t>=130</a:t>
            </a:r>
            <a:endParaRPr sz="2800" dirty="0">
              <a:latin typeface="Times New Roman"/>
              <a:cs typeface="Times New Roman"/>
            </a:endParaRPr>
          </a:p>
          <a:p>
            <a:pPr marL="33866">
              <a:spcBef>
                <a:spcPts val="1473"/>
              </a:spcBef>
            </a:pPr>
            <a:r>
              <a:rPr sz="2800" b="1" spc="-7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解</a:t>
            </a:r>
            <a:r>
              <a:rPr sz="28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:</a:t>
            </a:r>
            <a:r>
              <a:rPr sz="2800" b="1" spc="-13" dirty="0"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 </a:t>
            </a:r>
            <a:r>
              <a:rPr sz="28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1,3,6,7</a:t>
            </a:r>
            <a:r>
              <a:rPr sz="2800" b="1" spc="-7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装第一艘船，其余</a:t>
            </a:r>
            <a:r>
              <a:rPr sz="2800" b="1" spc="-13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第</a:t>
            </a:r>
            <a:r>
              <a:rPr sz="28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2</a:t>
            </a:r>
            <a:r>
              <a:rPr sz="2800" b="1" spc="-7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艘船</a:t>
            </a:r>
            <a:endParaRPr sz="2800" dirty="0">
              <a:latin typeface="黑体" panose="02010609060101010101" pitchFamily="49" charset="-122"/>
              <a:ea typeface="黑体" panose="02010609060101010101" pitchFamily="49" charset="-122"/>
              <a:cs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1265024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81953" y="227010"/>
            <a:ext cx="2061568" cy="632651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4000" b="1" spc="-13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求解思</a:t>
            </a:r>
            <a:r>
              <a:rPr sz="4000" b="1" spc="-2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路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7119" y="1392259"/>
            <a:ext cx="8217538" cy="416015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151438" marR="153243" indent="-1117572">
              <a:lnSpc>
                <a:spcPct val="107500"/>
              </a:lnSpc>
              <a:spcBef>
                <a:spcPts val="133"/>
              </a:spcBef>
            </a:pPr>
            <a:r>
              <a:rPr sz="2800" b="1" spc="-7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输入</a:t>
            </a:r>
            <a:r>
              <a:rPr sz="2800" b="1" dirty="0">
                <a:latin typeface="Times New Roman"/>
                <a:cs typeface="Times New Roman"/>
              </a:rPr>
              <a:t>:</a:t>
            </a:r>
            <a:r>
              <a:rPr sz="2800" b="1" spc="-87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W=&lt;w</a:t>
            </a:r>
            <a:r>
              <a:rPr sz="2800" b="1" baseline="-20833" dirty="0">
                <a:latin typeface="Times New Roman"/>
                <a:cs typeface="Times New Roman"/>
              </a:rPr>
              <a:t>1</a:t>
            </a:r>
            <a:r>
              <a:rPr sz="2800" b="1" dirty="0">
                <a:latin typeface="Times New Roman"/>
                <a:cs typeface="Times New Roman"/>
              </a:rPr>
              <a:t>,</a:t>
            </a:r>
            <a:r>
              <a:rPr sz="2800" b="1" i="1" dirty="0">
                <a:latin typeface="Times New Roman"/>
                <a:cs typeface="Times New Roman"/>
              </a:rPr>
              <a:t>w</a:t>
            </a:r>
            <a:r>
              <a:rPr sz="2800" b="1" baseline="-20833" dirty="0">
                <a:latin typeface="Times New Roman"/>
                <a:cs typeface="Times New Roman"/>
              </a:rPr>
              <a:t>2</a:t>
            </a:r>
            <a:r>
              <a:rPr sz="2800" b="1" dirty="0">
                <a:latin typeface="Times New Roman"/>
                <a:cs typeface="Times New Roman"/>
              </a:rPr>
              <a:t>,</a:t>
            </a:r>
            <a:r>
              <a:rPr sz="2800" b="1" spc="-6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...,</a:t>
            </a:r>
            <a:r>
              <a:rPr sz="2800" b="1" spc="-47" dirty="0">
                <a:latin typeface="Times New Roman"/>
                <a:cs typeface="Times New Roman"/>
              </a:rPr>
              <a:t> </a:t>
            </a:r>
            <a:r>
              <a:rPr sz="2800" b="1" i="1" spc="-7" dirty="0">
                <a:latin typeface="Times New Roman"/>
                <a:cs typeface="Times New Roman"/>
              </a:rPr>
              <a:t>w</a:t>
            </a:r>
            <a:r>
              <a:rPr sz="2800" b="1" i="1" spc="-9" baseline="-20833" dirty="0">
                <a:latin typeface="Times New Roman"/>
                <a:cs typeface="Times New Roman"/>
              </a:rPr>
              <a:t>n</a:t>
            </a:r>
            <a:r>
              <a:rPr sz="2800" b="1" spc="-7" dirty="0">
                <a:latin typeface="Times New Roman"/>
                <a:cs typeface="Times New Roman"/>
              </a:rPr>
              <a:t>&gt;</a:t>
            </a:r>
            <a:r>
              <a:rPr sz="2800" b="1" spc="-7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为集装箱重</a:t>
            </a:r>
            <a:r>
              <a:rPr sz="2800" b="1" spc="-13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量 </a:t>
            </a:r>
            <a:r>
              <a:rPr sz="2800" b="1" i="1" dirty="0"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c</a:t>
            </a:r>
            <a:r>
              <a:rPr sz="2800" b="1" baseline="-20833" dirty="0"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1</a:t>
            </a:r>
            <a:r>
              <a:rPr sz="2800" b="1" spc="-7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和</a:t>
            </a:r>
            <a:r>
              <a:rPr sz="2800" b="1" i="1" dirty="0"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c</a:t>
            </a:r>
            <a:r>
              <a:rPr sz="2800" b="1" baseline="-20833" dirty="0"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2</a:t>
            </a:r>
            <a:r>
              <a:rPr sz="2800" b="1" spc="-7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为船的最大</a:t>
            </a:r>
            <a:r>
              <a:rPr sz="2800" b="1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载重</a:t>
            </a:r>
            <a:r>
              <a:rPr sz="2800" b="1" spc="-13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量</a:t>
            </a:r>
            <a:endParaRPr sz="2800" dirty="0">
              <a:latin typeface="黑体" panose="02010609060101010101" pitchFamily="49" charset="-122"/>
              <a:ea typeface="黑体" panose="02010609060101010101" pitchFamily="49" charset="-122"/>
              <a:cs typeface="宋体"/>
            </a:endParaRPr>
          </a:p>
          <a:p>
            <a:pPr marL="33866">
              <a:spcBef>
                <a:spcPts val="3227"/>
              </a:spcBef>
            </a:pPr>
            <a:r>
              <a:rPr sz="2800" b="1" spc="-7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算法思想</a:t>
            </a:r>
            <a:r>
              <a:rPr sz="2800" b="1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：</a:t>
            </a:r>
            <a:r>
              <a:rPr sz="2800" b="1" spc="7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令</a:t>
            </a:r>
            <a:r>
              <a:rPr sz="2800" b="1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第一艘船的装入量为</a:t>
            </a:r>
            <a:r>
              <a:rPr sz="2800" b="1" i="1" dirty="0"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W</a:t>
            </a:r>
            <a:r>
              <a:rPr sz="2800" b="1" baseline="-20833" dirty="0"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1</a:t>
            </a:r>
            <a:r>
              <a:rPr sz="28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,</a:t>
            </a:r>
            <a:endParaRPr sz="2800" dirty="0">
              <a:latin typeface="黑体" panose="02010609060101010101" pitchFamily="49" charset="-122"/>
              <a:ea typeface="黑体" panose="02010609060101010101" pitchFamily="49" charset="-122"/>
              <a:cs typeface="Times New Roman"/>
            </a:endParaRPr>
          </a:p>
          <a:p>
            <a:pPr marL="577412" marR="249760" indent="-410623">
              <a:lnSpc>
                <a:spcPct val="107500"/>
              </a:lnSpc>
              <a:spcBef>
                <a:spcPts val="627"/>
              </a:spcBef>
              <a:buFont typeface="Times New Roman"/>
              <a:buAutoNum type="arabicPeriod"/>
              <a:tabLst>
                <a:tab pos="633291" algn="l"/>
                <a:tab pos="634137" algn="l"/>
              </a:tabLst>
            </a:pPr>
            <a:r>
              <a:rPr sz="2800" dirty="0">
                <a:latin typeface="黑体" panose="02010609060101010101" pitchFamily="49" charset="-122"/>
                <a:ea typeface="黑体" panose="02010609060101010101" pitchFamily="49" charset="-122"/>
              </a:rPr>
              <a:t>	</a:t>
            </a:r>
            <a:r>
              <a:rPr sz="2800" b="1" spc="-7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用回溯算</a:t>
            </a:r>
            <a:r>
              <a:rPr sz="2800" b="1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法求使</a:t>
            </a:r>
            <a:r>
              <a:rPr sz="2800" b="1" spc="-7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得</a:t>
            </a:r>
            <a:r>
              <a:rPr sz="2800" b="1" i="1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c</a:t>
            </a:r>
            <a:r>
              <a:rPr sz="2800" b="1" baseline="-20833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1</a:t>
            </a:r>
            <a:r>
              <a:rPr 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Symbol"/>
              </a:rPr>
              <a:t>-</a:t>
            </a:r>
            <a:r>
              <a:rPr sz="2800" b="1" i="1" spc="-7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W</a:t>
            </a:r>
            <a:r>
              <a:rPr sz="2800" b="1" baseline="-20833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1</a:t>
            </a:r>
            <a:r>
              <a:rPr sz="2800" b="1" spc="-7" dirty="0" smtClean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达到最</a:t>
            </a:r>
            <a:r>
              <a:rPr sz="2800" b="1" spc="-13" dirty="0" smtClean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小</a:t>
            </a:r>
            <a:r>
              <a:rPr sz="2800" b="1" spc="-7" dirty="0" smtClean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的装载</a:t>
            </a:r>
            <a:r>
              <a:rPr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方案</a:t>
            </a:r>
            <a:r>
              <a:rPr sz="2800" b="1" spc="-13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.</a:t>
            </a:r>
            <a:endParaRPr sz="2800" dirty="0">
              <a:latin typeface="黑体" panose="02010609060101010101" pitchFamily="49" charset="-122"/>
              <a:ea typeface="黑体" panose="02010609060101010101" pitchFamily="49" charset="-122"/>
              <a:cs typeface="宋体"/>
            </a:endParaRPr>
          </a:p>
          <a:p>
            <a:pPr marL="541853" indent="-406390">
              <a:spcBef>
                <a:spcPts val="467"/>
              </a:spcBef>
              <a:buFont typeface="Times New Roman"/>
              <a:buAutoNum type="arabicPeriod"/>
              <a:tabLst>
                <a:tab pos="541853" algn="l"/>
              </a:tabLst>
            </a:pPr>
            <a:r>
              <a:rPr sz="2800" b="1" spc="-7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若满</a:t>
            </a:r>
            <a:r>
              <a:rPr sz="2800" b="1" spc="-13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足</a:t>
            </a:r>
            <a:endParaRPr sz="2800" dirty="0">
              <a:latin typeface="黑体" panose="02010609060101010101" pitchFamily="49" charset="-122"/>
              <a:ea typeface="黑体" panose="02010609060101010101" pitchFamily="49" charset="-122"/>
              <a:cs typeface="宋体"/>
            </a:endParaRPr>
          </a:p>
          <a:p>
            <a:pPr marR="866965" algn="ctr">
              <a:spcBef>
                <a:spcPts val="152"/>
              </a:spcBef>
            </a:pPr>
            <a:r>
              <a:rPr sz="2800" b="1" i="1" spc="-13" dirty="0">
                <a:latin typeface="Times New Roman"/>
                <a:cs typeface="Times New Roman"/>
              </a:rPr>
              <a:t>w</a:t>
            </a:r>
            <a:r>
              <a:rPr sz="2800" b="1" spc="-20" baseline="-20833" dirty="0">
                <a:latin typeface="Times New Roman"/>
                <a:cs typeface="Times New Roman"/>
              </a:rPr>
              <a:t>1</a:t>
            </a:r>
            <a:r>
              <a:rPr sz="2800" b="1" spc="-13" dirty="0">
                <a:latin typeface="Times New Roman"/>
                <a:cs typeface="Times New Roman"/>
              </a:rPr>
              <a:t>+</a:t>
            </a:r>
            <a:r>
              <a:rPr sz="2800" b="1" i="1" spc="-13" dirty="0">
                <a:latin typeface="Times New Roman"/>
                <a:cs typeface="Times New Roman"/>
              </a:rPr>
              <a:t>w</a:t>
            </a:r>
            <a:r>
              <a:rPr sz="2800" b="1" spc="-20" baseline="-20833" dirty="0">
                <a:latin typeface="Times New Roman"/>
                <a:cs typeface="Times New Roman"/>
              </a:rPr>
              <a:t>2</a:t>
            </a:r>
            <a:r>
              <a:rPr sz="2800" b="1" spc="-13" dirty="0">
                <a:latin typeface="Times New Roman"/>
                <a:cs typeface="Times New Roman"/>
              </a:rPr>
              <a:t>+...+</a:t>
            </a:r>
            <a:r>
              <a:rPr sz="2800" b="1" i="1" spc="-13" dirty="0">
                <a:latin typeface="Times New Roman"/>
                <a:cs typeface="Times New Roman"/>
              </a:rPr>
              <a:t>w</a:t>
            </a:r>
            <a:r>
              <a:rPr sz="2800" b="1" i="1" spc="-20" baseline="-20833" dirty="0">
                <a:latin typeface="Times New Roman"/>
                <a:cs typeface="Times New Roman"/>
              </a:rPr>
              <a:t>n</a:t>
            </a:r>
            <a:r>
              <a:rPr sz="2800" b="1" i="1" spc="-13" dirty="0">
                <a:latin typeface="Symbol"/>
                <a:cs typeface="Symbol"/>
              </a:rPr>
              <a:t></a:t>
            </a:r>
            <a:r>
              <a:rPr sz="2800" b="1" i="1" spc="-13" dirty="0">
                <a:latin typeface="Times New Roman"/>
                <a:cs typeface="Times New Roman"/>
              </a:rPr>
              <a:t>W</a:t>
            </a:r>
            <a:r>
              <a:rPr sz="2800" b="1" spc="-20" baseline="-20833" dirty="0">
                <a:latin typeface="Times New Roman"/>
                <a:cs typeface="Times New Roman"/>
              </a:rPr>
              <a:t>1</a:t>
            </a:r>
            <a:r>
              <a:rPr sz="2800" b="1" spc="-13" dirty="0">
                <a:latin typeface="Symbol"/>
                <a:cs typeface="Symbol"/>
              </a:rPr>
              <a:t></a:t>
            </a:r>
            <a:r>
              <a:rPr sz="2800" b="1" spc="-4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c</a:t>
            </a:r>
            <a:r>
              <a:rPr sz="2800" b="1" baseline="-20833" dirty="0">
                <a:latin typeface="Times New Roman"/>
                <a:cs typeface="Times New Roman"/>
              </a:rPr>
              <a:t>2</a:t>
            </a:r>
            <a:endParaRPr sz="2800" baseline="-20833" dirty="0">
              <a:latin typeface="Times New Roman"/>
              <a:cs typeface="Times New Roman"/>
            </a:endParaRPr>
          </a:p>
          <a:p>
            <a:pPr marL="545240">
              <a:spcBef>
                <a:spcPts val="267"/>
              </a:spcBef>
            </a:pPr>
            <a:r>
              <a:rPr sz="2800" b="1" spc="-7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则回答</a:t>
            </a:r>
            <a:r>
              <a:rPr sz="2800" b="1" dirty="0">
                <a:latin typeface="宋体"/>
                <a:cs typeface="宋体"/>
              </a:rPr>
              <a:t>“Yes”,</a:t>
            </a:r>
            <a:r>
              <a:rPr sz="2800" b="1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否则回答</a:t>
            </a:r>
            <a:r>
              <a:rPr sz="2800" b="1" spc="-7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“No”</a:t>
            </a:r>
            <a:endParaRPr sz="2800" dirty="0">
              <a:latin typeface="黑体" panose="02010609060101010101" pitchFamily="49" charset="-122"/>
              <a:ea typeface="黑体" panose="02010609060101010101" pitchFamily="49" charset="-122"/>
              <a:cs typeface="宋体"/>
            </a:endParaRPr>
          </a:p>
          <a:p>
            <a:pPr marR="74505" algn="r">
              <a:spcBef>
                <a:spcPts val="347"/>
              </a:spcBef>
            </a:pPr>
            <a:endParaRPr sz="24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25560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37565" y="1485282"/>
            <a:ext cx="89061" cy="326585"/>
          </a:xfrm>
          <a:prstGeom prst="rect">
            <a:avLst/>
          </a:prstGeom>
        </p:spPr>
        <p:txBody>
          <a:bodyPr vert="horz" wrap="square" lIns="0" tIns="18627" rIns="0" bIns="0" rtlCol="0">
            <a:spAutoFit/>
          </a:bodyPr>
          <a:lstStyle/>
          <a:p>
            <a:pPr marL="16933">
              <a:spcBef>
                <a:spcPts val="147"/>
              </a:spcBef>
            </a:pPr>
            <a:r>
              <a:rPr sz="2000" b="1" spc="7" dirty="0">
                <a:latin typeface="Times New Roman"/>
                <a:cs typeface="Times New Roman"/>
              </a:rPr>
              <a:t>1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2246" y="1204299"/>
            <a:ext cx="7321519" cy="44798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800" b="1" spc="-7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算</a:t>
            </a:r>
            <a:r>
              <a:rPr sz="2800" b="1" spc="-13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法</a:t>
            </a:r>
            <a:r>
              <a:rPr sz="2800" b="1" spc="-20" dirty="0">
                <a:latin typeface="宋体"/>
                <a:cs typeface="宋体"/>
              </a:rPr>
              <a:t> </a:t>
            </a:r>
            <a:r>
              <a:rPr sz="2800" b="1" spc="-7" dirty="0">
                <a:latin typeface="Times New Roman"/>
                <a:cs typeface="Times New Roman"/>
              </a:rPr>
              <a:t>Loading</a:t>
            </a:r>
            <a:r>
              <a:rPr sz="2800" b="1" spc="-33" dirty="0">
                <a:latin typeface="Times New Roman"/>
                <a:cs typeface="Times New Roman"/>
              </a:rPr>
              <a:t> </a:t>
            </a:r>
            <a:r>
              <a:rPr sz="2800" b="1" spc="-7" dirty="0">
                <a:latin typeface="Times New Roman"/>
                <a:cs typeface="Times New Roman"/>
              </a:rPr>
              <a:t>(</a:t>
            </a:r>
            <a:r>
              <a:rPr sz="2800" b="1" i="1" spc="-7" dirty="0">
                <a:latin typeface="Times New Roman"/>
                <a:cs typeface="Times New Roman"/>
              </a:rPr>
              <a:t>W</a:t>
            </a:r>
            <a:r>
              <a:rPr sz="2800" b="1" spc="-7" dirty="0">
                <a:latin typeface="Times New Roman"/>
                <a:cs typeface="Times New Roman"/>
              </a:rPr>
              <a:t>,</a:t>
            </a:r>
            <a:r>
              <a:rPr sz="2800" b="1" spc="-13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c</a:t>
            </a:r>
            <a:r>
              <a:rPr sz="2800" b="1" i="1" spc="220" dirty="0">
                <a:latin typeface="Times New Roman"/>
                <a:cs typeface="Times New Roman"/>
              </a:rPr>
              <a:t> </a:t>
            </a:r>
            <a:r>
              <a:rPr sz="2800" b="1" spc="-7" dirty="0">
                <a:latin typeface="Times New Roman"/>
                <a:cs typeface="Times New Roman"/>
              </a:rPr>
              <a:t>),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2320" y="1646153"/>
            <a:ext cx="3025245" cy="44798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  <a:tabLst>
                <a:tab pos="482588" algn="l"/>
              </a:tabLst>
            </a:pPr>
            <a:r>
              <a:rPr sz="2800" b="1" dirty="0">
                <a:latin typeface="Times New Roman"/>
                <a:cs typeface="Times New Roman"/>
              </a:rPr>
              <a:t>1.	</a:t>
            </a:r>
            <a:r>
              <a:rPr sz="2800" b="1" spc="-7" dirty="0">
                <a:latin typeface="Times New Roman"/>
                <a:cs typeface="Times New Roman"/>
              </a:rPr>
              <a:t>Sort(</a:t>
            </a:r>
            <a:r>
              <a:rPr sz="2800" b="1" i="1" spc="-7" dirty="0">
                <a:latin typeface="Times New Roman"/>
                <a:cs typeface="Times New Roman"/>
              </a:rPr>
              <a:t>W</a:t>
            </a:r>
            <a:r>
              <a:rPr sz="2800" b="1" spc="-7" dirty="0">
                <a:latin typeface="Times New Roman"/>
                <a:cs typeface="Times New Roman"/>
              </a:rPr>
              <a:t>);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840677" y="327734"/>
            <a:ext cx="5176197" cy="632651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 algn="ctr">
              <a:lnSpc>
                <a:spcPct val="100000"/>
              </a:lnSpc>
              <a:spcBef>
                <a:spcPts val="133"/>
              </a:spcBef>
            </a:pPr>
            <a:r>
              <a:rPr sz="4000" b="1" spc="-13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伪</a:t>
            </a:r>
            <a:r>
              <a:rPr sz="4000" b="1" spc="-2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码</a:t>
            </a:r>
          </a:p>
        </p:txBody>
      </p:sp>
      <p:sp>
        <p:nvSpPr>
          <p:cNvPr id="6" name="object 6"/>
          <p:cNvSpPr/>
          <p:nvPr/>
        </p:nvSpPr>
        <p:spPr>
          <a:xfrm>
            <a:off x="3792592" y="1412601"/>
            <a:ext cx="2382299" cy="910457"/>
          </a:xfrm>
          <a:custGeom>
            <a:avLst/>
            <a:gdLst/>
            <a:ahLst/>
            <a:cxnLst/>
            <a:rect l="l" t="t" r="r" b="b"/>
            <a:pathLst>
              <a:path w="2381885" h="1143000">
                <a:moveTo>
                  <a:pt x="2082906" y="968226"/>
                </a:moveTo>
                <a:lnTo>
                  <a:pt x="546925" y="968226"/>
                </a:lnTo>
                <a:lnTo>
                  <a:pt x="585473" y="988588"/>
                </a:lnTo>
                <a:lnTo>
                  <a:pt x="625591" y="1007742"/>
                </a:lnTo>
                <a:lnTo>
                  <a:pt x="667185" y="1025678"/>
                </a:lnTo>
                <a:lnTo>
                  <a:pt x="710159" y="1042383"/>
                </a:lnTo>
                <a:lnTo>
                  <a:pt x="754419" y="1057848"/>
                </a:lnTo>
                <a:lnTo>
                  <a:pt x="799870" y="1072061"/>
                </a:lnTo>
                <a:lnTo>
                  <a:pt x="846418" y="1085012"/>
                </a:lnTo>
                <a:lnTo>
                  <a:pt x="893968" y="1096690"/>
                </a:lnTo>
                <a:lnTo>
                  <a:pt x="942424" y="1107084"/>
                </a:lnTo>
                <a:lnTo>
                  <a:pt x="991694" y="1116183"/>
                </a:lnTo>
                <a:lnTo>
                  <a:pt x="1041681" y="1123977"/>
                </a:lnTo>
                <a:lnTo>
                  <a:pt x="1092292" y="1130454"/>
                </a:lnTo>
                <a:lnTo>
                  <a:pt x="1143431" y="1135604"/>
                </a:lnTo>
                <a:lnTo>
                  <a:pt x="1195003" y="1139416"/>
                </a:lnTo>
                <a:lnTo>
                  <a:pt x="1246915" y="1141879"/>
                </a:lnTo>
                <a:lnTo>
                  <a:pt x="1299072" y="1142982"/>
                </a:lnTo>
                <a:lnTo>
                  <a:pt x="1351378" y="1142715"/>
                </a:lnTo>
                <a:lnTo>
                  <a:pt x="1403739" y="1141067"/>
                </a:lnTo>
                <a:lnTo>
                  <a:pt x="1456061" y="1138026"/>
                </a:lnTo>
                <a:lnTo>
                  <a:pt x="1508249" y="1133583"/>
                </a:lnTo>
                <a:lnTo>
                  <a:pt x="1560207" y="1127726"/>
                </a:lnTo>
                <a:lnTo>
                  <a:pt x="1611842" y="1120444"/>
                </a:lnTo>
                <a:lnTo>
                  <a:pt x="1663059" y="1111726"/>
                </a:lnTo>
                <a:lnTo>
                  <a:pt x="1713763" y="1101563"/>
                </a:lnTo>
                <a:lnTo>
                  <a:pt x="1773308" y="1087578"/>
                </a:lnTo>
                <a:lnTo>
                  <a:pt x="1830469" y="1071901"/>
                </a:lnTo>
                <a:lnTo>
                  <a:pt x="1885186" y="1054611"/>
                </a:lnTo>
                <a:lnTo>
                  <a:pt x="1937395" y="1035784"/>
                </a:lnTo>
                <a:lnTo>
                  <a:pt x="1987036" y="1015500"/>
                </a:lnTo>
                <a:lnTo>
                  <a:pt x="2034047" y="993835"/>
                </a:lnTo>
                <a:lnTo>
                  <a:pt x="2078365" y="970868"/>
                </a:lnTo>
                <a:lnTo>
                  <a:pt x="2082906" y="968226"/>
                </a:lnTo>
                <a:close/>
              </a:path>
              <a:path w="2381885" h="1143000">
                <a:moveTo>
                  <a:pt x="1292113" y="0"/>
                </a:moveTo>
                <a:lnTo>
                  <a:pt x="1238214" y="1346"/>
                </a:lnTo>
                <a:lnTo>
                  <a:pt x="1184208" y="4183"/>
                </a:lnTo>
                <a:lnTo>
                  <a:pt x="1130191" y="8532"/>
                </a:lnTo>
                <a:lnTo>
                  <a:pt x="1076260" y="14414"/>
                </a:lnTo>
                <a:lnTo>
                  <a:pt x="1022509" y="21852"/>
                </a:lnTo>
                <a:lnTo>
                  <a:pt x="969036" y="30867"/>
                </a:lnTo>
                <a:lnTo>
                  <a:pt x="915936" y="41481"/>
                </a:lnTo>
                <a:lnTo>
                  <a:pt x="856393" y="55466"/>
                </a:lnTo>
                <a:lnTo>
                  <a:pt x="799232" y="71143"/>
                </a:lnTo>
                <a:lnTo>
                  <a:pt x="744517" y="88433"/>
                </a:lnTo>
                <a:lnTo>
                  <a:pt x="692309" y="107260"/>
                </a:lnTo>
                <a:lnTo>
                  <a:pt x="642669" y="127544"/>
                </a:lnTo>
                <a:lnTo>
                  <a:pt x="595659" y="149209"/>
                </a:lnTo>
                <a:lnTo>
                  <a:pt x="551341" y="172176"/>
                </a:lnTo>
                <a:lnTo>
                  <a:pt x="509778" y="196368"/>
                </a:lnTo>
                <a:lnTo>
                  <a:pt x="471029" y="221707"/>
                </a:lnTo>
                <a:lnTo>
                  <a:pt x="435159" y="248115"/>
                </a:lnTo>
                <a:lnTo>
                  <a:pt x="402227" y="275514"/>
                </a:lnTo>
                <a:lnTo>
                  <a:pt x="372296" y="303827"/>
                </a:lnTo>
                <a:lnTo>
                  <a:pt x="345428" y="332975"/>
                </a:lnTo>
                <a:lnTo>
                  <a:pt x="321684" y="362882"/>
                </a:lnTo>
                <a:lnTo>
                  <a:pt x="283818" y="424657"/>
                </a:lnTo>
                <a:lnTo>
                  <a:pt x="259190" y="488530"/>
                </a:lnTo>
                <a:lnTo>
                  <a:pt x="248296" y="553878"/>
                </a:lnTo>
                <a:lnTo>
                  <a:pt x="248153" y="586911"/>
                </a:lnTo>
                <a:lnTo>
                  <a:pt x="251629" y="620080"/>
                </a:lnTo>
                <a:lnTo>
                  <a:pt x="269684" y="686512"/>
                </a:lnTo>
                <a:lnTo>
                  <a:pt x="302954" y="752553"/>
                </a:lnTo>
                <a:lnTo>
                  <a:pt x="325450" y="785231"/>
                </a:lnTo>
                <a:lnTo>
                  <a:pt x="0" y="1028233"/>
                </a:lnTo>
                <a:lnTo>
                  <a:pt x="546925" y="968226"/>
                </a:lnTo>
                <a:lnTo>
                  <a:pt x="2082906" y="968226"/>
                </a:lnTo>
                <a:lnTo>
                  <a:pt x="2119930" y="946676"/>
                </a:lnTo>
                <a:lnTo>
                  <a:pt x="2158679" y="921338"/>
                </a:lnTo>
                <a:lnTo>
                  <a:pt x="2194550" y="894930"/>
                </a:lnTo>
                <a:lnTo>
                  <a:pt x="2227482" y="867531"/>
                </a:lnTo>
                <a:lnTo>
                  <a:pt x="2257414" y="839218"/>
                </a:lnTo>
                <a:lnTo>
                  <a:pt x="2284282" y="810070"/>
                </a:lnTo>
                <a:lnTo>
                  <a:pt x="2308026" y="780164"/>
                </a:lnTo>
                <a:lnTo>
                  <a:pt x="2345893" y="718390"/>
                </a:lnTo>
                <a:lnTo>
                  <a:pt x="2370521" y="654518"/>
                </a:lnTo>
                <a:lnTo>
                  <a:pt x="2381416" y="589171"/>
                </a:lnTo>
                <a:lnTo>
                  <a:pt x="2381559" y="556139"/>
                </a:lnTo>
                <a:lnTo>
                  <a:pt x="2378083" y="522971"/>
                </a:lnTo>
                <a:lnTo>
                  <a:pt x="2360028" y="456541"/>
                </a:lnTo>
                <a:lnTo>
                  <a:pt x="2326758" y="390503"/>
                </a:lnTo>
                <a:lnTo>
                  <a:pt x="2304262" y="357826"/>
                </a:lnTo>
                <a:lnTo>
                  <a:pt x="2256737" y="303083"/>
                </a:lnTo>
                <a:lnTo>
                  <a:pt x="2199959" y="252289"/>
                </a:lnTo>
                <a:lnTo>
                  <a:pt x="2168340" y="228428"/>
                </a:lnTo>
                <a:lnTo>
                  <a:pt x="2134696" y="205619"/>
                </a:lnTo>
                <a:lnTo>
                  <a:pt x="2099121" y="183885"/>
                </a:lnTo>
                <a:lnTo>
                  <a:pt x="2061714" y="163247"/>
                </a:lnTo>
                <a:lnTo>
                  <a:pt x="2022569" y="143728"/>
                </a:lnTo>
                <a:lnTo>
                  <a:pt x="1981782" y="125348"/>
                </a:lnTo>
                <a:lnTo>
                  <a:pt x="1939449" y="108131"/>
                </a:lnTo>
                <a:lnTo>
                  <a:pt x="1895666" y="92098"/>
                </a:lnTo>
                <a:lnTo>
                  <a:pt x="1850530" y="77270"/>
                </a:lnTo>
                <a:lnTo>
                  <a:pt x="1804136" y="63670"/>
                </a:lnTo>
                <a:lnTo>
                  <a:pt x="1756579" y="51320"/>
                </a:lnTo>
                <a:lnTo>
                  <a:pt x="1707957" y="40241"/>
                </a:lnTo>
                <a:lnTo>
                  <a:pt x="1658364" y="30455"/>
                </a:lnTo>
                <a:lnTo>
                  <a:pt x="1607898" y="21984"/>
                </a:lnTo>
                <a:lnTo>
                  <a:pt x="1556653" y="14850"/>
                </a:lnTo>
                <a:lnTo>
                  <a:pt x="1504726" y="9075"/>
                </a:lnTo>
                <a:lnTo>
                  <a:pt x="1452212" y="4680"/>
                </a:lnTo>
                <a:lnTo>
                  <a:pt x="1399209" y="1688"/>
                </a:lnTo>
                <a:lnTo>
                  <a:pt x="1345810" y="121"/>
                </a:lnTo>
                <a:lnTo>
                  <a:pt x="1292113" y="0"/>
                </a:lnTo>
                <a:close/>
              </a:path>
            </a:pathLst>
          </a:custGeom>
          <a:solidFill>
            <a:srgbClr val="4F81BD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" name="object 7"/>
          <p:cNvSpPr/>
          <p:nvPr/>
        </p:nvSpPr>
        <p:spPr>
          <a:xfrm>
            <a:off x="3792592" y="1402415"/>
            <a:ext cx="2382299" cy="910457"/>
          </a:xfrm>
          <a:custGeom>
            <a:avLst/>
            <a:gdLst/>
            <a:ahLst/>
            <a:cxnLst/>
            <a:rect l="l" t="t" r="r" b="b"/>
            <a:pathLst>
              <a:path w="2381885" h="1143000">
                <a:moveTo>
                  <a:pt x="0" y="1028233"/>
                </a:moveTo>
                <a:lnTo>
                  <a:pt x="325450" y="785231"/>
                </a:lnTo>
                <a:lnTo>
                  <a:pt x="302954" y="752553"/>
                </a:lnTo>
                <a:lnTo>
                  <a:pt x="284386" y="719620"/>
                </a:lnTo>
                <a:lnTo>
                  <a:pt x="269684" y="686512"/>
                </a:lnTo>
                <a:lnTo>
                  <a:pt x="258785" y="653306"/>
                </a:lnTo>
                <a:lnTo>
                  <a:pt x="251629" y="620080"/>
                </a:lnTo>
                <a:lnTo>
                  <a:pt x="248153" y="586911"/>
                </a:lnTo>
                <a:lnTo>
                  <a:pt x="248296" y="553878"/>
                </a:lnTo>
                <a:lnTo>
                  <a:pt x="259190" y="488530"/>
                </a:lnTo>
                <a:lnTo>
                  <a:pt x="283818" y="424657"/>
                </a:lnTo>
                <a:lnTo>
                  <a:pt x="321684" y="362882"/>
                </a:lnTo>
                <a:lnTo>
                  <a:pt x="345428" y="332975"/>
                </a:lnTo>
                <a:lnTo>
                  <a:pt x="372296" y="303827"/>
                </a:lnTo>
                <a:lnTo>
                  <a:pt x="402227" y="275514"/>
                </a:lnTo>
                <a:lnTo>
                  <a:pt x="435159" y="248115"/>
                </a:lnTo>
                <a:lnTo>
                  <a:pt x="471029" y="221707"/>
                </a:lnTo>
                <a:lnTo>
                  <a:pt x="509778" y="196368"/>
                </a:lnTo>
                <a:lnTo>
                  <a:pt x="551341" y="172176"/>
                </a:lnTo>
                <a:lnTo>
                  <a:pt x="595659" y="149209"/>
                </a:lnTo>
                <a:lnTo>
                  <a:pt x="642669" y="127544"/>
                </a:lnTo>
                <a:lnTo>
                  <a:pt x="692309" y="107260"/>
                </a:lnTo>
                <a:lnTo>
                  <a:pt x="744517" y="88433"/>
                </a:lnTo>
                <a:lnTo>
                  <a:pt x="799232" y="71143"/>
                </a:lnTo>
                <a:lnTo>
                  <a:pt x="856393" y="55466"/>
                </a:lnTo>
                <a:lnTo>
                  <a:pt x="915936" y="41481"/>
                </a:lnTo>
                <a:lnTo>
                  <a:pt x="969036" y="30867"/>
                </a:lnTo>
                <a:lnTo>
                  <a:pt x="1022509" y="21852"/>
                </a:lnTo>
                <a:lnTo>
                  <a:pt x="1076260" y="14414"/>
                </a:lnTo>
                <a:lnTo>
                  <a:pt x="1130191" y="8532"/>
                </a:lnTo>
                <a:lnTo>
                  <a:pt x="1184208" y="4183"/>
                </a:lnTo>
                <a:lnTo>
                  <a:pt x="1238214" y="1346"/>
                </a:lnTo>
                <a:lnTo>
                  <a:pt x="1292113" y="0"/>
                </a:lnTo>
                <a:lnTo>
                  <a:pt x="1345810" y="121"/>
                </a:lnTo>
                <a:lnTo>
                  <a:pt x="1399209" y="1688"/>
                </a:lnTo>
                <a:lnTo>
                  <a:pt x="1452212" y="4680"/>
                </a:lnTo>
                <a:lnTo>
                  <a:pt x="1504726" y="9075"/>
                </a:lnTo>
                <a:lnTo>
                  <a:pt x="1556653" y="14850"/>
                </a:lnTo>
                <a:lnTo>
                  <a:pt x="1607898" y="21984"/>
                </a:lnTo>
                <a:lnTo>
                  <a:pt x="1658364" y="30455"/>
                </a:lnTo>
                <a:lnTo>
                  <a:pt x="1707957" y="40241"/>
                </a:lnTo>
                <a:lnTo>
                  <a:pt x="1756579" y="51320"/>
                </a:lnTo>
                <a:lnTo>
                  <a:pt x="1804136" y="63670"/>
                </a:lnTo>
                <a:lnTo>
                  <a:pt x="1850530" y="77270"/>
                </a:lnTo>
                <a:lnTo>
                  <a:pt x="1895666" y="92098"/>
                </a:lnTo>
                <a:lnTo>
                  <a:pt x="1939449" y="108131"/>
                </a:lnTo>
                <a:lnTo>
                  <a:pt x="1981782" y="125348"/>
                </a:lnTo>
                <a:lnTo>
                  <a:pt x="2022569" y="143728"/>
                </a:lnTo>
                <a:lnTo>
                  <a:pt x="2061714" y="163247"/>
                </a:lnTo>
                <a:lnTo>
                  <a:pt x="2099121" y="183885"/>
                </a:lnTo>
                <a:lnTo>
                  <a:pt x="2134696" y="205619"/>
                </a:lnTo>
                <a:lnTo>
                  <a:pt x="2168340" y="228428"/>
                </a:lnTo>
                <a:lnTo>
                  <a:pt x="2199959" y="252289"/>
                </a:lnTo>
                <a:lnTo>
                  <a:pt x="2229457" y="277182"/>
                </a:lnTo>
                <a:lnTo>
                  <a:pt x="2281704" y="329972"/>
                </a:lnTo>
                <a:lnTo>
                  <a:pt x="2326758" y="390503"/>
                </a:lnTo>
                <a:lnTo>
                  <a:pt x="2360028" y="456541"/>
                </a:lnTo>
                <a:lnTo>
                  <a:pt x="2378083" y="522971"/>
                </a:lnTo>
                <a:lnTo>
                  <a:pt x="2381559" y="556139"/>
                </a:lnTo>
                <a:lnTo>
                  <a:pt x="2381416" y="589171"/>
                </a:lnTo>
                <a:lnTo>
                  <a:pt x="2370521" y="654518"/>
                </a:lnTo>
                <a:lnTo>
                  <a:pt x="2345893" y="718390"/>
                </a:lnTo>
                <a:lnTo>
                  <a:pt x="2308026" y="780164"/>
                </a:lnTo>
                <a:lnTo>
                  <a:pt x="2284282" y="810070"/>
                </a:lnTo>
                <a:lnTo>
                  <a:pt x="2257414" y="839218"/>
                </a:lnTo>
                <a:lnTo>
                  <a:pt x="2227482" y="867531"/>
                </a:lnTo>
                <a:lnTo>
                  <a:pt x="2194550" y="894930"/>
                </a:lnTo>
                <a:lnTo>
                  <a:pt x="2158679" y="921338"/>
                </a:lnTo>
                <a:lnTo>
                  <a:pt x="2119930" y="946676"/>
                </a:lnTo>
                <a:lnTo>
                  <a:pt x="2078365" y="970868"/>
                </a:lnTo>
                <a:lnTo>
                  <a:pt x="2034047" y="993835"/>
                </a:lnTo>
                <a:lnTo>
                  <a:pt x="1987036" y="1015500"/>
                </a:lnTo>
                <a:lnTo>
                  <a:pt x="1937395" y="1035784"/>
                </a:lnTo>
                <a:lnTo>
                  <a:pt x="1885186" y="1054611"/>
                </a:lnTo>
                <a:lnTo>
                  <a:pt x="1830469" y="1071901"/>
                </a:lnTo>
                <a:lnTo>
                  <a:pt x="1773308" y="1087578"/>
                </a:lnTo>
                <a:lnTo>
                  <a:pt x="1713763" y="1101563"/>
                </a:lnTo>
                <a:lnTo>
                  <a:pt x="1663059" y="1111726"/>
                </a:lnTo>
                <a:lnTo>
                  <a:pt x="1611842" y="1120444"/>
                </a:lnTo>
                <a:lnTo>
                  <a:pt x="1560207" y="1127726"/>
                </a:lnTo>
                <a:lnTo>
                  <a:pt x="1508249" y="1133583"/>
                </a:lnTo>
                <a:lnTo>
                  <a:pt x="1456061" y="1138026"/>
                </a:lnTo>
                <a:lnTo>
                  <a:pt x="1403739" y="1141067"/>
                </a:lnTo>
                <a:lnTo>
                  <a:pt x="1351378" y="1142715"/>
                </a:lnTo>
                <a:lnTo>
                  <a:pt x="1299072" y="1142982"/>
                </a:lnTo>
                <a:lnTo>
                  <a:pt x="1246915" y="1141879"/>
                </a:lnTo>
                <a:lnTo>
                  <a:pt x="1195003" y="1139416"/>
                </a:lnTo>
                <a:lnTo>
                  <a:pt x="1143431" y="1135604"/>
                </a:lnTo>
                <a:lnTo>
                  <a:pt x="1092292" y="1130454"/>
                </a:lnTo>
                <a:lnTo>
                  <a:pt x="1041681" y="1123977"/>
                </a:lnTo>
                <a:lnTo>
                  <a:pt x="991694" y="1116183"/>
                </a:lnTo>
                <a:lnTo>
                  <a:pt x="942424" y="1107084"/>
                </a:lnTo>
                <a:lnTo>
                  <a:pt x="893968" y="1096690"/>
                </a:lnTo>
                <a:lnTo>
                  <a:pt x="846418" y="1085012"/>
                </a:lnTo>
                <a:lnTo>
                  <a:pt x="799870" y="1072061"/>
                </a:lnTo>
                <a:lnTo>
                  <a:pt x="754419" y="1057848"/>
                </a:lnTo>
                <a:lnTo>
                  <a:pt x="710159" y="1042383"/>
                </a:lnTo>
                <a:lnTo>
                  <a:pt x="667185" y="1025678"/>
                </a:lnTo>
                <a:lnTo>
                  <a:pt x="625591" y="1007742"/>
                </a:lnTo>
                <a:lnTo>
                  <a:pt x="585473" y="988588"/>
                </a:lnTo>
                <a:lnTo>
                  <a:pt x="546925" y="968226"/>
                </a:lnTo>
                <a:lnTo>
                  <a:pt x="0" y="1028233"/>
                </a:lnTo>
                <a:close/>
              </a:path>
            </a:pathLst>
          </a:custGeom>
          <a:ln w="25146">
            <a:solidFill>
              <a:srgbClr val="385D8A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" name="object 8"/>
          <p:cNvSpPr txBox="1"/>
          <p:nvPr/>
        </p:nvSpPr>
        <p:spPr>
          <a:xfrm>
            <a:off x="4265250" y="1441232"/>
            <a:ext cx="1775631" cy="75576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 indent="38944">
              <a:spcBef>
                <a:spcPts val="133"/>
              </a:spcBef>
            </a:pPr>
            <a:r>
              <a:rPr sz="2400" b="1" spc="-140" dirty="0">
                <a:solidFill>
                  <a:srgbClr val="FFFFFF"/>
                </a:solidFill>
                <a:latin typeface="Calibri"/>
                <a:cs typeface="Calibri"/>
              </a:rPr>
              <a:t>B</a:t>
            </a:r>
            <a:r>
              <a:rPr sz="2400" b="1" spc="-147" dirty="0">
                <a:solidFill>
                  <a:srgbClr val="FFFFFF"/>
                </a:solidFill>
                <a:latin typeface="宋体"/>
                <a:cs typeface="宋体"/>
              </a:rPr>
              <a:t>为当</a:t>
            </a:r>
            <a:r>
              <a:rPr sz="2400" b="1" spc="-133" dirty="0">
                <a:solidFill>
                  <a:srgbClr val="FFFFFF"/>
                </a:solidFill>
                <a:latin typeface="宋体"/>
                <a:cs typeface="宋体"/>
              </a:rPr>
              <a:t>前</a:t>
            </a:r>
            <a:r>
              <a:rPr sz="2400" b="1" spc="-127" dirty="0">
                <a:solidFill>
                  <a:srgbClr val="FFFFFF"/>
                </a:solidFill>
                <a:latin typeface="宋体"/>
                <a:cs typeface="宋体"/>
              </a:rPr>
              <a:t>空</a:t>
            </a:r>
            <a:r>
              <a:rPr sz="2400" b="1" spc="-13" dirty="0">
                <a:solidFill>
                  <a:srgbClr val="FFFFFF"/>
                </a:solidFill>
                <a:latin typeface="宋体"/>
                <a:cs typeface="宋体"/>
              </a:rPr>
              <a:t>隙 </a:t>
            </a:r>
            <a:r>
              <a:rPr sz="2400" b="1" spc="-113" dirty="0">
                <a:solidFill>
                  <a:srgbClr val="FFFFFF"/>
                </a:solidFill>
                <a:latin typeface="Calibri"/>
                <a:cs typeface="Calibri"/>
              </a:rPr>
              <a:t>best</a:t>
            </a:r>
            <a:r>
              <a:rPr sz="2400" b="1" spc="-3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spc="-147" dirty="0">
                <a:solidFill>
                  <a:srgbClr val="FFFFFF"/>
                </a:solidFill>
                <a:latin typeface="宋体"/>
                <a:cs typeface="宋体"/>
              </a:rPr>
              <a:t>最小</a:t>
            </a:r>
            <a:r>
              <a:rPr sz="2400" b="1" spc="-133" dirty="0">
                <a:solidFill>
                  <a:srgbClr val="FFFFFF"/>
                </a:solidFill>
                <a:latin typeface="宋体"/>
                <a:cs typeface="宋体"/>
              </a:rPr>
              <a:t>空</a:t>
            </a:r>
            <a:r>
              <a:rPr sz="2400" b="1" spc="-13" dirty="0">
                <a:solidFill>
                  <a:srgbClr val="FFFFFF"/>
                </a:solidFill>
                <a:latin typeface="宋体"/>
                <a:cs typeface="宋体"/>
              </a:rPr>
              <a:t>隙</a:t>
            </a:r>
            <a:endParaRPr sz="2400" dirty="0">
              <a:latin typeface="宋体"/>
              <a:cs typeface="宋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10629" y="2094315"/>
            <a:ext cx="7987912" cy="400280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52396">
              <a:spcBef>
                <a:spcPts val="133"/>
              </a:spcBef>
              <a:tabLst>
                <a:tab pos="618051" algn="l"/>
                <a:tab pos="1835527" algn="l"/>
                <a:tab pos="3402668" algn="l"/>
              </a:tabLst>
            </a:pPr>
            <a:r>
              <a:rPr sz="2800" b="1" dirty="0">
                <a:latin typeface="Times New Roman"/>
                <a:cs typeface="Times New Roman"/>
              </a:rPr>
              <a:t>2.	</a:t>
            </a:r>
            <a:r>
              <a:rPr sz="2800" b="1" i="1" dirty="0">
                <a:latin typeface="Times New Roman"/>
                <a:cs typeface="Times New Roman"/>
              </a:rPr>
              <a:t>B</a:t>
            </a:r>
            <a:r>
              <a:rPr sz="2800" b="1" dirty="0">
                <a:latin typeface="Symbol"/>
                <a:cs typeface="Symbol"/>
              </a:rPr>
              <a:t></a:t>
            </a:r>
            <a:r>
              <a:rPr sz="2800" b="1" i="1" dirty="0">
                <a:latin typeface="Times New Roman"/>
                <a:cs typeface="Times New Roman"/>
              </a:rPr>
              <a:t>c</a:t>
            </a:r>
            <a:r>
              <a:rPr sz="2800" b="1" baseline="-21072" dirty="0">
                <a:latin typeface="Times New Roman"/>
                <a:cs typeface="Times New Roman"/>
              </a:rPr>
              <a:t>1</a:t>
            </a:r>
            <a:r>
              <a:rPr sz="2800" b="1" dirty="0">
                <a:latin typeface="Times New Roman"/>
                <a:cs typeface="Times New Roman"/>
              </a:rPr>
              <a:t>;	</a:t>
            </a:r>
            <a:r>
              <a:rPr sz="2800" b="1" i="1" dirty="0">
                <a:latin typeface="Times New Roman"/>
                <a:cs typeface="Times New Roman"/>
              </a:rPr>
              <a:t>best</a:t>
            </a:r>
            <a:r>
              <a:rPr sz="2800" b="1" dirty="0">
                <a:latin typeface="Symbol"/>
                <a:cs typeface="Symbol"/>
              </a:rPr>
              <a:t></a:t>
            </a:r>
            <a:r>
              <a:rPr sz="2800" b="1" i="1" dirty="0">
                <a:latin typeface="Times New Roman"/>
                <a:cs typeface="Times New Roman"/>
              </a:rPr>
              <a:t>c</a:t>
            </a:r>
            <a:r>
              <a:rPr sz="2800" b="1" baseline="-21072" dirty="0">
                <a:latin typeface="Times New Roman"/>
                <a:cs typeface="Times New Roman"/>
              </a:rPr>
              <a:t>1</a:t>
            </a:r>
            <a:r>
              <a:rPr sz="2800" b="1" dirty="0">
                <a:latin typeface="Times New Roman"/>
                <a:cs typeface="Times New Roman"/>
              </a:rPr>
              <a:t>;	</a:t>
            </a:r>
            <a:r>
              <a:rPr sz="2800" b="1" i="1" dirty="0">
                <a:latin typeface="Times New Roman"/>
                <a:cs typeface="Times New Roman"/>
              </a:rPr>
              <a:t>i</a:t>
            </a:r>
            <a:r>
              <a:rPr sz="2800" b="1" dirty="0">
                <a:latin typeface="Symbol"/>
                <a:cs typeface="Symbol"/>
              </a:rPr>
              <a:t></a:t>
            </a:r>
            <a:r>
              <a:rPr sz="2800" b="1" dirty="0">
                <a:latin typeface="Times New Roman"/>
                <a:cs typeface="Times New Roman"/>
              </a:rPr>
              <a:t>1;</a:t>
            </a:r>
            <a:endParaRPr sz="2800" dirty="0">
              <a:latin typeface="Times New Roman"/>
              <a:cs typeface="Times New Roman"/>
            </a:endParaRPr>
          </a:p>
          <a:p>
            <a:pPr marL="618051" indent="-466502">
              <a:buAutoNum type="arabicPeriod" startAt="3"/>
              <a:tabLst>
                <a:tab pos="618051" algn="l"/>
                <a:tab pos="618897" algn="l"/>
              </a:tabLst>
            </a:pPr>
            <a:r>
              <a:rPr sz="2800" b="1" dirty="0">
                <a:latin typeface="Times New Roman"/>
                <a:cs typeface="Times New Roman"/>
              </a:rPr>
              <a:t>while </a:t>
            </a:r>
            <a:r>
              <a:rPr sz="2800" b="1" i="1" spc="-7" dirty="0">
                <a:latin typeface="Times New Roman"/>
                <a:cs typeface="Times New Roman"/>
              </a:rPr>
              <a:t>i</a:t>
            </a:r>
            <a:r>
              <a:rPr sz="2800" b="1" spc="-7" dirty="0">
                <a:latin typeface="Symbol"/>
                <a:cs typeface="Symbol"/>
              </a:rPr>
              <a:t></a:t>
            </a:r>
            <a:r>
              <a:rPr sz="2800" b="1" i="1" spc="-7" dirty="0">
                <a:latin typeface="Times New Roman"/>
                <a:cs typeface="Times New Roman"/>
              </a:rPr>
              <a:t>n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do</a:t>
            </a:r>
            <a:endParaRPr sz="2800" dirty="0">
              <a:latin typeface="Times New Roman"/>
              <a:cs typeface="Times New Roman"/>
            </a:endParaRPr>
          </a:p>
          <a:p>
            <a:pPr marL="990575" indent="-839026">
              <a:lnSpc>
                <a:spcPts val="3507"/>
              </a:lnSpc>
              <a:spcBef>
                <a:spcPts val="33"/>
              </a:spcBef>
              <a:buAutoNum type="arabicPeriod" startAt="3"/>
              <a:tabLst>
                <a:tab pos="989729" algn="l"/>
                <a:tab pos="991422" algn="l"/>
                <a:tab pos="1404585" algn="l"/>
              </a:tabLst>
            </a:pPr>
            <a:r>
              <a:rPr sz="2800" b="1" dirty="0">
                <a:latin typeface="Times New Roman"/>
                <a:cs typeface="Times New Roman"/>
              </a:rPr>
              <a:t>if	</a:t>
            </a:r>
            <a:r>
              <a:rPr sz="2800" b="1" spc="-7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装</a:t>
            </a:r>
            <a:r>
              <a:rPr sz="2800" b="1" spc="-13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入</a:t>
            </a:r>
            <a:r>
              <a:rPr sz="2800" b="1" spc="-727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 </a:t>
            </a:r>
            <a:r>
              <a:rPr sz="2800" b="1" i="1" dirty="0"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i</a:t>
            </a:r>
            <a:r>
              <a:rPr sz="2800" b="1" spc="-7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后重量</a:t>
            </a:r>
            <a:r>
              <a:rPr sz="2800" b="1" spc="-13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不</a:t>
            </a:r>
            <a:r>
              <a:rPr sz="2800" b="1" spc="-7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超</a:t>
            </a:r>
            <a:r>
              <a:rPr sz="2800" b="1" spc="-13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过</a:t>
            </a:r>
            <a:r>
              <a:rPr sz="2800" b="1" spc="-713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c</a:t>
            </a:r>
            <a:r>
              <a:rPr sz="2800" b="1" baseline="-21072" dirty="0">
                <a:latin typeface="Times New Roman"/>
                <a:cs typeface="Times New Roman"/>
              </a:rPr>
              <a:t>1</a:t>
            </a:r>
            <a:endParaRPr sz="2800" baseline="-21072" dirty="0">
              <a:latin typeface="Times New Roman"/>
              <a:cs typeface="Times New Roman"/>
            </a:endParaRPr>
          </a:p>
          <a:p>
            <a:pPr marL="152396" marR="159169">
              <a:lnSpc>
                <a:spcPts val="3520"/>
              </a:lnSpc>
              <a:spcBef>
                <a:spcPts val="100"/>
              </a:spcBef>
              <a:buAutoNum type="arabicPeriod" startAt="3"/>
              <a:tabLst>
                <a:tab pos="964329" algn="l"/>
                <a:tab pos="989729" algn="l"/>
                <a:tab pos="991422" algn="l"/>
                <a:tab pos="1728850" algn="l"/>
                <a:tab pos="1881246" algn="l"/>
                <a:tab pos="3133435" algn="l"/>
                <a:tab pos="3639729" algn="l"/>
                <a:tab pos="5046007" algn="l"/>
              </a:tabLst>
            </a:pPr>
            <a:r>
              <a:rPr lang="en-US" sz="2800" b="1" spc="-7" dirty="0" smtClean="0">
                <a:latin typeface="Times New Roman"/>
                <a:cs typeface="Times New Roman"/>
              </a:rPr>
              <a:t>      </a:t>
            </a:r>
            <a:r>
              <a:rPr sz="2800" b="1" spc="-7" dirty="0" smtClean="0">
                <a:latin typeface="Times New Roman"/>
                <a:cs typeface="Times New Roman"/>
              </a:rPr>
              <a:t>t</a:t>
            </a:r>
            <a:r>
              <a:rPr sz="2800" b="1" dirty="0" smtClean="0">
                <a:latin typeface="Times New Roman"/>
                <a:cs typeface="Times New Roman"/>
              </a:rPr>
              <a:t>hen</a:t>
            </a:r>
            <a:r>
              <a:rPr sz="2800" b="1" dirty="0">
                <a:latin typeface="Times New Roman"/>
                <a:cs typeface="Times New Roman"/>
              </a:rPr>
              <a:t>		</a:t>
            </a:r>
            <a:r>
              <a:rPr sz="2800" b="1" i="1" spc="-7" dirty="0">
                <a:latin typeface="Times New Roman"/>
                <a:cs typeface="Times New Roman"/>
              </a:rPr>
              <a:t>B</a:t>
            </a:r>
            <a:r>
              <a:rPr sz="2800" b="1" spc="7" dirty="0">
                <a:latin typeface="Symbol"/>
                <a:cs typeface="Symbol"/>
              </a:rPr>
              <a:t></a:t>
            </a:r>
            <a:r>
              <a:rPr sz="2800" b="1" i="1" dirty="0">
                <a:latin typeface="Times New Roman"/>
                <a:cs typeface="Times New Roman"/>
              </a:rPr>
              <a:t>B</a:t>
            </a:r>
            <a:r>
              <a:rPr sz="2800" b="1" dirty="0">
                <a:latin typeface="Symbol"/>
                <a:cs typeface="Symbol"/>
              </a:rPr>
              <a:t></a:t>
            </a:r>
            <a:r>
              <a:rPr sz="2800" b="1" i="1" spc="-7" dirty="0">
                <a:latin typeface="Times New Roman"/>
                <a:cs typeface="Times New Roman"/>
              </a:rPr>
              <a:t>w</a:t>
            </a:r>
            <a:r>
              <a:rPr sz="2800" b="1" i="1" baseline="-21072" dirty="0">
                <a:latin typeface="Times New Roman"/>
                <a:cs typeface="Times New Roman"/>
              </a:rPr>
              <a:t>i</a:t>
            </a:r>
            <a:r>
              <a:rPr sz="2800" b="1" i="1" spc="-29" baseline="-21072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;	</a:t>
            </a:r>
            <a:r>
              <a:rPr sz="2800" b="1" i="1" dirty="0">
                <a:latin typeface="Times New Roman"/>
                <a:cs typeface="Times New Roman"/>
              </a:rPr>
              <a:t>x</a:t>
            </a:r>
            <a:r>
              <a:rPr sz="2800" b="1" spc="-7" dirty="0">
                <a:latin typeface="Times New Roman"/>
                <a:cs typeface="Times New Roman"/>
              </a:rPr>
              <a:t>[</a:t>
            </a:r>
            <a:r>
              <a:rPr sz="2800" b="1" i="1" dirty="0">
                <a:latin typeface="Times New Roman"/>
                <a:cs typeface="Times New Roman"/>
              </a:rPr>
              <a:t>i</a:t>
            </a:r>
            <a:r>
              <a:rPr sz="2800" b="1" dirty="0">
                <a:latin typeface="Times New Roman"/>
                <a:cs typeface="Times New Roman"/>
              </a:rPr>
              <a:t>]</a:t>
            </a:r>
            <a:r>
              <a:rPr sz="2800" b="1" spc="7" dirty="0">
                <a:latin typeface="Symbol"/>
                <a:cs typeface="Symbol"/>
              </a:rPr>
              <a:t></a:t>
            </a:r>
            <a:r>
              <a:rPr sz="2800" b="1" dirty="0">
                <a:latin typeface="Times New Roman"/>
                <a:cs typeface="Times New Roman"/>
              </a:rPr>
              <a:t>1;	</a:t>
            </a:r>
            <a:r>
              <a:rPr sz="2800" b="1" i="1" spc="-7" dirty="0">
                <a:latin typeface="Times New Roman"/>
                <a:cs typeface="Times New Roman"/>
              </a:rPr>
              <a:t>i</a:t>
            </a:r>
            <a:r>
              <a:rPr sz="2800" b="1" spc="7" dirty="0">
                <a:latin typeface="Symbol"/>
                <a:cs typeface="Symbol"/>
              </a:rPr>
              <a:t></a:t>
            </a:r>
            <a:r>
              <a:rPr sz="2800" b="1" i="1" dirty="0">
                <a:latin typeface="Times New Roman"/>
                <a:cs typeface="Times New Roman"/>
              </a:rPr>
              <a:t>i</a:t>
            </a:r>
            <a:r>
              <a:rPr sz="2800" b="1" spc="-7" dirty="0">
                <a:latin typeface="Times New Roman"/>
                <a:cs typeface="Times New Roman"/>
              </a:rPr>
              <a:t>+</a:t>
            </a:r>
            <a:r>
              <a:rPr sz="2800" b="1" dirty="0">
                <a:latin typeface="Times New Roman"/>
                <a:cs typeface="Times New Roman"/>
              </a:rPr>
              <a:t>1;  6.	else	</a:t>
            </a:r>
            <a:r>
              <a:rPr sz="2800" b="1" i="1" dirty="0">
                <a:latin typeface="Times New Roman"/>
                <a:cs typeface="Times New Roman"/>
              </a:rPr>
              <a:t>x</a:t>
            </a:r>
            <a:r>
              <a:rPr sz="2800" b="1" dirty="0">
                <a:latin typeface="Times New Roman"/>
                <a:cs typeface="Times New Roman"/>
              </a:rPr>
              <a:t>[</a:t>
            </a:r>
            <a:r>
              <a:rPr sz="2800" b="1" i="1" dirty="0">
                <a:latin typeface="Times New Roman"/>
                <a:cs typeface="Times New Roman"/>
              </a:rPr>
              <a:t>i</a:t>
            </a:r>
            <a:r>
              <a:rPr sz="2800" b="1" dirty="0">
                <a:latin typeface="Times New Roman"/>
                <a:cs typeface="Times New Roman"/>
              </a:rPr>
              <a:t>]</a:t>
            </a:r>
            <a:r>
              <a:rPr sz="2800" b="1" dirty="0">
                <a:latin typeface="Symbol"/>
                <a:cs typeface="Symbol"/>
              </a:rPr>
              <a:t></a:t>
            </a:r>
            <a:r>
              <a:rPr sz="2800" b="1" dirty="0">
                <a:latin typeface="Times New Roman"/>
                <a:cs typeface="Times New Roman"/>
              </a:rPr>
              <a:t>0;	</a:t>
            </a:r>
            <a:r>
              <a:rPr sz="2800" b="1" i="1" dirty="0">
                <a:latin typeface="Times New Roman"/>
                <a:cs typeface="Times New Roman"/>
              </a:rPr>
              <a:t>i</a:t>
            </a:r>
            <a:r>
              <a:rPr sz="2800" b="1" dirty="0">
                <a:latin typeface="Symbol"/>
                <a:cs typeface="Symbol"/>
              </a:rPr>
              <a:t></a:t>
            </a:r>
            <a:r>
              <a:rPr sz="2800" b="1" i="1" dirty="0">
                <a:latin typeface="Times New Roman"/>
                <a:cs typeface="Times New Roman"/>
              </a:rPr>
              <a:t>i</a:t>
            </a:r>
            <a:r>
              <a:rPr sz="2800" b="1" dirty="0">
                <a:latin typeface="Times New Roman"/>
                <a:cs typeface="Times New Roman"/>
              </a:rPr>
              <a:t>+1;</a:t>
            </a:r>
            <a:endParaRPr sz="2800" dirty="0">
              <a:latin typeface="Times New Roman"/>
              <a:cs typeface="Times New Roman"/>
            </a:endParaRPr>
          </a:p>
          <a:p>
            <a:pPr marL="641757" indent="-490208">
              <a:lnSpc>
                <a:spcPts val="3433"/>
              </a:lnSpc>
              <a:buAutoNum type="arabicPeriod" startAt="7"/>
              <a:tabLst>
                <a:tab pos="641757" algn="l"/>
                <a:tab pos="642604" algn="l"/>
                <a:tab pos="1056614" algn="l"/>
              </a:tabLst>
            </a:pPr>
            <a:r>
              <a:rPr sz="2800" b="1" dirty="0">
                <a:latin typeface="Times New Roman"/>
                <a:cs typeface="Times New Roman"/>
              </a:rPr>
              <a:t>if	</a:t>
            </a:r>
            <a:r>
              <a:rPr sz="2800" b="1" i="1" spc="-7" dirty="0">
                <a:latin typeface="Times New Roman"/>
                <a:cs typeface="Times New Roman"/>
              </a:rPr>
              <a:t>B</a:t>
            </a:r>
            <a:r>
              <a:rPr sz="2800" b="1" spc="-7" dirty="0">
                <a:latin typeface="Times New Roman"/>
                <a:cs typeface="Times New Roman"/>
              </a:rPr>
              <a:t>&lt;</a:t>
            </a:r>
            <a:r>
              <a:rPr sz="2800" b="1" i="1" spc="-7" dirty="0">
                <a:latin typeface="Times New Roman"/>
                <a:cs typeface="Times New Roman"/>
              </a:rPr>
              <a:t>best</a:t>
            </a:r>
            <a:r>
              <a:rPr sz="2800" b="1" i="1" spc="-40" dirty="0">
                <a:latin typeface="Times New Roman"/>
                <a:cs typeface="Times New Roman"/>
              </a:rPr>
              <a:t> </a:t>
            </a:r>
            <a:r>
              <a:rPr sz="2800" b="1" spc="-7" dirty="0">
                <a:latin typeface="Times New Roman"/>
                <a:cs typeface="Times New Roman"/>
              </a:rPr>
              <a:t>then </a:t>
            </a:r>
            <a:r>
              <a:rPr sz="2800" b="1" spc="-7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记录</a:t>
            </a:r>
            <a:r>
              <a:rPr sz="2800" b="1" spc="-13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解</a:t>
            </a:r>
            <a:r>
              <a:rPr sz="2800" b="1" dirty="0">
                <a:latin typeface="宋体"/>
                <a:cs typeface="宋体"/>
              </a:rPr>
              <a:t>；</a:t>
            </a:r>
            <a:r>
              <a:rPr sz="2800" b="1" i="1" dirty="0">
                <a:latin typeface="Times New Roman"/>
                <a:cs typeface="Times New Roman"/>
              </a:rPr>
              <a:t>best</a:t>
            </a:r>
            <a:r>
              <a:rPr sz="2800" b="1" dirty="0">
                <a:latin typeface="Symbol"/>
                <a:cs typeface="Symbol"/>
              </a:rPr>
              <a:t></a:t>
            </a:r>
            <a:r>
              <a:rPr sz="2800" b="1" i="1" dirty="0">
                <a:latin typeface="Times New Roman"/>
                <a:cs typeface="Times New Roman"/>
              </a:rPr>
              <a:t>B</a:t>
            </a:r>
            <a:r>
              <a:rPr sz="2800" b="1" dirty="0">
                <a:latin typeface="Times New Roman"/>
                <a:cs typeface="Times New Roman"/>
              </a:rPr>
              <a:t>;</a:t>
            </a:r>
            <a:endParaRPr sz="2800" dirty="0">
              <a:latin typeface="Times New Roman"/>
              <a:cs typeface="Times New Roman"/>
            </a:endParaRPr>
          </a:p>
          <a:p>
            <a:pPr marL="662077" indent="-510527">
              <a:buAutoNum type="arabicPeriod" startAt="7"/>
              <a:tabLst>
                <a:tab pos="662077" algn="l"/>
                <a:tab pos="662923" algn="l"/>
              </a:tabLst>
            </a:pPr>
            <a:r>
              <a:rPr sz="2800" b="1" u="heavy" spc="-7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Backtrack(</a:t>
            </a:r>
            <a:r>
              <a:rPr sz="2800" b="1" i="1" u="heavy" spc="-7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i</a:t>
            </a:r>
            <a:r>
              <a:rPr sz="2800" b="1" u="heavy" spc="-7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)</a:t>
            </a:r>
            <a:r>
              <a:rPr sz="2800" b="1" u="heavy" spc="-7" dirty="0">
                <a:uFill>
                  <a:solidFill>
                    <a:srgbClr val="C00000"/>
                  </a:solidFill>
                </a:uFill>
                <a:latin typeface="宋体"/>
                <a:cs typeface="宋体"/>
              </a:rPr>
              <a:t>；</a:t>
            </a:r>
            <a:r>
              <a:rPr sz="2800" b="1" spc="-1067" dirty="0">
                <a:latin typeface="宋体"/>
                <a:cs typeface="宋体"/>
              </a:rPr>
              <a:t> </a:t>
            </a:r>
            <a:r>
              <a:rPr sz="2800" b="1" spc="-9" baseline="-10802" dirty="0">
                <a:solidFill>
                  <a:srgbClr val="0070C0"/>
                </a:solidFill>
                <a:latin typeface="宋体"/>
                <a:cs typeface="宋体"/>
              </a:rPr>
              <a:t>回溯</a:t>
            </a:r>
            <a:endParaRPr sz="2800" baseline="-10802" dirty="0">
              <a:latin typeface="宋体"/>
              <a:cs typeface="宋体"/>
            </a:endParaRPr>
          </a:p>
          <a:p>
            <a:pPr marL="711182" indent="-558786">
              <a:lnSpc>
                <a:spcPts val="3500"/>
              </a:lnSpc>
              <a:buAutoNum type="arabicPeriod" startAt="7"/>
              <a:tabLst>
                <a:tab pos="710336" algn="l"/>
                <a:tab pos="711182" algn="l"/>
                <a:tab pos="1125192" algn="l"/>
              </a:tabLst>
            </a:pPr>
            <a:r>
              <a:rPr sz="2800" b="1" dirty="0">
                <a:latin typeface="Times New Roman"/>
                <a:cs typeface="Times New Roman"/>
              </a:rPr>
              <a:t>if	</a:t>
            </a:r>
            <a:r>
              <a:rPr sz="2800" b="1" i="1" spc="-7" dirty="0">
                <a:latin typeface="Times New Roman"/>
                <a:cs typeface="Times New Roman"/>
              </a:rPr>
              <a:t>i</a:t>
            </a:r>
            <a:r>
              <a:rPr sz="2800" b="1" spc="-7" dirty="0">
                <a:latin typeface="Times New Roman"/>
                <a:cs typeface="Times New Roman"/>
              </a:rPr>
              <a:t>=1</a:t>
            </a:r>
            <a:r>
              <a:rPr sz="2800" b="1" spc="-13" dirty="0">
                <a:latin typeface="Times New Roman"/>
                <a:cs typeface="Times New Roman"/>
              </a:rPr>
              <a:t> </a:t>
            </a:r>
            <a:r>
              <a:rPr sz="2800" b="1" spc="-7" dirty="0">
                <a:latin typeface="Times New Roman"/>
                <a:cs typeface="Times New Roman"/>
              </a:rPr>
              <a:t>then</a:t>
            </a:r>
            <a:r>
              <a:rPr sz="2800" b="1" dirty="0">
                <a:latin typeface="Times New Roman"/>
                <a:cs typeface="Times New Roman"/>
              </a:rPr>
              <a:t> </a:t>
            </a:r>
            <a:r>
              <a:rPr sz="2800" b="1" spc="-13" dirty="0">
                <a:latin typeface="Times New Roman"/>
                <a:cs typeface="Times New Roman"/>
              </a:rPr>
              <a:t>return</a:t>
            </a:r>
            <a:r>
              <a:rPr sz="2800" b="1" spc="-7" dirty="0">
                <a:latin typeface="Times New Roman"/>
                <a:cs typeface="Times New Roman"/>
              </a:rPr>
              <a:t> </a:t>
            </a:r>
            <a:r>
              <a:rPr sz="2800" b="1" spc="-7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最优解</a:t>
            </a:r>
            <a:endParaRPr sz="2800" dirty="0">
              <a:latin typeface="黑体" panose="02010609060101010101" pitchFamily="49" charset="-122"/>
              <a:ea typeface="黑体" panose="02010609060101010101" pitchFamily="49" charset="-122"/>
              <a:cs typeface="宋体"/>
            </a:endParaRPr>
          </a:p>
          <a:p>
            <a:pPr marL="778914" indent="-627363">
              <a:lnSpc>
                <a:spcPts val="3460"/>
              </a:lnSpc>
              <a:buAutoNum type="arabicPeriod" startAt="7"/>
              <a:tabLst>
                <a:tab pos="779761" algn="l"/>
              </a:tabLst>
            </a:pPr>
            <a:r>
              <a:rPr sz="2800" b="1" dirty="0">
                <a:latin typeface="Times New Roman"/>
                <a:cs typeface="Times New Roman"/>
              </a:rPr>
              <a:t>else </a:t>
            </a:r>
            <a:r>
              <a:rPr sz="2800" b="1" spc="-7" dirty="0">
                <a:latin typeface="Times New Roman"/>
                <a:cs typeface="Times New Roman"/>
              </a:rPr>
              <a:t>goto </a:t>
            </a:r>
            <a:r>
              <a:rPr sz="2800" b="1" dirty="0">
                <a:latin typeface="Times New Roman"/>
                <a:cs typeface="Times New Roman"/>
              </a:rPr>
              <a:t>3</a:t>
            </a:r>
            <a:r>
              <a:rPr sz="2800" b="1" spc="-47" dirty="0">
                <a:latin typeface="Times New Roman"/>
                <a:cs typeface="Times New Roman"/>
              </a:rPr>
              <a:t> </a:t>
            </a:r>
            <a:r>
              <a:rPr sz="2800" b="1" dirty="0" smtClean="0">
                <a:latin typeface="Times New Roman"/>
                <a:cs typeface="Times New Roman"/>
              </a:rPr>
              <a:t>.</a:t>
            </a:r>
            <a:endParaRPr sz="28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96394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43042" y="352539"/>
            <a:ext cx="4070422" cy="632651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4000" b="1" spc="-13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子过</a:t>
            </a:r>
            <a:r>
              <a:rPr sz="4000" b="1" spc="-20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程</a:t>
            </a:r>
            <a:r>
              <a:rPr sz="4000" b="1" spc="-93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40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Backtrack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612247" y="1732335"/>
            <a:ext cx="10517426" cy="1647460"/>
          </a:xfrm>
          <a:prstGeom prst="rect">
            <a:avLst/>
          </a:prstGeom>
        </p:spPr>
        <p:txBody>
          <a:bodyPr vert="horz" wrap="square" lIns="0" tIns="61807" rIns="0" bIns="0" rtlCol="0">
            <a:spAutoFit/>
          </a:bodyPr>
          <a:lstStyle/>
          <a:p>
            <a:pPr marL="16933">
              <a:lnSpc>
                <a:spcPct val="100000"/>
              </a:lnSpc>
              <a:spcBef>
                <a:spcPts val="487"/>
              </a:spcBef>
            </a:pPr>
            <a:r>
              <a:rPr b="1" spc="-7" dirty="0">
                <a:latin typeface="Times New Roman" pitchFamily="18" charset="0"/>
                <a:ea typeface="黑体" panose="02010609060101010101" pitchFamily="49" charset="-122"/>
                <a:cs typeface="Times New Roman" pitchFamily="18" charset="0"/>
              </a:rPr>
              <a:t>算</a:t>
            </a:r>
            <a:r>
              <a:rPr b="1" spc="-13" dirty="0">
                <a:latin typeface="Times New Roman" pitchFamily="18" charset="0"/>
                <a:ea typeface="黑体" panose="02010609060101010101" pitchFamily="49" charset="-122"/>
                <a:cs typeface="Times New Roman" pitchFamily="18" charset="0"/>
              </a:rPr>
              <a:t>法</a:t>
            </a:r>
            <a:r>
              <a:rPr b="1" spc="-7" dirty="0">
                <a:latin typeface="Times New Roman" pitchFamily="18" charset="0"/>
                <a:cs typeface="Times New Roman" pitchFamily="18" charset="0"/>
              </a:rPr>
              <a:t> Backtrack(</a:t>
            </a:r>
            <a:r>
              <a:rPr b="1" i="1" spc="-7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b="1" spc="-7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16933" marR="6773">
              <a:lnSpc>
                <a:spcPts val="4253"/>
              </a:lnSpc>
              <a:spcBef>
                <a:spcPts val="160"/>
              </a:spcBef>
              <a:tabLst>
                <a:tab pos="524074" algn="l"/>
                <a:tab pos="1032061" algn="l"/>
              </a:tabLst>
            </a:pPr>
            <a:r>
              <a:rPr b="1" dirty="0"/>
              <a:t>1.	</a:t>
            </a:r>
            <a:r>
              <a:rPr b="1" spc="-7" dirty="0">
                <a:latin typeface="Times New Roman" pitchFamily="18" charset="0"/>
                <a:cs typeface="Times New Roman" pitchFamily="18" charset="0"/>
              </a:rPr>
              <a:t>while </a:t>
            </a:r>
            <a:r>
              <a:rPr b="1" i="1" dirty="0">
                <a:latin typeface="Times New Roman" pitchFamily="18" charset="0"/>
                <a:cs typeface="Times New Roman" pitchFamily="18" charset="0"/>
              </a:rPr>
              <a:t>i </a:t>
            </a:r>
            <a:r>
              <a:rPr b="1" dirty="0">
                <a:latin typeface="Times New Roman" pitchFamily="18" charset="0"/>
                <a:cs typeface="Times New Roman" pitchFamily="18" charset="0"/>
              </a:rPr>
              <a:t>&gt;1 </a:t>
            </a:r>
            <a:r>
              <a:rPr b="1" spc="-7" dirty="0">
                <a:latin typeface="Times New Roman" pitchFamily="18" charset="0"/>
                <a:cs typeface="Times New Roman" pitchFamily="18" charset="0"/>
              </a:rPr>
              <a:t>and </a:t>
            </a:r>
            <a:r>
              <a:rPr b="1" i="1" dirty="0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b="1" dirty="0" smtClean="0"/>
              <a:t>[</a:t>
            </a:r>
            <a:r>
              <a:rPr b="1" i="1" dirty="0" smtClean="0">
                <a:latin typeface="Times New Roman"/>
                <a:cs typeface="Times New Roman"/>
              </a:rPr>
              <a:t>i</a:t>
            </a:r>
            <a:r>
              <a:rPr b="1" dirty="0" smtClean="0"/>
              <a:t>] </a:t>
            </a:r>
            <a:r>
              <a:rPr b="1" dirty="0"/>
              <a:t>= 0</a:t>
            </a:r>
            <a:r>
              <a:rPr b="1" spc="-140" dirty="0"/>
              <a:t> </a:t>
            </a:r>
            <a:r>
              <a:rPr b="1" spc="-7" dirty="0" smtClean="0">
                <a:latin typeface="Times New Roman" pitchFamily="18" charset="0"/>
                <a:cs typeface="Times New Roman" pitchFamily="18" charset="0"/>
              </a:rPr>
              <a:t>do</a:t>
            </a:r>
            <a:endParaRPr lang="en-US" b="1" spc="-7" dirty="0" smtClean="0">
              <a:latin typeface="Times New Roman" pitchFamily="18" charset="0"/>
              <a:cs typeface="Times New Roman" pitchFamily="18" charset="0"/>
            </a:endParaRPr>
          </a:p>
          <a:p>
            <a:pPr marL="16933" marR="6773">
              <a:lnSpc>
                <a:spcPts val="4253"/>
              </a:lnSpc>
              <a:spcBef>
                <a:spcPts val="160"/>
              </a:spcBef>
              <a:tabLst>
                <a:tab pos="524074" algn="l"/>
                <a:tab pos="1032061" algn="l"/>
              </a:tabLst>
            </a:pPr>
            <a:r>
              <a:rPr b="1" dirty="0" smtClean="0"/>
              <a:t>2</a:t>
            </a:r>
            <a:r>
              <a:rPr b="1" dirty="0"/>
              <a:t>.		</a:t>
            </a:r>
            <a:r>
              <a:rPr b="1" i="1" spc="-7" dirty="0">
                <a:latin typeface="Times New Roman"/>
                <a:cs typeface="Times New Roman"/>
              </a:rPr>
              <a:t>i</a:t>
            </a:r>
            <a:r>
              <a:rPr b="1" spc="-7" dirty="0">
                <a:latin typeface="Symbol"/>
                <a:cs typeface="Symbol"/>
              </a:rPr>
              <a:t></a:t>
            </a:r>
            <a:r>
              <a:rPr b="1" i="1" spc="-7" dirty="0">
                <a:latin typeface="Times New Roman"/>
                <a:cs typeface="Times New Roman"/>
              </a:rPr>
              <a:t>i</a:t>
            </a:r>
            <a:r>
              <a:rPr b="1" spc="-7" dirty="0">
                <a:latin typeface="Symbol"/>
                <a:cs typeface="Symbol"/>
              </a:rPr>
              <a:t></a:t>
            </a:r>
            <a:r>
              <a:rPr b="1" spc="-7" dirty="0"/>
              <a:t>1;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33398" y="3329634"/>
            <a:ext cx="4382872" cy="983173"/>
          </a:xfrm>
          <a:prstGeom prst="rect">
            <a:avLst/>
          </a:prstGeom>
        </p:spPr>
        <p:txBody>
          <a:bodyPr vert="horz" wrap="square" lIns="0" tIns="69425" rIns="0" bIns="0" rtlCol="0">
            <a:spAutoFit/>
          </a:bodyPr>
          <a:lstStyle/>
          <a:p>
            <a:pPr marL="524920" indent="-507987">
              <a:spcBef>
                <a:spcPts val="545"/>
              </a:spcBef>
              <a:buAutoNum type="arabicPeriod" startAt="3"/>
              <a:tabLst>
                <a:tab pos="524074" algn="l"/>
                <a:tab pos="524920" algn="l"/>
                <a:tab pos="975336" algn="l"/>
              </a:tabLst>
            </a:pPr>
            <a:r>
              <a:rPr sz="2800" b="1" spc="-7" dirty="0">
                <a:latin typeface="Times New Roman"/>
                <a:cs typeface="Times New Roman"/>
              </a:rPr>
              <a:t>if	</a:t>
            </a:r>
            <a:r>
              <a:rPr sz="2800" b="1" i="1" spc="-7" dirty="0">
                <a:latin typeface="Times New Roman"/>
                <a:cs typeface="Times New Roman"/>
              </a:rPr>
              <a:t>x</a:t>
            </a:r>
            <a:r>
              <a:rPr sz="2800" b="1" spc="-7" dirty="0">
                <a:latin typeface="Times New Roman"/>
                <a:cs typeface="Times New Roman"/>
              </a:rPr>
              <a:t>[</a:t>
            </a:r>
            <a:r>
              <a:rPr sz="2800" b="1" i="1" spc="-7" dirty="0">
                <a:latin typeface="Times New Roman"/>
                <a:cs typeface="Times New Roman"/>
              </a:rPr>
              <a:t>i</a:t>
            </a:r>
            <a:r>
              <a:rPr sz="2800" b="1" spc="-7" dirty="0">
                <a:latin typeface="Times New Roman"/>
                <a:cs typeface="Times New Roman"/>
              </a:rPr>
              <a:t>]=1</a:t>
            </a:r>
            <a:endParaRPr sz="2800" dirty="0">
              <a:latin typeface="Times New Roman"/>
              <a:cs typeface="Times New Roman"/>
            </a:endParaRPr>
          </a:p>
          <a:p>
            <a:pPr marL="524920" indent="-507987">
              <a:spcBef>
                <a:spcPts val="413"/>
              </a:spcBef>
              <a:buAutoNum type="arabicPeriod" startAt="3"/>
              <a:tabLst>
                <a:tab pos="524074" algn="l"/>
                <a:tab pos="524920" algn="l"/>
                <a:tab pos="1496023" algn="l"/>
              </a:tabLst>
            </a:pPr>
            <a:r>
              <a:rPr sz="2800" b="1" spc="-7" dirty="0">
                <a:latin typeface="Times New Roman"/>
                <a:cs typeface="Times New Roman"/>
              </a:rPr>
              <a:t>then	</a:t>
            </a:r>
            <a:r>
              <a:rPr sz="2800" b="1" i="1" spc="-7" dirty="0">
                <a:latin typeface="Times New Roman"/>
                <a:cs typeface="Times New Roman"/>
              </a:rPr>
              <a:t>x</a:t>
            </a:r>
            <a:r>
              <a:rPr sz="2800" b="1" spc="-7" dirty="0">
                <a:latin typeface="Times New Roman"/>
                <a:cs typeface="Times New Roman"/>
              </a:rPr>
              <a:t>[</a:t>
            </a:r>
            <a:r>
              <a:rPr sz="2800" b="1" i="1" spc="-7" dirty="0">
                <a:latin typeface="Times New Roman"/>
                <a:cs typeface="Times New Roman"/>
              </a:rPr>
              <a:t>i</a:t>
            </a:r>
            <a:r>
              <a:rPr sz="2800" b="1" spc="-7" dirty="0">
                <a:latin typeface="Times New Roman"/>
                <a:cs typeface="Times New Roman"/>
              </a:rPr>
              <a:t>]</a:t>
            </a:r>
            <a:r>
              <a:rPr sz="2800" b="1" spc="-7" dirty="0">
                <a:latin typeface="Symbol"/>
                <a:cs typeface="Symbol"/>
              </a:rPr>
              <a:t></a:t>
            </a:r>
            <a:r>
              <a:rPr sz="2800" b="1" spc="-7" dirty="0">
                <a:latin typeface="Times New Roman"/>
                <a:cs typeface="Times New Roman"/>
              </a:rPr>
              <a:t>0;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19950" y="4326525"/>
            <a:ext cx="914719" cy="981465"/>
          </a:xfrm>
          <a:prstGeom prst="rect">
            <a:avLst/>
          </a:prstGeom>
        </p:spPr>
        <p:txBody>
          <a:bodyPr vert="horz" wrap="square" lIns="0" tIns="67733" rIns="0" bIns="0" rtlCol="0">
            <a:spAutoFit/>
          </a:bodyPr>
          <a:lstStyle/>
          <a:p>
            <a:pPr marL="16933">
              <a:spcBef>
                <a:spcPts val="533"/>
              </a:spcBef>
            </a:pPr>
            <a:r>
              <a:rPr sz="2800" b="1" dirty="0">
                <a:latin typeface="Times New Roman"/>
                <a:cs typeface="Times New Roman"/>
              </a:rPr>
              <a:t>5.</a:t>
            </a:r>
            <a:endParaRPr sz="2800" dirty="0">
              <a:latin typeface="Times New Roman"/>
              <a:cs typeface="Times New Roman"/>
            </a:endParaRPr>
          </a:p>
          <a:p>
            <a:pPr marL="16933">
              <a:spcBef>
                <a:spcPts val="400"/>
              </a:spcBef>
            </a:pPr>
            <a:r>
              <a:rPr sz="2800" b="1" dirty="0">
                <a:latin typeface="Times New Roman"/>
                <a:cs typeface="Times New Roman"/>
              </a:rPr>
              <a:t>6.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105012" y="4326525"/>
            <a:ext cx="2154405" cy="981465"/>
          </a:xfrm>
          <a:prstGeom prst="rect">
            <a:avLst/>
          </a:prstGeom>
        </p:spPr>
        <p:txBody>
          <a:bodyPr vert="horz" wrap="square" lIns="0" tIns="67733" rIns="0" bIns="0" rtlCol="0">
            <a:spAutoFit/>
          </a:bodyPr>
          <a:lstStyle/>
          <a:p>
            <a:pPr marL="50799">
              <a:spcBef>
                <a:spcPts val="533"/>
              </a:spcBef>
            </a:pPr>
            <a:r>
              <a:rPr sz="2800" b="1" i="1" dirty="0">
                <a:latin typeface="Times New Roman"/>
                <a:cs typeface="Times New Roman"/>
              </a:rPr>
              <a:t>B</a:t>
            </a:r>
            <a:r>
              <a:rPr sz="2800" b="1" dirty="0">
                <a:latin typeface="Symbol"/>
                <a:cs typeface="Symbol"/>
              </a:rPr>
              <a:t></a:t>
            </a:r>
            <a:r>
              <a:rPr sz="2800" b="1" i="1" dirty="0">
                <a:latin typeface="Times New Roman"/>
                <a:cs typeface="Times New Roman"/>
              </a:rPr>
              <a:t>B</a:t>
            </a:r>
            <a:r>
              <a:rPr sz="2800" b="1" dirty="0">
                <a:latin typeface="Times New Roman"/>
                <a:cs typeface="Times New Roman"/>
              </a:rPr>
              <a:t>+</a:t>
            </a:r>
            <a:r>
              <a:rPr sz="2800" b="1" i="1" dirty="0">
                <a:latin typeface="Times New Roman"/>
                <a:cs typeface="Times New Roman"/>
              </a:rPr>
              <a:t>w</a:t>
            </a:r>
            <a:r>
              <a:rPr sz="2800" b="1" i="1" baseline="-20833" dirty="0">
                <a:latin typeface="Times New Roman"/>
                <a:cs typeface="Times New Roman"/>
              </a:rPr>
              <a:t>i</a:t>
            </a:r>
            <a:r>
              <a:rPr sz="2800" b="1" i="1" spc="-129" baseline="-20833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;</a:t>
            </a:r>
            <a:endParaRPr sz="2800" dirty="0">
              <a:latin typeface="Times New Roman"/>
              <a:cs typeface="Times New Roman"/>
            </a:endParaRPr>
          </a:p>
          <a:p>
            <a:pPr marL="50799">
              <a:spcBef>
                <a:spcPts val="400"/>
              </a:spcBef>
            </a:pPr>
            <a:r>
              <a:rPr sz="2800" b="1" i="1" spc="-7" dirty="0">
                <a:latin typeface="Times New Roman"/>
                <a:cs typeface="Times New Roman"/>
              </a:rPr>
              <a:t>i</a:t>
            </a:r>
            <a:r>
              <a:rPr sz="2800" b="1" spc="-7" dirty="0">
                <a:latin typeface="Symbol"/>
                <a:cs typeface="Symbol"/>
              </a:rPr>
              <a:t></a:t>
            </a:r>
            <a:r>
              <a:rPr sz="2800" b="1" i="1" spc="-7" dirty="0">
                <a:latin typeface="Times New Roman"/>
                <a:cs typeface="Times New Roman"/>
              </a:rPr>
              <a:t>i</a:t>
            </a:r>
            <a:r>
              <a:rPr sz="2800" b="1" spc="-7" dirty="0">
                <a:latin typeface="Times New Roman"/>
                <a:cs typeface="Times New Roman"/>
              </a:rPr>
              <a:t>+1.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590157" y="2899101"/>
            <a:ext cx="2480741" cy="2133600"/>
          </a:xfrm>
          <a:custGeom>
            <a:avLst/>
            <a:gdLst/>
            <a:ahLst/>
            <a:cxnLst/>
            <a:rect l="l" t="t" r="r" b="b"/>
            <a:pathLst>
              <a:path w="2480310" h="1600200">
                <a:moveTo>
                  <a:pt x="1357813" y="0"/>
                </a:moveTo>
                <a:lnTo>
                  <a:pt x="1309237" y="1350"/>
                </a:lnTo>
                <a:lnTo>
                  <a:pt x="1260851" y="4236"/>
                </a:lnTo>
                <a:lnTo>
                  <a:pt x="1212729" y="8647"/>
                </a:lnTo>
                <a:lnTo>
                  <a:pt x="1164944" y="14570"/>
                </a:lnTo>
                <a:lnTo>
                  <a:pt x="1117569" y="21995"/>
                </a:lnTo>
                <a:lnTo>
                  <a:pt x="1070679" y="30911"/>
                </a:lnTo>
                <a:lnTo>
                  <a:pt x="1024345" y="41304"/>
                </a:lnTo>
                <a:lnTo>
                  <a:pt x="978642" y="53165"/>
                </a:lnTo>
                <a:lnTo>
                  <a:pt x="933642" y="66481"/>
                </a:lnTo>
                <a:lnTo>
                  <a:pt x="889420" y="81242"/>
                </a:lnTo>
                <a:lnTo>
                  <a:pt x="846048" y="97434"/>
                </a:lnTo>
                <a:lnTo>
                  <a:pt x="803600" y="115048"/>
                </a:lnTo>
                <a:lnTo>
                  <a:pt x="762149" y="134072"/>
                </a:lnTo>
                <a:lnTo>
                  <a:pt x="721768" y="154493"/>
                </a:lnTo>
                <a:lnTo>
                  <a:pt x="682532" y="176301"/>
                </a:lnTo>
                <a:lnTo>
                  <a:pt x="644512" y="199484"/>
                </a:lnTo>
                <a:lnTo>
                  <a:pt x="607783" y="224030"/>
                </a:lnTo>
                <a:lnTo>
                  <a:pt x="572418" y="249929"/>
                </a:lnTo>
                <a:lnTo>
                  <a:pt x="538490" y="277167"/>
                </a:lnTo>
                <a:lnTo>
                  <a:pt x="506072" y="305735"/>
                </a:lnTo>
                <a:lnTo>
                  <a:pt x="475238" y="335621"/>
                </a:lnTo>
                <a:lnTo>
                  <a:pt x="446062" y="366813"/>
                </a:lnTo>
                <a:lnTo>
                  <a:pt x="0" y="402119"/>
                </a:lnTo>
                <a:lnTo>
                  <a:pt x="289560" y="650340"/>
                </a:lnTo>
                <a:lnTo>
                  <a:pt x="279774" y="694047"/>
                </a:lnTo>
                <a:lnTo>
                  <a:pt x="273370" y="737729"/>
                </a:lnTo>
                <a:lnTo>
                  <a:pt x="270298" y="781299"/>
                </a:lnTo>
                <a:lnTo>
                  <a:pt x="270506" y="824671"/>
                </a:lnTo>
                <a:lnTo>
                  <a:pt x="273942" y="867758"/>
                </a:lnTo>
                <a:lnTo>
                  <a:pt x="280555" y="910474"/>
                </a:lnTo>
                <a:lnTo>
                  <a:pt x="290295" y="952732"/>
                </a:lnTo>
                <a:lnTo>
                  <a:pt x="303109" y="994445"/>
                </a:lnTo>
                <a:lnTo>
                  <a:pt x="318946" y="1035527"/>
                </a:lnTo>
                <a:lnTo>
                  <a:pt x="337756" y="1075891"/>
                </a:lnTo>
                <a:lnTo>
                  <a:pt x="359486" y="1115451"/>
                </a:lnTo>
                <a:lnTo>
                  <a:pt x="384085" y="1154119"/>
                </a:lnTo>
                <a:lnTo>
                  <a:pt x="411503" y="1191809"/>
                </a:lnTo>
                <a:lnTo>
                  <a:pt x="441688" y="1228435"/>
                </a:lnTo>
                <a:lnTo>
                  <a:pt x="474588" y="1263910"/>
                </a:lnTo>
                <a:lnTo>
                  <a:pt x="510153" y="1298147"/>
                </a:lnTo>
                <a:lnTo>
                  <a:pt x="548330" y="1331060"/>
                </a:lnTo>
                <a:lnTo>
                  <a:pt x="589069" y="1362562"/>
                </a:lnTo>
                <a:lnTo>
                  <a:pt x="632319" y="1392567"/>
                </a:lnTo>
                <a:lnTo>
                  <a:pt x="678028" y="1420987"/>
                </a:lnTo>
                <a:lnTo>
                  <a:pt x="726144" y="1447737"/>
                </a:lnTo>
                <a:lnTo>
                  <a:pt x="776617" y="1472729"/>
                </a:lnTo>
                <a:lnTo>
                  <a:pt x="820995" y="1492392"/>
                </a:lnTo>
                <a:lnTo>
                  <a:pt x="866135" y="1510370"/>
                </a:lnTo>
                <a:lnTo>
                  <a:pt x="911966" y="1526674"/>
                </a:lnTo>
                <a:lnTo>
                  <a:pt x="958412" y="1541315"/>
                </a:lnTo>
                <a:lnTo>
                  <a:pt x="1005402" y="1554306"/>
                </a:lnTo>
                <a:lnTo>
                  <a:pt x="1052861" y="1565657"/>
                </a:lnTo>
                <a:lnTo>
                  <a:pt x="1100716" y="1575381"/>
                </a:lnTo>
                <a:lnTo>
                  <a:pt x="1148894" y="1583488"/>
                </a:lnTo>
                <a:lnTo>
                  <a:pt x="1197322" y="1589990"/>
                </a:lnTo>
                <a:lnTo>
                  <a:pt x="1245926" y="1594898"/>
                </a:lnTo>
                <a:lnTo>
                  <a:pt x="1294633" y="1598225"/>
                </a:lnTo>
                <a:lnTo>
                  <a:pt x="1343370" y="1599981"/>
                </a:lnTo>
                <a:lnTo>
                  <a:pt x="1392063" y="1600178"/>
                </a:lnTo>
                <a:lnTo>
                  <a:pt x="1440639" y="1598828"/>
                </a:lnTo>
                <a:lnTo>
                  <a:pt x="1489024" y="1595942"/>
                </a:lnTo>
                <a:lnTo>
                  <a:pt x="1537146" y="1591531"/>
                </a:lnTo>
                <a:lnTo>
                  <a:pt x="1584931" y="1585607"/>
                </a:lnTo>
                <a:lnTo>
                  <a:pt x="1632305" y="1578182"/>
                </a:lnTo>
                <a:lnTo>
                  <a:pt x="1679195" y="1569267"/>
                </a:lnTo>
                <a:lnTo>
                  <a:pt x="1725529" y="1558873"/>
                </a:lnTo>
                <a:lnTo>
                  <a:pt x="1771232" y="1547013"/>
                </a:lnTo>
                <a:lnTo>
                  <a:pt x="1816231" y="1533696"/>
                </a:lnTo>
                <a:lnTo>
                  <a:pt x="1860454" y="1518936"/>
                </a:lnTo>
                <a:lnTo>
                  <a:pt x="1903826" y="1502743"/>
                </a:lnTo>
                <a:lnTo>
                  <a:pt x="1946274" y="1485129"/>
                </a:lnTo>
                <a:lnTo>
                  <a:pt x="1987725" y="1466105"/>
                </a:lnTo>
                <a:lnTo>
                  <a:pt x="2028106" y="1445684"/>
                </a:lnTo>
                <a:lnTo>
                  <a:pt x="2067343" y="1423876"/>
                </a:lnTo>
                <a:lnTo>
                  <a:pt x="2105363" y="1400692"/>
                </a:lnTo>
                <a:lnTo>
                  <a:pt x="2142092" y="1376145"/>
                </a:lnTo>
                <a:lnTo>
                  <a:pt x="2177458" y="1350246"/>
                </a:lnTo>
                <a:lnTo>
                  <a:pt x="2211387" y="1323007"/>
                </a:lnTo>
                <a:lnTo>
                  <a:pt x="2243805" y="1294438"/>
                </a:lnTo>
                <a:lnTo>
                  <a:pt x="2274640" y="1264551"/>
                </a:lnTo>
                <a:lnTo>
                  <a:pt x="2303818" y="1233359"/>
                </a:lnTo>
                <a:lnTo>
                  <a:pt x="2334306" y="1197035"/>
                </a:lnTo>
                <a:lnTo>
                  <a:pt x="2361830" y="1160016"/>
                </a:lnTo>
                <a:lnTo>
                  <a:pt x="2386413" y="1122378"/>
                </a:lnTo>
                <a:lnTo>
                  <a:pt x="2408077" y="1084197"/>
                </a:lnTo>
                <a:lnTo>
                  <a:pt x="2426846" y="1045549"/>
                </a:lnTo>
                <a:lnTo>
                  <a:pt x="2442741" y="1006512"/>
                </a:lnTo>
                <a:lnTo>
                  <a:pt x="2455787" y="967162"/>
                </a:lnTo>
                <a:lnTo>
                  <a:pt x="2466005" y="927574"/>
                </a:lnTo>
                <a:lnTo>
                  <a:pt x="2473419" y="887826"/>
                </a:lnTo>
                <a:lnTo>
                  <a:pt x="2478052" y="847994"/>
                </a:lnTo>
                <a:lnTo>
                  <a:pt x="2479925" y="808154"/>
                </a:lnTo>
                <a:lnTo>
                  <a:pt x="2479063" y="768383"/>
                </a:lnTo>
                <a:lnTo>
                  <a:pt x="2475489" y="728757"/>
                </a:lnTo>
                <a:lnTo>
                  <a:pt x="2469223" y="689353"/>
                </a:lnTo>
                <a:lnTo>
                  <a:pt x="2460291" y="650247"/>
                </a:lnTo>
                <a:lnTo>
                  <a:pt x="2448714" y="611515"/>
                </a:lnTo>
                <a:lnTo>
                  <a:pt x="2434516" y="573235"/>
                </a:lnTo>
                <a:lnTo>
                  <a:pt x="2417719" y="535481"/>
                </a:lnTo>
                <a:lnTo>
                  <a:pt x="2398345" y="498332"/>
                </a:lnTo>
                <a:lnTo>
                  <a:pt x="2376419" y="461863"/>
                </a:lnTo>
                <a:lnTo>
                  <a:pt x="2351963" y="426150"/>
                </a:lnTo>
                <a:lnTo>
                  <a:pt x="2324999" y="391270"/>
                </a:lnTo>
                <a:lnTo>
                  <a:pt x="2295551" y="357301"/>
                </a:lnTo>
                <a:lnTo>
                  <a:pt x="2263641" y="324316"/>
                </a:lnTo>
                <a:lnTo>
                  <a:pt x="2229292" y="292395"/>
                </a:lnTo>
                <a:lnTo>
                  <a:pt x="2192527" y="261612"/>
                </a:lnTo>
                <a:lnTo>
                  <a:pt x="2153369" y="232045"/>
                </a:lnTo>
                <a:lnTo>
                  <a:pt x="2111841" y="203769"/>
                </a:lnTo>
                <a:lnTo>
                  <a:pt x="2067965" y="176861"/>
                </a:lnTo>
                <a:lnTo>
                  <a:pt x="2021764" y="151398"/>
                </a:lnTo>
                <a:lnTo>
                  <a:pt x="1973262" y="127456"/>
                </a:lnTo>
                <a:lnTo>
                  <a:pt x="1928884" y="107791"/>
                </a:lnTo>
                <a:lnTo>
                  <a:pt x="1883744" y="89813"/>
                </a:lnTo>
                <a:lnTo>
                  <a:pt x="1837913" y="73508"/>
                </a:lnTo>
                <a:lnTo>
                  <a:pt x="1791467" y="58865"/>
                </a:lnTo>
                <a:lnTo>
                  <a:pt x="1744477" y="45874"/>
                </a:lnTo>
                <a:lnTo>
                  <a:pt x="1697018" y="34522"/>
                </a:lnTo>
                <a:lnTo>
                  <a:pt x="1649162" y="24798"/>
                </a:lnTo>
                <a:lnTo>
                  <a:pt x="1600984" y="16691"/>
                </a:lnTo>
                <a:lnTo>
                  <a:pt x="1552555" y="10189"/>
                </a:lnTo>
                <a:lnTo>
                  <a:pt x="1503951" y="5280"/>
                </a:lnTo>
                <a:lnTo>
                  <a:pt x="1455243" y="1953"/>
                </a:lnTo>
                <a:lnTo>
                  <a:pt x="1406506" y="197"/>
                </a:lnTo>
                <a:lnTo>
                  <a:pt x="1357813" y="0"/>
                </a:lnTo>
                <a:close/>
              </a:path>
            </a:pathLst>
          </a:custGeom>
          <a:solidFill>
            <a:srgbClr val="4F81BD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" name="object 9"/>
          <p:cNvSpPr/>
          <p:nvPr/>
        </p:nvSpPr>
        <p:spPr>
          <a:xfrm>
            <a:off x="3590157" y="2899101"/>
            <a:ext cx="2480741" cy="2133600"/>
          </a:xfrm>
          <a:custGeom>
            <a:avLst/>
            <a:gdLst/>
            <a:ahLst/>
            <a:cxnLst/>
            <a:rect l="l" t="t" r="r" b="b"/>
            <a:pathLst>
              <a:path w="2480310" h="1600200">
                <a:moveTo>
                  <a:pt x="0" y="402119"/>
                </a:moveTo>
                <a:lnTo>
                  <a:pt x="446062" y="366813"/>
                </a:lnTo>
                <a:lnTo>
                  <a:pt x="475238" y="335621"/>
                </a:lnTo>
                <a:lnTo>
                  <a:pt x="506072" y="305735"/>
                </a:lnTo>
                <a:lnTo>
                  <a:pt x="538490" y="277167"/>
                </a:lnTo>
                <a:lnTo>
                  <a:pt x="572418" y="249929"/>
                </a:lnTo>
                <a:lnTo>
                  <a:pt x="607783" y="224030"/>
                </a:lnTo>
                <a:lnTo>
                  <a:pt x="644512" y="199484"/>
                </a:lnTo>
                <a:lnTo>
                  <a:pt x="682532" y="176301"/>
                </a:lnTo>
                <a:lnTo>
                  <a:pt x="721768" y="154493"/>
                </a:lnTo>
                <a:lnTo>
                  <a:pt x="762149" y="134072"/>
                </a:lnTo>
                <a:lnTo>
                  <a:pt x="803600" y="115048"/>
                </a:lnTo>
                <a:lnTo>
                  <a:pt x="846048" y="97434"/>
                </a:lnTo>
                <a:lnTo>
                  <a:pt x="889420" y="81242"/>
                </a:lnTo>
                <a:lnTo>
                  <a:pt x="933642" y="66481"/>
                </a:lnTo>
                <a:lnTo>
                  <a:pt x="978642" y="53165"/>
                </a:lnTo>
                <a:lnTo>
                  <a:pt x="1024345" y="41304"/>
                </a:lnTo>
                <a:lnTo>
                  <a:pt x="1070679" y="30911"/>
                </a:lnTo>
                <a:lnTo>
                  <a:pt x="1117569" y="21995"/>
                </a:lnTo>
                <a:lnTo>
                  <a:pt x="1164944" y="14570"/>
                </a:lnTo>
                <a:lnTo>
                  <a:pt x="1212729" y="8647"/>
                </a:lnTo>
                <a:lnTo>
                  <a:pt x="1260851" y="4236"/>
                </a:lnTo>
                <a:lnTo>
                  <a:pt x="1309237" y="1350"/>
                </a:lnTo>
                <a:lnTo>
                  <a:pt x="1357813" y="0"/>
                </a:lnTo>
                <a:lnTo>
                  <a:pt x="1406506" y="197"/>
                </a:lnTo>
                <a:lnTo>
                  <a:pt x="1455243" y="1953"/>
                </a:lnTo>
                <a:lnTo>
                  <a:pt x="1503951" y="5280"/>
                </a:lnTo>
                <a:lnTo>
                  <a:pt x="1552555" y="10189"/>
                </a:lnTo>
                <a:lnTo>
                  <a:pt x="1600984" y="16691"/>
                </a:lnTo>
                <a:lnTo>
                  <a:pt x="1649162" y="24798"/>
                </a:lnTo>
                <a:lnTo>
                  <a:pt x="1697018" y="34522"/>
                </a:lnTo>
                <a:lnTo>
                  <a:pt x="1744477" y="45874"/>
                </a:lnTo>
                <a:lnTo>
                  <a:pt x="1791467" y="58865"/>
                </a:lnTo>
                <a:lnTo>
                  <a:pt x="1837913" y="73508"/>
                </a:lnTo>
                <a:lnTo>
                  <a:pt x="1883744" y="89813"/>
                </a:lnTo>
                <a:lnTo>
                  <a:pt x="1928884" y="107791"/>
                </a:lnTo>
                <a:lnTo>
                  <a:pt x="1973262" y="127456"/>
                </a:lnTo>
                <a:lnTo>
                  <a:pt x="2021764" y="151398"/>
                </a:lnTo>
                <a:lnTo>
                  <a:pt x="2067965" y="176861"/>
                </a:lnTo>
                <a:lnTo>
                  <a:pt x="2111841" y="203769"/>
                </a:lnTo>
                <a:lnTo>
                  <a:pt x="2153369" y="232045"/>
                </a:lnTo>
                <a:lnTo>
                  <a:pt x="2192527" y="261612"/>
                </a:lnTo>
                <a:lnTo>
                  <a:pt x="2229292" y="292395"/>
                </a:lnTo>
                <a:lnTo>
                  <a:pt x="2263641" y="324316"/>
                </a:lnTo>
                <a:lnTo>
                  <a:pt x="2295551" y="357301"/>
                </a:lnTo>
                <a:lnTo>
                  <a:pt x="2324999" y="391270"/>
                </a:lnTo>
                <a:lnTo>
                  <a:pt x="2351963" y="426150"/>
                </a:lnTo>
                <a:lnTo>
                  <a:pt x="2376419" y="461863"/>
                </a:lnTo>
                <a:lnTo>
                  <a:pt x="2398345" y="498332"/>
                </a:lnTo>
                <a:lnTo>
                  <a:pt x="2417719" y="535481"/>
                </a:lnTo>
                <a:lnTo>
                  <a:pt x="2434516" y="573235"/>
                </a:lnTo>
                <a:lnTo>
                  <a:pt x="2448714" y="611515"/>
                </a:lnTo>
                <a:lnTo>
                  <a:pt x="2460291" y="650247"/>
                </a:lnTo>
                <a:lnTo>
                  <a:pt x="2469223" y="689353"/>
                </a:lnTo>
                <a:lnTo>
                  <a:pt x="2475489" y="728757"/>
                </a:lnTo>
                <a:lnTo>
                  <a:pt x="2479063" y="768383"/>
                </a:lnTo>
                <a:lnTo>
                  <a:pt x="2479925" y="808154"/>
                </a:lnTo>
                <a:lnTo>
                  <a:pt x="2478052" y="847994"/>
                </a:lnTo>
                <a:lnTo>
                  <a:pt x="2473419" y="887826"/>
                </a:lnTo>
                <a:lnTo>
                  <a:pt x="2466005" y="927574"/>
                </a:lnTo>
                <a:lnTo>
                  <a:pt x="2455787" y="967162"/>
                </a:lnTo>
                <a:lnTo>
                  <a:pt x="2442741" y="1006512"/>
                </a:lnTo>
                <a:lnTo>
                  <a:pt x="2426846" y="1045549"/>
                </a:lnTo>
                <a:lnTo>
                  <a:pt x="2408077" y="1084197"/>
                </a:lnTo>
                <a:lnTo>
                  <a:pt x="2386413" y="1122378"/>
                </a:lnTo>
                <a:lnTo>
                  <a:pt x="2361830" y="1160016"/>
                </a:lnTo>
                <a:lnTo>
                  <a:pt x="2334306" y="1197035"/>
                </a:lnTo>
                <a:lnTo>
                  <a:pt x="2303818" y="1233359"/>
                </a:lnTo>
                <a:lnTo>
                  <a:pt x="2274640" y="1264551"/>
                </a:lnTo>
                <a:lnTo>
                  <a:pt x="2243805" y="1294438"/>
                </a:lnTo>
                <a:lnTo>
                  <a:pt x="2211387" y="1323007"/>
                </a:lnTo>
                <a:lnTo>
                  <a:pt x="2177458" y="1350246"/>
                </a:lnTo>
                <a:lnTo>
                  <a:pt x="2142092" y="1376145"/>
                </a:lnTo>
                <a:lnTo>
                  <a:pt x="2105363" y="1400692"/>
                </a:lnTo>
                <a:lnTo>
                  <a:pt x="2067343" y="1423876"/>
                </a:lnTo>
                <a:lnTo>
                  <a:pt x="2028106" y="1445684"/>
                </a:lnTo>
                <a:lnTo>
                  <a:pt x="1987725" y="1466105"/>
                </a:lnTo>
                <a:lnTo>
                  <a:pt x="1946274" y="1485129"/>
                </a:lnTo>
                <a:lnTo>
                  <a:pt x="1903826" y="1502743"/>
                </a:lnTo>
                <a:lnTo>
                  <a:pt x="1860454" y="1518936"/>
                </a:lnTo>
                <a:lnTo>
                  <a:pt x="1816231" y="1533696"/>
                </a:lnTo>
                <a:lnTo>
                  <a:pt x="1771232" y="1547013"/>
                </a:lnTo>
                <a:lnTo>
                  <a:pt x="1725529" y="1558873"/>
                </a:lnTo>
                <a:lnTo>
                  <a:pt x="1679195" y="1569267"/>
                </a:lnTo>
                <a:lnTo>
                  <a:pt x="1632305" y="1578182"/>
                </a:lnTo>
                <a:lnTo>
                  <a:pt x="1584931" y="1585607"/>
                </a:lnTo>
                <a:lnTo>
                  <a:pt x="1537146" y="1591531"/>
                </a:lnTo>
                <a:lnTo>
                  <a:pt x="1489024" y="1595942"/>
                </a:lnTo>
                <a:lnTo>
                  <a:pt x="1440639" y="1598828"/>
                </a:lnTo>
                <a:lnTo>
                  <a:pt x="1392063" y="1600178"/>
                </a:lnTo>
                <a:lnTo>
                  <a:pt x="1343370" y="1599981"/>
                </a:lnTo>
                <a:lnTo>
                  <a:pt x="1294633" y="1598225"/>
                </a:lnTo>
                <a:lnTo>
                  <a:pt x="1245926" y="1594898"/>
                </a:lnTo>
                <a:lnTo>
                  <a:pt x="1197322" y="1589990"/>
                </a:lnTo>
                <a:lnTo>
                  <a:pt x="1148894" y="1583488"/>
                </a:lnTo>
                <a:lnTo>
                  <a:pt x="1100716" y="1575381"/>
                </a:lnTo>
                <a:lnTo>
                  <a:pt x="1052861" y="1565657"/>
                </a:lnTo>
                <a:lnTo>
                  <a:pt x="1005402" y="1554306"/>
                </a:lnTo>
                <a:lnTo>
                  <a:pt x="958412" y="1541315"/>
                </a:lnTo>
                <a:lnTo>
                  <a:pt x="911966" y="1526674"/>
                </a:lnTo>
                <a:lnTo>
                  <a:pt x="866135" y="1510370"/>
                </a:lnTo>
                <a:lnTo>
                  <a:pt x="820995" y="1492392"/>
                </a:lnTo>
                <a:lnTo>
                  <a:pt x="776617" y="1472729"/>
                </a:lnTo>
                <a:lnTo>
                  <a:pt x="726144" y="1447737"/>
                </a:lnTo>
                <a:lnTo>
                  <a:pt x="678028" y="1420987"/>
                </a:lnTo>
                <a:lnTo>
                  <a:pt x="632319" y="1392567"/>
                </a:lnTo>
                <a:lnTo>
                  <a:pt x="589069" y="1362562"/>
                </a:lnTo>
                <a:lnTo>
                  <a:pt x="548330" y="1331060"/>
                </a:lnTo>
                <a:lnTo>
                  <a:pt x="510153" y="1298147"/>
                </a:lnTo>
                <a:lnTo>
                  <a:pt x="474588" y="1263910"/>
                </a:lnTo>
                <a:lnTo>
                  <a:pt x="441688" y="1228435"/>
                </a:lnTo>
                <a:lnTo>
                  <a:pt x="411503" y="1191809"/>
                </a:lnTo>
                <a:lnTo>
                  <a:pt x="384085" y="1154119"/>
                </a:lnTo>
                <a:lnTo>
                  <a:pt x="359486" y="1115451"/>
                </a:lnTo>
                <a:lnTo>
                  <a:pt x="337756" y="1075891"/>
                </a:lnTo>
                <a:lnTo>
                  <a:pt x="318946" y="1035527"/>
                </a:lnTo>
                <a:lnTo>
                  <a:pt x="303109" y="994445"/>
                </a:lnTo>
                <a:lnTo>
                  <a:pt x="290295" y="952732"/>
                </a:lnTo>
                <a:lnTo>
                  <a:pt x="280555" y="910474"/>
                </a:lnTo>
                <a:lnTo>
                  <a:pt x="273942" y="867758"/>
                </a:lnTo>
                <a:lnTo>
                  <a:pt x="270506" y="824671"/>
                </a:lnTo>
                <a:lnTo>
                  <a:pt x="270298" y="781299"/>
                </a:lnTo>
                <a:lnTo>
                  <a:pt x="273370" y="737729"/>
                </a:lnTo>
                <a:lnTo>
                  <a:pt x="279774" y="694047"/>
                </a:lnTo>
                <a:lnTo>
                  <a:pt x="289560" y="650340"/>
                </a:lnTo>
                <a:lnTo>
                  <a:pt x="0" y="402119"/>
                </a:lnTo>
                <a:close/>
              </a:path>
            </a:pathLst>
          </a:custGeom>
          <a:ln w="25146">
            <a:solidFill>
              <a:srgbClr val="385D8A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0" name="object 10"/>
          <p:cNvSpPr txBox="1"/>
          <p:nvPr/>
        </p:nvSpPr>
        <p:spPr>
          <a:xfrm>
            <a:off x="4111499" y="3230015"/>
            <a:ext cx="1725449" cy="1471771"/>
          </a:xfrm>
          <a:prstGeom prst="rect">
            <a:avLst/>
          </a:prstGeom>
        </p:spPr>
        <p:txBody>
          <a:bodyPr vert="horz" wrap="square" lIns="0" tIns="23707" rIns="0" bIns="0" rtlCol="0">
            <a:spAutoFit/>
          </a:bodyPr>
          <a:lstStyle/>
          <a:p>
            <a:pPr marL="16933" marR="6773" algn="just">
              <a:lnSpc>
                <a:spcPct val="98000"/>
              </a:lnSpc>
              <a:spcBef>
                <a:spcPts val="187"/>
              </a:spcBef>
            </a:pPr>
            <a:r>
              <a:rPr sz="2400" b="1" spc="-7" dirty="0">
                <a:solidFill>
                  <a:srgbClr val="FFFFFF"/>
                </a:solidFill>
                <a:latin typeface="黑体" pitchFamily="49" charset="-122"/>
                <a:ea typeface="黑体" pitchFamily="49" charset="-122"/>
                <a:cs typeface="宋体"/>
              </a:rPr>
              <a:t>沿右分支一 直回溯发现 左分支边， 或到根为止</a:t>
            </a:r>
            <a:endParaRPr sz="2400" dirty="0">
              <a:latin typeface="黑体" pitchFamily="49" charset="-122"/>
              <a:ea typeface="黑体" pitchFamily="49" charset="-122"/>
              <a:cs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436249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78585" y="167526"/>
            <a:ext cx="1042850" cy="632651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4000" b="1" spc="-13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</a:t>
            </a:r>
            <a:r>
              <a:rPr sz="4000" b="1" spc="-2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3911" y="1184754"/>
            <a:ext cx="7257430" cy="44798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800" b="1" i="1" spc="-7" dirty="0">
                <a:latin typeface="Times New Roman"/>
                <a:cs typeface="Times New Roman"/>
              </a:rPr>
              <a:t>W </a:t>
            </a:r>
            <a:r>
              <a:rPr sz="2800" b="1" dirty="0">
                <a:latin typeface="Times New Roman"/>
                <a:cs typeface="Times New Roman"/>
              </a:rPr>
              <a:t>= &lt; 90,80,40,30,20,12,10</a:t>
            </a:r>
            <a:r>
              <a:rPr sz="2800" b="1" spc="-193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&gt;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52409" y="4713280"/>
            <a:ext cx="4437833" cy="981465"/>
          </a:xfrm>
          <a:prstGeom prst="rect">
            <a:avLst/>
          </a:prstGeom>
        </p:spPr>
        <p:txBody>
          <a:bodyPr vert="horz" wrap="square" lIns="0" tIns="67733" rIns="0" bIns="0" rtlCol="0">
            <a:spAutoFit/>
          </a:bodyPr>
          <a:lstStyle/>
          <a:p>
            <a:pPr marL="50799">
              <a:spcBef>
                <a:spcPts val="533"/>
              </a:spcBef>
            </a:pPr>
            <a:r>
              <a:rPr sz="2800" b="1" spc="-7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时间复杂</a:t>
            </a:r>
            <a:r>
              <a:rPr sz="2800" b="1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性</a:t>
            </a:r>
            <a:r>
              <a:rPr sz="2800" b="1" spc="-13" dirty="0">
                <a:latin typeface="宋体"/>
                <a:cs typeface="宋体"/>
              </a:rPr>
              <a:t>：</a:t>
            </a:r>
            <a:endParaRPr sz="2800" dirty="0">
              <a:latin typeface="宋体"/>
              <a:cs typeface="宋体"/>
            </a:endParaRPr>
          </a:p>
          <a:p>
            <a:pPr marL="449569">
              <a:spcBef>
                <a:spcPts val="400"/>
              </a:spcBef>
            </a:pPr>
            <a:r>
              <a:rPr sz="2800" b="1" i="1" spc="-7" dirty="0">
                <a:latin typeface="Times New Roman"/>
                <a:cs typeface="Times New Roman"/>
              </a:rPr>
              <a:t>W</a:t>
            </a:r>
            <a:r>
              <a:rPr sz="2800" b="1" spc="-7" dirty="0">
                <a:latin typeface="Times New Roman"/>
                <a:cs typeface="Times New Roman"/>
              </a:rPr>
              <a:t>(</a:t>
            </a:r>
            <a:r>
              <a:rPr sz="2800" b="1" i="1" spc="-7" dirty="0">
                <a:latin typeface="Times New Roman"/>
                <a:cs typeface="Times New Roman"/>
              </a:rPr>
              <a:t>n</a:t>
            </a:r>
            <a:r>
              <a:rPr sz="2800" b="1" spc="-7" dirty="0">
                <a:latin typeface="Times New Roman"/>
                <a:cs typeface="Times New Roman"/>
              </a:rPr>
              <a:t>)=</a:t>
            </a:r>
            <a:r>
              <a:rPr sz="2800" b="1" i="1" spc="-7" dirty="0">
                <a:latin typeface="Times New Roman"/>
                <a:cs typeface="Times New Roman"/>
              </a:rPr>
              <a:t>O</a:t>
            </a:r>
            <a:r>
              <a:rPr sz="2800" b="1" spc="-7" dirty="0">
                <a:latin typeface="Times New Roman"/>
                <a:cs typeface="Times New Roman"/>
              </a:rPr>
              <a:t>(2</a:t>
            </a:r>
            <a:r>
              <a:rPr sz="2800" b="1" i="1" spc="-9" baseline="24305" dirty="0">
                <a:latin typeface="Times New Roman"/>
                <a:cs typeface="Times New Roman"/>
              </a:rPr>
              <a:t>n</a:t>
            </a:r>
            <a:r>
              <a:rPr sz="2800" b="1" spc="-7" dirty="0">
                <a:latin typeface="Times New Roman"/>
                <a:cs typeface="Times New Roman"/>
              </a:rPr>
              <a:t>)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52104" y="1680562"/>
            <a:ext cx="6455520" cy="259216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0799">
              <a:spcBef>
                <a:spcPts val="133"/>
              </a:spcBef>
              <a:tabLst>
                <a:tab pos="1511262" algn="l"/>
              </a:tabLst>
            </a:pPr>
            <a:r>
              <a:rPr sz="2800" b="1" i="1" dirty="0">
                <a:latin typeface="Times New Roman"/>
                <a:cs typeface="Times New Roman"/>
              </a:rPr>
              <a:t>c</a:t>
            </a:r>
            <a:r>
              <a:rPr sz="2800" b="1" baseline="-24305" dirty="0">
                <a:latin typeface="Times New Roman"/>
                <a:cs typeface="Times New Roman"/>
              </a:rPr>
              <a:t>1</a:t>
            </a:r>
            <a:r>
              <a:rPr sz="2800" b="1" dirty="0">
                <a:latin typeface="Times New Roman"/>
                <a:cs typeface="Times New Roman"/>
              </a:rPr>
              <a:t>=152,	</a:t>
            </a:r>
            <a:r>
              <a:rPr sz="2800" b="1" i="1" dirty="0">
                <a:latin typeface="Times New Roman"/>
                <a:cs typeface="Times New Roman"/>
              </a:rPr>
              <a:t>c</a:t>
            </a:r>
            <a:r>
              <a:rPr sz="2800" b="1" baseline="-24305" dirty="0">
                <a:latin typeface="Times New Roman"/>
                <a:cs typeface="Times New Roman"/>
              </a:rPr>
              <a:t>2</a:t>
            </a:r>
            <a:r>
              <a:rPr sz="2800" b="1" dirty="0">
                <a:latin typeface="Times New Roman"/>
                <a:cs typeface="Times New Roman"/>
              </a:rPr>
              <a:t>=130</a:t>
            </a:r>
            <a:endParaRPr sz="2800" dirty="0">
              <a:latin typeface="Times New Roman"/>
              <a:cs typeface="Times New Roman"/>
            </a:endParaRPr>
          </a:p>
          <a:p>
            <a:pPr marL="50799">
              <a:spcBef>
                <a:spcPts val="2407"/>
              </a:spcBef>
            </a:pPr>
            <a:r>
              <a:rPr sz="2800" b="1" spc="-7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解</a:t>
            </a:r>
            <a:r>
              <a:rPr sz="2800" b="1" spc="-13" dirty="0">
                <a:latin typeface="宋体"/>
                <a:cs typeface="宋体"/>
              </a:rPr>
              <a:t>：</a:t>
            </a:r>
            <a:endParaRPr sz="2800" dirty="0">
              <a:latin typeface="宋体"/>
              <a:cs typeface="宋体"/>
            </a:endParaRPr>
          </a:p>
          <a:p>
            <a:pPr marL="275160">
              <a:lnSpc>
                <a:spcPts val="3833"/>
              </a:lnSpc>
            </a:pPr>
            <a:r>
              <a:rPr sz="2800" b="1" spc="-7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可以装，</a:t>
            </a:r>
            <a:r>
              <a:rPr sz="2800" b="1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方案如下</a:t>
            </a:r>
            <a:r>
              <a:rPr sz="2800" b="1" dirty="0">
                <a:latin typeface="Arial"/>
                <a:cs typeface="Arial"/>
              </a:rPr>
              <a:t>:</a:t>
            </a:r>
            <a:endParaRPr sz="2800" dirty="0">
              <a:latin typeface="Arial"/>
              <a:cs typeface="Arial"/>
            </a:endParaRPr>
          </a:p>
          <a:p>
            <a:pPr marL="253994">
              <a:lnSpc>
                <a:spcPts val="3833"/>
              </a:lnSpc>
            </a:pPr>
            <a:r>
              <a:rPr sz="2800" b="1" dirty="0">
                <a:latin typeface="Times New Roman"/>
                <a:cs typeface="Times New Roman"/>
              </a:rPr>
              <a:t>1,3,6,7</a:t>
            </a:r>
            <a:r>
              <a:rPr sz="2800" b="1" spc="-47" dirty="0">
                <a:latin typeface="Times New Roman"/>
                <a:cs typeface="Times New Roman"/>
              </a:rPr>
              <a:t> </a:t>
            </a:r>
            <a:r>
              <a:rPr sz="2800" b="1" spc="-7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装第一艘</a:t>
            </a:r>
            <a:r>
              <a:rPr sz="2800" b="1" spc="-13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船</a:t>
            </a:r>
            <a:endParaRPr sz="2800" dirty="0">
              <a:latin typeface="黑体" panose="02010609060101010101" pitchFamily="49" charset="-122"/>
              <a:ea typeface="黑体" panose="02010609060101010101" pitchFamily="49" charset="-122"/>
              <a:cs typeface="宋体"/>
            </a:endParaRPr>
          </a:p>
          <a:p>
            <a:pPr marL="253994"/>
            <a:r>
              <a:rPr sz="2800" b="1" dirty="0">
                <a:latin typeface="Times New Roman"/>
                <a:cs typeface="Times New Roman"/>
              </a:rPr>
              <a:t>2,4,5</a:t>
            </a:r>
            <a:r>
              <a:rPr sz="2800" b="1" spc="-27" dirty="0">
                <a:latin typeface="Times New Roman"/>
                <a:cs typeface="Times New Roman"/>
              </a:rPr>
              <a:t> </a:t>
            </a:r>
            <a:r>
              <a:rPr sz="2800" b="1" spc="-7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装第二艘</a:t>
            </a:r>
            <a:r>
              <a:rPr sz="2800" b="1" spc="-13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船</a:t>
            </a:r>
            <a:endParaRPr sz="2800" dirty="0">
              <a:latin typeface="黑体" panose="02010609060101010101" pitchFamily="49" charset="-122"/>
              <a:ea typeface="黑体" panose="02010609060101010101" pitchFamily="49" charset="-122"/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863434" y="3001737"/>
            <a:ext cx="108984" cy="1727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" name="object 8"/>
          <p:cNvSpPr/>
          <p:nvPr/>
        </p:nvSpPr>
        <p:spPr>
          <a:xfrm>
            <a:off x="5758260" y="2058887"/>
            <a:ext cx="108984" cy="17170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" name="object 9"/>
          <p:cNvSpPr txBox="1"/>
          <p:nvPr/>
        </p:nvSpPr>
        <p:spPr>
          <a:xfrm>
            <a:off x="6317855" y="2947103"/>
            <a:ext cx="64146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60"/>
              </a:lnSpc>
            </a:pPr>
            <a:r>
              <a:rPr sz="1333" dirty="0">
                <a:latin typeface="Times New Roman"/>
                <a:cs typeface="Times New Roman"/>
              </a:rPr>
              <a:t>0</a:t>
            </a:r>
            <a:endParaRPr sz="1333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051762" y="2506945"/>
            <a:ext cx="108984" cy="17170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1" name="object 11"/>
          <p:cNvSpPr/>
          <p:nvPr/>
        </p:nvSpPr>
        <p:spPr>
          <a:xfrm>
            <a:off x="6343195" y="2992083"/>
            <a:ext cx="344865" cy="408093"/>
          </a:xfrm>
          <a:custGeom>
            <a:avLst/>
            <a:gdLst/>
            <a:ahLst/>
            <a:cxnLst/>
            <a:rect l="l" t="t" r="r" b="b"/>
            <a:pathLst>
              <a:path w="344804" h="306069">
                <a:moveTo>
                  <a:pt x="0" y="0"/>
                </a:moveTo>
                <a:lnTo>
                  <a:pt x="344424" y="0"/>
                </a:lnTo>
                <a:lnTo>
                  <a:pt x="344424" y="305562"/>
                </a:lnTo>
                <a:lnTo>
                  <a:pt x="0" y="30556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3" name="object 13"/>
          <p:cNvSpPr txBox="1"/>
          <p:nvPr/>
        </p:nvSpPr>
        <p:spPr>
          <a:xfrm>
            <a:off x="6865057" y="5367490"/>
            <a:ext cx="968995" cy="426677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16933">
              <a:spcBef>
                <a:spcPts val="127"/>
              </a:spcBef>
            </a:pPr>
            <a:r>
              <a:rPr sz="2667" b="1" spc="-7" dirty="0">
                <a:latin typeface="Times New Roman"/>
                <a:cs typeface="Times New Roman"/>
              </a:rPr>
              <a:t>10</a:t>
            </a:r>
            <a:endParaRPr sz="2667" dirty="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067983" y="4726462"/>
            <a:ext cx="1018633" cy="426677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16933">
              <a:spcBef>
                <a:spcPts val="127"/>
              </a:spcBef>
            </a:pPr>
            <a:r>
              <a:rPr sz="2667" b="1" spc="-7" dirty="0">
                <a:latin typeface="Times New Roman"/>
                <a:cs typeface="Times New Roman"/>
              </a:rPr>
              <a:t>12</a:t>
            </a:r>
            <a:endParaRPr sz="2667" dirty="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575510" y="1537797"/>
            <a:ext cx="2223165" cy="1193618"/>
          </a:xfrm>
          <a:prstGeom prst="rect">
            <a:avLst/>
          </a:prstGeom>
        </p:spPr>
        <p:txBody>
          <a:bodyPr vert="horz" wrap="square" lIns="0" tIns="191347" rIns="0" bIns="0" rtlCol="0">
            <a:spAutoFit/>
          </a:bodyPr>
          <a:lstStyle/>
          <a:p>
            <a:pPr marL="16933">
              <a:spcBef>
                <a:spcPts val="1507"/>
              </a:spcBef>
            </a:pPr>
            <a:r>
              <a:rPr sz="2667" b="1" spc="-7" dirty="0">
                <a:latin typeface="Times New Roman"/>
                <a:cs typeface="Times New Roman"/>
              </a:rPr>
              <a:t>90</a:t>
            </a:r>
            <a:endParaRPr sz="2667" dirty="0">
              <a:latin typeface="Times New Roman"/>
              <a:cs typeface="Times New Roman"/>
            </a:endParaRPr>
          </a:p>
          <a:p>
            <a:pPr marL="315797">
              <a:spcBef>
                <a:spcPts val="1373"/>
              </a:spcBef>
            </a:pPr>
            <a:endParaRPr sz="2667" dirty="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978134" y="2482052"/>
            <a:ext cx="409011" cy="663787"/>
          </a:xfrm>
          <a:custGeom>
            <a:avLst/>
            <a:gdLst/>
            <a:ahLst/>
            <a:cxnLst/>
            <a:rect l="l" t="t" r="r" b="b"/>
            <a:pathLst>
              <a:path w="408939" h="497839">
                <a:moveTo>
                  <a:pt x="0" y="0"/>
                </a:moveTo>
                <a:lnTo>
                  <a:pt x="408432" y="0"/>
                </a:lnTo>
                <a:lnTo>
                  <a:pt x="408432" y="497586"/>
                </a:lnTo>
                <a:lnTo>
                  <a:pt x="0" y="49758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7" name="object 17"/>
          <p:cNvSpPr txBox="1"/>
          <p:nvPr/>
        </p:nvSpPr>
        <p:spPr>
          <a:xfrm>
            <a:off x="5617018" y="2679654"/>
            <a:ext cx="1040554" cy="426677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16933">
              <a:spcBef>
                <a:spcPts val="127"/>
              </a:spcBef>
            </a:pPr>
            <a:r>
              <a:rPr sz="2667" b="1" spc="-7" dirty="0">
                <a:latin typeface="Times New Roman"/>
                <a:cs typeface="Times New Roman"/>
              </a:rPr>
              <a:t>40</a:t>
            </a:r>
            <a:endParaRPr sz="2667" dirty="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028129" y="3136098"/>
            <a:ext cx="763052" cy="426677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16933">
              <a:spcBef>
                <a:spcPts val="127"/>
              </a:spcBef>
            </a:pPr>
            <a:r>
              <a:rPr sz="2667" b="1" spc="-7" dirty="0">
                <a:latin typeface="Times New Roman"/>
                <a:cs typeface="Times New Roman"/>
              </a:rPr>
              <a:t>30</a:t>
            </a:r>
            <a:endParaRPr sz="2667" dirty="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865596" y="2206659"/>
            <a:ext cx="556756" cy="426677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16933">
              <a:spcBef>
                <a:spcPts val="127"/>
              </a:spcBef>
            </a:pPr>
            <a:r>
              <a:rPr sz="2667" b="1" spc="-7" dirty="0">
                <a:latin typeface="Times New Roman"/>
                <a:cs typeface="Times New Roman"/>
              </a:rPr>
              <a:t>80</a:t>
            </a:r>
            <a:endParaRPr sz="2667" dirty="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536348" y="3503992"/>
            <a:ext cx="1099942" cy="1199602"/>
          </a:xfrm>
          <a:prstGeom prst="rect">
            <a:avLst/>
          </a:prstGeom>
        </p:spPr>
        <p:txBody>
          <a:bodyPr vert="horz" wrap="square" lIns="0" tIns="197273" rIns="0" bIns="0" rtlCol="0">
            <a:spAutoFit/>
          </a:bodyPr>
          <a:lstStyle/>
          <a:p>
            <a:pPr marL="84665">
              <a:spcBef>
                <a:spcPts val="1553"/>
              </a:spcBef>
            </a:pPr>
            <a:r>
              <a:rPr sz="2667" b="1" spc="-7" dirty="0">
                <a:latin typeface="Times New Roman"/>
                <a:cs typeface="Times New Roman"/>
              </a:rPr>
              <a:t>20</a:t>
            </a:r>
            <a:endParaRPr sz="2667" dirty="0">
              <a:latin typeface="Times New Roman"/>
              <a:cs typeface="Times New Roman"/>
            </a:endParaRPr>
          </a:p>
          <a:p>
            <a:pPr marL="16933">
              <a:spcBef>
                <a:spcPts val="1420"/>
              </a:spcBef>
            </a:pPr>
            <a:endParaRPr sz="2667" dirty="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6418267" y="3544279"/>
            <a:ext cx="108984" cy="17170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2" name="object 22"/>
          <p:cNvSpPr/>
          <p:nvPr/>
        </p:nvSpPr>
        <p:spPr>
          <a:xfrm>
            <a:off x="5121880" y="4553166"/>
            <a:ext cx="108984" cy="17170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3" name="object 23"/>
          <p:cNvSpPr/>
          <p:nvPr/>
        </p:nvSpPr>
        <p:spPr>
          <a:xfrm>
            <a:off x="5804750" y="4048217"/>
            <a:ext cx="108984" cy="1727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4" name="object 24"/>
          <p:cNvSpPr/>
          <p:nvPr/>
        </p:nvSpPr>
        <p:spPr>
          <a:xfrm>
            <a:off x="5962510" y="4664929"/>
            <a:ext cx="108984" cy="17170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5" name="object 25"/>
          <p:cNvSpPr/>
          <p:nvPr/>
        </p:nvSpPr>
        <p:spPr>
          <a:xfrm>
            <a:off x="5862291" y="3671787"/>
            <a:ext cx="543019" cy="448733"/>
          </a:xfrm>
          <a:custGeom>
            <a:avLst/>
            <a:gdLst/>
            <a:ahLst/>
            <a:cxnLst/>
            <a:rect l="l" t="t" r="r" b="b"/>
            <a:pathLst>
              <a:path w="542925" h="336550">
                <a:moveTo>
                  <a:pt x="542925" y="0"/>
                </a:moveTo>
                <a:lnTo>
                  <a:pt x="0" y="336321"/>
                </a:lnTo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6" name="object 26"/>
          <p:cNvSpPr/>
          <p:nvPr/>
        </p:nvSpPr>
        <p:spPr>
          <a:xfrm>
            <a:off x="6388544" y="1516345"/>
            <a:ext cx="108984" cy="17271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7" name="object 27"/>
          <p:cNvSpPr/>
          <p:nvPr/>
        </p:nvSpPr>
        <p:spPr>
          <a:xfrm>
            <a:off x="6388544" y="2591271"/>
            <a:ext cx="108984" cy="17170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8" name="object 28"/>
          <p:cNvSpPr/>
          <p:nvPr/>
        </p:nvSpPr>
        <p:spPr>
          <a:xfrm>
            <a:off x="5150841" y="3524975"/>
            <a:ext cx="108984" cy="1727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9" name="object 29"/>
          <p:cNvSpPr/>
          <p:nvPr/>
        </p:nvSpPr>
        <p:spPr>
          <a:xfrm>
            <a:off x="5827233" y="1635723"/>
            <a:ext cx="543019" cy="448733"/>
          </a:xfrm>
          <a:custGeom>
            <a:avLst/>
            <a:gdLst/>
            <a:ahLst/>
            <a:cxnLst/>
            <a:rect l="l" t="t" r="r" b="b"/>
            <a:pathLst>
              <a:path w="542925" h="336550">
                <a:moveTo>
                  <a:pt x="542925" y="0"/>
                </a:moveTo>
                <a:lnTo>
                  <a:pt x="0" y="336321"/>
                </a:lnTo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0" name="object 30"/>
          <p:cNvSpPr/>
          <p:nvPr/>
        </p:nvSpPr>
        <p:spPr>
          <a:xfrm>
            <a:off x="5109307" y="2065491"/>
            <a:ext cx="718310" cy="513927"/>
          </a:xfrm>
          <a:custGeom>
            <a:avLst/>
            <a:gdLst/>
            <a:ahLst/>
            <a:cxnLst/>
            <a:rect l="l" t="t" r="r" b="b"/>
            <a:pathLst>
              <a:path w="718185" h="385444">
                <a:moveTo>
                  <a:pt x="718058" y="0"/>
                </a:moveTo>
                <a:lnTo>
                  <a:pt x="0" y="385368"/>
                </a:lnTo>
              </a:path>
            </a:pathLst>
          </a:custGeom>
          <a:ln w="12954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1" name="object 31"/>
          <p:cNvSpPr/>
          <p:nvPr/>
        </p:nvSpPr>
        <p:spPr>
          <a:xfrm>
            <a:off x="5821138" y="2065486"/>
            <a:ext cx="666230" cy="617220"/>
          </a:xfrm>
          <a:custGeom>
            <a:avLst/>
            <a:gdLst/>
            <a:ahLst/>
            <a:cxnLst/>
            <a:rect l="l" t="t" r="r" b="b"/>
            <a:pathLst>
              <a:path w="666114" h="462914">
                <a:moveTo>
                  <a:pt x="665518" y="462445"/>
                </a:moveTo>
                <a:lnTo>
                  <a:pt x="0" y="0"/>
                </a:lnTo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2" name="object 32"/>
          <p:cNvSpPr/>
          <p:nvPr/>
        </p:nvSpPr>
        <p:spPr>
          <a:xfrm>
            <a:off x="7013491" y="4179279"/>
            <a:ext cx="108984" cy="17170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3" name="object 33"/>
          <p:cNvSpPr/>
          <p:nvPr/>
        </p:nvSpPr>
        <p:spPr>
          <a:xfrm>
            <a:off x="5958319" y="2638516"/>
            <a:ext cx="543019" cy="448733"/>
          </a:xfrm>
          <a:custGeom>
            <a:avLst/>
            <a:gdLst/>
            <a:ahLst/>
            <a:cxnLst/>
            <a:rect l="l" t="t" r="r" b="b"/>
            <a:pathLst>
              <a:path w="542925" h="336550">
                <a:moveTo>
                  <a:pt x="542925" y="0"/>
                </a:moveTo>
                <a:lnTo>
                  <a:pt x="0" y="336321"/>
                </a:lnTo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4" name="object 34"/>
          <p:cNvSpPr/>
          <p:nvPr/>
        </p:nvSpPr>
        <p:spPr>
          <a:xfrm>
            <a:off x="5885920" y="3083518"/>
            <a:ext cx="666230" cy="617220"/>
          </a:xfrm>
          <a:custGeom>
            <a:avLst/>
            <a:gdLst/>
            <a:ahLst/>
            <a:cxnLst/>
            <a:rect l="l" t="t" r="r" b="b"/>
            <a:pathLst>
              <a:path w="666114" h="462914">
                <a:moveTo>
                  <a:pt x="665518" y="462445"/>
                </a:moveTo>
                <a:lnTo>
                  <a:pt x="0" y="0"/>
                </a:lnTo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5" name="object 35"/>
          <p:cNvSpPr/>
          <p:nvPr/>
        </p:nvSpPr>
        <p:spPr>
          <a:xfrm>
            <a:off x="6788288" y="4925530"/>
            <a:ext cx="173385" cy="624840"/>
          </a:xfrm>
          <a:custGeom>
            <a:avLst/>
            <a:gdLst/>
            <a:ahLst/>
            <a:cxnLst/>
            <a:rect l="l" t="t" r="r" b="b"/>
            <a:pathLst>
              <a:path w="173354" h="468629">
                <a:moveTo>
                  <a:pt x="172796" y="0"/>
                </a:moveTo>
                <a:lnTo>
                  <a:pt x="0" y="468045"/>
                </a:lnTo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6" name="object 36"/>
          <p:cNvSpPr/>
          <p:nvPr/>
        </p:nvSpPr>
        <p:spPr>
          <a:xfrm>
            <a:off x="6539826" y="3691091"/>
            <a:ext cx="531587" cy="485987"/>
          </a:xfrm>
          <a:custGeom>
            <a:avLst/>
            <a:gdLst/>
            <a:ahLst/>
            <a:cxnLst/>
            <a:rect l="l" t="t" r="r" b="b"/>
            <a:pathLst>
              <a:path w="531495" h="364489">
                <a:moveTo>
                  <a:pt x="0" y="0"/>
                </a:moveTo>
                <a:lnTo>
                  <a:pt x="531253" y="364350"/>
                </a:lnTo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7" name="object 37"/>
          <p:cNvSpPr/>
          <p:nvPr/>
        </p:nvSpPr>
        <p:spPr>
          <a:xfrm>
            <a:off x="6914415" y="4836631"/>
            <a:ext cx="108984" cy="1727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8" name="object 38"/>
          <p:cNvSpPr/>
          <p:nvPr/>
        </p:nvSpPr>
        <p:spPr>
          <a:xfrm>
            <a:off x="6960524" y="4307804"/>
            <a:ext cx="109874" cy="536787"/>
          </a:xfrm>
          <a:custGeom>
            <a:avLst/>
            <a:gdLst/>
            <a:ahLst/>
            <a:cxnLst/>
            <a:rect l="l" t="t" r="r" b="b"/>
            <a:pathLst>
              <a:path w="109854" h="402589">
                <a:moveTo>
                  <a:pt x="109753" y="0"/>
                </a:moveTo>
                <a:lnTo>
                  <a:pt x="0" y="402183"/>
                </a:lnTo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9" name="object 39"/>
          <p:cNvSpPr/>
          <p:nvPr/>
        </p:nvSpPr>
        <p:spPr>
          <a:xfrm>
            <a:off x="5208384" y="4074125"/>
            <a:ext cx="718310" cy="513927"/>
          </a:xfrm>
          <a:custGeom>
            <a:avLst/>
            <a:gdLst/>
            <a:ahLst/>
            <a:cxnLst/>
            <a:rect l="l" t="t" r="r" b="b"/>
            <a:pathLst>
              <a:path w="718185" h="385445">
                <a:moveTo>
                  <a:pt x="718058" y="0"/>
                </a:moveTo>
                <a:lnTo>
                  <a:pt x="0" y="385368"/>
                </a:lnTo>
              </a:path>
            </a:pathLst>
          </a:custGeom>
          <a:ln w="12954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0" name="object 40"/>
          <p:cNvSpPr/>
          <p:nvPr/>
        </p:nvSpPr>
        <p:spPr>
          <a:xfrm>
            <a:off x="5208384" y="3101813"/>
            <a:ext cx="718310" cy="513927"/>
          </a:xfrm>
          <a:custGeom>
            <a:avLst/>
            <a:gdLst/>
            <a:ahLst/>
            <a:cxnLst/>
            <a:rect l="l" t="t" r="r" b="b"/>
            <a:pathLst>
              <a:path w="718185" h="385444">
                <a:moveTo>
                  <a:pt x="718058" y="0"/>
                </a:moveTo>
                <a:lnTo>
                  <a:pt x="0" y="385368"/>
                </a:lnTo>
              </a:path>
            </a:pathLst>
          </a:custGeom>
          <a:ln w="12954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1" name="object 41"/>
          <p:cNvSpPr/>
          <p:nvPr/>
        </p:nvSpPr>
        <p:spPr>
          <a:xfrm>
            <a:off x="6043674" y="4727406"/>
            <a:ext cx="187358" cy="617220"/>
          </a:xfrm>
          <a:custGeom>
            <a:avLst/>
            <a:gdLst/>
            <a:ahLst/>
            <a:cxnLst/>
            <a:rect l="l" t="t" r="r" b="b"/>
            <a:pathLst>
              <a:path w="187325" h="462914">
                <a:moveTo>
                  <a:pt x="186816" y="462445"/>
                </a:moveTo>
                <a:lnTo>
                  <a:pt x="0" y="0"/>
                </a:lnTo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2" name="object 42"/>
          <p:cNvSpPr/>
          <p:nvPr/>
        </p:nvSpPr>
        <p:spPr>
          <a:xfrm>
            <a:off x="6155330" y="5281638"/>
            <a:ext cx="108984" cy="17170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3" name="object 43"/>
          <p:cNvSpPr/>
          <p:nvPr/>
        </p:nvSpPr>
        <p:spPr>
          <a:xfrm>
            <a:off x="5616881" y="4830029"/>
            <a:ext cx="292151" cy="513927"/>
          </a:xfrm>
          <a:custGeom>
            <a:avLst/>
            <a:gdLst/>
            <a:ahLst/>
            <a:cxnLst/>
            <a:rect l="l" t="t" r="r" b="b"/>
            <a:pathLst>
              <a:path w="292100" h="385445">
                <a:moveTo>
                  <a:pt x="291896" y="0"/>
                </a:moveTo>
                <a:lnTo>
                  <a:pt x="0" y="385368"/>
                </a:lnTo>
              </a:path>
            </a:pathLst>
          </a:custGeom>
          <a:ln w="12953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4" name="object 44"/>
          <p:cNvSpPr/>
          <p:nvPr/>
        </p:nvSpPr>
        <p:spPr>
          <a:xfrm>
            <a:off x="5559344" y="5253191"/>
            <a:ext cx="109746" cy="17271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5" name="object 45"/>
          <p:cNvSpPr/>
          <p:nvPr/>
        </p:nvSpPr>
        <p:spPr>
          <a:xfrm>
            <a:off x="5821140" y="4092407"/>
            <a:ext cx="228004" cy="645160"/>
          </a:xfrm>
          <a:custGeom>
            <a:avLst/>
            <a:gdLst/>
            <a:ahLst/>
            <a:cxnLst/>
            <a:rect l="l" t="t" r="r" b="b"/>
            <a:pathLst>
              <a:path w="227964" h="483870">
                <a:moveTo>
                  <a:pt x="227672" y="483463"/>
                </a:moveTo>
                <a:lnTo>
                  <a:pt x="0" y="0"/>
                </a:lnTo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6" name="object 46"/>
          <p:cNvSpPr/>
          <p:nvPr/>
        </p:nvSpPr>
        <p:spPr>
          <a:xfrm>
            <a:off x="6116461" y="5253191"/>
            <a:ext cx="176814" cy="322071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7" name="object 47"/>
          <p:cNvSpPr/>
          <p:nvPr/>
        </p:nvSpPr>
        <p:spPr>
          <a:xfrm>
            <a:off x="6726167" y="5426929"/>
            <a:ext cx="176814" cy="322071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8" name="object 48"/>
          <p:cNvSpPr/>
          <p:nvPr/>
        </p:nvSpPr>
        <p:spPr>
          <a:xfrm>
            <a:off x="5885536" y="1659601"/>
            <a:ext cx="522696" cy="417407"/>
          </a:xfrm>
          <a:custGeom>
            <a:avLst/>
            <a:gdLst/>
            <a:ahLst/>
            <a:cxnLst/>
            <a:rect l="l" t="t" r="r" b="b"/>
            <a:pathLst>
              <a:path w="522604" h="313055">
                <a:moveTo>
                  <a:pt x="522287" y="0"/>
                </a:moveTo>
                <a:lnTo>
                  <a:pt x="0" y="312737"/>
                </a:lnTo>
              </a:path>
            </a:pathLst>
          </a:custGeom>
          <a:ln w="44196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9" name="object 49"/>
          <p:cNvSpPr/>
          <p:nvPr/>
        </p:nvSpPr>
        <p:spPr>
          <a:xfrm>
            <a:off x="5961749" y="2732496"/>
            <a:ext cx="446483" cy="359833"/>
          </a:xfrm>
          <a:custGeom>
            <a:avLst/>
            <a:gdLst/>
            <a:ahLst/>
            <a:cxnLst/>
            <a:rect l="l" t="t" r="r" b="b"/>
            <a:pathLst>
              <a:path w="446404" h="269875">
                <a:moveTo>
                  <a:pt x="446087" y="0"/>
                </a:moveTo>
                <a:lnTo>
                  <a:pt x="0" y="269875"/>
                </a:lnTo>
              </a:path>
            </a:pathLst>
          </a:custGeom>
          <a:ln w="44196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0" name="object 50"/>
          <p:cNvSpPr/>
          <p:nvPr/>
        </p:nvSpPr>
        <p:spPr>
          <a:xfrm>
            <a:off x="5885536" y="2076161"/>
            <a:ext cx="543019" cy="502073"/>
          </a:xfrm>
          <a:custGeom>
            <a:avLst/>
            <a:gdLst/>
            <a:ahLst/>
            <a:cxnLst/>
            <a:rect l="l" t="t" r="r" b="b"/>
            <a:pathLst>
              <a:path w="542925" h="376555">
                <a:moveTo>
                  <a:pt x="542925" y="376237"/>
                </a:moveTo>
                <a:lnTo>
                  <a:pt x="0" y="0"/>
                </a:lnTo>
              </a:path>
            </a:pathLst>
          </a:custGeom>
          <a:ln w="44196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1" name="object 51"/>
          <p:cNvSpPr/>
          <p:nvPr/>
        </p:nvSpPr>
        <p:spPr>
          <a:xfrm>
            <a:off x="6814575" y="4311361"/>
            <a:ext cx="290880" cy="1121833"/>
          </a:xfrm>
          <a:custGeom>
            <a:avLst/>
            <a:gdLst/>
            <a:ahLst/>
            <a:cxnLst/>
            <a:rect l="l" t="t" r="r" b="b"/>
            <a:pathLst>
              <a:path w="290829" h="841375">
                <a:moveTo>
                  <a:pt x="0" y="841375"/>
                </a:moveTo>
                <a:lnTo>
                  <a:pt x="290512" y="0"/>
                </a:lnTo>
              </a:path>
            </a:pathLst>
          </a:custGeom>
          <a:ln w="44196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2" name="object 52"/>
          <p:cNvSpPr/>
          <p:nvPr/>
        </p:nvSpPr>
        <p:spPr>
          <a:xfrm>
            <a:off x="5961748" y="3193759"/>
            <a:ext cx="1143199" cy="1016000"/>
          </a:xfrm>
          <a:custGeom>
            <a:avLst/>
            <a:gdLst/>
            <a:ahLst/>
            <a:cxnLst/>
            <a:rect l="l" t="t" r="r" b="b"/>
            <a:pathLst>
              <a:path w="1143000" h="762000">
                <a:moveTo>
                  <a:pt x="1143000" y="762000"/>
                </a:moveTo>
                <a:lnTo>
                  <a:pt x="0" y="0"/>
                </a:lnTo>
              </a:path>
            </a:pathLst>
          </a:custGeom>
          <a:ln w="44196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582970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83185" y="218434"/>
            <a:ext cx="1042850" cy="632651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4000" b="1" spc="-13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小</a:t>
            </a:r>
            <a:r>
              <a:rPr sz="4000" b="1" spc="-20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结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4692" y="1480820"/>
            <a:ext cx="8459343" cy="327921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484281" marR="1304681" indent="-349665">
              <a:lnSpc>
                <a:spcPct val="116199"/>
              </a:lnSpc>
              <a:spcBef>
                <a:spcPts val="133"/>
              </a:spcBef>
              <a:buFont typeface="Arial"/>
              <a:buChar char="•"/>
              <a:tabLst>
                <a:tab pos="482588" algn="l"/>
                <a:tab pos="483435" algn="l"/>
              </a:tabLst>
            </a:pPr>
            <a:r>
              <a:rPr sz="2800" b="1" spc="-7" dirty="0" err="1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回溯算</a:t>
            </a:r>
            <a:r>
              <a:rPr sz="2800" b="1" dirty="0" err="1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法的实现</a:t>
            </a:r>
            <a:r>
              <a:rPr sz="2800" b="1" dirty="0" err="1" smtClean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：</a:t>
            </a:r>
            <a:r>
              <a:rPr sz="2800" b="1" spc="-7" dirty="0" err="1" smtClean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递归实</a:t>
            </a:r>
            <a:r>
              <a:rPr sz="2800" b="1" dirty="0" err="1" smtClean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现</a:t>
            </a:r>
            <a:r>
              <a:rPr sz="2800" b="1" dirty="0" err="1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、迭代实现</a:t>
            </a:r>
            <a:endParaRPr sz="2800" dirty="0">
              <a:latin typeface="黑体" panose="02010609060101010101" pitchFamily="49" charset="-122"/>
              <a:ea typeface="黑体" panose="02010609060101010101" pitchFamily="49" charset="-122"/>
              <a:cs typeface="宋体"/>
            </a:endParaRPr>
          </a:p>
          <a:p>
            <a:pPr marL="440256" marR="3352716" indent="-406390" algn="just">
              <a:spcBef>
                <a:spcPts val="2685"/>
              </a:spcBef>
              <a:buFont typeface="Arial"/>
              <a:buChar char="•"/>
              <a:tabLst>
                <a:tab pos="480895" algn="l"/>
              </a:tabLst>
            </a:pPr>
            <a:r>
              <a:rPr sz="2800" dirty="0">
                <a:latin typeface="黑体" panose="02010609060101010101" pitchFamily="49" charset="-122"/>
                <a:ea typeface="黑体" panose="02010609060101010101" pitchFamily="49" charset="-122"/>
              </a:rPr>
              <a:t>	</a:t>
            </a:r>
            <a:r>
              <a:rPr sz="2800" b="1" spc="-7" dirty="0" err="1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装载问</a:t>
            </a:r>
            <a:r>
              <a:rPr sz="2800" b="1" spc="-13" dirty="0" err="1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题</a:t>
            </a:r>
            <a:r>
              <a:rPr sz="2800" b="1" spc="-13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 </a:t>
            </a:r>
            <a:endParaRPr lang="en-US" sz="2800" b="1" spc="-13" dirty="0" smtClean="0">
              <a:latin typeface="黑体" panose="02010609060101010101" pitchFamily="49" charset="-122"/>
              <a:ea typeface="黑体" panose="02010609060101010101" pitchFamily="49" charset="-122"/>
              <a:cs typeface="宋体"/>
            </a:endParaRPr>
          </a:p>
          <a:p>
            <a:pPr marL="440256" marR="3352716" indent="-406390" algn="just">
              <a:spcBef>
                <a:spcPts val="2685"/>
              </a:spcBef>
              <a:buFont typeface="Arial"/>
              <a:buChar char="•"/>
              <a:tabLst>
                <a:tab pos="480895" algn="l"/>
              </a:tabLst>
            </a:pPr>
            <a:r>
              <a:rPr sz="2800" b="1" spc="-7" dirty="0" err="1" smtClean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问题描</a:t>
            </a:r>
            <a:r>
              <a:rPr sz="2800" b="1" spc="-13" dirty="0" err="1" smtClean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述</a:t>
            </a:r>
            <a:r>
              <a:rPr sz="2800" b="1" spc="-13" dirty="0" smtClean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 </a:t>
            </a:r>
            <a:endParaRPr lang="en-US" sz="2800" b="1" spc="-13" dirty="0" smtClean="0">
              <a:latin typeface="黑体" panose="02010609060101010101" pitchFamily="49" charset="-122"/>
              <a:ea typeface="黑体" panose="02010609060101010101" pitchFamily="49" charset="-122"/>
              <a:cs typeface="宋体"/>
            </a:endParaRPr>
          </a:p>
          <a:p>
            <a:pPr marL="440256" marR="3352716" indent="-406390" algn="just">
              <a:spcBef>
                <a:spcPts val="2685"/>
              </a:spcBef>
              <a:buFont typeface="Arial"/>
              <a:buChar char="•"/>
              <a:tabLst>
                <a:tab pos="480895" algn="l"/>
              </a:tabLst>
            </a:pPr>
            <a:r>
              <a:rPr sz="2800" b="1" spc="-7" dirty="0" err="1" smtClean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算法伪</a:t>
            </a:r>
            <a:r>
              <a:rPr sz="2800" b="1" spc="-13" dirty="0" err="1" smtClean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码</a:t>
            </a:r>
            <a:endParaRPr sz="2800" dirty="0">
              <a:latin typeface="黑体" panose="02010609060101010101" pitchFamily="49" charset="-122"/>
              <a:ea typeface="黑体" panose="02010609060101010101" pitchFamily="49" charset="-122"/>
              <a:cs typeface="宋体"/>
            </a:endParaRPr>
          </a:p>
          <a:p>
            <a:pPr marL="440256"/>
            <a:r>
              <a:rPr sz="2800" b="1" spc="-7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最坏情况</a:t>
            </a:r>
            <a:r>
              <a:rPr sz="2800" b="1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下</a:t>
            </a:r>
            <a:r>
              <a:rPr sz="2800" b="1" spc="7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时</a:t>
            </a:r>
            <a:r>
              <a:rPr sz="2800" b="1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间复杂</a:t>
            </a:r>
            <a:r>
              <a:rPr sz="2800" b="1" spc="-7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度</a:t>
            </a:r>
            <a:r>
              <a:rPr sz="2800" b="1" i="1" spc="-7" dirty="0">
                <a:latin typeface="Times New Roman"/>
                <a:cs typeface="Times New Roman"/>
              </a:rPr>
              <a:t>O</a:t>
            </a:r>
            <a:r>
              <a:rPr sz="2800" b="1" spc="-7" dirty="0">
                <a:latin typeface="Times New Roman"/>
                <a:cs typeface="Times New Roman"/>
              </a:rPr>
              <a:t>(2</a:t>
            </a:r>
            <a:r>
              <a:rPr sz="2800" b="1" i="1" spc="-9" baseline="24305" dirty="0">
                <a:latin typeface="Times New Roman"/>
                <a:cs typeface="Times New Roman"/>
              </a:rPr>
              <a:t>n</a:t>
            </a:r>
            <a:r>
              <a:rPr sz="2800" b="1" spc="-7" dirty="0">
                <a:latin typeface="Times New Roman"/>
                <a:cs typeface="Times New Roman"/>
              </a:rPr>
              <a:t>)</a:t>
            </a:r>
            <a:endParaRPr sz="28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593455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16306" y="2552003"/>
            <a:ext cx="5204011" cy="1032761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6600" spc="-20" dirty="0">
                <a:latin typeface="黑体" panose="02010609060101010101" pitchFamily="49" charset="-122"/>
                <a:ea typeface="黑体" panose="02010609060101010101" pitchFamily="49" charset="-122"/>
              </a:rPr>
              <a:t>图的</a:t>
            </a:r>
            <a:r>
              <a:rPr sz="6600" spc="7" dirty="0">
                <a:latin typeface="黑体" panose="02010609060101010101" pitchFamily="49" charset="-122"/>
                <a:ea typeface="黑体" panose="02010609060101010101" pitchFamily="49" charset="-122"/>
              </a:rPr>
              <a:t>着</a:t>
            </a:r>
            <a:r>
              <a:rPr sz="6600" spc="-33" dirty="0">
                <a:latin typeface="黑体" panose="02010609060101010101" pitchFamily="49" charset="-122"/>
                <a:ea typeface="黑体" panose="02010609060101010101" pitchFamily="49" charset="-122"/>
              </a:rPr>
              <a:t>色</a:t>
            </a:r>
            <a:endParaRPr sz="66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04154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75920" y="339121"/>
            <a:ext cx="2061568" cy="632651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4000" b="1" spc="-13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着色问</a:t>
            </a:r>
            <a:r>
              <a:rPr sz="4000" b="1" spc="-2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题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2246" y="1435947"/>
            <a:ext cx="8162788" cy="4119910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16933">
              <a:spcBef>
                <a:spcPts val="900"/>
              </a:spcBef>
            </a:pPr>
            <a:r>
              <a:rPr sz="2800" b="1" spc="-7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输入</a:t>
            </a:r>
            <a:r>
              <a:rPr sz="2800" b="1" spc="-13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endParaRPr sz="28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16933">
              <a:spcBef>
                <a:spcPts val="767"/>
              </a:spcBef>
            </a:pPr>
            <a:r>
              <a:rPr sz="2800" b="1" spc="-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无向连通</a:t>
            </a:r>
            <a:r>
              <a:rPr sz="2800" b="1" spc="-13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图</a:t>
            </a:r>
            <a:r>
              <a:rPr sz="2800" b="1" spc="-78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i="1" spc="-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sz="2800" b="1" spc="-13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sz="2800" b="1" spc="-813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sz="2800" b="1" i="1" spc="-2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spc="-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种颜色的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集</a:t>
            </a:r>
            <a:r>
              <a:rPr sz="2800" b="1" spc="-13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合</a:t>
            </a:r>
            <a:endParaRPr sz="28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16933" marR="7620" algn="just">
              <a:lnSpc>
                <a:spcPct val="97700"/>
              </a:lnSpc>
              <a:spcBef>
                <a:spcPts val="1033"/>
              </a:spcBef>
            </a:pPr>
            <a:r>
              <a:rPr sz="2800" b="1" spc="-7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用这些颜</a:t>
            </a:r>
            <a:r>
              <a:rPr sz="2800" b="1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色</a:t>
            </a:r>
            <a:r>
              <a:rPr sz="2800" b="1" spc="7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给</a:t>
            </a:r>
            <a:r>
              <a:rPr sz="2800" b="1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图的顶点着色，</a:t>
            </a:r>
            <a:r>
              <a:rPr sz="2800" b="1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每个</a:t>
            </a:r>
            <a:r>
              <a:rPr sz="2800" b="1" spc="-7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顶点一种</a:t>
            </a:r>
            <a:r>
              <a:rPr sz="2800" b="1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颜色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r>
              <a:rPr sz="2800" b="1" spc="78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endParaRPr lang="en-US" sz="2800" b="1" spc="780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16933" marR="7620" algn="just">
              <a:lnSpc>
                <a:spcPct val="97700"/>
              </a:lnSpc>
              <a:spcBef>
                <a:spcPts val="1033"/>
              </a:spcBef>
            </a:pPr>
            <a:r>
              <a:rPr sz="2800" b="1" spc="-7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要求是</a:t>
            </a:r>
            <a:r>
              <a:rPr sz="2800" b="1" spc="-7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sz="2800" b="1" i="1" spc="-7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sz="2800" b="1" i="1" spc="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spc="-7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的每</a:t>
            </a:r>
            <a:r>
              <a:rPr sz="2800" b="1" spc="-13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条</a:t>
            </a:r>
            <a:r>
              <a:rPr sz="2800" b="1" spc="-7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边的两个</a:t>
            </a:r>
            <a:r>
              <a:rPr sz="2800" b="1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顶</a:t>
            </a:r>
            <a:r>
              <a:rPr sz="2800" b="1" spc="7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点</a:t>
            </a:r>
            <a:r>
              <a:rPr sz="2800" b="1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着不同颜</a:t>
            </a:r>
            <a:r>
              <a:rPr sz="2800" b="1" spc="-7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色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sz="28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spcBef>
                <a:spcPts val="40"/>
              </a:spcBef>
            </a:pPr>
            <a:endParaRPr sz="28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33866">
              <a:lnSpc>
                <a:spcPts val="3807"/>
              </a:lnSpc>
              <a:spcBef>
                <a:spcPts val="7"/>
              </a:spcBef>
            </a:pPr>
            <a:r>
              <a:rPr sz="2800" b="1" spc="-7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输出</a:t>
            </a:r>
            <a:r>
              <a:rPr sz="2800" b="1" spc="-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：所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有</a:t>
            </a:r>
            <a:r>
              <a:rPr sz="2800" b="1" spc="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可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能的着色方</a:t>
            </a:r>
            <a:r>
              <a:rPr sz="2800" b="1" spc="-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案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sz="28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33866">
              <a:lnSpc>
                <a:spcPts val="3807"/>
              </a:lnSpc>
            </a:pPr>
            <a:r>
              <a:rPr sz="2800" b="1" spc="-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如果不存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sz="2800" b="1" spc="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着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色方案，回答“</a:t>
            </a:r>
            <a:r>
              <a:rPr sz="2800" b="1" spc="-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No”.</a:t>
            </a:r>
            <a:endParaRPr sz="28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spcBef>
                <a:spcPts val="7"/>
              </a:spcBef>
            </a:pPr>
            <a:endParaRPr sz="3467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74467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" name="直接连接符 51"/>
          <p:cNvCxnSpPr/>
          <p:nvPr/>
        </p:nvCxnSpPr>
        <p:spPr>
          <a:xfrm>
            <a:off x="1980814" y="2702024"/>
            <a:ext cx="1371447" cy="1123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93785" y="214196"/>
            <a:ext cx="1042850" cy="632651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4000" b="1" spc="-13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</a:t>
            </a:r>
            <a:r>
              <a:rPr sz="4000" b="1" spc="-2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</a:p>
        </p:txBody>
      </p:sp>
      <p:sp>
        <p:nvSpPr>
          <p:cNvPr id="3" name="object 3"/>
          <p:cNvSpPr/>
          <p:nvPr/>
        </p:nvSpPr>
        <p:spPr>
          <a:xfrm>
            <a:off x="2132144" y="1766003"/>
            <a:ext cx="719580" cy="859367"/>
          </a:xfrm>
          <a:custGeom>
            <a:avLst/>
            <a:gdLst/>
            <a:ahLst/>
            <a:cxnLst/>
            <a:rect l="l" t="t" r="r" b="b"/>
            <a:pathLst>
              <a:path w="719455" h="644525">
                <a:moveTo>
                  <a:pt x="719137" y="0"/>
                </a:moveTo>
                <a:lnTo>
                  <a:pt x="0" y="644525"/>
                </a:lnTo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" name="object 4"/>
          <p:cNvSpPr/>
          <p:nvPr/>
        </p:nvSpPr>
        <p:spPr>
          <a:xfrm>
            <a:off x="3253240" y="2584899"/>
            <a:ext cx="203489" cy="27533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" name="object 5"/>
          <p:cNvSpPr/>
          <p:nvPr/>
        </p:nvSpPr>
        <p:spPr>
          <a:xfrm>
            <a:off x="2808536" y="1488124"/>
            <a:ext cx="230164" cy="3088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" name="object 6"/>
          <p:cNvSpPr/>
          <p:nvPr/>
        </p:nvSpPr>
        <p:spPr>
          <a:xfrm>
            <a:off x="1946564" y="2568132"/>
            <a:ext cx="228640" cy="30886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" name="object 7"/>
          <p:cNvSpPr/>
          <p:nvPr/>
        </p:nvSpPr>
        <p:spPr>
          <a:xfrm>
            <a:off x="1743456" y="3827465"/>
            <a:ext cx="202727" cy="27533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" name="object 8"/>
          <p:cNvSpPr/>
          <p:nvPr/>
        </p:nvSpPr>
        <p:spPr>
          <a:xfrm>
            <a:off x="2821111" y="4229801"/>
            <a:ext cx="205014" cy="27533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" name="object 9"/>
          <p:cNvSpPr/>
          <p:nvPr/>
        </p:nvSpPr>
        <p:spPr>
          <a:xfrm>
            <a:off x="4056528" y="2280099"/>
            <a:ext cx="203489" cy="27330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0" name="object 10"/>
          <p:cNvSpPr/>
          <p:nvPr/>
        </p:nvSpPr>
        <p:spPr>
          <a:xfrm>
            <a:off x="3685370" y="4134299"/>
            <a:ext cx="202727" cy="27330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1" name="object 11"/>
          <p:cNvSpPr/>
          <p:nvPr/>
        </p:nvSpPr>
        <p:spPr>
          <a:xfrm>
            <a:off x="3026125" y="1711136"/>
            <a:ext cx="1060634" cy="609600"/>
          </a:xfrm>
          <a:custGeom>
            <a:avLst/>
            <a:gdLst/>
            <a:ahLst/>
            <a:cxnLst/>
            <a:rect l="l" t="t" r="r" b="b"/>
            <a:pathLst>
              <a:path w="1060450" h="457200">
                <a:moveTo>
                  <a:pt x="0" y="0"/>
                </a:moveTo>
                <a:lnTo>
                  <a:pt x="1060450" y="457200"/>
                </a:lnTo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2" name="object 12"/>
          <p:cNvSpPr/>
          <p:nvPr/>
        </p:nvSpPr>
        <p:spPr>
          <a:xfrm>
            <a:off x="2926286" y="1807659"/>
            <a:ext cx="357567" cy="817033"/>
          </a:xfrm>
          <a:custGeom>
            <a:avLst/>
            <a:gdLst/>
            <a:ahLst/>
            <a:cxnLst/>
            <a:rect l="l" t="t" r="r" b="b"/>
            <a:pathLst>
              <a:path w="357505" h="612775">
                <a:moveTo>
                  <a:pt x="0" y="0"/>
                </a:moveTo>
                <a:lnTo>
                  <a:pt x="357187" y="612775"/>
                </a:lnTo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3" name="object 13"/>
          <p:cNvSpPr/>
          <p:nvPr/>
        </p:nvSpPr>
        <p:spPr>
          <a:xfrm>
            <a:off x="3426244" y="2819594"/>
            <a:ext cx="360743" cy="1314873"/>
          </a:xfrm>
          <a:custGeom>
            <a:avLst/>
            <a:gdLst/>
            <a:ahLst/>
            <a:cxnLst/>
            <a:rect l="l" t="t" r="r" b="b"/>
            <a:pathLst>
              <a:path w="360680" h="986154">
                <a:moveTo>
                  <a:pt x="0" y="0"/>
                </a:moveTo>
                <a:lnTo>
                  <a:pt x="360362" y="985837"/>
                </a:lnTo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4" name="object 14"/>
          <p:cNvSpPr/>
          <p:nvPr/>
        </p:nvSpPr>
        <p:spPr>
          <a:xfrm>
            <a:off x="3858374" y="2553403"/>
            <a:ext cx="300407" cy="1621367"/>
          </a:xfrm>
          <a:custGeom>
            <a:avLst/>
            <a:gdLst/>
            <a:ahLst/>
            <a:cxnLst/>
            <a:rect l="l" t="t" r="r" b="b"/>
            <a:pathLst>
              <a:path w="300355" h="1216025">
                <a:moveTo>
                  <a:pt x="0" y="1216025"/>
                </a:moveTo>
                <a:lnTo>
                  <a:pt x="300037" y="0"/>
                </a:lnTo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5" name="object 15"/>
          <p:cNvSpPr/>
          <p:nvPr/>
        </p:nvSpPr>
        <p:spPr>
          <a:xfrm>
            <a:off x="2132144" y="2819594"/>
            <a:ext cx="719580" cy="1452033"/>
          </a:xfrm>
          <a:custGeom>
            <a:avLst/>
            <a:gdLst/>
            <a:ahLst/>
            <a:cxnLst/>
            <a:rect l="l" t="t" r="r" b="b"/>
            <a:pathLst>
              <a:path w="719455" h="1089025">
                <a:moveTo>
                  <a:pt x="0" y="0"/>
                </a:moveTo>
                <a:lnTo>
                  <a:pt x="719137" y="1089025"/>
                </a:lnTo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6" name="object 16"/>
          <p:cNvSpPr/>
          <p:nvPr/>
        </p:nvSpPr>
        <p:spPr>
          <a:xfrm>
            <a:off x="3026125" y="4271459"/>
            <a:ext cx="659244" cy="95673"/>
          </a:xfrm>
          <a:custGeom>
            <a:avLst/>
            <a:gdLst/>
            <a:ahLst/>
            <a:cxnLst/>
            <a:rect l="l" t="t" r="r" b="b"/>
            <a:pathLst>
              <a:path w="659130" h="71754">
                <a:moveTo>
                  <a:pt x="0" y="71437"/>
                </a:moveTo>
                <a:lnTo>
                  <a:pt x="658812" y="0"/>
                </a:lnTo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7" name="object 17"/>
          <p:cNvSpPr/>
          <p:nvPr/>
        </p:nvSpPr>
        <p:spPr>
          <a:xfrm>
            <a:off x="1908450" y="4037776"/>
            <a:ext cx="950005" cy="314080"/>
          </a:xfrm>
          <a:custGeom>
            <a:avLst/>
            <a:gdLst/>
            <a:ahLst/>
            <a:cxnLst/>
            <a:rect l="l" t="t" r="r" b="b"/>
            <a:pathLst>
              <a:path w="892175" h="222250">
                <a:moveTo>
                  <a:pt x="0" y="0"/>
                </a:moveTo>
                <a:lnTo>
                  <a:pt x="892175" y="222250"/>
                </a:lnTo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8" name="object 18"/>
          <p:cNvSpPr/>
          <p:nvPr/>
        </p:nvSpPr>
        <p:spPr>
          <a:xfrm>
            <a:off x="1844820" y="2819594"/>
            <a:ext cx="144805" cy="1007533"/>
          </a:xfrm>
          <a:custGeom>
            <a:avLst/>
            <a:gdLst/>
            <a:ahLst/>
            <a:cxnLst/>
            <a:rect l="l" t="t" r="r" b="b"/>
            <a:pathLst>
              <a:path w="144779" h="755650">
                <a:moveTo>
                  <a:pt x="144462" y="0"/>
                </a:moveTo>
                <a:lnTo>
                  <a:pt x="0" y="755650"/>
                </a:lnTo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9" name="object 19"/>
          <p:cNvSpPr/>
          <p:nvPr/>
        </p:nvSpPr>
        <p:spPr>
          <a:xfrm>
            <a:off x="3456730" y="2512760"/>
            <a:ext cx="630665" cy="209973"/>
          </a:xfrm>
          <a:custGeom>
            <a:avLst/>
            <a:gdLst/>
            <a:ahLst/>
            <a:cxnLst/>
            <a:rect l="l" t="t" r="r" b="b"/>
            <a:pathLst>
              <a:path w="630555" h="157480">
                <a:moveTo>
                  <a:pt x="0" y="157162"/>
                </a:moveTo>
                <a:lnTo>
                  <a:pt x="630237" y="0"/>
                </a:lnTo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0" name="object 20"/>
          <p:cNvSpPr txBox="1"/>
          <p:nvPr/>
        </p:nvSpPr>
        <p:spPr>
          <a:xfrm>
            <a:off x="2972340" y="1250719"/>
            <a:ext cx="153062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spc="-7" dirty="0">
                <a:latin typeface="Arial"/>
                <a:cs typeface="Arial"/>
              </a:rPr>
              <a:t>1</a:t>
            </a:r>
            <a:endParaRPr sz="24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122625" y="1734437"/>
            <a:ext cx="153062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spc="-7" dirty="0">
                <a:latin typeface="Arial"/>
                <a:cs typeface="Arial"/>
              </a:rPr>
              <a:t>2</a:t>
            </a:r>
            <a:endParaRPr sz="24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834996" y="4360899"/>
            <a:ext cx="153062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spc="-7" dirty="0">
                <a:latin typeface="Arial"/>
                <a:cs typeface="Arial"/>
              </a:rPr>
              <a:t>3</a:t>
            </a:r>
            <a:endParaRPr sz="24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756732" y="4540425"/>
            <a:ext cx="153062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spc="-7" dirty="0">
                <a:latin typeface="Arial"/>
                <a:cs typeface="Arial"/>
              </a:rPr>
              <a:t>4</a:t>
            </a:r>
            <a:endParaRPr sz="24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750260" y="4250256"/>
            <a:ext cx="153062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spc="-7" dirty="0">
                <a:latin typeface="Arial"/>
                <a:cs typeface="Arial"/>
              </a:rPr>
              <a:t>5</a:t>
            </a:r>
            <a:endParaRPr sz="24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261439" y="2231727"/>
            <a:ext cx="332680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0799">
              <a:spcBef>
                <a:spcPts val="133"/>
              </a:spcBef>
              <a:tabLst>
                <a:tab pos="487668" algn="l"/>
                <a:tab pos="1941358" algn="l"/>
              </a:tabLst>
            </a:pPr>
            <a:r>
              <a:rPr sz="3600" spc="-9" baseline="-16975" dirty="0" smtClean="0">
                <a:latin typeface="Arial"/>
                <a:cs typeface="Arial"/>
              </a:rPr>
              <a:t>7</a:t>
            </a:r>
            <a:endParaRPr sz="3600" baseline="-16975" dirty="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140781" y="5306508"/>
            <a:ext cx="3255484" cy="50954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  <a:tabLst>
                <a:tab pos="982109" algn="l"/>
              </a:tabLst>
            </a:pPr>
            <a:r>
              <a:rPr sz="3200" b="1" i="1" spc="-13" dirty="0">
                <a:latin typeface="Times New Roman"/>
                <a:cs typeface="Times New Roman"/>
              </a:rPr>
              <a:t>n</a:t>
            </a:r>
            <a:r>
              <a:rPr sz="3200" b="1" dirty="0">
                <a:latin typeface="Times New Roman"/>
                <a:cs typeface="Times New Roman"/>
              </a:rPr>
              <a:t>=7,	</a:t>
            </a:r>
            <a:r>
              <a:rPr sz="3200" b="1" i="1" spc="-7" dirty="0">
                <a:latin typeface="Times New Roman"/>
                <a:cs typeface="Times New Roman"/>
              </a:rPr>
              <a:t>m</a:t>
            </a:r>
            <a:r>
              <a:rPr sz="3200" b="1" dirty="0">
                <a:latin typeface="Times New Roman"/>
                <a:cs typeface="Times New Roman"/>
              </a:rPr>
              <a:t>=3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5774284" y="1857612"/>
            <a:ext cx="697351" cy="844973"/>
          </a:xfrm>
          <a:custGeom>
            <a:avLst/>
            <a:gdLst/>
            <a:ahLst/>
            <a:cxnLst/>
            <a:rect l="l" t="t" r="r" b="b"/>
            <a:pathLst>
              <a:path w="697229" h="633730">
                <a:moveTo>
                  <a:pt x="696912" y="0"/>
                </a:moveTo>
                <a:lnTo>
                  <a:pt x="0" y="633412"/>
                </a:lnTo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9" name="object 29"/>
          <p:cNvSpPr/>
          <p:nvPr/>
        </p:nvSpPr>
        <p:spPr>
          <a:xfrm>
            <a:off x="6860322" y="2662283"/>
            <a:ext cx="196630" cy="27025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0" name="object 30"/>
          <p:cNvSpPr/>
          <p:nvPr/>
        </p:nvSpPr>
        <p:spPr>
          <a:xfrm>
            <a:off x="6428574" y="1584817"/>
            <a:ext cx="223305" cy="30276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1" name="object 31"/>
          <p:cNvSpPr/>
          <p:nvPr/>
        </p:nvSpPr>
        <p:spPr>
          <a:xfrm>
            <a:off x="5593277" y="2645519"/>
            <a:ext cx="221781" cy="303783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2" name="object 32"/>
          <p:cNvSpPr/>
          <p:nvPr/>
        </p:nvSpPr>
        <p:spPr>
          <a:xfrm>
            <a:off x="5396265" y="3883515"/>
            <a:ext cx="196630" cy="268223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3" name="object 33"/>
          <p:cNvSpPr/>
          <p:nvPr/>
        </p:nvSpPr>
        <p:spPr>
          <a:xfrm>
            <a:off x="6441150" y="4278739"/>
            <a:ext cx="198154" cy="269240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4" name="object 34"/>
          <p:cNvSpPr/>
          <p:nvPr/>
        </p:nvSpPr>
        <p:spPr>
          <a:xfrm>
            <a:off x="7638459" y="2361549"/>
            <a:ext cx="196630" cy="269239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5" name="object 35"/>
          <p:cNvSpPr/>
          <p:nvPr/>
        </p:nvSpPr>
        <p:spPr>
          <a:xfrm>
            <a:off x="7277971" y="4184251"/>
            <a:ext cx="196630" cy="268223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6" name="object 36"/>
          <p:cNvSpPr/>
          <p:nvPr/>
        </p:nvSpPr>
        <p:spPr>
          <a:xfrm>
            <a:off x="6639304" y="1802747"/>
            <a:ext cx="1027609" cy="599440"/>
          </a:xfrm>
          <a:custGeom>
            <a:avLst/>
            <a:gdLst/>
            <a:ahLst/>
            <a:cxnLst/>
            <a:rect l="l" t="t" r="r" b="b"/>
            <a:pathLst>
              <a:path w="1027429" h="449580">
                <a:moveTo>
                  <a:pt x="0" y="0"/>
                </a:moveTo>
                <a:lnTo>
                  <a:pt x="1027112" y="449262"/>
                </a:lnTo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7" name="object 37"/>
          <p:cNvSpPr/>
          <p:nvPr/>
        </p:nvSpPr>
        <p:spPr>
          <a:xfrm>
            <a:off x="6542513" y="1898252"/>
            <a:ext cx="346135" cy="804333"/>
          </a:xfrm>
          <a:custGeom>
            <a:avLst/>
            <a:gdLst/>
            <a:ahLst/>
            <a:cxnLst/>
            <a:rect l="l" t="t" r="r" b="b"/>
            <a:pathLst>
              <a:path w="346075" h="603250">
                <a:moveTo>
                  <a:pt x="0" y="0"/>
                </a:moveTo>
                <a:lnTo>
                  <a:pt x="346075" y="603250"/>
                </a:lnTo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8" name="object 38"/>
          <p:cNvSpPr/>
          <p:nvPr/>
        </p:nvSpPr>
        <p:spPr>
          <a:xfrm>
            <a:off x="7028753" y="2892914"/>
            <a:ext cx="348040" cy="1291167"/>
          </a:xfrm>
          <a:custGeom>
            <a:avLst/>
            <a:gdLst/>
            <a:ahLst/>
            <a:cxnLst/>
            <a:rect l="l" t="t" r="r" b="b"/>
            <a:pathLst>
              <a:path w="347979" h="968375">
                <a:moveTo>
                  <a:pt x="0" y="0"/>
                </a:moveTo>
                <a:lnTo>
                  <a:pt x="347662" y="968375"/>
                </a:lnTo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9" name="object 39"/>
          <p:cNvSpPr/>
          <p:nvPr/>
        </p:nvSpPr>
        <p:spPr>
          <a:xfrm>
            <a:off x="7446402" y="2630788"/>
            <a:ext cx="290880" cy="1594273"/>
          </a:xfrm>
          <a:custGeom>
            <a:avLst/>
            <a:gdLst/>
            <a:ahLst/>
            <a:cxnLst/>
            <a:rect l="l" t="t" r="r" b="b"/>
            <a:pathLst>
              <a:path w="290829" h="1195704">
                <a:moveTo>
                  <a:pt x="0" y="1195387"/>
                </a:moveTo>
                <a:lnTo>
                  <a:pt x="290512" y="0"/>
                </a:lnTo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0" name="object 40"/>
          <p:cNvSpPr/>
          <p:nvPr/>
        </p:nvSpPr>
        <p:spPr>
          <a:xfrm>
            <a:off x="5774284" y="2957940"/>
            <a:ext cx="697351" cy="1358900"/>
          </a:xfrm>
          <a:custGeom>
            <a:avLst/>
            <a:gdLst/>
            <a:ahLst/>
            <a:cxnLst/>
            <a:rect l="l" t="t" r="r" b="b"/>
            <a:pathLst>
              <a:path w="697229" h="1019175">
                <a:moveTo>
                  <a:pt x="0" y="0"/>
                </a:moveTo>
                <a:lnTo>
                  <a:pt x="696912" y="1019175"/>
                </a:lnTo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1" name="object 41"/>
          <p:cNvSpPr/>
          <p:nvPr/>
        </p:nvSpPr>
        <p:spPr>
          <a:xfrm>
            <a:off x="6639305" y="4317349"/>
            <a:ext cx="638286" cy="95673"/>
          </a:xfrm>
          <a:custGeom>
            <a:avLst/>
            <a:gdLst/>
            <a:ahLst/>
            <a:cxnLst/>
            <a:rect l="l" t="t" r="r" b="b"/>
            <a:pathLst>
              <a:path w="638175" h="71754">
                <a:moveTo>
                  <a:pt x="0" y="71437"/>
                </a:moveTo>
                <a:lnTo>
                  <a:pt x="638175" y="0"/>
                </a:lnTo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2" name="object 42"/>
          <p:cNvSpPr/>
          <p:nvPr/>
        </p:nvSpPr>
        <p:spPr>
          <a:xfrm>
            <a:off x="5575368" y="4122276"/>
            <a:ext cx="865656" cy="290405"/>
          </a:xfrm>
          <a:custGeom>
            <a:avLst/>
            <a:gdLst/>
            <a:ahLst/>
            <a:cxnLst/>
            <a:rect l="l" t="t" r="r" b="b"/>
            <a:pathLst>
              <a:path w="865504" h="217804">
                <a:moveTo>
                  <a:pt x="0" y="0"/>
                </a:moveTo>
                <a:lnTo>
                  <a:pt x="865187" y="217487"/>
                </a:lnTo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3" name="object 43"/>
          <p:cNvSpPr/>
          <p:nvPr/>
        </p:nvSpPr>
        <p:spPr>
          <a:xfrm>
            <a:off x="5494583" y="2977244"/>
            <a:ext cx="160683" cy="905933"/>
          </a:xfrm>
          <a:custGeom>
            <a:avLst/>
            <a:gdLst/>
            <a:ahLst/>
            <a:cxnLst/>
            <a:rect l="l" t="t" r="r" b="b"/>
            <a:pathLst>
              <a:path w="160654" h="679450">
                <a:moveTo>
                  <a:pt x="160337" y="0"/>
                </a:moveTo>
                <a:lnTo>
                  <a:pt x="0" y="679450"/>
                </a:lnTo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4" name="object 44"/>
          <p:cNvSpPr/>
          <p:nvPr/>
        </p:nvSpPr>
        <p:spPr>
          <a:xfrm>
            <a:off x="7056952" y="2592178"/>
            <a:ext cx="609706" cy="205740"/>
          </a:xfrm>
          <a:custGeom>
            <a:avLst/>
            <a:gdLst/>
            <a:ahLst/>
            <a:cxnLst/>
            <a:rect l="l" t="t" r="r" b="b"/>
            <a:pathLst>
              <a:path w="609600" h="154305">
                <a:moveTo>
                  <a:pt x="0" y="153987"/>
                </a:moveTo>
                <a:lnTo>
                  <a:pt x="609600" y="0"/>
                </a:lnTo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5" name="object 45"/>
          <p:cNvSpPr txBox="1"/>
          <p:nvPr/>
        </p:nvSpPr>
        <p:spPr>
          <a:xfrm>
            <a:off x="6620576" y="1332169"/>
            <a:ext cx="153062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spc="-7" dirty="0">
                <a:latin typeface="Arial"/>
                <a:cs typeface="Arial"/>
              </a:rPr>
              <a:t>1</a:t>
            </a:r>
            <a:endParaRPr sz="240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7770862" y="1815887"/>
            <a:ext cx="153062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spc="-7" dirty="0">
                <a:latin typeface="Arial"/>
                <a:cs typeface="Arial"/>
              </a:rPr>
              <a:t>2</a:t>
            </a:r>
            <a:endParaRPr sz="240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7483233" y="4442349"/>
            <a:ext cx="153062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spc="-7" dirty="0">
                <a:latin typeface="Arial"/>
                <a:cs typeface="Arial"/>
              </a:rPr>
              <a:t>3</a:t>
            </a:r>
            <a:endParaRPr sz="240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6404969" y="4621875"/>
            <a:ext cx="153062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spc="-7" dirty="0">
                <a:latin typeface="Arial"/>
                <a:cs typeface="Arial"/>
              </a:rPr>
              <a:t>4</a:t>
            </a:r>
            <a:endParaRPr sz="2400">
              <a:latin typeface="Arial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5398497" y="4331706"/>
            <a:ext cx="153062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spc="-7" dirty="0">
                <a:latin typeface="Arial"/>
                <a:cs typeface="Arial"/>
              </a:rPr>
              <a:t>5</a:t>
            </a:r>
            <a:endParaRPr sz="2400">
              <a:latin typeface="Arial"/>
              <a:cs typeface="Arial"/>
            </a:endParaRPr>
          </a:p>
        </p:txBody>
      </p:sp>
      <p:sp>
        <p:nvSpPr>
          <p:cNvPr id="51" name="object 25"/>
          <p:cNvSpPr txBox="1"/>
          <p:nvPr/>
        </p:nvSpPr>
        <p:spPr>
          <a:xfrm>
            <a:off x="1724902" y="2374917"/>
            <a:ext cx="332680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0799">
              <a:spcBef>
                <a:spcPts val="133"/>
              </a:spcBef>
              <a:tabLst>
                <a:tab pos="487668" algn="l"/>
                <a:tab pos="1941358" algn="l"/>
              </a:tabLst>
            </a:pPr>
            <a:r>
              <a:rPr lang="en-US" sz="3600" spc="-9" baseline="-16975" dirty="0" smtClean="0">
                <a:latin typeface="Arial"/>
                <a:cs typeface="Arial"/>
              </a:rPr>
              <a:t>6</a:t>
            </a:r>
            <a:endParaRPr sz="3600" baseline="-16975" dirty="0">
              <a:latin typeface="Arial"/>
              <a:cs typeface="Arial"/>
            </a:endParaRPr>
          </a:p>
        </p:txBody>
      </p:sp>
      <p:sp>
        <p:nvSpPr>
          <p:cNvPr id="54" name="object 25"/>
          <p:cNvSpPr txBox="1"/>
          <p:nvPr/>
        </p:nvSpPr>
        <p:spPr>
          <a:xfrm>
            <a:off x="6920902" y="2293120"/>
            <a:ext cx="332680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0799">
              <a:spcBef>
                <a:spcPts val="133"/>
              </a:spcBef>
              <a:tabLst>
                <a:tab pos="487668" algn="l"/>
                <a:tab pos="1941358" algn="l"/>
              </a:tabLst>
            </a:pPr>
            <a:r>
              <a:rPr sz="3600" spc="-9" baseline="-16975" dirty="0" smtClean="0">
                <a:latin typeface="Arial"/>
                <a:cs typeface="Arial"/>
              </a:rPr>
              <a:t>7</a:t>
            </a:r>
            <a:endParaRPr sz="3600" baseline="-16975" dirty="0">
              <a:latin typeface="Arial"/>
              <a:cs typeface="Arial"/>
            </a:endParaRPr>
          </a:p>
        </p:txBody>
      </p:sp>
      <p:sp>
        <p:nvSpPr>
          <p:cNvPr id="55" name="object 25"/>
          <p:cNvSpPr txBox="1"/>
          <p:nvPr/>
        </p:nvSpPr>
        <p:spPr>
          <a:xfrm>
            <a:off x="5551559" y="2316324"/>
            <a:ext cx="332680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0799">
              <a:spcBef>
                <a:spcPts val="133"/>
              </a:spcBef>
              <a:tabLst>
                <a:tab pos="487668" algn="l"/>
                <a:tab pos="1941358" algn="l"/>
              </a:tabLst>
            </a:pPr>
            <a:r>
              <a:rPr lang="en-US" sz="3600" spc="-9" baseline="-16975" dirty="0" smtClean="0">
                <a:latin typeface="Arial"/>
                <a:cs typeface="Arial"/>
              </a:rPr>
              <a:t>6</a:t>
            </a:r>
            <a:endParaRPr sz="3600" baseline="-16975" dirty="0">
              <a:latin typeface="Arial"/>
              <a:cs typeface="Arial"/>
            </a:endParaRPr>
          </a:p>
        </p:txBody>
      </p:sp>
      <p:cxnSp>
        <p:nvCxnSpPr>
          <p:cNvPr id="56" name="直接连接符 55"/>
          <p:cNvCxnSpPr/>
          <p:nvPr/>
        </p:nvCxnSpPr>
        <p:spPr>
          <a:xfrm>
            <a:off x="5704167" y="2769381"/>
            <a:ext cx="1371447" cy="1123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3162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94891" y="282263"/>
            <a:ext cx="1552209" cy="632651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4000" b="1" spc="-13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解向</a:t>
            </a:r>
            <a:r>
              <a:rPr sz="4000" b="1" spc="-2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量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70905" y="1374988"/>
            <a:ext cx="8380477" cy="4797894"/>
          </a:xfrm>
          <a:prstGeom prst="rect">
            <a:avLst/>
          </a:prstGeom>
        </p:spPr>
        <p:txBody>
          <a:bodyPr vert="horz" wrap="square" lIns="0" tIns="121073" rIns="0" bIns="0" rtlCol="0">
            <a:spAutoFit/>
          </a:bodyPr>
          <a:lstStyle/>
          <a:p>
            <a:pPr marL="33866">
              <a:spcBef>
                <a:spcPts val="953"/>
              </a:spcBef>
            </a:pPr>
            <a:r>
              <a:rPr sz="2800" b="1" spc="-13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设</a:t>
            </a:r>
            <a:r>
              <a:rPr sz="2800" b="1" spc="-800" dirty="0">
                <a:latin typeface="宋体"/>
                <a:cs typeface="宋体"/>
              </a:rPr>
              <a:t> </a:t>
            </a:r>
            <a:r>
              <a:rPr sz="2800" b="1" i="1" spc="-7" dirty="0">
                <a:latin typeface="Times New Roman"/>
                <a:cs typeface="Times New Roman"/>
              </a:rPr>
              <a:t>G</a:t>
            </a:r>
            <a:r>
              <a:rPr sz="2800" b="1" spc="-7" dirty="0">
                <a:latin typeface="Times New Roman"/>
                <a:cs typeface="Times New Roman"/>
              </a:rPr>
              <a:t>=(</a:t>
            </a:r>
            <a:r>
              <a:rPr sz="2800" b="1" i="1" spc="-7" dirty="0">
                <a:latin typeface="Times New Roman"/>
                <a:cs typeface="Times New Roman"/>
              </a:rPr>
              <a:t>V</a:t>
            </a:r>
            <a:r>
              <a:rPr sz="2800" b="1" spc="-7" dirty="0">
                <a:latin typeface="Times New Roman"/>
                <a:cs typeface="Times New Roman"/>
              </a:rPr>
              <a:t>,</a:t>
            </a:r>
            <a:r>
              <a:rPr sz="2800" b="1" i="1" spc="-7" dirty="0">
                <a:latin typeface="Times New Roman"/>
                <a:cs typeface="Times New Roman"/>
              </a:rPr>
              <a:t>E</a:t>
            </a:r>
            <a:r>
              <a:rPr sz="2800" b="1" spc="-7" dirty="0">
                <a:latin typeface="Times New Roman"/>
                <a:cs typeface="Times New Roman"/>
              </a:rPr>
              <a:t>)</a:t>
            </a:r>
            <a:r>
              <a:rPr sz="2800" b="1" spc="-7" dirty="0">
                <a:latin typeface="宋体"/>
                <a:cs typeface="宋体"/>
              </a:rPr>
              <a:t>，</a:t>
            </a:r>
            <a:r>
              <a:rPr sz="2800" b="1" i="1" spc="-7" dirty="0">
                <a:latin typeface="Times New Roman"/>
                <a:cs typeface="Times New Roman"/>
              </a:rPr>
              <a:t>V</a:t>
            </a:r>
            <a:r>
              <a:rPr sz="2800" b="1" spc="-7" dirty="0">
                <a:latin typeface="Times New Roman"/>
                <a:cs typeface="Times New Roman"/>
              </a:rPr>
              <a:t>={1,2, </a:t>
            </a:r>
            <a:r>
              <a:rPr sz="2800" b="1" dirty="0">
                <a:latin typeface="Times New Roman"/>
                <a:cs typeface="Times New Roman"/>
              </a:rPr>
              <a:t>... , </a:t>
            </a:r>
            <a:r>
              <a:rPr sz="2800" b="1" i="1" spc="-7" dirty="0">
                <a:latin typeface="Times New Roman"/>
                <a:cs typeface="Times New Roman"/>
              </a:rPr>
              <a:t>n</a:t>
            </a:r>
            <a:r>
              <a:rPr sz="2800" b="1" spc="-7" dirty="0">
                <a:latin typeface="Times New Roman"/>
                <a:cs typeface="Times New Roman"/>
              </a:rPr>
              <a:t>}</a:t>
            </a:r>
            <a:endParaRPr sz="2800" dirty="0">
              <a:latin typeface="Times New Roman"/>
              <a:cs typeface="Times New Roman"/>
            </a:endParaRPr>
          </a:p>
          <a:p>
            <a:pPr marL="33866">
              <a:spcBef>
                <a:spcPts val="827"/>
              </a:spcBef>
            </a:pPr>
            <a:r>
              <a:rPr sz="2800" b="1" spc="-7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颜色编号</a:t>
            </a:r>
            <a:r>
              <a:rPr sz="2800" b="1" spc="-7" dirty="0">
                <a:latin typeface="宋体"/>
                <a:cs typeface="宋体"/>
              </a:rPr>
              <a:t>：</a:t>
            </a:r>
            <a:r>
              <a:rPr sz="2800" b="1" spc="-7" dirty="0">
                <a:latin typeface="Times New Roman"/>
                <a:cs typeface="Times New Roman"/>
              </a:rPr>
              <a:t>1,</a:t>
            </a:r>
            <a:r>
              <a:rPr sz="2800" b="1" spc="33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2,</a:t>
            </a:r>
            <a:r>
              <a:rPr sz="2800" b="1" spc="-7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… ,</a:t>
            </a:r>
            <a:r>
              <a:rPr sz="2800" b="1" spc="-7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m</a:t>
            </a:r>
            <a:endParaRPr sz="2800" dirty="0">
              <a:latin typeface="Times New Roman"/>
              <a:cs typeface="Times New Roman"/>
            </a:endParaRPr>
          </a:p>
          <a:p>
            <a:pPr marL="33866">
              <a:spcBef>
                <a:spcPts val="1893"/>
              </a:spcBef>
            </a:pPr>
            <a:r>
              <a:rPr sz="2800" b="1" spc="-7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解向量</a:t>
            </a:r>
            <a:r>
              <a:rPr sz="2800" b="1" spc="-7" dirty="0">
                <a:latin typeface="宋体"/>
                <a:cs typeface="宋体"/>
              </a:rPr>
              <a:t>：</a:t>
            </a:r>
            <a:r>
              <a:rPr sz="2800" b="1" spc="-7" dirty="0">
                <a:latin typeface="Times New Roman"/>
                <a:cs typeface="Times New Roman"/>
              </a:rPr>
              <a:t>&lt;</a:t>
            </a:r>
            <a:r>
              <a:rPr sz="2800" b="1" i="1" spc="-7" dirty="0">
                <a:latin typeface="Times New Roman"/>
                <a:cs typeface="Times New Roman"/>
              </a:rPr>
              <a:t>x</a:t>
            </a:r>
            <a:r>
              <a:rPr sz="2800" b="1" spc="-9" baseline="-20833" dirty="0">
                <a:latin typeface="Times New Roman"/>
                <a:cs typeface="Times New Roman"/>
              </a:rPr>
              <a:t>1</a:t>
            </a:r>
            <a:r>
              <a:rPr sz="2800" b="1" spc="-7" dirty="0">
                <a:latin typeface="Times New Roman"/>
                <a:cs typeface="Times New Roman"/>
              </a:rPr>
              <a:t>,</a:t>
            </a:r>
            <a:r>
              <a:rPr sz="2800" b="1" spc="13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x</a:t>
            </a:r>
            <a:r>
              <a:rPr sz="2800" b="1" baseline="-20833" dirty="0">
                <a:latin typeface="Times New Roman"/>
                <a:cs typeface="Times New Roman"/>
              </a:rPr>
              <a:t>2</a:t>
            </a:r>
            <a:r>
              <a:rPr sz="2800" b="1" dirty="0">
                <a:latin typeface="Times New Roman"/>
                <a:cs typeface="Times New Roman"/>
              </a:rPr>
              <a:t>,</a:t>
            </a:r>
            <a:r>
              <a:rPr sz="2800" b="1" spc="-2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..., </a:t>
            </a:r>
            <a:r>
              <a:rPr sz="2800" b="1" i="1" spc="-7" dirty="0">
                <a:latin typeface="Times New Roman"/>
                <a:cs typeface="Times New Roman"/>
              </a:rPr>
              <a:t>x</a:t>
            </a:r>
            <a:r>
              <a:rPr sz="2800" b="1" i="1" spc="-9" baseline="-20833" dirty="0">
                <a:latin typeface="Times New Roman"/>
                <a:cs typeface="Times New Roman"/>
              </a:rPr>
              <a:t>n</a:t>
            </a:r>
            <a:r>
              <a:rPr sz="2800" b="1" spc="-7" dirty="0">
                <a:latin typeface="Times New Roman"/>
                <a:cs typeface="Times New Roman"/>
              </a:rPr>
              <a:t>&gt;</a:t>
            </a:r>
            <a:r>
              <a:rPr sz="2800" b="1" spc="-7" dirty="0">
                <a:latin typeface="宋体"/>
                <a:cs typeface="宋体"/>
              </a:rPr>
              <a:t>，</a:t>
            </a:r>
            <a:endParaRPr sz="2800" dirty="0">
              <a:latin typeface="宋体"/>
              <a:cs typeface="宋体"/>
            </a:endParaRPr>
          </a:p>
          <a:p>
            <a:pPr marL="1253035">
              <a:spcBef>
                <a:spcPts val="1593"/>
              </a:spcBef>
            </a:pPr>
            <a:r>
              <a:rPr sz="2800" b="1" i="1" dirty="0">
                <a:latin typeface="Times New Roman"/>
                <a:cs typeface="Times New Roman"/>
              </a:rPr>
              <a:t>x</a:t>
            </a:r>
            <a:r>
              <a:rPr sz="2800" b="1" baseline="-20833" dirty="0">
                <a:latin typeface="Times New Roman"/>
                <a:cs typeface="Times New Roman"/>
              </a:rPr>
              <a:t>1</a:t>
            </a:r>
            <a:r>
              <a:rPr sz="2800" b="1" dirty="0">
                <a:latin typeface="Times New Roman"/>
                <a:cs typeface="Times New Roman"/>
              </a:rPr>
              <a:t>, </a:t>
            </a:r>
            <a:r>
              <a:rPr sz="2800" b="1" i="1" spc="-7" dirty="0">
                <a:latin typeface="Times New Roman"/>
                <a:cs typeface="Times New Roman"/>
              </a:rPr>
              <a:t>x</a:t>
            </a:r>
            <a:r>
              <a:rPr sz="2800" b="1" spc="-9" baseline="-20833" dirty="0">
                <a:latin typeface="Times New Roman"/>
                <a:cs typeface="Times New Roman"/>
              </a:rPr>
              <a:t>2</a:t>
            </a:r>
            <a:r>
              <a:rPr sz="2800" b="1" spc="-7" dirty="0">
                <a:latin typeface="Times New Roman"/>
                <a:cs typeface="Times New Roman"/>
              </a:rPr>
              <a:t>, </a:t>
            </a:r>
            <a:r>
              <a:rPr sz="2800" b="1" dirty="0">
                <a:latin typeface="Times New Roman"/>
                <a:cs typeface="Times New Roman"/>
              </a:rPr>
              <a:t>…, </a:t>
            </a:r>
            <a:r>
              <a:rPr sz="2800" b="1" i="1" dirty="0">
                <a:latin typeface="Times New Roman"/>
                <a:cs typeface="Times New Roman"/>
              </a:rPr>
              <a:t>x</a:t>
            </a:r>
            <a:r>
              <a:rPr sz="2800" b="1" i="1" baseline="-20833" dirty="0">
                <a:latin typeface="Times New Roman"/>
                <a:cs typeface="Times New Roman"/>
              </a:rPr>
              <a:t>n</a:t>
            </a:r>
            <a:r>
              <a:rPr sz="2800" b="1" dirty="0">
                <a:latin typeface="Symbol"/>
                <a:cs typeface="Symbol"/>
              </a:rPr>
              <a:t></a:t>
            </a:r>
            <a:r>
              <a:rPr sz="2800" b="1" dirty="0">
                <a:latin typeface="Times New Roman"/>
                <a:cs typeface="Times New Roman"/>
              </a:rPr>
              <a:t>{1,2, .., </a:t>
            </a:r>
            <a:r>
              <a:rPr sz="2800" b="1" i="1" dirty="0">
                <a:latin typeface="Times New Roman"/>
                <a:cs typeface="Times New Roman"/>
              </a:rPr>
              <a:t>m</a:t>
            </a:r>
            <a:r>
              <a:rPr sz="2800" b="1" i="1" spc="-60" dirty="0">
                <a:latin typeface="Times New Roman"/>
                <a:cs typeface="Times New Roman"/>
              </a:rPr>
              <a:t> </a:t>
            </a:r>
            <a:r>
              <a:rPr sz="2800" b="1" spc="-7" dirty="0" smtClean="0">
                <a:latin typeface="Times New Roman"/>
                <a:cs typeface="Times New Roman"/>
              </a:rPr>
              <a:t>}</a:t>
            </a:r>
            <a:endParaRPr lang="en-US" sz="2800" b="1" spc="-7" dirty="0" smtClean="0">
              <a:latin typeface="Times New Roman"/>
              <a:cs typeface="Times New Roman"/>
            </a:endParaRPr>
          </a:p>
          <a:p>
            <a:pPr>
              <a:spcBef>
                <a:spcPts val="1593"/>
              </a:spcBef>
            </a:pPr>
            <a:r>
              <a:rPr lang="zh-CN" altLang="en-US" sz="2800" b="1" spc="-7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结点的部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分</a:t>
            </a:r>
            <a:r>
              <a:rPr lang="zh-CN" altLang="en-US" sz="2800" b="1" spc="7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向</a:t>
            </a:r>
            <a:r>
              <a:rPr lang="zh-CN" altLang="en-US" sz="2800" b="1" spc="-13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量</a:t>
            </a:r>
            <a:r>
              <a:rPr lang="zh-CN" altLang="en-US" sz="2800" b="1" spc="-793" dirty="0">
                <a:latin typeface="宋体"/>
                <a:cs typeface="宋体"/>
              </a:rPr>
              <a:t> </a:t>
            </a:r>
            <a:r>
              <a:rPr lang="en-US" altLang="zh-CN" sz="2800" b="1" dirty="0">
                <a:latin typeface="Times New Roman"/>
                <a:cs typeface="Times New Roman"/>
              </a:rPr>
              <a:t>&lt;</a:t>
            </a:r>
            <a:r>
              <a:rPr lang="en-US" altLang="zh-CN" sz="2800" b="1" i="1" dirty="0">
                <a:latin typeface="Times New Roman"/>
                <a:cs typeface="Times New Roman"/>
              </a:rPr>
              <a:t>x</a:t>
            </a:r>
            <a:r>
              <a:rPr lang="en-US" altLang="zh-CN" sz="2800" b="1" baseline="-20833" dirty="0">
                <a:latin typeface="Times New Roman"/>
                <a:cs typeface="Times New Roman"/>
              </a:rPr>
              <a:t>1</a:t>
            </a:r>
            <a:r>
              <a:rPr lang="en-US" altLang="zh-CN" sz="2800" b="1" dirty="0">
                <a:latin typeface="Times New Roman"/>
                <a:cs typeface="Times New Roman"/>
              </a:rPr>
              <a:t>,</a:t>
            </a:r>
            <a:r>
              <a:rPr lang="zh-CN" altLang="en-US" sz="2800" b="1" spc="-40" dirty="0">
                <a:latin typeface="Times New Roman"/>
                <a:cs typeface="Times New Roman"/>
              </a:rPr>
              <a:t> </a:t>
            </a:r>
            <a:r>
              <a:rPr lang="en-US" altLang="zh-CN" sz="2800" b="1" i="1" dirty="0">
                <a:latin typeface="Times New Roman"/>
                <a:cs typeface="Times New Roman"/>
              </a:rPr>
              <a:t>x</a:t>
            </a:r>
            <a:r>
              <a:rPr lang="en-US" altLang="zh-CN" sz="2800" b="1" baseline="-20833" dirty="0">
                <a:latin typeface="Times New Roman"/>
                <a:cs typeface="Times New Roman"/>
              </a:rPr>
              <a:t>2</a:t>
            </a:r>
            <a:r>
              <a:rPr lang="zh-CN" altLang="en-US" sz="2800" b="1" spc="-29" baseline="-20833" dirty="0">
                <a:latin typeface="Times New Roman"/>
                <a:cs typeface="Times New Roman"/>
              </a:rPr>
              <a:t> </a:t>
            </a:r>
            <a:r>
              <a:rPr lang="en-US" altLang="zh-CN" sz="2800" b="1" dirty="0">
                <a:latin typeface="Times New Roman"/>
                <a:cs typeface="Times New Roman"/>
              </a:rPr>
              <a:t>,</a:t>
            </a:r>
            <a:r>
              <a:rPr lang="zh-CN" altLang="en-US" sz="2800" b="1" spc="-20" dirty="0">
                <a:latin typeface="Times New Roman"/>
                <a:cs typeface="Times New Roman"/>
              </a:rPr>
              <a:t> </a:t>
            </a:r>
            <a:r>
              <a:rPr lang="en-US" altLang="zh-CN" sz="2800" b="1" dirty="0">
                <a:latin typeface="Times New Roman"/>
                <a:cs typeface="Times New Roman"/>
              </a:rPr>
              <a:t>…</a:t>
            </a:r>
            <a:r>
              <a:rPr lang="zh-CN" altLang="en-US" sz="2800" b="1" spc="-27" dirty="0">
                <a:latin typeface="Times New Roman"/>
                <a:cs typeface="Times New Roman"/>
              </a:rPr>
              <a:t> </a:t>
            </a:r>
            <a:r>
              <a:rPr lang="en-US" altLang="zh-CN" sz="2800" b="1" dirty="0">
                <a:latin typeface="Times New Roman"/>
                <a:cs typeface="Times New Roman"/>
              </a:rPr>
              <a:t>,</a:t>
            </a:r>
            <a:r>
              <a:rPr lang="zh-CN" altLang="en-US" sz="2800" b="1" spc="-20" dirty="0">
                <a:latin typeface="Times New Roman"/>
                <a:cs typeface="Times New Roman"/>
              </a:rPr>
              <a:t> </a:t>
            </a:r>
            <a:r>
              <a:rPr lang="en-US" altLang="zh-CN" sz="2800" b="1" i="1" dirty="0" err="1">
                <a:latin typeface="Times New Roman"/>
                <a:cs typeface="Times New Roman"/>
              </a:rPr>
              <a:t>x</a:t>
            </a:r>
            <a:r>
              <a:rPr lang="en-US" altLang="zh-CN" sz="2800" b="1" i="1" baseline="-20833" dirty="0" err="1">
                <a:latin typeface="Times New Roman"/>
                <a:cs typeface="Times New Roman"/>
              </a:rPr>
              <a:t>k</a:t>
            </a:r>
            <a:r>
              <a:rPr lang="en-US" altLang="zh-CN" sz="2800" b="1" dirty="0">
                <a:latin typeface="Times New Roman"/>
                <a:cs typeface="Times New Roman"/>
              </a:rPr>
              <a:t>&gt; </a:t>
            </a:r>
            <a:endParaRPr lang="en-US" altLang="zh-CN" sz="2800" b="1" dirty="0" smtClean="0">
              <a:latin typeface="Times New Roman"/>
              <a:cs typeface="Times New Roman"/>
            </a:endParaRPr>
          </a:p>
          <a:p>
            <a:pPr>
              <a:spcBef>
                <a:spcPts val="1593"/>
              </a:spcBef>
            </a:pPr>
            <a:r>
              <a:rPr lang="en-US" altLang="zh-CN" sz="2800" b="1" dirty="0" smtClean="0">
                <a:latin typeface="Times New Roman"/>
                <a:cs typeface="Times New Roman"/>
              </a:rPr>
              <a:t> </a:t>
            </a:r>
            <a:r>
              <a:rPr lang="en-US" altLang="zh-CN" sz="2800" b="1" i="1" dirty="0">
                <a:latin typeface="Times New Roman"/>
                <a:cs typeface="Times New Roman"/>
              </a:rPr>
              <a:t>x</a:t>
            </a:r>
            <a:r>
              <a:rPr lang="en-US" altLang="zh-CN" sz="2800" b="1" baseline="-20833" dirty="0">
                <a:latin typeface="Times New Roman"/>
                <a:cs typeface="Times New Roman"/>
              </a:rPr>
              <a:t>1</a:t>
            </a:r>
            <a:r>
              <a:rPr lang="en-US" altLang="zh-CN" sz="2800" b="1" dirty="0">
                <a:latin typeface="Times New Roman"/>
                <a:cs typeface="Times New Roman"/>
              </a:rPr>
              <a:t>, </a:t>
            </a:r>
            <a:r>
              <a:rPr lang="en-US" altLang="zh-CN" sz="2800" b="1" i="1" spc="-7" dirty="0">
                <a:latin typeface="Times New Roman"/>
                <a:cs typeface="Times New Roman"/>
              </a:rPr>
              <a:t>x</a:t>
            </a:r>
            <a:r>
              <a:rPr lang="en-US" altLang="zh-CN" sz="2800" b="1" spc="-9" baseline="-20833" dirty="0">
                <a:latin typeface="Times New Roman"/>
                <a:cs typeface="Times New Roman"/>
              </a:rPr>
              <a:t>2</a:t>
            </a:r>
            <a:r>
              <a:rPr lang="en-US" altLang="zh-CN" sz="2800" b="1" spc="-7" dirty="0">
                <a:latin typeface="Times New Roman"/>
                <a:cs typeface="Times New Roman"/>
              </a:rPr>
              <a:t>, </a:t>
            </a:r>
            <a:r>
              <a:rPr lang="en-US" altLang="zh-CN" sz="2800" b="1" dirty="0">
                <a:latin typeface="Times New Roman"/>
                <a:cs typeface="Times New Roman"/>
              </a:rPr>
              <a:t>…, </a:t>
            </a:r>
            <a:r>
              <a:rPr lang="en-US" altLang="zh-CN" sz="2800" b="1" i="1" dirty="0" err="1">
                <a:latin typeface="Times New Roman"/>
                <a:cs typeface="Times New Roman"/>
              </a:rPr>
              <a:t>x</a:t>
            </a:r>
            <a:r>
              <a:rPr lang="en-US" altLang="zh-CN" sz="2800" b="1" i="1" baseline="-20833" dirty="0" err="1">
                <a:latin typeface="Times New Roman"/>
                <a:cs typeface="Times New Roman"/>
              </a:rPr>
              <a:t>k</a:t>
            </a:r>
            <a:r>
              <a:rPr lang="en-US" altLang="zh-CN" sz="2800" b="1" i="1" baseline="-20833" dirty="0">
                <a:latin typeface="Times New Roman"/>
                <a:cs typeface="Times New Roman"/>
              </a:rPr>
              <a:t> </a:t>
            </a:r>
            <a:r>
              <a:rPr lang="en-US" altLang="zh-CN" sz="2800" b="1" dirty="0">
                <a:latin typeface="Times New Roman"/>
                <a:cs typeface="Times New Roman"/>
              </a:rPr>
              <a:t>, 1 </a:t>
            </a:r>
            <a:r>
              <a:rPr lang="zh-CN" altLang="en-US" sz="2800" b="1" spc="-7" dirty="0">
                <a:latin typeface="Symbol"/>
                <a:cs typeface="Symbol"/>
              </a:rPr>
              <a:t></a:t>
            </a:r>
            <a:r>
              <a:rPr lang="zh-CN" altLang="en-US" sz="2800" b="1" spc="-7" dirty="0">
                <a:latin typeface="Times New Roman"/>
                <a:cs typeface="Times New Roman"/>
              </a:rPr>
              <a:t> </a:t>
            </a:r>
            <a:r>
              <a:rPr lang="en-US" altLang="zh-CN" sz="2800" b="1" i="1" dirty="0">
                <a:latin typeface="Times New Roman"/>
                <a:cs typeface="Times New Roman"/>
              </a:rPr>
              <a:t>k </a:t>
            </a:r>
            <a:r>
              <a:rPr lang="zh-CN" altLang="en-US" sz="2800" b="1" spc="-7" dirty="0">
                <a:latin typeface="Symbol"/>
                <a:cs typeface="Symbol"/>
              </a:rPr>
              <a:t></a:t>
            </a:r>
            <a:r>
              <a:rPr lang="zh-CN" altLang="en-US" sz="2800" b="1" spc="-120" dirty="0">
                <a:latin typeface="Times New Roman"/>
                <a:cs typeface="Times New Roman"/>
              </a:rPr>
              <a:t> </a:t>
            </a:r>
            <a:r>
              <a:rPr lang="en-US" altLang="zh-CN" sz="2800" b="1" i="1" spc="-13" dirty="0">
                <a:latin typeface="Times New Roman"/>
                <a:cs typeface="Times New Roman"/>
              </a:rPr>
              <a:t>n</a:t>
            </a:r>
            <a:r>
              <a:rPr lang="zh-CN" altLang="en-US" sz="2800" b="1" spc="-13" dirty="0">
                <a:latin typeface="宋体"/>
                <a:cs typeface="宋体"/>
              </a:rPr>
              <a:t>，</a:t>
            </a:r>
            <a:r>
              <a:rPr lang="zh-CN" altLang="en-US" sz="2800" b="1" spc="-13" dirty="0">
                <a:latin typeface="黑体" pitchFamily="49" charset="-122"/>
                <a:ea typeface="黑体" pitchFamily="49" charset="-122"/>
                <a:cs typeface="宋体"/>
              </a:rPr>
              <a:t>表</a:t>
            </a:r>
            <a:r>
              <a:rPr lang="zh-CN" altLang="en-US" sz="2800" b="1" spc="-13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示只给顶点</a:t>
            </a:r>
            <a:r>
              <a:rPr lang="en-US" altLang="zh-CN" sz="2800" b="1" spc="-13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1,2,...,k</a:t>
            </a:r>
            <a:r>
              <a:rPr lang="zh-CN" altLang="en-US" sz="2800" b="1" spc="-13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着色的部分方案</a:t>
            </a:r>
          </a:p>
          <a:p>
            <a:pPr marL="1253035">
              <a:spcBef>
                <a:spcPts val="1593"/>
              </a:spcBef>
            </a:pPr>
            <a:endParaRPr sz="32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09374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81041" y="209492"/>
            <a:ext cx="2061568" cy="632651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4000" b="1" spc="-13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算法设</a:t>
            </a:r>
            <a:r>
              <a:rPr sz="4000" b="1" spc="-2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70904" y="1117939"/>
            <a:ext cx="8388362" cy="492357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sz="2800" b="1" spc="-7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搜索树</a:t>
            </a:r>
            <a:r>
              <a:rPr sz="2800" b="1" spc="-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sz="2800" b="1" i="1" spc="-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叉树</a:t>
            </a:r>
            <a:endParaRPr sz="28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R="23706" algn="just">
              <a:lnSpc>
                <a:spcPct val="150000"/>
              </a:lnSpc>
            </a:pPr>
            <a:r>
              <a:rPr sz="2800" b="1" spc="-7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约束条件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sz="2800" b="1" spc="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结</a:t>
            </a:r>
            <a:r>
              <a:rPr sz="2800" b="1" spc="-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点</a:t>
            </a:r>
            <a:r>
              <a:rPr sz="2800" b="1" dirty="0">
                <a:latin typeface="Times New Roman"/>
                <a:cs typeface="Times New Roman"/>
              </a:rPr>
              <a:t>&lt;</a:t>
            </a:r>
            <a:r>
              <a:rPr sz="2800" b="1" i="1" dirty="0">
                <a:latin typeface="Times New Roman"/>
                <a:cs typeface="Times New Roman"/>
              </a:rPr>
              <a:t>x</a:t>
            </a:r>
            <a:r>
              <a:rPr sz="2800" b="1" baseline="-20833" dirty="0">
                <a:latin typeface="Times New Roman"/>
                <a:cs typeface="Times New Roman"/>
              </a:rPr>
              <a:t>1</a:t>
            </a:r>
            <a:r>
              <a:rPr sz="2800" b="1" dirty="0">
                <a:latin typeface="Times New Roman"/>
                <a:cs typeface="Times New Roman"/>
              </a:rPr>
              <a:t>,</a:t>
            </a:r>
            <a:r>
              <a:rPr sz="2800" b="1" spc="-13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x</a:t>
            </a:r>
            <a:r>
              <a:rPr sz="2800" b="1" baseline="-20833" dirty="0">
                <a:latin typeface="Times New Roman"/>
                <a:cs typeface="Times New Roman"/>
              </a:rPr>
              <a:t>2</a:t>
            </a:r>
            <a:r>
              <a:rPr sz="2800" b="1" dirty="0">
                <a:latin typeface="Times New Roman"/>
                <a:cs typeface="Times New Roman"/>
              </a:rPr>
              <a:t>,</a:t>
            </a:r>
            <a:r>
              <a:rPr sz="2800" b="1" spc="-33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...</a:t>
            </a:r>
            <a:r>
              <a:rPr sz="2800" b="1" spc="-27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,</a:t>
            </a:r>
            <a:r>
              <a:rPr sz="2800" b="1" spc="-27" dirty="0">
                <a:latin typeface="Times New Roman"/>
                <a:cs typeface="Times New Roman"/>
              </a:rPr>
              <a:t> </a:t>
            </a:r>
            <a:r>
              <a:rPr sz="2800" b="1" i="1" spc="-7" dirty="0">
                <a:latin typeface="Times New Roman"/>
                <a:cs typeface="Times New Roman"/>
              </a:rPr>
              <a:t>x</a:t>
            </a:r>
            <a:r>
              <a:rPr sz="2800" b="1" i="1" spc="-9" baseline="-20833" dirty="0">
                <a:latin typeface="Times New Roman"/>
                <a:cs typeface="Times New Roman"/>
              </a:rPr>
              <a:t>k</a:t>
            </a:r>
            <a:r>
              <a:rPr sz="2800" b="1" spc="-7" dirty="0">
                <a:latin typeface="Times New Roman"/>
                <a:cs typeface="Times New Roman"/>
              </a:rPr>
              <a:t>&gt;</a:t>
            </a:r>
            <a:r>
              <a:rPr sz="2800" b="1" spc="-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处</a:t>
            </a:r>
            <a:r>
              <a:rPr sz="2800" b="1" spc="-13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sz="2800" b="1" spc="-7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顶</a:t>
            </a:r>
            <a:r>
              <a:rPr sz="2800" b="1" spc="-13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点</a:t>
            </a:r>
            <a:r>
              <a:rPr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k</a:t>
            </a:r>
            <a:r>
              <a:rPr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+1</a:t>
            </a:r>
            <a:r>
              <a:rPr sz="2800" b="1" spc="-7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的邻接</a:t>
            </a:r>
            <a:r>
              <a:rPr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表中结点已用过的颜</a:t>
            </a:r>
            <a:r>
              <a:rPr sz="2800" b="1" spc="-7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色不能再</a:t>
            </a:r>
            <a:r>
              <a:rPr sz="2800" b="1" spc="-13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用</a:t>
            </a:r>
            <a:r>
              <a:rPr lang="en-US" sz="2800" b="1" spc="-13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;</a:t>
            </a:r>
            <a:r>
              <a:rPr sz="2800" b="1" spc="-7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如果邻接</a:t>
            </a:r>
            <a:r>
              <a:rPr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表</a:t>
            </a:r>
            <a:r>
              <a:rPr sz="2800" b="1" spc="7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中</a:t>
            </a:r>
            <a:r>
              <a:rPr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结点已用</a:t>
            </a:r>
            <a:r>
              <a:rPr sz="2800" b="1" spc="-7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过</a:t>
            </a:r>
            <a:r>
              <a:rPr sz="2800" b="1" i="1" spc="-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种</a:t>
            </a:r>
            <a:r>
              <a:rPr sz="2800" b="1" spc="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颜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色</a:t>
            </a:r>
            <a:r>
              <a:rPr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sz="2800" b="1" spc="-7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则结</a:t>
            </a:r>
            <a:r>
              <a:rPr sz="2800" b="1" spc="-13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点</a:t>
            </a:r>
            <a:r>
              <a:rPr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k</a:t>
            </a:r>
            <a:r>
              <a:rPr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+1</a:t>
            </a:r>
            <a:r>
              <a:rPr sz="2800" b="1" spc="-7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没法着色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从该结点回</a:t>
            </a:r>
            <a:r>
              <a:rPr sz="2800" b="1" spc="-13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溯</a:t>
            </a:r>
            <a:r>
              <a:rPr sz="2800" b="1" spc="-7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到其父结点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r>
              <a:rPr sz="2800" b="1" spc="2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spc="-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满足多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米诺性</a:t>
            </a:r>
            <a:r>
              <a:rPr sz="2800" b="1" spc="-13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质</a:t>
            </a:r>
            <a:endParaRPr sz="28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sz="2800" b="1" spc="-7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搜索策略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sz="2800" b="1" spc="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深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度优先</a:t>
            </a:r>
            <a:endParaRPr sz="28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sz="2800" b="1" spc="-7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时间复杂</a:t>
            </a:r>
            <a:r>
              <a:rPr sz="28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度</a:t>
            </a:r>
            <a:r>
              <a:rPr sz="2800" b="1" dirty="0">
                <a:latin typeface="宋体"/>
                <a:cs typeface="宋体"/>
              </a:rPr>
              <a:t>：</a:t>
            </a:r>
            <a:r>
              <a:rPr sz="2800" b="1" i="1" dirty="0">
                <a:latin typeface="Times New Roman"/>
                <a:cs typeface="Times New Roman"/>
              </a:rPr>
              <a:t>O</a:t>
            </a:r>
            <a:r>
              <a:rPr sz="2800" b="1" dirty="0">
                <a:latin typeface="Times New Roman"/>
                <a:cs typeface="Times New Roman"/>
              </a:rPr>
              <a:t>(</a:t>
            </a:r>
            <a:r>
              <a:rPr sz="2800" b="1" i="1" dirty="0">
                <a:latin typeface="Times New Roman"/>
                <a:cs typeface="Times New Roman"/>
              </a:rPr>
              <a:t>n</a:t>
            </a:r>
            <a:r>
              <a:rPr sz="2800" b="1" i="1" spc="27" dirty="0">
                <a:latin typeface="Times New Roman"/>
                <a:cs typeface="Times New Roman"/>
              </a:rPr>
              <a:t> </a:t>
            </a:r>
            <a:r>
              <a:rPr sz="2800" b="1" i="1" spc="-7" dirty="0">
                <a:latin typeface="Times New Roman"/>
                <a:cs typeface="Times New Roman"/>
              </a:rPr>
              <a:t>m</a:t>
            </a:r>
            <a:r>
              <a:rPr sz="2800" b="1" i="1" spc="-9" baseline="24305" dirty="0">
                <a:latin typeface="Times New Roman"/>
                <a:cs typeface="Times New Roman"/>
              </a:rPr>
              <a:t>n</a:t>
            </a:r>
            <a:r>
              <a:rPr sz="2800" b="1" spc="-7" dirty="0">
                <a:latin typeface="Times New Roman"/>
                <a:cs typeface="Times New Roman"/>
              </a:rPr>
              <a:t>)</a:t>
            </a:r>
            <a:endParaRPr sz="2800" dirty="0">
              <a:latin typeface="Times New Roman"/>
              <a:cs typeface="Times New Roman"/>
            </a:endParaRPr>
          </a:p>
          <a:p>
            <a:pPr marR="29633" algn="r">
              <a:spcBef>
                <a:spcPts val="107"/>
              </a:spcBef>
            </a:pPr>
            <a:r>
              <a:rPr sz="2400" spc="-7" dirty="0">
                <a:solidFill>
                  <a:srgbClr val="808080"/>
                </a:solidFill>
                <a:latin typeface="Arial"/>
                <a:cs typeface="Arial"/>
              </a:rPr>
              <a:t>5</a:t>
            </a:r>
            <a:endParaRPr sz="24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29103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5" name="直接连接符 114"/>
          <p:cNvCxnSpPr/>
          <p:nvPr/>
        </p:nvCxnSpPr>
        <p:spPr>
          <a:xfrm>
            <a:off x="6190129" y="4991642"/>
            <a:ext cx="524557" cy="607127"/>
          </a:xfrm>
          <a:prstGeom prst="line">
            <a:avLst/>
          </a:prstGeom>
          <a:ln w="63500" cmpd="sng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接连接符 110"/>
          <p:cNvCxnSpPr/>
          <p:nvPr/>
        </p:nvCxnSpPr>
        <p:spPr>
          <a:xfrm flipH="1">
            <a:off x="6190129" y="5092303"/>
            <a:ext cx="29893" cy="462179"/>
          </a:xfrm>
          <a:prstGeom prst="line">
            <a:avLst/>
          </a:prstGeom>
          <a:ln w="635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直接连接符 113"/>
          <p:cNvCxnSpPr/>
          <p:nvPr/>
        </p:nvCxnSpPr>
        <p:spPr>
          <a:xfrm flipH="1">
            <a:off x="5915509" y="4997268"/>
            <a:ext cx="310006" cy="566992"/>
          </a:xfrm>
          <a:prstGeom prst="line">
            <a:avLst/>
          </a:prstGeom>
          <a:ln w="635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接连接符 107"/>
          <p:cNvCxnSpPr/>
          <p:nvPr/>
        </p:nvCxnSpPr>
        <p:spPr>
          <a:xfrm>
            <a:off x="6109268" y="4484739"/>
            <a:ext cx="92457" cy="547323"/>
          </a:xfrm>
          <a:prstGeom prst="line">
            <a:avLst/>
          </a:prstGeom>
          <a:ln w="6350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直接连接符 105"/>
          <p:cNvCxnSpPr/>
          <p:nvPr/>
        </p:nvCxnSpPr>
        <p:spPr>
          <a:xfrm flipH="1">
            <a:off x="5869436" y="4501090"/>
            <a:ext cx="232693" cy="600627"/>
          </a:xfrm>
          <a:prstGeom prst="line">
            <a:avLst/>
          </a:prstGeom>
          <a:ln w="635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接连接符 101"/>
          <p:cNvCxnSpPr/>
          <p:nvPr/>
        </p:nvCxnSpPr>
        <p:spPr>
          <a:xfrm flipH="1">
            <a:off x="6067492" y="3835335"/>
            <a:ext cx="222252" cy="610974"/>
          </a:xfrm>
          <a:prstGeom prst="line">
            <a:avLst/>
          </a:prstGeom>
          <a:ln w="63500" cmpd="sng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连接符 73"/>
          <p:cNvCxnSpPr/>
          <p:nvPr/>
        </p:nvCxnSpPr>
        <p:spPr>
          <a:xfrm flipH="1">
            <a:off x="4351792" y="5092751"/>
            <a:ext cx="29893" cy="462179"/>
          </a:xfrm>
          <a:prstGeom prst="line">
            <a:avLst/>
          </a:prstGeom>
          <a:ln w="635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接连接符 70"/>
          <p:cNvCxnSpPr/>
          <p:nvPr/>
        </p:nvCxnSpPr>
        <p:spPr>
          <a:xfrm flipH="1">
            <a:off x="3630650" y="4942278"/>
            <a:ext cx="752354" cy="719722"/>
          </a:xfrm>
          <a:prstGeom prst="line">
            <a:avLst/>
          </a:prstGeom>
          <a:ln w="635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椭圆 72"/>
          <p:cNvSpPr/>
          <p:nvPr/>
        </p:nvSpPr>
        <p:spPr>
          <a:xfrm>
            <a:off x="4239308" y="5449875"/>
            <a:ext cx="216038" cy="28800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5" name="直接连接符 74"/>
          <p:cNvCxnSpPr/>
          <p:nvPr/>
        </p:nvCxnSpPr>
        <p:spPr>
          <a:xfrm>
            <a:off x="4383005" y="5042281"/>
            <a:ext cx="271560" cy="491103"/>
          </a:xfrm>
          <a:prstGeom prst="line">
            <a:avLst/>
          </a:prstGeom>
          <a:ln w="635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椭圆 76"/>
          <p:cNvSpPr/>
          <p:nvPr/>
        </p:nvSpPr>
        <p:spPr>
          <a:xfrm>
            <a:off x="4570567" y="5444233"/>
            <a:ext cx="216038" cy="28800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1" name="直接连接符 90"/>
          <p:cNvCxnSpPr/>
          <p:nvPr/>
        </p:nvCxnSpPr>
        <p:spPr>
          <a:xfrm>
            <a:off x="5753328" y="3212561"/>
            <a:ext cx="524557" cy="607127"/>
          </a:xfrm>
          <a:prstGeom prst="line">
            <a:avLst/>
          </a:prstGeom>
          <a:ln w="63500" cmpd="sng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/>
          <p:cNvCxnSpPr/>
          <p:nvPr/>
        </p:nvCxnSpPr>
        <p:spPr>
          <a:xfrm flipH="1">
            <a:off x="4247171" y="3282184"/>
            <a:ext cx="1458807" cy="626387"/>
          </a:xfrm>
          <a:prstGeom prst="line">
            <a:avLst/>
          </a:prstGeom>
          <a:ln w="635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接连接符 77"/>
          <p:cNvCxnSpPr>
            <a:endCxn id="60" idx="5"/>
          </p:cNvCxnSpPr>
          <p:nvPr/>
        </p:nvCxnSpPr>
        <p:spPr>
          <a:xfrm>
            <a:off x="5092096" y="3817663"/>
            <a:ext cx="505141" cy="749477"/>
          </a:xfrm>
          <a:prstGeom prst="line">
            <a:avLst/>
          </a:prstGeom>
          <a:ln w="254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接连接符 82"/>
          <p:cNvCxnSpPr/>
          <p:nvPr/>
        </p:nvCxnSpPr>
        <p:spPr>
          <a:xfrm flipH="1">
            <a:off x="5114285" y="4573486"/>
            <a:ext cx="29893" cy="462179"/>
          </a:xfrm>
          <a:prstGeom prst="line">
            <a:avLst/>
          </a:prstGeom>
          <a:ln w="635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接连接符 83"/>
          <p:cNvCxnSpPr/>
          <p:nvPr/>
        </p:nvCxnSpPr>
        <p:spPr>
          <a:xfrm flipH="1">
            <a:off x="4819227" y="4535611"/>
            <a:ext cx="310006" cy="566992"/>
          </a:xfrm>
          <a:prstGeom prst="line">
            <a:avLst/>
          </a:prstGeom>
          <a:ln w="635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接连接符 86"/>
          <p:cNvCxnSpPr/>
          <p:nvPr/>
        </p:nvCxnSpPr>
        <p:spPr>
          <a:xfrm>
            <a:off x="5499277" y="4455641"/>
            <a:ext cx="97960" cy="518971"/>
          </a:xfrm>
          <a:prstGeom prst="line">
            <a:avLst/>
          </a:prstGeom>
          <a:ln w="635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接连接符 78"/>
          <p:cNvCxnSpPr/>
          <p:nvPr/>
        </p:nvCxnSpPr>
        <p:spPr>
          <a:xfrm flipH="1">
            <a:off x="5157047" y="3883570"/>
            <a:ext cx="29893" cy="462179"/>
          </a:xfrm>
          <a:prstGeom prst="line">
            <a:avLst/>
          </a:prstGeom>
          <a:ln w="635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连接符 67"/>
          <p:cNvCxnSpPr/>
          <p:nvPr/>
        </p:nvCxnSpPr>
        <p:spPr>
          <a:xfrm flipH="1" flipV="1">
            <a:off x="3957800" y="4450531"/>
            <a:ext cx="517239" cy="524374"/>
          </a:xfrm>
          <a:prstGeom prst="line">
            <a:avLst/>
          </a:prstGeom>
          <a:ln w="254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连接符 62"/>
          <p:cNvCxnSpPr/>
          <p:nvPr/>
        </p:nvCxnSpPr>
        <p:spPr>
          <a:xfrm flipH="1">
            <a:off x="3957800" y="4450532"/>
            <a:ext cx="29893" cy="462179"/>
          </a:xfrm>
          <a:prstGeom prst="line">
            <a:avLst/>
          </a:prstGeom>
          <a:ln w="635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接连接符 60"/>
          <p:cNvCxnSpPr/>
          <p:nvPr/>
        </p:nvCxnSpPr>
        <p:spPr>
          <a:xfrm flipH="1">
            <a:off x="3322234" y="4450531"/>
            <a:ext cx="675975" cy="537928"/>
          </a:xfrm>
          <a:prstGeom prst="line">
            <a:avLst/>
          </a:prstGeom>
          <a:ln w="635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54"/>
          <p:cNvCxnSpPr/>
          <p:nvPr/>
        </p:nvCxnSpPr>
        <p:spPr>
          <a:xfrm flipH="1">
            <a:off x="3987692" y="3827969"/>
            <a:ext cx="1193036" cy="618340"/>
          </a:xfrm>
          <a:prstGeom prst="line">
            <a:avLst/>
          </a:prstGeom>
          <a:ln w="254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/>
          <p:cNvCxnSpPr>
            <a:endCxn id="47" idx="7"/>
          </p:cNvCxnSpPr>
          <p:nvPr/>
        </p:nvCxnSpPr>
        <p:spPr>
          <a:xfrm flipH="1">
            <a:off x="5245101" y="3300562"/>
            <a:ext cx="480098" cy="450586"/>
          </a:xfrm>
          <a:prstGeom prst="line">
            <a:avLst/>
          </a:prstGeom>
          <a:ln w="254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 flipH="1">
            <a:off x="6058740" y="2101462"/>
            <a:ext cx="1" cy="472192"/>
          </a:xfrm>
          <a:prstGeom prst="line">
            <a:avLst/>
          </a:prstGeom>
          <a:ln w="6350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/>
        </p:nvCxnSpPr>
        <p:spPr>
          <a:xfrm flipH="1">
            <a:off x="5330663" y="2106498"/>
            <a:ext cx="675975" cy="537928"/>
          </a:xfrm>
          <a:prstGeom prst="line">
            <a:avLst/>
          </a:prstGeom>
          <a:ln w="635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57313" y="140368"/>
            <a:ext cx="2061568" cy="632651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4000" b="1" spc="-13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运行实</a:t>
            </a:r>
            <a:r>
              <a:rPr sz="4000" b="1" spc="-2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</a:p>
        </p:txBody>
      </p:sp>
      <p:sp>
        <p:nvSpPr>
          <p:cNvPr id="18" name="椭圆 17"/>
          <p:cNvSpPr/>
          <p:nvPr/>
        </p:nvSpPr>
        <p:spPr>
          <a:xfrm>
            <a:off x="6246246" y="1188497"/>
            <a:ext cx="216038" cy="288000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椭圆 30"/>
          <p:cNvSpPr/>
          <p:nvPr/>
        </p:nvSpPr>
        <p:spPr>
          <a:xfrm>
            <a:off x="5947614" y="1906512"/>
            <a:ext cx="216038" cy="288000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椭圆 31"/>
          <p:cNvSpPr/>
          <p:nvPr/>
        </p:nvSpPr>
        <p:spPr>
          <a:xfrm>
            <a:off x="5222644" y="2500426"/>
            <a:ext cx="216038" cy="28800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4" name="直接连接符 33"/>
          <p:cNvCxnSpPr/>
          <p:nvPr/>
        </p:nvCxnSpPr>
        <p:spPr>
          <a:xfrm flipH="1">
            <a:off x="6104016" y="1439173"/>
            <a:ext cx="222251" cy="472192"/>
          </a:xfrm>
          <a:prstGeom prst="line">
            <a:avLst/>
          </a:prstGeom>
          <a:ln w="63500" cmpd="sng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 flipH="1">
            <a:off x="5721308" y="2613706"/>
            <a:ext cx="340540" cy="566992"/>
          </a:xfrm>
          <a:prstGeom prst="line">
            <a:avLst/>
          </a:prstGeom>
          <a:ln w="63500" cmpd="sng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椭圆 37"/>
          <p:cNvSpPr/>
          <p:nvPr/>
        </p:nvSpPr>
        <p:spPr>
          <a:xfrm>
            <a:off x="5947614" y="2500426"/>
            <a:ext cx="216038" cy="288000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椭圆 42"/>
          <p:cNvSpPr/>
          <p:nvPr/>
        </p:nvSpPr>
        <p:spPr>
          <a:xfrm>
            <a:off x="5599290" y="3068560"/>
            <a:ext cx="216038" cy="288000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椭圆 45"/>
          <p:cNvSpPr/>
          <p:nvPr/>
        </p:nvSpPr>
        <p:spPr>
          <a:xfrm>
            <a:off x="4139152" y="3764571"/>
            <a:ext cx="216038" cy="28800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椭圆 46"/>
          <p:cNvSpPr/>
          <p:nvPr/>
        </p:nvSpPr>
        <p:spPr>
          <a:xfrm>
            <a:off x="5060702" y="3708971"/>
            <a:ext cx="216038" cy="288000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TextBox 48"/>
          <p:cNvSpPr txBox="1"/>
          <p:nvPr/>
        </p:nvSpPr>
        <p:spPr>
          <a:xfrm>
            <a:off x="5968572" y="1392519"/>
            <a:ext cx="2209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1</a:t>
            </a:r>
            <a:endParaRPr lang="zh-CN" altLang="en-US" sz="2400" b="1" dirty="0"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5506709" y="1947759"/>
            <a:ext cx="2209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1</a:t>
            </a:r>
            <a:endParaRPr lang="zh-CN" altLang="en-US" sz="2400" b="1" dirty="0"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6079659" y="2117558"/>
            <a:ext cx="2209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2</a:t>
            </a:r>
            <a:endParaRPr lang="zh-CN" altLang="en-US" sz="2400" b="1" dirty="0"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5668006" y="2592054"/>
            <a:ext cx="2209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1</a:t>
            </a:r>
            <a:endParaRPr lang="zh-CN" altLang="en-US" sz="2400" b="1" dirty="0"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4871155" y="3180699"/>
            <a:ext cx="2209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1</a:t>
            </a:r>
            <a:endParaRPr lang="zh-CN" altLang="en-US" sz="2400" b="1" dirty="0"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5392658" y="3440815"/>
            <a:ext cx="2209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2</a:t>
            </a:r>
            <a:endParaRPr lang="zh-CN" altLang="en-US" sz="2400" b="1" dirty="0"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</p:txBody>
      </p:sp>
      <p:sp>
        <p:nvSpPr>
          <p:cNvPr id="57" name="椭圆 56"/>
          <p:cNvSpPr/>
          <p:nvPr/>
        </p:nvSpPr>
        <p:spPr>
          <a:xfrm>
            <a:off x="3858675" y="4289328"/>
            <a:ext cx="216038" cy="288000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椭圆 59"/>
          <p:cNvSpPr/>
          <p:nvPr/>
        </p:nvSpPr>
        <p:spPr>
          <a:xfrm>
            <a:off x="5412838" y="4321316"/>
            <a:ext cx="216038" cy="288000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椭圆 61"/>
          <p:cNvSpPr/>
          <p:nvPr/>
        </p:nvSpPr>
        <p:spPr>
          <a:xfrm>
            <a:off x="3210573" y="4861663"/>
            <a:ext cx="216038" cy="28800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椭圆 65"/>
          <p:cNvSpPr/>
          <p:nvPr/>
        </p:nvSpPr>
        <p:spPr>
          <a:xfrm>
            <a:off x="3849780" y="4845530"/>
            <a:ext cx="216038" cy="28800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椭圆 66"/>
          <p:cNvSpPr/>
          <p:nvPr/>
        </p:nvSpPr>
        <p:spPr>
          <a:xfrm>
            <a:off x="4279497" y="4839942"/>
            <a:ext cx="216038" cy="288000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椭圆 71"/>
          <p:cNvSpPr/>
          <p:nvPr/>
        </p:nvSpPr>
        <p:spPr>
          <a:xfrm>
            <a:off x="3579103" y="5466008"/>
            <a:ext cx="216038" cy="28800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椭圆 79"/>
          <p:cNvSpPr/>
          <p:nvPr/>
        </p:nvSpPr>
        <p:spPr>
          <a:xfrm>
            <a:off x="5049027" y="4329336"/>
            <a:ext cx="216038" cy="28800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" name="椭圆 84"/>
          <p:cNvSpPr/>
          <p:nvPr/>
        </p:nvSpPr>
        <p:spPr>
          <a:xfrm>
            <a:off x="4753425" y="4855440"/>
            <a:ext cx="216038" cy="28800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" name="椭圆 85"/>
          <p:cNvSpPr/>
          <p:nvPr/>
        </p:nvSpPr>
        <p:spPr>
          <a:xfrm>
            <a:off x="5030020" y="4865293"/>
            <a:ext cx="216038" cy="28800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椭圆 87"/>
          <p:cNvSpPr/>
          <p:nvPr/>
        </p:nvSpPr>
        <p:spPr>
          <a:xfrm>
            <a:off x="5474272" y="4866155"/>
            <a:ext cx="216038" cy="28800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3" name="椭圆 92"/>
          <p:cNvSpPr/>
          <p:nvPr/>
        </p:nvSpPr>
        <p:spPr>
          <a:xfrm>
            <a:off x="6145179" y="3699640"/>
            <a:ext cx="216038" cy="288000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4" name="TextBox 93"/>
          <p:cNvSpPr txBox="1"/>
          <p:nvPr/>
        </p:nvSpPr>
        <p:spPr>
          <a:xfrm>
            <a:off x="5987201" y="3187293"/>
            <a:ext cx="2209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3</a:t>
            </a:r>
            <a:endParaRPr lang="zh-CN" altLang="en-US" sz="2400" b="1" dirty="0"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</p:txBody>
      </p:sp>
      <p:sp>
        <p:nvSpPr>
          <p:cNvPr id="101" name="椭圆 100"/>
          <p:cNvSpPr/>
          <p:nvPr/>
        </p:nvSpPr>
        <p:spPr>
          <a:xfrm>
            <a:off x="5969580" y="4320005"/>
            <a:ext cx="216038" cy="288000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" name="椭圆 104"/>
          <p:cNvSpPr/>
          <p:nvPr/>
        </p:nvSpPr>
        <p:spPr>
          <a:xfrm>
            <a:off x="5815328" y="4855893"/>
            <a:ext cx="216038" cy="28800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" name="椭圆 108"/>
          <p:cNvSpPr/>
          <p:nvPr/>
        </p:nvSpPr>
        <p:spPr>
          <a:xfrm>
            <a:off x="6110823" y="4845828"/>
            <a:ext cx="216038" cy="288000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2" name="椭圆 111"/>
          <p:cNvSpPr/>
          <p:nvPr/>
        </p:nvSpPr>
        <p:spPr>
          <a:xfrm>
            <a:off x="5829269" y="5451257"/>
            <a:ext cx="216038" cy="28800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3" name="椭圆 112"/>
          <p:cNvSpPr/>
          <p:nvPr/>
        </p:nvSpPr>
        <p:spPr>
          <a:xfrm>
            <a:off x="6098203" y="5451779"/>
            <a:ext cx="216038" cy="28800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7" name="矩形 116"/>
          <p:cNvSpPr/>
          <p:nvPr/>
        </p:nvSpPr>
        <p:spPr>
          <a:xfrm>
            <a:off x="6497281" y="5443352"/>
            <a:ext cx="252402" cy="285897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8" name="TextBox 117"/>
          <p:cNvSpPr txBox="1"/>
          <p:nvPr/>
        </p:nvSpPr>
        <p:spPr>
          <a:xfrm>
            <a:off x="3465861" y="4341383"/>
            <a:ext cx="2209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1</a:t>
            </a:r>
            <a:endParaRPr lang="zh-CN" altLang="en-US" sz="2400" b="1" dirty="0"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</p:txBody>
      </p:sp>
      <p:sp>
        <p:nvSpPr>
          <p:cNvPr id="119" name="TextBox 118"/>
          <p:cNvSpPr txBox="1"/>
          <p:nvPr/>
        </p:nvSpPr>
        <p:spPr>
          <a:xfrm>
            <a:off x="4901603" y="3991479"/>
            <a:ext cx="2209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2</a:t>
            </a:r>
            <a:endParaRPr lang="zh-CN" altLang="en-US" sz="2400" b="1" dirty="0"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</p:txBody>
      </p:sp>
      <p:sp>
        <p:nvSpPr>
          <p:cNvPr id="120" name="TextBox 119"/>
          <p:cNvSpPr txBox="1"/>
          <p:nvPr/>
        </p:nvSpPr>
        <p:spPr>
          <a:xfrm>
            <a:off x="5331841" y="3837639"/>
            <a:ext cx="2209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3</a:t>
            </a:r>
            <a:endParaRPr lang="zh-CN" altLang="en-US" sz="2400" b="1" dirty="0"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</p:txBody>
      </p:sp>
      <p:sp>
        <p:nvSpPr>
          <p:cNvPr id="121" name="TextBox 120"/>
          <p:cNvSpPr txBox="1"/>
          <p:nvPr/>
        </p:nvSpPr>
        <p:spPr>
          <a:xfrm>
            <a:off x="5969694" y="3891683"/>
            <a:ext cx="2209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1</a:t>
            </a:r>
            <a:endParaRPr lang="zh-CN" altLang="en-US" sz="2400" b="1" dirty="0"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</p:txBody>
      </p:sp>
      <p:sp>
        <p:nvSpPr>
          <p:cNvPr id="122" name="TextBox 121"/>
          <p:cNvSpPr txBox="1"/>
          <p:nvPr/>
        </p:nvSpPr>
        <p:spPr>
          <a:xfrm>
            <a:off x="3932645" y="4488817"/>
            <a:ext cx="2209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2</a:t>
            </a:r>
            <a:endParaRPr lang="zh-CN" altLang="en-US" sz="2400" b="1" dirty="0"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</p:txBody>
      </p:sp>
      <p:sp>
        <p:nvSpPr>
          <p:cNvPr id="123" name="TextBox 122"/>
          <p:cNvSpPr txBox="1"/>
          <p:nvPr/>
        </p:nvSpPr>
        <p:spPr>
          <a:xfrm>
            <a:off x="4149606" y="4346841"/>
            <a:ext cx="2209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3</a:t>
            </a:r>
            <a:endParaRPr lang="zh-CN" altLang="en-US" sz="2400" b="1" dirty="0"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3759752" y="5008777"/>
            <a:ext cx="2209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1</a:t>
            </a:r>
            <a:endParaRPr lang="zh-CN" altLang="en-US" sz="2400" b="1" dirty="0"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</p:txBody>
      </p:sp>
      <p:sp>
        <p:nvSpPr>
          <p:cNvPr id="125" name="TextBox 124"/>
          <p:cNvSpPr txBox="1"/>
          <p:nvPr/>
        </p:nvSpPr>
        <p:spPr>
          <a:xfrm>
            <a:off x="4156069" y="5064398"/>
            <a:ext cx="2209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2</a:t>
            </a:r>
            <a:endParaRPr lang="zh-CN" altLang="en-US" sz="2400" b="1" dirty="0"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</p:txBody>
      </p:sp>
      <p:sp>
        <p:nvSpPr>
          <p:cNvPr id="126" name="TextBox 125"/>
          <p:cNvSpPr txBox="1"/>
          <p:nvPr/>
        </p:nvSpPr>
        <p:spPr>
          <a:xfrm>
            <a:off x="4490173" y="4922348"/>
            <a:ext cx="2209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3</a:t>
            </a:r>
            <a:endParaRPr lang="zh-CN" altLang="en-US" sz="2400" b="1" dirty="0"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</p:txBody>
      </p:sp>
      <p:sp>
        <p:nvSpPr>
          <p:cNvPr id="127" name="TextBox 126"/>
          <p:cNvSpPr txBox="1"/>
          <p:nvPr/>
        </p:nvSpPr>
        <p:spPr>
          <a:xfrm>
            <a:off x="4565664" y="4378484"/>
            <a:ext cx="2209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1</a:t>
            </a:r>
            <a:endParaRPr lang="zh-CN" altLang="en-US" sz="2400" b="1" dirty="0"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5094235" y="4514139"/>
            <a:ext cx="2209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2</a:t>
            </a:r>
            <a:endParaRPr lang="zh-CN" altLang="en-US" sz="2400" b="1" dirty="0"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</p:txBody>
      </p:sp>
      <p:sp>
        <p:nvSpPr>
          <p:cNvPr id="129" name="TextBox 128"/>
          <p:cNvSpPr txBox="1"/>
          <p:nvPr/>
        </p:nvSpPr>
        <p:spPr>
          <a:xfrm>
            <a:off x="5545760" y="4479345"/>
            <a:ext cx="2209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3</a:t>
            </a:r>
            <a:endParaRPr lang="zh-CN" altLang="en-US" sz="2400" b="1" dirty="0"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</p:txBody>
      </p:sp>
      <p:sp>
        <p:nvSpPr>
          <p:cNvPr id="130" name="TextBox 129"/>
          <p:cNvSpPr txBox="1"/>
          <p:nvPr/>
        </p:nvSpPr>
        <p:spPr>
          <a:xfrm>
            <a:off x="5795803" y="4491999"/>
            <a:ext cx="2209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1</a:t>
            </a:r>
            <a:endParaRPr lang="zh-CN" altLang="en-US" sz="2400" b="1" dirty="0"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</p:txBody>
      </p:sp>
      <p:sp>
        <p:nvSpPr>
          <p:cNvPr id="131" name="TextBox 130"/>
          <p:cNvSpPr txBox="1"/>
          <p:nvPr/>
        </p:nvSpPr>
        <p:spPr>
          <a:xfrm>
            <a:off x="6145179" y="4467801"/>
            <a:ext cx="2209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2</a:t>
            </a:r>
            <a:endParaRPr lang="zh-CN" altLang="en-US" sz="2400" b="1" dirty="0"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</p:txBody>
      </p:sp>
      <p:sp>
        <p:nvSpPr>
          <p:cNvPr id="132" name="TextBox 131"/>
          <p:cNvSpPr txBox="1"/>
          <p:nvPr/>
        </p:nvSpPr>
        <p:spPr>
          <a:xfrm>
            <a:off x="5837144" y="5064372"/>
            <a:ext cx="2209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1</a:t>
            </a:r>
            <a:endParaRPr lang="zh-CN" altLang="en-US" sz="2400" b="1" dirty="0"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</p:txBody>
      </p:sp>
      <p:sp>
        <p:nvSpPr>
          <p:cNvPr id="133" name="TextBox 132"/>
          <p:cNvSpPr txBox="1"/>
          <p:nvPr/>
        </p:nvSpPr>
        <p:spPr>
          <a:xfrm>
            <a:off x="6166178" y="5091063"/>
            <a:ext cx="2209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2</a:t>
            </a:r>
            <a:endParaRPr lang="zh-CN" altLang="en-US" sz="2400" b="1" dirty="0"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</p:txBody>
      </p:sp>
      <p:sp>
        <p:nvSpPr>
          <p:cNvPr id="134" name="TextBox 133"/>
          <p:cNvSpPr txBox="1"/>
          <p:nvPr/>
        </p:nvSpPr>
        <p:spPr>
          <a:xfrm>
            <a:off x="6389192" y="4898325"/>
            <a:ext cx="2209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3</a:t>
            </a:r>
            <a:endParaRPr lang="zh-CN" altLang="en-US" sz="2400" b="1" dirty="0"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7165" y="1125532"/>
            <a:ext cx="1467105" cy="1816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6" name="TextBox 135"/>
          <p:cNvSpPr txBox="1"/>
          <p:nvPr/>
        </p:nvSpPr>
        <p:spPr>
          <a:xfrm>
            <a:off x="4504997" y="3784414"/>
            <a:ext cx="2209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1</a:t>
            </a:r>
            <a:endParaRPr lang="zh-CN" altLang="en-US" sz="2400" b="1" dirty="0"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7894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5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6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9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0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5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9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3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4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9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0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3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4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7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8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3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4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7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8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1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2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7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8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1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2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5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6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>
                      <p:stCondLst>
                        <p:cond delay="indefinite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1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2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5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6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9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0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>
                      <p:stCondLst>
                        <p:cond delay="indefinite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5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6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9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0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3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4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5" fill="hold">
                      <p:stCondLst>
                        <p:cond delay="indefinite"/>
                      </p:stCondLst>
                      <p:childTnLst>
                        <p:par>
                          <p:cTn id="246" fill="hold">
                            <p:stCondLst>
                              <p:cond delay="0"/>
                            </p:stCondLst>
                            <p:childTnLst>
                              <p:par>
                                <p:cTn id="2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9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0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3" dur="5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4" dur="5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7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8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9" fill="hold">
                      <p:stCondLst>
                        <p:cond delay="indefinite"/>
                      </p:stCondLst>
                      <p:childTnLst>
                        <p:par>
                          <p:cTn id="260" fill="hold">
                            <p:stCondLst>
                              <p:cond delay="0"/>
                            </p:stCondLst>
                            <p:childTnLst>
                              <p:par>
                                <p:cTn id="2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3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4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7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8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1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2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3" fill="hold">
                      <p:stCondLst>
                        <p:cond delay="indefinite"/>
                      </p:stCondLst>
                      <p:childTnLst>
                        <p:par>
                          <p:cTn id="274" fill="hold">
                            <p:stCondLst>
                              <p:cond delay="0"/>
                            </p:stCondLst>
                            <p:childTnLst>
                              <p:par>
                                <p:cTn id="27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7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8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1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2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5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6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7" fill="hold">
                      <p:stCondLst>
                        <p:cond delay="indefinite"/>
                      </p:stCondLst>
                      <p:childTnLst>
                        <p:par>
                          <p:cTn id="288" fill="hold">
                            <p:stCondLst>
                              <p:cond delay="0"/>
                            </p:stCondLst>
                            <p:childTnLst>
                              <p:par>
                                <p:cTn id="28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1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2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5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6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9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0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1" fill="hold">
                      <p:stCondLst>
                        <p:cond delay="indefinite"/>
                      </p:stCondLst>
                      <p:childTnLst>
                        <p:par>
                          <p:cTn id="302" fill="hold">
                            <p:stCondLst>
                              <p:cond delay="0"/>
                            </p:stCondLst>
                            <p:childTnLst>
                              <p:par>
                                <p:cTn id="30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5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6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9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0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3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4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5" fill="hold">
                      <p:stCondLst>
                        <p:cond delay="indefinite"/>
                      </p:stCondLst>
                      <p:childTnLst>
                        <p:par>
                          <p:cTn id="316" fill="hold">
                            <p:stCondLst>
                              <p:cond delay="0"/>
                            </p:stCondLst>
                            <p:childTnLst>
                              <p:par>
                                <p:cTn id="3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9" dur="5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0" dur="5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3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4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7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8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9" fill="hold">
                      <p:stCondLst>
                        <p:cond delay="indefinite"/>
                      </p:stCondLst>
                      <p:childTnLst>
                        <p:par>
                          <p:cTn id="330" fill="hold">
                            <p:stCondLst>
                              <p:cond delay="0"/>
                            </p:stCondLst>
                            <p:childTnLst>
                              <p:par>
                                <p:cTn id="3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3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4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7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8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1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2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3" fill="hold">
                      <p:stCondLst>
                        <p:cond delay="indefinite"/>
                      </p:stCondLst>
                      <p:childTnLst>
                        <p:par>
                          <p:cTn id="344" fill="hold">
                            <p:stCondLst>
                              <p:cond delay="0"/>
                            </p:stCondLst>
                            <p:childTnLst>
                              <p:par>
                                <p:cTn id="3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7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8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1" dur="5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2" dur="5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5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6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" grpId="0" animBg="1"/>
      <p:bldP spid="77" grpId="0" animBg="1"/>
      <p:bldP spid="18" grpId="0" animBg="1"/>
      <p:bldP spid="31" grpId="0" animBg="1"/>
      <p:bldP spid="32" grpId="0" animBg="1"/>
      <p:bldP spid="38" grpId="0" animBg="1"/>
      <p:bldP spid="43" grpId="0" animBg="1"/>
      <p:bldP spid="46" grpId="0" animBg="1"/>
      <p:bldP spid="47" grpId="0" animBg="1"/>
      <p:bldP spid="49" grpId="0"/>
      <p:bldP spid="50" grpId="0"/>
      <p:bldP spid="51" grpId="0"/>
      <p:bldP spid="52" grpId="0"/>
      <p:bldP spid="53" grpId="0"/>
      <p:bldP spid="54" grpId="0"/>
      <p:bldP spid="57" grpId="0" animBg="1"/>
      <p:bldP spid="60" grpId="0" animBg="1"/>
      <p:bldP spid="62" grpId="0" animBg="1"/>
      <p:bldP spid="66" grpId="0" animBg="1"/>
      <p:bldP spid="67" grpId="0" animBg="1"/>
      <p:bldP spid="72" grpId="0" animBg="1"/>
      <p:bldP spid="80" grpId="0" animBg="1"/>
      <p:bldP spid="85" grpId="0" animBg="1"/>
      <p:bldP spid="86" grpId="0" animBg="1"/>
      <p:bldP spid="88" grpId="0" animBg="1"/>
      <p:bldP spid="93" grpId="0" animBg="1"/>
      <p:bldP spid="94" grpId="0"/>
      <p:bldP spid="101" grpId="0" animBg="1"/>
      <p:bldP spid="105" grpId="0" animBg="1"/>
      <p:bldP spid="109" grpId="0" animBg="1"/>
      <p:bldP spid="112" grpId="0" animBg="1"/>
      <p:bldP spid="113" grpId="0" animBg="1"/>
      <p:bldP spid="117" grpId="0" animBg="1"/>
      <p:bldP spid="118" grpId="0"/>
      <p:bldP spid="119" grpId="0"/>
      <p:bldP spid="120" grpId="0"/>
      <p:bldP spid="121" grpId="0"/>
      <p:bldP spid="122" grpId="0"/>
      <p:bldP spid="123" grpId="0"/>
      <p:bldP spid="124" grpId="0"/>
      <p:bldP spid="125" grpId="0"/>
      <p:bldP spid="126" grpId="0"/>
      <p:bldP spid="127" grpId="0"/>
      <p:bldP spid="128" grpId="0"/>
      <p:bldP spid="129" grpId="0"/>
      <p:bldP spid="130" grpId="0"/>
      <p:bldP spid="131" grpId="0"/>
      <p:bldP spid="132" grpId="0"/>
      <p:bldP spid="133" grpId="0"/>
      <p:bldP spid="134" grpId="0"/>
      <p:bldP spid="136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90680" y="234546"/>
            <a:ext cx="4577277" cy="632651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132812">
              <a:lnSpc>
                <a:spcPct val="100000"/>
              </a:lnSpc>
              <a:spcBef>
                <a:spcPts val="133"/>
              </a:spcBef>
            </a:pPr>
            <a:r>
              <a:rPr sz="4000" b="1" spc="-13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搜索</a:t>
            </a:r>
            <a:r>
              <a:rPr sz="4000" b="1" spc="-2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树</a:t>
            </a:r>
          </a:p>
        </p:txBody>
      </p:sp>
      <p:sp>
        <p:nvSpPr>
          <p:cNvPr id="3" name="object 3"/>
          <p:cNvSpPr/>
          <p:nvPr/>
        </p:nvSpPr>
        <p:spPr>
          <a:xfrm>
            <a:off x="914937" y="1467612"/>
            <a:ext cx="4196808" cy="4299373"/>
          </a:xfrm>
          <a:custGeom>
            <a:avLst/>
            <a:gdLst/>
            <a:ahLst/>
            <a:cxnLst/>
            <a:rect l="l" t="t" r="r" b="b"/>
            <a:pathLst>
              <a:path w="4196080" h="3224529">
                <a:moveTo>
                  <a:pt x="1806181" y="0"/>
                </a:moveTo>
                <a:lnTo>
                  <a:pt x="641032" y="205663"/>
                </a:lnTo>
                <a:lnTo>
                  <a:pt x="174713" y="686536"/>
                </a:lnTo>
                <a:lnTo>
                  <a:pt x="0" y="1920506"/>
                </a:lnTo>
                <a:lnTo>
                  <a:pt x="932637" y="3155975"/>
                </a:lnTo>
                <a:lnTo>
                  <a:pt x="2564104" y="3224022"/>
                </a:lnTo>
                <a:lnTo>
                  <a:pt x="4195572" y="2538996"/>
                </a:lnTo>
                <a:lnTo>
                  <a:pt x="4195572" y="1303515"/>
                </a:lnTo>
                <a:lnTo>
                  <a:pt x="3088233" y="412826"/>
                </a:lnTo>
                <a:lnTo>
                  <a:pt x="1806181" y="0"/>
                </a:lnTo>
                <a:close/>
              </a:path>
            </a:pathLst>
          </a:custGeom>
          <a:solidFill>
            <a:srgbClr val="92D050">
              <a:alpha val="47056"/>
            </a:srgbClr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" name="object 4"/>
          <p:cNvSpPr/>
          <p:nvPr/>
        </p:nvSpPr>
        <p:spPr>
          <a:xfrm>
            <a:off x="914937" y="1467612"/>
            <a:ext cx="4196808" cy="4299373"/>
          </a:xfrm>
          <a:custGeom>
            <a:avLst/>
            <a:gdLst/>
            <a:ahLst/>
            <a:cxnLst/>
            <a:rect l="l" t="t" r="r" b="b"/>
            <a:pathLst>
              <a:path w="4196080" h="3224529">
                <a:moveTo>
                  <a:pt x="1806181" y="0"/>
                </a:moveTo>
                <a:lnTo>
                  <a:pt x="3088233" y="412826"/>
                </a:lnTo>
                <a:lnTo>
                  <a:pt x="4195572" y="1303515"/>
                </a:lnTo>
                <a:lnTo>
                  <a:pt x="4195572" y="2538996"/>
                </a:lnTo>
                <a:lnTo>
                  <a:pt x="2564104" y="3224022"/>
                </a:lnTo>
                <a:lnTo>
                  <a:pt x="932637" y="3155975"/>
                </a:lnTo>
                <a:lnTo>
                  <a:pt x="0" y="1920506"/>
                </a:lnTo>
                <a:lnTo>
                  <a:pt x="174713" y="686536"/>
                </a:lnTo>
                <a:lnTo>
                  <a:pt x="641032" y="205663"/>
                </a:lnTo>
                <a:lnTo>
                  <a:pt x="1806181" y="0"/>
                </a:lnTo>
                <a:close/>
              </a:path>
            </a:pathLst>
          </a:custGeom>
          <a:ln w="99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" name="object 5"/>
          <p:cNvSpPr/>
          <p:nvPr/>
        </p:nvSpPr>
        <p:spPr>
          <a:xfrm>
            <a:off x="2012411" y="2098550"/>
            <a:ext cx="116859" cy="639233"/>
          </a:xfrm>
          <a:custGeom>
            <a:avLst/>
            <a:gdLst/>
            <a:ahLst/>
            <a:cxnLst/>
            <a:rect l="l" t="t" r="r" b="b"/>
            <a:pathLst>
              <a:path w="116839" h="479425">
                <a:moveTo>
                  <a:pt x="116586" y="0"/>
                </a:moveTo>
                <a:lnTo>
                  <a:pt x="0" y="479298"/>
                </a:lnTo>
              </a:path>
            </a:pathLst>
          </a:custGeom>
          <a:ln w="99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" name="object 6"/>
          <p:cNvSpPr/>
          <p:nvPr/>
        </p:nvSpPr>
        <p:spPr>
          <a:xfrm>
            <a:off x="2137782" y="1467104"/>
            <a:ext cx="582396" cy="641773"/>
          </a:xfrm>
          <a:custGeom>
            <a:avLst/>
            <a:gdLst/>
            <a:ahLst/>
            <a:cxnLst/>
            <a:rect l="l" t="t" r="r" b="b"/>
            <a:pathLst>
              <a:path w="582294" h="481330">
                <a:moveTo>
                  <a:pt x="582168" y="0"/>
                </a:moveTo>
                <a:lnTo>
                  <a:pt x="0" y="480822"/>
                </a:lnTo>
              </a:path>
            </a:pathLst>
          </a:custGeom>
          <a:ln w="38100">
            <a:solidFill>
              <a:srgbClr val="FF33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" name="object 7"/>
          <p:cNvSpPr/>
          <p:nvPr/>
        </p:nvSpPr>
        <p:spPr>
          <a:xfrm>
            <a:off x="3177710" y="2735581"/>
            <a:ext cx="409011" cy="641773"/>
          </a:xfrm>
          <a:custGeom>
            <a:avLst/>
            <a:gdLst/>
            <a:ahLst/>
            <a:cxnLst/>
            <a:rect l="l" t="t" r="r" b="b"/>
            <a:pathLst>
              <a:path w="408939" h="481330">
                <a:moveTo>
                  <a:pt x="0" y="0"/>
                </a:moveTo>
                <a:lnTo>
                  <a:pt x="408431" y="480822"/>
                </a:lnTo>
              </a:path>
            </a:pathLst>
          </a:custGeom>
          <a:ln w="99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" name="object 8"/>
          <p:cNvSpPr/>
          <p:nvPr/>
        </p:nvSpPr>
        <p:spPr>
          <a:xfrm>
            <a:off x="2779116" y="1641348"/>
            <a:ext cx="174655" cy="273472"/>
          </a:xfrm>
          <a:custGeom>
            <a:avLst/>
            <a:gdLst/>
            <a:ahLst/>
            <a:cxnLst/>
            <a:rect l="l" t="t" r="r" b="b"/>
            <a:pathLst>
              <a:path w="174625" h="205105">
                <a:moveTo>
                  <a:pt x="174498" y="0"/>
                </a:moveTo>
                <a:lnTo>
                  <a:pt x="0" y="204978"/>
                </a:lnTo>
              </a:path>
            </a:pathLst>
          </a:custGeom>
          <a:ln w="5715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" name="object 9"/>
          <p:cNvSpPr/>
          <p:nvPr/>
        </p:nvSpPr>
        <p:spPr>
          <a:xfrm>
            <a:off x="2254006" y="818390"/>
            <a:ext cx="583031" cy="639233"/>
          </a:xfrm>
          <a:custGeom>
            <a:avLst/>
            <a:gdLst/>
            <a:ahLst/>
            <a:cxnLst/>
            <a:rect l="l" t="t" r="r" b="b"/>
            <a:pathLst>
              <a:path w="582930" h="479425">
                <a:moveTo>
                  <a:pt x="582930" y="0"/>
                </a:moveTo>
                <a:lnTo>
                  <a:pt x="0" y="479298"/>
                </a:lnTo>
              </a:path>
            </a:pathLst>
          </a:custGeom>
          <a:ln w="19050">
            <a:solidFill>
              <a:srgbClr val="FFFFFF"/>
            </a:solidFill>
            <a:prstDash val="sysDash"/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0" name="object 10"/>
          <p:cNvSpPr/>
          <p:nvPr/>
        </p:nvSpPr>
        <p:spPr>
          <a:xfrm>
            <a:off x="2836657" y="359664"/>
            <a:ext cx="873911" cy="458893"/>
          </a:xfrm>
          <a:custGeom>
            <a:avLst/>
            <a:gdLst/>
            <a:ahLst/>
            <a:cxnLst/>
            <a:rect l="l" t="t" r="r" b="b"/>
            <a:pathLst>
              <a:path w="873760" h="344170">
                <a:moveTo>
                  <a:pt x="873251" y="0"/>
                </a:moveTo>
                <a:lnTo>
                  <a:pt x="0" y="343662"/>
                </a:lnTo>
              </a:path>
            </a:pathLst>
          </a:custGeom>
          <a:ln w="38100">
            <a:solidFill>
              <a:srgbClr val="FF33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1" name="object 11"/>
          <p:cNvSpPr/>
          <p:nvPr/>
        </p:nvSpPr>
        <p:spPr>
          <a:xfrm>
            <a:off x="2720051" y="817881"/>
            <a:ext cx="116859" cy="639233"/>
          </a:xfrm>
          <a:custGeom>
            <a:avLst/>
            <a:gdLst/>
            <a:ahLst/>
            <a:cxnLst/>
            <a:rect l="l" t="t" r="r" b="b"/>
            <a:pathLst>
              <a:path w="116839" h="479425">
                <a:moveTo>
                  <a:pt x="116586" y="0"/>
                </a:moveTo>
                <a:lnTo>
                  <a:pt x="0" y="479298"/>
                </a:lnTo>
              </a:path>
            </a:pathLst>
          </a:custGeom>
          <a:ln w="38100">
            <a:solidFill>
              <a:srgbClr val="FF33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2" name="object 12"/>
          <p:cNvSpPr/>
          <p:nvPr/>
        </p:nvSpPr>
        <p:spPr>
          <a:xfrm>
            <a:off x="2836656" y="817881"/>
            <a:ext cx="758322" cy="639233"/>
          </a:xfrm>
          <a:custGeom>
            <a:avLst/>
            <a:gdLst/>
            <a:ahLst/>
            <a:cxnLst/>
            <a:rect l="l" t="t" r="r" b="b"/>
            <a:pathLst>
              <a:path w="758189" h="479425">
                <a:moveTo>
                  <a:pt x="0" y="0"/>
                </a:moveTo>
                <a:lnTo>
                  <a:pt x="758190" y="479298"/>
                </a:lnTo>
              </a:path>
            </a:pathLst>
          </a:custGeom>
          <a:ln w="38100">
            <a:solidFill>
              <a:srgbClr val="0033CC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3" name="object 13"/>
          <p:cNvSpPr/>
          <p:nvPr/>
        </p:nvSpPr>
        <p:spPr>
          <a:xfrm>
            <a:off x="3011566" y="2098550"/>
            <a:ext cx="174655" cy="639233"/>
          </a:xfrm>
          <a:custGeom>
            <a:avLst/>
            <a:gdLst/>
            <a:ahLst/>
            <a:cxnLst/>
            <a:rect l="l" t="t" r="r" b="b"/>
            <a:pathLst>
              <a:path w="174625" h="479425">
                <a:moveTo>
                  <a:pt x="0" y="0"/>
                </a:moveTo>
                <a:lnTo>
                  <a:pt x="174498" y="479298"/>
                </a:lnTo>
              </a:path>
            </a:pathLst>
          </a:custGeom>
          <a:ln w="99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4" name="object 14"/>
          <p:cNvSpPr/>
          <p:nvPr/>
        </p:nvSpPr>
        <p:spPr>
          <a:xfrm>
            <a:off x="2545140" y="1367028"/>
            <a:ext cx="175290" cy="731520"/>
          </a:xfrm>
          <a:custGeom>
            <a:avLst/>
            <a:gdLst/>
            <a:ahLst/>
            <a:cxnLst/>
            <a:rect l="l" t="t" r="r" b="b"/>
            <a:pathLst>
              <a:path w="175260" h="548640">
                <a:moveTo>
                  <a:pt x="175260" y="0"/>
                </a:moveTo>
                <a:lnTo>
                  <a:pt x="0" y="548640"/>
                </a:lnTo>
              </a:path>
            </a:pathLst>
          </a:custGeom>
          <a:ln w="9906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5" name="object 15"/>
          <p:cNvSpPr/>
          <p:nvPr/>
        </p:nvSpPr>
        <p:spPr>
          <a:xfrm>
            <a:off x="2720430" y="1457452"/>
            <a:ext cx="291516" cy="641773"/>
          </a:xfrm>
          <a:custGeom>
            <a:avLst/>
            <a:gdLst/>
            <a:ahLst/>
            <a:cxnLst/>
            <a:rect l="l" t="t" r="r" b="b"/>
            <a:pathLst>
              <a:path w="291464" h="481330">
                <a:moveTo>
                  <a:pt x="0" y="0"/>
                </a:moveTo>
                <a:lnTo>
                  <a:pt x="291084" y="480822"/>
                </a:lnTo>
              </a:path>
            </a:pathLst>
          </a:custGeom>
          <a:ln w="99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6" name="object 16"/>
          <p:cNvSpPr/>
          <p:nvPr/>
        </p:nvSpPr>
        <p:spPr>
          <a:xfrm>
            <a:off x="1555131" y="2100582"/>
            <a:ext cx="583031" cy="456353"/>
          </a:xfrm>
          <a:custGeom>
            <a:avLst/>
            <a:gdLst/>
            <a:ahLst/>
            <a:cxnLst/>
            <a:rect l="l" t="t" r="r" b="b"/>
            <a:pathLst>
              <a:path w="582930" h="342264">
                <a:moveTo>
                  <a:pt x="582930" y="0"/>
                </a:moveTo>
                <a:lnTo>
                  <a:pt x="0" y="342138"/>
                </a:lnTo>
              </a:path>
            </a:pathLst>
          </a:custGeom>
          <a:ln w="9906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7" name="object 17"/>
          <p:cNvSpPr/>
          <p:nvPr/>
        </p:nvSpPr>
        <p:spPr>
          <a:xfrm>
            <a:off x="2137782" y="2098040"/>
            <a:ext cx="349311" cy="548640"/>
          </a:xfrm>
          <a:custGeom>
            <a:avLst/>
            <a:gdLst/>
            <a:ahLst/>
            <a:cxnLst/>
            <a:rect l="l" t="t" r="r" b="b"/>
            <a:pathLst>
              <a:path w="349250" h="411480">
                <a:moveTo>
                  <a:pt x="0" y="0"/>
                </a:moveTo>
                <a:lnTo>
                  <a:pt x="348996" y="411480"/>
                </a:lnTo>
              </a:path>
            </a:pathLst>
          </a:custGeom>
          <a:ln w="38100">
            <a:solidFill>
              <a:srgbClr val="FF33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8" name="object 18"/>
          <p:cNvSpPr/>
          <p:nvPr/>
        </p:nvSpPr>
        <p:spPr>
          <a:xfrm>
            <a:off x="1612291" y="2737612"/>
            <a:ext cx="409011" cy="458893"/>
          </a:xfrm>
          <a:custGeom>
            <a:avLst/>
            <a:gdLst/>
            <a:ahLst/>
            <a:cxnLst/>
            <a:rect l="l" t="t" r="r" b="b"/>
            <a:pathLst>
              <a:path w="408939" h="344169">
                <a:moveTo>
                  <a:pt x="408431" y="0"/>
                </a:moveTo>
                <a:lnTo>
                  <a:pt x="0" y="343662"/>
                </a:lnTo>
              </a:path>
            </a:pathLst>
          </a:custGeom>
          <a:ln w="99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9" name="object 19"/>
          <p:cNvSpPr/>
          <p:nvPr/>
        </p:nvSpPr>
        <p:spPr>
          <a:xfrm>
            <a:off x="1904189" y="2737612"/>
            <a:ext cx="116859" cy="551179"/>
          </a:xfrm>
          <a:custGeom>
            <a:avLst/>
            <a:gdLst/>
            <a:ahLst/>
            <a:cxnLst/>
            <a:rect l="l" t="t" r="r" b="b"/>
            <a:pathLst>
              <a:path w="116839" h="413385">
                <a:moveTo>
                  <a:pt x="116586" y="0"/>
                </a:moveTo>
                <a:lnTo>
                  <a:pt x="0" y="413004"/>
                </a:lnTo>
              </a:path>
            </a:pathLst>
          </a:custGeom>
          <a:ln w="9906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0" name="object 20"/>
          <p:cNvSpPr/>
          <p:nvPr/>
        </p:nvSpPr>
        <p:spPr>
          <a:xfrm>
            <a:off x="2020793" y="2737612"/>
            <a:ext cx="175290" cy="551179"/>
          </a:xfrm>
          <a:custGeom>
            <a:avLst/>
            <a:gdLst/>
            <a:ahLst/>
            <a:cxnLst/>
            <a:rect l="l" t="t" r="r" b="b"/>
            <a:pathLst>
              <a:path w="175260" h="413385">
                <a:moveTo>
                  <a:pt x="0" y="0"/>
                </a:moveTo>
                <a:lnTo>
                  <a:pt x="175260" y="413004"/>
                </a:lnTo>
              </a:path>
            </a:pathLst>
          </a:custGeom>
          <a:ln w="99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1" name="object 21"/>
          <p:cNvSpPr/>
          <p:nvPr/>
        </p:nvSpPr>
        <p:spPr>
          <a:xfrm>
            <a:off x="1147390" y="3195829"/>
            <a:ext cx="464901" cy="547793"/>
          </a:xfrm>
          <a:custGeom>
            <a:avLst/>
            <a:gdLst/>
            <a:ahLst/>
            <a:cxnLst/>
            <a:rect l="l" t="t" r="r" b="b"/>
            <a:pathLst>
              <a:path w="464819" h="410844">
                <a:moveTo>
                  <a:pt x="464819" y="0"/>
                </a:moveTo>
                <a:lnTo>
                  <a:pt x="0" y="410718"/>
                </a:lnTo>
              </a:path>
            </a:pathLst>
          </a:custGeom>
          <a:ln w="9905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2" name="object 22"/>
          <p:cNvSpPr/>
          <p:nvPr/>
        </p:nvSpPr>
        <p:spPr>
          <a:xfrm>
            <a:off x="1497209" y="3195829"/>
            <a:ext cx="115590" cy="547793"/>
          </a:xfrm>
          <a:custGeom>
            <a:avLst/>
            <a:gdLst/>
            <a:ahLst/>
            <a:cxnLst/>
            <a:rect l="l" t="t" r="r" b="b"/>
            <a:pathLst>
              <a:path w="115569" h="410844">
                <a:moveTo>
                  <a:pt x="115062" y="0"/>
                </a:moveTo>
                <a:lnTo>
                  <a:pt x="0" y="410718"/>
                </a:lnTo>
              </a:path>
            </a:pathLst>
          </a:custGeom>
          <a:ln w="9906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3" name="object 23"/>
          <p:cNvSpPr/>
          <p:nvPr/>
        </p:nvSpPr>
        <p:spPr>
          <a:xfrm>
            <a:off x="1612292" y="3288285"/>
            <a:ext cx="234356" cy="455507"/>
          </a:xfrm>
          <a:custGeom>
            <a:avLst/>
            <a:gdLst/>
            <a:ahLst/>
            <a:cxnLst/>
            <a:rect l="l" t="t" r="r" b="b"/>
            <a:pathLst>
              <a:path w="234314" h="341630">
                <a:moveTo>
                  <a:pt x="0" y="0"/>
                </a:moveTo>
                <a:lnTo>
                  <a:pt x="233934" y="341376"/>
                </a:lnTo>
              </a:path>
            </a:pathLst>
          </a:custGeom>
          <a:ln w="99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4" name="object 24"/>
          <p:cNvSpPr/>
          <p:nvPr/>
        </p:nvSpPr>
        <p:spPr>
          <a:xfrm>
            <a:off x="1321918" y="3743453"/>
            <a:ext cx="524601" cy="642620"/>
          </a:xfrm>
          <a:custGeom>
            <a:avLst/>
            <a:gdLst/>
            <a:ahLst/>
            <a:cxnLst/>
            <a:rect l="l" t="t" r="r" b="b"/>
            <a:pathLst>
              <a:path w="524510" h="481964">
                <a:moveTo>
                  <a:pt x="524256" y="0"/>
                </a:moveTo>
                <a:lnTo>
                  <a:pt x="0" y="481584"/>
                </a:lnTo>
              </a:path>
            </a:pathLst>
          </a:custGeom>
          <a:ln w="9906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5" name="object 25"/>
          <p:cNvSpPr/>
          <p:nvPr/>
        </p:nvSpPr>
        <p:spPr>
          <a:xfrm>
            <a:off x="1671738" y="3743453"/>
            <a:ext cx="174655" cy="642620"/>
          </a:xfrm>
          <a:custGeom>
            <a:avLst/>
            <a:gdLst/>
            <a:ahLst/>
            <a:cxnLst/>
            <a:rect l="l" t="t" r="r" b="b"/>
            <a:pathLst>
              <a:path w="174625" h="481964">
                <a:moveTo>
                  <a:pt x="174498" y="0"/>
                </a:moveTo>
                <a:lnTo>
                  <a:pt x="0" y="481584"/>
                </a:lnTo>
              </a:path>
            </a:pathLst>
          </a:custGeom>
          <a:ln w="9906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6" name="object 26"/>
          <p:cNvSpPr/>
          <p:nvPr/>
        </p:nvSpPr>
        <p:spPr>
          <a:xfrm>
            <a:off x="1846267" y="3743453"/>
            <a:ext cx="174655" cy="642620"/>
          </a:xfrm>
          <a:custGeom>
            <a:avLst/>
            <a:gdLst/>
            <a:ahLst/>
            <a:cxnLst/>
            <a:rect l="l" t="t" r="r" b="b"/>
            <a:pathLst>
              <a:path w="174625" h="481964">
                <a:moveTo>
                  <a:pt x="0" y="0"/>
                </a:moveTo>
                <a:lnTo>
                  <a:pt x="174498" y="481584"/>
                </a:lnTo>
              </a:path>
            </a:pathLst>
          </a:custGeom>
          <a:ln w="9906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7" name="object 27"/>
          <p:cNvSpPr/>
          <p:nvPr/>
        </p:nvSpPr>
        <p:spPr>
          <a:xfrm>
            <a:off x="2078716" y="3378709"/>
            <a:ext cx="117495" cy="639233"/>
          </a:xfrm>
          <a:custGeom>
            <a:avLst/>
            <a:gdLst/>
            <a:ahLst/>
            <a:cxnLst/>
            <a:rect l="l" t="t" r="r" b="b"/>
            <a:pathLst>
              <a:path w="117475" h="479425">
                <a:moveTo>
                  <a:pt x="117348" y="0"/>
                </a:moveTo>
                <a:lnTo>
                  <a:pt x="0" y="479298"/>
                </a:lnTo>
              </a:path>
            </a:pathLst>
          </a:custGeom>
          <a:ln w="9905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8" name="object 28"/>
          <p:cNvSpPr/>
          <p:nvPr/>
        </p:nvSpPr>
        <p:spPr>
          <a:xfrm>
            <a:off x="2196084" y="3378709"/>
            <a:ext cx="0" cy="639233"/>
          </a:xfrm>
          <a:custGeom>
            <a:avLst/>
            <a:gdLst/>
            <a:ahLst/>
            <a:cxnLst/>
            <a:rect l="l" t="t" r="r" b="b"/>
            <a:pathLst>
              <a:path h="479425">
                <a:moveTo>
                  <a:pt x="0" y="0"/>
                </a:moveTo>
                <a:lnTo>
                  <a:pt x="0" y="479298"/>
                </a:lnTo>
              </a:path>
            </a:pathLst>
          </a:custGeom>
          <a:ln w="9906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9" name="object 29"/>
          <p:cNvSpPr/>
          <p:nvPr/>
        </p:nvSpPr>
        <p:spPr>
          <a:xfrm>
            <a:off x="2196085" y="3378709"/>
            <a:ext cx="174655" cy="639233"/>
          </a:xfrm>
          <a:custGeom>
            <a:avLst/>
            <a:gdLst/>
            <a:ahLst/>
            <a:cxnLst/>
            <a:rect l="l" t="t" r="r" b="b"/>
            <a:pathLst>
              <a:path w="174625" h="479425">
                <a:moveTo>
                  <a:pt x="0" y="0"/>
                </a:moveTo>
                <a:lnTo>
                  <a:pt x="174498" y="479298"/>
                </a:lnTo>
              </a:path>
            </a:pathLst>
          </a:custGeom>
          <a:ln w="9905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0" name="object 30"/>
          <p:cNvSpPr/>
          <p:nvPr/>
        </p:nvSpPr>
        <p:spPr>
          <a:xfrm>
            <a:off x="2486838" y="2646680"/>
            <a:ext cx="117495" cy="731520"/>
          </a:xfrm>
          <a:custGeom>
            <a:avLst/>
            <a:gdLst/>
            <a:ahLst/>
            <a:cxnLst/>
            <a:rect l="l" t="t" r="r" b="b"/>
            <a:pathLst>
              <a:path w="117475" h="548639">
                <a:moveTo>
                  <a:pt x="0" y="0"/>
                </a:moveTo>
                <a:lnTo>
                  <a:pt x="117348" y="548640"/>
                </a:lnTo>
              </a:path>
            </a:pathLst>
          </a:custGeom>
          <a:ln w="38099">
            <a:solidFill>
              <a:srgbClr val="FF33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1" name="object 31"/>
          <p:cNvSpPr/>
          <p:nvPr/>
        </p:nvSpPr>
        <p:spPr>
          <a:xfrm>
            <a:off x="2487219" y="2647188"/>
            <a:ext cx="349946" cy="731520"/>
          </a:xfrm>
          <a:custGeom>
            <a:avLst/>
            <a:gdLst/>
            <a:ahLst/>
            <a:cxnLst/>
            <a:rect l="l" t="t" r="r" b="b"/>
            <a:pathLst>
              <a:path w="349885" h="548639">
                <a:moveTo>
                  <a:pt x="0" y="0"/>
                </a:moveTo>
                <a:lnTo>
                  <a:pt x="349758" y="548640"/>
                </a:lnTo>
              </a:path>
            </a:pathLst>
          </a:custGeom>
          <a:ln w="99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2" name="object 32"/>
          <p:cNvSpPr/>
          <p:nvPr/>
        </p:nvSpPr>
        <p:spPr>
          <a:xfrm>
            <a:off x="2487218" y="2647188"/>
            <a:ext cx="466806" cy="548640"/>
          </a:xfrm>
          <a:custGeom>
            <a:avLst/>
            <a:gdLst/>
            <a:ahLst/>
            <a:cxnLst/>
            <a:rect l="l" t="t" r="r" b="b"/>
            <a:pathLst>
              <a:path w="466725" h="411480">
                <a:moveTo>
                  <a:pt x="0" y="0"/>
                </a:moveTo>
                <a:lnTo>
                  <a:pt x="466344" y="411480"/>
                </a:lnTo>
              </a:path>
            </a:pathLst>
          </a:custGeom>
          <a:ln w="9906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3" name="object 33"/>
          <p:cNvSpPr/>
          <p:nvPr/>
        </p:nvSpPr>
        <p:spPr>
          <a:xfrm>
            <a:off x="2428535" y="3378709"/>
            <a:ext cx="176560" cy="639233"/>
          </a:xfrm>
          <a:custGeom>
            <a:avLst/>
            <a:gdLst/>
            <a:ahLst/>
            <a:cxnLst/>
            <a:rect l="l" t="t" r="r" b="b"/>
            <a:pathLst>
              <a:path w="176530" h="479425">
                <a:moveTo>
                  <a:pt x="176022" y="0"/>
                </a:moveTo>
                <a:lnTo>
                  <a:pt x="0" y="479298"/>
                </a:lnTo>
              </a:path>
            </a:pathLst>
          </a:custGeom>
          <a:ln w="9906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4" name="object 34"/>
          <p:cNvSpPr/>
          <p:nvPr/>
        </p:nvSpPr>
        <p:spPr>
          <a:xfrm>
            <a:off x="2604206" y="3378202"/>
            <a:ext cx="0" cy="639233"/>
          </a:xfrm>
          <a:custGeom>
            <a:avLst/>
            <a:gdLst/>
            <a:ahLst/>
            <a:cxnLst/>
            <a:rect l="l" t="t" r="r" b="b"/>
            <a:pathLst>
              <a:path h="479425">
                <a:moveTo>
                  <a:pt x="0" y="0"/>
                </a:moveTo>
                <a:lnTo>
                  <a:pt x="0" y="479298"/>
                </a:lnTo>
              </a:path>
            </a:pathLst>
          </a:custGeom>
          <a:ln w="38100">
            <a:solidFill>
              <a:srgbClr val="FF33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5" name="object 35"/>
          <p:cNvSpPr/>
          <p:nvPr/>
        </p:nvSpPr>
        <p:spPr>
          <a:xfrm>
            <a:off x="2604588" y="3378709"/>
            <a:ext cx="292151" cy="659553"/>
          </a:xfrm>
          <a:custGeom>
            <a:avLst/>
            <a:gdLst/>
            <a:ahLst/>
            <a:cxnLst/>
            <a:rect l="l" t="t" r="r" b="b"/>
            <a:pathLst>
              <a:path w="292100" h="494664">
                <a:moveTo>
                  <a:pt x="0" y="0"/>
                </a:moveTo>
                <a:lnTo>
                  <a:pt x="291846" y="494538"/>
                </a:lnTo>
              </a:path>
            </a:pathLst>
          </a:custGeom>
          <a:ln w="9906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6" name="object 36"/>
          <p:cNvSpPr/>
          <p:nvPr/>
        </p:nvSpPr>
        <p:spPr>
          <a:xfrm>
            <a:off x="2312691" y="4017773"/>
            <a:ext cx="292151" cy="733213"/>
          </a:xfrm>
          <a:custGeom>
            <a:avLst/>
            <a:gdLst/>
            <a:ahLst/>
            <a:cxnLst/>
            <a:rect l="l" t="t" r="r" b="b"/>
            <a:pathLst>
              <a:path w="292100" h="549910">
                <a:moveTo>
                  <a:pt x="291845" y="0"/>
                </a:moveTo>
                <a:lnTo>
                  <a:pt x="0" y="549402"/>
                </a:lnTo>
              </a:path>
            </a:pathLst>
          </a:custGeom>
          <a:ln w="9906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7" name="object 37"/>
          <p:cNvSpPr/>
          <p:nvPr/>
        </p:nvSpPr>
        <p:spPr>
          <a:xfrm>
            <a:off x="2487219" y="4017773"/>
            <a:ext cx="117495" cy="733213"/>
          </a:xfrm>
          <a:custGeom>
            <a:avLst/>
            <a:gdLst/>
            <a:ahLst/>
            <a:cxnLst/>
            <a:rect l="l" t="t" r="r" b="b"/>
            <a:pathLst>
              <a:path w="117475" h="549910">
                <a:moveTo>
                  <a:pt x="117348" y="0"/>
                </a:moveTo>
                <a:lnTo>
                  <a:pt x="0" y="549402"/>
                </a:lnTo>
              </a:path>
            </a:pathLst>
          </a:custGeom>
          <a:ln w="9906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8" name="object 38"/>
          <p:cNvSpPr/>
          <p:nvPr/>
        </p:nvSpPr>
        <p:spPr>
          <a:xfrm>
            <a:off x="2604207" y="4017265"/>
            <a:ext cx="116225" cy="733213"/>
          </a:xfrm>
          <a:custGeom>
            <a:avLst/>
            <a:gdLst/>
            <a:ahLst/>
            <a:cxnLst/>
            <a:rect l="l" t="t" r="r" b="b"/>
            <a:pathLst>
              <a:path w="116205" h="549910">
                <a:moveTo>
                  <a:pt x="0" y="0"/>
                </a:moveTo>
                <a:lnTo>
                  <a:pt x="115823" y="549402"/>
                </a:lnTo>
              </a:path>
            </a:pathLst>
          </a:custGeom>
          <a:ln w="38099">
            <a:solidFill>
              <a:srgbClr val="FF33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9" name="object 39"/>
          <p:cNvSpPr/>
          <p:nvPr/>
        </p:nvSpPr>
        <p:spPr>
          <a:xfrm>
            <a:off x="2837038" y="3378709"/>
            <a:ext cx="58429" cy="639233"/>
          </a:xfrm>
          <a:custGeom>
            <a:avLst/>
            <a:gdLst/>
            <a:ahLst/>
            <a:cxnLst/>
            <a:rect l="l" t="t" r="r" b="b"/>
            <a:pathLst>
              <a:path w="58419" h="479425">
                <a:moveTo>
                  <a:pt x="0" y="0"/>
                </a:moveTo>
                <a:lnTo>
                  <a:pt x="57912" y="479298"/>
                </a:lnTo>
              </a:path>
            </a:pathLst>
          </a:custGeom>
          <a:ln w="9906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0" name="object 40"/>
          <p:cNvSpPr/>
          <p:nvPr/>
        </p:nvSpPr>
        <p:spPr>
          <a:xfrm>
            <a:off x="2837039" y="3378709"/>
            <a:ext cx="174655" cy="639233"/>
          </a:xfrm>
          <a:custGeom>
            <a:avLst/>
            <a:gdLst/>
            <a:ahLst/>
            <a:cxnLst/>
            <a:rect l="l" t="t" r="r" b="b"/>
            <a:pathLst>
              <a:path w="174625" h="479425">
                <a:moveTo>
                  <a:pt x="0" y="0"/>
                </a:moveTo>
                <a:lnTo>
                  <a:pt x="174498" y="479298"/>
                </a:lnTo>
              </a:path>
            </a:pathLst>
          </a:custGeom>
          <a:ln w="9905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1" name="object 41"/>
          <p:cNvSpPr/>
          <p:nvPr/>
        </p:nvSpPr>
        <p:spPr>
          <a:xfrm>
            <a:off x="2837038" y="3378709"/>
            <a:ext cx="349311" cy="639233"/>
          </a:xfrm>
          <a:custGeom>
            <a:avLst/>
            <a:gdLst/>
            <a:ahLst/>
            <a:cxnLst/>
            <a:rect l="l" t="t" r="r" b="b"/>
            <a:pathLst>
              <a:path w="349250" h="479425">
                <a:moveTo>
                  <a:pt x="0" y="0"/>
                </a:moveTo>
                <a:lnTo>
                  <a:pt x="348996" y="479298"/>
                </a:lnTo>
              </a:path>
            </a:pathLst>
          </a:custGeom>
          <a:ln w="9906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2" name="object 42"/>
          <p:cNvSpPr/>
          <p:nvPr/>
        </p:nvSpPr>
        <p:spPr>
          <a:xfrm>
            <a:off x="3186095" y="2737612"/>
            <a:ext cx="58429" cy="551179"/>
          </a:xfrm>
          <a:custGeom>
            <a:avLst/>
            <a:gdLst/>
            <a:ahLst/>
            <a:cxnLst/>
            <a:rect l="l" t="t" r="r" b="b"/>
            <a:pathLst>
              <a:path w="58419" h="413385">
                <a:moveTo>
                  <a:pt x="0" y="0"/>
                </a:moveTo>
                <a:lnTo>
                  <a:pt x="57912" y="413004"/>
                </a:lnTo>
              </a:path>
            </a:pathLst>
          </a:custGeom>
          <a:ln w="9906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3" name="object 43"/>
          <p:cNvSpPr/>
          <p:nvPr/>
        </p:nvSpPr>
        <p:spPr>
          <a:xfrm>
            <a:off x="3186095" y="2737612"/>
            <a:ext cx="234356" cy="641773"/>
          </a:xfrm>
          <a:custGeom>
            <a:avLst/>
            <a:gdLst/>
            <a:ahLst/>
            <a:cxnLst/>
            <a:rect l="l" t="t" r="r" b="b"/>
            <a:pathLst>
              <a:path w="234314" h="481330">
                <a:moveTo>
                  <a:pt x="0" y="0"/>
                </a:moveTo>
                <a:lnTo>
                  <a:pt x="233934" y="480822"/>
                </a:lnTo>
              </a:path>
            </a:pathLst>
          </a:custGeom>
          <a:ln w="99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4" name="object 44"/>
          <p:cNvSpPr/>
          <p:nvPr/>
        </p:nvSpPr>
        <p:spPr>
          <a:xfrm>
            <a:off x="3361386" y="3378709"/>
            <a:ext cx="59065" cy="639233"/>
          </a:xfrm>
          <a:custGeom>
            <a:avLst/>
            <a:gdLst/>
            <a:ahLst/>
            <a:cxnLst/>
            <a:rect l="l" t="t" r="r" b="b"/>
            <a:pathLst>
              <a:path w="59054" h="479425">
                <a:moveTo>
                  <a:pt x="58674" y="0"/>
                </a:moveTo>
                <a:lnTo>
                  <a:pt x="0" y="479298"/>
                </a:lnTo>
              </a:path>
            </a:pathLst>
          </a:custGeom>
          <a:ln w="9906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5" name="object 45"/>
          <p:cNvSpPr/>
          <p:nvPr/>
        </p:nvSpPr>
        <p:spPr>
          <a:xfrm>
            <a:off x="3420070" y="3378708"/>
            <a:ext cx="58429" cy="733213"/>
          </a:xfrm>
          <a:custGeom>
            <a:avLst/>
            <a:gdLst/>
            <a:ahLst/>
            <a:cxnLst/>
            <a:rect l="l" t="t" r="r" b="b"/>
            <a:pathLst>
              <a:path w="58420" h="549910">
                <a:moveTo>
                  <a:pt x="0" y="0"/>
                </a:moveTo>
                <a:lnTo>
                  <a:pt x="57912" y="549402"/>
                </a:lnTo>
              </a:path>
            </a:pathLst>
          </a:custGeom>
          <a:ln w="9906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6" name="object 46"/>
          <p:cNvSpPr/>
          <p:nvPr/>
        </p:nvSpPr>
        <p:spPr>
          <a:xfrm>
            <a:off x="3420069" y="3378709"/>
            <a:ext cx="232450" cy="639233"/>
          </a:xfrm>
          <a:custGeom>
            <a:avLst/>
            <a:gdLst/>
            <a:ahLst/>
            <a:cxnLst/>
            <a:rect l="l" t="t" r="r" b="b"/>
            <a:pathLst>
              <a:path w="232410" h="479425">
                <a:moveTo>
                  <a:pt x="0" y="0"/>
                </a:moveTo>
                <a:lnTo>
                  <a:pt x="232410" y="479298"/>
                </a:lnTo>
              </a:path>
            </a:pathLst>
          </a:custGeom>
          <a:ln w="99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7" name="object 47"/>
          <p:cNvSpPr/>
          <p:nvPr/>
        </p:nvSpPr>
        <p:spPr>
          <a:xfrm>
            <a:off x="3477991" y="4017773"/>
            <a:ext cx="174655" cy="733213"/>
          </a:xfrm>
          <a:custGeom>
            <a:avLst/>
            <a:gdLst/>
            <a:ahLst/>
            <a:cxnLst/>
            <a:rect l="l" t="t" r="r" b="b"/>
            <a:pathLst>
              <a:path w="174625" h="549910">
                <a:moveTo>
                  <a:pt x="174498" y="0"/>
                </a:moveTo>
                <a:lnTo>
                  <a:pt x="0" y="549402"/>
                </a:lnTo>
              </a:path>
            </a:pathLst>
          </a:custGeom>
          <a:ln w="9906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8" name="object 48"/>
          <p:cNvSpPr/>
          <p:nvPr/>
        </p:nvSpPr>
        <p:spPr>
          <a:xfrm>
            <a:off x="3595358" y="4017773"/>
            <a:ext cx="57160" cy="733213"/>
          </a:xfrm>
          <a:custGeom>
            <a:avLst/>
            <a:gdLst/>
            <a:ahLst/>
            <a:cxnLst/>
            <a:rect l="l" t="t" r="r" b="b"/>
            <a:pathLst>
              <a:path w="57150" h="549910">
                <a:moveTo>
                  <a:pt x="57150" y="0"/>
                </a:moveTo>
                <a:lnTo>
                  <a:pt x="0" y="549402"/>
                </a:lnTo>
              </a:path>
            </a:pathLst>
          </a:custGeom>
          <a:ln w="9906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9" name="object 49"/>
          <p:cNvSpPr/>
          <p:nvPr/>
        </p:nvSpPr>
        <p:spPr>
          <a:xfrm>
            <a:off x="3652520" y="4017773"/>
            <a:ext cx="117495" cy="733213"/>
          </a:xfrm>
          <a:custGeom>
            <a:avLst/>
            <a:gdLst/>
            <a:ahLst/>
            <a:cxnLst/>
            <a:rect l="l" t="t" r="r" b="b"/>
            <a:pathLst>
              <a:path w="117475" h="549910">
                <a:moveTo>
                  <a:pt x="0" y="0"/>
                </a:moveTo>
                <a:lnTo>
                  <a:pt x="117348" y="549402"/>
                </a:lnTo>
              </a:path>
            </a:pathLst>
          </a:custGeom>
          <a:ln w="9906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0" name="object 50"/>
          <p:cNvSpPr/>
          <p:nvPr/>
        </p:nvSpPr>
        <p:spPr>
          <a:xfrm>
            <a:off x="3595359" y="3378707"/>
            <a:ext cx="232450" cy="548640"/>
          </a:xfrm>
          <a:custGeom>
            <a:avLst/>
            <a:gdLst/>
            <a:ahLst/>
            <a:cxnLst/>
            <a:rect l="l" t="t" r="r" b="b"/>
            <a:pathLst>
              <a:path w="232410" h="411480">
                <a:moveTo>
                  <a:pt x="0" y="0"/>
                </a:moveTo>
                <a:lnTo>
                  <a:pt x="232410" y="411480"/>
                </a:lnTo>
              </a:path>
            </a:pathLst>
          </a:custGeom>
          <a:ln w="9905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1" name="object 51"/>
          <p:cNvSpPr/>
          <p:nvPr/>
        </p:nvSpPr>
        <p:spPr>
          <a:xfrm>
            <a:off x="3595358" y="3378707"/>
            <a:ext cx="407105" cy="548640"/>
          </a:xfrm>
          <a:custGeom>
            <a:avLst/>
            <a:gdLst/>
            <a:ahLst/>
            <a:cxnLst/>
            <a:rect l="l" t="t" r="r" b="b"/>
            <a:pathLst>
              <a:path w="407035" h="411480">
                <a:moveTo>
                  <a:pt x="0" y="0"/>
                </a:moveTo>
                <a:lnTo>
                  <a:pt x="406908" y="411480"/>
                </a:lnTo>
              </a:path>
            </a:pathLst>
          </a:custGeom>
          <a:ln w="99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2" name="object 52"/>
          <p:cNvSpPr/>
          <p:nvPr/>
        </p:nvSpPr>
        <p:spPr>
          <a:xfrm>
            <a:off x="3595359" y="3378708"/>
            <a:ext cx="581761" cy="458893"/>
          </a:xfrm>
          <a:custGeom>
            <a:avLst/>
            <a:gdLst/>
            <a:ahLst/>
            <a:cxnLst/>
            <a:rect l="l" t="t" r="r" b="b"/>
            <a:pathLst>
              <a:path w="581660" h="344169">
                <a:moveTo>
                  <a:pt x="0" y="0"/>
                </a:moveTo>
                <a:lnTo>
                  <a:pt x="581406" y="343662"/>
                </a:lnTo>
              </a:path>
            </a:pathLst>
          </a:custGeom>
          <a:ln w="9906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3" name="object 53"/>
          <p:cNvSpPr/>
          <p:nvPr/>
        </p:nvSpPr>
        <p:spPr>
          <a:xfrm>
            <a:off x="3885733" y="3927347"/>
            <a:ext cx="116859" cy="731520"/>
          </a:xfrm>
          <a:custGeom>
            <a:avLst/>
            <a:gdLst/>
            <a:ahLst/>
            <a:cxnLst/>
            <a:rect l="l" t="t" r="r" b="b"/>
            <a:pathLst>
              <a:path w="116839" h="548639">
                <a:moveTo>
                  <a:pt x="116586" y="0"/>
                </a:moveTo>
                <a:lnTo>
                  <a:pt x="0" y="548640"/>
                </a:lnTo>
              </a:path>
            </a:pathLst>
          </a:custGeom>
          <a:ln w="9906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4" name="object 54"/>
          <p:cNvSpPr/>
          <p:nvPr/>
        </p:nvSpPr>
        <p:spPr>
          <a:xfrm>
            <a:off x="4002337" y="3927347"/>
            <a:ext cx="0" cy="822960"/>
          </a:xfrm>
          <a:custGeom>
            <a:avLst/>
            <a:gdLst/>
            <a:ahLst/>
            <a:cxnLst/>
            <a:rect l="l" t="t" r="r" b="b"/>
            <a:pathLst>
              <a:path h="617220">
                <a:moveTo>
                  <a:pt x="0" y="0"/>
                </a:moveTo>
                <a:lnTo>
                  <a:pt x="0" y="617220"/>
                </a:lnTo>
              </a:path>
            </a:pathLst>
          </a:custGeom>
          <a:ln w="9906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5" name="object 55"/>
          <p:cNvSpPr/>
          <p:nvPr/>
        </p:nvSpPr>
        <p:spPr>
          <a:xfrm>
            <a:off x="4002337" y="3927347"/>
            <a:ext cx="234356" cy="822960"/>
          </a:xfrm>
          <a:custGeom>
            <a:avLst/>
            <a:gdLst/>
            <a:ahLst/>
            <a:cxnLst/>
            <a:rect l="l" t="t" r="r" b="b"/>
            <a:pathLst>
              <a:path w="234314" h="617220">
                <a:moveTo>
                  <a:pt x="0" y="0"/>
                </a:moveTo>
                <a:lnTo>
                  <a:pt x="233934" y="617220"/>
                </a:lnTo>
              </a:path>
            </a:pathLst>
          </a:custGeom>
          <a:ln w="9906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6" name="object 56"/>
          <p:cNvSpPr/>
          <p:nvPr/>
        </p:nvSpPr>
        <p:spPr>
          <a:xfrm>
            <a:off x="3011566" y="2098548"/>
            <a:ext cx="641461" cy="731520"/>
          </a:xfrm>
          <a:custGeom>
            <a:avLst/>
            <a:gdLst/>
            <a:ahLst/>
            <a:cxnLst/>
            <a:rect l="l" t="t" r="r" b="b"/>
            <a:pathLst>
              <a:path w="641350" h="548639">
                <a:moveTo>
                  <a:pt x="0" y="0"/>
                </a:moveTo>
                <a:lnTo>
                  <a:pt x="640842" y="548640"/>
                </a:lnTo>
              </a:path>
            </a:pathLst>
          </a:custGeom>
          <a:ln w="99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7" name="object 57"/>
          <p:cNvSpPr/>
          <p:nvPr/>
        </p:nvSpPr>
        <p:spPr>
          <a:xfrm>
            <a:off x="3011565" y="2098550"/>
            <a:ext cx="758322" cy="364913"/>
          </a:xfrm>
          <a:custGeom>
            <a:avLst/>
            <a:gdLst/>
            <a:ahLst/>
            <a:cxnLst/>
            <a:rect l="l" t="t" r="r" b="b"/>
            <a:pathLst>
              <a:path w="758189" h="273685">
                <a:moveTo>
                  <a:pt x="0" y="0"/>
                </a:moveTo>
                <a:lnTo>
                  <a:pt x="758190" y="273558"/>
                </a:lnTo>
              </a:path>
            </a:pathLst>
          </a:custGeom>
          <a:ln w="9906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8" name="object 58"/>
          <p:cNvSpPr/>
          <p:nvPr/>
        </p:nvSpPr>
        <p:spPr>
          <a:xfrm>
            <a:off x="3595359" y="2737612"/>
            <a:ext cx="349311" cy="551179"/>
          </a:xfrm>
          <a:custGeom>
            <a:avLst/>
            <a:gdLst/>
            <a:ahLst/>
            <a:cxnLst/>
            <a:rect l="l" t="t" r="r" b="b"/>
            <a:pathLst>
              <a:path w="349250" h="413385">
                <a:moveTo>
                  <a:pt x="0" y="0"/>
                </a:moveTo>
                <a:lnTo>
                  <a:pt x="348996" y="413004"/>
                </a:lnTo>
              </a:path>
            </a:pathLst>
          </a:custGeom>
          <a:ln w="99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9" name="object 59"/>
          <p:cNvSpPr/>
          <p:nvPr/>
        </p:nvSpPr>
        <p:spPr>
          <a:xfrm>
            <a:off x="3595358" y="2737612"/>
            <a:ext cx="464901" cy="458893"/>
          </a:xfrm>
          <a:custGeom>
            <a:avLst/>
            <a:gdLst/>
            <a:ahLst/>
            <a:cxnLst/>
            <a:rect l="l" t="t" r="r" b="b"/>
            <a:pathLst>
              <a:path w="464820" h="344169">
                <a:moveTo>
                  <a:pt x="0" y="0"/>
                </a:moveTo>
                <a:lnTo>
                  <a:pt x="464820" y="343662"/>
                </a:lnTo>
              </a:path>
            </a:pathLst>
          </a:custGeom>
          <a:ln w="9906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0" name="object 60"/>
          <p:cNvSpPr/>
          <p:nvPr/>
        </p:nvSpPr>
        <p:spPr>
          <a:xfrm>
            <a:off x="3595359" y="2737612"/>
            <a:ext cx="699256" cy="367453"/>
          </a:xfrm>
          <a:custGeom>
            <a:avLst/>
            <a:gdLst/>
            <a:ahLst/>
            <a:cxnLst/>
            <a:rect l="l" t="t" r="r" b="b"/>
            <a:pathLst>
              <a:path w="699135" h="275589">
                <a:moveTo>
                  <a:pt x="0" y="0"/>
                </a:moveTo>
                <a:lnTo>
                  <a:pt x="698754" y="275082"/>
                </a:lnTo>
              </a:path>
            </a:pathLst>
          </a:custGeom>
          <a:ln w="99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1" name="object 61"/>
          <p:cNvSpPr/>
          <p:nvPr/>
        </p:nvSpPr>
        <p:spPr>
          <a:xfrm>
            <a:off x="3944415" y="3288286"/>
            <a:ext cx="407741" cy="639233"/>
          </a:xfrm>
          <a:custGeom>
            <a:avLst/>
            <a:gdLst/>
            <a:ahLst/>
            <a:cxnLst/>
            <a:rect l="l" t="t" r="r" b="b"/>
            <a:pathLst>
              <a:path w="407670" h="479425">
                <a:moveTo>
                  <a:pt x="0" y="0"/>
                </a:moveTo>
                <a:lnTo>
                  <a:pt x="407670" y="479298"/>
                </a:lnTo>
              </a:path>
            </a:pathLst>
          </a:custGeom>
          <a:ln w="9906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2" name="object 62"/>
          <p:cNvSpPr/>
          <p:nvPr/>
        </p:nvSpPr>
        <p:spPr>
          <a:xfrm>
            <a:off x="3944416" y="3288284"/>
            <a:ext cx="524601" cy="548640"/>
          </a:xfrm>
          <a:custGeom>
            <a:avLst/>
            <a:gdLst/>
            <a:ahLst/>
            <a:cxnLst/>
            <a:rect l="l" t="t" r="r" b="b"/>
            <a:pathLst>
              <a:path w="524510" h="411480">
                <a:moveTo>
                  <a:pt x="0" y="0"/>
                </a:moveTo>
                <a:lnTo>
                  <a:pt x="524256" y="411480"/>
                </a:lnTo>
              </a:path>
            </a:pathLst>
          </a:custGeom>
          <a:ln w="99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3" name="object 63"/>
          <p:cNvSpPr/>
          <p:nvPr/>
        </p:nvSpPr>
        <p:spPr>
          <a:xfrm>
            <a:off x="4002338" y="3378709"/>
            <a:ext cx="641461" cy="364913"/>
          </a:xfrm>
          <a:custGeom>
            <a:avLst/>
            <a:gdLst/>
            <a:ahLst/>
            <a:cxnLst/>
            <a:rect l="l" t="t" r="r" b="b"/>
            <a:pathLst>
              <a:path w="641350" h="273685">
                <a:moveTo>
                  <a:pt x="0" y="0"/>
                </a:moveTo>
                <a:lnTo>
                  <a:pt x="640842" y="273558"/>
                </a:lnTo>
              </a:path>
            </a:pathLst>
          </a:custGeom>
          <a:ln w="99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4" name="object 64"/>
          <p:cNvSpPr/>
          <p:nvPr/>
        </p:nvSpPr>
        <p:spPr>
          <a:xfrm>
            <a:off x="4352158" y="3836925"/>
            <a:ext cx="116859" cy="822113"/>
          </a:xfrm>
          <a:custGeom>
            <a:avLst/>
            <a:gdLst/>
            <a:ahLst/>
            <a:cxnLst/>
            <a:rect l="l" t="t" r="r" b="b"/>
            <a:pathLst>
              <a:path w="116839" h="616585">
                <a:moveTo>
                  <a:pt x="116586" y="0"/>
                </a:moveTo>
                <a:lnTo>
                  <a:pt x="0" y="616458"/>
                </a:lnTo>
              </a:path>
            </a:pathLst>
          </a:custGeom>
          <a:ln w="9906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5" name="object 65"/>
          <p:cNvSpPr/>
          <p:nvPr/>
        </p:nvSpPr>
        <p:spPr>
          <a:xfrm>
            <a:off x="4468762" y="3836925"/>
            <a:ext cx="0" cy="822113"/>
          </a:xfrm>
          <a:custGeom>
            <a:avLst/>
            <a:gdLst/>
            <a:ahLst/>
            <a:cxnLst/>
            <a:rect l="l" t="t" r="r" b="b"/>
            <a:pathLst>
              <a:path h="616585">
                <a:moveTo>
                  <a:pt x="0" y="0"/>
                </a:moveTo>
                <a:lnTo>
                  <a:pt x="0" y="616458"/>
                </a:lnTo>
              </a:path>
            </a:pathLst>
          </a:custGeom>
          <a:ln w="9906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6" name="object 66"/>
          <p:cNvSpPr/>
          <p:nvPr/>
        </p:nvSpPr>
        <p:spPr>
          <a:xfrm>
            <a:off x="4468763" y="3836925"/>
            <a:ext cx="116859" cy="822113"/>
          </a:xfrm>
          <a:custGeom>
            <a:avLst/>
            <a:gdLst/>
            <a:ahLst/>
            <a:cxnLst/>
            <a:rect l="l" t="t" r="r" b="b"/>
            <a:pathLst>
              <a:path w="116839" h="616585">
                <a:moveTo>
                  <a:pt x="0" y="0"/>
                </a:moveTo>
                <a:lnTo>
                  <a:pt x="116586" y="616458"/>
                </a:lnTo>
              </a:path>
            </a:pathLst>
          </a:custGeom>
          <a:ln w="9906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7" name="object 67"/>
          <p:cNvSpPr/>
          <p:nvPr/>
        </p:nvSpPr>
        <p:spPr>
          <a:xfrm>
            <a:off x="4643290" y="3743453"/>
            <a:ext cx="0" cy="916093"/>
          </a:xfrm>
          <a:custGeom>
            <a:avLst/>
            <a:gdLst/>
            <a:ahLst/>
            <a:cxnLst/>
            <a:rect l="l" t="t" r="r" b="b"/>
            <a:pathLst>
              <a:path h="687070">
                <a:moveTo>
                  <a:pt x="0" y="0"/>
                </a:moveTo>
                <a:lnTo>
                  <a:pt x="0" y="686562"/>
                </a:lnTo>
              </a:path>
            </a:pathLst>
          </a:custGeom>
          <a:ln w="9906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8" name="object 68"/>
          <p:cNvSpPr/>
          <p:nvPr/>
        </p:nvSpPr>
        <p:spPr>
          <a:xfrm>
            <a:off x="4643292" y="3743453"/>
            <a:ext cx="117495" cy="916093"/>
          </a:xfrm>
          <a:custGeom>
            <a:avLst/>
            <a:gdLst/>
            <a:ahLst/>
            <a:cxnLst/>
            <a:rect l="l" t="t" r="r" b="b"/>
            <a:pathLst>
              <a:path w="117475" h="687070">
                <a:moveTo>
                  <a:pt x="0" y="0"/>
                </a:moveTo>
                <a:lnTo>
                  <a:pt x="117348" y="686562"/>
                </a:lnTo>
              </a:path>
            </a:pathLst>
          </a:custGeom>
          <a:ln w="9906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9" name="object 69"/>
          <p:cNvSpPr/>
          <p:nvPr/>
        </p:nvSpPr>
        <p:spPr>
          <a:xfrm>
            <a:off x="4643290" y="3743453"/>
            <a:ext cx="234356" cy="916093"/>
          </a:xfrm>
          <a:custGeom>
            <a:avLst/>
            <a:gdLst/>
            <a:ahLst/>
            <a:cxnLst/>
            <a:rect l="l" t="t" r="r" b="b"/>
            <a:pathLst>
              <a:path w="234314" h="687070">
                <a:moveTo>
                  <a:pt x="0" y="0"/>
                </a:moveTo>
                <a:lnTo>
                  <a:pt x="233934" y="686562"/>
                </a:lnTo>
              </a:path>
            </a:pathLst>
          </a:custGeom>
          <a:ln w="9906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0" name="object 70"/>
          <p:cNvSpPr/>
          <p:nvPr/>
        </p:nvSpPr>
        <p:spPr>
          <a:xfrm>
            <a:off x="4294234" y="3104388"/>
            <a:ext cx="407105" cy="548640"/>
          </a:xfrm>
          <a:custGeom>
            <a:avLst/>
            <a:gdLst/>
            <a:ahLst/>
            <a:cxnLst/>
            <a:rect l="l" t="t" r="r" b="b"/>
            <a:pathLst>
              <a:path w="407035" h="411480">
                <a:moveTo>
                  <a:pt x="0" y="0"/>
                </a:moveTo>
                <a:lnTo>
                  <a:pt x="406908" y="411480"/>
                </a:lnTo>
              </a:path>
            </a:pathLst>
          </a:custGeom>
          <a:ln w="9905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1" name="object 71"/>
          <p:cNvSpPr/>
          <p:nvPr/>
        </p:nvSpPr>
        <p:spPr>
          <a:xfrm>
            <a:off x="4294235" y="3104388"/>
            <a:ext cx="523966" cy="548640"/>
          </a:xfrm>
          <a:custGeom>
            <a:avLst/>
            <a:gdLst/>
            <a:ahLst/>
            <a:cxnLst/>
            <a:rect l="l" t="t" r="r" b="b"/>
            <a:pathLst>
              <a:path w="523875" h="411480">
                <a:moveTo>
                  <a:pt x="0" y="0"/>
                </a:moveTo>
                <a:lnTo>
                  <a:pt x="523494" y="411480"/>
                </a:lnTo>
              </a:path>
            </a:pathLst>
          </a:custGeom>
          <a:ln w="9906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2" name="object 72"/>
          <p:cNvSpPr/>
          <p:nvPr/>
        </p:nvSpPr>
        <p:spPr>
          <a:xfrm>
            <a:off x="4294235" y="3104388"/>
            <a:ext cx="641461" cy="548640"/>
          </a:xfrm>
          <a:custGeom>
            <a:avLst/>
            <a:gdLst/>
            <a:ahLst/>
            <a:cxnLst/>
            <a:rect l="l" t="t" r="r" b="b"/>
            <a:pathLst>
              <a:path w="641350" h="411480">
                <a:moveTo>
                  <a:pt x="0" y="0"/>
                </a:moveTo>
                <a:lnTo>
                  <a:pt x="640842" y="411480"/>
                </a:lnTo>
              </a:path>
            </a:pathLst>
          </a:custGeom>
          <a:ln w="9906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3" name="object 73"/>
          <p:cNvSpPr/>
          <p:nvPr/>
        </p:nvSpPr>
        <p:spPr>
          <a:xfrm>
            <a:off x="3594978" y="1456944"/>
            <a:ext cx="757052" cy="274320"/>
          </a:xfrm>
          <a:custGeom>
            <a:avLst/>
            <a:gdLst/>
            <a:ahLst/>
            <a:cxnLst/>
            <a:rect l="l" t="t" r="r" b="b"/>
            <a:pathLst>
              <a:path w="756920" h="205740">
                <a:moveTo>
                  <a:pt x="0" y="0"/>
                </a:moveTo>
                <a:lnTo>
                  <a:pt x="756666" y="205740"/>
                </a:lnTo>
              </a:path>
            </a:pathLst>
          </a:custGeom>
          <a:ln w="38099">
            <a:solidFill>
              <a:srgbClr val="0033CC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4" name="object 74"/>
          <p:cNvSpPr/>
          <p:nvPr/>
        </p:nvSpPr>
        <p:spPr>
          <a:xfrm>
            <a:off x="4351776" y="1731263"/>
            <a:ext cx="409011" cy="731520"/>
          </a:xfrm>
          <a:custGeom>
            <a:avLst/>
            <a:gdLst/>
            <a:ahLst/>
            <a:cxnLst/>
            <a:rect l="l" t="t" r="r" b="b"/>
            <a:pathLst>
              <a:path w="408939" h="548639">
                <a:moveTo>
                  <a:pt x="0" y="0"/>
                </a:moveTo>
                <a:lnTo>
                  <a:pt x="408431" y="548640"/>
                </a:lnTo>
              </a:path>
            </a:pathLst>
          </a:custGeom>
          <a:ln w="38100">
            <a:solidFill>
              <a:srgbClr val="0033CC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5" name="object 75"/>
          <p:cNvSpPr/>
          <p:nvPr/>
        </p:nvSpPr>
        <p:spPr>
          <a:xfrm>
            <a:off x="4760280" y="2462785"/>
            <a:ext cx="699256" cy="458893"/>
          </a:xfrm>
          <a:custGeom>
            <a:avLst/>
            <a:gdLst/>
            <a:ahLst/>
            <a:cxnLst/>
            <a:rect l="l" t="t" r="r" b="b"/>
            <a:pathLst>
              <a:path w="699135" h="344169">
                <a:moveTo>
                  <a:pt x="0" y="0"/>
                </a:moveTo>
                <a:lnTo>
                  <a:pt x="698754" y="343662"/>
                </a:lnTo>
              </a:path>
            </a:pathLst>
          </a:custGeom>
          <a:ln w="38100">
            <a:solidFill>
              <a:srgbClr val="0033CC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6" name="object 76"/>
          <p:cNvSpPr/>
          <p:nvPr/>
        </p:nvSpPr>
        <p:spPr>
          <a:xfrm>
            <a:off x="5341787" y="2921000"/>
            <a:ext cx="117495" cy="1005840"/>
          </a:xfrm>
          <a:custGeom>
            <a:avLst/>
            <a:gdLst/>
            <a:ahLst/>
            <a:cxnLst/>
            <a:rect l="l" t="t" r="r" b="b"/>
            <a:pathLst>
              <a:path w="117475" h="754380">
                <a:moveTo>
                  <a:pt x="117348" y="0"/>
                </a:moveTo>
                <a:lnTo>
                  <a:pt x="0" y="754380"/>
                </a:lnTo>
              </a:path>
            </a:pathLst>
          </a:custGeom>
          <a:ln w="38100">
            <a:solidFill>
              <a:srgbClr val="0033CC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7" name="object 77"/>
          <p:cNvSpPr/>
          <p:nvPr/>
        </p:nvSpPr>
        <p:spPr>
          <a:xfrm>
            <a:off x="5341787" y="3836417"/>
            <a:ext cx="117495" cy="913553"/>
          </a:xfrm>
          <a:custGeom>
            <a:avLst/>
            <a:gdLst/>
            <a:ahLst/>
            <a:cxnLst/>
            <a:rect l="l" t="t" r="r" b="b"/>
            <a:pathLst>
              <a:path w="117475" h="685164">
                <a:moveTo>
                  <a:pt x="0" y="0"/>
                </a:moveTo>
                <a:lnTo>
                  <a:pt x="117348" y="685038"/>
                </a:lnTo>
              </a:path>
            </a:pathLst>
          </a:custGeom>
          <a:ln w="38100">
            <a:solidFill>
              <a:srgbClr val="0033CC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8" name="object 78"/>
          <p:cNvSpPr txBox="1"/>
          <p:nvPr/>
        </p:nvSpPr>
        <p:spPr>
          <a:xfrm>
            <a:off x="2240683" y="1297671"/>
            <a:ext cx="269922" cy="1167841"/>
          </a:xfrm>
          <a:prstGeom prst="rect">
            <a:avLst/>
          </a:prstGeom>
        </p:spPr>
        <p:txBody>
          <a:bodyPr vert="horz" wrap="square" lIns="0" tIns="221827" rIns="0" bIns="0" rtlCol="0">
            <a:spAutoFit/>
          </a:bodyPr>
          <a:lstStyle/>
          <a:p>
            <a:pPr marL="16933">
              <a:spcBef>
                <a:spcPts val="1747"/>
              </a:spcBef>
            </a:pPr>
            <a:r>
              <a:rPr sz="2400" b="1" spc="-7" dirty="0">
                <a:latin typeface="Arial"/>
                <a:cs typeface="Arial"/>
              </a:rPr>
              <a:t>1</a:t>
            </a:r>
            <a:endParaRPr sz="2400">
              <a:latin typeface="Arial"/>
              <a:cs typeface="Arial"/>
            </a:endParaRPr>
          </a:p>
          <a:p>
            <a:pPr marL="171869">
              <a:spcBef>
                <a:spcPts val="1613"/>
              </a:spcBef>
            </a:pPr>
            <a:r>
              <a:rPr sz="2400" b="1" spc="-7" dirty="0">
                <a:latin typeface="Arial"/>
                <a:cs typeface="Arial"/>
              </a:rPr>
              <a:t>3</a:t>
            </a:r>
            <a:endParaRPr sz="2400">
              <a:latin typeface="Arial"/>
              <a:cs typeface="Arial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2349745" y="2895735"/>
            <a:ext cx="509993" cy="1786878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b="1" spc="-7" dirty="0">
                <a:latin typeface="Arial"/>
                <a:cs typeface="Arial"/>
              </a:rPr>
              <a:t>1</a:t>
            </a:r>
            <a:endParaRPr sz="2400">
              <a:latin typeface="Arial"/>
              <a:cs typeface="Arial"/>
            </a:endParaRPr>
          </a:p>
          <a:p>
            <a:pPr>
              <a:spcBef>
                <a:spcPts val="40"/>
              </a:spcBef>
            </a:pPr>
            <a:endParaRPr sz="2467">
              <a:latin typeface="Times New Roman"/>
              <a:cs typeface="Times New Roman"/>
            </a:endParaRPr>
          </a:p>
          <a:p>
            <a:pPr marL="422476">
              <a:spcBef>
                <a:spcPts val="7"/>
              </a:spcBef>
            </a:pPr>
            <a:r>
              <a:rPr sz="2400" b="1" spc="-7" dirty="0">
                <a:latin typeface="Arial"/>
                <a:cs typeface="Arial"/>
              </a:rPr>
              <a:t>2</a:t>
            </a:r>
            <a:endParaRPr sz="2400">
              <a:latin typeface="Arial"/>
              <a:cs typeface="Arial"/>
            </a:endParaRPr>
          </a:p>
          <a:p>
            <a:pPr marL="492748">
              <a:spcBef>
                <a:spcPts val="2167"/>
              </a:spcBef>
            </a:pPr>
            <a:r>
              <a:rPr sz="2400" b="1" spc="-7" dirty="0">
                <a:latin typeface="Arial"/>
                <a:cs typeface="Arial"/>
              </a:rPr>
              <a:t>3</a:t>
            </a:r>
            <a:endParaRPr sz="2400">
              <a:latin typeface="Arial"/>
              <a:cs typeface="Arial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3931245" y="1250424"/>
            <a:ext cx="153062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b="1" spc="-7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2400">
              <a:latin typeface="Arial"/>
              <a:cs typeface="Arial"/>
            </a:endParaRPr>
          </a:p>
        </p:txBody>
      </p:sp>
      <p:sp>
        <p:nvSpPr>
          <p:cNvPr id="81" name="object 81"/>
          <p:cNvSpPr/>
          <p:nvPr/>
        </p:nvSpPr>
        <p:spPr>
          <a:xfrm>
            <a:off x="2779115" y="1641348"/>
            <a:ext cx="232450" cy="273472"/>
          </a:xfrm>
          <a:custGeom>
            <a:avLst/>
            <a:gdLst/>
            <a:ahLst/>
            <a:cxnLst/>
            <a:rect l="l" t="t" r="r" b="b"/>
            <a:pathLst>
              <a:path w="232410" h="205105">
                <a:moveTo>
                  <a:pt x="0" y="0"/>
                </a:moveTo>
                <a:lnTo>
                  <a:pt x="232410" y="204978"/>
                </a:lnTo>
              </a:path>
            </a:pathLst>
          </a:custGeom>
          <a:ln w="5715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2" name="object 82"/>
          <p:cNvSpPr txBox="1"/>
          <p:nvPr/>
        </p:nvSpPr>
        <p:spPr>
          <a:xfrm>
            <a:off x="536034" y="5902283"/>
            <a:ext cx="7572542" cy="50954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800" b="1" spc="-7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第一个解</a:t>
            </a:r>
            <a:r>
              <a:rPr sz="2800" b="1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向</a:t>
            </a:r>
            <a:r>
              <a:rPr sz="2800" b="1" spc="7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量</a:t>
            </a:r>
            <a:r>
              <a:rPr sz="3200" b="1" spc="-7" dirty="0">
                <a:latin typeface="宋体"/>
                <a:cs typeface="宋体"/>
              </a:rPr>
              <a:t>：</a:t>
            </a:r>
            <a:r>
              <a:rPr sz="3200" b="1" spc="-7" dirty="0">
                <a:latin typeface="Times New Roman"/>
                <a:cs typeface="Times New Roman"/>
              </a:rPr>
              <a:t>&lt;</a:t>
            </a:r>
            <a:r>
              <a:rPr sz="3200" b="1" spc="7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1,</a:t>
            </a:r>
            <a:r>
              <a:rPr sz="3200" b="1" spc="-13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2,</a:t>
            </a:r>
            <a:r>
              <a:rPr sz="3200" b="1" spc="-13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1,</a:t>
            </a:r>
            <a:r>
              <a:rPr sz="3200" b="1" spc="-13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3,</a:t>
            </a:r>
            <a:r>
              <a:rPr sz="3200" b="1" spc="-2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1,</a:t>
            </a:r>
            <a:r>
              <a:rPr sz="3200" b="1" spc="-13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2,</a:t>
            </a:r>
            <a:r>
              <a:rPr sz="3200" b="1" spc="-13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3</a:t>
            </a:r>
            <a:r>
              <a:rPr sz="3200" b="1" spc="-13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&gt;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84" name="object 84"/>
          <p:cNvSpPr/>
          <p:nvPr/>
        </p:nvSpPr>
        <p:spPr>
          <a:xfrm>
            <a:off x="6413681" y="1475822"/>
            <a:ext cx="295326" cy="332739"/>
          </a:xfrm>
          <a:custGeom>
            <a:avLst/>
            <a:gdLst/>
            <a:ahLst/>
            <a:cxnLst/>
            <a:rect l="l" t="t" r="r" b="b"/>
            <a:pathLst>
              <a:path w="295275" h="249554">
                <a:moveTo>
                  <a:pt x="295275" y="0"/>
                </a:moveTo>
                <a:lnTo>
                  <a:pt x="0" y="249237"/>
                </a:lnTo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5" name="object 85"/>
          <p:cNvSpPr/>
          <p:nvPr/>
        </p:nvSpPr>
        <p:spPr>
          <a:xfrm>
            <a:off x="6874009" y="1790780"/>
            <a:ext cx="84596" cy="1056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6" name="object 86"/>
          <p:cNvSpPr/>
          <p:nvPr/>
        </p:nvSpPr>
        <p:spPr>
          <a:xfrm>
            <a:off x="6683859" y="1357456"/>
            <a:ext cx="108984" cy="13919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7" name="object 87"/>
          <p:cNvSpPr/>
          <p:nvPr/>
        </p:nvSpPr>
        <p:spPr>
          <a:xfrm>
            <a:off x="6329466" y="1774017"/>
            <a:ext cx="109747" cy="13919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8" name="object 88"/>
          <p:cNvSpPr/>
          <p:nvPr/>
        </p:nvSpPr>
        <p:spPr>
          <a:xfrm>
            <a:off x="6696434" y="2427813"/>
            <a:ext cx="83834" cy="10566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9" name="object 89"/>
          <p:cNvSpPr/>
          <p:nvPr/>
        </p:nvSpPr>
        <p:spPr>
          <a:xfrm>
            <a:off x="6253634" y="2271349"/>
            <a:ext cx="83835" cy="10566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0" name="object 90"/>
          <p:cNvSpPr/>
          <p:nvPr/>
        </p:nvSpPr>
        <p:spPr>
          <a:xfrm>
            <a:off x="7204775" y="1671909"/>
            <a:ext cx="83834" cy="10667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1" name="object 91"/>
          <p:cNvSpPr/>
          <p:nvPr/>
        </p:nvSpPr>
        <p:spPr>
          <a:xfrm>
            <a:off x="7052348" y="2390221"/>
            <a:ext cx="83834" cy="10566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2" name="object 92"/>
          <p:cNvSpPr/>
          <p:nvPr/>
        </p:nvSpPr>
        <p:spPr>
          <a:xfrm>
            <a:off x="6780267" y="1452453"/>
            <a:ext cx="436956" cy="237067"/>
          </a:xfrm>
          <a:custGeom>
            <a:avLst/>
            <a:gdLst/>
            <a:ahLst/>
            <a:cxnLst/>
            <a:rect l="l" t="t" r="r" b="b"/>
            <a:pathLst>
              <a:path w="436880" h="177800">
                <a:moveTo>
                  <a:pt x="0" y="0"/>
                </a:moveTo>
                <a:lnTo>
                  <a:pt x="436562" y="177800"/>
                </a:lnTo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3" name="object 93"/>
          <p:cNvSpPr/>
          <p:nvPr/>
        </p:nvSpPr>
        <p:spPr>
          <a:xfrm>
            <a:off x="6739114" y="1490046"/>
            <a:ext cx="147980" cy="317500"/>
          </a:xfrm>
          <a:custGeom>
            <a:avLst/>
            <a:gdLst/>
            <a:ahLst/>
            <a:cxnLst/>
            <a:rect l="l" t="t" r="r" b="b"/>
            <a:pathLst>
              <a:path w="147955" h="238125">
                <a:moveTo>
                  <a:pt x="0" y="0"/>
                </a:moveTo>
                <a:lnTo>
                  <a:pt x="147637" y="238125"/>
                </a:lnTo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4" name="object 94"/>
          <p:cNvSpPr/>
          <p:nvPr/>
        </p:nvSpPr>
        <p:spPr>
          <a:xfrm>
            <a:off x="6945652" y="1882221"/>
            <a:ext cx="147980" cy="508000"/>
          </a:xfrm>
          <a:custGeom>
            <a:avLst/>
            <a:gdLst/>
            <a:ahLst/>
            <a:cxnLst/>
            <a:rect l="l" t="t" r="r" b="b"/>
            <a:pathLst>
              <a:path w="147955" h="381000">
                <a:moveTo>
                  <a:pt x="0" y="0"/>
                </a:moveTo>
                <a:lnTo>
                  <a:pt x="147637" y="381000"/>
                </a:lnTo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5" name="object 95"/>
          <p:cNvSpPr/>
          <p:nvPr/>
        </p:nvSpPr>
        <p:spPr>
          <a:xfrm>
            <a:off x="7123226" y="1778591"/>
            <a:ext cx="123847" cy="629073"/>
          </a:xfrm>
          <a:custGeom>
            <a:avLst/>
            <a:gdLst/>
            <a:ahLst/>
            <a:cxnLst/>
            <a:rect l="l" t="t" r="r" b="b"/>
            <a:pathLst>
              <a:path w="123825" h="471805">
                <a:moveTo>
                  <a:pt x="0" y="471487"/>
                </a:moveTo>
                <a:lnTo>
                  <a:pt x="123825" y="0"/>
                </a:lnTo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6" name="object 96"/>
          <p:cNvSpPr/>
          <p:nvPr/>
        </p:nvSpPr>
        <p:spPr>
          <a:xfrm>
            <a:off x="6413681" y="1882222"/>
            <a:ext cx="295326" cy="561340"/>
          </a:xfrm>
          <a:custGeom>
            <a:avLst/>
            <a:gdLst/>
            <a:ahLst/>
            <a:cxnLst/>
            <a:rect l="l" t="t" r="r" b="b"/>
            <a:pathLst>
              <a:path w="295275" h="421005">
                <a:moveTo>
                  <a:pt x="0" y="0"/>
                </a:moveTo>
                <a:lnTo>
                  <a:pt x="295275" y="420687"/>
                </a:lnTo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7" name="object 97"/>
          <p:cNvSpPr/>
          <p:nvPr/>
        </p:nvSpPr>
        <p:spPr>
          <a:xfrm>
            <a:off x="6780267" y="2443054"/>
            <a:ext cx="271827" cy="38100"/>
          </a:xfrm>
          <a:custGeom>
            <a:avLst/>
            <a:gdLst/>
            <a:ahLst/>
            <a:cxnLst/>
            <a:rect l="l" t="t" r="r" b="b"/>
            <a:pathLst>
              <a:path w="271780" h="28575">
                <a:moveTo>
                  <a:pt x="-12572" y="14287"/>
                </a:moveTo>
                <a:lnTo>
                  <a:pt x="284035" y="14287"/>
                </a:lnTo>
              </a:path>
            </a:pathLst>
          </a:custGeom>
          <a:ln w="5372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8" name="object 98"/>
          <p:cNvSpPr/>
          <p:nvPr/>
        </p:nvSpPr>
        <p:spPr>
          <a:xfrm>
            <a:off x="6329848" y="2366854"/>
            <a:ext cx="367093" cy="114300"/>
          </a:xfrm>
          <a:custGeom>
            <a:avLst/>
            <a:gdLst/>
            <a:ahLst/>
            <a:cxnLst/>
            <a:rect l="l" t="t" r="r" b="b"/>
            <a:pathLst>
              <a:path w="367030" h="85725">
                <a:moveTo>
                  <a:pt x="0" y="0"/>
                </a:moveTo>
                <a:lnTo>
                  <a:pt x="366712" y="85725"/>
                </a:lnTo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9" name="object 99"/>
          <p:cNvSpPr/>
          <p:nvPr/>
        </p:nvSpPr>
        <p:spPr>
          <a:xfrm>
            <a:off x="6294790" y="1882222"/>
            <a:ext cx="60335" cy="389467"/>
          </a:xfrm>
          <a:custGeom>
            <a:avLst/>
            <a:gdLst/>
            <a:ahLst/>
            <a:cxnLst/>
            <a:rect l="l" t="t" r="r" b="b"/>
            <a:pathLst>
              <a:path w="60325" h="292100">
                <a:moveTo>
                  <a:pt x="60325" y="0"/>
                </a:moveTo>
                <a:lnTo>
                  <a:pt x="0" y="292100"/>
                </a:lnTo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00" name="object 100"/>
          <p:cNvSpPr/>
          <p:nvPr/>
        </p:nvSpPr>
        <p:spPr>
          <a:xfrm>
            <a:off x="6958608" y="1763350"/>
            <a:ext cx="259124" cy="80433"/>
          </a:xfrm>
          <a:custGeom>
            <a:avLst/>
            <a:gdLst/>
            <a:ahLst/>
            <a:cxnLst/>
            <a:rect l="l" t="t" r="r" b="b"/>
            <a:pathLst>
              <a:path w="259080" h="60325">
                <a:moveTo>
                  <a:pt x="0" y="60325"/>
                </a:moveTo>
                <a:lnTo>
                  <a:pt x="258762" y="0"/>
                </a:lnTo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01" name="object 101"/>
          <p:cNvSpPr txBox="1"/>
          <p:nvPr/>
        </p:nvSpPr>
        <p:spPr>
          <a:xfrm>
            <a:off x="7248035" y="1483779"/>
            <a:ext cx="153062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spc="-7" dirty="0">
                <a:latin typeface="Arial"/>
                <a:cs typeface="Arial"/>
              </a:rPr>
              <a:t>2</a:t>
            </a:r>
            <a:endParaRPr sz="2400">
              <a:latin typeface="Arial"/>
              <a:cs typeface="Arial"/>
            </a:endParaRPr>
          </a:p>
        </p:txBody>
      </p:sp>
      <p:sp>
        <p:nvSpPr>
          <p:cNvPr id="102" name="object 102"/>
          <p:cNvSpPr txBox="1"/>
          <p:nvPr/>
        </p:nvSpPr>
        <p:spPr>
          <a:xfrm>
            <a:off x="7129599" y="2499983"/>
            <a:ext cx="153062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spc="-7" dirty="0">
                <a:latin typeface="Arial"/>
                <a:cs typeface="Arial"/>
              </a:rPr>
              <a:t>3</a:t>
            </a:r>
            <a:endParaRPr sz="2400">
              <a:latin typeface="Arial"/>
              <a:cs typeface="Arial"/>
            </a:endParaRPr>
          </a:p>
        </p:txBody>
      </p:sp>
      <p:sp>
        <p:nvSpPr>
          <p:cNvPr id="103" name="object 103"/>
          <p:cNvSpPr txBox="1"/>
          <p:nvPr/>
        </p:nvSpPr>
        <p:spPr>
          <a:xfrm>
            <a:off x="6685352" y="2569477"/>
            <a:ext cx="153062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spc="-7" dirty="0">
                <a:latin typeface="Arial"/>
                <a:cs typeface="Arial"/>
              </a:rPr>
              <a:t>4</a:t>
            </a:r>
            <a:endParaRPr sz="2400">
              <a:latin typeface="Arial"/>
              <a:cs typeface="Arial"/>
            </a:endParaRPr>
          </a:p>
        </p:txBody>
      </p:sp>
      <p:sp>
        <p:nvSpPr>
          <p:cNvPr id="104" name="object 104"/>
          <p:cNvSpPr txBox="1"/>
          <p:nvPr/>
        </p:nvSpPr>
        <p:spPr>
          <a:xfrm>
            <a:off x="6270828" y="2457311"/>
            <a:ext cx="153062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spc="-7" dirty="0">
                <a:latin typeface="Arial"/>
                <a:cs typeface="Arial"/>
              </a:rPr>
              <a:t>5</a:t>
            </a:r>
            <a:endParaRPr sz="2400">
              <a:latin typeface="Arial"/>
              <a:cs typeface="Arial"/>
            </a:endParaRPr>
          </a:p>
        </p:txBody>
      </p:sp>
      <p:sp>
        <p:nvSpPr>
          <p:cNvPr id="105" name="object 105"/>
          <p:cNvSpPr txBox="1"/>
          <p:nvPr/>
        </p:nvSpPr>
        <p:spPr>
          <a:xfrm>
            <a:off x="6275146" y="1114970"/>
            <a:ext cx="825644" cy="135079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723035">
              <a:lnSpc>
                <a:spcPts val="2640"/>
              </a:lnSpc>
              <a:spcBef>
                <a:spcPts val="133"/>
              </a:spcBef>
            </a:pPr>
            <a:r>
              <a:rPr sz="2400" spc="-7" dirty="0">
                <a:latin typeface="Arial"/>
                <a:cs typeface="Arial"/>
              </a:rPr>
              <a:t>1</a:t>
            </a:r>
            <a:endParaRPr sz="2400" dirty="0">
              <a:latin typeface="Arial"/>
              <a:cs typeface="Arial"/>
            </a:endParaRPr>
          </a:p>
          <a:p>
            <a:pPr marL="50799">
              <a:lnSpc>
                <a:spcPts val="2640"/>
              </a:lnSpc>
              <a:tabLst>
                <a:tab pos="798387" algn="l"/>
              </a:tabLst>
            </a:pPr>
            <a:r>
              <a:rPr sz="2400" spc="-152" dirty="0">
                <a:latin typeface="Arial"/>
                <a:cs typeface="Arial"/>
              </a:rPr>
              <a:t>6</a:t>
            </a:r>
            <a:r>
              <a:rPr sz="2400" u="heavy" spc="-152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	</a:t>
            </a:r>
            <a:r>
              <a:rPr sz="3600" spc="-9" baseline="-18518" dirty="0">
                <a:latin typeface="Arial"/>
                <a:cs typeface="Arial"/>
              </a:rPr>
              <a:t>7</a:t>
            </a:r>
            <a:endParaRPr sz="3600" baseline="-18518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88184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12276" y="409189"/>
            <a:ext cx="5435030" cy="632651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695095" marR="6773" indent="-679010">
              <a:lnSpc>
                <a:spcPct val="100000"/>
              </a:lnSpc>
              <a:spcBef>
                <a:spcPts val="133"/>
              </a:spcBef>
            </a:pPr>
            <a:r>
              <a:rPr sz="4000" b="1" spc="-13" dirty="0" err="1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时间复杂度</a:t>
            </a:r>
            <a:r>
              <a:rPr sz="4000" b="1" spc="-20" dirty="0" err="1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与</a:t>
            </a:r>
            <a:r>
              <a:rPr sz="4000" b="1" spc="-13" dirty="0" err="1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改进途</a:t>
            </a:r>
            <a:r>
              <a:rPr sz="4000" b="1" spc="-20" dirty="0" err="1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径</a:t>
            </a:r>
            <a:endParaRPr sz="4000" b="1" spc="-20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34415" y="1931755"/>
            <a:ext cx="8301198" cy="375690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0799">
              <a:spcBef>
                <a:spcPts val="133"/>
              </a:spcBef>
            </a:pPr>
            <a:r>
              <a:rPr sz="2800" b="1" spc="-7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时间复杂度</a:t>
            </a:r>
            <a:r>
              <a:rPr sz="2933" b="1" dirty="0">
                <a:latin typeface="宋体"/>
                <a:cs typeface="宋体"/>
              </a:rPr>
              <a:t>：</a:t>
            </a:r>
            <a:r>
              <a:rPr sz="2933" b="1" dirty="0">
                <a:latin typeface="Times New Roman"/>
                <a:cs typeface="Times New Roman"/>
              </a:rPr>
              <a:t>O(</a:t>
            </a:r>
            <a:r>
              <a:rPr sz="2933" b="1" i="1" dirty="0">
                <a:latin typeface="Times New Roman"/>
                <a:cs typeface="Times New Roman"/>
              </a:rPr>
              <a:t>nm</a:t>
            </a:r>
            <a:r>
              <a:rPr sz="2900" b="1" i="1" baseline="24904" dirty="0">
                <a:latin typeface="Times New Roman"/>
                <a:cs typeface="Times New Roman"/>
              </a:rPr>
              <a:t>n</a:t>
            </a:r>
            <a:r>
              <a:rPr sz="2933" b="1" dirty="0">
                <a:latin typeface="Times New Roman"/>
                <a:cs typeface="Times New Roman"/>
              </a:rPr>
              <a:t>)</a:t>
            </a:r>
            <a:endParaRPr sz="2933" dirty="0">
              <a:latin typeface="Times New Roman"/>
              <a:cs typeface="Times New Roman"/>
            </a:endParaRPr>
          </a:p>
          <a:p>
            <a:pPr marL="50799" marR="167636" algn="just">
              <a:spcBef>
                <a:spcPts val="2152"/>
              </a:spcBef>
            </a:pPr>
            <a:r>
              <a:rPr sz="2800" b="1" spc="-7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根据对称性，</a:t>
            </a:r>
            <a:r>
              <a:rPr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只需搜</a:t>
            </a:r>
            <a:r>
              <a:rPr sz="2800" b="1" spc="-13" dirty="0" smtClean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索</a:t>
            </a:r>
            <a:r>
              <a:rPr sz="2933" b="1" spc="-7" dirty="0" smtClean="0">
                <a:latin typeface="Times New Roman"/>
                <a:cs typeface="Times New Roman"/>
              </a:rPr>
              <a:t>1/3</a:t>
            </a:r>
            <a:r>
              <a:rPr sz="2800" b="1" spc="-7" dirty="0" smtClean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的解空</a:t>
            </a:r>
            <a:r>
              <a:rPr sz="2800" b="1" spc="-13" dirty="0" smtClean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间</a:t>
            </a:r>
            <a:r>
              <a:rPr sz="2933" b="1" dirty="0" smtClean="0">
                <a:latin typeface="Times New Roman"/>
                <a:cs typeface="Times New Roman"/>
              </a:rPr>
              <a:t>. </a:t>
            </a:r>
            <a:r>
              <a:rPr sz="2800" b="1" spc="-13" dirty="0" smtClean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当</a:t>
            </a:r>
            <a:r>
              <a:rPr sz="2933" b="1" dirty="0" smtClean="0">
                <a:latin typeface="Times New Roman"/>
                <a:cs typeface="Times New Roman"/>
              </a:rPr>
              <a:t>1</a:t>
            </a:r>
            <a:r>
              <a:rPr sz="2800" b="1" spc="-7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和</a:t>
            </a:r>
            <a:r>
              <a:rPr sz="2933" b="1" dirty="0" smtClean="0">
                <a:latin typeface="Times New Roman"/>
                <a:cs typeface="Times New Roman"/>
              </a:rPr>
              <a:t>2</a:t>
            </a:r>
            <a:r>
              <a:rPr sz="2800" b="1" spc="-7" dirty="0" smtClean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确定</a:t>
            </a:r>
            <a:r>
              <a:rPr sz="2933" b="1" dirty="0">
                <a:latin typeface="Times New Roman"/>
                <a:cs typeface="Times New Roman"/>
              </a:rPr>
              <a:t>,</a:t>
            </a:r>
            <a:r>
              <a:rPr sz="2933" b="1" spc="713" dirty="0">
                <a:latin typeface="Times New Roman"/>
                <a:cs typeface="Times New Roman"/>
              </a:rPr>
              <a:t> </a:t>
            </a:r>
            <a:r>
              <a:rPr sz="2800" b="1" spc="-7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即</a:t>
            </a:r>
            <a:r>
              <a:rPr sz="2933" b="1" dirty="0">
                <a:latin typeface="Times New Roman"/>
                <a:cs typeface="Times New Roman"/>
              </a:rPr>
              <a:t>&lt;1,2</a:t>
            </a:r>
            <a:r>
              <a:rPr sz="2933" b="1" dirty="0" smtClean="0">
                <a:latin typeface="Times New Roman"/>
                <a:cs typeface="Times New Roman"/>
              </a:rPr>
              <a:t>&gt;</a:t>
            </a:r>
            <a:r>
              <a:rPr sz="2800" b="1" spc="-7" dirty="0" smtClean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以后</a:t>
            </a:r>
            <a:r>
              <a:rPr sz="2800" b="1" spc="-7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，</a:t>
            </a:r>
            <a:r>
              <a:rPr sz="2800" b="1" spc="-7" dirty="0" smtClean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只</a:t>
            </a:r>
            <a:r>
              <a:rPr sz="2800" b="1" spc="-13" dirty="0" smtClean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有</a:t>
            </a:r>
            <a:r>
              <a:rPr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1</a:t>
            </a:r>
            <a:r>
              <a:rPr sz="2800" b="1" spc="-7" dirty="0" smtClean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个解，</a:t>
            </a:r>
            <a:r>
              <a:rPr sz="2800" b="1" spc="-13" dirty="0" smtClean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在</a:t>
            </a:r>
            <a:r>
              <a:rPr sz="2933" b="1" dirty="0" smtClean="0">
                <a:latin typeface="Times New Roman"/>
                <a:cs typeface="Times New Roman"/>
              </a:rPr>
              <a:t>&lt;</a:t>
            </a:r>
            <a:r>
              <a:rPr sz="2933" b="1" dirty="0">
                <a:latin typeface="Times New Roman"/>
                <a:cs typeface="Times New Roman"/>
              </a:rPr>
              <a:t>1,3</a:t>
            </a:r>
            <a:r>
              <a:rPr sz="2933" b="1" dirty="0" smtClean="0">
                <a:latin typeface="Times New Roman"/>
                <a:cs typeface="Times New Roman"/>
              </a:rPr>
              <a:t>&gt;</a:t>
            </a:r>
            <a:r>
              <a:rPr sz="2800" b="1" spc="-7" dirty="0" smtClean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为根的子树中</a:t>
            </a:r>
            <a:r>
              <a:rPr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也只</a:t>
            </a:r>
            <a:r>
              <a:rPr sz="2800" b="1" spc="-13" dirty="0" smtClean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有</a:t>
            </a:r>
            <a:r>
              <a:rPr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1</a:t>
            </a:r>
            <a:r>
              <a:rPr sz="2800" b="1" spc="-7" dirty="0" smtClean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个解</a:t>
            </a:r>
            <a:r>
              <a:rPr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.</a:t>
            </a:r>
            <a:r>
              <a:rPr sz="2800" b="1" spc="-13" dirty="0" smtClean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由</a:t>
            </a:r>
            <a:r>
              <a:rPr sz="2800" b="1" spc="-7" dirty="0" smtClean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于</a:t>
            </a:r>
            <a:r>
              <a:rPr sz="28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3</a:t>
            </a:r>
            <a:r>
              <a:rPr sz="2800" b="1" spc="-7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个子树的对称</a:t>
            </a:r>
            <a:r>
              <a:rPr sz="2800" b="1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性，总</a:t>
            </a:r>
            <a:r>
              <a:rPr sz="2800" b="1" spc="-13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共</a:t>
            </a:r>
            <a:r>
              <a:rPr sz="28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6</a:t>
            </a:r>
            <a:r>
              <a:rPr sz="2800" b="1" spc="-7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个解</a:t>
            </a:r>
            <a:r>
              <a:rPr sz="28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.</a:t>
            </a:r>
            <a:endParaRPr sz="2933" dirty="0">
              <a:latin typeface="黑体" panose="02010609060101010101" pitchFamily="49" charset="-122"/>
              <a:ea typeface="黑体" panose="02010609060101010101" pitchFamily="49" charset="-122"/>
              <a:cs typeface="Times New Roman"/>
            </a:endParaRPr>
          </a:p>
          <a:p>
            <a:pPr marL="50799" marR="23706" algn="just">
              <a:lnSpc>
                <a:spcPct val="102200"/>
              </a:lnSpc>
              <a:spcBef>
                <a:spcPts val="2640"/>
              </a:spcBef>
            </a:pPr>
            <a:r>
              <a:rPr sz="2800" b="1" spc="-7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在取定</a:t>
            </a:r>
            <a:r>
              <a:rPr sz="2933" b="1" dirty="0">
                <a:latin typeface="Times New Roman"/>
                <a:cs typeface="Times New Roman"/>
              </a:rPr>
              <a:t>&lt;1,2&gt;</a:t>
            </a:r>
            <a:r>
              <a:rPr sz="2800" b="1" spc="-7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后，不可扩</a:t>
            </a:r>
            <a:r>
              <a:rPr sz="2800" b="1" spc="-13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张</a:t>
            </a:r>
            <a:r>
              <a:rPr sz="2800" b="1" spc="-7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成</a:t>
            </a:r>
            <a:r>
              <a:rPr sz="2933" b="1" spc="-7" dirty="0">
                <a:latin typeface="Times New Roman"/>
                <a:cs typeface="Times New Roman"/>
              </a:rPr>
              <a:t>&lt;1,2,3</a:t>
            </a:r>
            <a:r>
              <a:rPr sz="2933" b="1" spc="-7" dirty="0" smtClean="0">
                <a:latin typeface="Times New Roman"/>
                <a:cs typeface="Times New Roman"/>
              </a:rPr>
              <a:t>&gt;,</a:t>
            </a:r>
            <a:r>
              <a:rPr sz="2800" b="1" spc="-7" dirty="0" smtClean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因为</a:t>
            </a:r>
            <a:r>
              <a:rPr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7</a:t>
            </a:r>
            <a:r>
              <a:rPr sz="2800" b="1" spc="-7" dirty="0" smtClean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和</a:t>
            </a:r>
            <a:r>
              <a:rPr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1,2,3</a:t>
            </a:r>
            <a:r>
              <a:rPr 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 </a:t>
            </a:r>
            <a:r>
              <a:rPr sz="2800" b="1" spc="-7" dirty="0" smtClean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都相邻</a:t>
            </a:r>
            <a:r>
              <a:rPr sz="2800" b="1" spc="-13" dirty="0" smtClean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.</a:t>
            </a:r>
            <a:r>
              <a:rPr sz="2800" b="1" spc="-7" dirty="0" smtClean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7</a:t>
            </a:r>
            <a:r>
              <a:rPr sz="2800" b="1" spc="-7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没法着</a:t>
            </a:r>
            <a:r>
              <a:rPr sz="2800" b="1" spc="-13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色</a:t>
            </a:r>
            <a:r>
              <a:rPr sz="2800" b="1" spc="-13" dirty="0" smtClean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.</a:t>
            </a:r>
            <a:r>
              <a:rPr sz="2800" b="1" spc="-7" dirty="0" smtClean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可以从打叉的结点回溯</a:t>
            </a:r>
            <a:r>
              <a:rPr lang="en-US" sz="2800" b="1" spc="-7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,</a:t>
            </a:r>
            <a:r>
              <a:rPr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而不</a:t>
            </a:r>
            <a:r>
              <a:rPr sz="2800" b="1" spc="-7" dirty="0" smtClean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必搜</a:t>
            </a:r>
            <a:r>
              <a:rPr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索其子</a:t>
            </a:r>
            <a:r>
              <a:rPr sz="2800" b="1" spc="-7" dirty="0" smtClean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树</a:t>
            </a:r>
            <a:r>
              <a:rPr sz="2800" b="1" spc="-13" dirty="0" smtClean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.</a:t>
            </a:r>
            <a:endParaRPr sz="2800" dirty="0">
              <a:latin typeface="黑体" panose="02010609060101010101" pitchFamily="49" charset="-122"/>
              <a:ea typeface="黑体" panose="02010609060101010101" pitchFamily="49" charset="-122"/>
              <a:cs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2204303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49013" y="276934"/>
            <a:ext cx="7345089" cy="632651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 algn="ctr">
              <a:lnSpc>
                <a:spcPct val="100000"/>
              </a:lnSpc>
              <a:spcBef>
                <a:spcPts val="133"/>
              </a:spcBef>
            </a:pPr>
            <a:r>
              <a:rPr sz="4000" b="1" spc="-13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着色问题的应</a:t>
            </a:r>
            <a:r>
              <a:rPr sz="4000" b="1" spc="-2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用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9820" y="1407917"/>
            <a:ext cx="8275793" cy="4301177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sz="2800" b="1" spc="-7" dirty="0" err="1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会场分配</a:t>
            </a:r>
            <a:r>
              <a:rPr sz="2800" b="1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问</a:t>
            </a:r>
            <a:r>
              <a:rPr sz="2800" b="1" spc="7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题</a:t>
            </a:r>
            <a:r>
              <a:rPr sz="2800" b="1" spc="-13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endParaRPr lang="en-US" sz="2800" b="1" spc="-13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en-US" sz="2800" b="1" spc="-13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有</a:t>
            </a:r>
            <a:r>
              <a:rPr lang="en-US" altLang="zh-CN" sz="2800" b="1" spc="-13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zh-CN" altLang="en-US" sz="2800" b="1" spc="-13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项活动需要安排</a:t>
            </a:r>
            <a:r>
              <a:rPr lang="en-US" altLang="zh-CN" sz="2800" b="1" spc="-13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sz="2800" b="1" spc="-13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对于活动 </a:t>
            </a:r>
            <a:r>
              <a:rPr lang="en-US" altLang="zh-CN" sz="2800" b="1" spc="-13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sz="2800" b="1" spc="-13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j,  </a:t>
            </a:r>
            <a:r>
              <a:rPr lang="zh-CN" altLang="en-US" sz="2800" b="1" spc="-13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如果 </a:t>
            </a:r>
            <a:r>
              <a:rPr lang="en-US" altLang="zh-CN" sz="2800" b="1" spc="-13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sz="2800" b="1" spc="-13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j </a:t>
            </a:r>
            <a:r>
              <a:rPr lang="zh-CN" altLang="en-US" sz="2800" b="1" spc="-13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时间冲突，就说 </a:t>
            </a:r>
            <a:r>
              <a:rPr lang="en-US" altLang="zh-CN" sz="2800" b="1" spc="-13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sz="2800" b="1" spc="-13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spc="-13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与 </a:t>
            </a:r>
            <a:r>
              <a:rPr lang="en-US" altLang="zh-CN" sz="2800" b="1" spc="-13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j </a:t>
            </a:r>
            <a:r>
              <a:rPr lang="zh-CN" altLang="en-US" sz="2800" b="1" spc="-13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不相容</a:t>
            </a:r>
            <a:r>
              <a:rPr lang="en-US" altLang="zh-CN" sz="2800" b="1" spc="-13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 </a:t>
            </a:r>
            <a:r>
              <a:rPr lang="zh-CN" altLang="en-US" sz="2800" b="1" spc="-13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如何分配这些活动</a:t>
            </a:r>
            <a:r>
              <a:rPr lang="en-US" altLang="zh-CN" sz="2800" b="1" spc="-13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zh-CN" altLang="en-US" sz="2800" b="1" spc="-13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使得每个会场的活动相容且占用会场数最少</a:t>
            </a:r>
            <a:r>
              <a:rPr lang="en-US" altLang="zh-CN" sz="2800" b="1" spc="-13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?</a:t>
            </a:r>
            <a:endParaRPr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Bef>
                <a:spcPts val="2400"/>
              </a:spcBef>
            </a:pPr>
            <a:r>
              <a:rPr sz="2800" b="1" spc="-7" dirty="0" err="1" smtClean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建模</a:t>
            </a:r>
            <a:r>
              <a:rPr sz="2800" b="1" spc="-13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endParaRPr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R="6773" algn="just"/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活动作为图的顶点，如果 </a:t>
            </a:r>
            <a:r>
              <a:rPr lang="en-US" altLang="zh-CN" sz="2800" b="1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j 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不相容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 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则在 </a:t>
            </a:r>
            <a:r>
              <a:rPr lang="en-US" altLang="zh-CN" sz="2800" b="1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与 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j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之间加一条边，会场标号作为颜色标号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 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求图的一种着色方案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使得使用的颜色数最少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25268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88699" y="302518"/>
            <a:ext cx="1042850" cy="632651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4000" b="1" spc="-13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小</a:t>
            </a:r>
            <a:r>
              <a:rPr sz="4000" b="1" spc="-20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结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3607" y="1318429"/>
            <a:ext cx="8194324" cy="3193182"/>
          </a:xfrm>
          <a:prstGeom prst="rect">
            <a:avLst/>
          </a:prstGeom>
        </p:spPr>
        <p:txBody>
          <a:bodyPr vert="horz" wrap="square" lIns="0" tIns="236220" rIns="0" bIns="0" rtlCol="0">
            <a:spAutoFit/>
          </a:bodyPr>
          <a:lstStyle/>
          <a:p>
            <a:pPr marL="362364" indent="-345430">
              <a:lnSpc>
                <a:spcPct val="150000"/>
              </a:lnSpc>
              <a:buFont typeface="Arial"/>
              <a:buChar char="•"/>
              <a:tabLst>
                <a:tab pos="361518" algn="l"/>
                <a:tab pos="362364" algn="l"/>
              </a:tabLst>
            </a:pPr>
            <a:r>
              <a:rPr sz="3200" b="1" spc="-7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着色问题</a:t>
            </a:r>
            <a:r>
              <a:rPr sz="3200" b="1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的</a:t>
            </a:r>
            <a:r>
              <a:rPr sz="3200" b="1" spc="7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描</a:t>
            </a:r>
            <a:r>
              <a:rPr sz="3200" b="1" spc="-13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述</a:t>
            </a:r>
            <a:endParaRPr sz="3200" dirty="0">
              <a:latin typeface="黑体" panose="02010609060101010101" pitchFamily="49" charset="-122"/>
              <a:ea typeface="黑体" panose="02010609060101010101" pitchFamily="49" charset="-122"/>
              <a:cs typeface="宋体"/>
            </a:endParaRPr>
          </a:p>
          <a:p>
            <a:pPr marL="362364" indent="-345430">
              <a:lnSpc>
                <a:spcPct val="150000"/>
              </a:lnSpc>
              <a:buFont typeface="Arial"/>
              <a:buChar char="•"/>
              <a:tabLst>
                <a:tab pos="361518" algn="l"/>
                <a:tab pos="362364" algn="l"/>
              </a:tabLst>
            </a:pPr>
            <a:r>
              <a:rPr sz="3200" b="1" spc="-7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着色问题</a:t>
            </a:r>
            <a:r>
              <a:rPr sz="3200" b="1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的</a:t>
            </a:r>
            <a:r>
              <a:rPr sz="3200" b="1" spc="7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算</a:t>
            </a:r>
            <a:r>
              <a:rPr sz="3200" b="1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法设</a:t>
            </a:r>
            <a:r>
              <a:rPr sz="3200" b="1" spc="-13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计</a:t>
            </a:r>
            <a:endParaRPr sz="3200" dirty="0">
              <a:latin typeface="黑体" panose="02010609060101010101" pitchFamily="49" charset="-122"/>
              <a:ea typeface="黑体" panose="02010609060101010101" pitchFamily="49" charset="-122"/>
              <a:cs typeface="宋体"/>
            </a:endParaRPr>
          </a:p>
          <a:p>
            <a:pPr marL="362364" indent="-345430">
              <a:lnSpc>
                <a:spcPct val="150000"/>
              </a:lnSpc>
              <a:buFont typeface="Arial"/>
              <a:buChar char="•"/>
              <a:tabLst>
                <a:tab pos="361518" algn="l"/>
                <a:tab pos="362364" algn="l"/>
              </a:tabLst>
            </a:pPr>
            <a:r>
              <a:rPr sz="3200" b="1" spc="-7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时间复杂</a:t>
            </a:r>
            <a:r>
              <a:rPr sz="3200" b="1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度</a:t>
            </a:r>
            <a:r>
              <a:rPr sz="3200" b="1" spc="7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及</a:t>
            </a:r>
            <a:r>
              <a:rPr sz="3200" b="1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改进途</a:t>
            </a:r>
            <a:r>
              <a:rPr sz="3200" b="1" spc="-13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径</a:t>
            </a:r>
            <a:endParaRPr sz="3200" dirty="0">
              <a:latin typeface="黑体" panose="02010609060101010101" pitchFamily="49" charset="-122"/>
              <a:ea typeface="黑体" panose="02010609060101010101" pitchFamily="49" charset="-122"/>
              <a:cs typeface="宋体"/>
            </a:endParaRPr>
          </a:p>
          <a:p>
            <a:pPr marL="353051" indent="-288706">
              <a:lnSpc>
                <a:spcPct val="150000"/>
              </a:lnSpc>
              <a:buFont typeface="Arial"/>
              <a:buChar char="•"/>
              <a:tabLst>
                <a:tab pos="353898" algn="l"/>
              </a:tabLst>
            </a:pPr>
            <a:r>
              <a:rPr sz="3200" b="1" spc="-7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着色问题</a:t>
            </a:r>
            <a:r>
              <a:rPr sz="3200" b="1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的</a:t>
            </a:r>
            <a:r>
              <a:rPr sz="3200" b="1" spc="7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应</a:t>
            </a:r>
            <a:r>
              <a:rPr sz="3200" b="1" spc="-13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用</a:t>
            </a:r>
            <a:endParaRPr sz="3200" dirty="0">
              <a:latin typeface="黑体" panose="02010609060101010101" pitchFamily="49" charset="-122"/>
              <a:ea typeface="黑体" panose="02010609060101010101" pitchFamily="49" charset="-122"/>
              <a:cs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36439859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98786" y="2856802"/>
            <a:ext cx="8156027" cy="1032761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394424" marR="6773" indent="-1378339">
              <a:lnSpc>
                <a:spcPct val="100000"/>
              </a:lnSpc>
              <a:spcBef>
                <a:spcPts val="133"/>
              </a:spcBef>
            </a:pPr>
            <a:r>
              <a:rPr sz="6600" spc="-20" dirty="0" err="1" smtClean="0">
                <a:latin typeface="黑体" panose="02010609060101010101" pitchFamily="49" charset="-122"/>
                <a:ea typeface="黑体" panose="02010609060101010101" pitchFamily="49" charset="-122"/>
              </a:rPr>
              <a:t>搜索</a:t>
            </a:r>
            <a:r>
              <a:rPr sz="6600" spc="7" dirty="0" err="1" smtClean="0">
                <a:latin typeface="黑体" panose="02010609060101010101" pitchFamily="49" charset="-122"/>
                <a:ea typeface="黑体" panose="02010609060101010101" pitchFamily="49" charset="-122"/>
              </a:rPr>
              <a:t>树</a:t>
            </a:r>
            <a:r>
              <a:rPr sz="6600" spc="-7" dirty="0" err="1" smtClean="0">
                <a:latin typeface="黑体" panose="02010609060101010101" pitchFamily="49" charset="-122"/>
                <a:ea typeface="黑体" panose="02010609060101010101" pitchFamily="49" charset="-122"/>
              </a:rPr>
              <a:t>结点</a:t>
            </a:r>
            <a:r>
              <a:rPr sz="6600" spc="-27" dirty="0" err="1" smtClean="0">
                <a:latin typeface="黑体" panose="02010609060101010101" pitchFamily="49" charset="-122"/>
                <a:ea typeface="黑体" panose="02010609060101010101" pitchFamily="49" charset="-122"/>
              </a:rPr>
              <a:t>数</a:t>
            </a:r>
            <a:r>
              <a:rPr sz="6600" spc="-20" dirty="0" err="1" smtClean="0">
                <a:latin typeface="黑体" panose="02010609060101010101" pitchFamily="49" charset="-122"/>
                <a:ea typeface="黑体" panose="02010609060101010101" pitchFamily="49" charset="-122"/>
              </a:rPr>
              <a:t>的估计</a:t>
            </a:r>
            <a:endParaRPr sz="66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70800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26325" y="248030"/>
            <a:ext cx="4098366" cy="632651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 algn="ctr">
              <a:lnSpc>
                <a:spcPct val="100000"/>
              </a:lnSpc>
              <a:spcBef>
                <a:spcPts val="133"/>
              </a:spcBef>
            </a:pPr>
            <a:r>
              <a:rPr sz="4000" b="1" spc="-13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搜索树结点数</a:t>
            </a:r>
            <a:r>
              <a:rPr sz="4000" b="1" spc="-7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估</a:t>
            </a:r>
            <a:r>
              <a:rPr sz="4000" b="1" spc="-20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6964" y="1228683"/>
            <a:ext cx="8320185" cy="426441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sz="3200" b="1" spc="-7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Monte</a:t>
            </a:r>
            <a:r>
              <a:rPr sz="3200" b="1" spc="-13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3200" b="1" spc="-7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Carlo方</a:t>
            </a:r>
            <a:r>
              <a:rPr sz="3200" b="1" spc="-13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法</a:t>
            </a:r>
            <a:endParaRPr sz="32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R="23706" indent="-847" algn="just">
              <a:spcBef>
                <a:spcPts val="2400"/>
              </a:spcBef>
              <a:buFont typeface="Times New Roman"/>
              <a:buAutoNum type="arabicPeriod"/>
              <a:tabLst>
                <a:tab pos="541853" algn="l"/>
                <a:tab pos="542698" algn="l"/>
              </a:tabLst>
            </a:pPr>
            <a:r>
              <a:rPr lang="zh-CN" altLang="en-US" sz="2800" b="1" spc="-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从根开始，随机选择一条路经，直到不能分支为止</a:t>
            </a:r>
            <a:r>
              <a:rPr lang="en-US" altLang="zh-CN" sz="2800" b="1" spc="-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sz="2800" b="1" spc="-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即从 </a:t>
            </a:r>
            <a:r>
              <a:rPr lang="en-US" altLang="zh-CN" sz="2800" b="1" spc="-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 spc="-7" baseline="-25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2800" b="1" spc="-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x</a:t>
            </a:r>
            <a:r>
              <a:rPr lang="en-US" altLang="zh-CN" sz="2800" b="1" spc="-7" baseline="-25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2800" b="1" spc="-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, …, </a:t>
            </a:r>
            <a:r>
              <a:rPr lang="zh-CN" altLang="en-US" sz="2800" b="1" spc="-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依次对 </a:t>
            </a:r>
            <a:r>
              <a:rPr lang="en-US" altLang="zh-CN" sz="2800" b="1" spc="-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 spc="-7" baseline="-25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sz="2800" b="1" spc="-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spc="-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赋值，每个 </a:t>
            </a:r>
            <a:r>
              <a:rPr lang="en-US" altLang="zh-CN" sz="2800" b="1" spc="-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 spc="-7" baseline="-25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sz="2800" b="1" spc="-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spc="-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的值是从当时的 </a:t>
            </a:r>
            <a:r>
              <a:rPr lang="en-US" altLang="zh-CN" sz="2800" b="1" spc="-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lang="en-US" altLang="zh-CN" sz="2800" b="1" spc="-7" baseline="-25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sz="2800" b="1" spc="-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spc="-7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中</a:t>
            </a:r>
            <a:r>
              <a:rPr lang="zh-CN" altLang="en-US" sz="2800" b="1" spc="-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随机选取，直到向量不能扩张为止</a:t>
            </a:r>
            <a:r>
              <a:rPr lang="en-US" altLang="zh-CN" sz="2800" b="1" spc="-7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lang="en-US" sz="2800" b="1" spc="-7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R="23706" indent="-847" algn="just">
              <a:spcBef>
                <a:spcPts val="2400"/>
              </a:spcBef>
              <a:buFont typeface="Times New Roman"/>
              <a:buAutoNum type="arabicPeriod"/>
              <a:tabLst>
                <a:tab pos="541853" algn="l"/>
                <a:tab pos="542698" algn="l"/>
              </a:tabLst>
            </a:pPr>
            <a:r>
              <a:rPr sz="2800" b="1" spc="-7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假定搜索</a:t>
            </a:r>
            <a:r>
              <a:rPr sz="2800" b="1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树</a:t>
            </a:r>
            <a:r>
              <a:rPr sz="2800" b="1" spc="7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sz="2800" b="1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其</a:t>
            </a:r>
            <a:r>
              <a:rPr sz="2800" b="1" spc="-13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他</a:t>
            </a:r>
            <a:r>
              <a:rPr sz="2800" b="1" spc="-793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b="1" spc="-7" dirty="0">
                <a:latin typeface="Times New Roman" pitchFamily="18" charset="0"/>
                <a:cs typeface="Times New Roman" pitchFamily="18" charset="0"/>
              </a:rPr>
              <a:t>|</a:t>
            </a:r>
            <a:r>
              <a:rPr sz="2800" b="1" spc="-27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b="1" i="1" spc="-7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sz="2800" b="1" i="1" spc="-9" baseline="-20833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sz="2800" b="1" i="1" baseline="-20833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b="1" spc="-7" dirty="0">
                <a:latin typeface="Times New Roman" pitchFamily="18" charset="0"/>
                <a:cs typeface="Times New Roman" pitchFamily="18" charset="0"/>
              </a:rPr>
              <a:t>|</a:t>
            </a:r>
            <a:r>
              <a:rPr sz="2800" b="1" spc="-33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spc="-33" dirty="0">
                <a:latin typeface="Times New Roman" pitchFamily="18" charset="0"/>
                <a:cs typeface="Times New Roman" pitchFamily="18" charset="0"/>
              </a:rPr>
              <a:t>-</a:t>
            </a:r>
            <a:r>
              <a:rPr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sz="2800" b="1" spc="-40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spc="-7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个分支</a:t>
            </a:r>
            <a:r>
              <a:rPr sz="2800" b="1" spc="-13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sz="2800" b="1" spc="-7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以上随机</a:t>
            </a:r>
            <a:r>
              <a:rPr sz="2800" b="1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选</a:t>
            </a:r>
            <a:r>
              <a:rPr sz="2800" b="1" spc="7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出</a:t>
            </a:r>
            <a:r>
              <a:rPr sz="2800" b="1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的路径一样</a:t>
            </a:r>
            <a:r>
              <a:rPr sz="2800" b="1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sz="2800" b="1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计数搜索</a:t>
            </a:r>
            <a:r>
              <a:rPr sz="2800" b="1" spc="-7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树的点数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sz="28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R="283626" algn="just">
              <a:spcBef>
                <a:spcPts val="2400"/>
              </a:spcBef>
              <a:buFont typeface="Times New Roman"/>
              <a:buAutoNum type="arabicPeriod"/>
              <a:tabLst>
                <a:tab pos="541853" algn="l"/>
                <a:tab pos="542698" algn="l"/>
              </a:tabLst>
            </a:pPr>
            <a:r>
              <a:rPr sz="2800" b="1" spc="-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重复步</a:t>
            </a:r>
            <a:r>
              <a:rPr sz="2800" b="1" spc="-13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骤</a:t>
            </a:r>
            <a:r>
              <a:rPr sz="2800" b="1" spc="-813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sz="2800" b="1" spc="-4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spc="-13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sz="2800" b="1" spc="-84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spc="-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2，</a:t>
            </a:r>
            <a:r>
              <a:rPr sz="2800" b="1" spc="-7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将结</a:t>
            </a:r>
            <a:r>
              <a:rPr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点数进行概</a:t>
            </a:r>
            <a:r>
              <a:rPr sz="2800" b="1" spc="-7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率平均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sz="28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3362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91886" y="240148"/>
            <a:ext cx="1042850" cy="632651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4000" b="1" spc="-13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伪</a:t>
            </a:r>
            <a:r>
              <a:rPr sz="4000" b="1" spc="-20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码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51641" y="1528405"/>
            <a:ext cx="8139161" cy="2971753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3200" b="1" spc="-7" dirty="0">
                <a:latin typeface="Times New Roman"/>
                <a:cs typeface="Times New Roman"/>
              </a:rPr>
              <a:t>Monte</a:t>
            </a:r>
            <a:r>
              <a:rPr sz="3200" b="1" spc="-13" dirty="0">
                <a:latin typeface="Times New Roman"/>
                <a:cs typeface="Times New Roman"/>
              </a:rPr>
              <a:t> </a:t>
            </a:r>
            <a:r>
              <a:rPr sz="3200" b="1" spc="-7" dirty="0">
                <a:latin typeface="Times New Roman"/>
                <a:cs typeface="Times New Roman"/>
              </a:rPr>
              <a:t>Carlo</a:t>
            </a:r>
            <a:endParaRPr sz="3200" dirty="0">
              <a:latin typeface="Times New Roman"/>
              <a:cs typeface="Times New Roman"/>
            </a:endParaRPr>
          </a:p>
          <a:p>
            <a:pPr marL="16933" marR="231134">
              <a:spcBef>
                <a:spcPts val="40"/>
              </a:spcBef>
            </a:pPr>
            <a:r>
              <a:rPr sz="3200" b="1" spc="-7" dirty="0">
                <a:latin typeface="Times New Roman" pitchFamily="18" charset="0"/>
                <a:ea typeface="黑体" panose="02010609060101010101" pitchFamily="49" charset="-122"/>
                <a:cs typeface="Times New Roman" pitchFamily="18" charset="0"/>
              </a:rPr>
              <a:t>输入：</a:t>
            </a:r>
            <a:r>
              <a:rPr sz="3200" b="1" i="1" spc="-7" dirty="0">
                <a:latin typeface="Times New Roman" pitchFamily="18" charset="0"/>
                <a:ea typeface="黑体" panose="02010609060101010101" pitchFamily="49" charset="-122"/>
                <a:cs typeface="Times New Roman" pitchFamily="18" charset="0"/>
              </a:rPr>
              <a:t>n </a:t>
            </a:r>
            <a:r>
              <a:rPr sz="3200" b="1" spc="-7" dirty="0">
                <a:latin typeface="Times New Roman" pitchFamily="18" charset="0"/>
                <a:ea typeface="黑体" panose="02010609060101010101" pitchFamily="49" charset="-122"/>
                <a:cs typeface="Times New Roman" pitchFamily="18" charset="0"/>
              </a:rPr>
              <a:t>为皇后</a:t>
            </a:r>
            <a:r>
              <a:rPr sz="3200" b="1" dirty="0">
                <a:latin typeface="Times New Roman" pitchFamily="18" charset="0"/>
                <a:ea typeface="黑体" panose="02010609060101010101" pitchFamily="49" charset="-122"/>
                <a:cs typeface="Times New Roman" pitchFamily="18" charset="0"/>
              </a:rPr>
              <a:t>数</a:t>
            </a:r>
            <a:r>
              <a:rPr sz="3200" b="1" spc="-7" dirty="0">
                <a:latin typeface="Times New Roman" pitchFamily="18" charset="0"/>
                <a:ea typeface="黑体" panose="02010609060101010101" pitchFamily="49" charset="-122"/>
                <a:cs typeface="Times New Roman" pitchFamily="18" charset="0"/>
              </a:rPr>
              <a:t>，</a:t>
            </a:r>
            <a:r>
              <a:rPr sz="3200" b="1" i="1" spc="-7" dirty="0">
                <a:latin typeface="Times New Roman" pitchFamily="18" charset="0"/>
                <a:ea typeface="黑体" panose="02010609060101010101" pitchFamily="49" charset="-122"/>
                <a:cs typeface="Times New Roman" pitchFamily="18" charset="0"/>
              </a:rPr>
              <a:t>t</a:t>
            </a:r>
            <a:r>
              <a:rPr sz="3200" b="1" i="1" dirty="0">
                <a:latin typeface="Times New Roman" pitchFamily="18" charset="0"/>
                <a:ea typeface="黑体" panose="02010609060101010101" pitchFamily="49" charset="-122"/>
                <a:cs typeface="Times New Roman" pitchFamily="18" charset="0"/>
              </a:rPr>
              <a:t> </a:t>
            </a:r>
            <a:r>
              <a:rPr sz="3200" b="1" spc="-7" dirty="0" err="1">
                <a:latin typeface="Times New Roman" pitchFamily="18" charset="0"/>
                <a:ea typeface="黑体" panose="02010609060101010101" pitchFamily="49" charset="-122"/>
                <a:cs typeface="Times New Roman" pitchFamily="18" charset="0"/>
              </a:rPr>
              <a:t>为抽样次</a:t>
            </a:r>
            <a:r>
              <a:rPr sz="3200" b="1" spc="-13" dirty="0" err="1">
                <a:latin typeface="Times New Roman" pitchFamily="18" charset="0"/>
                <a:ea typeface="黑体" panose="02010609060101010101" pitchFamily="49" charset="-122"/>
                <a:cs typeface="Times New Roman" pitchFamily="18" charset="0"/>
              </a:rPr>
              <a:t>数</a:t>
            </a:r>
            <a:r>
              <a:rPr sz="3200" b="1" spc="-13" dirty="0">
                <a:latin typeface="Times New Roman" pitchFamily="18" charset="0"/>
                <a:ea typeface="黑体" panose="02010609060101010101" pitchFamily="49" charset="-122"/>
                <a:cs typeface="Times New Roman" pitchFamily="18" charset="0"/>
              </a:rPr>
              <a:t> </a:t>
            </a:r>
            <a:endParaRPr lang="en-US" sz="3200" b="1" spc="-13" dirty="0">
              <a:latin typeface="Times New Roman" pitchFamily="18" charset="0"/>
              <a:ea typeface="黑体" panose="02010609060101010101" pitchFamily="49" charset="-122"/>
              <a:cs typeface="Times New Roman" pitchFamily="18" charset="0"/>
            </a:endParaRPr>
          </a:p>
          <a:p>
            <a:pPr marL="16933" marR="231134">
              <a:spcBef>
                <a:spcPts val="40"/>
              </a:spcBef>
            </a:pPr>
            <a:r>
              <a:rPr sz="3200" b="1" spc="-7" dirty="0" err="1" smtClean="0">
                <a:latin typeface="Times New Roman" pitchFamily="18" charset="0"/>
                <a:ea typeface="黑体" panose="02010609060101010101" pitchFamily="49" charset="-122"/>
                <a:cs typeface="Times New Roman" pitchFamily="18" charset="0"/>
              </a:rPr>
              <a:t>输出</a:t>
            </a:r>
            <a:r>
              <a:rPr sz="3200" b="1" spc="-7" dirty="0" err="1">
                <a:latin typeface="Times New Roman" pitchFamily="18" charset="0"/>
                <a:ea typeface="黑体" panose="02010609060101010101" pitchFamily="49" charset="-122"/>
                <a:cs typeface="Times New Roman" pitchFamily="18" charset="0"/>
              </a:rPr>
              <a:t>：</a:t>
            </a:r>
            <a:r>
              <a:rPr sz="3200" b="1" i="1" spc="-7" dirty="0" err="1">
                <a:latin typeface="Times New Roman" pitchFamily="18" charset="0"/>
                <a:ea typeface="黑体" panose="02010609060101010101" pitchFamily="49" charset="-122"/>
                <a:cs typeface="Times New Roman" pitchFamily="18" charset="0"/>
              </a:rPr>
              <a:t>sum</a:t>
            </a:r>
            <a:r>
              <a:rPr sz="3200" b="1" spc="-7" dirty="0">
                <a:latin typeface="Times New Roman" pitchFamily="18" charset="0"/>
                <a:ea typeface="黑体" panose="02010609060101010101" pitchFamily="49" charset="-122"/>
                <a:cs typeface="Times New Roman" pitchFamily="18" charset="0"/>
              </a:rPr>
              <a:t>,</a:t>
            </a:r>
            <a:r>
              <a:rPr sz="3200" b="1" spc="-27" dirty="0">
                <a:latin typeface="Times New Roman" pitchFamily="18" charset="0"/>
                <a:ea typeface="黑体" panose="02010609060101010101" pitchFamily="49" charset="-122"/>
                <a:cs typeface="Times New Roman" pitchFamily="18" charset="0"/>
              </a:rPr>
              <a:t> </a:t>
            </a:r>
            <a:r>
              <a:rPr sz="3200" b="1" spc="-7" dirty="0">
                <a:latin typeface="Times New Roman" pitchFamily="18" charset="0"/>
                <a:ea typeface="黑体" panose="02010609060101010101" pitchFamily="49" charset="-122"/>
                <a:cs typeface="Times New Roman" pitchFamily="18" charset="0"/>
              </a:rPr>
              <a:t>即</a:t>
            </a:r>
            <a:r>
              <a:rPr sz="3200" b="1" i="1" dirty="0">
                <a:latin typeface="Times New Roman" pitchFamily="18" charset="0"/>
                <a:ea typeface="黑体" panose="02010609060101010101" pitchFamily="49" charset="-122"/>
                <a:cs typeface="Times New Roman" pitchFamily="18" charset="0"/>
              </a:rPr>
              <a:t>t</a:t>
            </a:r>
            <a:r>
              <a:rPr sz="3200" b="1" i="1" spc="-60" dirty="0">
                <a:latin typeface="Times New Roman" pitchFamily="18" charset="0"/>
                <a:ea typeface="黑体" panose="02010609060101010101" pitchFamily="49" charset="-122"/>
                <a:cs typeface="Times New Roman" pitchFamily="18" charset="0"/>
              </a:rPr>
              <a:t> </a:t>
            </a:r>
            <a:r>
              <a:rPr sz="3200" b="1" spc="-7" dirty="0" err="1">
                <a:latin typeface="Times New Roman" pitchFamily="18" charset="0"/>
                <a:ea typeface="黑体" panose="02010609060101010101" pitchFamily="49" charset="-122"/>
                <a:cs typeface="Times New Roman" pitchFamily="18" charset="0"/>
              </a:rPr>
              <a:t>次抽样</a:t>
            </a:r>
            <a:r>
              <a:rPr sz="3200" b="1" dirty="0" err="1">
                <a:latin typeface="Times New Roman" pitchFamily="18" charset="0"/>
                <a:ea typeface="黑体" panose="02010609060101010101" pitchFamily="49" charset="-122"/>
                <a:cs typeface="Times New Roman" pitchFamily="18" charset="0"/>
              </a:rPr>
              <a:t>路长平均值</a:t>
            </a:r>
            <a:r>
              <a:rPr sz="3200" b="1" dirty="0">
                <a:latin typeface="Times New Roman" pitchFamily="18" charset="0"/>
                <a:ea typeface="黑体" panose="02010609060101010101" pitchFamily="49" charset="-122"/>
                <a:cs typeface="Times New Roman" pitchFamily="18" charset="0"/>
              </a:rPr>
              <a:t> </a:t>
            </a:r>
            <a:endParaRPr lang="en-US" sz="3200" b="1" dirty="0" smtClean="0">
              <a:latin typeface="Times New Roman" pitchFamily="18" charset="0"/>
              <a:ea typeface="黑体" panose="02010609060101010101" pitchFamily="49" charset="-122"/>
              <a:cs typeface="Times New Roman" pitchFamily="18" charset="0"/>
            </a:endParaRPr>
          </a:p>
          <a:p>
            <a:pPr marL="16933" marR="231134">
              <a:spcBef>
                <a:spcPts val="40"/>
              </a:spcBef>
            </a:pPr>
            <a:r>
              <a:rPr sz="3200" b="1" spc="-7" dirty="0" smtClean="0">
                <a:latin typeface="Times New Roman"/>
                <a:cs typeface="Times New Roman"/>
              </a:rPr>
              <a:t>1</a:t>
            </a:r>
            <a:r>
              <a:rPr sz="3200" b="1" spc="-7" dirty="0" smtClean="0">
                <a:latin typeface="宋体"/>
                <a:cs typeface="宋体"/>
              </a:rPr>
              <a:t>．</a:t>
            </a:r>
            <a:r>
              <a:rPr sz="3200" b="1" i="1" spc="-7" dirty="0" smtClean="0">
                <a:latin typeface="Times New Roman"/>
                <a:cs typeface="Times New Roman"/>
              </a:rPr>
              <a:t>sum</a:t>
            </a:r>
            <a:r>
              <a:rPr sz="3200" b="1" spc="-7" dirty="0">
                <a:latin typeface="Symbol"/>
                <a:cs typeface="Symbol"/>
              </a:rPr>
              <a:t></a:t>
            </a:r>
            <a:r>
              <a:rPr sz="3200" b="1" spc="-7" dirty="0">
                <a:latin typeface="Times New Roman"/>
                <a:cs typeface="Times New Roman"/>
              </a:rPr>
              <a:t>0</a:t>
            </a:r>
            <a:endParaRPr sz="3200" dirty="0">
              <a:latin typeface="Times New Roman"/>
              <a:cs typeface="Times New Roman"/>
            </a:endParaRPr>
          </a:p>
          <a:p>
            <a:pPr marL="627363" indent="-611278">
              <a:buSzPct val="95833"/>
              <a:buAutoNum type="arabicPeriod" startAt="2"/>
              <a:tabLst>
                <a:tab pos="628211" algn="l"/>
                <a:tab pos="2704184" algn="l"/>
                <a:tab pos="3019138" algn="l"/>
                <a:tab pos="3956374" algn="l"/>
              </a:tabLst>
            </a:pPr>
            <a:r>
              <a:rPr sz="3200" b="1" spc="-7" dirty="0">
                <a:latin typeface="Times New Roman"/>
                <a:cs typeface="Times New Roman"/>
              </a:rPr>
              <a:t>for </a:t>
            </a:r>
            <a:r>
              <a:rPr sz="3200" b="1" i="1" dirty="0">
                <a:latin typeface="Times New Roman"/>
                <a:cs typeface="Times New Roman"/>
              </a:rPr>
              <a:t>i</a:t>
            </a:r>
            <a:r>
              <a:rPr sz="3200" b="1" i="1" spc="-47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Symbol"/>
                <a:cs typeface="Symbol"/>
              </a:rPr>
              <a:t></a:t>
            </a:r>
            <a:r>
              <a:rPr sz="3200" b="1" dirty="0">
                <a:latin typeface="Times New Roman"/>
                <a:cs typeface="Times New Roman"/>
              </a:rPr>
              <a:t>1</a:t>
            </a:r>
            <a:r>
              <a:rPr sz="3200" b="1" spc="7" dirty="0">
                <a:latin typeface="Times New Roman"/>
                <a:cs typeface="Times New Roman"/>
              </a:rPr>
              <a:t> </a:t>
            </a:r>
            <a:r>
              <a:rPr sz="3200" b="1" spc="-7" dirty="0">
                <a:latin typeface="Times New Roman"/>
                <a:cs typeface="Times New Roman"/>
              </a:rPr>
              <a:t>to	</a:t>
            </a:r>
            <a:r>
              <a:rPr sz="3200" b="1" i="1" dirty="0">
                <a:latin typeface="Times New Roman"/>
                <a:cs typeface="Times New Roman"/>
              </a:rPr>
              <a:t>t	</a:t>
            </a:r>
            <a:r>
              <a:rPr sz="3200" b="1" spc="-7" dirty="0">
                <a:latin typeface="Times New Roman"/>
                <a:cs typeface="Times New Roman"/>
              </a:rPr>
              <a:t>do	//</a:t>
            </a:r>
            <a:r>
              <a:rPr sz="3200" b="1" spc="-53" dirty="0">
                <a:latin typeface="Times New Roman"/>
                <a:cs typeface="Times New Roman"/>
              </a:rPr>
              <a:t> </a:t>
            </a:r>
            <a:r>
              <a:rPr sz="3200" b="1" spc="-7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取样次</a:t>
            </a:r>
            <a:r>
              <a:rPr sz="3200" b="1" spc="-13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数</a:t>
            </a:r>
            <a:r>
              <a:rPr sz="3200" b="1" spc="-807" dirty="0">
                <a:latin typeface="宋体"/>
                <a:cs typeface="宋体"/>
              </a:rPr>
              <a:t> </a:t>
            </a:r>
            <a:r>
              <a:rPr sz="3200" b="1" i="1" dirty="0">
                <a:latin typeface="Times New Roman"/>
                <a:cs typeface="Times New Roman"/>
              </a:rPr>
              <a:t>t</a:t>
            </a:r>
            <a:endParaRPr sz="3200" dirty="0">
              <a:latin typeface="Times New Roman"/>
              <a:cs typeface="Times New Roman"/>
            </a:endParaRPr>
          </a:p>
          <a:p>
            <a:pPr marL="1032908" indent="-1015975">
              <a:buSzPct val="95833"/>
              <a:buFont typeface="Times New Roman"/>
              <a:buAutoNum type="arabicPeriod" startAt="2"/>
              <a:tabLst>
                <a:tab pos="1032061" algn="l"/>
                <a:tab pos="1032908" algn="l"/>
                <a:tab pos="3985160" algn="l"/>
              </a:tabLst>
            </a:pPr>
            <a:r>
              <a:rPr sz="3200" b="1" i="1" spc="-7" dirty="0">
                <a:latin typeface="Times New Roman"/>
                <a:cs typeface="Times New Roman"/>
              </a:rPr>
              <a:t>m</a:t>
            </a:r>
            <a:r>
              <a:rPr sz="3200" b="1" spc="-7" dirty="0">
                <a:latin typeface="Symbol"/>
                <a:cs typeface="Symbol"/>
              </a:rPr>
              <a:t></a:t>
            </a:r>
            <a:r>
              <a:rPr sz="3200" b="1" spc="-7" dirty="0">
                <a:latin typeface="Times New Roman"/>
                <a:cs typeface="Times New Roman"/>
              </a:rPr>
              <a:t>Estimate(</a:t>
            </a:r>
            <a:r>
              <a:rPr sz="3200" b="1" i="1" spc="-7" dirty="0">
                <a:latin typeface="Times New Roman"/>
                <a:cs typeface="Times New Roman"/>
              </a:rPr>
              <a:t>n</a:t>
            </a:r>
            <a:r>
              <a:rPr sz="3200" b="1" spc="-7" dirty="0">
                <a:latin typeface="Times New Roman"/>
                <a:cs typeface="Times New Roman"/>
              </a:rPr>
              <a:t>)	//</a:t>
            </a:r>
            <a:r>
              <a:rPr sz="3200" b="1" spc="-120" dirty="0">
                <a:latin typeface="Times New Roman"/>
                <a:cs typeface="Times New Roman"/>
              </a:rPr>
              <a:t> </a:t>
            </a:r>
            <a:r>
              <a:rPr sz="3200" b="1" i="1" spc="-7" dirty="0">
                <a:latin typeface="Times New Roman"/>
                <a:cs typeface="Times New Roman"/>
              </a:rPr>
              <a:t>m</a:t>
            </a:r>
            <a:r>
              <a:rPr sz="3200" b="1" spc="-7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为结点</a:t>
            </a:r>
            <a:r>
              <a:rPr sz="3200" b="1" spc="-13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数</a:t>
            </a:r>
            <a:endParaRPr sz="3200" dirty="0">
              <a:latin typeface="黑体" panose="02010609060101010101" pitchFamily="49" charset="-122"/>
              <a:ea typeface="黑体" panose="02010609060101010101" pitchFamily="49" charset="-122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3183" y="4418280"/>
            <a:ext cx="4955648" cy="50954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  <a:tabLst>
                <a:tab pos="1032061" algn="l"/>
              </a:tabLst>
            </a:pPr>
            <a:r>
              <a:rPr sz="3200" b="1" dirty="0">
                <a:latin typeface="Times New Roman"/>
                <a:cs typeface="Times New Roman"/>
              </a:rPr>
              <a:t>4.	</a:t>
            </a:r>
            <a:r>
              <a:rPr sz="3200" b="1" i="1" spc="-7" dirty="0">
                <a:latin typeface="Times New Roman"/>
                <a:cs typeface="Times New Roman"/>
              </a:rPr>
              <a:t>sum </a:t>
            </a:r>
            <a:r>
              <a:rPr sz="3200" b="1" spc="-7" dirty="0">
                <a:latin typeface="Symbol"/>
                <a:cs typeface="Symbol"/>
              </a:rPr>
              <a:t></a:t>
            </a:r>
            <a:r>
              <a:rPr sz="3200" b="1" spc="-7" dirty="0">
                <a:latin typeface="Times New Roman"/>
                <a:cs typeface="Times New Roman"/>
              </a:rPr>
              <a:t> </a:t>
            </a:r>
            <a:r>
              <a:rPr sz="3200" b="1" i="1" spc="-7" dirty="0">
                <a:latin typeface="Times New Roman"/>
                <a:cs typeface="Times New Roman"/>
              </a:rPr>
              <a:t>sum </a:t>
            </a:r>
            <a:r>
              <a:rPr sz="3200" b="1" i="1" dirty="0">
                <a:latin typeface="Times New Roman"/>
                <a:cs typeface="Times New Roman"/>
              </a:rPr>
              <a:t>+</a:t>
            </a:r>
            <a:r>
              <a:rPr sz="3200" b="1" i="1" spc="-80" dirty="0">
                <a:latin typeface="Times New Roman"/>
                <a:cs typeface="Times New Roman"/>
              </a:rPr>
              <a:t> </a:t>
            </a:r>
            <a:r>
              <a:rPr sz="3200" b="1" i="1" dirty="0">
                <a:latin typeface="Times New Roman"/>
                <a:cs typeface="Times New Roman"/>
              </a:rPr>
              <a:t>m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23183" y="4942897"/>
            <a:ext cx="3451347" cy="535125"/>
          </a:xfrm>
          <a:prstGeom prst="rect">
            <a:avLst/>
          </a:prstGeom>
        </p:spPr>
        <p:txBody>
          <a:bodyPr vert="horz" wrap="square" lIns="0" tIns="22013" rIns="0" bIns="0" rtlCol="0">
            <a:spAutoFit/>
          </a:bodyPr>
          <a:lstStyle/>
          <a:p>
            <a:pPr marL="16933">
              <a:spcBef>
                <a:spcPts val="173"/>
              </a:spcBef>
              <a:tabLst>
                <a:tab pos="524074" algn="l"/>
              </a:tabLst>
            </a:pPr>
            <a:r>
              <a:rPr sz="3200" b="1" dirty="0">
                <a:latin typeface="Times New Roman"/>
                <a:cs typeface="Times New Roman"/>
              </a:rPr>
              <a:t>5.	</a:t>
            </a:r>
            <a:r>
              <a:rPr sz="3200" b="1" i="1" spc="-7" dirty="0">
                <a:latin typeface="Times New Roman"/>
                <a:cs typeface="Times New Roman"/>
              </a:rPr>
              <a:t>sum </a:t>
            </a:r>
            <a:r>
              <a:rPr sz="3333" b="1" i="1" spc="-133" dirty="0">
                <a:latin typeface="Symbol"/>
                <a:cs typeface="Symbol"/>
              </a:rPr>
              <a:t></a:t>
            </a:r>
            <a:r>
              <a:rPr sz="3333" b="1" i="1" spc="-133" dirty="0">
                <a:latin typeface="Times New Roman"/>
                <a:cs typeface="Times New Roman"/>
              </a:rPr>
              <a:t> </a:t>
            </a:r>
            <a:r>
              <a:rPr sz="3200" b="1" i="1" spc="-7" dirty="0">
                <a:latin typeface="Times New Roman"/>
                <a:cs typeface="Times New Roman"/>
              </a:rPr>
              <a:t>sum </a:t>
            </a:r>
            <a:r>
              <a:rPr sz="3200" b="1" i="1" dirty="0">
                <a:latin typeface="Times New Roman"/>
                <a:cs typeface="Times New Roman"/>
              </a:rPr>
              <a:t>/</a:t>
            </a:r>
            <a:r>
              <a:rPr sz="3200" b="1" i="1" spc="7" dirty="0">
                <a:latin typeface="Times New Roman"/>
                <a:cs typeface="Times New Roman"/>
              </a:rPr>
              <a:t> </a:t>
            </a:r>
            <a:r>
              <a:rPr sz="3200" b="1" i="1" dirty="0">
                <a:latin typeface="Times New Roman"/>
                <a:cs typeface="Times New Roman"/>
              </a:rPr>
              <a:t>t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317028" y="4500158"/>
            <a:ext cx="1667164" cy="1164167"/>
          </a:xfrm>
          <a:custGeom>
            <a:avLst/>
            <a:gdLst/>
            <a:ahLst/>
            <a:cxnLst/>
            <a:rect l="l" t="t" r="r" b="b"/>
            <a:pathLst>
              <a:path w="1666875" h="873125">
                <a:moveTo>
                  <a:pt x="0" y="0"/>
                </a:moveTo>
                <a:lnTo>
                  <a:pt x="289979" y="264579"/>
                </a:lnTo>
                <a:lnTo>
                  <a:pt x="247678" y="296895"/>
                </a:lnTo>
                <a:lnTo>
                  <a:pt x="212504" y="330739"/>
                </a:lnTo>
                <a:lnTo>
                  <a:pt x="184477" y="365831"/>
                </a:lnTo>
                <a:lnTo>
                  <a:pt x="163619" y="401894"/>
                </a:lnTo>
                <a:lnTo>
                  <a:pt x="149951" y="438652"/>
                </a:lnTo>
                <a:lnTo>
                  <a:pt x="143494" y="475826"/>
                </a:lnTo>
                <a:lnTo>
                  <a:pt x="144268" y="513138"/>
                </a:lnTo>
                <a:lnTo>
                  <a:pt x="167599" y="587071"/>
                </a:lnTo>
                <a:lnTo>
                  <a:pt x="190197" y="623135"/>
                </a:lnTo>
                <a:lnTo>
                  <a:pt x="220112" y="658229"/>
                </a:lnTo>
                <a:lnTo>
                  <a:pt x="257365" y="692073"/>
                </a:lnTo>
                <a:lnTo>
                  <a:pt x="289114" y="715782"/>
                </a:lnTo>
                <a:lnTo>
                  <a:pt x="323734" y="737926"/>
                </a:lnTo>
                <a:lnTo>
                  <a:pt x="361021" y="758482"/>
                </a:lnTo>
                <a:lnTo>
                  <a:pt x="400774" y="777426"/>
                </a:lnTo>
                <a:lnTo>
                  <a:pt x="442788" y="794735"/>
                </a:lnTo>
                <a:lnTo>
                  <a:pt x="486862" y="810383"/>
                </a:lnTo>
                <a:lnTo>
                  <a:pt x="532792" y="824348"/>
                </a:lnTo>
                <a:lnTo>
                  <a:pt x="580376" y="836605"/>
                </a:lnTo>
                <a:lnTo>
                  <a:pt x="629410" y="847131"/>
                </a:lnTo>
                <a:lnTo>
                  <a:pt x="679691" y="855902"/>
                </a:lnTo>
                <a:lnTo>
                  <a:pt x="731018" y="862893"/>
                </a:lnTo>
                <a:lnTo>
                  <a:pt x="783186" y="868081"/>
                </a:lnTo>
                <a:lnTo>
                  <a:pt x="835994" y="871443"/>
                </a:lnTo>
                <a:lnTo>
                  <a:pt x="889238" y="872953"/>
                </a:lnTo>
                <a:lnTo>
                  <a:pt x="942715" y="872589"/>
                </a:lnTo>
                <a:lnTo>
                  <a:pt x="996223" y="870326"/>
                </a:lnTo>
                <a:lnTo>
                  <a:pt x="1049558" y="866141"/>
                </a:lnTo>
                <a:lnTo>
                  <a:pt x="1102519" y="860010"/>
                </a:lnTo>
                <a:lnTo>
                  <a:pt x="1154901" y="851908"/>
                </a:lnTo>
                <a:lnTo>
                  <a:pt x="1206502" y="841812"/>
                </a:lnTo>
                <a:lnTo>
                  <a:pt x="1257119" y="829698"/>
                </a:lnTo>
                <a:lnTo>
                  <a:pt x="1306550" y="815543"/>
                </a:lnTo>
                <a:lnTo>
                  <a:pt x="1363851" y="795864"/>
                </a:lnTo>
                <a:lnTo>
                  <a:pt x="1416482" y="774067"/>
                </a:lnTo>
                <a:lnTo>
                  <a:pt x="1464355" y="750336"/>
                </a:lnTo>
                <a:lnTo>
                  <a:pt x="1507384" y="724859"/>
                </a:lnTo>
                <a:lnTo>
                  <a:pt x="1545481" y="697820"/>
                </a:lnTo>
                <a:lnTo>
                  <a:pt x="1578561" y="669405"/>
                </a:lnTo>
                <a:lnTo>
                  <a:pt x="1606536" y="639802"/>
                </a:lnTo>
                <a:lnTo>
                  <a:pt x="1629319" y="609195"/>
                </a:lnTo>
                <a:lnTo>
                  <a:pt x="1658964" y="545714"/>
                </a:lnTo>
                <a:lnTo>
                  <a:pt x="1666800" y="480452"/>
                </a:lnTo>
                <a:lnTo>
                  <a:pt x="1662323" y="447617"/>
                </a:lnTo>
                <a:lnTo>
                  <a:pt x="1636144" y="382471"/>
                </a:lnTo>
                <a:lnTo>
                  <a:pt x="1614268" y="350531"/>
                </a:lnTo>
                <a:lnTo>
                  <a:pt x="1586420" y="319262"/>
                </a:lnTo>
                <a:lnTo>
                  <a:pt x="1552511" y="288848"/>
                </a:lnTo>
                <a:lnTo>
                  <a:pt x="1520762" y="265141"/>
                </a:lnTo>
                <a:lnTo>
                  <a:pt x="1486142" y="242999"/>
                </a:lnTo>
                <a:lnTo>
                  <a:pt x="1448855" y="222444"/>
                </a:lnTo>
                <a:lnTo>
                  <a:pt x="1409102" y="203501"/>
                </a:lnTo>
                <a:lnTo>
                  <a:pt x="1367088" y="186194"/>
                </a:lnTo>
                <a:lnTo>
                  <a:pt x="1323014" y="170546"/>
                </a:lnTo>
                <a:lnTo>
                  <a:pt x="1306019" y="165379"/>
                </a:lnTo>
                <a:lnTo>
                  <a:pt x="503326" y="165379"/>
                </a:lnTo>
                <a:lnTo>
                  <a:pt x="0" y="0"/>
                </a:lnTo>
                <a:close/>
              </a:path>
              <a:path w="1666875" h="873125">
                <a:moveTo>
                  <a:pt x="920638" y="107977"/>
                </a:moveTo>
                <a:lnTo>
                  <a:pt x="867161" y="108341"/>
                </a:lnTo>
                <a:lnTo>
                  <a:pt x="813653" y="110603"/>
                </a:lnTo>
                <a:lnTo>
                  <a:pt x="760318" y="114787"/>
                </a:lnTo>
                <a:lnTo>
                  <a:pt x="707357" y="120917"/>
                </a:lnTo>
                <a:lnTo>
                  <a:pt x="654975" y="129018"/>
                </a:lnTo>
                <a:lnTo>
                  <a:pt x="603374" y="139113"/>
                </a:lnTo>
                <a:lnTo>
                  <a:pt x="552757" y="151225"/>
                </a:lnTo>
                <a:lnTo>
                  <a:pt x="503326" y="165379"/>
                </a:lnTo>
                <a:lnTo>
                  <a:pt x="1306019" y="165379"/>
                </a:lnTo>
                <a:lnTo>
                  <a:pt x="1229500" y="144325"/>
                </a:lnTo>
                <a:lnTo>
                  <a:pt x="1180466" y="133800"/>
                </a:lnTo>
                <a:lnTo>
                  <a:pt x="1130185" y="125029"/>
                </a:lnTo>
                <a:lnTo>
                  <a:pt x="1078858" y="118038"/>
                </a:lnTo>
                <a:lnTo>
                  <a:pt x="1026690" y="112850"/>
                </a:lnTo>
                <a:lnTo>
                  <a:pt x="973882" y="109488"/>
                </a:lnTo>
                <a:lnTo>
                  <a:pt x="920638" y="107977"/>
                </a:lnTo>
                <a:close/>
              </a:path>
            </a:pathLst>
          </a:custGeom>
          <a:solidFill>
            <a:srgbClr val="4F81BD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" name="object 7"/>
          <p:cNvSpPr/>
          <p:nvPr/>
        </p:nvSpPr>
        <p:spPr>
          <a:xfrm>
            <a:off x="4317028" y="4500158"/>
            <a:ext cx="1667164" cy="1164167"/>
          </a:xfrm>
          <a:custGeom>
            <a:avLst/>
            <a:gdLst/>
            <a:ahLst/>
            <a:cxnLst/>
            <a:rect l="l" t="t" r="r" b="b"/>
            <a:pathLst>
              <a:path w="1666875" h="873125">
                <a:moveTo>
                  <a:pt x="0" y="0"/>
                </a:moveTo>
                <a:lnTo>
                  <a:pt x="503326" y="165379"/>
                </a:lnTo>
                <a:lnTo>
                  <a:pt x="552757" y="151225"/>
                </a:lnTo>
                <a:lnTo>
                  <a:pt x="603374" y="139113"/>
                </a:lnTo>
                <a:lnTo>
                  <a:pt x="654975" y="129018"/>
                </a:lnTo>
                <a:lnTo>
                  <a:pt x="707357" y="120917"/>
                </a:lnTo>
                <a:lnTo>
                  <a:pt x="760318" y="114787"/>
                </a:lnTo>
                <a:lnTo>
                  <a:pt x="813653" y="110603"/>
                </a:lnTo>
                <a:lnTo>
                  <a:pt x="867161" y="108341"/>
                </a:lnTo>
                <a:lnTo>
                  <a:pt x="920638" y="107977"/>
                </a:lnTo>
                <a:lnTo>
                  <a:pt x="973882" y="109488"/>
                </a:lnTo>
                <a:lnTo>
                  <a:pt x="1026690" y="112850"/>
                </a:lnTo>
                <a:lnTo>
                  <a:pt x="1078858" y="118038"/>
                </a:lnTo>
                <a:lnTo>
                  <a:pt x="1130185" y="125029"/>
                </a:lnTo>
                <a:lnTo>
                  <a:pt x="1180466" y="133800"/>
                </a:lnTo>
                <a:lnTo>
                  <a:pt x="1229500" y="144325"/>
                </a:lnTo>
                <a:lnTo>
                  <a:pt x="1277084" y="156582"/>
                </a:lnTo>
                <a:lnTo>
                  <a:pt x="1323014" y="170546"/>
                </a:lnTo>
                <a:lnTo>
                  <a:pt x="1367088" y="186194"/>
                </a:lnTo>
                <a:lnTo>
                  <a:pt x="1409102" y="203501"/>
                </a:lnTo>
                <a:lnTo>
                  <a:pt x="1448855" y="222444"/>
                </a:lnTo>
                <a:lnTo>
                  <a:pt x="1486142" y="242999"/>
                </a:lnTo>
                <a:lnTo>
                  <a:pt x="1520762" y="265141"/>
                </a:lnTo>
                <a:lnTo>
                  <a:pt x="1552511" y="288848"/>
                </a:lnTo>
                <a:lnTo>
                  <a:pt x="1586420" y="319262"/>
                </a:lnTo>
                <a:lnTo>
                  <a:pt x="1614268" y="350531"/>
                </a:lnTo>
                <a:lnTo>
                  <a:pt x="1636144" y="382471"/>
                </a:lnTo>
                <a:lnTo>
                  <a:pt x="1662323" y="447617"/>
                </a:lnTo>
                <a:lnTo>
                  <a:pt x="1666800" y="480452"/>
                </a:lnTo>
                <a:lnTo>
                  <a:pt x="1665652" y="513213"/>
                </a:lnTo>
                <a:lnTo>
                  <a:pt x="1646824" y="577770"/>
                </a:lnTo>
                <a:lnTo>
                  <a:pt x="1606536" y="639802"/>
                </a:lnTo>
                <a:lnTo>
                  <a:pt x="1578561" y="669405"/>
                </a:lnTo>
                <a:lnTo>
                  <a:pt x="1545481" y="697820"/>
                </a:lnTo>
                <a:lnTo>
                  <a:pt x="1507384" y="724859"/>
                </a:lnTo>
                <a:lnTo>
                  <a:pt x="1464355" y="750336"/>
                </a:lnTo>
                <a:lnTo>
                  <a:pt x="1416482" y="774067"/>
                </a:lnTo>
                <a:lnTo>
                  <a:pt x="1363851" y="795864"/>
                </a:lnTo>
                <a:lnTo>
                  <a:pt x="1306550" y="815543"/>
                </a:lnTo>
                <a:lnTo>
                  <a:pt x="1257119" y="829698"/>
                </a:lnTo>
                <a:lnTo>
                  <a:pt x="1206502" y="841812"/>
                </a:lnTo>
                <a:lnTo>
                  <a:pt x="1154901" y="851908"/>
                </a:lnTo>
                <a:lnTo>
                  <a:pt x="1102519" y="860010"/>
                </a:lnTo>
                <a:lnTo>
                  <a:pt x="1049558" y="866141"/>
                </a:lnTo>
                <a:lnTo>
                  <a:pt x="996223" y="870326"/>
                </a:lnTo>
                <a:lnTo>
                  <a:pt x="942715" y="872589"/>
                </a:lnTo>
                <a:lnTo>
                  <a:pt x="889238" y="872953"/>
                </a:lnTo>
                <a:lnTo>
                  <a:pt x="835994" y="871443"/>
                </a:lnTo>
                <a:lnTo>
                  <a:pt x="783186" y="868081"/>
                </a:lnTo>
                <a:lnTo>
                  <a:pt x="731018" y="862893"/>
                </a:lnTo>
                <a:lnTo>
                  <a:pt x="679691" y="855902"/>
                </a:lnTo>
                <a:lnTo>
                  <a:pt x="629410" y="847131"/>
                </a:lnTo>
                <a:lnTo>
                  <a:pt x="580376" y="836605"/>
                </a:lnTo>
                <a:lnTo>
                  <a:pt x="532792" y="824348"/>
                </a:lnTo>
                <a:lnTo>
                  <a:pt x="486862" y="810383"/>
                </a:lnTo>
                <a:lnTo>
                  <a:pt x="442788" y="794735"/>
                </a:lnTo>
                <a:lnTo>
                  <a:pt x="400774" y="777426"/>
                </a:lnTo>
                <a:lnTo>
                  <a:pt x="361021" y="758482"/>
                </a:lnTo>
                <a:lnTo>
                  <a:pt x="323734" y="737926"/>
                </a:lnTo>
                <a:lnTo>
                  <a:pt x="289114" y="715782"/>
                </a:lnTo>
                <a:lnTo>
                  <a:pt x="257365" y="692073"/>
                </a:lnTo>
                <a:lnTo>
                  <a:pt x="220112" y="658229"/>
                </a:lnTo>
                <a:lnTo>
                  <a:pt x="190197" y="623135"/>
                </a:lnTo>
                <a:lnTo>
                  <a:pt x="167599" y="587071"/>
                </a:lnTo>
                <a:lnTo>
                  <a:pt x="152296" y="550313"/>
                </a:lnTo>
                <a:lnTo>
                  <a:pt x="143494" y="475826"/>
                </a:lnTo>
                <a:lnTo>
                  <a:pt x="149951" y="438652"/>
                </a:lnTo>
                <a:lnTo>
                  <a:pt x="163619" y="401894"/>
                </a:lnTo>
                <a:lnTo>
                  <a:pt x="184477" y="365831"/>
                </a:lnTo>
                <a:lnTo>
                  <a:pt x="212504" y="330739"/>
                </a:lnTo>
                <a:lnTo>
                  <a:pt x="247678" y="296895"/>
                </a:lnTo>
                <a:lnTo>
                  <a:pt x="289979" y="264579"/>
                </a:lnTo>
                <a:lnTo>
                  <a:pt x="0" y="0"/>
                </a:lnTo>
                <a:close/>
              </a:path>
            </a:pathLst>
          </a:custGeom>
          <a:ln w="25146">
            <a:solidFill>
              <a:srgbClr val="385D8A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" name="object 8"/>
          <p:cNvSpPr txBox="1"/>
          <p:nvPr/>
        </p:nvSpPr>
        <p:spPr>
          <a:xfrm>
            <a:off x="4713311" y="4712481"/>
            <a:ext cx="1199502" cy="739519"/>
          </a:xfrm>
          <a:prstGeom prst="rect">
            <a:avLst/>
          </a:prstGeom>
        </p:spPr>
        <p:txBody>
          <a:bodyPr vert="horz" wrap="square" lIns="0" tIns="46567" rIns="0" bIns="0" rtlCol="0">
            <a:spAutoFit/>
          </a:bodyPr>
          <a:lstStyle/>
          <a:p>
            <a:pPr marL="16933" marR="6773">
              <a:lnSpc>
                <a:spcPts val="2707"/>
              </a:lnSpc>
              <a:spcBef>
                <a:spcPts val="367"/>
              </a:spcBef>
            </a:pPr>
            <a:r>
              <a:rPr sz="2400" b="1" spc="-7" dirty="0">
                <a:solidFill>
                  <a:srgbClr val="FFFFFF"/>
                </a:solidFill>
                <a:latin typeface="宋体"/>
                <a:cs typeface="宋体"/>
              </a:rPr>
              <a:t>一次抽 样结果</a:t>
            </a:r>
            <a:endParaRPr sz="2400" dirty="0">
              <a:latin typeface="宋体"/>
              <a:cs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3757327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98086" y="238907"/>
            <a:ext cx="2061568" cy="632651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 algn="ctr">
              <a:lnSpc>
                <a:spcPct val="100000"/>
              </a:lnSpc>
              <a:spcBef>
                <a:spcPts val="133"/>
              </a:spcBef>
            </a:pPr>
            <a:r>
              <a:rPr sz="4000" b="1" spc="-13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一次抽</a:t>
            </a:r>
            <a:r>
              <a:rPr sz="4000" b="1" spc="-2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样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10629" y="1186035"/>
            <a:ext cx="8073534" cy="290757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0799" marR="845799">
              <a:lnSpc>
                <a:spcPct val="110000"/>
              </a:lnSpc>
              <a:spcBef>
                <a:spcPts val="133"/>
              </a:spcBef>
            </a:pPr>
            <a:r>
              <a:rPr sz="2800" b="1" i="1" spc="-7" dirty="0" err="1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m</a:t>
            </a:r>
            <a:r>
              <a:rPr sz="2800" b="1" spc="-7" dirty="0" err="1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为本次取</a:t>
            </a:r>
            <a:r>
              <a:rPr sz="2800" b="1" dirty="0" err="1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样得到的树结点总数</a:t>
            </a:r>
            <a:r>
              <a:rPr sz="28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 </a:t>
            </a:r>
            <a:endParaRPr lang="en-US" sz="2800" b="1" dirty="0" smtClean="0"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  <a:p>
            <a:pPr marL="50799" marR="845799">
              <a:lnSpc>
                <a:spcPct val="110000"/>
              </a:lnSpc>
              <a:spcBef>
                <a:spcPts val="133"/>
              </a:spcBef>
            </a:pPr>
            <a:r>
              <a:rPr sz="2800" b="1" i="1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k</a:t>
            </a:r>
            <a:r>
              <a:rPr sz="2800" b="1" i="1" spc="-7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800" b="1" spc="-7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为层</a:t>
            </a:r>
            <a:r>
              <a:rPr sz="2800" b="1" spc="-13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数</a:t>
            </a:r>
            <a:endParaRPr lang="en-US" sz="2800" b="1" spc="-13" dirty="0" smtClean="0"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  <a:p>
            <a:pPr marL="50799" marR="3660048">
              <a:lnSpc>
                <a:spcPct val="108500"/>
              </a:lnSpc>
              <a:spcBef>
                <a:spcPts val="53"/>
              </a:spcBef>
            </a:pPr>
            <a:r>
              <a:rPr sz="2800" b="1" i="1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r</a:t>
            </a:r>
            <a:r>
              <a:rPr sz="2800" b="1" baseline="-20833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2</a:t>
            </a:r>
            <a:r>
              <a:rPr sz="2800" b="1" spc="-189" baseline="-20833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800" b="1" spc="-7" dirty="0" err="1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为上层</a:t>
            </a:r>
            <a:r>
              <a:rPr sz="2800" b="1" dirty="0" err="1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结点</a:t>
            </a:r>
            <a:r>
              <a:rPr sz="2800" b="1" spc="-13" dirty="0" err="1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数</a:t>
            </a:r>
            <a:r>
              <a:rPr sz="2800" b="1" spc="-13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endParaRPr lang="en-US" sz="2800" b="1" spc="-13" dirty="0" smtClean="0"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  <a:p>
            <a:pPr marL="50799" marR="3660048">
              <a:lnSpc>
                <a:spcPct val="108500"/>
              </a:lnSpc>
              <a:spcBef>
                <a:spcPts val="53"/>
              </a:spcBef>
            </a:pPr>
            <a:r>
              <a:rPr sz="2800" b="1" i="1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r</a:t>
            </a:r>
            <a:r>
              <a:rPr sz="2800" b="1" baseline="-20833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1</a:t>
            </a:r>
            <a:r>
              <a:rPr sz="2800" b="1" spc="-7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为本层结</a:t>
            </a:r>
            <a:r>
              <a:rPr sz="28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点</a:t>
            </a:r>
            <a:r>
              <a:rPr sz="2800" b="1" spc="-13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数 </a:t>
            </a:r>
            <a:r>
              <a:rPr sz="2800" b="1" i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r</a:t>
            </a:r>
            <a:r>
              <a:rPr sz="2800" b="1" baseline="-20833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1</a:t>
            </a:r>
            <a:r>
              <a:rPr sz="2800" b="1" spc="369" baseline="-20833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800" b="1" i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=</a:t>
            </a:r>
            <a:r>
              <a:rPr sz="2800" b="1" i="1" spc="-33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800" b="1" i="1" spc="-13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r</a:t>
            </a:r>
            <a:r>
              <a:rPr sz="2800" b="1" spc="-20" baseline="-20833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2</a:t>
            </a:r>
            <a:r>
              <a:rPr sz="2800" b="1" i="1" spc="-13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</a:t>
            </a:r>
            <a:r>
              <a:rPr sz="2800" b="1" i="1" spc="-67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endParaRPr lang="en-US" sz="2800" b="1" i="1" spc="-67" dirty="0" smtClean="0"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  <a:p>
            <a:pPr marL="50799" marR="3660048">
              <a:lnSpc>
                <a:spcPct val="108500"/>
              </a:lnSpc>
              <a:spcBef>
                <a:spcPts val="53"/>
              </a:spcBef>
            </a:pPr>
            <a:r>
              <a:rPr sz="2800" b="1" spc="-7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分支</a:t>
            </a:r>
            <a:r>
              <a:rPr sz="2800" b="1" spc="-13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数</a:t>
            </a:r>
            <a:r>
              <a:rPr sz="2800" b="1" spc="-13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800" b="1" i="1" spc="-7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n</a:t>
            </a:r>
            <a:r>
              <a:rPr sz="2800" b="1" i="1" spc="-27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800" b="1" spc="-7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为树的层</a:t>
            </a:r>
            <a:r>
              <a:rPr sz="2800" b="1" spc="-13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数</a:t>
            </a:r>
            <a:endParaRPr sz="2800" b="1" dirty="0"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  <a:p>
            <a:pPr>
              <a:spcBef>
                <a:spcPts val="387"/>
              </a:spcBef>
            </a:pPr>
            <a:r>
              <a:rPr sz="2800" b="1" spc="-7" dirty="0" err="1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从树根向</a:t>
            </a:r>
            <a:r>
              <a:rPr sz="2800" b="1" dirty="0" err="1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下</a:t>
            </a:r>
            <a:r>
              <a:rPr sz="2800" b="1" spc="7" dirty="0" err="1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计</a:t>
            </a:r>
            <a:r>
              <a:rPr sz="2800" b="1" spc="-7" dirty="0" err="1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算</a:t>
            </a:r>
            <a:r>
              <a:rPr sz="2800" b="1" spc="7" dirty="0" err="1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,</a:t>
            </a:r>
            <a:r>
              <a:rPr sz="2800" b="1" dirty="0" err="1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随机选</a:t>
            </a:r>
            <a:r>
              <a:rPr sz="2800" b="1" spc="-7" dirty="0" err="1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择</a:t>
            </a:r>
            <a:r>
              <a:rPr sz="2800" b="1" spc="7" dirty="0" err="1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,</a:t>
            </a:r>
            <a:r>
              <a:rPr sz="2800" b="1" dirty="0" err="1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直到树</a:t>
            </a:r>
            <a:r>
              <a:rPr sz="2800" b="1" spc="-7" dirty="0" err="1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叶</a:t>
            </a:r>
            <a:r>
              <a:rPr sz="2800" b="1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.</a:t>
            </a:r>
            <a:endParaRPr sz="2800" b="1" dirty="0"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179152" y="4441830"/>
            <a:ext cx="225036" cy="2092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" name="object 5"/>
          <p:cNvSpPr/>
          <p:nvPr/>
        </p:nvSpPr>
        <p:spPr>
          <a:xfrm>
            <a:off x="5474777" y="4441830"/>
            <a:ext cx="225036" cy="2092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" name="object 6"/>
          <p:cNvSpPr/>
          <p:nvPr/>
        </p:nvSpPr>
        <p:spPr>
          <a:xfrm>
            <a:off x="3798086" y="5170301"/>
            <a:ext cx="225036" cy="20850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" name="object 7"/>
          <p:cNvSpPr/>
          <p:nvPr/>
        </p:nvSpPr>
        <p:spPr>
          <a:xfrm>
            <a:off x="4179152" y="5170301"/>
            <a:ext cx="225036" cy="20850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" name="object 8"/>
          <p:cNvSpPr/>
          <p:nvPr/>
        </p:nvSpPr>
        <p:spPr>
          <a:xfrm>
            <a:off x="4560219" y="5170301"/>
            <a:ext cx="225036" cy="20850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" name="object 9"/>
          <p:cNvSpPr/>
          <p:nvPr/>
        </p:nvSpPr>
        <p:spPr>
          <a:xfrm>
            <a:off x="5868800" y="5170301"/>
            <a:ext cx="225036" cy="20850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0" name="object 10"/>
          <p:cNvSpPr/>
          <p:nvPr/>
        </p:nvSpPr>
        <p:spPr>
          <a:xfrm>
            <a:off x="3906309" y="4687701"/>
            <a:ext cx="318073" cy="349969"/>
          </a:xfrm>
          <a:custGeom>
            <a:avLst/>
            <a:gdLst/>
            <a:ahLst/>
            <a:cxnLst/>
            <a:rect l="l" t="t" r="r" b="b"/>
            <a:pathLst>
              <a:path w="304800" h="361950">
                <a:moveTo>
                  <a:pt x="304800" y="0"/>
                </a:moveTo>
                <a:lnTo>
                  <a:pt x="0" y="361949"/>
                </a:lnTo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1" name="object 11"/>
          <p:cNvSpPr/>
          <p:nvPr/>
        </p:nvSpPr>
        <p:spPr>
          <a:xfrm>
            <a:off x="4287375" y="4732406"/>
            <a:ext cx="45719" cy="318042"/>
          </a:xfrm>
          <a:custGeom>
            <a:avLst/>
            <a:gdLst/>
            <a:ahLst/>
            <a:cxnLst/>
            <a:rect l="l" t="t" r="r" b="b"/>
            <a:pathLst>
              <a:path w="1904" h="328929">
                <a:moveTo>
                  <a:pt x="1587" y="0"/>
                </a:moveTo>
                <a:lnTo>
                  <a:pt x="0" y="328612"/>
                </a:lnTo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2" name="object 12"/>
          <p:cNvSpPr/>
          <p:nvPr/>
        </p:nvSpPr>
        <p:spPr>
          <a:xfrm>
            <a:off x="4363588" y="4687701"/>
            <a:ext cx="318073" cy="349969"/>
          </a:xfrm>
          <a:custGeom>
            <a:avLst/>
            <a:gdLst/>
            <a:ahLst/>
            <a:cxnLst/>
            <a:rect l="l" t="t" r="r" b="b"/>
            <a:pathLst>
              <a:path w="304800" h="361950">
                <a:moveTo>
                  <a:pt x="0" y="0"/>
                </a:moveTo>
                <a:lnTo>
                  <a:pt x="304800" y="361949"/>
                </a:lnTo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3" name="object 13"/>
          <p:cNvSpPr/>
          <p:nvPr/>
        </p:nvSpPr>
        <p:spPr>
          <a:xfrm>
            <a:off x="5169924" y="4746628"/>
            <a:ext cx="318073" cy="349969"/>
          </a:xfrm>
          <a:custGeom>
            <a:avLst/>
            <a:gdLst/>
            <a:ahLst/>
            <a:cxnLst/>
            <a:rect l="l" t="t" r="r" b="b"/>
            <a:pathLst>
              <a:path w="304800" h="361950">
                <a:moveTo>
                  <a:pt x="304800" y="0"/>
                </a:moveTo>
                <a:lnTo>
                  <a:pt x="0" y="361950"/>
                </a:lnTo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4" name="object 14"/>
          <p:cNvSpPr/>
          <p:nvPr/>
        </p:nvSpPr>
        <p:spPr>
          <a:xfrm>
            <a:off x="5549468" y="4789303"/>
            <a:ext cx="45719" cy="319270"/>
          </a:xfrm>
          <a:custGeom>
            <a:avLst/>
            <a:gdLst/>
            <a:ahLst/>
            <a:cxnLst/>
            <a:rect l="l" t="t" r="r" b="b"/>
            <a:pathLst>
              <a:path w="3175" h="330200">
                <a:moveTo>
                  <a:pt x="3175" y="0"/>
                </a:moveTo>
                <a:lnTo>
                  <a:pt x="0" y="330199"/>
                </a:lnTo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5" name="object 15"/>
          <p:cNvSpPr/>
          <p:nvPr/>
        </p:nvSpPr>
        <p:spPr>
          <a:xfrm>
            <a:off x="5627204" y="4746628"/>
            <a:ext cx="318073" cy="349969"/>
          </a:xfrm>
          <a:custGeom>
            <a:avLst/>
            <a:gdLst/>
            <a:ahLst/>
            <a:cxnLst/>
            <a:rect l="l" t="t" r="r" b="b"/>
            <a:pathLst>
              <a:path w="304800" h="361950">
                <a:moveTo>
                  <a:pt x="0" y="0"/>
                </a:moveTo>
                <a:lnTo>
                  <a:pt x="304800" y="361950"/>
                </a:lnTo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6" name="object 16"/>
          <p:cNvSpPr/>
          <p:nvPr/>
        </p:nvSpPr>
        <p:spPr>
          <a:xfrm>
            <a:off x="5081136" y="5153536"/>
            <a:ext cx="251278" cy="23282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7" name="object 17"/>
          <p:cNvSpPr/>
          <p:nvPr/>
        </p:nvSpPr>
        <p:spPr>
          <a:xfrm>
            <a:off x="5475158" y="5136264"/>
            <a:ext cx="251278" cy="23355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8" name="矩形 17"/>
          <p:cNvSpPr/>
          <p:nvPr/>
        </p:nvSpPr>
        <p:spPr>
          <a:xfrm>
            <a:off x="1225618" y="4315840"/>
            <a:ext cx="4572000" cy="118494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ts val="1800"/>
              </a:spcBef>
            </a:pPr>
            <a:r>
              <a:rPr lang="pt-BR" altLang="zh-CN" sz="2800" b="1" i="1" spc="7" dirty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pt-BR" altLang="zh-CN" sz="2800" b="1" spc="9" baseline="-21241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pt-BR" altLang="zh-CN" sz="2800" b="1" spc="-9" baseline="-2124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pt-BR" altLang="zh-CN" sz="2800" b="1" spc="-7" dirty="0">
                <a:latin typeface="Times New Roman" pitchFamily="18" charset="0"/>
                <a:cs typeface="Times New Roman" pitchFamily="18" charset="0"/>
              </a:rPr>
              <a:t>=2</a:t>
            </a:r>
            <a:endParaRPr lang="pt-BR" altLang="zh-CN" sz="2800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1800"/>
              </a:spcBef>
            </a:pPr>
            <a:r>
              <a:rPr lang="pt-BR" altLang="zh-CN" sz="2800" b="1" i="1" dirty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pt-BR" altLang="zh-CN" sz="2800" b="1" baseline="-21241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pt-BR" altLang="zh-CN" sz="2800" b="1" i="1" dirty="0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pt-BR" altLang="zh-CN" sz="2800" b="1" i="1" spc="-7" dirty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pt-BR" altLang="zh-CN" sz="2800" b="1" spc="-9" baseline="-21241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pt-BR" altLang="zh-CN" sz="2800" b="1" i="1" spc="-7" dirty="0">
                <a:latin typeface="Times New Roman" pitchFamily="18" charset="0"/>
                <a:cs typeface="Times New Roman" pitchFamily="18" charset="0"/>
              </a:rPr>
              <a:t> </a:t>
            </a:r>
            <a:r>
              <a:rPr lang="pt-BR" altLang="zh-CN" sz="2800" b="1" spc="-7" dirty="0">
                <a:latin typeface="Times New Roman" pitchFamily="18" charset="0"/>
                <a:cs typeface="Times New Roman" pitchFamily="18" charset="0"/>
              </a:rPr>
              <a:t>3 =</a:t>
            </a:r>
            <a:r>
              <a:rPr lang="pt-BR" altLang="zh-CN" sz="2800" b="1" spc="-53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pt-BR" altLang="zh-CN" sz="2800" b="1" spc="-7" dirty="0">
                <a:latin typeface="Times New Roman" pitchFamily="18" charset="0"/>
                <a:cs typeface="Times New Roman" pitchFamily="18" charset="0"/>
              </a:rPr>
              <a:t>6</a:t>
            </a:r>
            <a:endParaRPr lang="pt-BR" altLang="zh-CN" sz="28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4448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16736" y="251112"/>
            <a:ext cx="3719306" cy="632651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4000" b="1" spc="-13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子过程的伪</a:t>
            </a:r>
            <a:r>
              <a:rPr sz="4000" b="1" spc="-20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码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23332" y="1256955"/>
            <a:ext cx="7622185" cy="1035326"/>
          </a:xfrm>
          <a:prstGeom prst="rect">
            <a:avLst/>
          </a:prstGeom>
        </p:spPr>
        <p:txBody>
          <a:bodyPr vert="horz" wrap="square" lIns="0" tIns="95673" rIns="0" bIns="0" rtlCol="0">
            <a:spAutoFit/>
          </a:bodyPr>
          <a:lstStyle/>
          <a:p>
            <a:pPr marL="33866">
              <a:spcBef>
                <a:spcPts val="753"/>
              </a:spcBef>
            </a:pPr>
            <a:r>
              <a:rPr sz="2800" b="1" spc="-7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算法</a:t>
            </a:r>
            <a:r>
              <a:rPr sz="2800" b="1" spc="-7" dirty="0">
                <a:latin typeface="Times New Roman"/>
                <a:cs typeface="Times New Roman"/>
              </a:rPr>
              <a:t>Estimate(</a:t>
            </a:r>
            <a:r>
              <a:rPr sz="2800" b="1" i="1" spc="-7" dirty="0">
                <a:latin typeface="Times New Roman"/>
                <a:cs typeface="Times New Roman"/>
              </a:rPr>
              <a:t>n</a:t>
            </a:r>
            <a:r>
              <a:rPr sz="2800" b="1" spc="-7" dirty="0">
                <a:latin typeface="Times New Roman"/>
                <a:cs typeface="Times New Roman"/>
              </a:rPr>
              <a:t>)</a:t>
            </a:r>
            <a:endParaRPr sz="2800" dirty="0">
              <a:latin typeface="Times New Roman"/>
              <a:cs typeface="Times New Roman"/>
            </a:endParaRPr>
          </a:p>
          <a:p>
            <a:pPr marL="33866">
              <a:spcBef>
                <a:spcPts val="627"/>
              </a:spcBef>
              <a:tabLst>
                <a:tab pos="541006" algn="l"/>
                <a:tab pos="1800815" algn="l"/>
                <a:tab pos="3038611" algn="l"/>
              </a:tabLst>
            </a:pPr>
            <a:r>
              <a:rPr sz="2800" b="1" dirty="0">
                <a:latin typeface="Times New Roman"/>
                <a:cs typeface="Times New Roman"/>
              </a:rPr>
              <a:t>1.	</a:t>
            </a:r>
            <a:r>
              <a:rPr sz="2800" b="1" i="1" spc="-7" dirty="0">
                <a:latin typeface="Times New Roman"/>
                <a:cs typeface="Times New Roman"/>
              </a:rPr>
              <a:t>m</a:t>
            </a:r>
            <a:r>
              <a:rPr sz="2800" b="1" spc="-7" dirty="0">
                <a:latin typeface="Symbol"/>
                <a:cs typeface="Symbol"/>
              </a:rPr>
              <a:t></a:t>
            </a:r>
            <a:r>
              <a:rPr sz="2800" b="1" spc="-7" dirty="0">
                <a:latin typeface="Times New Roman"/>
                <a:cs typeface="Times New Roman"/>
              </a:rPr>
              <a:t>1;	</a:t>
            </a:r>
            <a:r>
              <a:rPr sz="2800" b="1" i="1" dirty="0">
                <a:latin typeface="Times New Roman"/>
                <a:cs typeface="Times New Roman"/>
              </a:rPr>
              <a:t>r</a:t>
            </a:r>
            <a:r>
              <a:rPr sz="2800" b="1" baseline="-20833" dirty="0">
                <a:latin typeface="Times New Roman"/>
                <a:cs typeface="Times New Roman"/>
              </a:rPr>
              <a:t>2</a:t>
            </a:r>
            <a:r>
              <a:rPr sz="2800" b="1" dirty="0">
                <a:latin typeface="Symbol"/>
                <a:cs typeface="Symbol"/>
              </a:rPr>
              <a:t></a:t>
            </a:r>
            <a:r>
              <a:rPr sz="2800" b="1" dirty="0">
                <a:latin typeface="Times New Roman"/>
                <a:cs typeface="Times New Roman"/>
              </a:rPr>
              <a:t>1;	</a:t>
            </a:r>
            <a:r>
              <a:rPr sz="2800" b="1" i="1" dirty="0" smtClean="0">
                <a:latin typeface="Times New Roman"/>
                <a:cs typeface="Times New Roman"/>
              </a:rPr>
              <a:t>k</a:t>
            </a:r>
            <a:r>
              <a:rPr sz="2800" b="1" dirty="0">
                <a:latin typeface="Symbol"/>
                <a:cs typeface="Symbol"/>
              </a:rPr>
              <a:t></a:t>
            </a:r>
            <a:r>
              <a:rPr sz="2800" b="1" dirty="0">
                <a:latin typeface="Times New Roman"/>
                <a:cs typeface="Times New Roman"/>
              </a:rPr>
              <a:t>1</a:t>
            </a:r>
            <a:r>
              <a:rPr sz="2800" b="1" spc="-40" dirty="0">
                <a:latin typeface="Times New Roman"/>
                <a:cs typeface="Times New Roman"/>
              </a:rPr>
              <a:t> </a:t>
            </a:r>
            <a:r>
              <a:rPr sz="2800" b="1" spc="-7" dirty="0">
                <a:latin typeface="Times New Roman"/>
                <a:cs typeface="Times New Roman"/>
              </a:rPr>
              <a:t>//</a:t>
            </a:r>
            <a:r>
              <a:rPr sz="2800" b="1" spc="-47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m</a:t>
            </a:r>
            <a:r>
              <a:rPr sz="2800" b="1" i="1" spc="-47" dirty="0">
                <a:latin typeface="Times New Roman"/>
                <a:cs typeface="Times New Roman"/>
              </a:rPr>
              <a:t> </a:t>
            </a:r>
            <a:r>
              <a:rPr sz="2800" b="1" spc="-7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为结点</a:t>
            </a:r>
            <a:r>
              <a:rPr sz="2800" b="1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总</a:t>
            </a:r>
            <a:r>
              <a:rPr sz="2800" b="1" spc="-13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数</a:t>
            </a:r>
            <a:endParaRPr sz="2800" dirty="0">
              <a:latin typeface="黑体" panose="02010609060101010101" pitchFamily="49" charset="-122"/>
              <a:ea typeface="黑体" panose="02010609060101010101" pitchFamily="49" charset="-122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23332" y="2308742"/>
            <a:ext cx="3394836" cy="44798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  <a:tabLst>
                <a:tab pos="524074" algn="l"/>
                <a:tab pos="1651805" algn="l"/>
                <a:tab pos="2507764" algn="l"/>
              </a:tabLst>
            </a:pPr>
            <a:r>
              <a:rPr sz="2800" b="1" dirty="0">
                <a:latin typeface="Times New Roman"/>
                <a:cs typeface="Times New Roman"/>
              </a:rPr>
              <a:t>2.	</a:t>
            </a:r>
            <a:r>
              <a:rPr sz="2800" b="1" spc="-7" dirty="0">
                <a:latin typeface="Times New Roman"/>
                <a:cs typeface="Times New Roman"/>
              </a:rPr>
              <a:t>w</a:t>
            </a:r>
            <a:r>
              <a:rPr sz="2800" b="1" spc="-13" dirty="0">
                <a:latin typeface="Times New Roman"/>
                <a:cs typeface="Times New Roman"/>
              </a:rPr>
              <a:t>h</a:t>
            </a:r>
            <a:r>
              <a:rPr sz="2800" b="1" spc="-7" dirty="0">
                <a:latin typeface="Times New Roman"/>
                <a:cs typeface="Times New Roman"/>
              </a:rPr>
              <a:t>il</a:t>
            </a:r>
            <a:r>
              <a:rPr sz="2800" b="1" dirty="0">
                <a:latin typeface="Times New Roman"/>
                <a:cs typeface="Times New Roman"/>
              </a:rPr>
              <a:t>e	</a:t>
            </a:r>
            <a:r>
              <a:rPr sz="2800" b="1" i="1" dirty="0">
                <a:latin typeface="Times New Roman"/>
                <a:cs typeface="Times New Roman"/>
              </a:rPr>
              <a:t>k</a:t>
            </a:r>
            <a:r>
              <a:rPr sz="2800" b="1" dirty="0">
                <a:latin typeface="Symbol"/>
                <a:cs typeface="Symbol"/>
              </a:rPr>
              <a:t></a:t>
            </a:r>
            <a:r>
              <a:rPr sz="2800" b="1" i="1" spc="-7" dirty="0">
                <a:latin typeface="Times New Roman"/>
                <a:cs typeface="Times New Roman"/>
              </a:rPr>
              <a:t>n</a:t>
            </a:r>
            <a:r>
              <a:rPr sz="2800" b="1" i="1" dirty="0">
                <a:latin typeface="Times New Roman"/>
                <a:cs typeface="Times New Roman"/>
              </a:rPr>
              <a:t>	</a:t>
            </a:r>
            <a:r>
              <a:rPr sz="2800" b="1" spc="-13" dirty="0">
                <a:latin typeface="Times New Roman"/>
                <a:cs typeface="Times New Roman"/>
              </a:rPr>
              <a:t>do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xfrm>
            <a:off x="523332" y="2693517"/>
            <a:ext cx="10517426" cy="2243349"/>
          </a:xfrm>
          <a:prstGeom prst="rect">
            <a:avLst/>
          </a:prstGeom>
        </p:spPr>
        <p:txBody>
          <a:bodyPr vert="horz" wrap="square" lIns="0" tIns="88053" rIns="0" bIns="0" rtlCol="0">
            <a:spAutoFit/>
          </a:bodyPr>
          <a:lstStyle/>
          <a:p>
            <a:pPr marL="0" indent="-812780">
              <a:lnSpc>
                <a:spcPct val="100000"/>
              </a:lnSpc>
              <a:spcBef>
                <a:spcPts val="0"/>
              </a:spcBef>
              <a:buAutoNum type="arabicPeriod" startAt="3"/>
              <a:tabLst>
                <a:tab pos="913530" algn="l"/>
                <a:tab pos="914377" algn="l"/>
                <a:tab pos="1364791" algn="l"/>
                <a:tab pos="2495064" algn="l"/>
                <a:tab pos="3467013" algn="l"/>
                <a:tab pos="4791167" algn="l"/>
              </a:tabLst>
            </a:pPr>
            <a:r>
              <a:rPr b="1" spc="-7" dirty="0"/>
              <a:t>if	</a:t>
            </a:r>
            <a:r>
              <a:rPr b="1" i="1" spc="-7" dirty="0">
                <a:latin typeface="Times New Roman"/>
                <a:cs typeface="Times New Roman"/>
              </a:rPr>
              <a:t>S</a:t>
            </a:r>
            <a:r>
              <a:rPr b="1" i="1" spc="-9" baseline="-20833" dirty="0">
                <a:latin typeface="Times New Roman"/>
                <a:cs typeface="Times New Roman"/>
              </a:rPr>
              <a:t>k</a:t>
            </a:r>
            <a:r>
              <a:rPr b="1" spc="-7" dirty="0"/>
              <a:t>=</a:t>
            </a:r>
            <a:r>
              <a:rPr b="1" spc="-7" dirty="0">
                <a:latin typeface="Symbol"/>
                <a:cs typeface="Symbol"/>
              </a:rPr>
              <a:t></a:t>
            </a:r>
            <a:r>
              <a:rPr b="1" spc="-7" dirty="0">
                <a:latin typeface="Times New Roman"/>
                <a:cs typeface="Times New Roman"/>
              </a:rPr>
              <a:t>	</a:t>
            </a:r>
            <a:r>
              <a:rPr b="1" spc="-7" dirty="0"/>
              <a:t>then	</a:t>
            </a:r>
            <a:r>
              <a:rPr b="1" spc="-13" dirty="0"/>
              <a:t>return	</a:t>
            </a:r>
            <a:r>
              <a:rPr b="1" i="1" dirty="0">
                <a:latin typeface="Times New Roman"/>
                <a:cs typeface="Times New Roman"/>
              </a:rPr>
              <a:t>m</a:t>
            </a:r>
            <a:endParaRPr b="1" dirty="0">
              <a:latin typeface="Times New Roman"/>
              <a:cs typeface="Times New Roman"/>
            </a:endParaRPr>
          </a:p>
          <a:p>
            <a:pPr marL="0" indent="-812780">
              <a:lnSpc>
                <a:spcPct val="100000"/>
              </a:lnSpc>
              <a:spcBef>
                <a:spcPts val="0"/>
              </a:spcBef>
              <a:buFont typeface="Times New Roman"/>
              <a:buAutoNum type="arabicPeriod" startAt="3"/>
              <a:tabLst>
                <a:tab pos="913530" algn="l"/>
                <a:tab pos="914377" algn="l"/>
                <a:tab pos="3053850" algn="l"/>
              </a:tabLst>
            </a:pPr>
            <a:r>
              <a:rPr b="1" i="1" dirty="0">
                <a:latin typeface="Times New Roman"/>
                <a:cs typeface="Times New Roman"/>
              </a:rPr>
              <a:t>r</a:t>
            </a:r>
            <a:r>
              <a:rPr b="1" baseline="-20833" dirty="0"/>
              <a:t>1</a:t>
            </a:r>
            <a:r>
              <a:rPr b="1" dirty="0">
                <a:latin typeface="Symbol"/>
                <a:cs typeface="Symbol"/>
              </a:rPr>
              <a:t></a:t>
            </a:r>
            <a:r>
              <a:rPr b="1" dirty="0"/>
              <a:t>|</a:t>
            </a:r>
            <a:r>
              <a:rPr b="1" i="1" dirty="0">
                <a:latin typeface="Times New Roman"/>
                <a:cs typeface="Times New Roman"/>
              </a:rPr>
              <a:t>S</a:t>
            </a:r>
            <a:r>
              <a:rPr b="1" i="1" baseline="-20833" dirty="0">
                <a:latin typeface="Times New Roman"/>
                <a:cs typeface="Times New Roman"/>
              </a:rPr>
              <a:t>k</a:t>
            </a:r>
            <a:r>
              <a:rPr b="1" dirty="0"/>
              <a:t>|*</a:t>
            </a:r>
            <a:r>
              <a:rPr b="1" i="1" dirty="0">
                <a:latin typeface="Times New Roman"/>
                <a:cs typeface="Times New Roman"/>
              </a:rPr>
              <a:t>r</a:t>
            </a:r>
            <a:r>
              <a:rPr b="1" baseline="-20833" dirty="0"/>
              <a:t>2	</a:t>
            </a:r>
            <a:r>
              <a:rPr b="1" spc="-7" dirty="0"/>
              <a:t>//</a:t>
            </a:r>
            <a:r>
              <a:rPr b="1" spc="-67" dirty="0"/>
              <a:t> </a:t>
            </a:r>
            <a:r>
              <a:rPr b="1" i="1" dirty="0">
                <a:latin typeface="Times New Roman"/>
                <a:cs typeface="Times New Roman"/>
              </a:rPr>
              <a:t>r</a:t>
            </a:r>
            <a:r>
              <a:rPr b="1" baseline="-20833" dirty="0"/>
              <a:t>1</a:t>
            </a:r>
            <a:r>
              <a:rPr b="1" spc="-7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为扩张后</a:t>
            </a:r>
            <a:r>
              <a:rPr b="1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结点总</a:t>
            </a:r>
            <a:r>
              <a:rPr b="1" spc="-13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数</a:t>
            </a:r>
            <a:endParaRPr b="1" dirty="0">
              <a:latin typeface="黑体" panose="02010609060101010101" pitchFamily="49" charset="-122"/>
              <a:ea typeface="黑体" panose="02010609060101010101" pitchFamily="49" charset="-122"/>
              <a:cs typeface="宋体"/>
            </a:endParaRPr>
          </a:p>
          <a:p>
            <a:pPr marL="0" indent="-812780">
              <a:lnSpc>
                <a:spcPct val="100000"/>
              </a:lnSpc>
              <a:spcBef>
                <a:spcPts val="0"/>
              </a:spcBef>
              <a:buFont typeface="Times New Roman"/>
              <a:buAutoNum type="arabicPeriod" startAt="3"/>
              <a:tabLst>
                <a:tab pos="913530" algn="l"/>
                <a:tab pos="914377" algn="l"/>
                <a:tab pos="2877748" algn="l"/>
                <a:tab pos="3305304" algn="l"/>
              </a:tabLst>
            </a:pPr>
            <a:r>
              <a:rPr b="1" i="1" spc="-7" dirty="0">
                <a:latin typeface="Times New Roman"/>
                <a:cs typeface="Times New Roman"/>
              </a:rPr>
              <a:t>m</a:t>
            </a:r>
            <a:r>
              <a:rPr b="1" spc="-7" dirty="0">
                <a:latin typeface="Symbol"/>
                <a:cs typeface="Symbol"/>
              </a:rPr>
              <a:t></a:t>
            </a:r>
            <a:r>
              <a:rPr b="1" i="1" spc="-7" dirty="0">
                <a:latin typeface="Times New Roman"/>
                <a:cs typeface="Times New Roman"/>
              </a:rPr>
              <a:t>m</a:t>
            </a:r>
            <a:r>
              <a:rPr b="1" spc="-7" dirty="0"/>
              <a:t>+</a:t>
            </a:r>
            <a:r>
              <a:rPr b="1" i="1" spc="-7" dirty="0">
                <a:latin typeface="Times New Roman"/>
                <a:cs typeface="Times New Roman"/>
              </a:rPr>
              <a:t>r</a:t>
            </a:r>
            <a:r>
              <a:rPr b="1" spc="-9" baseline="-20833" dirty="0"/>
              <a:t>1	</a:t>
            </a:r>
            <a:r>
              <a:rPr b="1" spc="-7" dirty="0"/>
              <a:t>//	</a:t>
            </a:r>
            <a:r>
              <a:rPr b="1" i="1" dirty="0">
                <a:latin typeface="Times New Roman"/>
                <a:cs typeface="Times New Roman"/>
              </a:rPr>
              <a:t>r</a:t>
            </a:r>
            <a:r>
              <a:rPr b="1" baseline="-20833" dirty="0"/>
              <a:t>2</a:t>
            </a:r>
            <a:r>
              <a:rPr b="1" spc="-7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为扩张前</a:t>
            </a:r>
            <a:r>
              <a:rPr b="1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结点总</a:t>
            </a:r>
            <a:r>
              <a:rPr b="1" spc="-13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数</a:t>
            </a:r>
            <a:endParaRPr b="1" dirty="0">
              <a:latin typeface="黑体" panose="02010609060101010101" pitchFamily="49" charset="-122"/>
              <a:ea typeface="黑体" panose="02010609060101010101" pitchFamily="49" charset="-122"/>
              <a:cs typeface="宋体"/>
            </a:endParaRPr>
          </a:p>
          <a:p>
            <a:pPr marL="0" indent="-812780">
              <a:lnSpc>
                <a:spcPct val="100000"/>
              </a:lnSpc>
              <a:spcBef>
                <a:spcPts val="0"/>
              </a:spcBef>
              <a:buFont typeface="Times New Roman"/>
              <a:buAutoNum type="arabicPeriod" startAt="3"/>
              <a:tabLst>
                <a:tab pos="913530" algn="l"/>
                <a:tab pos="914377" algn="l"/>
              </a:tabLst>
            </a:pPr>
            <a:r>
              <a:rPr b="1" i="1" dirty="0" err="1">
                <a:latin typeface="Times New Roman"/>
                <a:cs typeface="Times New Roman"/>
              </a:rPr>
              <a:t>x</a:t>
            </a:r>
            <a:r>
              <a:rPr b="1" i="1" baseline="-20833" dirty="0" err="1">
                <a:latin typeface="Times New Roman"/>
                <a:cs typeface="Times New Roman"/>
              </a:rPr>
              <a:t>k</a:t>
            </a:r>
            <a:r>
              <a:rPr b="1" dirty="0" err="1">
                <a:latin typeface="Symbol"/>
                <a:cs typeface="Symbol"/>
              </a:rPr>
              <a:t></a:t>
            </a:r>
            <a:r>
              <a:rPr b="1" spc="-7" dirty="0" err="1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随机选</a:t>
            </a:r>
            <a:r>
              <a:rPr b="1" spc="-13" dirty="0" err="1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择</a:t>
            </a:r>
            <a:r>
              <a:rPr b="1" spc="-780" dirty="0">
                <a:latin typeface="宋体"/>
                <a:cs typeface="宋体"/>
              </a:rPr>
              <a:t> </a:t>
            </a:r>
            <a:r>
              <a:rPr b="1" i="1" spc="-7" dirty="0">
                <a:latin typeface="Times New Roman"/>
                <a:cs typeface="Times New Roman"/>
              </a:rPr>
              <a:t>S</a:t>
            </a:r>
            <a:r>
              <a:rPr b="1" i="1" spc="-9" baseline="-20833" dirty="0">
                <a:latin typeface="Times New Roman"/>
                <a:cs typeface="Times New Roman"/>
              </a:rPr>
              <a:t>k</a:t>
            </a:r>
            <a:r>
              <a:rPr b="1" i="1" spc="-20" baseline="-20833" dirty="0">
                <a:latin typeface="Times New Roman"/>
                <a:cs typeface="Times New Roman"/>
              </a:rPr>
              <a:t> </a:t>
            </a:r>
            <a:r>
              <a:rPr b="1" spc="-7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的元</a:t>
            </a:r>
            <a:r>
              <a:rPr b="1" spc="-13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素</a:t>
            </a:r>
            <a:endParaRPr b="1" dirty="0">
              <a:latin typeface="黑体" panose="02010609060101010101" pitchFamily="49" charset="-122"/>
              <a:ea typeface="黑体" panose="02010609060101010101" pitchFamily="49" charset="-122"/>
              <a:cs typeface="宋体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  <a:tabLst>
                <a:tab pos="913530" algn="l"/>
              </a:tabLst>
            </a:pPr>
            <a:r>
              <a:rPr b="1" dirty="0"/>
              <a:t>7.	</a:t>
            </a:r>
            <a:r>
              <a:rPr b="1" i="1" dirty="0">
                <a:latin typeface="Times New Roman"/>
                <a:cs typeface="Times New Roman"/>
              </a:rPr>
              <a:t>r</a:t>
            </a:r>
            <a:r>
              <a:rPr b="1" baseline="-20833" dirty="0"/>
              <a:t>2</a:t>
            </a:r>
            <a:r>
              <a:rPr b="1" dirty="0">
                <a:latin typeface="Symbol"/>
                <a:cs typeface="Symbol"/>
              </a:rPr>
              <a:t></a:t>
            </a:r>
            <a:r>
              <a:rPr b="1" i="1" dirty="0">
                <a:latin typeface="Times New Roman"/>
                <a:cs typeface="Times New Roman"/>
              </a:rPr>
              <a:t>r</a:t>
            </a:r>
            <a:r>
              <a:rPr b="1" baseline="-20833" dirty="0"/>
              <a:t>1</a:t>
            </a:r>
            <a:endParaRPr b="1" baseline="-20833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507340" y="2092613"/>
            <a:ext cx="993947" cy="817033"/>
          </a:xfrm>
          <a:custGeom>
            <a:avLst/>
            <a:gdLst/>
            <a:ahLst/>
            <a:cxnLst/>
            <a:rect l="l" t="t" r="r" b="b"/>
            <a:pathLst>
              <a:path w="993775" h="612775">
                <a:moveTo>
                  <a:pt x="827002" y="541737"/>
                </a:moveTo>
                <a:lnTo>
                  <a:pt x="243941" y="541737"/>
                </a:lnTo>
                <a:lnTo>
                  <a:pt x="284397" y="561857"/>
                </a:lnTo>
                <a:lnTo>
                  <a:pt x="327299" y="578663"/>
                </a:lnTo>
                <a:lnTo>
                  <a:pt x="372217" y="592124"/>
                </a:lnTo>
                <a:lnTo>
                  <a:pt x="418724" y="602212"/>
                </a:lnTo>
                <a:lnTo>
                  <a:pt x="466389" y="608898"/>
                </a:lnTo>
                <a:lnTo>
                  <a:pt x="514785" y="612153"/>
                </a:lnTo>
                <a:lnTo>
                  <a:pt x="563483" y="611949"/>
                </a:lnTo>
                <a:lnTo>
                  <a:pt x="612054" y="608257"/>
                </a:lnTo>
                <a:lnTo>
                  <a:pt x="660068" y="601048"/>
                </a:lnTo>
                <a:lnTo>
                  <a:pt x="707099" y="590293"/>
                </a:lnTo>
                <a:lnTo>
                  <a:pt x="752716" y="575963"/>
                </a:lnTo>
                <a:lnTo>
                  <a:pt x="805379" y="553814"/>
                </a:lnTo>
                <a:lnTo>
                  <a:pt x="827002" y="541737"/>
                </a:lnTo>
                <a:close/>
              </a:path>
              <a:path w="993775" h="612775">
                <a:moveTo>
                  <a:pt x="518752" y="0"/>
                </a:moveTo>
                <a:lnTo>
                  <a:pt x="468087" y="3178"/>
                </a:lnTo>
                <a:lnTo>
                  <a:pt x="417706" y="10239"/>
                </a:lnTo>
                <a:lnTo>
                  <a:pt x="368075" y="21274"/>
                </a:lnTo>
                <a:lnTo>
                  <a:pt x="319659" y="36378"/>
                </a:lnTo>
                <a:lnTo>
                  <a:pt x="266995" y="58524"/>
                </a:lnTo>
                <a:lnTo>
                  <a:pt x="220347" y="84578"/>
                </a:lnTo>
                <a:lnTo>
                  <a:pt x="179936" y="114044"/>
                </a:lnTo>
                <a:lnTo>
                  <a:pt x="145985" y="146429"/>
                </a:lnTo>
                <a:lnTo>
                  <a:pt x="118715" y="181237"/>
                </a:lnTo>
                <a:lnTo>
                  <a:pt x="98347" y="217975"/>
                </a:lnTo>
                <a:lnTo>
                  <a:pt x="85103" y="256149"/>
                </a:lnTo>
                <a:lnTo>
                  <a:pt x="79206" y="295262"/>
                </a:lnTo>
                <a:lnTo>
                  <a:pt x="80877" y="334823"/>
                </a:lnTo>
                <a:lnTo>
                  <a:pt x="90337" y="374335"/>
                </a:lnTo>
                <a:lnTo>
                  <a:pt x="107809" y="413304"/>
                </a:lnTo>
                <a:lnTo>
                  <a:pt x="133515" y="451236"/>
                </a:lnTo>
                <a:lnTo>
                  <a:pt x="0" y="599864"/>
                </a:lnTo>
                <a:lnTo>
                  <a:pt x="243941" y="541737"/>
                </a:lnTo>
                <a:lnTo>
                  <a:pt x="827002" y="541737"/>
                </a:lnTo>
                <a:lnTo>
                  <a:pt x="852027" y="527759"/>
                </a:lnTo>
                <a:lnTo>
                  <a:pt x="892438" y="498291"/>
                </a:lnTo>
                <a:lnTo>
                  <a:pt x="926389" y="465906"/>
                </a:lnTo>
                <a:lnTo>
                  <a:pt x="953660" y="431098"/>
                </a:lnTo>
                <a:lnTo>
                  <a:pt x="974028" y="394359"/>
                </a:lnTo>
                <a:lnTo>
                  <a:pt x="987271" y="356186"/>
                </a:lnTo>
                <a:lnTo>
                  <a:pt x="993168" y="317072"/>
                </a:lnTo>
                <a:lnTo>
                  <a:pt x="991497" y="277511"/>
                </a:lnTo>
                <a:lnTo>
                  <a:pt x="982037" y="237998"/>
                </a:lnTo>
                <a:lnTo>
                  <a:pt x="964565" y="199027"/>
                </a:lnTo>
                <a:lnTo>
                  <a:pt x="938860" y="161092"/>
                </a:lnTo>
                <a:lnTo>
                  <a:pt x="910899" y="130606"/>
                </a:lnTo>
                <a:lnTo>
                  <a:pt x="878578" y="103065"/>
                </a:lnTo>
                <a:lnTo>
                  <a:pt x="842359" y="78563"/>
                </a:lnTo>
                <a:lnTo>
                  <a:pt x="802709" y="57193"/>
                </a:lnTo>
                <a:lnTo>
                  <a:pt x="760091" y="39049"/>
                </a:lnTo>
                <a:lnTo>
                  <a:pt x="714970" y="24225"/>
                </a:lnTo>
                <a:lnTo>
                  <a:pt x="667812" y="12815"/>
                </a:lnTo>
                <a:lnTo>
                  <a:pt x="619079" y="4911"/>
                </a:lnTo>
                <a:lnTo>
                  <a:pt x="569238" y="608"/>
                </a:lnTo>
                <a:lnTo>
                  <a:pt x="518752" y="0"/>
                </a:lnTo>
                <a:close/>
              </a:path>
            </a:pathLst>
          </a:custGeom>
          <a:solidFill>
            <a:srgbClr val="4F81BD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" name="object 7"/>
          <p:cNvSpPr/>
          <p:nvPr/>
        </p:nvSpPr>
        <p:spPr>
          <a:xfrm>
            <a:off x="4507340" y="2092613"/>
            <a:ext cx="993947" cy="817033"/>
          </a:xfrm>
          <a:custGeom>
            <a:avLst/>
            <a:gdLst/>
            <a:ahLst/>
            <a:cxnLst/>
            <a:rect l="l" t="t" r="r" b="b"/>
            <a:pathLst>
              <a:path w="993775" h="612775">
                <a:moveTo>
                  <a:pt x="0" y="599864"/>
                </a:moveTo>
                <a:lnTo>
                  <a:pt x="133515" y="451236"/>
                </a:lnTo>
                <a:lnTo>
                  <a:pt x="107809" y="413304"/>
                </a:lnTo>
                <a:lnTo>
                  <a:pt x="90337" y="374335"/>
                </a:lnTo>
                <a:lnTo>
                  <a:pt x="80877" y="334823"/>
                </a:lnTo>
                <a:lnTo>
                  <a:pt x="79206" y="295262"/>
                </a:lnTo>
                <a:lnTo>
                  <a:pt x="85103" y="256149"/>
                </a:lnTo>
                <a:lnTo>
                  <a:pt x="98347" y="217975"/>
                </a:lnTo>
                <a:lnTo>
                  <a:pt x="118715" y="181237"/>
                </a:lnTo>
                <a:lnTo>
                  <a:pt x="145985" y="146429"/>
                </a:lnTo>
                <a:lnTo>
                  <a:pt x="179936" y="114044"/>
                </a:lnTo>
                <a:lnTo>
                  <a:pt x="220347" y="84578"/>
                </a:lnTo>
                <a:lnTo>
                  <a:pt x="266995" y="58524"/>
                </a:lnTo>
                <a:lnTo>
                  <a:pt x="319659" y="36378"/>
                </a:lnTo>
                <a:lnTo>
                  <a:pt x="368075" y="21274"/>
                </a:lnTo>
                <a:lnTo>
                  <a:pt x="417706" y="10239"/>
                </a:lnTo>
                <a:lnTo>
                  <a:pt x="468087" y="3178"/>
                </a:lnTo>
                <a:lnTo>
                  <a:pt x="518752" y="0"/>
                </a:lnTo>
                <a:lnTo>
                  <a:pt x="569238" y="608"/>
                </a:lnTo>
                <a:lnTo>
                  <a:pt x="619079" y="4911"/>
                </a:lnTo>
                <a:lnTo>
                  <a:pt x="667812" y="12815"/>
                </a:lnTo>
                <a:lnTo>
                  <a:pt x="714970" y="24225"/>
                </a:lnTo>
                <a:lnTo>
                  <a:pt x="760091" y="39049"/>
                </a:lnTo>
                <a:lnTo>
                  <a:pt x="802709" y="57193"/>
                </a:lnTo>
                <a:lnTo>
                  <a:pt x="842359" y="78563"/>
                </a:lnTo>
                <a:lnTo>
                  <a:pt x="878578" y="103065"/>
                </a:lnTo>
                <a:lnTo>
                  <a:pt x="910899" y="130606"/>
                </a:lnTo>
                <a:lnTo>
                  <a:pt x="938860" y="161092"/>
                </a:lnTo>
                <a:lnTo>
                  <a:pt x="964565" y="199027"/>
                </a:lnTo>
                <a:lnTo>
                  <a:pt x="982037" y="237998"/>
                </a:lnTo>
                <a:lnTo>
                  <a:pt x="991497" y="277511"/>
                </a:lnTo>
                <a:lnTo>
                  <a:pt x="993168" y="317072"/>
                </a:lnTo>
                <a:lnTo>
                  <a:pt x="987271" y="356186"/>
                </a:lnTo>
                <a:lnTo>
                  <a:pt x="974028" y="394359"/>
                </a:lnTo>
                <a:lnTo>
                  <a:pt x="953660" y="431098"/>
                </a:lnTo>
                <a:lnTo>
                  <a:pt x="926389" y="465906"/>
                </a:lnTo>
                <a:lnTo>
                  <a:pt x="892438" y="498291"/>
                </a:lnTo>
                <a:lnTo>
                  <a:pt x="852027" y="527759"/>
                </a:lnTo>
                <a:lnTo>
                  <a:pt x="805379" y="553814"/>
                </a:lnTo>
                <a:lnTo>
                  <a:pt x="752716" y="575963"/>
                </a:lnTo>
                <a:lnTo>
                  <a:pt x="707099" y="590293"/>
                </a:lnTo>
                <a:lnTo>
                  <a:pt x="660068" y="601048"/>
                </a:lnTo>
                <a:lnTo>
                  <a:pt x="612054" y="608257"/>
                </a:lnTo>
                <a:lnTo>
                  <a:pt x="563483" y="611949"/>
                </a:lnTo>
                <a:lnTo>
                  <a:pt x="514785" y="612153"/>
                </a:lnTo>
                <a:lnTo>
                  <a:pt x="466389" y="608898"/>
                </a:lnTo>
                <a:lnTo>
                  <a:pt x="418724" y="602212"/>
                </a:lnTo>
                <a:lnTo>
                  <a:pt x="372217" y="592124"/>
                </a:lnTo>
                <a:lnTo>
                  <a:pt x="327299" y="578663"/>
                </a:lnTo>
                <a:lnTo>
                  <a:pt x="284397" y="561857"/>
                </a:lnTo>
                <a:lnTo>
                  <a:pt x="243941" y="541737"/>
                </a:lnTo>
                <a:lnTo>
                  <a:pt x="0" y="599864"/>
                </a:lnTo>
                <a:close/>
              </a:path>
            </a:pathLst>
          </a:custGeom>
          <a:ln w="25146">
            <a:solidFill>
              <a:srgbClr val="385D8A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" name="object 8"/>
          <p:cNvSpPr txBox="1"/>
          <p:nvPr/>
        </p:nvSpPr>
        <p:spPr>
          <a:xfrm>
            <a:off x="4722579" y="2092613"/>
            <a:ext cx="778708" cy="739519"/>
          </a:xfrm>
          <a:prstGeom prst="rect">
            <a:avLst/>
          </a:prstGeom>
        </p:spPr>
        <p:txBody>
          <a:bodyPr vert="horz" wrap="square" lIns="0" tIns="46567" rIns="0" bIns="0" rtlCol="0">
            <a:spAutoFit/>
          </a:bodyPr>
          <a:lstStyle/>
          <a:p>
            <a:pPr marL="16933" marR="6773">
              <a:lnSpc>
                <a:spcPts val="2707"/>
              </a:lnSpc>
              <a:spcBef>
                <a:spcPts val="367"/>
              </a:spcBef>
            </a:pPr>
            <a:r>
              <a:rPr sz="2400" b="1" spc="-7" dirty="0">
                <a:solidFill>
                  <a:srgbClr val="FFFFFF"/>
                </a:solidFill>
                <a:latin typeface="宋体"/>
                <a:cs typeface="宋体"/>
              </a:rPr>
              <a:t>不能 分支</a:t>
            </a:r>
            <a:endParaRPr sz="2400" dirty="0">
              <a:latin typeface="宋体"/>
              <a:cs typeface="宋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016736" y="4627301"/>
            <a:ext cx="1490604" cy="998220"/>
          </a:xfrm>
          <a:custGeom>
            <a:avLst/>
            <a:gdLst/>
            <a:ahLst/>
            <a:cxnLst/>
            <a:rect l="l" t="t" r="r" b="b"/>
            <a:pathLst>
              <a:path w="1490345" h="748664">
                <a:moveTo>
                  <a:pt x="0" y="0"/>
                </a:moveTo>
                <a:lnTo>
                  <a:pt x="278269" y="245732"/>
                </a:lnTo>
                <a:lnTo>
                  <a:pt x="228914" y="275571"/>
                </a:lnTo>
                <a:lnTo>
                  <a:pt x="188534" y="307371"/>
                </a:lnTo>
                <a:lnTo>
                  <a:pt x="157217" y="340750"/>
                </a:lnTo>
                <a:lnTo>
                  <a:pt x="135053" y="375325"/>
                </a:lnTo>
                <a:lnTo>
                  <a:pt x="122129" y="410714"/>
                </a:lnTo>
                <a:lnTo>
                  <a:pt x="118535" y="446536"/>
                </a:lnTo>
                <a:lnTo>
                  <a:pt x="124361" y="482407"/>
                </a:lnTo>
                <a:lnTo>
                  <a:pt x="139693" y="517946"/>
                </a:lnTo>
                <a:lnTo>
                  <a:pt x="164623" y="552771"/>
                </a:lnTo>
                <a:lnTo>
                  <a:pt x="199237" y="586498"/>
                </a:lnTo>
                <a:lnTo>
                  <a:pt x="259525" y="628446"/>
                </a:lnTo>
                <a:lnTo>
                  <a:pt x="294408" y="647250"/>
                </a:lnTo>
                <a:lnTo>
                  <a:pt x="332131" y="664565"/>
                </a:lnTo>
                <a:lnTo>
                  <a:pt x="372455" y="680358"/>
                </a:lnTo>
                <a:lnTo>
                  <a:pt x="415143" y="694596"/>
                </a:lnTo>
                <a:lnTo>
                  <a:pt x="459955" y="707247"/>
                </a:lnTo>
                <a:lnTo>
                  <a:pt x="506652" y="718279"/>
                </a:lnTo>
                <a:lnTo>
                  <a:pt x="554995" y="727659"/>
                </a:lnTo>
                <a:lnTo>
                  <a:pt x="604747" y="735355"/>
                </a:lnTo>
                <a:lnTo>
                  <a:pt x="655666" y="741334"/>
                </a:lnTo>
                <a:lnTo>
                  <a:pt x="707516" y="745564"/>
                </a:lnTo>
                <a:lnTo>
                  <a:pt x="760058" y="748012"/>
                </a:lnTo>
                <a:lnTo>
                  <a:pt x="813051" y="748645"/>
                </a:lnTo>
                <a:lnTo>
                  <a:pt x="866258" y="747433"/>
                </a:lnTo>
                <a:lnTo>
                  <a:pt x="919440" y="744341"/>
                </a:lnTo>
                <a:lnTo>
                  <a:pt x="972357" y="739337"/>
                </a:lnTo>
                <a:lnTo>
                  <a:pt x="1024772" y="732390"/>
                </a:lnTo>
                <a:lnTo>
                  <a:pt x="1076445" y="723466"/>
                </a:lnTo>
                <a:lnTo>
                  <a:pt x="1127137" y="712533"/>
                </a:lnTo>
                <a:lnTo>
                  <a:pt x="1187334" y="696394"/>
                </a:lnTo>
                <a:lnTo>
                  <a:pt x="1242517" y="677980"/>
                </a:lnTo>
                <a:lnTo>
                  <a:pt x="1292546" y="657501"/>
                </a:lnTo>
                <a:lnTo>
                  <a:pt x="1337279" y="635164"/>
                </a:lnTo>
                <a:lnTo>
                  <a:pt x="1376574" y="611178"/>
                </a:lnTo>
                <a:lnTo>
                  <a:pt x="1410288" y="585752"/>
                </a:lnTo>
                <a:lnTo>
                  <a:pt x="1438280" y="559092"/>
                </a:lnTo>
                <a:lnTo>
                  <a:pt x="1476532" y="502909"/>
                </a:lnTo>
                <a:lnTo>
                  <a:pt x="1490193" y="444296"/>
                </a:lnTo>
                <a:lnTo>
                  <a:pt x="1487448" y="414599"/>
                </a:lnTo>
                <a:lnTo>
                  <a:pt x="1462097" y="355466"/>
                </a:lnTo>
                <a:lnTo>
                  <a:pt x="1409319" y="298068"/>
                </a:lnTo>
                <a:lnTo>
                  <a:pt x="1349030" y="256121"/>
                </a:lnTo>
                <a:lnTo>
                  <a:pt x="1314148" y="237317"/>
                </a:lnTo>
                <a:lnTo>
                  <a:pt x="1276425" y="220002"/>
                </a:lnTo>
                <a:lnTo>
                  <a:pt x="1236100" y="204209"/>
                </a:lnTo>
                <a:lnTo>
                  <a:pt x="1193413" y="189971"/>
                </a:lnTo>
                <a:lnTo>
                  <a:pt x="1148601" y="177320"/>
                </a:lnTo>
                <a:lnTo>
                  <a:pt x="1126226" y="172034"/>
                </a:lnTo>
                <a:lnTo>
                  <a:pt x="481418" y="172034"/>
                </a:lnTo>
                <a:lnTo>
                  <a:pt x="0" y="0"/>
                </a:lnTo>
                <a:close/>
              </a:path>
              <a:path w="1490345" h="748664">
                <a:moveTo>
                  <a:pt x="795505" y="135921"/>
                </a:moveTo>
                <a:lnTo>
                  <a:pt x="742298" y="137134"/>
                </a:lnTo>
                <a:lnTo>
                  <a:pt x="689116" y="140226"/>
                </a:lnTo>
                <a:lnTo>
                  <a:pt x="636198" y="145229"/>
                </a:lnTo>
                <a:lnTo>
                  <a:pt x="583784" y="152177"/>
                </a:lnTo>
                <a:lnTo>
                  <a:pt x="532111" y="161101"/>
                </a:lnTo>
                <a:lnTo>
                  <a:pt x="481418" y="172034"/>
                </a:lnTo>
                <a:lnTo>
                  <a:pt x="1126226" y="172034"/>
                </a:lnTo>
                <a:lnTo>
                  <a:pt x="1053560" y="156908"/>
                </a:lnTo>
                <a:lnTo>
                  <a:pt x="1003809" y="149212"/>
                </a:lnTo>
                <a:lnTo>
                  <a:pt x="952889" y="143233"/>
                </a:lnTo>
                <a:lnTo>
                  <a:pt x="901039" y="139003"/>
                </a:lnTo>
                <a:lnTo>
                  <a:pt x="848498" y="136555"/>
                </a:lnTo>
                <a:lnTo>
                  <a:pt x="795505" y="135921"/>
                </a:lnTo>
                <a:close/>
              </a:path>
            </a:pathLst>
          </a:custGeom>
          <a:solidFill>
            <a:srgbClr val="4F81BD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0" name="object 10"/>
          <p:cNvSpPr/>
          <p:nvPr/>
        </p:nvSpPr>
        <p:spPr>
          <a:xfrm>
            <a:off x="3016736" y="4627301"/>
            <a:ext cx="1490604" cy="998220"/>
          </a:xfrm>
          <a:custGeom>
            <a:avLst/>
            <a:gdLst/>
            <a:ahLst/>
            <a:cxnLst/>
            <a:rect l="l" t="t" r="r" b="b"/>
            <a:pathLst>
              <a:path w="1490345" h="748664">
                <a:moveTo>
                  <a:pt x="0" y="0"/>
                </a:moveTo>
                <a:lnTo>
                  <a:pt x="481418" y="172034"/>
                </a:lnTo>
                <a:lnTo>
                  <a:pt x="532111" y="161101"/>
                </a:lnTo>
                <a:lnTo>
                  <a:pt x="583784" y="152177"/>
                </a:lnTo>
                <a:lnTo>
                  <a:pt x="636198" y="145229"/>
                </a:lnTo>
                <a:lnTo>
                  <a:pt x="689116" y="140226"/>
                </a:lnTo>
                <a:lnTo>
                  <a:pt x="742298" y="137134"/>
                </a:lnTo>
                <a:lnTo>
                  <a:pt x="795505" y="135921"/>
                </a:lnTo>
                <a:lnTo>
                  <a:pt x="848498" y="136555"/>
                </a:lnTo>
                <a:lnTo>
                  <a:pt x="901039" y="139003"/>
                </a:lnTo>
                <a:lnTo>
                  <a:pt x="952889" y="143233"/>
                </a:lnTo>
                <a:lnTo>
                  <a:pt x="1003809" y="149212"/>
                </a:lnTo>
                <a:lnTo>
                  <a:pt x="1053560" y="156908"/>
                </a:lnTo>
                <a:lnTo>
                  <a:pt x="1101904" y="166288"/>
                </a:lnTo>
                <a:lnTo>
                  <a:pt x="1148601" y="177320"/>
                </a:lnTo>
                <a:lnTo>
                  <a:pt x="1193413" y="189971"/>
                </a:lnTo>
                <a:lnTo>
                  <a:pt x="1236100" y="204209"/>
                </a:lnTo>
                <a:lnTo>
                  <a:pt x="1276425" y="220002"/>
                </a:lnTo>
                <a:lnTo>
                  <a:pt x="1314148" y="237317"/>
                </a:lnTo>
                <a:lnTo>
                  <a:pt x="1349030" y="256121"/>
                </a:lnTo>
                <a:lnTo>
                  <a:pt x="1409319" y="298068"/>
                </a:lnTo>
                <a:lnTo>
                  <a:pt x="1439207" y="326446"/>
                </a:lnTo>
                <a:lnTo>
                  <a:pt x="1478130" y="384920"/>
                </a:lnTo>
                <a:lnTo>
                  <a:pt x="1490193" y="444296"/>
                </a:lnTo>
                <a:lnTo>
                  <a:pt x="1486507" y="473803"/>
                </a:lnTo>
                <a:lnTo>
                  <a:pt x="1460409" y="531409"/>
                </a:lnTo>
                <a:lnTo>
                  <a:pt x="1410288" y="585752"/>
                </a:lnTo>
                <a:lnTo>
                  <a:pt x="1376574" y="611178"/>
                </a:lnTo>
                <a:lnTo>
                  <a:pt x="1337279" y="635164"/>
                </a:lnTo>
                <a:lnTo>
                  <a:pt x="1292546" y="657501"/>
                </a:lnTo>
                <a:lnTo>
                  <a:pt x="1242517" y="677980"/>
                </a:lnTo>
                <a:lnTo>
                  <a:pt x="1187334" y="696394"/>
                </a:lnTo>
                <a:lnTo>
                  <a:pt x="1127137" y="712533"/>
                </a:lnTo>
                <a:lnTo>
                  <a:pt x="1076445" y="723466"/>
                </a:lnTo>
                <a:lnTo>
                  <a:pt x="1024772" y="732390"/>
                </a:lnTo>
                <a:lnTo>
                  <a:pt x="972357" y="739337"/>
                </a:lnTo>
                <a:lnTo>
                  <a:pt x="919440" y="744341"/>
                </a:lnTo>
                <a:lnTo>
                  <a:pt x="866258" y="747433"/>
                </a:lnTo>
                <a:lnTo>
                  <a:pt x="813051" y="748645"/>
                </a:lnTo>
                <a:lnTo>
                  <a:pt x="760058" y="748012"/>
                </a:lnTo>
                <a:lnTo>
                  <a:pt x="707516" y="745564"/>
                </a:lnTo>
                <a:lnTo>
                  <a:pt x="655666" y="741334"/>
                </a:lnTo>
                <a:lnTo>
                  <a:pt x="604747" y="735355"/>
                </a:lnTo>
                <a:lnTo>
                  <a:pt x="554995" y="727659"/>
                </a:lnTo>
                <a:lnTo>
                  <a:pt x="506652" y="718279"/>
                </a:lnTo>
                <a:lnTo>
                  <a:pt x="459955" y="707247"/>
                </a:lnTo>
                <a:lnTo>
                  <a:pt x="415143" y="694596"/>
                </a:lnTo>
                <a:lnTo>
                  <a:pt x="372455" y="680358"/>
                </a:lnTo>
                <a:lnTo>
                  <a:pt x="332131" y="664565"/>
                </a:lnTo>
                <a:lnTo>
                  <a:pt x="294408" y="647250"/>
                </a:lnTo>
                <a:lnTo>
                  <a:pt x="259525" y="628446"/>
                </a:lnTo>
                <a:lnTo>
                  <a:pt x="199237" y="586498"/>
                </a:lnTo>
                <a:lnTo>
                  <a:pt x="164623" y="552771"/>
                </a:lnTo>
                <a:lnTo>
                  <a:pt x="139693" y="517946"/>
                </a:lnTo>
                <a:lnTo>
                  <a:pt x="124361" y="482407"/>
                </a:lnTo>
                <a:lnTo>
                  <a:pt x="118535" y="446536"/>
                </a:lnTo>
                <a:lnTo>
                  <a:pt x="122129" y="410714"/>
                </a:lnTo>
                <a:lnTo>
                  <a:pt x="157217" y="340750"/>
                </a:lnTo>
                <a:lnTo>
                  <a:pt x="188534" y="307371"/>
                </a:lnTo>
                <a:lnTo>
                  <a:pt x="228914" y="275571"/>
                </a:lnTo>
                <a:lnTo>
                  <a:pt x="278269" y="245732"/>
                </a:lnTo>
                <a:lnTo>
                  <a:pt x="0" y="0"/>
                </a:lnTo>
                <a:close/>
              </a:path>
            </a:pathLst>
          </a:custGeom>
          <a:ln w="25146">
            <a:solidFill>
              <a:srgbClr val="385D8A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1" name="object 11"/>
          <p:cNvSpPr txBox="1"/>
          <p:nvPr/>
        </p:nvSpPr>
        <p:spPr>
          <a:xfrm>
            <a:off x="3152327" y="4880362"/>
            <a:ext cx="1317689" cy="1137918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algn="ctr">
              <a:spcBef>
                <a:spcPts val="133"/>
              </a:spcBef>
            </a:pPr>
            <a:r>
              <a:rPr sz="2400" b="1" spc="-7" dirty="0" err="1" smtClean="0">
                <a:solidFill>
                  <a:srgbClr val="FFFFFF"/>
                </a:solidFill>
                <a:latin typeface="宋体"/>
                <a:cs typeface="宋体"/>
              </a:rPr>
              <a:t>随机选</a:t>
            </a:r>
            <a:r>
              <a:rPr lang="zh-CN" altLang="en-US" sz="2400" b="1" spc="-7" dirty="0">
                <a:solidFill>
                  <a:srgbClr val="FFFFFF"/>
                </a:solidFill>
                <a:latin typeface="宋体"/>
                <a:cs typeface="宋体"/>
              </a:rPr>
              <a:t>择一步</a:t>
            </a:r>
            <a:endParaRPr lang="zh-CN" altLang="en-US" sz="2400" dirty="0">
              <a:latin typeface="宋体"/>
              <a:cs typeface="宋体"/>
            </a:endParaRPr>
          </a:p>
          <a:p>
            <a:pPr marL="16933" algn="ctr">
              <a:spcBef>
                <a:spcPts val="133"/>
              </a:spcBef>
            </a:pPr>
            <a:endParaRPr sz="2400" dirty="0">
              <a:latin typeface="宋体"/>
              <a:cs typeface="宋体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59402" y="4996071"/>
            <a:ext cx="1657334" cy="449696"/>
          </a:xfrm>
          <a:prstGeom prst="rect">
            <a:avLst/>
          </a:prstGeom>
        </p:spPr>
        <p:txBody>
          <a:bodyPr vert="horz" wrap="square" lIns="0" tIns="18627" rIns="0" bIns="0" rtlCol="0">
            <a:spAutoFit/>
          </a:bodyPr>
          <a:lstStyle/>
          <a:p>
            <a:pPr marL="16933">
              <a:spcBef>
                <a:spcPts val="147"/>
              </a:spcBef>
            </a:pPr>
            <a:r>
              <a:rPr sz="2800" b="1" i="1" dirty="0">
                <a:latin typeface="Times New Roman"/>
                <a:cs typeface="Times New Roman"/>
              </a:rPr>
              <a:t>k</a:t>
            </a:r>
            <a:r>
              <a:rPr sz="2800" b="1" dirty="0">
                <a:latin typeface="Symbol"/>
                <a:cs typeface="Symbol"/>
              </a:rPr>
              <a:t></a:t>
            </a:r>
            <a:r>
              <a:rPr sz="2800" b="1" i="1" dirty="0">
                <a:latin typeface="Times New Roman"/>
                <a:cs typeface="Times New Roman"/>
              </a:rPr>
              <a:t>k</a:t>
            </a:r>
            <a:r>
              <a:rPr sz="2800" b="1" dirty="0">
                <a:latin typeface="Times New Roman"/>
                <a:cs typeface="Times New Roman"/>
              </a:rPr>
              <a:t>+1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36034" y="5009944"/>
            <a:ext cx="1134146" cy="461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3627"/>
              </a:lnSpc>
            </a:pPr>
            <a:r>
              <a:rPr sz="2800" b="1" dirty="0">
                <a:latin typeface="Times New Roman"/>
                <a:cs typeface="Times New Roman"/>
              </a:rPr>
              <a:t>8.</a:t>
            </a:r>
            <a:endParaRPr sz="28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86641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04806" y="234212"/>
            <a:ext cx="4863674" cy="632651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4000" b="1" spc="-13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4后搜索树遍</a:t>
            </a:r>
            <a:r>
              <a:rPr sz="4000" b="1" spc="-7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历</a:t>
            </a:r>
            <a:r>
              <a:rPr sz="4000" b="1" spc="-13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sz="4000" b="1" spc="-7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结</a:t>
            </a:r>
            <a:r>
              <a:rPr sz="4000" b="1" spc="-20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点</a:t>
            </a:r>
          </a:p>
        </p:txBody>
      </p:sp>
      <p:sp>
        <p:nvSpPr>
          <p:cNvPr id="3" name="object 3"/>
          <p:cNvSpPr/>
          <p:nvPr/>
        </p:nvSpPr>
        <p:spPr>
          <a:xfrm>
            <a:off x="3269890" y="1546841"/>
            <a:ext cx="1343258" cy="794173"/>
          </a:xfrm>
          <a:custGeom>
            <a:avLst/>
            <a:gdLst/>
            <a:ahLst/>
            <a:cxnLst/>
            <a:rect l="l" t="t" r="r" b="b"/>
            <a:pathLst>
              <a:path w="1343025" h="595630">
                <a:moveTo>
                  <a:pt x="1342644" y="0"/>
                </a:moveTo>
                <a:lnTo>
                  <a:pt x="0" y="595122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" name="object 4"/>
          <p:cNvSpPr/>
          <p:nvPr/>
        </p:nvSpPr>
        <p:spPr>
          <a:xfrm>
            <a:off x="4612767" y="1546841"/>
            <a:ext cx="1342623" cy="794173"/>
          </a:xfrm>
          <a:custGeom>
            <a:avLst/>
            <a:gdLst/>
            <a:ahLst/>
            <a:cxnLst/>
            <a:rect l="l" t="t" r="r" b="b"/>
            <a:pathLst>
              <a:path w="1342389" h="595630">
                <a:moveTo>
                  <a:pt x="0" y="0"/>
                </a:moveTo>
                <a:lnTo>
                  <a:pt x="1341882" y="595122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" name="object 5"/>
          <p:cNvSpPr/>
          <p:nvPr/>
        </p:nvSpPr>
        <p:spPr>
          <a:xfrm>
            <a:off x="4164633" y="1546841"/>
            <a:ext cx="448387" cy="794173"/>
          </a:xfrm>
          <a:custGeom>
            <a:avLst/>
            <a:gdLst/>
            <a:ahLst/>
            <a:cxnLst/>
            <a:rect l="l" t="t" r="r" b="b"/>
            <a:pathLst>
              <a:path w="448310" h="595630">
                <a:moveTo>
                  <a:pt x="448056" y="0"/>
                </a:moveTo>
                <a:lnTo>
                  <a:pt x="0" y="595122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" name="object 6"/>
          <p:cNvSpPr/>
          <p:nvPr/>
        </p:nvSpPr>
        <p:spPr>
          <a:xfrm>
            <a:off x="4612767" y="1546841"/>
            <a:ext cx="447753" cy="794173"/>
          </a:xfrm>
          <a:custGeom>
            <a:avLst/>
            <a:gdLst/>
            <a:ahLst/>
            <a:cxnLst/>
            <a:rect l="l" t="t" r="r" b="b"/>
            <a:pathLst>
              <a:path w="447675" h="595630">
                <a:moveTo>
                  <a:pt x="0" y="0"/>
                </a:moveTo>
                <a:lnTo>
                  <a:pt x="447294" y="595122"/>
                </a:lnTo>
              </a:path>
            </a:pathLst>
          </a:custGeom>
          <a:ln w="289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" name="object 7"/>
          <p:cNvSpPr/>
          <p:nvPr/>
        </p:nvSpPr>
        <p:spPr>
          <a:xfrm>
            <a:off x="4164633" y="2340338"/>
            <a:ext cx="1905" cy="677333"/>
          </a:xfrm>
          <a:custGeom>
            <a:avLst/>
            <a:gdLst/>
            <a:ahLst/>
            <a:cxnLst/>
            <a:rect l="l" t="t" r="r" b="b"/>
            <a:pathLst>
              <a:path w="1905" h="508000">
                <a:moveTo>
                  <a:pt x="0" y="0"/>
                </a:moveTo>
                <a:lnTo>
                  <a:pt x="1524" y="507492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" name="object 8"/>
          <p:cNvSpPr/>
          <p:nvPr/>
        </p:nvSpPr>
        <p:spPr>
          <a:xfrm>
            <a:off x="4166156" y="3811508"/>
            <a:ext cx="2541" cy="791633"/>
          </a:xfrm>
          <a:custGeom>
            <a:avLst/>
            <a:gdLst/>
            <a:ahLst/>
            <a:cxnLst/>
            <a:rect l="l" t="t" r="r" b="b"/>
            <a:pathLst>
              <a:path w="2539" h="593725">
                <a:moveTo>
                  <a:pt x="2286" y="0"/>
                </a:moveTo>
                <a:lnTo>
                  <a:pt x="0" y="593598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" name="object 9"/>
          <p:cNvSpPr/>
          <p:nvPr/>
        </p:nvSpPr>
        <p:spPr>
          <a:xfrm>
            <a:off x="4166156" y="3020042"/>
            <a:ext cx="0" cy="794173"/>
          </a:xfrm>
          <a:custGeom>
            <a:avLst/>
            <a:gdLst/>
            <a:ahLst/>
            <a:cxnLst/>
            <a:rect l="l" t="t" r="r" b="b"/>
            <a:pathLst>
              <a:path h="595630">
                <a:moveTo>
                  <a:pt x="0" y="0"/>
                </a:moveTo>
                <a:lnTo>
                  <a:pt x="0" y="595122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0" name="object 10"/>
          <p:cNvSpPr/>
          <p:nvPr/>
        </p:nvSpPr>
        <p:spPr>
          <a:xfrm>
            <a:off x="5060138" y="2340339"/>
            <a:ext cx="2541" cy="791633"/>
          </a:xfrm>
          <a:custGeom>
            <a:avLst/>
            <a:gdLst/>
            <a:ahLst/>
            <a:cxnLst/>
            <a:rect l="l" t="t" r="r" b="b"/>
            <a:pathLst>
              <a:path w="2539" h="593725">
                <a:moveTo>
                  <a:pt x="0" y="0"/>
                </a:moveTo>
                <a:lnTo>
                  <a:pt x="2286" y="593598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1" name="object 11"/>
          <p:cNvSpPr/>
          <p:nvPr/>
        </p:nvSpPr>
        <p:spPr>
          <a:xfrm>
            <a:off x="5060138" y="3020043"/>
            <a:ext cx="2541" cy="791633"/>
          </a:xfrm>
          <a:custGeom>
            <a:avLst/>
            <a:gdLst/>
            <a:ahLst/>
            <a:cxnLst/>
            <a:rect l="l" t="t" r="r" b="b"/>
            <a:pathLst>
              <a:path w="2539" h="593725">
                <a:moveTo>
                  <a:pt x="2286" y="0"/>
                </a:moveTo>
                <a:lnTo>
                  <a:pt x="0" y="593598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2" name="object 12"/>
          <p:cNvSpPr/>
          <p:nvPr/>
        </p:nvSpPr>
        <p:spPr>
          <a:xfrm>
            <a:off x="5685849" y="2340339"/>
            <a:ext cx="269287" cy="679873"/>
          </a:xfrm>
          <a:custGeom>
            <a:avLst/>
            <a:gdLst/>
            <a:ahLst/>
            <a:cxnLst/>
            <a:rect l="l" t="t" r="r" b="b"/>
            <a:pathLst>
              <a:path w="269239" h="509905">
                <a:moveTo>
                  <a:pt x="268986" y="0"/>
                </a:moveTo>
                <a:lnTo>
                  <a:pt x="0" y="509778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3" name="object 13"/>
          <p:cNvSpPr/>
          <p:nvPr/>
        </p:nvSpPr>
        <p:spPr>
          <a:xfrm>
            <a:off x="5954882" y="2340339"/>
            <a:ext cx="359472" cy="679873"/>
          </a:xfrm>
          <a:custGeom>
            <a:avLst/>
            <a:gdLst/>
            <a:ahLst/>
            <a:cxnLst/>
            <a:rect l="l" t="t" r="r" b="b"/>
            <a:pathLst>
              <a:path w="359410" h="509905">
                <a:moveTo>
                  <a:pt x="0" y="0"/>
                </a:moveTo>
                <a:lnTo>
                  <a:pt x="358902" y="509778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4" name="object 14"/>
          <p:cNvSpPr/>
          <p:nvPr/>
        </p:nvSpPr>
        <p:spPr>
          <a:xfrm>
            <a:off x="5685849" y="3020043"/>
            <a:ext cx="2541" cy="791633"/>
          </a:xfrm>
          <a:custGeom>
            <a:avLst/>
            <a:gdLst/>
            <a:ahLst/>
            <a:cxnLst/>
            <a:rect l="l" t="t" r="r" b="b"/>
            <a:pathLst>
              <a:path w="2539" h="593725">
                <a:moveTo>
                  <a:pt x="2286" y="0"/>
                </a:moveTo>
                <a:lnTo>
                  <a:pt x="0" y="593598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5" name="object 15"/>
          <p:cNvSpPr/>
          <p:nvPr/>
        </p:nvSpPr>
        <p:spPr>
          <a:xfrm>
            <a:off x="5062424" y="3811507"/>
            <a:ext cx="0" cy="794173"/>
          </a:xfrm>
          <a:custGeom>
            <a:avLst/>
            <a:gdLst/>
            <a:ahLst/>
            <a:cxnLst/>
            <a:rect l="l" t="t" r="r" b="b"/>
            <a:pathLst>
              <a:path h="595629">
                <a:moveTo>
                  <a:pt x="0" y="0"/>
                </a:moveTo>
                <a:lnTo>
                  <a:pt x="0" y="595122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6" name="object 16"/>
          <p:cNvSpPr/>
          <p:nvPr/>
        </p:nvSpPr>
        <p:spPr>
          <a:xfrm>
            <a:off x="3001618" y="2340339"/>
            <a:ext cx="268652" cy="679873"/>
          </a:xfrm>
          <a:custGeom>
            <a:avLst/>
            <a:gdLst/>
            <a:ahLst/>
            <a:cxnLst/>
            <a:rect l="l" t="t" r="r" b="b"/>
            <a:pathLst>
              <a:path w="268605" h="509905">
                <a:moveTo>
                  <a:pt x="268224" y="0"/>
                </a:moveTo>
                <a:lnTo>
                  <a:pt x="0" y="509778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7" name="object 17"/>
          <p:cNvSpPr/>
          <p:nvPr/>
        </p:nvSpPr>
        <p:spPr>
          <a:xfrm>
            <a:off x="3269890" y="2340339"/>
            <a:ext cx="360108" cy="679873"/>
          </a:xfrm>
          <a:custGeom>
            <a:avLst/>
            <a:gdLst/>
            <a:ahLst/>
            <a:cxnLst/>
            <a:rect l="l" t="t" r="r" b="b"/>
            <a:pathLst>
              <a:path w="360044" h="509905">
                <a:moveTo>
                  <a:pt x="0" y="0"/>
                </a:moveTo>
                <a:lnTo>
                  <a:pt x="359664" y="509778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8" name="object 18"/>
          <p:cNvSpPr/>
          <p:nvPr/>
        </p:nvSpPr>
        <p:spPr>
          <a:xfrm>
            <a:off x="3629615" y="3020042"/>
            <a:ext cx="0" cy="794173"/>
          </a:xfrm>
          <a:custGeom>
            <a:avLst/>
            <a:gdLst/>
            <a:ahLst/>
            <a:cxnLst/>
            <a:rect l="l" t="t" r="r" b="b"/>
            <a:pathLst>
              <a:path h="595630">
                <a:moveTo>
                  <a:pt x="0" y="0"/>
                </a:moveTo>
                <a:lnTo>
                  <a:pt x="0" y="595122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9" name="object 19"/>
          <p:cNvSpPr/>
          <p:nvPr/>
        </p:nvSpPr>
        <p:spPr>
          <a:xfrm>
            <a:off x="4519024" y="1425937"/>
            <a:ext cx="189770" cy="24079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0" name="object 20"/>
          <p:cNvSpPr/>
          <p:nvPr/>
        </p:nvSpPr>
        <p:spPr>
          <a:xfrm>
            <a:off x="3176909" y="2332212"/>
            <a:ext cx="189770" cy="24282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1" name="object 21"/>
          <p:cNvSpPr/>
          <p:nvPr/>
        </p:nvSpPr>
        <p:spPr>
          <a:xfrm>
            <a:off x="4070890" y="2332212"/>
            <a:ext cx="189770" cy="24282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2" name="object 22"/>
          <p:cNvSpPr/>
          <p:nvPr/>
        </p:nvSpPr>
        <p:spPr>
          <a:xfrm>
            <a:off x="4964872" y="2332212"/>
            <a:ext cx="193581" cy="24282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3" name="object 23"/>
          <p:cNvSpPr/>
          <p:nvPr/>
        </p:nvSpPr>
        <p:spPr>
          <a:xfrm>
            <a:off x="5861140" y="2222482"/>
            <a:ext cx="189770" cy="24282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4" name="object 24"/>
          <p:cNvSpPr/>
          <p:nvPr/>
        </p:nvSpPr>
        <p:spPr>
          <a:xfrm>
            <a:off x="2908638" y="3010900"/>
            <a:ext cx="189008" cy="24282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5" name="object 25"/>
          <p:cNvSpPr/>
          <p:nvPr/>
        </p:nvSpPr>
        <p:spPr>
          <a:xfrm>
            <a:off x="3534349" y="3010900"/>
            <a:ext cx="189008" cy="24282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6" name="object 26"/>
          <p:cNvSpPr/>
          <p:nvPr/>
        </p:nvSpPr>
        <p:spPr>
          <a:xfrm>
            <a:off x="4074702" y="3010900"/>
            <a:ext cx="192057" cy="24282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7" name="object 27"/>
          <p:cNvSpPr/>
          <p:nvPr/>
        </p:nvSpPr>
        <p:spPr>
          <a:xfrm>
            <a:off x="4964872" y="3010900"/>
            <a:ext cx="193581" cy="24282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8" name="object 28"/>
          <p:cNvSpPr/>
          <p:nvPr/>
        </p:nvSpPr>
        <p:spPr>
          <a:xfrm>
            <a:off x="5592870" y="2901170"/>
            <a:ext cx="189008" cy="24282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9" name="object 29"/>
          <p:cNvSpPr/>
          <p:nvPr/>
        </p:nvSpPr>
        <p:spPr>
          <a:xfrm>
            <a:off x="6220105" y="2901170"/>
            <a:ext cx="189770" cy="242823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0" name="object 30"/>
          <p:cNvSpPr/>
          <p:nvPr/>
        </p:nvSpPr>
        <p:spPr>
          <a:xfrm>
            <a:off x="3534349" y="3802361"/>
            <a:ext cx="189008" cy="240791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1" name="object 31"/>
          <p:cNvSpPr/>
          <p:nvPr/>
        </p:nvSpPr>
        <p:spPr>
          <a:xfrm>
            <a:off x="4074702" y="4593826"/>
            <a:ext cx="192057" cy="240792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2" name="object 32"/>
          <p:cNvSpPr/>
          <p:nvPr/>
        </p:nvSpPr>
        <p:spPr>
          <a:xfrm>
            <a:off x="4074702" y="3802361"/>
            <a:ext cx="192057" cy="240791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3" name="object 33"/>
          <p:cNvSpPr/>
          <p:nvPr/>
        </p:nvSpPr>
        <p:spPr>
          <a:xfrm>
            <a:off x="4964872" y="3802361"/>
            <a:ext cx="193581" cy="240791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4" name="object 34"/>
          <p:cNvSpPr/>
          <p:nvPr/>
        </p:nvSpPr>
        <p:spPr>
          <a:xfrm>
            <a:off x="5592870" y="3690604"/>
            <a:ext cx="189008" cy="242823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5" name="object 35"/>
          <p:cNvSpPr/>
          <p:nvPr/>
        </p:nvSpPr>
        <p:spPr>
          <a:xfrm>
            <a:off x="4964872" y="4551154"/>
            <a:ext cx="193581" cy="240792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6" name="object 36"/>
          <p:cNvSpPr txBox="1"/>
          <p:nvPr/>
        </p:nvSpPr>
        <p:spPr>
          <a:xfrm>
            <a:off x="3840513" y="5161299"/>
            <a:ext cx="2887130" cy="44798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800" b="1" spc="-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结点数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=17</a:t>
            </a:r>
            <a:endParaRPr sz="28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5067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12327" y="323564"/>
            <a:ext cx="3618631" cy="632651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4000" b="1" spc="-13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随机选择路径</a:t>
            </a:r>
            <a:r>
              <a:rPr sz="4000" b="1" spc="-2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3" name="object 3"/>
          <p:cNvSpPr/>
          <p:nvPr/>
        </p:nvSpPr>
        <p:spPr>
          <a:xfrm>
            <a:off x="4659704" y="1621746"/>
            <a:ext cx="1053648" cy="758613"/>
          </a:xfrm>
          <a:custGeom>
            <a:avLst/>
            <a:gdLst/>
            <a:ahLst/>
            <a:cxnLst/>
            <a:rect l="l" t="t" r="r" b="b"/>
            <a:pathLst>
              <a:path w="1053464" h="568960">
                <a:moveTo>
                  <a:pt x="1053084" y="0"/>
                </a:moveTo>
                <a:lnTo>
                  <a:pt x="0" y="568452"/>
                </a:lnTo>
              </a:path>
            </a:pathLst>
          </a:custGeom>
          <a:ln w="289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" name="object 4"/>
          <p:cNvSpPr/>
          <p:nvPr/>
        </p:nvSpPr>
        <p:spPr>
          <a:xfrm>
            <a:off x="5705349" y="1621746"/>
            <a:ext cx="1054283" cy="758613"/>
          </a:xfrm>
          <a:custGeom>
            <a:avLst/>
            <a:gdLst/>
            <a:ahLst/>
            <a:cxnLst/>
            <a:rect l="l" t="t" r="r" b="b"/>
            <a:pathLst>
              <a:path w="1054100" h="568960">
                <a:moveTo>
                  <a:pt x="0" y="0"/>
                </a:moveTo>
                <a:lnTo>
                  <a:pt x="1053846" y="568452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" name="object 5"/>
          <p:cNvSpPr/>
          <p:nvPr/>
        </p:nvSpPr>
        <p:spPr>
          <a:xfrm>
            <a:off x="5361627" y="1621746"/>
            <a:ext cx="351851" cy="758613"/>
          </a:xfrm>
          <a:custGeom>
            <a:avLst/>
            <a:gdLst/>
            <a:ahLst/>
            <a:cxnLst/>
            <a:rect l="l" t="t" r="r" b="b"/>
            <a:pathLst>
              <a:path w="351789" h="568960">
                <a:moveTo>
                  <a:pt x="351282" y="0"/>
                </a:moveTo>
                <a:lnTo>
                  <a:pt x="0" y="568452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" name="object 6"/>
          <p:cNvSpPr/>
          <p:nvPr/>
        </p:nvSpPr>
        <p:spPr>
          <a:xfrm>
            <a:off x="5712970" y="1621746"/>
            <a:ext cx="352486" cy="758613"/>
          </a:xfrm>
          <a:custGeom>
            <a:avLst/>
            <a:gdLst/>
            <a:ahLst/>
            <a:cxnLst/>
            <a:rect l="l" t="t" r="r" b="b"/>
            <a:pathLst>
              <a:path w="352425" h="568960">
                <a:moveTo>
                  <a:pt x="0" y="0"/>
                </a:moveTo>
                <a:lnTo>
                  <a:pt x="352044" y="568452"/>
                </a:lnTo>
              </a:path>
            </a:pathLst>
          </a:custGeom>
          <a:ln w="289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" name="object 7"/>
          <p:cNvSpPr/>
          <p:nvPr/>
        </p:nvSpPr>
        <p:spPr>
          <a:xfrm>
            <a:off x="5197006" y="2379684"/>
            <a:ext cx="211491" cy="648545"/>
          </a:xfrm>
          <a:custGeom>
            <a:avLst/>
            <a:gdLst/>
            <a:ahLst/>
            <a:cxnLst/>
            <a:rect l="l" t="t" r="r" b="b"/>
            <a:pathLst>
              <a:path w="211454" h="486410">
                <a:moveTo>
                  <a:pt x="211074" y="0"/>
                </a:moveTo>
                <a:lnTo>
                  <a:pt x="0" y="486156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" name="object 8"/>
          <p:cNvSpPr/>
          <p:nvPr/>
        </p:nvSpPr>
        <p:spPr>
          <a:xfrm>
            <a:off x="5361626" y="2379684"/>
            <a:ext cx="281989" cy="648545"/>
          </a:xfrm>
          <a:custGeom>
            <a:avLst/>
            <a:gdLst/>
            <a:ahLst/>
            <a:cxnLst/>
            <a:rect l="l" t="t" r="r" b="b"/>
            <a:pathLst>
              <a:path w="281939" h="486410">
                <a:moveTo>
                  <a:pt x="0" y="0"/>
                </a:moveTo>
                <a:lnTo>
                  <a:pt x="281940" y="486156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" name="object 9"/>
          <p:cNvSpPr/>
          <p:nvPr/>
        </p:nvSpPr>
        <p:spPr>
          <a:xfrm>
            <a:off x="5213774" y="3027891"/>
            <a:ext cx="2541" cy="756073"/>
          </a:xfrm>
          <a:custGeom>
            <a:avLst/>
            <a:gdLst/>
            <a:ahLst/>
            <a:cxnLst/>
            <a:rect l="l" t="t" r="r" b="b"/>
            <a:pathLst>
              <a:path w="2539" h="567055">
                <a:moveTo>
                  <a:pt x="2286" y="0"/>
                </a:moveTo>
                <a:lnTo>
                  <a:pt x="0" y="566928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0" name="object 10"/>
          <p:cNvSpPr/>
          <p:nvPr/>
        </p:nvSpPr>
        <p:spPr>
          <a:xfrm>
            <a:off x="5601699" y="3027890"/>
            <a:ext cx="0" cy="758613"/>
          </a:xfrm>
          <a:custGeom>
            <a:avLst/>
            <a:gdLst/>
            <a:ahLst/>
            <a:cxnLst/>
            <a:rect l="l" t="t" r="r" b="b"/>
            <a:pathLst>
              <a:path h="568960">
                <a:moveTo>
                  <a:pt x="0" y="0"/>
                </a:moveTo>
                <a:lnTo>
                  <a:pt x="0" y="568452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1" name="object 11"/>
          <p:cNvSpPr/>
          <p:nvPr/>
        </p:nvSpPr>
        <p:spPr>
          <a:xfrm>
            <a:off x="5922556" y="2379683"/>
            <a:ext cx="142900" cy="555412"/>
          </a:xfrm>
          <a:custGeom>
            <a:avLst/>
            <a:gdLst/>
            <a:ahLst/>
            <a:cxnLst/>
            <a:rect l="l" t="t" r="r" b="b"/>
            <a:pathLst>
              <a:path w="142875" h="416560">
                <a:moveTo>
                  <a:pt x="142494" y="0"/>
                </a:moveTo>
                <a:lnTo>
                  <a:pt x="0" y="416052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2" name="object 12"/>
          <p:cNvSpPr/>
          <p:nvPr/>
        </p:nvSpPr>
        <p:spPr>
          <a:xfrm>
            <a:off x="6065075" y="2379683"/>
            <a:ext cx="180371" cy="555412"/>
          </a:xfrm>
          <a:custGeom>
            <a:avLst/>
            <a:gdLst/>
            <a:ahLst/>
            <a:cxnLst/>
            <a:rect l="l" t="t" r="r" b="b"/>
            <a:pathLst>
              <a:path w="180339" h="416560">
                <a:moveTo>
                  <a:pt x="0" y="0"/>
                </a:moveTo>
                <a:lnTo>
                  <a:pt x="179832" y="416052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3" name="object 13"/>
          <p:cNvSpPr/>
          <p:nvPr/>
        </p:nvSpPr>
        <p:spPr>
          <a:xfrm>
            <a:off x="5921032" y="3027891"/>
            <a:ext cx="1905" cy="756073"/>
          </a:xfrm>
          <a:custGeom>
            <a:avLst/>
            <a:gdLst/>
            <a:ahLst/>
            <a:cxnLst/>
            <a:rect l="l" t="t" r="r" b="b"/>
            <a:pathLst>
              <a:path w="1904" h="567055">
                <a:moveTo>
                  <a:pt x="1524" y="0"/>
                </a:moveTo>
                <a:lnTo>
                  <a:pt x="0" y="566928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4" name="object 14"/>
          <p:cNvSpPr/>
          <p:nvPr/>
        </p:nvSpPr>
        <p:spPr>
          <a:xfrm>
            <a:off x="6244938" y="3027890"/>
            <a:ext cx="0" cy="758613"/>
          </a:xfrm>
          <a:custGeom>
            <a:avLst/>
            <a:gdLst/>
            <a:ahLst/>
            <a:cxnLst/>
            <a:rect l="l" t="t" r="r" b="b"/>
            <a:pathLst>
              <a:path h="568960">
                <a:moveTo>
                  <a:pt x="0" y="0"/>
                </a:moveTo>
                <a:lnTo>
                  <a:pt x="0" y="568452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5" name="object 15"/>
          <p:cNvSpPr/>
          <p:nvPr/>
        </p:nvSpPr>
        <p:spPr>
          <a:xfrm>
            <a:off x="6630579" y="2379683"/>
            <a:ext cx="136548" cy="555412"/>
          </a:xfrm>
          <a:custGeom>
            <a:avLst/>
            <a:gdLst/>
            <a:ahLst/>
            <a:cxnLst/>
            <a:rect l="l" t="t" r="r" b="b"/>
            <a:pathLst>
              <a:path w="136525" h="416560">
                <a:moveTo>
                  <a:pt x="136398" y="0"/>
                </a:moveTo>
                <a:lnTo>
                  <a:pt x="0" y="416052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6" name="object 16"/>
          <p:cNvSpPr/>
          <p:nvPr/>
        </p:nvSpPr>
        <p:spPr>
          <a:xfrm>
            <a:off x="6767000" y="2379683"/>
            <a:ext cx="184817" cy="555412"/>
          </a:xfrm>
          <a:custGeom>
            <a:avLst/>
            <a:gdLst/>
            <a:ahLst/>
            <a:cxnLst/>
            <a:rect l="l" t="t" r="r" b="b"/>
            <a:pathLst>
              <a:path w="184785" h="416560">
                <a:moveTo>
                  <a:pt x="0" y="0"/>
                </a:moveTo>
                <a:lnTo>
                  <a:pt x="184404" y="416052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7" name="object 17"/>
          <p:cNvSpPr/>
          <p:nvPr/>
        </p:nvSpPr>
        <p:spPr>
          <a:xfrm>
            <a:off x="6629053" y="3027891"/>
            <a:ext cx="1905" cy="756073"/>
          </a:xfrm>
          <a:custGeom>
            <a:avLst/>
            <a:gdLst/>
            <a:ahLst/>
            <a:cxnLst/>
            <a:rect l="l" t="t" r="r" b="b"/>
            <a:pathLst>
              <a:path w="1904" h="567055">
                <a:moveTo>
                  <a:pt x="1524" y="0"/>
                </a:moveTo>
                <a:lnTo>
                  <a:pt x="0" y="566928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8" name="object 18"/>
          <p:cNvSpPr/>
          <p:nvPr/>
        </p:nvSpPr>
        <p:spPr>
          <a:xfrm>
            <a:off x="6951435" y="3027890"/>
            <a:ext cx="0" cy="758613"/>
          </a:xfrm>
          <a:custGeom>
            <a:avLst/>
            <a:gdLst/>
            <a:ahLst/>
            <a:cxnLst/>
            <a:rect l="l" t="t" r="r" b="b"/>
            <a:pathLst>
              <a:path h="568960">
                <a:moveTo>
                  <a:pt x="0" y="0"/>
                </a:moveTo>
                <a:lnTo>
                  <a:pt x="0" y="568452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9" name="object 19"/>
          <p:cNvSpPr/>
          <p:nvPr/>
        </p:nvSpPr>
        <p:spPr>
          <a:xfrm>
            <a:off x="4490510" y="2379684"/>
            <a:ext cx="211491" cy="648545"/>
          </a:xfrm>
          <a:custGeom>
            <a:avLst/>
            <a:gdLst/>
            <a:ahLst/>
            <a:cxnLst/>
            <a:rect l="l" t="t" r="r" b="b"/>
            <a:pathLst>
              <a:path w="211454" h="486410">
                <a:moveTo>
                  <a:pt x="211074" y="0"/>
                </a:moveTo>
                <a:lnTo>
                  <a:pt x="0" y="486156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0" name="object 20"/>
          <p:cNvSpPr/>
          <p:nvPr/>
        </p:nvSpPr>
        <p:spPr>
          <a:xfrm>
            <a:off x="4659703" y="2379684"/>
            <a:ext cx="281989" cy="648545"/>
          </a:xfrm>
          <a:custGeom>
            <a:avLst/>
            <a:gdLst/>
            <a:ahLst/>
            <a:cxnLst/>
            <a:rect l="l" t="t" r="r" b="b"/>
            <a:pathLst>
              <a:path w="281939" h="486410">
                <a:moveTo>
                  <a:pt x="0" y="0"/>
                </a:moveTo>
                <a:lnTo>
                  <a:pt x="281940" y="486156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1" name="object 21"/>
          <p:cNvSpPr/>
          <p:nvPr/>
        </p:nvSpPr>
        <p:spPr>
          <a:xfrm>
            <a:off x="4505752" y="3027891"/>
            <a:ext cx="1905" cy="756073"/>
          </a:xfrm>
          <a:custGeom>
            <a:avLst/>
            <a:gdLst/>
            <a:ahLst/>
            <a:cxnLst/>
            <a:rect l="l" t="t" r="r" b="b"/>
            <a:pathLst>
              <a:path w="1904" h="567055">
                <a:moveTo>
                  <a:pt x="1524" y="0"/>
                </a:moveTo>
                <a:lnTo>
                  <a:pt x="0" y="566928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2" name="object 22"/>
          <p:cNvSpPr/>
          <p:nvPr/>
        </p:nvSpPr>
        <p:spPr>
          <a:xfrm>
            <a:off x="4893677" y="3027890"/>
            <a:ext cx="0" cy="758613"/>
          </a:xfrm>
          <a:custGeom>
            <a:avLst/>
            <a:gdLst/>
            <a:ahLst/>
            <a:cxnLst/>
            <a:rect l="l" t="t" r="r" b="b"/>
            <a:pathLst>
              <a:path h="568960">
                <a:moveTo>
                  <a:pt x="0" y="0"/>
                </a:moveTo>
                <a:lnTo>
                  <a:pt x="0" y="568452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3" name="object 23"/>
          <p:cNvSpPr/>
          <p:nvPr/>
        </p:nvSpPr>
        <p:spPr>
          <a:xfrm>
            <a:off x="5642092" y="1366730"/>
            <a:ext cx="205014" cy="2743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4" name="object 24"/>
          <p:cNvSpPr/>
          <p:nvPr/>
        </p:nvSpPr>
        <p:spPr>
          <a:xfrm>
            <a:off x="4623883" y="2250650"/>
            <a:ext cx="205014" cy="27432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5" name="object 25"/>
          <p:cNvSpPr/>
          <p:nvPr/>
        </p:nvSpPr>
        <p:spPr>
          <a:xfrm>
            <a:off x="5331903" y="2250650"/>
            <a:ext cx="205014" cy="27432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6" name="object 26"/>
          <p:cNvSpPr/>
          <p:nvPr/>
        </p:nvSpPr>
        <p:spPr>
          <a:xfrm>
            <a:off x="5975144" y="2191721"/>
            <a:ext cx="205014" cy="26924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7" name="object 27"/>
          <p:cNvSpPr/>
          <p:nvPr/>
        </p:nvSpPr>
        <p:spPr>
          <a:xfrm>
            <a:off x="6670970" y="2191721"/>
            <a:ext cx="205014" cy="26924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8" name="object 28"/>
          <p:cNvSpPr/>
          <p:nvPr/>
        </p:nvSpPr>
        <p:spPr>
          <a:xfrm>
            <a:off x="4431826" y="2901905"/>
            <a:ext cx="205014" cy="27432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9" name="object 29"/>
          <p:cNvSpPr/>
          <p:nvPr/>
        </p:nvSpPr>
        <p:spPr>
          <a:xfrm>
            <a:off x="4830421" y="2901905"/>
            <a:ext cx="204251" cy="27432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0" name="object 30"/>
          <p:cNvSpPr/>
          <p:nvPr/>
        </p:nvSpPr>
        <p:spPr>
          <a:xfrm>
            <a:off x="5138322" y="2901905"/>
            <a:ext cx="205014" cy="27432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1" name="object 31"/>
          <p:cNvSpPr/>
          <p:nvPr/>
        </p:nvSpPr>
        <p:spPr>
          <a:xfrm>
            <a:off x="5536918" y="2901905"/>
            <a:ext cx="204251" cy="27432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2" name="object 32"/>
          <p:cNvSpPr/>
          <p:nvPr/>
        </p:nvSpPr>
        <p:spPr>
          <a:xfrm>
            <a:off x="5846342" y="2901905"/>
            <a:ext cx="205014" cy="27432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3" name="object 33"/>
          <p:cNvSpPr/>
          <p:nvPr/>
        </p:nvSpPr>
        <p:spPr>
          <a:xfrm>
            <a:off x="6180919" y="2901905"/>
            <a:ext cx="205014" cy="27432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4" name="object 34"/>
          <p:cNvSpPr/>
          <p:nvPr/>
        </p:nvSpPr>
        <p:spPr>
          <a:xfrm>
            <a:off x="6554364" y="2903938"/>
            <a:ext cx="205014" cy="27432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5" name="object 35"/>
          <p:cNvSpPr/>
          <p:nvPr/>
        </p:nvSpPr>
        <p:spPr>
          <a:xfrm>
            <a:off x="6889703" y="2903938"/>
            <a:ext cx="204251" cy="27432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6" name="object 36"/>
          <p:cNvSpPr/>
          <p:nvPr/>
        </p:nvSpPr>
        <p:spPr>
          <a:xfrm>
            <a:off x="4431826" y="3657809"/>
            <a:ext cx="205014" cy="27432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7" name="object 37"/>
          <p:cNvSpPr/>
          <p:nvPr/>
        </p:nvSpPr>
        <p:spPr>
          <a:xfrm>
            <a:off x="4817464" y="3657809"/>
            <a:ext cx="205014" cy="27432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8" name="object 38"/>
          <p:cNvSpPr/>
          <p:nvPr/>
        </p:nvSpPr>
        <p:spPr>
          <a:xfrm>
            <a:off x="5138322" y="3657809"/>
            <a:ext cx="205014" cy="27432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9" name="object 39"/>
          <p:cNvSpPr/>
          <p:nvPr/>
        </p:nvSpPr>
        <p:spPr>
          <a:xfrm>
            <a:off x="5525485" y="3657809"/>
            <a:ext cx="205014" cy="27432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0" name="object 40"/>
          <p:cNvSpPr/>
          <p:nvPr/>
        </p:nvSpPr>
        <p:spPr>
          <a:xfrm>
            <a:off x="5846342" y="3657809"/>
            <a:ext cx="205014" cy="27432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1" name="object 41"/>
          <p:cNvSpPr/>
          <p:nvPr/>
        </p:nvSpPr>
        <p:spPr>
          <a:xfrm>
            <a:off x="6168724" y="3617170"/>
            <a:ext cx="205014" cy="27432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2" name="object 42"/>
          <p:cNvSpPr/>
          <p:nvPr/>
        </p:nvSpPr>
        <p:spPr>
          <a:xfrm>
            <a:off x="6554364" y="3617170"/>
            <a:ext cx="205014" cy="27432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3" name="object 43"/>
          <p:cNvSpPr/>
          <p:nvPr/>
        </p:nvSpPr>
        <p:spPr>
          <a:xfrm>
            <a:off x="6875221" y="3617170"/>
            <a:ext cx="205014" cy="27432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4" name="object 44"/>
          <p:cNvSpPr txBox="1"/>
          <p:nvPr/>
        </p:nvSpPr>
        <p:spPr>
          <a:xfrm>
            <a:off x="1147665" y="4567467"/>
            <a:ext cx="1458982" cy="447131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16933">
              <a:spcBef>
                <a:spcPts val="127"/>
              </a:spcBef>
            </a:pPr>
            <a:r>
              <a:rPr sz="2800" b="1" spc="-7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Cas</a:t>
            </a:r>
            <a:r>
              <a:rPr sz="2800" b="1" spc="-13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e</a:t>
            </a:r>
            <a:r>
              <a:rPr sz="2800" b="1" spc="-7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1:</a:t>
            </a:r>
            <a:endParaRPr sz="2800" dirty="0"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2826644" y="4567467"/>
            <a:ext cx="2208028" cy="447131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16933">
              <a:spcBef>
                <a:spcPts val="127"/>
              </a:spcBef>
            </a:pPr>
            <a:r>
              <a:rPr sz="2800" b="1" spc="-7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&lt;1,4,2&gt;,</a:t>
            </a:r>
            <a:endParaRPr sz="2800" dirty="0"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4773514" y="4567467"/>
            <a:ext cx="2218313" cy="447131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16933">
              <a:spcBef>
                <a:spcPts val="127"/>
              </a:spcBef>
            </a:pPr>
            <a:r>
              <a:rPr sz="2800" b="1" spc="-13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结点</a:t>
            </a:r>
            <a:r>
              <a:rPr sz="2800" b="1" spc="-2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数</a:t>
            </a:r>
            <a:r>
              <a:rPr sz="2800" b="1" spc="-933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800" b="1" spc="-7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21</a:t>
            </a:r>
            <a:endParaRPr sz="2800" dirty="0"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2813057" y="1484587"/>
            <a:ext cx="986961" cy="699347"/>
          </a:xfrm>
          <a:custGeom>
            <a:avLst/>
            <a:gdLst/>
            <a:ahLst/>
            <a:cxnLst/>
            <a:rect l="l" t="t" r="r" b="b"/>
            <a:pathLst>
              <a:path w="986789" h="524510">
                <a:moveTo>
                  <a:pt x="0" y="0"/>
                </a:moveTo>
                <a:lnTo>
                  <a:pt x="986790" y="524256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8" name="object 48"/>
          <p:cNvSpPr/>
          <p:nvPr/>
        </p:nvSpPr>
        <p:spPr>
          <a:xfrm>
            <a:off x="2483054" y="1484587"/>
            <a:ext cx="330258" cy="699347"/>
          </a:xfrm>
          <a:custGeom>
            <a:avLst/>
            <a:gdLst/>
            <a:ahLst/>
            <a:cxnLst/>
            <a:rect l="l" t="t" r="r" b="b"/>
            <a:pathLst>
              <a:path w="330200" h="524510">
                <a:moveTo>
                  <a:pt x="329946" y="0"/>
                </a:moveTo>
                <a:lnTo>
                  <a:pt x="0" y="524256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9" name="object 49"/>
          <p:cNvSpPr/>
          <p:nvPr/>
        </p:nvSpPr>
        <p:spPr>
          <a:xfrm>
            <a:off x="2813058" y="1484587"/>
            <a:ext cx="329622" cy="699347"/>
          </a:xfrm>
          <a:custGeom>
            <a:avLst/>
            <a:gdLst/>
            <a:ahLst/>
            <a:cxnLst/>
            <a:rect l="l" t="t" r="r" b="b"/>
            <a:pathLst>
              <a:path w="329564" h="524510">
                <a:moveTo>
                  <a:pt x="0" y="0"/>
                </a:moveTo>
                <a:lnTo>
                  <a:pt x="329184" y="524256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0" name="object 50"/>
          <p:cNvSpPr/>
          <p:nvPr/>
        </p:nvSpPr>
        <p:spPr>
          <a:xfrm>
            <a:off x="2483054" y="2183594"/>
            <a:ext cx="1905" cy="596053"/>
          </a:xfrm>
          <a:custGeom>
            <a:avLst/>
            <a:gdLst/>
            <a:ahLst/>
            <a:cxnLst/>
            <a:rect l="l" t="t" r="r" b="b"/>
            <a:pathLst>
              <a:path w="1905" h="447039">
                <a:moveTo>
                  <a:pt x="0" y="0"/>
                </a:moveTo>
                <a:lnTo>
                  <a:pt x="1524" y="446531"/>
                </a:lnTo>
              </a:path>
            </a:pathLst>
          </a:custGeom>
          <a:ln w="289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1" name="object 51"/>
          <p:cNvSpPr/>
          <p:nvPr/>
        </p:nvSpPr>
        <p:spPr>
          <a:xfrm>
            <a:off x="2484577" y="3477979"/>
            <a:ext cx="1905" cy="697653"/>
          </a:xfrm>
          <a:custGeom>
            <a:avLst/>
            <a:gdLst/>
            <a:ahLst/>
            <a:cxnLst/>
            <a:rect l="l" t="t" r="r" b="b"/>
            <a:pathLst>
              <a:path w="1905" h="523239">
                <a:moveTo>
                  <a:pt x="1524" y="0"/>
                </a:moveTo>
                <a:lnTo>
                  <a:pt x="0" y="522731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2" name="object 52"/>
          <p:cNvSpPr/>
          <p:nvPr/>
        </p:nvSpPr>
        <p:spPr>
          <a:xfrm>
            <a:off x="2484577" y="2781002"/>
            <a:ext cx="0" cy="699347"/>
          </a:xfrm>
          <a:custGeom>
            <a:avLst/>
            <a:gdLst/>
            <a:ahLst/>
            <a:cxnLst/>
            <a:rect l="l" t="t" r="r" b="b"/>
            <a:pathLst>
              <a:path h="524510">
                <a:moveTo>
                  <a:pt x="0" y="0"/>
                </a:moveTo>
                <a:lnTo>
                  <a:pt x="0" y="524256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3" name="object 53"/>
          <p:cNvSpPr/>
          <p:nvPr/>
        </p:nvSpPr>
        <p:spPr>
          <a:xfrm>
            <a:off x="3142299" y="2183593"/>
            <a:ext cx="1905" cy="695960"/>
          </a:xfrm>
          <a:custGeom>
            <a:avLst/>
            <a:gdLst/>
            <a:ahLst/>
            <a:cxnLst/>
            <a:rect l="l" t="t" r="r" b="b"/>
            <a:pathLst>
              <a:path w="1905" h="521969">
                <a:moveTo>
                  <a:pt x="0" y="0"/>
                </a:moveTo>
                <a:lnTo>
                  <a:pt x="1524" y="521970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4" name="object 54"/>
          <p:cNvSpPr/>
          <p:nvPr/>
        </p:nvSpPr>
        <p:spPr>
          <a:xfrm>
            <a:off x="3142299" y="2781002"/>
            <a:ext cx="1905" cy="697653"/>
          </a:xfrm>
          <a:custGeom>
            <a:avLst/>
            <a:gdLst/>
            <a:ahLst/>
            <a:cxnLst/>
            <a:rect l="l" t="t" r="r" b="b"/>
            <a:pathLst>
              <a:path w="1905" h="523239">
                <a:moveTo>
                  <a:pt x="1524" y="0"/>
                </a:moveTo>
                <a:lnTo>
                  <a:pt x="0" y="522731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5" name="object 55"/>
          <p:cNvSpPr/>
          <p:nvPr/>
        </p:nvSpPr>
        <p:spPr>
          <a:xfrm>
            <a:off x="3602626" y="2183595"/>
            <a:ext cx="197519" cy="597745"/>
          </a:xfrm>
          <a:custGeom>
            <a:avLst/>
            <a:gdLst/>
            <a:ahLst/>
            <a:cxnLst/>
            <a:rect l="l" t="t" r="r" b="b"/>
            <a:pathLst>
              <a:path w="197485" h="448310">
                <a:moveTo>
                  <a:pt x="197357" y="0"/>
                </a:moveTo>
                <a:lnTo>
                  <a:pt x="0" y="448056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6" name="object 56"/>
          <p:cNvSpPr/>
          <p:nvPr/>
        </p:nvSpPr>
        <p:spPr>
          <a:xfrm>
            <a:off x="3800019" y="2183595"/>
            <a:ext cx="264841" cy="597745"/>
          </a:xfrm>
          <a:custGeom>
            <a:avLst/>
            <a:gdLst/>
            <a:ahLst/>
            <a:cxnLst/>
            <a:rect l="l" t="t" r="r" b="b"/>
            <a:pathLst>
              <a:path w="264794" h="448310">
                <a:moveTo>
                  <a:pt x="0" y="0"/>
                </a:moveTo>
                <a:lnTo>
                  <a:pt x="264414" y="448056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7" name="object 57"/>
          <p:cNvSpPr/>
          <p:nvPr/>
        </p:nvSpPr>
        <p:spPr>
          <a:xfrm>
            <a:off x="3602625" y="2781002"/>
            <a:ext cx="1905" cy="697653"/>
          </a:xfrm>
          <a:custGeom>
            <a:avLst/>
            <a:gdLst/>
            <a:ahLst/>
            <a:cxnLst/>
            <a:rect l="l" t="t" r="r" b="b"/>
            <a:pathLst>
              <a:path w="1905" h="523239">
                <a:moveTo>
                  <a:pt x="1524" y="0"/>
                </a:moveTo>
                <a:lnTo>
                  <a:pt x="0" y="522731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8" name="object 58"/>
          <p:cNvSpPr/>
          <p:nvPr/>
        </p:nvSpPr>
        <p:spPr>
          <a:xfrm>
            <a:off x="3143821" y="3477979"/>
            <a:ext cx="0" cy="699347"/>
          </a:xfrm>
          <a:custGeom>
            <a:avLst/>
            <a:gdLst/>
            <a:ahLst/>
            <a:cxnLst/>
            <a:rect l="l" t="t" r="r" b="b"/>
            <a:pathLst>
              <a:path h="524510">
                <a:moveTo>
                  <a:pt x="0" y="0"/>
                </a:moveTo>
                <a:lnTo>
                  <a:pt x="0" y="524256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9" name="object 59"/>
          <p:cNvSpPr/>
          <p:nvPr/>
        </p:nvSpPr>
        <p:spPr>
          <a:xfrm>
            <a:off x="1701106" y="2297386"/>
            <a:ext cx="152426" cy="508000"/>
          </a:xfrm>
          <a:custGeom>
            <a:avLst/>
            <a:gdLst/>
            <a:ahLst/>
            <a:cxnLst/>
            <a:rect l="l" t="t" r="r" b="b"/>
            <a:pathLst>
              <a:path w="152400" h="381000">
                <a:moveTo>
                  <a:pt x="152400" y="0"/>
                </a:moveTo>
                <a:lnTo>
                  <a:pt x="0" y="381000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0" name="object 60"/>
          <p:cNvSpPr/>
          <p:nvPr/>
        </p:nvSpPr>
        <p:spPr>
          <a:xfrm>
            <a:off x="2090174" y="2781510"/>
            <a:ext cx="0" cy="699347"/>
          </a:xfrm>
          <a:custGeom>
            <a:avLst/>
            <a:gdLst/>
            <a:ahLst/>
            <a:cxnLst/>
            <a:rect l="l" t="t" r="r" b="b"/>
            <a:pathLst>
              <a:path h="524510">
                <a:moveTo>
                  <a:pt x="0" y="0"/>
                </a:moveTo>
                <a:lnTo>
                  <a:pt x="0" y="524256"/>
                </a:lnTo>
              </a:path>
            </a:pathLst>
          </a:custGeom>
          <a:ln w="51053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1" name="object 61"/>
          <p:cNvSpPr/>
          <p:nvPr/>
        </p:nvSpPr>
        <p:spPr>
          <a:xfrm>
            <a:off x="2742942" y="1376890"/>
            <a:ext cx="189770" cy="25298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2" name="object 62"/>
          <p:cNvSpPr/>
          <p:nvPr/>
        </p:nvSpPr>
        <p:spPr>
          <a:xfrm>
            <a:off x="1764362" y="2174452"/>
            <a:ext cx="194344" cy="25298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3" name="object 63"/>
          <p:cNvSpPr/>
          <p:nvPr/>
        </p:nvSpPr>
        <p:spPr>
          <a:xfrm>
            <a:off x="2420558" y="2174452"/>
            <a:ext cx="191295" cy="252983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4" name="object 64"/>
          <p:cNvSpPr/>
          <p:nvPr/>
        </p:nvSpPr>
        <p:spPr>
          <a:xfrm>
            <a:off x="3071421" y="2174452"/>
            <a:ext cx="191294" cy="252983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5" name="object 65"/>
          <p:cNvSpPr/>
          <p:nvPr/>
        </p:nvSpPr>
        <p:spPr>
          <a:xfrm>
            <a:off x="3729901" y="2077930"/>
            <a:ext cx="192819" cy="252983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6" name="object 66"/>
          <p:cNvSpPr/>
          <p:nvPr/>
        </p:nvSpPr>
        <p:spPr>
          <a:xfrm>
            <a:off x="1566972" y="2772876"/>
            <a:ext cx="189770" cy="259079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7" name="object 67"/>
          <p:cNvSpPr/>
          <p:nvPr/>
        </p:nvSpPr>
        <p:spPr>
          <a:xfrm>
            <a:off x="2027298" y="2772876"/>
            <a:ext cx="189770" cy="259079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8" name="object 68"/>
          <p:cNvSpPr/>
          <p:nvPr/>
        </p:nvSpPr>
        <p:spPr>
          <a:xfrm>
            <a:off x="2425131" y="2772876"/>
            <a:ext cx="194343" cy="259079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9" name="object 69"/>
          <p:cNvSpPr/>
          <p:nvPr/>
        </p:nvSpPr>
        <p:spPr>
          <a:xfrm>
            <a:off x="3071421" y="2772876"/>
            <a:ext cx="191294" cy="259079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0" name="object 70"/>
          <p:cNvSpPr/>
          <p:nvPr/>
        </p:nvSpPr>
        <p:spPr>
          <a:xfrm>
            <a:off x="3532511" y="2676356"/>
            <a:ext cx="189770" cy="251967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1" name="object 71"/>
          <p:cNvSpPr/>
          <p:nvPr/>
        </p:nvSpPr>
        <p:spPr>
          <a:xfrm>
            <a:off x="3994363" y="2676356"/>
            <a:ext cx="189770" cy="251967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2" name="object 72"/>
          <p:cNvSpPr/>
          <p:nvPr/>
        </p:nvSpPr>
        <p:spPr>
          <a:xfrm>
            <a:off x="2027298" y="3469852"/>
            <a:ext cx="189770" cy="251967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3" name="object 73"/>
          <p:cNvSpPr/>
          <p:nvPr/>
        </p:nvSpPr>
        <p:spPr>
          <a:xfrm>
            <a:off x="2425131" y="4165810"/>
            <a:ext cx="194343" cy="252983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4" name="object 74"/>
          <p:cNvSpPr/>
          <p:nvPr/>
        </p:nvSpPr>
        <p:spPr>
          <a:xfrm>
            <a:off x="2425131" y="3469852"/>
            <a:ext cx="194343" cy="251967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5" name="object 75"/>
          <p:cNvSpPr/>
          <p:nvPr/>
        </p:nvSpPr>
        <p:spPr>
          <a:xfrm>
            <a:off x="3071421" y="3469852"/>
            <a:ext cx="191294" cy="251967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6" name="object 76"/>
          <p:cNvSpPr/>
          <p:nvPr/>
        </p:nvSpPr>
        <p:spPr>
          <a:xfrm>
            <a:off x="3532511" y="3370284"/>
            <a:ext cx="189770" cy="252983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7" name="object 77"/>
          <p:cNvSpPr/>
          <p:nvPr/>
        </p:nvSpPr>
        <p:spPr>
          <a:xfrm>
            <a:off x="3079804" y="4129234"/>
            <a:ext cx="189770" cy="251967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8" name="object 78"/>
          <p:cNvSpPr/>
          <p:nvPr/>
        </p:nvSpPr>
        <p:spPr>
          <a:xfrm>
            <a:off x="1913360" y="1508463"/>
            <a:ext cx="844697" cy="688340"/>
          </a:xfrm>
          <a:custGeom>
            <a:avLst/>
            <a:gdLst/>
            <a:ahLst/>
            <a:cxnLst/>
            <a:rect l="l" t="t" r="r" b="b"/>
            <a:pathLst>
              <a:path w="844550" h="516255">
                <a:moveTo>
                  <a:pt x="844550" y="0"/>
                </a:moveTo>
                <a:lnTo>
                  <a:pt x="0" y="515937"/>
                </a:lnTo>
              </a:path>
            </a:pathLst>
          </a:custGeom>
          <a:ln w="51053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9" name="object 79"/>
          <p:cNvSpPr/>
          <p:nvPr/>
        </p:nvSpPr>
        <p:spPr>
          <a:xfrm>
            <a:off x="1929364" y="2297893"/>
            <a:ext cx="177831" cy="523240"/>
          </a:xfrm>
          <a:custGeom>
            <a:avLst/>
            <a:gdLst/>
            <a:ahLst/>
            <a:cxnLst/>
            <a:rect l="l" t="t" r="r" b="b"/>
            <a:pathLst>
              <a:path w="177800" h="392430">
                <a:moveTo>
                  <a:pt x="177800" y="392112"/>
                </a:moveTo>
                <a:lnTo>
                  <a:pt x="0" y="0"/>
                </a:lnTo>
              </a:path>
            </a:pathLst>
          </a:custGeom>
          <a:ln w="51053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769335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49673" y="268541"/>
            <a:ext cx="3902058" cy="632651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4000" b="1" spc="-13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随机选择路径</a:t>
            </a:r>
            <a:r>
              <a:rPr sz="4000" b="1" spc="-2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99234" y="5333323"/>
            <a:ext cx="1423922" cy="447131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16933">
              <a:spcBef>
                <a:spcPts val="127"/>
              </a:spcBef>
            </a:pPr>
            <a:r>
              <a:rPr sz="2800" b="1" spc="-7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Cas</a:t>
            </a:r>
            <a:r>
              <a:rPr sz="2800" b="1" spc="-13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e</a:t>
            </a:r>
            <a:r>
              <a:rPr sz="2800" b="1" spc="-7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1:</a:t>
            </a:r>
            <a:endParaRPr sz="2800" dirty="0"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343153" y="5333323"/>
            <a:ext cx="1975828" cy="447131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16933">
              <a:spcBef>
                <a:spcPts val="127"/>
              </a:spcBef>
            </a:pPr>
            <a:r>
              <a:rPr sz="2800" b="1" spc="-7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&lt;2,4,1,3&gt;,</a:t>
            </a:r>
            <a:endParaRPr sz="2800" dirty="0"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125403" y="5333323"/>
            <a:ext cx="2547149" cy="447131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16933">
              <a:spcBef>
                <a:spcPts val="127"/>
              </a:spcBef>
            </a:pPr>
            <a:r>
              <a:rPr sz="2800" b="1" spc="-13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结点</a:t>
            </a:r>
            <a:r>
              <a:rPr sz="2800" b="1" spc="-2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数</a:t>
            </a:r>
            <a:r>
              <a:rPr sz="2800" b="1" spc="-947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800" b="1" spc="-7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17</a:t>
            </a:r>
            <a:endParaRPr sz="2800" dirty="0"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711561" y="2754620"/>
            <a:ext cx="0" cy="756920"/>
          </a:xfrm>
          <a:custGeom>
            <a:avLst/>
            <a:gdLst/>
            <a:ahLst/>
            <a:cxnLst/>
            <a:rect l="l" t="t" r="r" b="b"/>
            <a:pathLst>
              <a:path h="567689">
                <a:moveTo>
                  <a:pt x="0" y="0"/>
                </a:moveTo>
                <a:lnTo>
                  <a:pt x="0" y="567690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" name="object 7"/>
          <p:cNvSpPr/>
          <p:nvPr/>
        </p:nvSpPr>
        <p:spPr>
          <a:xfrm>
            <a:off x="6007186" y="4098790"/>
            <a:ext cx="0" cy="758613"/>
          </a:xfrm>
          <a:custGeom>
            <a:avLst/>
            <a:gdLst/>
            <a:ahLst/>
            <a:cxnLst/>
            <a:rect l="l" t="t" r="r" b="b"/>
            <a:pathLst>
              <a:path h="568960">
                <a:moveTo>
                  <a:pt x="0" y="0"/>
                </a:moveTo>
                <a:lnTo>
                  <a:pt x="0" y="568452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" name="object 8"/>
          <p:cNvSpPr/>
          <p:nvPr/>
        </p:nvSpPr>
        <p:spPr>
          <a:xfrm>
            <a:off x="4711562" y="1911340"/>
            <a:ext cx="883438" cy="711200"/>
          </a:xfrm>
          <a:custGeom>
            <a:avLst/>
            <a:gdLst/>
            <a:ahLst/>
            <a:cxnLst/>
            <a:rect l="l" t="t" r="r" b="b"/>
            <a:pathLst>
              <a:path w="883285" h="533400">
                <a:moveTo>
                  <a:pt x="883158" y="0"/>
                </a:moveTo>
                <a:lnTo>
                  <a:pt x="0" y="533400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" name="object 9"/>
          <p:cNvSpPr/>
          <p:nvPr/>
        </p:nvSpPr>
        <p:spPr>
          <a:xfrm>
            <a:off x="5587251" y="1911340"/>
            <a:ext cx="1036499" cy="756920"/>
          </a:xfrm>
          <a:custGeom>
            <a:avLst/>
            <a:gdLst/>
            <a:ahLst/>
            <a:cxnLst/>
            <a:rect l="l" t="t" r="r" b="b"/>
            <a:pathLst>
              <a:path w="1036320" h="567689">
                <a:moveTo>
                  <a:pt x="0" y="0"/>
                </a:moveTo>
                <a:lnTo>
                  <a:pt x="1036319" y="567690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0" name="object 10"/>
          <p:cNvSpPr/>
          <p:nvPr/>
        </p:nvSpPr>
        <p:spPr>
          <a:xfrm>
            <a:off x="5321268" y="1911340"/>
            <a:ext cx="273732" cy="711200"/>
          </a:xfrm>
          <a:custGeom>
            <a:avLst/>
            <a:gdLst/>
            <a:ahLst/>
            <a:cxnLst/>
            <a:rect l="l" t="t" r="r" b="b"/>
            <a:pathLst>
              <a:path w="273685" h="533400">
                <a:moveTo>
                  <a:pt x="273558" y="0"/>
                </a:moveTo>
                <a:lnTo>
                  <a:pt x="0" y="533400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1" name="object 11"/>
          <p:cNvSpPr/>
          <p:nvPr/>
        </p:nvSpPr>
        <p:spPr>
          <a:xfrm>
            <a:off x="5594873" y="1911340"/>
            <a:ext cx="412821" cy="711200"/>
          </a:xfrm>
          <a:custGeom>
            <a:avLst/>
            <a:gdLst/>
            <a:ahLst/>
            <a:cxnLst/>
            <a:rect l="l" t="t" r="r" b="b"/>
            <a:pathLst>
              <a:path w="412750" h="533400">
                <a:moveTo>
                  <a:pt x="0" y="0"/>
                </a:moveTo>
                <a:lnTo>
                  <a:pt x="412242" y="533400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2" name="object 12"/>
          <p:cNvSpPr/>
          <p:nvPr/>
        </p:nvSpPr>
        <p:spPr>
          <a:xfrm>
            <a:off x="5319742" y="3390637"/>
            <a:ext cx="1905" cy="755227"/>
          </a:xfrm>
          <a:custGeom>
            <a:avLst/>
            <a:gdLst/>
            <a:ahLst/>
            <a:cxnLst/>
            <a:rect l="l" t="t" r="r" b="b"/>
            <a:pathLst>
              <a:path w="1904" h="566419">
                <a:moveTo>
                  <a:pt x="1524" y="0"/>
                </a:moveTo>
                <a:lnTo>
                  <a:pt x="0" y="566166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3" name="object 13"/>
          <p:cNvSpPr/>
          <p:nvPr/>
        </p:nvSpPr>
        <p:spPr>
          <a:xfrm>
            <a:off x="5318981" y="2724140"/>
            <a:ext cx="0" cy="756920"/>
          </a:xfrm>
          <a:custGeom>
            <a:avLst/>
            <a:gdLst/>
            <a:ahLst/>
            <a:cxnLst/>
            <a:rect l="l" t="t" r="r" b="b"/>
            <a:pathLst>
              <a:path h="567689">
                <a:moveTo>
                  <a:pt x="0" y="0"/>
                </a:moveTo>
                <a:lnTo>
                  <a:pt x="0" y="567690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4" name="object 14"/>
          <p:cNvSpPr/>
          <p:nvPr/>
        </p:nvSpPr>
        <p:spPr>
          <a:xfrm>
            <a:off x="5319742" y="4145525"/>
            <a:ext cx="1905" cy="755227"/>
          </a:xfrm>
          <a:custGeom>
            <a:avLst/>
            <a:gdLst/>
            <a:ahLst/>
            <a:cxnLst/>
            <a:rect l="l" t="t" r="r" b="b"/>
            <a:pathLst>
              <a:path w="1904" h="566420">
                <a:moveTo>
                  <a:pt x="1524" y="0"/>
                </a:moveTo>
                <a:lnTo>
                  <a:pt x="0" y="566166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5" name="object 15"/>
          <p:cNvSpPr/>
          <p:nvPr/>
        </p:nvSpPr>
        <p:spPr>
          <a:xfrm>
            <a:off x="6007186" y="3316469"/>
            <a:ext cx="0" cy="756920"/>
          </a:xfrm>
          <a:custGeom>
            <a:avLst/>
            <a:gdLst/>
            <a:ahLst/>
            <a:cxnLst/>
            <a:rect l="l" t="t" r="r" b="b"/>
            <a:pathLst>
              <a:path h="567689">
                <a:moveTo>
                  <a:pt x="0" y="0"/>
                </a:moveTo>
                <a:lnTo>
                  <a:pt x="0" y="567690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6" name="object 16"/>
          <p:cNvSpPr/>
          <p:nvPr/>
        </p:nvSpPr>
        <p:spPr>
          <a:xfrm>
            <a:off x="5536950" y="1804661"/>
            <a:ext cx="205014" cy="2722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7" name="object 17"/>
          <p:cNvSpPr/>
          <p:nvPr/>
        </p:nvSpPr>
        <p:spPr>
          <a:xfrm>
            <a:off x="4620868" y="2576820"/>
            <a:ext cx="204251" cy="27330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8" name="object 18"/>
          <p:cNvSpPr/>
          <p:nvPr/>
        </p:nvSpPr>
        <p:spPr>
          <a:xfrm>
            <a:off x="5230574" y="2576820"/>
            <a:ext cx="204251" cy="27330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9" name="object 19"/>
          <p:cNvSpPr/>
          <p:nvPr/>
        </p:nvSpPr>
        <p:spPr>
          <a:xfrm>
            <a:off x="5911919" y="2515860"/>
            <a:ext cx="204251" cy="27228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0" name="object 20"/>
          <p:cNvSpPr/>
          <p:nvPr/>
        </p:nvSpPr>
        <p:spPr>
          <a:xfrm>
            <a:off x="5927925" y="4725661"/>
            <a:ext cx="204251" cy="27228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1" name="object 21"/>
          <p:cNvSpPr/>
          <p:nvPr/>
        </p:nvSpPr>
        <p:spPr>
          <a:xfrm>
            <a:off x="5911919" y="3227060"/>
            <a:ext cx="204251" cy="27228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2" name="object 22"/>
          <p:cNvSpPr/>
          <p:nvPr/>
        </p:nvSpPr>
        <p:spPr>
          <a:xfrm>
            <a:off x="5230574" y="4014460"/>
            <a:ext cx="204251" cy="27228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3" name="object 23"/>
          <p:cNvSpPr/>
          <p:nvPr/>
        </p:nvSpPr>
        <p:spPr>
          <a:xfrm>
            <a:off x="5230574" y="3305293"/>
            <a:ext cx="204251" cy="27330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4" name="object 24"/>
          <p:cNvSpPr/>
          <p:nvPr/>
        </p:nvSpPr>
        <p:spPr>
          <a:xfrm>
            <a:off x="5242006" y="4738869"/>
            <a:ext cx="204251" cy="27228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5" name="object 25"/>
          <p:cNvSpPr/>
          <p:nvPr/>
        </p:nvSpPr>
        <p:spPr>
          <a:xfrm>
            <a:off x="5911919" y="3940293"/>
            <a:ext cx="204251" cy="27330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6" name="object 26"/>
          <p:cNvSpPr/>
          <p:nvPr/>
        </p:nvSpPr>
        <p:spPr>
          <a:xfrm>
            <a:off x="6007186" y="2724141"/>
            <a:ext cx="0" cy="575733"/>
          </a:xfrm>
          <a:custGeom>
            <a:avLst/>
            <a:gdLst/>
            <a:ahLst/>
            <a:cxnLst/>
            <a:rect l="l" t="t" r="r" b="b"/>
            <a:pathLst>
              <a:path h="431800">
                <a:moveTo>
                  <a:pt x="0" y="0"/>
                </a:moveTo>
                <a:lnTo>
                  <a:pt x="0" y="431292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7" name="object 27"/>
          <p:cNvSpPr/>
          <p:nvPr/>
        </p:nvSpPr>
        <p:spPr>
          <a:xfrm>
            <a:off x="4710036" y="3421117"/>
            <a:ext cx="1905" cy="755227"/>
          </a:xfrm>
          <a:custGeom>
            <a:avLst/>
            <a:gdLst/>
            <a:ahLst/>
            <a:cxnLst/>
            <a:rect l="l" t="t" r="r" b="b"/>
            <a:pathLst>
              <a:path w="1904" h="566419">
                <a:moveTo>
                  <a:pt x="1524" y="0"/>
                </a:moveTo>
                <a:lnTo>
                  <a:pt x="0" y="566166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8" name="object 28"/>
          <p:cNvSpPr/>
          <p:nvPr/>
        </p:nvSpPr>
        <p:spPr>
          <a:xfrm>
            <a:off x="4710036" y="4176006"/>
            <a:ext cx="1905" cy="755227"/>
          </a:xfrm>
          <a:custGeom>
            <a:avLst/>
            <a:gdLst/>
            <a:ahLst/>
            <a:cxnLst/>
            <a:rect l="l" t="t" r="r" b="b"/>
            <a:pathLst>
              <a:path w="1904" h="566420">
                <a:moveTo>
                  <a:pt x="1524" y="0"/>
                </a:moveTo>
                <a:lnTo>
                  <a:pt x="0" y="566166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9" name="object 29"/>
          <p:cNvSpPr/>
          <p:nvPr/>
        </p:nvSpPr>
        <p:spPr>
          <a:xfrm>
            <a:off x="4633823" y="4043924"/>
            <a:ext cx="204251" cy="27330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0" name="object 30"/>
          <p:cNvSpPr/>
          <p:nvPr/>
        </p:nvSpPr>
        <p:spPr>
          <a:xfrm>
            <a:off x="4632300" y="3334756"/>
            <a:ext cx="204251" cy="27330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1" name="object 31"/>
          <p:cNvSpPr/>
          <p:nvPr/>
        </p:nvSpPr>
        <p:spPr>
          <a:xfrm>
            <a:off x="4632300" y="4770364"/>
            <a:ext cx="204251" cy="27228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2" name="object 32"/>
          <p:cNvSpPr/>
          <p:nvPr/>
        </p:nvSpPr>
        <p:spPr>
          <a:xfrm>
            <a:off x="6614607" y="3377429"/>
            <a:ext cx="1905" cy="755227"/>
          </a:xfrm>
          <a:custGeom>
            <a:avLst/>
            <a:gdLst/>
            <a:ahLst/>
            <a:cxnLst/>
            <a:rect l="l" t="t" r="r" b="b"/>
            <a:pathLst>
              <a:path w="1904" h="566419">
                <a:moveTo>
                  <a:pt x="1524" y="0"/>
                </a:moveTo>
                <a:lnTo>
                  <a:pt x="0" y="566166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3" name="object 33"/>
          <p:cNvSpPr/>
          <p:nvPr/>
        </p:nvSpPr>
        <p:spPr>
          <a:xfrm>
            <a:off x="6616129" y="2709918"/>
            <a:ext cx="0" cy="758613"/>
          </a:xfrm>
          <a:custGeom>
            <a:avLst/>
            <a:gdLst/>
            <a:ahLst/>
            <a:cxnLst/>
            <a:rect l="l" t="t" r="r" b="b"/>
            <a:pathLst>
              <a:path h="568960">
                <a:moveTo>
                  <a:pt x="0" y="0"/>
                </a:moveTo>
                <a:lnTo>
                  <a:pt x="0" y="568452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4" name="object 34"/>
          <p:cNvSpPr/>
          <p:nvPr/>
        </p:nvSpPr>
        <p:spPr>
          <a:xfrm>
            <a:off x="6614607" y="4132318"/>
            <a:ext cx="1905" cy="755227"/>
          </a:xfrm>
          <a:custGeom>
            <a:avLst/>
            <a:gdLst/>
            <a:ahLst/>
            <a:cxnLst/>
            <a:rect l="l" t="t" r="r" b="b"/>
            <a:pathLst>
              <a:path w="1904" h="566420">
                <a:moveTo>
                  <a:pt x="1524" y="0"/>
                </a:moveTo>
                <a:lnTo>
                  <a:pt x="0" y="566166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5" name="object 35"/>
          <p:cNvSpPr/>
          <p:nvPr/>
        </p:nvSpPr>
        <p:spPr>
          <a:xfrm>
            <a:off x="6526199" y="2562597"/>
            <a:ext cx="204251" cy="27228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6" name="object 36"/>
          <p:cNvSpPr/>
          <p:nvPr/>
        </p:nvSpPr>
        <p:spPr>
          <a:xfrm>
            <a:off x="6526199" y="3999220"/>
            <a:ext cx="204251" cy="27330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7" name="object 37"/>
          <p:cNvSpPr/>
          <p:nvPr/>
        </p:nvSpPr>
        <p:spPr>
          <a:xfrm>
            <a:off x="6526199" y="3291069"/>
            <a:ext cx="204251" cy="27228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8" name="object 38"/>
          <p:cNvSpPr/>
          <p:nvPr/>
        </p:nvSpPr>
        <p:spPr>
          <a:xfrm>
            <a:off x="6526199" y="4725661"/>
            <a:ext cx="204251" cy="27228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9" name="object 39"/>
          <p:cNvSpPr/>
          <p:nvPr/>
        </p:nvSpPr>
        <p:spPr>
          <a:xfrm>
            <a:off x="2849672" y="2125718"/>
            <a:ext cx="986961" cy="699347"/>
          </a:xfrm>
          <a:custGeom>
            <a:avLst/>
            <a:gdLst/>
            <a:ahLst/>
            <a:cxnLst/>
            <a:rect l="l" t="t" r="r" b="b"/>
            <a:pathLst>
              <a:path w="986789" h="524510">
                <a:moveTo>
                  <a:pt x="0" y="0"/>
                </a:moveTo>
                <a:lnTo>
                  <a:pt x="986790" y="524256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0" name="object 40"/>
          <p:cNvSpPr/>
          <p:nvPr/>
        </p:nvSpPr>
        <p:spPr>
          <a:xfrm>
            <a:off x="2575685" y="2126224"/>
            <a:ext cx="274368" cy="711200"/>
          </a:xfrm>
          <a:custGeom>
            <a:avLst/>
            <a:gdLst/>
            <a:ahLst/>
            <a:cxnLst/>
            <a:rect l="l" t="t" r="r" b="b"/>
            <a:pathLst>
              <a:path w="274319" h="533400">
                <a:moveTo>
                  <a:pt x="274319" y="0"/>
                </a:moveTo>
                <a:lnTo>
                  <a:pt x="0" y="533400"/>
                </a:lnTo>
              </a:path>
            </a:pathLst>
          </a:custGeom>
          <a:ln w="51053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1" name="object 41"/>
          <p:cNvSpPr/>
          <p:nvPr/>
        </p:nvSpPr>
        <p:spPr>
          <a:xfrm>
            <a:off x="2849673" y="2125718"/>
            <a:ext cx="329622" cy="699347"/>
          </a:xfrm>
          <a:custGeom>
            <a:avLst/>
            <a:gdLst/>
            <a:ahLst/>
            <a:cxnLst/>
            <a:rect l="l" t="t" r="r" b="b"/>
            <a:pathLst>
              <a:path w="329564" h="524510">
                <a:moveTo>
                  <a:pt x="0" y="0"/>
                </a:moveTo>
                <a:lnTo>
                  <a:pt x="329184" y="524256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2" name="object 42"/>
          <p:cNvSpPr/>
          <p:nvPr/>
        </p:nvSpPr>
        <p:spPr>
          <a:xfrm>
            <a:off x="2574162" y="2825233"/>
            <a:ext cx="1905" cy="596053"/>
          </a:xfrm>
          <a:custGeom>
            <a:avLst/>
            <a:gdLst/>
            <a:ahLst/>
            <a:cxnLst/>
            <a:rect l="l" t="t" r="r" b="b"/>
            <a:pathLst>
              <a:path w="1905" h="447039">
                <a:moveTo>
                  <a:pt x="762" y="-25526"/>
                </a:moveTo>
                <a:lnTo>
                  <a:pt x="762" y="472058"/>
                </a:lnTo>
              </a:path>
            </a:pathLst>
          </a:custGeom>
          <a:ln w="52578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3" name="object 43"/>
          <p:cNvSpPr/>
          <p:nvPr/>
        </p:nvSpPr>
        <p:spPr>
          <a:xfrm>
            <a:off x="2574162" y="4119618"/>
            <a:ext cx="1905" cy="697653"/>
          </a:xfrm>
          <a:custGeom>
            <a:avLst/>
            <a:gdLst/>
            <a:ahLst/>
            <a:cxnLst/>
            <a:rect l="l" t="t" r="r" b="b"/>
            <a:pathLst>
              <a:path w="1905" h="523239">
                <a:moveTo>
                  <a:pt x="1524" y="0"/>
                </a:moveTo>
                <a:lnTo>
                  <a:pt x="0" y="522731"/>
                </a:lnTo>
              </a:path>
            </a:pathLst>
          </a:custGeom>
          <a:ln w="51053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4" name="object 44"/>
          <p:cNvSpPr/>
          <p:nvPr/>
        </p:nvSpPr>
        <p:spPr>
          <a:xfrm>
            <a:off x="2575685" y="3422641"/>
            <a:ext cx="0" cy="699347"/>
          </a:xfrm>
          <a:custGeom>
            <a:avLst/>
            <a:gdLst/>
            <a:ahLst/>
            <a:cxnLst/>
            <a:rect l="l" t="t" r="r" b="b"/>
            <a:pathLst>
              <a:path h="524510">
                <a:moveTo>
                  <a:pt x="0" y="0"/>
                </a:moveTo>
                <a:lnTo>
                  <a:pt x="0" y="524256"/>
                </a:lnTo>
              </a:path>
            </a:pathLst>
          </a:custGeom>
          <a:ln w="51053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5" name="object 45"/>
          <p:cNvSpPr/>
          <p:nvPr/>
        </p:nvSpPr>
        <p:spPr>
          <a:xfrm>
            <a:off x="3178914" y="2824724"/>
            <a:ext cx="1905" cy="695960"/>
          </a:xfrm>
          <a:custGeom>
            <a:avLst/>
            <a:gdLst/>
            <a:ahLst/>
            <a:cxnLst/>
            <a:rect l="l" t="t" r="r" b="b"/>
            <a:pathLst>
              <a:path w="1905" h="521969">
                <a:moveTo>
                  <a:pt x="0" y="0"/>
                </a:moveTo>
                <a:lnTo>
                  <a:pt x="1524" y="521970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6" name="object 46"/>
          <p:cNvSpPr/>
          <p:nvPr/>
        </p:nvSpPr>
        <p:spPr>
          <a:xfrm>
            <a:off x="3178914" y="3422133"/>
            <a:ext cx="1905" cy="697653"/>
          </a:xfrm>
          <a:custGeom>
            <a:avLst/>
            <a:gdLst/>
            <a:ahLst/>
            <a:cxnLst/>
            <a:rect l="l" t="t" r="r" b="b"/>
            <a:pathLst>
              <a:path w="1905" h="523239">
                <a:moveTo>
                  <a:pt x="1524" y="0"/>
                </a:moveTo>
                <a:lnTo>
                  <a:pt x="0" y="522731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7" name="object 47"/>
          <p:cNvSpPr/>
          <p:nvPr/>
        </p:nvSpPr>
        <p:spPr>
          <a:xfrm>
            <a:off x="3639242" y="2824726"/>
            <a:ext cx="197519" cy="597745"/>
          </a:xfrm>
          <a:custGeom>
            <a:avLst/>
            <a:gdLst/>
            <a:ahLst/>
            <a:cxnLst/>
            <a:rect l="l" t="t" r="r" b="b"/>
            <a:pathLst>
              <a:path w="197485" h="448310">
                <a:moveTo>
                  <a:pt x="197357" y="0"/>
                </a:moveTo>
                <a:lnTo>
                  <a:pt x="0" y="448056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8" name="object 48"/>
          <p:cNvSpPr/>
          <p:nvPr/>
        </p:nvSpPr>
        <p:spPr>
          <a:xfrm>
            <a:off x="3836634" y="2824726"/>
            <a:ext cx="264841" cy="597745"/>
          </a:xfrm>
          <a:custGeom>
            <a:avLst/>
            <a:gdLst/>
            <a:ahLst/>
            <a:cxnLst/>
            <a:rect l="l" t="t" r="r" b="b"/>
            <a:pathLst>
              <a:path w="264794" h="448310">
                <a:moveTo>
                  <a:pt x="0" y="0"/>
                </a:moveTo>
                <a:lnTo>
                  <a:pt x="264414" y="448056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9" name="object 49"/>
          <p:cNvSpPr/>
          <p:nvPr/>
        </p:nvSpPr>
        <p:spPr>
          <a:xfrm>
            <a:off x="3639241" y="3422133"/>
            <a:ext cx="1905" cy="697653"/>
          </a:xfrm>
          <a:custGeom>
            <a:avLst/>
            <a:gdLst/>
            <a:ahLst/>
            <a:cxnLst/>
            <a:rect l="l" t="t" r="r" b="b"/>
            <a:pathLst>
              <a:path w="1905" h="523239">
                <a:moveTo>
                  <a:pt x="1524" y="0"/>
                </a:moveTo>
                <a:lnTo>
                  <a:pt x="0" y="522731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0" name="object 50"/>
          <p:cNvSpPr/>
          <p:nvPr/>
        </p:nvSpPr>
        <p:spPr>
          <a:xfrm>
            <a:off x="3180437" y="4119110"/>
            <a:ext cx="0" cy="699347"/>
          </a:xfrm>
          <a:custGeom>
            <a:avLst/>
            <a:gdLst/>
            <a:ahLst/>
            <a:cxnLst/>
            <a:rect l="l" t="t" r="r" b="b"/>
            <a:pathLst>
              <a:path h="524510">
                <a:moveTo>
                  <a:pt x="0" y="0"/>
                </a:moveTo>
                <a:lnTo>
                  <a:pt x="0" y="524256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1" name="object 51"/>
          <p:cNvSpPr/>
          <p:nvPr/>
        </p:nvSpPr>
        <p:spPr>
          <a:xfrm>
            <a:off x="1862711" y="2824726"/>
            <a:ext cx="264206" cy="597745"/>
          </a:xfrm>
          <a:custGeom>
            <a:avLst/>
            <a:gdLst/>
            <a:ahLst/>
            <a:cxnLst/>
            <a:rect l="l" t="t" r="r" b="b"/>
            <a:pathLst>
              <a:path w="264159" h="448310">
                <a:moveTo>
                  <a:pt x="0" y="0"/>
                </a:moveTo>
                <a:lnTo>
                  <a:pt x="263652" y="448056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2" name="object 52"/>
          <p:cNvSpPr/>
          <p:nvPr/>
        </p:nvSpPr>
        <p:spPr>
          <a:xfrm>
            <a:off x="2126408" y="3422133"/>
            <a:ext cx="0" cy="699347"/>
          </a:xfrm>
          <a:custGeom>
            <a:avLst/>
            <a:gdLst/>
            <a:ahLst/>
            <a:cxnLst/>
            <a:rect l="l" t="t" r="r" b="b"/>
            <a:pathLst>
              <a:path h="524510">
                <a:moveTo>
                  <a:pt x="0" y="0"/>
                </a:moveTo>
                <a:lnTo>
                  <a:pt x="0" y="524256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3" name="object 53"/>
          <p:cNvSpPr/>
          <p:nvPr/>
        </p:nvSpPr>
        <p:spPr>
          <a:xfrm>
            <a:off x="2779557" y="2018021"/>
            <a:ext cx="189770" cy="25298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4" name="object 54"/>
          <p:cNvSpPr/>
          <p:nvPr/>
        </p:nvSpPr>
        <p:spPr>
          <a:xfrm>
            <a:off x="1800978" y="2815583"/>
            <a:ext cx="194344" cy="25298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5" name="object 55"/>
          <p:cNvSpPr/>
          <p:nvPr/>
        </p:nvSpPr>
        <p:spPr>
          <a:xfrm>
            <a:off x="2457173" y="2815583"/>
            <a:ext cx="191295" cy="25298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6" name="object 56"/>
          <p:cNvSpPr/>
          <p:nvPr/>
        </p:nvSpPr>
        <p:spPr>
          <a:xfrm>
            <a:off x="3108036" y="2815583"/>
            <a:ext cx="191294" cy="25298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7" name="object 57"/>
          <p:cNvSpPr/>
          <p:nvPr/>
        </p:nvSpPr>
        <p:spPr>
          <a:xfrm>
            <a:off x="3766517" y="2719061"/>
            <a:ext cx="192819" cy="252983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8" name="object 58"/>
          <p:cNvSpPr/>
          <p:nvPr/>
        </p:nvSpPr>
        <p:spPr>
          <a:xfrm>
            <a:off x="1608539" y="3420611"/>
            <a:ext cx="179862" cy="245871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9" name="object 59"/>
          <p:cNvSpPr/>
          <p:nvPr/>
        </p:nvSpPr>
        <p:spPr>
          <a:xfrm>
            <a:off x="2063913" y="3414007"/>
            <a:ext cx="189770" cy="259079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0" name="object 60"/>
          <p:cNvSpPr/>
          <p:nvPr/>
        </p:nvSpPr>
        <p:spPr>
          <a:xfrm>
            <a:off x="2461746" y="3414007"/>
            <a:ext cx="194343" cy="259079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1" name="object 61"/>
          <p:cNvSpPr/>
          <p:nvPr/>
        </p:nvSpPr>
        <p:spPr>
          <a:xfrm>
            <a:off x="3108036" y="3414007"/>
            <a:ext cx="191294" cy="259079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2" name="object 62"/>
          <p:cNvSpPr/>
          <p:nvPr/>
        </p:nvSpPr>
        <p:spPr>
          <a:xfrm>
            <a:off x="3569126" y="3317487"/>
            <a:ext cx="189770" cy="251967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3" name="object 63"/>
          <p:cNvSpPr/>
          <p:nvPr/>
        </p:nvSpPr>
        <p:spPr>
          <a:xfrm>
            <a:off x="4030978" y="3317487"/>
            <a:ext cx="189770" cy="251967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4" name="object 64"/>
          <p:cNvSpPr/>
          <p:nvPr/>
        </p:nvSpPr>
        <p:spPr>
          <a:xfrm>
            <a:off x="2063913" y="4110983"/>
            <a:ext cx="189770" cy="251967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5" name="object 65"/>
          <p:cNvSpPr/>
          <p:nvPr/>
        </p:nvSpPr>
        <p:spPr>
          <a:xfrm>
            <a:off x="2461746" y="4806941"/>
            <a:ext cx="194343" cy="252983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6" name="object 66"/>
          <p:cNvSpPr/>
          <p:nvPr/>
        </p:nvSpPr>
        <p:spPr>
          <a:xfrm>
            <a:off x="2461746" y="4110983"/>
            <a:ext cx="194343" cy="251967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7" name="object 67"/>
          <p:cNvSpPr/>
          <p:nvPr/>
        </p:nvSpPr>
        <p:spPr>
          <a:xfrm>
            <a:off x="3108036" y="4110983"/>
            <a:ext cx="191294" cy="251967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8" name="object 68"/>
          <p:cNvSpPr/>
          <p:nvPr/>
        </p:nvSpPr>
        <p:spPr>
          <a:xfrm>
            <a:off x="3569126" y="4011415"/>
            <a:ext cx="189770" cy="252983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9" name="object 69"/>
          <p:cNvSpPr/>
          <p:nvPr/>
        </p:nvSpPr>
        <p:spPr>
          <a:xfrm>
            <a:off x="3116420" y="4770365"/>
            <a:ext cx="189770" cy="251967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0" name="object 70"/>
          <p:cNvSpPr/>
          <p:nvPr/>
        </p:nvSpPr>
        <p:spPr>
          <a:xfrm>
            <a:off x="1949975" y="2149594"/>
            <a:ext cx="844697" cy="688340"/>
          </a:xfrm>
          <a:custGeom>
            <a:avLst/>
            <a:gdLst/>
            <a:ahLst/>
            <a:cxnLst/>
            <a:rect l="l" t="t" r="r" b="b"/>
            <a:pathLst>
              <a:path w="844550" h="516255">
                <a:moveTo>
                  <a:pt x="844550" y="0"/>
                </a:moveTo>
                <a:lnTo>
                  <a:pt x="0" y="515937"/>
                </a:lnTo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1" name="object 71"/>
          <p:cNvSpPr/>
          <p:nvPr/>
        </p:nvSpPr>
        <p:spPr>
          <a:xfrm>
            <a:off x="1699233" y="3021321"/>
            <a:ext cx="107968" cy="397933"/>
          </a:xfrm>
          <a:custGeom>
            <a:avLst/>
            <a:gdLst/>
            <a:ahLst/>
            <a:cxnLst/>
            <a:rect l="l" t="t" r="r" b="b"/>
            <a:pathLst>
              <a:path w="107950" h="298450">
                <a:moveTo>
                  <a:pt x="0" y="298450"/>
                </a:moveTo>
                <a:lnTo>
                  <a:pt x="107950" y="0"/>
                </a:lnTo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220420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50875" y="393002"/>
            <a:ext cx="3334329" cy="632651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4000" b="1" spc="-13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随机选择路径</a:t>
            </a:r>
            <a:r>
              <a:rPr sz="4000" b="1" spc="-20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3" name="object 3"/>
          <p:cNvSpPr/>
          <p:nvPr/>
        </p:nvSpPr>
        <p:spPr>
          <a:xfrm>
            <a:off x="3010160" y="1516118"/>
            <a:ext cx="986961" cy="699347"/>
          </a:xfrm>
          <a:custGeom>
            <a:avLst/>
            <a:gdLst/>
            <a:ahLst/>
            <a:cxnLst/>
            <a:rect l="l" t="t" r="r" b="b"/>
            <a:pathLst>
              <a:path w="986789" h="524510">
                <a:moveTo>
                  <a:pt x="0" y="0"/>
                </a:moveTo>
                <a:lnTo>
                  <a:pt x="986790" y="524256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" name="object 4"/>
          <p:cNvSpPr/>
          <p:nvPr/>
        </p:nvSpPr>
        <p:spPr>
          <a:xfrm>
            <a:off x="2680157" y="1516118"/>
            <a:ext cx="330258" cy="699347"/>
          </a:xfrm>
          <a:custGeom>
            <a:avLst/>
            <a:gdLst/>
            <a:ahLst/>
            <a:cxnLst/>
            <a:rect l="l" t="t" r="r" b="b"/>
            <a:pathLst>
              <a:path w="330200" h="524510">
                <a:moveTo>
                  <a:pt x="329946" y="0"/>
                </a:moveTo>
                <a:lnTo>
                  <a:pt x="0" y="524256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" name="object 5"/>
          <p:cNvSpPr/>
          <p:nvPr/>
        </p:nvSpPr>
        <p:spPr>
          <a:xfrm>
            <a:off x="3010161" y="1516118"/>
            <a:ext cx="329622" cy="699347"/>
          </a:xfrm>
          <a:custGeom>
            <a:avLst/>
            <a:gdLst/>
            <a:ahLst/>
            <a:cxnLst/>
            <a:rect l="l" t="t" r="r" b="b"/>
            <a:pathLst>
              <a:path w="329564" h="524510">
                <a:moveTo>
                  <a:pt x="0" y="0"/>
                </a:moveTo>
                <a:lnTo>
                  <a:pt x="329184" y="524256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" name="object 6"/>
          <p:cNvSpPr/>
          <p:nvPr/>
        </p:nvSpPr>
        <p:spPr>
          <a:xfrm>
            <a:off x="2680158" y="2215125"/>
            <a:ext cx="1905" cy="596053"/>
          </a:xfrm>
          <a:custGeom>
            <a:avLst/>
            <a:gdLst/>
            <a:ahLst/>
            <a:cxnLst/>
            <a:rect l="l" t="t" r="r" b="b"/>
            <a:pathLst>
              <a:path w="1905" h="447039">
                <a:moveTo>
                  <a:pt x="0" y="0"/>
                </a:moveTo>
                <a:lnTo>
                  <a:pt x="1524" y="446531"/>
                </a:lnTo>
              </a:path>
            </a:pathLst>
          </a:custGeom>
          <a:ln w="289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" name="object 7"/>
          <p:cNvSpPr/>
          <p:nvPr/>
        </p:nvSpPr>
        <p:spPr>
          <a:xfrm>
            <a:off x="2681681" y="3509510"/>
            <a:ext cx="1905" cy="697653"/>
          </a:xfrm>
          <a:custGeom>
            <a:avLst/>
            <a:gdLst/>
            <a:ahLst/>
            <a:cxnLst/>
            <a:rect l="l" t="t" r="r" b="b"/>
            <a:pathLst>
              <a:path w="1905" h="523239">
                <a:moveTo>
                  <a:pt x="1524" y="0"/>
                </a:moveTo>
                <a:lnTo>
                  <a:pt x="0" y="522731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" name="object 8"/>
          <p:cNvSpPr/>
          <p:nvPr/>
        </p:nvSpPr>
        <p:spPr>
          <a:xfrm>
            <a:off x="2681680" y="2812533"/>
            <a:ext cx="0" cy="699347"/>
          </a:xfrm>
          <a:custGeom>
            <a:avLst/>
            <a:gdLst/>
            <a:ahLst/>
            <a:cxnLst/>
            <a:rect l="l" t="t" r="r" b="b"/>
            <a:pathLst>
              <a:path h="524510">
                <a:moveTo>
                  <a:pt x="0" y="0"/>
                </a:moveTo>
                <a:lnTo>
                  <a:pt x="0" y="524256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" name="object 9"/>
          <p:cNvSpPr/>
          <p:nvPr/>
        </p:nvSpPr>
        <p:spPr>
          <a:xfrm>
            <a:off x="3339402" y="2215124"/>
            <a:ext cx="1905" cy="695960"/>
          </a:xfrm>
          <a:custGeom>
            <a:avLst/>
            <a:gdLst/>
            <a:ahLst/>
            <a:cxnLst/>
            <a:rect l="l" t="t" r="r" b="b"/>
            <a:pathLst>
              <a:path w="1905" h="521969">
                <a:moveTo>
                  <a:pt x="0" y="0"/>
                </a:moveTo>
                <a:lnTo>
                  <a:pt x="1524" y="521970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0" name="object 10"/>
          <p:cNvSpPr/>
          <p:nvPr/>
        </p:nvSpPr>
        <p:spPr>
          <a:xfrm>
            <a:off x="3339402" y="2812533"/>
            <a:ext cx="1905" cy="697653"/>
          </a:xfrm>
          <a:custGeom>
            <a:avLst/>
            <a:gdLst/>
            <a:ahLst/>
            <a:cxnLst/>
            <a:rect l="l" t="t" r="r" b="b"/>
            <a:pathLst>
              <a:path w="1905" h="523239">
                <a:moveTo>
                  <a:pt x="1524" y="0"/>
                </a:moveTo>
                <a:lnTo>
                  <a:pt x="0" y="522731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1" name="object 11"/>
          <p:cNvSpPr/>
          <p:nvPr/>
        </p:nvSpPr>
        <p:spPr>
          <a:xfrm>
            <a:off x="3799730" y="2215126"/>
            <a:ext cx="197519" cy="597745"/>
          </a:xfrm>
          <a:custGeom>
            <a:avLst/>
            <a:gdLst/>
            <a:ahLst/>
            <a:cxnLst/>
            <a:rect l="l" t="t" r="r" b="b"/>
            <a:pathLst>
              <a:path w="197485" h="448310">
                <a:moveTo>
                  <a:pt x="197357" y="0"/>
                </a:moveTo>
                <a:lnTo>
                  <a:pt x="0" y="448056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2" name="object 12"/>
          <p:cNvSpPr/>
          <p:nvPr/>
        </p:nvSpPr>
        <p:spPr>
          <a:xfrm>
            <a:off x="3997122" y="2215126"/>
            <a:ext cx="264841" cy="597745"/>
          </a:xfrm>
          <a:custGeom>
            <a:avLst/>
            <a:gdLst/>
            <a:ahLst/>
            <a:cxnLst/>
            <a:rect l="l" t="t" r="r" b="b"/>
            <a:pathLst>
              <a:path w="264794" h="448310">
                <a:moveTo>
                  <a:pt x="0" y="0"/>
                </a:moveTo>
                <a:lnTo>
                  <a:pt x="264414" y="448056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3" name="object 13"/>
          <p:cNvSpPr/>
          <p:nvPr/>
        </p:nvSpPr>
        <p:spPr>
          <a:xfrm>
            <a:off x="3799729" y="2812533"/>
            <a:ext cx="1905" cy="697653"/>
          </a:xfrm>
          <a:custGeom>
            <a:avLst/>
            <a:gdLst/>
            <a:ahLst/>
            <a:cxnLst/>
            <a:rect l="l" t="t" r="r" b="b"/>
            <a:pathLst>
              <a:path w="1905" h="523239">
                <a:moveTo>
                  <a:pt x="1524" y="0"/>
                </a:moveTo>
                <a:lnTo>
                  <a:pt x="0" y="522731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4" name="object 14"/>
          <p:cNvSpPr/>
          <p:nvPr/>
        </p:nvSpPr>
        <p:spPr>
          <a:xfrm>
            <a:off x="3340925" y="3509509"/>
            <a:ext cx="0" cy="699347"/>
          </a:xfrm>
          <a:custGeom>
            <a:avLst/>
            <a:gdLst/>
            <a:ahLst/>
            <a:cxnLst/>
            <a:rect l="l" t="t" r="r" b="b"/>
            <a:pathLst>
              <a:path h="524510">
                <a:moveTo>
                  <a:pt x="0" y="0"/>
                </a:moveTo>
                <a:lnTo>
                  <a:pt x="0" y="524256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5" name="object 15"/>
          <p:cNvSpPr/>
          <p:nvPr/>
        </p:nvSpPr>
        <p:spPr>
          <a:xfrm>
            <a:off x="2023199" y="2215126"/>
            <a:ext cx="264206" cy="597745"/>
          </a:xfrm>
          <a:custGeom>
            <a:avLst/>
            <a:gdLst/>
            <a:ahLst/>
            <a:cxnLst/>
            <a:rect l="l" t="t" r="r" b="b"/>
            <a:pathLst>
              <a:path w="264159" h="448310">
                <a:moveTo>
                  <a:pt x="0" y="0"/>
                </a:moveTo>
                <a:lnTo>
                  <a:pt x="263652" y="448056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6" name="object 16"/>
          <p:cNvSpPr/>
          <p:nvPr/>
        </p:nvSpPr>
        <p:spPr>
          <a:xfrm>
            <a:off x="2286897" y="2812533"/>
            <a:ext cx="0" cy="699347"/>
          </a:xfrm>
          <a:custGeom>
            <a:avLst/>
            <a:gdLst/>
            <a:ahLst/>
            <a:cxnLst/>
            <a:rect l="l" t="t" r="r" b="b"/>
            <a:pathLst>
              <a:path h="524510">
                <a:moveTo>
                  <a:pt x="0" y="0"/>
                </a:moveTo>
                <a:lnTo>
                  <a:pt x="0" y="524256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7" name="object 17"/>
          <p:cNvSpPr/>
          <p:nvPr/>
        </p:nvSpPr>
        <p:spPr>
          <a:xfrm>
            <a:off x="2940045" y="1408421"/>
            <a:ext cx="189770" cy="2529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8" name="object 18"/>
          <p:cNvSpPr/>
          <p:nvPr/>
        </p:nvSpPr>
        <p:spPr>
          <a:xfrm>
            <a:off x="1961466" y="2205983"/>
            <a:ext cx="194344" cy="25298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9" name="object 19"/>
          <p:cNvSpPr/>
          <p:nvPr/>
        </p:nvSpPr>
        <p:spPr>
          <a:xfrm>
            <a:off x="2617661" y="2205983"/>
            <a:ext cx="191295" cy="25298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0" name="object 20"/>
          <p:cNvSpPr/>
          <p:nvPr/>
        </p:nvSpPr>
        <p:spPr>
          <a:xfrm>
            <a:off x="3268524" y="2205983"/>
            <a:ext cx="191294" cy="25298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1" name="object 21"/>
          <p:cNvSpPr/>
          <p:nvPr/>
        </p:nvSpPr>
        <p:spPr>
          <a:xfrm>
            <a:off x="3927005" y="2109461"/>
            <a:ext cx="192819" cy="25298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2" name="object 22"/>
          <p:cNvSpPr/>
          <p:nvPr/>
        </p:nvSpPr>
        <p:spPr>
          <a:xfrm>
            <a:off x="1769028" y="2811011"/>
            <a:ext cx="179862" cy="24587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3" name="object 23"/>
          <p:cNvSpPr/>
          <p:nvPr/>
        </p:nvSpPr>
        <p:spPr>
          <a:xfrm>
            <a:off x="2224401" y="2804407"/>
            <a:ext cx="189770" cy="25907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4" name="object 24"/>
          <p:cNvSpPr/>
          <p:nvPr/>
        </p:nvSpPr>
        <p:spPr>
          <a:xfrm>
            <a:off x="2622234" y="2804407"/>
            <a:ext cx="194343" cy="25907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5" name="object 25"/>
          <p:cNvSpPr/>
          <p:nvPr/>
        </p:nvSpPr>
        <p:spPr>
          <a:xfrm>
            <a:off x="3268524" y="2804407"/>
            <a:ext cx="191294" cy="259079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6" name="object 26"/>
          <p:cNvSpPr/>
          <p:nvPr/>
        </p:nvSpPr>
        <p:spPr>
          <a:xfrm>
            <a:off x="3729614" y="2707887"/>
            <a:ext cx="189770" cy="25196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7" name="object 27"/>
          <p:cNvSpPr/>
          <p:nvPr/>
        </p:nvSpPr>
        <p:spPr>
          <a:xfrm>
            <a:off x="4191467" y="2707887"/>
            <a:ext cx="189770" cy="25196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8" name="object 28"/>
          <p:cNvSpPr/>
          <p:nvPr/>
        </p:nvSpPr>
        <p:spPr>
          <a:xfrm>
            <a:off x="2224401" y="3501382"/>
            <a:ext cx="189770" cy="251967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9" name="object 29"/>
          <p:cNvSpPr/>
          <p:nvPr/>
        </p:nvSpPr>
        <p:spPr>
          <a:xfrm>
            <a:off x="2622234" y="4197341"/>
            <a:ext cx="194343" cy="252983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0" name="object 30"/>
          <p:cNvSpPr/>
          <p:nvPr/>
        </p:nvSpPr>
        <p:spPr>
          <a:xfrm>
            <a:off x="2622234" y="3501382"/>
            <a:ext cx="194343" cy="251967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1" name="object 31"/>
          <p:cNvSpPr/>
          <p:nvPr/>
        </p:nvSpPr>
        <p:spPr>
          <a:xfrm>
            <a:off x="3268524" y="3501382"/>
            <a:ext cx="191294" cy="251967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2" name="object 32"/>
          <p:cNvSpPr/>
          <p:nvPr/>
        </p:nvSpPr>
        <p:spPr>
          <a:xfrm>
            <a:off x="3729614" y="3401815"/>
            <a:ext cx="189770" cy="252983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3" name="object 33"/>
          <p:cNvSpPr/>
          <p:nvPr/>
        </p:nvSpPr>
        <p:spPr>
          <a:xfrm>
            <a:off x="3276908" y="4160765"/>
            <a:ext cx="189770" cy="251967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4" name="object 34"/>
          <p:cNvSpPr/>
          <p:nvPr/>
        </p:nvSpPr>
        <p:spPr>
          <a:xfrm>
            <a:off x="2110463" y="1539994"/>
            <a:ext cx="844697" cy="688340"/>
          </a:xfrm>
          <a:custGeom>
            <a:avLst/>
            <a:gdLst/>
            <a:ahLst/>
            <a:cxnLst/>
            <a:rect l="l" t="t" r="r" b="b"/>
            <a:pathLst>
              <a:path w="844550" h="516255">
                <a:moveTo>
                  <a:pt x="844550" y="0"/>
                </a:moveTo>
                <a:lnTo>
                  <a:pt x="0" y="515937"/>
                </a:lnTo>
              </a:path>
            </a:pathLst>
          </a:custGeom>
          <a:ln w="51053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5" name="object 35"/>
          <p:cNvSpPr/>
          <p:nvPr/>
        </p:nvSpPr>
        <p:spPr>
          <a:xfrm>
            <a:off x="1859721" y="2411721"/>
            <a:ext cx="107968" cy="397933"/>
          </a:xfrm>
          <a:custGeom>
            <a:avLst/>
            <a:gdLst/>
            <a:ahLst/>
            <a:cxnLst/>
            <a:rect l="l" t="t" r="r" b="b"/>
            <a:pathLst>
              <a:path w="107950" h="298450">
                <a:moveTo>
                  <a:pt x="0" y="298450"/>
                </a:moveTo>
                <a:lnTo>
                  <a:pt x="107950" y="0"/>
                </a:lnTo>
              </a:path>
            </a:pathLst>
          </a:custGeom>
          <a:ln w="51053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6" name="object 36"/>
          <p:cNvSpPr/>
          <p:nvPr/>
        </p:nvSpPr>
        <p:spPr>
          <a:xfrm>
            <a:off x="4907870" y="2022086"/>
            <a:ext cx="969178" cy="831427"/>
          </a:xfrm>
          <a:custGeom>
            <a:avLst/>
            <a:gdLst/>
            <a:ahLst/>
            <a:cxnLst/>
            <a:rect l="l" t="t" r="r" b="b"/>
            <a:pathLst>
              <a:path w="969010" h="623569">
                <a:moveTo>
                  <a:pt x="968501" y="0"/>
                </a:moveTo>
                <a:lnTo>
                  <a:pt x="0" y="623316"/>
                </a:lnTo>
              </a:path>
            </a:pathLst>
          </a:custGeom>
          <a:ln w="289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7" name="object 37"/>
          <p:cNvSpPr/>
          <p:nvPr/>
        </p:nvSpPr>
        <p:spPr>
          <a:xfrm>
            <a:off x="5553397" y="2022086"/>
            <a:ext cx="323271" cy="831427"/>
          </a:xfrm>
          <a:custGeom>
            <a:avLst/>
            <a:gdLst/>
            <a:ahLst/>
            <a:cxnLst/>
            <a:rect l="l" t="t" r="r" b="b"/>
            <a:pathLst>
              <a:path w="323214" h="623569">
                <a:moveTo>
                  <a:pt x="323088" y="0"/>
                </a:moveTo>
                <a:lnTo>
                  <a:pt x="0" y="623316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8" name="object 38"/>
          <p:cNvSpPr/>
          <p:nvPr/>
        </p:nvSpPr>
        <p:spPr>
          <a:xfrm>
            <a:off x="5876540" y="2022086"/>
            <a:ext cx="323906" cy="831427"/>
          </a:xfrm>
          <a:custGeom>
            <a:avLst/>
            <a:gdLst/>
            <a:ahLst/>
            <a:cxnLst/>
            <a:rect l="l" t="t" r="r" b="b"/>
            <a:pathLst>
              <a:path w="323850" h="623569">
                <a:moveTo>
                  <a:pt x="0" y="0"/>
                </a:moveTo>
                <a:lnTo>
                  <a:pt x="323850" y="623316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9" name="object 39"/>
          <p:cNvSpPr/>
          <p:nvPr/>
        </p:nvSpPr>
        <p:spPr>
          <a:xfrm>
            <a:off x="5869681" y="2022086"/>
            <a:ext cx="969178" cy="831427"/>
          </a:xfrm>
          <a:custGeom>
            <a:avLst/>
            <a:gdLst/>
            <a:ahLst/>
            <a:cxnLst/>
            <a:rect l="l" t="t" r="r" b="b"/>
            <a:pathLst>
              <a:path w="969010" h="623569">
                <a:moveTo>
                  <a:pt x="0" y="0"/>
                </a:moveTo>
                <a:lnTo>
                  <a:pt x="968502" y="623316"/>
                </a:lnTo>
              </a:path>
            </a:pathLst>
          </a:custGeom>
          <a:ln w="289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0" name="object 40"/>
          <p:cNvSpPr/>
          <p:nvPr/>
        </p:nvSpPr>
        <p:spPr>
          <a:xfrm>
            <a:off x="5402495" y="2853174"/>
            <a:ext cx="193708" cy="712893"/>
          </a:xfrm>
          <a:custGeom>
            <a:avLst/>
            <a:gdLst/>
            <a:ahLst/>
            <a:cxnLst/>
            <a:rect l="l" t="t" r="r" b="b"/>
            <a:pathLst>
              <a:path w="193675" h="534669">
                <a:moveTo>
                  <a:pt x="193548" y="0"/>
                </a:moveTo>
                <a:lnTo>
                  <a:pt x="0" y="534162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1" name="object 41"/>
          <p:cNvSpPr/>
          <p:nvPr/>
        </p:nvSpPr>
        <p:spPr>
          <a:xfrm>
            <a:off x="5553397" y="2853174"/>
            <a:ext cx="259124" cy="712893"/>
          </a:xfrm>
          <a:custGeom>
            <a:avLst/>
            <a:gdLst/>
            <a:ahLst/>
            <a:cxnLst/>
            <a:rect l="l" t="t" r="r" b="b"/>
            <a:pathLst>
              <a:path w="259079" h="534669">
                <a:moveTo>
                  <a:pt x="0" y="0"/>
                </a:moveTo>
                <a:lnTo>
                  <a:pt x="259079" y="534162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2" name="object 42"/>
          <p:cNvSpPr/>
          <p:nvPr/>
        </p:nvSpPr>
        <p:spPr>
          <a:xfrm>
            <a:off x="6069360" y="2853173"/>
            <a:ext cx="131468" cy="609600"/>
          </a:xfrm>
          <a:custGeom>
            <a:avLst/>
            <a:gdLst/>
            <a:ahLst/>
            <a:cxnLst/>
            <a:rect l="l" t="t" r="r" b="b"/>
            <a:pathLst>
              <a:path w="131445" h="457200">
                <a:moveTo>
                  <a:pt x="131063" y="0"/>
                </a:moveTo>
                <a:lnTo>
                  <a:pt x="0" y="457200"/>
                </a:lnTo>
              </a:path>
            </a:pathLst>
          </a:custGeom>
          <a:ln w="289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3" name="object 43"/>
          <p:cNvSpPr/>
          <p:nvPr/>
        </p:nvSpPr>
        <p:spPr>
          <a:xfrm>
            <a:off x="6200447" y="2853173"/>
            <a:ext cx="165128" cy="609600"/>
          </a:xfrm>
          <a:custGeom>
            <a:avLst/>
            <a:gdLst/>
            <a:ahLst/>
            <a:cxnLst/>
            <a:rect l="l" t="t" r="r" b="b"/>
            <a:pathLst>
              <a:path w="165100" h="457200">
                <a:moveTo>
                  <a:pt x="0" y="0"/>
                </a:moveTo>
                <a:lnTo>
                  <a:pt x="164592" y="457200"/>
                </a:lnTo>
              </a:path>
            </a:pathLst>
          </a:custGeom>
          <a:ln w="289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4" name="object 44"/>
          <p:cNvSpPr/>
          <p:nvPr/>
        </p:nvSpPr>
        <p:spPr>
          <a:xfrm>
            <a:off x="6720221" y="2853173"/>
            <a:ext cx="125116" cy="609600"/>
          </a:xfrm>
          <a:custGeom>
            <a:avLst/>
            <a:gdLst/>
            <a:ahLst/>
            <a:cxnLst/>
            <a:rect l="l" t="t" r="r" b="b"/>
            <a:pathLst>
              <a:path w="125095" h="457200">
                <a:moveTo>
                  <a:pt x="124967" y="0"/>
                </a:moveTo>
                <a:lnTo>
                  <a:pt x="0" y="457200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5" name="object 45"/>
          <p:cNvSpPr/>
          <p:nvPr/>
        </p:nvSpPr>
        <p:spPr>
          <a:xfrm>
            <a:off x="6845210" y="2853173"/>
            <a:ext cx="170210" cy="609600"/>
          </a:xfrm>
          <a:custGeom>
            <a:avLst/>
            <a:gdLst/>
            <a:ahLst/>
            <a:cxnLst/>
            <a:rect l="l" t="t" r="r" b="b"/>
            <a:pathLst>
              <a:path w="170179" h="457200">
                <a:moveTo>
                  <a:pt x="0" y="0"/>
                </a:moveTo>
                <a:lnTo>
                  <a:pt x="169926" y="457200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6" name="object 46"/>
          <p:cNvSpPr/>
          <p:nvPr/>
        </p:nvSpPr>
        <p:spPr>
          <a:xfrm>
            <a:off x="4753158" y="2853174"/>
            <a:ext cx="193708" cy="712893"/>
          </a:xfrm>
          <a:custGeom>
            <a:avLst/>
            <a:gdLst/>
            <a:ahLst/>
            <a:cxnLst/>
            <a:rect l="l" t="t" r="r" b="b"/>
            <a:pathLst>
              <a:path w="193675" h="534669">
                <a:moveTo>
                  <a:pt x="193548" y="0"/>
                </a:moveTo>
                <a:lnTo>
                  <a:pt x="0" y="534162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7" name="object 47"/>
          <p:cNvSpPr/>
          <p:nvPr/>
        </p:nvSpPr>
        <p:spPr>
          <a:xfrm>
            <a:off x="4907870" y="2853174"/>
            <a:ext cx="260395" cy="712893"/>
          </a:xfrm>
          <a:custGeom>
            <a:avLst/>
            <a:gdLst/>
            <a:ahLst/>
            <a:cxnLst/>
            <a:rect l="l" t="t" r="r" b="b"/>
            <a:pathLst>
              <a:path w="260350" h="534669">
                <a:moveTo>
                  <a:pt x="0" y="0"/>
                </a:moveTo>
                <a:lnTo>
                  <a:pt x="259842" y="534162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8" name="object 48"/>
          <p:cNvSpPr/>
          <p:nvPr/>
        </p:nvSpPr>
        <p:spPr>
          <a:xfrm>
            <a:off x="4876622" y="2789164"/>
            <a:ext cx="204251" cy="272288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9" name="object 49"/>
          <p:cNvSpPr/>
          <p:nvPr/>
        </p:nvSpPr>
        <p:spPr>
          <a:xfrm>
            <a:off x="5509953" y="2789164"/>
            <a:ext cx="205014" cy="272288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0" name="object 50"/>
          <p:cNvSpPr/>
          <p:nvPr/>
        </p:nvSpPr>
        <p:spPr>
          <a:xfrm>
            <a:off x="6129567" y="2727189"/>
            <a:ext cx="204251" cy="273304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1" name="object 51"/>
          <p:cNvSpPr/>
          <p:nvPr/>
        </p:nvSpPr>
        <p:spPr>
          <a:xfrm>
            <a:off x="6778904" y="2727189"/>
            <a:ext cx="205776" cy="273304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2" name="object 52"/>
          <p:cNvSpPr/>
          <p:nvPr/>
        </p:nvSpPr>
        <p:spPr>
          <a:xfrm>
            <a:off x="4699045" y="3438389"/>
            <a:ext cx="204251" cy="273304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3" name="object 53"/>
          <p:cNvSpPr/>
          <p:nvPr/>
        </p:nvSpPr>
        <p:spPr>
          <a:xfrm>
            <a:off x="5064106" y="3438389"/>
            <a:ext cx="204251" cy="273304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4" name="object 54"/>
          <p:cNvSpPr/>
          <p:nvPr/>
        </p:nvSpPr>
        <p:spPr>
          <a:xfrm>
            <a:off x="5349906" y="3438389"/>
            <a:ext cx="204251" cy="273304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5" name="object 55"/>
          <p:cNvSpPr/>
          <p:nvPr/>
        </p:nvSpPr>
        <p:spPr>
          <a:xfrm>
            <a:off x="5714968" y="3438389"/>
            <a:ext cx="204251" cy="273304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6" name="object 56"/>
          <p:cNvSpPr/>
          <p:nvPr/>
        </p:nvSpPr>
        <p:spPr>
          <a:xfrm>
            <a:off x="5997718" y="3438389"/>
            <a:ext cx="205776" cy="273304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7" name="object 57"/>
          <p:cNvSpPr/>
          <p:nvPr/>
        </p:nvSpPr>
        <p:spPr>
          <a:xfrm>
            <a:off x="6281993" y="3438389"/>
            <a:ext cx="205776" cy="273304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8" name="object 58"/>
          <p:cNvSpPr/>
          <p:nvPr/>
        </p:nvSpPr>
        <p:spPr>
          <a:xfrm>
            <a:off x="6637148" y="3440420"/>
            <a:ext cx="205014" cy="273304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9" name="object 59"/>
          <p:cNvSpPr/>
          <p:nvPr/>
        </p:nvSpPr>
        <p:spPr>
          <a:xfrm>
            <a:off x="5808710" y="1904228"/>
            <a:ext cx="205776" cy="272288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0" name="object 60"/>
          <p:cNvSpPr/>
          <p:nvPr/>
        </p:nvSpPr>
        <p:spPr>
          <a:xfrm>
            <a:off x="6944288" y="3440420"/>
            <a:ext cx="204251" cy="273304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1" name="object 61"/>
          <p:cNvSpPr txBox="1"/>
          <p:nvPr/>
        </p:nvSpPr>
        <p:spPr>
          <a:xfrm>
            <a:off x="1376856" y="4678765"/>
            <a:ext cx="1695674" cy="447131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16933">
              <a:spcBef>
                <a:spcPts val="127"/>
              </a:spcBef>
            </a:pPr>
            <a:r>
              <a:rPr sz="2800" b="1" spc="-7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Cas</a:t>
            </a:r>
            <a:r>
              <a:rPr sz="2800" b="1" spc="-13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e</a:t>
            </a:r>
            <a:r>
              <a:rPr sz="2800" b="1" spc="-7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3:</a:t>
            </a:r>
            <a:endParaRPr sz="2800" dirty="0"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3292527" y="4678765"/>
            <a:ext cx="1654339" cy="447131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16933">
              <a:spcBef>
                <a:spcPts val="127"/>
              </a:spcBef>
            </a:pPr>
            <a:r>
              <a:rPr sz="2800" b="1" spc="-7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&lt;1</a:t>
            </a:r>
            <a:r>
              <a:rPr sz="2800" b="1" spc="-13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,</a:t>
            </a:r>
            <a:r>
              <a:rPr sz="2800" b="1" spc="-7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3&gt;,</a:t>
            </a:r>
            <a:endParaRPr sz="2800" dirty="0"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5404780" y="4678765"/>
            <a:ext cx="2719717" cy="447131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16933">
              <a:spcBef>
                <a:spcPts val="127"/>
              </a:spcBef>
            </a:pPr>
            <a:r>
              <a:rPr sz="2800" b="1" spc="-13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结点</a:t>
            </a:r>
            <a:r>
              <a:rPr sz="2800" b="1" spc="-2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数</a:t>
            </a:r>
            <a:r>
              <a:rPr sz="2800" b="1" spc="-947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800" b="1" spc="-7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13</a:t>
            </a:r>
            <a:endParaRPr sz="2800" dirty="0"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01114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13355" y="257811"/>
            <a:ext cx="2061568" cy="632651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4000" b="1" spc="-13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估计结</a:t>
            </a:r>
            <a:r>
              <a:rPr sz="4000" b="1" spc="-20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果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93917" y="1344963"/>
            <a:ext cx="7898441" cy="3349122"/>
          </a:xfrm>
          <a:prstGeom prst="rect">
            <a:avLst/>
          </a:prstGeom>
        </p:spPr>
        <p:txBody>
          <a:bodyPr vert="horz" wrap="square" lIns="0" tIns="106680" rIns="0" bIns="0" rtlCol="0">
            <a:spAutoFit/>
          </a:bodyPr>
          <a:lstStyle/>
          <a:p>
            <a:pPr marL="16933">
              <a:spcBef>
                <a:spcPts val="840"/>
              </a:spcBef>
            </a:pPr>
            <a:r>
              <a:rPr sz="2800" b="1" spc="-7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假</a:t>
            </a:r>
            <a:r>
              <a:rPr sz="2800" b="1" spc="-13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设</a:t>
            </a:r>
            <a:r>
              <a:rPr sz="2800" b="1" spc="-800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 </a:t>
            </a:r>
            <a:r>
              <a:rPr sz="28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4</a:t>
            </a:r>
            <a:r>
              <a:rPr sz="2800" b="1" spc="-7" dirty="0"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 </a:t>
            </a:r>
            <a:r>
              <a:rPr sz="2800" b="1" spc="-7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次抽样</a:t>
            </a:r>
            <a:r>
              <a:rPr sz="2800" b="1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测试</a:t>
            </a:r>
            <a:r>
              <a:rPr sz="2800" b="1" spc="-13" dirty="0">
                <a:latin typeface="宋体"/>
                <a:cs typeface="宋体"/>
              </a:rPr>
              <a:t>：</a:t>
            </a:r>
            <a:endParaRPr sz="2800" dirty="0">
              <a:latin typeface="宋体"/>
              <a:cs typeface="宋体"/>
            </a:endParaRPr>
          </a:p>
          <a:p>
            <a:pPr marL="16933">
              <a:spcBef>
                <a:spcPts val="713"/>
              </a:spcBef>
              <a:tabLst>
                <a:tab pos="1280127" algn="l"/>
              </a:tabLst>
            </a:pPr>
            <a:r>
              <a:rPr sz="2800" b="1" dirty="0">
                <a:latin typeface="Times New Roman"/>
                <a:cs typeface="Times New Roman"/>
              </a:rPr>
              <a:t>c</a:t>
            </a:r>
            <a:r>
              <a:rPr sz="2800" b="1" spc="-7" dirty="0">
                <a:latin typeface="Times New Roman"/>
                <a:cs typeface="Times New Roman"/>
              </a:rPr>
              <a:t>ase1:	1</a:t>
            </a:r>
            <a:r>
              <a:rPr sz="2800" b="1" spc="-7" dirty="0">
                <a:latin typeface="宋体"/>
                <a:cs typeface="宋体"/>
              </a:rPr>
              <a:t>次</a:t>
            </a:r>
            <a:r>
              <a:rPr sz="2800" b="1" spc="-13" dirty="0">
                <a:latin typeface="宋体"/>
                <a:cs typeface="宋体"/>
              </a:rPr>
              <a:t>，</a:t>
            </a:r>
            <a:endParaRPr sz="2800" dirty="0">
              <a:latin typeface="宋体"/>
              <a:cs typeface="宋体"/>
            </a:endParaRPr>
          </a:p>
          <a:p>
            <a:pPr marL="16933" marR="4283180">
              <a:lnSpc>
                <a:spcPct val="130000"/>
              </a:lnSpc>
              <a:tabLst>
                <a:tab pos="1280127" algn="l"/>
              </a:tabLst>
            </a:pPr>
            <a:r>
              <a:rPr sz="2800" b="1" dirty="0">
                <a:latin typeface="Times New Roman"/>
                <a:cs typeface="Times New Roman"/>
              </a:rPr>
              <a:t>c</a:t>
            </a:r>
            <a:r>
              <a:rPr sz="2800" b="1" spc="-7" dirty="0">
                <a:latin typeface="Times New Roman"/>
                <a:cs typeface="Times New Roman"/>
              </a:rPr>
              <a:t>ase2:	1</a:t>
            </a:r>
            <a:r>
              <a:rPr sz="2800" b="1" spc="-7" dirty="0">
                <a:latin typeface="宋体"/>
                <a:cs typeface="宋体"/>
              </a:rPr>
              <a:t>次</a:t>
            </a:r>
            <a:r>
              <a:rPr sz="2800" b="1" spc="-13" dirty="0">
                <a:latin typeface="宋体"/>
                <a:cs typeface="宋体"/>
              </a:rPr>
              <a:t>，  </a:t>
            </a:r>
            <a:r>
              <a:rPr sz="2800" b="1" dirty="0">
                <a:latin typeface="Times New Roman"/>
                <a:cs typeface="Times New Roman"/>
              </a:rPr>
              <a:t>c</a:t>
            </a:r>
            <a:r>
              <a:rPr sz="2800" b="1" spc="-7" dirty="0">
                <a:latin typeface="Times New Roman"/>
                <a:cs typeface="Times New Roman"/>
              </a:rPr>
              <a:t>as</a:t>
            </a:r>
            <a:r>
              <a:rPr sz="2800" b="1" dirty="0">
                <a:latin typeface="Times New Roman"/>
                <a:cs typeface="Times New Roman"/>
              </a:rPr>
              <a:t>e3:	2</a:t>
            </a:r>
            <a:r>
              <a:rPr sz="2800" b="1" spc="-7" dirty="0">
                <a:latin typeface="宋体"/>
                <a:cs typeface="宋体"/>
              </a:rPr>
              <a:t>次</a:t>
            </a:r>
            <a:r>
              <a:rPr sz="2800" b="1" spc="-13" dirty="0">
                <a:latin typeface="宋体"/>
                <a:cs typeface="宋体"/>
              </a:rPr>
              <a:t>，</a:t>
            </a:r>
            <a:endParaRPr sz="2800" dirty="0">
              <a:latin typeface="宋体"/>
              <a:cs typeface="宋体"/>
            </a:endParaRPr>
          </a:p>
          <a:p>
            <a:pPr marL="16933">
              <a:spcBef>
                <a:spcPts val="1153"/>
              </a:spcBef>
            </a:pPr>
            <a:r>
              <a:rPr sz="2800" b="1" spc="-7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平均结点</a:t>
            </a:r>
            <a:r>
              <a:rPr sz="2800" b="1" spc="-13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数</a:t>
            </a:r>
            <a:r>
              <a:rPr sz="2800" b="1" spc="-813" dirty="0">
                <a:latin typeface="宋体"/>
                <a:cs typeface="宋体"/>
              </a:rPr>
              <a:t> </a:t>
            </a:r>
            <a:r>
              <a:rPr sz="2800" b="1" spc="-7" dirty="0">
                <a:latin typeface="Times New Roman"/>
                <a:cs typeface="Times New Roman"/>
              </a:rPr>
              <a:t>=(21</a:t>
            </a:r>
            <a:r>
              <a:rPr sz="2800" b="1" spc="-7" dirty="0">
                <a:latin typeface="Symbol"/>
                <a:cs typeface="Symbol"/>
              </a:rPr>
              <a:t></a:t>
            </a:r>
            <a:r>
              <a:rPr sz="2800" b="1" spc="-7" dirty="0">
                <a:latin typeface="Times New Roman"/>
                <a:cs typeface="Times New Roman"/>
              </a:rPr>
              <a:t>1+17</a:t>
            </a:r>
            <a:r>
              <a:rPr sz="2800" b="1" spc="-7" dirty="0">
                <a:latin typeface="Symbol"/>
                <a:cs typeface="Symbol"/>
              </a:rPr>
              <a:t></a:t>
            </a:r>
            <a:r>
              <a:rPr sz="2800" b="1" spc="-7" dirty="0">
                <a:latin typeface="Times New Roman"/>
                <a:cs typeface="Times New Roman"/>
              </a:rPr>
              <a:t>1+13</a:t>
            </a:r>
            <a:r>
              <a:rPr sz="2800" b="1" spc="-7" dirty="0">
                <a:latin typeface="Symbol"/>
                <a:cs typeface="Symbol"/>
              </a:rPr>
              <a:t></a:t>
            </a:r>
            <a:r>
              <a:rPr sz="2800" b="1" spc="-7" dirty="0">
                <a:latin typeface="Times New Roman"/>
                <a:cs typeface="Times New Roman"/>
              </a:rPr>
              <a:t>2)/4=16</a:t>
            </a:r>
            <a:endParaRPr sz="2800" dirty="0">
              <a:latin typeface="Times New Roman"/>
              <a:cs typeface="Times New Roman"/>
            </a:endParaRPr>
          </a:p>
          <a:p>
            <a:pPr marL="16933">
              <a:spcBef>
                <a:spcPts val="1153"/>
              </a:spcBef>
            </a:pPr>
            <a:r>
              <a:rPr sz="2800" b="1" spc="-7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搜索空间</a:t>
            </a:r>
            <a:r>
              <a:rPr sz="2800" b="1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访</a:t>
            </a:r>
            <a:r>
              <a:rPr sz="2800" b="1" spc="7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问</a:t>
            </a:r>
            <a:r>
              <a:rPr sz="2800" b="1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的结点数</a:t>
            </a:r>
            <a:r>
              <a:rPr sz="2800" b="1" spc="-13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为</a:t>
            </a:r>
            <a:r>
              <a:rPr sz="2800" b="1" spc="-780" dirty="0">
                <a:latin typeface="宋体"/>
                <a:cs typeface="宋体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17</a:t>
            </a:r>
            <a:endParaRPr sz="28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39960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40981" y="292006"/>
            <a:ext cx="1042850" cy="632651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4000" b="1" spc="-13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小</a:t>
            </a:r>
            <a:r>
              <a:rPr sz="4000" b="1" spc="-20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结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3607" y="1334516"/>
            <a:ext cx="8382021" cy="4887662"/>
          </a:xfrm>
          <a:prstGeom prst="rect">
            <a:avLst/>
          </a:prstGeom>
        </p:spPr>
        <p:txBody>
          <a:bodyPr vert="horz" wrap="square" lIns="0" tIns="118533" rIns="0" bIns="0" rtlCol="0">
            <a:spAutoFit/>
          </a:bodyPr>
          <a:lstStyle/>
          <a:p>
            <a:pPr marL="362364" indent="-345430">
              <a:spcBef>
                <a:spcPts val="933"/>
              </a:spcBef>
              <a:buClr>
                <a:srgbClr val="000000"/>
              </a:buClr>
              <a:buFont typeface="Arial"/>
              <a:buChar char="•"/>
              <a:tabLst>
                <a:tab pos="361518" algn="l"/>
                <a:tab pos="362364" algn="l"/>
              </a:tabLst>
            </a:pPr>
            <a:r>
              <a:rPr sz="2800" b="1" spc="-7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Monte</a:t>
            </a:r>
            <a:r>
              <a:rPr sz="2800" b="1" spc="-13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spc="-7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Carlo</a:t>
            </a:r>
            <a:r>
              <a:rPr sz="28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spc="-7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方</a:t>
            </a:r>
            <a:r>
              <a:rPr sz="2800" b="1" spc="-13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法</a:t>
            </a:r>
            <a:endParaRPr sz="28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423323">
              <a:spcBef>
                <a:spcPts val="800"/>
              </a:spcBef>
            </a:pPr>
            <a:r>
              <a:rPr sz="2800" b="1" spc="-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目的</a:t>
            </a:r>
            <a:r>
              <a:rPr sz="2800" b="1" spc="-13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sz="2800" b="1" spc="-88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spc="-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估计搜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索树真正访问结点数</a:t>
            </a:r>
            <a:endParaRPr sz="28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321725">
              <a:spcBef>
                <a:spcPts val="1887"/>
              </a:spcBef>
            </a:pPr>
            <a:r>
              <a:rPr sz="2800" b="1" spc="-7" dirty="0" err="1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步骤</a:t>
            </a:r>
            <a:r>
              <a:rPr sz="2800" b="1" spc="-13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endParaRPr lang="en-US" sz="2800" b="1" spc="-13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321725">
              <a:spcBef>
                <a:spcPts val="1887"/>
              </a:spcBef>
            </a:pPr>
            <a:r>
              <a:rPr lang="zh-CN" altLang="en-US" sz="2800" b="1" spc="-13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    随机抽样</a:t>
            </a:r>
            <a:r>
              <a:rPr lang="zh-CN" altLang="en-US" sz="2800" b="1" spc="-13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，选择一条路径用这条路径代替其他路径逐层累加树的结点数</a:t>
            </a:r>
          </a:p>
          <a:p>
            <a:pPr marL="321725">
              <a:spcBef>
                <a:spcPts val="1887"/>
              </a:spcBef>
            </a:pPr>
            <a:r>
              <a:rPr lang="zh-CN" altLang="en-US" sz="2800" b="1" spc="-13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   多次</a:t>
            </a:r>
            <a:r>
              <a:rPr lang="zh-CN" altLang="en-US" sz="2800" b="1" spc="-13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选择，取结点数的平均值</a:t>
            </a:r>
          </a:p>
          <a:p>
            <a:pPr marL="321725">
              <a:spcBef>
                <a:spcPts val="1887"/>
              </a:spcBef>
            </a:pPr>
            <a:endParaRPr lang="en-US" sz="2800" b="1" spc="-13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321725">
              <a:spcBef>
                <a:spcPts val="1887"/>
              </a:spcBef>
            </a:pPr>
            <a:endParaRPr sz="28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7363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693</TotalTime>
  <Words>1738</Words>
  <Application>Microsoft Office PowerPoint</Application>
  <PresentationFormat>自定义</PresentationFormat>
  <Paragraphs>448</Paragraphs>
  <Slides>51</Slides>
  <Notes>1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51</vt:i4>
      </vt:variant>
    </vt:vector>
  </HeadingPairs>
  <TitlesOfParts>
    <vt:vector size="52" baseType="lpstr">
      <vt:lpstr>Office 主题​​</vt:lpstr>
      <vt:lpstr>PowerPoint 演示文稿</vt:lpstr>
      <vt:lpstr>PowerPoint 演示文稿</vt:lpstr>
      <vt:lpstr>几个回溯算法 的例子</vt:lpstr>
      <vt:lpstr>4后问题</vt:lpstr>
      <vt:lpstr>搜索空间：4叉树</vt:lpstr>
      <vt:lpstr>0-1背包问题</vt:lpstr>
      <vt:lpstr>算法设计</vt:lpstr>
      <vt:lpstr>实例</vt:lpstr>
      <vt:lpstr>搜索空间</vt:lpstr>
      <vt:lpstr>货郎问题</vt:lpstr>
      <vt:lpstr>实例</vt:lpstr>
      <vt:lpstr>搜索空间</vt:lpstr>
      <vt:lpstr>小结</vt:lpstr>
      <vt:lpstr>回溯算法的设计思想和适用条件</vt:lpstr>
      <vt:lpstr>问题分析</vt:lpstr>
      <vt:lpstr>深度与宽度优先搜索</vt:lpstr>
      <vt:lpstr>回溯算法基本思想</vt:lpstr>
      <vt:lpstr>结点状态</vt:lpstr>
      <vt:lpstr>回溯算法的适用条件</vt:lpstr>
      <vt:lpstr>一个反例</vt:lpstr>
      <vt:lpstr>小结</vt:lpstr>
      <vt:lpstr>回溯算法的实现及实例</vt:lpstr>
      <vt:lpstr>回溯算法递归实现</vt:lpstr>
      <vt:lpstr>迭代实现</vt:lpstr>
      <vt:lpstr>装载问题</vt:lpstr>
      <vt:lpstr>求解思路</vt:lpstr>
      <vt:lpstr>伪码</vt:lpstr>
      <vt:lpstr>子过程 Backtrack</vt:lpstr>
      <vt:lpstr>实例</vt:lpstr>
      <vt:lpstr>小结</vt:lpstr>
      <vt:lpstr>图的着色</vt:lpstr>
      <vt:lpstr>着色问题</vt:lpstr>
      <vt:lpstr>实例</vt:lpstr>
      <vt:lpstr>解向量</vt:lpstr>
      <vt:lpstr>算法设计</vt:lpstr>
      <vt:lpstr>运行实例</vt:lpstr>
      <vt:lpstr>搜索树</vt:lpstr>
      <vt:lpstr>时间复杂度与改进途径</vt:lpstr>
      <vt:lpstr>着色问题的应用</vt:lpstr>
      <vt:lpstr>小结</vt:lpstr>
      <vt:lpstr>搜索树结点数的估计</vt:lpstr>
      <vt:lpstr>搜索树结点数估计</vt:lpstr>
      <vt:lpstr>伪码</vt:lpstr>
      <vt:lpstr>一次抽样</vt:lpstr>
      <vt:lpstr>子过程的伪码</vt:lpstr>
      <vt:lpstr>4后搜索树遍历的结点</vt:lpstr>
      <vt:lpstr>随机选择路径1</vt:lpstr>
      <vt:lpstr>随机选择路径2</vt:lpstr>
      <vt:lpstr>随机选择路径3</vt:lpstr>
      <vt:lpstr>估计结果</vt:lpstr>
      <vt:lpstr>小结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boo</dc:creator>
  <cp:lastModifiedBy>admin</cp:lastModifiedBy>
  <cp:revision>58</cp:revision>
  <dcterms:created xsi:type="dcterms:W3CDTF">2019-05-28T11:09:00Z</dcterms:created>
  <dcterms:modified xsi:type="dcterms:W3CDTF">2019-06-10T23:24:09Z</dcterms:modified>
</cp:coreProperties>
</file>