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56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0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2" r:id="rId57"/>
    <p:sldId id="311" r:id="rId58"/>
    <p:sldId id="313" r:id="rId59"/>
    <p:sldId id="314" r:id="rId60"/>
    <p:sldId id="315" r:id="rId61"/>
    <p:sldId id="316" r:id="rId62"/>
    <p:sldId id="317" r:id="rId63"/>
    <p:sldId id="318" r:id="rId64"/>
  </p:sldIdLst>
  <p:sldSz cx="9720263" cy="6480175"/>
  <p:notesSz cx="6858000" cy="9144000"/>
  <p:defaultTextStyle>
    <a:defPPr>
      <a:defRPr lang="zh-CN"/>
    </a:defPPr>
    <a:lvl1pPr marL="0" algn="l" defTabSz="777606" rtl="0" eaLnBrk="1" latinLnBrk="0" hangingPunct="1">
      <a:defRPr sz="1531" kern="1200">
        <a:solidFill>
          <a:schemeClr val="tx1"/>
        </a:solidFill>
        <a:latin typeface="+mn-lt"/>
        <a:ea typeface="+mn-ea"/>
        <a:cs typeface="+mn-cs"/>
      </a:defRPr>
    </a:lvl1pPr>
    <a:lvl2pPr marL="388803" algn="l" defTabSz="777606" rtl="0" eaLnBrk="1" latinLnBrk="0" hangingPunct="1">
      <a:defRPr sz="1531" kern="1200">
        <a:solidFill>
          <a:schemeClr val="tx1"/>
        </a:solidFill>
        <a:latin typeface="+mn-lt"/>
        <a:ea typeface="+mn-ea"/>
        <a:cs typeface="+mn-cs"/>
      </a:defRPr>
    </a:lvl2pPr>
    <a:lvl3pPr marL="777606" algn="l" defTabSz="777606" rtl="0" eaLnBrk="1" latinLnBrk="0" hangingPunct="1">
      <a:defRPr sz="1531" kern="1200">
        <a:solidFill>
          <a:schemeClr val="tx1"/>
        </a:solidFill>
        <a:latin typeface="+mn-lt"/>
        <a:ea typeface="+mn-ea"/>
        <a:cs typeface="+mn-cs"/>
      </a:defRPr>
    </a:lvl3pPr>
    <a:lvl4pPr marL="1166409" algn="l" defTabSz="777606" rtl="0" eaLnBrk="1" latinLnBrk="0" hangingPunct="1">
      <a:defRPr sz="1531" kern="1200">
        <a:solidFill>
          <a:schemeClr val="tx1"/>
        </a:solidFill>
        <a:latin typeface="+mn-lt"/>
        <a:ea typeface="+mn-ea"/>
        <a:cs typeface="+mn-cs"/>
      </a:defRPr>
    </a:lvl4pPr>
    <a:lvl5pPr marL="1555212" algn="l" defTabSz="777606" rtl="0" eaLnBrk="1" latinLnBrk="0" hangingPunct="1">
      <a:defRPr sz="1531" kern="1200">
        <a:solidFill>
          <a:schemeClr val="tx1"/>
        </a:solidFill>
        <a:latin typeface="+mn-lt"/>
        <a:ea typeface="+mn-ea"/>
        <a:cs typeface="+mn-cs"/>
      </a:defRPr>
    </a:lvl5pPr>
    <a:lvl6pPr marL="1944014" algn="l" defTabSz="777606" rtl="0" eaLnBrk="1" latinLnBrk="0" hangingPunct="1">
      <a:defRPr sz="1531" kern="1200">
        <a:solidFill>
          <a:schemeClr val="tx1"/>
        </a:solidFill>
        <a:latin typeface="+mn-lt"/>
        <a:ea typeface="+mn-ea"/>
        <a:cs typeface="+mn-cs"/>
      </a:defRPr>
    </a:lvl6pPr>
    <a:lvl7pPr marL="2332817" algn="l" defTabSz="777606" rtl="0" eaLnBrk="1" latinLnBrk="0" hangingPunct="1">
      <a:defRPr sz="1531" kern="1200">
        <a:solidFill>
          <a:schemeClr val="tx1"/>
        </a:solidFill>
        <a:latin typeface="+mn-lt"/>
        <a:ea typeface="+mn-ea"/>
        <a:cs typeface="+mn-cs"/>
      </a:defRPr>
    </a:lvl7pPr>
    <a:lvl8pPr marL="2721620" algn="l" defTabSz="777606" rtl="0" eaLnBrk="1" latinLnBrk="0" hangingPunct="1">
      <a:defRPr sz="1531" kern="1200">
        <a:solidFill>
          <a:schemeClr val="tx1"/>
        </a:solidFill>
        <a:latin typeface="+mn-lt"/>
        <a:ea typeface="+mn-ea"/>
        <a:cs typeface="+mn-cs"/>
      </a:defRPr>
    </a:lvl8pPr>
    <a:lvl9pPr marL="3110423" algn="l" defTabSz="777606" rtl="0" eaLnBrk="1" latinLnBrk="0" hangingPunct="1">
      <a:defRPr sz="15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041">
          <p15:clr>
            <a:srgbClr val="A4A3A4"/>
          </p15:clr>
        </p15:guide>
        <p15:guide id="2" pos="30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75" d="100"/>
          <a:sy n="75" d="100"/>
        </p:scale>
        <p:origin x="-906" y="-96"/>
      </p:cViewPr>
      <p:guideLst>
        <p:guide orient="horz" pos="2041"/>
        <p:guide pos="30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9020" y="1060529"/>
            <a:ext cx="8262224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5033" y="3403592"/>
            <a:ext cx="7290197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535C7-8350-4A26-BF79-D3F60F52C5E8}" type="datetimeFigureOut">
              <a:rPr lang="zh-CN" altLang="en-US" smtClean="0"/>
              <a:t>2019-05-07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FFF7-B258-4134-B292-AF46B1D9F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219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535C7-8350-4A26-BF79-D3F60F52C5E8}" type="datetimeFigureOut">
              <a:rPr lang="zh-CN" altLang="en-US" smtClean="0"/>
              <a:t>2019-05-07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FFF7-B258-4134-B292-AF46B1D9F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829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206" y="1615546"/>
            <a:ext cx="8383727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3206" y="4336619"/>
            <a:ext cx="8383727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/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535C7-8350-4A26-BF79-D3F60F52C5E8}" type="datetimeFigureOut">
              <a:rPr lang="zh-CN" altLang="en-US" smtClean="0"/>
              <a:t>2019-05-07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FFF7-B258-4134-B292-AF46B1D9F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86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8268" y="1725046"/>
            <a:ext cx="4131112" cy="41116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0883" y="1725046"/>
            <a:ext cx="4131112" cy="411161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535C7-8350-4A26-BF79-D3F60F52C5E8}" type="datetimeFigureOut">
              <a:rPr lang="zh-CN" altLang="en-US" smtClean="0"/>
              <a:t>2019-05-07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FFF7-B258-4134-B292-AF46B1D9F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475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345011"/>
            <a:ext cx="8383727" cy="125253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535" y="1588543"/>
            <a:ext cx="4112126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9535" y="2367064"/>
            <a:ext cx="4112126" cy="348159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0884" y="1588543"/>
            <a:ext cx="4132378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0884" y="2367064"/>
            <a:ext cx="4132378" cy="348159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535C7-8350-4A26-BF79-D3F60F52C5E8}" type="datetimeFigureOut">
              <a:rPr lang="zh-CN" altLang="en-US" smtClean="0"/>
              <a:t>2019-05-07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FFF7-B258-4134-B292-AF46B1D9F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237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535C7-8350-4A26-BF79-D3F60F52C5E8}" type="datetimeFigureOut">
              <a:rPr lang="zh-CN" altLang="en-US" smtClean="0"/>
              <a:t>2019-05-07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FFF7-B258-4134-B292-AF46B1D9F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9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535C7-8350-4A26-BF79-D3F60F52C5E8}" type="datetimeFigureOut">
              <a:rPr lang="zh-CN" altLang="en-US" smtClean="0"/>
              <a:t>2019-05-07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FFF7-B258-4134-B292-AF46B1D9F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217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432012"/>
            <a:ext cx="3135038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2378" y="933027"/>
            <a:ext cx="4920883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1944052"/>
            <a:ext cx="3135038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535C7-8350-4A26-BF79-D3F60F52C5E8}" type="datetimeFigureOut">
              <a:rPr lang="zh-CN" altLang="en-US" smtClean="0"/>
              <a:t>2019-05-07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FFF7-B258-4134-B292-AF46B1D9F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454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34" y="432012"/>
            <a:ext cx="3135038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2378" y="933027"/>
            <a:ext cx="4920883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9534" y="1944052"/>
            <a:ext cx="3135038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535C7-8350-4A26-BF79-D3F60F52C5E8}" type="datetimeFigureOut">
              <a:rPr lang="zh-CN" altLang="en-US" smtClean="0"/>
              <a:t>2019-05-07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FFF7-B258-4134-B292-AF46B1D9F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262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535C7-8350-4A26-BF79-D3F60F52C5E8}" type="datetimeFigureOut">
              <a:rPr lang="zh-CN" altLang="en-US" smtClean="0"/>
              <a:t>2019-05-07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FFF7-B258-4134-B292-AF46B1D9F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801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6064" y="345009"/>
            <a:ext cx="2095932" cy="549164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8269" y="345009"/>
            <a:ext cx="6166292" cy="5491649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535C7-8350-4A26-BF79-D3F60F52C5E8}" type="datetimeFigureOut">
              <a:rPr lang="zh-CN" altLang="en-US" smtClean="0"/>
              <a:t>2019-05-07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DFFF7-B258-4134-B292-AF46B1D9F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9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5/7/2019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4763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268" y="345011"/>
            <a:ext cx="8383727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8268" y="1725046"/>
            <a:ext cx="8383727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268" y="6006164"/>
            <a:ext cx="218705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C535C7-8350-4A26-BF79-D3F60F52C5E8}" type="datetimeFigureOut">
              <a:rPr lang="zh-CN" altLang="en-US" smtClean="0"/>
              <a:t>2019-05-07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19837" y="6006164"/>
            <a:ext cx="328058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64936" y="6006164"/>
            <a:ext cx="218705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DFFF7-B258-4134-B292-AF46B1D9F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174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7018" y="2704274"/>
            <a:ext cx="7568929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740"/>
              </a:lnSpc>
              <a:spcBef>
                <a:spcPct val="0"/>
              </a:spcBef>
              <a:spcAft>
                <a:spcPct val="0"/>
              </a:spcAft>
            </a:pPr>
            <a:r>
              <a:rPr sz="6600" b="1" spc="19" dirty="0" err="1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HQTOG+SimSun"/>
              </a:rPr>
              <a:t>本周教学内容</a:t>
            </a:r>
            <a:endParaRPr sz="6600" b="1" spc="19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EHQTOG+SimSun"/>
            </a:endParaRPr>
          </a:p>
        </p:txBody>
      </p:sp>
    </p:spTree>
    <p:extLst>
      <p:ext uri="{BB962C8B-B14F-4D97-AF65-F5344CB8AC3E}">
        <p14:creationId xmlns:p14="http://schemas.microsoft.com/office/powerpoint/2010/main" val="267190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2832774" y="613808"/>
            <a:ext cx="3921651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sz="4000" b="1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EHQTOG+SimSun"/>
              </a:rPr>
              <a:t>动态规划算法的重要应用</a:t>
            </a:r>
            <a:endParaRPr sz="40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EHQTOG+SimSu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90268" y="1053218"/>
            <a:ext cx="177192" cy="115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82"/>
              </a:lnSpc>
              <a:spcBef>
                <a:spcPct val="0"/>
              </a:spcBef>
              <a:spcAft>
                <a:spcPct val="0"/>
              </a:spcAft>
            </a:pPr>
            <a:r>
              <a:rPr sz="797">
                <a:solidFill>
                  <a:srgbClr val="000000"/>
                </a:solidFill>
                <a:latin typeface="ESTTGI+TimesNewRomanPSMT"/>
                <a:cs typeface="ESTTGI+TimesNewRomanPSMT"/>
              </a:rPr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50225" y="3064172"/>
            <a:ext cx="674748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23"/>
              </a:lnSpc>
              <a:spcBef>
                <a:spcPct val="0"/>
              </a:spcBef>
              <a:spcAft>
                <a:spcPct val="0"/>
              </a:spcAft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</a:t>
            </a:r>
          </a:p>
          <a:p>
            <a:pPr>
              <a:lnSpc>
                <a:spcPts val="2123"/>
              </a:lnSpc>
              <a:spcBef>
                <a:spcPts val="427"/>
              </a:spcBef>
              <a:spcAft>
                <a:spcPct val="0"/>
              </a:spcAft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像</a:t>
            </a:r>
          </a:p>
          <a:p>
            <a:pPr>
              <a:lnSpc>
                <a:spcPts val="2123"/>
              </a:lnSpc>
              <a:spcBef>
                <a:spcPts val="427"/>
              </a:spcBef>
              <a:spcAft>
                <a:spcPct val="0"/>
              </a:spcAft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压</a:t>
            </a:r>
          </a:p>
          <a:p>
            <a:pPr>
              <a:lnSpc>
                <a:spcPts val="2123"/>
              </a:lnSpc>
              <a:spcBef>
                <a:spcPts val="427"/>
              </a:spcBef>
              <a:spcAft>
                <a:spcPct val="0"/>
              </a:spcAft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缩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200621" y="3032111"/>
            <a:ext cx="674748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23"/>
              </a:lnSpc>
              <a:spcBef>
                <a:spcPct val="0"/>
              </a:spcBef>
              <a:spcAft>
                <a:spcPct val="0"/>
              </a:spcAft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序</a:t>
            </a:r>
          </a:p>
          <a:p>
            <a:pPr>
              <a:lnSpc>
                <a:spcPts val="2123"/>
              </a:lnSpc>
              <a:spcBef>
                <a:spcPts val="427"/>
              </a:spcBef>
              <a:spcAft>
                <a:spcPct val="0"/>
              </a:spcAft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列</a:t>
            </a:r>
          </a:p>
          <a:p>
            <a:pPr>
              <a:lnSpc>
                <a:spcPts val="2123"/>
              </a:lnSpc>
              <a:spcBef>
                <a:spcPts val="427"/>
              </a:spcBef>
              <a:spcAft>
                <a:spcPct val="0"/>
              </a:spcAft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比</a:t>
            </a:r>
          </a:p>
          <a:p>
            <a:pPr>
              <a:lnSpc>
                <a:spcPts val="2123"/>
              </a:lnSpc>
              <a:spcBef>
                <a:spcPts val="427"/>
              </a:spcBef>
              <a:spcAft>
                <a:spcPct val="0"/>
              </a:spcAft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623208" y="2794867"/>
            <a:ext cx="674747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23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最大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大</a:t>
            </a:r>
            <a:endParaRPr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2123"/>
              </a:lnSpc>
              <a:spcBef>
                <a:spcPts val="427"/>
              </a:spcBef>
              <a:spcAft>
                <a:spcPct val="0"/>
              </a:spcAft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</a:t>
            </a:r>
          </a:p>
          <a:p>
            <a:pPr>
              <a:lnSpc>
                <a:spcPts val="2123"/>
              </a:lnSpc>
              <a:spcBef>
                <a:spcPts val="427"/>
              </a:spcBef>
              <a:spcAft>
                <a:spcPct val="0"/>
              </a:spcAft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段</a:t>
            </a:r>
          </a:p>
          <a:p>
            <a:pPr>
              <a:lnSpc>
                <a:spcPts val="2123"/>
              </a:lnSpc>
              <a:spcBef>
                <a:spcPts val="427"/>
              </a:spcBef>
              <a:spcAft>
                <a:spcPct val="0"/>
              </a:spcAft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017850" y="3035031"/>
            <a:ext cx="945294" cy="11669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23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</a:p>
          <a:p>
            <a:pPr>
              <a:lnSpc>
                <a:spcPts val="2123"/>
              </a:lnSpc>
              <a:spcBef>
                <a:spcPct val="0"/>
              </a:spcBef>
              <a:spcAft>
                <a:spcPct val="0"/>
              </a:spcAft>
            </a:pPr>
            <a:r>
              <a:rPr sz="28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二级</a:t>
            </a:r>
            <a:endParaRPr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2123"/>
              </a:lnSpc>
              <a:spcBef>
                <a:spcPts val="427"/>
              </a:spcBef>
              <a:spcAft>
                <a:spcPct val="0"/>
              </a:spcAft>
            </a:pPr>
            <a:r>
              <a:rPr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结构</a:t>
            </a:r>
            <a:endParaRPr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2123"/>
              </a:lnSpc>
              <a:spcBef>
                <a:spcPts val="268"/>
              </a:spcBef>
              <a:spcAft>
                <a:spcPct val="0"/>
              </a:spcAft>
            </a:pPr>
            <a:r>
              <a:rPr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预测</a:t>
            </a:r>
            <a:endParaRPr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80127" y="3701071"/>
            <a:ext cx="1830897" cy="861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sz="28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最优二叉检索树概念</a:t>
            </a:r>
            <a:endParaRPr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485601" y="2371674"/>
            <a:ext cx="22178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最优二叉检索树算法</a:t>
            </a:r>
          </a:p>
        </p:txBody>
      </p:sp>
      <p:sp>
        <p:nvSpPr>
          <p:cNvPr id="22" name="矩形 21"/>
          <p:cNvSpPr/>
          <p:nvPr/>
        </p:nvSpPr>
        <p:spPr>
          <a:xfrm>
            <a:off x="1478864" y="2794867"/>
            <a:ext cx="781624" cy="163798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405609" y="2625232"/>
            <a:ext cx="781624" cy="201634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607324" y="2416510"/>
            <a:ext cx="1964330" cy="90927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3626206" y="3655311"/>
            <a:ext cx="1964330" cy="90927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5937563" y="2891680"/>
            <a:ext cx="920433" cy="137153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057900" y="2871145"/>
            <a:ext cx="654863" cy="139207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2208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6" grpId="0"/>
      <p:bldP spid="17" grpId="0"/>
      <p:bldP spid="21" grpId="0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4158" y="2542270"/>
            <a:ext cx="8001000" cy="730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740"/>
              </a:lnSpc>
              <a:spcBef>
                <a:spcPct val="0"/>
              </a:spcBef>
              <a:spcAft>
                <a:spcPct val="0"/>
              </a:spcAft>
            </a:pPr>
            <a:r>
              <a:rPr sz="6600" b="1" spc="16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FOETI+SimSun"/>
              </a:rPr>
              <a:t>图像压缩</a:t>
            </a:r>
            <a:endParaRPr sz="6600" b="1" spc="16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FFOETI+SimSun"/>
            </a:endParaRPr>
          </a:p>
        </p:txBody>
      </p:sp>
    </p:spTree>
    <p:extLst>
      <p:ext uri="{BB962C8B-B14F-4D97-AF65-F5344CB8AC3E}">
        <p14:creationId xmlns:p14="http://schemas.microsoft.com/office/powerpoint/2010/main" val="11521427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"/>
          <p:cNvSpPr/>
          <p:nvPr/>
        </p:nvSpPr>
        <p:spPr>
          <a:xfrm>
            <a:off x="407219" y="4179201"/>
            <a:ext cx="739636" cy="705545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627"/>
          </a:p>
        </p:txBody>
      </p:sp>
      <p:sp>
        <p:nvSpPr>
          <p:cNvPr id="2" name="object 2"/>
          <p:cNvSpPr/>
          <p:nvPr/>
        </p:nvSpPr>
        <p:spPr>
          <a:xfrm>
            <a:off x="6012262" y="3669339"/>
            <a:ext cx="1591173" cy="1607301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sz="1627"/>
          </a:p>
        </p:txBody>
      </p:sp>
      <p:sp>
        <p:nvSpPr>
          <p:cNvPr id="4" name="object 4"/>
          <p:cNvSpPr txBox="1"/>
          <p:nvPr/>
        </p:nvSpPr>
        <p:spPr>
          <a:xfrm>
            <a:off x="421275" y="292491"/>
            <a:ext cx="8961263" cy="551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54"/>
              </a:lnSpc>
              <a:spcBef>
                <a:spcPct val="0"/>
              </a:spcBef>
              <a:spcAft>
                <a:spcPct val="0"/>
              </a:spcAft>
            </a:pPr>
            <a:r>
              <a:rPr sz="4000" b="1" spc="11" dirty="0" err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FOETI+SimSun"/>
              </a:rPr>
              <a:t>黑白图像存储</a:t>
            </a:r>
            <a:endParaRPr sz="4000" b="1" spc="1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FFOETI+SimSu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275" y="1659614"/>
            <a:ext cx="8961263" cy="861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像素点灰度值</a:t>
            </a:r>
            <a:r>
              <a:rPr sz="2800" b="1" spc="3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0∼255，为8位二进制数</a:t>
            </a:r>
          </a:p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sz="28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图像的</a:t>
            </a:r>
            <a:r>
              <a:rPr sz="2800" b="1" spc="12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灰度值序列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:{</a:t>
            </a:r>
            <a:r>
              <a:rPr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sz="2800" b="1" spc="215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sz="2800" b="1" spc="216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,…,</a:t>
            </a:r>
            <a:r>
              <a:rPr sz="28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sz="2800" b="1" spc="304" baseline="-25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}，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spc="216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800" b="1" spc="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个像素点灰度值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32531" y="3154674"/>
            <a:ext cx="888032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4"/>
              </a:lnSpc>
              <a:spcBef>
                <a:spcPct val="0"/>
              </a:spcBef>
              <a:spcAft>
                <a:spcPct val="0"/>
              </a:spcAft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图像存储：每个像素的灰度值占8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位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总计空间为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46855" y="4306278"/>
            <a:ext cx="3703441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1"/>
              </a:lnSpc>
              <a:spcBef>
                <a:spcPct val="0"/>
              </a:spcBef>
              <a:spcAft>
                <a:spcPct val="0"/>
              </a:spcAft>
            </a:pPr>
            <a:r>
              <a:rPr sz="2800" b="1" spc="11" dirty="0" err="1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FOETI+SimSun"/>
              </a:rPr>
              <a:t>有没有更好的存储</a:t>
            </a:r>
            <a:r>
              <a:rPr sz="2800" b="1" dirty="0" err="1" smtClean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FOETI+SimSun"/>
              </a:rPr>
              <a:t>方法</a:t>
            </a:r>
            <a:endParaRPr sz="28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  <a:cs typeface="FFOETI+SimSun"/>
            </a:endParaRPr>
          </a:p>
        </p:txBody>
      </p:sp>
    </p:spTree>
    <p:extLst>
      <p:ext uri="{BB962C8B-B14F-4D97-AF65-F5344CB8AC3E}">
        <p14:creationId xmlns:p14="http://schemas.microsoft.com/office/powerpoint/2010/main" val="39563310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" grpId="0" animBg="1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0346" y="171537"/>
            <a:ext cx="9001950" cy="551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54"/>
              </a:lnSpc>
              <a:spcBef>
                <a:spcPct val="0"/>
              </a:spcBef>
              <a:spcAft>
                <a:spcPct val="0"/>
              </a:spcAft>
            </a:pPr>
            <a:r>
              <a:rPr sz="4000" b="1" spc="1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FOETI+SimSun"/>
              </a:rPr>
              <a:t>图像变位压缩的概念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5943" y="1356752"/>
            <a:ext cx="8906353" cy="71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4"/>
              </a:lnSpc>
              <a:spcBef>
                <a:spcPct val="0"/>
              </a:spcBef>
              <a:spcAft>
                <a:spcPct val="0"/>
              </a:spcAft>
            </a:pPr>
            <a:r>
              <a:rPr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变位压缩存储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sz="2800" b="1" spc="668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:{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spc="215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spc="216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,…,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spc="304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分成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段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{s</a:t>
            </a:r>
            <a:r>
              <a:rPr lang="en-US" altLang="zh-CN" sz="2800" b="1" spc="215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spc="216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,…,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spc="304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  <a:endParaRPr lang="zh-CN" altLang="en-US" sz="2800" b="1" dirty="0"/>
          </a:p>
          <a:p>
            <a:pPr>
              <a:lnSpc>
                <a:spcPts val="2824"/>
              </a:lnSpc>
              <a:spcBef>
                <a:spcPct val="0"/>
              </a:spcBef>
              <a:spcAft>
                <a:spcPct val="0"/>
              </a:spcAft>
            </a:pPr>
            <a:endParaRPr sz="28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5942" y="2876539"/>
            <a:ext cx="8774707" cy="10156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spcBef>
                <a:spcPct val="0"/>
              </a:spcBef>
              <a:spcAft>
                <a:spcPts val="1200"/>
              </a:spcAft>
            </a:pPr>
            <a:r>
              <a:rPr sz="2800" b="1" spc="1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同一段的像素占用位数相同</a:t>
            </a:r>
            <a:endParaRPr lang="en-US" altLang="zh-CN" sz="2800" b="1" spc="11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spcAft>
                <a:spcPts val="1200"/>
              </a:spcAft>
            </a:pP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zh-CN" altLang="en-US" sz="2800" b="1" spc="12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段有</a:t>
            </a:r>
            <a:r>
              <a:rPr lang="zh-CN" altLang="en-US" sz="2800" b="1" spc="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像素，每个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占用</a:t>
            </a:r>
            <a:r>
              <a:rPr lang="zh-CN" altLang="en-US" sz="2800" b="1" spc="2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 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位</a:t>
            </a:r>
            <a:endParaRPr lang="en-US" altLang="zh-CN" sz="28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454" y="2072883"/>
            <a:ext cx="6704762" cy="542857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071" y="4680624"/>
            <a:ext cx="6038095" cy="466667"/>
          </a:xfrm>
          <a:prstGeom prst="rect">
            <a:avLst/>
          </a:prstGeom>
        </p:spPr>
      </p:pic>
      <p:sp>
        <p:nvSpPr>
          <p:cNvPr id="7" name="object 16"/>
          <p:cNvSpPr txBox="1"/>
          <p:nvPr/>
        </p:nvSpPr>
        <p:spPr>
          <a:xfrm>
            <a:off x="511787" y="4723217"/>
            <a:ext cx="809373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总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位数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object 16"/>
          <p:cNvSpPr txBox="1"/>
          <p:nvPr/>
        </p:nvSpPr>
        <p:spPr>
          <a:xfrm>
            <a:off x="489723" y="4085220"/>
            <a:ext cx="8774707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段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头：记录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](8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位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](3</a:t>
            </a:r>
            <a:r>
              <a:rPr lang="zh-CN" altLang="en-US" sz="2800" b="1" spc="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位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需要</a:t>
            </a:r>
            <a:r>
              <a:rPr lang="en-US" altLang="zh-CN" sz="2800" b="1" spc="-7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位</a:t>
            </a:r>
            <a:endParaRPr lang="en-US" altLang="zh-CN" sz="28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8040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77687" y="265613"/>
            <a:ext cx="9024730" cy="551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54"/>
              </a:lnSpc>
              <a:spcBef>
                <a:spcPct val="0"/>
              </a:spcBef>
              <a:spcAft>
                <a:spcPct val="0"/>
              </a:spcAft>
            </a:pPr>
            <a:r>
              <a:rPr sz="4000" b="1" spc="11" dirty="0" err="1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FFOETI+SimSun"/>
              </a:rPr>
              <a:t>图像压缩问题</a:t>
            </a:r>
            <a:endParaRPr sz="4000" b="1" spc="11" dirty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FFOETI+SimSu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4375" y="1308768"/>
            <a:ext cx="9008042" cy="833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25"/>
              </a:lnSpc>
              <a:spcBef>
                <a:spcPct val="0"/>
              </a:spcBef>
              <a:spcAft>
                <a:spcPct val="0"/>
              </a:spcAft>
            </a:pPr>
            <a:r>
              <a:rPr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约束条件：第</a:t>
            </a:r>
            <a:r>
              <a:rPr sz="2800" b="1" spc="68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 </a:t>
            </a:r>
            <a:r>
              <a:rPr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段像素个数</a:t>
            </a:r>
            <a:r>
              <a:rPr sz="2800" b="1" spc="66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 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≤</a:t>
            </a:r>
            <a:r>
              <a:rPr 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256</a:t>
            </a:r>
            <a:endParaRPr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053008">
              <a:lnSpc>
                <a:spcPts val="2824"/>
              </a:lnSpc>
              <a:spcBef>
                <a:spcPts val="555"/>
              </a:spcBef>
              <a:spcAft>
                <a:spcPct val="0"/>
              </a:spcAft>
            </a:pPr>
            <a:r>
              <a:rPr 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sz="2800" b="1" spc="12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 </a:t>
            </a:r>
            <a:r>
              <a:rPr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段占用空间：</a:t>
            </a:r>
            <a:r>
              <a:rPr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]×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sz="2800" b="1" spc="3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sz="2800" b="1" spc="-14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94375" y="3406119"/>
            <a:ext cx="9008041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4"/>
              </a:lnSpc>
              <a:spcBef>
                <a:spcPct val="0"/>
              </a:spcBef>
              <a:spcAft>
                <a:spcPct val="0"/>
              </a:spcAft>
            </a:pPr>
            <a:r>
              <a:rPr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sz="2800" b="1" spc="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给定像素序列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spc="215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spc="216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,…,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spc="304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},</a:t>
            </a:r>
            <a:r>
              <a:rPr lang="zh-CN" altLang="en-US" sz="2800" b="1" spc="1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确定</a:t>
            </a:r>
            <a:r>
              <a:rPr lang="zh-CN" altLang="en-US" sz="2800" b="1" spc="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最优分段，</a:t>
            </a:r>
            <a:r>
              <a:rPr lang="zh-CN" altLang="en-US" sz="2800" b="1" spc="1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lang="zh-CN" altLang="en-US" sz="2800" b="1" spc="1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756" y="2345653"/>
            <a:ext cx="3371429" cy="857143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310" y="4002994"/>
            <a:ext cx="4342857" cy="12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5761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243" y="190910"/>
            <a:ext cx="8723600" cy="551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54"/>
              </a:lnSpc>
              <a:spcBef>
                <a:spcPct val="0"/>
              </a:spcBef>
              <a:spcAft>
                <a:spcPct val="0"/>
              </a:spcAft>
            </a:pPr>
            <a:r>
              <a:rPr sz="4000" b="1" spc="11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实例</a:t>
            </a:r>
            <a:endParaRPr sz="4000" b="1" spc="11" dirty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0209" y="1051753"/>
            <a:ext cx="8992634" cy="861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ct val="0"/>
              </a:spcAft>
            </a:pPr>
            <a:r>
              <a:rPr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灰度值序列</a:t>
            </a:r>
            <a:endParaRPr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Aft>
                <a:spcPct val="0"/>
              </a:spcAft>
            </a:pPr>
            <a:r>
              <a:rPr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={10,12,15,255,1,2,1,1,2,2,1,1}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0208" y="2013496"/>
            <a:ext cx="873421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4"/>
              </a:lnSpc>
              <a:spcBef>
                <a:spcPct val="0"/>
              </a:spcBef>
              <a:spcAft>
                <a:spcPct val="0"/>
              </a:spcAft>
            </a:pP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分法1：</a:t>
            </a:r>
            <a:r>
              <a:rPr sz="2800" b="1" spc="24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sz="2800" b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{10, 12, 15}</a:t>
            </a:r>
            <a:r>
              <a:rPr sz="2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i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sz="28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={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255},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84286" y="2398095"/>
            <a:ext cx="7439834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4"/>
              </a:lnSpc>
              <a:spcBef>
                <a:spcPct val="0"/>
              </a:spcBef>
              <a:spcAft>
                <a:spcPct val="0"/>
              </a:spcAft>
            </a:pPr>
            <a:r>
              <a:rPr sz="2800" b="1" i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sz="2800" b="1" spc="214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={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1, 2, 1, 1, 2, 2, 1, 1}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40209" y="2791117"/>
            <a:ext cx="8992634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4"/>
              </a:lnSpc>
              <a:spcBef>
                <a:spcPct val="0"/>
              </a:spcBef>
              <a:spcAft>
                <a:spcPct val="0"/>
              </a:spcAft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分法2</a:t>
            </a:r>
            <a:r>
              <a:rPr sz="2800" b="1" spc="12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i="1" spc="213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={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10,12,15,255,1,2,1,1,2,2,1,1}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40209" y="3249500"/>
            <a:ext cx="5141273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24"/>
              </a:lnSpc>
              <a:spcBef>
                <a:spcPct val="0"/>
              </a:spcBef>
              <a:spcAft>
                <a:spcPct val="0"/>
              </a:spcAft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分法3：</a:t>
            </a:r>
            <a:r>
              <a:rPr sz="2800" b="1" spc="24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分成12</a:t>
            </a:r>
            <a:r>
              <a:rPr sz="2800" b="1" spc="1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组，每组一个数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40209" y="4136983"/>
            <a:ext cx="8734215" cy="1128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51"/>
              </a:lnSpc>
              <a:spcBef>
                <a:spcPct val="0"/>
              </a:spcBef>
              <a:spcAft>
                <a:spcPct val="0"/>
              </a:spcAft>
            </a:pPr>
            <a:r>
              <a:rPr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存储空间</a:t>
            </a:r>
            <a:endParaRPr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ts val="3060"/>
              </a:lnSpc>
              <a:spcBef>
                <a:spcPct val="0"/>
              </a:spcBef>
              <a:spcAft>
                <a:spcPct val="0"/>
              </a:spcAft>
            </a:pP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分法1：</a:t>
            </a:r>
            <a:r>
              <a:rPr sz="2800" b="1" spc="-7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×3+4×3+</a:t>
            </a:r>
            <a:r>
              <a:rPr sz="2800" b="1" spc="-16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8×1+2×8</a:t>
            </a:r>
            <a:r>
              <a:rPr sz="2800" b="1" spc="-18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69</a:t>
            </a:r>
          </a:p>
          <a:p>
            <a:pPr>
              <a:lnSpc>
                <a:spcPts val="3061"/>
              </a:lnSpc>
              <a:spcBef>
                <a:spcPct val="0"/>
              </a:spcBef>
              <a:spcAft>
                <a:spcPct val="0"/>
              </a:spcAft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分法2：</a:t>
            </a:r>
            <a:r>
              <a:rPr sz="2800" b="1" spc="-7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×1+8×12</a:t>
            </a:r>
            <a:r>
              <a:rPr sz="2800" b="1" spc="-12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=107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40208" y="5266159"/>
            <a:ext cx="8783911" cy="397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25"/>
              </a:lnSpc>
              <a:spcBef>
                <a:spcPct val="0"/>
              </a:spcBef>
              <a:spcAft>
                <a:spcPct val="0"/>
              </a:spcAft>
            </a:pP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分法3：</a:t>
            </a:r>
            <a:r>
              <a:rPr sz="2800" b="1" spc="-7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×12+4×3+8×1+1×5+2×3=163</a:t>
            </a:r>
          </a:p>
        </p:txBody>
      </p:sp>
    </p:spTree>
    <p:extLst>
      <p:ext uri="{BB962C8B-B14F-4D97-AF65-F5344CB8AC3E}">
        <p14:creationId xmlns:p14="http://schemas.microsoft.com/office/powerpoint/2010/main" val="11809296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1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7565" y="259518"/>
            <a:ext cx="90048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子问题界定与计算顺序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3" name="矩形 2"/>
          <p:cNvSpPr/>
          <p:nvPr/>
        </p:nvSpPr>
        <p:spPr>
          <a:xfrm>
            <a:off x="397565" y="1394836"/>
            <a:ext cx="883588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子问题前边界为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，后边界为 </a:t>
            </a:r>
            <a:r>
              <a:rPr lang="en-US" altLang="zh-CN" sz="2800" b="1" i="1" dirty="0" err="1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</a:t>
            </a:r>
            <a:endParaRPr lang="en-US" altLang="zh-CN" sz="2800" b="1" i="1" dirty="0" smtClean="0">
              <a:solidFill>
                <a:srgbClr val="0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algn="just"/>
            <a:r>
              <a:rPr lang="zh-CN" alt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对应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像素序列为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:{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</a:t>
            </a:r>
            <a:r>
              <a:rPr lang="en-US" altLang="zh-CN" sz="2800" b="1" spc="215" baseline="-2500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</a:t>
            </a:r>
            <a:r>
              <a:rPr lang="en-US" altLang="zh-CN" sz="2800" b="1" spc="216" baseline="-2500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,…,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</a:t>
            </a:r>
            <a:r>
              <a:rPr lang="en-US" altLang="zh-CN" sz="2800" b="1" spc="304" baseline="-250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}</a:t>
            </a:r>
          </a:p>
          <a:p>
            <a:pPr algn="just"/>
            <a:r>
              <a:rPr lang="zh-CN" alt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优化函数值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[</a:t>
            </a:r>
            <a:r>
              <a:rPr lang="en-US" altLang="zh-CN" sz="2800" b="1" i="1" dirty="0" err="1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]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为最优分段存贮位数</a:t>
            </a:r>
            <a:endParaRPr lang="en-US" altLang="zh-CN" sz="2800" b="1" dirty="0" smtClean="0">
              <a:solidFill>
                <a:srgbClr val="0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124" y="3315146"/>
            <a:ext cx="4912075" cy="210340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97564" y="2826451"/>
            <a:ext cx="88358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计算顺序</a:t>
            </a:r>
            <a:endParaRPr lang="en-US" altLang="zh-CN" sz="2800" b="1" dirty="0" smtClean="0">
              <a:solidFill>
                <a:srgbClr val="0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543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14035" y="219762"/>
            <a:ext cx="909892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算法设计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313429" y="1030929"/>
            <a:ext cx="9088988" cy="1620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递推方程</a:t>
            </a:r>
            <a:r>
              <a:rPr lang="en-US" altLang="zh-CN" sz="2800" b="1" dirty="0">
                <a:solidFill>
                  <a:srgbClr val="000000"/>
                </a:solidFill>
                <a:latin typeface="TimesNewRomanPS-BoldMT"/>
              </a:rPr>
              <a:t>: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设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[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]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是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:{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</a:t>
            </a:r>
            <a:r>
              <a:rPr lang="en-US" altLang="zh-CN" sz="2800" b="1" spc="215" baseline="-2500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</a:t>
            </a:r>
            <a:r>
              <a:rPr lang="en-US" altLang="zh-CN" sz="2800" b="1" spc="216" baseline="-25000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,…,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p</a:t>
            </a:r>
            <a:r>
              <a:rPr lang="en-US" altLang="zh-CN" sz="2800" b="1" spc="304" baseline="-250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}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的最优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分段需要的存储位数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</a:t>
            </a:r>
            <a:r>
              <a:rPr lang="en-US" altLang="zh-CN" sz="2800" b="1" baseline="-250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m</a:t>
            </a: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是最后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分段</a:t>
            </a:r>
            <a:endParaRPr lang="en-US" altLang="zh-CN" sz="2800" b="1" dirty="0" smtClean="0">
              <a:solidFill>
                <a:srgbClr val="000000"/>
              </a:solidFill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algn="just"/>
            <a:r>
              <a:rPr lang="zh-CN" altLang="en-US" sz="2800" b="1" dirty="0" smtClean="0"/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t="9210"/>
          <a:stretch/>
        </p:blipFill>
        <p:spPr>
          <a:xfrm>
            <a:off x="1233632" y="3776869"/>
            <a:ext cx="6047619" cy="71767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450" y="4829435"/>
            <a:ext cx="4019048" cy="6761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450" y="2008829"/>
            <a:ext cx="5219048" cy="1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873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23367" y="170066"/>
            <a:ext cx="89498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伪码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74" y="957853"/>
            <a:ext cx="4285714" cy="62857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b="50000"/>
          <a:stretch/>
        </p:blipFill>
        <p:spPr>
          <a:xfrm>
            <a:off x="577175" y="4985984"/>
            <a:ext cx="3000000" cy="3761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/>
          <a:srcRect l="51132" b="71783"/>
          <a:stretch/>
        </p:blipFill>
        <p:spPr>
          <a:xfrm>
            <a:off x="3429979" y="1594937"/>
            <a:ext cx="2736618" cy="9647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45" y="4608507"/>
            <a:ext cx="4333333" cy="46666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4972" y="2759109"/>
            <a:ext cx="1504762" cy="8761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7353" y="3788389"/>
            <a:ext cx="1552381" cy="90476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4"/>
          <a:srcRect t="10369" r="47921" b="54550"/>
          <a:stretch/>
        </p:blipFill>
        <p:spPr>
          <a:xfrm>
            <a:off x="532452" y="1922107"/>
            <a:ext cx="2916426" cy="1199439"/>
          </a:xfrm>
          <a:prstGeom prst="rect">
            <a:avLst/>
          </a:prstGeom>
          <a:ln w="25400">
            <a:solidFill>
              <a:srgbClr val="00B050"/>
            </a:solidFill>
          </a:ln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4"/>
          <a:srcRect t="56750" r="29636" b="22327"/>
          <a:stretch/>
        </p:blipFill>
        <p:spPr>
          <a:xfrm>
            <a:off x="558346" y="3501221"/>
            <a:ext cx="3940372" cy="71533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/>
          <a:srcRect t="46409" r="29636" b="43548"/>
          <a:stretch/>
        </p:blipFill>
        <p:spPr>
          <a:xfrm>
            <a:off x="532452" y="3165159"/>
            <a:ext cx="3940372" cy="343354"/>
          </a:xfrm>
          <a:prstGeom prst="rect">
            <a:avLst/>
          </a:prstGeom>
          <a:ln w="25400">
            <a:solidFill>
              <a:srgbClr val="C00000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/>
          <a:srcRect r="47921" b="90887"/>
          <a:stretch/>
        </p:blipFill>
        <p:spPr>
          <a:xfrm>
            <a:off x="532452" y="1586813"/>
            <a:ext cx="2916426" cy="311561"/>
          </a:xfrm>
          <a:prstGeom prst="rect">
            <a:avLst/>
          </a:prstGeom>
          <a:ln w="25400">
            <a:solidFill>
              <a:srgbClr val="C00000"/>
            </a:solidFill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4"/>
          <a:srcRect t="78333" r="29636" b="10699"/>
          <a:stretch/>
        </p:blipFill>
        <p:spPr>
          <a:xfrm>
            <a:off x="544473" y="4266401"/>
            <a:ext cx="3940372" cy="374999"/>
          </a:xfrm>
          <a:prstGeom prst="rect">
            <a:avLst/>
          </a:prstGeom>
          <a:noFill/>
          <a:ln w="25400">
            <a:noFill/>
          </a:ln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/>
          <a:srcRect t="50000"/>
          <a:stretch/>
        </p:blipFill>
        <p:spPr>
          <a:xfrm>
            <a:off x="586737" y="5354650"/>
            <a:ext cx="3000000" cy="37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436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79" y="131200"/>
            <a:ext cx="6704162" cy="130632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b="81265"/>
          <a:stretch/>
        </p:blipFill>
        <p:spPr>
          <a:xfrm>
            <a:off x="1911847" y="1588058"/>
            <a:ext cx="5781607" cy="8569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t="18611" b="65603"/>
          <a:stretch/>
        </p:blipFill>
        <p:spPr>
          <a:xfrm>
            <a:off x="1911846" y="2438558"/>
            <a:ext cx="5781607" cy="72208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t="34326" b="49887"/>
          <a:stretch/>
        </p:blipFill>
        <p:spPr>
          <a:xfrm>
            <a:off x="1910048" y="3134297"/>
            <a:ext cx="5781607" cy="72208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t="82491"/>
          <a:stretch/>
        </p:blipFill>
        <p:spPr>
          <a:xfrm>
            <a:off x="1921785" y="5314430"/>
            <a:ext cx="5781607" cy="80087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/>
          <a:srcRect t="50550" b="33618"/>
          <a:stretch/>
        </p:blipFill>
        <p:spPr>
          <a:xfrm>
            <a:off x="1919987" y="3897515"/>
            <a:ext cx="5781607" cy="72418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/>
          <a:srcRect t="66460" b="17585"/>
          <a:stretch/>
        </p:blipFill>
        <p:spPr>
          <a:xfrm>
            <a:off x="1911846" y="4627374"/>
            <a:ext cx="5781607" cy="72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90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73062" y="110430"/>
            <a:ext cx="892996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追踪解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b="61964"/>
          <a:stretch/>
        </p:blipFill>
        <p:spPr>
          <a:xfrm>
            <a:off x="373062" y="818316"/>
            <a:ext cx="6169304" cy="20242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t="88410"/>
          <a:stretch/>
        </p:blipFill>
        <p:spPr>
          <a:xfrm>
            <a:off x="421979" y="4988729"/>
            <a:ext cx="6169304" cy="6168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t="38183" r="49207" b="27073"/>
          <a:stretch/>
        </p:blipFill>
        <p:spPr>
          <a:xfrm>
            <a:off x="373062" y="2894580"/>
            <a:ext cx="3133569" cy="18491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l="49981" t="38183" r="19222" b="39525"/>
          <a:stretch/>
        </p:blipFill>
        <p:spPr>
          <a:xfrm>
            <a:off x="3759200" y="3182381"/>
            <a:ext cx="1899920" cy="118641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/>
          <a:srcRect l="-165" t="73882" r="165" b="14989"/>
          <a:stretch/>
        </p:blipFill>
        <p:spPr>
          <a:xfrm>
            <a:off x="3032121" y="1828858"/>
            <a:ext cx="5608236" cy="53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849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7982" y="280942"/>
            <a:ext cx="890809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538480" y="1240189"/>
            <a:ext cx="8585199" cy="4287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图像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变位存储问题的建模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子问题边界的界定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递推方程及初值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伪码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标记函数与解的追踪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时间复杂度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935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380768" y="2446126"/>
            <a:ext cx="485775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66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最大子段和</a:t>
            </a:r>
            <a:r>
              <a:rPr lang="zh-CN" altLang="en-US" sz="66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1417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37931" y="189944"/>
            <a:ext cx="91340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最大子段和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337930" y="1044709"/>
            <a:ext cx="85774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：给定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个数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可以为负数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的序列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162" y="1567929"/>
            <a:ext cx="2993021" cy="64439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12820" y="2512447"/>
            <a:ext cx="485775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r>
              <a:rPr lang="zh-CN" altLang="en-US" sz="2800" dirty="0"/>
              <a:t> 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738" y="2389913"/>
            <a:ext cx="3889950" cy="794031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92942" y="3799847"/>
            <a:ext cx="485775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实例</a:t>
            </a:r>
            <a:r>
              <a:rPr lang="zh-CN" altLang="en-US" dirty="0"/>
              <a:t> 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225" y="3799847"/>
            <a:ext cx="3700198" cy="566432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92942" y="4801634"/>
            <a:ext cx="485775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解：最大子段和为 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8288" y="4823527"/>
            <a:ext cx="2256752" cy="52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477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3975" y="110431"/>
            <a:ext cx="910886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353184" y="987332"/>
            <a:ext cx="8979658" cy="1189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：对所有的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j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，顺序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求和 </a:t>
            </a:r>
            <a:r>
              <a:rPr lang="en-US" altLang="zh-CN" sz="28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 ... + </a:t>
            </a:r>
            <a:r>
              <a:rPr lang="en-US" altLang="zh-CN" sz="28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并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比较出最大的和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/>
              <a:t/>
            </a:r>
            <a:br>
              <a:rPr lang="zh-CN" altLang="en-US" b="1" dirty="0"/>
            </a:br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353184" y="2346032"/>
            <a:ext cx="897965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：分治策略，将数组分成左右两半，分别计算左边的最大和、右边的最大和、跨边界的最大和，然后比较其中最大者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53184" y="4076143"/>
            <a:ext cx="485775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：动态规划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653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23366" y="80615"/>
            <a:ext cx="904923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r>
              <a:rPr lang="en-US" altLang="zh-CN" sz="40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40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伪码</a:t>
            </a:r>
            <a:r>
              <a:rPr lang="zh-CN" altLang="en-US" sz="4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4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52575" y="825427"/>
            <a:ext cx="892002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Enumerate </a:t>
            </a:r>
            <a:endParaRPr lang="en-US" altLang="zh-CN" sz="28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：数组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[1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..n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输出：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sum, first, last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436" y="2154248"/>
            <a:ext cx="2019048" cy="111428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t="25400" b="23265"/>
          <a:stretch/>
        </p:blipFill>
        <p:spPr>
          <a:xfrm>
            <a:off x="452575" y="2544418"/>
            <a:ext cx="3506861" cy="755373"/>
          </a:xfrm>
          <a:prstGeom prst="rect">
            <a:avLst/>
          </a:prstGeom>
          <a:ln w="25400">
            <a:solidFill>
              <a:srgbClr val="C00000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721" y="4470031"/>
            <a:ext cx="4088401" cy="1515528"/>
          </a:xfrm>
          <a:prstGeom prst="rect">
            <a:avLst/>
          </a:prstGeom>
          <a:ln w="25400">
            <a:solidFill>
              <a:srgbClr val="C00000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8895" y="5494443"/>
            <a:ext cx="3533333" cy="61904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/>
          <a:srcRect t="3785" b="73063"/>
          <a:stretch/>
        </p:blipFill>
        <p:spPr>
          <a:xfrm>
            <a:off x="452574" y="2162816"/>
            <a:ext cx="3506861" cy="34067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513" y="3340722"/>
            <a:ext cx="5182913" cy="109914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5417" y="4418253"/>
            <a:ext cx="2019048" cy="10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851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3428" y="160126"/>
            <a:ext cx="89200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r>
              <a:rPr lang="en-US" altLang="zh-CN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分治策略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502270" y="1013309"/>
            <a:ext cx="873118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将序列分成左右两半，中间分点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center</a:t>
            </a:r>
            <a:b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递归计算左段最大子段和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leftsum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/>
            </a:r>
            <a:b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递归计算右段最大子段和 </a:t>
            </a:r>
            <a:r>
              <a:rPr lang="en-US" altLang="zh-CN" sz="28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rightsum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241" y="4012633"/>
            <a:ext cx="3466667" cy="6666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488" y="2329944"/>
            <a:ext cx="3580952" cy="177142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440" y="2408172"/>
            <a:ext cx="3228571" cy="1285714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26896" y="4743532"/>
            <a:ext cx="873118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center 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A[1]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最大和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center</a:t>
            </a:r>
          </a:p>
          <a:p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center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+1 </a:t>
            </a:r>
            <a:r>
              <a:rPr lang="zh-CN" altLang="en-US" sz="2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A[n]</a:t>
            </a:r>
            <a:r>
              <a:rPr lang="zh-CN" altLang="en-US"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最大</a:t>
            </a:r>
            <a:r>
              <a:rPr lang="zh-CN" altLang="en-US"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2269" y="5697639"/>
            <a:ext cx="8731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max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{ 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leftsum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rightsum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}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471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3669" y="50845"/>
            <a:ext cx="899953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r>
              <a:rPr lang="en-US" altLang="zh-CN" sz="40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伪码</a:t>
            </a:r>
            <a:r>
              <a:rPr lang="zh-CN" altLang="en-US" sz="40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40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2757" y="758731"/>
            <a:ext cx="8850451" cy="1620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 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MaxSubSum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left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right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输入：数组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left, right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左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右边界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b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输出：最大子段和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sum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及子段边界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b="78223"/>
          <a:stretch/>
        </p:blipFill>
        <p:spPr>
          <a:xfrm>
            <a:off x="1119292" y="2229625"/>
            <a:ext cx="6666667" cy="77773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t="79045"/>
          <a:stretch/>
        </p:blipFill>
        <p:spPr>
          <a:xfrm>
            <a:off x="1119292" y="5092686"/>
            <a:ext cx="6666667" cy="7483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t="22804" b="53869"/>
          <a:stretch/>
        </p:blipFill>
        <p:spPr>
          <a:xfrm>
            <a:off x="1109131" y="3037397"/>
            <a:ext cx="6666667" cy="8331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/>
          <a:srcRect t="45736" b="21929"/>
          <a:stretch/>
        </p:blipFill>
        <p:spPr>
          <a:xfrm>
            <a:off x="1119292" y="3904186"/>
            <a:ext cx="6666667" cy="1154831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519857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2943" y="170066"/>
            <a:ext cx="89399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时间复杂度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337930" y="1186064"/>
            <a:ext cx="9014791" cy="1284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100"/>
              </a:lnSpc>
            </a:pP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计算从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center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开始到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A[1] 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方向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最大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和，每次加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个元素，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得到</a:t>
            </a:r>
            <a:endParaRPr lang="en-US" altLang="zh-CN" sz="28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ts val="3100"/>
              </a:lnSpc>
            </a:pP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],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]+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-1],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]+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-1]+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-2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], ...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]+ ...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[1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endParaRPr lang="zh-CN" altLang="en-US" sz="28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778" y="3686785"/>
            <a:ext cx="4676190" cy="164761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18052" y="2677584"/>
            <a:ext cx="9014791" cy="887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100"/>
              </a:lnSpc>
            </a:pP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比较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上述的最大和，时间为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lang="en-US" altLang="zh-CN" sz="28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ts val="3100"/>
              </a:lnSpc>
            </a:pP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右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半边也是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2170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3002" y="209822"/>
            <a:ext cx="87808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</a:t>
            </a:r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：动态规划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383001" y="1215931"/>
            <a:ext cx="8910085" cy="1189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子问题界定：前边界为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，后边界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[1..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必须包含元素 </a:t>
            </a: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 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的向前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连续延伸的最大子段和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256" y="4045685"/>
            <a:ext cx="4590476" cy="13238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685" y="2198589"/>
            <a:ext cx="5847619" cy="17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81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62514" y="279396"/>
            <a:ext cx="88902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优化函数的递推方程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551968" y="1183857"/>
            <a:ext cx="485775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递推方程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231" y="1889003"/>
            <a:ext cx="5190476" cy="10952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298" y="2847867"/>
            <a:ext cx="3428571" cy="10380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231" y="4278991"/>
            <a:ext cx="4704762" cy="9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18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52575" y="70676"/>
            <a:ext cx="886038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伪码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283610" y="825427"/>
            <a:ext cx="902935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 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MaxSum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/>
            </a:r>
            <a:b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输入：数组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b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输出：最大子段和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sum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子段最后位置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b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b="3733"/>
          <a:stretch/>
        </p:blipFill>
        <p:spPr>
          <a:xfrm>
            <a:off x="1110400" y="2226827"/>
            <a:ext cx="3523809" cy="17786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b="47820"/>
          <a:stretch/>
        </p:blipFill>
        <p:spPr>
          <a:xfrm>
            <a:off x="1221750" y="3995533"/>
            <a:ext cx="2704762" cy="39756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400" y="4727621"/>
            <a:ext cx="2980952" cy="106666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/>
          <a:srcRect t="53932"/>
          <a:stretch/>
        </p:blipFill>
        <p:spPr>
          <a:xfrm>
            <a:off x="1221750" y="4393096"/>
            <a:ext cx="2704762" cy="350996"/>
          </a:xfrm>
          <a:prstGeom prst="rect">
            <a:avLst/>
          </a:prstGeom>
        </p:spPr>
      </p:pic>
      <p:sp>
        <p:nvSpPr>
          <p:cNvPr id="11" name="椭圆形标注 10"/>
          <p:cNvSpPr/>
          <p:nvPr/>
        </p:nvSpPr>
        <p:spPr>
          <a:xfrm>
            <a:off x="4482547" y="3825240"/>
            <a:ext cx="1699592" cy="918852"/>
          </a:xfrm>
          <a:prstGeom prst="wedgeEllipseCallout">
            <a:avLst>
              <a:gd name="adj1" fmla="val -103222"/>
              <a:gd name="adj2" fmla="val 361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找到更大的和</a:t>
            </a:r>
            <a:endParaRPr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椭圆形标注 11"/>
          <p:cNvSpPr/>
          <p:nvPr/>
        </p:nvSpPr>
        <p:spPr>
          <a:xfrm>
            <a:off x="5332343" y="2228748"/>
            <a:ext cx="1699592" cy="918852"/>
          </a:xfrm>
          <a:prstGeom prst="wedgeEllipseCallout">
            <a:avLst>
              <a:gd name="adj1" fmla="val -103222"/>
              <a:gd name="adj2" fmla="val 361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</a:t>
            </a:r>
            <a:r>
              <a:rPr lang="zh-CN" altLang="en-US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问题后边界</a:t>
            </a:r>
            <a:r>
              <a:rPr lang="en-US" altLang="zh-CN" sz="24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endParaRPr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11" y="5794289"/>
            <a:ext cx="6235338" cy="54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78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43245" y="180005"/>
            <a:ext cx="894984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343244" y="1156246"/>
            <a:ext cx="8949841" cy="3775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2400"/>
              </a:spcAf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几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个算法：蛮力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分治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动态规划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动态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归划算法：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子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问题界定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列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优化函数的递推方程和边界条件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不一定是原问题的优化函数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b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自底向上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计算，设计备忘录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表格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b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如何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根据动态规划的解找原问题的解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时间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复杂度估计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9218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3185" y="2267221"/>
            <a:ext cx="900947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最优二叉检索树</a:t>
            </a:r>
            <a:r>
              <a:rPr lang="zh-CN" altLang="en-US" sz="66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827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3002" y="189943"/>
            <a:ext cx="90094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最优二叉检索树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373065" y="1132577"/>
            <a:ext cx="9019413" cy="29132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集合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为排序的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元素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x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&lt;…&lt;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，将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这些元素存储在一棵二叉树的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结点上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，以查找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是否在这些数中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不在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，确定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在那个空隙（方结点）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altLang="zh-CN" sz="28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dirty="0" smtClean="0"/>
              <a:t> </a:t>
            </a:r>
            <a:r>
              <a:rPr lang="zh-CN" altLang="en-US" sz="2800" dirty="0"/>
              <a:t/>
            </a:r>
            <a:br>
              <a:rPr lang="zh-CN" altLang="en-US" sz="2800" dirty="0"/>
            </a:b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462" y="2728177"/>
            <a:ext cx="5676190" cy="31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210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32697" y="110431"/>
            <a:ext cx="88106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二叉树的检索方法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6" name="矩形 5"/>
          <p:cNvSpPr/>
          <p:nvPr/>
        </p:nvSpPr>
        <p:spPr>
          <a:xfrm>
            <a:off x="313428" y="989589"/>
            <a:ext cx="900947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1. </a:t>
            </a:r>
            <a:r>
              <a:rPr lang="zh-CN" altLang="en-US" sz="2800" b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初始</a:t>
            </a:r>
            <a:r>
              <a:rPr lang="zh-CN" altLang="en-US" sz="2800" b="1" dirty="0" smtClean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lang="en-US" altLang="zh-CN" sz="2800" b="1" i="1" dirty="0" smtClean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 </a:t>
            </a:r>
            <a:r>
              <a:rPr lang="zh-CN" altLang="en-US" sz="2800" b="1" dirty="0" smtClean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与</a:t>
            </a:r>
            <a:r>
              <a:rPr lang="zh-CN" altLang="en-US" sz="2800" b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根元素比较；</a:t>
            </a:r>
            <a:br>
              <a:rPr lang="zh-CN" altLang="en-US" sz="2800" b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</a:br>
            <a:r>
              <a:rPr lang="en-US" altLang="zh-CN" sz="2800" b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2. </a:t>
            </a:r>
            <a:r>
              <a:rPr lang="en-US" altLang="zh-CN" sz="2800" b="1" i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 </a:t>
            </a:r>
            <a:r>
              <a:rPr lang="en-US" altLang="zh-CN" sz="2800" b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&lt; </a:t>
            </a:r>
            <a:r>
              <a:rPr lang="zh-CN" altLang="en-US" sz="2800" b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根元素，递归进入左子树；</a:t>
            </a:r>
            <a:br>
              <a:rPr lang="zh-CN" altLang="en-US" sz="2800" b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</a:br>
            <a:r>
              <a:rPr lang="en-US" altLang="zh-CN" sz="2800" b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3. </a:t>
            </a:r>
            <a:r>
              <a:rPr lang="en-US" altLang="zh-CN" sz="2800" b="1" i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 </a:t>
            </a:r>
            <a:r>
              <a:rPr lang="en-US" altLang="zh-CN" sz="2800" b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&gt; </a:t>
            </a:r>
            <a:r>
              <a:rPr lang="zh-CN" altLang="en-US" sz="2800" b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根元素，递归进入右子树；</a:t>
            </a:r>
            <a:br>
              <a:rPr lang="zh-CN" altLang="en-US" sz="2800" b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</a:br>
            <a:r>
              <a:rPr lang="en-US" altLang="zh-CN" sz="2800" b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4. </a:t>
            </a:r>
            <a:r>
              <a:rPr lang="en-US" altLang="zh-CN" sz="2800" b="1" i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 </a:t>
            </a:r>
            <a:r>
              <a:rPr lang="en-US" altLang="zh-CN" sz="2800" b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 </a:t>
            </a:r>
            <a:r>
              <a:rPr lang="zh-CN" altLang="en-US" sz="2800" b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根元素，算法停止，输出 </a:t>
            </a:r>
            <a:r>
              <a:rPr lang="en-US" altLang="zh-CN" sz="2800" b="1" i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</a:t>
            </a:r>
            <a:r>
              <a:rPr lang="zh-CN" altLang="en-US" sz="2800" b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；</a:t>
            </a:r>
            <a:br>
              <a:rPr lang="zh-CN" altLang="en-US" sz="2800" b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</a:br>
            <a:r>
              <a:rPr lang="en-US" altLang="zh-CN" sz="2800" b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5. </a:t>
            </a:r>
            <a:r>
              <a:rPr lang="en-US" altLang="zh-CN" sz="2800" b="1" i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 </a:t>
            </a:r>
            <a:r>
              <a:rPr lang="zh-CN" altLang="en-US" sz="2800" b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到叶结点算法停止，输出 </a:t>
            </a:r>
            <a:r>
              <a:rPr lang="en-US" altLang="zh-CN" sz="2800" b="1" i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x</a:t>
            </a:r>
            <a:r>
              <a:rPr lang="zh-CN" altLang="en-US" sz="2800" b="1" dirty="0">
                <a:solidFill>
                  <a:srgbClr val="20202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不在数组</a:t>
            </a:r>
            <a:r>
              <a:rPr lang="en-US" altLang="zh-CN" sz="2800" b="1" dirty="0">
                <a:solidFill>
                  <a:srgbClr val="20202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b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39" y="3246681"/>
            <a:ext cx="4209524" cy="280952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b="43289"/>
          <a:stretch/>
        </p:blipFill>
        <p:spPr>
          <a:xfrm>
            <a:off x="5421462" y="3667245"/>
            <a:ext cx="2952381" cy="112341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t="57525"/>
          <a:stretch/>
        </p:blipFill>
        <p:spPr>
          <a:xfrm>
            <a:off x="5421461" y="4790661"/>
            <a:ext cx="2952381" cy="84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70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3855" y="110430"/>
            <a:ext cx="925795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数据元素存取概率分布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502272" y="1004952"/>
            <a:ext cx="485775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空隙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878" y="1528172"/>
            <a:ext cx="6600000" cy="112381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92332" y="2935803"/>
            <a:ext cx="87609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给定序列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&lt;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…,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&gt;,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的概率为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的概率为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878" y="4050420"/>
            <a:ext cx="6961905" cy="1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536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2941" y="130310"/>
            <a:ext cx="89697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lang="zh-CN" altLang="en-US" sz="4000" b="1" dirty="0"/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392941" y="1027089"/>
            <a:ext cx="896972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实例：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&lt; 1, 2, 3, 4, 5, 6 &gt;</a:t>
            </a:r>
            <a:b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&lt; 0.04,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0.01,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0.05,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0.02,</a:t>
            </a:r>
            <a:b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</a:t>
            </a:r>
            <a:r>
              <a:rPr lang="en-US" altLang="zh-CN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0.02,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0.07,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0.05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0.04 &gt;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92941" y="2790107"/>
            <a:ext cx="879081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1, 2, 3, 4, 5, 6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检索的概率分别为：</a:t>
            </a:r>
            <a:b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0.05</a:t>
            </a:r>
          </a:p>
          <a:p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/>
            </a:r>
            <a:b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各个空隙的检索概率分别为：</a:t>
            </a:r>
            <a:b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0.04, 0.01, 0.05, 0.02, 0.02, 0.07, 0.04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238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3184" y="180005"/>
            <a:ext cx="886038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检索数据的平均时间</a:t>
            </a:r>
            <a:r>
              <a:rPr lang="zh-CN" altLang="en-US" sz="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47" y="962092"/>
            <a:ext cx="7247619" cy="219047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t="2617" b="-1"/>
          <a:stretch/>
        </p:blipFill>
        <p:spPr>
          <a:xfrm>
            <a:off x="451130" y="3269973"/>
            <a:ext cx="6819048" cy="271745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137031" y="1257300"/>
            <a:ext cx="474784" cy="44840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2804748" y="2470570"/>
            <a:ext cx="527538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128348" y="4231963"/>
            <a:ext cx="779583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750167" y="1617714"/>
            <a:ext cx="1195755" cy="44840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3930163" y="1989924"/>
            <a:ext cx="527538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2209800" y="4237757"/>
            <a:ext cx="1894956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209800" y="2898462"/>
            <a:ext cx="527538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5234353" y="2146719"/>
            <a:ext cx="1711569" cy="44840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4532223" y="4258137"/>
            <a:ext cx="2492831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783378" y="2699694"/>
            <a:ext cx="2945188" cy="44840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1227153" y="4806191"/>
            <a:ext cx="5938578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04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10" grpId="0" animBg="1"/>
      <p:bldP spid="10" grpId="1" animBg="1"/>
      <p:bldP spid="15" grpId="0" animBg="1"/>
      <p:bldP spid="15" grpId="1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2942" y="180005"/>
            <a:ext cx="884051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检索数据的平均时间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34" y="887891"/>
            <a:ext cx="7047619" cy="268571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52" y="3672374"/>
            <a:ext cx="7104762" cy="2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48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42027" y="239640"/>
            <a:ext cx="857215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平均比较次数计算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27" y="947526"/>
            <a:ext cx="7238095" cy="150476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027" y="2452288"/>
            <a:ext cx="6876190" cy="220952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951" y="4681690"/>
            <a:ext cx="6209524" cy="1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817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47260" y="229700"/>
            <a:ext cx="86669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</a:t>
            </a:r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447260" y="1057579"/>
            <a:ext cx="8766314" cy="30310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给定数据集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&lt;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…, </a:t>
            </a:r>
            <a:r>
              <a:rPr lang="en-US" altLang="zh-CN" sz="28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i="1" baseline="-25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&gt;, 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及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的存取概率分布如下：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&lt;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… ,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b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求一棵最优的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即平均比较次数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最少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二分检索树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0128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16835" y="209822"/>
            <a:ext cx="870667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383003" y="1202152"/>
            <a:ext cx="8959780" cy="2348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叉检索树的构成</a:t>
            </a:r>
            <a:b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给定概率分布下，一棵二叉检索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树的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平均检索时间估计</a:t>
            </a:r>
            <a:b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什么是最优二叉检索树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1543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3123" y="2104356"/>
            <a:ext cx="879081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最优二叉检索</a:t>
            </a:r>
            <a:br>
              <a:rPr lang="zh-CN" altLang="en-US" sz="6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66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树的算法</a:t>
            </a:r>
            <a:r>
              <a:rPr lang="zh-CN" altLang="en-US" sz="6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892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2331" y="160127"/>
            <a:ext cx="88504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关键问题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492330" y="1015564"/>
            <a:ext cx="8850451" cy="3888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子问题边界界定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如何将该问题归结为更小的子问题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优化函数的递推方程及初值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计算顺序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是否需要标记函数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时间复杂度分析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9344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62514" y="279396"/>
            <a:ext cx="875105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子问题划分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363123" y="1295394"/>
            <a:ext cx="885045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子问题边界为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j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 = &lt;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… ,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</a:p>
          <a:p>
            <a:pPr algn="just"/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存取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概率分布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]=&lt;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－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… ,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altLang="zh-CN" sz="2800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7748" y="2530965"/>
            <a:ext cx="911418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输入实例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&lt;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b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&lt; 0.04,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0.02,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0.3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0.02, </a:t>
            </a:r>
            <a:r>
              <a:rPr lang="en-US" altLang="zh-CN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0.1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0.05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0.06, </a:t>
            </a:r>
            <a:r>
              <a:rPr lang="en-US" altLang="zh-CN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0.1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0.01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63122" y="3915960"/>
            <a:ext cx="90293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子问题：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[2,4] = &lt;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</a:p>
          <a:p>
            <a:pPr algn="ctr"/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[2,4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]=&lt;0.02,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0.3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,0.02,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,0.05,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,0.06&gt;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30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33307" y="180005"/>
            <a:ext cx="89597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子问题归约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矩形 5"/>
          <p:cNvSpPr/>
          <p:nvPr/>
        </p:nvSpPr>
        <p:spPr>
          <a:xfrm>
            <a:off x="333307" y="977393"/>
            <a:ext cx="889020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以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作为根归结为子问题：</a:t>
            </a:r>
            <a:b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1],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1]</a:t>
            </a:r>
            <a:b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+1,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+1,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50" y="1535404"/>
            <a:ext cx="2419048" cy="136190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99945" y="2920399"/>
            <a:ext cx="889314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[1,5] = &lt; </a:t>
            </a:r>
            <a:r>
              <a:rPr lang="pt-BR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pt-BR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pt-BR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pt-BR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pt-BR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 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b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pt-BR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[1,5]= &lt; 0.04, </a:t>
            </a:r>
            <a:r>
              <a:rPr lang="pt-BR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0.1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0.02, </a:t>
            </a:r>
            <a:r>
              <a:rPr lang="pt-BR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0.3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0.02, </a:t>
            </a:r>
            <a:r>
              <a:rPr lang="pt-BR" altLang="zh-CN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0.1</a:t>
            </a:r>
            <a:r>
              <a:rPr lang="pt-BR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</a:p>
          <a:p>
            <a:pPr algn="ctr"/>
            <a:r>
              <a:rPr lang="pt-BR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0.05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pt-BR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0.2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0.06, </a:t>
            </a:r>
            <a:r>
              <a:rPr lang="pt-BR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0.1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0.01&gt;</a:t>
            </a:r>
            <a:r>
              <a:rPr lang="pt-BR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99945" y="4305394"/>
            <a:ext cx="8893142" cy="2051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[1,1] = &lt; </a:t>
            </a:r>
            <a:r>
              <a:rPr lang="pt-BR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 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lang="zh-CN" altLang="pt-BR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br>
              <a:rPr lang="zh-CN" altLang="pt-BR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pt-BR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[1,1] = &lt; 0.04, </a:t>
            </a:r>
            <a:r>
              <a:rPr lang="pt-BR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0.1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0.02 &gt;</a:t>
            </a:r>
            <a:b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pt-BR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[3,5] = &lt; </a:t>
            </a:r>
            <a:r>
              <a:rPr lang="pt-BR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C,D,E 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&gt;,</a:t>
            </a:r>
            <a:b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pt-BR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[3,5] = &lt; 0.02, </a:t>
            </a:r>
            <a:r>
              <a:rPr lang="pt-BR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0.1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0.05, </a:t>
            </a:r>
            <a:r>
              <a:rPr lang="pt-BR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0.2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0.06,</a:t>
            </a:r>
            <a:r>
              <a:rPr lang="pt-BR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0.1</a:t>
            </a:r>
            <a:r>
              <a:rPr lang="pt-BR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,0.01&gt;</a:t>
            </a:r>
            <a:r>
              <a:rPr lang="pt-BR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pt-BR" altLang="zh-CN" dirty="0"/>
              <a:t/>
            </a:r>
            <a:br>
              <a:rPr lang="pt-BR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95891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3793" y="229700"/>
            <a:ext cx="90591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子问题的概率之和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253793" y="1126427"/>
            <a:ext cx="91585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子问题界定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 令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576" y="1649647"/>
            <a:ext cx="3113537" cy="951109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53792" y="2765544"/>
            <a:ext cx="88206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中所有概率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数据与空隙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之和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864704" y="3340910"/>
            <a:ext cx="836874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实例：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[2,4]=&lt;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b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[2,4]=&lt;0.02,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0.3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,0.02,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,0.05,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,0.06&gt;</a:t>
            </a:r>
            <a:b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[2,4]=(0.3+0.1+0.2)</a:t>
            </a:r>
            <a:b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+(0.02+0.02+0.05+0.06)</a:t>
            </a:r>
            <a:b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 0.75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0037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7748" y="180005"/>
            <a:ext cx="907442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优化函数的递推方程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367748" y="1215932"/>
            <a:ext cx="895515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i,j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是相对于输入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 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的最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优二叉搜索树的平均比较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次数递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推方程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036" y="2335325"/>
            <a:ext cx="6676190" cy="180952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378" y="4534944"/>
            <a:ext cx="5361905" cy="1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0173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50340" y="189943"/>
            <a:ext cx="57096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 </a:t>
            </a:r>
            <a:r>
              <a:rPr lang="en-US" altLang="zh-CN" sz="4000" b="1" i="1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40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j </a:t>
            </a:r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en-US" altLang="zh-CN" sz="4000" b="1" i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4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公式的证明</a:t>
            </a:r>
            <a:r>
              <a:rPr lang="zh-CN" altLang="en-US" sz="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245401" y="1095503"/>
            <a:ext cx="89299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en-US" altLang="zh-CN" sz="2800" b="1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8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根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 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i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时平均比较次数的最小值 </a:t>
            </a:r>
            <a:r>
              <a:rPr lang="zh-CN" altLang="en-US" sz="2800" dirty="0"/>
              <a:t/>
            </a:r>
            <a:br>
              <a:rPr lang="zh-CN" altLang="en-US" sz="2800" dirty="0"/>
            </a:br>
            <a:endParaRPr lang="zh-CN" altLang="en-US" sz="2800" dirty="0"/>
          </a:p>
        </p:txBody>
      </p:sp>
      <p:sp>
        <p:nvSpPr>
          <p:cNvPr id="6" name="矩形 5"/>
          <p:cNvSpPr/>
          <p:nvPr/>
        </p:nvSpPr>
        <p:spPr>
          <a:xfrm>
            <a:off x="214739" y="1853955"/>
            <a:ext cx="12923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j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b="47040"/>
          <a:stretch/>
        </p:blipFill>
        <p:spPr>
          <a:xfrm>
            <a:off x="1307618" y="1889777"/>
            <a:ext cx="7200000" cy="53464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t="53617"/>
          <a:stretch/>
        </p:blipFill>
        <p:spPr>
          <a:xfrm>
            <a:off x="1307618" y="2486505"/>
            <a:ext cx="7200000" cy="46824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182" y="2987016"/>
            <a:ext cx="7800000" cy="93333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5182" y="3905962"/>
            <a:ext cx="5000000" cy="15619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8040" y="797755"/>
            <a:ext cx="1747048" cy="112425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3879" y="2180013"/>
            <a:ext cx="1355956" cy="79461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5182" y="3905962"/>
            <a:ext cx="1780952" cy="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139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71044" y="1308985"/>
            <a:ext cx="8971739" cy="2547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900"/>
              </a:lnSpc>
            </a:pP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平均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比较次数：在所有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的情况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下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i,j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最小值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ts val="3900"/>
              </a:lnSpc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 = min{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en-US" altLang="zh-CN" sz="2800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|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≤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≤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/>
            </a:r>
            <a:b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初值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-1]=0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对应于空的子问题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，例如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=&lt;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 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作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根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=1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=1,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左边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子问题为空树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，对应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于：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[1,0]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[1,0]=0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的情况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矩形 4"/>
          <p:cNvSpPr/>
          <p:nvPr/>
        </p:nvSpPr>
        <p:spPr>
          <a:xfrm>
            <a:off x="371044" y="198402"/>
            <a:ext cx="897173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4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递推方程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897" y="357808"/>
            <a:ext cx="6264260" cy="62559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897" y="4182320"/>
            <a:ext cx="3676190" cy="128571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591507" y="1888432"/>
            <a:ext cx="5227982" cy="437322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6432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32089" y="160128"/>
            <a:ext cx="88106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04" y="868014"/>
            <a:ext cx="5809524" cy="106666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521" y="2021899"/>
            <a:ext cx="6371429" cy="293333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641" y="4848650"/>
            <a:ext cx="6390476" cy="1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9632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23367" y="189944"/>
            <a:ext cx="89895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计算复杂性估计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166" y="994760"/>
            <a:ext cx="6314286" cy="140952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166" y="2501214"/>
            <a:ext cx="4000000" cy="53333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66" y="3034547"/>
            <a:ext cx="6323809" cy="28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1314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82393" y="259518"/>
            <a:ext cx="886039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小结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482393" y="1200568"/>
            <a:ext cx="8790816" cy="3682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800"/>
              </a:lnSpc>
            </a:pPr>
            <a:r>
              <a:rPr lang="en-US" altLang="zh-CN" sz="28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划分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子问题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以数据结点作为</a:t>
            </a:r>
            <a:r>
              <a:rPr lang="zh-CN" altLang="en-US" sz="28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树根</a:t>
            </a:r>
            <a:endParaRPr lang="en-US" altLang="zh-CN" sz="2800" dirty="0" smtClean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ts val="3800"/>
              </a:lnSpc>
            </a:pPr>
            <a:r>
              <a:rPr lang="en-US" altLang="zh-CN" sz="28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定义优化函数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列出递推方程与</a:t>
            </a:r>
            <a:r>
              <a:rPr lang="zh-CN" altLang="en-US" sz="28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边界条件</a:t>
            </a:r>
            <a:endParaRPr lang="en-US" altLang="zh-CN" sz="2800" dirty="0" smtClean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ts val="3800"/>
              </a:lnSpc>
            </a:pPr>
            <a:r>
              <a:rPr lang="en-US" altLang="zh-CN" sz="28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设立标记函数记录构成最优二叉</a:t>
            </a:r>
            <a:r>
              <a:rPr lang="zh-CN" altLang="en-US" sz="28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搜索树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或子树时根的位置</a:t>
            </a:r>
            <a:r>
              <a:rPr lang="en-US" altLang="zh-CN"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ts val="3800"/>
              </a:lnSpc>
            </a:pPr>
            <a:r>
              <a:rPr lang="en-US" altLang="zh-CN" sz="28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自底向上计算，设计备忘录 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表格</a:t>
            </a:r>
            <a:r>
              <a:rPr lang="en-US" altLang="zh-CN"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ts val="3800"/>
              </a:lnSpc>
            </a:pPr>
            <a:r>
              <a:rPr lang="en-US" altLang="zh-CN" sz="28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时间复杂度</a:t>
            </a:r>
            <a:r>
              <a:rPr lang="zh-CN" altLang="en-US" sz="28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估计</a:t>
            </a:r>
            <a:endParaRPr lang="en-US" altLang="zh-CN" sz="2800" dirty="0" smtClean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36163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32452" y="2535579"/>
            <a:ext cx="740465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66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66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二级结构预测</a:t>
            </a:r>
            <a:r>
              <a:rPr lang="zh-CN" altLang="en-US" sz="66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006351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42635" y="215921"/>
            <a:ext cx="860197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32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375nt</a:t>
            </a:r>
            <a:r>
              <a:rPr lang="zh-CN" altLang="en-US" sz="32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32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环形类病毒</a:t>
            </a:r>
            <a:r>
              <a:rPr lang="en-US" altLang="zh-CN" sz="3200" b="1" dirty="0" err="1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GHVd</a:t>
            </a:r>
            <a:r>
              <a:rPr lang="zh-CN" altLang="en-US" sz="32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sz="32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RNA</a:t>
            </a:r>
            <a:r>
              <a:rPr lang="zh-CN" altLang="en-US" sz="32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二级结构</a:t>
            </a:r>
            <a:r>
              <a:rPr lang="zh-CN" altLang="en-US" sz="32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预测和</a:t>
            </a:r>
            <a:r>
              <a:rPr lang="en-US" altLang="zh-CN" sz="32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RT-PCR</a:t>
            </a:r>
            <a:r>
              <a:rPr lang="zh-CN" altLang="en-US" sz="32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3200" b="1" dirty="0" smtClean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Northern </a:t>
            </a:r>
            <a:r>
              <a:rPr lang="en-US" altLang="zh-CN" sz="32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blot</a:t>
            </a:r>
            <a:r>
              <a:rPr lang="zh-CN" altLang="en-US" sz="32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检测结果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504" y="1293138"/>
            <a:ext cx="6705653" cy="463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506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2757" y="229700"/>
            <a:ext cx="863178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RNA</a:t>
            </a:r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二级结构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258417" y="1053065"/>
            <a:ext cx="9153940" cy="1425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一级结构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800" u="sng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由字母 </a:t>
            </a:r>
            <a:r>
              <a:rPr lang="en-US" altLang="zh-CN" sz="2800" b="1" i="1" u="sng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u="sng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u="sng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u="sng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u="sng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 sz="2800" b="1" u="sng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sz="2800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标记的</a:t>
            </a:r>
            <a:r>
              <a:rPr lang="zh-CN" altLang="en-US" sz="2800" u="sng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核苷酸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构成的一条链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b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实例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A-C-C-G-C-C-U-A-A-G-C-C-G-U-C-C-U-A-A-G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-...</a:t>
            </a:r>
          </a:p>
          <a:p>
            <a:pPr algn="just"/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830263" y="3209857"/>
            <a:ext cx="485775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二级结构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核苷酸相互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匹配构成的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平面结构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203" y="2229403"/>
            <a:ext cx="4580952" cy="33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23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43245" y="189944"/>
            <a:ext cx="89498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匹配原则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432697" y="893061"/>
                <a:ext cx="8860390" cy="16608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配对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U-A, </a:t>
                </a:r>
                <a:r>
                  <a:rPr lang="en-US" altLang="zh-CN" sz="2800" b="1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C-G:</a:t>
                </a:r>
                <a:endParaRPr lang="en-US" altLang="zh-CN" sz="2800" b="1" i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•</a:t>
                </a:r>
                <a:r>
                  <a:rPr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末端</a:t>
                </a:r>
                <a:r>
                  <a:rPr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不出现“尖角”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800" b="1" u="sng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位置 </a:t>
                </a:r>
                <a:r>
                  <a:rPr lang="en-US" altLang="zh-CN" sz="2800" b="1" i="1" u="sng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800" b="1" i="1" u="sng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-j </a:t>
                </a:r>
                <a:r>
                  <a:rPr lang="zh-CN" altLang="en-US" sz="2800" b="1" u="sng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配对</a:t>
                </a:r>
                <a:r>
                  <a:rPr lang="en-US" altLang="zh-CN" sz="2800" b="1" u="sng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800" b="1" u="sng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则 </a:t>
                </a:r>
                <a:r>
                  <a:rPr lang="en-US" altLang="zh-CN" sz="2800" b="1" i="1" u="sng" dirty="0" err="1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800" b="1" i="1" u="sng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altLang="zh-CN" sz="2800" b="1" u="sng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i="1" u="sng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j</a:t>
                </a:r>
                <a:r>
                  <a:rPr lang="zh-CN" altLang="en-US" sz="2800" b="1" u="sng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－</a:t>
                </a:r>
                <a:r>
                  <a:rPr lang="en-US" altLang="zh-CN" sz="2800" b="1" u="sng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4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/>
                </a:r>
                <a:b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</a:br>
                <a:r>
                  <a:rPr lang="zh-CN" altLang="en-US" dirty="0"/>
                  <a:t/>
                </a:r>
                <a:br>
                  <a:rPr lang="zh-CN" altLang="en-US" dirty="0"/>
                </a:br>
                <a:r>
                  <a:rPr lang="zh-CN" altLang="en-US" dirty="0"/>
                  <a:t/>
                </a:r>
                <a:br>
                  <a:rPr lang="zh-CN" altLang="en-US" dirty="0"/>
                </a:br>
                <a:endParaRPr lang="zh-CN" altLang="en-US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97" y="893061"/>
                <a:ext cx="8860390" cy="1660839"/>
              </a:xfrm>
              <a:prstGeom prst="rect">
                <a:avLst/>
              </a:prstGeom>
              <a:blipFill rotWithShape="1">
                <a:blip r:embed="rId2"/>
                <a:stretch>
                  <a:fillRect l="-1445" t="-43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b="62042"/>
          <a:stretch/>
        </p:blipFill>
        <p:spPr>
          <a:xfrm>
            <a:off x="1249963" y="1811451"/>
            <a:ext cx="2047619" cy="134841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/>
          <a:srcRect l="50000"/>
          <a:stretch/>
        </p:blipFill>
        <p:spPr>
          <a:xfrm>
            <a:off x="6184073" y="4279814"/>
            <a:ext cx="3428572" cy="148571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462860" y="3418611"/>
            <a:ext cx="816044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每个核苷酸只能参加一个配对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b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不允许交叉，即如果位置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</a:p>
          <a:p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满足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&lt;i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&lt;j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&lt;j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，不允许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-j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i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-j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配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对，但可以允许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-j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i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-j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配对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t="38048" b="30976"/>
          <a:stretch/>
        </p:blipFill>
        <p:spPr>
          <a:xfrm>
            <a:off x="3519270" y="1938395"/>
            <a:ext cx="2047619" cy="11003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t="68668"/>
          <a:stretch/>
        </p:blipFill>
        <p:spPr>
          <a:xfrm>
            <a:off x="6147937" y="1929137"/>
            <a:ext cx="2047619" cy="11130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4"/>
          <a:srcRect r="51443"/>
          <a:stretch/>
        </p:blipFill>
        <p:spPr>
          <a:xfrm>
            <a:off x="6233539" y="2950856"/>
            <a:ext cx="3329641" cy="1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71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3124" y="160127"/>
            <a:ext cx="897965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匹配的结构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369" y="1497230"/>
            <a:ext cx="7209524" cy="3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84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3671" y="239640"/>
            <a:ext cx="908899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二级结构问题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373063" y="1305334"/>
            <a:ext cx="898959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给定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的一级结构，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预测它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的可能的稳定的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二级结构</a:t>
            </a:r>
            <a:endParaRPr lang="en-US" altLang="zh-CN" sz="28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稳定二级结构满足的</a:t>
            </a:r>
            <a:r>
              <a:rPr lang="zh-CN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条件</a:t>
            </a:r>
            <a:endParaRPr lang="en-US" altLang="zh-CN" sz="2800" b="1" dirty="0" smtClean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生物学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条件：具有最小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自由能</a:t>
            </a:r>
            <a:endParaRPr lang="en-US" altLang="zh-CN" sz="28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简化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条件：具有最多的匹配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对数</a:t>
            </a:r>
            <a:endParaRPr lang="en-US" altLang="zh-CN" sz="28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800" b="1" dirty="0">
                <a:solidFill>
                  <a:srgbClr val="7F7F7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/>
            </a:r>
            <a:br>
              <a:rPr lang="en-US" altLang="zh-CN" sz="2800" b="1" dirty="0">
                <a:solidFill>
                  <a:srgbClr val="7F7F7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8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给定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链，求具有</a:t>
            </a:r>
            <a:r>
              <a:rPr lang="zh-CN" altLang="en-US" sz="2800" b="1" u="sng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最多匹配</a:t>
            </a:r>
            <a:r>
              <a:rPr lang="zh-CN" altLang="en-US" sz="2800" b="1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对数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的二级结构，即最优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结构</a:t>
            </a:r>
            <a:endParaRPr lang="en-US" altLang="zh-CN" sz="28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71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3672" y="90553"/>
            <a:ext cx="91486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建模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402879" y="1027036"/>
            <a:ext cx="886038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子问题界定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前边界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后边界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所有可能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位置匹配，归约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/>
            </a:r>
            <a:b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子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 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-1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的链</a:t>
            </a:r>
            <a:b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子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+1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-1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链</a:t>
            </a:r>
            <a:endParaRPr lang="en-US" altLang="zh-CN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sz="2800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不参与匹配，则原问题归约为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j-1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的子问题</a:t>
            </a:r>
            <a:r>
              <a:rPr lang="zh-CN" altLang="en-US" sz="28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/>
              <a:t/>
            </a:r>
            <a:br>
              <a:rPr lang="zh-CN" altLang="en-US" sz="2800" dirty="0"/>
            </a:br>
            <a:endParaRPr lang="zh-CN" altLang="en-US" sz="28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022" y="2979932"/>
            <a:ext cx="6514286" cy="146666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21540" y="4800542"/>
            <a:ext cx="864172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/>
            </a:r>
            <a:b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16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02880" y="170065"/>
            <a:ext cx="885045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优化函数的递推方程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452576" y="1054648"/>
            <a:ext cx="882063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C[</a:t>
            </a:r>
            <a:r>
              <a:rPr lang="en-US" altLang="zh-CN" sz="2800" b="1" i="1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i,j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是序列</a:t>
            </a:r>
            <a:r>
              <a:rPr lang="en-US" altLang="zh-CN"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en-US" altLang="zh-CN" sz="2800" b="1" i="1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..</a:t>
            </a:r>
            <a:r>
              <a:rPr lang="en-US" altLang="zh-CN" sz="2800" b="1" i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的最大匹配对数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225" y="1754565"/>
            <a:ext cx="6933333" cy="262857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52576" y="4559833"/>
            <a:ext cx="84429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满足优化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原则计算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顺序：按照子问题长度计算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5790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43245" y="239640"/>
            <a:ext cx="87013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计算复杂度分析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43245" y="1168494"/>
                <a:ext cx="8949842" cy="32465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子问题个数： </a:t>
                </a:r>
                <a:r>
                  <a:rPr lang="en-US" altLang="zh-CN" sz="2800" b="1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j 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对的组合有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O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b="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 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个</a:t>
                </a:r>
                <a:b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</a:b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对于给定的 </a:t>
                </a:r>
                <a:r>
                  <a:rPr lang="en-US" altLang="zh-CN" sz="2800" b="1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j 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j 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需要考察与所有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可能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 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是否匹配，其中 </a:t>
                </a:r>
                <a:r>
                  <a:rPr lang="en-US" altLang="zh-CN" sz="2800" b="1" i="1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CN" sz="28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k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j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8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需要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O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 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时间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b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</a:br>
                <a:r>
                  <a:rPr lang="zh-CN" altLang="en-US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算法时间复杂度是 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O 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800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b="1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).</a:t>
                </a:r>
                <a:r>
                  <a:rPr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br>
                  <a:rPr lang="en-US" altLang="zh-CN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</a:br>
                <a:endPara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45" y="1168494"/>
                <a:ext cx="8949842" cy="3246530"/>
              </a:xfrm>
              <a:prstGeom prst="rect">
                <a:avLst/>
              </a:prstGeom>
              <a:blipFill>
                <a:blip r:embed="rId2"/>
                <a:stretch>
                  <a:fillRect l="-1362" r="-44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6977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3183" y="150188"/>
            <a:ext cx="88504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小结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283610" y="1045381"/>
            <a:ext cx="9069111" cy="3640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划分子问题，确定子问题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边界 </a:t>
            </a:r>
            <a:r>
              <a:rPr lang="en-US" altLang="zh-CN" sz="28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 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归约方法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b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定义优化函数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列递推方程和初值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b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设立标记函数，记下最优划分位置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自底向上计算，设计备忘录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表格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b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时间复杂度估计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0643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3671" y="2147953"/>
            <a:ext cx="904923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序列比对</a:t>
            </a:r>
            <a:r>
              <a:rPr lang="zh-CN" altLang="en-US" sz="66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9732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3672" y="160126"/>
            <a:ext cx="90492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序列比对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273672" y="1328193"/>
            <a:ext cx="9049232" cy="4205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为确定两个序列之间的相似性或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同源性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，将它们按照一定的规律排列，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进行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比对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/>
            </a:r>
            <a:b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应用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8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生物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信息学中用于研究同源性，如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蛋白质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序列或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DNA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序列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在比对中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，错配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与突变相对应，空位与插入或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缺失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相对应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计算语言学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中用于语言进化或文本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相似性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的研究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7679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92941" y="249579"/>
            <a:ext cx="893990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序列之间的编辑距离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313428" y="1085138"/>
            <a:ext cx="9019415" cy="3451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</a:t>
            </a:r>
            <a:r>
              <a:rPr lang="zh-CN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辑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距离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8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720000" algn="just">
              <a:spcBef>
                <a:spcPts val="2400"/>
              </a:spcBef>
              <a:spcAft>
                <a:spcPts val="1800"/>
              </a:spcAft>
            </a:pP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给定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两个序列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，通过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一系列字符编辑（插入、删除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、替换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）等操作，将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转变成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完成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这种转换所需要的最少的编辑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操作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个数称为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的编辑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距离</a:t>
            </a:r>
            <a:endParaRPr lang="en-US" altLang="zh-CN" sz="2800" b="1" dirty="0" smtClean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6864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91114" y="189944"/>
            <a:ext cx="852245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实例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850141" y="1053737"/>
            <a:ext cx="8234224" cy="4759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vintner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转变成 </a:t>
            </a: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writers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b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编辑距离 ≤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b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vintner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/>
            </a:r>
            <a:b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删除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 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3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intner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/>
            </a:r>
            <a:b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插入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 </a:t>
            </a:r>
            <a:r>
              <a:rPr lang="en-US" altLang="zh-CN" sz="3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3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intner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/>
            </a:r>
            <a:b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插入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 </a:t>
            </a:r>
            <a:r>
              <a:rPr lang="en-US" altLang="zh-CN" sz="3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</a:t>
            </a:r>
            <a:r>
              <a:rPr lang="en-US" altLang="zh-CN" sz="3200" b="1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3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intner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/>
            </a:r>
            <a:b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删除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 </a:t>
            </a: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writ</a:t>
            </a:r>
            <a:r>
              <a:rPr lang="en-US" altLang="zh-CN" sz="32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en-US" altLang="zh-CN" sz="3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er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/>
            </a:r>
            <a:b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删除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 </a:t>
            </a:r>
            <a:r>
              <a:rPr lang="en-US" altLang="zh-CN" sz="3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wri</a:t>
            </a: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 </a:t>
            </a:r>
            <a:r>
              <a:rPr lang="en-US" altLang="zh-CN" sz="32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tner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/>
            </a:r>
            <a:b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插入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 </a:t>
            </a:r>
            <a:r>
              <a:rPr lang="en-US" altLang="zh-CN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writer</a:t>
            </a:r>
            <a:r>
              <a:rPr lang="en-US" altLang="zh-CN" sz="32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32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896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33306" y="199883"/>
            <a:ext cx="898959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子问题界定和归约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422757" y="987332"/>
            <a:ext cx="8900145" cy="1189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[1..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 [1..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表示两个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序列子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问题：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1[1..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2[1..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，边界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j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342" y="2177017"/>
            <a:ext cx="6209524" cy="2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041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51966" y="150187"/>
            <a:ext cx="870136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优化函数的递推方程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353183" y="1084466"/>
            <a:ext cx="89001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1[1..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2[1..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的编辑距离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975" y="1834079"/>
            <a:ext cx="6552381" cy="22380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941" y="4298567"/>
            <a:ext cx="1904762" cy="10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342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33305" y="140248"/>
            <a:ext cx="90790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计算复杂度分析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969410" y="1307641"/>
            <a:ext cx="7806841" cy="2600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子问题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 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j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界定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，有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n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个子问题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每个子问题的</a:t>
            </a:r>
            <a:r>
              <a:rPr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计算为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常数时间</a:t>
            </a:r>
            <a:b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•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算法的时间复杂度是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 m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b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4091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04098" y="199883"/>
            <a:ext cx="916850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动态规划算法设计要点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矩形 4"/>
          <p:cNvSpPr/>
          <p:nvPr/>
        </p:nvSpPr>
        <p:spPr>
          <a:xfrm>
            <a:off x="293550" y="1101177"/>
            <a:ext cx="9079050" cy="4539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引入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参数来界定子问题的边界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注意子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问题的重叠程度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b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给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出带边界参数的优化函数定义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优化函数的递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推关系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，找到递推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关系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的初值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600"/>
              </a:spcBef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(3)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判断该优化问题是否满足优化原则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600"/>
              </a:spcBef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(4)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考虑是否需要标记函数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6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(5</a:t>
            </a:r>
            <a:r>
              <a:rPr lang="en-US" altLang="zh-CN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采用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自底向上的实现技术，从最小</a:t>
            </a:r>
            <a:r>
              <a:rPr lang="zh-CN" altLang="en-US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的子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问题开始迭代计算，计算中用</a:t>
            </a:r>
            <a:r>
              <a:rPr lang="zh-CN" altLang="en-US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备忘录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保留优化函数和标记函数的值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600"/>
              </a:spcBef>
            </a:pPr>
            <a:r>
              <a:rPr lang="en-US" altLang="zh-CN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en-US" altLang="zh-CN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动态规划算法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的时间复杂度是对</a:t>
            </a:r>
            <a:r>
              <a:rPr lang="zh-CN" altLang="en-US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所有子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备忘录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的计算工作量求和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可能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需要追踪解的工作量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(7</a:t>
            </a:r>
            <a:r>
              <a:rPr lang="en-US" altLang="zh-CN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动态规划算法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一般使用较多的</a:t>
            </a:r>
            <a:r>
              <a:rPr lang="zh-CN" altLang="en-US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存储空间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，这往往成为限制动态规划算法</a:t>
            </a:r>
            <a:r>
              <a:rPr lang="zh-CN" altLang="en-US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的瓶颈</a:t>
            </a:r>
            <a:r>
              <a:rPr lang="zh-CN" altLang="en-US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因素</a:t>
            </a:r>
            <a:r>
              <a:rPr lang="en-US" altLang="zh-CN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717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598</TotalTime>
  <Words>1509</Words>
  <Application>Microsoft Office PowerPoint</Application>
  <PresentationFormat>自定义</PresentationFormat>
  <Paragraphs>214</Paragraphs>
  <Slides>63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64" baseType="lpstr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boo</dc:creator>
  <cp:lastModifiedBy>ks</cp:lastModifiedBy>
  <cp:revision>64</cp:revision>
  <dcterms:created xsi:type="dcterms:W3CDTF">2019-04-28T02:31:40Z</dcterms:created>
  <dcterms:modified xsi:type="dcterms:W3CDTF">2019-05-07T07:53:25Z</dcterms:modified>
</cp:coreProperties>
</file>