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7" r:id="rId20"/>
    <p:sldId id="274" r:id="rId21"/>
    <p:sldId id="275" r:id="rId22"/>
    <p:sldId id="276" r:id="rId23"/>
    <p:sldId id="278" r:id="rId24"/>
    <p:sldId id="279" r:id="rId25"/>
    <p:sldId id="280" r:id="rId26"/>
    <p:sldId id="281" r:id="rId27"/>
    <p:sldId id="282" r:id="rId28"/>
    <p:sldId id="283" r:id="rId29"/>
    <p:sldId id="284" r:id="rId30"/>
    <p:sldId id="337" r:id="rId31"/>
    <p:sldId id="285" r:id="rId32"/>
    <p:sldId id="308" r:id="rId33"/>
    <p:sldId id="286" r:id="rId34"/>
    <p:sldId id="287" r:id="rId35"/>
    <p:sldId id="288" r:id="rId36"/>
    <p:sldId id="289" r:id="rId37"/>
    <p:sldId id="309" r:id="rId38"/>
    <p:sldId id="310"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11" r:id="rId57"/>
    <p:sldId id="312" r:id="rId58"/>
    <p:sldId id="313" r:id="rId59"/>
    <p:sldId id="315" r:id="rId60"/>
    <p:sldId id="307" r:id="rId61"/>
  </p:sldIdLst>
  <p:sldSz cx="9144000" cy="6858000" type="screen4x3"/>
  <p:notesSz cx="6858000" cy="9144000"/>
  <p:custDataLst>
    <p:tags r:id="rId65"/>
  </p:custDataLst>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64" d="100"/>
          <a:sy n="64" d="100"/>
        </p:scale>
        <p:origin x="432" y="6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5" Type="http://schemas.openxmlformats.org/officeDocument/2006/relationships/tags" Target="tags/tag3.xml"/><Relationship Id="rId64" Type="http://schemas.openxmlformats.org/officeDocument/2006/relationships/tableStyles" Target="tableStyles.xml"/><Relationship Id="rId63" Type="http://schemas.openxmlformats.org/officeDocument/2006/relationships/viewProps" Target="viewProps.xml"/><Relationship Id="rId62" Type="http://schemas.openxmlformats.org/officeDocument/2006/relationships/presProps" Target="presProps.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24.wmf"/><Relationship Id="rId1" Type="http://schemas.openxmlformats.org/officeDocument/2006/relationships/image" Target="../media/image23.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pPr>
              <a:defRPr/>
            </a:pPr>
            <a:fld id="{0DC6298D-07CD-4D23-B8CC-A8E34147C004}"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DE2A49D7-249C-4C56-A61C-F0835DF6FB76}" type="slidenum">
              <a:rPr lang="zh-CN" altLang="en-US"/>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22D43C8F-1160-4826-A3B7-AE28D0B0F9D9}"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83B5A665-E82B-473B-8E0D-6D94156ED741}" type="slidenum">
              <a:rPr lang="zh-CN" altLang="en-US"/>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lvl1pPr>
              <a:defRPr/>
            </a:lvl1pPr>
          </a:lstStyle>
          <a:p>
            <a:pPr>
              <a:defRPr/>
            </a:pPr>
            <a:fld id="{AC7503F0-2D4F-4EE6-8156-A683CB884546}"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88326F4B-DC0A-4990-8E9F-B7AACF188A68}" type="slidenum">
              <a:rPr lang="zh-CN" altLang="en-US"/>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3"/>
          <p:cNvSpPr>
            <a:spLocks noGrp="1"/>
          </p:cNvSpPr>
          <p:nvPr>
            <p:ph type="dt" sz="half" idx="10"/>
          </p:nvPr>
        </p:nvSpPr>
        <p:spPr/>
        <p:txBody>
          <a:bodyPr/>
          <a:lstStyle>
            <a:lvl1pPr>
              <a:defRPr/>
            </a:lvl1pPr>
          </a:lstStyle>
          <a:p>
            <a:pPr>
              <a:defRPr/>
            </a:pPr>
            <a:fld id="{9737D179-724A-4636-872D-3CCE01BA2B0D}" type="datetimeFigureOut">
              <a:rPr lang="zh-CN" altLang="en-US"/>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D3B44EC6-EF3E-4EF7-B7CE-367BAB63FBA7}" type="slidenum">
              <a:rPr lang="zh-CN" altLang="en-US"/>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3"/>
          <p:cNvSpPr>
            <a:spLocks noGrp="1"/>
          </p:cNvSpPr>
          <p:nvPr>
            <p:ph type="dt" sz="half" idx="10"/>
          </p:nvPr>
        </p:nvSpPr>
        <p:spPr/>
        <p:txBody>
          <a:bodyPr/>
          <a:lstStyle>
            <a:lvl1pPr>
              <a:defRPr/>
            </a:lvl1pPr>
          </a:lstStyle>
          <a:p>
            <a:pPr>
              <a:defRPr/>
            </a:pPr>
            <a:fld id="{C44A4E60-B219-4F3B-83B6-0004D7AA8198}" type="datetimeFigureOut">
              <a:rPr lang="zh-CN" altLang="en-US"/>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91992889-AD93-4688-8BFB-48107EB163A8}" type="slidenum">
              <a:rPr lang="zh-CN" altLang="en-US"/>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3"/>
          <p:cNvSpPr>
            <a:spLocks noGrp="1"/>
          </p:cNvSpPr>
          <p:nvPr>
            <p:ph type="dt" sz="half" idx="10"/>
          </p:nvPr>
        </p:nvSpPr>
        <p:spPr/>
        <p:txBody>
          <a:bodyPr/>
          <a:lstStyle>
            <a:lvl1pPr>
              <a:defRPr/>
            </a:lvl1pPr>
          </a:lstStyle>
          <a:p>
            <a:pPr>
              <a:defRPr/>
            </a:pPr>
            <a:fld id="{539540B6-E1A2-49BA-A6F5-9DA8B0F3DFE6}" type="datetimeFigureOut">
              <a:rPr lang="zh-CN" altLang="en-US"/>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C27DFB3B-B7B3-4E2D-8A80-D08D495B1F0A}" type="slidenum">
              <a:rPr lang="zh-CN" altLang="en-US"/>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E2A0C800-C1A1-44DE-8FF1-A4C8AC5D3004}" type="datetimeFigureOut">
              <a:rPr lang="zh-CN" altLang="en-US"/>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34AF6F82-F2E5-46EF-9FE6-69F155E68C56}" type="slidenum">
              <a:rPr lang="zh-CN" altLang="en-US"/>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p:cNvSpPr>
          <p:nvPr>
            <p:ph type="dt" sz="half" idx="10"/>
          </p:nvPr>
        </p:nvSpPr>
        <p:spPr/>
        <p:txBody>
          <a:bodyPr/>
          <a:lstStyle>
            <a:lvl1pPr>
              <a:defRPr/>
            </a:lvl1pPr>
          </a:lstStyle>
          <a:p>
            <a:pPr>
              <a:defRPr/>
            </a:pPr>
            <a:fld id="{41447C5B-EDCA-4781-8412-9A785FFACCFB}" type="datetimeFigureOut">
              <a:rPr lang="zh-CN" altLang="en-US"/>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DE567AF6-253C-49CE-8D5A-01FC542D0487}" type="slidenum">
              <a:rPr lang="zh-CN" altLang="en-US"/>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p:cNvSpPr>
          <p:nvPr>
            <p:ph type="dt" sz="half" idx="10"/>
          </p:nvPr>
        </p:nvSpPr>
        <p:spPr/>
        <p:txBody>
          <a:bodyPr/>
          <a:lstStyle>
            <a:lvl1pPr>
              <a:defRPr/>
            </a:lvl1pPr>
          </a:lstStyle>
          <a:p>
            <a:pPr>
              <a:defRPr/>
            </a:pPr>
            <a:fld id="{FDA55FED-DE85-4BC1-B193-8D247CC538BF}" type="datetimeFigureOut">
              <a:rPr lang="zh-CN" altLang="en-US"/>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87BCFC3C-29FF-43E8-B2DE-E2D6B018A92B}" type="slidenum">
              <a:rPr lang="zh-CN" altLang="en-US"/>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A94AFAE7-E17C-4AB0-A2E3-AF15539065EB}"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618DB2BE-A702-44A2-9463-475032966F54}" type="slidenum">
              <a:rPr lang="zh-CN" altLang="en-US"/>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087AA7EF-B709-4788-B29D-A12EDC45FE89}"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8491D2FE-7741-4A68-A490-43BB8B733C66}" type="slidenum">
              <a:rPr lang="zh-CN" altLang="en-US"/>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smtClean="0"/>
              <a:t>单击此处编辑母版标题样式</a:t>
            </a:r>
            <a:endParaRPr lang="zh-CN" altLang="en-US" smtClean="0"/>
          </a:p>
        </p:txBody>
      </p:sp>
      <p:sp>
        <p:nvSpPr>
          <p:cNvPr id="1027" name="文本占位符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a:defRPr/>
            </a:pPr>
            <a:fld id="{2B5DC7CF-EF98-4413-872D-B308282938EE}" type="datetimeFigureOut">
              <a:rPr lang="zh-CN" altLang="en-US"/>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lstStyle>
            <a:lvl1pPr algn="r" eaLnBrk="1" hangingPunct="1">
              <a:defRPr sz="1200">
                <a:solidFill>
                  <a:srgbClr val="898989"/>
                </a:solidFill>
                <a:latin typeface="Calibri" panose="020F0502020204030204" pitchFamily="34" charset="0"/>
              </a:defRPr>
            </a:lvl1pPr>
          </a:lstStyle>
          <a:p>
            <a:pPr>
              <a:defRPr/>
            </a:pPr>
            <a:fld id="{458B2F97-5155-401A-BBEB-7842339DFD0A}" type="slidenum">
              <a:rPr lang="zh-CN" altLang="en-US"/>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1.xml"/><Relationship Id="rId2" Type="http://schemas.openxmlformats.org/officeDocument/2006/relationships/image" Target="../media/image1.wmf"/><Relationship Id="rId1" Type="http://schemas.openxmlformats.org/officeDocument/2006/relationships/oleObject" Target="../embeddings/oleObject1.bin"/></Relationships>
</file>

<file path=ppt/slides/_rels/slide12.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1.xml"/><Relationship Id="rId2" Type="http://schemas.openxmlformats.org/officeDocument/2006/relationships/image" Target="../media/image2.wmf"/><Relationship Id="rId1" Type="http://schemas.openxmlformats.org/officeDocument/2006/relationships/oleObject" Target="../embeddings/oleObject2.bin"/></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1.xml"/><Relationship Id="rId2" Type="http://schemas.openxmlformats.org/officeDocument/2006/relationships/image" Target="../media/image3.wmf"/><Relationship Id="rId1" Type="http://schemas.openxmlformats.org/officeDocument/2006/relationships/oleObject" Target="../embeddings/oleObject3.bin"/></Relationships>
</file>

<file path=ppt/slides/_rels/slide18.xml.rels><?xml version="1.0" encoding="UTF-8" standalone="yes"?>
<Relationships xmlns="http://schemas.openxmlformats.org/package/2006/relationships"><Relationship Id="rId6" Type="http://schemas.openxmlformats.org/officeDocument/2006/relationships/vmlDrawing" Target="../drawings/vmlDrawing4.vml"/><Relationship Id="rId5" Type="http://schemas.openxmlformats.org/officeDocument/2006/relationships/slideLayout" Target="../slideLayouts/slideLayout2.xml"/><Relationship Id="rId4" Type="http://schemas.openxmlformats.org/officeDocument/2006/relationships/image" Target="../media/image5.wmf"/><Relationship Id="rId3" Type="http://schemas.openxmlformats.org/officeDocument/2006/relationships/oleObject" Target="../embeddings/oleObject5.bin"/><Relationship Id="rId2" Type="http://schemas.openxmlformats.org/officeDocument/2006/relationships/image" Target="../media/image4.wmf"/><Relationship Id="rId1" Type="http://schemas.openxmlformats.org/officeDocument/2006/relationships/oleObject" Target="../embeddings/oleObject4.bin"/></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7.png"/><Relationship Id="rId3" Type="http://schemas.openxmlformats.org/officeDocument/2006/relationships/tags" Target="../tags/tag2.xml"/><Relationship Id="rId2" Type="http://schemas.openxmlformats.org/officeDocument/2006/relationships/image" Target="../media/image6.png"/><Relationship Id="rId1" Type="http://schemas.openxmlformats.org/officeDocument/2006/relationships/tags" Target="../tags/tag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35.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21.wmf"/><Relationship Id="rId1" Type="http://schemas.openxmlformats.org/officeDocument/2006/relationships/oleObject" Target="../embeddings/oleObject6.bin"/></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6" Type="http://schemas.openxmlformats.org/officeDocument/2006/relationships/vmlDrawing" Target="../drawings/vmlDrawing6.vml"/><Relationship Id="rId5" Type="http://schemas.openxmlformats.org/officeDocument/2006/relationships/slideLayout" Target="../slideLayouts/slideLayout2.xml"/><Relationship Id="rId4" Type="http://schemas.openxmlformats.org/officeDocument/2006/relationships/image" Target="../media/image24.wmf"/><Relationship Id="rId3" Type="http://schemas.openxmlformats.org/officeDocument/2006/relationships/oleObject" Target="../embeddings/oleObject8.bin"/><Relationship Id="rId2" Type="http://schemas.openxmlformats.org/officeDocument/2006/relationships/image" Target="../media/image23.wmf"/><Relationship Id="rId1" Type="http://schemas.openxmlformats.org/officeDocument/2006/relationships/oleObject" Target="../embeddings/oleObject7.bin"/></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标题 1"/>
          <p:cNvSpPr>
            <a:spLocks noGrp="1"/>
          </p:cNvSpPr>
          <p:nvPr>
            <p:ph type="ctrTitle"/>
          </p:nvPr>
        </p:nvSpPr>
        <p:spPr>
          <a:xfrm>
            <a:off x="685800" y="476250"/>
            <a:ext cx="7772400" cy="865188"/>
          </a:xfrm>
        </p:spPr>
        <p:txBody>
          <a:bodyPr/>
          <a:lstStyle/>
          <a:p>
            <a:pPr eaLnBrk="1" hangingPunct="1"/>
            <a:r>
              <a:rPr lang="zh-CN" altLang="en-US" sz="4000" b="1" smtClean="0">
                <a:solidFill>
                  <a:srgbClr val="C00000"/>
                </a:solidFill>
                <a:latin typeface="Times New Roman" panose="02020603050405020304" pitchFamily="18" charset="0"/>
                <a:cs typeface="Times New Roman" panose="02020603050405020304" pitchFamily="18" charset="0"/>
              </a:rPr>
              <a:t>第</a:t>
            </a:r>
            <a:r>
              <a:rPr lang="en-US" altLang="zh-CN" sz="4000" b="1" smtClean="0">
                <a:solidFill>
                  <a:srgbClr val="C00000"/>
                </a:solidFill>
                <a:latin typeface="Times New Roman" panose="02020603050405020304" pitchFamily="18" charset="0"/>
                <a:cs typeface="Times New Roman" panose="02020603050405020304" pitchFamily="18" charset="0"/>
              </a:rPr>
              <a:t>9</a:t>
            </a:r>
            <a:r>
              <a:rPr lang="zh-CN" altLang="en-US" sz="4000" b="1" smtClean="0">
                <a:solidFill>
                  <a:srgbClr val="C00000"/>
                </a:solidFill>
                <a:latin typeface="Times New Roman" panose="02020603050405020304" pitchFamily="18" charset="0"/>
                <a:cs typeface="Times New Roman" panose="02020603050405020304" pitchFamily="18" charset="0"/>
              </a:rPr>
              <a:t>章  </a:t>
            </a:r>
            <a:r>
              <a:rPr lang="en-US" altLang="zh-CN" sz="4000" b="1" smtClean="0">
                <a:solidFill>
                  <a:srgbClr val="C00000"/>
                </a:solidFill>
                <a:latin typeface="Times New Roman" panose="02020603050405020304" pitchFamily="18" charset="0"/>
                <a:cs typeface="Times New Roman" panose="02020603050405020304" pitchFamily="18" charset="0"/>
              </a:rPr>
              <a:t>NP</a:t>
            </a:r>
            <a:r>
              <a:rPr lang="zh-CN" altLang="en-US" sz="4000" b="1" smtClean="0">
                <a:solidFill>
                  <a:srgbClr val="C00000"/>
                </a:solidFill>
                <a:latin typeface="Times New Roman" panose="02020603050405020304" pitchFamily="18" charset="0"/>
                <a:cs typeface="Times New Roman" panose="02020603050405020304" pitchFamily="18" charset="0"/>
              </a:rPr>
              <a:t>完全性</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2051" name="副标题 2"/>
          <p:cNvSpPr>
            <a:spLocks noGrp="1"/>
          </p:cNvSpPr>
          <p:nvPr>
            <p:ph type="subTitle" idx="1"/>
          </p:nvPr>
        </p:nvSpPr>
        <p:spPr>
          <a:xfrm>
            <a:off x="684213" y="1557338"/>
            <a:ext cx="7775575" cy="4535487"/>
          </a:xfrm>
        </p:spPr>
        <p:txBody>
          <a:bodyPr/>
          <a:lstStyle/>
          <a:p>
            <a:pPr algn="l" eaLnBrk="1" hangingPunct="1"/>
            <a:r>
              <a:rPr lang="en-US" altLang="zh-CN" sz="2800" b="1" smtClean="0">
                <a:solidFill>
                  <a:schemeClr val="tx1"/>
                </a:solidFill>
                <a:latin typeface="Times New Roman" panose="02020603050405020304" pitchFamily="18" charset="0"/>
                <a:cs typeface="Times New Roman" panose="02020603050405020304" pitchFamily="18" charset="0"/>
              </a:rPr>
              <a:t>9.1 P</a:t>
            </a:r>
            <a:r>
              <a:rPr lang="zh-CN" altLang="en-US" sz="2800" b="1" smtClean="0">
                <a:solidFill>
                  <a:schemeClr val="tx1"/>
                </a:solidFill>
                <a:latin typeface="Times New Roman" panose="02020603050405020304" pitchFamily="18" charset="0"/>
                <a:cs typeface="Times New Roman" panose="02020603050405020304" pitchFamily="18" charset="0"/>
              </a:rPr>
              <a:t>类与 </a:t>
            </a:r>
            <a:r>
              <a:rPr lang="en-US" altLang="zh-CN" sz="2800" b="1" smtClean="0">
                <a:solidFill>
                  <a:schemeClr val="tx1"/>
                </a:solidFill>
                <a:latin typeface="Times New Roman" panose="02020603050405020304" pitchFamily="18" charset="0"/>
                <a:cs typeface="Times New Roman" panose="02020603050405020304" pitchFamily="18" charset="0"/>
              </a:rPr>
              <a:t>NP </a:t>
            </a:r>
            <a:r>
              <a:rPr lang="zh-CN" altLang="en-US" sz="2800" b="1" smtClean="0">
                <a:solidFill>
                  <a:schemeClr val="tx1"/>
                </a:solidFill>
                <a:latin typeface="Times New Roman" panose="02020603050405020304" pitchFamily="18" charset="0"/>
                <a:cs typeface="Times New Roman" panose="02020603050405020304" pitchFamily="18" charset="0"/>
              </a:rPr>
              <a:t>类</a:t>
            </a:r>
            <a:r>
              <a:rPr lang="en-US" altLang="zh-CN" sz="2800" b="1" smtClean="0">
                <a:solidFill>
                  <a:schemeClr val="tx1"/>
                </a:solidFill>
                <a:latin typeface="Times New Roman" panose="02020603050405020304" pitchFamily="18" charset="0"/>
                <a:cs typeface="Times New Roman" panose="02020603050405020304" pitchFamily="18" charset="0"/>
              </a:rPr>
              <a:t> </a:t>
            </a:r>
            <a:endParaRPr lang="en-US" altLang="zh-CN" sz="2800" b="1" smtClean="0">
              <a:solidFill>
                <a:schemeClr val="tx1"/>
              </a:solidFill>
              <a:latin typeface="Times New Roman" panose="02020603050405020304" pitchFamily="18" charset="0"/>
              <a:cs typeface="Times New Roman" panose="02020603050405020304" pitchFamily="18" charset="0"/>
            </a:endParaRPr>
          </a:p>
          <a:p>
            <a:pPr algn="l" eaLnBrk="1" hangingPunct="1"/>
            <a:r>
              <a:rPr lang="en-US" altLang="zh-CN" sz="2400" b="1" smtClean="0">
                <a:solidFill>
                  <a:schemeClr val="tx1"/>
                </a:solidFill>
                <a:latin typeface="Times New Roman" panose="02020603050405020304" pitchFamily="18" charset="0"/>
                <a:cs typeface="Times New Roman" panose="02020603050405020304" pitchFamily="18" charset="0"/>
              </a:rPr>
              <a:t>   9.1.1 </a:t>
            </a:r>
            <a:r>
              <a:rPr lang="zh-CN" altLang="en-US" sz="2400" b="1" smtClean="0">
                <a:solidFill>
                  <a:schemeClr val="tx1"/>
                </a:solidFill>
                <a:latin typeface="Times New Roman" panose="02020603050405020304" pitchFamily="18" charset="0"/>
                <a:cs typeface="Times New Roman" panose="02020603050405020304" pitchFamily="18" charset="0"/>
              </a:rPr>
              <a:t>易解的问题与难解的问题</a:t>
            </a:r>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eaLnBrk="1" hangingPunct="1"/>
            <a:r>
              <a:rPr lang="en-US" altLang="zh-CN" sz="2400" b="1" smtClean="0">
                <a:solidFill>
                  <a:schemeClr val="tx1"/>
                </a:solidFill>
                <a:latin typeface="Times New Roman" panose="02020603050405020304" pitchFamily="18" charset="0"/>
                <a:cs typeface="Times New Roman" panose="02020603050405020304" pitchFamily="18" charset="0"/>
              </a:rPr>
              <a:t>   9.1.2 </a:t>
            </a:r>
            <a:r>
              <a:rPr lang="zh-CN" altLang="en-US" sz="2400" b="1" smtClean="0">
                <a:solidFill>
                  <a:schemeClr val="tx1"/>
                </a:solidFill>
                <a:latin typeface="Times New Roman" panose="02020603050405020304" pitchFamily="18" charset="0"/>
                <a:cs typeface="Times New Roman" panose="02020603050405020304" pitchFamily="18" charset="0"/>
              </a:rPr>
              <a:t>判定问题</a:t>
            </a:r>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eaLnBrk="1" hangingPunct="1"/>
            <a:r>
              <a:rPr lang="en-US" altLang="zh-CN" sz="2400" b="1" smtClean="0">
                <a:solidFill>
                  <a:schemeClr val="tx1"/>
                </a:solidFill>
                <a:latin typeface="Times New Roman" panose="02020603050405020304" pitchFamily="18" charset="0"/>
                <a:cs typeface="Times New Roman" panose="02020603050405020304" pitchFamily="18" charset="0"/>
              </a:rPr>
              <a:t>   9.1.3 NP</a:t>
            </a:r>
            <a:r>
              <a:rPr lang="zh-CN" altLang="en-US" sz="2400" b="1" smtClean="0">
                <a:solidFill>
                  <a:schemeClr val="tx1"/>
                </a:solidFill>
                <a:latin typeface="Times New Roman" panose="02020603050405020304" pitchFamily="18" charset="0"/>
                <a:cs typeface="Times New Roman" panose="02020603050405020304" pitchFamily="18" charset="0"/>
              </a:rPr>
              <a:t>类</a:t>
            </a:r>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eaLnBrk="1" hangingPunct="1">
              <a:spcBef>
                <a:spcPts val="1800"/>
              </a:spcBef>
            </a:pPr>
            <a:r>
              <a:rPr lang="en-US" altLang="zh-CN" sz="2800" b="1" smtClean="0">
                <a:solidFill>
                  <a:schemeClr val="tx1"/>
                </a:solidFill>
                <a:latin typeface="Times New Roman" panose="02020603050405020304" pitchFamily="18" charset="0"/>
                <a:cs typeface="Times New Roman" panose="02020603050405020304" pitchFamily="18" charset="0"/>
              </a:rPr>
              <a:t>9.2 </a:t>
            </a:r>
            <a:r>
              <a:rPr lang="zh-CN" altLang="en-US" sz="2800" b="1" smtClean="0">
                <a:solidFill>
                  <a:schemeClr val="tx1"/>
                </a:solidFill>
                <a:latin typeface="Times New Roman" panose="02020603050405020304" pitchFamily="18" charset="0"/>
                <a:cs typeface="Times New Roman" panose="02020603050405020304" pitchFamily="18" charset="0"/>
              </a:rPr>
              <a:t>多项式时间变换与 </a:t>
            </a:r>
            <a:r>
              <a:rPr lang="en-US" altLang="zh-CN" sz="2800" b="1" smtClean="0">
                <a:solidFill>
                  <a:schemeClr val="tx1"/>
                </a:solidFill>
                <a:latin typeface="Times New Roman" panose="02020603050405020304" pitchFamily="18" charset="0"/>
                <a:cs typeface="Times New Roman" panose="02020603050405020304" pitchFamily="18" charset="0"/>
              </a:rPr>
              <a:t>NP </a:t>
            </a:r>
            <a:r>
              <a:rPr lang="zh-CN" altLang="en-US" sz="2800" b="1" smtClean="0">
                <a:solidFill>
                  <a:schemeClr val="tx1"/>
                </a:solidFill>
                <a:latin typeface="Times New Roman" panose="02020603050405020304" pitchFamily="18" charset="0"/>
                <a:cs typeface="Times New Roman" panose="02020603050405020304" pitchFamily="18" charset="0"/>
              </a:rPr>
              <a:t>完全性</a:t>
            </a:r>
            <a:endParaRPr lang="en-US" altLang="zh-CN" sz="2800" b="1" smtClean="0">
              <a:solidFill>
                <a:schemeClr val="tx1"/>
              </a:solidFill>
              <a:latin typeface="Times New Roman" panose="02020603050405020304" pitchFamily="18" charset="0"/>
              <a:cs typeface="Times New Roman" panose="02020603050405020304" pitchFamily="18" charset="0"/>
            </a:endParaRPr>
          </a:p>
          <a:p>
            <a:pPr algn="l" eaLnBrk="1" hangingPunct="1"/>
            <a:r>
              <a:rPr lang="en-US" altLang="zh-CN" sz="2400" b="1" smtClean="0">
                <a:solidFill>
                  <a:schemeClr val="tx1"/>
                </a:solidFill>
                <a:latin typeface="Times New Roman" panose="02020603050405020304" pitchFamily="18" charset="0"/>
                <a:cs typeface="Times New Roman" panose="02020603050405020304" pitchFamily="18" charset="0"/>
              </a:rPr>
              <a:t>   9.2.1 </a:t>
            </a:r>
            <a:r>
              <a:rPr lang="zh-CN" altLang="en-US" sz="2400" b="1" smtClean="0">
                <a:solidFill>
                  <a:schemeClr val="tx1"/>
                </a:solidFill>
                <a:latin typeface="Times New Roman" panose="02020603050405020304" pitchFamily="18" charset="0"/>
                <a:cs typeface="Times New Roman" panose="02020603050405020304" pitchFamily="18" charset="0"/>
              </a:rPr>
              <a:t>多项式时间变换</a:t>
            </a:r>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eaLnBrk="1" hangingPunct="1"/>
            <a:r>
              <a:rPr lang="en-US" altLang="zh-CN" sz="2400" b="1" smtClean="0">
                <a:solidFill>
                  <a:schemeClr val="tx1"/>
                </a:solidFill>
                <a:latin typeface="Times New Roman" panose="02020603050405020304" pitchFamily="18" charset="0"/>
                <a:cs typeface="Times New Roman" panose="02020603050405020304" pitchFamily="18" charset="0"/>
              </a:rPr>
              <a:t>   9.2.2 NP </a:t>
            </a:r>
            <a:r>
              <a:rPr lang="zh-CN" altLang="en-US" sz="2400" b="1" smtClean="0">
                <a:solidFill>
                  <a:schemeClr val="tx1"/>
                </a:solidFill>
                <a:latin typeface="Times New Roman" panose="02020603050405020304" pitchFamily="18" charset="0"/>
                <a:cs typeface="Times New Roman" panose="02020603050405020304" pitchFamily="18" charset="0"/>
              </a:rPr>
              <a:t>完全性</a:t>
            </a:r>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eaLnBrk="1" hangingPunct="1"/>
            <a:r>
              <a:rPr lang="en-US" altLang="zh-CN" sz="2400" b="1" smtClean="0">
                <a:solidFill>
                  <a:schemeClr val="tx1"/>
                </a:solidFill>
                <a:latin typeface="Times New Roman" panose="02020603050405020304" pitchFamily="18" charset="0"/>
                <a:cs typeface="Times New Roman" panose="02020603050405020304" pitchFamily="18" charset="0"/>
              </a:rPr>
              <a:t>   9.2.3 Cook-Levin</a:t>
            </a:r>
            <a:r>
              <a:rPr lang="zh-CN" altLang="en-US" sz="2400" b="1" smtClean="0">
                <a:solidFill>
                  <a:schemeClr val="tx1"/>
                </a:solidFill>
                <a:latin typeface="Times New Roman" panose="02020603050405020304" pitchFamily="18" charset="0"/>
                <a:cs typeface="Times New Roman" panose="02020603050405020304" pitchFamily="18" charset="0"/>
              </a:rPr>
              <a:t>定理</a:t>
            </a:r>
            <a:r>
              <a:rPr lang="zh-CN" altLang="en-US"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第一个 </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NP </a:t>
            </a:r>
            <a:r>
              <a:rPr lang="zh-CN" altLang="en-US"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完全问题</a:t>
            </a:r>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eaLnBrk="1" hangingPunct="1"/>
            <a:endParaRPr lang="zh-CN" altLang="en-US" sz="2800" b="1" smtClean="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标题 1"/>
          <p:cNvSpPr>
            <a:spLocks noGrp="1"/>
          </p:cNvSpPr>
          <p:nvPr>
            <p:ph type="ctrTitle"/>
          </p:nvPr>
        </p:nvSpPr>
        <p:spPr>
          <a:xfrm>
            <a:off x="685800" y="476250"/>
            <a:ext cx="7772400" cy="865188"/>
          </a:xfrm>
        </p:spPr>
        <p:txBody>
          <a:bodyPr/>
          <a:lstStyle/>
          <a:p>
            <a:pPr eaLnBrk="1" hangingPunct="1"/>
            <a:r>
              <a:rPr lang="zh-CN" altLang="en-US" sz="4000" b="1" smtClean="0">
                <a:solidFill>
                  <a:srgbClr val="C00000"/>
                </a:solidFill>
                <a:latin typeface="Times New Roman" panose="02020603050405020304" pitchFamily="18" charset="0"/>
                <a:cs typeface="Times New Roman" panose="02020603050405020304" pitchFamily="18" charset="0"/>
              </a:rPr>
              <a:t>第</a:t>
            </a:r>
            <a:r>
              <a:rPr lang="en-US" altLang="zh-CN" sz="4000" b="1" smtClean="0">
                <a:solidFill>
                  <a:srgbClr val="C00000"/>
                </a:solidFill>
                <a:latin typeface="Times New Roman" panose="02020603050405020304" pitchFamily="18" charset="0"/>
                <a:cs typeface="Times New Roman" panose="02020603050405020304" pitchFamily="18" charset="0"/>
              </a:rPr>
              <a:t>9</a:t>
            </a:r>
            <a:r>
              <a:rPr lang="zh-CN" altLang="en-US" sz="4000" b="1" smtClean="0">
                <a:solidFill>
                  <a:srgbClr val="C00000"/>
                </a:solidFill>
                <a:latin typeface="Times New Roman" panose="02020603050405020304" pitchFamily="18" charset="0"/>
                <a:cs typeface="Times New Roman" panose="02020603050405020304" pitchFamily="18" charset="0"/>
              </a:rPr>
              <a:t>章  </a:t>
            </a:r>
            <a:r>
              <a:rPr lang="en-US" altLang="zh-CN" sz="4000" b="1" smtClean="0">
                <a:solidFill>
                  <a:srgbClr val="C00000"/>
                </a:solidFill>
                <a:latin typeface="Times New Roman" panose="02020603050405020304" pitchFamily="18" charset="0"/>
                <a:cs typeface="Times New Roman" panose="02020603050405020304" pitchFamily="18" charset="0"/>
              </a:rPr>
              <a:t>NP</a:t>
            </a:r>
            <a:r>
              <a:rPr lang="zh-CN" altLang="en-US" sz="4000" b="1" smtClean="0">
                <a:solidFill>
                  <a:srgbClr val="C00000"/>
                </a:solidFill>
                <a:latin typeface="Times New Roman" panose="02020603050405020304" pitchFamily="18" charset="0"/>
                <a:cs typeface="Times New Roman" panose="02020603050405020304" pitchFamily="18" charset="0"/>
              </a:rPr>
              <a:t>完全性</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3075" name="副标题 2"/>
          <p:cNvSpPr>
            <a:spLocks noGrp="1"/>
          </p:cNvSpPr>
          <p:nvPr>
            <p:ph type="subTitle" idx="1"/>
          </p:nvPr>
        </p:nvSpPr>
        <p:spPr>
          <a:xfrm>
            <a:off x="684213" y="1557338"/>
            <a:ext cx="7775575" cy="4535487"/>
          </a:xfrm>
        </p:spPr>
        <p:txBody>
          <a:bodyPr/>
          <a:lstStyle/>
          <a:p>
            <a:pPr algn="l" eaLnBrk="1" hangingPunct="1"/>
            <a:r>
              <a:rPr lang="en-US" altLang="zh-CN" sz="2800" b="1" smtClean="0">
                <a:solidFill>
                  <a:schemeClr val="tx1"/>
                </a:solidFill>
                <a:latin typeface="Times New Roman" panose="02020603050405020304" pitchFamily="18" charset="0"/>
                <a:cs typeface="Times New Roman" panose="02020603050405020304" pitchFamily="18" charset="0"/>
              </a:rPr>
              <a:t>9.3 </a:t>
            </a:r>
            <a:r>
              <a:rPr lang="zh-CN" altLang="en-US" sz="2800" b="1" smtClean="0">
                <a:solidFill>
                  <a:schemeClr val="tx1"/>
                </a:solidFill>
                <a:latin typeface="Times New Roman" panose="02020603050405020304" pitchFamily="18" charset="0"/>
                <a:cs typeface="Times New Roman" panose="02020603050405020304" pitchFamily="18" charset="0"/>
              </a:rPr>
              <a:t>几个 </a:t>
            </a:r>
            <a:r>
              <a:rPr lang="en-US" altLang="zh-CN" sz="2800" b="1" smtClean="0">
                <a:solidFill>
                  <a:schemeClr val="tx1"/>
                </a:solidFill>
                <a:latin typeface="Times New Roman" panose="02020603050405020304" pitchFamily="18" charset="0"/>
                <a:cs typeface="Times New Roman" panose="02020603050405020304" pitchFamily="18" charset="0"/>
              </a:rPr>
              <a:t>NP </a:t>
            </a:r>
            <a:r>
              <a:rPr lang="zh-CN" altLang="en-US" sz="2800" b="1" smtClean="0">
                <a:solidFill>
                  <a:schemeClr val="tx1"/>
                </a:solidFill>
                <a:latin typeface="Times New Roman" panose="02020603050405020304" pitchFamily="18" charset="0"/>
                <a:cs typeface="Times New Roman" panose="02020603050405020304" pitchFamily="18" charset="0"/>
              </a:rPr>
              <a:t>完全问题</a:t>
            </a:r>
            <a:endParaRPr lang="en-US" altLang="zh-CN" sz="2800" b="1" smtClean="0">
              <a:solidFill>
                <a:schemeClr val="tx1"/>
              </a:solidFill>
              <a:latin typeface="Times New Roman" panose="02020603050405020304" pitchFamily="18" charset="0"/>
              <a:cs typeface="Times New Roman" panose="02020603050405020304" pitchFamily="18" charset="0"/>
            </a:endParaRPr>
          </a:p>
          <a:p>
            <a:pPr algn="l" eaLnBrk="1" hangingPunct="1"/>
            <a:r>
              <a:rPr lang="en-US" altLang="zh-CN" sz="2400" b="1" smtClean="0">
                <a:solidFill>
                  <a:schemeClr val="tx1"/>
                </a:solidFill>
                <a:latin typeface="Times New Roman" panose="02020603050405020304" pitchFamily="18" charset="0"/>
                <a:cs typeface="Times New Roman" panose="02020603050405020304" pitchFamily="18" charset="0"/>
              </a:rPr>
              <a:t>   9.3.1 </a:t>
            </a:r>
            <a:r>
              <a:rPr lang="zh-CN" altLang="en-US" sz="2400" b="1" smtClean="0">
                <a:solidFill>
                  <a:schemeClr val="tx1"/>
                </a:solidFill>
                <a:latin typeface="Times New Roman" panose="02020603050405020304" pitchFamily="18" charset="0"/>
                <a:cs typeface="Times New Roman" panose="02020603050405020304" pitchFamily="18" charset="0"/>
              </a:rPr>
              <a:t>最大可满足性与三元可满足性</a:t>
            </a:r>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eaLnBrk="1" hangingPunct="1"/>
            <a:r>
              <a:rPr lang="en-US" altLang="zh-CN" sz="2400" b="1" smtClean="0">
                <a:solidFill>
                  <a:schemeClr val="tx1"/>
                </a:solidFill>
                <a:latin typeface="Times New Roman" panose="02020603050405020304" pitchFamily="18" charset="0"/>
                <a:cs typeface="Times New Roman" panose="02020603050405020304" pitchFamily="18" charset="0"/>
              </a:rPr>
              <a:t>   9.3.2 </a:t>
            </a:r>
            <a:r>
              <a:rPr lang="zh-CN" altLang="en-US" sz="2400" b="1" smtClean="0">
                <a:solidFill>
                  <a:schemeClr val="tx1"/>
                </a:solidFill>
                <a:latin typeface="Times New Roman" panose="02020603050405020304" pitchFamily="18" charset="0"/>
                <a:cs typeface="Times New Roman" panose="02020603050405020304" pitchFamily="18" charset="0"/>
              </a:rPr>
              <a:t>顶点覆盖</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团与独立集</a:t>
            </a:r>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eaLnBrk="1" hangingPunct="1"/>
            <a:r>
              <a:rPr lang="en-US" altLang="zh-CN" sz="2400" b="1" smtClean="0">
                <a:solidFill>
                  <a:schemeClr val="tx1"/>
                </a:solidFill>
                <a:latin typeface="Times New Roman" panose="02020603050405020304" pitchFamily="18" charset="0"/>
                <a:cs typeface="Times New Roman" panose="02020603050405020304" pitchFamily="18" charset="0"/>
              </a:rPr>
              <a:t>   9.3.3 </a:t>
            </a:r>
            <a:r>
              <a:rPr lang="zh-CN" altLang="en-US" sz="2400" b="1" smtClean="0">
                <a:solidFill>
                  <a:schemeClr val="tx1"/>
                </a:solidFill>
                <a:latin typeface="Times New Roman" panose="02020603050405020304" pitchFamily="18" charset="0"/>
                <a:cs typeface="Times New Roman" panose="02020603050405020304" pitchFamily="18" charset="0"/>
              </a:rPr>
              <a:t>哈密顿回路与货郎问题</a:t>
            </a:r>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eaLnBrk="1" hangingPunct="1"/>
            <a:r>
              <a:rPr lang="en-US" altLang="zh-CN" sz="2400" b="1" smtClean="0">
                <a:solidFill>
                  <a:schemeClr val="tx1"/>
                </a:solidFill>
                <a:latin typeface="Times New Roman" panose="02020603050405020304" pitchFamily="18" charset="0"/>
                <a:cs typeface="Times New Roman" panose="02020603050405020304" pitchFamily="18" charset="0"/>
              </a:rPr>
              <a:t>   9.3.4 </a:t>
            </a:r>
            <a:r>
              <a:rPr lang="zh-CN" altLang="en-US" sz="2400" b="1" smtClean="0">
                <a:solidFill>
                  <a:schemeClr val="tx1"/>
                </a:solidFill>
                <a:latin typeface="Times New Roman" panose="02020603050405020304" pitchFamily="18" charset="0"/>
                <a:cs typeface="Times New Roman" panose="02020603050405020304" pitchFamily="18" charset="0"/>
              </a:rPr>
              <a:t>恰好覆盖</a:t>
            </a:r>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eaLnBrk="1" hangingPunct="1"/>
            <a:r>
              <a:rPr lang="en-US" altLang="zh-CN" sz="2400" b="1" smtClean="0">
                <a:solidFill>
                  <a:schemeClr val="tx1"/>
                </a:solidFill>
                <a:latin typeface="Times New Roman" panose="02020603050405020304" pitchFamily="18" charset="0"/>
                <a:cs typeface="Times New Roman" panose="02020603050405020304" pitchFamily="18" charset="0"/>
              </a:rPr>
              <a:t>   9.3.5 </a:t>
            </a:r>
            <a:r>
              <a:rPr lang="zh-CN" altLang="en-US" sz="2400" b="1" smtClean="0">
                <a:solidFill>
                  <a:schemeClr val="tx1"/>
                </a:solidFill>
                <a:latin typeface="Times New Roman" panose="02020603050405020304" pitchFamily="18" charset="0"/>
                <a:cs typeface="Times New Roman" panose="02020603050405020304" pitchFamily="18" charset="0"/>
              </a:rPr>
              <a:t>子集和</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背包</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装箱与双机调度</a:t>
            </a:r>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eaLnBrk="1" hangingPunct="1"/>
            <a:r>
              <a:rPr lang="en-US" altLang="zh-CN" sz="2400" b="1" smtClean="0">
                <a:solidFill>
                  <a:schemeClr val="tx1"/>
                </a:solidFill>
                <a:latin typeface="Times New Roman" panose="02020603050405020304" pitchFamily="18" charset="0"/>
                <a:cs typeface="Times New Roman" panose="02020603050405020304" pitchFamily="18" charset="0"/>
              </a:rPr>
              <a:t>   9.3.6 </a:t>
            </a:r>
            <a:r>
              <a:rPr lang="zh-CN" altLang="en-US" sz="2400" b="1" smtClean="0">
                <a:solidFill>
                  <a:schemeClr val="tx1"/>
                </a:solidFill>
                <a:latin typeface="Times New Roman" panose="02020603050405020304" pitchFamily="18" charset="0"/>
                <a:cs typeface="Times New Roman" panose="02020603050405020304" pitchFamily="18" charset="0"/>
              </a:rPr>
              <a:t>整数线性规划</a:t>
            </a:r>
            <a:endParaRPr lang="zh-CN" altLang="en-US" sz="2400" b="1" smtClean="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1"/>
          <p:cNvSpPr>
            <a:spLocks noGrp="1"/>
          </p:cNvSpPr>
          <p:nvPr>
            <p:ph type="ctrTitle"/>
          </p:nvPr>
        </p:nvSpPr>
        <p:spPr>
          <a:xfrm>
            <a:off x="685800" y="476250"/>
            <a:ext cx="7772400" cy="865188"/>
          </a:xfrm>
        </p:spPr>
        <p:txBody>
          <a:bodyPr/>
          <a:lstStyle/>
          <a:p>
            <a:pPr eaLnBrk="1" hangingPunct="1"/>
            <a:r>
              <a:rPr lang="en-US" altLang="zh-CN" sz="4000" b="1" smtClean="0">
                <a:solidFill>
                  <a:srgbClr val="C00000"/>
                </a:solidFill>
                <a:latin typeface="Times New Roman" panose="02020603050405020304" pitchFamily="18" charset="0"/>
                <a:cs typeface="Times New Roman" panose="02020603050405020304" pitchFamily="18" charset="0"/>
              </a:rPr>
              <a:t>9.1 P</a:t>
            </a:r>
            <a:r>
              <a:rPr lang="zh-CN" altLang="en-US" sz="4000" b="1" smtClean="0">
                <a:solidFill>
                  <a:srgbClr val="C00000"/>
                </a:solidFill>
                <a:latin typeface="Times New Roman" panose="02020603050405020304" pitchFamily="18" charset="0"/>
                <a:cs typeface="Times New Roman" panose="02020603050405020304" pitchFamily="18" charset="0"/>
              </a:rPr>
              <a:t>类与</a:t>
            </a:r>
            <a:r>
              <a:rPr lang="en-US" altLang="zh-CN" sz="4000" b="1" smtClean="0">
                <a:solidFill>
                  <a:srgbClr val="C00000"/>
                </a:solidFill>
                <a:latin typeface="Times New Roman" panose="02020603050405020304" pitchFamily="18" charset="0"/>
                <a:cs typeface="Times New Roman" panose="02020603050405020304" pitchFamily="18" charset="0"/>
              </a:rPr>
              <a:t>NP</a:t>
            </a:r>
            <a:r>
              <a:rPr lang="zh-CN" altLang="en-US" sz="4000" b="1" smtClean="0">
                <a:solidFill>
                  <a:srgbClr val="C00000"/>
                </a:solidFill>
                <a:latin typeface="Times New Roman" panose="02020603050405020304" pitchFamily="18" charset="0"/>
                <a:cs typeface="Times New Roman" panose="02020603050405020304" pitchFamily="18" charset="0"/>
              </a:rPr>
              <a:t>类</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4099" name="副标题 2"/>
          <p:cNvSpPr>
            <a:spLocks noGrp="1"/>
          </p:cNvSpPr>
          <p:nvPr>
            <p:ph type="subTitle" idx="1"/>
          </p:nvPr>
        </p:nvSpPr>
        <p:spPr>
          <a:xfrm>
            <a:off x="684213" y="1557338"/>
            <a:ext cx="7775575" cy="4751387"/>
          </a:xfrm>
        </p:spPr>
        <p:txBody>
          <a:bodyPr/>
          <a:lstStyle/>
          <a:p>
            <a:pPr algn="l" eaLnBrk="1" hangingPunct="1"/>
            <a:r>
              <a:rPr lang="en-US" altLang="zh-CN" b="1" smtClean="0">
                <a:solidFill>
                  <a:srgbClr val="C00000"/>
                </a:solidFill>
                <a:latin typeface="Times New Roman" panose="02020603050405020304" pitchFamily="18" charset="0"/>
                <a:cs typeface="Times New Roman" panose="02020603050405020304" pitchFamily="18" charset="0"/>
              </a:rPr>
              <a:t>9.1.1 </a:t>
            </a:r>
            <a:r>
              <a:rPr lang="zh-CN" altLang="en-US" b="1" smtClean="0">
                <a:solidFill>
                  <a:srgbClr val="C00000"/>
                </a:solidFill>
                <a:latin typeface="Times New Roman" panose="02020603050405020304" pitchFamily="18" charset="0"/>
                <a:cs typeface="Times New Roman" panose="02020603050405020304" pitchFamily="18" charset="0"/>
              </a:rPr>
              <a:t>易解的问题与难解的问题</a:t>
            </a:r>
            <a:endParaRPr lang="en-US" altLang="zh-CN" b="1" smtClean="0">
              <a:solidFill>
                <a:srgbClr val="C00000"/>
              </a:solidFill>
              <a:latin typeface="Times New Roman" panose="02020603050405020304" pitchFamily="18" charset="0"/>
              <a:cs typeface="Times New Roman" panose="02020603050405020304" pitchFamily="18" charset="0"/>
            </a:endParaRPr>
          </a:p>
          <a:p>
            <a:pPr algn="l" eaLnBrk="1" hangingPunct="1">
              <a:lnSpc>
                <a:spcPct val="150000"/>
              </a:lnSpc>
            </a:pPr>
            <a:r>
              <a:rPr lang="zh-CN" altLang="en-US" sz="2400" b="1" smtClean="0">
                <a:solidFill>
                  <a:schemeClr val="tx1"/>
                </a:solidFill>
                <a:latin typeface="Times New Roman" panose="02020603050405020304" pitchFamily="18" charset="0"/>
                <a:cs typeface="Times New Roman" panose="02020603050405020304" pitchFamily="18" charset="0"/>
              </a:rPr>
              <a:t>评价算法好坏的重要标准</a:t>
            </a:r>
            <a:r>
              <a:rPr lang="zh-CN" altLang="en-US"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smtClean="0">
                <a:solidFill>
                  <a:schemeClr val="tx1"/>
                </a:solidFill>
                <a:latin typeface="Times New Roman" panose="02020603050405020304" pitchFamily="18" charset="0"/>
                <a:cs typeface="Times New Roman" panose="02020603050405020304" pitchFamily="18" charset="0"/>
              </a:rPr>
              <a:t>运行时间</a:t>
            </a:r>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eaLnBrk="1" hangingPunct="1"/>
            <a:r>
              <a:rPr lang="zh-CN" altLang="en-US" sz="2400" b="1" smtClean="0">
                <a:solidFill>
                  <a:schemeClr val="tx1"/>
                </a:solidFill>
                <a:latin typeface="Times New Roman" panose="02020603050405020304" pitchFamily="18" charset="0"/>
                <a:cs typeface="Times New Roman" panose="02020603050405020304" pitchFamily="18" charset="0"/>
              </a:rPr>
              <a:t>快速排序算法  </a:t>
            </a:r>
            <a:r>
              <a:rPr lang="en-US" altLang="zh-CN" sz="2400" b="1" i="1" smtClean="0">
                <a:solidFill>
                  <a:schemeClr val="tx1"/>
                </a:solidFill>
                <a:latin typeface="Times New Roman" panose="02020603050405020304" pitchFamily="18" charset="0"/>
                <a:cs typeface="Times New Roman" panose="02020603050405020304" pitchFamily="18" charset="0"/>
              </a:rPr>
              <a:t>O</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n</a:t>
            </a:r>
            <a:r>
              <a:rPr lang="en-US" altLang="zh-CN" sz="2400" b="1" smtClean="0">
                <a:solidFill>
                  <a:schemeClr val="tx1"/>
                </a:solidFill>
                <a:latin typeface="Times New Roman" panose="02020603050405020304" pitchFamily="18" charset="0"/>
                <a:cs typeface="Times New Roman" panose="02020603050405020304" pitchFamily="18" charset="0"/>
              </a:rPr>
              <a:t>log</a:t>
            </a:r>
            <a:r>
              <a:rPr lang="en-US" altLang="zh-CN" sz="2400" b="1" i="1" smtClean="0">
                <a:solidFill>
                  <a:schemeClr val="tx1"/>
                </a:solidFill>
                <a:latin typeface="Times New Roman" panose="02020603050405020304" pitchFamily="18" charset="0"/>
                <a:cs typeface="Times New Roman" panose="02020603050405020304" pitchFamily="18" charset="0"/>
              </a:rPr>
              <a:t>n</a:t>
            </a:r>
            <a:r>
              <a:rPr lang="en-US" altLang="zh-CN" sz="2400" b="1" smtClean="0">
                <a:solidFill>
                  <a:schemeClr val="tx1"/>
                </a:solidFill>
                <a:latin typeface="Times New Roman" panose="02020603050405020304" pitchFamily="18" charset="0"/>
                <a:cs typeface="Times New Roman" panose="02020603050405020304" pitchFamily="18" charset="0"/>
              </a:rPr>
              <a:t>)          </a:t>
            </a:r>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eaLnBrk="1" hangingPunct="1"/>
            <a:r>
              <a:rPr lang="en-US" altLang="zh-CN" sz="2400" b="1" smtClean="0">
                <a:solidFill>
                  <a:schemeClr val="tx1"/>
                </a:solidFill>
                <a:latin typeface="Times New Roman" panose="02020603050405020304" pitchFamily="18" charset="0"/>
                <a:cs typeface="Times New Roman" panose="02020603050405020304" pitchFamily="18" charset="0"/>
              </a:rPr>
              <a:t>Dijkstra</a:t>
            </a:r>
            <a:r>
              <a:rPr lang="zh-CN" altLang="en-US" sz="2400" b="1" smtClean="0">
                <a:solidFill>
                  <a:schemeClr val="tx1"/>
                </a:solidFill>
                <a:latin typeface="Times New Roman" panose="02020603050405020304" pitchFamily="18" charset="0"/>
                <a:cs typeface="Times New Roman" panose="02020603050405020304" pitchFamily="18" charset="0"/>
              </a:rPr>
              <a:t>算法  </a:t>
            </a:r>
            <a:r>
              <a:rPr lang="en-US" altLang="zh-CN" sz="2400" b="1" i="1" smtClean="0">
                <a:solidFill>
                  <a:schemeClr val="tx1"/>
                </a:solidFill>
                <a:latin typeface="Times New Roman" panose="02020603050405020304" pitchFamily="18" charset="0"/>
                <a:cs typeface="Times New Roman" panose="02020603050405020304" pitchFamily="18" charset="0"/>
              </a:rPr>
              <a:t>O</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n</a:t>
            </a:r>
            <a:r>
              <a:rPr lang="en-US" altLang="zh-CN" sz="2400" b="1" baseline="30000" smtClean="0">
                <a:solidFill>
                  <a:schemeClr val="tx1"/>
                </a:solidFill>
                <a:latin typeface="Times New Roman" panose="02020603050405020304" pitchFamily="18" charset="0"/>
                <a:cs typeface="Times New Roman" panose="02020603050405020304" pitchFamily="18" charset="0"/>
              </a:rPr>
              <a:t>2</a:t>
            </a:r>
            <a:r>
              <a:rPr lang="en-US" altLang="zh-CN" sz="2400" b="1" smtClean="0">
                <a:solidFill>
                  <a:schemeClr val="tx1"/>
                </a:solidFill>
                <a:latin typeface="Times New Roman" panose="02020603050405020304" pitchFamily="18" charset="0"/>
                <a:cs typeface="Times New Roman" panose="02020603050405020304" pitchFamily="18" charset="0"/>
              </a:rPr>
              <a:t>)</a:t>
            </a:r>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eaLnBrk="1" hangingPunct="1"/>
            <a:r>
              <a:rPr lang="zh-CN" altLang="en-US" sz="2400" b="1" smtClean="0">
                <a:solidFill>
                  <a:schemeClr val="tx1"/>
                </a:solidFill>
                <a:latin typeface="Times New Roman" panose="02020603050405020304" pitchFamily="18" charset="0"/>
                <a:cs typeface="Times New Roman" panose="02020603050405020304" pitchFamily="18" charset="0"/>
              </a:rPr>
              <a:t>最大团问题的回溯法    </a:t>
            </a:r>
            <a:r>
              <a:rPr lang="en-US" altLang="zh-CN" sz="2400" b="1" i="1" smtClean="0">
                <a:solidFill>
                  <a:schemeClr val="tx1"/>
                </a:solidFill>
                <a:latin typeface="Times New Roman" panose="02020603050405020304" pitchFamily="18" charset="0"/>
                <a:cs typeface="Times New Roman" panose="02020603050405020304" pitchFamily="18" charset="0"/>
              </a:rPr>
              <a:t>O</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n</a:t>
            </a:r>
            <a:r>
              <a:rPr lang="en-US" altLang="zh-CN" sz="2400" b="1" smtClean="0">
                <a:solidFill>
                  <a:schemeClr val="tx1"/>
                </a:solidFill>
                <a:latin typeface="Times New Roman" panose="02020603050405020304" pitchFamily="18" charset="0"/>
                <a:cs typeface="Times New Roman" panose="02020603050405020304" pitchFamily="18" charset="0"/>
              </a:rPr>
              <a:t>2</a:t>
            </a:r>
            <a:r>
              <a:rPr lang="en-US" altLang="zh-CN" sz="2400" b="1" i="1" baseline="30000" smtClean="0">
                <a:solidFill>
                  <a:schemeClr val="tx1"/>
                </a:solidFill>
                <a:latin typeface="Times New Roman" panose="02020603050405020304" pitchFamily="18" charset="0"/>
                <a:cs typeface="Times New Roman" panose="02020603050405020304" pitchFamily="18" charset="0"/>
              </a:rPr>
              <a:t>n</a:t>
            </a:r>
            <a:r>
              <a:rPr lang="en-US" altLang="zh-CN" sz="2400" b="1" smtClean="0">
                <a:solidFill>
                  <a:schemeClr val="tx1"/>
                </a:solidFill>
                <a:latin typeface="Times New Roman" panose="02020603050405020304" pitchFamily="18" charset="0"/>
                <a:cs typeface="Times New Roman" panose="02020603050405020304" pitchFamily="18" charset="0"/>
              </a:rPr>
              <a:t>)</a:t>
            </a:r>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eaLnBrk="1" hangingPunct="1"/>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eaLnBrk="1" hangingPunct="1"/>
            <a:r>
              <a:rPr lang="zh-CN" altLang="en-US" sz="2400" b="1" smtClean="0">
                <a:solidFill>
                  <a:schemeClr val="tx1"/>
                </a:solidFill>
                <a:latin typeface="Times New Roman" panose="02020603050405020304" pitchFamily="18" charset="0"/>
                <a:cs typeface="Times New Roman" panose="02020603050405020304" pitchFamily="18" charset="0"/>
              </a:rPr>
              <a:t>用一台每秒</a:t>
            </a:r>
            <a:r>
              <a:rPr lang="en-US" altLang="zh-CN" sz="2400" b="1" smtClean="0">
                <a:solidFill>
                  <a:schemeClr val="tx1"/>
                </a:solidFill>
                <a:latin typeface="Times New Roman" panose="02020603050405020304" pitchFamily="18" charset="0"/>
                <a:cs typeface="Times New Roman" panose="02020603050405020304" pitchFamily="18" charset="0"/>
              </a:rPr>
              <a:t>10</a:t>
            </a:r>
            <a:r>
              <a:rPr lang="zh-CN" altLang="en-US" sz="2400" b="1" smtClean="0">
                <a:solidFill>
                  <a:schemeClr val="tx1"/>
                </a:solidFill>
                <a:latin typeface="Times New Roman" panose="02020603050405020304" pitchFamily="18" charset="0"/>
                <a:cs typeface="Times New Roman" panose="02020603050405020304" pitchFamily="18" charset="0"/>
              </a:rPr>
              <a:t>亿次的超大型计算机计算</a:t>
            </a:r>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eaLnBrk="1" hangingPunct="1"/>
            <a:r>
              <a:rPr lang="zh-CN" altLang="en-US" sz="2400" b="1" smtClean="0">
                <a:solidFill>
                  <a:schemeClr val="tx1"/>
                </a:solidFill>
                <a:latin typeface="Times New Roman" panose="02020603050405020304" pitchFamily="18" charset="0"/>
                <a:cs typeface="Times New Roman" panose="02020603050405020304" pitchFamily="18" charset="0"/>
              </a:rPr>
              <a:t>快速排序算法给</a:t>
            </a:r>
            <a:r>
              <a:rPr lang="en-US" altLang="zh-CN" sz="2400" b="1" smtClean="0">
                <a:solidFill>
                  <a:schemeClr val="tx1"/>
                </a:solidFill>
                <a:latin typeface="Times New Roman" panose="02020603050405020304" pitchFamily="18" charset="0"/>
                <a:cs typeface="Times New Roman" panose="02020603050405020304" pitchFamily="18" charset="0"/>
              </a:rPr>
              <a:t>10</a:t>
            </a:r>
            <a:r>
              <a:rPr lang="zh-CN" altLang="en-US" sz="2400" b="1" smtClean="0">
                <a:solidFill>
                  <a:schemeClr val="tx1"/>
                </a:solidFill>
                <a:latin typeface="Times New Roman" panose="02020603050405020304" pitchFamily="18" charset="0"/>
                <a:cs typeface="Times New Roman" panose="02020603050405020304" pitchFamily="18" charset="0"/>
              </a:rPr>
              <a:t>万个数据排序</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运算量约为</a:t>
            </a:r>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eaLnBrk="1" hangingPunct="1"/>
            <a:r>
              <a:rPr lang="en-US" altLang="zh-CN" sz="2400" b="1" smtClean="0">
                <a:solidFill>
                  <a:schemeClr val="tx1"/>
                </a:solidFill>
                <a:latin typeface="Times New Roman" panose="02020603050405020304" pitchFamily="18" charset="0"/>
                <a:cs typeface="Times New Roman" panose="02020603050405020304" pitchFamily="18" charset="0"/>
              </a:rPr>
              <a:t>10</a:t>
            </a:r>
            <a:r>
              <a:rPr lang="en-US" altLang="zh-CN" sz="2400" b="1" baseline="30000" smtClean="0">
                <a:solidFill>
                  <a:schemeClr val="tx1"/>
                </a:solidFill>
                <a:latin typeface="Times New Roman" panose="02020603050405020304" pitchFamily="18" charset="0"/>
                <a:cs typeface="Times New Roman" panose="02020603050405020304" pitchFamily="18" charset="0"/>
              </a:rPr>
              <a:t>5 </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smtClean="0">
                <a:solidFill>
                  <a:schemeClr val="tx1"/>
                </a:solidFill>
                <a:latin typeface="Times New Roman" panose="02020603050405020304" pitchFamily="18" charset="0"/>
                <a:cs typeface="Times New Roman" panose="02020603050405020304" pitchFamily="18" charset="0"/>
              </a:rPr>
              <a:t>log</a:t>
            </a:r>
            <a:r>
              <a:rPr lang="en-US" altLang="zh-CN" sz="2400" b="1" baseline="-25000" smtClean="0">
                <a:solidFill>
                  <a:schemeClr val="tx1"/>
                </a:solidFill>
                <a:latin typeface="Times New Roman" panose="02020603050405020304" pitchFamily="18" charset="0"/>
                <a:cs typeface="Times New Roman" panose="02020603050405020304" pitchFamily="18" charset="0"/>
              </a:rPr>
              <a:t>2</a:t>
            </a:r>
            <a:r>
              <a:rPr lang="en-US" altLang="zh-CN" sz="2400" b="1" smtClean="0">
                <a:solidFill>
                  <a:schemeClr val="tx1"/>
                </a:solidFill>
                <a:latin typeface="Times New Roman" panose="02020603050405020304" pitchFamily="18" charset="0"/>
                <a:cs typeface="Times New Roman" panose="02020603050405020304" pitchFamily="18" charset="0"/>
              </a:rPr>
              <a:t>10</a:t>
            </a:r>
            <a:r>
              <a:rPr lang="en-US" altLang="zh-CN" sz="2400" b="1" baseline="30000" smtClean="0">
                <a:solidFill>
                  <a:schemeClr val="tx1"/>
                </a:solidFill>
                <a:latin typeface="Times New Roman" panose="02020603050405020304" pitchFamily="18" charset="0"/>
                <a:cs typeface="Times New Roman" panose="02020603050405020304" pitchFamily="18" charset="0"/>
              </a:rPr>
              <a:t>5 </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smtClean="0">
                <a:solidFill>
                  <a:schemeClr val="tx1"/>
                </a:solidFill>
                <a:latin typeface="Times New Roman" panose="02020603050405020304" pitchFamily="18" charset="0"/>
                <a:cs typeface="Times New Roman" panose="02020603050405020304" pitchFamily="18" charset="0"/>
              </a:rPr>
              <a:t>1.7</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solidFill>
                  <a:schemeClr val="tx1"/>
                </a:solidFill>
                <a:latin typeface="Times New Roman" panose="02020603050405020304" pitchFamily="18" charset="0"/>
                <a:cs typeface="Times New Roman" panose="02020603050405020304" pitchFamily="18" charset="0"/>
              </a:rPr>
              <a:t>10</a:t>
            </a:r>
            <a:r>
              <a:rPr lang="en-US" altLang="zh-CN" sz="2400" b="1" baseline="30000" smtClean="0">
                <a:solidFill>
                  <a:schemeClr val="tx1"/>
                </a:solidFill>
                <a:latin typeface="Times New Roman" panose="02020603050405020304" pitchFamily="18" charset="0"/>
                <a:cs typeface="Times New Roman" panose="02020603050405020304" pitchFamily="18" charset="0"/>
              </a:rPr>
              <a:t>6</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仅需 </a:t>
            </a:r>
            <a:r>
              <a:rPr lang="en-US" altLang="zh-CN" sz="2400" b="1" smtClean="0">
                <a:solidFill>
                  <a:schemeClr val="tx1"/>
                </a:solidFill>
                <a:latin typeface="Times New Roman" panose="02020603050405020304" pitchFamily="18" charset="0"/>
                <a:cs typeface="Times New Roman" panose="02020603050405020304" pitchFamily="18" charset="0"/>
              </a:rPr>
              <a:t>1.7</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solidFill>
                  <a:schemeClr val="tx1"/>
                </a:solidFill>
                <a:latin typeface="Times New Roman" panose="02020603050405020304" pitchFamily="18" charset="0"/>
                <a:cs typeface="Times New Roman" panose="02020603050405020304" pitchFamily="18" charset="0"/>
              </a:rPr>
              <a:t>10</a:t>
            </a:r>
            <a:r>
              <a:rPr lang="en-US" altLang="zh-CN" sz="2400" b="1" baseline="30000" smtClean="0">
                <a:solidFill>
                  <a:schemeClr val="tx1"/>
                </a:solidFill>
                <a:latin typeface="Times New Roman" panose="02020603050405020304" pitchFamily="18" charset="0"/>
                <a:cs typeface="Times New Roman" panose="02020603050405020304" pitchFamily="18" charset="0"/>
              </a:rPr>
              <a:t>6</a:t>
            </a:r>
            <a:r>
              <a:rPr lang="en-US" altLang="zh-CN" sz="2400" b="1" smtClean="0">
                <a:solidFill>
                  <a:schemeClr val="tx1"/>
                </a:solidFill>
                <a:latin typeface="Times New Roman" panose="02020603050405020304" pitchFamily="18" charset="0"/>
                <a:cs typeface="Times New Roman" panose="02020603050405020304" pitchFamily="18" charset="0"/>
              </a:rPr>
              <a:t>/10</a:t>
            </a:r>
            <a:r>
              <a:rPr lang="en-US" altLang="zh-CN" sz="2400" b="1" baseline="30000" smtClean="0">
                <a:solidFill>
                  <a:schemeClr val="tx1"/>
                </a:solidFill>
                <a:latin typeface="Times New Roman" panose="02020603050405020304" pitchFamily="18" charset="0"/>
                <a:cs typeface="Times New Roman" panose="02020603050405020304" pitchFamily="18" charset="0"/>
              </a:rPr>
              <a:t>9 </a:t>
            </a:r>
            <a:r>
              <a:rPr lang="en-US" altLang="zh-CN" sz="2400" b="1" smtClean="0">
                <a:solidFill>
                  <a:schemeClr val="tx1"/>
                </a:solidFill>
                <a:latin typeface="Times New Roman" panose="02020603050405020304" pitchFamily="18" charset="0"/>
                <a:cs typeface="Times New Roman" panose="02020603050405020304" pitchFamily="18" charset="0"/>
              </a:rPr>
              <a:t>= 1.7</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solidFill>
                  <a:schemeClr val="tx1"/>
                </a:solidFill>
                <a:latin typeface="Times New Roman" panose="02020603050405020304" pitchFamily="18" charset="0"/>
                <a:cs typeface="Times New Roman" panose="02020603050405020304" pitchFamily="18" charset="0"/>
              </a:rPr>
              <a:t>10</a:t>
            </a:r>
            <a:r>
              <a:rPr lang="en-US" altLang="zh-CN" sz="2400" b="1" baseline="3000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30000" smtClean="0">
                <a:solidFill>
                  <a:schemeClr val="tx1"/>
                </a:solidFill>
                <a:latin typeface="Times New Roman" panose="02020603050405020304" pitchFamily="18" charset="0"/>
                <a:cs typeface="Times New Roman" panose="02020603050405020304" pitchFamily="18" charset="0"/>
              </a:rPr>
              <a:t>3</a:t>
            </a:r>
            <a:r>
              <a:rPr lang="zh-CN" altLang="en-US" sz="2400" b="1" smtClean="0">
                <a:solidFill>
                  <a:schemeClr val="tx1"/>
                </a:solidFill>
                <a:latin typeface="Times New Roman" panose="02020603050405020304" pitchFamily="18" charset="0"/>
                <a:cs typeface="Times New Roman" panose="02020603050405020304" pitchFamily="18" charset="0"/>
              </a:rPr>
              <a:t>秒</a:t>
            </a:r>
            <a:r>
              <a:rPr lang="en-US" altLang="zh-CN" sz="2400" b="1" smtClean="0">
                <a:solidFill>
                  <a:schemeClr val="tx1"/>
                </a:solidFill>
                <a:latin typeface="Times New Roman" panose="02020603050405020304" pitchFamily="18" charset="0"/>
                <a:cs typeface="Times New Roman" panose="02020603050405020304" pitchFamily="18" charset="0"/>
              </a:rPr>
              <a:t>. </a:t>
            </a:r>
            <a:endParaRPr lang="en-US" altLang="zh-CN" sz="2400" b="1" smtClean="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ctrTitle"/>
          </p:nvPr>
        </p:nvSpPr>
        <p:spPr>
          <a:xfrm>
            <a:off x="666750" y="260350"/>
            <a:ext cx="7772400" cy="865188"/>
          </a:xfrm>
        </p:spPr>
        <p:txBody>
          <a:bodyPr/>
          <a:lstStyle/>
          <a:p>
            <a:pPr eaLnBrk="1" hangingPunct="1"/>
            <a:r>
              <a:rPr lang="zh-CN" altLang="en-US" sz="4000" b="1" smtClean="0">
                <a:solidFill>
                  <a:srgbClr val="C00000"/>
                </a:solidFill>
                <a:latin typeface="Times New Roman" panose="02020603050405020304" pitchFamily="18" charset="0"/>
                <a:cs typeface="Times New Roman" panose="02020603050405020304" pitchFamily="18" charset="0"/>
              </a:rPr>
              <a:t>什么是好算法</a:t>
            </a:r>
            <a:r>
              <a:rPr lang="en-US" altLang="zh-CN" sz="4000" b="1" smtClean="0">
                <a:solidFill>
                  <a:srgbClr val="C00000"/>
                </a:solidFill>
                <a:latin typeface="Times New Roman" panose="02020603050405020304" pitchFamily="18" charset="0"/>
                <a:cs typeface="Times New Roman" panose="02020603050405020304" pitchFamily="18" charset="0"/>
              </a:rPr>
              <a:t>?</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3" name="副标题 2"/>
          <p:cNvSpPr>
            <a:spLocks noGrp="1"/>
          </p:cNvSpPr>
          <p:nvPr>
            <p:ph type="subTitle" idx="1"/>
          </p:nvPr>
        </p:nvSpPr>
        <p:spPr>
          <a:xfrm>
            <a:off x="684213" y="1231900"/>
            <a:ext cx="8064500" cy="5040313"/>
          </a:xfrm>
        </p:spPr>
        <p:txBody>
          <a:bodyPr rtlCol="0">
            <a:noAutofit/>
          </a:bodyPr>
          <a:lstStyle/>
          <a:p>
            <a:pPr algn="l" eaLnBrk="1" hangingPunct="1">
              <a:lnSpc>
                <a:spcPts val="3000"/>
              </a:lnSpc>
              <a:defRPr/>
            </a:pPr>
            <a:r>
              <a:rPr lang="en-US" altLang="zh-CN" sz="2400" b="1" dirty="0" err="1" smtClean="0">
                <a:solidFill>
                  <a:schemeClr val="tx1"/>
                </a:solidFill>
                <a:latin typeface="Times New Roman" panose="02020603050405020304" pitchFamily="18" charset="0"/>
                <a:cs typeface="Times New Roman" panose="02020603050405020304" pitchFamily="18" charset="0"/>
              </a:rPr>
              <a:t>Dijkstra</a:t>
            </a:r>
            <a:r>
              <a:rPr lang="zh-CN" altLang="en-US" sz="2400" b="1" dirty="0" smtClean="0">
                <a:solidFill>
                  <a:schemeClr val="tx1"/>
                </a:solidFill>
                <a:latin typeface="Times New Roman" panose="02020603050405020304" pitchFamily="18" charset="0"/>
                <a:cs typeface="Times New Roman" panose="02020603050405020304" pitchFamily="18" charset="0"/>
              </a:rPr>
              <a:t>算法求解 </a:t>
            </a:r>
            <a:r>
              <a:rPr lang="en-US" altLang="zh-CN" sz="2400" b="1" dirty="0" smtClean="0">
                <a:solidFill>
                  <a:schemeClr val="tx1"/>
                </a:solidFill>
                <a:latin typeface="Times New Roman" panose="02020603050405020304" pitchFamily="18" charset="0"/>
                <a:cs typeface="Times New Roman" panose="02020603050405020304" pitchFamily="18" charset="0"/>
              </a:rPr>
              <a:t>1</a:t>
            </a:r>
            <a:r>
              <a:rPr lang="zh-CN" altLang="en-US" sz="2400" b="1" dirty="0" smtClean="0">
                <a:solidFill>
                  <a:schemeClr val="tx1"/>
                </a:solidFill>
                <a:latin typeface="Times New Roman" panose="02020603050405020304" pitchFamily="18" charset="0"/>
                <a:cs typeface="Times New Roman" panose="02020603050405020304" pitchFamily="18" charset="0"/>
              </a:rPr>
              <a:t>万个顶点的图的单源最短路径问题</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zh-CN" altLang="en-US" sz="2400" b="1" dirty="0" smtClean="0">
                <a:solidFill>
                  <a:schemeClr val="tx1"/>
                </a:solidFill>
                <a:latin typeface="Times New Roman" panose="02020603050405020304" pitchFamily="18" charset="0"/>
                <a:cs typeface="Times New Roman" panose="02020603050405020304" pitchFamily="18" charset="0"/>
              </a:rPr>
              <a:t>运算量</a:t>
            </a:r>
            <a:r>
              <a:rPr lang="zh-CN" altLang="en-US" sz="2400" b="1" dirty="0">
                <a:solidFill>
                  <a:schemeClr val="tx1"/>
                </a:solidFill>
                <a:latin typeface="Times New Roman" panose="02020603050405020304" pitchFamily="18" charset="0"/>
                <a:cs typeface="Times New Roman" panose="02020603050405020304" pitchFamily="18" charset="0"/>
              </a:rPr>
              <a:t>约为 </a:t>
            </a:r>
            <a:r>
              <a:rPr lang="zh-CN" altLang="en-US" sz="2400" b="1" dirty="0" smtClean="0">
                <a:solidFill>
                  <a:schemeClr val="tx1"/>
                </a:solidFill>
                <a:latin typeface="Times New Roman" panose="02020603050405020304" pitchFamily="18" charset="0"/>
                <a:cs typeface="Times New Roman" panose="02020603050405020304" pitchFamily="18" charset="0"/>
              </a:rPr>
              <a:t>  </a:t>
            </a:r>
            <a:r>
              <a:rPr lang="en-US" altLang="zh-CN" sz="2400" b="1" dirty="0" smtClean="0">
                <a:solidFill>
                  <a:schemeClr val="tx1"/>
                </a:solidFill>
                <a:latin typeface="Times New Roman" panose="02020603050405020304" pitchFamily="18" charset="0"/>
                <a:cs typeface="Times New Roman" panose="02020603050405020304" pitchFamily="18" charset="0"/>
              </a:rPr>
              <a:t>(10</a:t>
            </a:r>
            <a:r>
              <a:rPr lang="en-US" altLang="zh-CN" sz="2400" b="1" baseline="30000" dirty="0" smtClean="0">
                <a:solidFill>
                  <a:schemeClr val="tx1"/>
                </a:solidFill>
                <a:latin typeface="Times New Roman" panose="02020603050405020304" pitchFamily="18" charset="0"/>
                <a:cs typeface="Times New Roman" panose="02020603050405020304" pitchFamily="18" charset="0"/>
              </a:rPr>
              <a:t>4</a:t>
            </a:r>
            <a:r>
              <a:rPr lang="en-US" altLang="zh-CN" sz="2400" b="1" dirty="0" smtClean="0">
                <a:solidFill>
                  <a:schemeClr val="tx1"/>
                </a:solidFill>
                <a:latin typeface="Times New Roman" panose="02020603050405020304" pitchFamily="18" charset="0"/>
                <a:cs typeface="Times New Roman" panose="02020603050405020304" pitchFamily="18" charset="0"/>
              </a:rPr>
              <a:t>)</a:t>
            </a:r>
            <a:r>
              <a:rPr lang="en-US" altLang="zh-CN" sz="2400" b="1" baseline="30000" dirty="0" smtClean="0">
                <a:solidFill>
                  <a:schemeClr val="tx1"/>
                </a:solidFill>
                <a:latin typeface="Times New Roman" panose="02020603050405020304" pitchFamily="18" charset="0"/>
                <a:cs typeface="Times New Roman" panose="02020603050405020304" pitchFamily="18" charset="0"/>
              </a:rPr>
              <a:t>2 </a:t>
            </a:r>
            <a:r>
              <a:rPr lang="en-US" altLang="zh-CN" sz="2400" b="1" dirty="0" smtClean="0">
                <a:solidFill>
                  <a:schemeClr val="tx1"/>
                </a:solidFill>
                <a:latin typeface="Times New Roman" panose="02020603050405020304" pitchFamily="18" charset="0"/>
                <a:cs typeface="Times New Roman" panose="02020603050405020304" pitchFamily="18" charset="0"/>
              </a:rPr>
              <a:t>= 10</a:t>
            </a:r>
            <a:r>
              <a:rPr lang="en-US" altLang="zh-CN" sz="2400" b="1" baseline="30000" dirty="0" smtClean="0">
                <a:solidFill>
                  <a:schemeClr val="tx1"/>
                </a:solidFill>
                <a:latin typeface="Times New Roman" panose="02020603050405020304" pitchFamily="18" charset="0"/>
                <a:cs typeface="Times New Roman" panose="02020603050405020304" pitchFamily="18" charset="0"/>
              </a:rPr>
              <a:t>8</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zh-CN" altLang="en-US" sz="2400" b="1" dirty="0" smtClean="0">
                <a:solidFill>
                  <a:schemeClr val="tx1"/>
                </a:solidFill>
                <a:latin typeface="Times New Roman" panose="02020603050405020304" pitchFamily="18" charset="0"/>
                <a:cs typeface="Times New Roman" panose="02020603050405020304" pitchFamily="18" charset="0"/>
              </a:rPr>
              <a:t>约需  </a:t>
            </a:r>
            <a:r>
              <a:rPr lang="en-US" altLang="zh-CN" sz="2400" b="1" dirty="0" smtClean="0">
                <a:solidFill>
                  <a:schemeClr val="tx1"/>
                </a:solidFill>
                <a:latin typeface="Times New Roman" panose="02020603050405020304" pitchFamily="18" charset="0"/>
                <a:cs typeface="Times New Roman" panose="02020603050405020304" pitchFamily="18" charset="0"/>
              </a:rPr>
              <a:t>10</a:t>
            </a:r>
            <a:r>
              <a:rPr lang="en-US" altLang="zh-CN" sz="2400" b="1" baseline="30000" dirty="0" smtClean="0">
                <a:solidFill>
                  <a:schemeClr val="tx1"/>
                </a:solidFill>
                <a:latin typeface="Times New Roman" panose="02020603050405020304" pitchFamily="18" charset="0"/>
                <a:cs typeface="Times New Roman" panose="02020603050405020304" pitchFamily="18" charset="0"/>
              </a:rPr>
              <a:t>8</a:t>
            </a:r>
            <a:r>
              <a:rPr lang="en-US" altLang="zh-CN" sz="2400" b="1" dirty="0" smtClean="0">
                <a:solidFill>
                  <a:schemeClr val="tx1"/>
                </a:solidFill>
                <a:latin typeface="Times New Roman" panose="02020603050405020304" pitchFamily="18" charset="0"/>
                <a:cs typeface="Times New Roman" panose="02020603050405020304" pitchFamily="18" charset="0"/>
              </a:rPr>
              <a:t>/10</a:t>
            </a:r>
            <a:r>
              <a:rPr lang="en-US" altLang="zh-CN" sz="2400" b="1" baseline="30000" dirty="0" smtClean="0">
                <a:solidFill>
                  <a:schemeClr val="tx1"/>
                </a:solidFill>
                <a:latin typeface="Times New Roman" panose="02020603050405020304" pitchFamily="18" charset="0"/>
                <a:cs typeface="Times New Roman" panose="02020603050405020304" pitchFamily="18" charset="0"/>
              </a:rPr>
              <a:t>9 </a:t>
            </a:r>
            <a:r>
              <a:rPr lang="en-US" altLang="zh-CN" sz="2400" b="1" dirty="0" smtClean="0">
                <a:solidFill>
                  <a:schemeClr val="tx1"/>
                </a:solidFill>
                <a:latin typeface="Times New Roman" panose="02020603050405020304" pitchFamily="18" charset="0"/>
                <a:cs typeface="Times New Roman" panose="02020603050405020304" pitchFamily="18" charset="0"/>
              </a:rPr>
              <a:t>= 0.1</a:t>
            </a:r>
            <a:r>
              <a:rPr lang="zh-CN" altLang="en-US" sz="2400" b="1" dirty="0" smtClean="0">
                <a:solidFill>
                  <a:schemeClr val="tx1"/>
                </a:solidFill>
                <a:latin typeface="Times New Roman" panose="02020603050405020304" pitchFamily="18" charset="0"/>
                <a:cs typeface="Times New Roman" panose="02020603050405020304" pitchFamily="18" charset="0"/>
              </a:rPr>
              <a:t>秒</a:t>
            </a:r>
            <a:r>
              <a:rPr lang="en-US" altLang="zh-CN" sz="2400" b="1" dirty="0" smtClean="0">
                <a:solidFill>
                  <a:schemeClr val="tx1"/>
                </a:solidFill>
                <a:latin typeface="Times New Roman" panose="02020603050405020304" pitchFamily="18" charset="0"/>
                <a:cs typeface="Times New Roman" panose="02020603050405020304" pitchFamily="18" charset="0"/>
              </a:rPr>
              <a:t>.   </a:t>
            </a:r>
            <a:endParaRPr lang="en-US" altLang="zh-CN" sz="2400" b="1" dirty="0" smtClean="0">
              <a:solidFill>
                <a:schemeClr val="tx1"/>
              </a:solidFill>
              <a:latin typeface="Times New Roman" panose="02020603050405020304" pitchFamily="18" charset="0"/>
              <a:cs typeface="Times New Roman" panose="02020603050405020304" pitchFamily="18" charset="0"/>
            </a:endParaRPr>
          </a:p>
          <a:p>
            <a:pPr algn="l" eaLnBrk="1" fontAlgn="auto" hangingPunct="1">
              <a:lnSpc>
                <a:spcPts val="3000"/>
              </a:lnSpc>
              <a:spcAft>
                <a:spcPts val="0"/>
              </a:spcAft>
              <a:buFont typeface="Arial" panose="020B0604020202020204" pitchFamily="34" charset="0"/>
              <a:buNone/>
              <a:defRPr/>
            </a:pPr>
            <a:r>
              <a:rPr lang="zh-CN" altLang="en-US" sz="2400" b="1" dirty="0" smtClean="0">
                <a:solidFill>
                  <a:schemeClr val="tx1"/>
                </a:solidFill>
                <a:latin typeface="Times New Roman" panose="02020603050405020304" pitchFamily="18" charset="0"/>
                <a:cs typeface="Times New Roman" panose="02020603050405020304" pitchFamily="18" charset="0"/>
              </a:rPr>
              <a:t>回溯法解 </a:t>
            </a:r>
            <a:r>
              <a:rPr lang="en-US" sz="2400" b="1" dirty="0" smtClean="0">
                <a:solidFill>
                  <a:schemeClr val="tx1"/>
                </a:solidFill>
                <a:latin typeface="Times New Roman" panose="02020603050405020304" pitchFamily="18" charset="0"/>
                <a:cs typeface="Times New Roman" panose="02020603050405020304" pitchFamily="18" charset="0"/>
              </a:rPr>
              <a:t>100</a:t>
            </a:r>
            <a:r>
              <a:rPr lang="zh-CN" altLang="en-US" sz="2400" b="1" dirty="0" smtClean="0">
                <a:solidFill>
                  <a:schemeClr val="tx1"/>
                </a:solidFill>
                <a:latin typeface="Times New Roman" panose="02020603050405020304" pitchFamily="18" charset="0"/>
                <a:cs typeface="Times New Roman" panose="02020603050405020304" pitchFamily="18" charset="0"/>
              </a:rPr>
              <a:t>个顶点的图的最大团问题</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zh-CN" altLang="en-US" sz="2400" b="1" dirty="0" smtClean="0">
                <a:solidFill>
                  <a:schemeClr val="tx1"/>
                </a:solidFill>
                <a:latin typeface="Times New Roman" panose="02020603050405020304" pitchFamily="18" charset="0"/>
                <a:cs typeface="Times New Roman" panose="02020603050405020304" pitchFamily="18" charset="0"/>
              </a:rPr>
              <a:t>运算量为</a:t>
            </a:r>
            <a:endParaRPr lang="en-US" altLang="zh-CN" sz="2400" b="1" dirty="0" smtClean="0">
              <a:solidFill>
                <a:schemeClr val="tx1"/>
              </a:solidFill>
              <a:latin typeface="Times New Roman" panose="02020603050405020304" pitchFamily="18" charset="0"/>
              <a:cs typeface="Times New Roman" panose="02020603050405020304" pitchFamily="18" charset="0"/>
            </a:endParaRPr>
          </a:p>
          <a:p>
            <a:pPr algn="l" eaLnBrk="1" fontAlgn="auto" hangingPunct="1">
              <a:lnSpc>
                <a:spcPts val="3000"/>
              </a:lnSpc>
              <a:spcAft>
                <a:spcPts val="0"/>
              </a:spcAft>
              <a:buFont typeface="Arial" panose="020B0604020202020204" pitchFamily="34" charset="0"/>
              <a:buNone/>
              <a:defRPr/>
            </a:pP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smtClean="0">
                <a:solidFill>
                  <a:schemeClr val="tx1"/>
                </a:solidFill>
                <a:latin typeface="Times New Roman" panose="02020603050405020304" pitchFamily="18" charset="0"/>
                <a:cs typeface="Times New Roman" panose="02020603050405020304" pitchFamily="18" charset="0"/>
              </a:rPr>
              <a:t>                            100 </a:t>
            </a:r>
            <a:r>
              <a:rPr lang="en-US" sz="2400" b="1" dirty="0" smtClean="0">
                <a:solidFill>
                  <a:schemeClr val="tx1"/>
                </a:solidFill>
                <a:latin typeface="Times New Roman" panose="02020603050405020304" pitchFamily="18" charset="0"/>
                <a:cs typeface="Times New Roman" panose="02020603050405020304" pitchFamily="18" charset="0"/>
                <a:sym typeface="Symbol" panose="05050102010706020507"/>
              </a:rPr>
              <a:t> </a:t>
            </a:r>
            <a:r>
              <a:rPr lang="en-US" sz="2400" b="1" dirty="0" smtClean="0">
                <a:solidFill>
                  <a:schemeClr val="tx1"/>
                </a:solidFill>
                <a:latin typeface="Times New Roman" panose="02020603050405020304" pitchFamily="18" charset="0"/>
                <a:cs typeface="Times New Roman" panose="02020603050405020304" pitchFamily="18" charset="0"/>
              </a:rPr>
              <a:t>2</a:t>
            </a:r>
            <a:r>
              <a:rPr lang="en-US" sz="2400" b="1" baseline="30000" dirty="0" smtClean="0">
                <a:solidFill>
                  <a:schemeClr val="tx1"/>
                </a:solidFill>
                <a:latin typeface="Times New Roman" panose="02020603050405020304" pitchFamily="18" charset="0"/>
                <a:cs typeface="Times New Roman" panose="02020603050405020304" pitchFamily="18" charset="0"/>
              </a:rPr>
              <a:t>100 </a:t>
            </a:r>
            <a:r>
              <a:rPr lang="en-US" sz="2400" b="1" dirty="0" smtClean="0">
                <a:solidFill>
                  <a:schemeClr val="tx1"/>
                </a:solidFill>
                <a:latin typeface="Times New Roman" panose="02020603050405020304" pitchFamily="18" charset="0"/>
                <a:cs typeface="Times New Roman" panose="02020603050405020304" pitchFamily="18" charset="0"/>
                <a:sym typeface="Symbol" panose="05050102010706020507"/>
              </a:rPr>
              <a:t> </a:t>
            </a:r>
            <a:r>
              <a:rPr lang="en-US" sz="2400" b="1" dirty="0" smtClean="0">
                <a:solidFill>
                  <a:schemeClr val="tx1"/>
                </a:solidFill>
                <a:latin typeface="Times New Roman" panose="02020603050405020304" pitchFamily="18" charset="0"/>
                <a:cs typeface="Times New Roman" panose="02020603050405020304" pitchFamily="18" charset="0"/>
              </a:rPr>
              <a:t>1.8 </a:t>
            </a:r>
            <a:r>
              <a:rPr lang="en-US" sz="2400" b="1" dirty="0" smtClean="0">
                <a:solidFill>
                  <a:schemeClr val="tx1"/>
                </a:solidFill>
                <a:latin typeface="Times New Roman" panose="02020603050405020304" pitchFamily="18" charset="0"/>
                <a:cs typeface="Times New Roman" panose="02020603050405020304" pitchFamily="18" charset="0"/>
                <a:sym typeface="Symbol" panose="05050102010706020507"/>
              </a:rPr>
              <a:t> </a:t>
            </a:r>
            <a:r>
              <a:rPr lang="en-US" sz="2400" b="1" dirty="0" smtClean="0">
                <a:solidFill>
                  <a:schemeClr val="tx1"/>
                </a:solidFill>
                <a:latin typeface="Times New Roman" panose="02020603050405020304" pitchFamily="18" charset="0"/>
                <a:cs typeface="Times New Roman" panose="02020603050405020304" pitchFamily="18" charset="0"/>
              </a:rPr>
              <a:t>10</a:t>
            </a:r>
            <a:r>
              <a:rPr lang="en-US" sz="2400" b="1" baseline="30000" dirty="0" smtClean="0">
                <a:solidFill>
                  <a:schemeClr val="tx1"/>
                </a:solidFill>
                <a:latin typeface="Times New Roman" panose="02020603050405020304" pitchFamily="18" charset="0"/>
                <a:cs typeface="Times New Roman" panose="02020603050405020304" pitchFamily="18" charset="0"/>
              </a:rPr>
              <a:t>32</a:t>
            </a:r>
            <a:r>
              <a:rPr lang="en-US" sz="2400" b="1" dirty="0" smtClean="0">
                <a:solidFill>
                  <a:schemeClr val="tx1"/>
                </a:solidFill>
                <a:latin typeface="Times New Roman" panose="02020603050405020304" pitchFamily="18" charset="0"/>
                <a:cs typeface="Times New Roman" panose="02020603050405020304" pitchFamily="18" charset="0"/>
              </a:rPr>
              <a:t>,  </a:t>
            </a:r>
            <a:endParaRPr lang="en-US" sz="2400" b="1" dirty="0" smtClean="0">
              <a:solidFill>
                <a:schemeClr val="tx1"/>
              </a:solidFill>
              <a:latin typeface="Times New Roman" panose="02020603050405020304" pitchFamily="18" charset="0"/>
              <a:cs typeface="Times New Roman" panose="02020603050405020304" pitchFamily="18" charset="0"/>
            </a:endParaRPr>
          </a:p>
          <a:p>
            <a:pPr algn="l" eaLnBrk="1" fontAlgn="auto" hangingPunct="1">
              <a:lnSpc>
                <a:spcPts val="3000"/>
              </a:lnSpc>
              <a:spcAft>
                <a:spcPts val="0"/>
              </a:spcAft>
              <a:buFont typeface="Arial" panose="020B0604020202020204" pitchFamily="34" charset="0"/>
              <a:buNone/>
              <a:defRPr/>
            </a:pPr>
            <a:r>
              <a:rPr lang="zh-CN" altLang="en-US" sz="2400" b="1" dirty="0" smtClean="0">
                <a:solidFill>
                  <a:schemeClr val="tx1"/>
                </a:solidFill>
                <a:latin typeface="Times New Roman" panose="02020603050405020304" pitchFamily="18" charset="0"/>
                <a:cs typeface="Times New Roman" panose="02020603050405020304" pitchFamily="18" charset="0"/>
              </a:rPr>
              <a:t>需要  </a:t>
            </a:r>
            <a:r>
              <a:rPr lang="en-US" sz="2400" b="1" dirty="0" smtClean="0">
                <a:solidFill>
                  <a:schemeClr val="tx1"/>
                </a:solidFill>
                <a:latin typeface="Times New Roman" panose="02020603050405020304" pitchFamily="18" charset="0"/>
                <a:cs typeface="Times New Roman" panose="02020603050405020304" pitchFamily="18" charset="0"/>
              </a:rPr>
              <a:t>1.8 </a:t>
            </a:r>
            <a:r>
              <a:rPr lang="en-US" sz="2400" b="1" dirty="0" smtClean="0">
                <a:solidFill>
                  <a:schemeClr val="tx1"/>
                </a:solidFill>
                <a:latin typeface="Times New Roman" panose="02020603050405020304" pitchFamily="18" charset="0"/>
                <a:cs typeface="Times New Roman" panose="02020603050405020304" pitchFamily="18" charset="0"/>
                <a:sym typeface="Symbol" panose="05050102010706020507"/>
              </a:rPr>
              <a:t> </a:t>
            </a:r>
            <a:r>
              <a:rPr lang="en-US" sz="2400" b="1" dirty="0" smtClean="0">
                <a:solidFill>
                  <a:schemeClr val="tx1"/>
                </a:solidFill>
                <a:latin typeface="Times New Roman" panose="02020603050405020304" pitchFamily="18" charset="0"/>
                <a:cs typeface="Times New Roman" panose="02020603050405020304" pitchFamily="18" charset="0"/>
              </a:rPr>
              <a:t>10</a:t>
            </a:r>
            <a:r>
              <a:rPr lang="en-US" sz="2400" b="1" baseline="30000" dirty="0" smtClean="0">
                <a:solidFill>
                  <a:schemeClr val="tx1"/>
                </a:solidFill>
                <a:latin typeface="Times New Roman" panose="02020603050405020304" pitchFamily="18" charset="0"/>
                <a:cs typeface="Times New Roman" panose="02020603050405020304" pitchFamily="18" charset="0"/>
              </a:rPr>
              <a:t>32</a:t>
            </a:r>
            <a:r>
              <a:rPr lang="en-US" sz="2400" b="1" dirty="0" smtClean="0">
                <a:solidFill>
                  <a:schemeClr val="tx1"/>
                </a:solidFill>
                <a:latin typeface="Times New Roman" panose="02020603050405020304" pitchFamily="18" charset="0"/>
                <a:cs typeface="Times New Roman" panose="02020603050405020304" pitchFamily="18" charset="0"/>
              </a:rPr>
              <a:t>/10</a:t>
            </a:r>
            <a:r>
              <a:rPr lang="en-US" sz="2400" b="1" baseline="30000" dirty="0" smtClean="0">
                <a:solidFill>
                  <a:schemeClr val="tx1"/>
                </a:solidFill>
                <a:latin typeface="Times New Roman" panose="02020603050405020304" pitchFamily="18" charset="0"/>
                <a:cs typeface="Times New Roman" panose="02020603050405020304" pitchFamily="18" charset="0"/>
              </a:rPr>
              <a:t>9 </a:t>
            </a:r>
            <a:r>
              <a:rPr lang="en-US" sz="2400" b="1" dirty="0" smtClean="0">
                <a:solidFill>
                  <a:schemeClr val="tx1"/>
                </a:solidFill>
                <a:latin typeface="Times New Roman" panose="02020603050405020304" pitchFamily="18" charset="0"/>
                <a:cs typeface="Times New Roman" panose="02020603050405020304" pitchFamily="18" charset="0"/>
              </a:rPr>
              <a:t>= 1.8 </a:t>
            </a:r>
            <a:r>
              <a:rPr lang="en-US" sz="2400" b="1" dirty="0" smtClean="0">
                <a:solidFill>
                  <a:schemeClr val="tx1"/>
                </a:solidFill>
                <a:latin typeface="Times New Roman" panose="02020603050405020304" pitchFamily="18" charset="0"/>
                <a:cs typeface="Times New Roman" panose="02020603050405020304" pitchFamily="18" charset="0"/>
                <a:sym typeface="Symbol" panose="05050102010706020507"/>
              </a:rPr>
              <a:t> </a:t>
            </a:r>
            <a:r>
              <a:rPr lang="en-US" sz="2400" b="1" dirty="0" smtClean="0">
                <a:solidFill>
                  <a:schemeClr val="tx1"/>
                </a:solidFill>
                <a:latin typeface="Times New Roman" panose="02020603050405020304" pitchFamily="18" charset="0"/>
                <a:cs typeface="Times New Roman" panose="02020603050405020304" pitchFamily="18" charset="0"/>
              </a:rPr>
              <a:t>10</a:t>
            </a:r>
            <a:r>
              <a:rPr lang="en-US" sz="2400" b="1" baseline="30000" dirty="0" smtClean="0">
                <a:solidFill>
                  <a:schemeClr val="tx1"/>
                </a:solidFill>
                <a:latin typeface="Times New Roman" panose="02020603050405020304" pitchFamily="18" charset="0"/>
                <a:cs typeface="Times New Roman" panose="02020603050405020304" pitchFamily="18" charset="0"/>
              </a:rPr>
              <a:t>21</a:t>
            </a:r>
            <a:r>
              <a:rPr lang="zh-CN" altLang="en-US" sz="2400" b="1" dirty="0" smtClean="0">
                <a:solidFill>
                  <a:schemeClr val="tx1"/>
                </a:solidFill>
                <a:latin typeface="Times New Roman" panose="02020603050405020304" pitchFamily="18" charset="0"/>
                <a:cs typeface="Times New Roman" panose="02020603050405020304" pitchFamily="18" charset="0"/>
              </a:rPr>
              <a:t>秒 </a:t>
            </a:r>
            <a:r>
              <a:rPr lang="en-US" sz="2400" b="1" dirty="0" smtClean="0">
                <a:solidFill>
                  <a:schemeClr val="tx1"/>
                </a:solidFill>
                <a:latin typeface="Times New Roman" panose="02020603050405020304" pitchFamily="18" charset="0"/>
                <a:cs typeface="Times New Roman" panose="02020603050405020304" pitchFamily="18" charset="0"/>
              </a:rPr>
              <a:t>= 5.7</a:t>
            </a:r>
            <a:r>
              <a:rPr lang="en-US" sz="2400" b="1" dirty="0" smtClean="0">
                <a:solidFill>
                  <a:schemeClr val="tx1"/>
                </a:solidFill>
                <a:latin typeface="Times New Roman" panose="02020603050405020304" pitchFamily="18" charset="0"/>
                <a:cs typeface="Times New Roman" panose="02020603050405020304" pitchFamily="18" charset="0"/>
                <a:sym typeface="Symbol" panose="05050102010706020507"/>
              </a:rPr>
              <a:t></a:t>
            </a:r>
            <a:r>
              <a:rPr lang="en-US" sz="2400" b="1" dirty="0" smtClean="0">
                <a:solidFill>
                  <a:schemeClr val="tx1"/>
                </a:solidFill>
                <a:latin typeface="Times New Roman" panose="02020603050405020304" pitchFamily="18" charset="0"/>
                <a:cs typeface="Times New Roman" panose="02020603050405020304" pitchFamily="18" charset="0"/>
              </a:rPr>
              <a:t>10</a:t>
            </a:r>
            <a:r>
              <a:rPr lang="en-US" sz="2400" b="1" baseline="30000" dirty="0" smtClean="0">
                <a:solidFill>
                  <a:schemeClr val="tx1"/>
                </a:solidFill>
                <a:latin typeface="Times New Roman" panose="02020603050405020304" pitchFamily="18" charset="0"/>
                <a:cs typeface="Times New Roman" panose="02020603050405020304" pitchFamily="18" charset="0"/>
              </a:rPr>
              <a:t>15</a:t>
            </a:r>
            <a:r>
              <a:rPr lang="zh-CN" altLang="en-US" sz="2400" b="1" dirty="0" smtClean="0">
                <a:solidFill>
                  <a:schemeClr val="tx1"/>
                </a:solidFill>
                <a:latin typeface="Times New Roman" panose="02020603050405020304" pitchFamily="18" charset="0"/>
                <a:cs typeface="Times New Roman" panose="02020603050405020304" pitchFamily="18" charset="0"/>
              </a:rPr>
              <a:t>年</a:t>
            </a:r>
            <a:r>
              <a:rPr lang="en-US" sz="2400" b="1" dirty="0" smtClean="0">
                <a:solidFill>
                  <a:schemeClr val="tx1"/>
                </a:solidFill>
                <a:latin typeface="Times New Roman" panose="02020603050405020304" pitchFamily="18" charset="0"/>
                <a:cs typeface="Times New Roman" panose="02020603050405020304" pitchFamily="18" charset="0"/>
              </a:rPr>
              <a:t>, </a:t>
            </a:r>
            <a:r>
              <a:rPr lang="zh-CN" altLang="en-US" sz="2400" b="1" dirty="0" smtClean="0">
                <a:solidFill>
                  <a:schemeClr val="tx1"/>
                </a:solidFill>
                <a:latin typeface="Times New Roman" panose="02020603050405020304" pitchFamily="18" charset="0"/>
                <a:cs typeface="Times New Roman" panose="02020603050405020304" pitchFamily="18" charset="0"/>
              </a:rPr>
              <a:t>即 </a:t>
            </a:r>
            <a:r>
              <a:rPr lang="en-US" sz="2400" b="1" dirty="0" smtClean="0">
                <a:solidFill>
                  <a:schemeClr val="tx1"/>
                </a:solidFill>
                <a:latin typeface="Times New Roman" panose="02020603050405020304" pitchFamily="18" charset="0"/>
                <a:cs typeface="Times New Roman" panose="02020603050405020304" pitchFamily="18" charset="0"/>
              </a:rPr>
              <a:t>5</a:t>
            </a:r>
            <a:r>
              <a:rPr lang="zh-CN" altLang="en-US" sz="2400" b="1" dirty="0" smtClean="0">
                <a:solidFill>
                  <a:schemeClr val="tx1"/>
                </a:solidFill>
                <a:latin typeface="Times New Roman" panose="02020603050405020304" pitchFamily="18" charset="0"/>
                <a:cs typeface="Times New Roman" panose="02020603050405020304" pitchFamily="18" charset="0"/>
              </a:rPr>
              <a:t>千</a:t>
            </a:r>
            <a:r>
              <a:rPr lang="en-US" sz="2400" b="1" dirty="0" smtClean="0">
                <a:solidFill>
                  <a:schemeClr val="tx1"/>
                </a:solidFill>
                <a:latin typeface="Times New Roman" panose="02020603050405020304" pitchFamily="18" charset="0"/>
                <a:cs typeface="Times New Roman" panose="02020603050405020304" pitchFamily="18" charset="0"/>
              </a:rPr>
              <a:t>7</a:t>
            </a:r>
            <a:r>
              <a:rPr lang="zh-CN" altLang="en-US" sz="2400" b="1" dirty="0" smtClean="0">
                <a:solidFill>
                  <a:schemeClr val="tx1"/>
                </a:solidFill>
                <a:latin typeface="Times New Roman" panose="02020603050405020304" pitchFamily="18" charset="0"/>
                <a:cs typeface="Times New Roman" panose="02020603050405020304" pitchFamily="18" charset="0"/>
              </a:rPr>
              <a:t>百万亿年</a:t>
            </a:r>
            <a:r>
              <a:rPr lang="en-US" sz="2400" b="1" dirty="0" smtClean="0">
                <a:solidFill>
                  <a:schemeClr val="tx1"/>
                </a:solidFill>
                <a:latin typeface="Times New Roman" panose="02020603050405020304" pitchFamily="18" charset="0"/>
                <a:cs typeface="Times New Roman" panose="02020603050405020304" pitchFamily="18" charset="0"/>
              </a:rPr>
              <a:t>! </a:t>
            </a:r>
            <a:endParaRPr lang="zh-CN" altLang="en-US" sz="2400" b="1" dirty="0" smtClean="0">
              <a:solidFill>
                <a:schemeClr val="tx1"/>
              </a:solidFill>
              <a:latin typeface="Times New Roman" panose="02020603050405020304" pitchFamily="18" charset="0"/>
              <a:cs typeface="Times New Roman" panose="02020603050405020304" pitchFamily="18" charset="0"/>
            </a:endParaRPr>
          </a:p>
          <a:p>
            <a:pPr algn="l" eaLnBrk="1" fontAlgn="auto" hangingPunct="1">
              <a:lnSpc>
                <a:spcPts val="3500"/>
              </a:lnSpc>
              <a:spcBef>
                <a:spcPts val="1800"/>
              </a:spcBef>
              <a:spcAft>
                <a:spcPts val="0"/>
              </a:spcAft>
              <a:buFont typeface="Arial" panose="020B0604020202020204" pitchFamily="34" charset="0"/>
              <a:buNone/>
              <a:defRPr/>
            </a:pPr>
            <a:r>
              <a:rPr lang="zh-CN" altLang="en-US" sz="2400" b="1" dirty="0" smtClean="0">
                <a:solidFill>
                  <a:schemeClr val="tx1"/>
                </a:solidFill>
                <a:latin typeface="Times New Roman" panose="02020603050405020304" pitchFamily="18" charset="0"/>
                <a:cs typeface="Times New Roman" panose="02020603050405020304" pitchFamily="18" charset="0"/>
              </a:rPr>
              <a:t>再从另外一个角度来看</a:t>
            </a:r>
            <a:r>
              <a:rPr lang="en-US" sz="2400" b="1" dirty="0" smtClean="0">
                <a:solidFill>
                  <a:schemeClr val="tx1"/>
                </a:solidFill>
                <a:latin typeface="Times New Roman" panose="02020603050405020304" pitchFamily="18" charset="0"/>
                <a:cs typeface="Times New Roman" panose="02020603050405020304" pitchFamily="18" charset="0"/>
                <a:sym typeface="Symbol" panose="05050102010706020507"/>
              </a:rPr>
              <a:t></a:t>
            </a:r>
            <a:r>
              <a:rPr lang="en-US" sz="2400" b="1" dirty="0" smtClean="0">
                <a:solidFill>
                  <a:schemeClr val="tx1"/>
                </a:solidFill>
                <a:latin typeface="Times New Roman" panose="02020603050405020304" pitchFamily="18" charset="0"/>
                <a:cs typeface="Times New Roman" panose="02020603050405020304" pitchFamily="18" charset="0"/>
              </a:rPr>
              <a:t>1</a:t>
            </a:r>
            <a:r>
              <a:rPr lang="zh-CN" altLang="en-US" sz="2400" b="1" dirty="0" smtClean="0">
                <a:solidFill>
                  <a:schemeClr val="tx1"/>
                </a:solidFill>
                <a:latin typeface="Times New Roman" panose="02020603050405020304" pitchFamily="18" charset="0"/>
                <a:cs typeface="Times New Roman" panose="02020603050405020304" pitchFamily="18" charset="0"/>
              </a:rPr>
              <a:t>分钟能解多大的问题</a:t>
            </a:r>
            <a:r>
              <a:rPr lang="en-US" sz="2400" b="1" dirty="0" smtClean="0">
                <a:solidFill>
                  <a:schemeClr val="tx1"/>
                </a:solidFill>
                <a:latin typeface="Times New Roman" panose="02020603050405020304" pitchFamily="18" charset="0"/>
                <a:cs typeface="Times New Roman" panose="02020603050405020304" pitchFamily="18" charset="0"/>
              </a:rPr>
              <a:t>. 1</a:t>
            </a:r>
            <a:r>
              <a:rPr lang="zh-CN" altLang="en-US" sz="2400" b="1" dirty="0" smtClean="0">
                <a:solidFill>
                  <a:schemeClr val="tx1"/>
                </a:solidFill>
                <a:latin typeface="Times New Roman" panose="02020603050405020304" pitchFamily="18" charset="0"/>
                <a:cs typeface="Times New Roman" panose="02020603050405020304" pitchFamily="18" charset="0"/>
              </a:rPr>
              <a:t>分钟</a:t>
            </a:r>
            <a:r>
              <a:rPr lang="en-US" sz="2400" b="1" dirty="0" smtClean="0">
                <a:solidFill>
                  <a:schemeClr val="tx1"/>
                </a:solidFill>
                <a:latin typeface="Times New Roman" panose="02020603050405020304" pitchFamily="18" charset="0"/>
                <a:cs typeface="Times New Roman" panose="02020603050405020304" pitchFamily="18" charset="0"/>
              </a:rPr>
              <a:t>60</a:t>
            </a:r>
            <a:r>
              <a:rPr lang="zh-CN" altLang="en-US" sz="2400" b="1" dirty="0" smtClean="0">
                <a:solidFill>
                  <a:schemeClr val="tx1"/>
                </a:solidFill>
                <a:latin typeface="Times New Roman" panose="02020603050405020304" pitchFamily="18" charset="0"/>
                <a:cs typeface="Times New Roman" panose="02020603050405020304" pitchFamily="18" charset="0"/>
              </a:rPr>
              <a:t>秒</a:t>
            </a:r>
            <a:r>
              <a:rPr lang="en-US" sz="2400" b="1" dirty="0" smtClean="0">
                <a:solidFill>
                  <a:schemeClr val="tx1"/>
                </a:solidFill>
                <a:latin typeface="Times New Roman" panose="02020603050405020304" pitchFamily="18" charset="0"/>
                <a:cs typeface="Times New Roman" panose="02020603050405020304" pitchFamily="18" charset="0"/>
              </a:rPr>
              <a:t>, </a:t>
            </a:r>
            <a:r>
              <a:rPr lang="zh-CN" altLang="en-US" sz="2400" b="1" dirty="0" smtClean="0">
                <a:solidFill>
                  <a:schemeClr val="tx1"/>
                </a:solidFill>
                <a:latin typeface="Times New Roman" panose="02020603050405020304" pitchFamily="18" charset="0"/>
                <a:cs typeface="Times New Roman" panose="02020603050405020304" pitchFamily="18" charset="0"/>
              </a:rPr>
              <a:t>这台计算机可做 </a:t>
            </a:r>
            <a:r>
              <a:rPr lang="en-US" sz="2400" b="1" dirty="0" smtClean="0">
                <a:solidFill>
                  <a:schemeClr val="tx1"/>
                </a:solidFill>
                <a:latin typeface="Times New Roman" panose="02020603050405020304" pitchFamily="18" charset="0"/>
                <a:cs typeface="Times New Roman" panose="02020603050405020304" pitchFamily="18" charset="0"/>
              </a:rPr>
              <a:t>6</a:t>
            </a:r>
            <a:r>
              <a:rPr lang="en-US" sz="2400" b="1" dirty="0" smtClean="0">
                <a:solidFill>
                  <a:schemeClr val="tx1"/>
                </a:solidFill>
                <a:latin typeface="Times New Roman" panose="02020603050405020304" pitchFamily="18" charset="0"/>
                <a:cs typeface="Times New Roman" panose="02020603050405020304" pitchFamily="18" charset="0"/>
                <a:sym typeface="Symbol" panose="05050102010706020507"/>
              </a:rPr>
              <a:t></a:t>
            </a:r>
            <a:r>
              <a:rPr lang="en-US" sz="2400" b="1" dirty="0" smtClean="0">
                <a:solidFill>
                  <a:schemeClr val="tx1"/>
                </a:solidFill>
                <a:latin typeface="Times New Roman" panose="02020603050405020304" pitchFamily="18" charset="0"/>
                <a:cs typeface="Times New Roman" panose="02020603050405020304" pitchFamily="18" charset="0"/>
              </a:rPr>
              <a:t>10</a:t>
            </a:r>
            <a:r>
              <a:rPr lang="en-US" sz="2400" b="1" baseline="30000" dirty="0" smtClean="0">
                <a:solidFill>
                  <a:schemeClr val="tx1"/>
                </a:solidFill>
                <a:latin typeface="Times New Roman" panose="02020603050405020304" pitchFamily="18" charset="0"/>
                <a:cs typeface="Times New Roman" panose="02020603050405020304" pitchFamily="18" charset="0"/>
              </a:rPr>
              <a:t>10 </a:t>
            </a:r>
            <a:r>
              <a:rPr lang="zh-CN" altLang="en-US" sz="2400" b="1" dirty="0" smtClean="0">
                <a:solidFill>
                  <a:schemeClr val="tx1"/>
                </a:solidFill>
                <a:latin typeface="Times New Roman" panose="02020603050405020304" pitchFamily="18" charset="0"/>
                <a:cs typeface="Times New Roman" panose="02020603050405020304" pitchFamily="18" charset="0"/>
              </a:rPr>
              <a:t>次运算</a:t>
            </a:r>
            <a:r>
              <a:rPr lang="en-US" sz="2400" b="1" dirty="0" smtClean="0">
                <a:solidFill>
                  <a:schemeClr val="tx1"/>
                </a:solidFill>
                <a:latin typeface="Times New Roman" panose="02020603050405020304" pitchFamily="18" charset="0"/>
                <a:cs typeface="Times New Roman" panose="02020603050405020304" pitchFamily="18" charset="0"/>
              </a:rPr>
              <a:t>, </a:t>
            </a:r>
            <a:r>
              <a:rPr lang="zh-CN" altLang="en-US" sz="2400" b="1" dirty="0" smtClean="0">
                <a:solidFill>
                  <a:schemeClr val="tx1"/>
                </a:solidFill>
                <a:latin typeface="Times New Roman" panose="02020603050405020304" pitchFamily="18" charset="0"/>
                <a:cs typeface="Times New Roman" panose="02020603050405020304" pitchFamily="18" charset="0"/>
              </a:rPr>
              <a:t>用快速排序算法可给 </a:t>
            </a:r>
            <a:r>
              <a:rPr lang="en-US" sz="2400" b="1" dirty="0" smtClean="0">
                <a:solidFill>
                  <a:schemeClr val="tx1"/>
                </a:solidFill>
                <a:latin typeface="Times New Roman" panose="02020603050405020304" pitchFamily="18" charset="0"/>
                <a:cs typeface="Times New Roman" panose="02020603050405020304" pitchFamily="18" charset="0"/>
              </a:rPr>
              <a:t>2</a:t>
            </a:r>
            <a:r>
              <a:rPr lang="en-US" sz="2400" b="1" dirty="0" smtClean="0">
                <a:solidFill>
                  <a:schemeClr val="tx1"/>
                </a:solidFill>
                <a:latin typeface="Times New Roman" panose="02020603050405020304" pitchFamily="18" charset="0"/>
                <a:cs typeface="Times New Roman" panose="02020603050405020304" pitchFamily="18" charset="0"/>
                <a:sym typeface="Symbol" panose="05050102010706020507"/>
              </a:rPr>
              <a:t></a:t>
            </a:r>
            <a:r>
              <a:rPr lang="en-US" sz="2400" b="1" dirty="0" smtClean="0">
                <a:solidFill>
                  <a:schemeClr val="tx1"/>
                </a:solidFill>
                <a:latin typeface="Times New Roman" panose="02020603050405020304" pitchFamily="18" charset="0"/>
                <a:cs typeface="Times New Roman" panose="02020603050405020304" pitchFamily="18" charset="0"/>
              </a:rPr>
              <a:t>10</a:t>
            </a:r>
            <a:r>
              <a:rPr lang="en-US" sz="2400" b="1" baseline="30000" dirty="0" smtClean="0">
                <a:solidFill>
                  <a:schemeClr val="tx1"/>
                </a:solidFill>
                <a:latin typeface="Times New Roman" panose="02020603050405020304" pitchFamily="18" charset="0"/>
                <a:cs typeface="Times New Roman" panose="02020603050405020304" pitchFamily="18" charset="0"/>
              </a:rPr>
              <a:t>9  </a:t>
            </a:r>
            <a:r>
              <a:rPr lang="en-US" sz="2400" b="1" dirty="0" smtClean="0">
                <a:solidFill>
                  <a:schemeClr val="tx1"/>
                </a:solidFill>
                <a:latin typeface="Times New Roman" panose="02020603050405020304" pitchFamily="18" charset="0"/>
                <a:cs typeface="Times New Roman" panose="02020603050405020304" pitchFamily="18" charset="0"/>
              </a:rPr>
              <a:t>(</a:t>
            </a:r>
            <a:r>
              <a:rPr lang="zh-CN" altLang="en-US" sz="2400" b="1" dirty="0" smtClean="0">
                <a:solidFill>
                  <a:schemeClr val="tx1"/>
                </a:solidFill>
                <a:latin typeface="Times New Roman" panose="02020603050405020304" pitchFamily="18" charset="0"/>
                <a:cs typeface="Times New Roman" panose="02020603050405020304" pitchFamily="18" charset="0"/>
              </a:rPr>
              <a:t>即 </a:t>
            </a:r>
            <a:r>
              <a:rPr lang="en-US" sz="2400" b="1" dirty="0" smtClean="0">
                <a:solidFill>
                  <a:schemeClr val="tx1"/>
                </a:solidFill>
                <a:latin typeface="Times New Roman" panose="02020603050405020304" pitchFamily="18" charset="0"/>
                <a:cs typeface="Times New Roman" panose="02020603050405020304" pitchFamily="18" charset="0"/>
              </a:rPr>
              <a:t>20</a:t>
            </a:r>
            <a:r>
              <a:rPr lang="zh-CN" altLang="en-US" sz="2400" b="1" dirty="0" smtClean="0">
                <a:solidFill>
                  <a:schemeClr val="tx1"/>
                </a:solidFill>
                <a:latin typeface="Times New Roman" panose="02020603050405020304" pitchFamily="18" charset="0"/>
                <a:cs typeface="Times New Roman" panose="02020603050405020304" pitchFamily="18" charset="0"/>
              </a:rPr>
              <a:t>亿</a:t>
            </a:r>
            <a:r>
              <a:rPr lang="en-US" sz="2400" b="1" dirty="0" smtClean="0">
                <a:solidFill>
                  <a:schemeClr val="tx1"/>
                </a:solidFill>
                <a:latin typeface="Times New Roman" panose="02020603050405020304" pitchFamily="18" charset="0"/>
                <a:cs typeface="Times New Roman" panose="02020603050405020304" pitchFamily="18" charset="0"/>
              </a:rPr>
              <a:t>)</a:t>
            </a:r>
            <a:r>
              <a:rPr lang="zh-CN" altLang="en-US" sz="2400" b="1" dirty="0" smtClean="0">
                <a:solidFill>
                  <a:schemeClr val="tx1"/>
                </a:solidFill>
                <a:latin typeface="Times New Roman" panose="02020603050405020304" pitchFamily="18" charset="0"/>
                <a:cs typeface="Times New Roman" panose="02020603050405020304" pitchFamily="18" charset="0"/>
              </a:rPr>
              <a:t>个数据排序</a:t>
            </a:r>
            <a:r>
              <a:rPr lang="en-US" sz="2400" b="1" dirty="0" smtClean="0">
                <a:solidFill>
                  <a:schemeClr val="tx1"/>
                </a:solidFill>
                <a:latin typeface="Times New Roman" panose="02020603050405020304" pitchFamily="18" charset="0"/>
                <a:cs typeface="Times New Roman" panose="02020603050405020304" pitchFamily="18" charset="0"/>
              </a:rPr>
              <a:t>,  </a:t>
            </a:r>
            <a:r>
              <a:rPr lang="zh-CN" altLang="en-US" sz="2400" b="1" dirty="0" smtClean="0">
                <a:solidFill>
                  <a:schemeClr val="tx1"/>
                </a:solidFill>
                <a:latin typeface="Times New Roman" panose="02020603050405020304" pitchFamily="18" charset="0"/>
                <a:cs typeface="Times New Roman" panose="02020603050405020304" pitchFamily="18" charset="0"/>
              </a:rPr>
              <a:t>用</a:t>
            </a:r>
            <a:r>
              <a:rPr lang="en-US" sz="2400" b="1" dirty="0" err="1" smtClean="0">
                <a:solidFill>
                  <a:schemeClr val="tx1"/>
                </a:solidFill>
                <a:latin typeface="Times New Roman" panose="02020603050405020304" pitchFamily="18" charset="0"/>
                <a:cs typeface="Times New Roman" panose="02020603050405020304" pitchFamily="18" charset="0"/>
              </a:rPr>
              <a:t>Dijkstra</a:t>
            </a:r>
            <a:r>
              <a:rPr lang="zh-CN" altLang="en-US" sz="2400" b="1" dirty="0" smtClean="0">
                <a:solidFill>
                  <a:schemeClr val="tx1"/>
                </a:solidFill>
                <a:latin typeface="Times New Roman" panose="02020603050405020304" pitchFamily="18" charset="0"/>
                <a:cs typeface="Times New Roman" panose="02020603050405020304" pitchFamily="18" charset="0"/>
              </a:rPr>
              <a:t>算法可解 </a:t>
            </a:r>
            <a:r>
              <a:rPr lang="en-US" sz="2400" b="1" dirty="0" smtClean="0">
                <a:solidFill>
                  <a:schemeClr val="tx1"/>
                </a:solidFill>
                <a:latin typeface="Times New Roman" panose="02020603050405020304" pitchFamily="18" charset="0"/>
                <a:cs typeface="Times New Roman" panose="02020603050405020304" pitchFamily="18" charset="0"/>
              </a:rPr>
              <a:t>2.4</a:t>
            </a:r>
            <a:r>
              <a:rPr lang="en-US" sz="2400" b="1" dirty="0" smtClean="0">
                <a:solidFill>
                  <a:schemeClr val="tx1"/>
                </a:solidFill>
                <a:latin typeface="Times New Roman" panose="02020603050405020304" pitchFamily="18" charset="0"/>
                <a:cs typeface="Times New Roman" panose="02020603050405020304" pitchFamily="18" charset="0"/>
                <a:sym typeface="Symbol" panose="05050102010706020507"/>
              </a:rPr>
              <a:t></a:t>
            </a:r>
            <a:r>
              <a:rPr lang="en-US" sz="2400" b="1" dirty="0" smtClean="0">
                <a:solidFill>
                  <a:schemeClr val="tx1"/>
                </a:solidFill>
                <a:latin typeface="Times New Roman" panose="02020603050405020304" pitchFamily="18" charset="0"/>
                <a:cs typeface="Times New Roman" panose="02020603050405020304" pitchFamily="18" charset="0"/>
              </a:rPr>
              <a:t>10</a:t>
            </a:r>
            <a:r>
              <a:rPr lang="en-US" sz="2400" b="1" baseline="30000" dirty="0" smtClean="0">
                <a:solidFill>
                  <a:schemeClr val="tx1"/>
                </a:solidFill>
                <a:latin typeface="Times New Roman" panose="02020603050405020304" pitchFamily="18" charset="0"/>
                <a:cs typeface="Times New Roman" panose="02020603050405020304" pitchFamily="18" charset="0"/>
              </a:rPr>
              <a:t>5 </a:t>
            </a:r>
            <a:r>
              <a:rPr lang="zh-CN" altLang="en-US" sz="2400" b="1" dirty="0" smtClean="0">
                <a:solidFill>
                  <a:schemeClr val="tx1"/>
                </a:solidFill>
                <a:latin typeface="Times New Roman" panose="02020603050405020304" pitchFamily="18" charset="0"/>
                <a:cs typeface="Times New Roman" panose="02020603050405020304" pitchFamily="18" charset="0"/>
              </a:rPr>
              <a:t>个顶点的图的单源最短路径问题</a:t>
            </a:r>
            <a:r>
              <a:rPr lang="en-US" sz="2400" b="1" dirty="0" smtClean="0">
                <a:solidFill>
                  <a:schemeClr val="tx1"/>
                </a:solidFill>
                <a:latin typeface="Times New Roman" panose="02020603050405020304" pitchFamily="18" charset="0"/>
                <a:cs typeface="Times New Roman" panose="02020603050405020304" pitchFamily="18" charset="0"/>
              </a:rPr>
              <a:t>. </a:t>
            </a:r>
            <a:r>
              <a:rPr lang="zh-CN" altLang="en-US" sz="2400" b="1" dirty="0" smtClean="0">
                <a:solidFill>
                  <a:schemeClr val="tx1"/>
                </a:solidFill>
                <a:latin typeface="Times New Roman" panose="02020603050405020304" pitchFamily="18" charset="0"/>
                <a:cs typeface="Times New Roman" panose="02020603050405020304" pitchFamily="18" charset="0"/>
              </a:rPr>
              <a:t>而用回溯法一天只能解 </a:t>
            </a:r>
            <a:r>
              <a:rPr lang="en-US" sz="2400" b="1" dirty="0" smtClean="0">
                <a:solidFill>
                  <a:schemeClr val="tx1"/>
                </a:solidFill>
                <a:latin typeface="Times New Roman" panose="02020603050405020304" pitchFamily="18" charset="0"/>
                <a:cs typeface="Times New Roman" panose="02020603050405020304" pitchFamily="18" charset="0"/>
              </a:rPr>
              <a:t>41</a:t>
            </a:r>
            <a:r>
              <a:rPr lang="zh-CN" altLang="en-US" sz="2400" b="1" dirty="0" smtClean="0">
                <a:solidFill>
                  <a:schemeClr val="tx1"/>
                </a:solidFill>
                <a:latin typeface="Times New Roman" panose="02020603050405020304" pitchFamily="18" charset="0"/>
                <a:cs typeface="Times New Roman" panose="02020603050405020304" pitchFamily="18" charset="0"/>
              </a:rPr>
              <a:t>个顶点的图的最大团问题</a:t>
            </a:r>
            <a:r>
              <a:rPr lang="en-US" sz="2400" b="1" dirty="0" smtClean="0">
                <a:solidFill>
                  <a:schemeClr val="tx1"/>
                </a:solidFill>
                <a:latin typeface="Times New Roman" panose="02020603050405020304" pitchFamily="18" charset="0"/>
                <a:cs typeface="Times New Roman" panose="02020603050405020304" pitchFamily="18" charset="0"/>
              </a:rPr>
              <a:t>.</a:t>
            </a:r>
            <a:endParaRPr lang="zh-CN" altLang="en-US" sz="2400" b="1"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ctrTitle"/>
          </p:nvPr>
        </p:nvSpPr>
        <p:spPr>
          <a:xfrm>
            <a:off x="687388" y="404813"/>
            <a:ext cx="7772400" cy="865187"/>
          </a:xfrm>
        </p:spPr>
        <p:txBody>
          <a:bodyPr/>
          <a:lstStyle/>
          <a:p>
            <a:pPr eaLnBrk="1" hangingPunct="1"/>
            <a:r>
              <a:rPr lang="zh-CN" altLang="en-US" sz="4000" b="1" smtClean="0">
                <a:solidFill>
                  <a:srgbClr val="C00000"/>
                </a:solidFill>
                <a:latin typeface="Times New Roman" panose="02020603050405020304" pitchFamily="18" charset="0"/>
                <a:cs typeface="Times New Roman" panose="02020603050405020304" pitchFamily="18" charset="0"/>
              </a:rPr>
              <a:t>算法的时间复杂度</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6147" name="副标题 2"/>
          <p:cNvSpPr>
            <a:spLocks noGrp="1"/>
          </p:cNvSpPr>
          <p:nvPr>
            <p:ph type="subTitle" idx="1"/>
          </p:nvPr>
        </p:nvSpPr>
        <p:spPr>
          <a:xfrm>
            <a:off x="684213" y="1371600"/>
            <a:ext cx="7775575" cy="4824413"/>
          </a:xfrm>
        </p:spPr>
        <p:txBody>
          <a:bodyPr/>
          <a:lstStyle/>
          <a:p>
            <a:pPr algn="l"/>
            <a:r>
              <a:rPr lang="zh-CN" altLang="en-US" sz="2400" b="1" smtClean="0">
                <a:solidFill>
                  <a:schemeClr val="tx1"/>
                </a:solidFill>
                <a:latin typeface="Times New Roman" panose="02020603050405020304" pitchFamily="18" charset="0"/>
                <a:cs typeface="Times New Roman" panose="02020603050405020304" pitchFamily="18" charset="0"/>
              </a:rPr>
              <a:t> 函数 </a:t>
            </a:r>
            <a:r>
              <a:rPr lang="en-US" altLang="zh-CN" sz="2400" b="1" i="1" smtClean="0">
                <a:solidFill>
                  <a:schemeClr val="tx1"/>
                </a:solidFill>
                <a:latin typeface="Times New Roman" panose="02020603050405020304" pitchFamily="18" charset="0"/>
                <a:cs typeface="Times New Roman" panose="02020603050405020304" pitchFamily="18" charset="0"/>
              </a:rPr>
              <a:t>f </a:t>
            </a:r>
            <a:r>
              <a:rPr lang="zh-CN" altLang="en-US" sz="2400" b="1" smtClean="0">
                <a:solidFill>
                  <a:schemeClr val="tx1"/>
                </a:solidFill>
                <a:latin typeface="Times New Roman" panose="02020603050405020304" pitchFamily="18" charset="0"/>
                <a:cs typeface="Times New Roman" panose="02020603050405020304" pitchFamily="18" charset="0"/>
              </a:rPr>
              <a:t>和 </a:t>
            </a:r>
            <a:r>
              <a:rPr lang="en-US" altLang="zh-CN" sz="2400" b="1" i="1" smtClean="0">
                <a:solidFill>
                  <a:schemeClr val="tx1"/>
                </a:solidFill>
                <a:latin typeface="Times New Roman" panose="02020603050405020304" pitchFamily="18" charset="0"/>
                <a:cs typeface="Times New Roman" panose="02020603050405020304" pitchFamily="18" charset="0"/>
              </a:rPr>
              <a:t>g</a:t>
            </a:r>
            <a:r>
              <a:rPr lang="zh-CN" altLang="en-US" sz="2400" b="1" smtClean="0">
                <a:solidFill>
                  <a:schemeClr val="tx1"/>
                </a:solidFill>
                <a:latin typeface="Times New Roman" panose="02020603050405020304" pitchFamily="18" charset="0"/>
                <a:cs typeface="Times New Roman" panose="02020603050405020304" pitchFamily="18" charset="0"/>
              </a:rPr>
              <a:t>是</a:t>
            </a:r>
            <a:r>
              <a:rPr lang="zh-CN" altLang="en-US" sz="2400" b="1" smtClean="0">
                <a:solidFill>
                  <a:srgbClr val="C00000"/>
                </a:solidFill>
                <a:latin typeface="Times New Roman" panose="02020603050405020304" pitchFamily="18" charset="0"/>
                <a:cs typeface="Times New Roman" panose="02020603050405020304" pitchFamily="18" charset="0"/>
              </a:rPr>
              <a:t>多项式相关的</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如果存在多项式 </a:t>
            </a:r>
            <a:r>
              <a:rPr lang="en-US" altLang="zh-CN" sz="2400" b="1" i="1" smtClean="0">
                <a:solidFill>
                  <a:schemeClr val="tx1"/>
                </a:solidFill>
                <a:latin typeface="Times New Roman" panose="02020603050405020304" pitchFamily="18" charset="0"/>
                <a:cs typeface="Times New Roman" panose="02020603050405020304" pitchFamily="18" charset="0"/>
              </a:rPr>
              <a:t>p</a:t>
            </a:r>
            <a:r>
              <a:rPr lang="zh-CN" altLang="en-US" sz="2400" b="1" smtClean="0">
                <a:solidFill>
                  <a:schemeClr val="tx1"/>
                </a:solidFill>
                <a:latin typeface="Times New Roman" panose="02020603050405020304" pitchFamily="18" charset="0"/>
                <a:cs typeface="Times New Roman" panose="02020603050405020304" pitchFamily="18" charset="0"/>
              </a:rPr>
              <a:t>和 </a:t>
            </a:r>
            <a:r>
              <a:rPr lang="en-US" altLang="zh-CN" sz="2400" b="1" i="1" smtClean="0">
                <a:solidFill>
                  <a:schemeClr val="tx1"/>
                </a:solidFill>
                <a:latin typeface="Times New Roman" panose="02020603050405020304" pitchFamily="18" charset="0"/>
                <a:cs typeface="Times New Roman" panose="02020603050405020304" pitchFamily="18" charset="0"/>
              </a:rPr>
              <a:t>q</a:t>
            </a:r>
            <a:r>
              <a:rPr lang="zh-CN" altLang="en-US" sz="2400" b="1" smtClean="0">
                <a:solidFill>
                  <a:schemeClr val="tx1"/>
                </a:solidFill>
                <a:latin typeface="Times New Roman" panose="02020603050405020304" pitchFamily="18" charset="0"/>
                <a:cs typeface="Times New Roman" panose="02020603050405020304" pitchFamily="18" charset="0"/>
              </a:rPr>
              <a:t>使得</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对任意的 </a:t>
            </a:r>
            <a:r>
              <a:rPr lang="en-US" altLang="zh-CN" sz="2400" b="1" i="1" smtClean="0">
                <a:solidFill>
                  <a:schemeClr val="tx1"/>
                </a:solidFill>
                <a:latin typeface="Times New Roman" panose="02020603050405020304" pitchFamily="18" charset="0"/>
                <a:cs typeface="Times New Roman" panose="02020603050405020304" pitchFamily="18" charset="0"/>
              </a:rPr>
              <a:t>n</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solidFill>
                  <a:schemeClr val="tx1"/>
                </a:solidFill>
                <a:latin typeface="Times New Roman" panose="02020603050405020304" pitchFamily="18" charset="0"/>
                <a:cs typeface="Times New Roman" panose="02020603050405020304" pitchFamily="18" charset="0"/>
              </a:rPr>
              <a:t>N,  </a:t>
            </a:r>
            <a:r>
              <a:rPr lang="en-US" altLang="zh-CN" sz="2400" b="1" i="1" smtClean="0">
                <a:solidFill>
                  <a:schemeClr val="tx1"/>
                </a:solidFill>
                <a:latin typeface="Times New Roman" panose="02020603050405020304" pitchFamily="18" charset="0"/>
                <a:cs typeface="Times New Roman" panose="02020603050405020304" pitchFamily="18" charset="0"/>
              </a:rPr>
              <a:t>f</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n</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solidFill>
                  <a:schemeClr val="tx1"/>
                </a:solidFill>
                <a:latin typeface="Times New Roman" panose="02020603050405020304" pitchFamily="18" charset="0"/>
                <a:cs typeface="Times New Roman" panose="02020603050405020304" pitchFamily="18" charset="0"/>
              </a:rPr>
              <a:t>p</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q</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n</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和 </a:t>
            </a:r>
            <a:r>
              <a:rPr lang="en-US" altLang="zh-CN" sz="2400" b="1" i="1" smtClean="0">
                <a:solidFill>
                  <a:schemeClr val="tx1"/>
                </a:solidFill>
                <a:latin typeface="Times New Roman" panose="02020603050405020304" pitchFamily="18" charset="0"/>
                <a:cs typeface="Times New Roman" panose="02020603050405020304" pitchFamily="18" charset="0"/>
              </a:rPr>
              <a:t>g</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n</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solidFill>
                  <a:schemeClr val="tx1"/>
                </a:solidFill>
                <a:latin typeface="Times New Roman" panose="02020603050405020304" pitchFamily="18" charset="0"/>
                <a:cs typeface="Times New Roman" panose="02020603050405020304" pitchFamily="18" charset="0"/>
              </a:rPr>
              <a:t>q</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f</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n</a:t>
            </a:r>
            <a:r>
              <a:rPr lang="en-US" altLang="zh-CN" sz="2400" b="1" smtClean="0">
                <a:solidFill>
                  <a:schemeClr val="tx1"/>
                </a:solidFill>
                <a:latin typeface="Times New Roman" panose="02020603050405020304" pitchFamily="18" charset="0"/>
                <a:cs typeface="Times New Roman" panose="02020603050405020304" pitchFamily="18" charset="0"/>
              </a:rPr>
              <a:t>)).   </a:t>
            </a:r>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a:r>
              <a:rPr lang="zh-CN" altLang="en-US" sz="2400" b="1" smtClean="0">
                <a:solidFill>
                  <a:srgbClr val="C00000"/>
                </a:solidFill>
                <a:latin typeface="Times New Roman" panose="02020603050405020304" pitchFamily="18" charset="0"/>
                <a:cs typeface="Times New Roman" panose="02020603050405020304" pitchFamily="18" charset="0"/>
              </a:rPr>
              <a:t>例如</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rPr>
              <a:t>n</a:t>
            </a:r>
            <a:r>
              <a:rPr lang="en-US" altLang="zh-CN" sz="2400" b="1" smtClean="0">
                <a:solidFill>
                  <a:schemeClr val="tx1"/>
                </a:solidFill>
                <a:latin typeface="Times New Roman" panose="02020603050405020304" pitchFamily="18" charset="0"/>
                <a:cs typeface="Times New Roman" panose="02020603050405020304" pitchFamily="18" charset="0"/>
              </a:rPr>
              <a:t>log</a:t>
            </a:r>
            <a:r>
              <a:rPr lang="en-US" altLang="zh-CN" sz="2400" b="1" i="1" smtClean="0">
                <a:solidFill>
                  <a:schemeClr val="tx1"/>
                </a:solidFill>
                <a:latin typeface="Times New Roman" panose="02020603050405020304" pitchFamily="18" charset="0"/>
                <a:cs typeface="Times New Roman" panose="02020603050405020304" pitchFamily="18" charset="0"/>
              </a:rPr>
              <a:t>n </a:t>
            </a:r>
            <a:r>
              <a:rPr lang="zh-CN" altLang="en-US" sz="2400" b="1" smtClean="0">
                <a:solidFill>
                  <a:schemeClr val="tx1"/>
                </a:solidFill>
                <a:latin typeface="Times New Roman" panose="02020603050405020304" pitchFamily="18" charset="0"/>
                <a:cs typeface="Times New Roman" panose="02020603050405020304" pitchFamily="18" charset="0"/>
              </a:rPr>
              <a:t>与 </a:t>
            </a:r>
            <a:r>
              <a:rPr lang="en-US" altLang="zh-CN" sz="2400" b="1" i="1" smtClean="0">
                <a:solidFill>
                  <a:schemeClr val="tx1"/>
                </a:solidFill>
                <a:latin typeface="Times New Roman" panose="02020603050405020304" pitchFamily="18" charset="0"/>
                <a:cs typeface="Times New Roman" panose="02020603050405020304" pitchFamily="18" charset="0"/>
              </a:rPr>
              <a:t>n</a:t>
            </a:r>
            <a:r>
              <a:rPr lang="en-US" altLang="zh-CN" sz="2400" b="1" baseline="30000" smtClean="0">
                <a:solidFill>
                  <a:schemeClr val="tx1"/>
                </a:solidFill>
                <a:latin typeface="Times New Roman" panose="02020603050405020304" pitchFamily="18" charset="0"/>
                <a:cs typeface="Times New Roman" panose="02020603050405020304" pitchFamily="18" charset="0"/>
              </a:rPr>
              <a:t>2</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rPr>
              <a:t>n</a:t>
            </a:r>
            <a:r>
              <a:rPr lang="en-US" altLang="zh-CN" sz="2400" b="1" baseline="30000" smtClean="0">
                <a:solidFill>
                  <a:schemeClr val="tx1"/>
                </a:solidFill>
                <a:latin typeface="Times New Roman" panose="02020603050405020304" pitchFamily="18" charset="0"/>
                <a:cs typeface="Times New Roman" panose="02020603050405020304" pitchFamily="18" charset="0"/>
              </a:rPr>
              <a:t>2</a:t>
            </a:r>
            <a:r>
              <a:rPr lang="en-US" altLang="zh-CN" sz="2400" b="1" smtClean="0">
                <a:solidFill>
                  <a:schemeClr val="tx1"/>
                </a:solidFill>
                <a:latin typeface="Times New Roman" panose="02020603050405020304" pitchFamily="18" charset="0"/>
                <a:cs typeface="Times New Roman" panose="02020603050405020304" pitchFamily="18" charset="0"/>
              </a:rPr>
              <a:t>+2</a:t>
            </a:r>
            <a:r>
              <a:rPr lang="en-US" altLang="zh-CN" sz="2400" b="1" i="1" smtClean="0">
                <a:solidFill>
                  <a:schemeClr val="tx1"/>
                </a:solidFill>
                <a:latin typeface="Times New Roman" panose="02020603050405020304" pitchFamily="18" charset="0"/>
                <a:cs typeface="Times New Roman" panose="02020603050405020304" pitchFamily="18" charset="0"/>
              </a:rPr>
              <a:t>n</a:t>
            </a:r>
            <a:r>
              <a:rPr lang="en-US" altLang="zh-CN" sz="2400" b="1" smtClean="0">
                <a:solidFill>
                  <a:schemeClr val="tx1"/>
                </a:solidFill>
                <a:latin typeface="Times New Roman" panose="02020603050405020304" pitchFamily="18" charset="0"/>
                <a:cs typeface="Times New Roman" panose="02020603050405020304" pitchFamily="18" charset="0"/>
              </a:rPr>
              <a:t>+5 </a:t>
            </a:r>
            <a:r>
              <a:rPr lang="zh-CN" altLang="en-US" sz="2400" b="1" smtClean="0">
                <a:solidFill>
                  <a:schemeClr val="tx1"/>
                </a:solidFill>
                <a:latin typeface="Times New Roman" panose="02020603050405020304" pitchFamily="18" charset="0"/>
                <a:cs typeface="Times New Roman" panose="02020603050405020304" pitchFamily="18" charset="0"/>
              </a:rPr>
              <a:t>与 </a:t>
            </a:r>
            <a:r>
              <a:rPr lang="en-US" altLang="zh-CN" sz="2400" b="1" i="1" smtClean="0">
                <a:solidFill>
                  <a:schemeClr val="tx1"/>
                </a:solidFill>
                <a:latin typeface="Times New Roman" panose="02020603050405020304" pitchFamily="18" charset="0"/>
                <a:cs typeface="Times New Roman" panose="02020603050405020304" pitchFamily="18" charset="0"/>
              </a:rPr>
              <a:t>n</a:t>
            </a:r>
            <a:r>
              <a:rPr lang="en-US" altLang="zh-CN" sz="2400" b="1" baseline="30000" smtClean="0">
                <a:solidFill>
                  <a:schemeClr val="tx1"/>
                </a:solidFill>
                <a:latin typeface="Times New Roman" panose="02020603050405020304" pitchFamily="18" charset="0"/>
                <a:cs typeface="Times New Roman" panose="02020603050405020304" pitchFamily="18" charset="0"/>
              </a:rPr>
              <a:t>10 </a:t>
            </a:r>
            <a:r>
              <a:rPr lang="zh-CN" altLang="en-US" sz="2400" b="1" smtClean="0">
                <a:solidFill>
                  <a:schemeClr val="tx1"/>
                </a:solidFill>
                <a:latin typeface="Times New Roman" panose="02020603050405020304" pitchFamily="18" charset="0"/>
                <a:cs typeface="Times New Roman" panose="02020603050405020304" pitchFamily="18" charset="0"/>
              </a:rPr>
              <a:t>都是多项式相关的</a:t>
            </a:r>
            <a:r>
              <a:rPr lang="en-US" altLang="zh-CN" sz="2400" b="1" smtClean="0">
                <a:solidFill>
                  <a:schemeClr val="tx1"/>
                </a:solidFill>
                <a:latin typeface="Times New Roman" panose="02020603050405020304" pitchFamily="18" charset="0"/>
                <a:cs typeface="Times New Roman" panose="02020603050405020304" pitchFamily="18" charset="0"/>
              </a:rPr>
              <a:t>, </a:t>
            </a:r>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a:r>
              <a:rPr lang="en-US" altLang="zh-CN" sz="2400" b="1" smtClean="0">
                <a:solidFill>
                  <a:schemeClr val="tx1"/>
                </a:solidFill>
                <a:latin typeface="Times New Roman" panose="02020603050405020304" pitchFamily="18" charset="0"/>
                <a:cs typeface="Times New Roman" panose="02020603050405020304" pitchFamily="18" charset="0"/>
              </a:rPr>
              <a:t>           log</a:t>
            </a:r>
            <a:r>
              <a:rPr lang="en-US" altLang="zh-CN" sz="2400" b="1" i="1" smtClean="0">
                <a:solidFill>
                  <a:schemeClr val="tx1"/>
                </a:solidFill>
                <a:latin typeface="Times New Roman" panose="02020603050405020304" pitchFamily="18" charset="0"/>
                <a:cs typeface="Times New Roman" panose="02020603050405020304" pitchFamily="18" charset="0"/>
              </a:rPr>
              <a:t>n </a:t>
            </a:r>
            <a:r>
              <a:rPr lang="zh-CN" altLang="en-US" sz="2400" b="1" smtClean="0">
                <a:solidFill>
                  <a:schemeClr val="tx1"/>
                </a:solidFill>
                <a:latin typeface="Times New Roman" panose="02020603050405020304" pitchFamily="18" charset="0"/>
                <a:cs typeface="Times New Roman" panose="02020603050405020304" pitchFamily="18" charset="0"/>
              </a:rPr>
              <a:t>与 </a:t>
            </a:r>
            <a:r>
              <a:rPr lang="en-US" altLang="zh-CN" sz="2400" b="1" i="1" smtClean="0">
                <a:solidFill>
                  <a:schemeClr val="tx1"/>
                </a:solidFill>
                <a:latin typeface="Times New Roman" panose="02020603050405020304" pitchFamily="18" charset="0"/>
                <a:cs typeface="Times New Roman" panose="02020603050405020304" pitchFamily="18" charset="0"/>
              </a:rPr>
              <a:t>n</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rPr>
              <a:t>n</a:t>
            </a:r>
            <a:r>
              <a:rPr lang="en-US" altLang="zh-CN" sz="2400" b="1" baseline="30000" smtClean="0">
                <a:solidFill>
                  <a:schemeClr val="tx1"/>
                </a:solidFill>
                <a:latin typeface="Times New Roman" panose="02020603050405020304" pitchFamily="18" charset="0"/>
                <a:cs typeface="Times New Roman" panose="02020603050405020304" pitchFamily="18" charset="0"/>
              </a:rPr>
              <a:t>5 </a:t>
            </a:r>
            <a:r>
              <a:rPr lang="zh-CN" altLang="en-US" sz="2400" b="1" smtClean="0">
                <a:solidFill>
                  <a:schemeClr val="tx1"/>
                </a:solidFill>
                <a:latin typeface="Times New Roman" panose="02020603050405020304" pitchFamily="18" charset="0"/>
                <a:cs typeface="Times New Roman" panose="02020603050405020304" pitchFamily="18" charset="0"/>
              </a:rPr>
              <a:t>与 </a:t>
            </a:r>
            <a:r>
              <a:rPr lang="en-US" altLang="zh-CN" sz="2400" b="1" smtClean="0">
                <a:solidFill>
                  <a:schemeClr val="tx1"/>
                </a:solidFill>
                <a:latin typeface="Times New Roman" panose="02020603050405020304" pitchFamily="18" charset="0"/>
                <a:cs typeface="Times New Roman" panose="02020603050405020304" pitchFamily="18" charset="0"/>
              </a:rPr>
              <a:t>2</a:t>
            </a:r>
            <a:r>
              <a:rPr lang="en-US" altLang="zh-CN" sz="2400" b="1" i="1" baseline="30000" smtClean="0">
                <a:solidFill>
                  <a:schemeClr val="tx1"/>
                </a:solidFill>
                <a:latin typeface="Times New Roman" panose="02020603050405020304" pitchFamily="18" charset="0"/>
                <a:cs typeface="Times New Roman" panose="02020603050405020304" pitchFamily="18" charset="0"/>
              </a:rPr>
              <a:t>n </a:t>
            </a:r>
            <a:r>
              <a:rPr lang="zh-CN" altLang="en-US" sz="2400" b="1" smtClean="0">
                <a:solidFill>
                  <a:schemeClr val="tx1"/>
                </a:solidFill>
                <a:latin typeface="Times New Roman" panose="02020603050405020304" pitchFamily="18" charset="0"/>
                <a:cs typeface="Times New Roman" panose="02020603050405020304" pitchFamily="18" charset="0"/>
              </a:rPr>
              <a:t>不是多项式相关的</a:t>
            </a:r>
            <a:r>
              <a:rPr lang="en-US" altLang="zh-CN" sz="2400" b="1" smtClean="0">
                <a:solidFill>
                  <a:schemeClr val="tx1"/>
                </a:solidFill>
                <a:latin typeface="Times New Roman" panose="02020603050405020304" pitchFamily="18" charset="0"/>
                <a:cs typeface="Times New Roman" panose="02020603050405020304" pitchFamily="18" charset="0"/>
              </a:rPr>
              <a:t>.</a:t>
            </a:r>
            <a:endParaRPr lang="zh-CN" altLang="en-US" sz="2400" b="1" smtClean="0">
              <a:solidFill>
                <a:schemeClr val="tx1"/>
              </a:solidFill>
              <a:latin typeface="Times New Roman" panose="02020603050405020304" pitchFamily="18" charset="0"/>
              <a:cs typeface="Times New Roman" panose="02020603050405020304" pitchFamily="18" charset="0"/>
            </a:endParaRPr>
          </a:p>
          <a:p>
            <a:pPr algn="l">
              <a:lnSpc>
                <a:spcPct val="150000"/>
              </a:lnSpc>
            </a:pPr>
            <a:r>
              <a:rPr lang="zh-CN" altLang="en-US" sz="2400" b="1" smtClean="0">
                <a:solidFill>
                  <a:schemeClr val="tx1"/>
                </a:solidFill>
                <a:latin typeface="Times New Roman" panose="02020603050405020304" pitchFamily="18" charset="0"/>
                <a:cs typeface="Times New Roman" panose="02020603050405020304" pitchFamily="18" charset="0"/>
              </a:rPr>
              <a:t>问题</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的实例 </a:t>
            </a:r>
            <a:r>
              <a:rPr lang="en-US" altLang="zh-CN" sz="2400" b="1" i="1" smtClean="0">
                <a:solidFill>
                  <a:schemeClr val="tx1"/>
                </a:solidFill>
                <a:latin typeface="Times New Roman" panose="02020603050405020304" pitchFamily="18" charset="0"/>
                <a:cs typeface="Times New Roman" panose="02020603050405020304" pitchFamily="18" charset="0"/>
              </a:rPr>
              <a:t>I </a:t>
            </a:r>
            <a:r>
              <a:rPr lang="zh-CN" altLang="en-US" sz="2400" b="1" smtClean="0">
                <a:solidFill>
                  <a:schemeClr val="tx1"/>
                </a:solidFill>
                <a:latin typeface="Times New Roman" panose="02020603050405020304" pitchFamily="18" charset="0"/>
                <a:cs typeface="Times New Roman" panose="02020603050405020304" pitchFamily="18" charset="0"/>
              </a:rPr>
              <a:t>的</a:t>
            </a:r>
            <a:r>
              <a:rPr lang="zh-CN" altLang="en-US" sz="2400" b="1" smtClean="0">
                <a:solidFill>
                  <a:srgbClr val="C00000"/>
                </a:solidFill>
                <a:latin typeface="Times New Roman" panose="02020603050405020304" pitchFamily="18" charset="0"/>
                <a:cs typeface="Times New Roman" panose="02020603050405020304" pitchFamily="18" charset="0"/>
              </a:rPr>
              <a:t>规模</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rPr>
              <a:t>I </a:t>
            </a:r>
            <a:r>
              <a:rPr lang="zh-CN" altLang="en-US" sz="2400" b="1" smtClean="0">
                <a:solidFill>
                  <a:schemeClr val="tx1"/>
                </a:solidFill>
                <a:latin typeface="Times New Roman" panose="02020603050405020304" pitchFamily="18" charset="0"/>
                <a:cs typeface="Times New Roman" panose="02020603050405020304" pitchFamily="18" charset="0"/>
              </a:rPr>
              <a:t>的二进制编码的长度</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记作</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rPr>
              <a:t>I </a:t>
            </a:r>
            <a:r>
              <a:rPr lang="en-US" altLang="zh-CN" sz="2400" b="1" smtClean="0">
                <a:solidFill>
                  <a:schemeClr val="tx1"/>
                </a:solidFill>
                <a:latin typeface="Times New Roman" panose="02020603050405020304" pitchFamily="18" charset="0"/>
                <a:cs typeface="Times New Roman" panose="02020603050405020304" pitchFamily="18" charset="0"/>
              </a:rPr>
              <a:t>|. </a:t>
            </a:r>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a:r>
              <a:rPr lang="zh-CN" altLang="en-US" sz="2400" b="1" smtClean="0">
                <a:solidFill>
                  <a:srgbClr val="C00000"/>
                </a:solidFill>
                <a:latin typeface="Times New Roman" panose="02020603050405020304" pitchFamily="18" charset="0"/>
                <a:cs typeface="Times New Roman" panose="02020603050405020304" pitchFamily="18" charset="0"/>
              </a:rPr>
              <a:t>定义</a:t>
            </a:r>
            <a:r>
              <a:rPr lang="en-US" altLang="zh-CN" sz="2400" b="1" smtClean="0">
                <a:solidFill>
                  <a:srgbClr val="C00000"/>
                </a:solidFill>
                <a:latin typeface="Times New Roman" panose="02020603050405020304" pitchFamily="18" charset="0"/>
                <a:cs typeface="Times New Roman" panose="02020603050405020304" pitchFamily="18" charset="0"/>
              </a:rPr>
              <a:t>9.1</a:t>
            </a:r>
            <a:r>
              <a:rPr lang="en-US" altLang="zh-CN" sz="2400" b="1" smtClean="0">
                <a:solidFill>
                  <a:srgbClr val="FF0000"/>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如果存在函数 </a:t>
            </a:r>
            <a:r>
              <a:rPr lang="en-US" altLang="zh-CN" sz="2400" b="1" i="1" smtClean="0">
                <a:solidFill>
                  <a:schemeClr val="tx1"/>
                </a:solidFill>
                <a:latin typeface="Times New Roman" panose="02020603050405020304" pitchFamily="18" charset="0"/>
                <a:cs typeface="Times New Roman" panose="02020603050405020304" pitchFamily="18" charset="0"/>
              </a:rPr>
              <a:t>f </a:t>
            </a:r>
            <a:r>
              <a:rPr lang="en-US" altLang="zh-CN" sz="2400" b="1" smtClean="0">
                <a:solidFill>
                  <a:schemeClr val="tx1"/>
                </a:solidFill>
                <a:latin typeface="Times New Roman" panose="02020603050405020304" pitchFamily="18" charset="0"/>
                <a:cs typeface="Times New Roman" panose="02020603050405020304" pitchFamily="18" charset="0"/>
              </a:rPr>
              <a:t>:N</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solidFill>
                  <a:schemeClr val="tx1"/>
                </a:solidFill>
                <a:latin typeface="Times New Roman" panose="02020603050405020304" pitchFamily="18" charset="0"/>
                <a:cs typeface="Times New Roman" panose="02020603050405020304" pitchFamily="18" charset="0"/>
              </a:rPr>
              <a:t>N</a:t>
            </a:r>
            <a:r>
              <a:rPr lang="zh-CN" altLang="en-US" sz="2400" b="1" smtClean="0">
                <a:solidFill>
                  <a:schemeClr val="tx1"/>
                </a:solidFill>
                <a:latin typeface="Times New Roman" panose="02020603050405020304" pitchFamily="18" charset="0"/>
                <a:cs typeface="Times New Roman" panose="02020603050405020304" pitchFamily="18" charset="0"/>
              </a:rPr>
              <a:t>使得</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对任意的规模为 </a:t>
            </a:r>
            <a:r>
              <a:rPr lang="en-US" altLang="zh-CN" sz="2400" b="1" i="1" smtClean="0">
                <a:solidFill>
                  <a:schemeClr val="tx1"/>
                </a:solidFill>
                <a:latin typeface="Times New Roman" panose="02020603050405020304" pitchFamily="18" charset="0"/>
                <a:cs typeface="Times New Roman" panose="02020603050405020304" pitchFamily="18" charset="0"/>
              </a:rPr>
              <a:t>n</a:t>
            </a:r>
            <a:r>
              <a:rPr lang="zh-CN" altLang="en-US" sz="2400" b="1" smtClean="0">
                <a:solidFill>
                  <a:schemeClr val="tx1"/>
                </a:solidFill>
                <a:latin typeface="Times New Roman" panose="02020603050405020304" pitchFamily="18" charset="0"/>
                <a:cs typeface="Times New Roman" panose="02020603050405020304" pitchFamily="18" charset="0"/>
              </a:rPr>
              <a:t>的实例 </a:t>
            </a:r>
            <a:r>
              <a:rPr lang="en-US" altLang="zh-CN" sz="2400" b="1" i="1"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算法 </a:t>
            </a:r>
            <a:r>
              <a:rPr lang="en-US" altLang="zh-CN" sz="2400" b="1" i="1" smtClean="0">
                <a:solidFill>
                  <a:schemeClr val="tx1"/>
                </a:solidFill>
                <a:latin typeface="Times New Roman" panose="02020603050405020304" pitchFamily="18" charset="0"/>
                <a:cs typeface="Times New Roman" panose="02020603050405020304" pitchFamily="18" charset="0"/>
              </a:rPr>
              <a:t>A</a:t>
            </a:r>
            <a:r>
              <a:rPr lang="zh-CN" altLang="en-US" sz="2400" b="1" smtClean="0">
                <a:solidFill>
                  <a:schemeClr val="tx1"/>
                </a:solidFill>
                <a:latin typeface="Times New Roman" panose="02020603050405020304" pitchFamily="18" charset="0"/>
                <a:cs typeface="Times New Roman" panose="02020603050405020304" pitchFamily="18" charset="0"/>
              </a:rPr>
              <a:t>对 </a:t>
            </a:r>
            <a:r>
              <a:rPr lang="en-US" altLang="zh-CN" sz="2400" b="1" i="1" smtClean="0">
                <a:solidFill>
                  <a:schemeClr val="tx1"/>
                </a:solidFill>
                <a:latin typeface="Times New Roman" panose="02020603050405020304" pitchFamily="18" charset="0"/>
                <a:cs typeface="Times New Roman" panose="02020603050405020304" pitchFamily="18" charset="0"/>
              </a:rPr>
              <a:t>I </a:t>
            </a:r>
            <a:r>
              <a:rPr lang="zh-CN" altLang="en-US" sz="2400" b="1" smtClean="0">
                <a:solidFill>
                  <a:schemeClr val="tx1"/>
                </a:solidFill>
                <a:latin typeface="Times New Roman" panose="02020603050405020304" pitchFamily="18" charset="0"/>
                <a:cs typeface="Times New Roman" panose="02020603050405020304" pitchFamily="18" charset="0"/>
              </a:rPr>
              <a:t>的运算在 </a:t>
            </a:r>
            <a:r>
              <a:rPr lang="en-US" altLang="zh-CN" sz="2400" b="1" i="1" smtClean="0">
                <a:solidFill>
                  <a:schemeClr val="tx1"/>
                </a:solidFill>
                <a:latin typeface="Times New Roman" panose="02020603050405020304" pitchFamily="18" charset="0"/>
                <a:cs typeface="Times New Roman" panose="02020603050405020304" pitchFamily="18" charset="0"/>
              </a:rPr>
              <a:t>f</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n</a:t>
            </a:r>
            <a:r>
              <a:rPr lang="en-US" altLang="zh-CN" sz="2400" b="1" smtClean="0">
                <a:solidFill>
                  <a:schemeClr val="tx1"/>
                </a:solidFill>
                <a:latin typeface="Times New Roman" panose="02020603050405020304" pitchFamily="18" charset="0"/>
                <a:cs typeface="Times New Roman" panose="02020603050405020304" pitchFamily="18" charset="0"/>
              </a:rPr>
              <a:t>)</a:t>
            </a:r>
            <a:r>
              <a:rPr lang="zh-CN" altLang="en-US" sz="2400" b="1" smtClean="0">
                <a:solidFill>
                  <a:schemeClr val="tx1"/>
                </a:solidFill>
                <a:latin typeface="Times New Roman" panose="02020603050405020304" pitchFamily="18" charset="0"/>
                <a:cs typeface="Times New Roman" panose="02020603050405020304" pitchFamily="18" charset="0"/>
              </a:rPr>
              <a:t>步内停止</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则称算法 </a:t>
            </a:r>
            <a:r>
              <a:rPr lang="en-US" altLang="zh-CN" sz="2400" b="1" i="1" smtClean="0">
                <a:solidFill>
                  <a:schemeClr val="tx1"/>
                </a:solidFill>
                <a:latin typeface="Times New Roman" panose="02020603050405020304" pitchFamily="18" charset="0"/>
                <a:cs typeface="Times New Roman" panose="02020603050405020304" pitchFamily="18" charset="0"/>
              </a:rPr>
              <a:t>A</a:t>
            </a:r>
            <a:r>
              <a:rPr lang="zh-CN" altLang="en-US" sz="2400" b="1" smtClean="0">
                <a:solidFill>
                  <a:schemeClr val="tx1"/>
                </a:solidFill>
                <a:latin typeface="Times New Roman" panose="02020603050405020304" pitchFamily="18" charset="0"/>
                <a:cs typeface="Times New Roman" panose="02020603050405020304" pitchFamily="18" charset="0"/>
              </a:rPr>
              <a:t>的</a:t>
            </a:r>
            <a:r>
              <a:rPr lang="zh-CN" altLang="en-US" sz="2400" b="1" smtClean="0">
                <a:solidFill>
                  <a:srgbClr val="C00000"/>
                </a:solidFill>
                <a:latin typeface="Times New Roman" panose="02020603050405020304" pitchFamily="18" charset="0"/>
                <a:cs typeface="Times New Roman" panose="02020603050405020304" pitchFamily="18" charset="0"/>
              </a:rPr>
              <a:t>时间复杂度</a:t>
            </a:r>
            <a:r>
              <a:rPr lang="zh-CN" altLang="en-US" sz="2400" b="1" smtClean="0">
                <a:solidFill>
                  <a:schemeClr val="tx1"/>
                </a:solidFill>
                <a:latin typeface="Times New Roman" panose="02020603050405020304" pitchFamily="18" charset="0"/>
                <a:cs typeface="Times New Roman" panose="02020603050405020304" pitchFamily="18" charset="0"/>
              </a:rPr>
              <a:t>为 </a:t>
            </a:r>
            <a:r>
              <a:rPr lang="en-US" altLang="zh-CN" sz="2400" b="1" i="1" smtClean="0">
                <a:solidFill>
                  <a:schemeClr val="tx1"/>
                </a:solidFill>
                <a:latin typeface="Times New Roman" panose="02020603050405020304" pitchFamily="18" charset="0"/>
                <a:cs typeface="Times New Roman" panose="02020603050405020304" pitchFamily="18" charset="0"/>
              </a:rPr>
              <a:t>f</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n</a:t>
            </a:r>
            <a:r>
              <a:rPr lang="en-US" altLang="zh-CN" sz="2400" b="1" smtClean="0">
                <a:solidFill>
                  <a:schemeClr val="tx1"/>
                </a:solidFill>
                <a:latin typeface="Times New Roman" panose="02020603050405020304" pitchFamily="18" charset="0"/>
                <a:cs typeface="Times New Roman" panose="02020603050405020304" pitchFamily="18" charset="0"/>
              </a:rPr>
              <a:t>). </a:t>
            </a:r>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a:r>
              <a:rPr lang="zh-CN" altLang="en-US" sz="2400" b="1" smtClean="0">
                <a:solidFill>
                  <a:srgbClr val="C00000"/>
                </a:solidFill>
                <a:latin typeface="Times New Roman" panose="02020603050405020304" pitchFamily="18" charset="0"/>
                <a:cs typeface="Times New Roman" panose="02020603050405020304" pitchFamily="18" charset="0"/>
              </a:rPr>
              <a:t>多项式时间算法</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以多项式为时间复杂度</a:t>
            </a:r>
            <a:r>
              <a:rPr lang="en-US" altLang="zh-CN" sz="2400" b="1" smtClean="0">
                <a:solidFill>
                  <a:schemeClr val="tx1"/>
                </a:solidFill>
                <a:latin typeface="Times New Roman" panose="02020603050405020304" pitchFamily="18" charset="0"/>
                <a:cs typeface="Times New Roman" panose="02020603050405020304" pitchFamily="18" charset="0"/>
              </a:rPr>
              <a:t>. </a:t>
            </a:r>
            <a:endParaRPr lang="en-US" altLang="zh-CN" sz="2400" b="1" smtClean="0">
              <a:solidFill>
                <a:srgbClr val="C00000"/>
              </a:solidFill>
              <a:latin typeface="Times New Roman" panose="02020603050405020304" pitchFamily="18" charset="0"/>
              <a:cs typeface="Times New Roman" panose="02020603050405020304" pitchFamily="18" charset="0"/>
            </a:endParaRPr>
          </a:p>
          <a:p>
            <a:pPr algn="l"/>
            <a:r>
              <a:rPr lang="zh-CN" altLang="en-US" sz="2400" b="1" smtClean="0">
                <a:solidFill>
                  <a:srgbClr val="C00000"/>
                </a:solidFill>
                <a:latin typeface="Times New Roman" panose="02020603050405020304" pitchFamily="18" charset="0"/>
                <a:cs typeface="Times New Roman" panose="02020603050405020304" pitchFamily="18" charset="0"/>
              </a:rPr>
              <a:t>易解的问题</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有多项式时间算法</a:t>
            </a:r>
            <a:r>
              <a:rPr lang="en-US" altLang="zh-CN" sz="2400" b="1" smtClean="0">
                <a:solidFill>
                  <a:schemeClr val="tx1"/>
                </a:solidFill>
                <a:latin typeface="Times New Roman" panose="02020603050405020304" pitchFamily="18" charset="0"/>
                <a:cs typeface="Times New Roman" panose="02020603050405020304" pitchFamily="18" charset="0"/>
              </a:rPr>
              <a:t>.</a:t>
            </a:r>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a:r>
              <a:rPr lang="zh-CN" altLang="en-US" sz="2400" b="1" smtClean="0">
                <a:solidFill>
                  <a:srgbClr val="C00000"/>
                </a:solidFill>
                <a:latin typeface="Times New Roman" panose="02020603050405020304" pitchFamily="18" charset="0"/>
                <a:cs typeface="Times New Roman" panose="02020603050405020304" pitchFamily="18" charset="0"/>
              </a:rPr>
              <a:t>难解的问题</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不存在多项式时间算法</a:t>
            </a:r>
            <a:r>
              <a:rPr lang="en-US" altLang="zh-CN" sz="2400" b="1" smtClean="0">
                <a:solidFill>
                  <a:schemeClr val="tx1"/>
                </a:solidFill>
                <a:latin typeface="Times New Roman" panose="02020603050405020304" pitchFamily="18" charset="0"/>
                <a:cs typeface="Times New Roman" panose="02020603050405020304" pitchFamily="18" charset="0"/>
              </a:rPr>
              <a:t>.</a:t>
            </a:r>
            <a:endParaRPr lang="zh-CN" altLang="en-US" sz="2400" b="1" smtClean="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p:cNvSpPr>
            <a:spLocks noGrp="1"/>
          </p:cNvSpPr>
          <p:nvPr>
            <p:ph type="ctrTitle"/>
          </p:nvPr>
        </p:nvSpPr>
        <p:spPr>
          <a:xfrm>
            <a:off x="687388" y="260350"/>
            <a:ext cx="7772400" cy="865188"/>
          </a:xfrm>
        </p:spPr>
        <p:txBody>
          <a:bodyPr/>
          <a:lstStyle/>
          <a:p>
            <a:pPr eaLnBrk="1" hangingPunct="1"/>
            <a:r>
              <a:rPr lang="zh-CN" altLang="en-US" sz="4000" b="1" smtClean="0">
                <a:solidFill>
                  <a:srgbClr val="C00000"/>
                </a:solidFill>
                <a:latin typeface="Times New Roman" panose="02020603050405020304" pitchFamily="18" charset="0"/>
                <a:cs typeface="Times New Roman" panose="02020603050405020304" pitchFamily="18" charset="0"/>
              </a:rPr>
              <a:t>几点说明</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7171" name="副标题 2"/>
          <p:cNvSpPr>
            <a:spLocks noGrp="1"/>
          </p:cNvSpPr>
          <p:nvPr>
            <p:ph type="subTitle" idx="1"/>
          </p:nvPr>
        </p:nvSpPr>
        <p:spPr>
          <a:xfrm>
            <a:off x="684213" y="1270000"/>
            <a:ext cx="7775575" cy="4751388"/>
          </a:xfrm>
        </p:spPr>
        <p:txBody>
          <a:bodyPr/>
          <a:lstStyle/>
          <a:p>
            <a:pPr algn="l" eaLnBrk="1" hangingPunct="1"/>
            <a:r>
              <a:rPr lang="en-US" altLang="zh-CN" sz="2400" b="1" smtClean="0">
                <a:solidFill>
                  <a:schemeClr val="tx1"/>
                </a:solidFill>
                <a:latin typeface="Times New Roman" panose="02020603050405020304" pitchFamily="18" charset="0"/>
                <a:cs typeface="Times New Roman" panose="02020603050405020304" pitchFamily="18" charset="0"/>
              </a:rPr>
              <a:t>1. </a:t>
            </a:r>
            <a:r>
              <a:rPr lang="zh-CN" altLang="en-US" sz="2400" b="1" smtClean="0">
                <a:solidFill>
                  <a:schemeClr val="tx1"/>
                </a:solidFill>
                <a:latin typeface="Times New Roman" panose="02020603050405020304" pitchFamily="18" charset="0"/>
                <a:cs typeface="Times New Roman" panose="02020603050405020304" pitchFamily="18" charset="0"/>
              </a:rPr>
              <a:t>当采用合理的编码时</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输入的规模都是多项式相关的</a:t>
            </a:r>
            <a:r>
              <a:rPr lang="en-US" altLang="zh-CN" sz="2400" b="1" smtClean="0">
                <a:solidFill>
                  <a:schemeClr val="tx1"/>
                </a:solidFill>
                <a:latin typeface="Times New Roman" panose="02020603050405020304" pitchFamily="18" charset="0"/>
                <a:cs typeface="Times New Roman" panose="02020603050405020304" pitchFamily="18" charset="0"/>
              </a:rPr>
              <a:t>. </a:t>
            </a:r>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eaLnBrk="1" hangingPunct="1"/>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“合理的”是指在编码中不故意使用许多冗余的字符</a:t>
            </a:r>
            <a:r>
              <a:rPr lang="en-US" altLang="zh-CN" sz="2400" b="1" smtClean="0">
                <a:solidFill>
                  <a:schemeClr val="tx1"/>
                </a:solidFill>
                <a:latin typeface="Times New Roman" panose="02020603050405020304" pitchFamily="18" charset="0"/>
                <a:cs typeface="Times New Roman" panose="02020603050405020304" pitchFamily="18" charset="0"/>
              </a:rPr>
              <a:t>.</a:t>
            </a:r>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eaLnBrk="1" hangingPunct="1">
              <a:spcBef>
                <a:spcPts val="1800"/>
              </a:spcBef>
            </a:pPr>
            <a:r>
              <a:rPr lang="zh-CN" altLang="en-US" sz="2400" b="1" smtClean="0">
                <a:solidFill>
                  <a:srgbClr val="C00000"/>
                </a:solidFill>
                <a:latin typeface="Times New Roman" panose="02020603050405020304" pitchFamily="18" charset="0"/>
                <a:cs typeface="Times New Roman" panose="02020603050405020304" pitchFamily="18" charset="0"/>
              </a:rPr>
              <a:t>例如</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设实例 </a:t>
            </a:r>
            <a:r>
              <a:rPr lang="en-US" altLang="zh-CN" sz="2400" b="1" i="1" smtClean="0">
                <a:solidFill>
                  <a:schemeClr val="tx1"/>
                </a:solidFill>
                <a:latin typeface="Times New Roman" panose="02020603050405020304" pitchFamily="18" charset="0"/>
                <a:cs typeface="Times New Roman" panose="02020603050405020304" pitchFamily="18" charset="0"/>
              </a:rPr>
              <a:t>I </a:t>
            </a:r>
            <a:r>
              <a:rPr lang="zh-CN" altLang="en-US" sz="2400" b="1" smtClean="0">
                <a:solidFill>
                  <a:schemeClr val="tx1"/>
                </a:solidFill>
                <a:latin typeface="Times New Roman" panose="02020603050405020304" pitchFamily="18" charset="0"/>
                <a:cs typeface="Times New Roman" panose="02020603050405020304" pitchFamily="18" charset="0"/>
              </a:rPr>
              <a:t>是一个无向简单图 </a:t>
            </a:r>
            <a:r>
              <a:rPr lang="en-US" altLang="zh-CN" sz="2400" b="1" i="1" smtClean="0">
                <a:solidFill>
                  <a:schemeClr val="tx1"/>
                </a:solidFill>
                <a:latin typeface="Times New Roman" panose="02020603050405020304" pitchFamily="18" charset="0"/>
                <a:cs typeface="Times New Roman" panose="02020603050405020304" pitchFamily="18" charset="0"/>
              </a:rPr>
              <a:t>G</a:t>
            </a:r>
            <a:r>
              <a:rPr lang="en-US" altLang="zh-CN" sz="2400" b="1" smtClean="0">
                <a:solidFill>
                  <a:schemeClr val="tx1"/>
                </a:solidFill>
                <a:latin typeface="Times New Roman" panose="02020603050405020304" pitchFamily="18" charset="0"/>
                <a:cs typeface="Times New Roman" panose="02020603050405020304" pitchFamily="18" charset="0"/>
              </a:rPr>
              <a:t>=&lt;</a:t>
            </a:r>
            <a:r>
              <a:rPr lang="en-US" altLang="zh-CN" sz="2400" b="1" i="1" smtClean="0">
                <a:solidFill>
                  <a:schemeClr val="tx1"/>
                </a:solidFill>
                <a:latin typeface="Times New Roman" panose="02020603050405020304" pitchFamily="18" charset="0"/>
                <a:cs typeface="Times New Roman" panose="02020603050405020304" pitchFamily="18" charset="0"/>
              </a:rPr>
              <a:t>V</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E</a:t>
            </a:r>
            <a:r>
              <a:rPr lang="en-US" altLang="zh-CN" sz="2400" b="1" smtClean="0">
                <a:solidFill>
                  <a:schemeClr val="tx1"/>
                </a:solidFill>
                <a:latin typeface="Times New Roman" panose="02020603050405020304" pitchFamily="18" charset="0"/>
                <a:cs typeface="Times New Roman" panose="02020603050405020304" pitchFamily="18" charset="0"/>
              </a:rPr>
              <a:t>&gt;, </a:t>
            </a:r>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eaLnBrk="1" hangingPunct="1"/>
            <a:r>
              <a:rPr lang="en-US" altLang="zh-CN" sz="2400" b="1" i="1" smtClean="0">
                <a:solidFill>
                  <a:schemeClr val="tx1"/>
                </a:solidFill>
                <a:latin typeface="Times New Roman" panose="02020603050405020304" pitchFamily="18" charset="0"/>
                <a:cs typeface="Times New Roman" panose="02020603050405020304" pitchFamily="18" charset="0"/>
              </a:rPr>
              <a:t>           V </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a</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rPr>
              <a:t>b</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rPr>
              <a:t>c</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rPr>
              <a:t>d</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rPr>
              <a:t>E</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a</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rPr>
              <a:t>b</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rPr>
              <a:t>a</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rPr>
              <a:t>d</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rPr>
              <a:t>b</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rPr>
              <a:t>c</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rPr>
              <a:t>b</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rPr>
              <a:t>d</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rPr>
              <a:t>c</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rPr>
              <a:t>d</a:t>
            </a:r>
            <a:r>
              <a:rPr lang="en-US" altLang="zh-CN" sz="2400" b="1" smtClean="0">
                <a:solidFill>
                  <a:schemeClr val="tx1"/>
                </a:solidFill>
                <a:latin typeface="Times New Roman" panose="02020603050405020304" pitchFamily="18" charset="0"/>
                <a:cs typeface="Times New Roman" panose="02020603050405020304" pitchFamily="18" charset="0"/>
              </a:rPr>
              <a:t>)}. </a:t>
            </a:r>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eaLnBrk="1" hangingPunct="1"/>
            <a:r>
              <a:rPr lang="zh-CN" altLang="en-US" sz="2400" b="1" smtClean="0">
                <a:solidFill>
                  <a:schemeClr val="tx1"/>
                </a:solidFill>
                <a:latin typeface="Times New Roman" panose="02020603050405020304" pitchFamily="18" charset="0"/>
                <a:cs typeface="Times New Roman" panose="02020603050405020304" pitchFamily="18" charset="0"/>
              </a:rPr>
              <a:t>若用邻接矩阵表示</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则编码</a:t>
            </a:r>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eaLnBrk="1" hangingPunct="1">
              <a:spcBef>
                <a:spcPct val="0"/>
              </a:spcBef>
            </a:pPr>
            <a:r>
              <a:rPr lang="en-US" altLang="zh-CN" sz="2400" b="1" i="1" smtClean="0">
                <a:solidFill>
                  <a:schemeClr val="tx1"/>
                </a:solidFill>
                <a:latin typeface="Times New Roman" panose="02020603050405020304" pitchFamily="18" charset="0"/>
                <a:cs typeface="Times New Roman" panose="02020603050405020304" pitchFamily="18" charset="0"/>
              </a:rPr>
              <a:t>                  e</a:t>
            </a:r>
            <a:r>
              <a:rPr lang="en-US" altLang="zh-CN" sz="2400" b="1" baseline="-25000" smtClean="0">
                <a:solidFill>
                  <a:schemeClr val="tx1"/>
                </a:solidFill>
                <a:latin typeface="Times New Roman" panose="02020603050405020304" pitchFamily="18" charset="0"/>
                <a:cs typeface="Times New Roman" panose="02020603050405020304" pitchFamily="18" charset="0"/>
              </a:rPr>
              <a:t>1 </a:t>
            </a:r>
            <a:r>
              <a:rPr lang="en-US" altLang="zh-CN" sz="2400" b="1" smtClean="0">
                <a:solidFill>
                  <a:schemeClr val="tx1"/>
                </a:solidFill>
                <a:latin typeface="Times New Roman" panose="02020603050405020304" pitchFamily="18" charset="0"/>
                <a:cs typeface="Times New Roman" panose="02020603050405020304" pitchFamily="18" charset="0"/>
              </a:rPr>
              <a:t>= 0101/1011/0101/1110/,  </a:t>
            </a:r>
            <a:r>
              <a:rPr lang="zh-CN" altLang="en-US" sz="2400" b="1" smtClean="0">
                <a:solidFill>
                  <a:schemeClr val="tx1"/>
                </a:solidFill>
                <a:latin typeface="Times New Roman" panose="02020603050405020304" pitchFamily="18" charset="0"/>
                <a:cs typeface="Times New Roman" panose="02020603050405020304" pitchFamily="18" charset="0"/>
              </a:rPr>
              <a:t>长度为 </a:t>
            </a:r>
            <a:r>
              <a:rPr lang="en-US" altLang="zh-CN" sz="2400" b="1" smtClean="0">
                <a:solidFill>
                  <a:schemeClr val="tx1"/>
                </a:solidFill>
                <a:latin typeface="Times New Roman" panose="02020603050405020304" pitchFamily="18" charset="0"/>
                <a:cs typeface="Times New Roman" panose="02020603050405020304" pitchFamily="18" charset="0"/>
              </a:rPr>
              <a:t>20. </a:t>
            </a:r>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eaLnBrk="1" hangingPunct="1"/>
            <a:r>
              <a:rPr lang="zh-CN" altLang="en-US" sz="2400" b="1" smtClean="0">
                <a:solidFill>
                  <a:schemeClr val="tx1"/>
                </a:solidFill>
                <a:latin typeface="Times New Roman" panose="02020603050405020304" pitchFamily="18" charset="0"/>
                <a:cs typeface="Times New Roman" panose="02020603050405020304" pitchFamily="18" charset="0"/>
              </a:rPr>
              <a:t>若用关联矩阵表示</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则编码                    </a:t>
            </a:r>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eaLnBrk="1" hangingPunct="1"/>
            <a:r>
              <a:rPr lang="en-US" altLang="zh-CN" sz="2400" b="1" i="1" smtClean="0">
                <a:solidFill>
                  <a:schemeClr val="tx1"/>
                </a:solidFill>
                <a:latin typeface="Times New Roman" panose="02020603050405020304" pitchFamily="18" charset="0"/>
                <a:cs typeface="Times New Roman" panose="02020603050405020304" pitchFamily="18" charset="0"/>
              </a:rPr>
              <a:t>               e</a:t>
            </a:r>
            <a:r>
              <a:rPr lang="en-US" altLang="zh-CN" sz="2400" b="1" baseline="-25000" smtClean="0">
                <a:solidFill>
                  <a:schemeClr val="tx1"/>
                </a:solidFill>
                <a:latin typeface="Times New Roman" panose="02020603050405020304" pitchFamily="18" charset="0"/>
                <a:cs typeface="Times New Roman" panose="02020603050405020304" pitchFamily="18" charset="0"/>
              </a:rPr>
              <a:t>2 </a:t>
            </a:r>
            <a:r>
              <a:rPr lang="en-US" altLang="zh-CN" sz="2400" b="1" smtClean="0">
                <a:solidFill>
                  <a:schemeClr val="tx1"/>
                </a:solidFill>
                <a:latin typeface="Times New Roman" panose="02020603050405020304" pitchFamily="18" charset="0"/>
                <a:cs typeface="Times New Roman" panose="02020603050405020304" pitchFamily="18" charset="0"/>
              </a:rPr>
              <a:t>= 11000/10110/00101/01011/,  </a:t>
            </a:r>
            <a:r>
              <a:rPr lang="zh-CN" altLang="en-US" sz="2400" b="1" smtClean="0">
                <a:solidFill>
                  <a:schemeClr val="tx1"/>
                </a:solidFill>
                <a:latin typeface="Times New Roman" panose="02020603050405020304" pitchFamily="18" charset="0"/>
                <a:cs typeface="Times New Roman" panose="02020603050405020304" pitchFamily="18" charset="0"/>
              </a:rPr>
              <a:t>长度为 </a:t>
            </a:r>
            <a:r>
              <a:rPr lang="en-US" altLang="zh-CN" sz="2400" b="1" smtClean="0">
                <a:solidFill>
                  <a:schemeClr val="tx1"/>
                </a:solidFill>
                <a:latin typeface="Times New Roman" panose="02020603050405020304" pitchFamily="18" charset="0"/>
                <a:cs typeface="Times New Roman" panose="02020603050405020304" pitchFamily="18" charset="0"/>
              </a:rPr>
              <a:t>24.</a:t>
            </a:r>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eaLnBrk="1" hangingPunct="1">
              <a:spcBef>
                <a:spcPts val="1800"/>
              </a:spcBef>
            </a:pPr>
            <a:r>
              <a:rPr lang="zh-CN" altLang="en-US" sz="2400" b="1" smtClean="0">
                <a:solidFill>
                  <a:schemeClr val="tx1"/>
                </a:solidFill>
                <a:latin typeface="Times New Roman" panose="02020603050405020304" pitchFamily="18" charset="0"/>
                <a:cs typeface="Times New Roman" panose="02020603050405020304" pitchFamily="18" charset="0"/>
              </a:rPr>
              <a:t>设 </a:t>
            </a:r>
            <a:r>
              <a:rPr lang="en-US" altLang="zh-CN" sz="2400" b="1" i="1" smtClean="0">
                <a:solidFill>
                  <a:schemeClr val="tx1"/>
                </a:solidFill>
                <a:latin typeface="Times New Roman" panose="02020603050405020304" pitchFamily="18" charset="0"/>
                <a:cs typeface="Times New Roman" panose="02020603050405020304" pitchFamily="18" charset="0"/>
              </a:rPr>
              <a:t>G </a:t>
            </a:r>
            <a:r>
              <a:rPr lang="zh-CN" altLang="en-US" sz="2400" b="1" smtClean="0">
                <a:solidFill>
                  <a:schemeClr val="tx1"/>
                </a:solidFill>
                <a:latin typeface="Times New Roman" panose="02020603050405020304" pitchFamily="18" charset="0"/>
                <a:cs typeface="Times New Roman" panose="02020603050405020304" pitchFamily="18" charset="0"/>
              </a:rPr>
              <a:t>有 </a:t>
            </a:r>
            <a:r>
              <a:rPr lang="en-US" altLang="zh-CN" sz="2400" b="1" i="1" smtClean="0">
                <a:solidFill>
                  <a:schemeClr val="tx1"/>
                </a:solidFill>
                <a:latin typeface="Times New Roman" panose="02020603050405020304" pitchFamily="18" charset="0"/>
                <a:cs typeface="Times New Roman" panose="02020603050405020304" pitchFamily="18" charset="0"/>
              </a:rPr>
              <a:t>n </a:t>
            </a:r>
            <a:r>
              <a:rPr lang="zh-CN" altLang="en-US" sz="2400" b="1" smtClean="0">
                <a:solidFill>
                  <a:schemeClr val="tx1"/>
                </a:solidFill>
                <a:latin typeface="Times New Roman" panose="02020603050405020304" pitchFamily="18" charset="0"/>
                <a:cs typeface="Times New Roman" panose="02020603050405020304" pitchFamily="18" charset="0"/>
              </a:rPr>
              <a:t>个顶点 </a:t>
            </a:r>
            <a:r>
              <a:rPr lang="en-US" altLang="zh-CN" sz="2400" b="1" i="1" smtClean="0">
                <a:solidFill>
                  <a:schemeClr val="tx1"/>
                </a:solidFill>
                <a:latin typeface="Times New Roman" panose="02020603050405020304" pitchFamily="18" charset="0"/>
                <a:cs typeface="Times New Roman" panose="02020603050405020304" pitchFamily="18" charset="0"/>
              </a:rPr>
              <a:t>m</a:t>
            </a:r>
            <a:r>
              <a:rPr lang="zh-CN" altLang="en-US" sz="2400" b="1" smtClean="0">
                <a:solidFill>
                  <a:schemeClr val="tx1"/>
                </a:solidFill>
                <a:latin typeface="Times New Roman" panose="02020603050405020304" pitchFamily="18" charset="0"/>
                <a:cs typeface="Times New Roman" panose="02020603050405020304" pitchFamily="18" charset="0"/>
              </a:rPr>
              <a:t>条边</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则用邻接矩阵时 </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rPr>
              <a:t>I </a:t>
            </a:r>
            <a:r>
              <a:rPr lang="en-US" altLang="zh-CN" sz="2400" b="1" smtClean="0">
                <a:solidFill>
                  <a:schemeClr val="tx1"/>
                </a:solidFill>
                <a:latin typeface="Times New Roman" panose="02020603050405020304" pitchFamily="18" charset="0"/>
                <a:cs typeface="Times New Roman" panose="02020603050405020304" pitchFamily="18" charset="0"/>
              </a:rPr>
              <a:t>| = </a:t>
            </a:r>
            <a:r>
              <a:rPr lang="en-US" altLang="zh-CN" sz="2400" b="1" i="1" smtClean="0">
                <a:solidFill>
                  <a:schemeClr val="tx1"/>
                </a:solidFill>
                <a:latin typeface="Times New Roman" panose="02020603050405020304" pitchFamily="18" charset="0"/>
                <a:cs typeface="Times New Roman" panose="02020603050405020304" pitchFamily="18" charset="0"/>
              </a:rPr>
              <a:t>n</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n</a:t>
            </a:r>
            <a:r>
              <a:rPr lang="en-US" altLang="zh-CN" sz="2400" b="1" smtClean="0">
                <a:solidFill>
                  <a:schemeClr val="tx1"/>
                </a:solidFill>
                <a:latin typeface="Times New Roman" panose="02020603050405020304" pitchFamily="18" charset="0"/>
                <a:cs typeface="Times New Roman" panose="02020603050405020304" pitchFamily="18" charset="0"/>
              </a:rPr>
              <a:t>+1),  </a:t>
            </a:r>
            <a:r>
              <a:rPr lang="zh-CN" altLang="en-US" sz="2400" b="1" smtClean="0">
                <a:solidFill>
                  <a:schemeClr val="tx1"/>
                </a:solidFill>
                <a:latin typeface="Times New Roman" panose="02020603050405020304" pitchFamily="18" charset="0"/>
                <a:cs typeface="Times New Roman" panose="02020603050405020304" pitchFamily="18" charset="0"/>
              </a:rPr>
              <a:t>用关联矩阵时 </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rPr>
              <a:t>I </a:t>
            </a:r>
            <a:r>
              <a:rPr lang="en-US" altLang="zh-CN" sz="2400" b="1" smtClean="0">
                <a:solidFill>
                  <a:schemeClr val="tx1"/>
                </a:solidFill>
                <a:latin typeface="Times New Roman" panose="02020603050405020304" pitchFamily="18" charset="0"/>
                <a:cs typeface="Times New Roman" panose="02020603050405020304" pitchFamily="18" charset="0"/>
              </a:rPr>
              <a:t>| = </a:t>
            </a:r>
            <a:r>
              <a:rPr lang="en-US" altLang="zh-CN" sz="2400" b="1" i="1" smtClean="0">
                <a:solidFill>
                  <a:schemeClr val="tx1"/>
                </a:solidFill>
                <a:latin typeface="Times New Roman" panose="02020603050405020304" pitchFamily="18" charset="0"/>
                <a:cs typeface="Times New Roman" panose="02020603050405020304" pitchFamily="18" charset="0"/>
              </a:rPr>
              <a:t>n</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m</a:t>
            </a:r>
            <a:r>
              <a:rPr lang="en-US" altLang="zh-CN" sz="2400" b="1" smtClean="0">
                <a:solidFill>
                  <a:schemeClr val="tx1"/>
                </a:solidFill>
                <a:latin typeface="Times New Roman" panose="02020603050405020304" pitchFamily="18" charset="0"/>
                <a:cs typeface="Times New Roman" panose="02020603050405020304" pitchFamily="18" charset="0"/>
              </a:rPr>
              <a:t>+1).  </a:t>
            </a:r>
            <a:r>
              <a:rPr lang="zh-CN" altLang="en-US" sz="2400" b="1" smtClean="0">
                <a:solidFill>
                  <a:schemeClr val="tx1"/>
                </a:solidFill>
                <a:latin typeface="Times New Roman" panose="02020603050405020304" pitchFamily="18" charset="0"/>
                <a:cs typeface="Times New Roman" panose="02020603050405020304" pitchFamily="18" charset="0"/>
              </a:rPr>
              <a:t>两者是多项式相关的</a:t>
            </a:r>
            <a:r>
              <a:rPr lang="en-US" altLang="zh-CN" sz="2400" b="1" smtClean="0">
                <a:solidFill>
                  <a:schemeClr val="tx1"/>
                </a:solidFill>
                <a:latin typeface="Times New Roman" panose="02020603050405020304" pitchFamily="18" charset="0"/>
                <a:cs typeface="Times New Roman" panose="02020603050405020304" pitchFamily="18" charset="0"/>
              </a:rPr>
              <a:t>. </a:t>
            </a:r>
            <a:endParaRPr lang="en-US" altLang="zh-CN" sz="2400" b="1" smtClean="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ctrTitle"/>
          </p:nvPr>
        </p:nvSpPr>
        <p:spPr>
          <a:xfrm>
            <a:off x="684213" y="333375"/>
            <a:ext cx="7772400" cy="865188"/>
          </a:xfrm>
        </p:spPr>
        <p:txBody>
          <a:bodyPr/>
          <a:lstStyle/>
          <a:p>
            <a:pPr eaLnBrk="1" hangingPunct="1"/>
            <a:r>
              <a:rPr lang="zh-CN" altLang="en-US" sz="4000" b="1" smtClean="0">
                <a:solidFill>
                  <a:srgbClr val="C00000"/>
                </a:solidFill>
                <a:latin typeface="Times New Roman" panose="02020603050405020304" pitchFamily="18" charset="0"/>
                <a:cs typeface="Times New Roman" panose="02020603050405020304" pitchFamily="18" charset="0"/>
              </a:rPr>
              <a:t>几点说明</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8195" name="副标题 2"/>
          <p:cNvSpPr>
            <a:spLocks noGrp="1"/>
          </p:cNvSpPr>
          <p:nvPr>
            <p:ph type="subTitle" idx="1"/>
          </p:nvPr>
        </p:nvSpPr>
        <p:spPr>
          <a:xfrm>
            <a:off x="684213" y="1341438"/>
            <a:ext cx="7775575" cy="4535487"/>
          </a:xfrm>
        </p:spPr>
        <p:txBody>
          <a:bodyPr/>
          <a:lstStyle/>
          <a:p>
            <a:pPr algn="l" eaLnBrk="1" hangingPunct="1"/>
            <a:r>
              <a:rPr lang="en-US" altLang="zh-CN" sz="2400" b="1" smtClean="0">
                <a:solidFill>
                  <a:schemeClr val="tx1"/>
                </a:solidFill>
                <a:latin typeface="Times New Roman" panose="02020603050405020304" pitchFamily="18" charset="0"/>
                <a:cs typeface="Times New Roman" panose="02020603050405020304" pitchFamily="18" charset="0"/>
              </a:rPr>
              <a:t>2.  </a:t>
            </a:r>
            <a:r>
              <a:rPr lang="zh-CN" altLang="en-US" sz="2400" b="1" smtClean="0">
                <a:solidFill>
                  <a:schemeClr val="tx1"/>
                </a:solidFill>
                <a:latin typeface="Times New Roman" panose="02020603050405020304" pitchFamily="18" charset="0"/>
                <a:cs typeface="Times New Roman" panose="02020603050405020304" pitchFamily="18" charset="0"/>
              </a:rPr>
              <a:t>自然数应采用 </a:t>
            </a:r>
            <a:r>
              <a:rPr lang="en-US" altLang="zh-CN" sz="2400" b="1" i="1" smtClean="0">
                <a:solidFill>
                  <a:schemeClr val="tx1"/>
                </a:solidFill>
                <a:latin typeface="Times New Roman" panose="02020603050405020304" pitchFamily="18" charset="0"/>
                <a:cs typeface="Times New Roman" panose="02020603050405020304" pitchFamily="18" charset="0"/>
              </a:rPr>
              <a:t>k</a:t>
            </a:r>
            <a:r>
              <a:rPr lang="zh-CN" altLang="en-US" sz="2400" b="1" smtClean="0">
                <a:solidFill>
                  <a:schemeClr val="tx1"/>
                </a:solidFill>
                <a:latin typeface="Times New Roman" panose="02020603050405020304" pitchFamily="18" charset="0"/>
                <a:cs typeface="Times New Roman" panose="02020603050405020304" pitchFamily="18" charset="0"/>
              </a:rPr>
              <a:t> </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k</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solidFill>
                  <a:schemeClr val="tx1"/>
                </a:solidFill>
                <a:latin typeface="Times New Roman" panose="02020603050405020304" pitchFamily="18" charset="0"/>
                <a:cs typeface="Times New Roman" panose="02020603050405020304" pitchFamily="18" charset="0"/>
              </a:rPr>
              <a:t>2)</a:t>
            </a:r>
            <a:r>
              <a:rPr lang="zh-CN" altLang="en-US" sz="2400" b="1" smtClean="0">
                <a:solidFill>
                  <a:schemeClr val="tx1"/>
                </a:solidFill>
                <a:latin typeface="Times New Roman" panose="02020603050405020304" pitchFamily="18" charset="0"/>
                <a:cs typeface="Times New Roman" panose="02020603050405020304" pitchFamily="18" charset="0"/>
              </a:rPr>
              <a:t>进制编码</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不能采用一进制编码</a:t>
            </a:r>
            <a:r>
              <a:rPr lang="en-US" altLang="zh-CN" sz="2400" b="1" smtClean="0">
                <a:solidFill>
                  <a:schemeClr val="tx1"/>
                </a:solidFill>
                <a:latin typeface="Times New Roman" panose="02020603050405020304" pitchFamily="18" charset="0"/>
                <a:cs typeface="Times New Roman" panose="02020603050405020304" pitchFamily="18" charset="0"/>
              </a:rPr>
              <a:t>. </a:t>
            </a:r>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eaLnBrk="1" hangingPunct="1"/>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rPr>
              <a:t>n </a:t>
            </a:r>
            <a:r>
              <a:rPr lang="zh-CN" altLang="en-US" sz="2400" b="1" smtClean="0">
                <a:solidFill>
                  <a:schemeClr val="tx1"/>
                </a:solidFill>
                <a:latin typeface="Times New Roman" panose="02020603050405020304" pitchFamily="18" charset="0"/>
                <a:cs typeface="Times New Roman" panose="02020603050405020304" pitchFamily="18" charset="0"/>
              </a:rPr>
              <a:t>的二进制编码有 </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solidFill>
                  <a:schemeClr val="tx1"/>
                </a:solidFill>
                <a:latin typeface="Times New Roman" panose="02020603050405020304" pitchFamily="18" charset="0"/>
                <a:cs typeface="Times New Roman" panose="02020603050405020304" pitchFamily="18" charset="0"/>
              </a:rPr>
              <a:t>log</a:t>
            </a:r>
            <a:r>
              <a:rPr lang="en-US" altLang="zh-CN" sz="2400" b="1" baseline="-25000" smtClean="0">
                <a:solidFill>
                  <a:schemeClr val="tx1"/>
                </a:solidFill>
                <a:latin typeface="Times New Roman" panose="02020603050405020304" pitchFamily="18" charset="0"/>
                <a:cs typeface="Times New Roman" panose="02020603050405020304" pitchFamily="18" charset="0"/>
              </a:rPr>
              <a:t>2</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n</a:t>
            </a:r>
            <a:r>
              <a:rPr lang="en-US" altLang="zh-CN" sz="2400" b="1" smtClean="0">
                <a:solidFill>
                  <a:schemeClr val="tx1"/>
                </a:solidFill>
                <a:latin typeface="Times New Roman" panose="02020603050405020304" pitchFamily="18" charset="0"/>
                <a:cs typeface="Times New Roman" panose="02020603050405020304" pitchFamily="18" charset="0"/>
              </a:rPr>
              <a:t>+1)</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smtClean="0">
                <a:solidFill>
                  <a:schemeClr val="tx1"/>
                </a:solidFill>
                <a:latin typeface="Times New Roman" panose="02020603050405020304" pitchFamily="18" charset="0"/>
                <a:cs typeface="Times New Roman" panose="02020603050405020304" pitchFamily="18" charset="0"/>
              </a:rPr>
              <a:t>位</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一进制编码有 </a:t>
            </a:r>
            <a:r>
              <a:rPr lang="en-US" altLang="zh-CN" sz="2400" b="1" i="1" smtClean="0">
                <a:solidFill>
                  <a:schemeClr val="tx1"/>
                </a:solidFill>
                <a:latin typeface="Times New Roman" panose="02020603050405020304" pitchFamily="18" charset="0"/>
                <a:cs typeface="Times New Roman" panose="02020603050405020304" pitchFamily="18" charset="0"/>
              </a:rPr>
              <a:t>n </a:t>
            </a:r>
            <a:r>
              <a:rPr lang="zh-CN" altLang="en-US" sz="2400" b="1" smtClean="0">
                <a:solidFill>
                  <a:schemeClr val="tx1"/>
                </a:solidFill>
                <a:latin typeface="Times New Roman" panose="02020603050405020304" pitchFamily="18" charset="0"/>
                <a:cs typeface="Times New Roman" panose="02020603050405020304" pitchFamily="18" charset="0"/>
              </a:rPr>
              <a:t>位</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两者不是多项式相关的</a:t>
            </a:r>
            <a:r>
              <a:rPr lang="en-US" altLang="zh-CN" sz="2400" b="1" smtClean="0">
                <a:solidFill>
                  <a:schemeClr val="tx1"/>
                </a:solidFill>
                <a:latin typeface="Times New Roman" panose="02020603050405020304" pitchFamily="18" charset="0"/>
                <a:cs typeface="Times New Roman" panose="02020603050405020304" pitchFamily="18" charset="0"/>
              </a:rPr>
              <a:t>. </a:t>
            </a:r>
            <a:endParaRPr lang="zh-CN" altLang="en-US" sz="2400" b="1" smtClean="0">
              <a:solidFill>
                <a:schemeClr val="tx1"/>
              </a:solidFill>
              <a:latin typeface="Times New Roman" panose="02020603050405020304" pitchFamily="18" charset="0"/>
              <a:cs typeface="Times New Roman" panose="02020603050405020304" pitchFamily="18" charset="0"/>
            </a:endParaRPr>
          </a:p>
          <a:p>
            <a:pPr algn="l" eaLnBrk="1" hangingPunct="1">
              <a:spcBef>
                <a:spcPts val="1800"/>
              </a:spcBef>
            </a:pPr>
            <a:r>
              <a:rPr lang="en-US" altLang="zh-CN" sz="2400" b="1" smtClean="0">
                <a:solidFill>
                  <a:schemeClr val="tx1"/>
                </a:solidFill>
                <a:latin typeface="Times New Roman" panose="02020603050405020304" pitchFamily="18" charset="0"/>
                <a:cs typeface="Times New Roman" panose="02020603050405020304" pitchFamily="18" charset="0"/>
              </a:rPr>
              <a:t>3. </a:t>
            </a:r>
            <a:r>
              <a:rPr lang="zh-CN" altLang="en-US" sz="2400" b="1" smtClean="0">
                <a:solidFill>
                  <a:schemeClr val="tx1"/>
                </a:solidFill>
                <a:latin typeface="Times New Roman" panose="02020603050405020304" pitchFamily="18" charset="0"/>
                <a:cs typeface="Times New Roman" panose="02020603050405020304" pitchFamily="18" charset="0"/>
              </a:rPr>
              <a:t>时间复杂度常表成</a:t>
            </a:r>
            <a:r>
              <a:rPr lang="zh-CN" altLang="en-US" sz="2400" b="1" smtClean="0">
                <a:solidFill>
                  <a:schemeClr val="tx1"/>
                </a:solidFill>
              </a:rPr>
              <a:t>计算对象的某些自然参数的函数</a:t>
            </a:r>
            <a:r>
              <a:rPr lang="en-US" altLang="zh-CN" sz="2400" b="1" smtClean="0">
                <a:solidFill>
                  <a:schemeClr val="tx1"/>
                </a:solidFill>
              </a:rPr>
              <a:t>, </a:t>
            </a:r>
            <a:r>
              <a:rPr lang="zh-CN" altLang="en-US" sz="2400" b="1" smtClean="0">
                <a:solidFill>
                  <a:schemeClr val="tx1"/>
                </a:solidFill>
              </a:rPr>
              <a:t>如图的顶点数或顶点数与边数的函数</a:t>
            </a:r>
            <a:r>
              <a:rPr lang="en-US" altLang="zh-CN" sz="2400" b="1" smtClean="0">
                <a:solidFill>
                  <a:schemeClr val="tx1"/>
                </a:solidFill>
              </a:rPr>
              <a:t>. </a:t>
            </a:r>
            <a:endParaRPr lang="en-US" altLang="zh-CN" sz="2400" b="1" smtClean="0">
              <a:solidFill>
                <a:schemeClr val="tx1"/>
              </a:solidFill>
            </a:endParaRPr>
          </a:p>
          <a:p>
            <a:pPr algn="l" eaLnBrk="1" hangingPunct="1"/>
            <a:r>
              <a:rPr lang="zh-CN" altLang="en-US" sz="2400" b="1" smtClean="0">
                <a:solidFill>
                  <a:schemeClr val="tx1"/>
                </a:solidFill>
              </a:rPr>
              <a:t>实例的二进制编码的长度与这些自然参数通常都是多项式相关的</a:t>
            </a:r>
            <a:r>
              <a:rPr lang="en-US" altLang="zh-CN" sz="2400" b="1" smtClean="0">
                <a:solidFill>
                  <a:schemeClr val="tx1"/>
                </a:solidFill>
              </a:rPr>
              <a:t>.</a:t>
            </a:r>
            <a:endParaRPr lang="en-US" altLang="zh-CN" sz="2400" b="1" smtClean="0">
              <a:solidFill>
                <a:schemeClr val="tx1"/>
              </a:solidFill>
            </a:endParaRPr>
          </a:p>
          <a:p>
            <a:pPr algn="l" eaLnBrk="1" hangingPunct="1">
              <a:spcBef>
                <a:spcPts val="1800"/>
              </a:spcBef>
            </a:pPr>
            <a:r>
              <a:rPr lang="en-US" altLang="zh-CN" sz="2400" b="1" smtClean="0">
                <a:solidFill>
                  <a:schemeClr val="tx1"/>
                </a:solidFill>
                <a:latin typeface="Times New Roman" panose="02020603050405020304" pitchFamily="18" charset="0"/>
                <a:cs typeface="Times New Roman" panose="02020603050405020304" pitchFamily="18" charset="0"/>
              </a:rPr>
              <a:t>4. </a:t>
            </a:r>
            <a:r>
              <a:rPr lang="zh-CN" altLang="en-US" sz="2400" b="1" smtClean="0">
                <a:solidFill>
                  <a:schemeClr val="tx1"/>
                </a:solidFill>
              </a:rPr>
              <a:t>关于操作指令集的两点说明</a:t>
            </a:r>
            <a:r>
              <a:rPr lang="en-US" altLang="zh-CN" sz="2400" b="1" smtClean="0">
                <a:solidFill>
                  <a:schemeClr val="tx1"/>
                </a:solidFill>
              </a:rPr>
              <a:t>.  </a:t>
            </a:r>
            <a:r>
              <a:rPr lang="zh-CN" altLang="en-US" sz="2400" b="1" smtClean="0">
                <a:solidFill>
                  <a:schemeClr val="tx1"/>
                </a:solidFill>
              </a:rPr>
              <a:t>运行时间通常是计算执行的操作指令数</a:t>
            </a:r>
            <a:r>
              <a:rPr lang="en-US" altLang="zh-CN" sz="2400" b="1" smtClean="0">
                <a:solidFill>
                  <a:schemeClr val="tx1"/>
                </a:solidFill>
              </a:rPr>
              <a:t>, </a:t>
            </a:r>
            <a:r>
              <a:rPr lang="zh-CN" altLang="en-US" sz="2400" b="1" smtClean="0">
                <a:solidFill>
                  <a:schemeClr val="tx1"/>
                </a:solidFill>
              </a:rPr>
              <a:t>这就要求执行的指令数与实际的运行时间是多项式相关的</a:t>
            </a:r>
            <a:r>
              <a:rPr lang="en-US" altLang="zh-CN" sz="2400" b="1" smtClean="0">
                <a:solidFill>
                  <a:schemeClr val="tx1"/>
                </a:solidFill>
              </a:rPr>
              <a:t>.</a:t>
            </a:r>
            <a:endParaRPr lang="en-US" altLang="zh-CN" sz="2400" b="1" smtClean="0">
              <a:solidFill>
                <a:schemeClr val="tx1"/>
              </a:solidFill>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p:cNvSpPr>
            <a:spLocks noGrp="1"/>
          </p:cNvSpPr>
          <p:nvPr>
            <p:ph type="ctrTitle"/>
          </p:nvPr>
        </p:nvSpPr>
        <p:spPr>
          <a:xfrm>
            <a:off x="685800" y="476250"/>
            <a:ext cx="7772400" cy="865188"/>
          </a:xfrm>
        </p:spPr>
        <p:txBody>
          <a:bodyPr/>
          <a:lstStyle/>
          <a:p>
            <a:pPr eaLnBrk="1" hangingPunct="1"/>
            <a:r>
              <a:rPr lang="zh-CN" altLang="en-US" sz="4000" b="1" smtClean="0">
                <a:solidFill>
                  <a:srgbClr val="C00000"/>
                </a:solidFill>
                <a:latin typeface="Times New Roman" panose="02020603050405020304" pitchFamily="18" charset="0"/>
                <a:cs typeface="Times New Roman" panose="02020603050405020304" pitchFamily="18" charset="0"/>
              </a:rPr>
              <a:t>几点说明</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9219" name="副标题 2"/>
          <p:cNvSpPr>
            <a:spLocks noGrp="1"/>
          </p:cNvSpPr>
          <p:nvPr>
            <p:ph type="subTitle" idx="1"/>
          </p:nvPr>
        </p:nvSpPr>
        <p:spPr>
          <a:xfrm>
            <a:off x="684213" y="1484313"/>
            <a:ext cx="7775575" cy="4679950"/>
          </a:xfrm>
        </p:spPr>
        <p:txBody>
          <a:bodyPr/>
          <a:lstStyle/>
          <a:p>
            <a:pPr algn="l" eaLnBrk="1" hangingPunct="1"/>
            <a:r>
              <a:rPr lang="en-US" altLang="zh-CN" sz="2400" b="1" smtClean="0">
                <a:solidFill>
                  <a:schemeClr val="tx1"/>
                </a:solidFill>
                <a:latin typeface="Times New Roman" panose="02020603050405020304" pitchFamily="18" charset="0"/>
                <a:cs typeface="Times New Roman" panose="02020603050405020304" pitchFamily="18" charset="0"/>
              </a:rPr>
              <a:t>4.1 </a:t>
            </a:r>
            <a:r>
              <a:rPr lang="zh-CN" altLang="en-US" sz="2400" b="1" smtClean="0">
                <a:solidFill>
                  <a:schemeClr val="tx1"/>
                </a:solidFill>
              </a:rPr>
              <a:t>要求每一条指令的执行时间是固定的常数</a:t>
            </a:r>
            <a:r>
              <a:rPr lang="en-US" altLang="zh-CN" sz="2400" b="1" smtClean="0">
                <a:solidFill>
                  <a:schemeClr val="tx1"/>
                </a:solidFill>
              </a:rPr>
              <a:t>. </a:t>
            </a:r>
            <a:r>
              <a:rPr lang="zh-CN" altLang="en-US" sz="2400" b="1" smtClean="0">
                <a:solidFill>
                  <a:schemeClr val="tx1"/>
                </a:solidFill>
              </a:rPr>
              <a:t>例如</a:t>
            </a:r>
            <a:r>
              <a:rPr lang="en-US" altLang="zh-CN" sz="2400" b="1" smtClean="0">
                <a:solidFill>
                  <a:schemeClr val="tx1"/>
                </a:solidFill>
              </a:rPr>
              <a:t>, </a:t>
            </a:r>
            <a:r>
              <a:rPr lang="en-US" altLang="zh-CN" sz="2400" b="1" smtClean="0">
                <a:solidFill>
                  <a:schemeClr val="tx1"/>
                </a:solidFill>
                <a:latin typeface="Times New Roman" panose="02020603050405020304" pitchFamily="18" charset="0"/>
                <a:cs typeface="Times New Roman" panose="02020603050405020304" pitchFamily="18" charset="0"/>
              </a:rPr>
              <a:t>2</a:t>
            </a:r>
            <a:r>
              <a:rPr lang="zh-CN" altLang="en-US" sz="2400" b="1" smtClean="0">
                <a:solidFill>
                  <a:schemeClr val="tx1"/>
                </a:solidFill>
                <a:latin typeface="Times New Roman" panose="02020603050405020304" pitchFamily="18" charset="0"/>
                <a:cs typeface="Times New Roman" panose="02020603050405020304" pitchFamily="18" charset="0"/>
              </a:rPr>
              <a:t>个不超过计算机字长的二进制数的四则运算是一条合理的指令</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而</a:t>
            </a:r>
            <a:r>
              <a:rPr lang="en-US" altLang="zh-CN" sz="2400" b="1" smtClean="0">
                <a:solidFill>
                  <a:schemeClr val="tx1"/>
                </a:solidFill>
                <a:latin typeface="Times New Roman" panose="02020603050405020304" pitchFamily="18" charset="0"/>
                <a:cs typeface="Times New Roman" panose="02020603050405020304" pitchFamily="18" charset="0"/>
              </a:rPr>
              <a:t>2</a:t>
            </a:r>
            <a:r>
              <a:rPr lang="zh-CN" altLang="en-US" sz="2400" b="1" smtClean="0">
                <a:solidFill>
                  <a:schemeClr val="tx1"/>
                </a:solidFill>
                <a:latin typeface="Times New Roman" panose="02020603050405020304" pitchFamily="18" charset="0"/>
                <a:cs typeface="Times New Roman" panose="02020603050405020304" pitchFamily="18" charset="0"/>
              </a:rPr>
              <a:t>个任意长度的二进制数的四则运算不能作为合理的指令</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当超过计算机字长时</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必须进行分段处理</a:t>
            </a:r>
            <a:r>
              <a:rPr lang="en-US" altLang="zh-CN" sz="2400" b="1" smtClean="0">
                <a:solidFill>
                  <a:schemeClr val="tx1"/>
                </a:solidFill>
                <a:latin typeface="Times New Roman" panose="02020603050405020304" pitchFamily="18" charset="0"/>
                <a:cs typeface="Times New Roman" panose="02020603050405020304" pitchFamily="18" charset="0"/>
              </a:rPr>
              <a:t>. </a:t>
            </a:r>
            <a:endParaRPr lang="zh-CN" altLang="en-US" sz="2400" b="1" smtClean="0">
              <a:solidFill>
                <a:schemeClr val="tx1"/>
              </a:solidFill>
              <a:latin typeface="Times New Roman" panose="02020603050405020304" pitchFamily="18" charset="0"/>
              <a:cs typeface="Times New Roman" panose="02020603050405020304" pitchFamily="18" charset="0"/>
            </a:endParaRPr>
          </a:p>
          <a:p>
            <a:pPr algn="l" eaLnBrk="1" hangingPunct="1"/>
            <a:r>
              <a:rPr lang="en-US" altLang="zh-CN" sz="2400" b="1" smtClean="0">
                <a:solidFill>
                  <a:schemeClr val="tx1"/>
                </a:solidFill>
                <a:latin typeface="Times New Roman" panose="02020603050405020304" pitchFamily="18" charset="0"/>
                <a:cs typeface="Times New Roman" panose="02020603050405020304" pitchFamily="18" charset="0"/>
              </a:rPr>
              <a:t>4.2  </a:t>
            </a:r>
            <a:r>
              <a:rPr lang="zh-CN" altLang="en-US" sz="2400" b="1" smtClean="0">
                <a:solidFill>
                  <a:schemeClr val="tx1"/>
                </a:solidFill>
              </a:rPr>
              <a:t>算法的计算步数与采用的操作指令集有关</a:t>
            </a:r>
            <a:r>
              <a:rPr lang="en-US" altLang="zh-CN" sz="2400" b="1" smtClean="0">
                <a:solidFill>
                  <a:schemeClr val="tx1"/>
                </a:solidFill>
              </a:rPr>
              <a:t>. </a:t>
            </a:r>
            <a:r>
              <a:rPr lang="zh-CN" altLang="en-US" sz="2400" b="1" smtClean="0">
                <a:solidFill>
                  <a:schemeClr val="tx1"/>
                </a:solidFill>
              </a:rPr>
              <a:t>这就要求任何两个“合理的”操作指令集</a:t>
            </a:r>
            <a:r>
              <a:rPr lang="en-US" altLang="zh-CN" sz="2400" b="1" smtClean="0">
                <a:solidFill>
                  <a:schemeClr val="tx1"/>
                </a:solidFill>
              </a:rPr>
              <a:t>, </a:t>
            </a:r>
            <a:r>
              <a:rPr lang="zh-CN" altLang="en-US" sz="2400" b="1" smtClean="0">
                <a:solidFill>
                  <a:schemeClr val="tx1"/>
                </a:solidFill>
              </a:rPr>
              <a:t>其中一个指令集中的每一条指令都可以用另一个指令集中的指令模拟</a:t>
            </a:r>
            <a:r>
              <a:rPr lang="en-US" altLang="zh-CN" sz="2400" b="1" smtClean="0">
                <a:solidFill>
                  <a:schemeClr val="tx1"/>
                </a:solidFill>
              </a:rPr>
              <a:t>, </a:t>
            </a:r>
            <a:r>
              <a:rPr lang="zh-CN" altLang="en-US" sz="2400" b="1" smtClean="0">
                <a:solidFill>
                  <a:schemeClr val="tx1"/>
                </a:solidFill>
              </a:rPr>
              <a:t>且模拟所用的指令条数不超过某个固定的常数</a:t>
            </a:r>
            <a:r>
              <a:rPr lang="en-US" altLang="zh-CN" sz="2400" b="1" smtClean="0">
                <a:solidFill>
                  <a:schemeClr val="tx1"/>
                </a:solidFill>
              </a:rPr>
              <a:t>. </a:t>
            </a:r>
            <a:endParaRPr lang="en-US" altLang="zh-CN" sz="2400" b="1" smtClean="0">
              <a:solidFill>
                <a:schemeClr val="tx1"/>
              </a:solidFill>
            </a:endParaRPr>
          </a:p>
          <a:p>
            <a:pPr algn="l" eaLnBrk="1" hangingPunct="1">
              <a:spcBef>
                <a:spcPts val="1200"/>
              </a:spcBef>
            </a:pPr>
            <a:r>
              <a:rPr lang="zh-CN" altLang="en-US" sz="2400" b="1" smtClean="0">
                <a:solidFill>
                  <a:schemeClr val="tx1"/>
                </a:solidFill>
              </a:rPr>
              <a:t>可以规定一个基本操作指令集</a:t>
            </a:r>
            <a:r>
              <a:rPr lang="en-US" altLang="zh-CN" sz="2400" b="1" smtClean="0">
                <a:solidFill>
                  <a:schemeClr val="tx1"/>
                </a:solidFill>
              </a:rPr>
              <a:t>, </a:t>
            </a:r>
            <a:r>
              <a:rPr lang="zh-CN" altLang="en-US" sz="2400" b="1" smtClean="0">
                <a:solidFill>
                  <a:schemeClr val="tx1"/>
                </a:solidFill>
              </a:rPr>
              <a:t>如它由位逻辑运算与、或、非组成</a:t>
            </a:r>
            <a:r>
              <a:rPr lang="en-US" altLang="zh-CN" sz="2400" b="1" smtClean="0">
                <a:solidFill>
                  <a:schemeClr val="tx1"/>
                </a:solidFill>
              </a:rPr>
              <a:t>, </a:t>
            </a:r>
            <a:r>
              <a:rPr lang="zh-CN" altLang="en-US" sz="2400" b="1" smtClean="0">
                <a:solidFill>
                  <a:schemeClr val="tx1"/>
                </a:solidFill>
              </a:rPr>
              <a:t>然后认为任何可以用这个基本操作指令集中常数条指令实现的操作都是合理的指令</a:t>
            </a:r>
            <a:r>
              <a:rPr lang="en-US" altLang="zh-CN" sz="2400" b="1" smtClean="0">
                <a:solidFill>
                  <a:schemeClr val="tx1"/>
                </a:solidFill>
              </a:rPr>
              <a:t>, </a:t>
            </a:r>
            <a:r>
              <a:rPr lang="zh-CN" altLang="en-US" sz="2400" b="1" smtClean="0">
                <a:solidFill>
                  <a:schemeClr val="tx1"/>
                </a:solidFill>
              </a:rPr>
              <a:t>由有限种合理的指令构成的操作指令集是合理的操作指令集</a:t>
            </a:r>
            <a:r>
              <a:rPr lang="en-US" altLang="zh-CN" sz="2400" b="1" smtClean="0">
                <a:solidFill>
                  <a:schemeClr val="tx1"/>
                </a:solidFill>
              </a:rPr>
              <a:t>.</a:t>
            </a:r>
            <a:endParaRPr lang="en-US" altLang="zh-CN" sz="2400" b="1" smtClean="0">
              <a:solidFill>
                <a:schemeClr val="tx1"/>
              </a:solidFill>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ctrTitle"/>
          </p:nvPr>
        </p:nvSpPr>
        <p:spPr>
          <a:xfrm>
            <a:off x="695325" y="187325"/>
            <a:ext cx="7772400" cy="865188"/>
          </a:xfrm>
        </p:spPr>
        <p:txBody>
          <a:bodyPr/>
          <a:lstStyle/>
          <a:p>
            <a:pPr eaLnBrk="1" hangingPunct="1"/>
            <a:r>
              <a:rPr lang="zh-CN" altLang="en-US" sz="4000" b="1" smtClean="0">
                <a:solidFill>
                  <a:srgbClr val="C00000"/>
                </a:solidFill>
                <a:latin typeface="Times New Roman" panose="02020603050405020304" pitchFamily="18" charset="0"/>
                <a:cs typeface="Times New Roman" panose="02020603050405020304" pitchFamily="18" charset="0"/>
              </a:rPr>
              <a:t>几点说明</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10243" name="副标题 2"/>
          <p:cNvSpPr>
            <a:spLocks noGrp="1"/>
          </p:cNvSpPr>
          <p:nvPr>
            <p:ph type="subTitle" idx="1"/>
          </p:nvPr>
        </p:nvSpPr>
        <p:spPr>
          <a:xfrm>
            <a:off x="692150" y="1147763"/>
            <a:ext cx="7775575" cy="4895850"/>
          </a:xfrm>
        </p:spPr>
        <p:txBody>
          <a:bodyPr/>
          <a:lstStyle/>
          <a:p>
            <a:pPr algn="l" eaLnBrk="1" hangingPunct="1"/>
            <a:r>
              <a:rPr lang="zh-CN" altLang="en-US" sz="2400" b="1" smtClean="0">
                <a:solidFill>
                  <a:srgbClr val="C00000"/>
                </a:solidFill>
              </a:rPr>
              <a:t>在上述约定下</a:t>
            </a:r>
            <a:r>
              <a:rPr lang="en-US" altLang="zh-CN" sz="2400" b="1" smtClean="0">
                <a:solidFill>
                  <a:srgbClr val="C00000"/>
                </a:solidFill>
              </a:rPr>
              <a:t>, </a:t>
            </a:r>
            <a:r>
              <a:rPr lang="zh-CN" altLang="en-US" sz="2400" b="1" smtClean="0">
                <a:solidFill>
                  <a:srgbClr val="C00000"/>
                </a:solidFill>
              </a:rPr>
              <a:t>算法是否是多项式时间的与采用的编码和操作指令集无关</a:t>
            </a:r>
            <a:r>
              <a:rPr lang="en-US" altLang="zh-CN" sz="2400" b="1" smtClean="0">
                <a:solidFill>
                  <a:srgbClr val="C00000"/>
                </a:solidFill>
              </a:rPr>
              <a:t>, </a:t>
            </a:r>
            <a:r>
              <a:rPr lang="zh-CN" altLang="en-US" sz="2400" b="1" smtClean="0">
                <a:solidFill>
                  <a:srgbClr val="C00000"/>
                </a:solidFill>
              </a:rPr>
              <a:t>从而一个问题是易解的、还是难解的也与采用的编码和操作指令集无关</a:t>
            </a:r>
            <a:r>
              <a:rPr lang="en-US" altLang="zh-CN" sz="2400" b="1" smtClean="0">
                <a:solidFill>
                  <a:srgbClr val="C00000"/>
                </a:solidFill>
              </a:rPr>
              <a:t>.</a:t>
            </a:r>
            <a:endParaRPr lang="zh-CN" altLang="en-US" sz="2400" b="1" smtClean="0">
              <a:solidFill>
                <a:srgbClr val="C00000"/>
              </a:solidFill>
              <a:latin typeface="Times New Roman" panose="02020603050405020304" pitchFamily="18" charset="0"/>
              <a:cs typeface="Times New Roman" panose="02020603050405020304" pitchFamily="18" charset="0"/>
            </a:endParaRPr>
          </a:p>
          <a:p>
            <a:pPr algn="l" eaLnBrk="1" hangingPunct="1"/>
            <a:r>
              <a:rPr lang="zh-CN" altLang="en-US" sz="2400" b="1" smtClean="0">
                <a:solidFill>
                  <a:schemeClr val="tx1"/>
                </a:solidFill>
                <a:latin typeface="Times New Roman" panose="02020603050405020304" pitchFamily="18" charset="0"/>
                <a:cs typeface="Times New Roman" panose="02020603050405020304" pitchFamily="18" charset="0"/>
              </a:rPr>
              <a:t>设有编码 </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25000" smtClean="0">
                <a:solidFill>
                  <a:schemeClr val="tx1"/>
                </a:solidFill>
                <a:latin typeface="Times New Roman" panose="02020603050405020304" pitchFamily="18" charset="0"/>
                <a:cs typeface="Times New Roman" panose="02020603050405020304" pitchFamily="18" charset="0"/>
              </a:rPr>
              <a:t>1</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25000" smtClean="0">
                <a:solidFill>
                  <a:schemeClr val="tx1"/>
                </a:solidFill>
                <a:latin typeface="Times New Roman" panose="02020603050405020304" pitchFamily="18" charset="0"/>
                <a:cs typeface="Times New Roman" panose="02020603050405020304" pitchFamily="18" charset="0"/>
              </a:rPr>
              <a:t>2 </a:t>
            </a:r>
            <a:r>
              <a:rPr lang="zh-CN" altLang="en-US" sz="2400" b="1" smtClean="0">
                <a:solidFill>
                  <a:schemeClr val="tx1"/>
                </a:solidFill>
                <a:latin typeface="Times New Roman" panose="02020603050405020304" pitchFamily="18" charset="0"/>
                <a:cs typeface="Times New Roman" panose="02020603050405020304" pitchFamily="18" charset="0"/>
              </a:rPr>
              <a:t>和操作指令集 </a:t>
            </a:r>
            <a:r>
              <a:rPr lang="en-US" altLang="zh-CN" sz="2400" b="1" i="1" smtClean="0">
                <a:solidFill>
                  <a:schemeClr val="tx1"/>
                </a:solidFill>
                <a:latin typeface="Times New Roman" panose="02020603050405020304" pitchFamily="18" charset="0"/>
                <a:cs typeface="Times New Roman" panose="02020603050405020304" pitchFamily="18" charset="0"/>
              </a:rPr>
              <a:t>D</a:t>
            </a:r>
            <a:r>
              <a:rPr lang="en-US" altLang="zh-CN" sz="2400" b="1" baseline="-25000" smtClean="0">
                <a:solidFill>
                  <a:schemeClr val="tx1"/>
                </a:solidFill>
                <a:latin typeface="Times New Roman" panose="02020603050405020304" pitchFamily="18" charset="0"/>
                <a:cs typeface="Times New Roman" panose="02020603050405020304" pitchFamily="18" charset="0"/>
              </a:rPr>
              <a:t>1</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D</a:t>
            </a:r>
            <a:r>
              <a:rPr lang="en-US" altLang="zh-CN" sz="2400" b="1" baseline="-25000" smtClean="0">
                <a:solidFill>
                  <a:schemeClr val="tx1"/>
                </a:solidFill>
                <a:latin typeface="Times New Roman" panose="02020603050405020304" pitchFamily="18" charset="0"/>
                <a:cs typeface="Times New Roman" panose="02020603050405020304" pitchFamily="18" charset="0"/>
              </a:rPr>
              <a:t>2</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实例 </a:t>
            </a:r>
            <a:r>
              <a:rPr lang="en-US" altLang="zh-CN" sz="2400" b="1" i="1" smtClean="0">
                <a:solidFill>
                  <a:schemeClr val="tx1"/>
                </a:solidFill>
                <a:latin typeface="Times New Roman" panose="02020603050405020304" pitchFamily="18" charset="0"/>
                <a:cs typeface="Times New Roman" panose="02020603050405020304" pitchFamily="18" charset="0"/>
              </a:rPr>
              <a:t>I </a:t>
            </a:r>
            <a:r>
              <a:rPr lang="zh-CN" altLang="en-US" sz="2400" b="1" smtClean="0">
                <a:solidFill>
                  <a:schemeClr val="tx1"/>
                </a:solidFill>
                <a:latin typeface="Times New Roman" panose="02020603050405020304" pitchFamily="18" charset="0"/>
                <a:cs typeface="Times New Roman" panose="02020603050405020304" pitchFamily="18" charset="0"/>
              </a:rPr>
              <a:t>的这两种编码的长度分别为 </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baseline="-25000" smtClean="0">
                <a:solidFill>
                  <a:schemeClr val="tx1"/>
                </a:solidFill>
                <a:latin typeface="Times New Roman" panose="02020603050405020304" pitchFamily="18" charset="0"/>
                <a:cs typeface="Times New Roman" panose="02020603050405020304" pitchFamily="18" charset="0"/>
              </a:rPr>
              <a:t>1</a:t>
            </a:r>
            <a:r>
              <a:rPr lang="zh-CN" altLang="en-US" sz="2400" b="1" smtClean="0">
                <a:solidFill>
                  <a:schemeClr val="tx1"/>
                </a:solidFill>
                <a:latin typeface="Times New Roman" panose="02020603050405020304" pitchFamily="18" charset="0"/>
                <a:cs typeface="Times New Roman" panose="02020603050405020304" pitchFamily="18" charset="0"/>
              </a:rPr>
              <a:t>和 </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baseline="-25000" smtClean="0">
                <a:solidFill>
                  <a:schemeClr val="tx1"/>
                </a:solidFill>
                <a:latin typeface="Times New Roman" panose="02020603050405020304" pitchFamily="18" charset="0"/>
                <a:cs typeface="Times New Roman" panose="02020603050405020304" pitchFamily="18" charset="0"/>
              </a:rPr>
              <a:t>2</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存在多项式 </a:t>
            </a:r>
            <a:r>
              <a:rPr lang="en-US" altLang="zh-CN" sz="2400" b="1" i="1" smtClean="0">
                <a:solidFill>
                  <a:schemeClr val="tx1"/>
                </a:solidFill>
                <a:latin typeface="Times New Roman" panose="02020603050405020304" pitchFamily="18" charset="0"/>
                <a:cs typeface="Times New Roman" panose="02020603050405020304" pitchFamily="18" charset="0"/>
              </a:rPr>
              <a:t>p</a:t>
            </a:r>
            <a:r>
              <a:rPr lang="zh-CN" altLang="en-US" sz="2400" b="1" smtClean="0">
                <a:solidFill>
                  <a:schemeClr val="tx1"/>
                </a:solidFill>
                <a:latin typeface="Times New Roman" panose="02020603050405020304" pitchFamily="18" charset="0"/>
                <a:cs typeface="Times New Roman" panose="02020603050405020304" pitchFamily="18" charset="0"/>
              </a:rPr>
              <a:t>和 </a:t>
            </a:r>
            <a:r>
              <a:rPr lang="en-US" altLang="zh-CN" sz="2400" b="1" i="1" smtClean="0">
                <a:solidFill>
                  <a:schemeClr val="tx1"/>
                </a:solidFill>
                <a:latin typeface="Times New Roman" panose="02020603050405020304" pitchFamily="18" charset="0"/>
                <a:cs typeface="Times New Roman" panose="02020603050405020304" pitchFamily="18" charset="0"/>
              </a:rPr>
              <a:t>q</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使得 </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baseline="-25000" smtClean="0">
                <a:solidFill>
                  <a:schemeClr val="tx1"/>
                </a:solidFill>
                <a:latin typeface="Times New Roman" panose="02020603050405020304" pitchFamily="18" charset="0"/>
                <a:cs typeface="Times New Roman" panose="02020603050405020304" pitchFamily="18" charset="0"/>
              </a:rPr>
              <a:t>1</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solidFill>
                  <a:schemeClr val="tx1"/>
                </a:solidFill>
                <a:latin typeface="Times New Roman" panose="02020603050405020304" pitchFamily="18" charset="0"/>
                <a:cs typeface="Times New Roman" panose="02020603050405020304" pitchFamily="18" charset="0"/>
              </a:rPr>
              <a:t>p</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baseline="-25000" smtClean="0">
                <a:solidFill>
                  <a:schemeClr val="tx1"/>
                </a:solidFill>
                <a:latin typeface="Times New Roman" panose="02020603050405020304" pitchFamily="18" charset="0"/>
                <a:cs typeface="Times New Roman" panose="02020603050405020304" pitchFamily="18" charset="0"/>
              </a:rPr>
              <a:t>2</a:t>
            </a:r>
            <a:r>
              <a:rPr lang="en-US" altLang="zh-CN" sz="2400" b="1" smtClean="0">
                <a:solidFill>
                  <a:schemeClr val="tx1"/>
                </a:solidFill>
                <a:latin typeface="Times New Roman" panose="02020603050405020304" pitchFamily="18" charset="0"/>
                <a:cs typeface="Times New Roman" panose="02020603050405020304" pitchFamily="18" charset="0"/>
              </a:rPr>
              <a:t>)</a:t>
            </a:r>
            <a:r>
              <a:rPr lang="zh-CN" altLang="en-US" sz="2400" b="1" smtClean="0">
                <a:solidFill>
                  <a:schemeClr val="tx1"/>
                </a:solidFill>
                <a:latin typeface="Times New Roman" panose="02020603050405020304" pitchFamily="18" charset="0"/>
                <a:cs typeface="Times New Roman" panose="02020603050405020304" pitchFamily="18" charset="0"/>
              </a:rPr>
              <a:t>和 </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baseline="-25000" smtClean="0">
                <a:solidFill>
                  <a:schemeClr val="tx1"/>
                </a:solidFill>
                <a:latin typeface="Times New Roman" panose="02020603050405020304" pitchFamily="18" charset="0"/>
                <a:cs typeface="Times New Roman" panose="02020603050405020304" pitchFamily="18" charset="0"/>
              </a:rPr>
              <a:t>2</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solidFill>
                  <a:schemeClr val="tx1"/>
                </a:solidFill>
                <a:latin typeface="Times New Roman" panose="02020603050405020304" pitchFamily="18" charset="0"/>
                <a:cs typeface="Times New Roman" panose="02020603050405020304" pitchFamily="18" charset="0"/>
              </a:rPr>
              <a:t>q</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baseline="-25000" smtClean="0">
                <a:solidFill>
                  <a:schemeClr val="tx1"/>
                </a:solidFill>
                <a:latin typeface="Times New Roman" panose="02020603050405020304" pitchFamily="18" charset="0"/>
                <a:cs typeface="Times New Roman" panose="02020603050405020304" pitchFamily="18" charset="0"/>
              </a:rPr>
              <a:t>1</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又存在常数 </a:t>
            </a:r>
            <a:r>
              <a:rPr lang="en-US" altLang="zh-CN" sz="2400" b="1" i="1" smtClean="0">
                <a:solidFill>
                  <a:schemeClr val="tx1"/>
                </a:solidFill>
                <a:latin typeface="Times New Roman" panose="02020603050405020304" pitchFamily="18" charset="0"/>
                <a:cs typeface="Times New Roman" panose="02020603050405020304" pitchFamily="18" charset="0"/>
              </a:rPr>
              <a:t>k</a:t>
            </a:r>
            <a:r>
              <a:rPr lang="en-US" altLang="zh-CN" sz="2400" b="1" baseline="-25000" smtClean="0">
                <a:solidFill>
                  <a:schemeClr val="tx1"/>
                </a:solidFill>
                <a:latin typeface="Times New Roman" panose="02020603050405020304" pitchFamily="18" charset="0"/>
                <a:cs typeface="Times New Roman" panose="02020603050405020304" pitchFamily="18" charset="0"/>
              </a:rPr>
              <a:t>1</a:t>
            </a:r>
            <a:r>
              <a:rPr lang="zh-CN" altLang="en-US" sz="2400" b="1" smtClean="0">
                <a:solidFill>
                  <a:schemeClr val="tx1"/>
                </a:solidFill>
                <a:latin typeface="Times New Roman" panose="02020603050405020304" pitchFamily="18" charset="0"/>
                <a:cs typeface="Times New Roman" panose="02020603050405020304" pitchFamily="18" charset="0"/>
              </a:rPr>
              <a:t>和 </a:t>
            </a:r>
            <a:r>
              <a:rPr lang="en-US" altLang="zh-CN" sz="2400" b="1" i="1" smtClean="0">
                <a:solidFill>
                  <a:schemeClr val="tx1"/>
                </a:solidFill>
                <a:latin typeface="Times New Roman" panose="02020603050405020304" pitchFamily="18" charset="0"/>
                <a:cs typeface="Times New Roman" panose="02020603050405020304" pitchFamily="18" charset="0"/>
              </a:rPr>
              <a:t>k</a:t>
            </a:r>
            <a:r>
              <a:rPr lang="en-US" altLang="zh-CN" sz="2400" b="1" baseline="-25000" smtClean="0">
                <a:solidFill>
                  <a:schemeClr val="tx1"/>
                </a:solidFill>
                <a:latin typeface="Times New Roman" panose="02020603050405020304" pitchFamily="18" charset="0"/>
                <a:cs typeface="Times New Roman" panose="02020603050405020304" pitchFamily="18" charset="0"/>
              </a:rPr>
              <a:t>2</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使得</a:t>
            </a:r>
            <a:r>
              <a:rPr lang="en-US" altLang="zh-CN" sz="2400" b="1" i="1" smtClean="0">
                <a:solidFill>
                  <a:schemeClr val="tx1"/>
                </a:solidFill>
                <a:latin typeface="Times New Roman" panose="02020603050405020304" pitchFamily="18" charset="0"/>
                <a:cs typeface="Times New Roman" panose="02020603050405020304" pitchFamily="18" charset="0"/>
              </a:rPr>
              <a:t>D</a:t>
            </a:r>
            <a:r>
              <a:rPr lang="en-US" altLang="zh-CN" sz="2400" b="1" baseline="-25000" smtClean="0">
                <a:solidFill>
                  <a:schemeClr val="tx1"/>
                </a:solidFill>
                <a:latin typeface="Times New Roman" panose="02020603050405020304" pitchFamily="18" charset="0"/>
                <a:cs typeface="Times New Roman" panose="02020603050405020304" pitchFamily="18" charset="0"/>
              </a:rPr>
              <a:t>1</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D</a:t>
            </a:r>
            <a:r>
              <a:rPr lang="en-US" altLang="zh-CN" sz="2400" b="1" baseline="-25000" smtClean="0">
                <a:solidFill>
                  <a:schemeClr val="tx1"/>
                </a:solidFill>
                <a:latin typeface="Times New Roman" panose="02020603050405020304" pitchFamily="18" charset="0"/>
                <a:cs typeface="Times New Roman" panose="02020603050405020304" pitchFamily="18" charset="0"/>
              </a:rPr>
              <a:t>2</a:t>
            </a:r>
            <a:r>
              <a:rPr lang="en-US" altLang="zh-CN" sz="2400" b="1" smtClean="0">
                <a:solidFill>
                  <a:schemeClr val="tx1"/>
                </a:solidFill>
                <a:latin typeface="Times New Roman" panose="02020603050405020304" pitchFamily="18" charset="0"/>
                <a:cs typeface="Times New Roman" panose="02020603050405020304" pitchFamily="18" charset="0"/>
              </a:rPr>
              <a:t>)</a:t>
            </a:r>
            <a:r>
              <a:rPr lang="zh-CN" altLang="en-US" sz="2400" b="1" smtClean="0">
                <a:solidFill>
                  <a:schemeClr val="tx1"/>
                </a:solidFill>
                <a:latin typeface="Times New Roman" panose="02020603050405020304" pitchFamily="18" charset="0"/>
                <a:cs typeface="Times New Roman" panose="02020603050405020304" pitchFamily="18" charset="0"/>
              </a:rPr>
              <a:t>中的每一条指令都可以用 </a:t>
            </a:r>
            <a:r>
              <a:rPr lang="en-US" altLang="zh-CN" sz="2400" b="1" i="1" smtClean="0">
                <a:solidFill>
                  <a:schemeClr val="tx1"/>
                </a:solidFill>
                <a:latin typeface="Times New Roman" panose="02020603050405020304" pitchFamily="18" charset="0"/>
                <a:cs typeface="Times New Roman" panose="02020603050405020304" pitchFamily="18" charset="0"/>
              </a:rPr>
              <a:t>D</a:t>
            </a:r>
            <a:r>
              <a:rPr lang="en-US" altLang="zh-CN" sz="2400" b="1" baseline="-25000" smtClean="0">
                <a:solidFill>
                  <a:schemeClr val="tx1"/>
                </a:solidFill>
                <a:latin typeface="Times New Roman" panose="02020603050405020304" pitchFamily="18" charset="0"/>
                <a:cs typeface="Times New Roman" panose="02020603050405020304" pitchFamily="18" charset="0"/>
              </a:rPr>
              <a:t>2</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D</a:t>
            </a:r>
            <a:r>
              <a:rPr lang="en-US" altLang="zh-CN" sz="2400" b="1" baseline="-25000" smtClean="0">
                <a:solidFill>
                  <a:schemeClr val="tx1"/>
                </a:solidFill>
                <a:latin typeface="Times New Roman" panose="02020603050405020304" pitchFamily="18" charset="0"/>
                <a:cs typeface="Times New Roman" panose="02020603050405020304" pitchFamily="18" charset="0"/>
              </a:rPr>
              <a:t>1</a:t>
            </a:r>
            <a:r>
              <a:rPr lang="en-US" altLang="zh-CN" sz="2400" b="1" smtClean="0">
                <a:solidFill>
                  <a:schemeClr val="tx1"/>
                </a:solidFill>
                <a:latin typeface="Times New Roman" panose="02020603050405020304" pitchFamily="18" charset="0"/>
                <a:cs typeface="Times New Roman" panose="02020603050405020304" pitchFamily="18" charset="0"/>
              </a:rPr>
              <a:t>)</a:t>
            </a:r>
            <a:r>
              <a:rPr lang="zh-CN" altLang="en-US" sz="2400" b="1" smtClean="0">
                <a:solidFill>
                  <a:schemeClr val="tx1"/>
                </a:solidFill>
                <a:latin typeface="Times New Roman" panose="02020603050405020304" pitchFamily="18" charset="0"/>
                <a:cs typeface="Times New Roman" panose="02020603050405020304" pitchFamily="18" charset="0"/>
              </a:rPr>
              <a:t>中的不超过 </a:t>
            </a:r>
            <a:r>
              <a:rPr lang="en-US" altLang="zh-CN" sz="2400" b="1" i="1" smtClean="0">
                <a:solidFill>
                  <a:schemeClr val="tx1"/>
                </a:solidFill>
                <a:latin typeface="Times New Roman" panose="02020603050405020304" pitchFamily="18" charset="0"/>
                <a:cs typeface="Times New Roman" panose="02020603050405020304" pitchFamily="18" charset="0"/>
              </a:rPr>
              <a:t>k</a:t>
            </a:r>
            <a:r>
              <a:rPr lang="en-US" altLang="zh-CN" sz="2400" b="1" baseline="-25000" smtClean="0">
                <a:solidFill>
                  <a:schemeClr val="tx1"/>
                </a:solidFill>
                <a:latin typeface="Times New Roman" panose="02020603050405020304" pitchFamily="18" charset="0"/>
                <a:cs typeface="Times New Roman" panose="02020603050405020304" pitchFamily="18" charset="0"/>
              </a:rPr>
              <a:t>1</a:t>
            </a:r>
            <a:r>
              <a:rPr lang="zh-CN" altLang="en-US" sz="2400" b="1" smtClean="0">
                <a:solidFill>
                  <a:schemeClr val="tx1"/>
                </a:solidFill>
                <a:latin typeface="Times New Roman" panose="02020603050405020304" pitchFamily="18" charset="0"/>
                <a:cs typeface="Times New Roman" panose="02020603050405020304" pitchFamily="18" charset="0"/>
              </a:rPr>
              <a:t> </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k</a:t>
            </a:r>
            <a:r>
              <a:rPr lang="en-US" altLang="zh-CN" sz="2400" b="1" baseline="-25000" smtClean="0">
                <a:solidFill>
                  <a:schemeClr val="tx1"/>
                </a:solidFill>
                <a:latin typeface="Times New Roman" panose="02020603050405020304" pitchFamily="18" charset="0"/>
                <a:cs typeface="Times New Roman" panose="02020603050405020304" pitchFamily="18" charset="0"/>
              </a:rPr>
              <a:t>2</a:t>
            </a:r>
            <a:r>
              <a:rPr lang="en-US" altLang="zh-CN" sz="2400" b="1" smtClean="0">
                <a:solidFill>
                  <a:schemeClr val="tx1"/>
                </a:solidFill>
                <a:latin typeface="Times New Roman" panose="02020603050405020304" pitchFamily="18" charset="0"/>
                <a:cs typeface="Times New Roman" panose="02020603050405020304" pitchFamily="18" charset="0"/>
              </a:rPr>
              <a:t>)</a:t>
            </a:r>
            <a:r>
              <a:rPr lang="zh-CN" altLang="en-US" sz="2400" b="1" smtClean="0">
                <a:solidFill>
                  <a:schemeClr val="tx1"/>
                </a:solidFill>
                <a:latin typeface="Times New Roman" panose="02020603050405020304" pitchFamily="18" charset="0"/>
                <a:cs typeface="Times New Roman" panose="02020603050405020304" pitchFamily="18" charset="0"/>
              </a:rPr>
              <a:t>条指令模拟</a:t>
            </a:r>
            <a:r>
              <a:rPr lang="en-US" altLang="zh-CN" sz="2400" b="1" smtClean="0">
                <a:solidFill>
                  <a:schemeClr val="tx1"/>
                </a:solidFill>
                <a:latin typeface="Times New Roman" panose="02020603050405020304" pitchFamily="18" charset="0"/>
                <a:cs typeface="Times New Roman" panose="02020603050405020304" pitchFamily="18" charset="0"/>
              </a:rPr>
              <a:t>. </a:t>
            </a:r>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eaLnBrk="1" hangingPunct="1"/>
            <a:r>
              <a:rPr lang="zh-CN" altLang="en-US" sz="2400" b="1" smtClean="0">
                <a:solidFill>
                  <a:schemeClr val="tx1"/>
                </a:solidFill>
                <a:latin typeface="Times New Roman" panose="02020603050405020304" pitchFamily="18" charset="0"/>
                <a:cs typeface="Times New Roman" panose="02020603050405020304" pitchFamily="18" charset="0"/>
              </a:rPr>
              <a:t>设算法 </a:t>
            </a:r>
            <a:r>
              <a:rPr lang="en-US" altLang="zh-CN" sz="2400" b="1" i="1" smtClean="0">
                <a:solidFill>
                  <a:schemeClr val="tx1"/>
                </a:solidFill>
                <a:latin typeface="Times New Roman" panose="02020603050405020304" pitchFamily="18" charset="0"/>
                <a:cs typeface="Times New Roman" panose="02020603050405020304" pitchFamily="18" charset="0"/>
              </a:rPr>
              <a:t>A</a:t>
            </a:r>
            <a:r>
              <a:rPr lang="zh-CN" altLang="en-US" sz="2400" b="1" smtClean="0">
                <a:solidFill>
                  <a:schemeClr val="tx1"/>
                </a:solidFill>
                <a:latin typeface="Times New Roman" panose="02020603050405020304" pitchFamily="18" charset="0"/>
                <a:cs typeface="Times New Roman" panose="02020603050405020304" pitchFamily="18" charset="0"/>
              </a:rPr>
              <a:t>在采用编码</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25000" smtClean="0">
                <a:solidFill>
                  <a:schemeClr val="tx1"/>
                </a:solidFill>
                <a:latin typeface="Times New Roman" panose="02020603050405020304" pitchFamily="18" charset="0"/>
                <a:cs typeface="Times New Roman" panose="02020603050405020304" pitchFamily="18" charset="0"/>
              </a:rPr>
              <a:t>1</a:t>
            </a:r>
            <a:r>
              <a:rPr lang="zh-CN" altLang="en-US" sz="2400" b="1" smtClean="0">
                <a:solidFill>
                  <a:schemeClr val="tx1"/>
                </a:solidFill>
                <a:latin typeface="Times New Roman" panose="02020603050405020304" pitchFamily="18" charset="0"/>
                <a:cs typeface="Times New Roman" panose="02020603050405020304" pitchFamily="18" charset="0"/>
              </a:rPr>
              <a:t>和操作指令集 </a:t>
            </a:r>
            <a:r>
              <a:rPr lang="en-US" altLang="zh-CN" sz="2400" b="1" i="1" smtClean="0">
                <a:solidFill>
                  <a:schemeClr val="tx1"/>
                </a:solidFill>
                <a:latin typeface="Times New Roman" panose="02020603050405020304" pitchFamily="18" charset="0"/>
                <a:cs typeface="Times New Roman" panose="02020603050405020304" pitchFamily="18" charset="0"/>
              </a:rPr>
              <a:t>D</a:t>
            </a:r>
            <a:r>
              <a:rPr lang="en-US" altLang="zh-CN" sz="2400" b="1" baseline="-25000" smtClean="0">
                <a:solidFill>
                  <a:schemeClr val="tx1"/>
                </a:solidFill>
                <a:latin typeface="Times New Roman" panose="02020603050405020304" pitchFamily="18" charset="0"/>
                <a:cs typeface="Times New Roman" panose="02020603050405020304" pitchFamily="18" charset="0"/>
              </a:rPr>
              <a:t>1 </a:t>
            </a:r>
            <a:r>
              <a:rPr lang="zh-CN" altLang="en-US" sz="2400" b="1" smtClean="0">
                <a:solidFill>
                  <a:schemeClr val="tx1"/>
                </a:solidFill>
                <a:latin typeface="Times New Roman" panose="02020603050405020304" pitchFamily="18" charset="0"/>
                <a:cs typeface="Times New Roman" panose="02020603050405020304" pitchFamily="18" charset="0"/>
              </a:rPr>
              <a:t>时存在多项式 </a:t>
            </a:r>
            <a:r>
              <a:rPr lang="en-US" altLang="zh-CN" sz="2400" b="1" i="1" smtClean="0">
                <a:solidFill>
                  <a:schemeClr val="tx1"/>
                </a:solidFill>
                <a:latin typeface="Times New Roman" panose="02020603050405020304" pitchFamily="18" charset="0"/>
                <a:cs typeface="Times New Roman" panose="02020603050405020304" pitchFamily="18" charset="0"/>
              </a:rPr>
              <a:t>f , </a:t>
            </a:r>
            <a:r>
              <a:rPr lang="zh-CN" altLang="en-US" sz="2400" b="1" smtClean="0">
                <a:solidFill>
                  <a:schemeClr val="tx1"/>
                </a:solidFill>
                <a:latin typeface="Times New Roman" panose="02020603050405020304" pitchFamily="18" charset="0"/>
                <a:cs typeface="Times New Roman" panose="02020603050405020304" pitchFamily="18" charset="0"/>
              </a:rPr>
              <a:t>使得对任意的实例</a:t>
            </a:r>
            <a:r>
              <a:rPr lang="en-US" altLang="zh-CN" sz="2400" b="1" i="1"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算法在 </a:t>
            </a:r>
            <a:r>
              <a:rPr lang="en-US" altLang="zh-CN" sz="2400" b="1" i="1" smtClean="0">
                <a:solidFill>
                  <a:schemeClr val="tx1"/>
                </a:solidFill>
                <a:latin typeface="Times New Roman" panose="02020603050405020304" pitchFamily="18" charset="0"/>
                <a:cs typeface="Times New Roman" panose="02020603050405020304" pitchFamily="18" charset="0"/>
              </a:rPr>
              <a:t>f</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baseline="-25000" smtClean="0">
                <a:solidFill>
                  <a:schemeClr val="tx1"/>
                </a:solidFill>
                <a:latin typeface="Times New Roman" panose="02020603050405020304" pitchFamily="18" charset="0"/>
                <a:cs typeface="Times New Roman" panose="02020603050405020304" pitchFamily="18" charset="0"/>
              </a:rPr>
              <a:t>1</a:t>
            </a:r>
            <a:r>
              <a:rPr lang="en-US" altLang="zh-CN" sz="2400" b="1" smtClean="0">
                <a:solidFill>
                  <a:schemeClr val="tx1"/>
                </a:solidFill>
                <a:latin typeface="Times New Roman" panose="02020603050405020304" pitchFamily="18" charset="0"/>
                <a:cs typeface="Times New Roman" panose="02020603050405020304" pitchFamily="18" charset="0"/>
              </a:rPr>
              <a:t>)</a:t>
            </a:r>
            <a:r>
              <a:rPr lang="zh-CN" altLang="en-US" sz="2400" b="1" smtClean="0">
                <a:solidFill>
                  <a:schemeClr val="tx1"/>
                </a:solidFill>
                <a:latin typeface="Times New Roman" panose="02020603050405020304" pitchFamily="18" charset="0"/>
                <a:cs typeface="Times New Roman" panose="02020603050405020304" pitchFamily="18" charset="0"/>
              </a:rPr>
              <a:t>步内停机</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不妨设 </a:t>
            </a:r>
            <a:r>
              <a:rPr lang="en-US" altLang="zh-CN" sz="2400" b="1" i="1" smtClean="0">
                <a:solidFill>
                  <a:schemeClr val="tx1"/>
                </a:solidFill>
                <a:latin typeface="Times New Roman" panose="02020603050405020304" pitchFamily="18" charset="0"/>
                <a:cs typeface="Times New Roman" panose="02020603050405020304" pitchFamily="18" charset="0"/>
              </a:rPr>
              <a:t>f </a:t>
            </a:r>
            <a:r>
              <a:rPr lang="zh-CN" altLang="en-US" sz="2400" b="1" smtClean="0">
                <a:solidFill>
                  <a:schemeClr val="tx1"/>
                </a:solidFill>
                <a:latin typeface="Times New Roman" panose="02020603050405020304" pitchFamily="18" charset="0"/>
                <a:cs typeface="Times New Roman" panose="02020603050405020304" pitchFamily="18" charset="0"/>
              </a:rPr>
              <a:t>是单调递增的</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若采用操作指令集</a:t>
            </a:r>
            <a:r>
              <a:rPr lang="en-US" altLang="zh-CN" sz="2400" b="1" i="1" smtClean="0">
                <a:solidFill>
                  <a:schemeClr val="tx1"/>
                </a:solidFill>
                <a:latin typeface="Times New Roman" panose="02020603050405020304" pitchFamily="18" charset="0"/>
                <a:cs typeface="Times New Roman" panose="02020603050405020304" pitchFamily="18" charset="0"/>
              </a:rPr>
              <a:t>D</a:t>
            </a:r>
            <a:r>
              <a:rPr lang="en-US" altLang="zh-CN" sz="2400" b="1" baseline="-25000" smtClean="0">
                <a:solidFill>
                  <a:schemeClr val="tx1"/>
                </a:solidFill>
                <a:latin typeface="Times New Roman" panose="02020603050405020304" pitchFamily="18" charset="0"/>
                <a:cs typeface="Times New Roman" panose="02020603050405020304" pitchFamily="18" charset="0"/>
              </a:rPr>
              <a:t>2</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算法至多运行 </a:t>
            </a:r>
            <a:r>
              <a:rPr lang="en-US" altLang="zh-CN" sz="2400" b="1" i="1" smtClean="0">
                <a:solidFill>
                  <a:schemeClr val="tx1"/>
                </a:solidFill>
                <a:latin typeface="Times New Roman" panose="02020603050405020304" pitchFamily="18" charset="0"/>
                <a:cs typeface="Times New Roman" panose="02020603050405020304" pitchFamily="18" charset="0"/>
              </a:rPr>
              <a:t>k</a:t>
            </a:r>
            <a:r>
              <a:rPr lang="en-US" altLang="zh-CN" sz="2400" b="1" baseline="-25000" smtClean="0">
                <a:solidFill>
                  <a:schemeClr val="tx1"/>
                </a:solidFill>
                <a:latin typeface="Times New Roman" panose="02020603050405020304" pitchFamily="18" charset="0"/>
                <a:cs typeface="Times New Roman" panose="02020603050405020304" pitchFamily="18" charset="0"/>
              </a:rPr>
              <a:t>1 </a:t>
            </a:r>
            <a:r>
              <a:rPr lang="en-US" altLang="zh-CN" sz="2400" b="1" i="1" smtClean="0">
                <a:solidFill>
                  <a:schemeClr val="tx1"/>
                </a:solidFill>
                <a:latin typeface="Times New Roman" panose="02020603050405020304" pitchFamily="18" charset="0"/>
                <a:cs typeface="Times New Roman" panose="02020603050405020304" pitchFamily="18" charset="0"/>
              </a:rPr>
              <a:t>f</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baseline="-25000" smtClean="0">
                <a:solidFill>
                  <a:schemeClr val="tx1"/>
                </a:solidFill>
                <a:latin typeface="Times New Roman" panose="02020603050405020304" pitchFamily="18" charset="0"/>
                <a:cs typeface="Times New Roman" panose="02020603050405020304" pitchFamily="18" charset="0"/>
              </a:rPr>
              <a:t>1</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solidFill>
                  <a:schemeClr val="tx1"/>
                </a:solidFill>
                <a:latin typeface="Times New Roman" panose="02020603050405020304" pitchFamily="18" charset="0"/>
                <a:cs typeface="Times New Roman" panose="02020603050405020304" pitchFamily="18" charset="0"/>
              </a:rPr>
              <a:t> k</a:t>
            </a:r>
            <a:r>
              <a:rPr lang="en-US" altLang="zh-CN" sz="2400" b="1" baseline="-25000" smtClean="0">
                <a:solidFill>
                  <a:schemeClr val="tx1"/>
                </a:solidFill>
                <a:latin typeface="Times New Roman" panose="02020603050405020304" pitchFamily="18" charset="0"/>
                <a:cs typeface="Times New Roman" panose="02020603050405020304" pitchFamily="18" charset="0"/>
              </a:rPr>
              <a:t>1 </a:t>
            </a:r>
            <a:r>
              <a:rPr lang="en-US" altLang="zh-CN" sz="2400" b="1" i="1" smtClean="0">
                <a:solidFill>
                  <a:schemeClr val="tx1"/>
                </a:solidFill>
                <a:latin typeface="Times New Roman" panose="02020603050405020304" pitchFamily="18" charset="0"/>
                <a:cs typeface="Times New Roman" panose="02020603050405020304" pitchFamily="18" charset="0"/>
              </a:rPr>
              <a:t>f</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p</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baseline="-25000" smtClean="0">
                <a:solidFill>
                  <a:schemeClr val="tx1"/>
                </a:solidFill>
                <a:latin typeface="Times New Roman" panose="02020603050405020304" pitchFamily="18" charset="0"/>
                <a:cs typeface="Times New Roman" panose="02020603050405020304" pitchFamily="18" charset="0"/>
              </a:rPr>
              <a:t>2</a:t>
            </a:r>
            <a:r>
              <a:rPr lang="en-US" altLang="zh-CN" sz="2400" b="1" smtClean="0">
                <a:solidFill>
                  <a:schemeClr val="tx1"/>
                </a:solidFill>
                <a:latin typeface="Times New Roman" panose="02020603050405020304" pitchFamily="18" charset="0"/>
                <a:cs typeface="Times New Roman" panose="02020603050405020304" pitchFamily="18" charset="0"/>
              </a:rPr>
              <a:t>))</a:t>
            </a:r>
            <a:r>
              <a:rPr lang="zh-CN" altLang="en-US" sz="2400" b="1" smtClean="0">
                <a:solidFill>
                  <a:schemeClr val="tx1"/>
                </a:solidFill>
                <a:latin typeface="Times New Roman" panose="02020603050405020304" pitchFamily="18" charset="0"/>
                <a:cs typeface="Times New Roman" panose="02020603050405020304" pitchFamily="18" charset="0"/>
              </a:rPr>
              <a:t>步</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故 </a:t>
            </a:r>
            <a:r>
              <a:rPr lang="en-US" altLang="zh-CN" sz="2400" b="1" i="1" smtClean="0">
                <a:solidFill>
                  <a:schemeClr val="tx1"/>
                </a:solidFill>
                <a:latin typeface="Times New Roman" panose="02020603050405020304" pitchFamily="18" charset="0"/>
                <a:cs typeface="Times New Roman" panose="02020603050405020304" pitchFamily="18" charset="0"/>
              </a:rPr>
              <a:t>A</a:t>
            </a:r>
            <a:r>
              <a:rPr lang="zh-CN" altLang="en-US" sz="2400" b="1" smtClean="0">
                <a:solidFill>
                  <a:schemeClr val="tx1"/>
                </a:solidFill>
                <a:latin typeface="Times New Roman" panose="02020603050405020304" pitchFamily="18" charset="0"/>
                <a:cs typeface="Times New Roman" panose="02020603050405020304" pitchFamily="18" charset="0"/>
              </a:rPr>
              <a:t>在采用编码 </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25000" smtClean="0">
                <a:solidFill>
                  <a:schemeClr val="tx1"/>
                </a:solidFill>
                <a:latin typeface="Times New Roman" panose="02020603050405020304" pitchFamily="18" charset="0"/>
                <a:cs typeface="Times New Roman" panose="02020603050405020304" pitchFamily="18" charset="0"/>
              </a:rPr>
              <a:t>2 </a:t>
            </a:r>
            <a:r>
              <a:rPr lang="zh-CN" altLang="en-US" sz="2400" b="1" smtClean="0">
                <a:solidFill>
                  <a:schemeClr val="tx1"/>
                </a:solidFill>
                <a:latin typeface="Times New Roman" panose="02020603050405020304" pitchFamily="18" charset="0"/>
                <a:cs typeface="Times New Roman" panose="02020603050405020304" pitchFamily="18" charset="0"/>
              </a:rPr>
              <a:t>和操作指令集 </a:t>
            </a:r>
            <a:r>
              <a:rPr lang="en-US" altLang="zh-CN" sz="2400" b="1" i="1" smtClean="0">
                <a:solidFill>
                  <a:schemeClr val="tx1"/>
                </a:solidFill>
                <a:latin typeface="Times New Roman" panose="02020603050405020304" pitchFamily="18" charset="0"/>
                <a:cs typeface="Times New Roman" panose="02020603050405020304" pitchFamily="18" charset="0"/>
              </a:rPr>
              <a:t>D</a:t>
            </a:r>
            <a:r>
              <a:rPr lang="en-US" altLang="zh-CN" sz="2400" b="1" baseline="-25000" smtClean="0">
                <a:solidFill>
                  <a:schemeClr val="tx1"/>
                </a:solidFill>
                <a:latin typeface="Times New Roman" panose="02020603050405020304" pitchFamily="18" charset="0"/>
                <a:cs typeface="Times New Roman" panose="02020603050405020304" pitchFamily="18" charset="0"/>
              </a:rPr>
              <a:t>2 </a:t>
            </a:r>
            <a:r>
              <a:rPr lang="zh-CN" altLang="en-US" sz="2400" b="1" smtClean="0">
                <a:solidFill>
                  <a:schemeClr val="tx1"/>
                </a:solidFill>
                <a:latin typeface="Times New Roman" panose="02020603050405020304" pitchFamily="18" charset="0"/>
                <a:cs typeface="Times New Roman" panose="02020603050405020304" pitchFamily="18" charset="0"/>
              </a:rPr>
              <a:t>时也是多项式时间的</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反之亦然</a:t>
            </a:r>
            <a:r>
              <a:rPr lang="en-US" altLang="zh-CN" sz="2400" b="1" smtClean="0">
                <a:solidFill>
                  <a:schemeClr val="tx1"/>
                </a:solidFill>
                <a:latin typeface="Times New Roman" panose="02020603050405020304" pitchFamily="18" charset="0"/>
                <a:cs typeface="Times New Roman" panose="02020603050405020304" pitchFamily="18" charset="0"/>
              </a:rPr>
              <a:t>. </a:t>
            </a:r>
            <a:endParaRPr lang="zh-CN" altLang="en-US" sz="2400" b="1" smtClean="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p:cNvSpPr>
            <a:spLocks noGrp="1"/>
          </p:cNvSpPr>
          <p:nvPr>
            <p:ph type="ctrTitle"/>
          </p:nvPr>
        </p:nvSpPr>
        <p:spPr>
          <a:xfrm>
            <a:off x="685800" y="403225"/>
            <a:ext cx="7772400" cy="865188"/>
          </a:xfrm>
        </p:spPr>
        <p:txBody>
          <a:bodyPr/>
          <a:lstStyle/>
          <a:p>
            <a:pPr eaLnBrk="1" hangingPunct="1"/>
            <a:r>
              <a:rPr lang="zh-CN" altLang="en-US" sz="4000" b="1" smtClean="0">
                <a:solidFill>
                  <a:srgbClr val="C00000"/>
                </a:solidFill>
                <a:latin typeface="Times New Roman" panose="02020603050405020304" pitchFamily="18" charset="0"/>
                <a:cs typeface="Times New Roman" panose="02020603050405020304" pitchFamily="18" charset="0"/>
              </a:rPr>
              <a:t>易解的问题与难解的问题</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11267" name="副标题 2"/>
          <p:cNvSpPr>
            <a:spLocks noGrp="1"/>
          </p:cNvSpPr>
          <p:nvPr>
            <p:ph type="subTitle" idx="1"/>
          </p:nvPr>
        </p:nvSpPr>
        <p:spPr>
          <a:xfrm>
            <a:off x="685800" y="1414463"/>
            <a:ext cx="7920038" cy="4535487"/>
          </a:xfrm>
        </p:spPr>
        <p:txBody>
          <a:bodyPr/>
          <a:lstStyle/>
          <a:p>
            <a:pPr algn="l"/>
            <a:r>
              <a:rPr lang="zh-CN" altLang="en-US" sz="2400" b="1" smtClean="0">
                <a:solidFill>
                  <a:srgbClr val="C00000"/>
                </a:solidFill>
                <a:latin typeface="Times New Roman" panose="02020603050405020304" pitchFamily="18" charset="0"/>
                <a:cs typeface="Times New Roman" panose="02020603050405020304" pitchFamily="18" charset="0"/>
              </a:rPr>
              <a:t>易解的问题</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如排序、最小生成树、单源最短路径等</a:t>
            </a:r>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a:spcBef>
                <a:spcPts val="1800"/>
              </a:spcBef>
            </a:pPr>
            <a:r>
              <a:rPr lang="zh-CN" altLang="en-US" sz="2400" b="1" smtClean="0">
                <a:solidFill>
                  <a:srgbClr val="C00000"/>
                </a:solidFill>
                <a:latin typeface="Times New Roman" panose="02020603050405020304" pitchFamily="18" charset="0"/>
                <a:cs typeface="Times New Roman" panose="02020603050405020304" pitchFamily="18" charset="0"/>
              </a:rPr>
              <a:t>已证明的难解问题</a:t>
            </a:r>
            <a:r>
              <a:rPr lang="en-US" altLang="zh-CN" sz="2400" b="1" smtClean="0">
                <a:solidFill>
                  <a:schemeClr val="tx1"/>
                </a:solidFill>
                <a:latin typeface="Times New Roman" panose="02020603050405020304" pitchFamily="18" charset="0"/>
                <a:cs typeface="Times New Roman" panose="02020603050405020304" pitchFamily="18" charset="0"/>
              </a:rPr>
              <a:t>. </a:t>
            </a:r>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a:spcBef>
                <a:spcPts val="600"/>
              </a:spcBef>
            </a:pPr>
            <a:r>
              <a:rPr lang="zh-CN" altLang="en-US" sz="2400" b="1" smtClean="0">
                <a:solidFill>
                  <a:schemeClr val="tx1"/>
                </a:solidFill>
                <a:latin typeface="Times New Roman" panose="02020603050405020304" pitchFamily="18" charset="0"/>
                <a:cs typeface="Times New Roman" panose="02020603050405020304" pitchFamily="18" charset="0"/>
              </a:rPr>
              <a:t>一类是不可计算的</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即根本不存在求解算法</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如希尔伯特第十问题</a:t>
            </a:r>
            <a:r>
              <a:rPr lang="zh-CN" altLang="en-US"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sz="2400" b="1" smtClean="0">
                <a:solidFill>
                  <a:schemeClr val="tx1"/>
                </a:solidFill>
                <a:latin typeface="Times New Roman" panose="02020603050405020304" pitchFamily="18" charset="0"/>
                <a:cs typeface="Times New Roman" panose="02020603050405020304" pitchFamily="18" charset="0"/>
              </a:rPr>
              <a:t>丢番图方程是否有整数解</a:t>
            </a:r>
            <a:r>
              <a:rPr lang="en-US" altLang="zh-CN" sz="2400" b="1" smtClean="0">
                <a:solidFill>
                  <a:schemeClr val="tx1"/>
                </a:solidFill>
                <a:latin typeface="Times New Roman" panose="02020603050405020304" pitchFamily="18" charset="0"/>
                <a:cs typeface="Times New Roman" panose="02020603050405020304" pitchFamily="18" charset="0"/>
              </a:rPr>
              <a:t>.  </a:t>
            </a:r>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a:spcBef>
                <a:spcPts val="600"/>
              </a:spcBef>
            </a:pPr>
            <a:r>
              <a:rPr lang="zh-CN" altLang="en-US" sz="2400" b="1" smtClean="0">
                <a:solidFill>
                  <a:schemeClr val="tx1"/>
                </a:solidFill>
                <a:latin typeface="Times New Roman" panose="02020603050405020304" pitchFamily="18" charset="0"/>
                <a:cs typeface="Times New Roman" panose="02020603050405020304" pitchFamily="18" charset="0"/>
              </a:rPr>
              <a:t>另一类是有算法</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但至少需要指数时间</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或指数空间</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甚至更多的时间或更大的空间</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如带幂运算的正则表达式的全体性</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即任给字母表 </a:t>
            </a:r>
            <a:r>
              <a:rPr lang="en-US" altLang="zh-CN" sz="2400" b="1" i="1" smtClean="0">
                <a:solidFill>
                  <a:schemeClr val="tx1"/>
                </a:solidFill>
                <a:latin typeface="Times New Roman" panose="02020603050405020304" pitchFamily="18" charset="0"/>
                <a:cs typeface="Times New Roman" panose="02020603050405020304" pitchFamily="18" charset="0"/>
              </a:rPr>
              <a:t>A</a:t>
            </a:r>
            <a:r>
              <a:rPr lang="zh-CN" altLang="en-US" sz="2400" b="1" smtClean="0">
                <a:solidFill>
                  <a:schemeClr val="tx1"/>
                </a:solidFill>
                <a:latin typeface="Times New Roman" panose="02020603050405020304" pitchFamily="18" charset="0"/>
                <a:cs typeface="Times New Roman" panose="02020603050405020304" pitchFamily="18" charset="0"/>
              </a:rPr>
              <a:t>上的带幂运算的正则表达式 </a:t>
            </a:r>
            <a:r>
              <a:rPr lang="en-US" altLang="zh-CN" sz="2400" b="1" i="1" smtClean="0">
                <a:solidFill>
                  <a:schemeClr val="tx1"/>
                </a:solidFill>
                <a:latin typeface="Times New Roman" panose="02020603050405020304" pitchFamily="18" charset="0"/>
                <a:cs typeface="Times New Roman" panose="02020603050405020304" pitchFamily="18" charset="0"/>
              </a:rPr>
              <a:t>R</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问</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R</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这个问题</a:t>
            </a:r>
            <a:r>
              <a:rPr lang="zh-CN" altLang="en-US" sz="2400" b="1" smtClean="0">
                <a:solidFill>
                  <a:schemeClr val="tx1"/>
                </a:solidFill>
                <a:latin typeface="Times New Roman" panose="02020603050405020304" pitchFamily="18" charset="0"/>
                <a:cs typeface="Times New Roman" panose="02020603050405020304" pitchFamily="18" charset="0"/>
              </a:rPr>
              <a:t>至少需要指数空间</a:t>
            </a:r>
            <a:r>
              <a:rPr lang="en-US" altLang="zh-CN" sz="2400" b="1" smtClean="0">
                <a:solidFill>
                  <a:schemeClr val="tx1"/>
                </a:solidFill>
                <a:latin typeface="Times New Roman" panose="02020603050405020304" pitchFamily="18" charset="0"/>
                <a:cs typeface="Times New Roman" panose="02020603050405020304" pitchFamily="18" charset="0"/>
              </a:rPr>
              <a:t>.    </a:t>
            </a:r>
            <a:endParaRPr lang="zh-CN" altLang="en-US" sz="2400" b="1" smtClean="0">
              <a:solidFill>
                <a:schemeClr val="tx1"/>
              </a:solidFill>
              <a:latin typeface="Times New Roman" panose="02020603050405020304" pitchFamily="18" charset="0"/>
              <a:cs typeface="Times New Roman" panose="02020603050405020304" pitchFamily="18" charset="0"/>
            </a:endParaRPr>
          </a:p>
          <a:p>
            <a:pPr algn="l">
              <a:spcBef>
                <a:spcPts val="1800"/>
              </a:spcBef>
            </a:pPr>
            <a:r>
              <a:rPr lang="zh-CN" altLang="en-US" sz="2400" b="1" smtClean="0">
                <a:solidFill>
                  <a:srgbClr val="C00000"/>
                </a:solidFill>
                <a:latin typeface="Times New Roman" panose="02020603050405020304" pitchFamily="18" charset="0"/>
                <a:cs typeface="Times New Roman" panose="02020603050405020304" pitchFamily="18" charset="0"/>
              </a:rPr>
              <a:t>既没有找到多项式时间算法、又没能证明是难解的问题</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如哈密顿回路问题、货郎问题、背包问题等</a:t>
            </a:r>
            <a:endParaRPr lang="zh-CN" altLang="en-US" sz="2400" b="1" smtClean="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p:cNvSpPr>
            <a:spLocks noGrp="1"/>
          </p:cNvSpPr>
          <p:nvPr>
            <p:ph type="ctrTitle"/>
          </p:nvPr>
        </p:nvSpPr>
        <p:spPr>
          <a:xfrm>
            <a:off x="685800" y="404813"/>
            <a:ext cx="7772400" cy="865187"/>
          </a:xfrm>
        </p:spPr>
        <p:txBody>
          <a:bodyPr/>
          <a:lstStyle/>
          <a:p>
            <a:pPr eaLnBrk="1" hangingPunct="1"/>
            <a:r>
              <a:rPr lang="en-US" altLang="zh-CN" sz="4000" b="1" smtClean="0">
                <a:solidFill>
                  <a:srgbClr val="C00000"/>
                </a:solidFill>
                <a:latin typeface="Times New Roman" panose="02020603050405020304" pitchFamily="18" charset="0"/>
                <a:cs typeface="Times New Roman" panose="02020603050405020304" pitchFamily="18" charset="0"/>
              </a:rPr>
              <a:t>9.1.2 </a:t>
            </a:r>
            <a:r>
              <a:rPr lang="zh-CN" altLang="en-US" sz="4000" b="1" smtClean="0">
                <a:solidFill>
                  <a:srgbClr val="C00000"/>
                </a:solidFill>
                <a:latin typeface="Times New Roman" panose="02020603050405020304" pitchFamily="18" charset="0"/>
                <a:cs typeface="Times New Roman" panose="02020603050405020304" pitchFamily="18" charset="0"/>
              </a:rPr>
              <a:t>判定问题</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12291" name="副标题 2"/>
          <p:cNvSpPr>
            <a:spLocks noGrp="1"/>
          </p:cNvSpPr>
          <p:nvPr>
            <p:ph type="subTitle" idx="1"/>
          </p:nvPr>
        </p:nvSpPr>
        <p:spPr>
          <a:xfrm>
            <a:off x="684213" y="1484313"/>
            <a:ext cx="7775575" cy="4535487"/>
          </a:xfrm>
        </p:spPr>
        <p:txBody>
          <a:bodyPr/>
          <a:lstStyle/>
          <a:p>
            <a:pPr algn="l" eaLnBrk="1" hangingPunct="1"/>
            <a:r>
              <a:rPr lang="zh-CN" altLang="en-US" sz="2400" b="1" smtClean="0">
                <a:solidFill>
                  <a:srgbClr val="C00000"/>
                </a:solidFill>
                <a:latin typeface="Times New Roman" panose="02020603050405020304" pitchFamily="18" charset="0"/>
                <a:cs typeface="Times New Roman" panose="02020603050405020304" pitchFamily="18" charset="0"/>
              </a:rPr>
              <a:t>判定问题</a:t>
            </a:r>
            <a:r>
              <a:rPr lang="en-US" altLang="zh-CN" sz="2400" b="1" smtClean="0">
                <a:solidFill>
                  <a:schemeClr val="tx1"/>
                </a:solidFill>
                <a:latin typeface="Times New Roman" panose="02020603050405020304" pitchFamily="18" charset="0"/>
                <a:cs typeface="Times New Roman" panose="02020603050405020304" pitchFamily="18" charset="0"/>
              </a:rPr>
              <a:t>:</a:t>
            </a:r>
            <a:r>
              <a:rPr lang="zh-CN" altLang="en-US" sz="2400" b="1" smtClean="0">
                <a:solidFill>
                  <a:schemeClr val="tx1"/>
                </a:solidFill>
                <a:latin typeface="Times New Roman" panose="02020603050405020304" pitchFamily="18" charset="0"/>
                <a:cs typeface="Times New Roman" panose="02020603050405020304" pitchFamily="18" charset="0"/>
              </a:rPr>
              <a:t>答案只有两个</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sz="2400" b="1" smtClean="0">
                <a:solidFill>
                  <a:schemeClr val="tx1"/>
                </a:solidFill>
                <a:latin typeface="Times New Roman" panose="02020603050405020304" pitchFamily="18" charset="0"/>
                <a:cs typeface="Times New Roman" panose="02020603050405020304" pitchFamily="18" charset="0"/>
              </a:rPr>
              <a:t>是</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否</a:t>
            </a:r>
            <a:r>
              <a:rPr lang="en-US" altLang="zh-CN" sz="2400" b="1" smtClean="0">
                <a:solidFill>
                  <a:schemeClr val="tx1"/>
                </a:solidFill>
                <a:latin typeface="Times New Roman" panose="02020603050405020304" pitchFamily="18" charset="0"/>
                <a:cs typeface="Times New Roman" panose="02020603050405020304" pitchFamily="18" charset="0"/>
              </a:rPr>
              <a:t>.</a:t>
            </a:r>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eaLnBrk="1" hangingPunct="1"/>
            <a:r>
              <a:rPr lang="zh-CN" altLang="en-US" sz="2400" b="1" smtClean="0">
                <a:solidFill>
                  <a:schemeClr val="tx1"/>
                </a:solidFill>
                <a:latin typeface="Times New Roman" panose="02020603050405020304" pitchFamily="18" charset="0"/>
                <a:cs typeface="Times New Roman" panose="02020603050405020304" pitchFamily="18" charset="0"/>
              </a:rPr>
              <a:t>判定问题</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solidFill>
                  <a:schemeClr val="tx1"/>
                </a:solidFill>
                <a:latin typeface="Times New Roman" panose="02020603050405020304" pitchFamily="18" charset="0"/>
                <a:cs typeface="Times New Roman" panose="02020603050405020304" pitchFamily="18" charset="0"/>
              </a:rPr>
              <a:t> = </a:t>
            </a:r>
            <a:r>
              <a:rPr lang="en-US" altLang="zh-CN" sz="2400" b="1" smtClean="0">
                <a:solidFill>
                  <a:schemeClr val="tx1"/>
                </a:solidFill>
                <a:latin typeface="Times New Roman" panose="02020603050405020304" pitchFamily="18" charset="0"/>
                <a:cs typeface="Times New Roman" panose="02020603050405020304" pitchFamily="18" charset="0"/>
              </a:rPr>
              <a:t>&lt;</a:t>
            </a:r>
            <a:r>
              <a:rPr lang="en-US" altLang="zh-CN" sz="2400" b="1" i="1" smtClean="0">
                <a:solidFill>
                  <a:schemeClr val="tx1"/>
                </a:solidFill>
                <a:latin typeface="Times New Roman" panose="02020603050405020304" pitchFamily="18" charset="0"/>
                <a:cs typeface="Times New Roman" panose="02020603050405020304" pitchFamily="18" charset="0"/>
              </a:rPr>
              <a:t>D</a:t>
            </a:r>
            <a:r>
              <a:rPr lang="en-US" altLang="zh-CN" sz="2400" b="1" i="1" baseline="-2500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Y</a:t>
            </a:r>
            <a:r>
              <a:rPr lang="en-US" altLang="zh-CN" sz="2400" b="1" i="1" baseline="-2500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solidFill>
                  <a:schemeClr val="tx1"/>
                </a:solidFill>
                <a:latin typeface="Times New Roman" panose="02020603050405020304" pitchFamily="18" charset="0"/>
                <a:cs typeface="Times New Roman" panose="02020603050405020304" pitchFamily="18" charset="0"/>
              </a:rPr>
              <a:t>&gt;, </a:t>
            </a:r>
            <a:r>
              <a:rPr lang="zh-CN" altLang="en-US" sz="2400" b="1" smtClean="0">
                <a:solidFill>
                  <a:schemeClr val="tx1"/>
                </a:solidFill>
                <a:latin typeface="Times New Roman" panose="02020603050405020304" pitchFamily="18" charset="0"/>
                <a:cs typeface="Times New Roman" panose="02020603050405020304" pitchFamily="18" charset="0"/>
              </a:rPr>
              <a:t>其中</a:t>
            </a:r>
            <a:r>
              <a:rPr lang="en-US" altLang="zh-CN" sz="2400" b="1" i="1" smtClean="0">
                <a:solidFill>
                  <a:schemeClr val="tx1"/>
                </a:solidFill>
                <a:latin typeface="Times New Roman" panose="02020603050405020304" pitchFamily="18" charset="0"/>
                <a:cs typeface="Times New Roman" panose="02020603050405020304" pitchFamily="18" charset="0"/>
              </a:rPr>
              <a:t>D</a:t>
            </a:r>
            <a:r>
              <a:rPr lang="en-US" altLang="zh-CN" sz="2400" b="1" i="1" baseline="-2500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是实例集合</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rPr>
              <a:t>Y</a:t>
            </a:r>
            <a:r>
              <a:rPr lang="en-US" altLang="zh-CN" sz="2400" b="1" i="1" baseline="-2500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solidFill>
                  <a:schemeClr val="tx1"/>
                </a:solidFill>
                <a:latin typeface="Times New Roman" panose="02020603050405020304" pitchFamily="18" charset="0"/>
                <a:cs typeface="Times New Roman" panose="02020603050405020304" pitchFamily="18" charset="0"/>
              </a:rPr>
              <a:t> </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solidFill>
                  <a:schemeClr val="tx1"/>
                </a:solidFill>
                <a:latin typeface="Times New Roman" panose="02020603050405020304" pitchFamily="18" charset="0"/>
                <a:cs typeface="Times New Roman" panose="02020603050405020304" pitchFamily="18" charset="0"/>
              </a:rPr>
              <a:t> D</a:t>
            </a:r>
            <a:r>
              <a:rPr lang="en-US" altLang="zh-CN" sz="2400" b="1" i="1" baseline="-2500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是所有答案为“</a:t>
            </a:r>
            <a:r>
              <a:rPr lang="en-US" altLang="zh-CN" sz="2400" b="1" smtClean="0">
                <a:solidFill>
                  <a:schemeClr val="tx1"/>
                </a:solidFill>
                <a:latin typeface="Times New Roman" panose="02020603050405020304" pitchFamily="18" charset="0"/>
                <a:cs typeface="Times New Roman" panose="02020603050405020304" pitchFamily="18" charset="0"/>
              </a:rPr>
              <a:t>Yes</a:t>
            </a:r>
            <a:r>
              <a:rPr lang="zh-CN" altLang="en-US" sz="2400" b="1" smtClean="0">
                <a:solidFill>
                  <a:schemeClr val="tx1"/>
                </a:solidFill>
                <a:latin typeface="Times New Roman" panose="02020603050405020304" pitchFamily="18" charset="0"/>
                <a:cs typeface="Times New Roman" panose="02020603050405020304" pitchFamily="18" charset="0"/>
              </a:rPr>
              <a:t>”的实例</a:t>
            </a:r>
            <a:r>
              <a:rPr lang="en-US" altLang="zh-CN" sz="2400" b="1" smtClean="0">
                <a:solidFill>
                  <a:schemeClr val="tx1"/>
                </a:solidFill>
                <a:latin typeface="Times New Roman" panose="02020603050405020304" pitchFamily="18" charset="0"/>
                <a:cs typeface="Times New Roman" panose="02020603050405020304" pitchFamily="18" charset="0"/>
              </a:rPr>
              <a:t>.    </a:t>
            </a:r>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eaLnBrk="1" hangingPunct="1">
              <a:spcBef>
                <a:spcPts val="2400"/>
              </a:spcBef>
            </a:pPr>
            <a:r>
              <a:rPr lang="zh-CN" altLang="en-US" sz="2400" b="1" smtClean="0">
                <a:solidFill>
                  <a:srgbClr val="C00000"/>
                </a:solidFill>
                <a:latin typeface="Times New Roman" panose="02020603050405020304" pitchFamily="18" charset="0"/>
                <a:cs typeface="Times New Roman" panose="02020603050405020304" pitchFamily="18" charset="0"/>
              </a:rPr>
              <a:t>哈密顿回路 </a:t>
            </a:r>
            <a:r>
              <a:rPr lang="en-US" altLang="zh-CN" sz="2400" b="1" smtClean="0">
                <a:solidFill>
                  <a:schemeClr val="tx1"/>
                </a:solidFill>
                <a:latin typeface="Times New Roman" panose="02020603050405020304" pitchFamily="18" charset="0"/>
                <a:cs typeface="Times New Roman" panose="02020603050405020304" pitchFamily="18" charset="0"/>
              </a:rPr>
              <a:t>(HC):  </a:t>
            </a:r>
            <a:r>
              <a:rPr lang="zh-CN" altLang="en-US" sz="2400" b="1" smtClean="0">
                <a:solidFill>
                  <a:schemeClr val="tx1"/>
                </a:solidFill>
                <a:latin typeface="Times New Roman" panose="02020603050405020304" pitchFamily="18" charset="0"/>
                <a:cs typeface="Times New Roman" panose="02020603050405020304" pitchFamily="18" charset="0"/>
              </a:rPr>
              <a:t>任给无向图 </a:t>
            </a:r>
            <a:r>
              <a:rPr lang="en-US" altLang="zh-CN" sz="2400" b="1" i="1" smtClean="0">
                <a:solidFill>
                  <a:schemeClr val="tx1"/>
                </a:solidFill>
                <a:latin typeface="Times New Roman" panose="02020603050405020304" pitchFamily="18" charset="0"/>
                <a:cs typeface="Times New Roman" panose="02020603050405020304" pitchFamily="18" charset="0"/>
              </a:rPr>
              <a:t>G,</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问 </a:t>
            </a:r>
            <a:r>
              <a:rPr lang="en-US" altLang="zh-CN" sz="2400" b="1" i="1" smtClean="0">
                <a:solidFill>
                  <a:schemeClr val="tx1"/>
                </a:solidFill>
                <a:latin typeface="Times New Roman" panose="02020603050405020304" pitchFamily="18" charset="0"/>
                <a:cs typeface="Times New Roman" panose="02020603050405020304" pitchFamily="18" charset="0"/>
              </a:rPr>
              <a:t>G </a:t>
            </a:r>
            <a:r>
              <a:rPr lang="zh-CN" altLang="en-US" sz="2400" b="1" smtClean="0">
                <a:solidFill>
                  <a:schemeClr val="tx1"/>
                </a:solidFill>
                <a:latin typeface="Times New Roman" panose="02020603050405020304" pitchFamily="18" charset="0"/>
                <a:cs typeface="Times New Roman" panose="02020603050405020304" pitchFamily="18" charset="0"/>
              </a:rPr>
              <a:t>有哈密顿回路吗</a:t>
            </a:r>
            <a:r>
              <a:rPr lang="en-US" altLang="zh-CN" sz="2400" b="1" smtClean="0">
                <a:solidFill>
                  <a:schemeClr val="tx1"/>
                </a:solidFill>
                <a:latin typeface="Times New Roman" panose="02020603050405020304" pitchFamily="18" charset="0"/>
                <a:cs typeface="Times New Roman" panose="02020603050405020304" pitchFamily="18" charset="0"/>
              </a:rPr>
              <a:t>? </a:t>
            </a:r>
            <a:endParaRPr lang="zh-CN" altLang="en-US" sz="2400" b="1" smtClean="0">
              <a:solidFill>
                <a:schemeClr val="tx1"/>
              </a:solidFill>
              <a:latin typeface="Times New Roman" panose="02020603050405020304" pitchFamily="18" charset="0"/>
              <a:cs typeface="Times New Roman" panose="02020603050405020304" pitchFamily="18" charset="0"/>
            </a:endParaRPr>
          </a:p>
          <a:p>
            <a:pPr algn="l"/>
            <a:r>
              <a:rPr lang="zh-CN" altLang="en-US" sz="2400" b="1" smtClean="0">
                <a:solidFill>
                  <a:srgbClr val="C00000"/>
                </a:solidFill>
                <a:latin typeface="Times New Roman" panose="02020603050405020304" pitchFamily="18" charset="0"/>
                <a:cs typeface="Times New Roman" panose="02020603050405020304" pitchFamily="18" charset="0"/>
              </a:rPr>
              <a:t>货郎问题 </a:t>
            </a:r>
            <a:r>
              <a:rPr lang="en-US" altLang="zh-CN" sz="2400" b="1" smtClean="0">
                <a:solidFill>
                  <a:schemeClr val="tx1"/>
                </a:solidFill>
                <a:latin typeface="Times New Roman" panose="02020603050405020304" pitchFamily="18" charset="0"/>
                <a:cs typeface="Times New Roman" panose="02020603050405020304" pitchFamily="18" charset="0"/>
              </a:rPr>
              <a:t>(TSP): </a:t>
            </a:r>
            <a:r>
              <a:rPr lang="zh-CN" altLang="en-US" sz="2400" b="1" smtClean="0">
                <a:solidFill>
                  <a:schemeClr val="tx1"/>
                </a:solidFill>
                <a:latin typeface="Times New Roman" panose="02020603050405020304" pitchFamily="18" charset="0"/>
                <a:cs typeface="Times New Roman" panose="02020603050405020304" pitchFamily="18" charset="0"/>
              </a:rPr>
              <a:t>任给</a:t>
            </a:r>
            <a:r>
              <a:rPr lang="en-US" altLang="zh-CN" sz="2400" b="1" i="1" smtClean="0">
                <a:solidFill>
                  <a:schemeClr val="tx1"/>
                </a:solidFill>
                <a:latin typeface="Times New Roman" panose="02020603050405020304" pitchFamily="18" charset="0"/>
                <a:cs typeface="Times New Roman" panose="02020603050405020304" pitchFamily="18" charset="0"/>
              </a:rPr>
              <a:t>n</a:t>
            </a:r>
            <a:r>
              <a:rPr lang="zh-CN" altLang="en-US" sz="2400" b="1" smtClean="0">
                <a:solidFill>
                  <a:schemeClr val="tx1"/>
                </a:solidFill>
                <a:latin typeface="Times New Roman" panose="02020603050405020304" pitchFamily="18" charset="0"/>
                <a:cs typeface="Times New Roman" panose="02020603050405020304" pitchFamily="18" charset="0"/>
              </a:rPr>
              <a:t>个城市</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城市 </a:t>
            </a:r>
            <a:r>
              <a:rPr lang="en-US" altLang="zh-CN" sz="2400" b="1" i="1" smtClean="0">
                <a:solidFill>
                  <a:schemeClr val="tx1"/>
                </a:solidFill>
                <a:latin typeface="Times New Roman" panose="02020603050405020304" pitchFamily="18" charset="0"/>
                <a:cs typeface="Times New Roman" panose="02020603050405020304" pitchFamily="18" charset="0"/>
              </a:rPr>
              <a:t>i </a:t>
            </a:r>
            <a:r>
              <a:rPr lang="zh-CN" altLang="en-US" sz="2400" b="1" smtClean="0">
                <a:solidFill>
                  <a:schemeClr val="tx1"/>
                </a:solidFill>
                <a:latin typeface="Times New Roman" panose="02020603050405020304" pitchFamily="18" charset="0"/>
                <a:cs typeface="Times New Roman" panose="02020603050405020304" pitchFamily="18" charset="0"/>
              </a:rPr>
              <a:t>与城市 </a:t>
            </a:r>
            <a:r>
              <a:rPr lang="en-US" altLang="zh-CN" sz="2400" b="1" i="1" smtClean="0">
                <a:solidFill>
                  <a:schemeClr val="tx1"/>
                </a:solidFill>
                <a:latin typeface="Times New Roman" panose="02020603050405020304" pitchFamily="18" charset="0"/>
                <a:cs typeface="Times New Roman" panose="02020603050405020304" pitchFamily="18" charset="0"/>
              </a:rPr>
              <a:t>j </a:t>
            </a:r>
            <a:r>
              <a:rPr lang="zh-CN" altLang="en-US" sz="2400" b="1" smtClean="0">
                <a:solidFill>
                  <a:schemeClr val="tx1"/>
                </a:solidFill>
                <a:latin typeface="Times New Roman" panose="02020603050405020304" pitchFamily="18" charset="0"/>
                <a:cs typeface="Times New Roman" panose="02020603050405020304" pitchFamily="18" charset="0"/>
              </a:rPr>
              <a:t>之间的正整数距离 </a:t>
            </a:r>
            <a:r>
              <a:rPr lang="en-US" altLang="zh-CN" sz="2400" b="1" i="1" smtClean="0">
                <a:solidFill>
                  <a:schemeClr val="tx1"/>
                </a:solidFill>
                <a:latin typeface="Times New Roman" panose="02020603050405020304" pitchFamily="18" charset="0"/>
                <a:cs typeface="Times New Roman" panose="02020603050405020304" pitchFamily="18" charset="0"/>
              </a:rPr>
              <a:t>d</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rPr>
              <a:t>j</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rPr>
              <a:t>i </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solidFill>
                  <a:schemeClr val="tx1"/>
                </a:solidFill>
                <a:latin typeface="Times New Roman" panose="02020603050405020304" pitchFamily="18" charset="0"/>
                <a:cs typeface="Times New Roman" panose="02020603050405020304" pitchFamily="18" charset="0"/>
              </a:rPr>
              <a:t>j</a:t>
            </a:r>
            <a:r>
              <a:rPr lang="en-US" altLang="zh-CN" sz="2400" b="1" smtClean="0">
                <a:solidFill>
                  <a:schemeClr val="tx1"/>
                </a:solidFill>
                <a:latin typeface="Times New Roman" panose="02020603050405020304" pitchFamily="18" charset="0"/>
                <a:cs typeface="Times New Roman" panose="02020603050405020304" pitchFamily="18" charset="0"/>
              </a:rPr>
              <a:t>, 1</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rPr>
              <a:t>j </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solidFill>
                  <a:schemeClr val="tx1"/>
                </a:solidFill>
                <a:latin typeface="Times New Roman" panose="02020603050405020304" pitchFamily="18" charset="0"/>
                <a:cs typeface="Times New Roman" panose="02020603050405020304" pitchFamily="18" charset="0"/>
              </a:rPr>
              <a:t>n</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以及正整数 </a:t>
            </a:r>
            <a:r>
              <a:rPr lang="en-US" altLang="zh-CN" sz="2400" b="1" i="1" smtClean="0">
                <a:solidFill>
                  <a:schemeClr val="tx1"/>
                </a:solidFill>
                <a:latin typeface="Times New Roman" panose="02020603050405020304" pitchFamily="18" charset="0"/>
                <a:cs typeface="Times New Roman" panose="02020603050405020304" pitchFamily="18" charset="0"/>
              </a:rPr>
              <a:t>D</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问有一条每一个城市恰好经过一次最后回到出发点且长度不超过 </a:t>
            </a:r>
            <a:r>
              <a:rPr lang="en-US" altLang="zh-CN" sz="2400" b="1" i="1" smtClean="0">
                <a:solidFill>
                  <a:schemeClr val="tx1"/>
                </a:solidFill>
                <a:latin typeface="Times New Roman" panose="02020603050405020304" pitchFamily="18" charset="0"/>
                <a:cs typeface="Times New Roman" panose="02020603050405020304" pitchFamily="18" charset="0"/>
              </a:rPr>
              <a:t>D</a:t>
            </a:r>
            <a:r>
              <a:rPr lang="zh-CN" altLang="en-US" sz="2400" b="1" smtClean="0">
                <a:solidFill>
                  <a:schemeClr val="tx1"/>
                </a:solidFill>
                <a:latin typeface="Times New Roman" panose="02020603050405020304" pitchFamily="18" charset="0"/>
                <a:cs typeface="Times New Roman" panose="02020603050405020304" pitchFamily="18" charset="0"/>
              </a:rPr>
              <a:t>的巡回路线吗</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即</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存在</a:t>
            </a:r>
            <a:r>
              <a:rPr lang="en-US" altLang="zh-CN" sz="2400" b="1" smtClean="0">
                <a:solidFill>
                  <a:schemeClr val="tx1"/>
                </a:solidFill>
                <a:latin typeface="Times New Roman" panose="02020603050405020304" pitchFamily="18" charset="0"/>
                <a:cs typeface="Times New Roman" panose="02020603050405020304" pitchFamily="18" charset="0"/>
              </a:rPr>
              <a:t>1, 2, </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rPr>
              <a:t>n </a:t>
            </a:r>
            <a:r>
              <a:rPr lang="zh-CN" altLang="en-US" sz="2400" b="1" smtClean="0">
                <a:solidFill>
                  <a:schemeClr val="tx1"/>
                </a:solidFill>
                <a:latin typeface="Times New Roman" panose="02020603050405020304" pitchFamily="18" charset="0"/>
                <a:cs typeface="Times New Roman" panose="02020603050405020304" pitchFamily="18" charset="0"/>
              </a:rPr>
              <a:t>的排列 </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使得</a:t>
            </a:r>
            <a:endParaRPr lang="zh-CN" altLang="en-US" sz="2400" b="1" smtClean="0">
              <a:solidFill>
                <a:schemeClr val="tx1"/>
              </a:solidFill>
              <a:latin typeface="Times New Roman" panose="02020603050405020304" pitchFamily="18" charset="0"/>
              <a:cs typeface="Times New Roman" panose="02020603050405020304" pitchFamily="18" charset="0"/>
            </a:endParaRPr>
          </a:p>
          <a:p>
            <a:pPr algn="l" eaLnBrk="1" hangingPunct="1"/>
            <a:endParaRPr lang="zh-CN" altLang="en-US" sz="2400" b="1" smtClean="0">
              <a:solidFill>
                <a:schemeClr val="tx1"/>
              </a:solidFill>
              <a:latin typeface="Times New Roman" panose="02020603050405020304" pitchFamily="18" charset="0"/>
              <a:cs typeface="Times New Roman" panose="02020603050405020304" pitchFamily="18" charset="0"/>
            </a:endParaRPr>
          </a:p>
        </p:txBody>
      </p:sp>
      <p:graphicFrame>
        <p:nvGraphicFramePr>
          <p:cNvPr id="12292" name="Object 4"/>
          <p:cNvGraphicFramePr>
            <a:graphicFrameLocks noChangeAspect="1"/>
          </p:cNvGraphicFramePr>
          <p:nvPr/>
        </p:nvGraphicFramePr>
        <p:xfrm>
          <a:off x="1871663" y="4941888"/>
          <a:ext cx="5400675" cy="914400"/>
        </p:xfrm>
        <a:graphic>
          <a:graphicData uri="http://schemas.openxmlformats.org/presentationml/2006/ole">
            <mc:AlternateContent xmlns:mc="http://schemas.openxmlformats.org/markup-compatibility/2006">
              <mc:Choice xmlns:v="urn:schemas-microsoft-com:vml" Requires="v">
                <p:oleObj spid="_x0000_s12294" name="Equation" r:id="rId1" imgW="2552700" imgH="431800" progId="Equation.3">
                  <p:embed/>
                </p:oleObj>
              </mc:Choice>
              <mc:Fallback>
                <p:oleObj name="Equation" r:id="rId1" imgW="2552700" imgH="4318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1663" y="4941888"/>
                        <a:ext cx="5400675"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p:cNvSpPr>
          <p:nvPr>
            <p:ph type="ctrTitle"/>
          </p:nvPr>
        </p:nvSpPr>
        <p:spPr>
          <a:xfrm>
            <a:off x="576263" y="404813"/>
            <a:ext cx="7991475" cy="865187"/>
          </a:xfrm>
        </p:spPr>
        <p:txBody>
          <a:bodyPr/>
          <a:lstStyle/>
          <a:p>
            <a:pPr eaLnBrk="1" hangingPunct="1"/>
            <a:r>
              <a:rPr lang="zh-CN" altLang="en-US" sz="4000" b="1" smtClean="0">
                <a:solidFill>
                  <a:srgbClr val="C00000"/>
                </a:solidFill>
                <a:latin typeface="Times New Roman" panose="02020603050405020304" pitchFamily="18" charset="0"/>
                <a:cs typeface="Times New Roman" panose="02020603050405020304" pitchFamily="18" charset="0"/>
              </a:rPr>
              <a:t>组合优化问题与判定问题</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13315" name="副标题 2"/>
          <p:cNvSpPr>
            <a:spLocks noGrp="1"/>
          </p:cNvSpPr>
          <p:nvPr>
            <p:ph type="subTitle" idx="1"/>
          </p:nvPr>
        </p:nvSpPr>
        <p:spPr>
          <a:xfrm>
            <a:off x="684213" y="1557338"/>
            <a:ext cx="7775575" cy="4824412"/>
          </a:xfrm>
        </p:spPr>
        <p:txBody>
          <a:bodyPr/>
          <a:lstStyle/>
          <a:p>
            <a:pPr algn="l"/>
            <a:r>
              <a:rPr lang="en-US" altLang="zh-CN" sz="2400" b="1" smtClean="0">
                <a:solidFill>
                  <a:srgbClr val="C00000"/>
                </a:solidFill>
                <a:latin typeface="Times New Roman" panose="02020603050405020304" pitchFamily="18" charset="0"/>
                <a:cs typeface="Times New Roman" panose="02020603050405020304" pitchFamily="18" charset="0"/>
              </a:rPr>
              <a:t>0-1</a:t>
            </a:r>
            <a:r>
              <a:rPr lang="zh-CN" altLang="en-US" sz="2400" b="1" smtClean="0">
                <a:solidFill>
                  <a:srgbClr val="C00000"/>
                </a:solidFill>
                <a:latin typeface="Times New Roman" panose="02020603050405020304" pitchFamily="18" charset="0"/>
                <a:cs typeface="Times New Roman" panose="02020603050405020304" pitchFamily="18" charset="0"/>
              </a:rPr>
              <a:t>背包</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任给 </a:t>
            </a:r>
            <a:r>
              <a:rPr lang="en-US" altLang="zh-CN" sz="2400" b="1" i="1" smtClean="0">
                <a:solidFill>
                  <a:schemeClr val="tx1"/>
                </a:solidFill>
                <a:latin typeface="Times New Roman" panose="02020603050405020304" pitchFamily="18" charset="0"/>
                <a:cs typeface="Times New Roman" panose="02020603050405020304" pitchFamily="18" charset="0"/>
              </a:rPr>
              <a:t>n </a:t>
            </a:r>
            <a:r>
              <a:rPr lang="zh-CN" altLang="en-US" sz="2400" b="1" smtClean="0">
                <a:solidFill>
                  <a:schemeClr val="tx1"/>
                </a:solidFill>
                <a:latin typeface="Times New Roman" panose="02020603050405020304" pitchFamily="18" charset="0"/>
                <a:cs typeface="Times New Roman" panose="02020603050405020304" pitchFamily="18" charset="0"/>
              </a:rPr>
              <a:t>件物品和一个背包</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物品 </a:t>
            </a:r>
            <a:r>
              <a:rPr lang="en-US" altLang="zh-CN" sz="2400" b="1" i="1" smtClean="0">
                <a:solidFill>
                  <a:schemeClr val="tx1"/>
                </a:solidFill>
                <a:latin typeface="Times New Roman" panose="02020603050405020304" pitchFamily="18" charset="0"/>
                <a:cs typeface="Times New Roman" panose="02020603050405020304" pitchFamily="18" charset="0"/>
              </a:rPr>
              <a:t>i </a:t>
            </a:r>
            <a:r>
              <a:rPr lang="zh-CN" altLang="en-US" sz="2400" b="1" smtClean="0">
                <a:solidFill>
                  <a:schemeClr val="tx1"/>
                </a:solidFill>
                <a:latin typeface="Times New Roman" panose="02020603050405020304" pitchFamily="18" charset="0"/>
                <a:cs typeface="Times New Roman" panose="02020603050405020304" pitchFamily="18" charset="0"/>
              </a:rPr>
              <a:t>的重量为 </a:t>
            </a:r>
            <a:r>
              <a:rPr lang="en-US" altLang="zh-CN" sz="2400" b="1" i="1" smtClean="0">
                <a:solidFill>
                  <a:schemeClr val="tx1"/>
                </a:solidFill>
                <a:latin typeface="Times New Roman" panose="02020603050405020304" pitchFamily="18" charset="0"/>
                <a:cs typeface="Times New Roman" panose="02020603050405020304" pitchFamily="18" charset="0"/>
              </a:rPr>
              <a:t>w</a:t>
            </a:r>
            <a:r>
              <a:rPr lang="en-US" altLang="zh-CN" sz="2400" b="1" i="1" baseline="-25000" smtClean="0">
                <a:solidFill>
                  <a:schemeClr val="tx1"/>
                </a:solidFill>
                <a:latin typeface="Times New Roman" panose="02020603050405020304" pitchFamily="18" charset="0"/>
                <a:cs typeface="Times New Roman" panose="02020603050405020304" pitchFamily="18" charset="0"/>
              </a:rPr>
              <a:t>i </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价值为 </a:t>
            </a:r>
            <a:r>
              <a:rPr lang="en-US" altLang="zh-CN" sz="2400" b="1" i="1" smtClean="0">
                <a:solidFill>
                  <a:schemeClr val="tx1"/>
                </a:solidFill>
                <a:latin typeface="Times New Roman" panose="02020603050405020304" pitchFamily="18" charset="0"/>
                <a:cs typeface="Times New Roman" panose="02020603050405020304" pitchFamily="18" charset="0"/>
              </a:rPr>
              <a:t>v</a:t>
            </a:r>
            <a:r>
              <a:rPr lang="en-US" altLang="zh-CN" sz="2400" b="1" i="1" baseline="-25000"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rPr>
              <a:t>, 1</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solidFill>
                  <a:schemeClr val="tx1"/>
                </a:solidFill>
                <a:latin typeface="Times New Roman" panose="02020603050405020304" pitchFamily="18" charset="0"/>
                <a:cs typeface="Times New Roman" panose="02020603050405020304" pitchFamily="18" charset="0"/>
              </a:rPr>
              <a:t>i </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solidFill>
                  <a:schemeClr val="tx1"/>
                </a:solidFill>
                <a:latin typeface="Times New Roman" panose="02020603050405020304" pitchFamily="18" charset="0"/>
                <a:cs typeface="Times New Roman" panose="02020603050405020304" pitchFamily="18" charset="0"/>
              </a:rPr>
              <a:t>n</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以及背包的重量限制 </a:t>
            </a:r>
            <a:r>
              <a:rPr lang="en-US" altLang="zh-CN" sz="2400" b="1" i="1" smtClean="0">
                <a:solidFill>
                  <a:schemeClr val="tx1"/>
                </a:solidFill>
                <a:latin typeface="Times New Roman" panose="02020603050405020304" pitchFamily="18" charset="0"/>
                <a:cs typeface="Times New Roman" panose="02020603050405020304" pitchFamily="18" charset="0"/>
              </a:rPr>
              <a:t>B </a:t>
            </a:r>
            <a:r>
              <a:rPr lang="zh-CN" altLang="en-US" sz="2400" b="1" smtClean="0">
                <a:solidFill>
                  <a:schemeClr val="tx1"/>
                </a:solidFill>
                <a:latin typeface="Times New Roman" panose="02020603050405020304" pitchFamily="18" charset="0"/>
                <a:cs typeface="Times New Roman" panose="02020603050405020304" pitchFamily="18" charset="0"/>
              </a:rPr>
              <a:t>和价值目标 </a:t>
            </a:r>
            <a:r>
              <a:rPr lang="en-US" altLang="zh-CN" sz="2400" b="1" i="1" smtClean="0">
                <a:solidFill>
                  <a:schemeClr val="tx1"/>
                </a:solidFill>
                <a:latin typeface="Times New Roman" panose="02020603050405020304" pitchFamily="18" charset="0"/>
                <a:cs typeface="Times New Roman" panose="02020603050405020304" pitchFamily="18" charset="0"/>
              </a:rPr>
              <a:t>K</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其中 </a:t>
            </a:r>
            <a:r>
              <a:rPr lang="en-US" altLang="zh-CN" sz="2400" b="1" i="1" smtClean="0">
                <a:solidFill>
                  <a:schemeClr val="tx1"/>
                </a:solidFill>
                <a:latin typeface="Times New Roman" panose="02020603050405020304" pitchFamily="18" charset="0"/>
                <a:cs typeface="Times New Roman" panose="02020603050405020304" pitchFamily="18" charset="0"/>
              </a:rPr>
              <a:t>w</a:t>
            </a:r>
            <a:r>
              <a:rPr lang="en-US" altLang="zh-CN" sz="2400" b="1" i="1" baseline="-25000"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 v</a:t>
            </a:r>
            <a:r>
              <a:rPr lang="en-US" altLang="zh-CN" sz="2400" b="1" i="1" baseline="-25000"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rPr>
              <a:t>B</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rPr>
              <a:t>K </a:t>
            </a:r>
            <a:r>
              <a:rPr lang="zh-CN" altLang="en-US" sz="2400" b="1" smtClean="0">
                <a:solidFill>
                  <a:schemeClr val="tx1"/>
                </a:solidFill>
                <a:latin typeface="Times New Roman" panose="02020603050405020304" pitchFamily="18" charset="0"/>
                <a:cs typeface="Times New Roman" panose="02020603050405020304" pitchFamily="18" charset="0"/>
              </a:rPr>
              <a:t>均为正整数</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问能在背包中装入总价值不少于</a:t>
            </a:r>
            <a:r>
              <a:rPr lang="en-US" altLang="zh-CN" sz="2400" b="1" i="1" smtClean="0">
                <a:solidFill>
                  <a:schemeClr val="tx1"/>
                </a:solidFill>
                <a:latin typeface="Times New Roman" panose="02020603050405020304" pitchFamily="18" charset="0"/>
                <a:cs typeface="Times New Roman" panose="02020603050405020304" pitchFamily="18" charset="0"/>
              </a:rPr>
              <a:t>K </a:t>
            </a:r>
            <a:r>
              <a:rPr lang="zh-CN" altLang="en-US" sz="2400" b="1" smtClean="0">
                <a:solidFill>
                  <a:schemeClr val="tx1"/>
                </a:solidFill>
                <a:latin typeface="Times New Roman" panose="02020603050405020304" pitchFamily="18" charset="0"/>
                <a:cs typeface="Times New Roman" panose="02020603050405020304" pitchFamily="18" charset="0"/>
              </a:rPr>
              <a:t>且总重量不超过 </a:t>
            </a:r>
            <a:r>
              <a:rPr lang="en-US" altLang="zh-CN" sz="2400" b="1" i="1" smtClean="0">
                <a:solidFill>
                  <a:schemeClr val="tx1"/>
                </a:solidFill>
                <a:latin typeface="Times New Roman" panose="02020603050405020304" pitchFamily="18" charset="0"/>
                <a:cs typeface="Times New Roman" panose="02020603050405020304" pitchFamily="18" charset="0"/>
              </a:rPr>
              <a:t>B </a:t>
            </a:r>
            <a:r>
              <a:rPr lang="zh-CN" altLang="en-US" sz="2400" b="1" smtClean="0">
                <a:solidFill>
                  <a:schemeClr val="tx1"/>
                </a:solidFill>
                <a:latin typeface="Times New Roman" panose="02020603050405020304" pitchFamily="18" charset="0"/>
                <a:cs typeface="Times New Roman" panose="02020603050405020304" pitchFamily="18" charset="0"/>
              </a:rPr>
              <a:t>的物品吗</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即</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存在子集 </a:t>
            </a:r>
            <a:r>
              <a:rPr lang="en-US" altLang="zh-CN" sz="2400" b="1" i="1" smtClean="0">
                <a:solidFill>
                  <a:schemeClr val="tx1"/>
                </a:solidFill>
                <a:latin typeface="Times New Roman" panose="02020603050405020304" pitchFamily="18" charset="0"/>
                <a:cs typeface="Times New Roman" panose="02020603050405020304" pitchFamily="18" charset="0"/>
              </a:rPr>
              <a:t>T </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smtClean="0">
                <a:solidFill>
                  <a:schemeClr val="tx1"/>
                </a:solidFill>
                <a:latin typeface="Times New Roman" panose="02020603050405020304" pitchFamily="18" charset="0"/>
                <a:cs typeface="Times New Roman" panose="02020603050405020304" pitchFamily="18" charset="0"/>
              </a:rPr>
              <a:t>{1, 2, </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rPr>
              <a:t>n </a:t>
            </a:r>
            <a:r>
              <a:rPr lang="en-US" altLang="zh-CN" sz="2400" b="1" smtClean="0">
                <a:solidFill>
                  <a:schemeClr val="tx1"/>
                </a:solidFill>
                <a:latin typeface="Times New Roman" panose="02020603050405020304" pitchFamily="18" charset="0"/>
                <a:cs typeface="Times New Roman" panose="02020603050405020304" pitchFamily="18" charset="0"/>
              </a:rPr>
              <a:t>}</a:t>
            </a:r>
            <a:r>
              <a:rPr lang="zh-CN" altLang="en-US" sz="2400" b="1" smtClean="0">
                <a:solidFill>
                  <a:schemeClr val="tx1"/>
                </a:solidFill>
                <a:latin typeface="Times New Roman" panose="02020603050405020304" pitchFamily="18" charset="0"/>
                <a:cs typeface="Times New Roman" panose="02020603050405020304" pitchFamily="18" charset="0"/>
              </a:rPr>
              <a:t>使得</a:t>
            </a:r>
            <a:endParaRPr lang="zh-CN" altLang="en-US" sz="2400" b="1" smtClean="0">
              <a:solidFill>
                <a:schemeClr val="tx1"/>
              </a:solidFill>
              <a:latin typeface="Times New Roman" panose="02020603050405020304" pitchFamily="18" charset="0"/>
              <a:cs typeface="Times New Roman" panose="02020603050405020304" pitchFamily="18" charset="0"/>
            </a:endParaRPr>
          </a:p>
          <a:p>
            <a:pPr algn="l"/>
            <a:endParaRPr lang="zh-CN" altLang="en-US" sz="2400" b="1" smtClean="0">
              <a:solidFill>
                <a:schemeClr val="tx1"/>
              </a:solidFill>
              <a:latin typeface="Times New Roman" panose="02020603050405020304" pitchFamily="18" charset="0"/>
              <a:cs typeface="Times New Roman" panose="02020603050405020304" pitchFamily="18" charset="0"/>
            </a:endParaRPr>
          </a:p>
          <a:p>
            <a:pPr algn="l" eaLnBrk="1" hangingPunct="1"/>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eaLnBrk="1" hangingPunct="1"/>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eaLnBrk="1" hangingPunct="1"/>
            <a:r>
              <a:rPr lang="zh-CN" altLang="en-US" sz="2400" b="1" smtClean="0">
                <a:solidFill>
                  <a:schemeClr val="tx1"/>
                </a:solidFill>
                <a:latin typeface="Times New Roman" panose="02020603050405020304" pitchFamily="18" charset="0"/>
                <a:cs typeface="Times New Roman" panose="02020603050405020304" pitchFamily="18" charset="0"/>
              </a:rPr>
              <a:t>搜索问题</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组合优化问题与判定问题的对应</a:t>
            </a:r>
            <a:r>
              <a:rPr lang="en-US" altLang="zh-CN" sz="2400" b="1" smtClean="0">
                <a:solidFill>
                  <a:schemeClr val="tx1"/>
                </a:solidFill>
                <a:latin typeface="Times New Roman" panose="02020603050405020304" pitchFamily="18" charset="0"/>
                <a:cs typeface="Times New Roman" panose="02020603050405020304" pitchFamily="18" charset="0"/>
              </a:rPr>
              <a:t>.</a:t>
            </a:r>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eaLnBrk="1" hangingPunct="1"/>
            <a:r>
              <a:rPr lang="zh-CN" altLang="en-US" sz="2400" b="1" smtClean="0">
                <a:solidFill>
                  <a:schemeClr val="tx1"/>
                </a:solidFill>
                <a:latin typeface="Times New Roman" panose="02020603050405020304" pitchFamily="18" charset="0"/>
                <a:cs typeface="Times New Roman" panose="02020603050405020304" pitchFamily="18" charset="0"/>
              </a:rPr>
              <a:t>如果搜索问题</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组合优化问题有多项式时间算法</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则对应的判定问题也有多项式时间算法</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通常反之亦真</a:t>
            </a:r>
            <a:r>
              <a:rPr lang="en-US" altLang="zh-CN" sz="2400" b="1" smtClean="0">
                <a:solidFill>
                  <a:schemeClr val="tx1"/>
                </a:solidFill>
                <a:latin typeface="Times New Roman" panose="02020603050405020304" pitchFamily="18" charset="0"/>
                <a:cs typeface="Times New Roman" panose="02020603050405020304" pitchFamily="18" charset="0"/>
              </a:rPr>
              <a:t>.    </a:t>
            </a:r>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a:endParaRPr lang="en-US" altLang="zh-CN" sz="2400" b="1" smtClean="0">
              <a:solidFill>
                <a:srgbClr val="C00000"/>
              </a:solidFill>
              <a:latin typeface="Times New Roman" panose="02020603050405020304" pitchFamily="18" charset="0"/>
              <a:cs typeface="Times New Roman" panose="02020603050405020304" pitchFamily="18" charset="0"/>
            </a:endParaRPr>
          </a:p>
        </p:txBody>
      </p:sp>
      <p:graphicFrame>
        <p:nvGraphicFramePr>
          <p:cNvPr id="13316" name="Object 4"/>
          <p:cNvGraphicFramePr>
            <a:graphicFrameLocks noChangeAspect="1"/>
          </p:cNvGraphicFramePr>
          <p:nvPr/>
        </p:nvGraphicFramePr>
        <p:xfrm>
          <a:off x="2411413" y="3573463"/>
          <a:ext cx="4048125" cy="792162"/>
        </p:xfrm>
        <a:graphic>
          <a:graphicData uri="http://schemas.openxmlformats.org/presentationml/2006/ole">
            <mc:AlternateContent xmlns:mc="http://schemas.openxmlformats.org/markup-compatibility/2006">
              <mc:Choice xmlns:v="urn:schemas-microsoft-com:vml" Requires="v">
                <p:oleObj spid="_x0000_s13318" name="Equation" r:id="rId1" imgW="1752600" imgH="342900" progId="Equation.3">
                  <p:embed/>
                </p:oleObj>
              </mc:Choice>
              <mc:Fallback>
                <p:oleObj name="Equation" r:id="rId1" imgW="1752600" imgH="3429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1413" y="3573463"/>
                        <a:ext cx="4048125" cy="792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p:cNvSpPr>
            <a:spLocks noGrp="1"/>
          </p:cNvSpPr>
          <p:nvPr>
            <p:ph type="ctrTitle"/>
          </p:nvPr>
        </p:nvSpPr>
        <p:spPr>
          <a:xfrm>
            <a:off x="611188" y="260350"/>
            <a:ext cx="7991475" cy="865188"/>
          </a:xfrm>
        </p:spPr>
        <p:txBody>
          <a:bodyPr/>
          <a:lstStyle/>
          <a:p>
            <a:pPr eaLnBrk="1" hangingPunct="1"/>
            <a:r>
              <a:rPr lang="zh-CN" altLang="en-US" sz="4000" b="1" smtClean="0">
                <a:solidFill>
                  <a:srgbClr val="C00000"/>
                </a:solidFill>
                <a:latin typeface="Times New Roman" panose="02020603050405020304" pitchFamily="18" charset="0"/>
                <a:cs typeface="Times New Roman" panose="02020603050405020304" pitchFamily="18" charset="0"/>
              </a:rPr>
              <a:t>组合优化问题与判定问题</a:t>
            </a:r>
            <a:endParaRPr lang="zh-CN" altLang="en-US" sz="4000" b="1" smtClean="0">
              <a:latin typeface="Times New Roman" panose="02020603050405020304" pitchFamily="18" charset="0"/>
              <a:cs typeface="Times New Roman" panose="02020603050405020304" pitchFamily="18" charset="0"/>
            </a:endParaRPr>
          </a:p>
        </p:txBody>
      </p:sp>
      <p:sp>
        <p:nvSpPr>
          <p:cNvPr id="3" name="副标题 2"/>
          <p:cNvSpPr>
            <a:spLocks noGrp="1"/>
          </p:cNvSpPr>
          <p:nvPr>
            <p:ph type="subTitle" idx="1"/>
          </p:nvPr>
        </p:nvSpPr>
        <p:spPr>
          <a:xfrm>
            <a:off x="466725" y="1160463"/>
            <a:ext cx="8280400" cy="4895850"/>
          </a:xfrm>
        </p:spPr>
        <p:txBody>
          <a:bodyPr rtlCol="0">
            <a:noAutofit/>
          </a:bodyPr>
          <a:lstStyle/>
          <a:p>
            <a:pPr algn="l">
              <a:buFont typeface="Arial" panose="020B0604020202020204" pitchFamily="34" charset="0"/>
              <a:buNone/>
              <a:defRPr/>
            </a:pPr>
            <a:r>
              <a:rPr lang="zh-CN" altLang="en-US" sz="2400" b="1" dirty="0" smtClean="0">
                <a:solidFill>
                  <a:srgbClr val="C00000"/>
                </a:solidFill>
                <a:latin typeface="Times New Roman" panose="02020603050405020304" pitchFamily="18" charset="0"/>
                <a:cs typeface="Times New Roman" panose="02020603050405020304" pitchFamily="18" charset="0"/>
              </a:rPr>
              <a:t>组合优化问题 </a:t>
            </a:r>
            <a:r>
              <a:rPr lang="en-US" sz="2400" b="1" i="1" dirty="0" smtClean="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sz="2400" b="1" dirty="0" smtClean="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smtClean="0">
                <a:solidFill>
                  <a:schemeClr val="tx1"/>
                </a:solidFill>
                <a:latin typeface="Times New Roman" panose="02020603050405020304" pitchFamily="18" charset="0"/>
                <a:cs typeface="Times New Roman" panose="02020603050405020304" pitchFamily="18" charset="0"/>
              </a:rPr>
              <a:t>由</a:t>
            </a:r>
            <a:r>
              <a:rPr lang="en-US" altLang="zh-CN" sz="2400" b="1" dirty="0" smtClean="0">
                <a:solidFill>
                  <a:schemeClr val="tx1"/>
                </a:solidFill>
                <a:latin typeface="Times New Roman" panose="02020603050405020304" pitchFamily="18" charset="0"/>
                <a:cs typeface="Times New Roman" panose="02020603050405020304" pitchFamily="18" charset="0"/>
              </a:rPr>
              <a:t>3</a:t>
            </a:r>
            <a:r>
              <a:rPr lang="zh-CN" altLang="en-US" sz="2400" b="1" dirty="0" smtClean="0">
                <a:solidFill>
                  <a:schemeClr val="tx1"/>
                </a:solidFill>
                <a:latin typeface="Times New Roman" panose="02020603050405020304" pitchFamily="18" charset="0"/>
                <a:cs typeface="Times New Roman" panose="02020603050405020304" pitchFamily="18" charset="0"/>
              </a:rPr>
              <a:t>部分组成</a:t>
            </a:r>
            <a:r>
              <a:rPr lang="en-US" altLang="zh-CN" sz="2400" b="1" dirty="0" smtClean="0">
                <a:solidFill>
                  <a:schemeClr val="tx1"/>
                </a:solidFill>
                <a:latin typeface="Times New Roman" panose="02020603050405020304" pitchFamily="18" charset="0"/>
                <a:cs typeface="Times New Roman" panose="02020603050405020304" pitchFamily="18" charset="0"/>
              </a:rPr>
              <a:t>:</a:t>
            </a:r>
            <a:endParaRPr lang="zh-CN" altLang="en-US" sz="2400" b="1" dirty="0" smtClean="0">
              <a:solidFill>
                <a:schemeClr val="tx1"/>
              </a:solidFill>
              <a:latin typeface="Times New Roman" panose="02020603050405020304" pitchFamily="18" charset="0"/>
              <a:cs typeface="Times New Roman" panose="02020603050405020304" pitchFamily="18" charset="0"/>
            </a:endParaRPr>
          </a:p>
          <a:p>
            <a:pPr algn="l">
              <a:buFont typeface="Arial" panose="020B0604020202020204" pitchFamily="34" charset="0"/>
              <a:buNone/>
              <a:defRPr/>
            </a:pPr>
            <a:r>
              <a:rPr lang="en-US" altLang="zh-CN" sz="2400" b="1" dirty="0" smtClean="0">
                <a:solidFill>
                  <a:schemeClr val="tx1"/>
                </a:solidFill>
                <a:latin typeface="Times New Roman" panose="02020603050405020304" pitchFamily="18" charset="0"/>
                <a:cs typeface="Times New Roman" panose="02020603050405020304" pitchFamily="18" charset="0"/>
              </a:rPr>
              <a:t>(1) </a:t>
            </a:r>
            <a:r>
              <a:rPr lang="zh-CN" altLang="en-US" sz="2400" b="1" dirty="0" smtClean="0">
                <a:solidFill>
                  <a:schemeClr val="tx1"/>
                </a:solidFill>
                <a:latin typeface="Times New Roman" panose="02020603050405020304" pitchFamily="18" charset="0"/>
                <a:cs typeface="Times New Roman" panose="02020603050405020304" pitchFamily="18" charset="0"/>
              </a:rPr>
              <a:t>实例集 </a:t>
            </a:r>
            <a:r>
              <a:rPr lang="en-US" altLang="zh-CN" sz="2400" b="1" i="1" dirty="0" smtClean="0">
                <a:solidFill>
                  <a:schemeClr val="tx1"/>
                </a:solidFill>
                <a:latin typeface="Times New Roman" panose="02020603050405020304" pitchFamily="18" charset="0"/>
                <a:cs typeface="Times New Roman" panose="02020603050405020304" pitchFamily="18" charset="0"/>
              </a:rPr>
              <a:t>D</a:t>
            </a:r>
            <a:r>
              <a:rPr lang="en-US" altLang="zh-CN" sz="2400" b="1" i="1" baseline="-25000"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baseline="-25000" dirty="0" smtClean="0">
                <a:solidFill>
                  <a:schemeClr val="tx1"/>
                </a:solidFill>
                <a:latin typeface="Times New Roman" panose="02020603050405020304" pitchFamily="18" charset="0"/>
                <a:cs typeface="Times New Roman" panose="02020603050405020304" pitchFamily="18" charset="0"/>
              </a:rPr>
              <a:t>*</a:t>
            </a:r>
            <a:r>
              <a:rPr lang="en-US" altLang="zh-CN" sz="2400" b="1" dirty="0" smtClean="0">
                <a:solidFill>
                  <a:schemeClr val="tx1"/>
                </a:solidFill>
                <a:latin typeface="Times New Roman" panose="02020603050405020304" pitchFamily="18" charset="0"/>
                <a:cs typeface="Times New Roman" panose="02020603050405020304" pitchFamily="18" charset="0"/>
              </a:rPr>
              <a:t>,;</a:t>
            </a:r>
            <a:endParaRPr lang="zh-CN" altLang="en-US" sz="2400" b="1" dirty="0" smtClean="0">
              <a:solidFill>
                <a:schemeClr val="tx1"/>
              </a:solidFill>
              <a:latin typeface="Times New Roman" panose="02020603050405020304" pitchFamily="18" charset="0"/>
              <a:cs typeface="Times New Roman" panose="02020603050405020304" pitchFamily="18" charset="0"/>
            </a:endParaRPr>
          </a:p>
          <a:p>
            <a:pPr algn="l">
              <a:buFont typeface="Arial" panose="020B0604020202020204" pitchFamily="34" charset="0"/>
              <a:buNone/>
              <a:defRPr/>
            </a:pPr>
            <a:r>
              <a:rPr lang="en-US" altLang="zh-CN" sz="2400" b="1" dirty="0" smtClean="0">
                <a:solidFill>
                  <a:schemeClr val="tx1"/>
                </a:solidFill>
                <a:latin typeface="Times New Roman" panose="02020603050405020304" pitchFamily="18" charset="0"/>
                <a:cs typeface="Times New Roman" panose="02020603050405020304" pitchFamily="18" charset="0"/>
              </a:rPr>
              <a:t>(2) </a:t>
            </a:r>
            <a:r>
              <a:rPr lang="en-US" altLang="zh-CN" sz="2400" b="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solidFill>
                  <a:schemeClr val="tx1"/>
                </a:solidFill>
                <a:latin typeface="Times New Roman" panose="02020603050405020304" pitchFamily="18" charset="0"/>
                <a:cs typeface="Times New Roman" panose="02020603050405020304" pitchFamily="18" charset="0"/>
              </a:rPr>
              <a:t>I</a:t>
            </a:r>
            <a:r>
              <a:rPr lang="en-US" altLang="zh-CN" sz="2400" b="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solidFill>
                  <a:schemeClr val="tx1"/>
                </a:solidFill>
                <a:latin typeface="Times New Roman" panose="02020603050405020304" pitchFamily="18" charset="0"/>
                <a:cs typeface="Times New Roman" panose="02020603050405020304" pitchFamily="18" charset="0"/>
              </a:rPr>
              <a:t>D</a:t>
            </a:r>
            <a:r>
              <a:rPr lang="en-US" altLang="zh-CN" sz="2400" b="1" i="1" baseline="-25000"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baseline="-25000" dirty="0" smtClean="0">
                <a:solidFill>
                  <a:schemeClr val="tx1"/>
                </a:solidFill>
                <a:latin typeface="Times New Roman" panose="02020603050405020304" pitchFamily="18" charset="0"/>
                <a:cs typeface="Times New Roman" panose="02020603050405020304" pitchFamily="18" charset="0"/>
              </a:rPr>
              <a:t>*</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zh-CN" altLang="en-US" sz="2400" b="1" dirty="0" smtClean="0">
                <a:solidFill>
                  <a:schemeClr val="tx1"/>
                </a:solidFill>
                <a:latin typeface="Times New Roman" panose="02020603050405020304" pitchFamily="18" charset="0"/>
                <a:cs typeface="Times New Roman" panose="02020603050405020304" pitchFamily="18" charset="0"/>
              </a:rPr>
              <a:t>有一个有穷非空集 </a:t>
            </a:r>
            <a:r>
              <a:rPr lang="en-US" altLang="zh-CN" sz="2400" b="1" i="1" dirty="0" smtClean="0">
                <a:solidFill>
                  <a:schemeClr val="tx1"/>
                </a:solidFill>
                <a:latin typeface="Times New Roman" panose="02020603050405020304" pitchFamily="18" charset="0"/>
                <a:cs typeface="Times New Roman" panose="02020603050405020304" pitchFamily="18" charset="0"/>
              </a:rPr>
              <a:t>S</a:t>
            </a:r>
            <a:r>
              <a:rPr lang="en-US" altLang="zh-CN" sz="2400" b="1" dirty="0" smtClean="0">
                <a:solidFill>
                  <a:schemeClr val="tx1"/>
                </a:solidFill>
                <a:latin typeface="Times New Roman" panose="02020603050405020304" pitchFamily="18" charset="0"/>
                <a:cs typeface="Times New Roman" panose="02020603050405020304" pitchFamily="18" charset="0"/>
              </a:rPr>
              <a:t>(</a:t>
            </a:r>
            <a:r>
              <a:rPr lang="en-US" altLang="zh-CN" sz="2400" b="1" i="1" dirty="0" smtClean="0">
                <a:solidFill>
                  <a:schemeClr val="tx1"/>
                </a:solidFill>
                <a:latin typeface="Times New Roman" panose="02020603050405020304" pitchFamily="18" charset="0"/>
                <a:cs typeface="Times New Roman" panose="02020603050405020304" pitchFamily="18" charset="0"/>
              </a:rPr>
              <a:t>I</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zh-CN" altLang="en-US" sz="2400" b="1" dirty="0" smtClean="0">
                <a:solidFill>
                  <a:schemeClr val="tx1"/>
                </a:solidFill>
                <a:latin typeface="Times New Roman" panose="02020603050405020304" pitchFamily="18" charset="0"/>
                <a:cs typeface="Times New Roman" panose="02020603050405020304" pitchFamily="18" charset="0"/>
              </a:rPr>
              <a:t>其元素称作 </a:t>
            </a:r>
            <a:r>
              <a:rPr lang="en-US" altLang="zh-CN" sz="2400" b="1" i="1" dirty="0" smtClean="0">
                <a:solidFill>
                  <a:schemeClr val="tx1"/>
                </a:solidFill>
                <a:latin typeface="Times New Roman" panose="02020603050405020304" pitchFamily="18" charset="0"/>
                <a:cs typeface="Times New Roman" panose="02020603050405020304" pitchFamily="18" charset="0"/>
              </a:rPr>
              <a:t>I </a:t>
            </a:r>
            <a:r>
              <a:rPr lang="zh-CN" altLang="en-US" sz="2400" b="1" dirty="0" smtClean="0">
                <a:solidFill>
                  <a:schemeClr val="tx1"/>
                </a:solidFill>
                <a:latin typeface="Times New Roman" panose="02020603050405020304" pitchFamily="18" charset="0"/>
                <a:cs typeface="Times New Roman" panose="02020603050405020304" pitchFamily="18" charset="0"/>
              </a:rPr>
              <a:t>的可行解</a:t>
            </a:r>
            <a:r>
              <a:rPr lang="en-US" altLang="zh-CN" sz="2400" b="1" dirty="0" smtClean="0">
                <a:solidFill>
                  <a:schemeClr val="tx1"/>
                </a:solidFill>
                <a:latin typeface="Times New Roman" panose="02020603050405020304" pitchFamily="18" charset="0"/>
                <a:cs typeface="Times New Roman" panose="02020603050405020304" pitchFamily="18" charset="0"/>
              </a:rPr>
              <a:t>. </a:t>
            </a:r>
            <a:endParaRPr lang="zh-CN" altLang="en-US" sz="2400" b="1" dirty="0" smtClean="0">
              <a:solidFill>
                <a:schemeClr val="tx1"/>
              </a:solidFill>
              <a:latin typeface="Times New Roman" panose="02020603050405020304" pitchFamily="18" charset="0"/>
              <a:cs typeface="Times New Roman" panose="02020603050405020304" pitchFamily="18" charset="0"/>
            </a:endParaRPr>
          </a:p>
          <a:p>
            <a:pPr algn="l">
              <a:buFont typeface="Arial" panose="020B0604020202020204" pitchFamily="34" charset="0"/>
              <a:buNone/>
              <a:defRPr/>
            </a:pPr>
            <a:r>
              <a:rPr lang="en-US" altLang="zh-CN" sz="2400" b="1" dirty="0" smtClean="0">
                <a:solidFill>
                  <a:schemeClr val="tx1"/>
                </a:solidFill>
                <a:latin typeface="Times New Roman" panose="02020603050405020304" pitchFamily="18" charset="0"/>
                <a:cs typeface="Times New Roman" panose="02020603050405020304" pitchFamily="18" charset="0"/>
              </a:rPr>
              <a:t>(3) </a:t>
            </a:r>
            <a:r>
              <a:rPr lang="en-US" altLang="zh-CN" sz="2400" b="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err="1" smtClean="0">
                <a:solidFill>
                  <a:schemeClr val="tx1"/>
                </a:solidFill>
                <a:latin typeface="Times New Roman" panose="02020603050405020304" pitchFamily="18" charset="0"/>
                <a:cs typeface="Times New Roman" panose="02020603050405020304" pitchFamily="18" charset="0"/>
              </a:rPr>
              <a:t>s</a:t>
            </a:r>
            <a:r>
              <a:rPr lang="en-US" altLang="zh-CN" sz="2400" b="1" dirty="0" err="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err="1" smtClean="0">
                <a:solidFill>
                  <a:schemeClr val="tx1"/>
                </a:solidFill>
                <a:latin typeface="Times New Roman" panose="02020603050405020304" pitchFamily="18" charset="0"/>
                <a:cs typeface="Times New Roman" panose="02020603050405020304" pitchFamily="18" charset="0"/>
              </a:rPr>
              <a:t>S</a:t>
            </a:r>
            <a:r>
              <a:rPr lang="en-US" altLang="zh-CN" sz="2400" b="1" dirty="0" smtClean="0">
                <a:solidFill>
                  <a:schemeClr val="tx1"/>
                </a:solidFill>
                <a:latin typeface="Times New Roman" panose="02020603050405020304" pitchFamily="18" charset="0"/>
                <a:cs typeface="Times New Roman" panose="02020603050405020304" pitchFamily="18" charset="0"/>
              </a:rPr>
              <a:t>(</a:t>
            </a:r>
            <a:r>
              <a:rPr lang="en-US" altLang="zh-CN" sz="2400" b="1" i="1" dirty="0" smtClean="0">
                <a:solidFill>
                  <a:schemeClr val="tx1"/>
                </a:solidFill>
                <a:latin typeface="Times New Roman" panose="02020603050405020304" pitchFamily="18" charset="0"/>
                <a:cs typeface="Times New Roman" panose="02020603050405020304" pitchFamily="18" charset="0"/>
              </a:rPr>
              <a:t>I</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zh-CN" altLang="en-US" sz="2400" b="1" dirty="0" smtClean="0">
                <a:solidFill>
                  <a:schemeClr val="tx1"/>
                </a:solidFill>
                <a:latin typeface="Times New Roman" panose="02020603050405020304" pitchFamily="18" charset="0"/>
                <a:cs typeface="Times New Roman" panose="02020603050405020304" pitchFamily="18" charset="0"/>
              </a:rPr>
              <a:t>有一个正整数 </a:t>
            </a:r>
            <a:r>
              <a:rPr lang="en-US" altLang="zh-CN" sz="2400" b="1" i="1" dirty="0" smtClean="0">
                <a:solidFill>
                  <a:schemeClr val="tx1"/>
                </a:solidFill>
                <a:latin typeface="Times New Roman" panose="02020603050405020304" pitchFamily="18" charset="0"/>
                <a:cs typeface="Times New Roman" panose="02020603050405020304" pitchFamily="18" charset="0"/>
              </a:rPr>
              <a:t>c</a:t>
            </a:r>
            <a:r>
              <a:rPr lang="en-US" altLang="zh-CN" sz="2400" b="1" dirty="0" smtClean="0">
                <a:solidFill>
                  <a:schemeClr val="tx1"/>
                </a:solidFill>
                <a:latin typeface="Times New Roman" panose="02020603050405020304" pitchFamily="18" charset="0"/>
                <a:cs typeface="Times New Roman" panose="02020603050405020304" pitchFamily="18" charset="0"/>
              </a:rPr>
              <a:t>(</a:t>
            </a:r>
            <a:r>
              <a:rPr lang="en-US" altLang="zh-CN" sz="2400" b="1" i="1" dirty="0" smtClean="0">
                <a:solidFill>
                  <a:schemeClr val="tx1"/>
                </a:solidFill>
                <a:latin typeface="Times New Roman" panose="02020603050405020304" pitchFamily="18" charset="0"/>
                <a:cs typeface="Times New Roman" panose="02020603050405020304" pitchFamily="18" charset="0"/>
              </a:rPr>
              <a:t>s</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zh-CN" altLang="en-US" sz="2400" b="1" dirty="0" smtClean="0">
                <a:solidFill>
                  <a:schemeClr val="tx1"/>
                </a:solidFill>
                <a:latin typeface="Times New Roman" panose="02020603050405020304" pitchFamily="18" charset="0"/>
                <a:cs typeface="Times New Roman" panose="02020603050405020304" pitchFamily="18" charset="0"/>
              </a:rPr>
              <a:t>称作 </a:t>
            </a:r>
            <a:r>
              <a:rPr lang="en-US" altLang="zh-CN" sz="2400" b="1" i="1" dirty="0" smtClean="0">
                <a:solidFill>
                  <a:schemeClr val="tx1"/>
                </a:solidFill>
                <a:latin typeface="Times New Roman" panose="02020603050405020304" pitchFamily="18" charset="0"/>
                <a:cs typeface="Times New Roman" panose="02020603050405020304" pitchFamily="18" charset="0"/>
              </a:rPr>
              <a:t>s </a:t>
            </a:r>
            <a:r>
              <a:rPr lang="zh-CN" altLang="en-US" sz="2400" b="1" dirty="0" smtClean="0">
                <a:solidFill>
                  <a:schemeClr val="tx1"/>
                </a:solidFill>
                <a:latin typeface="Times New Roman" panose="02020603050405020304" pitchFamily="18" charset="0"/>
                <a:cs typeface="Times New Roman" panose="02020603050405020304" pitchFamily="18" charset="0"/>
              </a:rPr>
              <a:t>的值</a:t>
            </a:r>
            <a:r>
              <a:rPr lang="en-US" altLang="zh-CN" sz="2400" b="1" dirty="0" smtClean="0">
                <a:solidFill>
                  <a:schemeClr val="tx1"/>
                </a:solidFill>
                <a:latin typeface="Times New Roman" panose="02020603050405020304" pitchFamily="18" charset="0"/>
                <a:cs typeface="Times New Roman" panose="02020603050405020304" pitchFamily="18" charset="0"/>
              </a:rPr>
              <a:t>.</a:t>
            </a:r>
            <a:endParaRPr lang="zh-CN" altLang="en-US" sz="2400" b="1" dirty="0" smtClean="0">
              <a:solidFill>
                <a:schemeClr val="tx1"/>
              </a:solidFill>
              <a:latin typeface="Times New Roman" panose="02020603050405020304" pitchFamily="18" charset="0"/>
              <a:cs typeface="Times New Roman" panose="02020603050405020304" pitchFamily="18" charset="0"/>
            </a:endParaRPr>
          </a:p>
          <a:p>
            <a:pPr algn="l">
              <a:buFont typeface="Arial" panose="020B0604020202020204" pitchFamily="34" charset="0"/>
              <a:buNone/>
              <a:defRPr/>
            </a:pPr>
            <a:r>
              <a:rPr lang="zh-CN" altLang="en-US" sz="2400" b="1" dirty="0" smtClean="0">
                <a:solidFill>
                  <a:schemeClr val="tx1"/>
                </a:solidFill>
                <a:latin typeface="Times New Roman" panose="02020603050405020304" pitchFamily="18" charset="0"/>
                <a:cs typeface="Times New Roman" panose="02020603050405020304" pitchFamily="18" charset="0"/>
              </a:rPr>
              <a:t>如果 </a:t>
            </a:r>
            <a:r>
              <a:rPr lang="en-US" altLang="zh-CN" sz="2400" b="1" i="1" dirty="0" smtClean="0">
                <a:solidFill>
                  <a:schemeClr val="tx1"/>
                </a:solidFill>
                <a:latin typeface="Times New Roman" panose="02020603050405020304" pitchFamily="18" charset="0"/>
                <a:cs typeface="Times New Roman" panose="02020603050405020304" pitchFamily="18" charset="0"/>
              </a:rPr>
              <a:t>s</a:t>
            </a:r>
            <a:r>
              <a:rPr lang="en-US" altLang="zh-CN" sz="2400" b="1" dirty="0" smtClean="0">
                <a:solidFill>
                  <a:schemeClr val="tx1"/>
                </a:solidFill>
                <a:latin typeface="Times New Roman" panose="02020603050405020304" pitchFamily="18" charset="0"/>
                <a:cs typeface="Times New Roman" panose="02020603050405020304" pitchFamily="18" charset="0"/>
              </a:rPr>
              <a:t>*</a:t>
            </a:r>
            <a:r>
              <a:rPr lang="en-US" altLang="zh-CN" sz="2400" b="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solidFill>
                  <a:schemeClr val="tx1"/>
                </a:solidFill>
                <a:latin typeface="Times New Roman" panose="02020603050405020304" pitchFamily="18" charset="0"/>
                <a:cs typeface="Times New Roman" panose="02020603050405020304" pitchFamily="18" charset="0"/>
              </a:rPr>
              <a:t>S</a:t>
            </a:r>
            <a:r>
              <a:rPr lang="en-US" altLang="zh-CN" sz="2400" b="1" dirty="0" smtClean="0">
                <a:solidFill>
                  <a:schemeClr val="tx1"/>
                </a:solidFill>
                <a:latin typeface="Times New Roman" panose="02020603050405020304" pitchFamily="18" charset="0"/>
                <a:cs typeface="Times New Roman" panose="02020603050405020304" pitchFamily="18" charset="0"/>
              </a:rPr>
              <a:t>(</a:t>
            </a:r>
            <a:r>
              <a:rPr lang="en-US" altLang="zh-CN" sz="2400" b="1" i="1" dirty="0" smtClean="0">
                <a:solidFill>
                  <a:schemeClr val="tx1"/>
                </a:solidFill>
                <a:latin typeface="Times New Roman" panose="02020603050405020304" pitchFamily="18" charset="0"/>
                <a:cs typeface="Times New Roman" panose="02020603050405020304" pitchFamily="18" charset="0"/>
              </a:rPr>
              <a:t>I</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zh-CN" altLang="en-US" sz="2400" b="1" dirty="0" smtClean="0">
                <a:solidFill>
                  <a:schemeClr val="tx1"/>
                </a:solidFill>
                <a:latin typeface="Times New Roman" panose="02020603050405020304" pitchFamily="18" charset="0"/>
                <a:cs typeface="Times New Roman" panose="02020603050405020304" pitchFamily="18" charset="0"/>
              </a:rPr>
              <a:t>对所有的 </a:t>
            </a:r>
            <a:r>
              <a:rPr lang="en-US" altLang="zh-CN" sz="2400" b="1" i="1" dirty="0" err="1" smtClean="0">
                <a:solidFill>
                  <a:schemeClr val="tx1"/>
                </a:solidFill>
                <a:latin typeface="Times New Roman" panose="02020603050405020304" pitchFamily="18" charset="0"/>
                <a:cs typeface="Times New Roman" panose="02020603050405020304" pitchFamily="18" charset="0"/>
              </a:rPr>
              <a:t>s</a:t>
            </a:r>
            <a:r>
              <a:rPr lang="en-US" altLang="zh-CN" sz="2400" b="1" dirty="0" err="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err="1" smtClean="0">
                <a:solidFill>
                  <a:schemeClr val="tx1"/>
                </a:solidFill>
                <a:latin typeface="Times New Roman" panose="02020603050405020304" pitchFamily="18" charset="0"/>
                <a:cs typeface="Times New Roman" panose="02020603050405020304" pitchFamily="18" charset="0"/>
              </a:rPr>
              <a:t>S</a:t>
            </a:r>
            <a:r>
              <a:rPr lang="en-US" altLang="zh-CN" sz="2400" b="1" dirty="0" smtClean="0">
                <a:solidFill>
                  <a:schemeClr val="tx1"/>
                </a:solidFill>
                <a:latin typeface="Times New Roman" panose="02020603050405020304" pitchFamily="18" charset="0"/>
                <a:cs typeface="Times New Roman" panose="02020603050405020304" pitchFamily="18" charset="0"/>
              </a:rPr>
              <a:t>(</a:t>
            </a:r>
            <a:r>
              <a:rPr lang="en-US" altLang="zh-CN" sz="2400" b="1" i="1" dirty="0" smtClean="0">
                <a:solidFill>
                  <a:schemeClr val="tx1"/>
                </a:solidFill>
                <a:latin typeface="Times New Roman" panose="02020603050405020304" pitchFamily="18" charset="0"/>
                <a:cs typeface="Times New Roman" panose="02020603050405020304" pitchFamily="18" charset="0"/>
              </a:rPr>
              <a:t>I</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zh-CN" altLang="en-US" sz="2400" b="1" dirty="0" smtClean="0">
                <a:solidFill>
                  <a:schemeClr val="tx1"/>
                </a:solidFill>
                <a:latin typeface="Times New Roman" panose="02020603050405020304" pitchFamily="18" charset="0"/>
                <a:cs typeface="Times New Roman" panose="02020603050405020304" pitchFamily="18" charset="0"/>
              </a:rPr>
              <a:t>当</a:t>
            </a:r>
            <a:r>
              <a:rPr lang="en-US" sz="2400" b="1" i="1" dirty="0" smtClean="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sz="2400" b="1" dirty="0" smtClean="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smtClean="0">
                <a:solidFill>
                  <a:schemeClr val="tx1"/>
                </a:solidFill>
                <a:latin typeface="Times New Roman" panose="02020603050405020304" pitchFamily="18" charset="0"/>
                <a:cs typeface="Times New Roman" panose="02020603050405020304" pitchFamily="18" charset="0"/>
              </a:rPr>
              <a:t>是最小 </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zh-CN" altLang="en-US" sz="2400" b="1" dirty="0" smtClean="0">
                <a:solidFill>
                  <a:schemeClr val="tx1"/>
                </a:solidFill>
                <a:latin typeface="Times New Roman" panose="02020603050405020304" pitchFamily="18" charset="0"/>
                <a:cs typeface="Times New Roman" panose="02020603050405020304" pitchFamily="18" charset="0"/>
              </a:rPr>
              <a:t>大 </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zh-CN" altLang="en-US" sz="2400" b="1" dirty="0" smtClean="0">
                <a:solidFill>
                  <a:schemeClr val="tx1"/>
                </a:solidFill>
                <a:latin typeface="Times New Roman" panose="02020603050405020304" pitchFamily="18" charset="0"/>
                <a:cs typeface="Times New Roman" panose="02020603050405020304" pitchFamily="18" charset="0"/>
              </a:rPr>
              <a:t>化问题时</a:t>
            </a:r>
            <a:r>
              <a:rPr lang="en-US" altLang="zh-CN" sz="2400" b="1" dirty="0" smtClean="0">
                <a:solidFill>
                  <a:schemeClr val="tx1"/>
                </a:solidFill>
                <a:latin typeface="Times New Roman" panose="02020603050405020304" pitchFamily="18" charset="0"/>
                <a:cs typeface="Times New Roman" panose="02020603050405020304" pitchFamily="18" charset="0"/>
              </a:rPr>
              <a:t>, </a:t>
            </a:r>
            <a:endParaRPr lang="zh-CN" altLang="en-US" sz="2400" b="1" dirty="0" smtClean="0">
              <a:solidFill>
                <a:schemeClr val="tx1"/>
              </a:solidFill>
              <a:latin typeface="Times New Roman" panose="02020603050405020304" pitchFamily="18" charset="0"/>
              <a:cs typeface="Times New Roman" panose="02020603050405020304" pitchFamily="18" charset="0"/>
            </a:endParaRPr>
          </a:p>
          <a:p>
            <a:pPr algn="l">
              <a:buFont typeface="Arial" panose="020B0604020202020204" pitchFamily="34" charset="0"/>
              <a:buNone/>
              <a:defRPr/>
            </a:pPr>
            <a:r>
              <a:rPr lang="en-US" altLang="zh-CN" sz="2400" b="1" i="1" dirty="0" smtClean="0">
                <a:solidFill>
                  <a:schemeClr val="tx1"/>
                </a:solidFill>
                <a:latin typeface="Times New Roman" panose="02020603050405020304" pitchFamily="18" charset="0"/>
                <a:cs typeface="Times New Roman" panose="02020603050405020304" pitchFamily="18" charset="0"/>
              </a:rPr>
              <a:t>                         c</a:t>
            </a:r>
            <a:r>
              <a:rPr lang="en-US" altLang="zh-CN" sz="2400" b="1" dirty="0" smtClean="0">
                <a:solidFill>
                  <a:schemeClr val="tx1"/>
                </a:solidFill>
                <a:latin typeface="Times New Roman" panose="02020603050405020304" pitchFamily="18" charset="0"/>
                <a:cs typeface="Times New Roman" panose="02020603050405020304" pitchFamily="18" charset="0"/>
              </a:rPr>
              <a:t>(</a:t>
            </a:r>
            <a:r>
              <a:rPr lang="en-US" altLang="zh-CN" sz="2400" b="1" i="1" dirty="0" smtClean="0">
                <a:solidFill>
                  <a:schemeClr val="tx1"/>
                </a:solidFill>
                <a:latin typeface="Times New Roman" panose="02020603050405020304" pitchFamily="18" charset="0"/>
                <a:cs typeface="Times New Roman" panose="02020603050405020304" pitchFamily="18" charset="0"/>
              </a:rPr>
              <a:t>s</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en-US" altLang="zh-CN" sz="2400" b="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solidFill>
                  <a:schemeClr val="tx1"/>
                </a:solidFill>
                <a:latin typeface="Times New Roman" panose="02020603050405020304" pitchFamily="18" charset="0"/>
                <a:cs typeface="Times New Roman" panose="02020603050405020304" pitchFamily="18" charset="0"/>
              </a:rPr>
              <a:t>c</a:t>
            </a:r>
            <a:r>
              <a:rPr lang="en-US" altLang="zh-CN" sz="2400" b="1" dirty="0" smtClean="0">
                <a:solidFill>
                  <a:schemeClr val="tx1"/>
                </a:solidFill>
                <a:latin typeface="Times New Roman" panose="02020603050405020304" pitchFamily="18" charset="0"/>
                <a:cs typeface="Times New Roman" panose="02020603050405020304" pitchFamily="18" charset="0"/>
              </a:rPr>
              <a:t>(</a:t>
            </a:r>
            <a:r>
              <a:rPr lang="en-US" altLang="zh-CN" sz="2400" b="1" i="1" dirty="0" smtClean="0">
                <a:solidFill>
                  <a:schemeClr val="tx1"/>
                </a:solidFill>
                <a:latin typeface="Times New Roman" panose="02020603050405020304" pitchFamily="18" charset="0"/>
                <a:cs typeface="Times New Roman" panose="02020603050405020304" pitchFamily="18" charset="0"/>
              </a:rPr>
              <a:t>s</a:t>
            </a:r>
            <a:r>
              <a:rPr lang="en-US" altLang="zh-CN" sz="2400" b="1" dirty="0" smtClean="0">
                <a:solidFill>
                  <a:schemeClr val="tx1"/>
                </a:solidFill>
                <a:latin typeface="Times New Roman" panose="02020603050405020304" pitchFamily="18" charset="0"/>
                <a:cs typeface="Times New Roman" panose="02020603050405020304" pitchFamily="18" charset="0"/>
              </a:rPr>
              <a:t>)         ( </a:t>
            </a:r>
            <a:r>
              <a:rPr lang="en-US" altLang="zh-CN" sz="2400" b="1" i="1" dirty="0" smtClean="0">
                <a:solidFill>
                  <a:schemeClr val="tx1"/>
                </a:solidFill>
                <a:latin typeface="Times New Roman" panose="02020603050405020304" pitchFamily="18" charset="0"/>
                <a:cs typeface="Times New Roman" panose="02020603050405020304" pitchFamily="18" charset="0"/>
              </a:rPr>
              <a:t>c</a:t>
            </a:r>
            <a:r>
              <a:rPr lang="en-US" altLang="zh-CN" sz="2400" b="1" dirty="0" smtClean="0">
                <a:solidFill>
                  <a:schemeClr val="tx1"/>
                </a:solidFill>
                <a:latin typeface="Times New Roman" panose="02020603050405020304" pitchFamily="18" charset="0"/>
                <a:cs typeface="Times New Roman" panose="02020603050405020304" pitchFamily="18" charset="0"/>
              </a:rPr>
              <a:t>(</a:t>
            </a:r>
            <a:r>
              <a:rPr lang="en-US" altLang="zh-CN" sz="2400" b="1" i="1" dirty="0" smtClean="0">
                <a:solidFill>
                  <a:schemeClr val="tx1"/>
                </a:solidFill>
                <a:latin typeface="Times New Roman" panose="02020603050405020304" pitchFamily="18" charset="0"/>
                <a:cs typeface="Times New Roman" panose="02020603050405020304" pitchFamily="18" charset="0"/>
              </a:rPr>
              <a:t>s</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en-US" altLang="zh-CN" sz="2400" b="1" dirty="0"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solidFill>
                  <a:schemeClr val="tx1"/>
                </a:solidFill>
                <a:latin typeface="Times New Roman" panose="02020603050405020304" pitchFamily="18" charset="0"/>
                <a:cs typeface="Times New Roman" panose="02020603050405020304" pitchFamily="18" charset="0"/>
              </a:rPr>
              <a:t>c</a:t>
            </a:r>
            <a:r>
              <a:rPr lang="en-US" altLang="zh-CN" sz="2400" b="1" dirty="0" smtClean="0">
                <a:solidFill>
                  <a:schemeClr val="tx1"/>
                </a:solidFill>
                <a:latin typeface="Times New Roman" panose="02020603050405020304" pitchFamily="18" charset="0"/>
                <a:cs typeface="Times New Roman" panose="02020603050405020304" pitchFamily="18" charset="0"/>
              </a:rPr>
              <a:t>(</a:t>
            </a:r>
            <a:r>
              <a:rPr lang="en-US" altLang="zh-CN" sz="2400" b="1" i="1" dirty="0" smtClean="0">
                <a:solidFill>
                  <a:schemeClr val="tx1"/>
                </a:solidFill>
                <a:latin typeface="Times New Roman" panose="02020603050405020304" pitchFamily="18" charset="0"/>
                <a:cs typeface="Times New Roman" panose="02020603050405020304" pitchFamily="18" charset="0"/>
              </a:rPr>
              <a:t>s</a:t>
            </a:r>
            <a:r>
              <a:rPr lang="en-US" altLang="zh-CN" sz="2400" b="1" dirty="0" smtClean="0">
                <a:solidFill>
                  <a:schemeClr val="tx1"/>
                </a:solidFill>
                <a:latin typeface="Times New Roman" panose="02020603050405020304" pitchFamily="18" charset="0"/>
                <a:cs typeface="Times New Roman" panose="02020603050405020304" pitchFamily="18" charset="0"/>
              </a:rPr>
              <a:t>) )</a:t>
            </a:r>
            <a:endParaRPr lang="zh-CN" altLang="en-US" sz="2400" b="1" dirty="0" smtClean="0">
              <a:solidFill>
                <a:schemeClr val="tx1"/>
              </a:solidFill>
              <a:latin typeface="Times New Roman" panose="02020603050405020304" pitchFamily="18" charset="0"/>
              <a:cs typeface="Times New Roman" panose="02020603050405020304" pitchFamily="18" charset="0"/>
            </a:endParaRPr>
          </a:p>
          <a:p>
            <a:pPr algn="l">
              <a:buFont typeface="Arial" panose="020B0604020202020204" pitchFamily="34" charset="0"/>
              <a:buNone/>
              <a:defRPr/>
            </a:pPr>
            <a:r>
              <a:rPr lang="zh-CN" altLang="en-US" sz="2400" b="1" dirty="0" smtClean="0">
                <a:solidFill>
                  <a:schemeClr val="tx1"/>
                </a:solidFill>
                <a:latin typeface="Times New Roman" panose="02020603050405020304" pitchFamily="18" charset="0"/>
                <a:cs typeface="Times New Roman" panose="02020603050405020304" pitchFamily="18" charset="0"/>
              </a:rPr>
              <a:t>则称 </a:t>
            </a:r>
            <a:r>
              <a:rPr lang="en-US" altLang="zh-CN" sz="2400" b="1" i="1" dirty="0" smtClean="0">
                <a:solidFill>
                  <a:schemeClr val="tx1"/>
                </a:solidFill>
                <a:latin typeface="Times New Roman" panose="02020603050405020304" pitchFamily="18" charset="0"/>
                <a:cs typeface="Times New Roman" panose="02020603050405020304" pitchFamily="18" charset="0"/>
              </a:rPr>
              <a:t>s</a:t>
            </a:r>
            <a:r>
              <a:rPr lang="en-US" altLang="zh-CN" sz="2400" b="1" dirty="0" smtClean="0">
                <a:solidFill>
                  <a:schemeClr val="tx1"/>
                </a:solidFill>
                <a:latin typeface="Times New Roman" panose="02020603050405020304" pitchFamily="18" charset="0"/>
                <a:cs typeface="Times New Roman" panose="02020603050405020304" pitchFamily="18" charset="0"/>
              </a:rPr>
              <a:t>*</a:t>
            </a:r>
            <a:r>
              <a:rPr lang="zh-CN" altLang="en-US" sz="2400" b="1" dirty="0" smtClean="0">
                <a:solidFill>
                  <a:schemeClr val="tx1"/>
                </a:solidFill>
                <a:latin typeface="Times New Roman" panose="02020603050405020304" pitchFamily="18" charset="0"/>
                <a:cs typeface="Times New Roman" panose="02020603050405020304" pitchFamily="18" charset="0"/>
              </a:rPr>
              <a:t>是 </a:t>
            </a:r>
            <a:r>
              <a:rPr lang="en-US" altLang="zh-CN" sz="2400" b="1" i="1" dirty="0" smtClean="0">
                <a:solidFill>
                  <a:schemeClr val="tx1"/>
                </a:solidFill>
                <a:latin typeface="Times New Roman" panose="02020603050405020304" pitchFamily="18" charset="0"/>
                <a:cs typeface="Times New Roman" panose="02020603050405020304" pitchFamily="18" charset="0"/>
              </a:rPr>
              <a:t>I </a:t>
            </a:r>
            <a:r>
              <a:rPr lang="zh-CN" altLang="en-US" sz="2400" b="1" dirty="0" smtClean="0">
                <a:solidFill>
                  <a:schemeClr val="tx1"/>
                </a:solidFill>
                <a:latin typeface="Times New Roman" panose="02020603050405020304" pitchFamily="18" charset="0"/>
                <a:cs typeface="Times New Roman" panose="02020603050405020304" pitchFamily="18" charset="0"/>
              </a:rPr>
              <a:t>的最优解</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en-US" altLang="zh-CN" sz="2400" b="1" i="1" dirty="0" smtClean="0">
                <a:solidFill>
                  <a:schemeClr val="tx1"/>
                </a:solidFill>
                <a:latin typeface="Times New Roman" panose="02020603050405020304" pitchFamily="18" charset="0"/>
                <a:cs typeface="Times New Roman" panose="02020603050405020304" pitchFamily="18" charset="0"/>
              </a:rPr>
              <a:t>c</a:t>
            </a:r>
            <a:r>
              <a:rPr lang="en-US" altLang="zh-CN" sz="2400" b="1" dirty="0" smtClean="0">
                <a:solidFill>
                  <a:schemeClr val="tx1"/>
                </a:solidFill>
                <a:latin typeface="Times New Roman" panose="02020603050405020304" pitchFamily="18" charset="0"/>
                <a:cs typeface="Times New Roman" panose="02020603050405020304" pitchFamily="18" charset="0"/>
              </a:rPr>
              <a:t>(</a:t>
            </a:r>
            <a:r>
              <a:rPr lang="en-US" altLang="zh-CN" sz="2400" b="1" i="1" dirty="0" smtClean="0">
                <a:solidFill>
                  <a:schemeClr val="tx1"/>
                </a:solidFill>
                <a:latin typeface="Times New Roman" panose="02020603050405020304" pitchFamily="18" charset="0"/>
                <a:cs typeface="Times New Roman" panose="02020603050405020304" pitchFamily="18" charset="0"/>
              </a:rPr>
              <a:t>s</a:t>
            </a:r>
            <a:r>
              <a:rPr lang="en-US" altLang="zh-CN" sz="2400" b="1" dirty="0" smtClean="0">
                <a:solidFill>
                  <a:schemeClr val="tx1"/>
                </a:solidFill>
                <a:latin typeface="Times New Roman" panose="02020603050405020304" pitchFamily="18" charset="0"/>
                <a:cs typeface="Times New Roman" panose="02020603050405020304" pitchFamily="18" charset="0"/>
              </a:rPr>
              <a:t>*)</a:t>
            </a:r>
            <a:r>
              <a:rPr lang="zh-CN" altLang="en-US" sz="2400" b="1" dirty="0" smtClean="0">
                <a:solidFill>
                  <a:schemeClr val="tx1"/>
                </a:solidFill>
                <a:latin typeface="Times New Roman" panose="02020603050405020304" pitchFamily="18" charset="0"/>
                <a:cs typeface="Times New Roman" panose="02020603050405020304" pitchFamily="18" charset="0"/>
              </a:rPr>
              <a:t>是 </a:t>
            </a:r>
            <a:r>
              <a:rPr lang="en-US" altLang="zh-CN" sz="2400" b="1" i="1" dirty="0" smtClean="0">
                <a:solidFill>
                  <a:schemeClr val="tx1"/>
                </a:solidFill>
                <a:latin typeface="Times New Roman" panose="02020603050405020304" pitchFamily="18" charset="0"/>
                <a:cs typeface="Times New Roman" panose="02020603050405020304" pitchFamily="18" charset="0"/>
              </a:rPr>
              <a:t>I </a:t>
            </a:r>
            <a:r>
              <a:rPr lang="zh-CN" altLang="en-US" sz="2400" b="1" dirty="0" smtClean="0">
                <a:solidFill>
                  <a:schemeClr val="tx1"/>
                </a:solidFill>
                <a:latin typeface="Times New Roman" panose="02020603050405020304" pitchFamily="18" charset="0"/>
                <a:cs typeface="Times New Roman" panose="02020603050405020304" pitchFamily="18" charset="0"/>
              </a:rPr>
              <a:t>的最优值</a:t>
            </a:r>
            <a:r>
              <a:rPr lang="en-US" altLang="zh-CN" sz="2400" b="1" dirty="0" smtClean="0">
                <a:solidFill>
                  <a:schemeClr val="tx1"/>
                </a:solidFill>
                <a:latin typeface="Times New Roman" panose="02020603050405020304" pitchFamily="18" charset="0"/>
                <a:cs typeface="Times New Roman" panose="02020603050405020304" pitchFamily="18" charset="0"/>
              </a:rPr>
              <a:t>, </a:t>
            </a:r>
            <a:r>
              <a:rPr lang="zh-CN" altLang="en-US" sz="2400" b="1" dirty="0" smtClean="0">
                <a:solidFill>
                  <a:schemeClr val="tx1"/>
                </a:solidFill>
                <a:latin typeface="Times New Roman" panose="02020603050405020304" pitchFamily="18" charset="0"/>
                <a:cs typeface="Times New Roman" panose="02020603050405020304" pitchFamily="18" charset="0"/>
              </a:rPr>
              <a:t>记作 </a:t>
            </a:r>
            <a:r>
              <a:rPr lang="en-US" altLang="zh-CN" sz="2400" b="1" dirty="0" smtClean="0">
                <a:solidFill>
                  <a:schemeClr val="tx1"/>
                </a:solidFill>
                <a:latin typeface="Times New Roman" panose="02020603050405020304" pitchFamily="18" charset="0"/>
                <a:cs typeface="Times New Roman" panose="02020603050405020304" pitchFamily="18" charset="0"/>
              </a:rPr>
              <a:t>OPT(</a:t>
            </a:r>
            <a:r>
              <a:rPr lang="en-US" altLang="zh-CN" sz="2400" b="1" i="1" dirty="0" smtClean="0">
                <a:solidFill>
                  <a:schemeClr val="tx1"/>
                </a:solidFill>
                <a:latin typeface="Times New Roman" panose="02020603050405020304" pitchFamily="18" charset="0"/>
                <a:cs typeface="Times New Roman" panose="02020603050405020304" pitchFamily="18" charset="0"/>
              </a:rPr>
              <a:t>I</a:t>
            </a:r>
            <a:r>
              <a:rPr lang="en-US" altLang="zh-CN" sz="2400" b="1" dirty="0" smtClean="0">
                <a:solidFill>
                  <a:schemeClr val="tx1"/>
                </a:solidFill>
                <a:latin typeface="Times New Roman" panose="02020603050405020304" pitchFamily="18" charset="0"/>
                <a:cs typeface="Times New Roman" panose="02020603050405020304" pitchFamily="18" charset="0"/>
              </a:rPr>
              <a:t>).</a:t>
            </a:r>
            <a:endParaRPr lang="en-US" altLang="zh-CN" sz="2400" b="1" dirty="0" smtClean="0">
              <a:solidFill>
                <a:srgbClr val="C00000"/>
              </a:solidFill>
              <a:latin typeface="Times New Roman" panose="02020603050405020304" pitchFamily="18" charset="0"/>
              <a:cs typeface="Times New Roman" panose="02020603050405020304" pitchFamily="18" charset="0"/>
            </a:endParaRPr>
          </a:p>
          <a:p>
            <a:pPr algn="l" eaLnBrk="1" fontAlgn="auto" hangingPunct="1">
              <a:spcBef>
                <a:spcPts val="1800"/>
              </a:spcBef>
              <a:spcAft>
                <a:spcPts val="0"/>
              </a:spcAft>
              <a:buFont typeface="Arial" panose="020B0604020202020204" pitchFamily="34" charset="0"/>
              <a:buNone/>
              <a:defRPr/>
            </a:pPr>
            <a:r>
              <a:rPr lang="en-US" sz="2400" b="1" i="1" dirty="0" smtClean="0">
                <a:solidFill>
                  <a:srgbClr val="C00000"/>
                </a:solidFill>
                <a:latin typeface="Times New Roman" panose="02020603050405020304" pitchFamily="18" charset="0"/>
                <a:cs typeface="Times New Roman" panose="02020603050405020304" pitchFamily="18" charset="0"/>
                <a:sym typeface="Symbol" panose="05050102010706020507"/>
              </a:rPr>
              <a:t> </a:t>
            </a:r>
            <a:r>
              <a:rPr lang="en-US" sz="2400" b="1" dirty="0" smtClean="0">
                <a:solidFill>
                  <a:srgbClr val="C00000"/>
                </a:solidFill>
                <a:latin typeface="Times New Roman" panose="02020603050405020304" pitchFamily="18" charset="0"/>
                <a:cs typeface="Times New Roman" panose="02020603050405020304" pitchFamily="18" charset="0"/>
              </a:rPr>
              <a:t>* </a:t>
            </a:r>
            <a:r>
              <a:rPr lang="zh-CN" altLang="en-US" sz="2400" b="1" dirty="0" smtClean="0">
                <a:solidFill>
                  <a:srgbClr val="C00000"/>
                </a:solidFill>
                <a:latin typeface="Times New Roman" panose="02020603050405020304" pitchFamily="18" charset="0"/>
                <a:cs typeface="Times New Roman" panose="02020603050405020304" pitchFamily="18" charset="0"/>
              </a:rPr>
              <a:t>对应的判定问题 </a:t>
            </a:r>
            <a:r>
              <a:rPr lang="en-US" sz="2400" b="1" i="1" dirty="0" smtClean="0">
                <a:solidFill>
                  <a:srgbClr val="C00000"/>
                </a:solidFill>
                <a:latin typeface="Times New Roman" panose="02020603050405020304" pitchFamily="18" charset="0"/>
                <a:cs typeface="Times New Roman" panose="02020603050405020304" pitchFamily="18" charset="0"/>
                <a:sym typeface="Symbol" panose="05050102010706020507"/>
              </a:rPr>
              <a:t></a:t>
            </a:r>
            <a:r>
              <a:rPr lang="en-US" sz="2400" b="1" dirty="0" smtClean="0">
                <a:solidFill>
                  <a:srgbClr val="C00000"/>
                </a:solidFill>
                <a:latin typeface="Times New Roman" panose="02020603050405020304" pitchFamily="18" charset="0"/>
                <a:cs typeface="Times New Roman" panose="02020603050405020304" pitchFamily="18" charset="0"/>
              </a:rPr>
              <a:t> </a:t>
            </a:r>
            <a:r>
              <a:rPr lang="en-US" sz="2400" b="1" dirty="0" smtClean="0">
                <a:solidFill>
                  <a:schemeClr val="tx1"/>
                </a:solidFill>
                <a:latin typeface="Times New Roman" panose="02020603050405020304" pitchFamily="18" charset="0"/>
                <a:cs typeface="Times New Roman" panose="02020603050405020304" pitchFamily="18" charset="0"/>
              </a:rPr>
              <a:t>= &lt; </a:t>
            </a:r>
            <a:r>
              <a:rPr lang="en-US" sz="2400" b="1" i="1" dirty="0" smtClean="0">
                <a:solidFill>
                  <a:schemeClr val="tx1"/>
                </a:solidFill>
                <a:latin typeface="Times New Roman" panose="02020603050405020304" pitchFamily="18" charset="0"/>
                <a:cs typeface="Times New Roman" panose="02020603050405020304" pitchFamily="18" charset="0"/>
              </a:rPr>
              <a:t>D</a:t>
            </a:r>
            <a:r>
              <a:rPr lang="en-US" sz="2400" b="1" i="1" baseline="-25000" dirty="0" smtClean="0">
                <a:solidFill>
                  <a:schemeClr val="tx1"/>
                </a:solidFill>
                <a:latin typeface="Times New Roman" panose="02020603050405020304" pitchFamily="18" charset="0"/>
                <a:cs typeface="Times New Roman" panose="02020603050405020304" pitchFamily="18" charset="0"/>
                <a:sym typeface="Symbol" panose="05050102010706020507"/>
              </a:rPr>
              <a:t> </a:t>
            </a:r>
            <a:r>
              <a:rPr lang="en-US" sz="2400" b="1" dirty="0" smtClean="0">
                <a:solidFill>
                  <a:schemeClr val="tx1"/>
                </a:solidFill>
                <a:latin typeface="Times New Roman" panose="02020603050405020304" pitchFamily="18" charset="0"/>
                <a:cs typeface="Times New Roman" panose="02020603050405020304" pitchFamily="18" charset="0"/>
              </a:rPr>
              <a:t>,</a:t>
            </a:r>
            <a:r>
              <a:rPr lang="en-US" sz="2400" b="1" i="1" dirty="0" smtClean="0">
                <a:solidFill>
                  <a:schemeClr val="tx1"/>
                </a:solidFill>
                <a:latin typeface="Times New Roman" panose="02020603050405020304" pitchFamily="18" charset="0"/>
                <a:cs typeface="Times New Roman" panose="02020603050405020304" pitchFamily="18" charset="0"/>
              </a:rPr>
              <a:t>Y</a:t>
            </a:r>
            <a:r>
              <a:rPr lang="en-US" sz="2400" b="1" i="1" baseline="-25000" dirty="0" smtClean="0">
                <a:solidFill>
                  <a:schemeClr val="tx1"/>
                </a:solidFill>
                <a:latin typeface="Times New Roman" panose="02020603050405020304" pitchFamily="18" charset="0"/>
                <a:cs typeface="Times New Roman" panose="02020603050405020304" pitchFamily="18" charset="0"/>
                <a:sym typeface="Symbol" panose="05050102010706020507"/>
              </a:rPr>
              <a:t>  </a:t>
            </a:r>
            <a:r>
              <a:rPr lang="en-US" sz="2400" b="1" dirty="0" smtClean="0">
                <a:solidFill>
                  <a:schemeClr val="tx1"/>
                </a:solidFill>
                <a:latin typeface="Times New Roman" panose="02020603050405020304" pitchFamily="18" charset="0"/>
                <a:cs typeface="Times New Roman" panose="02020603050405020304" pitchFamily="18" charset="0"/>
              </a:rPr>
              <a:t>&gt;</a:t>
            </a:r>
            <a:r>
              <a:rPr lang="zh-CN" altLang="en-US" sz="2400" b="1" dirty="0" smtClean="0">
                <a:solidFill>
                  <a:schemeClr val="tx1"/>
                </a:solidFill>
                <a:latin typeface="Times New Roman" panose="02020603050405020304" pitchFamily="18" charset="0"/>
                <a:cs typeface="Times New Roman" panose="02020603050405020304" pitchFamily="18" charset="0"/>
              </a:rPr>
              <a:t>定义如下</a:t>
            </a:r>
            <a:r>
              <a:rPr lang="en-US" sz="2400" b="1" dirty="0" smtClean="0">
                <a:solidFill>
                  <a:schemeClr val="tx1"/>
                </a:solidFill>
                <a:latin typeface="Times New Roman" panose="02020603050405020304" pitchFamily="18" charset="0"/>
                <a:cs typeface="Times New Roman" panose="02020603050405020304" pitchFamily="18" charset="0"/>
              </a:rPr>
              <a:t>: </a:t>
            </a:r>
            <a:endParaRPr lang="en-US" sz="2400" b="1" dirty="0" smtClean="0">
              <a:solidFill>
                <a:schemeClr val="tx1"/>
              </a:solidFill>
              <a:latin typeface="Times New Roman" panose="02020603050405020304" pitchFamily="18" charset="0"/>
              <a:cs typeface="Times New Roman" panose="02020603050405020304" pitchFamily="18" charset="0"/>
            </a:endParaRPr>
          </a:p>
          <a:p>
            <a:pPr algn="l" eaLnBrk="1" fontAlgn="auto" hangingPunct="1">
              <a:spcAft>
                <a:spcPts val="0"/>
              </a:spcAft>
              <a:buFont typeface="Arial" panose="020B0604020202020204" pitchFamily="34" charset="0"/>
              <a:buNone/>
              <a:defRPr/>
            </a:pPr>
            <a:r>
              <a:rPr lang="en-US" sz="2400" b="1" i="1" dirty="0" smtClean="0">
                <a:solidFill>
                  <a:schemeClr val="tx1"/>
                </a:solidFill>
                <a:latin typeface="Times New Roman" panose="02020603050405020304" pitchFamily="18" charset="0"/>
                <a:cs typeface="Times New Roman" panose="02020603050405020304" pitchFamily="18" charset="0"/>
              </a:rPr>
              <a:t>D</a:t>
            </a:r>
            <a:r>
              <a:rPr lang="en-US" sz="2400" b="1" i="1" baseline="-25000" dirty="0" smtClean="0">
                <a:solidFill>
                  <a:schemeClr val="tx1"/>
                </a:solidFill>
                <a:latin typeface="Times New Roman" panose="02020603050405020304" pitchFamily="18" charset="0"/>
                <a:cs typeface="Times New Roman" panose="02020603050405020304" pitchFamily="18" charset="0"/>
                <a:sym typeface="Symbol" panose="05050102010706020507"/>
              </a:rPr>
              <a:t>  </a:t>
            </a:r>
            <a:r>
              <a:rPr lang="en-US" sz="2400" b="1" dirty="0" smtClean="0">
                <a:solidFill>
                  <a:schemeClr val="tx1"/>
                </a:solidFill>
                <a:latin typeface="Times New Roman" panose="02020603050405020304" pitchFamily="18" charset="0"/>
                <a:cs typeface="Times New Roman" panose="02020603050405020304" pitchFamily="18" charset="0"/>
              </a:rPr>
              <a:t>= { (</a:t>
            </a:r>
            <a:r>
              <a:rPr lang="en-US" sz="2400" b="1" i="1" dirty="0" smtClean="0">
                <a:solidFill>
                  <a:schemeClr val="tx1"/>
                </a:solidFill>
                <a:latin typeface="Times New Roman" panose="02020603050405020304" pitchFamily="18" charset="0"/>
                <a:cs typeface="Times New Roman" panose="02020603050405020304" pitchFamily="18" charset="0"/>
              </a:rPr>
              <a:t>I</a:t>
            </a:r>
            <a:r>
              <a:rPr lang="en-US" sz="2400" b="1" dirty="0" smtClean="0">
                <a:solidFill>
                  <a:schemeClr val="tx1"/>
                </a:solidFill>
                <a:latin typeface="Times New Roman" panose="02020603050405020304" pitchFamily="18" charset="0"/>
                <a:cs typeface="Times New Roman" panose="02020603050405020304" pitchFamily="18" charset="0"/>
              </a:rPr>
              <a:t>, </a:t>
            </a:r>
            <a:r>
              <a:rPr lang="en-US" sz="2400" b="1" i="1" dirty="0" smtClean="0">
                <a:solidFill>
                  <a:schemeClr val="tx1"/>
                </a:solidFill>
                <a:latin typeface="Times New Roman" panose="02020603050405020304" pitchFamily="18" charset="0"/>
                <a:cs typeface="Times New Roman" panose="02020603050405020304" pitchFamily="18" charset="0"/>
              </a:rPr>
              <a:t>K</a:t>
            </a:r>
            <a:r>
              <a:rPr lang="en-US" sz="2400" b="1" dirty="0" smtClean="0">
                <a:solidFill>
                  <a:schemeClr val="tx1"/>
                </a:solidFill>
                <a:latin typeface="Times New Roman" panose="02020603050405020304" pitchFamily="18" charset="0"/>
                <a:cs typeface="Times New Roman" panose="02020603050405020304" pitchFamily="18" charset="0"/>
              </a:rPr>
              <a:t>) | </a:t>
            </a:r>
            <a:r>
              <a:rPr lang="en-US" sz="2400" b="1" i="1" dirty="0" smtClean="0">
                <a:solidFill>
                  <a:schemeClr val="tx1"/>
                </a:solidFill>
                <a:latin typeface="Times New Roman" panose="02020603050405020304" pitchFamily="18" charset="0"/>
                <a:cs typeface="Times New Roman" panose="02020603050405020304" pitchFamily="18" charset="0"/>
              </a:rPr>
              <a:t>I</a:t>
            </a:r>
            <a:r>
              <a:rPr lang="en-US" sz="2400" b="1" dirty="0" smtClean="0">
                <a:solidFill>
                  <a:schemeClr val="tx1"/>
                </a:solidFill>
                <a:latin typeface="Times New Roman" panose="02020603050405020304" pitchFamily="18" charset="0"/>
                <a:cs typeface="Times New Roman" panose="02020603050405020304" pitchFamily="18" charset="0"/>
                <a:sym typeface="Symbol" panose="05050102010706020507"/>
              </a:rPr>
              <a:t></a:t>
            </a:r>
            <a:r>
              <a:rPr lang="en-US" sz="2400" b="1" i="1" dirty="0" smtClean="0">
                <a:solidFill>
                  <a:schemeClr val="tx1"/>
                </a:solidFill>
                <a:latin typeface="Times New Roman" panose="02020603050405020304" pitchFamily="18" charset="0"/>
                <a:cs typeface="Times New Roman" panose="02020603050405020304" pitchFamily="18" charset="0"/>
              </a:rPr>
              <a:t>D</a:t>
            </a:r>
            <a:r>
              <a:rPr lang="en-US" sz="2400" b="1" i="1" baseline="-25000" dirty="0" smtClean="0">
                <a:solidFill>
                  <a:schemeClr val="tx1"/>
                </a:solidFill>
                <a:latin typeface="Times New Roman" panose="02020603050405020304" pitchFamily="18" charset="0"/>
                <a:cs typeface="Times New Roman" panose="02020603050405020304" pitchFamily="18" charset="0"/>
                <a:sym typeface="Symbol" panose="05050102010706020507"/>
              </a:rPr>
              <a:t> </a:t>
            </a:r>
            <a:r>
              <a:rPr lang="en-US" sz="2400" b="1" baseline="-25000" dirty="0" smtClean="0">
                <a:solidFill>
                  <a:schemeClr val="tx1"/>
                </a:solidFill>
                <a:latin typeface="Times New Roman" panose="02020603050405020304" pitchFamily="18" charset="0"/>
                <a:cs typeface="Times New Roman" panose="02020603050405020304" pitchFamily="18" charset="0"/>
              </a:rPr>
              <a:t>*</a:t>
            </a:r>
            <a:r>
              <a:rPr lang="en-US" sz="2400" b="1" dirty="0" smtClean="0">
                <a:solidFill>
                  <a:schemeClr val="tx1"/>
                </a:solidFill>
                <a:latin typeface="Times New Roman" panose="02020603050405020304" pitchFamily="18" charset="0"/>
                <a:cs typeface="Times New Roman" panose="02020603050405020304" pitchFamily="18" charset="0"/>
              </a:rPr>
              <a:t>, </a:t>
            </a:r>
            <a:r>
              <a:rPr lang="en-US" sz="2400" b="1" i="1" dirty="0" smtClean="0">
                <a:solidFill>
                  <a:schemeClr val="tx1"/>
                </a:solidFill>
                <a:latin typeface="Times New Roman" panose="02020603050405020304" pitchFamily="18" charset="0"/>
                <a:cs typeface="Times New Roman" panose="02020603050405020304" pitchFamily="18" charset="0"/>
              </a:rPr>
              <a:t>K</a:t>
            </a:r>
            <a:r>
              <a:rPr lang="en-US" sz="2400" b="1" dirty="0" smtClean="0">
                <a:solidFill>
                  <a:schemeClr val="tx1"/>
                </a:solidFill>
                <a:latin typeface="Times New Roman" panose="02020603050405020304" pitchFamily="18" charset="0"/>
                <a:cs typeface="Times New Roman" panose="02020603050405020304" pitchFamily="18" charset="0"/>
                <a:sym typeface="Symbol" panose="05050102010706020507"/>
              </a:rPr>
              <a:t></a:t>
            </a:r>
            <a:r>
              <a:rPr lang="en-US" sz="2400" b="1" dirty="0" smtClean="0">
                <a:solidFill>
                  <a:schemeClr val="tx1"/>
                </a:solidFill>
                <a:latin typeface="Times New Roman" panose="02020603050405020304" pitchFamily="18" charset="0"/>
                <a:cs typeface="Times New Roman" panose="02020603050405020304" pitchFamily="18" charset="0"/>
              </a:rPr>
              <a:t>Z* },  </a:t>
            </a:r>
            <a:r>
              <a:rPr lang="zh-CN" altLang="en-US" sz="2400" b="1" dirty="0" smtClean="0">
                <a:solidFill>
                  <a:schemeClr val="tx1"/>
                </a:solidFill>
                <a:latin typeface="Times New Roman" panose="02020603050405020304" pitchFamily="18" charset="0"/>
                <a:cs typeface="Times New Roman" panose="02020603050405020304" pitchFamily="18" charset="0"/>
              </a:rPr>
              <a:t>其中</a:t>
            </a:r>
            <a:r>
              <a:rPr lang="en-US" sz="2400" b="1" dirty="0" smtClean="0">
                <a:solidFill>
                  <a:schemeClr val="tx1"/>
                </a:solidFill>
                <a:latin typeface="Times New Roman" panose="02020603050405020304" pitchFamily="18" charset="0"/>
                <a:cs typeface="Times New Roman" panose="02020603050405020304" pitchFamily="18" charset="0"/>
              </a:rPr>
              <a:t>Z*</a:t>
            </a:r>
            <a:r>
              <a:rPr lang="zh-CN" altLang="en-US" sz="2400" b="1" dirty="0" smtClean="0">
                <a:solidFill>
                  <a:schemeClr val="tx1"/>
                </a:solidFill>
                <a:latin typeface="Times New Roman" panose="02020603050405020304" pitchFamily="18" charset="0"/>
                <a:cs typeface="Times New Roman" panose="02020603050405020304" pitchFamily="18" charset="0"/>
              </a:rPr>
              <a:t>是非负整数集合</a:t>
            </a:r>
            <a:r>
              <a:rPr lang="en-US" sz="2400" b="1" dirty="0" smtClean="0">
                <a:solidFill>
                  <a:schemeClr val="tx1"/>
                </a:solidFill>
                <a:latin typeface="Times New Roman" panose="02020603050405020304" pitchFamily="18" charset="0"/>
                <a:cs typeface="Times New Roman" panose="02020603050405020304" pitchFamily="18" charset="0"/>
              </a:rPr>
              <a:t>. </a:t>
            </a:r>
            <a:endParaRPr lang="en-US" sz="2400" b="1" dirty="0" smtClean="0">
              <a:solidFill>
                <a:schemeClr val="tx1"/>
              </a:solidFill>
              <a:latin typeface="Times New Roman" panose="02020603050405020304" pitchFamily="18" charset="0"/>
              <a:cs typeface="Times New Roman" panose="02020603050405020304" pitchFamily="18" charset="0"/>
            </a:endParaRPr>
          </a:p>
          <a:p>
            <a:pPr algn="l" eaLnBrk="1" fontAlgn="auto" hangingPunct="1">
              <a:spcAft>
                <a:spcPts val="0"/>
              </a:spcAft>
              <a:buFont typeface="Arial" panose="020B0604020202020204" pitchFamily="34" charset="0"/>
              <a:buNone/>
              <a:defRPr/>
            </a:pPr>
            <a:r>
              <a:rPr lang="zh-CN" altLang="en-US" sz="2400" b="1" dirty="0" smtClean="0">
                <a:solidFill>
                  <a:schemeClr val="tx1"/>
                </a:solidFill>
                <a:latin typeface="Times New Roman" panose="02020603050405020304" pitchFamily="18" charset="0"/>
                <a:cs typeface="Times New Roman" panose="02020603050405020304" pitchFamily="18" charset="0"/>
              </a:rPr>
              <a:t>当 </a:t>
            </a:r>
            <a:r>
              <a:rPr lang="en-US" sz="2400" b="1" i="1" dirty="0" smtClean="0">
                <a:solidFill>
                  <a:schemeClr val="tx1"/>
                </a:solidFill>
                <a:latin typeface="Times New Roman" panose="02020603050405020304" pitchFamily="18" charset="0"/>
                <a:cs typeface="Times New Roman" panose="02020603050405020304" pitchFamily="18" charset="0"/>
                <a:sym typeface="Symbol" panose="05050102010706020507"/>
              </a:rPr>
              <a:t> </a:t>
            </a:r>
            <a:r>
              <a:rPr lang="en-US" sz="2400" b="1" dirty="0" smtClean="0">
                <a:solidFill>
                  <a:schemeClr val="tx1"/>
                </a:solidFill>
                <a:latin typeface="Times New Roman" panose="02020603050405020304" pitchFamily="18" charset="0"/>
                <a:cs typeface="Times New Roman" panose="02020603050405020304" pitchFamily="18" charset="0"/>
              </a:rPr>
              <a:t>*</a:t>
            </a:r>
            <a:r>
              <a:rPr lang="zh-CN" altLang="en-US" sz="2400" b="1" dirty="0" smtClean="0">
                <a:solidFill>
                  <a:schemeClr val="tx1"/>
                </a:solidFill>
                <a:latin typeface="Times New Roman" panose="02020603050405020304" pitchFamily="18" charset="0"/>
                <a:cs typeface="Times New Roman" panose="02020603050405020304" pitchFamily="18" charset="0"/>
              </a:rPr>
              <a:t>是最小化问题时</a:t>
            </a:r>
            <a:r>
              <a:rPr lang="en-US" sz="2400" b="1" dirty="0" smtClean="0">
                <a:solidFill>
                  <a:schemeClr val="tx1"/>
                </a:solidFill>
                <a:latin typeface="Times New Roman" panose="02020603050405020304" pitchFamily="18" charset="0"/>
                <a:cs typeface="Times New Roman" panose="02020603050405020304" pitchFamily="18" charset="0"/>
              </a:rPr>
              <a:t>, </a:t>
            </a:r>
            <a:r>
              <a:rPr lang="en-US" sz="2400" b="1" i="1" dirty="0" smtClean="0">
                <a:solidFill>
                  <a:schemeClr val="tx1"/>
                </a:solidFill>
                <a:latin typeface="Times New Roman" panose="02020603050405020304" pitchFamily="18" charset="0"/>
                <a:cs typeface="Times New Roman" panose="02020603050405020304" pitchFamily="18" charset="0"/>
              </a:rPr>
              <a:t>Y</a:t>
            </a:r>
            <a:r>
              <a:rPr lang="en-US" sz="2400" b="1" i="1" baseline="-25000" dirty="0" smtClean="0">
                <a:solidFill>
                  <a:schemeClr val="tx1"/>
                </a:solidFill>
                <a:latin typeface="Times New Roman" panose="02020603050405020304" pitchFamily="18" charset="0"/>
                <a:cs typeface="Times New Roman" panose="02020603050405020304" pitchFamily="18" charset="0"/>
                <a:sym typeface="Symbol" panose="05050102010706020507"/>
              </a:rPr>
              <a:t>  </a:t>
            </a:r>
            <a:r>
              <a:rPr lang="en-US" sz="2400" b="1" dirty="0" smtClean="0">
                <a:solidFill>
                  <a:schemeClr val="tx1"/>
                </a:solidFill>
                <a:latin typeface="Times New Roman" panose="02020603050405020304" pitchFamily="18" charset="0"/>
                <a:cs typeface="Times New Roman" panose="02020603050405020304" pitchFamily="18" charset="0"/>
              </a:rPr>
              <a:t>= { (</a:t>
            </a:r>
            <a:r>
              <a:rPr lang="en-US" sz="2400" b="1" i="1" dirty="0" smtClean="0">
                <a:solidFill>
                  <a:schemeClr val="tx1"/>
                </a:solidFill>
                <a:latin typeface="Times New Roman" panose="02020603050405020304" pitchFamily="18" charset="0"/>
                <a:cs typeface="Times New Roman" panose="02020603050405020304" pitchFamily="18" charset="0"/>
              </a:rPr>
              <a:t>I</a:t>
            </a:r>
            <a:r>
              <a:rPr lang="en-US" sz="2400" b="1" dirty="0" smtClean="0">
                <a:solidFill>
                  <a:schemeClr val="tx1"/>
                </a:solidFill>
                <a:latin typeface="Times New Roman" panose="02020603050405020304" pitchFamily="18" charset="0"/>
                <a:cs typeface="Times New Roman" panose="02020603050405020304" pitchFamily="18" charset="0"/>
              </a:rPr>
              <a:t>, </a:t>
            </a:r>
            <a:r>
              <a:rPr lang="en-US" sz="2400" b="1" i="1" dirty="0" smtClean="0">
                <a:solidFill>
                  <a:schemeClr val="tx1"/>
                </a:solidFill>
                <a:latin typeface="Times New Roman" panose="02020603050405020304" pitchFamily="18" charset="0"/>
                <a:cs typeface="Times New Roman" panose="02020603050405020304" pitchFamily="18" charset="0"/>
              </a:rPr>
              <a:t>K</a:t>
            </a:r>
            <a:r>
              <a:rPr lang="en-US" sz="2400" b="1" dirty="0" smtClean="0">
                <a:solidFill>
                  <a:schemeClr val="tx1"/>
                </a:solidFill>
                <a:latin typeface="Times New Roman" panose="02020603050405020304" pitchFamily="18" charset="0"/>
                <a:cs typeface="Times New Roman" panose="02020603050405020304" pitchFamily="18" charset="0"/>
              </a:rPr>
              <a:t>) | OPT(</a:t>
            </a:r>
            <a:r>
              <a:rPr lang="en-US" sz="2400" b="1" i="1" dirty="0" smtClean="0">
                <a:solidFill>
                  <a:schemeClr val="tx1"/>
                </a:solidFill>
                <a:latin typeface="Times New Roman" panose="02020603050405020304" pitchFamily="18" charset="0"/>
                <a:cs typeface="Times New Roman" panose="02020603050405020304" pitchFamily="18" charset="0"/>
              </a:rPr>
              <a:t>I</a:t>
            </a:r>
            <a:r>
              <a:rPr lang="en-US" sz="2400" b="1" dirty="0" smtClean="0">
                <a:solidFill>
                  <a:schemeClr val="tx1"/>
                </a:solidFill>
                <a:latin typeface="Times New Roman" panose="02020603050405020304" pitchFamily="18" charset="0"/>
                <a:cs typeface="Times New Roman" panose="02020603050405020304" pitchFamily="18" charset="0"/>
              </a:rPr>
              <a:t>) </a:t>
            </a:r>
            <a:r>
              <a:rPr lang="en-US" sz="2400" b="1" dirty="0" smtClean="0">
                <a:solidFill>
                  <a:schemeClr val="tx1"/>
                </a:solidFill>
                <a:latin typeface="Times New Roman" panose="02020603050405020304" pitchFamily="18" charset="0"/>
                <a:cs typeface="Times New Roman" panose="02020603050405020304" pitchFamily="18" charset="0"/>
                <a:sym typeface="Symbol" panose="05050102010706020507"/>
              </a:rPr>
              <a:t> </a:t>
            </a:r>
            <a:r>
              <a:rPr lang="en-US" sz="2400" b="1" i="1" dirty="0" smtClean="0">
                <a:solidFill>
                  <a:schemeClr val="tx1"/>
                </a:solidFill>
                <a:latin typeface="Times New Roman" panose="02020603050405020304" pitchFamily="18" charset="0"/>
                <a:cs typeface="Times New Roman" panose="02020603050405020304" pitchFamily="18" charset="0"/>
              </a:rPr>
              <a:t>K </a:t>
            </a:r>
            <a:r>
              <a:rPr lang="en-US" sz="2400" b="1" dirty="0" smtClean="0">
                <a:solidFill>
                  <a:schemeClr val="tx1"/>
                </a:solidFill>
                <a:latin typeface="Times New Roman" panose="02020603050405020304" pitchFamily="18" charset="0"/>
                <a:cs typeface="Times New Roman" panose="02020603050405020304" pitchFamily="18" charset="0"/>
              </a:rPr>
              <a:t>}; </a:t>
            </a:r>
            <a:endParaRPr lang="en-US" sz="2400" b="1" dirty="0" smtClean="0">
              <a:solidFill>
                <a:schemeClr val="tx1"/>
              </a:solidFill>
              <a:latin typeface="Times New Roman" panose="02020603050405020304" pitchFamily="18" charset="0"/>
              <a:cs typeface="Times New Roman" panose="02020603050405020304" pitchFamily="18" charset="0"/>
            </a:endParaRPr>
          </a:p>
          <a:p>
            <a:pPr algn="l" eaLnBrk="1" fontAlgn="auto" hangingPunct="1">
              <a:spcAft>
                <a:spcPts val="0"/>
              </a:spcAft>
              <a:buFont typeface="Arial" panose="020B0604020202020204" pitchFamily="34" charset="0"/>
              <a:buNone/>
              <a:defRPr/>
            </a:pPr>
            <a:r>
              <a:rPr lang="zh-CN" altLang="en-US" sz="2400" b="1" dirty="0" smtClean="0">
                <a:solidFill>
                  <a:schemeClr val="tx1"/>
                </a:solidFill>
                <a:latin typeface="Times New Roman" panose="02020603050405020304" pitchFamily="18" charset="0"/>
                <a:cs typeface="Times New Roman" panose="02020603050405020304" pitchFamily="18" charset="0"/>
              </a:rPr>
              <a:t>当 </a:t>
            </a:r>
            <a:r>
              <a:rPr lang="en-US" sz="2400" b="1" i="1" dirty="0" smtClean="0">
                <a:solidFill>
                  <a:schemeClr val="tx1"/>
                </a:solidFill>
                <a:latin typeface="Times New Roman" panose="02020603050405020304" pitchFamily="18" charset="0"/>
                <a:cs typeface="Times New Roman" panose="02020603050405020304" pitchFamily="18" charset="0"/>
                <a:sym typeface="Symbol" panose="05050102010706020507"/>
              </a:rPr>
              <a:t> </a:t>
            </a:r>
            <a:r>
              <a:rPr lang="en-US" sz="2400" b="1" dirty="0" smtClean="0">
                <a:solidFill>
                  <a:schemeClr val="tx1"/>
                </a:solidFill>
                <a:latin typeface="Times New Roman" panose="02020603050405020304" pitchFamily="18" charset="0"/>
                <a:cs typeface="Times New Roman" panose="02020603050405020304" pitchFamily="18" charset="0"/>
              </a:rPr>
              <a:t>*</a:t>
            </a:r>
            <a:r>
              <a:rPr lang="zh-CN" altLang="en-US" sz="2400" b="1" dirty="0" smtClean="0">
                <a:solidFill>
                  <a:schemeClr val="tx1"/>
                </a:solidFill>
                <a:latin typeface="Times New Roman" panose="02020603050405020304" pitchFamily="18" charset="0"/>
                <a:cs typeface="Times New Roman" panose="02020603050405020304" pitchFamily="18" charset="0"/>
              </a:rPr>
              <a:t>是最大化问题时</a:t>
            </a:r>
            <a:r>
              <a:rPr lang="en-US" sz="2400" b="1" dirty="0" smtClean="0">
                <a:solidFill>
                  <a:schemeClr val="tx1"/>
                </a:solidFill>
                <a:latin typeface="Times New Roman" panose="02020603050405020304" pitchFamily="18" charset="0"/>
                <a:cs typeface="Times New Roman" panose="02020603050405020304" pitchFamily="18" charset="0"/>
              </a:rPr>
              <a:t>, </a:t>
            </a:r>
            <a:r>
              <a:rPr lang="en-US" sz="2400" b="1" i="1" dirty="0" smtClean="0">
                <a:solidFill>
                  <a:schemeClr val="tx1"/>
                </a:solidFill>
                <a:latin typeface="Times New Roman" panose="02020603050405020304" pitchFamily="18" charset="0"/>
                <a:cs typeface="Times New Roman" panose="02020603050405020304" pitchFamily="18" charset="0"/>
              </a:rPr>
              <a:t>Y</a:t>
            </a:r>
            <a:r>
              <a:rPr lang="en-US" sz="2400" b="1" i="1" baseline="-25000" dirty="0" smtClean="0">
                <a:solidFill>
                  <a:schemeClr val="tx1"/>
                </a:solidFill>
                <a:latin typeface="Times New Roman" panose="02020603050405020304" pitchFamily="18" charset="0"/>
                <a:cs typeface="Times New Roman" panose="02020603050405020304" pitchFamily="18" charset="0"/>
                <a:sym typeface="Symbol" panose="05050102010706020507"/>
              </a:rPr>
              <a:t>  </a:t>
            </a:r>
            <a:r>
              <a:rPr lang="en-US" sz="2400" b="1" dirty="0" smtClean="0">
                <a:solidFill>
                  <a:schemeClr val="tx1"/>
                </a:solidFill>
                <a:latin typeface="Times New Roman" panose="02020603050405020304" pitchFamily="18" charset="0"/>
                <a:cs typeface="Times New Roman" panose="02020603050405020304" pitchFamily="18" charset="0"/>
              </a:rPr>
              <a:t>= { (</a:t>
            </a:r>
            <a:r>
              <a:rPr lang="en-US" sz="2400" b="1" i="1" dirty="0" smtClean="0">
                <a:solidFill>
                  <a:schemeClr val="tx1"/>
                </a:solidFill>
                <a:latin typeface="Times New Roman" panose="02020603050405020304" pitchFamily="18" charset="0"/>
                <a:cs typeface="Times New Roman" panose="02020603050405020304" pitchFamily="18" charset="0"/>
              </a:rPr>
              <a:t>I</a:t>
            </a:r>
            <a:r>
              <a:rPr lang="en-US" sz="2400" b="1" dirty="0" smtClean="0">
                <a:solidFill>
                  <a:schemeClr val="tx1"/>
                </a:solidFill>
                <a:latin typeface="Times New Roman" panose="02020603050405020304" pitchFamily="18" charset="0"/>
                <a:cs typeface="Times New Roman" panose="02020603050405020304" pitchFamily="18" charset="0"/>
              </a:rPr>
              <a:t>, </a:t>
            </a:r>
            <a:r>
              <a:rPr lang="en-US" sz="2400" b="1" i="1" dirty="0" smtClean="0">
                <a:solidFill>
                  <a:schemeClr val="tx1"/>
                </a:solidFill>
                <a:latin typeface="Times New Roman" panose="02020603050405020304" pitchFamily="18" charset="0"/>
                <a:cs typeface="Times New Roman" panose="02020603050405020304" pitchFamily="18" charset="0"/>
              </a:rPr>
              <a:t>K</a:t>
            </a:r>
            <a:r>
              <a:rPr lang="en-US" sz="2400" b="1" dirty="0" smtClean="0">
                <a:solidFill>
                  <a:schemeClr val="tx1"/>
                </a:solidFill>
                <a:latin typeface="Times New Roman" panose="02020603050405020304" pitchFamily="18" charset="0"/>
                <a:cs typeface="Times New Roman" panose="02020603050405020304" pitchFamily="18" charset="0"/>
              </a:rPr>
              <a:t>) | OPT(</a:t>
            </a:r>
            <a:r>
              <a:rPr lang="en-US" sz="2400" b="1" i="1" dirty="0" smtClean="0">
                <a:solidFill>
                  <a:schemeClr val="tx1"/>
                </a:solidFill>
                <a:latin typeface="Times New Roman" panose="02020603050405020304" pitchFamily="18" charset="0"/>
                <a:cs typeface="Times New Roman" panose="02020603050405020304" pitchFamily="18" charset="0"/>
              </a:rPr>
              <a:t>I</a:t>
            </a:r>
            <a:r>
              <a:rPr lang="en-US" sz="2400" b="1" dirty="0" smtClean="0">
                <a:solidFill>
                  <a:schemeClr val="tx1"/>
                </a:solidFill>
                <a:latin typeface="Times New Roman" panose="02020603050405020304" pitchFamily="18" charset="0"/>
                <a:cs typeface="Times New Roman" panose="02020603050405020304" pitchFamily="18" charset="0"/>
              </a:rPr>
              <a:t>) </a:t>
            </a:r>
            <a:r>
              <a:rPr lang="en-US" sz="2400" b="1" dirty="0" smtClean="0">
                <a:solidFill>
                  <a:schemeClr val="tx1"/>
                </a:solidFill>
                <a:latin typeface="Times New Roman" panose="02020603050405020304" pitchFamily="18" charset="0"/>
                <a:cs typeface="Times New Roman" panose="02020603050405020304" pitchFamily="18" charset="0"/>
                <a:sym typeface="Symbol" panose="05050102010706020507"/>
              </a:rPr>
              <a:t> </a:t>
            </a:r>
            <a:r>
              <a:rPr lang="en-US" sz="2400" b="1" i="1" dirty="0" smtClean="0">
                <a:solidFill>
                  <a:schemeClr val="tx1"/>
                </a:solidFill>
                <a:latin typeface="Times New Roman" panose="02020603050405020304" pitchFamily="18" charset="0"/>
                <a:cs typeface="Times New Roman" panose="02020603050405020304" pitchFamily="18" charset="0"/>
              </a:rPr>
              <a:t>K </a:t>
            </a:r>
            <a:r>
              <a:rPr lang="en-US" sz="2400" b="1" dirty="0" smtClean="0">
                <a:solidFill>
                  <a:schemeClr val="tx1"/>
                </a:solidFill>
                <a:latin typeface="Times New Roman" panose="02020603050405020304" pitchFamily="18" charset="0"/>
                <a:cs typeface="Times New Roman" panose="02020603050405020304" pitchFamily="18" charset="0"/>
              </a:rPr>
              <a:t>}.      </a:t>
            </a:r>
            <a:endParaRPr lang="en-US" sz="2400" b="1" dirty="0" smtClean="0">
              <a:solidFill>
                <a:schemeClr val="tx1"/>
              </a:solidFill>
              <a:latin typeface="Times New Roman" panose="02020603050405020304" pitchFamily="18" charset="0"/>
              <a:cs typeface="Times New Roman" panose="02020603050405020304" pitchFamily="18" charset="0"/>
            </a:endParaRPr>
          </a:p>
          <a:p>
            <a:pPr algn="l" eaLnBrk="1" fontAlgn="auto" hangingPunct="1">
              <a:spcAft>
                <a:spcPts val="0"/>
              </a:spcAft>
              <a:defRPr/>
            </a:pPr>
            <a:endParaRPr lang="zh-CN" altLang="en-US" sz="2400" b="1"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p:cNvSpPr>
          <p:nvPr>
            <p:ph type="ctrTitle"/>
          </p:nvPr>
        </p:nvSpPr>
        <p:spPr>
          <a:xfrm>
            <a:off x="687388" y="188913"/>
            <a:ext cx="7772400" cy="865187"/>
          </a:xfrm>
        </p:spPr>
        <p:txBody>
          <a:bodyPr/>
          <a:lstStyle/>
          <a:p>
            <a:pPr eaLnBrk="1" hangingPunct="1"/>
            <a:r>
              <a:rPr lang="en-US" altLang="zh-CN" sz="4000" b="1" smtClean="0">
                <a:solidFill>
                  <a:srgbClr val="C00000"/>
                </a:solidFill>
                <a:latin typeface="Times New Roman" panose="02020603050405020304" pitchFamily="18" charset="0"/>
                <a:cs typeface="Times New Roman" panose="02020603050405020304" pitchFamily="18" charset="0"/>
              </a:rPr>
              <a:t>9.1.3  NP</a:t>
            </a:r>
            <a:r>
              <a:rPr lang="zh-CN" altLang="en-US" sz="4000" b="1" smtClean="0">
                <a:solidFill>
                  <a:srgbClr val="C00000"/>
                </a:solidFill>
                <a:latin typeface="Times New Roman" panose="02020603050405020304" pitchFamily="18" charset="0"/>
                <a:cs typeface="Times New Roman" panose="02020603050405020304" pitchFamily="18" charset="0"/>
              </a:rPr>
              <a:t>类</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15363" name="副标题 2"/>
          <p:cNvSpPr>
            <a:spLocks noGrp="1"/>
          </p:cNvSpPr>
          <p:nvPr>
            <p:ph type="subTitle" idx="1"/>
          </p:nvPr>
        </p:nvSpPr>
        <p:spPr>
          <a:xfrm>
            <a:off x="687388" y="1268413"/>
            <a:ext cx="7775575" cy="4824412"/>
          </a:xfrm>
        </p:spPr>
        <p:txBody>
          <a:bodyPr/>
          <a:lstStyle/>
          <a:p>
            <a:pPr algn="l" eaLnBrk="1" hangingPunct="1">
              <a:lnSpc>
                <a:spcPts val="3200"/>
              </a:lnSpc>
            </a:pPr>
            <a:r>
              <a:rPr lang="zh-CN" altLang="en-US" sz="2400" b="1" smtClean="0">
                <a:solidFill>
                  <a:srgbClr val="C00000"/>
                </a:solidFill>
                <a:latin typeface="Times New Roman" panose="02020603050405020304" pitchFamily="18" charset="0"/>
                <a:cs typeface="Times New Roman" panose="02020603050405020304" pitchFamily="18" charset="0"/>
              </a:rPr>
              <a:t>定义</a:t>
            </a:r>
            <a:r>
              <a:rPr lang="en-US" altLang="zh-CN" sz="2400" b="1" smtClean="0">
                <a:solidFill>
                  <a:srgbClr val="C00000"/>
                </a:solidFill>
                <a:latin typeface="Times New Roman" panose="02020603050405020304" pitchFamily="18" charset="0"/>
                <a:cs typeface="Times New Roman" panose="02020603050405020304" pitchFamily="18" charset="0"/>
              </a:rPr>
              <a:t>9.2</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所有多项式时间可解的判定问题组成的问题类称作 </a:t>
            </a:r>
            <a:r>
              <a:rPr lang="en-US" altLang="zh-CN" sz="2400" b="1" smtClean="0">
                <a:solidFill>
                  <a:srgbClr val="C00000"/>
                </a:solidFill>
                <a:latin typeface="Times New Roman" panose="02020603050405020304" pitchFamily="18" charset="0"/>
                <a:cs typeface="Times New Roman" panose="02020603050405020304" pitchFamily="18" charset="0"/>
              </a:rPr>
              <a:t>P</a:t>
            </a:r>
            <a:r>
              <a:rPr lang="zh-CN" altLang="en-US" sz="2400" b="1" smtClean="0">
                <a:solidFill>
                  <a:srgbClr val="C00000"/>
                </a:solidFill>
                <a:latin typeface="Times New Roman" panose="02020603050405020304" pitchFamily="18" charset="0"/>
                <a:cs typeface="Times New Roman" panose="02020603050405020304" pitchFamily="18" charset="0"/>
              </a:rPr>
              <a:t>类</a:t>
            </a:r>
            <a:r>
              <a:rPr lang="en-US" altLang="zh-CN" sz="2400" b="1" smtClean="0">
                <a:solidFill>
                  <a:schemeClr val="tx1"/>
                </a:solidFill>
                <a:latin typeface="Times New Roman" panose="02020603050405020304" pitchFamily="18" charset="0"/>
                <a:cs typeface="Times New Roman" panose="02020603050405020304" pitchFamily="18" charset="0"/>
              </a:rPr>
              <a:t>. </a:t>
            </a:r>
            <a:endParaRPr lang="zh-CN" altLang="en-US" sz="2400" b="1" smtClean="0">
              <a:solidFill>
                <a:schemeClr val="tx1"/>
              </a:solidFill>
              <a:latin typeface="Times New Roman" panose="02020603050405020304" pitchFamily="18" charset="0"/>
              <a:cs typeface="Times New Roman" panose="02020603050405020304" pitchFamily="18" charset="0"/>
            </a:endParaRPr>
          </a:p>
          <a:p>
            <a:pPr algn="l">
              <a:lnSpc>
                <a:spcPts val="3200"/>
              </a:lnSpc>
              <a:spcBef>
                <a:spcPts val="1800"/>
              </a:spcBef>
            </a:pPr>
            <a:r>
              <a:rPr lang="zh-CN" altLang="en-US" sz="2400" b="1" smtClean="0">
                <a:solidFill>
                  <a:srgbClr val="C00000"/>
                </a:solidFill>
                <a:latin typeface="Times New Roman" panose="02020603050405020304" pitchFamily="18" charset="0"/>
                <a:cs typeface="Times New Roman" panose="02020603050405020304" pitchFamily="18" charset="0"/>
              </a:rPr>
              <a:t>定义</a:t>
            </a:r>
            <a:r>
              <a:rPr lang="en-US" altLang="zh-CN" sz="2400" b="1" smtClean="0">
                <a:solidFill>
                  <a:srgbClr val="C00000"/>
                </a:solidFill>
                <a:latin typeface="Times New Roman" panose="02020603050405020304" pitchFamily="18" charset="0"/>
                <a:cs typeface="Times New Roman" panose="02020603050405020304" pitchFamily="18" charset="0"/>
              </a:rPr>
              <a:t>9.3</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设判定问题 </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solidFill>
                  <a:schemeClr val="tx1"/>
                </a:solidFill>
                <a:latin typeface="Times New Roman" panose="02020603050405020304" pitchFamily="18" charset="0"/>
                <a:cs typeface="Times New Roman" panose="02020603050405020304" pitchFamily="18" charset="0"/>
              </a:rPr>
              <a:t> = &lt; </a:t>
            </a:r>
            <a:r>
              <a:rPr lang="en-US" altLang="zh-CN" sz="2400" b="1" i="1" smtClean="0">
                <a:solidFill>
                  <a:schemeClr val="tx1"/>
                </a:solidFill>
                <a:latin typeface="Times New Roman" panose="02020603050405020304" pitchFamily="18" charset="0"/>
                <a:cs typeface="Times New Roman" panose="02020603050405020304" pitchFamily="18" charset="0"/>
              </a:rPr>
              <a:t>D</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Y </a:t>
            </a:r>
            <a:r>
              <a:rPr lang="en-US" altLang="zh-CN" sz="2400" b="1" smtClean="0">
                <a:solidFill>
                  <a:schemeClr val="tx1"/>
                </a:solidFill>
                <a:latin typeface="Times New Roman" panose="02020603050405020304" pitchFamily="18" charset="0"/>
                <a:cs typeface="Times New Roman" panose="02020603050405020304" pitchFamily="18" charset="0"/>
              </a:rPr>
              <a:t>&gt;, </a:t>
            </a:r>
            <a:r>
              <a:rPr lang="zh-CN" altLang="en-US" sz="2400" b="1" smtClean="0">
                <a:solidFill>
                  <a:schemeClr val="tx1"/>
                </a:solidFill>
                <a:latin typeface="Times New Roman" panose="02020603050405020304" pitchFamily="18" charset="0"/>
                <a:cs typeface="Times New Roman" panose="02020603050405020304" pitchFamily="18" charset="0"/>
              </a:rPr>
              <a:t>如果存在两个输入变量的多项式时间算法 </a:t>
            </a:r>
            <a:r>
              <a:rPr lang="en-US" altLang="zh-CN" sz="2400" b="1" i="1" smtClean="0">
                <a:solidFill>
                  <a:schemeClr val="tx1"/>
                </a:solidFill>
                <a:latin typeface="Times New Roman" panose="02020603050405020304" pitchFamily="18" charset="0"/>
                <a:cs typeface="Times New Roman" panose="02020603050405020304" pitchFamily="18" charset="0"/>
              </a:rPr>
              <a:t>A</a:t>
            </a:r>
            <a:r>
              <a:rPr lang="zh-CN" altLang="en-US" sz="2400" b="1" smtClean="0">
                <a:solidFill>
                  <a:schemeClr val="tx1"/>
                </a:solidFill>
                <a:latin typeface="Times New Roman" panose="02020603050405020304" pitchFamily="18" charset="0"/>
                <a:cs typeface="Times New Roman" panose="02020603050405020304" pitchFamily="18" charset="0"/>
              </a:rPr>
              <a:t>和多项式 </a:t>
            </a:r>
            <a:r>
              <a:rPr lang="en-US" altLang="zh-CN" sz="2400" b="1" i="1" smtClean="0">
                <a:solidFill>
                  <a:schemeClr val="tx1"/>
                </a:solidFill>
                <a:latin typeface="Times New Roman" panose="02020603050405020304" pitchFamily="18" charset="0"/>
                <a:cs typeface="Times New Roman" panose="02020603050405020304" pitchFamily="18" charset="0"/>
              </a:rPr>
              <a:t>p</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对每一个实例 </a:t>
            </a:r>
            <a:r>
              <a:rPr lang="en-US" altLang="zh-CN" sz="2400" b="1" i="1"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solidFill>
                  <a:schemeClr val="tx1"/>
                </a:solidFill>
                <a:latin typeface="Times New Roman" panose="02020603050405020304" pitchFamily="18" charset="0"/>
                <a:cs typeface="Times New Roman" panose="02020603050405020304" pitchFamily="18" charset="0"/>
              </a:rPr>
              <a:t>D</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solidFill>
                  <a:schemeClr val="tx1"/>
                </a:solidFill>
                <a:latin typeface="Times New Roman" panose="02020603050405020304" pitchFamily="18" charset="0"/>
                <a:cs typeface="Times New Roman" panose="02020603050405020304" pitchFamily="18" charset="0"/>
              </a:rPr>
              <a:t>Y </a:t>
            </a:r>
            <a:r>
              <a:rPr lang="zh-CN" altLang="en-US" sz="2400" b="1" smtClean="0">
                <a:solidFill>
                  <a:schemeClr val="tx1"/>
                </a:solidFill>
                <a:latin typeface="Times New Roman" panose="02020603050405020304" pitchFamily="18" charset="0"/>
                <a:cs typeface="Times New Roman" panose="02020603050405020304" pitchFamily="18" charset="0"/>
              </a:rPr>
              <a:t>当且仅当存在 </a:t>
            </a:r>
            <a:r>
              <a:rPr lang="en-US" altLang="zh-CN" sz="2400" b="1" i="1" smtClean="0">
                <a:solidFill>
                  <a:schemeClr val="tx1"/>
                </a:solidFill>
                <a:latin typeface="Times New Roman" panose="02020603050405020304" pitchFamily="18" charset="0"/>
                <a:cs typeface="Times New Roman" panose="02020603050405020304" pitchFamily="18" charset="0"/>
              </a:rPr>
              <a:t>t</a:t>
            </a:r>
            <a:r>
              <a:rPr lang="en-US" altLang="zh-CN" sz="2400" b="1" smtClean="0">
                <a:solidFill>
                  <a:schemeClr val="tx1"/>
                </a:solidFill>
                <a:latin typeface="Times New Roman" panose="02020603050405020304" pitchFamily="18" charset="0"/>
                <a:cs typeface="Times New Roman" panose="02020603050405020304" pitchFamily="18" charset="0"/>
              </a:rPr>
              <a:t>, | </a:t>
            </a:r>
            <a:r>
              <a:rPr lang="en-US" altLang="zh-CN" sz="2400" b="1" i="1" smtClean="0">
                <a:solidFill>
                  <a:schemeClr val="tx1"/>
                </a:solidFill>
                <a:latin typeface="Times New Roman" panose="02020603050405020304" pitchFamily="18" charset="0"/>
                <a:cs typeface="Times New Roman" panose="02020603050405020304" pitchFamily="18" charset="0"/>
              </a:rPr>
              <a:t>t </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solidFill>
                  <a:schemeClr val="tx1"/>
                </a:solidFill>
                <a:latin typeface="Times New Roman" panose="02020603050405020304" pitchFamily="18" charset="0"/>
                <a:cs typeface="Times New Roman" panose="02020603050405020304" pitchFamily="18" charset="0"/>
              </a:rPr>
              <a:t>p</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且 </a:t>
            </a:r>
            <a:r>
              <a:rPr lang="en-US" altLang="zh-CN" sz="2400" b="1" i="1" smtClean="0">
                <a:solidFill>
                  <a:schemeClr val="tx1"/>
                </a:solidFill>
                <a:latin typeface="Times New Roman" panose="02020603050405020304" pitchFamily="18" charset="0"/>
                <a:cs typeface="Times New Roman" panose="02020603050405020304" pitchFamily="18" charset="0"/>
              </a:rPr>
              <a:t>A</a:t>
            </a:r>
            <a:r>
              <a:rPr lang="zh-CN" altLang="en-US" sz="2400" b="1" smtClean="0">
                <a:solidFill>
                  <a:schemeClr val="tx1"/>
                </a:solidFill>
                <a:latin typeface="Times New Roman" panose="02020603050405020304" pitchFamily="18" charset="0"/>
                <a:cs typeface="Times New Roman" panose="02020603050405020304" pitchFamily="18" charset="0"/>
              </a:rPr>
              <a:t>对输入 </a:t>
            </a:r>
            <a:r>
              <a:rPr lang="en-US" altLang="zh-CN" sz="2400" b="1" i="1" smtClean="0">
                <a:solidFill>
                  <a:schemeClr val="tx1"/>
                </a:solidFill>
                <a:latin typeface="Times New Roman" panose="02020603050405020304" pitchFamily="18" charset="0"/>
                <a:cs typeface="Times New Roman" panose="02020603050405020304" pitchFamily="18" charset="0"/>
              </a:rPr>
              <a:t>I </a:t>
            </a:r>
            <a:r>
              <a:rPr lang="zh-CN" altLang="en-US" sz="2400" b="1" smtClean="0">
                <a:solidFill>
                  <a:schemeClr val="tx1"/>
                </a:solidFill>
                <a:latin typeface="Times New Roman" panose="02020603050405020304" pitchFamily="18" charset="0"/>
                <a:cs typeface="Times New Roman" panose="02020603050405020304" pitchFamily="18" charset="0"/>
              </a:rPr>
              <a:t>和 </a:t>
            </a:r>
            <a:r>
              <a:rPr lang="en-US" altLang="zh-CN" sz="2400" b="1" i="1" smtClean="0">
                <a:solidFill>
                  <a:schemeClr val="tx1"/>
                </a:solidFill>
                <a:latin typeface="Times New Roman" panose="02020603050405020304" pitchFamily="18" charset="0"/>
                <a:cs typeface="Times New Roman" panose="02020603050405020304" pitchFamily="18" charset="0"/>
              </a:rPr>
              <a:t>t </a:t>
            </a:r>
            <a:r>
              <a:rPr lang="zh-CN" altLang="en-US" sz="2400" b="1" smtClean="0">
                <a:solidFill>
                  <a:schemeClr val="tx1"/>
                </a:solidFill>
                <a:latin typeface="Times New Roman" panose="02020603050405020304" pitchFamily="18" charset="0"/>
                <a:cs typeface="Times New Roman" panose="02020603050405020304" pitchFamily="18" charset="0"/>
              </a:rPr>
              <a:t>输出“</a:t>
            </a:r>
            <a:r>
              <a:rPr lang="en-US" altLang="zh-CN" sz="2400" b="1" smtClean="0">
                <a:solidFill>
                  <a:schemeClr val="tx1"/>
                </a:solidFill>
                <a:latin typeface="Times New Roman" panose="02020603050405020304" pitchFamily="18" charset="0"/>
                <a:cs typeface="Times New Roman" panose="02020603050405020304" pitchFamily="18" charset="0"/>
              </a:rPr>
              <a:t>Yes</a:t>
            </a:r>
            <a:r>
              <a:rPr lang="zh-CN" altLang="en-US" sz="2400" b="1" smtClean="0">
                <a:solidFill>
                  <a:schemeClr val="tx1"/>
                </a:solidFill>
                <a:latin typeface="Times New Roman" panose="02020603050405020304" pitchFamily="18" charset="0"/>
                <a:cs typeface="Times New Roman" panose="02020603050405020304" pitchFamily="18" charset="0"/>
              </a:rPr>
              <a:t>”</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则称</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是</a:t>
            </a:r>
            <a:r>
              <a:rPr lang="zh-CN" altLang="en-US" sz="2400" b="1" smtClean="0">
                <a:solidFill>
                  <a:srgbClr val="C00000"/>
                </a:solidFill>
                <a:latin typeface="Times New Roman" panose="02020603050405020304" pitchFamily="18" charset="0"/>
                <a:cs typeface="Times New Roman" panose="02020603050405020304" pitchFamily="18" charset="0"/>
              </a:rPr>
              <a:t>多项式时间可验证的</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rPr>
              <a:t>A</a:t>
            </a:r>
            <a:r>
              <a:rPr lang="zh-CN" altLang="en-US" sz="2400" b="1" smtClean="0">
                <a:solidFill>
                  <a:schemeClr val="tx1"/>
                </a:solidFill>
                <a:latin typeface="Times New Roman" panose="02020603050405020304" pitchFamily="18" charset="0"/>
                <a:cs typeface="Times New Roman" panose="02020603050405020304" pitchFamily="18" charset="0"/>
              </a:rPr>
              <a:t>是</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的</a:t>
            </a:r>
            <a:r>
              <a:rPr lang="zh-CN" altLang="en-US" sz="2400" b="1" smtClean="0">
                <a:solidFill>
                  <a:srgbClr val="C00000"/>
                </a:solidFill>
                <a:latin typeface="Times New Roman" panose="02020603050405020304" pitchFamily="18" charset="0"/>
                <a:cs typeface="Times New Roman" panose="02020603050405020304" pitchFamily="18" charset="0"/>
              </a:rPr>
              <a:t>多项式时间验证算法</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而当 </a:t>
            </a:r>
            <a:r>
              <a:rPr lang="en-US" altLang="zh-CN" sz="2400" b="1" i="1"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solidFill>
                  <a:schemeClr val="tx1"/>
                </a:solidFill>
                <a:latin typeface="Times New Roman" panose="02020603050405020304" pitchFamily="18" charset="0"/>
                <a:cs typeface="Times New Roman" panose="02020603050405020304" pitchFamily="18" charset="0"/>
              </a:rPr>
              <a:t>Y </a:t>
            </a:r>
            <a:r>
              <a:rPr lang="zh-CN" altLang="en-US" sz="2400" b="1" smtClean="0">
                <a:solidFill>
                  <a:schemeClr val="tx1"/>
                </a:solidFill>
                <a:latin typeface="Times New Roman" panose="02020603050405020304" pitchFamily="18" charset="0"/>
                <a:cs typeface="Times New Roman" panose="02020603050405020304" pitchFamily="18" charset="0"/>
              </a:rPr>
              <a:t>时</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称 </a:t>
            </a:r>
            <a:r>
              <a:rPr lang="en-US" altLang="zh-CN" sz="2400" b="1" i="1" smtClean="0">
                <a:solidFill>
                  <a:schemeClr val="tx1"/>
                </a:solidFill>
                <a:latin typeface="Times New Roman" panose="02020603050405020304" pitchFamily="18" charset="0"/>
                <a:cs typeface="Times New Roman" panose="02020603050405020304" pitchFamily="18" charset="0"/>
              </a:rPr>
              <a:t>t  </a:t>
            </a:r>
            <a:r>
              <a:rPr lang="zh-CN" altLang="en-US" sz="2400" b="1" smtClean="0">
                <a:solidFill>
                  <a:schemeClr val="tx1"/>
                </a:solidFill>
                <a:latin typeface="Times New Roman" panose="02020603050405020304" pitchFamily="18" charset="0"/>
                <a:cs typeface="Times New Roman" panose="02020603050405020304" pitchFamily="18" charset="0"/>
              </a:rPr>
              <a:t>是 </a:t>
            </a:r>
            <a:r>
              <a:rPr lang="en-US" altLang="zh-CN" sz="2400" b="1" i="1"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solidFill>
                  <a:schemeClr val="tx1"/>
                </a:solidFill>
                <a:latin typeface="Times New Roman" panose="02020603050405020304" pitchFamily="18" charset="0"/>
                <a:cs typeface="Times New Roman" panose="02020603050405020304" pitchFamily="18" charset="0"/>
              </a:rPr>
              <a:t>Y </a:t>
            </a:r>
            <a:r>
              <a:rPr lang="zh-CN" altLang="en-US" sz="2400" b="1" smtClean="0">
                <a:solidFill>
                  <a:schemeClr val="tx1"/>
                </a:solidFill>
                <a:latin typeface="Times New Roman" panose="02020603050405020304" pitchFamily="18" charset="0"/>
                <a:cs typeface="Times New Roman" panose="02020603050405020304" pitchFamily="18" charset="0"/>
              </a:rPr>
              <a:t>的</a:t>
            </a:r>
            <a:r>
              <a:rPr lang="zh-CN" altLang="en-US" sz="2400" b="1" smtClean="0">
                <a:solidFill>
                  <a:srgbClr val="C00000"/>
                </a:solidFill>
                <a:latin typeface="Times New Roman" panose="02020603050405020304" pitchFamily="18" charset="0"/>
                <a:cs typeface="Times New Roman" panose="02020603050405020304" pitchFamily="18" charset="0"/>
              </a:rPr>
              <a:t>证据</a:t>
            </a:r>
            <a:r>
              <a:rPr lang="en-US" altLang="zh-CN" sz="2400" b="1" smtClean="0">
                <a:solidFill>
                  <a:schemeClr val="tx1"/>
                </a:solidFill>
                <a:latin typeface="Times New Roman" panose="02020603050405020304" pitchFamily="18" charset="0"/>
                <a:cs typeface="Times New Roman" panose="02020603050405020304" pitchFamily="18" charset="0"/>
              </a:rPr>
              <a:t>.</a:t>
            </a:r>
            <a:endParaRPr lang="zh-CN" altLang="en-US" sz="2400" b="1" smtClean="0">
              <a:solidFill>
                <a:schemeClr val="tx1"/>
              </a:solidFill>
              <a:latin typeface="Times New Roman" panose="02020603050405020304" pitchFamily="18" charset="0"/>
              <a:cs typeface="Times New Roman" panose="02020603050405020304" pitchFamily="18" charset="0"/>
            </a:endParaRPr>
          </a:p>
          <a:p>
            <a:pPr algn="l">
              <a:lnSpc>
                <a:spcPts val="3200"/>
              </a:lnSpc>
              <a:spcBef>
                <a:spcPts val="1800"/>
              </a:spcBef>
            </a:pPr>
            <a:r>
              <a:rPr lang="zh-CN" altLang="en-US" sz="2400" b="1" smtClean="0">
                <a:solidFill>
                  <a:schemeClr val="tx1"/>
                </a:solidFill>
                <a:latin typeface="Times New Roman" panose="02020603050405020304" pitchFamily="18" charset="0"/>
                <a:cs typeface="Times New Roman" panose="02020603050405020304" pitchFamily="18" charset="0"/>
              </a:rPr>
              <a:t>由所有多项式时间可验证的判定问题组成的问题类称作</a:t>
            </a:r>
            <a:r>
              <a:rPr lang="en-US" altLang="zh-CN" sz="2400" b="1" smtClean="0">
                <a:solidFill>
                  <a:srgbClr val="C00000"/>
                </a:solidFill>
                <a:latin typeface="Times New Roman" panose="02020603050405020304" pitchFamily="18" charset="0"/>
                <a:cs typeface="Times New Roman" panose="02020603050405020304" pitchFamily="18" charset="0"/>
              </a:rPr>
              <a:t>NP</a:t>
            </a:r>
            <a:r>
              <a:rPr lang="zh-CN" altLang="en-US" sz="2400" b="1" smtClean="0">
                <a:solidFill>
                  <a:srgbClr val="C00000"/>
                </a:solidFill>
                <a:latin typeface="Times New Roman" panose="02020603050405020304" pitchFamily="18" charset="0"/>
                <a:cs typeface="Times New Roman" panose="02020603050405020304" pitchFamily="18" charset="0"/>
              </a:rPr>
              <a:t>类</a:t>
            </a:r>
            <a:r>
              <a:rPr lang="en-US" altLang="zh-CN" sz="2400" b="1" smtClean="0">
                <a:solidFill>
                  <a:schemeClr val="tx1"/>
                </a:solidFill>
                <a:latin typeface="Times New Roman" panose="02020603050405020304" pitchFamily="18" charset="0"/>
                <a:cs typeface="Times New Roman" panose="02020603050405020304" pitchFamily="18" charset="0"/>
              </a:rPr>
              <a:t>.</a:t>
            </a:r>
            <a:endParaRPr lang="zh-CN" altLang="en-US" sz="2400" b="1" smtClean="0">
              <a:solidFill>
                <a:schemeClr val="tx1"/>
              </a:solidFill>
              <a:latin typeface="Times New Roman" panose="02020603050405020304" pitchFamily="18" charset="0"/>
              <a:cs typeface="Times New Roman" panose="02020603050405020304" pitchFamily="18" charset="0"/>
            </a:endParaRPr>
          </a:p>
          <a:p>
            <a:pPr algn="l" eaLnBrk="1" hangingPunct="1">
              <a:lnSpc>
                <a:spcPts val="3200"/>
              </a:lnSpc>
            </a:pPr>
            <a:r>
              <a:rPr lang="zh-CN" altLang="en-US" sz="2400" b="1" smtClean="0">
                <a:solidFill>
                  <a:srgbClr val="C00000"/>
                </a:solidFill>
                <a:latin typeface="Times New Roman" panose="02020603050405020304" pitchFamily="18" charset="0"/>
                <a:cs typeface="Times New Roman" panose="02020603050405020304" pitchFamily="18" charset="0"/>
              </a:rPr>
              <a:t>例如</a:t>
            </a:r>
            <a:r>
              <a:rPr lang="en-US" altLang="zh-CN" sz="2400" b="1" smtClean="0">
                <a:solidFill>
                  <a:schemeClr val="tx1"/>
                </a:solidFill>
                <a:latin typeface="Times New Roman" panose="02020603050405020304" pitchFamily="18" charset="0"/>
                <a:cs typeface="Times New Roman" panose="02020603050405020304" pitchFamily="18" charset="0"/>
              </a:rPr>
              <a:t>,  HC, TSP, 0-1</a:t>
            </a:r>
            <a:r>
              <a:rPr lang="zh-CN" altLang="en-US" sz="2400" b="1" smtClean="0">
                <a:solidFill>
                  <a:schemeClr val="tx1"/>
                </a:solidFill>
                <a:latin typeface="Times New Roman" panose="02020603050405020304" pitchFamily="18" charset="0"/>
                <a:cs typeface="Times New Roman" panose="02020603050405020304" pitchFamily="18" charset="0"/>
              </a:rPr>
              <a:t>背包</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NP</a:t>
            </a:r>
            <a:endParaRPr lang="zh-CN" altLang="en-US" sz="2400" b="1" smtClean="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ctrTitle"/>
          </p:nvPr>
        </p:nvSpPr>
        <p:spPr>
          <a:xfrm>
            <a:off x="685800" y="476250"/>
            <a:ext cx="7772400" cy="865188"/>
          </a:xfrm>
        </p:spPr>
        <p:txBody>
          <a:bodyPr/>
          <a:lstStyle/>
          <a:p>
            <a:pPr eaLnBrk="1" hangingPunct="1"/>
            <a:r>
              <a:rPr lang="zh-CN" altLang="en-US" sz="4000" b="1" smtClean="0">
                <a:solidFill>
                  <a:srgbClr val="C00000"/>
                </a:solidFill>
                <a:latin typeface="Times New Roman" panose="02020603050405020304" pitchFamily="18" charset="0"/>
                <a:cs typeface="Times New Roman" panose="02020603050405020304" pitchFamily="18" charset="0"/>
              </a:rPr>
              <a:t>非确定型多项式时间算法</a:t>
            </a:r>
            <a:endParaRPr lang="zh-CN" altLang="en-US" sz="4000" b="1" smtClean="0">
              <a:latin typeface="Times New Roman" panose="02020603050405020304" pitchFamily="18" charset="0"/>
              <a:cs typeface="Times New Roman" panose="02020603050405020304" pitchFamily="18" charset="0"/>
            </a:endParaRPr>
          </a:p>
        </p:txBody>
      </p:sp>
      <p:sp>
        <p:nvSpPr>
          <p:cNvPr id="16387" name="副标题 2"/>
          <p:cNvSpPr>
            <a:spLocks noGrp="1"/>
          </p:cNvSpPr>
          <p:nvPr>
            <p:ph type="subTitle" idx="1"/>
          </p:nvPr>
        </p:nvSpPr>
        <p:spPr>
          <a:xfrm>
            <a:off x="712788" y="1557338"/>
            <a:ext cx="7775575" cy="4535487"/>
          </a:xfrm>
        </p:spPr>
        <p:txBody>
          <a:bodyPr/>
          <a:lstStyle/>
          <a:p>
            <a:pPr algn="l" eaLnBrk="1" hangingPunct="1"/>
            <a:r>
              <a:rPr lang="zh-CN" altLang="en-US" sz="2400" b="1" smtClean="0">
                <a:solidFill>
                  <a:srgbClr val="C00000"/>
                </a:solidFill>
                <a:latin typeface="Times New Roman" panose="02020603050405020304" pitchFamily="18" charset="0"/>
                <a:cs typeface="Times New Roman" panose="02020603050405020304" pitchFamily="18" charset="0"/>
              </a:rPr>
              <a:t>非确定型多项式时间算法</a:t>
            </a:r>
            <a:r>
              <a:rPr lang="en-US" altLang="zh-CN" sz="2400" b="1" smtClean="0">
                <a:solidFill>
                  <a:schemeClr val="tx1"/>
                </a:solidFill>
                <a:latin typeface="Times New Roman" panose="02020603050405020304" pitchFamily="18" charset="0"/>
                <a:cs typeface="Times New Roman" panose="02020603050405020304" pitchFamily="18" charset="0"/>
              </a:rPr>
              <a:t>: </a:t>
            </a:r>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eaLnBrk="1" hangingPunct="1">
              <a:lnSpc>
                <a:spcPts val="3200"/>
              </a:lnSpc>
            </a:pPr>
            <a:r>
              <a:rPr lang="zh-CN" altLang="en-US" sz="2400" b="1" smtClean="0">
                <a:solidFill>
                  <a:schemeClr val="tx1"/>
                </a:solidFill>
                <a:latin typeface="Times New Roman" panose="02020603050405020304" pitchFamily="18" charset="0"/>
                <a:cs typeface="Times New Roman" panose="02020603050405020304" pitchFamily="18" charset="0"/>
              </a:rPr>
              <a:t>对给定的实例 </a:t>
            </a:r>
            <a:r>
              <a:rPr lang="en-US" altLang="zh-CN" sz="2400" b="1" i="1"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首先“猜想”一个 </a:t>
            </a:r>
            <a:r>
              <a:rPr lang="en-US" altLang="zh-CN" sz="2400" b="1" i="1" smtClean="0">
                <a:solidFill>
                  <a:schemeClr val="tx1"/>
                </a:solidFill>
                <a:latin typeface="Times New Roman" panose="02020603050405020304" pitchFamily="18" charset="0"/>
                <a:cs typeface="Times New Roman" panose="02020603050405020304" pitchFamily="18" charset="0"/>
              </a:rPr>
              <a:t>t</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rPr>
              <a:t>t</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solidFill>
                  <a:schemeClr val="tx1"/>
                </a:solidFill>
                <a:latin typeface="Times New Roman" panose="02020603050405020304" pitchFamily="18" charset="0"/>
                <a:cs typeface="Times New Roman" panose="02020603050405020304" pitchFamily="18" charset="0"/>
              </a:rPr>
              <a:t>p</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然后检查 </a:t>
            </a:r>
            <a:r>
              <a:rPr lang="en-US" altLang="zh-CN" sz="2400" b="1" i="1" smtClean="0">
                <a:solidFill>
                  <a:schemeClr val="tx1"/>
                </a:solidFill>
                <a:latin typeface="Times New Roman" panose="02020603050405020304" pitchFamily="18" charset="0"/>
                <a:cs typeface="Times New Roman" panose="02020603050405020304" pitchFamily="18" charset="0"/>
              </a:rPr>
              <a:t>t </a:t>
            </a:r>
            <a:r>
              <a:rPr lang="zh-CN" altLang="en-US" sz="2400" b="1" smtClean="0">
                <a:solidFill>
                  <a:schemeClr val="tx1"/>
                </a:solidFill>
                <a:latin typeface="Times New Roman" panose="02020603050405020304" pitchFamily="18" charset="0"/>
                <a:cs typeface="Times New Roman" panose="02020603050405020304" pitchFamily="18" charset="0"/>
              </a:rPr>
              <a:t>是否是证明 </a:t>
            </a:r>
            <a:r>
              <a:rPr lang="en-US" altLang="zh-CN" sz="2400" b="1" i="1"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solidFill>
                  <a:schemeClr val="tx1"/>
                </a:solidFill>
                <a:latin typeface="Times New Roman" panose="02020603050405020304" pitchFamily="18" charset="0"/>
                <a:cs typeface="Times New Roman" panose="02020603050405020304" pitchFamily="18" charset="0"/>
              </a:rPr>
              <a:t>Y </a:t>
            </a:r>
            <a:r>
              <a:rPr lang="zh-CN" altLang="en-US" sz="2400" b="1" smtClean="0">
                <a:solidFill>
                  <a:schemeClr val="tx1"/>
                </a:solidFill>
                <a:latin typeface="Times New Roman" panose="02020603050405020304" pitchFamily="18" charset="0"/>
                <a:cs typeface="Times New Roman" panose="02020603050405020304" pitchFamily="18" charset="0"/>
              </a:rPr>
              <a:t>的证据</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猜想和检查可以在多项式时间内完成</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并且当且仅当 </a:t>
            </a:r>
            <a:r>
              <a:rPr lang="en-US" altLang="zh-CN" sz="2400" b="1" i="1"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solidFill>
                  <a:schemeClr val="tx1"/>
                </a:solidFill>
                <a:latin typeface="Times New Roman" panose="02020603050405020304" pitchFamily="18" charset="0"/>
                <a:cs typeface="Times New Roman" panose="02020603050405020304" pitchFamily="18" charset="0"/>
              </a:rPr>
              <a:t>Y </a:t>
            </a:r>
            <a:r>
              <a:rPr lang="zh-CN" altLang="en-US" sz="2400" b="1" smtClean="0">
                <a:solidFill>
                  <a:schemeClr val="tx1"/>
                </a:solidFill>
                <a:latin typeface="Times New Roman" panose="02020603050405020304" pitchFamily="18" charset="0"/>
                <a:cs typeface="Times New Roman" panose="02020603050405020304" pitchFamily="18" charset="0"/>
              </a:rPr>
              <a:t>时能够正确地猜想到一个证据 </a:t>
            </a:r>
            <a:r>
              <a:rPr lang="en-US" altLang="zh-CN" sz="2400" b="1" i="1" smtClean="0">
                <a:solidFill>
                  <a:schemeClr val="tx1"/>
                </a:solidFill>
                <a:latin typeface="Times New Roman" panose="02020603050405020304" pitchFamily="18" charset="0"/>
                <a:cs typeface="Times New Roman" panose="02020603050405020304" pitchFamily="18" charset="0"/>
              </a:rPr>
              <a:t>t</a:t>
            </a:r>
            <a:r>
              <a:rPr lang="en-US" altLang="zh-CN" sz="2400" b="1" smtClean="0">
                <a:solidFill>
                  <a:schemeClr val="tx1"/>
                </a:solidFill>
                <a:latin typeface="Times New Roman" panose="02020603050405020304" pitchFamily="18" charset="0"/>
                <a:cs typeface="Times New Roman" panose="02020603050405020304" pitchFamily="18" charset="0"/>
              </a:rPr>
              <a:t>. </a:t>
            </a:r>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eaLnBrk="1" hangingPunct="1">
              <a:spcBef>
                <a:spcPts val="1800"/>
              </a:spcBef>
            </a:pPr>
            <a:r>
              <a:rPr lang="zh-CN" altLang="en-US" sz="2400" b="1" smtClean="0">
                <a:solidFill>
                  <a:srgbClr val="C00000"/>
                </a:solidFill>
                <a:latin typeface="Times New Roman" panose="02020603050405020304" pitchFamily="18" charset="0"/>
                <a:cs typeface="Times New Roman" panose="02020603050405020304" pitchFamily="18" charset="0"/>
              </a:rPr>
              <a:t>定理</a:t>
            </a:r>
            <a:r>
              <a:rPr lang="en-US" altLang="zh-CN" sz="2400" b="1" smtClean="0">
                <a:solidFill>
                  <a:srgbClr val="C00000"/>
                </a:solidFill>
                <a:latin typeface="Times New Roman" panose="02020603050405020304" pitchFamily="18" charset="0"/>
                <a:cs typeface="Times New Roman" panose="02020603050405020304" pitchFamily="18" charset="0"/>
              </a:rPr>
              <a:t>9.1</a:t>
            </a:r>
            <a:r>
              <a:rPr lang="en-US" altLang="zh-CN" sz="2400" b="1" smtClean="0">
                <a:solidFill>
                  <a:schemeClr val="tx1"/>
                </a:solidFill>
                <a:latin typeface="Times New Roman" panose="02020603050405020304" pitchFamily="18" charset="0"/>
                <a:cs typeface="Times New Roman" panose="02020603050405020304" pitchFamily="18" charset="0"/>
              </a:rPr>
              <a:t> P </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smtClean="0">
                <a:solidFill>
                  <a:schemeClr val="tx1"/>
                </a:solidFill>
                <a:latin typeface="Times New Roman" panose="02020603050405020304" pitchFamily="18" charset="0"/>
                <a:cs typeface="Times New Roman" panose="02020603050405020304" pitchFamily="18" charset="0"/>
              </a:rPr>
              <a:t>NP.</a:t>
            </a:r>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eaLnBrk="1" hangingPunct="1">
              <a:spcBef>
                <a:spcPts val="1800"/>
              </a:spcBef>
            </a:pPr>
            <a:r>
              <a:rPr lang="zh-CN" altLang="en-US" sz="2400" b="1" smtClean="0">
                <a:solidFill>
                  <a:srgbClr val="C00000"/>
                </a:solidFill>
                <a:latin typeface="Times New Roman" panose="02020603050405020304" pitchFamily="18" charset="0"/>
                <a:cs typeface="Times New Roman" panose="02020603050405020304" pitchFamily="18" charset="0"/>
              </a:rPr>
              <a:t>问题</a:t>
            </a:r>
            <a:r>
              <a:rPr lang="en-US" altLang="zh-CN" sz="2400" b="1" smtClean="0">
                <a:solidFill>
                  <a:schemeClr val="tx1"/>
                </a:solidFill>
                <a:latin typeface="Times New Roman" panose="02020603050405020304" pitchFamily="18" charset="0"/>
                <a:cs typeface="Times New Roman" panose="02020603050405020304" pitchFamily="18" charset="0"/>
              </a:rPr>
              <a:t>:   P = NP?</a:t>
            </a:r>
            <a:endParaRPr lang="zh-CN" altLang="en-US" sz="2400" b="1" smtClean="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ctrTitle"/>
          </p:nvPr>
        </p:nvSpPr>
        <p:spPr>
          <a:xfrm>
            <a:off x="685800" y="476250"/>
            <a:ext cx="7772400" cy="865188"/>
          </a:xfrm>
        </p:spPr>
        <p:txBody>
          <a:bodyPr/>
          <a:lstStyle/>
          <a:p>
            <a:pPr eaLnBrk="1" hangingPunct="1"/>
            <a:r>
              <a:rPr lang="en-US" altLang="zh-CN" sz="4000" b="1" smtClean="0">
                <a:solidFill>
                  <a:srgbClr val="C00000"/>
                </a:solidFill>
                <a:latin typeface="Times New Roman" panose="02020603050405020304" pitchFamily="18" charset="0"/>
                <a:cs typeface="Times New Roman" panose="02020603050405020304" pitchFamily="18" charset="0"/>
              </a:rPr>
              <a:t>9.2 </a:t>
            </a:r>
            <a:r>
              <a:rPr lang="zh-CN" altLang="en-US" sz="4000" b="1" smtClean="0">
                <a:solidFill>
                  <a:srgbClr val="C00000"/>
                </a:solidFill>
                <a:latin typeface="Times New Roman" panose="02020603050405020304" pitchFamily="18" charset="0"/>
                <a:cs typeface="Times New Roman" panose="02020603050405020304" pitchFamily="18" charset="0"/>
              </a:rPr>
              <a:t>多项式时间变换与</a:t>
            </a:r>
            <a:r>
              <a:rPr lang="en-US" altLang="zh-CN" sz="4000" b="1" smtClean="0">
                <a:solidFill>
                  <a:srgbClr val="C00000"/>
                </a:solidFill>
                <a:latin typeface="Times New Roman" panose="02020603050405020304" pitchFamily="18" charset="0"/>
                <a:cs typeface="Times New Roman" panose="02020603050405020304" pitchFamily="18" charset="0"/>
              </a:rPr>
              <a:t>NP</a:t>
            </a:r>
            <a:r>
              <a:rPr lang="zh-CN" altLang="en-US" sz="4000" b="1" smtClean="0">
                <a:solidFill>
                  <a:srgbClr val="C00000"/>
                </a:solidFill>
                <a:latin typeface="Times New Roman" panose="02020603050405020304" pitchFamily="18" charset="0"/>
                <a:cs typeface="Times New Roman" panose="02020603050405020304" pitchFamily="18" charset="0"/>
              </a:rPr>
              <a:t>完全性</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17411" name="副标题 2"/>
          <p:cNvSpPr>
            <a:spLocks noGrp="1"/>
          </p:cNvSpPr>
          <p:nvPr>
            <p:ph type="subTitle" idx="1"/>
          </p:nvPr>
        </p:nvSpPr>
        <p:spPr>
          <a:xfrm>
            <a:off x="684213" y="1557338"/>
            <a:ext cx="7775575" cy="4535487"/>
          </a:xfrm>
        </p:spPr>
        <p:txBody>
          <a:bodyPr/>
          <a:lstStyle/>
          <a:p>
            <a:pPr algn="l" eaLnBrk="1" hangingPunct="1"/>
            <a:r>
              <a:rPr lang="en-US" altLang="zh-CN" b="1" smtClean="0">
                <a:solidFill>
                  <a:srgbClr val="C00000"/>
                </a:solidFill>
                <a:latin typeface="Times New Roman" panose="02020603050405020304" pitchFamily="18" charset="0"/>
                <a:cs typeface="Times New Roman" panose="02020603050405020304" pitchFamily="18" charset="0"/>
              </a:rPr>
              <a:t>9.2.1 </a:t>
            </a:r>
            <a:r>
              <a:rPr lang="zh-CN" altLang="en-US" b="1" smtClean="0">
                <a:solidFill>
                  <a:srgbClr val="C00000"/>
                </a:solidFill>
                <a:latin typeface="Times New Roman" panose="02020603050405020304" pitchFamily="18" charset="0"/>
                <a:cs typeface="Times New Roman" panose="02020603050405020304" pitchFamily="18" charset="0"/>
              </a:rPr>
              <a:t>多项式时间变换</a:t>
            </a:r>
            <a:endParaRPr lang="en-US" altLang="zh-CN" b="1" smtClean="0">
              <a:solidFill>
                <a:srgbClr val="C00000"/>
              </a:solidFill>
              <a:latin typeface="Times New Roman" panose="02020603050405020304" pitchFamily="18" charset="0"/>
              <a:cs typeface="Times New Roman" panose="02020603050405020304" pitchFamily="18" charset="0"/>
            </a:endParaRPr>
          </a:p>
          <a:p>
            <a:pPr algn="l">
              <a:lnSpc>
                <a:spcPct val="150000"/>
              </a:lnSpc>
            </a:pPr>
            <a:r>
              <a:rPr lang="zh-CN" altLang="en-US" sz="2400" b="1" smtClean="0">
                <a:solidFill>
                  <a:schemeClr val="tx1"/>
                </a:solidFill>
                <a:latin typeface="Times New Roman" panose="02020603050405020304" pitchFamily="18" charset="0"/>
                <a:cs typeface="Times New Roman" panose="02020603050405020304" pitchFamily="18" charset="0"/>
              </a:rPr>
              <a:t>如何比较两个问题的难度</a:t>
            </a:r>
            <a:r>
              <a:rPr lang="en-US" altLang="zh-CN" sz="2400" b="1" smtClean="0">
                <a:solidFill>
                  <a:schemeClr val="tx1"/>
                </a:solidFill>
                <a:latin typeface="Times New Roman" panose="02020603050405020304" pitchFamily="18" charset="0"/>
                <a:cs typeface="Times New Roman" panose="02020603050405020304" pitchFamily="18" charset="0"/>
              </a:rPr>
              <a:t>?</a:t>
            </a:r>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a:r>
              <a:rPr lang="zh-CN" altLang="en-US" sz="2400" b="1" smtClean="0">
                <a:solidFill>
                  <a:srgbClr val="C00000"/>
                </a:solidFill>
                <a:latin typeface="Times New Roman" panose="02020603050405020304" pitchFamily="18" charset="0"/>
                <a:cs typeface="Times New Roman" panose="02020603050405020304" pitchFamily="18" charset="0"/>
              </a:rPr>
              <a:t>定义</a:t>
            </a:r>
            <a:r>
              <a:rPr lang="en-US" altLang="zh-CN" sz="2400" b="1" smtClean="0">
                <a:solidFill>
                  <a:srgbClr val="C00000"/>
                </a:solidFill>
                <a:latin typeface="Times New Roman" panose="02020603050405020304" pitchFamily="18" charset="0"/>
                <a:cs typeface="Times New Roman" panose="02020603050405020304" pitchFamily="18" charset="0"/>
              </a:rPr>
              <a:t>9.4</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设判定问题 </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25000" smtClean="0">
                <a:solidFill>
                  <a:schemeClr val="tx1"/>
                </a:solidFill>
                <a:latin typeface="Times New Roman" panose="02020603050405020304" pitchFamily="18" charset="0"/>
                <a:cs typeface="Times New Roman" panose="02020603050405020304" pitchFamily="18" charset="0"/>
              </a:rPr>
              <a:t>1 </a:t>
            </a:r>
            <a:r>
              <a:rPr lang="en-US" altLang="zh-CN" sz="2400" b="1" smtClean="0">
                <a:solidFill>
                  <a:schemeClr val="tx1"/>
                </a:solidFill>
                <a:latin typeface="Times New Roman" panose="02020603050405020304" pitchFamily="18" charset="0"/>
                <a:cs typeface="Times New Roman" panose="02020603050405020304" pitchFamily="18" charset="0"/>
              </a:rPr>
              <a:t>= &lt;</a:t>
            </a:r>
            <a:r>
              <a:rPr lang="en-US" altLang="zh-CN" sz="2400" b="1" i="1" smtClean="0">
                <a:solidFill>
                  <a:schemeClr val="tx1"/>
                </a:solidFill>
                <a:latin typeface="Times New Roman" panose="02020603050405020304" pitchFamily="18" charset="0"/>
                <a:cs typeface="Times New Roman" panose="02020603050405020304" pitchFamily="18" charset="0"/>
              </a:rPr>
              <a:t>D</a:t>
            </a:r>
            <a:r>
              <a:rPr lang="en-US" altLang="zh-CN" sz="2400" b="1" baseline="-25000" smtClean="0">
                <a:solidFill>
                  <a:schemeClr val="tx1"/>
                </a:solidFill>
                <a:latin typeface="Times New Roman" panose="02020603050405020304" pitchFamily="18" charset="0"/>
                <a:cs typeface="Times New Roman" panose="02020603050405020304" pitchFamily="18" charset="0"/>
              </a:rPr>
              <a:t>1</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Y</a:t>
            </a:r>
            <a:r>
              <a:rPr lang="en-US" altLang="zh-CN" sz="2400" b="1" baseline="-25000" smtClean="0">
                <a:solidFill>
                  <a:schemeClr val="tx1"/>
                </a:solidFill>
                <a:latin typeface="Times New Roman" panose="02020603050405020304" pitchFamily="18" charset="0"/>
                <a:cs typeface="Times New Roman" panose="02020603050405020304" pitchFamily="18" charset="0"/>
              </a:rPr>
              <a:t>1</a:t>
            </a:r>
            <a:r>
              <a:rPr lang="en-US" altLang="zh-CN" sz="2400" b="1" smtClean="0">
                <a:solidFill>
                  <a:schemeClr val="tx1"/>
                </a:solidFill>
                <a:latin typeface="Times New Roman" panose="02020603050405020304" pitchFamily="18" charset="0"/>
                <a:cs typeface="Times New Roman" panose="02020603050405020304" pitchFamily="18" charset="0"/>
              </a:rPr>
              <a:t>&gt;, </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25000" smtClean="0">
                <a:solidFill>
                  <a:schemeClr val="tx1"/>
                </a:solidFill>
                <a:latin typeface="Times New Roman" panose="02020603050405020304" pitchFamily="18" charset="0"/>
                <a:cs typeface="Times New Roman" panose="02020603050405020304" pitchFamily="18" charset="0"/>
              </a:rPr>
              <a:t>2 </a:t>
            </a:r>
            <a:r>
              <a:rPr lang="en-US" altLang="zh-CN" sz="2400" b="1" smtClean="0">
                <a:solidFill>
                  <a:schemeClr val="tx1"/>
                </a:solidFill>
                <a:latin typeface="Times New Roman" panose="02020603050405020304" pitchFamily="18" charset="0"/>
                <a:cs typeface="Times New Roman" panose="02020603050405020304" pitchFamily="18" charset="0"/>
              </a:rPr>
              <a:t>= &lt;</a:t>
            </a:r>
            <a:r>
              <a:rPr lang="en-US" altLang="zh-CN" sz="2400" b="1" i="1" smtClean="0">
                <a:solidFill>
                  <a:schemeClr val="tx1"/>
                </a:solidFill>
                <a:latin typeface="Times New Roman" panose="02020603050405020304" pitchFamily="18" charset="0"/>
                <a:cs typeface="Times New Roman" panose="02020603050405020304" pitchFamily="18" charset="0"/>
              </a:rPr>
              <a:t>D</a:t>
            </a:r>
            <a:r>
              <a:rPr lang="en-US" altLang="zh-CN" sz="2400" b="1" baseline="-25000" smtClean="0">
                <a:solidFill>
                  <a:schemeClr val="tx1"/>
                </a:solidFill>
                <a:latin typeface="Times New Roman" panose="02020603050405020304" pitchFamily="18" charset="0"/>
                <a:cs typeface="Times New Roman" panose="02020603050405020304" pitchFamily="18" charset="0"/>
              </a:rPr>
              <a:t>2</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Y</a:t>
            </a:r>
            <a:r>
              <a:rPr lang="en-US" altLang="zh-CN" sz="2400" b="1" baseline="-25000" smtClean="0">
                <a:solidFill>
                  <a:schemeClr val="tx1"/>
                </a:solidFill>
                <a:latin typeface="Times New Roman" panose="02020603050405020304" pitchFamily="18" charset="0"/>
                <a:cs typeface="Times New Roman" panose="02020603050405020304" pitchFamily="18" charset="0"/>
              </a:rPr>
              <a:t>2</a:t>
            </a:r>
            <a:r>
              <a:rPr lang="en-US" altLang="zh-CN" sz="2400" b="1" smtClean="0">
                <a:solidFill>
                  <a:schemeClr val="tx1"/>
                </a:solidFill>
                <a:latin typeface="Times New Roman" panose="02020603050405020304" pitchFamily="18" charset="0"/>
                <a:cs typeface="Times New Roman" panose="02020603050405020304" pitchFamily="18" charset="0"/>
              </a:rPr>
              <a:t>&gt;.  </a:t>
            </a:r>
            <a:r>
              <a:rPr lang="zh-CN" altLang="en-US" sz="2400" b="1" smtClean="0">
                <a:solidFill>
                  <a:schemeClr val="tx1"/>
                </a:solidFill>
                <a:latin typeface="Times New Roman" panose="02020603050405020304" pitchFamily="18" charset="0"/>
                <a:cs typeface="Times New Roman" panose="02020603050405020304" pitchFamily="18" charset="0"/>
              </a:rPr>
              <a:t>如果函数 </a:t>
            </a:r>
            <a:r>
              <a:rPr lang="en-US" altLang="zh-CN" sz="2400" b="1" i="1" smtClean="0">
                <a:solidFill>
                  <a:schemeClr val="tx1"/>
                </a:solidFill>
                <a:latin typeface="Times New Roman" panose="02020603050405020304" pitchFamily="18" charset="0"/>
                <a:cs typeface="Times New Roman" panose="02020603050405020304" pitchFamily="18" charset="0"/>
              </a:rPr>
              <a:t>f </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rPr>
              <a:t>D</a:t>
            </a:r>
            <a:r>
              <a:rPr lang="en-US" altLang="zh-CN" sz="2400" b="1" baseline="-25000" smtClean="0">
                <a:solidFill>
                  <a:schemeClr val="tx1"/>
                </a:solidFill>
                <a:latin typeface="Times New Roman" panose="02020603050405020304" pitchFamily="18" charset="0"/>
                <a:cs typeface="Times New Roman" panose="02020603050405020304" pitchFamily="18" charset="0"/>
              </a:rPr>
              <a:t>1 </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solidFill>
                  <a:schemeClr val="tx1"/>
                </a:solidFill>
                <a:latin typeface="Times New Roman" panose="02020603050405020304" pitchFamily="18" charset="0"/>
                <a:cs typeface="Times New Roman" panose="02020603050405020304" pitchFamily="18" charset="0"/>
              </a:rPr>
              <a:t> D</a:t>
            </a:r>
            <a:r>
              <a:rPr lang="en-US" altLang="zh-CN" sz="2400" b="1" baseline="-25000" smtClean="0">
                <a:solidFill>
                  <a:schemeClr val="tx1"/>
                </a:solidFill>
                <a:latin typeface="Times New Roman" panose="02020603050405020304" pitchFamily="18" charset="0"/>
                <a:cs typeface="Times New Roman" panose="02020603050405020304" pitchFamily="18" charset="0"/>
              </a:rPr>
              <a:t>2 </a:t>
            </a:r>
            <a:r>
              <a:rPr lang="zh-CN" altLang="en-US" sz="2400" b="1" smtClean="0">
                <a:solidFill>
                  <a:schemeClr val="tx1"/>
                </a:solidFill>
                <a:latin typeface="Times New Roman" panose="02020603050405020304" pitchFamily="18" charset="0"/>
                <a:cs typeface="Times New Roman" panose="02020603050405020304" pitchFamily="18" charset="0"/>
              </a:rPr>
              <a:t>满足条件</a:t>
            </a:r>
            <a:r>
              <a:rPr lang="en-US" altLang="zh-CN" sz="2400" b="1" smtClean="0">
                <a:solidFill>
                  <a:schemeClr val="tx1"/>
                </a:solidFill>
                <a:latin typeface="Times New Roman" panose="02020603050405020304" pitchFamily="18" charset="0"/>
                <a:cs typeface="Times New Roman" panose="02020603050405020304" pitchFamily="18" charset="0"/>
              </a:rPr>
              <a:t>:</a:t>
            </a:r>
            <a:endParaRPr lang="zh-CN" altLang="en-US" sz="2400" b="1" smtClean="0">
              <a:solidFill>
                <a:schemeClr val="tx1"/>
              </a:solidFill>
              <a:latin typeface="Times New Roman" panose="02020603050405020304" pitchFamily="18" charset="0"/>
              <a:cs typeface="Times New Roman" panose="02020603050405020304" pitchFamily="18" charset="0"/>
            </a:endParaRPr>
          </a:p>
          <a:p>
            <a:pPr algn="l"/>
            <a:r>
              <a:rPr lang="en-US" altLang="zh-CN" sz="2400" b="1" smtClean="0">
                <a:solidFill>
                  <a:schemeClr val="tx1"/>
                </a:solidFill>
                <a:latin typeface="Times New Roman" panose="02020603050405020304" pitchFamily="18" charset="0"/>
                <a:cs typeface="Times New Roman" panose="02020603050405020304" pitchFamily="18" charset="0"/>
              </a:rPr>
              <a:t>(1)  </a:t>
            </a:r>
            <a:r>
              <a:rPr lang="en-US" altLang="zh-CN" sz="2400" b="1" i="1" smtClean="0">
                <a:solidFill>
                  <a:schemeClr val="tx1"/>
                </a:solidFill>
                <a:latin typeface="Times New Roman" panose="02020603050405020304" pitchFamily="18" charset="0"/>
                <a:cs typeface="Times New Roman" panose="02020603050405020304" pitchFamily="18" charset="0"/>
              </a:rPr>
              <a:t>f </a:t>
            </a:r>
            <a:r>
              <a:rPr lang="zh-CN" altLang="en-US" sz="2400" b="1" smtClean="0">
                <a:solidFill>
                  <a:schemeClr val="tx1"/>
                </a:solidFill>
                <a:latin typeface="Times New Roman" panose="02020603050405020304" pitchFamily="18" charset="0"/>
                <a:cs typeface="Times New Roman" panose="02020603050405020304" pitchFamily="18" charset="0"/>
              </a:rPr>
              <a:t>是多项式时间可计算的</a:t>
            </a:r>
            <a:r>
              <a:rPr lang="en-US" altLang="zh-CN" sz="2400" b="1" smtClean="0">
                <a:solidFill>
                  <a:schemeClr val="tx1"/>
                </a:solidFill>
                <a:latin typeface="Times New Roman" panose="02020603050405020304" pitchFamily="18" charset="0"/>
                <a:cs typeface="Times New Roman" panose="02020603050405020304" pitchFamily="18" charset="0"/>
              </a:rPr>
              <a:t>,</a:t>
            </a:r>
            <a:endParaRPr lang="zh-CN" altLang="en-US" sz="2400" b="1" smtClean="0">
              <a:solidFill>
                <a:schemeClr val="tx1"/>
              </a:solidFill>
              <a:latin typeface="Times New Roman" panose="02020603050405020304" pitchFamily="18" charset="0"/>
              <a:cs typeface="Times New Roman" panose="02020603050405020304" pitchFamily="18" charset="0"/>
            </a:endParaRPr>
          </a:p>
          <a:p>
            <a:pPr algn="l"/>
            <a:r>
              <a:rPr lang="en-US" altLang="zh-CN" sz="2400" b="1" smtClean="0">
                <a:solidFill>
                  <a:schemeClr val="tx1"/>
                </a:solidFill>
                <a:latin typeface="Times New Roman" panose="02020603050405020304" pitchFamily="18" charset="0"/>
                <a:cs typeface="Times New Roman" panose="02020603050405020304" pitchFamily="18" charset="0"/>
              </a:rPr>
              <a:t>(2) </a:t>
            </a:r>
            <a:r>
              <a:rPr lang="zh-CN" altLang="en-US" sz="2400" b="1" smtClean="0">
                <a:solidFill>
                  <a:schemeClr val="tx1"/>
                </a:solidFill>
                <a:latin typeface="Times New Roman" panose="02020603050405020304" pitchFamily="18" charset="0"/>
                <a:cs typeface="Times New Roman" panose="02020603050405020304" pitchFamily="18" charset="0"/>
              </a:rPr>
              <a:t>对所有的 </a:t>
            </a:r>
            <a:r>
              <a:rPr lang="en-US" altLang="zh-CN" sz="2400" b="1" i="1"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solidFill>
                  <a:schemeClr val="tx1"/>
                </a:solidFill>
                <a:latin typeface="Times New Roman" panose="02020603050405020304" pitchFamily="18" charset="0"/>
                <a:cs typeface="Times New Roman" panose="02020603050405020304" pitchFamily="18" charset="0"/>
              </a:rPr>
              <a:t>D</a:t>
            </a:r>
            <a:r>
              <a:rPr lang="en-US" altLang="zh-CN" sz="2400" b="1" baseline="-25000" smtClean="0">
                <a:solidFill>
                  <a:schemeClr val="tx1"/>
                </a:solidFill>
                <a:latin typeface="Times New Roman" panose="02020603050405020304" pitchFamily="18" charset="0"/>
                <a:cs typeface="Times New Roman" panose="02020603050405020304" pitchFamily="18" charset="0"/>
              </a:rPr>
              <a:t>1</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solidFill>
                  <a:schemeClr val="tx1"/>
                </a:solidFill>
                <a:latin typeface="Times New Roman" panose="02020603050405020304" pitchFamily="18" charset="0"/>
                <a:cs typeface="Times New Roman" panose="02020603050405020304" pitchFamily="18" charset="0"/>
              </a:rPr>
              <a:t>Y</a:t>
            </a:r>
            <a:r>
              <a:rPr lang="en-US" altLang="zh-CN" sz="2400" b="1" baseline="-25000" smtClean="0">
                <a:solidFill>
                  <a:schemeClr val="tx1"/>
                </a:solidFill>
                <a:latin typeface="Times New Roman" panose="02020603050405020304" pitchFamily="18" charset="0"/>
                <a:cs typeface="Times New Roman" panose="02020603050405020304" pitchFamily="18" charset="0"/>
              </a:rPr>
              <a:t>1</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solidFill>
                  <a:schemeClr val="tx1"/>
                </a:solidFill>
                <a:latin typeface="Times New Roman" panose="02020603050405020304" pitchFamily="18" charset="0"/>
                <a:cs typeface="Times New Roman" panose="02020603050405020304" pitchFamily="18" charset="0"/>
              </a:rPr>
              <a:t>f</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solidFill>
                  <a:schemeClr val="tx1"/>
                </a:solidFill>
                <a:latin typeface="Times New Roman" panose="02020603050405020304" pitchFamily="18" charset="0"/>
                <a:cs typeface="Times New Roman" panose="02020603050405020304" pitchFamily="18" charset="0"/>
              </a:rPr>
              <a:t>Y</a:t>
            </a:r>
            <a:r>
              <a:rPr lang="en-US" altLang="zh-CN" sz="2400" b="1" baseline="-25000" smtClean="0">
                <a:solidFill>
                  <a:schemeClr val="tx1"/>
                </a:solidFill>
                <a:latin typeface="Times New Roman" panose="02020603050405020304" pitchFamily="18" charset="0"/>
                <a:cs typeface="Times New Roman" panose="02020603050405020304" pitchFamily="18" charset="0"/>
              </a:rPr>
              <a:t>2</a:t>
            </a:r>
            <a:r>
              <a:rPr lang="en-US" altLang="zh-CN" sz="2400" b="1" smtClean="0">
                <a:solidFill>
                  <a:schemeClr val="tx1"/>
                </a:solidFill>
                <a:latin typeface="Times New Roman" panose="02020603050405020304" pitchFamily="18" charset="0"/>
                <a:cs typeface="Times New Roman" panose="02020603050405020304" pitchFamily="18" charset="0"/>
              </a:rPr>
              <a:t>,</a:t>
            </a:r>
            <a:endParaRPr lang="zh-CN" altLang="en-US" sz="2400" b="1" smtClean="0">
              <a:solidFill>
                <a:schemeClr val="tx1"/>
              </a:solidFill>
              <a:latin typeface="Times New Roman" panose="02020603050405020304" pitchFamily="18" charset="0"/>
              <a:cs typeface="Times New Roman" panose="02020603050405020304" pitchFamily="18" charset="0"/>
            </a:endParaRPr>
          </a:p>
          <a:p>
            <a:pPr algn="l"/>
            <a:r>
              <a:rPr lang="zh-CN" altLang="en-US" sz="2400" b="1" smtClean="0">
                <a:solidFill>
                  <a:schemeClr val="tx1"/>
                </a:solidFill>
                <a:latin typeface="Times New Roman" panose="02020603050405020304" pitchFamily="18" charset="0"/>
                <a:cs typeface="Times New Roman" panose="02020603050405020304" pitchFamily="18" charset="0"/>
              </a:rPr>
              <a:t>则称 </a:t>
            </a:r>
            <a:r>
              <a:rPr lang="en-US" altLang="zh-CN" sz="2400" b="1" i="1" smtClean="0">
                <a:solidFill>
                  <a:schemeClr val="tx1"/>
                </a:solidFill>
                <a:latin typeface="Times New Roman" panose="02020603050405020304" pitchFamily="18" charset="0"/>
                <a:cs typeface="Times New Roman" panose="02020603050405020304" pitchFamily="18" charset="0"/>
              </a:rPr>
              <a:t>f </a:t>
            </a:r>
            <a:r>
              <a:rPr lang="zh-CN" altLang="en-US" sz="2400" b="1" smtClean="0">
                <a:solidFill>
                  <a:schemeClr val="tx1"/>
                </a:solidFill>
                <a:latin typeface="Times New Roman" panose="02020603050405020304" pitchFamily="18" charset="0"/>
                <a:cs typeface="Times New Roman" panose="02020603050405020304" pitchFamily="18" charset="0"/>
              </a:rPr>
              <a:t>是</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25000" smtClean="0">
                <a:solidFill>
                  <a:schemeClr val="tx1"/>
                </a:solidFill>
                <a:latin typeface="Times New Roman" panose="02020603050405020304" pitchFamily="18" charset="0"/>
                <a:cs typeface="Times New Roman" panose="02020603050405020304" pitchFamily="18" charset="0"/>
              </a:rPr>
              <a:t>1 </a:t>
            </a:r>
            <a:r>
              <a:rPr lang="zh-CN" altLang="en-US" sz="2400" b="1" smtClean="0">
                <a:solidFill>
                  <a:schemeClr val="tx1"/>
                </a:solidFill>
                <a:latin typeface="Times New Roman" panose="02020603050405020304" pitchFamily="18" charset="0"/>
                <a:cs typeface="Times New Roman" panose="02020603050405020304" pitchFamily="18" charset="0"/>
              </a:rPr>
              <a:t>到 </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25000" smtClean="0">
                <a:solidFill>
                  <a:schemeClr val="tx1"/>
                </a:solidFill>
                <a:latin typeface="Times New Roman" panose="02020603050405020304" pitchFamily="18" charset="0"/>
                <a:cs typeface="Times New Roman" panose="02020603050405020304" pitchFamily="18" charset="0"/>
              </a:rPr>
              <a:t>2 </a:t>
            </a:r>
            <a:r>
              <a:rPr lang="zh-CN" altLang="en-US" sz="2400" b="1" smtClean="0">
                <a:solidFill>
                  <a:schemeClr val="tx1"/>
                </a:solidFill>
                <a:latin typeface="Times New Roman" panose="02020603050405020304" pitchFamily="18" charset="0"/>
                <a:cs typeface="Times New Roman" panose="02020603050405020304" pitchFamily="18" charset="0"/>
              </a:rPr>
              <a:t>的</a:t>
            </a:r>
            <a:r>
              <a:rPr lang="zh-CN" altLang="en-US" sz="2400" b="1" smtClean="0">
                <a:solidFill>
                  <a:srgbClr val="C00000"/>
                </a:solidFill>
                <a:latin typeface="Times New Roman" panose="02020603050405020304" pitchFamily="18" charset="0"/>
                <a:cs typeface="Times New Roman" panose="02020603050405020304" pitchFamily="18" charset="0"/>
              </a:rPr>
              <a:t>多项式时间变换</a:t>
            </a:r>
            <a:r>
              <a:rPr lang="en-US" altLang="zh-CN" sz="2400" b="1" smtClean="0">
                <a:solidFill>
                  <a:schemeClr val="tx1"/>
                </a:solidFill>
                <a:latin typeface="Times New Roman" panose="02020603050405020304" pitchFamily="18" charset="0"/>
                <a:cs typeface="Times New Roman" panose="02020603050405020304" pitchFamily="18" charset="0"/>
              </a:rPr>
              <a:t>.</a:t>
            </a:r>
            <a:endParaRPr lang="zh-CN" altLang="en-US" sz="2400" b="1" smtClean="0">
              <a:solidFill>
                <a:schemeClr val="tx1"/>
              </a:solidFill>
              <a:latin typeface="Times New Roman" panose="02020603050405020304" pitchFamily="18" charset="0"/>
              <a:cs typeface="Times New Roman" panose="02020603050405020304" pitchFamily="18" charset="0"/>
            </a:endParaRPr>
          </a:p>
          <a:p>
            <a:pPr algn="l">
              <a:lnSpc>
                <a:spcPts val="3200"/>
              </a:lnSpc>
              <a:spcBef>
                <a:spcPts val="1800"/>
              </a:spcBef>
            </a:pPr>
            <a:r>
              <a:rPr lang="zh-CN" altLang="en-US" sz="2400" b="1" smtClean="0">
                <a:solidFill>
                  <a:schemeClr val="tx1"/>
                </a:solidFill>
                <a:latin typeface="Times New Roman" panose="02020603050405020304" pitchFamily="18" charset="0"/>
                <a:cs typeface="Times New Roman" panose="02020603050405020304" pitchFamily="18" charset="0"/>
              </a:rPr>
              <a:t>如果存在 </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25000" smtClean="0">
                <a:solidFill>
                  <a:schemeClr val="tx1"/>
                </a:solidFill>
                <a:latin typeface="Times New Roman" panose="02020603050405020304" pitchFamily="18" charset="0"/>
                <a:cs typeface="Times New Roman" panose="02020603050405020304" pitchFamily="18" charset="0"/>
              </a:rPr>
              <a:t>1 </a:t>
            </a:r>
            <a:r>
              <a:rPr lang="zh-CN" altLang="en-US" sz="2400" b="1" smtClean="0">
                <a:solidFill>
                  <a:schemeClr val="tx1"/>
                </a:solidFill>
                <a:latin typeface="Times New Roman" panose="02020603050405020304" pitchFamily="18" charset="0"/>
                <a:cs typeface="Times New Roman" panose="02020603050405020304" pitchFamily="18" charset="0"/>
              </a:rPr>
              <a:t>到 </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25000" smtClean="0">
                <a:solidFill>
                  <a:schemeClr val="tx1"/>
                </a:solidFill>
                <a:latin typeface="Times New Roman" panose="02020603050405020304" pitchFamily="18" charset="0"/>
                <a:cs typeface="Times New Roman" panose="02020603050405020304" pitchFamily="18" charset="0"/>
              </a:rPr>
              <a:t>2 </a:t>
            </a:r>
            <a:r>
              <a:rPr lang="zh-CN" altLang="en-US" sz="2400" b="1" smtClean="0">
                <a:solidFill>
                  <a:schemeClr val="tx1"/>
                </a:solidFill>
                <a:latin typeface="Times New Roman" panose="02020603050405020304" pitchFamily="18" charset="0"/>
                <a:cs typeface="Times New Roman" panose="02020603050405020304" pitchFamily="18" charset="0"/>
              </a:rPr>
              <a:t>的多项式时间变换</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则称 </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25000" smtClean="0">
                <a:solidFill>
                  <a:schemeClr val="tx1"/>
                </a:solidFill>
                <a:latin typeface="Times New Roman" panose="02020603050405020304" pitchFamily="18" charset="0"/>
                <a:cs typeface="Times New Roman" panose="02020603050405020304" pitchFamily="18" charset="0"/>
              </a:rPr>
              <a:t>1 </a:t>
            </a:r>
            <a:r>
              <a:rPr lang="zh-CN" altLang="en-US" sz="2400" b="1" smtClean="0">
                <a:solidFill>
                  <a:srgbClr val="C00000"/>
                </a:solidFill>
                <a:latin typeface="Times New Roman" panose="02020603050405020304" pitchFamily="18" charset="0"/>
                <a:cs typeface="Times New Roman" panose="02020603050405020304" pitchFamily="18" charset="0"/>
              </a:rPr>
              <a:t>可多项式时间变换到 </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25000" smtClean="0">
                <a:solidFill>
                  <a:schemeClr val="tx1"/>
                </a:solidFill>
                <a:latin typeface="Times New Roman" panose="02020603050405020304" pitchFamily="18" charset="0"/>
                <a:cs typeface="Times New Roman" panose="02020603050405020304" pitchFamily="18" charset="0"/>
              </a:rPr>
              <a:t>2</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记作 </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25000" smtClean="0">
                <a:solidFill>
                  <a:schemeClr val="tx1"/>
                </a:solidFill>
                <a:latin typeface="Times New Roman" panose="02020603050405020304" pitchFamily="18" charset="0"/>
                <a:cs typeface="Times New Roman" panose="02020603050405020304" pitchFamily="18" charset="0"/>
              </a:rPr>
              <a:t>1 </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solidFill>
                  <a:schemeClr val="tx1"/>
                </a:solidFill>
                <a:latin typeface="Times New Roman" panose="02020603050405020304" pitchFamily="18" charset="0"/>
                <a:cs typeface="Times New Roman" panose="02020603050405020304" pitchFamily="18" charset="0"/>
              </a:rPr>
              <a:t>p </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25000" smtClean="0">
                <a:solidFill>
                  <a:schemeClr val="tx1"/>
                </a:solidFill>
                <a:latin typeface="Times New Roman" panose="02020603050405020304" pitchFamily="18" charset="0"/>
                <a:cs typeface="Times New Roman" panose="02020603050405020304" pitchFamily="18" charset="0"/>
              </a:rPr>
              <a:t>2</a:t>
            </a:r>
            <a:r>
              <a:rPr lang="en-US" altLang="zh-CN" sz="2400" b="1" smtClean="0">
                <a:solidFill>
                  <a:schemeClr val="tx1"/>
                </a:solidFill>
                <a:latin typeface="Times New Roman" panose="02020603050405020304" pitchFamily="18" charset="0"/>
                <a:cs typeface="Times New Roman" panose="02020603050405020304" pitchFamily="18" charset="0"/>
              </a:rPr>
              <a:t>.    </a:t>
            </a:r>
            <a:endParaRPr lang="zh-CN" altLang="en-US" sz="2400" b="1" smtClean="0">
              <a:solidFill>
                <a:schemeClr val="tx1"/>
              </a:solidFill>
              <a:latin typeface="Times New Roman" panose="02020603050405020304" pitchFamily="18" charset="0"/>
              <a:cs typeface="Times New Roman" panose="02020603050405020304" pitchFamily="18" charset="0"/>
            </a:endParaRPr>
          </a:p>
          <a:p>
            <a:pPr algn="l" eaLnBrk="1" hangingPunct="1"/>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eaLnBrk="1" hangingPunct="1"/>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eaLnBrk="1" hangingPunct="1"/>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eaLnBrk="1" hangingPunct="1"/>
            <a:endParaRPr lang="zh-CN" altLang="en-US" sz="2400" b="1" smtClean="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p:cNvSpPr>
          <p:nvPr>
            <p:ph type="ctrTitle"/>
          </p:nvPr>
        </p:nvSpPr>
        <p:spPr>
          <a:xfrm>
            <a:off x="685800" y="476250"/>
            <a:ext cx="7772400" cy="865188"/>
          </a:xfrm>
        </p:spPr>
        <p:txBody>
          <a:bodyPr/>
          <a:lstStyle/>
          <a:p>
            <a:pPr eaLnBrk="1" hangingPunct="1"/>
            <a:r>
              <a:rPr lang="zh-CN" altLang="en-US" sz="4000" b="1" smtClean="0">
                <a:solidFill>
                  <a:srgbClr val="C00000"/>
                </a:solidFill>
                <a:latin typeface="Times New Roman" panose="02020603050405020304" pitchFamily="18" charset="0"/>
                <a:cs typeface="Times New Roman" panose="02020603050405020304" pitchFamily="18" charset="0"/>
              </a:rPr>
              <a:t>例</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18435" name="副标题 2"/>
          <p:cNvSpPr>
            <a:spLocks noGrp="1"/>
          </p:cNvSpPr>
          <p:nvPr>
            <p:ph type="subTitle" idx="1"/>
          </p:nvPr>
        </p:nvSpPr>
        <p:spPr>
          <a:xfrm>
            <a:off x="684213" y="1557338"/>
            <a:ext cx="7775575" cy="4679950"/>
          </a:xfrm>
        </p:spPr>
        <p:txBody>
          <a:bodyPr/>
          <a:lstStyle/>
          <a:p>
            <a:pPr algn="l"/>
            <a:r>
              <a:rPr lang="zh-CN" altLang="en-US" sz="2400" b="1" smtClean="0">
                <a:solidFill>
                  <a:srgbClr val="C00000"/>
                </a:solidFill>
                <a:latin typeface="Times New Roman" panose="02020603050405020304" pitchFamily="18" charset="0"/>
                <a:cs typeface="Times New Roman" panose="02020603050405020304" pitchFamily="18" charset="0"/>
              </a:rPr>
              <a:t>例</a:t>
            </a:r>
            <a:r>
              <a:rPr lang="en-US" altLang="zh-CN" sz="2400" b="1" smtClean="0">
                <a:solidFill>
                  <a:srgbClr val="C00000"/>
                </a:solidFill>
                <a:latin typeface="Times New Roman" panose="02020603050405020304" pitchFamily="18" charset="0"/>
                <a:cs typeface="Times New Roman" panose="02020603050405020304" pitchFamily="18" charset="0"/>
              </a:rPr>
              <a:t>9.1</a:t>
            </a:r>
            <a:r>
              <a:rPr lang="en-US" altLang="zh-CN" sz="2400" b="1" smtClean="0">
                <a:solidFill>
                  <a:schemeClr val="tx1"/>
                </a:solidFill>
                <a:latin typeface="Times New Roman" panose="02020603050405020304" pitchFamily="18" charset="0"/>
                <a:cs typeface="Times New Roman" panose="02020603050405020304" pitchFamily="18" charset="0"/>
              </a:rPr>
              <a:t>   HC </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solidFill>
                  <a:schemeClr val="tx1"/>
                </a:solidFill>
                <a:latin typeface="Times New Roman" panose="02020603050405020304" pitchFamily="18" charset="0"/>
                <a:cs typeface="Times New Roman" panose="02020603050405020304" pitchFamily="18" charset="0"/>
              </a:rPr>
              <a:t>p </a:t>
            </a:r>
            <a:r>
              <a:rPr lang="en-US" altLang="zh-CN" sz="2400" b="1" smtClean="0">
                <a:solidFill>
                  <a:schemeClr val="tx1"/>
                </a:solidFill>
                <a:latin typeface="Times New Roman" panose="02020603050405020304" pitchFamily="18" charset="0"/>
                <a:cs typeface="Times New Roman" panose="02020603050405020304" pitchFamily="18" charset="0"/>
              </a:rPr>
              <a:t>TSP.</a:t>
            </a:r>
            <a:endParaRPr lang="zh-CN" altLang="en-US" sz="2400" b="1" smtClean="0">
              <a:solidFill>
                <a:schemeClr val="tx1"/>
              </a:solidFill>
              <a:latin typeface="Times New Roman" panose="02020603050405020304" pitchFamily="18" charset="0"/>
              <a:cs typeface="Times New Roman" panose="02020603050405020304" pitchFamily="18" charset="0"/>
            </a:endParaRPr>
          </a:p>
          <a:p>
            <a:pPr algn="l">
              <a:spcBef>
                <a:spcPts val="1800"/>
              </a:spcBef>
            </a:pPr>
            <a:r>
              <a:rPr lang="zh-CN" altLang="en-US" sz="2400" b="1" smtClean="0">
                <a:solidFill>
                  <a:schemeClr val="tx1"/>
                </a:solidFill>
                <a:latin typeface="Times New Roman" panose="02020603050405020304" pitchFamily="18" charset="0"/>
                <a:cs typeface="Times New Roman" panose="02020603050405020304" pitchFamily="18" charset="0"/>
              </a:rPr>
              <a:t>证  对 </a:t>
            </a:r>
            <a:r>
              <a:rPr lang="en-US" altLang="zh-CN" sz="2400" b="1" smtClean="0">
                <a:solidFill>
                  <a:schemeClr val="tx1"/>
                </a:solidFill>
                <a:latin typeface="Times New Roman" panose="02020603050405020304" pitchFamily="18" charset="0"/>
                <a:cs typeface="Times New Roman" panose="02020603050405020304" pitchFamily="18" charset="0"/>
              </a:rPr>
              <a:t>HC </a:t>
            </a:r>
            <a:r>
              <a:rPr lang="zh-CN" altLang="en-US" sz="2400" b="1" smtClean="0">
                <a:solidFill>
                  <a:schemeClr val="tx1"/>
                </a:solidFill>
                <a:latin typeface="Times New Roman" panose="02020603050405020304" pitchFamily="18" charset="0"/>
                <a:cs typeface="Times New Roman" panose="02020603050405020304" pitchFamily="18" charset="0"/>
              </a:rPr>
              <a:t>的每一个实例 </a:t>
            </a:r>
            <a:r>
              <a:rPr lang="en-US" altLang="zh-CN" sz="2400" b="1" i="1"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无向图 </a:t>
            </a:r>
            <a:r>
              <a:rPr lang="en-US" altLang="zh-CN" sz="2400" b="1" i="1" smtClean="0">
                <a:solidFill>
                  <a:schemeClr val="tx1"/>
                </a:solidFill>
                <a:latin typeface="Times New Roman" panose="02020603050405020304" pitchFamily="18" charset="0"/>
                <a:cs typeface="Times New Roman" panose="02020603050405020304" pitchFamily="18" charset="0"/>
              </a:rPr>
              <a:t>G </a:t>
            </a:r>
            <a:r>
              <a:rPr lang="en-US" altLang="zh-CN" sz="2400" b="1" smtClean="0">
                <a:solidFill>
                  <a:schemeClr val="tx1"/>
                </a:solidFill>
                <a:latin typeface="Times New Roman" panose="02020603050405020304" pitchFamily="18" charset="0"/>
                <a:cs typeface="Times New Roman" panose="02020603050405020304" pitchFamily="18" charset="0"/>
              </a:rPr>
              <a:t>= &lt;</a:t>
            </a:r>
            <a:r>
              <a:rPr lang="en-US" altLang="zh-CN" sz="2400" b="1" i="1" smtClean="0">
                <a:solidFill>
                  <a:schemeClr val="tx1"/>
                </a:solidFill>
                <a:latin typeface="Times New Roman" panose="02020603050405020304" pitchFamily="18" charset="0"/>
                <a:cs typeface="Times New Roman" panose="02020603050405020304" pitchFamily="18" charset="0"/>
              </a:rPr>
              <a:t>V</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rPr>
              <a:t>E</a:t>
            </a:r>
            <a:r>
              <a:rPr lang="en-US" altLang="zh-CN" sz="2400" b="1" smtClean="0">
                <a:solidFill>
                  <a:schemeClr val="tx1"/>
                </a:solidFill>
                <a:latin typeface="Times New Roman" panose="02020603050405020304" pitchFamily="18" charset="0"/>
                <a:cs typeface="Times New Roman" panose="02020603050405020304" pitchFamily="18" charset="0"/>
              </a:rPr>
              <a:t>&gt;,  TSP </a:t>
            </a:r>
            <a:r>
              <a:rPr lang="zh-CN" altLang="en-US" sz="2400" b="1" smtClean="0">
                <a:solidFill>
                  <a:schemeClr val="tx1"/>
                </a:solidFill>
                <a:latin typeface="Times New Roman" panose="02020603050405020304" pitchFamily="18" charset="0"/>
                <a:cs typeface="Times New Roman" panose="02020603050405020304" pitchFamily="18" charset="0"/>
              </a:rPr>
              <a:t>对应的实例 </a:t>
            </a:r>
            <a:r>
              <a:rPr lang="en-US" altLang="zh-CN" sz="2400" b="1" i="1" smtClean="0">
                <a:solidFill>
                  <a:schemeClr val="tx1"/>
                </a:solidFill>
                <a:latin typeface="Times New Roman" panose="02020603050405020304" pitchFamily="18" charset="0"/>
                <a:cs typeface="Times New Roman" panose="02020603050405020304" pitchFamily="18" charset="0"/>
              </a:rPr>
              <a:t>f</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rPr>
              <a:t>)</a:t>
            </a:r>
            <a:r>
              <a:rPr lang="zh-CN" altLang="en-US" sz="2400" b="1" smtClean="0">
                <a:solidFill>
                  <a:schemeClr val="tx1"/>
                </a:solidFill>
                <a:latin typeface="Times New Roman" panose="02020603050405020304" pitchFamily="18" charset="0"/>
                <a:cs typeface="Times New Roman" panose="02020603050405020304" pitchFamily="18" charset="0"/>
              </a:rPr>
              <a:t>为</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城市集 </a:t>
            </a:r>
            <a:r>
              <a:rPr lang="en-US" altLang="zh-CN" sz="2400" b="1" i="1" smtClean="0">
                <a:solidFill>
                  <a:schemeClr val="tx1"/>
                </a:solidFill>
                <a:latin typeface="Times New Roman" panose="02020603050405020304" pitchFamily="18" charset="0"/>
                <a:cs typeface="Times New Roman" panose="02020603050405020304" pitchFamily="18" charset="0"/>
              </a:rPr>
              <a:t>V</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任意两个不同的城市 </a:t>
            </a:r>
            <a:r>
              <a:rPr lang="en-US" altLang="zh-CN" sz="2400" b="1" i="1" smtClean="0">
                <a:solidFill>
                  <a:schemeClr val="tx1"/>
                </a:solidFill>
                <a:latin typeface="Times New Roman" panose="02020603050405020304" pitchFamily="18" charset="0"/>
                <a:cs typeface="Times New Roman" panose="02020603050405020304" pitchFamily="18" charset="0"/>
              </a:rPr>
              <a:t>u </a:t>
            </a:r>
            <a:r>
              <a:rPr lang="zh-CN" altLang="en-US" sz="2400" b="1" smtClean="0">
                <a:solidFill>
                  <a:schemeClr val="tx1"/>
                </a:solidFill>
                <a:latin typeface="Times New Roman" panose="02020603050405020304" pitchFamily="18" charset="0"/>
                <a:cs typeface="Times New Roman" panose="02020603050405020304" pitchFamily="18" charset="0"/>
              </a:rPr>
              <a:t>和 </a:t>
            </a:r>
            <a:r>
              <a:rPr lang="en-US" altLang="zh-CN" sz="2400" b="1" i="1" smtClean="0">
                <a:solidFill>
                  <a:schemeClr val="tx1"/>
                </a:solidFill>
                <a:latin typeface="Times New Roman" panose="02020603050405020304" pitchFamily="18" charset="0"/>
                <a:cs typeface="Times New Roman" panose="02020603050405020304" pitchFamily="18" charset="0"/>
              </a:rPr>
              <a:t>v </a:t>
            </a:r>
            <a:r>
              <a:rPr lang="zh-CN" altLang="en-US" sz="2400" b="1" smtClean="0">
                <a:solidFill>
                  <a:schemeClr val="tx1"/>
                </a:solidFill>
                <a:latin typeface="Times New Roman" panose="02020603050405020304" pitchFamily="18" charset="0"/>
                <a:cs typeface="Times New Roman" panose="02020603050405020304" pitchFamily="18" charset="0"/>
              </a:rPr>
              <a:t>之间的距离</a:t>
            </a:r>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a:endParaRPr lang="zh-CN" altLang="en-US" sz="2400" b="1" smtClean="0">
              <a:solidFill>
                <a:schemeClr val="tx1"/>
              </a:solidFill>
              <a:latin typeface="Times New Roman" panose="02020603050405020304" pitchFamily="18" charset="0"/>
              <a:cs typeface="Times New Roman" panose="02020603050405020304" pitchFamily="18" charset="0"/>
            </a:endParaRPr>
          </a:p>
          <a:p>
            <a:pPr algn="l"/>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a:r>
              <a:rPr lang="zh-CN" altLang="en-US" sz="2400" b="1" smtClean="0">
                <a:solidFill>
                  <a:schemeClr val="tx1"/>
                </a:solidFill>
                <a:latin typeface="Times New Roman" panose="02020603050405020304" pitchFamily="18" charset="0"/>
                <a:cs typeface="Times New Roman" panose="02020603050405020304" pitchFamily="18" charset="0"/>
              </a:rPr>
              <a:t>以及界限 </a:t>
            </a:r>
            <a:r>
              <a:rPr lang="en-US" altLang="zh-CN" sz="2400" b="1" i="1" smtClean="0">
                <a:solidFill>
                  <a:schemeClr val="tx1"/>
                </a:solidFill>
                <a:latin typeface="Times New Roman" panose="02020603050405020304" pitchFamily="18" charset="0"/>
                <a:cs typeface="Times New Roman" panose="02020603050405020304" pitchFamily="18" charset="0"/>
              </a:rPr>
              <a:t>D </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rPr>
              <a:t>V</a:t>
            </a:r>
            <a:r>
              <a:rPr lang="en-US" altLang="zh-CN" sz="2400" b="1" smtClean="0">
                <a:solidFill>
                  <a:schemeClr val="tx1"/>
                </a:solidFill>
                <a:latin typeface="Times New Roman" panose="02020603050405020304" pitchFamily="18" charset="0"/>
                <a:cs typeface="Times New Roman" panose="02020603050405020304" pitchFamily="18" charset="0"/>
              </a:rPr>
              <a:t>|. </a:t>
            </a:r>
            <a:endParaRPr lang="zh-CN" altLang="en-US" sz="2400" b="1" smtClean="0">
              <a:solidFill>
                <a:schemeClr val="tx1"/>
              </a:solidFill>
              <a:latin typeface="Times New Roman" panose="02020603050405020304" pitchFamily="18" charset="0"/>
              <a:cs typeface="Times New Roman" panose="02020603050405020304" pitchFamily="18" charset="0"/>
            </a:endParaRPr>
          </a:p>
        </p:txBody>
      </p:sp>
      <p:graphicFrame>
        <p:nvGraphicFramePr>
          <p:cNvPr id="18436" name="Object 4"/>
          <p:cNvGraphicFramePr>
            <a:graphicFrameLocks noChangeAspect="1"/>
          </p:cNvGraphicFramePr>
          <p:nvPr/>
        </p:nvGraphicFramePr>
        <p:xfrm>
          <a:off x="2124075" y="3324225"/>
          <a:ext cx="4157663" cy="1147763"/>
        </p:xfrm>
        <a:graphic>
          <a:graphicData uri="http://schemas.openxmlformats.org/presentationml/2006/ole">
            <mc:AlternateContent xmlns:mc="http://schemas.openxmlformats.org/markup-compatibility/2006">
              <mc:Choice xmlns:v="urn:schemas-microsoft-com:vml" Requires="v">
                <p:oleObj spid="_x0000_s18438" name="Equation" r:id="rId1" imgW="1701800" imgH="469900" progId="Equation.3">
                  <p:embed/>
                </p:oleObj>
              </mc:Choice>
              <mc:Fallback>
                <p:oleObj name="Equation" r:id="rId1" imgW="1701800" imgH="4699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4075" y="3324225"/>
                        <a:ext cx="4157663" cy="1147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p:cNvSpPr>
            <a:spLocks noGrp="1"/>
          </p:cNvSpPr>
          <p:nvPr>
            <p:ph type="title"/>
          </p:nvPr>
        </p:nvSpPr>
        <p:spPr>
          <a:xfrm>
            <a:off x="457200" y="274638"/>
            <a:ext cx="8229600" cy="777875"/>
          </a:xfrm>
        </p:spPr>
        <p:txBody>
          <a:bodyPr/>
          <a:lstStyle/>
          <a:p>
            <a:r>
              <a:rPr lang="zh-CN" altLang="en-US" sz="4000" b="1" smtClean="0">
                <a:solidFill>
                  <a:srgbClr val="C00000"/>
                </a:solidFill>
              </a:rPr>
              <a:t>例</a:t>
            </a:r>
            <a:endParaRPr lang="zh-CN" altLang="en-US" sz="4000" b="1" smtClean="0">
              <a:solidFill>
                <a:srgbClr val="C00000"/>
              </a:solidFill>
            </a:endParaRPr>
          </a:p>
        </p:txBody>
      </p:sp>
      <p:sp>
        <p:nvSpPr>
          <p:cNvPr id="19459" name="内容占位符 2"/>
          <p:cNvSpPr>
            <a:spLocks noGrp="1"/>
          </p:cNvSpPr>
          <p:nvPr>
            <p:ph idx="1"/>
          </p:nvPr>
        </p:nvSpPr>
        <p:spPr>
          <a:xfrm>
            <a:off x="457200" y="1052513"/>
            <a:ext cx="8229600" cy="5400675"/>
          </a:xfrm>
        </p:spPr>
        <p:txBody>
          <a:bodyPr/>
          <a:lstStyle/>
          <a:p>
            <a:pPr>
              <a:buFont typeface="Arial" panose="020B0604020202020204" pitchFamily="34" charset="0"/>
              <a:buNone/>
            </a:pPr>
            <a:r>
              <a:rPr lang="zh-CN" altLang="en-US" sz="2400" b="1" smtClean="0">
                <a:solidFill>
                  <a:srgbClr val="C00000"/>
                </a:solidFill>
                <a:latin typeface="Times New Roman" panose="02020603050405020304" pitchFamily="18" charset="0"/>
                <a:cs typeface="Times New Roman" panose="02020603050405020304" pitchFamily="18" charset="0"/>
              </a:rPr>
              <a:t>最小生成树</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任给连通的无向赋权图 </a:t>
            </a:r>
            <a:r>
              <a:rPr lang="en-US" altLang="zh-CN" sz="2400" b="1" i="1" smtClean="0">
                <a:latin typeface="Times New Roman" panose="02020603050405020304" pitchFamily="18" charset="0"/>
                <a:cs typeface="Times New Roman" panose="02020603050405020304" pitchFamily="18" charset="0"/>
              </a:rPr>
              <a:t>G</a:t>
            </a:r>
            <a:r>
              <a:rPr lang="en-US" altLang="zh-CN" sz="2400" b="1" smtClean="0">
                <a:latin typeface="Times New Roman" panose="02020603050405020304" pitchFamily="18" charset="0"/>
                <a:cs typeface="Times New Roman" panose="02020603050405020304" pitchFamily="18" charset="0"/>
              </a:rPr>
              <a:t>=&lt;</a:t>
            </a:r>
            <a:r>
              <a:rPr lang="en-US" altLang="zh-CN" sz="2400" b="1" i="1" smtClean="0">
                <a:latin typeface="Times New Roman" panose="02020603050405020304" pitchFamily="18" charset="0"/>
                <a:cs typeface="Times New Roman" panose="02020603050405020304" pitchFamily="18" charset="0"/>
              </a:rPr>
              <a:t>V</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E</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W</a:t>
            </a:r>
            <a:r>
              <a:rPr lang="en-US" altLang="zh-CN" sz="2400" b="1" smtClean="0">
                <a:latin typeface="Times New Roman" panose="02020603050405020304" pitchFamily="18" charset="0"/>
                <a:cs typeface="Times New Roman" panose="02020603050405020304" pitchFamily="18" charset="0"/>
              </a:rPr>
              <a:t>&gt; </a:t>
            </a:r>
            <a:r>
              <a:rPr lang="zh-CN" altLang="en-US" sz="2400" b="1" smtClean="0">
                <a:latin typeface="Times New Roman" panose="02020603050405020304" pitchFamily="18" charset="0"/>
                <a:cs typeface="Times New Roman" panose="02020603050405020304" pitchFamily="18" charset="0"/>
              </a:rPr>
              <a:t>以及正整数</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i="1" smtClean="0">
                <a:latin typeface="Times New Roman" panose="02020603050405020304" pitchFamily="18" charset="0"/>
                <a:cs typeface="Times New Roman" panose="02020603050405020304" pitchFamily="18" charset="0"/>
              </a:rPr>
              <a:t>B</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其中权 </a:t>
            </a:r>
            <a:r>
              <a:rPr lang="en-US" altLang="zh-CN" sz="2400" b="1" i="1" smtClean="0">
                <a:latin typeface="Times New Roman" panose="02020603050405020304" pitchFamily="18" charset="0"/>
                <a:cs typeface="Times New Roman" panose="02020603050405020304" pitchFamily="18" charset="0"/>
              </a:rPr>
              <a:t>W</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E</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Z</a:t>
            </a:r>
            <a:r>
              <a:rPr lang="en-US" altLang="zh-CN" sz="2400" b="1" baseline="30000" smtClean="0">
                <a:latin typeface="Times New Roman" panose="02020603050405020304" pitchFamily="18" charset="0"/>
                <a:cs typeface="Times New Roman" panose="02020603050405020304" pitchFamily="18" charset="0"/>
              </a:rPr>
              <a:t>+</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问有权不超过 </a:t>
            </a:r>
            <a:r>
              <a:rPr lang="en-US" altLang="zh-CN" sz="2400" b="1" i="1" smtClean="0">
                <a:latin typeface="Times New Roman" panose="02020603050405020304" pitchFamily="18" charset="0"/>
                <a:cs typeface="Times New Roman" panose="02020603050405020304" pitchFamily="18" charset="0"/>
              </a:rPr>
              <a:t>B </a:t>
            </a:r>
            <a:r>
              <a:rPr lang="zh-CN" altLang="en-US" sz="2400" b="1" smtClean="0">
                <a:latin typeface="Times New Roman" panose="02020603050405020304" pitchFamily="18" charset="0"/>
                <a:cs typeface="Times New Roman" panose="02020603050405020304" pitchFamily="18" charset="0"/>
              </a:rPr>
              <a:t>的生成树吗</a:t>
            </a:r>
            <a:r>
              <a:rPr lang="en-US" altLang="zh-CN" sz="2400" b="1" smtClean="0">
                <a:latin typeface="Times New Roman" panose="02020603050405020304" pitchFamily="18" charset="0"/>
                <a:cs typeface="Times New Roman" panose="02020603050405020304" pitchFamily="18" charset="0"/>
              </a:rPr>
              <a:t>?</a:t>
            </a:r>
            <a:endParaRPr lang="zh-CN" altLang="en-US"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solidFill>
                  <a:srgbClr val="C00000"/>
                </a:solidFill>
                <a:latin typeface="Times New Roman" panose="02020603050405020304" pitchFamily="18" charset="0"/>
                <a:cs typeface="Times New Roman" panose="02020603050405020304" pitchFamily="18" charset="0"/>
              </a:rPr>
              <a:t>最大生成树</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任给连通的无向赋权图 </a:t>
            </a:r>
            <a:r>
              <a:rPr lang="en-US" altLang="zh-CN" sz="2400" b="1" i="1" smtClean="0">
                <a:latin typeface="Times New Roman" panose="02020603050405020304" pitchFamily="18" charset="0"/>
                <a:cs typeface="Times New Roman" panose="02020603050405020304" pitchFamily="18" charset="0"/>
              </a:rPr>
              <a:t>G</a:t>
            </a:r>
            <a:r>
              <a:rPr lang="en-US" altLang="zh-CN" sz="2400" b="1" smtClean="0">
                <a:latin typeface="Times New Roman" panose="02020603050405020304" pitchFamily="18" charset="0"/>
                <a:cs typeface="Times New Roman" panose="02020603050405020304" pitchFamily="18" charset="0"/>
              </a:rPr>
              <a:t>=&lt;</a:t>
            </a:r>
            <a:r>
              <a:rPr lang="en-US" altLang="zh-CN" sz="2400" b="1" i="1" smtClean="0">
                <a:latin typeface="Times New Roman" panose="02020603050405020304" pitchFamily="18" charset="0"/>
                <a:cs typeface="Times New Roman" panose="02020603050405020304" pitchFamily="18" charset="0"/>
              </a:rPr>
              <a:t>V</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E</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W</a:t>
            </a:r>
            <a:r>
              <a:rPr lang="en-US" altLang="zh-CN" sz="2400" b="1" smtClean="0">
                <a:latin typeface="Times New Roman" panose="02020603050405020304" pitchFamily="18" charset="0"/>
                <a:cs typeface="Times New Roman" panose="02020603050405020304" pitchFamily="18" charset="0"/>
              </a:rPr>
              <a:t>&gt; </a:t>
            </a:r>
            <a:r>
              <a:rPr lang="zh-CN" altLang="en-US" sz="2400" b="1" smtClean="0">
                <a:latin typeface="Times New Roman" panose="02020603050405020304" pitchFamily="18" charset="0"/>
                <a:cs typeface="Times New Roman" panose="02020603050405020304" pitchFamily="18" charset="0"/>
              </a:rPr>
              <a:t>以及正整数</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i="1" smtClean="0">
                <a:latin typeface="Times New Roman" panose="02020603050405020304" pitchFamily="18" charset="0"/>
                <a:cs typeface="Times New Roman" panose="02020603050405020304" pitchFamily="18" charset="0"/>
              </a:rPr>
              <a:t>D</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其中权 </a:t>
            </a:r>
            <a:r>
              <a:rPr lang="en-US" altLang="zh-CN" sz="2400" b="1" i="1" smtClean="0">
                <a:latin typeface="Times New Roman" panose="02020603050405020304" pitchFamily="18" charset="0"/>
                <a:cs typeface="Times New Roman" panose="02020603050405020304" pitchFamily="18" charset="0"/>
              </a:rPr>
              <a:t>W</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E</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Z</a:t>
            </a:r>
            <a:r>
              <a:rPr lang="en-US" altLang="zh-CN" sz="2400" b="1" baseline="30000" smtClean="0">
                <a:latin typeface="Times New Roman" panose="02020603050405020304" pitchFamily="18" charset="0"/>
                <a:cs typeface="Times New Roman" panose="02020603050405020304" pitchFamily="18" charset="0"/>
              </a:rPr>
              <a:t>+</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问 </a:t>
            </a:r>
            <a:r>
              <a:rPr lang="en-US" altLang="zh-CN" sz="2400" b="1" i="1" smtClean="0">
                <a:latin typeface="Times New Roman" panose="02020603050405020304" pitchFamily="18" charset="0"/>
                <a:cs typeface="Times New Roman" panose="02020603050405020304" pitchFamily="18" charset="0"/>
              </a:rPr>
              <a:t>G </a:t>
            </a:r>
            <a:r>
              <a:rPr lang="zh-CN" altLang="en-US" sz="2400" b="1" smtClean="0">
                <a:latin typeface="Times New Roman" panose="02020603050405020304" pitchFamily="18" charset="0"/>
                <a:cs typeface="Times New Roman" panose="02020603050405020304" pitchFamily="18" charset="0"/>
              </a:rPr>
              <a:t>有权不小于</a:t>
            </a:r>
            <a:r>
              <a:rPr lang="en-US" altLang="zh-CN" sz="2400" b="1" i="1" smtClean="0">
                <a:latin typeface="Times New Roman" panose="02020603050405020304" pitchFamily="18" charset="0"/>
                <a:cs typeface="Times New Roman" panose="02020603050405020304" pitchFamily="18" charset="0"/>
              </a:rPr>
              <a:t>D </a:t>
            </a:r>
            <a:r>
              <a:rPr lang="zh-CN" altLang="en-US" sz="2400" b="1" smtClean="0">
                <a:latin typeface="Times New Roman" panose="02020603050405020304" pitchFamily="18" charset="0"/>
                <a:cs typeface="Times New Roman" panose="02020603050405020304" pitchFamily="18" charset="0"/>
              </a:rPr>
              <a:t>的生成树吗</a:t>
            </a:r>
            <a:r>
              <a:rPr lang="en-US" altLang="zh-CN" sz="2400" b="1" smtClean="0">
                <a:latin typeface="Times New Roman" panose="02020603050405020304" pitchFamily="18" charset="0"/>
                <a:cs typeface="Times New Roman" panose="02020603050405020304" pitchFamily="18" charset="0"/>
              </a:rPr>
              <a:t>?    </a:t>
            </a:r>
            <a:endParaRPr lang="zh-CN" altLang="en-US" sz="2400" b="1" smtClean="0">
              <a:latin typeface="Times New Roman" panose="02020603050405020304" pitchFamily="18" charset="0"/>
              <a:cs typeface="Times New Roman" panose="02020603050405020304" pitchFamily="18" charset="0"/>
            </a:endParaRPr>
          </a:p>
          <a:p>
            <a:pPr>
              <a:spcBef>
                <a:spcPts val="1800"/>
              </a:spcBef>
              <a:buFont typeface="Arial" panose="020B0604020202020204" pitchFamily="34" charset="0"/>
              <a:buNone/>
            </a:pPr>
            <a:r>
              <a:rPr lang="zh-CN" altLang="en-US" sz="2400" b="1" smtClean="0">
                <a:solidFill>
                  <a:srgbClr val="C00000"/>
                </a:solidFill>
                <a:latin typeface="Times New Roman" panose="02020603050405020304" pitchFamily="18" charset="0"/>
                <a:cs typeface="Times New Roman" panose="02020603050405020304" pitchFamily="18" charset="0"/>
              </a:rPr>
              <a:t>例 </a:t>
            </a:r>
            <a:r>
              <a:rPr lang="en-US" altLang="zh-CN" sz="2400" b="1" smtClean="0">
                <a:solidFill>
                  <a:srgbClr val="C00000"/>
                </a:solidFill>
                <a:latin typeface="Times New Roman" panose="02020603050405020304" pitchFamily="18" charset="0"/>
                <a:cs typeface="Times New Roman" panose="02020603050405020304" pitchFamily="18" charset="0"/>
              </a:rPr>
              <a:t>9.2</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最大生成树</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latin typeface="Times New Roman" panose="02020603050405020304" pitchFamily="18" charset="0"/>
                <a:cs typeface="Times New Roman" panose="02020603050405020304" pitchFamily="18" charset="0"/>
              </a:rPr>
              <a:t>p</a:t>
            </a:r>
            <a:r>
              <a:rPr lang="zh-CN" altLang="en-US" sz="2400" b="1" smtClean="0">
                <a:latin typeface="Times New Roman" panose="02020603050405020304" pitchFamily="18" charset="0"/>
                <a:cs typeface="Times New Roman" panose="02020603050405020304" pitchFamily="18" charset="0"/>
              </a:rPr>
              <a:t>最小生成树</a:t>
            </a:r>
            <a:r>
              <a:rPr lang="en-US" altLang="zh-CN" sz="2400" b="1" smtClean="0">
                <a:latin typeface="Times New Roman" panose="02020603050405020304" pitchFamily="18" charset="0"/>
                <a:cs typeface="Times New Roman" panose="02020603050405020304" pitchFamily="18" charset="0"/>
              </a:rPr>
              <a:t>.</a:t>
            </a:r>
            <a:endParaRPr lang="zh-CN" altLang="en-US"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t>证  任</a:t>
            </a:r>
            <a:r>
              <a:rPr lang="zh-CN" altLang="en-US" sz="2400" b="1" smtClean="0">
                <a:latin typeface="Times New Roman" panose="02020603050405020304" pitchFamily="18" charset="0"/>
                <a:cs typeface="Times New Roman" panose="02020603050405020304" pitchFamily="18" charset="0"/>
              </a:rPr>
              <a:t>给最大生成树的实例 </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连通的无向赋权图 </a:t>
            </a:r>
            <a:r>
              <a:rPr lang="en-US" altLang="zh-CN" sz="2400" b="1" i="1" smtClean="0">
                <a:latin typeface="Times New Roman" panose="02020603050405020304" pitchFamily="18" charset="0"/>
                <a:cs typeface="Times New Roman" panose="02020603050405020304" pitchFamily="18" charset="0"/>
              </a:rPr>
              <a:t>G</a:t>
            </a:r>
            <a:r>
              <a:rPr lang="en-US" altLang="zh-CN" sz="2400" b="1" smtClean="0">
                <a:latin typeface="Times New Roman" panose="02020603050405020304" pitchFamily="18" charset="0"/>
                <a:cs typeface="Times New Roman" panose="02020603050405020304" pitchFamily="18" charset="0"/>
              </a:rPr>
              <a:t>=&lt;</a:t>
            </a:r>
            <a:r>
              <a:rPr lang="en-US" altLang="zh-CN" sz="2400" b="1" i="1" smtClean="0">
                <a:latin typeface="Times New Roman" panose="02020603050405020304" pitchFamily="18" charset="0"/>
                <a:cs typeface="Times New Roman" panose="02020603050405020304" pitchFamily="18" charset="0"/>
              </a:rPr>
              <a:t>V</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E</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W</a:t>
            </a:r>
            <a:r>
              <a:rPr lang="en-US" altLang="zh-CN" sz="2400" b="1" smtClean="0">
                <a:latin typeface="Times New Roman" panose="02020603050405020304" pitchFamily="18" charset="0"/>
                <a:cs typeface="Times New Roman" panose="02020603050405020304" pitchFamily="18" charset="0"/>
              </a:rPr>
              <a:t>&gt;</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和正整数 </a:t>
            </a:r>
            <a:r>
              <a:rPr lang="en-US" altLang="zh-CN" sz="2400" b="1" i="1" smtClean="0">
                <a:latin typeface="Times New Roman" panose="02020603050405020304" pitchFamily="18" charset="0"/>
                <a:cs typeface="Times New Roman" panose="02020603050405020304" pitchFamily="18" charset="0"/>
              </a:rPr>
              <a:t>D</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最小生成树的对应实例 </a:t>
            </a:r>
            <a:r>
              <a:rPr lang="en-US" altLang="zh-CN" sz="2400" b="1" i="1" smtClean="0">
                <a:latin typeface="Times New Roman" panose="02020603050405020304" pitchFamily="18" charset="0"/>
                <a:cs typeface="Times New Roman" panose="02020603050405020304" pitchFamily="18" charset="0"/>
              </a:rPr>
              <a:t>f</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图 </a:t>
            </a:r>
            <a:r>
              <a:rPr lang="en-US" altLang="zh-CN" sz="2400" b="1" i="1" smtClean="0">
                <a:latin typeface="Times New Roman" panose="02020603050405020304" pitchFamily="18" charset="0"/>
                <a:cs typeface="Times New Roman" panose="02020603050405020304" pitchFamily="18" charset="0"/>
              </a:rPr>
              <a:t>G</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=&lt;</a:t>
            </a:r>
            <a:r>
              <a:rPr lang="en-US" altLang="zh-CN" sz="2400" b="1" i="1" smtClean="0">
                <a:latin typeface="Times New Roman" panose="02020603050405020304" pitchFamily="18" charset="0"/>
                <a:cs typeface="Times New Roman" panose="02020603050405020304" pitchFamily="18" charset="0"/>
              </a:rPr>
              <a:t>V</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E</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W</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 &gt;</a:t>
            </a:r>
            <a:r>
              <a:rPr lang="zh-CN" altLang="en-US" sz="2400" b="1" smtClean="0">
                <a:latin typeface="Times New Roman" panose="02020603050405020304" pitchFamily="18" charset="0"/>
                <a:cs typeface="Times New Roman" panose="02020603050405020304" pitchFamily="18" charset="0"/>
              </a:rPr>
              <a:t>和</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正整数 </a:t>
            </a:r>
            <a:r>
              <a:rPr lang="en-US" altLang="zh-CN" sz="2400" b="1" i="1" smtClean="0">
                <a:latin typeface="Times New Roman" panose="02020603050405020304" pitchFamily="18" charset="0"/>
                <a:cs typeface="Times New Roman" panose="02020603050405020304" pitchFamily="18" charset="0"/>
              </a:rPr>
              <a:t>B</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n</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1)</a:t>
            </a:r>
            <a:r>
              <a:rPr lang="en-US" altLang="zh-CN" sz="2400" b="1" i="1" smtClean="0">
                <a:latin typeface="Times New Roman" panose="02020603050405020304" pitchFamily="18" charset="0"/>
                <a:cs typeface="Times New Roman" panose="02020603050405020304" pitchFamily="18" charset="0"/>
              </a:rPr>
              <a:t>M</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D</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其中 </a:t>
            </a:r>
            <a:r>
              <a:rPr lang="en-US" altLang="zh-CN" sz="2400" b="1" i="1" smtClean="0">
                <a:latin typeface="Times New Roman" panose="02020603050405020304" pitchFamily="18" charset="0"/>
                <a:cs typeface="Times New Roman" panose="02020603050405020304" pitchFamily="18" charset="0"/>
              </a:rPr>
              <a:t>n </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V</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M </a:t>
            </a:r>
            <a:r>
              <a:rPr lang="en-US" altLang="zh-CN" sz="2400" b="1" smtClean="0">
                <a:latin typeface="Times New Roman" panose="02020603050405020304" pitchFamily="18" charset="0"/>
                <a:cs typeface="Times New Roman" panose="02020603050405020304" pitchFamily="18" charset="0"/>
              </a:rPr>
              <a:t>= max{</a:t>
            </a:r>
            <a:r>
              <a:rPr lang="en-US" altLang="zh-CN" sz="2400" b="1" i="1" smtClean="0">
                <a:latin typeface="Times New Roman" panose="02020603050405020304" pitchFamily="18" charset="0"/>
                <a:cs typeface="Times New Roman" panose="02020603050405020304" pitchFamily="18" charset="0"/>
              </a:rPr>
              <a:t>W</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e</a:t>
            </a:r>
            <a:r>
              <a:rPr lang="en-US" altLang="zh-CN" sz="2400" b="1" smtClean="0">
                <a:latin typeface="Times New Roman" panose="02020603050405020304" pitchFamily="18" charset="0"/>
                <a:cs typeface="Times New Roman" panose="02020603050405020304" pitchFamily="18" charset="0"/>
              </a:rPr>
              <a:t>) | </a:t>
            </a:r>
            <a:r>
              <a:rPr lang="en-US" altLang="zh-CN" sz="2400" b="1" i="1" smtClean="0">
                <a:latin typeface="Times New Roman" panose="02020603050405020304" pitchFamily="18" charset="0"/>
                <a:cs typeface="Times New Roman" panose="02020603050405020304" pitchFamily="18" charset="0"/>
              </a:rPr>
              <a:t>e</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E </a:t>
            </a:r>
            <a:r>
              <a:rPr lang="en-US" altLang="zh-CN" sz="2400" b="1" smtClean="0">
                <a:latin typeface="Times New Roman" panose="02020603050405020304" pitchFamily="18" charset="0"/>
                <a:cs typeface="Times New Roman" panose="02020603050405020304" pitchFamily="18" charset="0"/>
              </a:rPr>
              <a:t>}+1, </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i="1" smtClean="0">
                <a:latin typeface="Times New Roman" panose="02020603050405020304" pitchFamily="18" charset="0"/>
                <a:cs typeface="Times New Roman" panose="02020603050405020304" pitchFamily="18" charset="0"/>
              </a:rPr>
              <a:t>W</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e</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M</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W</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e</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如果存在</a:t>
            </a:r>
            <a:r>
              <a:rPr lang="en-US" altLang="zh-CN" sz="2400" b="1" i="1" smtClean="0">
                <a:latin typeface="Times New Roman" panose="02020603050405020304" pitchFamily="18" charset="0"/>
                <a:cs typeface="Times New Roman" panose="02020603050405020304" pitchFamily="18" charset="0"/>
              </a:rPr>
              <a:t>G</a:t>
            </a:r>
            <a:r>
              <a:rPr lang="zh-CN" altLang="en-US" sz="2400" b="1" smtClean="0">
                <a:latin typeface="Times New Roman" panose="02020603050405020304" pitchFamily="18" charset="0"/>
                <a:cs typeface="Times New Roman" panose="02020603050405020304" pitchFamily="18" charset="0"/>
              </a:rPr>
              <a:t>的生成树</a:t>
            </a:r>
            <a:r>
              <a:rPr lang="en-US" altLang="zh-CN" sz="2400" b="1" i="1" smtClean="0">
                <a:latin typeface="Times New Roman" panose="02020603050405020304" pitchFamily="18" charset="0"/>
                <a:cs typeface="Times New Roman" panose="02020603050405020304" pitchFamily="18" charset="0"/>
              </a:rPr>
              <a:t>T</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使得                       </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则</a:t>
            </a:r>
            <a:endParaRPr lang="zh-CN" altLang="en-US"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endParaRPr lang="zh-CN" altLang="en-US"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反之亦然</a:t>
            </a:r>
            <a:r>
              <a:rPr lang="en-US" altLang="zh-CN" sz="2400" b="1" smtClean="0">
                <a:latin typeface="Times New Roman" panose="02020603050405020304" pitchFamily="18" charset="0"/>
                <a:cs typeface="Times New Roman" panose="02020603050405020304" pitchFamily="18" charset="0"/>
              </a:rPr>
              <a:t>.</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endParaRPr lang="zh-CN" altLang="en-US" sz="2400" b="1" smtClean="0">
              <a:latin typeface="Times New Roman" panose="02020603050405020304" pitchFamily="18" charset="0"/>
              <a:cs typeface="Times New Roman" panose="02020603050405020304" pitchFamily="18" charset="0"/>
            </a:endParaRPr>
          </a:p>
        </p:txBody>
      </p:sp>
      <p:graphicFrame>
        <p:nvGraphicFramePr>
          <p:cNvPr id="19460" name="Object 2"/>
          <p:cNvGraphicFramePr>
            <a:graphicFrameLocks noChangeAspect="1"/>
          </p:cNvGraphicFramePr>
          <p:nvPr/>
        </p:nvGraphicFramePr>
        <p:xfrm>
          <a:off x="6308725" y="4670425"/>
          <a:ext cx="1719263" cy="703263"/>
        </p:xfrm>
        <a:graphic>
          <a:graphicData uri="http://schemas.openxmlformats.org/presentationml/2006/ole">
            <mc:AlternateContent xmlns:mc="http://schemas.openxmlformats.org/markup-compatibility/2006">
              <mc:Choice xmlns:v="urn:schemas-microsoft-com:vml" Requires="v">
                <p:oleObj spid="_x0000_s19464" name="Equation" r:id="rId1" imgW="837565" imgH="342900" progId="Equation.3">
                  <p:embed/>
                </p:oleObj>
              </mc:Choice>
              <mc:Fallback>
                <p:oleObj name="Equation" r:id="rId1" imgW="837565" imgH="34290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08725" y="4670425"/>
                        <a:ext cx="1719263" cy="703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461" name="Object 3"/>
          <p:cNvGraphicFramePr>
            <a:graphicFrameLocks noChangeAspect="1"/>
          </p:cNvGraphicFramePr>
          <p:nvPr/>
        </p:nvGraphicFramePr>
        <p:xfrm>
          <a:off x="1295400" y="5316538"/>
          <a:ext cx="6661150" cy="704850"/>
        </p:xfrm>
        <a:graphic>
          <a:graphicData uri="http://schemas.openxmlformats.org/presentationml/2006/ole">
            <mc:AlternateContent xmlns:mc="http://schemas.openxmlformats.org/markup-compatibility/2006">
              <mc:Choice xmlns:v="urn:schemas-microsoft-com:vml" Requires="v">
                <p:oleObj spid="_x0000_s19465" name="Equation" r:id="rId3" imgW="3238500" imgH="342900" progId="Equation.3">
                  <p:embed/>
                </p:oleObj>
              </mc:Choice>
              <mc:Fallback>
                <p:oleObj name="Equation" r:id="rId3" imgW="3238500" imgH="3429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5316538"/>
                        <a:ext cx="6661150" cy="704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p:cNvSpPr>
          <p:nvPr>
            <p:ph type="ctrTitle"/>
          </p:nvPr>
        </p:nvSpPr>
        <p:spPr>
          <a:xfrm>
            <a:off x="795338" y="188913"/>
            <a:ext cx="7772400" cy="865187"/>
          </a:xfrm>
        </p:spPr>
        <p:txBody>
          <a:bodyPr/>
          <a:lstStyle/>
          <a:p>
            <a:pPr eaLnBrk="1" hangingPunct="1"/>
            <a:r>
              <a:rPr lang="en-US" altLang="zh-CN" sz="4000" b="1" smtClean="0">
                <a:solidFill>
                  <a:srgbClr val="C0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4000" b="1" i="1" baseline="-25000" smtClean="0">
                <a:solidFill>
                  <a:srgbClr val="C00000"/>
                </a:solidFill>
                <a:latin typeface="Times New Roman" panose="02020603050405020304" pitchFamily="18" charset="0"/>
                <a:cs typeface="Times New Roman" panose="02020603050405020304" pitchFamily="18" charset="0"/>
              </a:rPr>
              <a:t>p</a:t>
            </a:r>
            <a:r>
              <a:rPr lang="zh-CN" altLang="en-US" sz="4000" b="1" smtClean="0">
                <a:solidFill>
                  <a:srgbClr val="C00000"/>
                </a:solidFill>
                <a:latin typeface="Times New Roman" panose="02020603050405020304" pitchFamily="18" charset="0"/>
                <a:cs typeface="Times New Roman" panose="02020603050405020304" pitchFamily="18" charset="0"/>
              </a:rPr>
              <a:t>的性质</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20483" name="副标题 2"/>
          <p:cNvSpPr>
            <a:spLocks noGrp="1"/>
          </p:cNvSpPr>
          <p:nvPr>
            <p:ph type="subTitle" idx="1"/>
          </p:nvPr>
        </p:nvSpPr>
        <p:spPr>
          <a:xfrm>
            <a:off x="685800" y="1147763"/>
            <a:ext cx="7991475" cy="5040312"/>
          </a:xfrm>
        </p:spPr>
        <p:txBody>
          <a:bodyPr/>
          <a:lstStyle/>
          <a:p>
            <a:pPr algn="l"/>
            <a:r>
              <a:rPr lang="zh-CN" altLang="en-US" sz="2400" b="1" smtClean="0">
                <a:solidFill>
                  <a:srgbClr val="C00000"/>
                </a:solidFill>
                <a:latin typeface="Times New Roman" panose="02020603050405020304" pitchFamily="18" charset="0"/>
                <a:cs typeface="Times New Roman" panose="02020603050405020304" pitchFamily="18" charset="0"/>
              </a:rPr>
              <a:t>定理 </a:t>
            </a:r>
            <a:r>
              <a:rPr lang="en-US" altLang="zh-CN" sz="2400" b="1" smtClean="0">
                <a:solidFill>
                  <a:srgbClr val="C00000"/>
                </a:solidFill>
                <a:latin typeface="Times New Roman" panose="02020603050405020304" pitchFamily="18" charset="0"/>
                <a:cs typeface="Times New Roman" panose="02020603050405020304" pitchFamily="18" charset="0"/>
              </a:rPr>
              <a:t>9.2</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solidFill>
                  <a:schemeClr val="tx1"/>
                </a:solidFill>
                <a:latin typeface="Times New Roman" panose="02020603050405020304" pitchFamily="18" charset="0"/>
                <a:cs typeface="Times New Roman" panose="02020603050405020304" pitchFamily="18" charset="0"/>
              </a:rPr>
              <a:t>p</a:t>
            </a:r>
            <a:r>
              <a:rPr lang="zh-CN" altLang="en-US" sz="2400" b="1" smtClean="0">
                <a:solidFill>
                  <a:schemeClr val="tx1"/>
                </a:solidFill>
                <a:latin typeface="Times New Roman" panose="02020603050405020304" pitchFamily="18" charset="0"/>
                <a:cs typeface="Times New Roman" panose="02020603050405020304" pitchFamily="18" charset="0"/>
              </a:rPr>
              <a:t>具有传递性</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即</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设</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25000" smtClean="0">
                <a:solidFill>
                  <a:schemeClr val="tx1"/>
                </a:solidFill>
                <a:latin typeface="Times New Roman" panose="02020603050405020304" pitchFamily="18" charset="0"/>
                <a:cs typeface="Times New Roman" panose="02020603050405020304" pitchFamily="18" charset="0"/>
              </a:rPr>
              <a:t>1 </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solidFill>
                  <a:schemeClr val="tx1"/>
                </a:solidFill>
                <a:latin typeface="Times New Roman" panose="02020603050405020304" pitchFamily="18" charset="0"/>
                <a:cs typeface="Times New Roman" panose="02020603050405020304" pitchFamily="18" charset="0"/>
              </a:rPr>
              <a:t>p </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25000" smtClean="0">
                <a:solidFill>
                  <a:schemeClr val="tx1"/>
                </a:solidFill>
                <a:latin typeface="Times New Roman" panose="02020603050405020304" pitchFamily="18" charset="0"/>
                <a:cs typeface="Times New Roman" panose="02020603050405020304" pitchFamily="18" charset="0"/>
              </a:rPr>
              <a:t>2</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25000" smtClean="0">
                <a:solidFill>
                  <a:schemeClr val="tx1"/>
                </a:solidFill>
                <a:latin typeface="Times New Roman" panose="02020603050405020304" pitchFamily="18" charset="0"/>
                <a:cs typeface="Times New Roman" panose="02020603050405020304" pitchFamily="18" charset="0"/>
              </a:rPr>
              <a:t>2 </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solidFill>
                  <a:schemeClr val="tx1"/>
                </a:solidFill>
                <a:latin typeface="Times New Roman" panose="02020603050405020304" pitchFamily="18" charset="0"/>
                <a:cs typeface="Times New Roman" panose="02020603050405020304" pitchFamily="18" charset="0"/>
              </a:rPr>
              <a:t>p </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25000" smtClean="0">
                <a:solidFill>
                  <a:schemeClr val="tx1"/>
                </a:solidFill>
                <a:latin typeface="Times New Roman" panose="02020603050405020304" pitchFamily="18" charset="0"/>
                <a:cs typeface="Times New Roman" panose="02020603050405020304" pitchFamily="18" charset="0"/>
              </a:rPr>
              <a:t>3</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则</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25000" smtClean="0">
                <a:solidFill>
                  <a:schemeClr val="tx1"/>
                </a:solidFill>
                <a:latin typeface="Times New Roman" panose="02020603050405020304" pitchFamily="18" charset="0"/>
                <a:cs typeface="Times New Roman" panose="02020603050405020304" pitchFamily="18" charset="0"/>
              </a:rPr>
              <a:t>1 </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solidFill>
                  <a:schemeClr val="tx1"/>
                </a:solidFill>
                <a:latin typeface="Times New Roman" panose="02020603050405020304" pitchFamily="18" charset="0"/>
                <a:cs typeface="Times New Roman" panose="02020603050405020304" pitchFamily="18" charset="0"/>
              </a:rPr>
              <a:t>p </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25000" smtClean="0">
                <a:solidFill>
                  <a:schemeClr val="tx1"/>
                </a:solidFill>
                <a:latin typeface="Times New Roman" panose="02020603050405020304" pitchFamily="18" charset="0"/>
                <a:cs typeface="Times New Roman" panose="02020603050405020304" pitchFamily="18" charset="0"/>
              </a:rPr>
              <a:t>3</a:t>
            </a:r>
            <a:r>
              <a:rPr lang="en-US" altLang="zh-CN" sz="2400" b="1" smtClean="0">
                <a:solidFill>
                  <a:schemeClr val="tx1"/>
                </a:solidFill>
                <a:latin typeface="Times New Roman" panose="02020603050405020304" pitchFamily="18" charset="0"/>
                <a:cs typeface="Times New Roman" panose="02020603050405020304" pitchFamily="18" charset="0"/>
              </a:rPr>
              <a:t>.</a:t>
            </a:r>
            <a:endParaRPr lang="zh-CN" altLang="en-US" sz="2400" b="1" smtClean="0">
              <a:solidFill>
                <a:schemeClr val="tx1"/>
              </a:solidFill>
              <a:latin typeface="Times New Roman" panose="02020603050405020304" pitchFamily="18" charset="0"/>
              <a:cs typeface="Times New Roman" panose="02020603050405020304" pitchFamily="18" charset="0"/>
            </a:endParaRPr>
          </a:p>
          <a:p>
            <a:pPr algn="l">
              <a:spcBef>
                <a:spcPts val="1800"/>
              </a:spcBef>
            </a:pPr>
            <a:r>
              <a:rPr lang="zh-CN" altLang="en-US" sz="2400" b="1" smtClean="0">
                <a:solidFill>
                  <a:schemeClr val="tx1"/>
                </a:solidFill>
                <a:latin typeface="Times New Roman" panose="02020603050405020304" pitchFamily="18" charset="0"/>
                <a:cs typeface="Times New Roman" panose="02020603050405020304" pitchFamily="18" charset="0"/>
              </a:rPr>
              <a:t>证  设 </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solidFill>
                  <a:schemeClr val="tx1"/>
                </a:solidFill>
                <a:latin typeface="Times New Roman" panose="02020603050405020304" pitchFamily="18" charset="0"/>
                <a:cs typeface="Times New Roman" panose="02020603050405020304" pitchFamily="18" charset="0"/>
              </a:rPr>
              <a:t>i </a:t>
            </a:r>
            <a:r>
              <a:rPr lang="en-US" altLang="zh-CN" sz="2400" b="1" smtClean="0">
                <a:solidFill>
                  <a:schemeClr val="tx1"/>
                </a:solidFill>
                <a:latin typeface="Times New Roman" panose="02020603050405020304" pitchFamily="18" charset="0"/>
                <a:cs typeface="Times New Roman" panose="02020603050405020304" pitchFamily="18" charset="0"/>
              </a:rPr>
              <a:t>=&lt;</a:t>
            </a:r>
            <a:r>
              <a:rPr lang="en-US" altLang="zh-CN" sz="2400" b="1" i="1" smtClean="0">
                <a:solidFill>
                  <a:schemeClr val="tx1"/>
                </a:solidFill>
                <a:latin typeface="Times New Roman" panose="02020603050405020304" pitchFamily="18" charset="0"/>
                <a:cs typeface="Times New Roman" panose="02020603050405020304" pitchFamily="18" charset="0"/>
              </a:rPr>
              <a:t>D</a:t>
            </a:r>
            <a:r>
              <a:rPr lang="en-US" altLang="zh-CN" sz="2400" b="1" i="1" baseline="-25000"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Y</a:t>
            </a:r>
            <a:r>
              <a:rPr lang="en-US" altLang="zh-CN" sz="2400" b="1" i="1" baseline="-25000"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rPr>
              <a:t>&gt;, </a:t>
            </a:r>
            <a:r>
              <a:rPr lang="en-US" altLang="zh-CN" sz="2400" b="1" i="1" smtClean="0">
                <a:solidFill>
                  <a:schemeClr val="tx1"/>
                </a:solidFill>
                <a:latin typeface="Times New Roman" panose="02020603050405020304" pitchFamily="18" charset="0"/>
                <a:cs typeface="Times New Roman" panose="02020603050405020304" pitchFamily="18" charset="0"/>
              </a:rPr>
              <a:t>i </a:t>
            </a:r>
            <a:r>
              <a:rPr lang="en-US" altLang="zh-CN" sz="2400" b="1" smtClean="0">
                <a:solidFill>
                  <a:schemeClr val="tx1"/>
                </a:solidFill>
                <a:latin typeface="Times New Roman" panose="02020603050405020304" pitchFamily="18" charset="0"/>
                <a:cs typeface="Times New Roman" panose="02020603050405020304" pitchFamily="18" charset="0"/>
              </a:rPr>
              <a:t>=1,2,3, </a:t>
            </a:r>
            <a:r>
              <a:rPr lang="en-US" altLang="zh-CN" sz="2400" b="1" i="1" smtClean="0">
                <a:solidFill>
                  <a:schemeClr val="tx1"/>
                </a:solidFill>
                <a:latin typeface="Times New Roman" panose="02020603050405020304" pitchFamily="18" charset="0"/>
                <a:cs typeface="Times New Roman" panose="02020603050405020304" pitchFamily="18" charset="0"/>
              </a:rPr>
              <a:t>f </a:t>
            </a:r>
            <a:r>
              <a:rPr lang="zh-CN" altLang="en-US" sz="2400" b="1" smtClean="0">
                <a:solidFill>
                  <a:schemeClr val="tx1"/>
                </a:solidFill>
                <a:latin typeface="Times New Roman" panose="02020603050405020304" pitchFamily="18" charset="0"/>
                <a:cs typeface="Times New Roman" panose="02020603050405020304" pitchFamily="18" charset="0"/>
              </a:rPr>
              <a:t>和 </a:t>
            </a:r>
            <a:r>
              <a:rPr lang="en-US" altLang="zh-CN" sz="2400" b="1" i="1" smtClean="0">
                <a:solidFill>
                  <a:schemeClr val="tx1"/>
                </a:solidFill>
                <a:latin typeface="Times New Roman" panose="02020603050405020304" pitchFamily="18" charset="0"/>
                <a:cs typeface="Times New Roman" panose="02020603050405020304" pitchFamily="18" charset="0"/>
              </a:rPr>
              <a:t>g</a:t>
            </a:r>
            <a:r>
              <a:rPr lang="zh-CN" altLang="en-US" sz="2400" b="1" smtClean="0">
                <a:solidFill>
                  <a:schemeClr val="tx1"/>
                </a:solidFill>
                <a:latin typeface="Times New Roman" panose="02020603050405020304" pitchFamily="18" charset="0"/>
                <a:cs typeface="Times New Roman" panose="02020603050405020304" pitchFamily="18" charset="0"/>
              </a:rPr>
              <a:t>是</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25000" smtClean="0">
                <a:solidFill>
                  <a:schemeClr val="tx1"/>
                </a:solidFill>
                <a:latin typeface="Times New Roman" panose="02020603050405020304" pitchFamily="18" charset="0"/>
                <a:cs typeface="Times New Roman" panose="02020603050405020304" pitchFamily="18" charset="0"/>
              </a:rPr>
              <a:t>1 </a:t>
            </a:r>
            <a:r>
              <a:rPr lang="zh-CN" altLang="en-US" sz="2400" b="1" smtClean="0">
                <a:solidFill>
                  <a:schemeClr val="tx1"/>
                </a:solidFill>
                <a:latin typeface="Times New Roman" panose="02020603050405020304" pitchFamily="18" charset="0"/>
                <a:cs typeface="Times New Roman" panose="02020603050405020304" pitchFamily="18" charset="0"/>
              </a:rPr>
              <a:t>到 </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25000" smtClean="0">
                <a:solidFill>
                  <a:schemeClr val="tx1"/>
                </a:solidFill>
                <a:latin typeface="Times New Roman" panose="02020603050405020304" pitchFamily="18" charset="0"/>
                <a:cs typeface="Times New Roman" panose="02020603050405020304" pitchFamily="18" charset="0"/>
              </a:rPr>
              <a:t>2 </a:t>
            </a:r>
            <a:r>
              <a:rPr lang="zh-CN" altLang="en-US" sz="2400" b="1" smtClean="0">
                <a:solidFill>
                  <a:schemeClr val="tx1"/>
                </a:solidFill>
                <a:latin typeface="Times New Roman" panose="02020603050405020304" pitchFamily="18" charset="0"/>
                <a:cs typeface="Times New Roman" panose="02020603050405020304" pitchFamily="18" charset="0"/>
              </a:rPr>
              <a:t>和 </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25000" smtClean="0">
                <a:solidFill>
                  <a:schemeClr val="tx1"/>
                </a:solidFill>
                <a:latin typeface="Times New Roman" panose="02020603050405020304" pitchFamily="18" charset="0"/>
                <a:cs typeface="Times New Roman" panose="02020603050405020304" pitchFamily="18" charset="0"/>
              </a:rPr>
              <a:t>2 </a:t>
            </a:r>
            <a:r>
              <a:rPr lang="zh-CN" altLang="en-US" sz="2400" b="1" smtClean="0">
                <a:solidFill>
                  <a:schemeClr val="tx1"/>
                </a:solidFill>
                <a:latin typeface="Times New Roman" panose="02020603050405020304" pitchFamily="18" charset="0"/>
                <a:cs typeface="Times New Roman" panose="02020603050405020304" pitchFamily="18" charset="0"/>
              </a:rPr>
              <a:t>到 </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25000" smtClean="0">
                <a:solidFill>
                  <a:schemeClr val="tx1"/>
                </a:solidFill>
                <a:latin typeface="Times New Roman" panose="02020603050405020304" pitchFamily="18" charset="0"/>
                <a:cs typeface="Times New Roman" panose="02020603050405020304" pitchFamily="18" charset="0"/>
              </a:rPr>
              <a:t>3 </a:t>
            </a:r>
            <a:r>
              <a:rPr lang="zh-CN" altLang="en-US" sz="2400" b="1" smtClean="0">
                <a:solidFill>
                  <a:schemeClr val="tx1"/>
                </a:solidFill>
                <a:latin typeface="Times New Roman" panose="02020603050405020304" pitchFamily="18" charset="0"/>
                <a:cs typeface="Times New Roman" panose="02020603050405020304" pitchFamily="18" charset="0"/>
              </a:rPr>
              <a:t>的多项式时间变换</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对每一个 </a:t>
            </a:r>
            <a:r>
              <a:rPr lang="en-US" altLang="zh-CN" sz="2400" b="1" i="1"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solidFill>
                  <a:schemeClr val="tx1"/>
                </a:solidFill>
                <a:latin typeface="Times New Roman" panose="02020603050405020304" pitchFamily="18" charset="0"/>
                <a:cs typeface="Times New Roman" panose="02020603050405020304" pitchFamily="18" charset="0"/>
              </a:rPr>
              <a:t>D</a:t>
            </a:r>
            <a:r>
              <a:rPr lang="en-US" altLang="zh-CN" sz="2400" b="1" baseline="-25000" smtClean="0">
                <a:solidFill>
                  <a:schemeClr val="tx1"/>
                </a:solidFill>
                <a:latin typeface="Times New Roman" panose="02020603050405020304" pitchFamily="18" charset="0"/>
                <a:cs typeface="Times New Roman" panose="02020603050405020304" pitchFamily="18" charset="0"/>
              </a:rPr>
              <a:t>1</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令 </a:t>
            </a:r>
            <a:r>
              <a:rPr lang="en-US" altLang="zh-CN" sz="2400" b="1" i="1" smtClean="0">
                <a:solidFill>
                  <a:schemeClr val="tx1"/>
                </a:solidFill>
                <a:latin typeface="Times New Roman" panose="02020603050405020304" pitchFamily="18" charset="0"/>
                <a:cs typeface="Times New Roman" panose="02020603050405020304" pitchFamily="18" charset="0"/>
              </a:rPr>
              <a:t>h</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rPr>
              <a:t>) = </a:t>
            </a:r>
            <a:r>
              <a:rPr lang="en-US" altLang="zh-CN" sz="2400" b="1" i="1" smtClean="0">
                <a:solidFill>
                  <a:schemeClr val="tx1"/>
                </a:solidFill>
                <a:latin typeface="Times New Roman" panose="02020603050405020304" pitchFamily="18" charset="0"/>
                <a:cs typeface="Times New Roman" panose="02020603050405020304" pitchFamily="18" charset="0"/>
              </a:rPr>
              <a:t>g</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f</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rPr>
              <a:t>)).     </a:t>
            </a:r>
            <a:endParaRPr lang="zh-CN" altLang="en-US" sz="2400" b="1" smtClean="0">
              <a:solidFill>
                <a:schemeClr val="tx1"/>
              </a:solidFill>
              <a:latin typeface="Times New Roman" panose="02020603050405020304" pitchFamily="18" charset="0"/>
              <a:cs typeface="Times New Roman" panose="02020603050405020304" pitchFamily="18" charset="0"/>
            </a:endParaRPr>
          </a:p>
          <a:p>
            <a:pPr algn="l"/>
            <a:r>
              <a:rPr lang="zh-CN" altLang="en-US" sz="2400" b="1" smtClean="0">
                <a:solidFill>
                  <a:schemeClr val="tx1"/>
                </a:solidFill>
                <a:latin typeface="Times New Roman" panose="02020603050405020304" pitchFamily="18" charset="0"/>
                <a:cs typeface="Times New Roman" panose="02020603050405020304" pitchFamily="18" charset="0"/>
              </a:rPr>
              <a:t>计算 </a:t>
            </a:r>
            <a:r>
              <a:rPr lang="en-US" altLang="zh-CN" sz="2400" b="1" i="1" smtClean="0">
                <a:solidFill>
                  <a:schemeClr val="tx1"/>
                </a:solidFill>
                <a:latin typeface="Times New Roman" panose="02020603050405020304" pitchFamily="18" charset="0"/>
                <a:cs typeface="Times New Roman" panose="02020603050405020304" pitchFamily="18" charset="0"/>
              </a:rPr>
              <a:t>f </a:t>
            </a:r>
            <a:r>
              <a:rPr lang="zh-CN" altLang="en-US" sz="2400" b="1" smtClean="0">
                <a:solidFill>
                  <a:schemeClr val="tx1"/>
                </a:solidFill>
                <a:latin typeface="Times New Roman" panose="02020603050405020304" pitchFamily="18" charset="0"/>
                <a:cs typeface="Times New Roman" panose="02020603050405020304" pitchFamily="18" charset="0"/>
              </a:rPr>
              <a:t>和 </a:t>
            </a:r>
            <a:r>
              <a:rPr lang="en-US" altLang="zh-CN" sz="2400" b="1" i="1" smtClean="0">
                <a:solidFill>
                  <a:schemeClr val="tx1"/>
                </a:solidFill>
                <a:latin typeface="Times New Roman" panose="02020603050405020304" pitchFamily="18" charset="0"/>
                <a:cs typeface="Times New Roman" panose="02020603050405020304" pitchFamily="18" charset="0"/>
              </a:rPr>
              <a:t>g </a:t>
            </a:r>
            <a:r>
              <a:rPr lang="zh-CN" altLang="en-US" sz="2400" b="1" smtClean="0">
                <a:solidFill>
                  <a:schemeClr val="tx1"/>
                </a:solidFill>
                <a:latin typeface="Times New Roman" panose="02020603050405020304" pitchFamily="18" charset="0"/>
                <a:cs typeface="Times New Roman" panose="02020603050405020304" pitchFamily="18" charset="0"/>
              </a:rPr>
              <a:t>的时间上界分别为多项式 </a:t>
            </a:r>
            <a:r>
              <a:rPr lang="en-US" altLang="zh-CN" sz="2400" b="1" i="1" smtClean="0">
                <a:solidFill>
                  <a:schemeClr val="tx1"/>
                </a:solidFill>
                <a:latin typeface="Times New Roman" panose="02020603050405020304" pitchFamily="18" charset="0"/>
                <a:cs typeface="Times New Roman" panose="02020603050405020304" pitchFamily="18" charset="0"/>
              </a:rPr>
              <a:t>p </a:t>
            </a:r>
            <a:r>
              <a:rPr lang="zh-CN" altLang="en-US" sz="2400" b="1" smtClean="0">
                <a:solidFill>
                  <a:schemeClr val="tx1"/>
                </a:solidFill>
                <a:latin typeface="Times New Roman" panose="02020603050405020304" pitchFamily="18" charset="0"/>
                <a:cs typeface="Times New Roman" panose="02020603050405020304" pitchFamily="18" charset="0"/>
              </a:rPr>
              <a:t>和 </a:t>
            </a:r>
            <a:r>
              <a:rPr lang="en-US" altLang="zh-CN" sz="2400" b="1" i="1" smtClean="0">
                <a:solidFill>
                  <a:schemeClr val="tx1"/>
                </a:solidFill>
                <a:latin typeface="Times New Roman" panose="02020603050405020304" pitchFamily="18" charset="0"/>
                <a:cs typeface="Times New Roman" panose="02020603050405020304" pitchFamily="18" charset="0"/>
              </a:rPr>
              <a:t>q</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不妨设 </a:t>
            </a:r>
            <a:r>
              <a:rPr lang="en-US" altLang="zh-CN" sz="2400" b="1" i="1" smtClean="0">
                <a:solidFill>
                  <a:schemeClr val="tx1"/>
                </a:solidFill>
                <a:latin typeface="Times New Roman" panose="02020603050405020304" pitchFamily="18" charset="0"/>
                <a:cs typeface="Times New Roman" panose="02020603050405020304" pitchFamily="18" charset="0"/>
              </a:rPr>
              <a:t>p </a:t>
            </a:r>
            <a:r>
              <a:rPr lang="zh-CN" altLang="en-US" sz="2400" b="1" smtClean="0">
                <a:solidFill>
                  <a:schemeClr val="tx1"/>
                </a:solidFill>
                <a:latin typeface="Times New Roman" panose="02020603050405020304" pitchFamily="18" charset="0"/>
                <a:cs typeface="Times New Roman" panose="02020603050405020304" pitchFamily="18" charset="0"/>
              </a:rPr>
              <a:t>和 </a:t>
            </a:r>
            <a:r>
              <a:rPr lang="en-US" altLang="zh-CN" sz="2400" b="1" i="1" smtClean="0">
                <a:solidFill>
                  <a:schemeClr val="tx1"/>
                </a:solidFill>
                <a:latin typeface="Times New Roman" panose="02020603050405020304" pitchFamily="18" charset="0"/>
                <a:cs typeface="Times New Roman" panose="02020603050405020304" pitchFamily="18" charset="0"/>
              </a:rPr>
              <a:t>q</a:t>
            </a:r>
            <a:r>
              <a:rPr lang="zh-CN" altLang="en-US" sz="2400" b="1" smtClean="0">
                <a:solidFill>
                  <a:schemeClr val="tx1"/>
                </a:solidFill>
                <a:latin typeface="Times New Roman" panose="02020603050405020304" pitchFamily="18" charset="0"/>
                <a:cs typeface="Times New Roman" panose="02020603050405020304" pitchFamily="18" charset="0"/>
              </a:rPr>
              <a:t>是单调递增的</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计算 </a:t>
            </a:r>
            <a:r>
              <a:rPr lang="en-US" altLang="zh-CN" sz="2400" b="1" i="1" smtClean="0">
                <a:solidFill>
                  <a:schemeClr val="tx1"/>
                </a:solidFill>
                <a:latin typeface="Times New Roman" panose="02020603050405020304" pitchFamily="18" charset="0"/>
                <a:cs typeface="Times New Roman" panose="02020603050405020304" pitchFamily="18" charset="0"/>
              </a:rPr>
              <a:t>h </a:t>
            </a:r>
            <a:r>
              <a:rPr lang="zh-CN" altLang="en-US" sz="2400" b="1" smtClean="0">
                <a:solidFill>
                  <a:schemeClr val="tx1"/>
                </a:solidFill>
                <a:latin typeface="Times New Roman" panose="02020603050405020304" pitchFamily="18" charset="0"/>
                <a:cs typeface="Times New Roman" panose="02020603050405020304" pitchFamily="18" charset="0"/>
              </a:rPr>
              <a:t>的步数不超过 </a:t>
            </a:r>
            <a:r>
              <a:rPr lang="en-US" altLang="zh-CN" sz="2400" b="1" i="1" smtClean="0">
                <a:solidFill>
                  <a:schemeClr val="tx1"/>
                </a:solidFill>
                <a:latin typeface="Times New Roman" panose="02020603050405020304" pitchFamily="18" charset="0"/>
                <a:cs typeface="Times New Roman" panose="02020603050405020304" pitchFamily="18" charset="0"/>
              </a:rPr>
              <a:t>p</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rPr>
              <a:t> q</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f</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输出作为合理的指令</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一步只能输出长度不超过固定值 </a:t>
            </a:r>
            <a:r>
              <a:rPr lang="en-US" altLang="zh-CN" sz="2400" b="1" i="1" smtClean="0">
                <a:solidFill>
                  <a:schemeClr val="tx1"/>
                </a:solidFill>
                <a:latin typeface="Times New Roman" panose="02020603050405020304" pitchFamily="18" charset="0"/>
                <a:cs typeface="Times New Roman" panose="02020603050405020304" pitchFamily="18" charset="0"/>
              </a:rPr>
              <a:t>k </a:t>
            </a:r>
            <a:r>
              <a:rPr lang="zh-CN" altLang="en-US" sz="2400" b="1" smtClean="0">
                <a:solidFill>
                  <a:schemeClr val="tx1"/>
                </a:solidFill>
                <a:latin typeface="Times New Roman" panose="02020603050405020304" pitchFamily="18" charset="0"/>
                <a:cs typeface="Times New Roman" panose="02020603050405020304" pitchFamily="18" charset="0"/>
              </a:rPr>
              <a:t>的字符串</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因而 </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f</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solidFill>
                  <a:schemeClr val="tx1"/>
                </a:solidFill>
                <a:latin typeface="Times New Roman" panose="02020603050405020304" pitchFamily="18" charset="0"/>
                <a:cs typeface="Times New Roman" panose="02020603050405020304" pitchFamily="18" charset="0"/>
              </a:rPr>
              <a:t>kp</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于是</a:t>
            </a:r>
            <a:r>
              <a:rPr lang="en-US" altLang="zh-CN" sz="2400" b="1" smtClean="0">
                <a:solidFill>
                  <a:schemeClr val="tx1"/>
                </a:solidFill>
                <a:latin typeface="Times New Roman" panose="02020603050405020304" pitchFamily="18" charset="0"/>
                <a:cs typeface="Times New Roman" panose="02020603050405020304" pitchFamily="18" charset="0"/>
              </a:rPr>
              <a:t>, </a:t>
            </a:r>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a:r>
              <a:rPr lang="en-US" altLang="zh-CN" sz="2400" b="1" i="1" smtClean="0">
                <a:solidFill>
                  <a:schemeClr val="tx1"/>
                </a:solidFill>
                <a:latin typeface="Times New Roman" panose="02020603050405020304" pitchFamily="18" charset="0"/>
                <a:cs typeface="Times New Roman" panose="02020603050405020304" pitchFamily="18" charset="0"/>
              </a:rPr>
              <a:t>                      p</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rPr>
              <a:t> q</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f</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solidFill>
                  <a:schemeClr val="tx1"/>
                </a:solidFill>
                <a:latin typeface="Times New Roman" panose="02020603050405020304" pitchFamily="18" charset="0"/>
                <a:cs typeface="Times New Roman" panose="02020603050405020304" pitchFamily="18" charset="0"/>
              </a:rPr>
              <a:t>  p</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rPr>
              <a:t>|) + </a:t>
            </a:r>
            <a:r>
              <a:rPr lang="en-US" altLang="zh-CN" sz="2400" b="1" i="1" smtClean="0">
                <a:solidFill>
                  <a:schemeClr val="tx1"/>
                </a:solidFill>
                <a:latin typeface="Times New Roman" panose="02020603050405020304" pitchFamily="18" charset="0"/>
                <a:cs typeface="Times New Roman" panose="02020603050405020304" pitchFamily="18" charset="0"/>
              </a:rPr>
              <a:t>q</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kp</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rPr>
              <a:t>|)), </a:t>
            </a:r>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a:r>
              <a:rPr lang="zh-CN" altLang="en-US" sz="2400" b="1" smtClean="0">
                <a:solidFill>
                  <a:schemeClr val="tx1"/>
                </a:solidFill>
                <a:latin typeface="Times New Roman" panose="02020603050405020304" pitchFamily="18" charset="0"/>
                <a:cs typeface="Times New Roman" panose="02020603050405020304" pitchFamily="18" charset="0"/>
              </a:rPr>
              <a:t>得证 </a:t>
            </a:r>
            <a:r>
              <a:rPr lang="en-US" altLang="zh-CN" sz="2400" b="1" i="1" smtClean="0">
                <a:solidFill>
                  <a:schemeClr val="tx1"/>
                </a:solidFill>
                <a:latin typeface="Times New Roman" panose="02020603050405020304" pitchFamily="18" charset="0"/>
                <a:cs typeface="Times New Roman" panose="02020603050405020304" pitchFamily="18" charset="0"/>
              </a:rPr>
              <a:t>h </a:t>
            </a:r>
            <a:r>
              <a:rPr lang="zh-CN" altLang="en-US" sz="2400" b="1" smtClean="0">
                <a:solidFill>
                  <a:schemeClr val="tx1"/>
                </a:solidFill>
                <a:latin typeface="Times New Roman" panose="02020603050405020304" pitchFamily="18" charset="0"/>
                <a:cs typeface="Times New Roman" panose="02020603050405020304" pitchFamily="18" charset="0"/>
              </a:rPr>
              <a:t>是多项式时间可计算的</a:t>
            </a:r>
            <a:r>
              <a:rPr lang="en-US" altLang="zh-CN" sz="2400" b="1" smtClean="0">
                <a:solidFill>
                  <a:schemeClr val="tx1"/>
                </a:solidFill>
                <a:latin typeface="Times New Roman" panose="02020603050405020304" pitchFamily="18" charset="0"/>
                <a:cs typeface="Times New Roman" panose="02020603050405020304" pitchFamily="18" charset="0"/>
              </a:rPr>
              <a:t>.  </a:t>
            </a:r>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a:r>
              <a:rPr lang="zh-CN" altLang="en-US" sz="2400" b="1" smtClean="0">
                <a:solidFill>
                  <a:schemeClr val="tx1"/>
                </a:solidFill>
                <a:latin typeface="Times New Roman" panose="02020603050405020304" pitchFamily="18" charset="0"/>
                <a:cs typeface="Times New Roman" panose="02020603050405020304" pitchFamily="18" charset="0"/>
              </a:rPr>
              <a:t>又</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对每一个</a:t>
            </a:r>
            <a:r>
              <a:rPr lang="en-US" altLang="zh-CN" sz="2400" b="1" i="1"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solidFill>
                  <a:schemeClr val="tx1"/>
                </a:solidFill>
                <a:latin typeface="Times New Roman" panose="02020603050405020304" pitchFamily="18" charset="0"/>
                <a:cs typeface="Times New Roman" panose="02020603050405020304" pitchFamily="18" charset="0"/>
              </a:rPr>
              <a:t>D</a:t>
            </a:r>
            <a:r>
              <a:rPr lang="en-US" altLang="zh-CN" sz="2400" b="1" baseline="-25000" smtClean="0">
                <a:solidFill>
                  <a:schemeClr val="tx1"/>
                </a:solidFill>
                <a:latin typeface="Times New Roman" panose="02020603050405020304" pitchFamily="18" charset="0"/>
                <a:cs typeface="Times New Roman" panose="02020603050405020304" pitchFamily="18" charset="0"/>
              </a:rPr>
              <a:t>1</a:t>
            </a:r>
            <a:r>
              <a:rPr lang="en-US" altLang="zh-CN" sz="2400" b="1" smtClean="0">
                <a:solidFill>
                  <a:schemeClr val="tx1"/>
                </a:solidFill>
                <a:latin typeface="Times New Roman" panose="02020603050405020304" pitchFamily="18" charset="0"/>
                <a:cs typeface="Times New Roman" panose="02020603050405020304" pitchFamily="18" charset="0"/>
              </a:rPr>
              <a:t>, </a:t>
            </a:r>
            <a:endParaRPr lang="zh-CN" altLang="en-US" sz="2400" b="1" smtClean="0">
              <a:solidFill>
                <a:schemeClr val="tx1"/>
              </a:solidFill>
              <a:latin typeface="Times New Roman" panose="02020603050405020304" pitchFamily="18" charset="0"/>
              <a:cs typeface="Times New Roman" panose="02020603050405020304" pitchFamily="18" charset="0"/>
            </a:endParaRPr>
          </a:p>
          <a:p>
            <a:pPr algn="l"/>
            <a:r>
              <a:rPr lang="en-US" altLang="zh-CN" sz="2400" b="1" i="1" smtClean="0">
                <a:solidFill>
                  <a:schemeClr val="tx1"/>
                </a:solidFill>
                <a:latin typeface="Times New Roman" panose="02020603050405020304" pitchFamily="18" charset="0"/>
                <a:cs typeface="Times New Roman" panose="02020603050405020304" pitchFamily="18" charset="0"/>
              </a:rPr>
              <a:t>                     I</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solidFill>
                  <a:schemeClr val="tx1"/>
                </a:solidFill>
                <a:latin typeface="Times New Roman" panose="02020603050405020304" pitchFamily="18" charset="0"/>
                <a:cs typeface="Times New Roman" panose="02020603050405020304" pitchFamily="18" charset="0"/>
              </a:rPr>
              <a:t>Y</a:t>
            </a:r>
            <a:r>
              <a:rPr lang="en-US" altLang="zh-CN" sz="2400" b="1" baseline="-25000" smtClean="0">
                <a:solidFill>
                  <a:schemeClr val="tx1"/>
                </a:solidFill>
                <a:latin typeface="Times New Roman" panose="02020603050405020304" pitchFamily="18" charset="0"/>
                <a:cs typeface="Times New Roman" panose="02020603050405020304" pitchFamily="18" charset="0"/>
              </a:rPr>
              <a:t>1 </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solidFill>
                  <a:schemeClr val="tx1"/>
                </a:solidFill>
                <a:latin typeface="Times New Roman" panose="02020603050405020304" pitchFamily="18" charset="0"/>
                <a:cs typeface="Times New Roman" panose="02020603050405020304" pitchFamily="18" charset="0"/>
              </a:rPr>
              <a:t> f</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solidFill>
                  <a:schemeClr val="tx1"/>
                </a:solidFill>
                <a:latin typeface="Times New Roman" panose="02020603050405020304" pitchFamily="18" charset="0"/>
                <a:cs typeface="Times New Roman" panose="02020603050405020304" pitchFamily="18" charset="0"/>
              </a:rPr>
              <a:t>Y</a:t>
            </a:r>
            <a:r>
              <a:rPr lang="en-US" altLang="zh-CN" sz="2400" b="1" baseline="-25000" smtClean="0">
                <a:solidFill>
                  <a:schemeClr val="tx1"/>
                </a:solidFill>
                <a:latin typeface="Times New Roman" panose="02020603050405020304" pitchFamily="18" charset="0"/>
                <a:cs typeface="Times New Roman" panose="02020603050405020304" pitchFamily="18" charset="0"/>
              </a:rPr>
              <a:t>2 </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solidFill>
                  <a:schemeClr val="tx1"/>
                </a:solidFill>
                <a:latin typeface="Times New Roman" panose="02020603050405020304" pitchFamily="18" charset="0"/>
                <a:cs typeface="Times New Roman" panose="02020603050405020304" pitchFamily="18" charset="0"/>
              </a:rPr>
              <a:t> h</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rPr>
              <a:t>g</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f</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solidFill>
                  <a:schemeClr val="tx1"/>
                </a:solidFill>
                <a:latin typeface="Times New Roman" panose="02020603050405020304" pitchFamily="18" charset="0"/>
                <a:cs typeface="Times New Roman" panose="02020603050405020304" pitchFamily="18" charset="0"/>
              </a:rPr>
              <a:t>Y</a:t>
            </a:r>
            <a:r>
              <a:rPr lang="en-US" altLang="zh-CN" sz="2400" b="1" baseline="-25000" smtClean="0">
                <a:solidFill>
                  <a:schemeClr val="tx1"/>
                </a:solidFill>
                <a:latin typeface="Times New Roman" panose="02020603050405020304" pitchFamily="18" charset="0"/>
                <a:cs typeface="Times New Roman" panose="02020603050405020304" pitchFamily="18" charset="0"/>
              </a:rPr>
              <a:t>3</a:t>
            </a:r>
            <a:r>
              <a:rPr lang="en-US" altLang="zh-CN" sz="2400" b="1" smtClean="0">
                <a:solidFill>
                  <a:schemeClr val="tx1"/>
                </a:solidFill>
                <a:latin typeface="Times New Roman" panose="02020603050405020304" pitchFamily="18" charset="0"/>
                <a:cs typeface="Times New Roman" panose="02020603050405020304" pitchFamily="18" charset="0"/>
              </a:rPr>
              <a:t>, </a:t>
            </a:r>
            <a:endParaRPr lang="zh-CN" altLang="en-US" sz="2400" b="1" smtClean="0">
              <a:solidFill>
                <a:schemeClr val="tx1"/>
              </a:solidFill>
              <a:latin typeface="Times New Roman" panose="02020603050405020304" pitchFamily="18" charset="0"/>
              <a:cs typeface="Times New Roman" panose="02020603050405020304" pitchFamily="18" charset="0"/>
            </a:endParaRPr>
          </a:p>
          <a:p>
            <a:pPr algn="l"/>
            <a:r>
              <a:rPr lang="zh-CN" altLang="en-US" sz="2400" b="1" smtClean="0">
                <a:solidFill>
                  <a:schemeClr val="tx1"/>
                </a:solidFill>
                <a:latin typeface="Times New Roman" panose="02020603050405020304" pitchFamily="18" charset="0"/>
                <a:cs typeface="Times New Roman" panose="02020603050405020304" pitchFamily="18" charset="0"/>
              </a:rPr>
              <a:t>得证 </a:t>
            </a:r>
            <a:r>
              <a:rPr lang="en-US" altLang="zh-CN" sz="2400" b="1" i="1" smtClean="0">
                <a:solidFill>
                  <a:schemeClr val="tx1"/>
                </a:solidFill>
                <a:latin typeface="Times New Roman" panose="02020603050405020304" pitchFamily="18" charset="0"/>
                <a:cs typeface="Times New Roman" panose="02020603050405020304" pitchFamily="18" charset="0"/>
              </a:rPr>
              <a:t>h </a:t>
            </a:r>
            <a:r>
              <a:rPr lang="zh-CN" altLang="en-US" sz="2400" b="1" smtClean="0">
                <a:solidFill>
                  <a:schemeClr val="tx1"/>
                </a:solidFill>
                <a:latin typeface="Times New Roman" panose="02020603050405020304" pitchFamily="18" charset="0"/>
                <a:cs typeface="Times New Roman" panose="02020603050405020304" pitchFamily="18" charset="0"/>
              </a:rPr>
              <a:t>是 </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25000" smtClean="0">
                <a:solidFill>
                  <a:schemeClr val="tx1"/>
                </a:solidFill>
                <a:latin typeface="Times New Roman" panose="02020603050405020304" pitchFamily="18" charset="0"/>
                <a:cs typeface="Times New Roman" panose="02020603050405020304" pitchFamily="18" charset="0"/>
              </a:rPr>
              <a:t>1 </a:t>
            </a:r>
            <a:r>
              <a:rPr lang="zh-CN" altLang="en-US" sz="2400" b="1" smtClean="0">
                <a:solidFill>
                  <a:schemeClr val="tx1"/>
                </a:solidFill>
                <a:latin typeface="Times New Roman" panose="02020603050405020304" pitchFamily="18" charset="0"/>
                <a:cs typeface="Times New Roman" panose="02020603050405020304" pitchFamily="18" charset="0"/>
              </a:rPr>
              <a:t>到 </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25000" smtClean="0">
                <a:solidFill>
                  <a:schemeClr val="tx1"/>
                </a:solidFill>
                <a:latin typeface="Times New Roman" panose="02020603050405020304" pitchFamily="18" charset="0"/>
                <a:cs typeface="Times New Roman" panose="02020603050405020304" pitchFamily="18" charset="0"/>
              </a:rPr>
              <a:t>3 </a:t>
            </a:r>
            <a:r>
              <a:rPr lang="zh-CN" altLang="en-US" sz="2400" b="1" smtClean="0">
                <a:solidFill>
                  <a:schemeClr val="tx1"/>
                </a:solidFill>
                <a:latin typeface="Times New Roman" panose="02020603050405020304" pitchFamily="18" charset="0"/>
                <a:cs typeface="Times New Roman" panose="02020603050405020304" pitchFamily="18" charset="0"/>
              </a:rPr>
              <a:t>的多项式时间变换</a:t>
            </a:r>
            <a:r>
              <a:rPr lang="en-US" altLang="zh-CN" sz="2400" b="1" smtClean="0">
                <a:solidFill>
                  <a:schemeClr val="tx1"/>
                </a:solidFill>
                <a:latin typeface="Times New Roman" panose="02020603050405020304" pitchFamily="18" charset="0"/>
                <a:cs typeface="Times New Roman" panose="02020603050405020304" pitchFamily="18" charset="0"/>
              </a:rPr>
              <a:t>.  </a:t>
            </a:r>
            <a:endParaRPr lang="zh-CN" altLang="en-US" sz="2400" b="1" smtClean="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p:cNvSpPr>
            <a:spLocks noGrp="1"/>
          </p:cNvSpPr>
          <p:nvPr>
            <p:ph type="ctrTitle"/>
          </p:nvPr>
        </p:nvSpPr>
        <p:spPr>
          <a:xfrm>
            <a:off x="685800" y="260350"/>
            <a:ext cx="7772400" cy="865188"/>
          </a:xfrm>
        </p:spPr>
        <p:txBody>
          <a:bodyPr/>
          <a:lstStyle/>
          <a:p>
            <a:pPr eaLnBrk="1" hangingPunct="1"/>
            <a:r>
              <a:rPr lang="en-US" altLang="zh-CN" sz="4000" b="1" smtClean="0">
                <a:solidFill>
                  <a:srgbClr val="C0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4000" b="1" i="1" baseline="-25000" smtClean="0">
                <a:solidFill>
                  <a:srgbClr val="C00000"/>
                </a:solidFill>
                <a:latin typeface="Times New Roman" panose="02020603050405020304" pitchFamily="18" charset="0"/>
                <a:cs typeface="Times New Roman" panose="02020603050405020304" pitchFamily="18" charset="0"/>
              </a:rPr>
              <a:t>p</a:t>
            </a:r>
            <a:r>
              <a:rPr lang="zh-CN" altLang="en-US" sz="4000" b="1" smtClean="0">
                <a:solidFill>
                  <a:srgbClr val="C00000"/>
                </a:solidFill>
                <a:latin typeface="Times New Roman" panose="02020603050405020304" pitchFamily="18" charset="0"/>
                <a:cs typeface="Times New Roman" panose="02020603050405020304" pitchFamily="18" charset="0"/>
              </a:rPr>
              <a:t>的性质</a:t>
            </a:r>
            <a:endParaRPr lang="zh-CN" altLang="en-US" sz="4000" b="1" smtClean="0">
              <a:latin typeface="Times New Roman" panose="02020603050405020304" pitchFamily="18" charset="0"/>
              <a:cs typeface="Times New Roman" panose="02020603050405020304" pitchFamily="18" charset="0"/>
            </a:endParaRPr>
          </a:p>
        </p:txBody>
      </p:sp>
      <p:sp>
        <p:nvSpPr>
          <p:cNvPr id="21507" name="副标题 2"/>
          <p:cNvSpPr>
            <a:spLocks noGrp="1"/>
          </p:cNvSpPr>
          <p:nvPr>
            <p:ph type="subTitle" idx="1"/>
          </p:nvPr>
        </p:nvSpPr>
        <p:spPr>
          <a:xfrm>
            <a:off x="684213" y="1268413"/>
            <a:ext cx="7775575" cy="4968875"/>
          </a:xfrm>
        </p:spPr>
        <p:txBody>
          <a:bodyPr/>
          <a:lstStyle/>
          <a:p>
            <a:pPr algn="l"/>
            <a:r>
              <a:rPr lang="zh-CN" altLang="en-US" sz="2400" b="1" smtClean="0">
                <a:solidFill>
                  <a:srgbClr val="C00000"/>
                </a:solidFill>
                <a:latin typeface="Times New Roman" panose="02020603050405020304" pitchFamily="18" charset="0"/>
                <a:cs typeface="Times New Roman" panose="02020603050405020304" pitchFamily="18" charset="0"/>
              </a:rPr>
              <a:t>定理 </a:t>
            </a:r>
            <a:r>
              <a:rPr lang="en-US" altLang="zh-CN" sz="2400" b="1" smtClean="0">
                <a:solidFill>
                  <a:srgbClr val="C00000"/>
                </a:solidFill>
                <a:latin typeface="Times New Roman" panose="02020603050405020304" pitchFamily="18" charset="0"/>
                <a:cs typeface="Times New Roman" panose="02020603050405020304" pitchFamily="18" charset="0"/>
              </a:rPr>
              <a:t>9.3</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设</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25000" smtClean="0">
                <a:solidFill>
                  <a:schemeClr val="tx1"/>
                </a:solidFill>
                <a:latin typeface="Times New Roman" panose="02020603050405020304" pitchFamily="18" charset="0"/>
                <a:cs typeface="Times New Roman" panose="02020603050405020304" pitchFamily="18" charset="0"/>
              </a:rPr>
              <a:t>1 </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solidFill>
                  <a:schemeClr val="tx1"/>
                </a:solidFill>
                <a:latin typeface="Times New Roman" panose="02020603050405020304" pitchFamily="18" charset="0"/>
                <a:cs typeface="Times New Roman" panose="02020603050405020304" pitchFamily="18" charset="0"/>
              </a:rPr>
              <a:t>p </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25000" smtClean="0">
                <a:solidFill>
                  <a:schemeClr val="tx1"/>
                </a:solidFill>
                <a:latin typeface="Times New Roman" panose="02020603050405020304" pitchFamily="18" charset="0"/>
                <a:cs typeface="Times New Roman" panose="02020603050405020304" pitchFamily="18" charset="0"/>
              </a:rPr>
              <a:t>2</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则 </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25000" smtClean="0">
                <a:solidFill>
                  <a:schemeClr val="tx1"/>
                </a:solidFill>
                <a:latin typeface="Times New Roman" panose="02020603050405020304" pitchFamily="18" charset="0"/>
                <a:cs typeface="Times New Roman" panose="02020603050405020304" pitchFamily="18" charset="0"/>
              </a:rPr>
              <a:t>2</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solidFill>
                  <a:schemeClr val="tx1"/>
                </a:solidFill>
                <a:latin typeface="Times New Roman" panose="02020603050405020304" pitchFamily="18" charset="0"/>
                <a:cs typeface="Times New Roman" panose="02020603050405020304" pitchFamily="18" charset="0"/>
              </a:rPr>
              <a:t>P  </a:t>
            </a:r>
            <a:r>
              <a:rPr lang="zh-CN" altLang="en-US" sz="2400" b="1" smtClean="0">
                <a:solidFill>
                  <a:schemeClr val="tx1"/>
                </a:solidFill>
                <a:latin typeface="Times New Roman" panose="02020603050405020304" pitchFamily="18" charset="0"/>
                <a:cs typeface="Times New Roman" panose="02020603050405020304" pitchFamily="18" charset="0"/>
              </a:rPr>
              <a:t>蕴涵 </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25000" smtClean="0">
                <a:solidFill>
                  <a:schemeClr val="tx1"/>
                </a:solidFill>
                <a:latin typeface="Times New Roman" panose="02020603050405020304" pitchFamily="18" charset="0"/>
                <a:cs typeface="Times New Roman" panose="02020603050405020304" pitchFamily="18" charset="0"/>
              </a:rPr>
              <a:t>1</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solidFill>
                  <a:schemeClr val="tx1"/>
                </a:solidFill>
                <a:latin typeface="Times New Roman" panose="02020603050405020304" pitchFamily="18" charset="0"/>
                <a:cs typeface="Times New Roman" panose="02020603050405020304" pitchFamily="18" charset="0"/>
              </a:rPr>
              <a:t>P.</a:t>
            </a:r>
            <a:endParaRPr lang="zh-CN" altLang="en-US" sz="2400" b="1" smtClean="0">
              <a:solidFill>
                <a:schemeClr val="tx1"/>
              </a:solidFill>
              <a:latin typeface="Times New Roman" panose="02020603050405020304" pitchFamily="18" charset="0"/>
              <a:cs typeface="Times New Roman" panose="02020603050405020304" pitchFamily="18" charset="0"/>
            </a:endParaRPr>
          </a:p>
          <a:p>
            <a:pPr algn="l">
              <a:lnSpc>
                <a:spcPts val="3200"/>
              </a:lnSpc>
              <a:spcBef>
                <a:spcPts val="1800"/>
              </a:spcBef>
            </a:pPr>
            <a:r>
              <a:rPr lang="zh-CN" altLang="en-US" sz="2400" b="1" smtClean="0">
                <a:solidFill>
                  <a:schemeClr val="tx1"/>
                </a:solidFill>
                <a:latin typeface="Times New Roman" panose="02020603050405020304" pitchFamily="18" charset="0"/>
                <a:cs typeface="Times New Roman" panose="02020603050405020304" pitchFamily="18" charset="0"/>
              </a:rPr>
              <a:t>证明要点  设 </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25000" smtClean="0">
                <a:solidFill>
                  <a:schemeClr val="tx1"/>
                </a:solidFill>
                <a:latin typeface="Times New Roman" panose="02020603050405020304" pitchFamily="18" charset="0"/>
                <a:cs typeface="Times New Roman" panose="02020603050405020304" pitchFamily="18" charset="0"/>
              </a:rPr>
              <a:t>1</a:t>
            </a:r>
            <a:r>
              <a:rPr lang="en-US" altLang="zh-CN" sz="2400" b="1" smtClean="0">
                <a:solidFill>
                  <a:schemeClr val="tx1"/>
                </a:solidFill>
                <a:latin typeface="Times New Roman" panose="02020603050405020304" pitchFamily="18" charset="0"/>
                <a:cs typeface="Times New Roman" panose="02020603050405020304" pitchFamily="18" charset="0"/>
              </a:rPr>
              <a:t>=&lt;</a:t>
            </a:r>
            <a:r>
              <a:rPr lang="en-US" altLang="zh-CN" sz="2400" b="1" i="1" smtClean="0">
                <a:solidFill>
                  <a:schemeClr val="tx1"/>
                </a:solidFill>
                <a:latin typeface="Times New Roman" panose="02020603050405020304" pitchFamily="18" charset="0"/>
                <a:cs typeface="Times New Roman" panose="02020603050405020304" pitchFamily="18" charset="0"/>
              </a:rPr>
              <a:t>D</a:t>
            </a:r>
            <a:r>
              <a:rPr lang="en-US" altLang="zh-CN" sz="2400" b="1" baseline="-25000" smtClean="0">
                <a:solidFill>
                  <a:schemeClr val="tx1"/>
                </a:solidFill>
                <a:latin typeface="Times New Roman" panose="02020603050405020304" pitchFamily="18" charset="0"/>
                <a:cs typeface="Times New Roman" panose="02020603050405020304" pitchFamily="18" charset="0"/>
              </a:rPr>
              <a:t>1</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Y</a:t>
            </a:r>
            <a:r>
              <a:rPr lang="en-US" altLang="zh-CN" sz="2400" b="1" baseline="-25000" smtClean="0">
                <a:solidFill>
                  <a:schemeClr val="tx1"/>
                </a:solidFill>
                <a:latin typeface="Times New Roman" panose="02020603050405020304" pitchFamily="18" charset="0"/>
                <a:cs typeface="Times New Roman" panose="02020603050405020304" pitchFamily="18" charset="0"/>
              </a:rPr>
              <a:t>1</a:t>
            </a:r>
            <a:r>
              <a:rPr lang="en-US" altLang="zh-CN" sz="2400" b="1" smtClean="0">
                <a:solidFill>
                  <a:schemeClr val="tx1"/>
                </a:solidFill>
                <a:latin typeface="Times New Roman" panose="02020603050405020304" pitchFamily="18" charset="0"/>
                <a:cs typeface="Times New Roman" panose="02020603050405020304" pitchFamily="18" charset="0"/>
              </a:rPr>
              <a:t>&gt;, </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25000" smtClean="0">
                <a:solidFill>
                  <a:schemeClr val="tx1"/>
                </a:solidFill>
                <a:latin typeface="Times New Roman" panose="02020603050405020304" pitchFamily="18" charset="0"/>
                <a:cs typeface="Times New Roman" panose="02020603050405020304" pitchFamily="18" charset="0"/>
              </a:rPr>
              <a:t>2</a:t>
            </a:r>
            <a:r>
              <a:rPr lang="en-US" altLang="zh-CN" sz="2400" b="1" smtClean="0">
                <a:solidFill>
                  <a:schemeClr val="tx1"/>
                </a:solidFill>
                <a:latin typeface="Times New Roman" panose="02020603050405020304" pitchFamily="18" charset="0"/>
                <a:cs typeface="Times New Roman" panose="02020603050405020304" pitchFamily="18" charset="0"/>
              </a:rPr>
              <a:t>=&lt;</a:t>
            </a:r>
            <a:r>
              <a:rPr lang="en-US" altLang="zh-CN" sz="2400" b="1" i="1" smtClean="0">
                <a:solidFill>
                  <a:schemeClr val="tx1"/>
                </a:solidFill>
                <a:latin typeface="Times New Roman" panose="02020603050405020304" pitchFamily="18" charset="0"/>
                <a:cs typeface="Times New Roman" panose="02020603050405020304" pitchFamily="18" charset="0"/>
              </a:rPr>
              <a:t>D</a:t>
            </a:r>
            <a:r>
              <a:rPr lang="en-US" altLang="zh-CN" sz="2400" b="1" baseline="-25000" smtClean="0">
                <a:solidFill>
                  <a:schemeClr val="tx1"/>
                </a:solidFill>
                <a:latin typeface="Times New Roman" panose="02020603050405020304" pitchFamily="18" charset="0"/>
                <a:cs typeface="Times New Roman" panose="02020603050405020304" pitchFamily="18" charset="0"/>
              </a:rPr>
              <a:t>2</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Y</a:t>
            </a:r>
            <a:r>
              <a:rPr lang="en-US" altLang="zh-CN" sz="2400" b="1" baseline="-25000" smtClean="0">
                <a:solidFill>
                  <a:schemeClr val="tx1"/>
                </a:solidFill>
                <a:latin typeface="Times New Roman" panose="02020603050405020304" pitchFamily="18" charset="0"/>
                <a:cs typeface="Times New Roman" panose="02020603050405020304" pitchFamily="18" charset="0"/>
              </a:rPr>
              <a:t>2</a:t>
            </a:r>
            <a:r>
              <a:rPr lang="en-US" altLang="zh-CN" sz="2400" b="1" smtClean="0">
                <a:solidFill>
                  <a:schemeClr val="tx1"/>
                </a:solidFill>
                <a:latin typeface="Times New Roman" panose="02020603050405020304" pitchFamily="18" charset="0"/>
                <a:cs typeface="Times New Roman" panose="02020603050405020304" pitchFamily="18" charset="0"/>
              </a:rPr>
              <a:t>&gt;,  </a:t>
            </a:r>
            <a:r>
              <a:rPr lang="en-US" altLang="zh-CN" sz="2400" b="1" i="1" smtClean="0">
                <a:solidFill>
                  <a:schemeClr val="tx1"/>
                </a:solidFill>
                <a:latin typeface="Times New Roman" panose="02020603050405020304" pitchFamily="18" charset="0"/>
                <a:cs typeface="Times New Roman" panose="02020603050405020304" pitchFamily="18" charset="0"/>
              </a:rPr>
              <a:t>f </a:t>
            </a:r>
            <a:r>
              <a:rPr lang="zh-CN" altLang="en-US" sz="2400" b="1" smtClean="0">
                <a:solidFill>
                  <a:schemeClr val="tx1"/>
                </a:solidFill>
                <a:latin typeface="Times New Roman" panose="02020603050405020304" pitchFamily="18" charset="0"/>
                <a:cs typeface="Times New Roman" panose="02020603050405020304" pitchFamily="18" charset="0"/>
              </a:rPr>
              <a:t>是 </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25000" smtClean="0">
                <a:solidFill>
                  <a:schemeClr val="tx1"/>
                </a:solidFill>
                <a:latin typeface="Times New Roman" panose="02020603050405020304" pitchFamily="18" charset="0"/>
                <a:cs typeface="Times New Roman" panose="02020603050405020304" pitchFamily="18" charset="0"/>
              </a:rPr>
              <a:t>1 </a:t>
            </a:r>
            <a:r>
              <a:rPr lang="zh-CN" altLang="en-US" sz="2400" b="1" smtClean="0">
                <a:solidFill>
                  <a:schemeClr val="tx1"/>
                </a:solidFill>
                <a:latin typeface="Times New Roman" panose="02020603050405020304" pitchFamily="18" charset="0"/>
                <a:cs typeface="Times New Roman" panose="02020603050405020304" pitchFamily="18" charset="0"/>
              </a:rPr>
              <a:t>到 </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25000" smtClean="0">
                <a:solidFill>
                  <a:schemeClr val="tx1"/>
                </a:solidFill>
                <a:latin typeface="Times New Roman" panose="02020603050405020304" pitchFamily="18" charset="0"/>
                <a:cs typeface="Times New Roman" panose="02020603050405020304" pitchFamily="18" charset="0"/>
              </a:rPr>
              <a:t>2 </a:t>
            </a:r>
            <a:r>
              <a:rPr lang="zh-CN" altLang="en-US" sz="2400" b="1" smtClean="0">
                <a:solidFill>
                  <a:schemeClr val="tx1"/>
                </a:solidFill>
                <a:latin typeface="Times New Roman" panose="02020603050405020304" pitchFamily="18" charset="0"/>
                <a:cs typeface="Times New Roman" panose="02020603050405020304" pitchFamily="18" charset="0"/>
              </a:rPr>
              <a:t>的多项式时间变换</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rPr>
              <a:t>A</a:t>
            </a:r>
            <a:r>
              <a:rPr lang="zh-CN" altLang="en-US" sz="2400" b="1" smtClean="0">
                <a:solidFill>
                  <a:schemeClr val="tx1"/>
                </a:solidFill>
                <a:latin typeface="Times New Roman" panose="02020603050405020304" pitchFamily="18" charset="0"/>
                <a:cs typeface="Times New Roman" panose="02020603050405020304" pitchFamily="18" charset="0"/>
              </a:rPr>
              <a:t>是计算 </a:t>
            </a:r>
            <a:r>
              <a:rPr lang="en-US" altLang="zh-CN" sz="2400" b="1" i="1" smtClean="0">
                <a:solidFill>
                  <a:schemeClr val="tx1"/>
                </a:solidFill>
                <a:latin typeface="Times New Roman" panose="02020603050405020304" pitchFamily="18" charset="0"/>
                <a:cs typeface="Times New Roman" panose="02020603050405020304" pitchFamily="18" charset="0"/>
              </a:rPr>
              <a:t>f </a:t>
            </a:r>
            <a:r>
              <a:rPr lang="zh-CN" altLang="en-US" sz="2400" b="1" smtClean="0">
                <a:solidFill>
                  <a:schemeClr val="tx1"/>
                </a:solidFill>
                <a:latin typeface="Times New Roman" panose="02020603050405020304" pitchFamily="18" charset="0"/>
                <a:cs typeface="Times New Roman" panose="02020603050405020304" pitchFamily="18" charset="0"/>
              </a:rPr>
              <a:t>的多项式时间算法</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又设 </a:t>
            </a:r>
            <a:r>
              <a:rPr lang="en-US" altLang="zh-CN" sz="2400" b="1" i="1" smtClean="0">
                <a:solidFill>
                  <a:schemeClr val="tx1"/>
                </a:solidFill>
                <a:latin typeface="Times New Roman" panose="02020603050405020304" pitchFamily="18" charset="0"/>
                <a:cs typeface="Times New Roman" panose="02020603050405020304" pitchFamily="18" charset="0"/>
              </a:rPr>
              <a:t>B </a:t>
            </a:r>
            <a:r>
              <a:rPr lang="zh-CN" altLang="en-US" sz="2400" b="1" smtClean="0">
                <a:solidFill>
                  <a:schemeClr val="tx1"/>
                </a:solidFill>
                <a:latin typeface="Times New Roman" panose="02020603050405020304" pitchFamily="18" charset="0"/>
                <a:cs typeface="Times New Roman" panose="02020603050405020304" pitchFamily="18" charset="0"/>
              </a:rPr>
              <a:t>是 </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25000" smtClean="0">
                <a:solidFill>
                  <a:schemeClr val="tx1"/>
                </a:solidFill>
                <a:latin typeface="Times New Roman" panose="02020603050405020304" pitchFamily="18" charset="0"/>
                <a:cs typeface="Times New Roman" panose="02020603050405020304" pitchFamily="18" charset="0"/>
              </a:rPr>
              <a:t>2 </a:t>
            </a:r>
            <a:r>
              <a:rPr lang="zh-CN" altLang="en-US" sz="2400" b="1" smtClean="0">
                <a:solidFill>
                  <a:schemeClr val="tx1"/>
                </a:solidFill>
                <a:latin typeface="Times New Roman" panose="02020603050405020304" pitchFamily="18" charset="0"/>
                <a:cs typeface="Times New Roman" panose="02020603050405020304" pitchFamily="18" charset="0"/>
              </a:rPr>
              <a:t>的多项式时间算法</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如下构造 </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25000" smtClean="0">
                <a:solidFill>
                  <a:schemeClr val="tx1"/>
                </a:solidFill>
                <a:latin typeface="Times New Roman" panose="02020603050405020304" pitchFamily="18" charset="0"/>
                <a:cs typeface="Times New Roman" panose="02020603050405020304" pitchFamily="18" charset="0"/>
              </a:rPr>
              <a:t>1 </a:t>
            </a:r>
            <a:r>
              <a:rPr lang="zh-CN" altLang="en-US" sz="2400" b="1" smtClean="0">
                <a:solidFill>
                  <a:schemeClr val="tx1"/>
                </a:solidFill>
                <a:latin typeface="Times New Roman" panose="02020603050405020304" pitchFamily="18" charset="0"/>
                <a:cs typeface="Times New Roman" panose="02020603050405020304" pitchFamily="18" charset="0"/>
              </a:rPr>
              <a:t>的算法 </a:t>
            </a:r>
            <a:r>
              <a:rPr lang="en-US" altLang="zh-CN" sz="2400" b="1" i="1" smtClean="0">
                <a:solidFill>
                  <a:schemeClr val="tx1"/>
                </a:solidFill>
                <a:latin typeface="Times New Roman" panose="02020603050405020304" pitchFamily="18" charset="0"/>
                <a:cs typeface="Times New Roman" panose="02020603050405020304" pitchFamily="18" charset="0"/>
              </a:rPr>
              <a:t>C</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对每一个 </a:t>
            </a:r>
            <a:r>
              <a:rPr lang="en-US" altLang="zh-CN" sz="2400" b="1" i="1"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solidFill>
                  <a:schemeClr val="tx1"/>
                </a:solidFill>
                <a:latin typeface="Times New Roman" panose="02020603050405020304" pitchFamily="18" charset="0"/>
                <a:cs typeface="Times New Roman" panose="02020603050405020304" pitchFamily="18" charset="0"/>
              </a:rPr>
              <a:t>D</a:t>
            </a:r>
            <a:r>
              <a:rPr lang="en-US" altLang="zh-CN" sz="2400" b="1" baseline="-25000" smtClean="0">
                <a:solidFill>
                  <a:schemeClr val="tx1"/>
                </a:solidFill>
                <a:latin typeface="Times New Roman" panose="02020603050405020304" pitchFamily="18" charset="0"/>
                <a:cs typeface="Times New Roman" panose="02020603050405020304" pitchFamily="18" charset="0"/>
              </a:rPr>
              <a:t>1</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首先应用 </a:t>
            </a:r>
            <a:r>
              <a:rPr lang="en-US" altLang="zh-CN" sz="2400" b="1" i="1" smtClean="0">
                <a:solidFill>
                  <a:schemeClr val="tx1"/>
                </a:solidFill>
                <a:latin typeface="Times New Roman" panose="02020603050405020304" pitchFamily="18" charset="0"/>
                <a:cs typeface="Times New Roman" panose="02020603050405020304" pitchFamily="18" charset="0"/>
              </a:rPr>
              <a:t>A</a:t>
            </a:r>
            <a:r>
              <a:rPr lang="zh-CN" altLang="en-US" sz="2400" b="1" smtClean="0">
                <a:solidFill>
                  <a:schemeClr val="tx1"/>
                </a:solidFill>
                <a:latin typeface="Times New Roman" panose="02020603050405020304" pitchFamily="18" charset="0"/>
                <a:cs typeface="Times New Roman" panose="02020603050405020304" pitchFamily="18" charset="0"/>
              </a:rPr>
              <a:t>得到 </a:t>
            </a:r>
            <a:r>
              <a:rPr lang="en-US" altLang="zh-CN" sz="2400" b="1" i="1" smtClean="0">
                <a:solidFill>
                  <a:schemeClr val="tx1"/>
                </a:solidFill>
                <a:latin typeface="Times New Roman" panose="02020603050405020304" pitchFamily="18" charset="0"/>
                <a:cs typeface="Times New Roman" panose="02020603050405020304" pitchFamily="18" charset="0"/>
              </a:rPr>
              <a:t>f</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然后对 </a:t>
            </a:r>
            <a:r>
              <a:rPr lang="en-US" altLang="zh-CN" sz="2400" b="1" i="1" smtClean="0">
                <a:solidFill>
                  <a:schemeClr val="tx1"/>
                </a:solidFill>
                <a:latin typeface="Times New Roman" panose="02020603050405020304" pitchFamily="18" charset="0"/>
                <a:cs typeface="Times New Roman" panose="02020603050405020304" pitchFamily="18" charset="0"/>
              </a:rPr>
              <a:t>f</a:t>
            </a:r>
            <a:r>
              <a:rPr lang="en-US" altLang="zh-CN" sz="2400" b="1" smtClean="0">
                <a:solidFill>
                  <a:schemeClr val="tx1"/>
                </a:solidFill>
                <a:latin typeface="Times New Roman" panose="02020603050405020304" pitchFamily="18" charset="0"/>
                <a:cs typeface="Times New Roman" panose="02020603050405020304" pitchFamily="18" charset="0"/>
              </a:rPr>
              <a:t>(</a:t>
            </a:r>
            <a:r>
              <a:rPr lang="en-US" altLang="zh-CN" sz="2400" b="1" i="1" smtClean="0">
                <a:solidFill>
                  <a:schemeClr val="tx1"/>
                </a:solidFill>
                <a:latin typeface="Times New Roman" panose="02020603050405020304" pitchFamily="18" charset="0"/>
                <a:cs typeface="Times New Roman" panose="02020603050405020304" pitchFamily="18" charset="0"/>
              </a:rPr>
              <a:t>I</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应用</a:t>
            </a:r>
            <a:r>
              <a:rPr lang="en-US" altLang="zh-CN" sz="2400" b="1" i="1" smtClean="0">
                <a:solidFill>
                  <a:schemeClr val="tx1"/>
                </a:solidFill>
                <a:latin typeface="Times New Roman" panose="02020603050405020304" pitchFamily="18" charset="0"/>
                <a:cs typeface="Times New Roman" panose="02020603050405020304" pitchFamily="18" charset="0"/>
              </a:rPr>
              <a:t>B</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en-US" altLang="zh-CN" sz="2400" b="1" i="1" smtClean="0">
                <a:solidFill>
                  <a:schemeClr val="tx1"/>
                </a:solidFill>
                <a:latin typeface="Times New Roman" panose="02020603050405020304" pitchFamily="18" charset="0"/>
                <a:cs typeface="Times New Roman" panose="02020603050405020304" pitchFamily="18" charset="0"/>
              </a:rPr>
              <a:t>C </a:t>
            </a:r>
            <a:r>
              <a:rPr lang="zh-CN" altLang="en-US" sz="2400" b="1" smtClean="0">
                <a:solidFill>
                  <a:schemeClr val="tx1"/>
                </a:solidFill>
                <a:latin typeface="Times New Roman" panose="02020603050405020304" pitchFamily="18" charset="0"/>
                <a:cs typeface="Times New Roman" panose="02020603050405020304" pitchFamily="18" charset="0"/>
              </a:rPr>
              <a:t>输出“</a:t>
            </a:r>
            <a:r>
              <a:rPr lang="en-US" altLang="zh-CN" sz="2400" b="1" smtClean="0">
                <a:solidFill>
                  <a:schemeClr val="tx1"/>
                </a:solidFill>
                <a:latin typeface="Times New Roman" panose="02020603050405020304" pitchFamily="18" charset="0"/>
                <a:cs typeface="Times New Roman" panose="02020603050405020304" pitchFamily="18" charset="0"/>
              </a:rPr>
              <a:t>Yes</a:t>
            </a:r>
            <a:r>
              <a:rPr lang="zh-CN" altLang="en-US" sz="2400" b="1" smtClean="0">
                <a:solidFill>
                  <a:schemeClr val="tx1"/>
                </a:solidFill>
                <a:latin typeface="Times New Roman" panose="02020603050405020304" pitchFamily="18" charset="0"/>
                <a:cs typeface="Times New Roman" panose="02020603050405020304" pitchFamily="18" charset="0"/>
              </a:rPr>
              <a:t>”当且仅当 </a:t>
            </a:r>
            <a:r>
              <a:rPr lang="en-US" altLang="zh-CN" sz="2400" b="1" i="1" smtClean="0">
                <a:solidFill>
                  <a:schemeClr val="tx1"/>
                </a:solidFill>
                <a:latin typeface="Times New Roman" panose="02020603050405020304" pitchFamily="18" charset="0"/>
                <a:cs typeface="Times New Roman" panose="02020603050405020304" pitchFamily="18" charset="0"/>
              </a:rPr>
              <a:t>B </a:t>
            </a:r>
            <a:r>
              <a:rPr lang="zh-CN" altLang="en-US" sz="2400" b="1" smtClean="0">
                <a:solidFill>
                  <a:schemeClr val="tx1"/>
                </a:solidFill>
                <a:latin typeface="Times New Roman" panose="02020603050405020304" pitchFamily="18" charset="0"/>
                <a:cs typeface="Times New Roman" panose="02020603050405020304" pitchFamily="18" charset="0"/>
              </a:rPr>
              <a:t>输出“</a:t>
            </a:r>
            <a:r>
              <a:rPr lang="en-US" altLang="zh-CN" sz="2400" b="1" smtClean="0">
                <a:solidFill>
                  <a:schemeClr val="tx1"/>
                </a:solidFill>
                <a:latin typeface="Times New Roman" panose="02020603050405020304" pitchFamily="18" charset="0"/>
                <a:cs typeface="Times New Roman" panose="02020603050405020304" pitchFamily="18" charset="0"/>
              </a:rPr>
              <a:t>Yes</a:t>
            </a:r>
            <a:r>
              <a:rPr lang="zh-CN" altLang="en-US" sz="2400" b="1" smtClean="0">
                <a:solidFill>
                  <a:schemeClr val="tx1"/>
                </a:solidFill>
                <a:latin typeface="Times New Roman" panose="02020603050405020304" pitchFamily="18" charset="0"/>
                <a:cs typeface="Times New Roman" panose="02020603050405020304" pitchFamily="18" charset="0"/>
              </a:rPr>
              <a:t>”</a:t>
            </a:r>
            <a:r>
              <a:rPr lang="en-US" altLang="zh-CN" sz="2400" b="1" smtClean="0">
                <a:solidFill>
                  <a:schemeClr val="tx1"/>
                </a:solidFill>
                <a:latin typeface="Times New Roman" panose="02020603050405020304" pitchFamily="18" charset="0"/>
                <a:cs typeface="Times New Roman" panose="02020603050405020304" pitchFamily="18" charset="0"/>
              </a:rPr>
              <a:t>.  </a:t>
            </a:r>
            <a:endParaRPr lang="zh-CN" altLang="en-US" sz="2400" b="1" smtClean="0">
              <a:solidFill>
                <a:schemeClr val="tx1"/>
              </a:solidFill>
              <a:latin typeface="Times New Roman" panose="02020603050405020304" pitchFamily="18" charset="0"/>
              <a:cs typeface="Times New Roman" panose="02020603050405020304" pitchFamily="18" charset="0"/>
            </a:endParaRPr>
          </a:p>
          <a:p>
            <a:pPr algn="l">
              <a:spcBef>
                <a:spcPts val="1800"/>
              </a:spcBef>
            </a:pPr>
            <a:r>
              <a:rPr lang="zh-CN" altLang="en-US" sz="2400" b="1" smtClean="0">
                <a:solidFill>
                  <a:srgbClr val="C00000"/>
                </a:solidFill>
                <a:latin typeface="Times New Roman" panose="02020603050405020304" pitchFamily="18" charset="0"/>
                <a:cs typeface="Times New Roman" panose="02020603050405020304" pitchFamily="18" charset="0"/>
              </a:rPr>
              <a:t>推论 </a:t>
            </a:r>
            <a:r>
              <a:rPr lang="en-US" altLang="zh-CN" sz="2400" b="1" smtClean="0">
                <a:solidFill>
                  <a:srgbClr val="C00000"/>
                </a:solidFill>
                <a:latin typeface="Times New Roman" panose="02020603050405020304" pitchFamily="18" charset="0"/>
                <a:cs typeface="Times New Roman" panose="02020603050405020304" pitchFamily="18" charset="0"/>
              </a:rPr>
              <a:t>9.1  </a:t>
            </a:r>
            <a:r>
              <a:rPr lang="zh-CN" altLang="en-US" sz="2400" b="1" smtClean="0">
                <a:solidFill>
                  <a:schemeClr val="tx1"/>
                </a:solidFill>
                <a:latin typeface="Times New Roman" panose="02020603050405020304" pitchFamily="18" charset="0"/>
                <a:cs typeface="Times New Roman" panose="02020603050405020304" pitchFamily="18" charset="0"/>
              </a:rPr>
              <a:t>设 </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25000" smtClean="0">
                <a:solidFill>
                  <a:schemeClr val="tx1"/>
                </a:solidFill>
                <a:latin typeface="Times New Roman" panose="02020603050405020304" pitchFamily="18" charset="0"/>
                <a:cs typeface="Times New Roman" panose="02020603050405020304" pitchFamily="18" charset="0"/>
              </a:rPr>
              <a:t>1 </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solidFill>
                  <a:schemeClr val="tx1"/>
                </a:solidFill>
                <a:latin typeface="Times New Roman" panose="02020603050405020304" pitchFamily="18" charset="0"/>
                <a:cs typeface="Times New Roman" panose="02020603050405020304" pitchFamily="18" charset="0"/>
              </a:rPr>
              <a:t>p </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25000" smtClean="0">
                <a:solidFill>
                  <a:schemeClr val="tx1"/>
                </a:solidFill>
                <a:latin typeface="Times New Roman" panose="02020603050405020304" pitchFamily="18" charset="0"/>
                <a:cs typeface="Times New Roman" panose="02020603050405020304" pitchFamily="18" charset="0"/>
              </a:rPr>
              <a:t>2</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则 </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25000" smtClean="0">
                <a:solidFill>
                  <a:schemeClr val="tx1"/>
                </a:solidFill>
                <a:latin typeface="Times New Roman" panose="02020603050405020304" pitchFamily="18" charset="0"/>
                <a:cs typeface="Times New Roman" panose="02020603050405020304" pitchFamily="18" charset="0"/>
              </a:rPr>
              <a:t>1 </a:t>
            </a:r>
            <a:r>
              <a:rPr lang="zh-CN" altLang="en-US" sz="2400" b="1" smtClean="0">
                <a:solidFill>
                  <a:schemeClr val="tx1"/>
                </a:solidFill>
                <a:latin typeface="Times New Roman" panose="02020603050405020304" pitchFamily="18" charset="0"/>
                <a:cs typeface="Times New Roman" panose="02020603050405020304" pitchFamily="18" charset="0"/>
              </a:rPr>
              <a:t>是难解的蕴涵 </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25000" smtClean="0">
                <a:solidFill>
                  <a:schemeClr val="tx1"/>
                </a:solidFill>
                <a:latin typeface="Times New Roman" panose="02020603050405020304" pitchFamily="18" charset="0"/>
                <a:cs typeface="Times New Roman" panose="02020603050405020304" pitchFamily="18" charset="0"/>
              </a:rPr>
              <a:t>2 </a:t>
            </a:r>
            <a:r>
              <a:rPr lang="zh-CN" altLang="en-US" sz="2400" b="1" smtClean="0">
                <a:solidFill>
                  <a:schemeClr val="tx1"/>
                </a:solidFill>
                <a:latin typeface="Times New Roman" panose="02020603050405020304" pitchFamily="18" charset="0"/>
                <a:cs typeface="Times New Roman" panose="02020603050405020304" pitchFamily="18" charset="0"/>
              </a:rPr>
              <a:t>是难解的</a:t>
            </a:r>
            <a:r>
              <a:rPr lang="en-US" altLang="zh-CN" sz="2400" b="1" smtClean="0">
                <a:solidFill>
                  <a:schemeClr val="tx1"/>
                </a:solidFill>
                <a:latin typeface="Times New Roman" panose="02020603050405020304" pitchFamily="18" charset="0"/>
                <a:cs typeface="Times New Roman" panose="02020603050405020304" pitchFamily="18" charset="0"/>
              </a:rPr>
              <a:t>.</a:t>
            </a:r>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a:r>
              <a:rPr lang="zh-CN" altLang="en-US" sz="2400" b="1" smtClean="0">
                <a:solidFill>
                  <a:schemeClr val="tx1"/>
                </a:solidFill>
                <a:latin typeface="Times New Roman" panose="02020603050405020304" pitchFamily="18" charset="0"/>
                <a:cs typeface="Times New Roman" panose="02020603050405020304" pitchFamily="18" charset="0"/>
              </a:rPr>
              <a:t>由例</a:t>
            </a:r>
            <a:r>
              <a:rPr lang="en-US" altLang="zh-CN" sz="2400" b="1" smtClean="0">
                <a:solidFill>
                  <a:schemeClr val="tx1"/>
                </a:solidFill>
                <a:latin typeface="Times New Roman" panose="02020603050405020304" pitchFamily="18" charset="0"/>
                <a:cs typeface="Times New Roman" panose="02020603050405020304" pitchFamily="18" charset="0"/>
              </a:rPr>
              <a:t>7.2</a:t>
            </a:r>
            <a:r>
              <a:rPr lang="zh-CN" altLang="en-US" sz="2400" b="1" smtClean="0">
                <a:solidFill>
                  <a:schemeClr val="tx1"/>
                </a:solidFill>
                <a:latin typeface="Times New Roman" panose="02020603050405020304" pitchFamily="18" charset="0"/>
                <a:cs typeface="Times New Roman" panose="02020603050405020304" pitchFamily="18" charset="0"/>
              </a:rPr>
              <a:t>及最小生成树</a:t>
            </a:r>
            <a:r>
              <a:rPr lang="zh-CN" altLang="en-US"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P, </a:t>
            </a:r>
            <a:r>
              <a:rPr lang="zh-CN" altLang="en-US"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得知最大生成树</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P.</a:t>
            </a:r>
            <a:endPar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endParaRPr>
          </a:p>
          <a:p>
            <a:pPr algn="l"/>
            <a:r>
              <a:rPr lang="zh-CN" altLang="en-US"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由例</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7.1, </a:t>
            </a:r>
            <a:r>
              <a:rPr lang="zh-CN" altLang="en-US"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如果 </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TSPP, </a:t>
            </a:r>
            <a:r>
              <a:rPr lang="zh-CN" altLang="en-US"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则 </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HCP. </a:t>
            </a:r>
            <a:r>
              <a:rPr lang="zh-CN" altLang="en-US"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反过来</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如果 </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HC </a:t>
            </a:r>
            <a:r>
              <a:rPr lang="zh-CN" altLang="en-US"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是难解的</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则 </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TSP </a:t>
            </a:r>
            <a:r>
              <a:rPr lang="zh-CN" altLang="en-US"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也是难解的</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endParaRPr lang="zh-CN" altLang="en-US" sz="2400" b="1" smtClean="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p:cNvSpPr>
            <a:spLocks noGrp="1"/>
          </p:cNvSpPr>
          <p:nvPr>
            <p:ph type="ctrTitle"/>
          </p:nvPr>
        </p:nvSpPr>
        <p:spPr>
          <a:xfrm>
            <a:off x="684213" y="404813"/>
            <a:ext cx="7772400" cy="865187"/>
          </a:xfrm>
        </p:spPr>
        <p:txBody>
          <a:bodyPr/>
          <a:lstStyle/>
          <a:p>
            <a:pPr eaLnBrk="1" hangingPunct="1"/>
            <a:r>
              <a:rPr lang="en-US" altLang="zh-CN" sz="4000" b="1" smtClean="0">
                <a:solidFill>
                  <a:srgbClr val="C00000"/>
                </a:solidFill>
                <a:latin typeface="Times New Roman" panose="02020603050405020304" pitchFamily="18" charset="0"/>
                <a:cs typeface="Times New Roman" panose="02020603050405020304" pitchFamily="18" charset="0"/>
              </a:rPr>
              <a:t>9.2.2 NP</a:t>
            </a:r>
            <a:r>
              <a:rPr lang="zh-CN" altLang="en-US" sz="4000" b="1" smtClean="0">
                <a:solidFill>
                  <a:srgbClr val="C00000"/>
                </a:solidFill>
                <a:latin typeface="Times New Roman" panose="02020603050405020304" pitchFamily="18" charset="0"/>
                <a:cs typeface="Times New Roman" panose="02020603050405020304" pitchFamily="18" charset="0"/>
              </a:rPr>
              <a:t>完全性</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22531" name="副标题 2"/>
          <p:cNvSpPr>
            <a:spLocks noGrp="1"/>
          </p:cNvSpPr>
          <p:nvPr>
            <p:ph type="subTitle" idx="1"/>
          </p:nvPr>
        </p:nvSpPr>
        <p:spPr>
          <a:xfrm>
            <a:off x="539750" y="1484313"/>
            <a:ext cx="7916863" cy="4535487"/>
          </a:xfrm>
        </p:spPr>
        <p:txBody>
          <a:bodyPr/>
          <a:lstStyle/>
          <a:p>
            <a:pPr algn="l"/>
            <a:r>
              <a:rPr lang="zh-CN" altLang="en-US" sz="2400" b="1" smtClean="0">
                <a:solidFill>
                  <a:srgbClr val="C00000"/>
                </a:solidFill>
                <a:latin typeface="Times New Roman" panose="02020603050405020304" pitchFamily="18" charset="0"/>
                <a:cs typeface="Times New Roman" panose="02020603050405020304" pitchFamily="18" charset="0"/>
              </a:rPr>
              <a:t>定义 </a:t>
            </a:r>
            <a:r>
              <a:rPr lang="en-US" altLang="zh-CN" sz="2400" b="1" smtClean="0">
                <a:solidFill>
                  <a:srgbClr val="C00000"/>
                </a:solidFill>
                <a:latin typeface="Times New Roman" panose="02020603050405020304" pitchFamily="18" charset="0"/>
                <a:cs typeface="Times New Roman" panose="02020603050405020304" pitchFamily="18" charset="0"/>
              </a:rPr>
              <a:t>9.5</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如果对所有的 </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solidFill>
                  <a:schemeClr val="tx1"/>
                </a:solidFill>
                <a:latin typeface="Times New Roman" panose="02020603050405020304" pitchFamily="18" charset="0"/>
                <a:cs typeface="Times New Roman" panose="02020603050405020304" pitchFamily="18" charset="0"/>
              </a:rPr>
              <a:t>NP,  </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solidFill>
                  <a:schemeClr val="tx1"/>
                </a:solidFill>
                <a:latin typeface="Times New Roman" panose="02020603050405020304" pitchFamily="18" charset="0"/>
                <a:cs typeface="Times New Roman" panose="02020603050405020304" pitchFamily="18" charset="0"/>
              </a:rPr>
              <a:t> </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solidFill>
                  <a:schemeClr val="tx1"/>
                </a:solidFill>
                <a:latin typeface="Times New Roman" panose="02020603050405020304" pitchFamily="18" charset="0"/>
                <a:cs typeface="Times New Roman" panose="02020603050405020304" pitchFamily="18" charset="0"/>
              </a:rPr>
              <a:t>p </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则称</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是 </a:t>
            </a:r>
            <a:r>
              <a:rPr lang="en-US" altLang="zh-CN" sz="2400" b="1" smtClean="0">
                <a:solidFill>
                  <a:srgbClr val="C00000"/>
                </a:solidFill>
                <a:latin typeface="Times New Roman" panose="02020603050405020304" pitchFamily="18" charset="0"/>
                <a:cs typeface="Times New Roman" panose="02020603050405020304" pitchFamily="18" charset="0"/>
              </a:rPr>
              <a:t>NP</a:t>
            </a:r>
            <a:r>
              <a:rPr lang="zh-CN" altLang="en-US" sz="2400" b="1" smtClean="0">
                <a:solidFill>
                  <a:srgbClr val="C00000"/>
                </a:solidFill>
                <a:latin typeface="Times New Roman" panose="02020603050405020304" pitchFamily="18" charset="0"/>
                <a:cs typeface="Times New Roman" panose="02020603050405020304" pitchFamily="18" charset="0"/>
              </a:rPr>
              <a:t>难的</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如果 </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是 </a:t>
            </a:r>
            <a:r>
              <a:rPr lang="en-US" altLang="zh-CN" sz="2400" b="1" smtClean="0">
                <a:solidFill>
                  <a:schemeClr val="tx1"/>
                </a:solidFill>
                <a:latin typeface="Times New Roman" panose="02020603050405020304" pitchFamily="18" charset="0"/>
                <a:cs typeface="Times New Roman" panose="02020603050405020304" pitchFamily="18" charset="0"/>
              </a:rPr>
              <a:t>NP </a:t>
            </a:r>
            <a:r>
              <a:rPr lang="zh-CN" altLang="en-US" sz="2400" b="1" smtClean="0">
                <a:solidFill>
                  <a:schemeClr val="tx1"/>
                </a:solidFill>
                <a:latin typeface="Times New Roman" panose="02020603050405020304" pitchFamily="18" charset="0"/>
                <a:cs typeface="Times New Roman" panose="02020603050405020304" pitchFamily="18" charset="0"/>
              </a:rPr>
              <a:t>难的且 </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solidFill>
                  <a:schemeClr val="tx1"/>
                </a:solidFill>
                <a:latin typeface="Times New Roman" panose="02020603050405020304" pitchFamily="18" charset="0"/>
                <a:cs typeface="Times New Roman" panose="02020603050405020304" pitchFamily="18" charset="0"/>
              </a:rPr>
              <a:t>NP, </a:t>
            </a:r>
            <a:r>
              <a:rPr lang="zh-CN" altLang="en-US" sz="2400" b="1" smtClean="0">
                <a:solidFill>
                  <a:schemeClr val="tx1"/>
                </a:solidFill>
                <a:latin typeface="Times New Roman" panose="02020603050405020304" pitchFamily="18" charset="0"/>
                <a:cs typeface="Times New Roman" panose="02020603050405020304" pitchFamily="18" charset="0"/>
              </a:rPr>
              <a:t>则称 </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是 </a:t>
            </a:r>
            <a:r>
              <a:rPr lang="en-US" altLang="zh-CN" sz="2400" b="1" smtClean="0">
                <a:solidFill>
                  <a:srgbClr val="C00000"/>
                </a:solidFill>
                <a:latin typeface="Times New Roman" panose="02020603050405020304" pitchFamily="18" charset="0"/>
                <a:cs typeface="Times New Roman" panose="02020603050405020304" pitchFamily="18" charset="0"/>
              </a:rPr>
              <a:t>NP</a:t>
            </a:r>
            <a:r>
              <a:rPr lang="zh-CN" altLang="en-US" sz="2400" b="1" smtClean="0">
                <a:solidFill>
                  <a:srgbClr val="C00000"/>
                </a:solidFill>
                <a:latin typeface="Times New Roman" panose="02020603050405020304" pitchFamily="18" charset="0"/>
                <a:cs typeface="Times New Roman" panose="02020603050405020304" pitchFamily="18" charset="0"/>
              </a:rPr>
              <a:t>完全的</a:t>
            </a:r>
            <a:r>
              <a:rPr lang="en-US" altLang="zh-CN" sz="2400" b="1" smtClean="0">
                <a:solidFill>
                  <a:schemeClr val="tx1"/>
                </a:solidFill>
                <a:latin typeface="Times New Roman" panose="02020603050405020304" pitchFamily="18" charset="0"/>
                <a:cs typeface="Times New Roman" panose="02020603050405020304" pitchFamily="18" charset="0"/>
              </a:rPr>
              <a:t>.</a:t>
            </a:r>
            <a:endParaRPr lang="zh-CN" altLang="en-US" sz="2400" b="1" smtClean="0">
              <a:solidFill>
                <a:schemeClr val="tx1"/>
              </a:solidFill>
              <a:latin typeface="Times New Roman" panose="02020603050405020304" pitchFamily="18" charset="0"/>
              <a:cs typeface="Times New Roman" panose="02020603050405020304" pitchFamily="18" charset="0"/>
            </a:endParaRPr>
          </a:p>
          <a:p>
            <a:pPr algn="l"/>
            <a:r>
              <a:rPr lang="en-US" altLang="zh-CN" sz="2400" b="1" smtClean="0">
                <a:solidFill>
                  <a:schemeClr val="tx1"/>
                </a:solidFill>
                <a:latin typeface="Times New Roman" panose="02020603050405020304" pitchFamily="18" charset="0"/>
                <a:cs typeface="Times New Roman" panose="02020603050405020304" pitchFamily="18" charset="0"/>
              </a:rPr>
              <a:t>NP </a:t>
            </a:r>
            <a:r>
              <a:rPr lang="zh-CN" altLang="en-US" sz="2400" b="1" smtClean="0">
                <a:solidFill>
                  <a:schemeClr val="tx1"/>
                </a:solidFill>
                <a:latin typeface="Times New Roman" panose="02020603050405020304" pitchFamily="18" charset="0"/>
                <a:cs typeface="Times New Roman" panose="02020603050405020304" pitchFamily="18" charset="0"/>
              </a:rPr>
              <a:t>完全问题是 </a:t>
            </a:r>
            <a:r>
              <a:rPr lang="en-US" altLang="zh-CN" sz="2400" b="1" smtClean="0">
                <a:solidFill>
                  <a:schemeClr val="tx1"/>
                </a:solidFill>
                <a:latin typeface="Times New Roman" panose="02020603050405020304" pitchFamily="18" charset="0"/>
                <a:cs typeface="Times New Roman" panose="02020603050405020304" pitchFamily="18" charset="0"/>
              </a:rPr>
              <a:t>NP </a:t>
            </a:r>
            <a:r>
              <a:rPr lang="zh-CN" altLang="en-US" sz="2400" b="1" smtClean="0">
                <a:solidFill>
                  <a:schemeClr val="tx1"/>
                </a:solidFill>
                <a:latin typeface="Times New Roman" panose="02020603050405020304" pitchFamily="18" charset="0"/>
                <a:cs typeface="Times New Roman" panose="02020603050405020304" pitchFamily="18" charset="0"/>
              </a:rPr>
              <a:t>中最难的问题</a:t>
            </a:r>
            <a:r>
              <a:rPr lang="en-US" altLang="zh-CN" sz="2400" b="1" smtClean="0">
                <a:solidFill>
                  <a:schemeClr val="tx1"/>
                </a:solidFill>
                <a:latin typeface="Times New Roman" panose="02020603050405020304" pitchFamily="18" charset="0"/>
                <a:cs typeface="Times New Roman" panose="02020603050405020304" pitchFamily="18" charset="0"/>
              </a:rPr>
              <a:t>. </a:t>
            </a:r>
            <a:endParaRPr lang="en-US" altLang="zh-CN" sz="2400" b="1" smtClean="0">
              <a:solidFill>
                <a:schemeClr val="tx1"/>
              </a:solidFill>
              <a:latin typeface="Times New Roman" panose="02020603050405020304" pitchFamily="18" charset="0"/>
              <a:cs typeface="Times New Roman" panose="02020603050405020304" pitchFamily="18" charset="0"/>
            </a:endParaRPr>
          </a:p>
          <a:p>
            <a:pPr algn="l"/>
            <a:endParaRPr lang="zh-CN" altLang="en-US" sz="2400" b="1" smtClean="0">
              <a:solidFill>
                <a:schemeClr val="tx1"/>
              </a:solidFill>
              <a:latin typeface="Times New Roman" panose="02020603050405020304" pitchFamily="18" charset="0"/>
              <a:cs typeface="Times New Roman" panose="02020603050405020304" pitchFamily="18" charset="0"/>
            </a:endParaRPr>
          </a:p>
          <a:p>
            <a:pPr algn="l"/>
            <a:r>
              <a:rPr lang="zh-CN" altLang="en-US" sz="2400" b="1" smtClean="0">
                <a:solidFill>
                  <a:srgbClr val="C00000"/>
                </a:solidFill>
                <a:latin typeface="Times New Roman" panose="02020603050405020304" pitchFamily="18" charset="0"/>
                <a:cs typeface="Times New Roman" panose="02020603050405020304" pitchFamily="18" charset="0"/>
              </a:rPr>
              <a:t>定理 </a:t>
            </a:r>
            <a:r>
              <a:rPr lang="en-US" altLang="zh-CN" sz="2400" b="1" smtClean="0">
                <a:solidFill>
                  <a:srgbClr val="C00000"/>
                </a:solidFill>
                <a:latin typeface="Times New Roman" panose="02020603050405020304" pitchFamily="18" charset="0"/>
                <a:cs typeface="Times New Roman" panose="02020603050405020304" pitchFamily="18" charset="0"/>
              </a:rPr>
              <a:t>9.4</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如果存在 </a:t>
            </a:r>
            <a:r>
              <a:rPr lang="en-US" altLang="zh-CN" sz="2400" b="1" smtClean="0">
                <a:solidFill>
                  <a:schemeClr val="tx1"/>
                </a:solidFill>
                <a:latin typeface="Times New Roman" panose="02020603050405020304" pitchFamily="18" charset="0"/>
                <a:cs typeface="Times New Roman" panose="02020603050405020304" pitchFamily="18" charset="0"/>
              </a:rPr>
              <a:t>NP </a:t>
            </a:r>
            <a:r>
              <a:rPr lang="zh-CN" altLang="en-US" sz="2400" b="1" smtClean="0">
                <a:solidFill>
                  <a:schemeClr val="tx1"/>
                </a:solidFill>
                <a:latin typeface="Times New Roman" panose="02020603050405020304" pitchFamily="18" charset="0"/>
                <a:cs typeface="Times New Roman" panose="02020603050405020304" pitchFamily="18" charset="0"/>
              </a:rPr>
              <a:t>难的问题 </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solidFill>
                  <a:schemeClr val="tx1"/>
                </a:solidFill>
                <a:latin typeface="Times New Roman" panose="02020603050405020304" pitchFamily="18" charset="0"/>
                <a:cs typeface="Times New Roman" panose="02020603050405020304" pitchFamily="18" charset="0"/>
              </a:rPr>
              <a:t>P, </a:t>
            </a:r>
            <a:r>
              <a:rPr lang="zh-CN" altLang="en-US" sz="2400" b="1" smtClean="0">
                <a:solidFill>
                  <a:schemeClr val="tx1"/>
                </a:solidFill>
                <a:latin typeface="Times New Roman" panose="02020603050405020304" pitchFamily="18" charset="0"/>
                <a:cs typeface="Times New Roman" panose="02020603050405020304" pitchFamily="18" charset="0"/>
              </a:rPr>
              <a:t>则 </a:t>
            </a:r>
            <a:r>
              <a:rPr lang="en-US" altLang="zh-CN" sz="2400" b="1" smtClean="0">
                <a:solidFill>
                  <a:schemeClr val="tx1"/>
                </a:solidFill>
                <a:latin typeface="Times New Roman" panose="02020603050405020304" pitchFamily="18" charset="0"/>
                <a:cs typeface="Times New Roman" panose="02020603050405020304" pitchFamily="18" charset="0"/>
              </a:rPr>
              <a:t>P = NP.</a:t>
            </a:r>
            <a:endParaRPr lang="zh-CN" altLang="en-US" sz="2400" b="1" smtClean="0">
              <a:solidFill>
                <a:schemeClr val="tx1"/>
              </a:solidFill>
              <a:latin typeface="Times New Roman" panose="02020603050405020304" pitchFamily="18" charset="0"/>
              <a:cs typeface="Times New Roman" panose="02020603050405020304" pitchFamily="18" charset="0"/>
            </a:endParaRPr>
          </a:p>
          <a:p>
            <a:pPr algn="l"/>
            <a:r>
              <a:rPr lang="zh-CN" altLang="en-US" sz="2400" b="1" smtClean="0">
                <a:solidFill>
                  <a:srgbClr val="C00000"/>
                </a:solidFill>
                <a:latin typeface="Times New Roman" panose="02020603050405020304" pitchFamily="18" charset="0"/>
                <a:cs typeface="Times New Roman" panose="02020603050405020304" pitchFamily="18" charset="0"/>
              </a:rPr>
              <a:t>推论 </a:t>
            </a:r>
            <a:r>
              <a:rPr lang="en-US" altLang="zh-CN" sz="2400" b="1" smtClean="0">
                <a:solidFill>
                  <a:srgbClr val="C00000"/>
                </a:solidFill>
                <a:latin typeface="Times New Roman" panose="02020603050405020304" pitchFamily="18" charset="0"/>
                <a:cs typeface="Times New Roman" panose="02020603050405020304" pitchFamily="18" charset="0"/>
              </a:rPr>
              <a:t>9.2</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假设</a:t>
            </a:r>
            <a:r>
              <a:rPr lang="en-US" altLang="zh-CN" sz="2400" b="1" smtClean="0">
                <a:solidFill>
                  <a:schemeClr val="tx1"/>
                </a:solidFill>
                <a:latin typeface="Times New Roman" panose="02020603050405020304" pitchFamily="18" charset="0"/>
                <a:cs typeface="Times New Roman" panose="02020603050405020304" pitchFamily="18" charset="0"/>
              </a:rPr>
              <a:t>P </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smtClean="0">
                <a:solidFill>
                  <a:schemeClr val="tx1"/>
                </a:solidFill>
                <a:latin typeface="Times New Roman" panose="02020603050405020304" pitchFamily="18" charset="0"/>
                <a:cs typeface="Times New Roman" panose="02020603050405020304" pitchFamily="18" charset="0"/>
              </a:rPr>
              <a:t>NP, </a:t>
            </a:r>
            <a:r>
              <a:rPr lang="zh-CN" altLang="en-US" sz="2400" b="1" smtClean="0">
                <a:solidFill>
                  <a:schemeClr val="tx1"/>
                </a:solidFill>
                <a:latin typeface="Times New Roman" panose="02020603050405020304" pitchFamily="18" charset="0"/>
                <a:cs typeface="Times New Roman" panose="02020603050405020304" pitchFamily="18" charset="0"/>
              </a:rPr>
              <a:t>那么</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如果 </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是 </a:t>
            </a:r>
            <a:r>
              <a:rPr lang="en-US" altLang="zh-CN" sz="2400" b="1" smtClean="0">
                <a:solidFill>
                  <a:schemeClr val="tx1"/>
                </a:solidFill>
                <a:latin typeface="Times New Roman" panose="02020603050405020304" pitchFamily="18" charset="0"/>
                <a:cs typeface="Times New Roman" panose="02020603050405020304" pitchFamily="18" charset="0"/>
              </a:rPr>
              <a:t>NP</a:t>
            </a:r>
            <a:r>
              <a:rPr lang="zh-CN" altLang="en-US" sz="2400" b="1" smtClean="0">
                <a:solidFill>
                  <a:schemeClr val="tx1"/>
                </a:solidFill>
                <a:latin typeface="Times New Roman" panose="02020603050405020304" pitchFamily="18" charset="0"/>
                <a:cs typeface="Times New Roman" panose="02020603050405020304" pitchFamily="18" charset="0"/>
              </a:rPr>
              <a:t>难的</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则 </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solidFill>
                  <a:schemeClr val="tx1"/>
                </a:solidFill>
                <a:latin typeface="Times New Roman" panose="02020603050405020304" pitchFamily="18" charset="0"/>
                <a:cs typeface="Times New Roman" panose="02020603050405020304" pitchFamily="18" charset="0"/>
              </a:rPr>
              <a:t>P.</a:t>
            </a:r>
            <a:endParaRPr lang="zh-CN" altLang="en-US" sz="2400" b="1" smtClean="0">
              <a:solidFill>
                <a:schemeClr val="tx1"/>
              </a:solidFill>
              <a:latin typeface="Times New Roman" panose="02020603050405020304" pitchFamily="18" charset="0"/>
              <a:cs typeface="Times New Roman" panose="02020603050405020304" pitchFamily="18" charset="0"/>
            </a:endParaRPr>
          </a:p>
          <a:p>
            <a:pPr algn="l"/>
            <a:r>
              <a:rPr lang="zh-CN" altLang="en-US" sz="2400" b="1" smtClean="0">
                <a:solidFill>
                  <a:srgbClr val="C00000"/>
                </a:solidFill>
                <a:latin typeface="Times New Roman" panose="02020603050405020304" pitchFamily="18" charset="0"/>
                <a:cs typeface="Times New Roman" panose="02020603050405020304" pitchFamily="18" charset="0"/>
              </a:rPr>
              <a:t>定理 </a:t>
            </a:r>
            <a:r>
              <a:rPr lang="en-US" altLang="zh-CN" sz="2400" b="1" smtClean="0">
                <a:solidFill>
                  <a:srgbClr val="C00000"/>
                </a:solidFill>
                <a:latin typeface="Times New Roman" panose="02020603050405020304" pitchFamily="18" charset="0"/>
                <a:cs typeface="Times New Roman" panose="02020603050405020304" pitchFamily="18" charset="0"/>
              </a:rPr>
              <a:t>9.5</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如果存在 </a:t>
            </a:r>
            <a:r>
              <a:rPr lang="en-US" altLang="zh-CN" sz="2400" b="1" smtClean="0">
                <a:solidFill>
                  <a:schemeClr val="tx1"/>
                </a:solidFill>
                <a:latin typeface="Times New Roman" panose="02020603050405020304" pitchFamily="18" charset="0"/>
                <a:cs typeface="Times New Roman" panose="02020603050405020304" pitchFamily="18" charset="0"/>
              </a:rPr>
              <a:t>NP </a:t>
            </a:r>
            <a:r>
              <a:rPr lang="zh-CN" altLang="en-US" sz="2400" b="1" smtClean="0">
                <a:solidFill>
                  <a:schemeClr val="tx1"/>
                </a:solidFill>
                <a:latin typeface="Times New Roman" panose="02020603050405020304" pitchFamily="18" charset="0"/>
                <a:cs typeface="Times New Roman" panose="02020603050405020304" pitchFamily="18" charset="0"/>
              </a:rPr>
              <a:t>难的问题 </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使得 </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solidFill>
                  <a:schemeClr val="tx1"/>
                </a:solidFill>
                <a:latin typeface="Times New Roman" panose="02020603050405020304" pitchFamily="18" charset="0"/>
                <a:cs typeface="Times New Roman" panose="02020603050405020304" pitchFamily="18" charset="0"/>
              </a:rPr>
              <a:t> </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solidFill>
                  <a:schemeClr val="tx1"/>
                </a:solidFill>
                <a:latin typeface="Times New Roman" panose="02020603050405020304" pitchFamily="18" charset="0"/>
                <a:cs typeface="Times New Roman" panose="02020603050405020304" pitchFamily="18" charset="0"/>
              </a:rPr>
              <a:t>p </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则 </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是</a:t>
            </a:r>
            <a:r>
              <a:rPr lang="en-US" altLang="zh-CN" sz="2400" b="1" smtClean="0">
                <a:solidFill>
                  <a:schemeClr val="tx1"/>
                </a:solidFill>
                <a:latin typeface="Times New Roman" panose="02020603050405020304" pitchFamily="18" charset="0"/>
                <a:cs typeface="Times New Roman" panose="02020603050405020304" pitchFamily="18" charset="0"/>
              </a:rPr>
              <a:t>NP </a:t>
            </a:r>
            <a:r>
              <a:rPr lang="zh-CN" altLang="en-US" sz="2400" b="1" smtClean="0">
                <a:solidFill>
                  <a:schemeClr val="tx1"/>
                </a:solidFill>
                <a:latin typeface="Times New Roman" panose="02020603050405020304" pitchFamily="18" charset="0"/>
                <a:cs typeface="Times New Roman" panose="02020603050405020304" pitchFamily="18" charset="0"/>
              </a:rPr>
              <a:t>难的</a:t>
            </a:r>
            <a:r>
              <a:rPr lang="en-US" altLang="zh-CN" sz="2400" b="1" smtClean="0">
                <a:solidFill>
                  <a:schemeClr val="tx1"/>
                </a:solidFill>
                <a:latin typeface="Times New Roman" panose="02020603050405020304" pitchFamily="18" charset="0"/>
                <a:cs typeface="Times New Roman" panose="02020603050405020304" pitchFamily="18" charset="0"/>
              </a:rPr>
              <a:t>.</a:t>
            </a:r>
            <a:endParaRPr lang="zh-CN" altLang="en-US" sz="2400" b="1" smtClean="0">
              <a:solidFill>
                <a:schemeClr val="tx1"/>
              </a:solidFill>
              <a:latin typeface="Times New Roman" panose="02020603050405020304" pitchFamily="18" charset="0"/>
              <a:cs typeface="Times New Roman" panose="02020603050405020304" pitchFamily="18" charset="0"/>
            </a:endParaRPr>
          </a:p>
          <a:p>
            <a:pPr algn="l"/>
            <a:r>
              <a:rPr lang="zh-CN" altLang="en-US" sz="2400" b="1" smtClean="0">
                <a:solidFill>
                  <a:srgbClr val="C00000"/>
                </a:solidFill>
                <a:latin typeface="Times New Roman" panose="02020603050405020304" pitchFamily="18" charset="0"/>
                <a:cs typeface="Times New Roman" panose="02020603050405020304" pitchFamily="18" charset="0"/>
              </a:rPr>
              <a:t>推论 </a:t>
            </a:r>
            <a:r>
              <a:rPr lang="en-US" altLang="zh-CN" sz="2400" b="1" smtClean="0">
                <a:solidFill>
                  <a:srgbClr val="C00000"/>
                </a:solidFill>
                <a:latin typeface="Times New Roman" panose="02020603050405020304" pitchFamily="18" charset="0"/>
                <a:cs typeface="Times New Roman" panose="02020603050405020304" pitchFamily="18" charset="0"/>
              </a:rPr>
              <a:t>9.3</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如果 </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solidFill>
                  <a:schemeClr val="tx1"/>
                </a:solidFill>
                <a:latin typeface="Times New Roman" panose="02020603050405020304" pitchFamily="18" charset="0"/>
                <a:cs typeface="Times New Roman" panose="02020603050405020304" pitchFamily="18" charset="0"/>
              </a:rPr>
              <a:t>NP </a:t>
            </a:r>
            <a:r>
              <a:rPr lang="zh-CN" altLang="en-US" sz="2400" b="1" smtClean="0">
                <a:solidFill>
                  <a:schemeClr val="tx1"/>
                </a:solidFill>
                <a:latin typeface="Times New Roman" panose="02020603050405020304" pitchFamily="18" charset="0"/>
                <a:cs typeface="Times New Roman" panose="02020603050405020304" pitchFamily="18" charset="0"/>
              </a:rPr>
              <a:t>并且存在 </a:t>
            </a:r>
            <a:r>
              <a:rPr lang="en-US" altLang="zh-CN" sz="2400" b="1" smtClean="0">
                <a:solidFill>
                  <a:schemeClr val="tx1"/>
                </a:solidFill>
                <a:latin typeface="Times New Roman" panose="02020603050405020304" pitchFamily="18" charset="0"/>
                <a:cs typeface="Times New Roman" panose="02020603050405020304" pitchFamily="18" charset="0"/>
              </a:rPr>
              <a:t>NP </a:t>
            </a:r>
            <a:r>
              <a:rPr lang="zh-CN" altLang="en-US" sz="2400" b="1" smtClean="0">
                <a:solidFill>
                  <a:schemeClr val="tx1"/>
                </a:solidFill>
                <a:latin typeface="Times New Roman" panose="02020603050405020304" pitchFamily="18" charset="0"/>
                <a:cs typeface="Times New Roman" panose="02020603050405020304" pitchFamily="18" charset="0"/>
              </a:rPr>
              <a:t>完全问题 </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使得 </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solidFill>
                  <a:schemeClr val="tx1"/>
                </a:solidFill>
                <a:latin typeface="Times New Roman" panose="02020603050405020304" pitchFamily="18" charset="0"/>
                <a:cs typeface="Times New Roman" panose="02020603050405020304" pitchFamily="18" charset="0"/>
              </a:rPr>
              <a:t> </a:t>
            </a:r>
            <a:r>
              <a:rPr lang="en-US" altLang="zh-CN" sz="2400" b="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solidFill>
                  <a:schemeClr val="tx1"/>
                </a:solidFill>
                <a:latin typeface="Times New Roman" panose="02020603050405020304" pitchFamily="18" charset="0"/>
                <a:cs typeface="Times New Roman" panose="02020603050405020304" pitchFamily="18" charset="0"/>
              </a:rPr>
              <a:t>p </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则</a:t>
            </a:r>
            <a:r>
              <a:rPr lang="en-US" altLang="zh-CN" sz="2400" b="1" i="1" smtClean="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solidFill>
                  <a:schemeClr val="tx1"/>
                </a:solidFill>
                <a:latin typeface="Times New Roman" panose="02020603050405020304" pitchFamily="18" charset="0"/>
                <a:cs typeface="Times New Roman" panose="02020603050405020304" pitchFamily="18" charset="0"/>
              </a:rPr>
              <a:t>  </a:t>
            </a:r>
            <a:r>
              <a:rPr lang="zh-CN" altLang="en-US" sz="2400" b="1" smtClean="0">
                <a:solidFill>
                  <a:schemeClr val="tx1"/>
                </a:solidFill>
                <a:latin typeface="Times New Roman" panose="02020603050405020304" pitchFamily="18" charset="0"/>
                <a:cs typeface="Times New Roman" panose="02020603050405020304" pitchFamily="18" charset="0"/>
              </a:rPr>
              <a:t>是</a:t>
            </a:r>
            <a:r>
              <a:rPr lang="en-US" altLang="zh-CN" sz="2400" b="1" smtClean="0">
                <a:solidFill>
                  <a:schemeClr val="tx1"/>
                </a:solidFill>
                <a:latin typeface="Times New Roman" panose="02020603050405020304" pitchFamily="18" charset="0"/>
                <a:cs typeface="Times New Roman" panose="02020603050405020304" pitchFamily="18" charset="0"/>
              </a:rPr>
              <a:t>NP</a:t>
            </a:r>
            <a:r>
              <a:rPr lang="zh-CN" altLang="en-US" sz="2400" b="1" smtClean="0">
                <a:solidFill>
                  <a:schemeClr val="tx1"/>
                </a:solidFill>
                <a:latin typeface="Times New Roman" panose="02020603050405020304" pitchFamily="18" charset="0"/>
                <a:cs typeface="Times New Roman" panose="02020603050405020304" pitchFamily="18" charset="0"/>
              </a:rPr>
              <a:t>完全的</a:t>
            </a:r>
            <a:r>
              <a:rPr lang="en-US" altLang="zh-CN" sz="2400" b="1" smtClean="0">
                <a:solidFill>
                  <a:schemeClr val="tx1"/>
                </a:solidFill>
                <a:latin typeface="Times New Roman" panose="02020603050405020304" pitchFamily="18" charset="0"/>
                <a:cs typeface="Times New Roman" panose="02020603050405020304" pitchFamily="18" charset="0"/>
              </a:rPr>
              <a:t>.</a:t>
            </a:r>
            <a:endParaRPr lang="zh-CN" altLang="en-US" sz="2400" b="1" smtClean="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p:cNvSpPr>
          <p:nvPr>
            <p:ph type="title"/>
          </p:nvPr>
        </p:nvSpPr>
        <p:spPr/>
        <p:txBody>
          <a:bodyPr/>
          <a:lstStyle/>
          <a:p>
            <a:r>
              <a:rPr lang="zh-CN" altLang="en-US" sz="4000" b="1" smtClean="0">
                <a:solidFill>
                  <a:srgbClr val="C00000"/>
                </a:solidFill>
                <a:latin typeface="Times New Roman" panose="02020603050405020304" pitchFamily="18" charset="0"/>
                <a:cs typeface="Times New Roman" panose="02020603050405020304" pitchFamily="18" charset="0"/>
              </a:rPr>
              <a:t>证明 </a:t>
            </a:r>
            <a:r>
              <a:rPr lang="en-US" altLang="zh-CN" sz="4000" b="1" smtClean="0">
                <a:solidFill>
                  <a:srgbClr val="C00000"/>
                </a:solidFill>
                <a:latin typeface="Times New Roman" panose="02020603050405020304" pitchFamily="18" charset="0"/>
                <a:cs typeface="Times New Roman" panose="02020603050405020304" pitchFamily="18" charset="0"/>
              </a:rPr>
              <a:t>NP</a:t>
            </a:r>
            <a:r>
              <a:rPr lang="zh-CN" altLang="en-US" sz="4000" b="1" smtClean="0">
                <a:solidFill>
                  <a:srgbClr val="C00000"/>
                </a:solidFill>
                <a:latin typeface="Times New Roman" panose="02020603050405020304" pitchFamily="18" charset="0"/>
                <a:cs typeface="Times New Roman" panose="02020603050405020304" pitchFamily="18" charset="0"/>
              </a:rPr>
              <a:t>完全性的“捷径”</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23555" name="内容占位符 2"/>
          <p:cNvSpPr>
            <a:spLocks noGrp="1"/>
          </p:cNvSpPr>
          <p:nvPr>
            <p:ph idx="1"/>
          </p:nvPr>
        </p:nvSpPr>
        <p:spPr>
          <a:xfrm>
            <a:off x="469900" y="1773238"/>
            <a:ext cx="8229600" cy="4525962"/>
          </a:xfrm>
        </p:spPr>
        <p:txBody>
          <a:bodyPr/>
          <a:lstStyle/>
          <a:p>
            <a:pPr>
              <a:buFont typeface="Arial" panose="020B0604020202020204" pitchFamily="34" charset="0"/>
              <a:buNone/>
              <a:defRPr/>
            </a:pPr>
            <a:r>
              <a:rPr lang="zh-CN" altLang="en-US" sz="2400" b="1" dirty="0" smtClean="0">
                <a:latin typeface="Times New Roman" panose="02020603050405020304" pitchFamily="18" charset="0"/>
                <a:cs typeface="Times New Roman" panose="02020603050405020304" pitchFamily="18" charset="0"/>
              </a:rPr>
              <a:t>为了证明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是 </a:t>
            </a:r>
            <a:r>
              <a:rPr lang="en-US" altLang="zh-CN" sz="2400" b="1" dirty="0" smtClean="0">
                <a:latin typeface="Times New Roman" panose="02020603050405020304" pitchFamily="18" charset="0"/>
                <a:cs typeface="Times New Roman" panose="02020603050405020304" pitchFamily="18" charset="0"/>
              </a:rPr>
              <a:t>NP</a:t>
            </a:r>
            <a:r>
              <a:rPr lang="zh-CN" altLang="en-US" sz="2400" b="1" dirty="0" smtClean="0">
                <a:latin typeface="Times New Roman" panose="02020603050405020304" pitchFamily="18" charset="0"/>
                <a:cs typeface="Times New Roman" panose="02020603050405020304" pitchFamily="18" charset="0"/>
              </a:rPr>
              <a:t>完全的</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只需要做两件事</a:t>
            </a:r>
            <a:r>
              <a:rPr lang="en-US" altLang="zh-CN" sz="2400" b="1" dirty="0" smtClean="0">
                <a:latin typeface="Times New Roman" panose="02020603050405020304" pitchFamily="18" charset="0"/>
                <a:cs typeface="Times New Roman" panose="02020603050405020304" pitchFamily="18" charset="0"/>
              </a:rPr>
              <a:t>:</a:t>
            </a:r>
            <a:endParaRPr lang="zh-CN" altLang="en-US"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defRPr/>
            </a:pPr>
            <a:r>
              <a:rPr lang="en-US" altLang="zh-CN" sz="2400" b="1" dirty="0" smtClean="0">
                <a:latin typeface="Times New Roman" panose="02020603050405020304" pitchFamily="18" charset="0"/>
                <a:cs typeface="Times New Roman" panose="02020603050405020304" pitchFamily="18" charset="0"/>
              </a:rPr>
              <a:t>  (1) </a:t>
            </a:r>
            <a:r>
              <a:rPr lang="zh-CN" altLang="en-US" sz="2400" b="1" dirty="0" smtClean="0">
                <a:latin typeface="Times New Roman" panose="02020603050405020304" pitchFamily="18" charset="0"/>
                <a:cs typeface="Times New Roman" panose="02020603050405020304" pitchFamily="18" charset="0"/>
              </a:rPr>
              <a:t>证明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NP;</a:t>
            </a:r>
            <a:endParaRPr lang="zh-CN" altLang="en-US"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defRPr/>
            </a:pPr>
            <a:r>
              <a:rPr lang="en-US" altLang="zh-CN" sz="2400" b="1" dirty="0" smtClean="0">
                <a:latin typeface="Times New Roman" panose="02020603050405020304" pitchFamily="18" charset="0"/>
                <a:cs typeface="Times New Roman" panose="02020603050405020304" pitchFamily="18" charset="0"/>
              </a:rPr>
              <a:t>  (2) </a:t>
            </a:r>
            <a:r>
              <a:rPr lang="zh-CN" altLang="en-US" sz="2400" b="1" dirty="0" smtClean="0">
                <a:latin typeface="Times New Roman" panose="02020603050405020304" pitchFamily="18" charset="0"/>
                <a:cs typeface="Times New Roman" panose="02020603050405020304" pitchFamily="18" charset="0"/>
              </a:rPr>
              <a:t>找到一个已知的 </a:t>
            </a:r>
            <a:r>
              <a:rPr lang="en-US" altLang="zh-CN" sz="2400" b="1" dirty="0" smtClean="0">
                <a:latin typeface="Times New Roman" panose="02020603050405020304" pitchFamily="18" charset="0"/>
                <a:cs typeface="Times New Roman" panose="02020603050405020304" pitchFamily="18" charset="0"/>
              </a:rPr>
              <a:t>NP </a:t>
            </a:r>
            <a:r>
              <a:rPr lang="zh-CN" altLang="en-US" sz="2400" b="1" dirty="0" smtClean="0">
                <a:latin typeface="Times New Roman" panose="02020603050405020304" pitchFamily="18" charset="0"/>
                <a:cs typeface="Times New Roman" panose="02020603050405020304" pitchFamily="18" charset="0"/>
              </a:rPr>
              <a:t>完全问题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并证明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dirty="0" smtClean="0">
                <a:latin typeface="Times New Roman" panose="02020603050405020304" pitchFamily="18" charset="0"/>
                <a:cs typeface="Times New Roman" panose="02020603050405020304" pitchFamily="18" charset="0"/>
              </a:rPr>
              <a:t>p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latin typeface="Times New Roman" panose="02020603050405020304" pitchFamily="18" charset="0"/>
                <a:cs typeface="Times New Roman" panose="02020603050405020304" pitchFamily="18" charset="0"/>
              </a:rPr>
              <a:t>.</a:t>
            </a:r>
            <a:endParaRPr lang="zh-CN" altLang="en-US" sz="2400" b="1" dirty="0" smtClean="0">
              <a:latin typeface="Times New Roman" panose="02020603050405020304" pitchFamily="18" charset="0"/>
              <a:cs typeface="Times New Roman" panose="02020603050405020304" pitchFamily="18" charset="0"/>
            </a:endParaRPr>
          </a:p>
          <a:p>
            <a:pPr marL="0" indent="0">
              <a:spcBef>
                <a:spcPts val="2400"/>
              </a:spcBef>
              <a:buFont typeface="Arial" panose="020B0604020202020204" pitchFamily="34" charset="0"/>
              <a:buNone/>
              <a:defRPr/>
            </a:pPr>
            <a:r>
              <a:rPr lang="zh-CN" altLang="en-US" sz="2400" b="1" dirty="0" smtClean="0">
                <a:latin typeface="Times New Roman" panose="02020603050405020304" pitchFamily="18" charset="0"/>
                <a:cs typeface="Times New Roman" panose="02020603050405020304" pitchFamily="18" charset="0"/>
              </a:rPr>
              <a:t>问题：是否存在</a:t>
            </a:r>
            <a:r>
              <a:rPr lang="en-US" altLang="zh-CN" sz="2400" b="1" dirty="0" smtClean="0">
                <a:latin typeface="Times New Roman" panose="02020603050405020304" pitchFamily="18" charset="0"/>
                <a:cs typeface="Times New Roman" panose="02020603050405020304" pitchFamily="18" charset="0"/>
              </a:rPr>
              <a:t>NP</a:t>
            </a:r>
            <a:r>
              <a:rPr lang="zh-CN" altLang="en-US" sz="2400" b="1" dirty="0" smtClean="0">
                <a:latin typeface="Times New Roman" panose="02020603050405020304" pitchFamily="18" charset="0"/>
                <a:cs typeface="Times New Roman" panose="02020603050405020304" pitchFamily="18" charset="0"/>
              </a:rPr>
              <a:t>完全问题？如果存在，如何找到第一个</a:t>
            </a:r>
            <a:r>
              <a:rPr lang="en-US" altLang="zh-CN" sz="2400" b="1" dirty="0" smtClean="0">
                <a:latin typeface="Times New Roman" panose="02020603050405020304" pitchFamily="18" charset="0"/>
                <a:cs typeface="Times New Roman" panose="02020603050405020304" pitchFamily="18" charset="0"/>
              </a:rPr>
              <a:t>NP</a:t>
            </a:r>
            <a:r>
              <a:rPr lang="zh-CN" altLang="en-US" sz="2400" b="1" dirty="0" smtClean="0">
                <a:latin typeface="Times New Roman" panose="02020603050405020304" pitchFamily="18" charset="0"/>
                <a:cs typeface="Times New Roman" panose="02020603050405020304" pitchFamily="18" charset="0"/>
              </a:rPr>
              <a:t>完全问题</a:t>
            </a:r>
            <a:r>
              <a:rPr lang="en-US" altLang="zh-CN" sz="2400" b="1" dirty="0" smtClean="0">
                <a:latin typeface="Times New Roman" panose="02020603050405020304" pitchFamily="18" charset="0"/>
                <a:cs typeface="Times New Roman" panose="02020603050405020304" pitchFamily="18" charset="0"/>
              </a:rPr>
              <a:t>?</a:t>
            </a:r>
            <a:endParaRPr lang="zh-CN" altLang="en-US" sz="2400" b="1" dirty="0"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p:cNvSpPr>
            <a:spLocks noGrp="1"/>
          </p:cNvSpPr>
          <p:nvPr>
            <p:ph type="title"/>
          </p:nvPr>
        </p:nvSpPr>
        <p:spPr>
          <a:xfrm>
            <a:off x="457200" y="260350"/>
            <a:ext cx="8229600" cy="1143000"/>
          </a:xfrm>
        </p:spPr>
        <p:txBody>
          <a:bodyPr/>
          <a:lstStyle/>
          <a:p>
            <a:r>
              <a:rPr lang="en-US" altLang="zh-CN" sz="4000" b="1" smtClean="0">
                <a:solidFill>
                  <a:srgbClr val="C00000"/>
                </a:solidFill>
                <a:latin typeface="Times New Roman" panose="02020603050405020304" pitchFamily="18" charset="0"/>
                <a:cs typeface="Times New Roman" panose="02020603050405020304" pitchFamily="18" charset="0"/>
              </a:rPr>
              <a:t>9.2.3 Cook-Levin</a:t>
            </a:r>
            <a:r>
              <a:rPr lang="zh-CN" altLang="en-US" sz="4000" b="1" smtClean="0">
                <a:solidFill>
                  <a:srgbClr val="C00000"/>
                </a:solidFill>
                <a:latin typeface="Times New Roman" panose="02020603050405020304" pitchFamily="18" charset="0"/>
                <a:cs typeface="Times New Roman" panose="02020603050405020304" pitchFamily="18" charset="0"/>
              </a:rPr>
              <a:t>定理</a:t>
            </a:r>
            <a:endParaRPr lang="zh-CN" altLang="en-US" sz="4000" smtClean="0">
              <a:solidFill>
                <a:srgbClr val="C00000"/>
              </a:solidFill>
              <a:latin typeface="Times New Roman" panose="02020603050405020304" pitchFamily="18" charset="0"/>
              <a:cs typeface="Times New Roman" panose="02020603050405020304" pitchFamily="18" charset="0"/>
            </a:endParaRPr>
          </a:p>
        </p:txBody>
      </p:sp>
      <p:sp>
        <p:nvSpPr>
          <p:cNvPr id="24579" name="内容占位符 2"/>
          <p:cNvSpPr>
            <a:spLocks noGrp="1"/>
          </p:cNvSpPr>
          <p:nvPr>
            <p:ph idx="1"/>
          </p:nvPr>
        </p:nvSpPr>
        <p:spPr>
          <a:xfrm>
            <a:off x="457200" y="1428750"/>
            <a:ext cx="8147050" cy="4525963"/>
          </a:xfrm>
        </p:spPr>
        <p:txBody>
          <a:bodyPr/>
          <a:lstStyle/>
          <a:p>
            <a:pPr>
              <a:buFont typeface="Arial" panose="020B0604020202020204" pitchFamily="34" charset="0"/>
              <a:buNone/>
            </a:pPr>
            <a:r>
              <a:rPr lang="zh-CN" altLang="en-US" sz="2400" b="1" smtClean="0">
                <a:solidFill>
                  <a:srgbClr val="C00000"/>
                </a:solidFill>
                <a:latin typeface="Times New Roman" panose="02020603050405020304" pitchFamily="18" charset="0"/>
                <a:cs typeface="Times New Roman" panose="02020603050405020304" pitchFamily="18" charset="0"/>
              </a:rPr>
              <a:t>合式公式  </a:t>
            </a:r>
            <a:r>
              <a:rPr lang="zh-CN" altLang="en-US" sz="2400" b="1" smtClean="0">
                <a:latin typeface="Times New Roman" panose="02020603050405020304" pitchFamily="18" charset="0"/>
                <a:cs typeface="Times New Roman" panose="02020603050405020304" pitchFamily="18" charset="0"/>
              </a:rPr>
              <a:t>是由变元</a:t>
            </a:r>
            <a:r>
              <a:rPr lang="en-US" altLang="zh-CN" sz="2400" b="1" smtClean="0">
                <a:latin typeface="Times New Roman" panose="02020603050405020304" pitchFamily="18" charset="0"/>
                <a:cs typeface="Times New Roman" panose="02020603050405020304" pitchFamily="18" charset="0"/>
              </a:rPr>
              <a:t>,</a:t>
            </a:r>
            <a:r>
              <a:rPr lang="zh-CN" altLang="en-US" sz="2400" b="1" smtClean="0">
                <a:latin typeface="Times New Roman" panose="02020603050405020304" pitchFamily="18" charset="0"/>
                <a:cs typeface="Times New Roman" panose="02020603050405020304" pitchFamily="18" charset="0"/>
              </a:rPr>
              <a:t> 逻辑运算符以及圆括号按照一定的规</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则组成的表达式</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变元和它的否定称作</a:t>
            </a:r>
            <a:r>
              <a:rPr lang="zh-CN" altLang="en-US" sz="2400" b="1" smtClean="0">
                <a:solidFill>
                  <a:srgbClr val="C00000"/>
                </a:solidFill>
                <a:latin typeface="Times New Roman" panose="02020603050405020304" pitchFamily="18" charset="0"/>
                <a:cs typeface="Times New Roman" panose="02020603050405020304" pitchFamily="18" charset="0"/>
              </a:rPr>
              <a:t>文字</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有限个文字的</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析取称作</a:t>
            </a:r>
            <a:r>
              <a:rPr lang="zh-CN" altLang="en-US" sz="2400" b="1" smtClean="0">
                <a:solidFill>
                  <a:srgbClr val="C00000"/>
                </a:solidFill>
                <a:latin typeface="Times New Roman" panose="02020603050405020304" pitchFamily="18" charset="0"/>
                <a:cs typeface="Times New Roman" panose="02020603050405020304" pitchFamily="18" charset="0"/>
              </a:rPr>
              <a:t>简单析取式</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有限个简单析取式的合取称作</a:t>
            </a:r>
            <a:r>
              <a:rPr lang="zh-CN" altLang="en-US" sz="2400" b="1" smtClean="0">
                <a:solidFill>
                  <a:srgbClr val="C00000"/>
                </a:solidFill>
                <a:latin typeface="Times New Roman" panose="02020603050405020304" pitchFamily="18" charset="0"/>
                <a:cs typeface="Times New Roman" panose="02020603050405020304" pitchFamily="18" charset="0"/>
              </a:rPr>
              <a:t>合取范</a:t>
            </a:r>
            <a:endParaRPr lang="en-US" altLang="zh-CN" sz="2400" b="1" smtClean="0">
              <a:solidFill>
                <a:srgbClr val="C00000"/>
              </a:solidFill>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solidFill>
                  <a:srgbClr val="C00000"/>
                </a:solidFill>
                <a:latin typeface="Times New Roman" panose="02020603050405020304" pitchFamily="18" charset="0"/>
                <a:cs typeface="Times New Roman" panose="02020603050405020304" pitchFamily="18" charset="0"/>
              </a:rPr>
              <a:t>式</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给定每一个变元的真假值称作一个赋值</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如果赋值 </a:t>
            </a:r>
            <a:r>
              <a:rPr lang="en-US" altLang="zh-CN" sz="2400" b="1" i="1" smtClean="0">
                <a:latin typeface="Times New Roman" panose="02020603050405020304" pitchFamily="18" charset="0"/>
                <a:cs typeface="Times New Roman" panose="02020603050405020304" pitchFamily="18" charset="0"/>
              </a:rPr>
              <a:t>t </a:t>
            </a:r>
            <a:r>
              <a:rPr lang="zh-CN" altLang="en-US" sz="2400" b="1" smtClean="0">
                <a:latin typeface="Times New Roman" panose="02020603050405020304" pitchFamily="18" charset="0"/>
                <a:cs typeface="Times New Roman" panose="02020603050405020304" pitchFamily="18" charset="0"/>
              </a:rPr>
              <a:t>使得</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合式公式 </a:t>
            </a:r>
            <a:r>
              <a:rPr lang="en-US" altLang="zh-CN" sz="2400" b="1" i="1" smtClean="0">
                <a:latin typeface="Times New Roman" panose="02020603050405020304" pitchFamily="18" charset="0"/>
                <a:cs typeface="Times New Roman" panose="02020603050405020304" pitchFamily="18" charset="0"/>
              </a:rPr>
              <a:t>F </a:t>
            </a:r>
            <a:r>
              <a:rPr lang="zh-CN" altLang="en-US" sz="2400" b="1" smtClean="0">
                <a:latin typeface="Times New Roman" panose="02020603050405020304" pitchFamily="18" charset="0"/>
                <a:cs typeface="Times New Roman" panose="02020603050405020304" pitchFamily="18" charset="0"/>
              </a:rPr>
              <a:t>为真</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则称 </a:t>
            </a:r>
            <a:r>
              <a:rPr lang="en-US" altLang="zh-CN" sz="2400" b="1" i="1" smtClean="0">
                <a:latin typeface="Times New Roman" panose="02020603050405020304" pitchFamily="18" charset="0"/>
                <a:cs typeface="Times New Roman" panose="02020603050405020304" pitchFamily="18" charset="0"/>
              </a:rPr>
              <a:t>t </a:t>
            </a:r>
            <a:r>
              <a:rPr lang="zh-CN" altLang="en-US" sz="2400" b="1" smtClean="0">
                <a:latin typeface="Times New Roman" panose="02020603050405020304" pitchFamily="18" charset="0"/>
                <a:cs typeface="Times New Roman" panose="02020603050405020304" pitchFamily="18" charset="0"/>
              </a:rPr>
              <a:t>是 </a:t>
            </a:r>
            <a:r>
              <a:rPr lang="en-US" altLang="zh-CN" sz="2400" b="1" i="1" smtClean="0">
                <a:latin typeface="Times New Roman" panose="02020603050405020304" pitchFamily="18" charset="0"/>
                <a:cs typeface="Times New Roman" panose="02020603050405020304" pitchFamily="18" charset="0"/>
              </a:rPr>
              <a:t>F </a:t>
            </a:r>
            <a:r>
              <a:rPr lang="zh-CN" altLang="en-US" sz="2400" b="1" smtClean="0">
                <a:latin typeface="Times New Roman" panose="02020603050405020304" pitchFamily="18" charset="0"/>
                <a:cs typeface="Times New Roman" panose="02020603050405020304" pitchFamily="18" charset="0"/>
              </a:rPr>
              <a:t>的</a:t>
            </a:r>
            <a:r>
              <a:rPr lang="zh-CN" altLang="en-US" sz="2400" b="1" smtClean="0">
                <a:solidFill>
                  <a:srgbClr val="C00000"/>
                </a:solidFill>
                <a:latin typeface="Times New Roman" panose="02020603050405020304" pitchFamily="18" charset="0"/>
                <a:cs typeface="Times New Roman" panose="02020603050405020304" pitchFamily="18" charset="0"/>
              </a:rPr>
              <a:t>成真赋值</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如果 </a:t>
            </a:r>
            <a:r>
              <a:rPr lang="en-US" altLang="zh-CN" sz="2400" b="1" i="1" smtClean="0">
                <a:latin typeface="Times New Roman" panose="02020603050405020304" pitchFamily="18" charset="0"/>
                <a:cs typeface="Times New Roman" panose="02020603050405020304" pitchFamily="18" charset="0"/>
              </a:rPr>
              <a:t>F </a:t>
            </a:r>
            <a:r>
              <a:rPr lang="zh-CN" altLang="en-US" sz="2400" b="1" smtClean="0">
                <a:latin typeface="Times New Roman" panose="02020603050405020304" pitchFamily="18" charset="0"/>
                <a:cs typeface="Times New Roman" panose="02020603050405020304" pitchFamily="18" charset="0"/>
              </a:rPr>
              <a:t>存在成真</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赋值</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则称 </a:t>
            </a:r>
            <a:r>
              <a:rPr lang="en-US" altLang="zh-CN" sz="2400" b="1" i="1" smtClean="0">
                <a:latin typeface="Times New Roman" panose="02020603050405020304" pitchFamily="18" charset="0"/>
                <a:cs typeface="Times New Roman" panose="02020603050405020304" pitchFamily="18" charset="0"/>
              </a:rPr>
              <a:t>F </a:t>
            </a:r>
            <a:r>
              <a:rPr lang="zh-CN" altLang="en-US" sz="2400" b="1" smtClean="0">
                <a:latin typeface="Times New Roman" panose="02020603050405020304" pitchFamily="18" charset="0"/>
                <a:cs typeface="Times New Roman" panose="02020603050405020304" pitchFamily="18" charset="0"/>
              </a:rPr>
              <a:t>是</a:t>
            </a:r>
            <a:r>
              <a:rPr lang="zh-CN" altLang="en-US" sz="2400" b="1" smtClean="0">
                <a:solidFill>
                  <a:srgbClr val="C00000"/>
                </a:solidFill>
                <a:latin typeface="Times New Roman" panose="02020603050405020304" pitchFamily="18" charset="0"/>
                <a:cs typeface="Times New Roman" panose="02020603050405020304" pitchFamily="18" charset="0"/>
              </a:rPr>
              <a:t>可满足的</a:t>
            </a:r>
            <a:r>
              <a:rPr lang="en-US" altLang="zh-CN" sz="2400" b="1" smtClean="0">
                <a:latin typeface="Times New Roman" panose="02020603050405020304" pitchFamily="18" charset="0"/>
                <a:cs typeface="Times New Roman" panose="02020603050405020304" pitchFamily="18" charset="0"/>
              </a:rPr>
              <a:t>.   </a:t>
            </a:r>
            <a:endParaRPr lang="en-US" altLang="zh-CN" sz="2400" b="1" smtClean="0">
              <a:solidFill>
                <a:srgbClr val="C00000"/>
              </a:solidFill>
              <a:latin typeface="Times New Roman" panose="02020603050405020304" pitchFamily="18" charset="0"/>
              <a:cs typeface="Times New Roman" panose="02020603050405020304" pitchFamily="18" charset="0"/>
            </a:endParaRPr>
          </a:p>
          <a:p>
            <a:pPr>
              <a:spcBef>
                <a:spcPts val="2400"/>
              </a:spcBef>
              <a:buFont typeface="Arial" panose="020B0604020202020204" pitchFamily="34" charset="0"/>
              <a:buNone/>
            </a:pPr>
            <a:r>
              <a:rPr lang="zh-CN" altLang="en-US" sz="2400" b="1" smtClean="0">
                <a:solidFill>
                  <a:srgbClr val="C00000"/>
                </a:solidFill>
                <a:latin typeface="Times New Roman" panose="02020603050405020304" pitchFamily="18" charset="0"/>
                <a:cs typeface="Times New Roman" panose="02020603050405020304" pitchFamily="18" charset="0"/>
              </a:rPr>
              <a:t>例如   </a:t>
            </a:r>
            <a:r>
              <a:rPr lang="en-US" altLang="zh-CN" sz="2400" b="1" i="1" smtClean="0">
                <a:latin typeface="Times New Roman" panose="02020603050405020304" pitchFamily="18" charset="0"/>
                <a:cs typeface="Times New Roman" panose="02020603050405020304" pitchFamily="18" charset="0"/>
              </a:rPr>
              <a:t>F</a:t>
            </a:r>
            <a:r>
              <a:rPr lang="en-US" altLang="zh-CN" sz="2400" b="1" baseline="-25000" smtClean="0">
                <a:latin typeface="Times New Roman" panose="02020603050405020304" pitchFamily="18" charset="0"/>
                <a:cs typeface="Times New Roman" panose="02020603050405020304" pitchFamily="18" charset="0"/>
              </a:rPr>
              <a:t>1</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 x</a:t>
            </a:r>
            <a:r>
              <a:rPr lang="en-US" altLang="zh-CN" sz="2400" b="1" baseline="-25000" smtClean="0">
                <a:latin typeface="Times New Roman" panose="02020603050405020304" pitchFamily="18" charset="0"/>
                <a:cs typeface="Times New Roman" panose="02020603050405020304" pitchFamily="18" charset="0"/>
              </a:rPr>
              <a:t>1</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 x</a:t>
            </a:r>
            <a:r>
              <a:rPr lang="en-US" altLang="zh-CN" sz="2400" b="1" baseline="-25000" smtClean="0">
                <a:latin typeface="Times New Roman" panose="02020603050405020304" pitchFamily="18" charset="0"/>
                <a:cs typeface="Times New Roman" panose="02020603050405020304" pitchFamily="18" charset="0"/>
              </a:rPr>
              <a:t>2</a:t>
            </a:r>
            <a:r>
              <a:rPr lang="en-US" altLang="zh-CN" sz="2400" b="1" smtClean="0">
                <a:latin typeface="Times New Roman" panose="02020603050405020304" pitchFamily="18" charset="0"/>
                <a:cs typeface="Times New Roman" panose="02020603050405020304" pitchFamily="18" charset="0"/>
              </a:rPr>
              <a:t>)</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 x</a:t>
            </a:r>
            <a:r>
              <a:rPr lang="en-US" altLang="zh-CN" sz="2400" b="1" baseline="-25000" smtClean="0">
                <a:latin typeface="Times New Roman" panose="02020603050405020304" pitchFamily="18" charset="0"/>
                <a:cs typeface="Times New Roman" panose="02020603050405020304" pitchFamily="18" charset="0"/>
              </a:rPr>
              <a:t>1</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 x</a:t>
            </a:r>
            <a:r>
              <a:rPr lang="en-US" altLang="zh-CN" sz="2400" b="1" baseline="-25000" smtClean="0">
                <a:latin typeface="Times New Roman" panose="02020603050405020304" pitchFamily="18" charset="0"/>
                <a:cs typeface="Times New Roman" panose="02020603050405020304" pitchFamily="18" charset="0"/>
              </a:rPr>
              <a:t>2</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 x</a:t>
            </a:r>
            <a:r>
              <a:rPr lang="en-US" altLang="zh-CN" sz="2400" b="1" baseline="-25000" smtClean="0">
                <a:latin typeface="Times New Roman" panose="02020603050405020304" pitchFamily="18" charset="0"/>
                <a:cs typeface="Times New Roman" panose="02020603050405020304" pitchFamily="18" charset="0"/>
              </a:rPr>
              <a:t>3</a:t>
            </a:r>
            <a:r>
              <a:rPr lang="en-US" altLang="zh-CN" sz="2400" b="1" smtClean="0">
                <a:latin typeface="Times New Roman" panose="02020603050405020304" pitchFamily="18" charset="0"/>
                <a:cs typeface="Times New Roman" panose="02020603050405020304" pitchFamily="18" charset="0"/>
              </a:rPr>
              <a:t>)</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x</a:t>
            </a:r>
            <a:r>
              <a:rPr lang="en-US" altLang="zh-CN" sz="2400" b="1" baseline="-25000" smtClean="0">
                <a:latin typeface="Times New Roman" panose="02020603050405020304" pitchFamily="18" charset="0"/>
                <a:cs typeface="Times New Roman" panose="02020603050405020304" pitchFamily="18" charset="0"/>
              </a:rPr>
              <a:t>2   </a:t>
            </a:r>
            <a:r>
              <a:rPr lang="zh-CN" altLang="en-US" sz="2400" b="1" smtClean="0">
                <a:latin typeface="Times New Roman" panose="02020603050405020304" pitchFamily="18" charset="0"/>
                <a:cs typeface="Times New Roman" panose="02020603050405020304" pitchFamily="18" charset="0"/>
              </a:rPr>
              <a:t>是一个合取范式</a:t>
            </a:r>
            <a:r>
              <a:rPr lang="en-US" altLang="zh-CN" sz="2400" b="1" smtClean="0">
                <a:latin typeface="Times New Roman" panose="02020603050405020304" pitchFamily="18" charset="0"/>
                <a:cs typeface="Times New Roman" panose="02020603050405020304" pitchFamily="18" charset="0"/>
              </a:rPr>
              <a:t>. </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令 </a:t>
            </a:r>
            <a:r>
              <a:rPr lang="en-US" altLang="zh-CN" sz="2400" b="1" i="1" smtClean="0">
                <a:latin typeface="Times New Roman" panose="02020603050405020304" pitchFamily="18" charset="0"/>
                <a:cs typeface="Times New Roman" panose="02020603050405020304" pitchFamily="18" charset="0"/>
              </a:rPr>
              <a:t>t</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x</a:t>
            </a:r>
            <a:r>
              <a:rPr lang="en-US" altLang="zh-CN" sz="2400" b="1" baseline="-25000" smtClean="0">
                <a:latin typeface="Times New Roman" panose="02020603050405020304" pitchFamily="18" charset="0"/>
                <a:cs typeface="Times New Roman" panose="02020603050405020304" pitchFamily="18" charset="0"/>
              </a:rPr>
              <a:t>1</a:t>
            </a:r>
            <a:r>
              <a:rPr lang="en-US" altLang="zh-CN" sz="2400" b="1" smtClean="0">
                <a:latin typeface="Times New Roman" panose="02020603050405020304" pitchFamily="18" charset="0"/>
                <a:cs typeface="Times New Roman" panose="02020603050405020304" pitchFamily="18" charset="0"/>
              </a:rPr>
              <a:t>)=1, </a:t>
            </a:r>
            <a:r>
              <a:rPr lang="en-US" altLang="zh-CN" sz="2400" b="1" i="1" smtClean="0">
                <a:latin typeface="Times New Roman" panose="02020603050405020304" pitchFamily="18" charset="0"/>
                <a:cs typeface="Times New Roman" panose="02020603050405020304" pitchFamily="18" charset="0"/>
              </a:rPr>
              <a:t>t</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x</a:t>
            </a:r>
            <a:r>
              <a:rPr lang="en-US" altLang="zh-CN" sz="2400" b="1" baseline="-25000" smtClean="0">
                <a:latin typeface="Times New Roman" panose="02020603050405020304" pitchFamily="18" charset="0"/>
                <a:cs typeface="Times New Roman" panose="02020603050405020304" pitchFamily="18" charset="0"/>
              </a:rPr>
              <a:t>2</a:t>
            </a:r>
            <a:r>
              <a:rPr lang="en-US" altLang="zh-CN" sz="2400" b="1" smtClean="0">
                <a:latin typeface="Times New Roman" panose="02020603050405020304" pitchFamily="18" charset="0"/>
                <a:cs typeface="Times New Roman" panose="02020603050405020304" pitchFamily="18" charset="0"/>
              </a:rPr>
              <a:t>)=0, </a:t>
            </a:r>
            <a:r>
              <a:rPr lang="en-US" altLang="zh-CN" sz="2400" b="1" i="1" smtClean="0">
                <a:latin typeface="Times New Roman" panose="02020603050405020304" pitchFamily="18" charset="0"/>
                <a:cs typeface="Times New Roman" panose="02020603050405020304" pitchFamily="18" charset="0"/>
              </a:rPr>
              <a:t>t</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x</a:t>
            </a:r>
            <a:r>
              <a:rPr lang="en-US" altLang="zh-CN" sz="2400" b="1" baseline="-25000" smtClean="0">
                <a:latin typeface="Times New Roman" panose="02020603050405020304" pitchFamily="18" charset="0"/>
                <a:cs typeface="Times New Roman" panose="02020603050405020304" pitchFamily="18" charset="0"/>
              </a:rPr>
              <a:t>3</a:t>
            </a:r>
            <a:r>
              <a:rPr lang="en-US" altLang="zh-CN" sz="2400" b="1" smtClean="0">
                <a:latin typeface="Times New Roman" panose="02020603050405020304" pitchFamily="18" charset="0"/>
                <a:cs typeface="Times New Roman" panose="02020603050405020304" pitchFamily="18" charset="0"/>
              </a:rPr>
              <a:t>)=1</a:t>
            </a:r>
            <a:r>
              <a:rPr lang="zh-CN" altLang="en-US" sz="2400" b="1" smtClean="0">
                <a:latin typeface="Times New Roman" panose="02020603050405020304" pitchFamily="18" charset="0"/>
                <a:cs typeface="Times New Roman" panose="02020603050405020304" pitchFamily="18" charset="0"/>
              </a:rPr>
              <a:t>是</a:t>
            </a:r>
            <a:r>
              <a:rPr lang="en-US" altLang="zh-CN" sz="2400" b="1" i="1" smtClean="0">
                <a:latin typeface="Times New Roman" panose="02020603050405020304" pitchFamily="18" charset="0"/>
                <a:cs typeface="Times New Roman" panose="02020603050405020304" pitchFamily="18" charset="0"/>
              </a:rPr>
              <a:t>F</a:t>
            </a:r>
            <a:r>
              <a:rPr lang="en-US" altLang="zh-CN" sz="2400" b="1" baseline="-25000" smtClean="0">
                <a:latin typeface="Times New Roman" panose="02020603050405020304" pitchFamily="18" charset="0"/>
                <a:cs typeface="Times New Roman" panose="02020603050405020304" pitchFamily="18" charset="0"/>
              </a:rPr>
              <a:t>1</a:t>
            </a:r>
            <a:r>
              <a:rPr lang="zh-CN" altLang="en-US" sz="2400" b="1" smtClean="0">
                <a:latin typeface="Times New Roman" panose="02020603050405020304" pitchFamily="18" charset="0"/>
                <a:cs typeface="Times New Roman" panose="02020603050405020304" pitchFamily="18" charset="0"/>
              </a:rPr>
              <a:t>的成真赋值</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F</a:t>
            </a:r>
            <a:r>
              <a:rPr lang="en-US" altLang="zh-CN" sz="2400" b="1" baseline="-25000" smtClean="0">
                <a:latin typeface="Times New Roman" panose="02020603050405020304" pitchFamily="18" charset="0"/>
                <a:cs typeface="Times New Roman" panose="02020603050405020304" pitchFamily="18" charset="0"/>
              </a:rPr>
              <a:t>1</a:t>
            </a:r>
            <a:r>
              <a:rPr lang="zh-CN" altLang="en-US" sz="2400" b="1" smtClean="0">
                <a:latin typeface="Times New Roman" panose="02020603050405020304" pitchFamily="18" charset="0"/>
                <a:cs typeface="Times New Roman" panose="02020603050405020304" pitchFamily="18" charset="0"/>
              </a:rPr>
              <a:t>是可满足的</a:t>
            </a:r>
            <a:r>
              <a:rPr lang="en-US" altLang="zh-CN" sz="2400" b="1" smtClean="0">
                <a:latin typeface="Times New Roman" panose="02020603050405020304" pitchFamily="18" charset="0"/>
                <a:cs typeface="Times New Roman" panose="02020603050405020304" pitchFamily="18" charset="0"/>
              </a:rPr>
              <a:t>.</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i="1" smtClean="0">
                <a:latin typeface="Times New Roman" panose="02020603050405020304" pitchFamily="18" charset="0"/>
                <a:cs typeface="Times New Roman" panose="02020603050405020304" pitchFamily="18" charset="0"/>
              </a:rPr>
              <a:t>F</a:t>
            </a:r>
            <a:r>
              <a:rPr lang="en-US" altLang="zh-CN" sz="2400" b="1" baseline="-25000" smtClean="0">
                <a:latin typeface="Times New Roman" panose="02020603050405020304" pitchFamily="18" charset="0"/>
                <a:cs typeface="Times New Roman" panose="02020603050405020304" pitchFamily="18" charset="0"/>
              </a:rPr>
              <a:t>2</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 x</a:t>
            </a:r>
            <a:r>
              <a:rPr lang="en-US" altLang="zh-CN" sz="2400" b="1" baseline="-25000" smtClean="0">
                <a:latin typeface="Times New Roman" panose="02020603050405020304" pitchFamily="18" charset="0"/>
                <a:cs typeface="Times New Roman" panose="02020603050405020304" pitchFamily="18" charset="0"/>
              </a:rPr>
              <a:t>1</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x</a:t>
            </a:r>
            <a:r>
              <a:rPr lang="en-US" altLang="zh-CN" sz="2400" b="1" baseline="-25000" smtClean="0">
                <a:latin typeface="Times New Roman" panose="02020603050405020304" pitchFamily="18" charset="0"/>
                <a:cs typeface="Times New Roman" panose="02020603050405020304" pitchFamily="18" charset="0"/>
              </a:rPr>
              <a:t>2</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 x</a:t>
            </a:r>
            <a:r>
              <a:rPr lang="en-US" altLang="zh-CN" sz="2400" b="1" baseline="-25000" smtClean="0">
                <a:latin typeface="Times New Roman" panose="02020603050405020304" pitchFamily="18" charset="0"/>
                <a:cs typeface="Times New Roman" panose="02020603050405020304" pitchFamily="18" charset="0"/>
              </a:rPr>
              <a:t>3</a:t>
            </a:r>
            <a:r>
              <a:rPr lang="en-US" altLang="zh-CN" sz="2400" b="1" smtClean="0">
                <a:latin typeface="Times New Roman" panose="02020603050405020304" pitchFamily="18" charset="0"/>
                <a:cs typeface="Times New Roman" panose="02020603050405020304" pitchFamily="18" charset="0"/>
              </a:rPr>
              <a:t>)</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 x</a:t>
            </a:r>
            <a:r>
              <a:rPr lang="en-US" altLang="zh-CN" sz="2400" b="1" baseline="-25000" smtClean="0">
                <a:latin typeface="Times New Roman" panose="02020603050405020304" pitchFamily="18" charset="0"/>
                <a:cs typeface="Times New Roman" panose="02020603050405020304" pitchFamily="18" charset="0"/>
              </a:rPr>
              <a:t>1</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x</a:t>
            </a:r>
            <a:r>
              <a:rPr lang="en-US" altLang="zh-CN" sz="2400" b="1" baseline="-25000" smtClean="0">
                <a:latin typeface="Times New Roman" panose="02020603050405020304" pitchFamily="18" charset="0"/>
                <a:cs typeface="Times New Roman" panose="02020603050405020304" pitchFamily="18" charset="0"/>
              </a:rPr>
              <a:t>2</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 x</a:t>
            </a:r>
            <a:r>
              <a:rPr lang="en-US" altLang="zh-CN" sz="2400" b="1" baseline="-25000" smtClean="0">
                <a:latin typeface="Times New Roman" panose="02020603050405020304" pitchFamily="18" charset="0"/>
                <a:cs typeface="Times New Roman" panose="02020603050405020304" pitchFamily="18" charset="0"/>
              </a:rPr>
              <a:t>3</a:t>
            </a:r>
            <a:r>
              <a:rPr lang="en-US" altLang="zh-CN" sz="2400" b="1" smtClean="0">
                <a:latin typeface="Times New Roman" panose="02020603050405020304" pitchFamily="18" charset="0"/>
                <a:cs typeface="Times New Roman" panose="02020603050405020304" pitchFamily="18" charset="0"/>
              </a:rPr>
              <a:t>)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 x</a:t>
            </a:r>
            <a:r>
              <a:rPr lang="en-US" altLang="zh-CN" sz="2400" b="1" baseline="-25000" smtClean="0">
                <a:latin typeface="Times New Roman" panose="02020603050405020304" pitchFamily="18" charset="0"/>
                <a:cs typeface="Times New Roman" panose="02020603050405020304" pitchFamily="18" charset="0"/>
              </a:rPr>
              <a:t>2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x</a:t>
            </a:r>
            <a:r>
              <a:rPr lang="en-US" altLang="zh-CN" sz="2400" b="1" baseline="-25000" smtClean="0">
                <a:latin typeface="Times New Roman" panose="02020603050405020304" pitchFamily="18" charset="0"/>
                <a:cs typeface="Times New Roman" panose="02020603050405020304" pitchFamily="18" charset="0"/>
              </a:rPr>
              <a:t>3</a:t>
            </a:r>
            <a:r>
              <a:rPr lang="zh-CN" altLang="en-US" sz="2400" b="1" smtClean="0">
                <a:latin typeface="Times New Roman" panose="02020603050405020304" pitchFamily="18" charset="0"/>
                <a:cs typeface="Times New Roman" panose="02020603050405020304" pitchFamily="18" charset="0"/>
              </a:rPr>
              <a:t>不是可满足的</a:t>
            </a:r>
            <a:r>
              <a:rPr lang="en-US" altLang="zh-CN" sz="2400" b="1" smtClean="0">
                <a:latin typeface="Times New Roman" panose="02020603050405020304" pitchFamily="18" charset="0"/>
                <a:cs typeface="Times New Roman" panose="02020603050405020304" pitchFamily="18" charset="0"/>
              </a:rPr>
              <a:t>.</a:t>
            </a:r>
            <a:endParaRPr lang="zh-CN" altLang="en-US" sz="2400" b="1"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p:nvPr>
        </p:nvSpPr>
        <p:spPr/>
        <p:txBody>
          <a:bodyPr/>
          <a:lstStyle/>
          <a:p>
            <a:r>
              <a:rPr lang="en-US" altLang="zh-CN" sz="4000" b="1" smtClean="0">
                <a:solidFill>
                  <a:srgbClr val="C00000"/>
                </a:solidFill>
                <a:latin typeface="Times New Roman" panose="02020603050405020304" pitchFamily="18" charset="0"/>
                <a:cs typeface="Times New Roman" panose="02020603050405020304" pitchFamily="18" charset="0"/>
              </a:rPr>
              <a:t>Cook-Levin</a:t>
            </a:r>
            <a:r>
              <a:rPr lang="zh-CN" altLang="en-US" sz="4000" b="1" smtClean="0">
                <a:solidFill>
                  <a:srgbClr val="C00000"/>
                </a:solidFill>
                <a:latin typeface="Times New Roman" panose="02020603050405020304" pitchFamily="18" charset="0"/>
                <a:cs typeface="Times New Roman" panose="02020603050405020304" pitchFamily="18" charset="0"/>
              </a:rPr>
              <a:t>定理</a:t>
            </a:r>
            <a:endParaRPr lang="zh-CN" altLang="en-US" sz="4000" smtClean="0">
              <a:solidFill>
                <a:srgbClr val="C00000"/>
              </a:solidFill>
              <a:latin typeface="Times New Roman" panose="02020603050405020304" pitchFamily="18" charset="0"/>
              <a:cs typeface="Times New Roman" panose="02020603050405020304" pitchFamily="18" charset="0"/>
            </a:endParaRPr>
          </a:p>
        </p:txBody>
      </p:sp>
      <p:sp>
        <p:nvSpPr>
          <p:cNvPr id="25603" name="内容占位符 2"/>
          <p:cNvSpPr>
            <a:spLocks noGrp="1"/>
          </p:cNvSpPr>
          <p:nvPr>
            <p:ph idx="1"/>
          </p:nvPr>
        </p:nvSpPr>
        <p:spPr/>
        <p:txBody>
          <a:bodyPr/>
          <a:lstStyle/>
          <a:p>
            <a:pPr>
              <a:buFont typeface="Arial" panose="020B0604020202020204" pitchFamily="34" charset="0"/>
              <a:buNone/>
            </a:pPr>
            <a:r>
              <a:rPr lang="zh-CN" altLang="en-US" sz="2400" b="1" smtClean="0">
                <a:solidFill>
                  <a:srgbClr val="C00000"/>
                </a:solidFill>
                <a:latin typeface="Times New Roman" panose="02020603050405020304" pitchFamily="18" charset="0"/>
                <a:cs typeface="Times New Roman" panose="02020603050405020304" pitchFamily="18" charset="0"/>
              </a:rPr>
              <a:t>可满足性 </a:t>
            </a:r>
            <a:r>
              <a:rPr lang="en-US" altLang="zh-CN" sz="2400" b="1" smtClean="0">
                <a:latin typeface="Times New Roman" panose="02020603050405020304" pitchFamily="18" charset="0"/>
                <a:cs typeface="Times New Roman" panose="02020603050405020304" pitchFamily="18" charset="0"/>
              </a:rPr>
              <a:t>(SAT): </a:t>
            </a:r>
            <a:r>
              <a:rPr lang="zh-CN" altLang="en-US" sz="2400" b="1" smtClean="0">
                <a:latin typeface="Times New Roman" panose="02020603050405020304" pitchFamily="18" charset="0"/>
                <a:cs typeface="Times New Roman" panose="02020603050405020304" pitchFamily="18" charset="0"/>
              </a:rPr>
              <a:t>任给一个合取范式 </a:t>
            </a:r>
            <a:r>
              <a:rPr lang="en-US" altLang="zh-CN" sz="2400" b="1" i="1" smtClean="0">
                <a:latin typeface="Times New Roman" panose="02020603050405020304" pitchFamily="18" charset="0"/>
                <a:cs typeface="Times New Roman" panose="02020603050405020304" pitchFamily="18" charset="0"/>
              </a:rPr>
              <a:t>F</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问 </a:t>
            </a:r>
            <a:r>
              <a:rPr lang="en-US" altLang="zh-CN" sz="2400" b="1" i="1" smtClean="0">
                <a:latin typeface="Times New Roman" panose="02020603050405020304" pitchFamily="18" charset="0"/>
                <a:cs typeface="Times New Roman" panose="02020603050405020304" pitchFamily="18" charset="0"/>
              </a:rPr>
              <a:t>F</a:t>
            </a:r>
            <a:r>
              <a:rPr lang="zh-CN" altLang="en-US" sz="2400" b="1" smtClean="0">
                <a:latin typeface="Times New Roman" panose="02020603050405020304" pitchFamily="18" charset="0"/>
                <a:cs typeface="Times New Roman" panose="02020603050405020304" pitchFamily="18" charset="0"/>
              </a:rPr>
              <a:t>是可满足的吗</a:t>
            </a:r>
            <a:r>
              <a:rPr lang="en-US" altLang="zh-CN" sz="2400" b="1" smtClean="0">
                <a:latin typeface="Times New Roman" panose="02020603050405020304" pitchFamily="18" charset="0"/>
                <a:cs typeface="Times New Roman" panose="02020603050405020304" pitchFamily="18" charset="0"/>
              </a:rPr>
              <a:t>?</a:t>
            </a:r>
            <a:endParaRPr lang="zh-CN" altLang="en-US"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endParaRPr lang="en-US" altLang="zh-CN" sz="2400" b="1" smtClean="0">
              <a:solidFill>
                <a:srgbClr val="C00000"/>
              </a:solidFill>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solidFill>
                  <a:srgbClr val="C00000"/>
                </a:solidFill>
                <a:latin typeface="Times New Roman" panose="02020603050405020304" pitchFamily="18" charset="0"/>
                <a:cs typeface="Times New Roman" panose="02020603050405020304" pitchFamily="18" charset="0"/>
              </a:rPr>
              <a:t>定理 </a:t>
            </a:r>
            <a:r>
              <a:rPr lang="en-US" altLang="zh-CN" sz="2400" b="1" smtClean="0">
                <a:solidFill>
                  <a:srgbClr val="C00000"/>
                </a:solidFill>
                <a:latin typeface="Times New Roman" panose="02020603050405020304" pitchFamily="18" charset="0"/>
                <a:cs typeface="Times New Roman" panose="02020603050405020304" pitchFamily="18" charset="0"/>
              </a:rPr>
              <a:t>9.6  </a:t>
            </a:r>
            <a:r>
              <a:rPr lang="en-US" altLang="zh-CN" sz="2400" b="1" smtClean="0">
                <a:latin typeface="Times New Roman" panose="02020603050405020304" pitchFamily="18" charset="0"/>
                <a:cs typeface="Times New Roman" panose="02020603050405020304" pitchFamily="18" charset="0"/>
              </a:rPr>
              <a:t>(Cook-Levin</a:t>
            </a:r>
            <a:r>
              <a:rPr lang="zh-CN" altLang="en-US" sz="2400" b="1" smtClean="0">
                <a:latin typeface="Times New Roman" panose="02020603050405020304" pitchFamily="18" charset="0"/>
                <a:cs typeface="Times New Roman" panose="02020603050405020304" pitchFamily="18" charset="0"/>
              </a:rPr>
              <a:t>定理</a:t>
            </a:r>
            <a:r>
              <a:rPr lang="en-US" altLang="zh-CN" sz="2400" b="1" smtClean="0">
                <a:latin typeface="Times New Roman" panose="02020603050405020304" pitchFamily="18" charset="0"/>
                <a:cs typeface="Times New Roman" panose="02020603050405020304" pitchFamily="18" charset="0"/>
              </a:rPr>
              <a:t>) SAT </a:t>
            </a:r>
            <a:r>
              <a:rPr lang="zh-CN" altLang="en-US" sz="2400" b="1" smtClean="0">
                <a:latin typeface="Times New Roman" panose="02020603050405020304" pitchFamily="18" charset="0"/>
                <a:cs typeface="Times New Roman" panose="02020603050405020304" pitchFamily="18" charset="0"/>
              </a:rPr>
              <a:t>是 </a:t>
            </a:r>
            <a:r>
              <a:rPr lang="en-US" altLang="zh-CN" sz="2400" b="1" smtClean="0">
                <a:latin typeface="Times New Roman" panose="02020603050405020304" pitchFamily="18" charset="0"/>
                <a:cs typeface="Times New Roman" panose="02020603050405020304" pitchFamily="18" charset="0"/>
              </a:rPr>
              <a:t>NP</a:t>
            </a:r>
            <a:r>
              <a:rPr lang="zh-CN" altLang="en-US" sz="2400" b="1" smtClean="0">
                <a:latin typeface="Times New Roman" panose="02020603050405020304" pitchFamily="18" charset="0"/>
                <a:cs typeface="Times New Roman" panose="02020603050405020304" pitchFamily="18" charset="0"/>
              </a:rPr>
              <a:t>完全的</a:t>
            </a:r>
            <a:r>
              <a:rPr lang="en-US" altLang="zh-CN" sz="2400" b="1" smtClean="0">
                <a:latin typeface="Times New Roman" panose="02020603050405020304" pitchFamily="18" charset="0"/>
                <a:cs typeface="Times New Roman" panose="02020603050405020304" pitchFamily="18" charset="0"/>
              </a:rPr>
              <a:t>.</a:t>
            </a:r>
            <a:endParaRPr lang="zh-CN" altLang="en-US"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endParaRPr lang="en-US" altLang="zh-CN" sz="2400" b="1" smtClean="0">
              <a:solidFill>
                <a:srgbClr val="C00000"/>
              </a:solidFill>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solidFill>
                  <a:srgbClr val="C00000"/>
                </a:solidFill>
                <a:latin typeface="Times New Roman" panose="02020603050405020304" pitchFamily="18" charset="0"/>
                <a:cs typeface="Times New Roman" panose="02020603050405020304" pitchFamily="18" charset="0"/>
              </a:rPr>
              <a:t>定理 </a:t>
            </a:r>
            <a:r>
              <a:rPr lang="en-US" altLang="zh-CN" sz="2400" b="1" smtClean="0">
                <a:solidFill>
                  <a:srgbClr val="C00000"/>
                </a:solidFill>
                <a:latin typeface="Times New Roman" panose="02020603050405020304" pitchFamily="18" charset="0"/>
                <a:cs typeface="Times New Roman" panose="02020603050405020304" pitchFamily="18" charset="0"/>
              </a:rPr>
              <a:t>9.7</a:t>
            </a:r>
            <a:r>
              <a:rPr lang="en-US" altLang="zh-CN" sz="2400" b="1" smtClean="0">
                <a:latin typeface="Times New Roman" panose="02020603050405020304" pitchFamily="18" charset="0"/>
                <a:cs typeface="Times New Roman" panose="02020603050405020304" pitchFamily="18" charset="0"/>
              </a:rPr>
              <a:t>  P=NP</a:t>
            </a:r>
            <a:r>
              <a:rPr lang="zh-CN" altLang="en-US" sz="2400" b="1" smtClean="0">
                <a:latin typeface="Times New Roman" panose="02020603050405020304" pitchFamily="18" charset="0"/>
                <a:cs typeface="Times New Roman" panose="02020603050405020304" pitchFamily="18" charset="0"/>
              </a:rPr>
              <a:t> 充分必要条件是存在 </a:t>
            </a:r>
            <a:r>
              <a:rPr lang="en-US" altLang="zh-CN" sz="2400" b="1" smtClean="0">
                <a:latin typeface="Times New Roman" panose="02020603050405020304" pitchFamily="18" charset="0"/>
                <a:cs typeface="Times New Roman" panose="02020603050405020304" pitchFamily="18" charset="0"/>
              </a:rPr>
              <a:t>NP </a:t>
            </a:r>
            <a:r>
              <a:rPr lang="zh-CN" altLang="en-US" sz="2400" b="1" smtClean="0">
                <a:latin typeface="Times New Roman" panose="02020603050405020304" pitchFamily="18" charset="0"/>
                <a:cs typeface="Times New Roman" panose="02020603050405020304" pitchFamily="18" charset="0"/>
              </a:rPr>
              <a:t>完全问题 </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P.</a:t>
            </a:r>
            <a:endParaRPr lang="zh-CN" altLang="en-US"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endParaRPr lang="zh-CN" altLang="en-US" sz="2400" b="1"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p:txBody>
          <a:bodyPr/>
          <a:lstStyle/>
          <a:p>
            <a:r>
              <a:rPr lang="en-US" altLang="zh-CN" sz="4000" b="1" smtClean="0">
                <a:solidFill>
                  <a:srgbClr val="C00000"/>
                </a:solidFill>
                <a:latin typeface="Times New Roman" panose="02020603050405020304" pitchFamily="18" charset="0"/>
                <a:cs typeface="Times New Roman" panose="02020603050405020304" pitchFamily="18" charset="0"/>
              </a:rPr>
              <a:t>9.3 </a:t>
            </a:r>
            <a:r>
              <a:rPr lang="zh-CN" altLang="en-US" sz="4000" b="1" smtClean="0">
                <a:solidFill>
                  <a:srgbClr val="C00000"/>
                </a:solidFill>
                <a:latin typeface="Times New Roman" panose="02020603050405020304" pitchFamily="18" charset="0"/>
                <a:cs typeface="Times New Roman" panose="02020603050405020304" pitchFamily="18" charset="0"/>
              </a:rPr>
              <a:t>几个</a:t>
            </a:r>
            <a:r>
              <a:rPr lang="en-US" altLang="zh-CN" sz="4000" b="1" smtClean="0">
                <a:solidFill>
                  <a:srgbClr val="C00000"/>
                </a:solidFill>
                <a:latin typeface="Times New Roman" panose="02020603050405020304" pitchFamily="18" charset="0"/>
                <a:cs typeface="Times New Roman" panose="02020603050405020304" pitchFamily="18" charset="0"/>
              </a:rPr>
              <a:t>NP</a:t>
            </a:r>
            <a:r>
              <a:rPr lang="zh-CN" altLang="en-US" sz="4000" b="1" smtClean="0">
                <a:solidFill>
                  <a:srgbClr val="C00000"/>
                </a:solidFill>
                <a:latin typeface="Times New Roman" panose="02020603050405020304" pitchFamily="18" charset="0"/>
                <a:cs typeface="Times New Roman" panose="02020603050405020304" pitchFamily="18" charset="0"/>
              </a:rPr>
              <a:t>完全问题</a:t>
            </a:r>
            <a:endParaRPr lang="zh-CN" altLang="en-US" sz="4000" smtClean="0">
              <a:solidFill>
                <a:srgbClr val="C00000"/>
              </a:solidFill>
              <a:latin typeface="Times New Roman" panose="02020603050405020304" pitchFamily="18" charset="0"/>
              <a:cs typeface="Times New Roman" panose="02020603050405020304" pitchFamily="18" charset="0"/>
            </a:endParaRPr>
          </a:p>
        </p:txBody>
      </p:sp>
      <p:grpSp>
        <p:nvGrpSpPr>
          <p:cNvPr id="26627" name="组合 16"/>
          <p:cNvGrpSpPr/>
          <p:nvPr/>
        </p:nvGrpSpPr>
        <p:grpSpPr bwMode="auto">
          <a:xfrm>
            <a:off x="755650" y="1484313"/>
            <a:ext cx="7561263" cy="4537075"/>
            <a:chOff x="755576" y="1384284"/>
            <a:chExt cx="7561337" cy="4536504"/>
          </a:xfrm>
        </p:grpSpPr>
        <p:grpSp>
          <p:nvGrpSpPr>
            <p:cNvPr id="26628" name="组合 53"/>
            <p:cNvGrpSpPr/>
            <p:nvPr/>
          </p:nvGrpSpPr>
          <p:grpSpPr bwMode="auto">
            <a:xfrm>
              <a:off x="755576" y="1384284"/>
              <a:ext cx="7561337" cy="4536504"/>
              <a:chOff x="755370" y="1383702"/>
              <a:chExt cx="7561046" cy="4537442"/>
            </a:xfrm>
          </p:grpSpPr>
          <p:sp>
            <p:nvSpPr>
              <p:cNvPr id="26630" name="TextBox 3"/>
              <p:cNvSpPr txBox="1">
                <a:spLocks noChangeArrowheads="1"/>
              </p:cNvSpPr>
              <p:nvPr/>
            </p:nvSpPr>
            <p:spPr bwMode="auto">
              <a:xfrm>
                <a:off x="4211960" y="1383702"/>
                <a:ext cx="129614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2400" b="1">
                    <a:latin typeface="Times New Roman" panose="02020603050405020304" pitchFamily="18" charset="0"/>
                    <a:cs typeface="Times New Roman" panose="02020603050405020304" pitchFamily="18" charset="0"/>
                  </a:rPr>
                  <a:t>SAT</a:t>
                </a:r>
                <a:endParaRPr lang="zh-CN" altLang="en-US" sz="2400" b="1">
                  <a:latin typeface="Times New Roman" panose="02020603050405020304" pitchFamily="18" charset="0"/>
                  <a:cs typeface="Times New Roman" panose="02020603050405020304" pitchFamily="18" charset="0"/>
                </a:endParaRPr>
              </a:p>
            </p:txBody>
          </p:sp>
          <p:sp>
            <p:nvSpPr>
              <p:cNvPr id="26631" name="TextBox 5"/>
              <p:cNvSpPr txBox="1">
                <a:spLocks noChangeArrowheads="1"/>
              </p:cNvSpPr>
              <p:nvPr/>
            </p:nvSpPr>
            <p:spPr bwMode="auto">
              <a:xfrm>
                <a:off x="1331640" y="2247255"/>
                <a:ext cx="14401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zh-CN" altLang="en-US" sz="2400" b="1">
                    <a:latin typeface="Times New Roman" panose="02020603050405020304" pitchFamily="18" charset="0"/>
                    <a:cs typeface="Times New Roman" panose="02020603050405020304" pitchFamily="18" charset="0"/>
                  </a:rPr>
                  <a:t>恰好覆盖</a:t>
                </a:r>
                <a:endParaRPr lang="zh-CN" altLang="en-US" sz="2400" b="1">
                  <a:latin typeface="Times New Roman" panose="02020603050405020304" pitchFamily="18" charset="0"/>
                  <a:cs typeface="Times New Roman" panose="02020603050405020304" pitchFamily="18" charset="0"/>
                </a:endParaRPr>
              </a:p>
            </p:txBody>
          </p:sp>
          <p:sp>
            <p:nvSpPr>
              <p:cNvPr id="26632" name="TextBox 6"/>
              <p:cNvSpPr txBox="1">
                <a:spLocks noChangeArrowheads="1"/>
              </p:cNvSpPr>
              <p:nvPr/>
            </p:nvSpPr>
            <p:spPr bwMode="auto">
              <a:xfrm>
                <a:off x="4139952" y="2276872"/>
                <a:ext cx="129614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2400" b="1">
                    <a:latin typeface="Times New Roman" panose="02020603050405020304" pitchFamily="18" charset="0"/>
                    <a:cs typeface="Times New Roman" panose="02020603050405020304" pitchFamily="18" charset="0"/>
                  </a:rPr>
                  <a:t>3SAT</a:t>
                </a:r>
                <a:endParaRPr lang="zh-CN" altLang="en-US" sz="2400" b="1">
                  <a:latin typeface="Times New Roman" panose="02020603050405020304" pitchFamily="18" charset="0"/>
                  <a:cs typeface="Times New Roman" panose="02020603050405020304" pitchFamily="18" charset="0"/>
                </a:endParaRPr>
              </a:p>
            </p:txBody>
          </p:sp>
          <p:sp>
            <p:nvSpPr>
              <p:cNvPr id="26633" name="TextBox 7"/>
              <p:cNvSpPr txBox="1">
                <a:spLocks noChangeArrowheads="1"/>
              </p:cNvSpPr>
              <p:nvPr/>
            </p:nvSpPr>
            <p:spPr bwMode="auto">
              <a:xfrm>
                <a:off x="6228184" y="2276872"/>
                <a:ext cx="208823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zh-CN" altLang="en-US" sz="2400" b="1">
                    <a:latin typeface="Times New Roman" panose="02020603050405020304" pitchFamily="18" charset="0"/>
                    <a:cs typeface="Times New Roman" panose="02020603050405020304" pitchFamily="18" charset="0"/>
                  </a:rPr>
                  <a:t>最大可满足性</a:t>
                </a:r>
                <a:endParaRPr lang="zh-CN" altLang="en-US" sz="2400" b="1">
                  <a:latin typeface="Times New Roman" panose="02020603050405020304" pitchFamily="18" charset="0"/>
                  <a:cs typeface="Times New Roman" panose="02020603050405020304" pitchFamily="18" charset="0"/>
                </a:endParaRPr>
              </a:p>
            </p:txBody>
          </p:sp>
          <p:sp>
            <p:nvSpPr>
              <p:cNvPr id="26634" name="TextBox 8"/>
              <p:cNvSpPr txBox="1">
                <a:spLocks noChangeArrowheads="1"/>
              </p:cNvSpPr>
              <p:nvPr/>
            </p:nvSpPr>
            <p:spPr bwMode="auto">
              <a:xfrm>
                <a:off x="1475656" y="3356992"/>
                <a:ext cx="115212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zh-CN" altLang="en-US" sz="2400" b="1">
                    <a:latin typeface="Times New Roman" panose="02020603050405020304" pitchFamily="18" charset="0"/>
                    <a:cs typeface="Times New Roman" panose="02020603050405020304" pitchFamily="18" charset="0"/>
                  </a:rPr>
                  <a:t>子集和</a:t>
                </a:r>
                <a:endParaRPr lang="zh-CN" altLang="en-US" sz="2400" b="1">
                  <a:latin typeface="Times New Roman" panose="02020603050405020304" pitchFamily="18" charset="0"/>
                  <a:cs typeface="Times New Roman" panose="02020603050405020304" pitchFamily="18" charset="0"/>
                </a:endParaRPr>
              </a:p>
            </p:txBody>
          </p:sp>
          <p:sp>
            <p:nvSpPr>
              <p:cNvPr id="26635" name="TextBox 9"/>
              <p:cNvSpPr txBox="1">
                <a:spLocks noChangeArrowheads="1"/>
              </p:cNvSpPr>
              <p:nvPr/>
            </p:nvSpPr>
            <p:spPr bwMode="auto">
              <a:xfrm>
                <a:off x="3707556" y="3356818"/>
                <a:ext cx="7200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2400" b="1">
                    <a:latin typeface="Times New Roman" panose="02020603050405020304" pitchFamily="18" charset="0"/>
                    <a:cs typeface="Times New Roman" panose="02020603050405020304" pitchFamily="18" charset="0"/>
                  </a:rPr>
                  <a:t>VC</a:t>
                </a:r>
                <a:endParaRPr lang="zh-CN" altLang="en-US" sz="2400" b="1">
                  <a:latin typeface="Times New Roman" panose="02020603050405020304" pitchFamily="18" charset="0"/>
                  <a:cs typeface="Times New Roman" panose="02020603050405020304" pitchFamily="18" charset="0"/>
                </a:endParaRPr>
              </a:p>
            </p:txBody>
          </p:sp>
          <p:sp>
            <p:nvSpPr>
              <p:cNvPr id="26636" name="TextBox 10"/>
              <p:cNvSpPr txBox="1">
                <a:spLocks noChangeArrowheads="1"/>
              </p:cNvSpPr>
              <p:nvPr/>
            </p:nvSpPr>
            <p:spPr bwMode="auto">
              <a:xfrm>
                <a:off x="4644008" y="3399383"/>
                <a:ext cx="136815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zh-CN" altLang="en-US" sz="2400" b="1">
                    <a:latin typeface="Times New Roman" panose="02020603050405020304" pitchFamily="18" charset="0"/>
                    <a:cs typeface="Times New Roman" panose="02020603050405020304" pitchFamily="18" charset="0"/>
                  </a:rPr>
                  <a:t>有向</a:t>
                </a:r>
                <a:r>
                  <a:rPr lang="en-US" altLang="zh-CN" sz="2400" b="1">
                    <a:latin typeface="Times New Roman" panose="02020603050405020304" pitchFamily="18" charset="0"/>
                    <a:cs typeface="Times New Roman" panose="02020603050405020304" pitchFamily="18" charset="0"/>
                  </a:rPr>
                  <a:t>HC</a:t>
                </a:r>
                <a:endParaRPr lang="zh-CN" altLang="en-US" sz="2400" b="1">
                  <a:latin typeface="Times New Roman" panose="02020603050405020304" pitchFamily="18" charset="0"/>
                  <a:cs typeface="Times New Roman" panose="02020603050405020304" pitchFamily="18" charset="0"/>
                </a:endParaRPr>
              </a:p>
            </p:txBody>
          </p:sp>
          <p:sp>
            <p:nvSpPr>
              <p:cNvPr id="26637" name="TextBox 11"/>
              <p:cNvSpPr txBox="1">
                <a:spLocks noChangeArrowheads="1"/>
              </p:cNvSpPr>
              <p:nvPr/>
            </p:nvSpPr>
            <p:spPr bwMode="auto">
              <a:xfrm>
                <a:off x="5004048" y="4407495"/>
                <a:ext cx="6480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2400" b="1">
                    <a:latin typeface="Times New Roman" panose="02020603050405020304" pitchFamily="18" charset="0"/>
                    <a:cs typeface="Times New Roman" panose="02020603050405020304" pitchFamily="18" charset="0"/>
                  </a:rPr>
                  <a:t>HC</a:t>
                </a:r>
                <a:endParaRPr lang="zh-CN" altLang="en-US" sz="2400" b="1">
                  <a:latin typeface="Times New Roman" panose="02020603050405020304" pitchFamily="18" charset="0"/>
                  <a:cs typeface="Times New Roman" panose="02020603050405020304" pitchFamily="18" charset="0"/>
                </a:endParaRPr>
              </a:p>
            </p:txBody>
          </p:sp>
          <p:sp>
            <p:nvSpPr>
              <p:cNvPr id="26638" name="TextBox 12"/>
              <p:cNvSpPr txBox="1">
                <a:spLocks noChangeArrowheads="1"/>
              </p:cNvSpPr>
              <p:nvPr/>
            </p:nvSpPr>
            <p:spPr bwMode="auto">
              <a:xfrm>
                <a:off x="3347864" y="4407495"/>
                <a:ext cx="129614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zh-CN" altLang="en-US" sz="2400" b="1">
                    <a:latin typeface="Times New Roman" panose="02020603050405020304" pitchFamily="18" charset="0"/>
                    <a:cs typeface="Times New Roman" panose="02020603050405020304" pitchFamily="18" charset="0"/>
                  </a:rPr>
                  <a:t>独立集</a:t>
                </a:r>
                <a:endParaRPr lang="zh-CN" altLang="en-US" sz="2400" b="1">
                  <a:latin typeface="Times New Roman" panose="02020603050405020304" pitchFamily="18" charset="0"/>
                  <a:cs typeface="Times New Roman" panose="02020603050405020304" pitchFamily="18" charset="0"/>
                </a:endParaRPr>
              </a:p>
            </p:txBody>
          </p:sp>
          <p:sp>
            <p:nvSpPr>
              <p:cNvPr id="26639" name="TextBox 13"/>
              <p:cNvSpPr txBox="1">
                <a:spLocks noChangeArrowheads="1"/>
              </p:cNvSpPr>
              <p:nvPr/>
            </p:nvSpPr>
            <p:spPr bwMode="auto">
              <a:xfrm>
                <a:off x="3707904" y="5415607"/>
                <a:ext cx="57606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zh-CN" altLang="en-US" sz="2400" b="1">
                    <a:latin typeface="Times New Roman" panose="02020603050405020304" pitchFamily="18" charset="0"/>
                    <a:cs typeface="Times New Roman" panose="02020603050405020304" pitchFamily="18" charset="0"/>
                  </a:rPr>
                  <a:t>团</a:t>
                </a:r>
                <a:endParaRPr lang="zh-CN" altLang="en-US" sz="2400" b="1">
                  <a:latin typeface="Times New Roman" panose="02020603050405020304" pitchFamily="18" charset="0"/>
                  <a:cs typeface="Times New Roman" panose="02020603050405020304" pitchFamily="18" charset="0"/>
                </a:endParaRPr>
              </a:p>
            </p:txBody>
          </p:sp>
          <p:sp>
            <p:nvSpPr>
              <p:cNvPr id="26640" name="TextBox 14"/>
              <p:cNvSpPr txBox="1">
                <a:spLocks noChangeArrowheads="1"/>
              </p:cNvSpPr>
              <p:nvPr/>
            </p:nvSpPr>
            <p:spPr bwMode="auto">
              <a:xfrm>
                <a:off x="1966569" y="4377878"/>
                <a:ext cx="158417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zh-CN" altLang="en-US" sz="2400" b="1">
                    <a:latin typeface="Times New Roman" panose="02020603050405020304" pitchFamily="18" charset="0"/>
                    <a:cs typeface="Times New Roman" panose="02020603050405020304" pitchFamily="18" charset="0"/>
                  </a:rPr>
                  <a:t>双机调度</a:t>
                </a:r>
                <a:endParaRPr lang="zh-CN" altLang="en-US" sz="2400" b="1">
                  <a:latin typeface="Times New Roman" panose="02020603050405020304" pitchFamily="18" charset="0"/>
                  <a:cs typeface="Times New Roman" panose="02020603050405020304" pitchFamily="18" charset="0"/>
                </a:endParaRPr>
              </a:p>
            </p:txBody>
          </p:sp>
          <p:sp>
            <p:nvSpPr>
              <p:cNvPr id="26641" name="TextBox 15"/>
              <p:cNvSpPr txBox="1">
                <a:spLocks noChangeArrowheads="1"/>
              </p:cNvSpPr>
              <p:nvPr/>
            </p:nvSpPr>
            <p:spPr bwMode="auto">
              <a:xfrm>
                <a:off x="755370" y="4349646"/>
                <a:ext cx="1277337" cy="461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2400" b="1">
                    <a:latin typeface="Times New Roman" panose="02020603050405020304" pitchFamily="18" charset="0"/>
                    <a:cs typeface="Times New Roman" panose="02020603050405020304" pitchFamily="18" charset="0"/>
                  </a:rPr>
                  <a:t>0-1</a:t>
                </a:r>
                <a:r>
                  <a:rPr lang="zh-CN" altLang="en-US" sz="2400" b="1">
                    <a:latin typeface="Times New Roman" panose="02020603050405020304" pitchFamily="18" charset="0"/>
                    <a:cs typeface="Times New Roman" panose="02020603050405020304" pitchFamily="18" charset="0"/>
                  </a:rPr>
                  <a:t>背包</a:t>
                </a:r>
                <a:endParaRPr lang="zh-CN" altLang="en-US" sz="2400" b="1">
                  <a:latin typeface="Times New Roman" panose="02020603050405020304" pitchFamily="18" charset="0"/>
                  <a:cs typeface="Times New Roman" panose="02020603050405020304" pitchFamily="18" charset="0"/>
                </a:endParaRPr>
              </a:p>
            </p:txBody>
          </p:sp>
          <p:sp>
            <p:nvSpPr>
              <p:cNvPr id="26642" name="TextBox 16"/>
              <p:cNvSpPr txBox="1">
                <a:spLocks noChangeArrowheads="1"/>
              </p:cNvSpPr>
              <p:nvPr/>
            </p:nvSpPr>
            <p:spPr bwMode="auto">
              <a:xfrm>
                <a:off x="2189647" y="5459479"/>
                <a:ext cx="8640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zh-CN" altLang="en-US" sz="2400" b="1">
                    <a:latin typeface="Times New Roman" panose="02020603050405020304" pitchFamily="18" charset="0"/>
                    <a:cs typeface="Times New Roman" panose="02020603050405020304" pitchFamily="18" charset="0"/>
                  </a:rPr>
                  <a:t>装箱</a:t>
                </a:r>
                <a:endParaRPr lang="zh-CN" altLang="en-US" sz="2400" b="1">
                  <a:latin typeface="Times New Roman" panose="02020603050405020304" pitchFamily="18" charset="0"/>
                  <a:cs typeface="Times New Roman" panose="02020603050405020304" pitchFamily="18" charset="0"/>
                </a:endParaRPr>
              </a:p>
            </p:txBody>
          </p:sp>
          <p:cxnSp>
            <p:nvCxnSpPr>
              <p:cNvPr id="19" name="直接连接符 18"/>
              <p:cNvCxnSpPr>
                <a:endCxn id="26631" idx="0"/>
              </p:cNvCxnSpPr>
              <p:nvPr/>
            </p:nvCxnSpPr>
            <p:spPr>
              <a:xfrm flipH="1">
                <a:off x="2052321" y="1785371"/>
                <a:ext cx="2158938" cy="462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H="1">
                <a:off x="4571610" y="1882217"/>
                <a:ext cx="0" cy="46676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a:endCxn id="26633" idx="0"/>
              </p:cNvCxnSpPr>
              <p:nvPr/>
            </p:nvCxnSpPr>
            <p:spPr>
              <a:xfrm>
                <a:off x="5003398" y="1815537"/>
                <a:ext cx="2268473" cy="46199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a:stCxn id="26631" idx="2"/>
                <a:endCxn id="26634" idx="0"/>
              </p:cNvCxnSpPr>
              <p:nvPr/>
            </p:nvCxnSpPr>
            <p:spPr>
              <a:xfrm rot="5400000">
                <a:off x="1727651" y="3032453"/>
                <a:ext cx="647752"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a:endCxn id="26635" idx="0"/>
              </p:cNvCxnSpPr>
              <p:nvPr/>
            </p:nvCxnSpPr>
            <p:spPr>
              <a:xfrm rot="5400000">
                <a:off x="3938183" y="2866566"/>
                <a:ext cx="617588" cy="3603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a:endCxn id="26636" idx="0"/>
              </p:cNvCxnSpPr>
              <p:nvPr/>
            </p:nvCxnSpPr>
            <p:spPr>
              <a:xfrm rot="16200000" flipH="1">
                <a:off x="4749372" y="2818948"/>
                <a:ext cx="617587" cy="54132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a:stCxn id="26638" idx="2"/>
                <a:endCxn id="26639" idx="0"/>
              </p:cNvCxnSpPr>
              <p:nvPr/>
            </p:nvCxnSpPr>
            <p:spPr>
              <a:xfrm rot="5400000">
                <a:off x="3723087" y="5142412"/>
                <a:ext cx="546144" cy="15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a:stCxn id="26636" idx="2"/>
                <a:endCxn id="26637" idx="0"/>
              </p:cNvCxnSpPr>
              <p:nvPr/>
            </p:nvCxnSpPr>
            <p:spPr>
              <a:xfrm rot="5400000">
                <a:off x="5054961" y="4134268"/>
                <a:ext cx="546144"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2076132" y="3782608"/>
                <a:ext cx="495286" cy="62552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a:endCxn id="26641" idx="0"/>
              </p:cNvCxnSpPr>
              <p:nvPr/>
            </p:nvCxnSpPr>
            <p:spPr>
              <a:xfrm flipH="1">
                <a:off x="1393527" y="3819124"/>
                <a:ext cx="409563" cy="53026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flipH="1">
                <a:off x="2622216" y="4811391"/>
                <a:ext cx="6350" cy="6763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4" name="直接连接符 43"/>
            <p:cNvCxnSpPr/>
            <p:nvPr/>
          </p:nvCxnSpPr>
          <p:spPr bwMode="auto">
            <a:xfrm rot="5400000">
              <a:off x="3706011" y="4119996"/>
              <a:ext cx="546031"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p:cNvSpPr>
          <p:nvPr>
            <p:ph type="title"/>
          </p:nvPr>
        </p:nvSpPr>
        <p:spPr/>
        <p:txBody>
          <a:bodyPr/>
          <a:lstStyle/>
          <a:p>
            <a:r>
              <a:rPr lang="en-US" altLang="zh-CN" sz="4000" b="1" smtClean="0">
                <a:solidFill>
                  <a:srgbClr val="C00000"/>
                </a:solidFill>
                <a:latin typeface="Times New Roman" panose="02020603050405020304" pitchFamily="18" charset="0"/>
                <a:cs typeface="Times New Roman" panose="02020603050405020304" pitchFamily="18" charset="0"/>
              </a:rPr>
              <a:t>9.3.1 </a:t>
            </a:r>
            <a:r>
              <a:rPr lang="zh-CN" altLang="en-US" sz="4000" b="1" smtClean="0">
                <a:solidFill>
                  <a:srgbClr val="C00000"/>
                </a:solidFill>
                <a:latin typeface="Times New Roman" panose="02020603050405020304" pitchFamily="18" charset="0"/>
                <a:cs typeface="Times New Roman" panose="02020603050405020304" pitchFamily="18" charset="0"/>
              </a:rPr>
              <a:t>最大可满足性与三元可满足性</a:t>
            </a:r>
            <a:endParaRPr lang="zh-CN" altLang="en-US" sz="4000" smtClean="0">
              <a:solidFill>
                <a:srgbClr val="C00000"/>
              </a:solidFill>
              <a:latin typeface="Times New Roman" panose="02020603050405020304" pitchFamily="18" charset="0"/>
              <a:cs typeface="Times New Roman" panose="02020603050405020304" pitchFamily="18" charset="0"/>
            </a:endParaRPr>
          </a:p>
        </p:txBody>
      </p:sp>
      <p:sp>
        <p:nvSpPr>
          <p:cNvPr id="27651" name="内容占位符 2"/>
          <p:cNvSpPr>
            <a:spLocks noGrp="1"/>
          </p:cNvSpPr>
          <p:nvPr>
            <p:ph idx="1"/>
          </p:nvPr>
        </p:nvSpPr>
        <p:spPr>
          <a:xfrm>
            <a:off x="477838" y="1557338"/>
            <a:ext cx="8229600" cy="4392612"/>
          </a:xfrm>
        </p:spPr>
        <p:txBody>
          <a:bodyPr/>
          <a:lstStyle/>
          <a:p>
            <a:pPr>
              <a:buFont typeface="Arial" panose="020B0604020202020204" pitchFamily="34" charset="0"/>
              <a:buNone/>
            </a:pPr>
            <a:r>
              <a:rPr lang="zh-CN" altLang="en-US" sz="2400" b="1" smtClean="0">
                <a:solidFill>
                  <a:srgbClr val="C00000"/>
                </a:solidFill>
                <a:latin typeface="Times New Roman" panose="02020603050405020304" pitchFamily="18" charset="0"/>
                <a:cs typeface="Times New Roman" panose="02020603050405020304" pitchFamily="18" charset="0"/>
              </a:rPr>
              <a:t>最大可满足性 </a:t>
            </a:r>
            <a:r>
              <a:rPr lang="en-US" altLang="zh-CN" sz="2400" b="1" smtClean="0">
                <a:latin typeface="Times New Roman" panose="02020603050405020304" pitchFamily="18" charset="0"/>
                <a:cs typeface="Times New Roman" panose="02020603050405020304" pitchFamily="18" charset="0"/>
              </a:rPr>
              <a:t>(MAX-SAT): </a:t>
            </a:r>
            <a:r>
              <a:rPr lang="zh-CN" altLang="en-US" sz="2400" b="1" smtClean="0">
                <a:latin typeface="Times New Roman" panose="02020603050405020304" pitchFamily="18" charset="0"/>
                <a:cs typeface="Times New Roman" panose="02020603050405020304" pitchFamily="18" charset="0"/>
              </a:rPr>
              <a:t>任给关于变元 </a:t>
            </a:r>
            <a:r>
              <a:rPr lang="en-US" altLang="zh-CN" sz="2400" b="1" i="1" smtClean="0">
                <a:latin typeface="Times New Roman" panose="02020603050405020304" pitchFamily="18" charset="0"/>
                <a:cs typeface="Times New Roman" panose="02020603050405020304" pitchFamily="18" charset="0"/>
              </a:rPr>
              <a:t>x</a:t>
            </a:r>
            <a:r>
              <a:rPr lang="en-US" altLang="zh-CN" sz="2400" b="1" baseline="-25000" smtClean="0">
                <a:latin typeface="Times New Roman" panose="02020603050405020304" pitchFamily="18" charset="0"/>
                <a:cs typeface="Times New Roman" panose="02020603050405020304" pitchFamily="18" charset="0"/>
              </a:rPr>
              <a:t>1</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 x</a:t>
            </a:r>
            <a:r>
              <a:rPr lang="en-US" altLang="zh-CN" sz="2400" b="1" baseline="-25000" smtClean="0">
                <a:latin typeface="Times New Roman" panose="02020603050405020304" pitchFamily="18" charset="0"/>
                <a:cs typeface="Times New Roman" panose="02020603050405020304" pitchFamily="18" charset="0"/>
              </a:rPr>
              <a:t>2</a:t>
            </a:r>
            <a:r>
              <a:rPr lang="en-US" altLang="zh-CN" sz="2400" b="1" smtClean="0">
                <a:latin typeface="Times New Roman" panose="02020603050405020304" pitchFamily="18" charset="0"/>
                <a:cs typeface="Times New Roman" panose="02020603050405020304" pitchFamily="18" charset="0"/>
              </a:rPr>
              <a:t>,</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 x</a:t>
            </a:r>
            <a:r>
              <a:rPr lang="en-US" altLang="zh-CN" sz="2400" b="1" i="1" baseline="-25000" smtClean="0">
                <a:latin typeface="Times New Roman" panose="02020603050405020304" pitchFamily="18" charset="0"/>
                <a:cs typeface="Times New Roman" panose="02020603050405020304" pitchFamily="18" charset="0"/>
              </a:rPr>
              <a:t>n</a:t>
            </a:r>
            <a:r>
              <a:rPr lang="zh-CN" altLang="en-US" sz="2400" b="1" smtClean="0">
                <a:latin typeface="Times New Roman" panose="02020603050405020304" pitchFamily="18" charset="0"/>
                <a:cs typeface="Times New Roman" panose="02020603050405020304" pitchFamily="18" charset="0"/>
              </a:rPr>
              <a:t>的简单</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析取式</a:t>
            </a:r>
            <a:r>
              <a:rPr lang="en-US" altLang="zh-CN" sz="2400" b="1" i="1" smtClean="0">
                <a:latin typeface="Times New Roman" panose="02020603050405020304" pitchFamily="18" charset="0"/>
                <a:cs typeface="Times New Roman" panose="02020603050405020304" pitchFamily="18" charset="0"/>
              </a:rPr>
              <a:t>C</a:t>
            </a:r>
            <a:r>
              <a:rPr lang="en-US" altLang="zh-CN" sz="2400" b="1" baseline="-25000" smtClean="0">
                <a:latin typeface="Times New Roman" panose="02020603050405020304" pitchFamily="18" charset="0"/>
                <a:cs typeface="Times New Roman" panose="02020603050405020304" pitchFamily="18" charset="0"/>
              </a:rPr>
              <a:t>1</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C</a:t>
            </a:r>
            <a:r>
              <a:rPr lang="en-US" altLang="zh-CN" sz="2400" b="1" baseline="-25000" smtClean="0">
                <a:latin typeface="Times New Roman" panose="02020603050405020304" pitchFamily="18" charset="0"/>
                <a:cs typeface="Times New Roman" panose="02020603050405020304" pitchFamily="18" charset="0"/>
              </a:rPr>
              <a:t>2</a:t>
            </a:r>
            <a:r>
              <a:rPr lang="en-US" altLang="zh-CN" sz="2400" b="1" smtClean="0">
                <a:latin typeface="Times New Roman" panose="02020603050405020304" pitchFamily="18" charset="0"/>
                <a:cs typeface="Times New Roman" panose="02020603050405020304" pitchFamily="18" charset="0"/>
              </a:rPr>
              <a:t>,</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C</a:t>
            </a:r>
            <a:r>
              <a:rPr lang="en-US" altLang="zh-CN" sz="2400" b="1" i="1" baseline="-25000" smtClean="0">
                <a:latin typeface="Times New Roman" panose="02020603050405020304" pitchFamily="18" charset="0"/>
                <a:cs typeface="Times New Roman" panose="02020603050405020304" pitchFamily="18" charset="0"/>
              </a:rPr>
              <a:t>m</a:t>
            </a:r>
            <a:r>
              <a:rPr lang="zh-CN" altLang="en-US" sz="2400" b="1" smtClean="0">
                <a:latin typeface="Times New Roman" panose="02020603050405020304" pitchFamily="18" charset="0"/>
                <a:cs typeface="Times New Roman" panose="02020603050405020304" pitchFamily="18" charset="0"/>
              </a:rPr>
              <a:t>及正整数</a:t>
            </a:r>
            <a:r>
              <a:rPr lang="en-US" altLang="zh-CN" sz="2400" b="1" i="1" smtClean="0">
                <a:latin typeface="Times New Roman" panose="02020603050405020304" pitchFamily="18" charset="0"/>
                <a:cs typeface="Times New Roman" panose="02020603050405020304" pitchFamily="18" charset="0"/>
              </a:rPr>
              <a:t>K</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问存在关于变元 </a:t>
            </a:r>
            <a:r>
              <a:rPr lang="en-US" altLang="zh-CN" sz="2400" b="1" i="1" smtClean="0">
                <a:latin typeface="Times New Roman" panose="02020603050405020304" pitchFamily="18" charset="0"/>
                <a:cs typeface="Times New Roman" panose="02020603050405020304" pitchFamily="18" charset="0"/>
              </a:rPr>
              <a:t>x</a:t>
            </a:r>
            <a:r>
              <a:rPr lang="en-US" altLang="zh-CN" sz="2400" b="1" baseline="-25000" smtClean="0">
                <a:latin typeface="Times New Roman" panose="02020603050405020304" pitchFamily="18" charset="0"/>
                <a:cs typeface="Times New Roman" panose="02020603050405020304" pitchFamily="18" charset="0"/>
              </a:rPr>
              <a:t>1</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 x</a:t>
            </a:r>
            <a:r>
              <a:rPr lang="en-US" altLang="zh-CN" sz="2400" b="1" baseline="-25000" smtClean="0">
                <a:latin typeface="Times New Roman" panose="02020603050405020304" pitchFamily="18" charset="0"/>
                <a:cs typeface="Times New Roman" panose="02020603050405020304" pitchFamily="18" charset="0"/>
              </a:rPr>
              <a:t>2</a:t>
            </a:r>
            <a:r>
              <a:rPr lang="en-US" altLang="zh-CN" sz="2400" b="1" smtClean="0">
                <a:latin typeface="Times New Roman" panose="02020603050405020304" pitchFamily="18" charset="0"/>
                <a:cs typeface="Times New Roman" panose="02020603050405020304" pitchFamily="18" charset="0"/>
              </a:rPr>
              <a:t>,</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 x</a:t>
            </a:r>
            <a:r>
              <a:rPr lang="en-US" altLang="zh-CN" sz="2400" b="1" i="1" baseline="-25000" smtClean="0">
                <a:latin typeface="Times New Roman" panose="02020603050405020304" pitchFamily="18" charset="0"/>
                <a:cs typeface="Times New Roman" panose="02020603050405020304" pitchFamily="18" charset="0"/>
              </a:rPr>
              <a:t>n</a:t>
            </a:r>
            <a:r>
              <a:rPr lang="zh-CN" altLang="en-US" sz="2400" b="1" smtClean="0">
                <a:latin typeface="Times New Roman" panose="02020603050405020304" pitchFamily="18" charset="0"/>
                <a:cs typeface="Times New Roman" panose="02020603050405020304" pitchFamily="18" charset="0"/>
              </a:rPr>
              <a:t>的</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赋值使得</a:t>
            </a:r>
            <a:r>
              <a:rPr lang="en-US" altLang="zh-CN" sz="2400" b="1" i="1" smtClean="0">
                <a:latin typeface="Times New Roman" panose="02020603050405020304" pitchFamily="18" charset="0"/>
                <a:cs typeface="Times New Roman" panose="02020603050405020304" pitchFamily="18" charset="0"/>
              </a:rPr>
              <a:t>C</a:t>
            </a:r>
            <a:r>
              <a:rPr lang="en-US" altLang="zh-CN" sz="2400" b="1" baseline="-25000" smtClean="0">
                <a:latin typeface="Times New Roman" panose="02020603050405020304" pitchFamily="18" charset="0"/>
                <a:cs typeface="Times New Roman" panose="02020603050405020304" pitchFamily="18" charset="0"/>
              </a:rPr>
              <a:t>1</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C</a:t>
            </a:r>
            <a:r>
              <a:rPr lang="en-US" altLang="zh-CN" sz="2400" b="1" baseline="-25000" smtClean="0">
                <a:latin typeface="Times New Roman" panose="02020603050405020304" pitchFamily="18" charset="0"/>
                <a:cs typeface="Times New Roman" panose="02020603050405020304" pitchFamily="18" charset="0"/>
              </a:rPr>
              <a:t>2</a:t>
            </a:r>
            <a:r>
              <a:rPr lang="en-US" altLang="zh-CN" sz="2400" b="1" smtClean="0">
                <a:latin typeface="Times New Roman" panose="02020603050405020304" pitchFamily="18" charset="0"/>
                <a:cs typeface="Times New Roman" panose="02020603050405020304" pitchFamily="18" charset="0"/>
              </a:rPr>
              <a:t>,</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C</a:t>
            </a:r>
            <a:r>
              <a:rPr lang="en-US" altLang="zh-CN" sz="2400" b="1" i="1" baseline="-25000" smtClean="0">
                <a:latin typeface="Times New Roman" panose="02020603050405020304" pitchFamily="18" charset="0"/>
                <a:cs typeface="Times New Roman" panose="02020603050405020304" pitchFamily="18" charset="0"/>
              </a:rPr>
              <a:t>m</a:t>
            </a:r>
            <a:r>
              <a:rPr lang="zh-CN" altLang="en-US" sz="2400" b="1" smtClean="0">
                <a:latin typeface="Times New Roman" panose="02020603050405020304" pitchFamily="18" charset="0"/>
                <a:cs typeface="Times New Roman" panose="02020603050405020304" pitchFamily="18" charset="0"/>
              </a:rPr>
              <a:t>中至少有</a:t>
            </a:r>
            <a:r>
              <a:rPr lang="en-US" altLang="zh-CN" sz="2400" b="1" i="1" smtClean="0">
                <a:latin typeface="Times New Roman" panose="02020603050405020304" pitchFamily="18" charset="0"/>
                <a:cs typeface="Times New Roman" panose="02020603050405020304" pitchFamily="18" charset="0"/>
              </a:rPr>
              <a:t>K</a:t>
            </a:r>
            <a:r>
              <a:rPr lang="zh-CN" altLang="en-US" sz="2400" b="1" smtClean="0">
                <a:latin typeface="Times New Roman" panose="02020603050405020304" pitchFamily="18" charset="0"/>
                <a:cs typeface="Times New Roman" panose="02020603050405020304" pitchFamily="18" charset="0"/>
              </a:rPr>
              <a:t>个为真吗</a:t>
            </a:r>
            <a:r>
              <a:rPr lang="en-US" altLang="zh-CN" sz="2400" b="1" smtClean="0">
                <a:latin typeface="Times New Roman" panose="02020603050405020304" pitchFamily="18" charset="0"/>
                <a:cs typeface="Times New Roman" panose="02020603050405020304" pitchFamily="18" charset="0"/>
              </a:rPr>
              <a:t>?</a:t>
            </a:r>
            <a:endParaRPr lang="zh-CN" altLang="en-US" sz="2400" b="1" smtClean="0">
              <a:latin typeface="Times New Roman" panose="02020603050405020304" pitchFamily="18" charset="0"/>
              <a:cs typeface="Times New Roman" panose="02020603050405020304" pitchFamily="18" charset="0"/>
            </a:endParaRPr>
          </a:p>
          <a:p>
            <a:pPr>
              <a:spcBef>
                <a:spcPts val="2400"/>
              </a:spcBef>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设判定问题 </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 = &lt;</a:t>
            </a:r>
            <a:r>
              <a:rPr lang="en-US" altLang="zh-CN" sz="2400" b="1" i="1" smtClean="0">
                <a:latin typeface="Times New Roman" panose="02020603050405020304" pitchFamily="18" charset="0"/>
                <a:cs typeface="Times New Roman" panose="02020603050405020304" pitchFamily="18" charset="0"/>
              </a:rPr>
              <a:t>D</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Y</a:t>
            </a:r>
            <a:r>
              <a:rPr lang="en-US" altLang="zh-CN" sz="2400" b="1" smtClean="0">
                <a:latin typeface="Times New Roman" panose="02020603050405020304" pitchFamily="18" charset="0"/>
                <a:cs typeface="Times New Roman" panose="02020603050405020304" pitchFamily="18" charset="0"/>
              </a:rPr>
              <a:t>&gt;, </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 &lt;</a:t>
            </a:r>
            <a:r>
              <a:rPr lang="en-US" altLang="zh-CN" sz="2400" b="1" i="1" smtClean="0">
                <a:latin typeface="Times New Roman" panose="02020603050405020304" pitchFamily="18" charset="0"/>
                <a:cs typeface="Times New Roman" panose="02020603050405020304" pitchFamily="18" charset="0"/>
              </a:rPr>
              <a:t>D</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Y</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 &gt;, </a:t>
            </a:r>
            <a:r>
              <a:rPr lang="zh-CN" altLang="en-US" sz="2400" b="1" smtClean="0">
                <a:latin typeface="Times New Roman" panose="02020603050405020304" pitchFamily="18" charset="0"/>
                <a:cs typeface="Times New Roman" panose="02020603050405020304" pitchFamily="18" charset="0"/>
              </a:rPr>
              <a:t>如果 </a:t>
            </a:r>
            <a:r>
              <a:rPr lang="en-US" altLang="zh-CN" sz="2400" b="1" i="1" smtClean="0">
                <a:latin typeface="Times New Roman" panose="02020603050405020304" pitchFamily="18" charset="0"/>
                <a:cs typeface="Times New Roman" panose="02020603050405020304" pitchFamily="18" charset="0"/>
              </a:rPr>
              <a:t>D</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D</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Y</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 </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 D</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Y</a:t>
            </a:r>
            <a:r>
              <a:rPr lang="en-US" altLang="zh-CN" sz="2400" b="1" smtClean="0">
                <a:latin typeface="Times New Roman" panose="02020603050405020304" pitchFamily="18" charset="0"/>
                <a:cs typeface="Times New Roman" panose="02020603050405020304" pitchFamily="18" charset="0"/>
              </a:rPr>
              <a:t>, </a:t>
            </a:r>
            <a:endParaRPr lang="en-US" altLang="zh-CN" sz="2400" b="1" smtClean="0">
              <a:latin typeface="Times New Roman" panose="02020603050405020304" pitchFamily="18" charset="0"/>
              <a:cs typeface="Times New Roman" panose="02020603050405020304" pitchFamily="18" charset="0"/>
            </a:endParaRPr>
          </a:p>
          <a:p>
            <a:pPr>
              <a:spcBef>
                <a:spcPts val="600"/>
              </a:spcBef>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则 </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zh-CN" altLang="en-US" sz="2400" b="1" smtClean="0">
                <a:latin typeface="Times New Roman" panose="02020603050405020304" pitchFamily="18" charset="0"/>
                <a:cs typeface="Times New Roman" panose="02020603050405020304" pitchFamily="18" charset="0"/>
              </a:rPr>
              <a:t>是</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的特殊情况</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称作</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的</a:t>
            </a:r>
            <a:r>
              <a:rPr lang="zh-CN" altLang="en-US" sz="2400" b="1" smtClean="0">
                <a:solidFill>
                  <a:srgbClr val="C00000"/>
                </a:solidFill>
                <a:latin typeface="Times New Roman" panose="02020603050405020304" pitchFamily="18" charset="0"/>
                <a:cs typeface="Times New Roman" panose="02020603050405020304" pitchFamily="18" charset="0"/>
              </a:rPr>
              <a:t>子问题</a:t>
            </a:r>
            <a:r>
              <a:rPr lang="en-US" altLang="zh-CN" sz="2400" b="1" smtClean="0">
                <a:latin typeface="Times New Roman" panose="02020603050405020304" pitchFamily="18" charset="0"/>
                <a:cs typeface="Times New Roman" panose="02020603050405020304" pitchFamily="18" charset="0"/>
              </a:rPr>
              <a:t>.  </a:t>
            </a:r>
            <a:endParaRPr lang="zh-CN" altLang="en-US" sz="2400" b="1" smtClean="0">
              <a:latin typeface="Times New Roman" panose="02020603050405020304" pitchFamily="18" charset="0"/>
              <a:cs typeface="Times New Roman" panose="02020603050405020304" pitchFamily="18" charset="0"/>
            </a:endParaRPr>
          </a:p>
          <a:p>
            <a:pPr>
              <a:spcBef>
                <a:spcPts val="2400"/>
              </a:spcBef>
              <a:buFont typeface="Arial" panose="020B0604020202020204" pitchFamily="34" charset="0"/>
              <a:buNone/>
            </a:pPr>
            <a:r>
              <a:rPr lang="zh-CN" altLang="en-US" sz="2400" b="1" smtClean="0">
                <a:solidFill>
                  <a:srgbClr val="C00000"/>
                </a:solidFill>
                <a:latin typeface="Times New Roman" panose="02020603050405020304" pitchFamily="18" charset="0"/>
                <a:cs typeface="Times New Roman" panose="02020603050405020304" pitchFamily="18" charset="0"/>
              </a:rPr>
              <a:t>例如</a:t>
            </a:r>
            <a:r>
              <a:rPr lang="zh-CN" altLang="en-US" sz="2400" b="1" smtClean="0">
                <a:latin typeface="Times New Roman" panose="02020603050405020304" pitchFamily="18" charset="0"/>
                <a:cs typeface="Times New Roman" panose="02020603050405020304" pitchFamily="18" charset="0"/>
              </a:rPr>
              <a:t>“给定一个平面图 </a:t>
            </a:r>
            <a:r>
              <a:rPr lang="en-US" altLang="zh-CN" sz="2400" b="1" i="1" smtClean="0">
                <a:latin typeface="Times New Roman" panose="02020603050405020304" pitchFamily="18" charset="0"/>
                <a:cs typeface="Times New Roman" panose="02020603050405020304" pitchFamily="18" charset="0"/>
              </a:rPr>
              <a:t>G</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问</a:t>
            </a:r>
            <a:r>
              <a:rPr lang="en-US" altLang="zh-CN" sz="2400" b="1" i="1" smtClean="0">
                <a:latin typeface="Times New Roman" panose="02020603050405020304" pitchFamily="18" charset="0"/>
                <a:cs typeface="Times New Roman" panose="02020603050405020304" pitchFamily="18" charset="0"/>
              </a:rPr>
              <a:t>G</a:t>
            </a:r>
            <a:r>
              <a:rPr lang="zh-CN" altLang="en-US" sz="2400" b="1" smtClean="0">
                <a:latin typeface="Times New Roman" panose="02020603050405020304" pitchFamily="18" charset="0"/>
                <a:cs typeface="Times New Roman" panose="02020603050405020304" pitchFamily="18" charset="0"/>
              </a:rPr>
              <a:t>是哈密顿图吗</a:t>
            </a:r>
            <a:r>
              <a:rPr lang="en-US" altLang="zh-CN" sz="2400" b="1" smtClean="0">
                <a:latin typeface="Times New Roman" panose="02020603050405020304" pitchFamily="18" charset="0"/>
                <a:cs typeface="Times New Roman" panose="02020603050405020304" pitchFamily="18" charset="0"/>
              </a:rPr>
              <a:t>?</a:t>
            </a:r>
            <a:r>
              <a:rPr lang="zh-CN" altLang="en-US" sz="2400" b="1" smtClean="0">
                <a:latin typeface="Times New Roman" panose="02020603050405020304" pitchFamily="18" charset="0"/>
                <a:cs typeface="Times New Roman" panose="02020603050405020304" pitchFamily="18" charset="0"/>
              </a:rPr>
              <a:t>”</a:t>
            </a:r>
            <a:endParaRPr lang="en-US" altLang="zh-CN" sz="2400" b="1" smtClean="0">
              <a:latin typeface="Times New Roman" panose="02020603050405020304" pitchFamily="18" charset="0"/>
              <a:cs typeface="Times New Roman" panose="02020603050405020304" pitchFamily="18" charset="0"/>
            </a:endParaRPr>
          </a:p>
          <a:p>
            <a:pPr>
              <a:spcBef>
                <a:spcPts val="600"/>
              </a:spcBef>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          该问题是 </a:t>
            </a:r>
            <a:r>
              <a:rPr lang="en-US" altLang="zh-CN" sz="2400" b="1" smtClean="0">
                <a:latin typeface="Times New Roman" panose="02020603050405020304" pitchFamily="18" charset="0"/>
                <a:cs typeface="Times New Roman" panose="02020603050405020304" pitchFamily="18" charset="0"/>
              </a:rPr>
              <a:t>HC </a:t>
            </a:r>
            <a:r>
              <a:rPr lang="zh-CN" altLang="en-US" sz="2400" b="1" smtClean="0">
                <a:latin typeface="Times New Roman" panose="02020603050405020304" pitchFamily="18" charset="0"/>
                <a:cs typeface="Times New Roman" panose="02020603050405020304" pitchFamily="18" charset="0"/>
              </a:rPr>
              <a:t>的子问题</a:t>
            </a:r>
            <a:r>
              <a:rPr lang="en-US" altLang="zh-CN" sz="2400" b="1" smtClean="0">
                <a:latin typeface="Times New Roman" panose="02020603050405020304" pitchFamily="18" charset="0"/>
                <a:cs typeface="Times New Roman" panose="02020603050405020304" pitchFamily="18" charset="0"/>
              </a:rPr>
              <a:t>.       </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SAT </a:t>
            </a:r>
            <a:r>
              <a:rPr lang="zh-CN" altLang="en-US" sz="2400" b="1" smtClean="0">
                <a:latin typeface="Times New Roman" panose="02020603050405020304" pitchFamily="18" charset="0"/>
                <a:cs typeface="Times New Roman" panose="02020603050405020304" pitchFamily="18" charset="0"/>
              </a:rPr>
              <a:t>是 </a:t>
            </a:r>
            <a:r>
              <a:rPr lang="en-US" altLang="zh-CN" sz="2400" b="1" smtClean="0">
                <a:latin typeface="Times New Roman" panose="02020603050405020304" pitchFamily="18" charset="0"/>
                <a:cs typeface="Times New Roman" panose="02020603050405020304" pitchFamily="18" charset="0"/>
              </a:rPr>
              <a:t>MAX-SAT </a:t>
            </a:r>
            <a:r>
              <a:rPr lang="zh-CN" altLang="en-US" sz="2400" b="1" smtClean="0">
                <a:latin typeface="Times New Roman" panose="02020603050405020304" pitchFamily="18" charset="0"/>
                <a:cs typeface="Times New Roman" panose="02020603050405020304" pitchFamily="18" charset="0"/>
              </a:rPr>
              <a:t>的子问题</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取 </a:t>
            </a:r>
            <a:r>
              <a:rPr lang="en-US" altLang="zh-CN" sz="2400" b="1" i="1" smtClean="0">
                <a:latin typeface="Times New Roman" panose="02020603050405020304" pitchFamily="18" charset="0"/>
                <a:cs typeface="Times New Roman" panose="02020603050405020304" pitchFamily="18" charset="0"/>
              </a:rPr>
              <a:t>K </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m</a:t>
            </a:r>
            <a:r>
              <a:rPr lang="en-US" altLang="zh-CN" sz="2400" b="1" smtClean="0">
                <a:latin typeface="Times New Roman" panose="02020603050405020304" pitchFamily="18" charset="0"/>
                <a:cs typeface="Times New Roman" panose="02020603050405020304" pitchFamily="18" charset="0"/>
              </a:rPr>
              <a:t>.     </a:t>
            </a:r>
            <a:endParaRPr lang="zh-CN" altLang="en-US"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endParaRPr lang="en-US" altLang="zh-CN" sz="2400" b="1"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p:nvPr>
        </p:nvSpPr>
        <p:spPr>
          <a:xfrm>
            <a:off x="457200" y="274638"/>
            <a:ext cx="8229600" cy="850900"/>
          </a:xfrm>
        </p:spPr>
        <p:txBody>
          <a:bodyPr/>
          <a:lstStyle/>
          <a:p>
            <a:r>
              <a:rPr lang="en-US" altLang="zh-CN" sz="4000" b="1" smtClean="0">
                <a:solidFill>
                  <a:srgbClr val="C00000"/>
                </a:solidFill>
                <a:latin typeface="Times New Roman" panose="02020603050405020304" pitchFamily="18" charset="0"/>
                <a:cs typeface="Times New Roman" panose="02020603050405020304" pitchFamily="18" charset="0"/>
              </a:rPr>
              <a:t>MAX-SAT</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28675" name="内容占位符 2"/>
          <p:cNvSpPr>
            <a:spLocks noGrp="1"/>
          </p:cNvSpPr>
          <p:nvPr>
            <p:ph idx="1"/>
          </p:nvPr>
        </p:nvSpPr>
        <p:spPr>
          <a:xfrm>
            <a:off x="457200" y="1125538"/>
            <a:ext cx="8229600" cy="5329237"/>
          </a:xfrm>
        </p:spPr>
        <p:txBody>
          <a:bodyPr/>
          <a:lstStyle/>
          <a:p>
            <a:pPr>
              <a:buFont typeface="Arial" panose="020B0604020202020204" pitchFamily="34" charset="0"/>
              <a:buNone/>
              <a:defRPr/>
            </a:pPr>
            <a:r>
              <a:rPr lang="zh-CN" altLang="en-US" sz="2400" b="1" dirty="0" smtClean="0">
                <a:solidFill>
                  <a:srgbClr val="C00000"/>
                </a:solidFill>
                <a:latin typeface="Times New Roman" panose="02020603050405020304" pitchFamily="18" charset="0"/>
                <a:cs typeface="Times New Roman" panose="02020603050405020304" pitchFamily="18" charset="0"/>
              </a:rPr>
              <a:t>限制法</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如果已知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的某个子问题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dirty="0" smtClean="0">
                <a:latin typeface="Times New Roman" panose="02020603050405020304" pitchFamily="18" charset="0"/>
                <a:cs typeface="Times New Roman" panose="02020603050405020304" pitchFamily="18" charset="0"/>
              </a:rPr>
              <a:t>是 </a:t>
            </a:r>
            <a:r>
              <a:rPr lang="en-US" altLang="zh-CN" sz="2400" b="1" dirty="0" smtClean="0">
                <a:latin typeface="Times New Roman" panose="02020603050405020304" pitchFamily="18" charset="0"/>
                <a:cs typeface="Times New Roman" panose="02020603050405020304" pitchFamily="18" charset="0"/>
              </a:rPr>
              <a:t>NP</a:t>
            </a:r>
            <a:r>
              <a:rPr lang="zh-CN" altLang="en-US" sz="2400" b="1" dirty="0" smtClean="0">
                <a:latin typeface="Times New Roman" panose="02020603050405020304" pitchFamily="18" charset="0"/>
                <a:cs typeface="Times New Roman" panose="02020603050405020304" pitchFamily="18" charset="0"/>
              </a:rPr>
              <a:t>难的</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则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也</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defRPr/>
            </a:pPr>
            <a:r>
              <a:rPr lang="zh-CN" altLang="en-US" sz="2400" b="1" dirty="0" smtClean="0">
                <a:latin typeface="Times New Roman" panose="02020603050405020304" pitchFamily="18" charset="0"/>
                <a:cs typeface="Times New Roman" panose="02020603050405020304" pitchFamily="18" charset="0"/>
              </a:rPr>
              <a:t>是 </a:t>
            </a:r>
            <a:r>
              <a:rPr lang="en-US" altLang="zh-CN" sz="2400" b="1" dirty="0" smtClean="0">
                <a:latin typeface="Times New Roman" panose="02020603050405020304" pitchFamily="18" charset="0"/>
                <a:cs typeface="Times New Roman" panose="02020603050405020304" pitchFamily="18" charset="0"/>
              </a:rPr>
              <a:t>NP</a:t>
            </a:r>
            <a:r>
              <a:rPr lang="zh-CN" altLang="en-US" sz="2400" b="1" dirty="0" smtClean="0">
                <a:latin typeface="Times New Roman" panose="02020603050405020304" pitchFamily="18" charset="0"/>
                <a:cs typeface="Times New Roman" panose="02020603050405020304" pitchFamily="18" charset="0"/>
              </a:rPr>
              <a:t>难的</a:t>
            </a:r>
            <a:r>
              <a:rPr lang="zh-CN" altLang="en-US" sz="2400" b="1" dirty="0" smtClean="0">
                <a:latin typeface="Times New Roman" panose="02020603050405020304" pitchFamily="18" charset="0"/>
                <a:cs typeface="Times New Roman" panose="02020603050405020304" pitchFamily="18" charset="0"/>
                <a:sym typeface="Symbol" panose="05050102010706020507" pitchFamily="18" charset="2"/>
              </a:rPr>
              <a:t>一般情况不会比特殊情况容易</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容易把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dirty="0" smtClean="0">
                <a:latin typeface="Times New Roman" panose="02020603050405020304" pitchFamily="18" charset="0"/>
                <a:cs typeface="Times New Roman" panose="02020603050405020304" pitchFamily="18" charset="0"/>
              </a:rPr>
              <a:t>多</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defRPr/>
            </a:pPr>
            <a:r>
              <a:rPr lang="zh-CN" altLang="en-US" sz="2400" b="1" dirty="0" smtClean="0">
                <a:latin typeface="Times New Roman" panose="02020603050405020304" pitchFamily="18" charset="0"/>
                <a:cs typeface="Times New Roman" panose="02020603050405020304" pitchFamily="18" charset="0"/>
              </a:rPr>
              <a:t>项式时间变换到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dirty="0" smtClean="0">
                <a:latin typeface="Times New Roman" panose="02020603050405020304" pitchFamily="18" charset="0"/>
                <a:cs typeface="Times New Roman" panose="02020603050405020304" pitchFamily="18" charset="0"/>
                <a:sym typeface="Symbol" panose="05050102010706020507" pitchFamily="18" charset="2"/>
              </a:rPr>
              <a:t>只需把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dirty="0" smtClean="0">
                <a:latin typeface="Times New Roman" panose="02020603050405020304" pitchFamily="18" charset="0"/>
                <a:cs typeface="Times New Roman" panose="02020603050405020304" pitchFamily="18" charset="0"/>
                <a:sym typeface="Symbol" panose="05050102010706020507" pitchFamily="18" charset="2"/>
              </a:rPr>
              <a:t>的实例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I </a:t>
            </a:r>
            <a:r>
              <a:rPr lang="zh-CN" altLang="en-US" sz="2400" b="1" dirty="0" smtClean="0">
                <a:latin typeface="Times New Roman" panose="02020603050405020304" pitchFamily="18" charset="0"/>
                <a:cs typeface="Times New Roman" panose="02020603050405020304" pitchFamily="18" charset="0"/>
                <a:sym typeface="Symbol" panose="05050102010706020507" pitchFamily="18" charset="2"/>
              </a:rPr>
              <a:t>看作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dirty="0" smtClean="0">
                <a:latin typeface="Times New Roman" panose="02020603050405020304" pitchFamily="18" charset="0"/>
                <a:cs typeface="Times New Roman" panose="02020603050405020304" pitchFamily="18" charset="0"/>
                <a:sym typeface="Symbol" panose="05050102010706020507" pitchFamily="18" charset="2"/>
              </a:rPr>
              <a:t>特殊情况的</a:t>
            </a:r>
            <a:endPar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endParaRPr>
          </a:p>
          <a:p>
            <a:pPr>
              <a:buFont typeface="Arial" panose="020B0604020202020204" pitchFamily="34" charset="0"/>
              <a:buNone/>
              <a:defRPr/>
            </a:pPr>
            <a:r>
              <a:rPr lang="zh-CN" altLang="en-US" sz="2400" b="1" dirty="0" smtClean="0">
                <a:latin typeface="Times New Roman" panose="02020603050405020304" pitchFamily="18" charset="0"/>
                <a:cs typeface="Times New Roman" panose="02020603050405020304" pitchFamily="18" charset="0"/>
                <a:sym typeface="Symbol" panose="05050102010706020507" pitchFamily="18" charset="2"/>
              </a:rPr>
              <a:t>实例</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dirty="0" smtClean="0">
                <a:latin typeface="Times New Roman" panose="02020603050405020304" pitchFamily="18" charset="0"/>
                <a:cs typeface="Times New Roman" panose="02020603050405020304" pitchFamily="18" charset="0"/>
                <a:sym typeface="Symbol" panose="05050102010706020507" pitchFamily="18" charset="2"/>
              </a:rPr>
              <a:t>即可得到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sym typeface="Symbol" panose="05050102010706020507" pitchFamily="18" charset="2"/>
              </a:rPr>
              <a:t>对应的实例</a:t>
            </a:r>
            <a:r>
              <a:rPr lang="en-US" altLang="zh-CN" sz="2400" b="1" dirty="0" smtClean="0">
                <a:latin typeface="Times New Roman" panose="02020603050405020304" pitchFamily="18" charset="0"/>
                <a:cs typeface="Times New Roman" panose="02020603050405020304" pitchFamily="18" charset="0"/>
              </a:rPr>
              <a:t>.      </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defRPr/>
            </a:pP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defRPr/>
            </a:pPr>
            <a:r>
              <a:rPr lang="zh-CN" altLang="en-US" sz="2400" b="1" dirty="0" smtClean="0">
                <a:solidFill>
                  <a:srgbClr val="C00000"/>
                </a:solidFill>
                <a:latin typeface="Times New Roman" panose="02020603050405020304" pitchFamily="18" charset="0"/>
                <a:cs typeface="Times New Roman" panose="02020603050405020304" pitchFamily="18" charset="0"/>
              </a:rPr>
              <a:t>定理 </a:t>
            </a:r>
            <a:r>
              <a:rPr lang="en-US" altLang="zh-CN" sz="2400" b="1" dirty="0" smtClean="0">
                <a:solidFill>
                  <a:srgbClr val="C00000"/>
                </a:solidFill>
                <a:latin typeface="Times New Roman" panose="02020603050405020304" pitchFamily="18" charset="0"/>
                <a:cs typeface="Times New Roman" panose="02020603050405020304" pitchFamily="18" charset="0"/>
              </a:rPr>
              <a:t>9.8</a:t>
            </a:r>
            <a:r>
              <a:rPr lang="en-US" altLang="zh-CN" sz="2400" b="1" dirty="0" smtClean="0">
                <a:latin typeface="Times New Roman" panose="02020603050405020304" pitchFamily="18" charset="0"/>
                <a:cs typeface="Times New Roman" panose="02020603050405020304" pitchFamily="18" charset="0"/>
              </a:rPr>
              <a:t>   MAX-SAT</a:t>
            </a:r>
            <a:r>
              <a:rPr lang="zh-CN" altLang="en-US" sz="2400" b="1" dirty="0" smtClean="0">
                <a:latin typeface="Times New Roman" panose="02020603050405020304" pitchFamily="18" charset="0"/>
                <a:cs typeface="Times New Roman" panose="02020603050405020304" pitchFamily="18" charset="0"/>
              </a:rPr>
              <a:t>是 </a:t>
            </a:r>
            <a:r>
              <a:rPr lang="en-US" altLang="zh-CN" sz="2400" b="1" dirty="0" smtClean="0">
                <a:latin typeface="Times New Roman" panose="02020603050405020304" pitchFamily="18" charset="0"/>
                <a:cs typeface="Times New Roman" panose="02020603050405020304" pitchFamily="18" charset="0"/>
              </a:rPr>
              <a:t>NP</a:t>
            </a:r>
            <a:r>
              <a:rPr lang="zh-CN" altLang="en-US" sz="2400" b="1" dirty="0" smtClean="0">
                <a:latin typeface="Times New Roman" panose="02020603050405020304" pitchFamily="18" charset="0"/>
                <a:cs typeface="Times New Roman" panose="02020603050405020304" pitchFamily="18" charset="0"/>
              </a:rPr>
              <a:t>完全的</a:t>
            </a:r>
            <a:r>
              <a:rPr lang="en-US" altLang="zh-CN" sz="2400" b="1" dirty="0" smtClean="0">
                <a:latin typeface="Times New Roman" panose="02020603050405020304" pitchFamily="18" charset="0"/>
                <a:cs typeface="Times New Roman" panose="02020603050405020304" pitchFamily="18" charset="0"/>
              </a:rPr>
              <a:t>.</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defRPr/>
            </a:pPr>
            <a:r>
              <a:rPr lang="zh-CN" altLang="en-US" sz="2400" b="1" dirty="0" smtClean="0">
                <a:latin typeface="Times New Roman" panose="02020603050405020304" pitchFamily="18" charset="0"/>
                <a:cs typeface="Times New Roman" panose="02020603050405020304" pitchFamily="18" charset="0"/>
              </a:rPr>
              <a:t>证   </a:t>
            </a:r>
            <a:r>
              <a:rPr lang="en-US" altLang="zh-CN" sz="2400" b="1" dirty="0" smtClean="0">
                <a:latin typeface="Times New Roman" panose="02020603050405020304" pitchFamily="18" charset="0"/>
                <a:cs typeface="Times New Roman" panose="02020603050405020304" pitchFamily="18" charset="0"/>
              </a:rPr>
              <a:t>MAX-SAT </a:t>
            </a:r>
            <a:r>
              <a:rPr lang="zh-CN" altLang="en-US" sz="2400" b="1" dirty="0" smtClean="0">
                <a:latin typeface="Times New Roman" panose="02020603050405020304" pitchFamily="18" charset="0"/>
                <a:cs typeface="Times New Roman" panose="02020603050405020304" pitchFamily="18" charset="0"/>
              </a:rPr>
              <a:t>的非确定型多项式时间算法</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猜想一个赋值</a:t>
            </a:r>
            <a:r>
              <a:rPr lang="en-US" altLang="zh-CN" sz="2400" b="1" dirty="0" smtClean="0">
                <a:latin typeface="Times New Roman" panose="02020603050405020304" pitchFamily="18" charset="0"/>
                <a:cs typeface="Times New Roman" panose="02020603050405020304" pitchFamily="18" charset="0"/>
              </a:rPr>
              <a:t>, </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defRPr/>
            </a:pPr>
            <a:r>
              <a:rPr lang="zh-CN" altLang="en-US" sz="2400" b="1" dirty="0" smtClean="0">
                <a:latin typeface="Times New Roman" panose="02020603050405020304" pitchFamily="18" charset="0"/>
                <a:cs typeface="Times New Roman" panose="02020603050405020304" pitchFamily="18" charset="0"/>
              </a:rPr>
              <a:t>检查是否有 </a:t>
            </a:r>
            <a:r>
              <a:rPr lang="en-US" altLang="zh-CN" sz="2400" b="1" i="1" dirty="0" smtClean="0">
                <a:latin typeface="Times New Roman" panose="02020603050405020304" pitchFamily="18" charset="0"/>
                <a:cs typeface="Times New Roman" panose="02020603050405020304" pitchFamily="18" charset="0"/>
              </a:rPr>
              <a:t>K </a:t>
            </a:r>
            <a:r>
              <a:rPr lang="zh-CN" altLang="en-US" sz="2400" b="1" dirty="0" smtClean="0">
                <a:latin typeface="Times New Roman" panose="02020603050405020304" pitchFamily="18" charset="0"/>
                <a:cs typeface="Times New Roman" panose="02020603050405020304" pitchFamily="18" charset="0"/>
              </a:rPr>
              <a:t>个简单析取式满足</a:t>
            </a:r>
            <a:r>
              <a:rPr lang="en-US" altLang="zh-CN" sz="2400" b="1" dirty="0" smtClean="0">
                <a:latin typeface="Times New Roman" panose="02020603050405020304" pitchFamily="18" charset="0"/>
                <a:cs typeface="Times New Roman" panose="02020603050405020304" pitchFamily="18" charset="0"/>
              </a:rPr>
              <a:t>.</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defRPr/>
            </a:pPr>
            <a:r>
              <a:rPr lang="zh-CN" altLang="en-US" sz="2400" b="1" dirty="0" smtClean="0">
                <a:latin typeface="Times New Roman" panose="02020603050405020304" pitchFamily="18" charset="0"/>
                <a:cs typeface="Times New Roman" panose="02020603050405020304" pitchFamily="18" charset="0"/>
              </a:rPr>
              <a:t>要证 </a:t>
            </a:r>
            <a:r>
              <a:rPr lang="en-US" altLang="zh-CN" sz="2400" b="1" dirty="0" smtClean="0">
                <a:latin typeface="Times New Roman" panose="02020603050405020304" pitchFamily="18" charset="0"/>
                <a:cs typeface="Times New Roman" panose="02020603050405020304" pitchFamily="18" charset="0"/>
              </a:rPr>
              <a:t>SAT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dirty="0" smtClean="0">
                <a:latin typeface="Times New Roman" panose="02020603050405020304" pitchFamily="18" charset="0"/>
                <a:cs typeface="Times New Roman" panose="02020603050405020304" pitchFamily="18" charset="0"/>
                <a:sym typeface="Symbol" panose="05050102010706020507" pitchFamily="18" charset="2"/>
              </a:rPr>
              <a:t>p </a:t>
            </a:r>
            <a:r>
              <a:rPr lang="en-US" altLang="zh-CN" sz="2400" b="1" dirty="0" smtClean="0">
                <a:latin typeface="Times New Roman" panose="02020603050405020304" pitchFamily="18" charset="0"/>
                <a:cs typeface="Times New Roman" panose="02020603050405020304" pitchFamily="18" charset="0"/>
              </a:rPr>
              <a:t>MAX-SAT.  </a:t>
            </a:r>
            <a:r>
              <a:rPr lang="zh-CN" altLang="en-US" sz="2400" b="1" dirty="0" smtClean="0">
                <a:latin typeface="Times New Roman" panose="02020603050405020304" pitchFamily="18" charset="0"/>
                <a:cs typeface="Times New Roman" panose="02020603050405020304" pitchFamily="18" charset="0"/>
              </a:rPr>
              <a:t>任给 </a:t>
            </a:r>
            <a:r>
              <a:rPr lang="en-US" altLang="zh-CN" sz="2400" b="1" dirty="0" smtClean="0">
                <a:latin typeface="Times New Roman" panose="02020603050405020304" pitchFamily="18" charset="0"/>
                <a:cs typeface="Times New Roman" panose="02020603050405020304" pitchFamily="18" charset="0"/>
              </a:rPr>
              <a:t>SAT</a:t>
            </a:r>
            <a:r>
              <a:rPr lang="zh-CN" altLang="en-US" sz="2400" b="1" dirty="0" smtClean="0">
                <a:latin typeface="Times New Roman" panose="02020603050405020304" pitchFamily="18" charset="0"/>
                <a:cs typeface="Times New Roman" panose="02020603050405020304" pitchFamily="18" charset="0"/>
              </a:rPr>
              <a:t>的实例 </a:t>
            </a:r>
            <a:r>
              <a:rPr lang="en-US" altLang="zh-CN" sz="2400" b="1" i="1" dirty="0"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关于变元 </a:t>
            </a:r>
            <a:r>
              <a:rPr lang="en-US" altLang="zh-CN" sz="2400" b="1" i="1" dirty="0" smtClean="0">
                <a:latin typeface="Times New Roman" panose="02020603050405020304" pitchFamily="18" charset="0"/>
                <a:cs typeface="Times New Roman" panose="02020603050405020304" pitchFamily="18" charset="0"/>
              </a:rPr>
              <a:t>x</a:t>
            </a:r>
            <a:r>
              <a:rPr lang="en-US" altLang="zh-CN" sz="2400" b="1" baseline="-25000"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 x</a:t>
            </a:r>
            <a:r>
              <a:rPr lang="en-US" altLang="zh-CN" sz="2400" b="1" baseline="-25000" dirty="0" smtClean="0">
                <a:latin typeface="Times New Roman" panose="02020603050405020304" pitchFamily="18" charset="0"/>
                <a:cs typeface="Times New Roman" panose="02020603050405020304" pitchFamily="18" charset="0"/>
              </a:rPr>
              <a:t>2</a:t>
            </a:r>
            <a:r>
              <a:rPr lang="en-US" altLang="zh-CN" sz="2400" b="1" dirty="0" smtClean="0">
                <a:latin typeface="Times New Roman" panose="02020603050405020304" pitchFamily="18" charset="0"/>
                <a:cs typeface="Times New Roman" panose="02020603050405020304" pitchFamily="18" charset="0"/>
              </a:rPr>
              <a:t>, </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defRPr/>
            </a:pP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x</a:t>
            </a:r>
            <a:r>
              <a:rPr lang="en-US" altLang="zh-CN" sz="2400" b="1" i="1" baseline="-25000" dirty="0" err="1" smtClean="0">
                <a:latin typeface="Times New Roman" panose="02020603050405020304" pitchFamily="18" charset="0"/>
                <a:cs typeface="Times New Roman" panose="02020603050405020304" pitchFamily="18" charset="0"/>
              </a:rPr>
              <a:t>n</a:t>
            </a:r>
            <a:r>
              <a:rPr lang="en-US" altLang="zh-CN" sz="2400" b="1" i="1" baseline="-25000"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的合取范式 </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C</a:t>
            </a:r>
            <a:r>
              <a:rPr lang="en-US" altLang="zh-CN" sz="2400" b="1" baseline="-25000"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C</a:t>
            </a:r>
            <a:r>
              <a:rPr lang="en-US" altLang="zh-CN" sz="2400" b="1" baseline="-25000" dirty="0" smtClean="0">
                <a:latin typeface="Times New Roman" panose="02020603050405020304" pitchFamily="18" charset="0"/>
                <a:cs typeface="Times New Roman" panose="02020603050405020304" pitchFamily="18" charset="0"/>
              </a:rPr>
              <a:t>2</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C</a:t>
            </a:r>
            <a:r>
              <a:rPr lang="en-US" altLang="zh-CN" sz="2400" b="1" i="1" baseline="-25000" dirty="0" smtClean="0">
                <a:latin typeface="Times New Roman" panose="02020603050405020304" pitchFamily="18" charset="0"/>
                <a:cs typeface="Times New Roman" panose="02020603050405020304" pitchFamily="18" charset="0"/>
              </a:rPr>
              <a:t>m</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其中 </a:t>
            </a:r>
            <a:r>
              <a:rPr lang="en-US" altLang="zh-CN" sz="2400" b="1" i="1" dirty="0" smtClean="0">
                <a:latin typeface="Times New Roman" panose="02020603050405020304" pitchFamily="18" charset="0"/>
                <a:cs typeface="Times New Roman" panose="02020603050405020304" pitchFamily="18" charset="0"/>
              </a:rPr>
              <a:t>C</a:t>
            </a:r>
            <a:r>
              <a:rPr lang="en-US" altLang="zh-CN" sz="2400" b="1" baseline="-25000"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C</a:t>
            </a:r>
            <a:r>
              <a:rPr lang="en-US" altLang="zh-CN" sz="2400" b="1" baseline="-25000" dirty="0" smtClean="0">
                <a:latin typeface="Times New Roman" panose="02020603050405020304" pitchFamily="18" charset="0"/>
                <a:cs typeface="Times New Roman" panose="02020603050405020304" pitchFamily="18" charset="0"/>
              </a:rPr>
              <a:t>2</a:t>
            </a:r>
            <a:r>
              <a:rPr lang="en-US" altLang="zh-CN" sz="2400" b="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C</a:t>
            </a:r>
            <a:r>
              <a:rPr lang="en-US" altLang="zh-CN" sz="2400" b="1" i="1" baseline="-25000" dirty="0" smtClean="0">
                <a:latin typeface="Times New Roman" panose="02020603050405020304" pitchFamily="18" charset="0"/>
                <a:cs typeface="Times New Roman" panose="02020603050405020304" pitchFamily="18" charset="0"/>
              </a:rPr>
              <a:t>m </a:t>
            </a:r>
            <a:r>
              <a:rPr lang="zh-CN" altLang="en-US" sz="2400" b="1" dirty="0" smtClean="0">
                <a:latin typeface="Times New Roman" panose="02020603050405020304" pitchFamily="18" charset="0"/>
                <a:cs typeface="Times New Roman" panose="02020603050405020304" pitchFamily="18" charset="0"/>
              </a:rPr>
              <a:t>是</a:t>
            </a:r>
            <a:endParaRPr lang="en-US" altLang="zh-CN" sz="2400" b="1" dirty="0" smtClean="0">
              <a:latin typeface="Times New Roman" panose="02020603050405020304" pitchFamily="18" charset="0"/>
              <a:cs typeface="Times New Roman" panose="02020603050405020304" pitchFamily="18" charset="0"/>
            </a:endParaRPr>
          </a:p>
          <a:p>
            <a:pPr marL="0" indent="0">
              <a:buFont typeface="Arial" panose="020B0604020202020204" pitchFamily="34" charset="0"/>
              <a:buNone/>
              <a:defRPr/>
            </a:pPr>
            <a:r>
              <a:rPr lang="zh-CN" altLang="en-US" sz="2400" b="1" dirty="0" smtClean="0">
                <a:latin typeface="Times New Roman" panose="02020603050405020304" pitchFamily="18" charset="0"/>
                <a:cs typeface="Times New Roman" panose="02020603050405020304" pitchFamily="18" charset="0"/>
              </a:rPr>
              <a:t>简单析取式</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对应的 </a:t>
            </a:r>
            <a:r>
              <a:rPr lang="en-US" altLang="zh-CN" sz="2400" b="1" dirty="0" smtClean="0">
                <a:latin typeface="Times New Roman" panose="02020603050405020304" pitchFamily="18" charset="0"/>
                <a:cs typeface="Times New Roman" panose="02020603050405020304" pitchFamily="18" charset="0"/>
              </a:rPr>
              <a:t>MAX-SAT </a:t>
            </a:r>
            <a:r>
              <a:rPr lang="zh-CN" altLang="en-US" sz="2400" b="1" dirty="0" smtClean="0">
                <a:latin typeface="Times New Roman" panose="02020603050405020304" pitchFamily="18" charset="0"/>
                <a:cs typeface="Times New Roman" panose="02020603050405020304" pitchFamily="18" charset="0"/>
              </a:rPr>
              <a:t>的实例 </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简单析取式 </a:t>
            </a:r>
            <a:r>
              <a:rPr lang="en-US" altLang="zh-CN" sz="2400" b="1" i="1" dirty="0" smtClean="0">
                <a:latin typeface="Times New Roman" panose="02020603050405020304" pitchFamily="18" charset="0"/>
                <a:cs typeface="Times New Roman" panose="02020603050405020304" pitchFamily="18" charset="0"/>
              </a:rPr>
              <a:t>C</a:t>
            </a:r>
            <a:r>
              <a:rPr lang="en-US" altLang="zh-CN" sz="2400" b="1" baseline="-25000"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C</a:t>
            </a:r>
            <a:r>
              <a:rPr lang="en-US" altLang="zh-CN" sz="2400" b="1" baseline="-25000" dirty="0" smtClean="0">
                <a:latin typeface="Times New Roman" panose="02020603050405020304" pitchFamily="18" charset="0"/>
                <a:cs typeface="Times New Roman" panose="02020603050405020304" pitchFamily="18" charset="0"/>
              </a:rPr>
              <a:t>2</a:t>
            </a:r>
            <a:r>
              <a:rPr lang="en-US" altLang="zh-CN" sz="2400" b="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C</a:t>
            </a:r>
            <a:r>
              <a:rPr lang="en-US" altLang="zh-CN" sz="2400" b="1" i="1" baseline="-25000" dirty="0" smtClean="0">
                <a:latin typeface="Times New Roman" panose="02020603050405020304" pitchFamily="18" charset="0"/>
                <a:cs typeface="Times New Roman" panose="02020603050405020304" pitchFamily="18" charset="0"/>
              </a:rPr>
              <a:t>m </a:t>
            </a:r>
            <a:r>
              <a:rPr lang="zh-CN" altLang="en-US" sz="2400" b="1" dirty="0" smtClean="0">
                <a:latin typeface="Times New Roman" panose="02020603050405020304" pitchFamily="18" charset="0"/>
                <a:cs typeface="Times New Roman" panose="02020603050405020304" pitchFamily="18" charset="0"/>
              </a:rPr>
              <a:t>和正整数 </a:t>
            </a:r>
            <a:r>
              <a:rPr lang="en-US" altLang="zh-CN" sz="2400" b="1" i="1" dirty="0" smtClean="0">
                <a:latin typeface="Times New Roman" panose="02020603050405020304" pitchFamily="18" charset="0"/>
                <a:cs typeface="Times New Roman" panose="02020603050405020304" pitchFamily="18" charset="0"/>
              </a:rPr>
              <a:t>K</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m</a:t>
            </a:r>
            <a:r>
              <a:rPr lang="en-US" altLang="zh-CN" sz="2400" b="1" dirty="0" smtClean="0">
                <a:latin typeface="Times New Roman" panose="02020603050405020304" pitchFamily="18" charset="0"/>
                <a:cs typeface="Times New Roman" panose="02020603050405020304" pitchFamily="18" charset="0"/>
              </a:rPr>
              <a:t>.    </a:t>
            </a:r>
            <a:endParaRPr lang="en-US" altLang="zh-CN" sz="2400" b="1" dirty="0"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ph type="title"/>
          </p:nvPr>
        </p:nvSpPr>
        <p:spPr/>
        <p:txBody>
          <a:bodyPr/>
          <a:lstStyle/>
          <a:p>
            <a:r>
              <a:rPr lang="en-US" altLang="zh-CN" sz="4000" b="1" smtClean="0">
                <a:solidFill>
                  <a:srgbClr val="C00000"/>
                </a:solidFill>
                <a:latin typeface="Times New Roman" panose="02020603050405020304" pitchFamily="18" charset="0"/>
                <a:cs typeface="Times New Roman" panose="02020603050405020304" pitchFamily="18" charset="0"/>
              </a:rPr>
              <a:t>3SAT</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29699" name="内容占位符 2"/>
          <p:cNvSpPr>
            <a:spLocks noGrp="1"/>
          </p:cNvSpPr>
          <p:nvPr>
            <p:ph idx="1"/>
          </p:nvPr>
        </p:nvSpPr>
        <p:spPr>
          <a:xfrm>
            <a:off x="457200" y="1341438"/>
            <a:ext cx="8229600" cy="4924425"/>
          </a:xfrm>
        </p:spPr>
        <p:txBody>
          <a:bodyPr/>
          <a:lstStyle/>
          <a:p>
            <a:pPr>
              <a:buFont typeface="Arial" panose="020B0604020202020204" pitchFamily="34" charset="0"/>
              <a:buNone/>
            </a:pPr>
            <a:r>
              <a:rPr lang="en-US" altLang="zh-CN" sz="2400" b="1" smtClean="0">
                <a:solidFill>
                  <a:srgbClr val="C00000"/>
                </a:solidFill>
                <a:latin typeface="Times New Roman" panose="02020603050405020304" pitchFamily="18" charset="0"/>
                <a:cs typeface="Times New Roman" panose="02020603050405020304" pitchFamily="18" charset="0"/>
              </a:rPr>
              <a:t>3</a:t>
            </a:r>
            <a:r>
              <a:rPr lang="zh-CN" altLang="en-US" sz="2400" b="1" smtClean="0">
                <a:solidFill>
                  <a:srgbClr val="C00000"/>
                </a:solidFill>
                <a:latin typeface="Times New Roman" panose="02020603050405020304" pitchFamily="18" charset="0"/>
                <a:cs typeface="Times New Roman" panose="02020603050405020304" pitchFamily="18" charset="0"/>
              </a:rPr>
              <a:t>元合取范式</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每一个简单析取式恰好有</a:t>
            </a:r>
            <a:r>
              <a:rPr lang="en-US" altLang="zh-CN" sz="2400" b="1" smtClean="0">
                <a:latin typeface="Times New Roman" panose="02020603050405020304" pitchFamily="18" charset="0"/>
                <a:cs typeface="Times New Roman" panose="02020603050405020304" pitchFamily="18" charset="0"/>
              </a:rPr>
              <a:t>3</a:t>
            </a:r>
            <a:r>
              <a:rPr lang="zh-CN" altLang="en-US" sz="2400" b="1" smtClean="0">
                <a:latin typeface="Times New Roman" panose="02020603050405020304" pitchFamily="18" charset="0"/>
                <a:cs typeface="Times New Roman" panose="02020603050405020304" pitchFamily="18" charset="0"/>
              </a:rPr>
              <a:t>个文字的合取范式</a:t>
            </a:r>
            <a:r>
              <a:rPr lang="en-US" altLang="zh-CN" sz="2400" b="1" smtClean="0">
                <a:latin typeface="Times New Roman" panose="02020603050405020304" pitchFamily="18" charset="0"/>
                <a:cs typeface="Times New Roman" panose="02020603050405020304" pitchFamily="18" charset="0"/>
              </a:rPr>
              <a:t>. </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solidFill>
                  <a:srgbClr val="C00000"/>
                </a:solidFill>
                <a:latin typeface="Times New Roman" panose="02020603050405020304" pitchFamily="18" charset="0"/>
                <a:cs typeface="Times New Roman" panose="02020603050405020304" pitchFamily="18" charset="0"/>
              </a:rPr>
              <a:t>三元可满足性 </a:t>
            </a:r>
            <a:r>
              <a:rPr lang="en-US" altLang="zh-CN" sz="2400" b="1" smtClean="0">
                <a:latin typeface="Times New Roman" panose="02020603050405020304" pitchFamily="18" charset="0"/>
                <a:cs typeface="Times New Roman" panose="02020603050405020304" pitchFamily="18" charset="0"/>
              </a:rPr>
              <a:t>(3SAT): </a:t>
            </a:r>
            <a:r>
              <a:rPr lang="zh-CN" altLang="en-US" sz="2400" b="1" smtClean="0">
                <a:latin typeface="Times New Roman" panose="02020603050405020304" pitchFamily="18" charset="0"/>
                <a:cs typeface="Times New Roman" panose="02020603050405020304" pitchFamily="18" charset="0"/>
              </a:rPr>
              <a:t>任给一个</a:t>
            </a:r>
            <a:r>
              <a:rPr lang="en-US" altLang="zh-CN" sz="2400" b="1" smtClean="0">
                <a:latin typeface="Times New Roman" panose="02020603050405020304" pitchFamily="18" charset="0"/>
                <a:cs typeface="Times New Roman" panose="02020603050405020304" pitchFamily="18" charset="0"/>
              </a:rPr>
              <a:t>3</a:t>
            </a:r>
            <a:r>
              <a:rPr lang="zh-CN" altLang="en-US" sz="2400" b="1" smtClean="0">
                <a:latin typeface="Times New Roman" panose="02020603050405020304" pitchFamily="18" charset="0"/>
                <a:cs typeface="Times New Roman" panose="02020603050405020304" pitchFamily="18" charset="0"/>
              </a:rPr>
              <a:t>元合取范式 </a:t>
            </a:r>
            <a:r>
              <a:rPr lang="en-US" altLang="zh-CN" sz="2400" b="1" i="1" smtClean="0">
                <a:latin typeface="Times New Roman" panose="02020603050405020304" pitchFamily="18" charset="0"/>
                <a:cs typeface="Times New Roman" panose="02020603050405020304" pitchFamily="18" charset="0"/>
              </a:rPr>
              <a:t>F</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问 </a:t>
            </a:r>
            <a:r>
              <a:rPr lang="en-US" altLang="zh-CN" sz="2400" b="1" i="1" smtClean="0">
                <a:latin typeface="Times New Roman" panose="02020603050405020304" pitchFamily="18" charset="0"/>
                <a:cs typeface="Times New Roman" panose="02020603050405020304" pitchFamily="18" charset="0"/>
              </a:rPr>
              <a:t>F </a:t>
            </a:r>
            <a:r>
              <a:rPr lang="zh-CN" altLang="en-US" sz="2400" b="1" smtClean="0">
                <a:latin typeface="Times New Roman" panose="02020603050405020304" pitchFamily="18" charset="0"/>
                <a:cs typeface="Times New Roman" panose="02020603050405020304" pitchFamily="18" charset="0"/>
              </a:rPr>
              <a:t>是可满</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足的吗</a:t>
            </a:r>
            <a:r>
              <a:rPr lang="en-US" altLang="zh-CN" sz="2400" b="1" smtClean="0">
                <a:latin typeface="Times New Roman" panose="02020603050405020304" pitchFamily="18" charset="0"/>
                <a:cs typeface="Times New Roman" panose="02020603050405020304" pitchFamily="18" charset="0"/>
              </a:rPr>
              <a:t>?</a:t>
            </a:r>
            <a:endParaRPr lang="zh-CN" altLang="en-US" sz="2400" b="1" smtClean="0">
              <a:latin typeface="Times New Roman" panose="02020603050405020304" pitchFamily="18" charset="0"/>
              <a:cs typeface="Times New Roman" panose="02020603050405020304" pitchFamily="18" charset="0"/>
            </a:endParaRPr>
          </a:p>
          <a:p>
            <a:pPr>
              <a:spcBef>
                <a:spcPts val="2400"/>
              </a:spcBef>
              <a:buFont typeface="Arial" panose="020B0604020202020204" pitchFamily="34" charset="0"/>
              <a:buNone/>
            </a:pPr>
            <a:r>
              <a:rPr lang="zh-CN" altLang="en-US" sz="2400" b="1" smtClean="0">
                <a:solidFill>
                  <a:srgbClr val="C00000"/>
                </a:solidFill>
                <a:latin typeface="Times New Roman" panose="02020603050405020304" pitchFamily="18" charset="0"/>
                <a:cs typeface="Times New Roman" panose="02020603050405020304" pitchFamily="18" charset="0"/>
              </a:rPr>
              <a:t>定理 </a:t>
            </a:r>
            <a:r>
              <a:rPr lang="en-US" altLang="zh-CN" sz="2400" b="1" smtClean="0">
                <a:solidFill>
                  <a:srgbClr val="C00000"/>
                </a:solidFill>
                <a:latin typeface="Times New Roman" panose="02020603050405020304" pitchFamily="18" charset="0"/>
                <a:cs typeface="Times New Roman" panose="02020603050405020304" pitchFamily="18" charset="0"/>
              </a:rPr>
              <a:t>9.9</a:t>
            </a:r>
            <a:r>
              <a:rPr lang="en-US" altLang="zh-CN" sz="2400" b="1" smtClean="0">
                <a:latin typeface="Times New Roman" panose="02020603050405020304" pitchFamily="18" charset="0"/>
                <a:cs typeface="Times New Roman" panose="02020603050405020304" pitchFamily="18" charset="0"/>
              </a:rPr>
              <a:t>  3SAT </a:t>
            </a:r>
            <a:r>
              <a:rPr lang="zh-CN" altLang="en-US" sz="2400" b="1" smtClean="0">
                <a:latin typeface="Times New Roman" panose="02020603050405020304" pitchFamily="18" charset="0"/>
                <a:cs typeface="Times New Roman" panose="02020603050405020304" pitchFamily="18" charset="0"/>
              </a:rPr>
              <a:t>是 </a:t>
            </a:r>
            <a:r>
              <a:rPr lang="en-US" altLang="zh-CN" sz="2400" b="1" smtClean="0">
                <a:latin typeface="Times New Roman" panose="02020603050405020304" pitchFamily="18" charset="0"/>
                <a:cs typeface="Times New Roman" panose="02020603050405020304" pitchFamily="18" charset="0"/>
              </a:rPr>
              <a:t>NP </a:t>
            </a:r>
            <a:r>
              <a:rPr lang="zh-CN" altLang="en-US" sz="2400" b="1" smtClean="0">
                <a:latin typeface="Times New Roman" panose="02020603050405020304" pitchFamily="18" charset="0"/>
                <a:cs typeface="Times New Roman" panose="02020603050405020304" pitchFamily="18" charset="0"/>
              </a:rPr>
              <a:t>完全的</a:t>
            </a:r>
            <a:r>
              <a:rPr lang="en-US" altLang="zh-CN" sz="2400" b="1" smtClean="0">
                <a:latin typeface="Times New Roman" panose="02020603050405020304" pitchFamily="18" charset="0"/>
                <a:cs typeface="Times New Roman" panose="02020603050405020304" pitchFamily="18" charset="0"/>
              </a:rPr>
              <a:t>.</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证  显然 </a:t>
            </a:r>
            <a:r>
              <a:rPr lang="en-US" altLang="zh-CN" sz="2400" b="1" smtClean="0">
                <a:latin typeface="Times New Roman" panose="02020603050405020304" pitchFamily="18" charset="0"/>
                <a:cs typeface="Times New Roman" panose="02020603050405020304" pitchFamily="18" charset="0"/>
              </a:rPr>
              <a:t>3SAT</a:t>
            </a:r>
            <a:r>
              <a:rPr lang="en-US" altLang="zh-CN" sz="240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NP</a:t>
            </a:r>
            <a:r>
              <a:rPr lang="en-US" altLang="zh-CN" sz="2400" smtClean="0">
                <a:latin typeface="Times New Roman" panose="02020603050405020304" pitchFamily="18" charset="0"/>
                <a:cs typeface="Times New Roman" panose="02020603050405020304" pitchFamily="18" charset="0"/>
              </a:rPr>
              <a:t>.  </a:t>
            </a:r>
            <a:endParaRPr lang="zh-CN" altLang="en-US" sz="240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要证 </a:t>
            </a:r>
            <a:r>
              <a:rPr lang="en-US" altLang="zh-CN" sz="2400" b="1" smtClean="0">
                <a:latin typeface="Times New Roman" panose="02020603050405020304" pitchFamily="18" charset="0"/>
                <a:cs typeface="Times New Roman" panose="02020603050405020304" pitchFamily="18" charset="0"/>
              </a:rPr>
              <a:t>SAT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latin typeface="Times New Roman" panose="02020603050405020304" pitchFamily="18" charset="0"/>
                <a:cs typeface="Times New Roman" panose="02020603050405020304" pitchFamily="18" charset="0"/>
              </a:rPr>
              <a:t>p</a:t>
            </a:r>
            <a:r>
              <a:rPr lang="en-US" altLang="zh-CN" sz="2400" b="1" smtClean="0">
                <a:latin typeface="Times New Roman" panose="02020603050405020304" pitchFamily="18" charset="0"/>
                <a:cs typeface="Times New Roman" panose="02020603050405020304" pitchFamily="18" charset="0"/>
              </a:rPr>
              <a:t>3SAT. </a:t>
            </a:r>
            <a:r>
              <a:rPr lang="zh-CN" altLang="en-US" sz="2400" b="1" smtClean="0">
                <a:latin typeface="Times New Roman" panose="02020603050405020304" pitchFamily="18" charset="0"/>
                <a:cs typeface="Times New Roman" panose="02020603050405020304" pitchFamily="18" charset="0"/>
              </a:rPr>
              <a:t>任给一个合取范式 </a:t>
            </a:r>
            <a:r>
              <a:rPr lang="en-US" altLang="zh-CN" sz="2400" b="1" i="1" smtClean="0">
                <a:latin typeface="Times New Roman" panose="02020603050405020304" pitchFamily="18" charset="0"/>
                <a:cs typeface="Times New Roman" panose="02020603050405020304" pitchFamily="18" charset="0"/>
              </a:rPr>
              <a:t>F</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要构造对应的 </a:t>
            </a:r>
            <a:r>
              <a:rPr lang="en-US" altLang="zh-CN" sz="2400" b="1" smtClean="0">
                <a:latin typeface="Times New Roman" panose="02020603050405020304" pitchFamily="18" charset="0"/>
                <a:cs typeface="Times New Roman" panose="02020603050405020304" pitchFamily="18" charset="0"/>
              </a:rPr>
              <a:t>3</a:t>
            </a:r>
            <a:r>
              <a:rPr lang="zh-CN" altLang="en-US" sz="2400" b="1" smtClean="0">
                <a:latin typeface="Times New Roman" panose="02020603050405020304" pitchFamily="18" charset="0"/>
                <a:cs typeface="Times New Roman" panose="02020603050405020304" pitchFamily="18" charset="0"/>
              </a:rPr>
              <a:t>元合</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取范式 </a:t>
            </a:r>
            <a:r>
              <a:rPr lang="en-US" altLang="zh-CN" sz="2400" b="1" i="1" smtClean="0">
                <a:latin typeface="Times New Roman" panose="02020603050405020304" pitchFamily="18" charset="0"/>
                <a:cs typeface="Times New Roman" panose="02020603050405020304" pitchFamily="18" charset="0"/>
              </a:rPr>
              <a:t>F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 = </a:t>
            </a:r>
            <a:r>
              <a:rPr lang="en-US" altLang="zh-CN" sz="2400" b="1" i="1" smtClean="0">
                <a:latin typeface="Times New Roman" panose="02020603050405020304" pitchFamily="18" charset="0"/>
                <a:cs typeface="Times New Roman" panose="02020603050405020304" pitchFamily="18" charset="0"/>
              </a:rPr>
              <a:t>f</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F</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使得</a:t>
            </a:r>
            <a:r>
              <a:rPr lang="en-US" altLang="zh-CN" sz="2400" b="1" i="1" smtClean="0">
                <a:latin typeface="Times New Roman" panose="02020603050405020304" pitchFamily="18" charset="0"/>
                <a:cs typeface="Times New Roman" panose="02020603050405020304" pitchFamily="18" charset="0"/>
              </a:rPr>
              <a:t>F</a:t>
            </a:r>
            <a:r>
              <a:rPr lang="zh-CN" altLang="en-US" sz="2400" b="1" smtClean="0">
                <a:latin typeface="Times New Roman" panose="02020603050405020304" pitchFamily="18" charset="0"/>
                <a:cs typeface="Times New Roman" panose="02020603050405020304" pitchFamily="18" charset="0"/>
              </a:rPr>
              <a:t>是可满足的当且仅当 </a:t>
            </a:r>
            <a:r>
              <a:rPr lang="en-US" altLang="zh-CN" sz="2400" b="1" i="1" smtClean="0">
                <a:latin typeface="Times New Roman" panose="02020603050405020304" pitchFamily="18" charset="0"/>
                <a:cs typeface="Times New Roman" panose="02020603050405020304" pitchFamily="18" charset="0"/>
              </a:rPr>
              <a:t>F</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是可满足的</a:t>
            </a:r>
            <a:r>
              <a:rPr lang="en-US" altLang="zh-CN" sz="2400" b="1" smtClean="0">
                <a:latin typeface="Times New Roman" panose="02020603050405020304" pitchFamily="18" charset="0"/>
                <a:cs typeface="Times New Roman" panose="02020603050405020304" pitchFamily="18" charset="0"/>
              </a:rPr>
              <a:t>.</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设 </a:t>
            </a:r>
            <a:r>
              <a:rPr lang="en-US" altLang="zh-CN" sz="2400" b="1" i="1" smtClean="0">
                <a:latin typeface="Times New Roman" panose="02020603050405020304" pitchFamily="18" charset="0"/>
                <a:cs typeface="Times New Roman" panose="02020603050405020304" pitchFamily="18" charset="0"/>
              </a:rPr>
              <a:t>F</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C</a:t>
            </a:r>
            <a:r>
              <a:rPr lang="en-US" altLang="zh-CN" sz="2400" b="1" baseline="-25000" smtClean="0">
                <a:latin typeface="Times New Roman" panose="02020603050405020304" pitchFamily="18" charset="0"/>
                <a:cs typeface="Times New Roman" panose="02020603050405020304" pitchFamily="18" charset="0"/>
              </a:rPr>
              <a:t>1</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C</a:t>
            </a:r>
            <a:r>
              <a:rPr lang="en-US" altLang="zh-CN" sz="2400" b="1" baseline="-25000" smtClean="0">
                <a:latin typeface="Times New Roman" panose="02020603050405020304" pitchFamily="18" charset="0"/>
                <a:cs typeface="Times New Roman" panose="02020603050405020304" pitchFamily="18" charset="0"/>
                <a:sym typeface="Symbol" panose="05050102010706020507" pitchFamily="18" charset="2"/>
              </a:rPr>
              <a:t>2</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C</a:t>
            </a:r>
            <a:r>
              <a:rPr lang="en-US" altLang="zh-CN" sz="2400" b="1" i="1" baseline="-25000" smtClean="0">
                <a:latin typeface="Times New Roman" panose="02020603050405020304" pitchFamily="18" charset="0"/>
                <a:cs typeface="Times New Roman" panose="02020603050405020304" pitchFamily="18" charset="0"/>
                <a:sym typeface="Symbol" panose="05050102010706020507" pitchFamily="18" charset="2"/>
              </a:rPr>
              <a:t>m</a:t>
            </a:r>
            <a:r>
              <a:rPr lang="en-US" altLang="zh-CN" sz="2400" b="1" smtClean="0">
                <a:latin typeface="Times New Roman" panose="02020603050405020304" pitchFamily="18" charset="0"/>
                <a:cs typeface="Times New Roman" panose="02020603050405020304" pitchFamily="18" charset="0"/>
              </a:rPr>
              <a:t> , </a:t>
            </a:r>
            <a:r>
              <a:rPr lang="zh-CN" altLang="en-US" sz="2400" b="1" smtClean="0">
                <a:latin typeface="Times New Roman" panose="02020603050405020304" pitchFamily="18" charset="0"/>
                <a:cs typeface="Times New Roman" panose="02020603050405020304" pitchFamily="18" charset="0"/>
              </a:rPr>
              <a:t>对应的 </a:t>
            </a:r>
            <a:r>
              <a:rPr lang="en-US" altLang="zh-CN" sz="2400" b="1" i="1" smtClean="0">
                <a:latin typeface="Times New Roman" panose="02020603050405020304" pitchFamily="18" charset="0"/>
                <a:cs typeface="Times New Roman" panose="02020603050405020304" pitchFamily="18" charset="0"/>
              </a:rPr>
              <a:t>F</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 </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F</a:t>
            </a:r>
            <a:r>
              <a:rPr lang="en-US" altLang="zh-CN" sz="2400" b="1" baseline="-25000" smtClean="0">
                <a:latin typeface="Times New Roman" panose="02020603050405020304" pitchFamily="18" charset="0"/>
                <a:cs typeface="Times New Roman" panose="02020603050405020304" pitchFamily="18" charset="0"/>
              </a:rPr>
              <a:t>1</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F</a:t>
            </a:r>
            <a:r>
              <a:rPr lang="en-US" altLang="zh-CN" sz="2400" b="1" baseline="-25000" smtClean="0">
                <a:latin typeface="Times New Roman" panose="02020603050405020304" pitchFamily="18" charset="0"/>
                <a:cs typeface="Times New Roman" panose="02020603050405020304" pitchFamily="18" charset="0"/>
                <a:sym typeface="Symbol" panose="05050102010706020507" pitchFamily="18" charset="2"/>
              </a:rPr>
              <a:t>2</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30000" smtClean="0">
                <a:latin typeface="Times New Roman" panose="02020603050405020304" pitchFamily="18" charset="0"/>
                <a:cs typeface="Times New Roman" panose="02020603050405020304" pitchFamily="18" charset="0"/>
              </a:rPr>
              <a:t>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sym typeface="Symbol" panose="05050102010706020507" pitchFamily="18" charset="2"/>
              </a:rPr>
              <a:t>F</a:t>
            </a:r>
            <a:r>
              <a:rPr lang="en-US" altLang="zh-CN" sz="2400" b="1" i="1" baseline="-25000" smtClean="0">
                <a:latin typeface="Times New Roman" panose="02020603050405020304" pitchFamily="18" charset="0"/>
                <a:cs typeface="Times New Roman" panose="02020603050405020304" pitchFamily="18" charset="0"/>
                <a:sym typeface="Symbol" panose="05050102010706020507" pitchFamily="18" charset="2"/>
              </a:rPr>
              <a:t>m</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F</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i="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是</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对应 </a:t>
            </a:r>
            <a:r>
              <a:rPr lang="en-US" altLang="zh-CN" sz="2400" b="1" i="1" smtClean="0">
                <a:latin typeface="Times New Roman" panose="02020603050405020304" pitchFamily="18" charset="0"/>
                <a:cs typeface="Times New Roman" panose="02020603050405020304" pitchFamily="18" charset="0"/>
              </a:rPr>
              <a:t>C</a:t>
            </a:r>
            <a:r>
              <a:rPr lang="en-US" altLang="zh-CN" sz="2400" b="1" i="1" baseline="-25000" smtClean="0">
                <a:latin typeface="Times New Roman" panose="02020603050405020304" pitchFamily="18" charset="0"/>
                <a:cs typeface="Times New Roman" panose="02020603050405020304" pitchFamily="18" charset="0"/>
              </a:rPr>
              <a:t>j </a:t>
            </a:r>
            <a:r>
              <a:rPr lang="zh-CN" altLang="en-US" sz="2400" b="1" smtClean="0">
                <a:latin typeface="Times New Roman" panose="02020603050405020304" pitchFamily="18" charset="0"/>
                <a:cs typeface="Times New Roman" panose="02020603050405020304" pitchFamily="18" charset="0"/>
              </a:rPr>
              <a:t>的合取范式</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并且</a:t>
            </a:r>
            <a:endParaRPr lang="zh-CN" altLang="en-US"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i="1" smtClean="0">
                <a:latin typeface="Times New Roman" panose="02020603050405020304" pitchFamily="18" charset="0"/>
                <a:cs typeface="Times New Roman" panose="02020603050405020304" pitchFamily="18" charset="0"/>
              </a:rPr>
              <a:t>                C</a:t>
            </a:r>
            <a:r>
              <a:rPr lang="en-US" altLang="zh-CN" sz="2400" b="1" i="1" baseline="-25000" smtClean="0">
                <a:latin typeface="Times New Roman" panose="02020603050405020304" pitchFamily="18" charset="0"/>
                <a:cs typeface="Times New Roman" panose="02020603050405020304" pitchFamily="18" charset="0"/>
              </a:rPr>
              <a:t>j </a:t>
            </a:r>
            <a:r>
              <a:rPr lang="zh-CN" altLang="en-US" sz="2400" b="1" smtClean="0">
                <a:latin typeface="Times New Roman" panose="02020603050405020304" pitchFamily="18" charset="0"/>
                <a:cs typeface="Times New Roman" panose="02020603050405020304" pitchFamily="18" charset="0"/>
              </a:rPr>
              <a:t>是可满足的当且仅当</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F</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zh-CN" altLang="en-US" sz="2400" b="1" smtClean="0">
                <a:latin typeface="Times New Roman" panose="02020603050405020304" pitchFamily="18" charset="0"/>
                <a:cs typeface="Times New Roman" panose="02020603050405020304" pitchFamily="18" charset="0"/>
              </a:rPr>
              <a:t>是可满足的</a:t>
            </a:r>
            <a:r>
              <a:rPr lang="en-US" altLang="zh-CN" sz="2400" b="1" smtClean="0">
                <a:latin typeface="Times New Roman" panose="02020603050405020304" pitchFamily="18" charset="0"/>
                <a:cs typeface="Times New Roman" panose="02020603050405020304" pitchFamily="18" charset="0"/>
              </a:rPr>
              <a:t>.         </a:t>
            </a:r>
            <a:endParaRPr lang="zh-CN" altLang="en-US"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endParaRPr lang="zh-CN" altLang="en-US" sz="2400" b="1"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b="1" smtClean="0">
                <a:solidFill>
                  <a:srgbClr val="C00000"/>
                </a:solidFill>
                <a:latin typeface="Times New Roman" panose="02020603050405020304" pitchFamily="18" charset="0"/>
                <a:cs typeface="Times New Roman" panose="02020603050405020304" pitchFamily="18" charset="0"/>
                <a:sym typeface="+mn-ea"/>
              </a:rPr>
              <a:t>3SAT</a:t>
            </a:r>
            <a:endParaRPr lang="zh-CN" altLang="en-US"/>
          </a:p>
        </p:txBody>
      </p:sp>
      <p:sp>
        <p:nvSpPr>
          <p:cNvPr id="3" name="内容占位符 2"/>
          <p:cNvSpPr>
            <a:spLocks noGrp="1"/>
          </p:cNvSpPr>
          <p:nvPr>
            <p:ph idx="1"/>
          </p:nvPr>
        </p:nvSpPr>
        <p:spPr/>
        <p:txBody>
          <a:bodyPr/>
          <a:p>
            <a:endParaRPr lang="zh-CN" altLang="en-US"/>
          </a:p>
        </p:txBody>
      </p:sp>
      <p:pic>
        <p:nvPicPr>
          <p:cNvPr id="5" name="图片 4" descr="RCSTWD(UYT518V`4B8@@AB0"/>
          <p:cNvPicPr>
            <a:picLocks noChangeAspect="1"/>
          </p:cNvPicPr>
          <p:nvPr>
            <p:custDataLst>
              <p:tags r:id="rId1"/>
            </p:custDataLst>
          </p:nvPr>
        </p:nvPicPr>
        <p:blipFill>
          <a:blip r:embed="rId2"/>
          <a:stretch>
            <a:fillRect/>
          </a:stretch>
        </p:blipFill>
        <p:spPr>
          <a:xfrm>
            <a:off x="539750" y="1089660"/>
            <a:ext cx="8389620" cy="4283075"/>
          </a:xfrm>
          <a:prstGeom prst="rect">
            <a:avLst/>
          </a:prstGeom>
        </p:spPr>
      </p:pic>
      <p:pic>
        <p:nvPicPr>
          <p:cNvPr id="6" name="图片 5" descr="9%Y[2HU6K8WW$%P(6W8]P_0"/>
          <p:cNvPicPr>
            <a:picLocks noChangeAspect="1"/>
          </p:cNvPicPr>
          <p:nvPr>
            <p:custDataLst>
              <p:tags r:id="rId3"/>
            </p:custDataLst>
          </p:nvPr>
        </p:nvPicPr>
        <p:blipFill>
          <a:blip r:embed="rId4"/>
          <a:stretch>
            <a:fillRect/>
          </a:stretch>
        </p:blipFill>
        <p:spPr>
          <a:xfrm>
            <a:off x="395605" y="5600065"/>
            <a:ext cx="7833360" cy="64960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p:cNvSpPr>
          <p:nvPr>
            <p:ph type="title"/>
          </p:nvPr>
        </p:nvSpPr>
        <p:spPr>
          <a:xfrm>
            <a:off x="409575" y="17463"/>
            <a:ext cx="8229600" cy="1143000"/>
          </a:xfrm>
        </p:spPr>
        <p:txBody>
          <a:bodyPr/>
          <a:lstStyle/>
          <a:p>
            <a:r>
              <a:rPr lang="zh-CN" altLang="en-US" sz="4000" b="1" smtClean="0">
                <a:solidFill>
                  <a:srgbClr val="C00000"/>
                </a:solidFill>
                <a:latin typeface="Times New Roman" panose="02020603050405020304" pitchFamily="18" charset="0"/>
                <a:cs typeface="Times New Roman" panose="02020603050405020304" pitchFamily="18" charset="0"/>
              </a:rPr>
              <a:t>证明</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30723" name="内容占位符 2"/>
          <p:cNvSpPr>
            <a:spLocks noGrp="1"/>
          </p:cNvSpPr>
          <p:nvPr>
            <p:ph idx="1"/>
          </p:nvPr>
        </p:nvSpPr>
        <p:spPr>
          <a:xfrm>
            <a:off x="409575" y="981075"/>
            <a:ext cx="8497888" cy="5400675"/>
          </a:xfrm>
        </p:spPr>
        <p:txBody>
          <a:bodyPr/>
          <a:lstStyle/>
          <a:p>
            <a:pPr>
              <a:buFont typeface="Arial" panose="020B0604020202020204" pitchFamily="34" charset="0"/>
              <a:buNone/>
            </a:pPr>
            <a:r>
              <a:rPr lang="en-US" altLang="zh-CN" sz="2400" b="1" dirty="0" smtClean="0">
                <a:latin typeface="Times New Roman" panose="02020603050405020304" pitchFamily="18" charset="0"/>
                <a:cs typeface="Times New Roman" panose="02020603050405020304" pitchFamily="18" charset="0"/>
              </a:rPr>
              <a:t>(1) </a:t>
            </a:r>
            <a:r>
              <a:rPr lang="en-US" altLang="zh-CN" sz="2400" b="1" i="1" dirty="0" err="1" smtClean="0">
                <a:latin typeface="Times New Roman" panose="02020603050405020304" pitchFamily="18" charset="0"/>
                <a:cs typeface="Times New Roman" panose="02020603050405020304" pitchFamily="18" charset="0"/>
              </a:rPr>
              <a:t>C</a:t>
            </a:r>
            <a:r>
              <a:rPr lang="en-US" altLang="zh-CN" sz="2400" b="1" i="1" baseline="-25000" dirty="0" err="1" smtClean="0">
                <a:latin typeface="Times New Roman" panose="02020603050405020304" pitchFamily="18" charset="0"/>
                <a:cs typeface="Times New Roman" panose="02020603050405020304" pitchFamily="18" charset="0"/>
              </a:rPr>
              <a:t>j</a:t>
            </a:r>
            <a:r>
              <a:rPr lang="en-US" altLang="zh-CN" sz="2400" b="1" i="1" baseline="-25000"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z</a:t>
            </a:r>
            <a:r>
              <a:rPr lang="en-US" altLang="zh-CN" sz="2400" b="1" baseline="-25000"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引入两个新变元 </a:t>
            </a:r>
            <a:r>
              <a:rPr lang="en-US" altLang="zh-CN" sz="2400" b="1" i="1" dirty="0" smtClean="0">
                <a:latin typeface="Times New Roman" panose="02020603050405020304" pitchFamily="18" charset="0"/>
                <a:cs typeface="Times New Roman" panose="02020603050405020304" pitchFamily="18" charset="0"/>
              </a:rPr>
              <a:t>y</a:t>
            </a:r>
            <a:r>
              <a:rPr lang="en-US" altLang="zh-CN" sz="2400" b="1" i="1" baseline="-25000" dirty="0" smtClean="0">
                <a:latin typeface="Times New Roman" panose="02020603050405020304" pitchFamily="18" charset="0"/>
                <a:cs typeface="Times New Roman" panose="02020603050405020304" pitchFamily="18" charset="0"/>
              </a:rPr>
              <a:t>j</a:t>
            </a:r>
            <a:r>
              <a:rPr lang="en-US" altLang="zh-CN" sz="2400" b="1" baseline="-25000"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y</a:t>
            </a:r>
            <a:r>
              <a:rPr lang="en-US" altLang="zh-CN" sz="2400" b="1" i="1" baseline="-25000" dirty="0" smtClean="0">
                <a:latin typeface="Times New Roman" panose="02020603050405020304" pitchFamily="18" charset="0"/>
                <a:cs typeface="Times New Roman" panose="02020603050405020304" pitchFamily="18" charset="0"/>
              </a:rPr>
              <a:t>j</a:t>
            </a:r>
            <a:r>
              <a:rPr lang="en-US" altLang="zh-CN" sz="2400" b="1" baseline="-25000" dirty="0" smtClean="0">
                <a:latin typeface="Times New Roman" panose="02020603050405020304" pitchFamily="18" charset="0"/>
                <a:cs typeface="Times New Roman" panose="02020603050405020304" pitchFamily="18" charset="0"/>
              </a:rPr>
              <a:t>2</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令</a:t>
            </a:r>
            <a:endParaRPr lang="zh-CN" altLang="en-US"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i="1" dirty="0" smtClean="0">
                <a:latin typeface="Times New Roman" panose="02020603050405020304" pitchFamily="18" charset="0"/>
                <a:cs typeface="Times New Roman" panose="02020603050405020304" pitchFamily="18" charset="0"/>
              </a:rPr>
              <a:t>F</a:t>
            </a:r>
            <a:r>
              <a:rPr lang="en-US" altLang="zh-CN" sz="2400" b="1" i="1" baseline="-25000"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z</a:t>
            </a:r>
            <a:r>
              <a:rPr lang="en-US" altLang="zh-CN" sz="2400" b="1" baseline="-25000"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 y</a:t>
            </a:r>
            <a:r>
              <a:rPr lang="en-US" altLang="zh-CN" sz="2400" b="1" i="1" baseline="-25000" dirty="0" smtClean="0">
                <a:latin typeface="Times New Roman" panose="02020603050405020304" pitchFamily="18" charset="0"/>
                <a:cs typeface="Times New Roman" panose="02020603050405020304" pitchFamily="18" charset="0"/>
              </a:rPr>
              <a:t>j</a:t>
            </a:r>
            <a:r>
              <a:rPr lang="en-US" altLang="zh-CN" sz="2400" b="1" baseline="-25000"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 y</a:t>
            </a:r>
            <a:r>
              <a:rPr lang="en-US" altLang="zh-CN" sz="2400" b="1" i="1" baseline="-25000" dirty="0" smtClean="0">
                <a:latin typeface="Times New Roman" panose="02020603050405020304" pitchFamily="18" charset="0"/>
                <a:cs typeface="Times New Roman" panose="02020603050405020304" pitchFamily="18" charset="0"/>
              </a:rPr>
              <a:t>j</a:t>
            </a:r>
            <a:r>
              <a:rPr lang="en-US" altLang="zh-CN" sz="2400" b="1" baseline="-25000" dirty="0" smtClean="0">
                <a:latin typeface="Times New Roman" panose="02020603050405020304" pitchFamily="18" charset="0"/>
                <a:cs typeface="Times New Roman" panose="02020603050405020304" pitchFamily="18" charset="0"/>
              </a:rPr>
              <a:t>2</a:t>
            </a:r>
            <a:r>
              <a:rPr lang="en-US" altLang="zh-CN" sz="2400" b="1" dirty="0" smtClean="0">
                <a:latin typeface="Times New Roman" panose="02020603050405020304" pitchFamily="18" charset="0"/>
                <a:cs typeface="Times New Roman" panose="02020603050405020304" pitchFamily="18" charset="0"/>
              </a:rPr>
              <a:t>)</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z</a:t>
            </a:r>
            <a:r>
              <a:rPr lang="en-US" altLang="zh-CN" sz="2400" b="1" baseline="-25000"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 y</a:t>
            </a:r>
            <a:r>
              <a:rPr lang="en-US" altLang="zh-CN" sz="2400" b="1" i="1" baseline="-25000" dirty="0" smtClean="0">
                <a:latin typeface="Times New Roman" panose="02020603050405020304" pitchFamily="18" charset="0"/>
                <a:cs typeface="Times New Roman" panose="02020603050405020304" pitchFamily="18" charset="0"/>
              </a:rPr>
              <a:t>j</a:t>
            </a:r>
            <a:r>
              <a:rPr lang="en-US" altLang="zh-CN" sz="2400" b="1" baseline="-25000"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 y</a:t>
            </a:r>
            <a:r>
              <a:rPr lang="en-US" altLang="zh-CN" sz="2400" b="1" i="1" baseline="-25000" dirty="0" smtClean="0">
                <a:latin typeface="Times New Roman" panose="02020603050405020304" pitchFamily="18" charset="0"/>
                <a:cs typeface="Times New Roman" panose="02020603050405020304" pitchFamily="18" charset="0"/>
              </a:rPr>
              <a:t>j</a:t>
            </a:r>
            <a:r>
              <a:rPr lang="en-US" altLang="zh-CN" sz="2400" b="1" baseline="-25000" dirty="0" smtClean="0">
                <a:latin typeface="Times New Roman" panose="02020603050405020304" pitchFamily="18" charset="0"/>
                <a:cs typeface="Times New Roman" panose="02020603050405020304" pitchFamily="18" charset="0"/>
              </a:rPr>
              <a:t>2</a:t>
            </a:r>
            <a:r>
              <a:rPr lang="en-US" altLang="zh-CN" sz="2400" b="1" dirty="0" smtClean="0">
                <a:latin typeface="Times New Roman" panose="02020603050405020304" pitchFamily="18" charset="0"/>
                <a:cs typeface="Times New Roman" panose="02020603050405020304" pitchFamily="18" charset="0"/>
              </a:rPr>
              <a:t>)</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z</a:t>
            </a:r>
            <a:r>
              <a:rPr lang="en-US" altLang="zh-CN" sz="2400" b="1" baseline="-25000"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 y</a:t>
            </a:r>
            <a:r>
              <a:rPr lang="en-US" altLang="zh-CN" sz="2400" b="1" i="1" baseline="-25000" dirty="0" smtClean="0">
                <a:latin typeface="Times New Roman" panose="02020603050405020304" pitchFamily="18" charset="0"/>
                <a:cs typeface="Times New Roman" panose="02020603050405020304" pitchFamily="18" charset="0"/>
              </a:rPr>
              <a:t>j</a:t>
            </a:r>
            <a:r>
              <a:rPr lang="en-US" altLang="zh-CN" sz="2400" b="1" baseline="-25000"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 y</a:t>
            </a:r>
            <a:r>
              <a:rPr lang="en-US" altLang="zh-CN" sz="2400" b="1" i="1" baseline="-25000" dirty="0" smtClean="0">
                <a:latin typeface="Times New Roman" panose="02020603050405020304" pitchFamily="18" charset="0"/>
                <a:cs typeface="Times New Roman" panose="02020603050405020304" pitchFamily="18" charset="0"/>
              </a:rPr>
              <a:t>j</a:t>
            </a:r>
            <a:r>
              <a:rPr lang="en-US" altLang="zh-CN" sz="2400" b="1" baseline="-25000" dirty="0" smtClean="0">
                <a:latin typeface="Times New Roman" panose="02020603050405020304" pitchFamily="18" charset="0"/>
                <a:cs typeface="Times New Roman" panose="02020603050405020304" pitchFamily="18" charset="0"/>
              </a:rPr>
              <a:t>2</a:t>
            </a:r>
            <a:r>
              <a:rPr lang="en-US" altLang="zh-CN" sz="2400" b="1" dirty="0" smtClean="0">
                <a:latin typeface="Times New Roman" panose="02020603050405020304" pitchFamily="18" charset="0"/>
                <a:cs typeface="Times New Roman" panose="02020603050405020304" pitchFamily="18" charset="0"/>
              </a:rPr>
              <a:t>)</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z</a:t>
            </a:r>
            <a:r>
              <a:rPr lang="en-US" altLang="zh-CN" sz="2400" b="1" baseline="-25000"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 y</a:t>
            </a:r>
            <a:r>
              <a:rPr lang="en-US" altLang="zh-CN" sz="2400" b="1" i="1" baseline="-25000" dirty="0" smtClean="0">
                <a:latin typeface="Times New Roman" panose="02020603050405020304" pitchFamily="18" charset="0"/>
                <a:cs typeface="Times New Roman" panose="02020603050405020304" pitchFamily="18" charset="0"/>
              </a:rPr>
              <a:t>j</a:t>
            </a:r>
            <a:r>
              <a:rPr lang="en-US" altLang="zh-CN" sz="2400" b="1" baseline="-25000"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 y</a:t>
            </a:r>
            <a:r>
              <a:rPr lang="en-US" altLang="zh-CN" sz="2400" b="1" i="1" baseline="-25000" dirty="0" smtClean="0">
                <a:latin typeface="Times New Roman" panose="02020603050405020304" pitchFamily="18" charset="0"/>
                <a:cs typeface="Times New Roman" panose="02020603050405020304" pitchFamily="18" charset="0"/>
              </a:rPr>
              <a:t>j</a:t>
            </a:r>
            <a:r>
              <a:rPr lang="en-US" altLang="zh-CN" sz="2400" b="1" baseline="-25000" dirty="0" smtClean="0">
                <a:latin typeface="Times New Roman" panose="02020603050405020304" pitchFamily="18" charset="0"/>
                <a:cs typeface="Times New Roman" panose="02020603050405020304" pitchFamily="18" charset="0"/>
              </a:rPr>
              <a:t>2</a:t>
            </a:r>
            <a:r>
              <a:rPr lang="en-US" altLang="zh-CN" sz="2400" b="1" dirty="0" smtClean="0">
                <a:latin typeface="Times New Roman" panose="02020603050405020304" pitchFamily="18" charset="0"/>
                <a:cs typeface="Times New Roman" panose="02020603050405020304" pitchFamily="18" charset="0"/>
              </a:rPr>
              <a:t>).</a:t>
            </a:r>
            <a:endParaRPr lang="zh-CN" altLang="en-US" sz="2400" b="1" dirty="0" smtClean="0">
              <a:latin typeface="Times New Roman" panose="02020603050405020304" pitchFamily="18" charset="0"/>
              <a:cs typeface="Times New Roman" panose="02020603050405020304" pitchFamily="18" charset="0"/>
            </a:endParaRPr>
          </a:p>
          <a:p>
            <a:pPr>
              <a:spcBef>
                <a:spcPts val="1200"/>
              </a:spcBef>
              <a:buFont typeface="Arial" panose="020B0604020202020204" pitchFamily="34" charset="0"/>
              <a:buNone/>
            </a:pPr>
            <a:r>
              <a:rPr lang="en-US" altLang="zh-CN" sz="2400" b="1" dirty="0" smtClean="0">
                <a:latin typeface="Times New Roman" panose="02020603050405020304" pitchFamily="18" charset="0"/>
                <a:cs typeface="Times New Roman" panose="02020603050405020304" pitchFamily="18" charset="0"/>
              </a:rPr>
              <a:t>(2) </a:t>
            </a:r>
            <a:r>
              <a:rPr lang="en-US" altLang="zh-CN" sz="2400" b="1" i="1" dirty="0" err="1" smtClean="0">
                <a:latin typeface="Times New Roman" panose="02020603050405020304" pitchFamily="18" charset="0"/>
                <a:cs typeface="Times New Roman" panose="02020603050405020304" pitchFamily="18" charset="0"/>
              </a:rPr>
              <a:t>C</a:t>
            </a:r>
            <a:r>
              <a:rPr lang="en-US" altLang="zh-CN" sz="2400" b="1" i="1" baseline="-25000" dirty="0" err="1" smtClean="0">
                <a:latin typeface="Times New Roman" panose="02020603050405020304" pitchFamily="18" charset="0"/>
                <a:cs typeface="Times New Roman" panose="02020603050405020304" pitchFamily="18" charset="0"/>
              </a:rPr>
              <a:t>j</a:t>
            </a:r>
            <a:r>
              <a:rPr lang="en-US" altLang="zh-CN" sz="2400" b="1" i="1" baseline="-25000"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z</a:t>
            </a:r>
            <a:r>
              <a:rPr lang="en-US" altLang="zh-CN" sz="2400" b="1" baseline="-25000"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rPr>
              <a:t>z</a:t>
            </a:r>
            <a:r>
              <a:rPr lang="en-US" altLang="zh-CN" sz="2400" b="1" baseline="-25000" dirty="0" smtClean="0">
                <a:latin typeface="Times New Roman" panose="02020603050405020304" pitchFamily="18" charset="0"/>
                <a:cs typeface="Times New Roman" panose="02020603050405020304" pitchFamily="18" charset="0"/>
              </a:rPr>
              <a:t>2</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引入一个新变元 </a:t>
            </a:r>
            <a:r>
              <a:rPr lang="en-US" altLang="zh-CN" sz="2400" b="1" i="1" dirty="0" err="1" smtClean="0">
                <a:latin typeface="Times New Roman" panose="02020603050405020304" pitchFamily="18" charset="0"/>
                <a:cs typeface="Times New Roman" panose="02020603050405020304" pitchFamily="18" charset="0"/>
              </a:rPr>
              <a:t>y</a:t>
            </a:r>
            <a:r>
              <a:rPr lang="en-US" altLang="zh-CN" sz="2400" b="1" i="1" baseline="-25000" dirty="0" err="1"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令</a:t>
            </a:r>
            <a:endParaRPr lang="zh-CN" altLang="en-US"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i="1" dirty="0" smtClean="0">
                <a:latin typeface="Times New Roman" panose="02020603050405020304" pitchFamily="18" charset="0"/>
                <a:cs typeface="Times New Roman" panose="02020603050405020304" pitchFamily="18" charset="0"/>
              </a:rPr>
              <a:t>               F</a:t>
            </a:r>
            <a:r>
              <a:rPr lang="en-US" altLang="zh-CN" sz="2400" b="1" i="1" baseline="-25000"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30000"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z</a:t>
            </a:r>
            <a:r>
              <a:rPr lang="en-US" altLang="zh-CN" sz="2400" b="1" baseline="-25000"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z</a:t>
            </a:r>
            <a:r>
              <a:rPr lang="en-US" altLang="zh-CN" sz="2400" b="1" baseline="-25000" dirty="0" smtClean="0">
                <a:latin typeface="Times New Roman" panose="02020603050405020304" pitchFamily="18" charset="0"/>
                <a:cs typeface="Times New Roman" panose="02020603050405020304" pitchFamily="18" charset="0"/>
              </a:rPr>
              <a:t>2</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y</a:t>
            </a:r>
            <a:r>
              <a:rPr lang="en-US" altLang="zh-CN" sz="2400" b="1" i="1" baseline="-25000" dirty="0" err="1"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z</a:t>
            </a:r>
            <a:r>
              <a:rPr lang="en-US" altLang="zh-CN" sz="2400" b="1" baseline="-25000"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 z</a:t>
            </a:r>
            <a:r>
              <a:rPr lang="en-US" altLang="zh-CN" sz="2400" b="1" baseline="-25000" dirty="0" smtClean="0">
                <a:latin typeface="Times New Roman" panose="02020603050405020304" pitchFamily="18" charset="0"/>
                <a:cs typeface="Times New Roman" panose="02020603050405020304" pitchFamily="18" charset="0"/>
              </a:rPr>
              <a:t>2</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y</a:t>
            </a:r>
            <a:r>
              <a:rPr lang="en-US" altLang="zh-CN" sz="2400" b="1" i="1" baseline="-25000" dirty="0" err="1"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a:t>
            </a:r>
            <a:endParaRPr lang="zh-CN" altLang="en-US" sz="2400" b="1" dirty="0" smtClean="0">
              <a:latin typeface="Times New Roman" panose="02020603050405020304" pitchFamily="18" charset="0"/>
              <a:cs typeface="Times New Roman" panose="02020603050405020304" pitchFamily="18" charset="0"/>
            </a:endParaRPr>
          </a:p>
          <a:p>
            <a:pPr>
              <a:spcBef>
                <a:spcPts val="1200"/>
              </a:spcBef>
              <a:buFont typeface="Arial" panose="020B0604020202020204" pitchFamily="34" charset="0"/>
              <a:buNone/>
            </a:pPr>
            <a:r>
              <a:rPr lang="en-US" altLang="zh-CN" sz="2400" b="1" dirty="0" smtClean="0">
                <a:latin typeface="Times New Roman" panose="02020603050405020304" pitchFamily="18" charset="0"/>
                <a:cs typeface="Times New Roman" panose="02020603050405020304" pitchFamily="18" charset="0"/>
              </a:rPr>
              <a:t>(3) </a:t>
            </a:r>
            <a:r>
              <a:rPr lang="en-US" altLang="zh-CN" sz="2400" b="1" i="1" dirty="0" err="1" smtClean="0">
                <a:latin typeface="Times New Roman" panose="02020603050405020304" pitchFamily="18" charset="0"/>
                <a:cs typeface="Times New Roman" panose="02020603050405020304" pitchFamily="18" charset="0"/>
              </a:rPr>
              <a:t>C</a:t>
            </a:r>
            <a:r>
              <a:rPr lang="en-US" altLang="zh-CN" sz="2400" b="1" i="1" baseline="-25000" dirty="0" err="1" smtClean="0">
                <a:latin typeface="Times New Roman" panose="02020603050405020304" pitchFamily="18" charset="0"/>
                <a:cs typeface="Times New Roman" panose="02020603050405020304" pitchFamily="18" charset="0"/>
              </a:rPr>
              <a:t>j</a:t>
            </a:r>
            <a:r>
              <a:rPr lang="en-US" altLang="zh-CN" sz="2400" b="1" i="1" baseline="-25000"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z</a:t>
            </a:r>
            <a:r>
              <a:rPr lang="en-US" altLang="zh-CN" sz="2400" b="1" baseline="-25000"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z</a:t>
            </a:r>
            <a:r>
              <a:rPr lang="en-US" altLang="zh-CN" sz="2400" b="1" baseline="-25000" dirty="0" smtClean="0">
                <a:latin typeface="Times New Roman" panose="02020603050405020304" pitchFamily="18" charset="0"/>
                <a:cs typeface="Times New Roman" panose="02020603050405020304" pitchFamily="18" charset="0"/>
              </a:rPr>
              <a:t>2</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z</a:t>
            </a:r>
            <a:r>
              <a:rPr lang="en-US" altLang="zh-CN" sz="2400" b="1" baseline="-25000" dirty="0" smtClean="0">
                <a:latin typeface="Times New Roman" panose="02020603050405020304" pitchFamily="18" charset="0"/>
                <a:cs typeface="Times New Roman" panose="02020603050405020304" pitchFamily="18" charset="0"/>
              </a:rPr>
              <a:t>3</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令</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F</a:t>
            </a:r>
            <a:r>
              <a:rPr lang="en-US" altLang="zh-CN" sz="2400" b="1" i="1" baseline="-25000"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C</a:t>
            </a:r>
            <a:r>
              <a:rPr lang="en-US" altLang="zh-CN" sz="2400" b="1" i="1" baseline="-25000" dirty="0" err="1"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a:t>
            </a:r>
            <a:endParaRPr lang="zh-CN" altLang="en-US" sz="2400" b="1" dirty="0" smtClean="0">
              <a:latin typeface="Times New Roman" panose="02020603050405020304" pitchFamily="18" charset="0"/>
              <a:cs typeface="Times New Roman" panose="02020603050405020304" pitchFamily="18" charset="0"/>
            </a:endParaRPr>
          </a:p>
          <a:p>
            <a:pPr>
              <a:spcBef>
                <a:spcPts val="1200"/>
              </a:spcBef>
              <a:buFont typeface="Arial" panose="020B0604020202020204" pitchFamily="34" charset="0"/>
              <a:buNone/>
            </a:pPr>
            <a:r>
              <a:rPr lang="en-US" altLang="zh-CN" sz="2400" b="1" dirty="0" smtClean="0">
                <a:latin typeface="Times New Roman" panose="02020603050405020304" pitchFamily="18" charset="0"/>
                <a:cs typeface="Times New Roman" panose="02020603050405020304" pitchFamily="18" charset="0"/>
              </a:rPr>
              <a:t>(4) </a:t>
            </a:r>
            <a:r>
              <a:rPr lang="en-US" altLang="zh-CN" sz="2400" b="1" i="1" dirty="0" err="1" smtClean="0">
                <a:latin typeface="Times New Roman" panose="02020603050405020304" pitchFamily="18" charset="0"/>
                <a:cs typeface="Times New Roman" panose="02020603050405020304" pitchFamily="18" charset="0"/>
              </a:rPr>
              <a:t>C</a:t>
            </a:r>
            <a:r>
              <a:rPr lang="en-US" altLang="zh-CN" sz="2400" b="1" i="1" baseline="-25000" dirty="0" err="1" smtClean="0">
                <a:latin typeface="Times New Roman" panose="02020603050405020304" pitchFamily="18" charset="0"/>
                <a:cs typeface="Times New Roman" panose="02020603050405020304" pitchFamily="18" charset="0"/>
              </a:rPr>
              <a:t>j</a:t>
            </a:r>
            <a:r>
              <a:rPr lang="en-US" altLang="zh-CN" sz="2400" b="1" i="1" baseline="-25000"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z</a:t>
            </a:r>
            <a:r>
              <a:rPr lang="en-US" altLang="zh-CN" sz="2400" b="1" baseline="-25000"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z</a:t>
            </a:r>
            <a:r>
              <a:rPr lang="en-US" altLang="zh-CN" sz="2400" b="1" baseline="-25000" dirty="0" smtClean="0">
                <a:latin typeface="Times New Roman" panose="02020603050405020304" pitchFamily="18" charset="0"/>
                <a:cs typeface="Times New Roman" panose="02020603050405020304" pitchFamily="18" charset="0"/>
              </a:rPr>
              <a:t>2</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err="1" smtClean="0">
                <a:latin typeface="Times New Roman" panose="02020603050405020304" pitchFamily="18" charset="0"/>
                <a:cs typeface="Times New Roman" panose="02020603050405020304" pitchFamily="18" charset="0"/>
              </a:rPr>
              <a:t>z</a:t>
            </a:r>
            <a:r>
              <a:rPr lang="en-US" altLang="zh-CN" sz="2400" b="1" i="1" baseline="-25000" dirty="0" err="1" smtClean="0">
                <a:latin typeface="Times New Roman" panose="02020603050405020304" pitchFamily="18" charset="0"/>
                <a:cs typeface="Times New Roman" panose="02020603050405020304" pitchFamily="18" charset="0"/>
              </a:rPr>
              <a:t>k</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k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latin typeface="Times New Roman" panose="02020603050405020304" pitchFamily="18" charset="0"/>
                <a:cs typeface="Times New Roman" panose="02020603050405020304" pitchFamily="18" charset="0"/>
              </a:rPr>
              <a:t>4. </a:t>
            </a:r>
            <a:r>
              <a:rPr lang="zh-CN" altLang="en-US" sz="2400" b="1" dirty="0" smtClean="0">
                <a:latin typeface="Times New Roman" panose="02020603050405020304" pitchFamily="18" charset="0"/>
                <a:cs typeface="Times New Roman" panose="02020603050405020304" pitchFamily="18" charset="0"/>
              </a:rPr>
              <a:t>引入</a:t>
            </a:r>
            <a:r>
              <a:rPr lang="en-US" altLang="zh-CN" sz="2400" b="1" i="1" dirty="0" smtClean="0">
                <a:latin typeface="Times New Roman" panose="02020603050405020304" pitchFamily="18" charset="0"/>
                <a:cs typeface="Times New Roman" panose="02020603050405020304" pitchFamily="18" charset="0"/>
              </a:rPr>
              <a:t>k</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3</a:t>
            </a:r>
            <a:r>
              <a:rPr lang="zh-CN" altLang="en-US" sz="2400" b="1" dirty="0" smtClean="0">
                <a:latin typeface="Times New Roman" panose="02020603050405020304" pitchFamily="18" charset="0"/>
                <a:cs typeface="Times New Roman" panose="02020603050405020304" pitchFamily="18" charset="0"/>
              </a:rPr>
              <a:t>个新变元 </a:t>
            </a:r>
            <a:r>
              <a:rPr lang="en-US" altLang="zh-CN" sz="2400" b="1" i="1" dirty="0" smtClean="0">
                <a:latin typeface="Times New Roman" panose="02020603050405020304" pitchFamily="18" charset="0"/>
                <a:cs typeface="Times New Roman" panose="02020603050405020304" pitchFamily="18" charset="0"/>
              </a:rPr>
              <a:t>y</a:t>
            </a:r>
            <a:r>
              <a:rPr lang="en-US" altLang="zh-CN" sz="2400" b="1" i="1" baseline="-25000" dirty="0" smtClean="0">
                <a:latin typeface="Times New Roman" panose="02020603050405020304" pitchFamily="18" charset="0"/>
                <a:cs typeface="Times New Roman" panose="02020603050405020304" pitchFamily="18" charset="0"/>
              </a:rPr>
              <a:t>j</a:t>
            </a:r>
            <a:r>
              <a:rPr lang="en-US" altLang="zh-CN" sz="2400" b="1" baseline="-25000"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y</a:t>
            </a:r>
            <a:r>
              <a:rPr lang="en-US" altLang="zh-CN" sz="2400" b="1" i="1" baseline="-25000" dirty="0" smtClean="0">
                <a:latin typeface="Times New Roman" panose="02020603050405020304" pitchFamily="18" charset="0"/>
                <a:cs typeface="Times New Roman" panose="02020603050405020304" pitchFamily="18" charset="0"/>
              </a:rPr>
              <a:t>j</a:t>
            </a:r>
            <a:r>
              <a:rPr lang="en-US" altLang="zh-CN" sz="2400" b="1" baseline="-25000" dirty="0" smtClean="0">
                <a:latin typeface="Times New Roman" panose="02020603050405020304" pitchFamily="18" charset="0"/>
                <a:cs typeface="Times New Roman" panose="02020603050405020304" pitchFamily="18" charset="0"/>
              </a:rPr>
              <a:t>2</a:t>
            </a:r>
            <a:r>
              <a:rPr lang="en-US" altLang="zh-CN" sz="2400" b="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err="1" smtClean="0">
                <a:latin typeface="Times New Roman" panose="02020603050405020304" pitchFamily="18" charset="0"/>
                <a:cs typeface="Times New Roman" panose="02020603050405020304" pitchFamily="18" charset="0"/>
              </a:rPr>
              <a:t>y</a:t>
            </a:r>
            <a:r>
              <a:rPr lang="en-US" altLang="zh-CN" sz="2400" b="1" i="1" baseline="-25000" dirty="0" err="1" smtClean="0">
                <a:latin typeface="Times New Roman" panose="02020603050405020304" pitchFamily="18" charset="0"/>
                <a:cs typeface="Times New Roman" panose="02020603050405020304" pitchFamily="18" charset="0"/>
              </a:rPr>
              <a:t>j</a:t>
            </a:r>
            <a:r>
              <a:rPr lang="en-US" altLang="zh-CN" sz="2400" b="1" baseline="-25000" dirty="0" smtClean="0">
                <a:latin typeface="Times New Roman" panose="02020603050405020304" pitchFamily="18" charset="0"/>
                <a:cs typeface="Times New Roman" panose="02020603050405020304" pitchFamily="18" charset="0"/>
              </a:rPr>
              <a:t>(</a:t>
            </a:r>
            <a:r>
              <a:rPr lang="en-US" altLang="zh-CN" sz="2400" b="1" i="1" baseline="-25000" dirty="0" smtClean="0">
                <a:latin typeface="Times New Roman" panose="02020603050405020304" pitchFamily="18" charset="0"/>
                <a:cs typeface="Times New Roman" panose="02020603050405020304" pitchFamily="18" charset="0"/>
              </a:rPr>
              <a:t>k</a:t>
            </a:r>
            <a:r>
              <a:rPr lang="en-US" altLang="zh-CN" sz="2400" b="1" baseline="-25000" dirty="0" smtClean="0">
                <a:latin typeface="Times New Roman" panose="02020603050405020304" pitchFamily="18" charset="0"/>
                <a:cs typeface="Times New Roman" panose="02020603050405020304" pitchFamily="18" charset="0"/>
              </a:rPr>
              <a:t>-3)</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令</a:t>
            </a:r>
            <a:endParaRPr lang="zh-CN" altLang="en-US"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i="1" dirty="0" smtClean="0">
                <a:latin typeface="Times New Roman" panose="02020603050405020304" pitchFamily="18" charset="0"/>
                <a:cs typeface="Times New Roman" panose="02020603050405020304" pitchFamily="18" charset="0"/>
              </a:rPr>
              <a:t>          F</a:t>
            </a:r>
            <a:r>
              <a:rPr lang="en-US" altLang="zh-CN" sz="2400" b="1" i="1" baseline="-25000"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30000"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z</a:t>
            </a:r>
            <a:r>
              <a:rPr lang="en-US" altLang="zh-CN" sz="2400" b="1" baseline="-25000"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 z</a:t>
            </a:r>
            <a:r>
              <a:rPr lang="en-US" altLang="zh-CN" sz="2400" b="1" baseline="-25000" dirty="0" smtClean="0">
                <a:latin typeface="Times New Roman" panose="02020603050405020304" pitchFamily="18" charset="0"/>
                <a:cs typeface="Times New Roman" panose="02020603050405020304" pitchFamily="18" charset="0"/>
              </a:rPr>
              <a:t>2</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 y</a:t>
            </a:r>
            <a:r>
              <a:rPr lang="en-US" altLang="zh-CN" sz="2400" b="1" i="1" baseline="-25000" dirty="0" smtClean="0">
                <a:latin typeface="Times New Roman" panose="02020603050405020304" pitchFamily="18" charset="0"/>
                <a:cs typeface="Times New Roman" panose="02020603050405020304" pitchFamily="18" charset="0"/>
              </a:rPr>
              <a:t>j</a:t>
            </a:r>
            <a:r>
              <a:rPr lang="en-US" altLang="zh-CN" sz="2400" b="1" baseline="-25000"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latin typeface="Times New Roman" panose="02020603050405020304" pitchFamily="18" charset="0"/>
                <a:cs typeface="Times New Roman" panose="02020603050405020304" pitchFamily="18" charset="0"/>
              </a:rPr>
              <a:t>(</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 y</a:t>
            </a:r>
            <a:r>
              <a:rPr lang="en-US" altLang="zh-CN" sz="2400" b="1" i="1" baseline="-25000" dirty="0" smtClean="0">
                <a:latin typeface="Times New Roman" panose="02020603050405020304" pitchFamily="18" charset="0"/>
                <a:cs typeface="Times New Roman" panose="02020603050405020304" pitchFamily="18" charset="0"/>
              </a:rPr>
              <a:t>j</a:t>
            </a:r>
            <a:r>
              <a:rPr lang="en-US" altLang="zh-CN" sz="2400" b="1" baseline="-25000"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 z</a:t>
            </a:r>
            <a:r>
              <a:rPr lang="en-US" altLang="zh-CN" sz="2400" b="1" baseline="-25000" dirty="0" smtClean="0">
                <a:latin typeface="Times New Roman" panose="02020603050405020304" pitchFamily="18" charset="0"/>
                <a:cs typeface="Times New Roman" panose="02020603050405020304" pitchFamily="18" charset="0"/>
              </a:rPr>
              <a:t>3</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 y</a:t>
            </a:r>
            <a:r>
              <a:rPr lang="en-US" altLang="zh-CN" sz="2400" b="1" i="1" baseline="-25000" dirty="0" smtClean="0">
                <a:latin typeface="Times New Roman" panose="02020603050405020304" pitchFamily="18" charset="0"/>
                <a:cs typeface="Times New Roman" panose="02020603050405020304" pitchFamily="18" charset="0"/>
              </a:rPr>
              <a:t>j</a:t>
            </a:r>
            <a:r>
              <a:rPr lang="en-US" altLang="zh-CN" sz="2400" b="1" baseline="-25000" dirty="0" smtClean="0">
                <a:latin typeface="Times New Roman" panose="02020603050405020304" pitchFamily="18" charset="0"/>
                <a:cs typeface="Times New Roman" panose="02020603050405020304" pitchFamily="18" charset="0"/>
              </a:rPr>
              <a:t>2</a:t>
            </a:r>
            <a:r>
              <a:rPr lang="en-US" altLang="zh-CN" sz="2400" b="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 y</a:t>
            </a:r>
            <a:r>
              <a:rPr lang="en-US" altLang="zh-CN" sz="2400" b="1" i="1" baseline="-25000" dirty="0" smtClean="0">
                <a:latin typeface="Times New Roman" panose="02020603050405020304" pitchFamily="18" charset="0"/>
                <a:cs typeface="Times New Roman" panose="02020603050405020304" pitchFamily="18" charset="0"/>
              </a:rPr>
              <a:t>j</a:t>
            </a:r>
            <a:r>
              <a:rPr lang="en-US" altLang="zh-CN" sz="2400" b="1" baseline="-25000" dirty="0" smtClean="0">
                <a:latin typeface="Times New Roman" panose="02020603050405020304" pitchFamily="18" charset="0"/>
                <a:cs typeface="Times New Roman" panose="02020603050405020304" pitchFamily="18" charset="0"/>
              </a:rPr>
              <a:t>2</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 z</a:t>
            </a:r>
            <a:r>
              <a:rPr lang="en-US" altLang="zh-CN" sz="2400" b="1" baseline="-25000" dirty="0" smtClean="0">
                <a:latin typeface="Times New Roman" panose="02020603050405020304" pitchFamily="18" charset="0"/>
                <a:cs typeface="Times New Roman" panose="02020603050405020304" pitchFamily="18" charset="0"/>
              </a:rPr>
              <a:t>4</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 y</a:t>
            </a:r>
            <a:r>
              <a:rPr lang="en-US" altLang="zh-CN" sz="2400" b="1" i="1" baseline="-25000" dirty="0" smtClean="0">
                <a:latin typeface="Times New Roman" panose="02020603050405020304" pitchFamily="18" charset="0"/>
                <a:cs typeface="Times New Roman" panose="02020603050405020304" pitchFamily="18" charset="0"/>
              </a:rPr>
              <a:t>j</a:t>
            </a:r>
            <a:r>
              <a:rPr lang="en-US" altLang="zh-CN" sz="2400" b="1" baseline="-25000" dirty="0" smtClean="0">
                <a:latin typeface="Times New Roman" panose="02020603050405020304" pitchFamily="18" charset="0"/>
                <a:cs typeface="Times New Roman" panose="02020603050405020304" pitchFamily="18" charset="0"/>
              </a:rPr>
              <a:t>3</a:t>
            </a:r>
            <a:r>
              <a:rPr lang="en-US" altLang="zh-CN" sz="2400" b="1" dirty="0" smtClean="0">
                <a:latin typeface="Times New Roman" panose="02020603050405020304" pitchFamily="18" charset="0"/>
                <a:cs typeface="Times New Roman" panose="02020603050405020304" pitchFamily="18" charset="0"/>
              </a:rPr>
              <a:t>)</a:t>
            </a:r>
            <a:endParaRPr lang="zh-CN" altLang="en-US"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  </a:t>
            </a:r>
            <a:r>
              <a:rPr lang="en-US" altLang="zh-CN" sz="2400" b="1" dirty="0" smtClean="0">
                <a:latin typeface="Times New Roman" panose="02020603050405020304" pitchFamily="18" charset="0"/>
                <a:cs typeface="Times New Roman" panose="02020603050405020304" pitchFamily="18" charset="0"/>
              </a:rPr>
              <a:t>(</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y</a:t>
            </a:r>
            <a:r>
              <a:rPr lang="en-US" altLang="zh-CN" sz="2400" b="1" i="1" baseline="-25000" dirty="0" err="1" smtClean="0">
                <a:latin typeface="Times New Roman" panose="02020603050405020304" pitchFamily="18" charset="0"/>
                <a:cs typeface="Times New Roman" panose="02020603050405020304" pitchFamily="18" charset="0"/>
              </a:rPr>
              <a:t>j</a:t>
            </a:r>
            <a:r>
              <a:rPr lang="en-US" altLang="zh-CN" sz="2400" b="1" baseline="-25000" dirty="0" smtClean="0">
                <a:latin typeface="Times New Roman" panose="02020603050405020304" pitchFamily="18" charset="0"/>
                <a:cs typeface="Times New Roman" panose="02020603050405020304" pitchFamily="18" charset="0"/>
              </a:rPr>
              <a:t>(</a:t>
            </a:r>
            <a:r>
              <a:rPr lang="en-US" altLang="zh-CN" sz="2400" b="1" i="1" baseline="-25000" dirty="0" smtClean="0">
                <a:latin typeface="Times New Roman" panose="02020603050405020304" pitchFamily="18" charset="0"/>
                <a:cs typeface="Times New Roman" panose="02020603050405020304" pitchFamily="18" charset="0"/>
              </a:rPr>
              <a:t>k</a:t>
            </a:r>
            <a:r>
              <a:rPr lang="en-US" altLang="zh-CN" sz="2400" b="1" baseline="-25000"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25000" dirty="0" smtClean="0">
                <a:latin typeface="Times New Roman" panose="02020603050405020304" pitchFamily="18" charset="0"/>
                <a:cs typeface="Times New Roman" panose="02020603050405020304" pitchFamily="18" charset="0"/>
              </a:rPr>
              <a:t>4)</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 z</a:t>
            </a:r>
            <a:r>
              <a:rPr lang="en-US" altLang="zh-CN" sz="2400" b="1" i="1" baseline="-25000" dirty="0" smtClean="0">
                <a:latin typeface="Times New Roman" panose="02020603050405020304" pitchFamily="18" charset="0"/>
                <a:cs typeface="Times New Roman" panose="02020603050405020304" pitchFamily="18" charset="0"/>
              </a:rPr>
              <a:t>k</a:t>
            </a:r>
            <a:r>
              <a:rPr lang="en-US" altLang="zh-CN" sz="2400" b="1" baseline="-25000"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25000" dirty="0" smtClean="0">
                <a:latin typeface="Times New Roman" panose="02020603050405020304" pitchFamily="18" charset="0"/>
                <a:cs typeface="Times New Roman" panose="02020603050405020304" pitchFamily="18" charset="0"/>
              </a:rPr>
              <a:t>2</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y</a:t>
            </a:r>
            <a:r>
              <a:rPr lang="en-US" altLang="zh-CN" sz="2400" b="1" i="1" baseline="-25000" dirty="0" err="1" smtClean="0">
                <a:latin typeface="Times New Roman" panose="02020603050405020304" pitchFamily="18" charset="0"/>
                <a:cs typeface="Times New Roman" panose="02020603050405020304" pitchFamily="18" charset="0"/>
              </a:rPr>
              <a:t>j</a:t>
            </a:r>
            <a:r>
              <a:rPr lang="en-US" altLang="zh-CN" sz="2400" b="1" baseline="-25000" dirty="0" smtClean="0">
                <a:latin typeface="Times New Roman" panose="02020603050405020304" pitchFamily="18" charset="0"/>
                <a:cs typeface="Times New Roman" panose="02020603050405020304" pitchFamily="18" charset="0"/>
              </a:rPr>
              <a:t>(</a:t>
            </a:r>
            <a:r>
              <a:rPr lang="en-US" altLang="zh-CN" sz="2400" b="1" i="1" baseline="-25000" dirty="0" smtClean="0">
                <a:latin typeface="Times New Roman" panose="02020603050405020304" pitchFamily="18" charset="0"/>
                <a:cs typeface="Times New Roman" panose="02020603050405020304" pitchFamily="18" charset="0"/>
              </a:rPr>
              <a:t>k</a:t>
            </a:r>
            <a:r>
              <a:rPr lang="en-US" altLang="zh-CN" sz="2400" b="1" baseline="-25000"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25000" dirty="0" smtClean="0">
                <a:latin typeface="Times New Roman" panose="02020603050405020304" pitchFamily="18" charset="0"/>
                <a:cs typeface="Times New Roman" panose="02020603050405020304" pitchFamily="18" charset="0"/>
              </a:rPr>
              <a:t>3)</a:t>
            </a:r>
            <a:r>
              <a:rPr lang="en-US" altLang="zh-CN" sz="2400" b="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y</a:t>
            </a:r>
            <a:r>
              <a:rPr lang="en-US" altLang="zh-CN" sz="2400" b="1" i="1" baseline="-25000" dirty="0" err="1" smtClean="0">
                <a:latin typeface="Times New Roman" panose="02020603050405020304" pitchFamily="18" charset="0"/>
                <a:cs typeface="Times New Roman" panose="02020603050405020304" pitchFamily="18" charset="0"/>
              </a:rPr>
              <a:t>j</a:t>
            </a:r>
            <a:r>
              <a:rPr lang="en-US" altLang="zh-CN" sz="2400" b="1" baseline="-25000" dirty="0" smtClean="0">
                <a:latin typeface="Times New Roman" panose="02020603050405020304" pitchFamily="18" charset="0"/>
                <a:cs typeface="Times New Roman" panose="02020603050405020304" pitchFamily="18" charset="0"/>
              </a:rPr>
              <a:t>(</a:t>
            </a:r>
            <a:r>
              <a:rPr lang="en-US" altLang="zh-CN" sz="2400" b="1" i="1" baseline="-25000" dirty="0" smtClean="0">
                <a:latin typeface="Times New Roman" panose="02020603050405020304" pitchFamily="18" charset="0"/>
                <a:cs typeface="Times New Roman" panose="02020603050405020304" pitchFamily="18" charset="0"/>
              </a:rPr>
              <a:t>k</a:t>
            </a:r>
            <a:r>
              <a:rPr lang="en-US" altLang="zh-CN" sz="2400" b="1" baseline="-25000"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25000" dirty="0" smtClean="0">
                <a:latin typeface="Times New Roman" panose="02020603050405020304" pitchFamily="18" charset="0"/>
                <a:cs typeface="Times New Roman" panose="02020603050405020304" pitchFamily="18" charset="0"/>
              </a:rPr>
              <a:t>3)</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 z</a:t>
            </a:r>
            <a:r>
              <a:rPr lang="en-US" altLang="zh-CN" sz="2400" b="1" i="1" baseline="-25000" dirty="0" smtClean="0">
                <a:latin typeface="Times New Roman" panose="02020603050405020304" pitchFamily="18" charset="0"/>
                <a:cs typeface="Times New Roman" panose="02020603050405020304" pitchFamily="18" charset="0"/>
              </a:rPr>
              <a:t>k</a:t>
            </a:r>
            <a:r>
              <a:rPr lang="en-US" altLang="zh-CN" sz="2400" b="1" baseline="-25000"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25000"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z</a:t>
            </a:r>
            <a:r>
              <a:rPr lang="en-US" altLang="zh-CN" sz="2400" b="1" i="1" baseline="-25000" dirty="0" err="1" smtClean="0">
                <a:latin typeface="Times New Roman" panose="02020603050405020304" pitchFamily="18" charset="0"/>
                <a:cs typeface="Times New Roman" panose="02020603050405020304" pitchFamily="18" charset="0"/>
              </a:rPr>
              <a:t>k</a:t>
            </a:r>
            <a:r>
              <a:rPr lang="en-US" altLang="zh-CN" sz="2400" b="1" dirty="0" smtClean="0">
                <a:latin typeface="Times New Roman" panose="02020603050405020304" pitchFamily="18" charset="0"/>
                <a:cs typeface="Times New Roman" panose="02020603050405020304" pitchFamily="18" charset="0"/>
              </a:rPr>
              <a:t>).</a:t>
            </a:r>
            <a:endParaRPr lang="en-US" altLang="zh-CN" sz="2400" b="1" dirty="0" smtClean="0">
              <a:latin typeface="Times New Roman" panose="02020603050405020304" pitchFamily="18" charset="0"/>
              <a:cs typeface="Times New Roman" panose="02020603050405020304" pitchFamily="18" charset="0"/>
            </a:endParaRPr>
          </a:p>
          <a:p>
            <a:pPr>
              <a:spcBef>
                <a:spcPts val="1200"/>
              </a:spcBef>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设赋值 </a:t>
            </a:r>
            <a:r>
              <a:rPr lang="en-US" altLang="zh-CN" sz="2400" b="1" i="1" dirty="0" smtClean="0">
                <a:latin typeface="Times New Roman" panose="02020603050405020304" pitchFamily="18" charset="0"/>
                <a:cs typeface="Times New Roman" panose="02020603050405020304" pitchFamily="18" charset="0"/>
              </a:rPr>
              <a:t>t </a:t>
            </a:r>
            <a:r>
              <a:rPr lang="zh-CN" altLang="en-US" sz="2400" b="1" dirty="0" smtClean="0">
                <a:latin typeface="Times New Roman" panose="02020603050405020304" pitchFamily="18" charset="0"/>
                <a:cs typeface="Times New Roman" panose="02020603050405020304" pitchFamily="18" charset="0"/>
              </a:rPr>
              <a:t>满足</a:t>
            </a:r>
            <a:r>
              <a:rPr lang="en-US" altLang="zh-CN" sz="2400" b="1" i="1" dirty="0" err="1" smtClean="0">
                <a:latin typeface="Times New Roman" panose="02020603050405020304" pitchFamily="18" charset="0"/>
                <a:cs typeface="Times New Roman" panose="02020603050405020304" pitchFamily="18" charset="0"/>
              </a:rPr>
              <a:t>C</a:t>
            </a:r>
            <a:r>
              <a:rPr lang="en-US" altLang="zh-CN" sz="2400" b="1" i="1" baseline="-25000" dirty="0" err="1"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则存在 </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i="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使得 </a:t>
            </a:r>
            <a:r>
              <a:rPr lang="en-US" altLang="zh-CN" sz="2400" b="1" i="1" dirty="0" smtClean="0">
                <a:latin typeface="Times New Roman" panose="02020603050405020304" pitchFamily="18" charset="0"/>
                <a:cs typeface="Times New Roman" panose="02020603050405020304" pitchFamily="18" charset="0"/>
              </a:rPr>
              <a:t>t</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z</a:t>
            </a:r>
            <a:r>
              <a:rPr lang="en-US" altLang="zh-CN" sz="2400" b="1" i="1" baseline="-25000" dirty="0" err="1"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)=1. </a:t>
            </a:r>
            <a:r>
              <a:rPr lang="zh-CN" altLang="en-US" sz="2400" b="1" dirty="0" smtClean="0">
                <a:latin typeface="Times New Roman" panose="02020603050405020304" pitchFamily="18" charset="0"/>
                <a:cs typeface="Times New Roman" panose="02020603050405020304" pitchFamily="18" charset="0"/>
              </a:rPr>
              <a:t>当 </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=1 </a:t>
            </a:r>
            <a:r>
              <a:rPr lang="zh-CN" altLang="en-US" sz="2400" b="1" dirty="0" smtClean="0">
                <a:latin typeface="Times New Roman" panose="02020603050405020304" pitchFamily="18" charset="0"/>
                <a:cs typeface="Times New Roman" panose="02020603050405020304" pitchFamily="18" charset="0"/>
              </a:rPr>
              <a:t>或 </a:t>
            </a:r>
            <a:r>
              <a:rPr lang="en-US" altLang="zh-CN" sz="2400" b="1" dirty="0" smtClean="0">
                <a:latin typeface="Times New Roman" panose="02020603050405020304" pitchFamily="18" charset="0"/>
                <a:cs typeface="Times New Roman" panose="02020603050405020304" pitchFamily="18" charset="0"/>
              </a:rPr>
              <a:t>2 </a:t>
            </a:r>
            <a:r>
              <a:rPr lang="zh-CN" altLang="en-US" sz="2400" b="1" dirty="0" smtClean="0">
                <a:latin typeface="Times New Roman" panose="02020603050405020304" pitchFamily="18" charset="0"/>
                <a:cs typeface="Times New Roman" panose="02020603050405020304" pitchFamily="18" charset="0"/>
              </a:rPr>
              <a:t>时</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令 </a:t>
            </a:r>
            <a:r>
              <a:rPr lang="en-US" altLang="zh-CN" sz="2400" b="1" i="1" dirty="0" smtClean="0">
                <a:latin typeface="Times New Roman" panose="02020603050405020304" pitchFamily="18" charset="0"/>
                <a:cs typeface="Times New Roman" panose="02020603050405020304" pitchFamily="18" charset="0"/>
              </a:rPr>
              <a:t>t</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y</a:t>
            </a:r>
            <a:r>
              <a:rPr lang="en-US" altLang="zh-CN" sz="2400" b="1" i="1" baseline="-25000" dirty="0" err="1" smtClean="0">
                <a:latin typeface="Times New Roman" panose="02020603050405020304" pitchFamily="18" charset="0"/>
                <a:cs typeface="Times New Roman" panose="02020603050405020304" pitchFamily="18" charset="0"/>
              </a:rPr>
              <a:t>js</a:t>
            </a:r>
            <a:r>
              <a:rPr lang="en-US" altLang="zh-CN" sz="2400" b="1" dirty="0" smtClean="0">
                <a:latin typeface="Times New Roman" panose="02020603050405020304" pitchFamily="18" charset="0"/>
                <a:cs typeface="Times New Roman" panose="02020603050405020304" pitchFamily="18" charset="0"/>
              </a:rPr>
              <a:t>)=0 </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rPr>
              <a:t>s</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rPr>
              <a:t>k</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3); </a:t>
            </a:r>
            <a:r>
              <a:rPr lang="zh-CN" altLang="en-US" sz="2400" b="1" dirty="0" smtClean="0">
                <a:latin typeface="Times New Roman" panose="02020603050405020304" pitchFamily="18" charset="0"/>
                <a:cs typeface="Times New Roman" panose="02020603050405020304" pitchFamily="18" charset="0"/>
              </a:rPr>
              <a:t>当 </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k</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1</a:t>
            </a:r>
            <a:r>
              <a:rPr lang="zh-CN" altLang="en-US" sz="2400" b="1" dirty="0" smtClean="0">
                <a:latin typeface="Times New Roman" panose="02020603050405020304" pitchFamily="18" charset="0"/>
                <a:cs typeface="Times New Roman" panose="02020603050405020304" pitchFamily="18" charset="0"/>
              </a:rPr>
              <a:t>或 </a:t>
            </a:r>
            <a:r>
              <a:rPr lang="en-US" altLang="zh-CN" sz="2400" b="1" i="1" dirty="0" smtClean="0">
                <a:latin typeface="Times New Roman" panose="02020603050405020304" pitchFamily="18" charset="0"/>
                <a:cs typeface="Times New Roman" panose="02020603050405020304" pitchFamily="18" charset="0"/>
              </a:rPr>
              <a:t>k </a:t>
            </a:r>
            <a:r>
              <a:rPr lang="zh-CN" altLang="en-US" sz="2400" b="1" dirty="0" smtClean="0">
                <a:latin typeface="Times New Roman" panose="02020603050405020304" pitchFamily="18" charset="0"/>
                <a:cs typeface="Times New Roman" panose="02020603050405020304" pitchFamily="18" charset="0"/>
              </a:rPr>
              <a:t>时</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令 </a:t>
            </a:r>
            <a:r>
              <a:rPr lang="en-US" altLang="zh-CN" sz="2400" b="1" i="1" dirty="0" smtClean="0">
                <a:latin typeface="Times New Roman" panose="02020603050405020304" pitchFamily="18" charset="0"/>
                <a:cs typeface="Times New Roman" panose="02020603050405020304" pitchFamily="18" charset="0"/>
              </a:rPr>
              <a:t>t</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y</a:t>
            </a:r>
            <a:r>
              <a:rPr lang="en-US" altLang="zh-CN" sz="2400" b="1" i="1" baseline="-25000" dirty="0" err="1" smtClean="0">
                <a:latin typeface="Times New Roman" panose="02020603050405020304" pitchFamily="18" charset="0"/>
                <a:cs typeface="Times New Roman" panose="02020603050405020304" pitchFamily="18" charset="0"/>
              </a:rPr>
              <a:t>js</a:t>
            </a:r>
            <a:r>
              <a:rPr lang="en-US" altLang="zh-CN" sz="2400" b="1" dirty="0" smtClean="0">
                <a:latin typeface="Times New Roman" panose="02020603050405020304" pitchFamily="18" charset="0"/>
                <a:cs typeface="Times New Roman" panose="02020603050405020304" pitchFamily="18" charset="0"/>
              </a:rPr>
              <a:t>)=1 (1</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rPr>
              <a:t>s</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rPr>
              <a:t>k</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3); </a:t>
            </a:r>
            <a:r>
              <a:rPr lang="zh-CN" altLang="en-US" sz="2400" b="1" dirty="0" smtClean="0">
                <a:latin typeface="Times New Roman" panose="02020603050405020304" pitchFamily="18" charset="0"/>
                <a:cs typeface="Times New Roman" panose="02020603050405020304" pitchFamily="18" charset="0"/>
              </a:rPr>
              <a:t>当</a:t>
            </a:r>
            <a:r>
              <a:rPr lang="en-US" altLang="zh-CN" sz="2400" b="1" dirty="0" smtClean="0">
                <a:latin typeface="Times New Roman" panose="02020603050405020304" pitchFamily="18" charset="0"/>
                <a:cs typeface="Times New Roman" panose="02020603050405020304" pitchFamily="18" charset="0"/>
              </a:rPr>
              <a:t>3</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i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rPr>
              <a:t>k</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2</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时</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令 </a:t>
            </a:r>
            <a:r>
              <a:rPr lang="en-US" altLang="zh-CN" sz="2400" b="1" i="1" dirty="0" smtClean="0">
                <a:latin typeface="Times New Roman" panose="02020603050405020304" pitchFamily="18" charset="0"/>
                <a:cs typeface="Times New Roman" panose="02020603050405020304" pitchFamily="18" charset="0"/>
              </a:rPr>
              <a:t>t</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y</a:t>
            </a:r>
            <a:r>
              <a:rPr lang="en-US" altLang="zh-CN" sz="2400" b="1" i="1" baseline="-25000" dirty="0" err="1" smtClean="0">
                <a:latin typeface="Times New Roman" panose="02020603050405020304" pitchFamily="18" charset="0"/>
                <a:cs typeface="Times New Roman" panose="02020603050405020304" pitchFamily="18" charset="0"/>
              </a:rPr>
              <a:t>js</a:t>
            </a:r>
            <a:r>
              <a:rPr lang="en-US" altLang="zh-CN" sz="2400" b="1" dirty="0" smtClean="0">
                <a:latin typeface="Times New Roman" panose="02020603050405020304" pitchFamily="18" charset="0"/>
                <a:cs typeface="Times New Roman" panose="02020603050405020304" pitchFamily="18" charset="0"/>
              </a:rPr>
              <a:t>)=1(1</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s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i</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2), </a:t>
            </a:r>
            <a:r>
              <a:rPr lang="en-US" altLang="zh-CN" sz="2400" b="1" i="1" dirty="0" smtClean="0">
                <a:latin typeface="Times New Roman" panose="02020603050405020304" pitchFamily="18" charset="0"/>
                <a:cs typeface="Times New Roman" panose="02020603050405020304" pitchFamily="18" charset="0"/>
              </a:rPr>
              <a:t>t</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y</a:t>
            </a:r>
            <a:r>
              <a:rPr lang="en-US" altLang="zh-CN" sz="2400" b="1" i="1" baseline="-25000" dirty="0" err="1" smtClean="0">
                <a:latin typeface="Times New Roman" panose="02020603050405020304" pitchFamily="18" charset="0"/>
                <a:cs typeface="Times New Roman" panose="02020603050405020304" pitchFamily="18" charset="0"/>
              </a:rPr>
              <a:t>js</a:t>
            </a:r>
            <a:r>
              <a:rPr lang="en-US" altLang="zh-CN" sz="2400" b="1" dirty="0" smtClean="0">
                <a:latin typeface="Times New Roman" panose="02020603050405020304" pitchFamily="18" charset="0"/>
                <a:cs typeface="Times New Roman" panose="02020603050405020304" pitchFamily="18" charset="0"/>
              </a:rPr>
              <a:t>)=0 (</a:t>
            </a:r>
            <a:r>
              <a:rPr lang="en-US" altLang="zh-CN" sz="2400" b="1" i="1" dirty="0"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s</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k</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3).</a:t>
            </a:r>
            <a:r>
              <a:rPr lang="en-US" altLang="zh-CN" sz="2400" i="1" dirty="0" smtClean="0"/>
              <a:t>  </a:t>
            </a:r>
            <a:r>
              <a:rPr lang="zh-CN" altLang="en-US" sz="2400" b="1" dirty="0" smtClean="0"/>
              <a:t>则有</a:t>
            </a:r>
            <a:r>
              <a:rPr lang="en-US" altLang="zh-CN" sz="2400" b="1" dirty="0" smtClean="0"/>
              <a:t>  </a:t>
            </a:r>
            <a:r>
              <a:rPr lang="en-US" altLang="zh-CN" sz="2400" b="1" i="1" dirty="0" smtClean="0">
                <a:latin typeface="Times New Roman" panose="02020603050405020304" pitchFamily="18" charset="0"/>
                <a:cs typeface="Times New Roman" panose="02020603050405020304" pitchFamily="18" charset="0"/>
              </a:rPr>
              <a:t>t</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i="1" baseline="-25000"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30000"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rPr>
              <a:t>)=1.</a:t>
            </a:r>
            <a:endParaRPr lang="en-US" altLang="zh-CN" sz="2400" b="1" dirty="0"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p:cNvSpPr>
          <p:nvPr>
            <p:ph type="title"/>
          </p:nvPr>
        </p:nvSpPr>
        <p:spPr>
          <a:xfrm>
            <a:off x="461963" y="241300"/>
            <a:ext cx="8229600" cy="1143000"/>
          </a:xfrm>
        </p:spPr>
        <p:txBody>
          <a:bodyPr/>
          <a:lstStyle/>
          <a:p>
            <a:r>
              <a:rPr lang="zh-CN" altLang="en-US" sz="4000" b="1" smtClean="0">
                <a:solidFill>
                  <a:srgbClr val="C00000"/>
                </a:solidFill>
                <a:latin typeface="Times New Roman" panose="02020603050405020304" pitchFamily="18" charset="0"/>
                <a:cs typeface="Times New Roman" panose="02020603050405020304" pitchFamily="18" charset="0"/>
              </a:rPr>
              <a:t>证明</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31747" name="内容占位符 2"/>
          <p:cNvSpPr>
            <a:spLocks noGrp="1"/>
          </p:cNvSpPr>
          <p:nvPr>
            <p:ph idx="1"/>
          </p:nvPr>
        </p:nvSpPr>
        <p:spPr>
          <a:xfrm>
            <a:off x="395288" y="1384300"/>
            <a:ext cx="8362950" cy="4924425"/>
          </a:xfrm>
        </p:spPr>
        <p:txBody>
          <a:bodyPr/>
          <a:lstStyle/>
          <a:p>
            <a:pPr>
              <a:buFont typeface="Arial" panose="020B0604020202020204" pitchFamily="34" charset="0"/>
              <a:buNone/>
              <a:defRPr/>
            </a:pPr>
            <a:r>
              <a:rPr lang="zh-CN" altLang="en-US" sz="2400" b="1" dirty="0" smtClean="0">
                <a:latin typeface="Times New Roman" panose="02020603050405020304" pitchFamily="18" charset="0"/>
                <a:cs typeface="Times New Roman" panose="02020603050405020304" pitchFamily="18" charset="0"/>
              </a:rPr>
              <a:t>反之</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设 </a:t>
            </a:r>
            <a:r>
              <a:rPr lang="en-US" altLang="zh-CN" sz="2400" b="1" i="1" dirty="0" smtClean="0">
                <a:latin typeface="Times New Roman" panose="02020603050405020304" pitchFamily="18" charset="0"/>
                <a:cs typeface="Times New Roman" panose="02020603050405020304" pitchFamily="18" charset="0"/>
              </a:rPr>
              <a:t>t</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i="1" baseline="-25000"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)=1. </a:t>
            </a:r>
            <a:r>
              <a:rPr lang="zh-CN" altLang="en-US" sz="2400" b="1" dirty="0" smtClean="0">
                <a:latin typeface="Times New Roman" panose="02020603050405020304" pitchFamily="18" charset="0"/>
                <a:cs typeface="Times New Roman" panose="02020603050405020304" pitchFamily="18" charset="0"/>
              </a:rPr>
              <a:t>若 </a:t>
            </a:r>
            <a:r>
              <a:rPr lang="en-US" altLang="zh-CN" sz="2400" b="1" i="1" dirty="0" smtClean="0">
                <a:latin typeface="Times New Roman" panose="02020603050405020304" pitchFamily="18" charset="0"/>
                <a:cs typeface="Times New Roman" panose="02020603050405020304" pitchFamily="18" charset="0"/>
              </a:rPr>
              <a:t>t</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y</a:t>
            </a:r>
            <a:r>
              <a:rPr lang="en-US" altLang="zh-CN" sz="2400" b="1" i="1" baseline="-25000" dirty="0" smtClean="0">
                <a:latin typeface="Times New Roman" panose="02020603050405020304" pitchFamily="18" charset="0"/>
                <a:cs typeface="Times New Roman" panose="02020603050405020304" pitchFamily="18" charset="0"/>
              </a:rPr>
              <a:t>j</a:t>
            </a:r>
            <a:r>
              <a:rPr lang="en-US" altLang="zh-CN" sz="2400" b="1" baseline="-25000"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rPr>
              <a:t>)=0, </a:t>
            </a:r>
            <a:r>
              <a:rPr lang="zh-CN" altLang="en-US" sz="2400" b="1" dirty="0" smtClean="0">
                <a:latin typeface="Times New Roman" panose="02020603050405020304" pitchFamily="18" charset="0"/>
                <a:cs typeface="Times New Roman" panose="02020603050405020304" pitchFamily="18" charset="0"/>
              </a:rPr>
              <a:t>则 </a:t>
            </a:r>
            <a:r>
              <a:rPr lang="en-US" altLang="zh-CN" sz="2400" b="1" i="1" dirty="0" smtClean="0">
                <a:latin typeface="Times New Roman" panose="02020603050405020304" pitchFamily="18" charset="0"/>
                <a:cs typeface="Times New Roman" panose="02020603050405020304" pitchFamily="18" charset="0"/>
              </a:rPr>
              <a:t>t</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z</a:t>
            </a:r>
            <a:r>
              <a:rPr lang="en-US" altLang="zh-CN" sz="2400" b="1" baseline="-25000"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 z</a:t>
            </a:r>
            <a:r>
              <a:rPr lang="en-US" altLang="zh-CN" sz="2400" b="1" baseline="-25000" dirty="0" smtClean="0">
                <a:latin typeface="Times New Roman" panose="02020603050405020304" pitchFamily="18" charset="0"/>
                <a:cs typeface="Times New Roman" panose="02020603050405020304" pitchFamily="18" charset="0"/>
              </a:rPr>
              <a:t>2</a:t>
            </a:r>
            <a:r>
              <a:rPr lang="en-US" altLang="zh-CN" sz="2400" b="1" dirty="0" smtClean="0">
                <a:latin typeface="Times New Roman" panose="02020603050405020304" pitchFamily="18" charset="0"/>
                <a:cs typeface="Times New Roman" panose="02020603050405020304" pitchFamily="18" charset="0"/>
              </a:rPr>
              <a:t>)=1; </a:t>
            </a:r>
            <a:r>
              <a:rPr lang="zh-CN" altLang="en-US" sz="2400" b="1" dirty="0" smtClean="0">
                <a:latin typeface="Times New Roman" panose="02020603050405020304" pitchFamily="18" charset="0"/>
                <a:cs typeface="Times New Roman" panose="02020603050405020304" pitchFamily="18" charset="0"/>
              </a:rPr>
              <a:t>若 </a:t>
            </a:r>
            <a:r>
              <a:rPr lang="en-US" altLang="zh-CN" sz="2400" b="1" i="1" dirty="0" smtClean="0">
                <a:latin typeface="Times New Roman" panose="02020603050405020304" pitchFamily="18" charset="0"/>
                <a:cs typeface="Times New Roman" panose="02020603050405020304" pitchFamily="18" charset="0"/>
              </a:rPr>
              <a:t>t</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y</a:t>
            </a:r>
            <a:r>
              <a:rPr lang="en-US" altLang="zh-CN" sz="2400" b="1" i="1" baseline="-25000" dirty="0" err="1" smtClean="0">
                <a:latin typeface="Times New Roman" panose="02020603050405020304" pitchFamily="18" charset="0"/>
                <a:cs typeface="Times New Roman" panose="02020603050405020304" pitchFamily="18" charset="0"/>
              </a:rPr>
              <a:t>j</a:t>
            </a:r>
            <a:r>
              <a:rPr lang="en-US" altLang="zh-CN" sz="2400" b="1" baseline="-25000" dirty="0" smtClean="0">
                <a:latin typeface="Times New Roman" panose="02020603050405020304" pitchFamily="18" charset="0"/>
                <a:cs typeface="Times New Roman" panose="02020603050405020304" pitchFamily="18" charset="0"/>
              </a:rPr>
              <a:t>(</a:t>
            </a:r>
            <a:r>
              <a:rPr lang="en-US" altLang="zh-CN" sz="2400" b="1" i="1" baseline="-25000" dirty="0" smtClean="0">
                <a:latin typeface="Times New Roman" panose="02020603050405020304" pitchFamily="18" charset="0"/>
                <a:cs typeface="Times New Roman" panose="02020603050405020304" pitchFamily="18" charset="0"/>
              </a:rPr>
              <a:t>k</a:t>
            </a:r>
            <a:r>
              <a:rPr lang="en-US" altLang="zh-CN" sz="2400" b="1" baseline="-25000"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25000" dirty="0" smtClean="0">
                <a:latin typeface="Times New Roman" panose="02020603050405020304" pitchFamily="18" charset="0"/>
                <a:cs typeface="Times New Roman" panose="02020603050405020304" pitchFamily="18" charset="0"/>
              </a:rPr>
              <a:t>3)</a:t>
            </a:r>
            <a:r>
              <a:rPr lang="en-US" altLang="zh-CN" sz="2400" b="1" dirty="0" smtClean="0">
                <a:latin typeface="Times New Roman" panose="02020603050405020304" pitchFamily="18" charset="0"/>
                <a:cs typeface="Times New Roman" panose="02020603050405020304" pitchFamily="18" charset="0"/>
              </a:rPr>
              <a:t>)=1, </a:t>
            </a:r>
            <a:r>
              <a:rPr lang="zh-CN" altLang="en-US" sz="2400" b="1" dirty="0" smtClean="0">
                <a:latin typeface="Times New Roman" panose="02020603050405020304" pitchFamily="18" charset="0"/>
                <a:cs typeface="Times New Roman" panose="02020603050405020304" pitchFamily="18" charset="0"/>
              </a:rPr>
              <a:t>则</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defRPr/>
            </a:pPr>
            <a:r>
              <a:rPr lang="en-US" altLang="zh-CN" sz="2400" b="1" i="1" dirty="0" smtClean="0">
                <a:latin typeface="Times New Roman" panose="02020603050405020304" pitchFamily="18" charset="0"/>
                <a:cs typeface="Times New Roman" panose="02020603050405020304" pitchFamily="18" charset="0"/>
              </a:rPr>
              <a:t>t</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z</a:t>
            </a:r>
            <a:r>
              <a:rPr lang="en-US" altLang="zh-CN" sz="2400" b="1" i="1" baseline="-25000" dirty="0" smtClean="0">
                <a:latin typeface="Times New Roman" panose="02020603050405020304" pitchFamily="18" charset="0"/>
                <a:cs typeface="Times New Roman" panose="02020603050405020304" pitchFamily="18" charset="0"/>
              </a:rPr>
              <a:t>k</a:t>
            </a:r>
            <a:r>
              <a:rPr lang="en-US" altLang="zh-CN" sz="2400" b="1" i="1" baseline="-25000"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25000"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z</a:t>
            </a:r>
            <a:r>
              <a:rPr lang="en-US" altLang="zh-CN" sz="2400" b="1" i="1" baseline="-25000" dirty="0" smtClean="0">
                <a:latin typeface="Times New Roman" panose="02020603050405020304" pitchFamily="18" charset="0"/>
                <a:cs typeface="Times New Roman" panose="02020603050405020304" pitchFamily="18" charset="0"/>
              </a:rPr>
              <a:t>k</a:t>
            </a:r>
            <a:r>
              <a:rPr lang="en-US" altLang="zh-CN" sz="2400" b="1" dirty="0" smtClean="0">
                <a:latin typeface="Times New Roman" panose="02020603050405020304" pitchFamily="18" charset="0"/>
                <a:cs typeface="Times New Roman" panose="02020603050405020304" pitchFamily="18" charset="0"/>
              </a:rPr>
              <a:t>)=1;  </a:t>
            </a:r>
            <a:r>
              <a:rPr lang="zh-CN" altLang="en-US" sz="2400" b="1" dirty="0" smtClean="0">
                <a:latin typeface="Times New Roman" panose="02020603050405020304" pitchFamily="18" charset="0"/>
                <a:cs typeface="Times New Roman" panose="02020603050405020304" pitchFamily="18" charset="0"/>
              </a:rPr>
              <a:t>否则必有 </a:t>
            </a:r>
            <a:r>
              <a:rPr lang="en-US" altLang="zh-CN" sz="2400" b="1" i="1" dirty="0" smtClean="0">
                <a:latin typeface="Times New Roman" panose="02020603050405020304" pitchFamily="18" charset="0"/>
                <a:cs typeface="Times New Roman" panose="02020603050405020304" pitchFamily="18" charset="0"/>
              </a:rPr>
              <a:t>s </a:t>
            </a:r>
            <a:r>
              <a:rPr lang="en-US" altLang="zh-CN" sz="2400" b="1"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s</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k</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4) </a:t>
            </a:r>
            <a:r>
              <a:rPr lang="zh-CN" altLang="en-US" sz="2400" b="1" dirty="0" smtClean="0">
                <a:latin typeface="Times New Roman" panose="02020603050405020304" pitchFamily="18" charset="0"/>
                <a:cs typeface="Times New Roman" panose="02020603050405020304" pitchFamily="18" charset="0"/>
              </a:rPr>
              <a:t>使得 </a:t>
            </a:r>
            <a:r>
              <a:rPr lang="en-US" altLang="zh-CN" sz="2400" b="1" i="1" dirty="0" smtClean="0">
                <a:latin typeface="Times New Roman" panose="02020603050405020304" pitchFamily="18" charset="0"/>
                <a:cs typeface="Times New Roman" panose="02020603050405020304" pitchFamily="18" charset="0"/>
              </a:rPr>
              <a:t>t</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y</a:t>
            </a:r>
            <a:r>
              <a:rPr lang="en-US" altLang="zh-CN" sz="2400" b="1" i="1" baseline="-25000" dirty="0" err="1" smtClean="0">
                <a:latin typeface="Times New Roman" panose="02020603050405020304" pitchFamily="18" charset="0"/>
                <a:cs typeface="Times New Roman" panose="02020603050405020304" pitchFamily="18" charset="0"/>
              </a:rPr>
              <a:t>js</a:t>
            </a:r>
            <a:r>
              <a:rPr lang="en-US" altLang="zh-CN" sz="2400" b="1" dirty="0" smtClean="0">
                <a:latin typeface="Times New Roman" panose="02020603050405020304" pitchFamily="18" charset="0"/>
                <a:cs typeface="Times New Roman" panose="02020603050405020304" pitchFamily="18" charset="0"/>
              </a:rPr>
              <a:t>)=1</a:t>
            </a:r>
            <a:r>
              <a:rPr lang="zh-CN" altLang="en-US" sz="2400" b="1" dirty="0" smtClean="0">
                <a:latin typeface="Times New Roman" panose="02020603050405020304" pitchFamily="18" charset="0"/>
                <a:cs typeface="Times New Roman" panose="02020603050405020304" pitchFamily="18" charset="0"/>
              </a:rPr>
              <a:t>且 </a:t>
            </a:r>
            <a:r>
              <a:rPr lang="en-US" altLang="zh-CN" sz="2400" b="1" i="1" dirty="0" smtClean="0">
                <a:latin typeface="Times New Roman" panose="02020603050405020304" pitchFamily="18" charset="0"/>
                <a:cs typeface="Times New Roman" panose="02020603050405020304" pitchFamily="18" charset="0"/>
              </a:rPr>
              <a:t>t</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y</a:t>
            </a:r>
            <a:r>
              <a:rPr lang="en-US" altLang="zh-CN" sz="2400" b="1" i="1" baseline="-25000" dirty="0" err="1" smtClean="0">
                <a:latin typeface="Times New Roman" panose="02020603050405020304" pitchFamily="18" charset="0"/>
                <a:cs typeface="Times New Roman" panose="02020603050405020304" pitchFamily="18" charset="0"/>
              </a:rPr>
              <a:t>j</a:t>
            </a:r>
            <a:r>
              <a:rPr lang="en-US" altLang="zh-CN" sz="2400" b="1" baseline="-25000" dirty="0" smtClean="0">
                <a:latin typeface="Times New Roman" panose="02020603050405020304" pitchFamily="18" charset="0"/>
                <a:cs typeface="Times New Roman" panose="02020603050405020304" pitchFamily="18" charset="0"/>
              </a:rPr>
              <a:t>(</a:t>
            </a:r>
            <a:r>
              <a:rPr lang="en-US" altLang="zh-CN" sz="2400" b="1" i="1" baseline="-25000" dirty="0" smtClean="0">
                <a:latin typeface="Times New Roman" panose="02020603050405020304" pitchFamily="18" charset="0"/>
                <a:cs typeface="Times New Roman" panose="02020603050405020304" pitchFamily="18" charset="0"/>
              </a:rPr>
              <a:t>s</a:t>
            </a:r>
            <a:r>
              <a:rPr lang="en-US" altLang="zh-CN" sz="2400" b="1" baseline="-25000"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rPr>
              <a:t>)=0, </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defRPr/>
            </a:pPr>
            <a:r>
              <a:rPr lang="zh-CN" altLang="en-US" sz="2400" b="1" dirty="0" smtClean="0">
                <a:latin typeface="Times New Roman" panose="02020603050405020304" pitchFamily="18" charset="0"/>
                <a:cs typeface="Times New Roman" panose="02020603050405020304" pitchFamily="18" charset="0"/>
              </a:rPr>
              <a:t>从而 </a:t>
            </a:r>
            <a:r>
              <a:rPr lang="en-US" altLang="zh-CN" sz="2400" b="1" i="1" dirty="0" smtClean="0">
                <a:latin typeface="Times New Roman" panose="02020603050405020304" pitchFamily="18" charset="0"/>
                <a:cs typeface="Times New Roman" panose="02020603050405020304" pitchFamily="18" charset="0"/>
              </a:rPr>
              <a:t>t</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z</a:t>
            </a:r>
            <a:r>
              <a:rPr lang="en-US" altLang="zh-CN" sz="2400" b="1" i="1" baseline="-25000" dirty="0" smtClean="0">
                <a:latin typeface="Times New Roman" panose="02020603050405020304" pitchFamily="18" charset="0"/>
                <a:cs typeface="Times New Roman" panose="02020603050405020304" pitchFamily="18" charset="0"/>
              </a:rPr>
              <a:t>s</a:t>
            </a:r>
            <a:r>
              <a:rPr lang="en-US" altLang="zh-CN" sz="2400" b="1" baseline="-25000" dirty="0" smtClean="0">
                <a:latin typeface="Times New Roman" panose="02020603050405020304" pitchFamily="18" charset="0"/>
                <a:cs typeface="Times New Roman" panose="02020603050405020304" pitchFamily="18" charset="0"/>
              </a:rPr>
              <a:t>+2</a:t>
            </a:r>
            <a:r>
              <a:rPr lang="en-US" altLang="zh-CN" sz="2400" b="1" dirty="0" smtClean="0">
                <a:latin typeface="Times New Roman" panose="02020603050405020304" pitchFamily="18" charset="0"/>
                <a:cs typeface="Times New Roman" panose="02020603050405020304" pitchFamily="18" charset="0"/>
              </a:rPr>
              <a:t>)=1. </a:t>
            </a:r>
            <a:r>
              <a:rPr lang="zh-CN" altLang="en-US" sz="2400" b="1" dirty="0" smtClean="0">
                <a:latin typeface="Times New Roman" panose="02020603050405020304" pitchFamily="18" charset="0"/>
                <a:cs typeface="Times New Roman" panose="02020603050405020304" pitchFamily="18" charset="0"/>
              </a:rPr>
              <a:t>总之都有 </a:t>
            </a:r>
            <a:r>
              <a:rPr lang="en-US" altLang="zh-CN" sz="2400" b="1" i="1" dirty="0" smtClean="0">
                <a:latin typeface="Times New Roman" panose="02020603050405020304" pitchFamily="18" charset="0"/>
                <a:cs typeface="Times New Roman" panose="02020603050405020304" pitchFamily="18" charset="0"/>
              </a:rPr>
              <a:t>t</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C</a:t>
            </a:r>
            <a:r>
              <a:rPr lang="en-US" altLang="zh-CN" sz="2400" b="1" i="1" baseline="-25000" dirty="0" err="1"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)=1.    </a:t>
            </a:r>
            <a:endParaRPr lang="en-US" altLang="zh-CN" sz="2400" b="1" dirty="0" smtClean="0">
              <a:latin typeface="Times New Roman" panose="02020603050405020304" pitchFamily="18" charset="0"/>
              <a:cs typeface="Times New Roman" panose="02020603050405020304" pitchFamily="18" charset="0"/>
            </a:endParaRPr>
          </a:p>
          <a:p>
            <a:pPr>
              <a:spcBef>
                <a:spcPts val="1200"/>
              </a:spcBef>
              <a:buFont typeface="Arial" panose="020B0604020202020204" pitchFamily="34" charset="0"/>
              <a:buNone/>
              <a:defRPr/>
            </a:pPr>
            <a:r>
              <a:rPr lang="en-US" altLang="zh-CN" sz="2400" b="1" i="1" dirty="0" smtClean="0">
                <a:latin typeface="Times New Roman" panose="02020603050405020304" pitchFamily="18" charset="0"/>
                <a:cs typeface="Times New Roman" panose="02020603050405020304" pitchFamily="18" charset="0"/>
              </a:rPr>
              <a:t>F</a:t>
            </a:r>
            <a:r>
              <a:rPr lang="en-US" altLang="zh-CN" sz="2400" b="1" i="1" baseline="-25000" dirty="0" smtClean="0">
                <a:latin typeface="Times New Roman" panose="02020603050405020304" pitchFamily="18" charset="0"/>
                <a:cs typeface="Times New Roman" panose="02020603050405020304" pitchFamily="18" charset="0"/>
                <a:sym typeface="Symbol" panose="05050102010706020507" pitchFamily="18" charset="2"/>
              </a:rPr>
              <a:t>j</a:t>
            </a:r>
            <a:r>
              <a:rPr lang="en-US" altLang="zh-CN" sz="2400" b="1" i="1" baseline="30000" dirty="0" smtClean="0">
                <a:latin typeface="Times New Roman" panose="02020603050405020304" pitchFamily="18" charset="0"/>
                <a:cs typeface="Times New Roman" panose="02020603050405020304" pitchFamily="18" charset="0"/>
              </a:rPr>
              <a:t>’ </a:t>
            </a:r>
            <a:r>
              <a:rPr lang="en-US" altLang="zh-CN" sz="2400" b="1" dirty="0" err="1" smtClean="0">
                <a:latin typeface="Times New Roman" panose="02020603050405020304" pitchFamily="18" charset="0"/>
                <a:cs typeface="Times New Roman" panose="02020603050405020304" pitchFamily="18" charset="0"/>
              </a:rPr>
              <a:t>中简单析取式的个数不超过</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C</a:t>
            </a:r>
            <a:r>
              <a:rPr lang="en-US" altLang="zh-CN" sz="2400" b="1" i="1" baseline="-25000" dirty="0" err="1" smtClean="0">
                <a:latin typeface="Times New Roman" panose="02020603050405020304" pitchFamily="18" charset="0"/>
                <a:cs typeface="Times New Roman" panose="02020603050405020304" pitchFamily="18" charset="0"/>
              </a:rPr>
              <a:t>j</a:t>
            </a:r>
            <a:r>
              <a:rPr lang="en-US" altLang="zh-CN" sz="2400" b="1" i="1" baseline="-25000" dirty="0" smtClean="0">
                <a:latin typeface="Times New Roman" panose="02020603050405020304" pitchFamily="18" charset="0"/>
                <a:cs typeface="Times New Roman" panose="02020603050405020304" pitchFamily="18" charset="0"/>
              </a:rPr>
              <a:t> </a:t>
            </a:r>
            <a:r>
              <a:rPr lang="en-US" altLang="zh-CN" sz="2400" b="1" dirty="0" err="1" smtClean="0">
                <a:latin typeface="Times New Roman" panose="02020603050405020304" pitchFamily="18" charset="0"/>
                <a:cs typeface="Times New Roman" panose="02020603050405020304" pitchFamily="18" charset="0"/>
              </a:rPr>
              <a:t>中文字个数的</a:t>
            </a:r>
            <a:r>
              <a:rPr lang="en-US" altLang="zh-CN" sz="2400" b="1" dirty="0" smtClean="0">
                <a:latin typeface="Times New Roman" panose="02020603050405020304" pitchFamily="18" charset="0"/>
                <a:cs typeface="Times New Roman" panose="02020603050405020304" pitchFamily="18" charset="0"/>
              </a:rPr>
              <a:t> 4 倍, </a:t>
            </a:r>
            <a:r>
              <a:rPr lang="en-US" altLang="zh-CN" sz="2400" b="1" dirty="0" err="1" smtClean="0">
                <a:latin typeface="Times New Roman" panose="02020603050405020304" pitchFamily="18" charset="0"/>
                <a:cs typeface="Times New Roman" panose="02020603050405020304" pitchFamily="18" charset="0"/>
              </a:rPr>
              <a:t>每个简</a:t>
            </a:r>
            <a:endParaRPr lang="en-US" altLang="zh-CN" sz="2400" b="1" dirty="0" smtClean="0">
              <a:latin typeface="Times New Roman" panose="02020603050405020304" pitchFamily="18" charset="0"/>
              <a:cs typeface="Times New Roman" panose="02020603050405020304" pitchFamily="18" charset="0"/>
            </a:endParaRPr>
          </a:p>
          <a:p>
            <a:pPr>
              <a:spcBef>
                <a:spcPts val="600"/>
              </a:spcBef>
              <a:buFont typeface="Arial" panose="020B0604020202020204" pitchFamily="34" charset="0"/>
              <a:buNone/>
              <a:defRPr/>
            </a:pPr>
            <a:r>
              <a:rPr lang="en-US" altLang="zh-CN" sz="2400" b="1" dirty="0" smtClean="0">
                <a:latin typeface="Times New Roman" panose="02020603050405020304" pitchFamily="18" charset="0"/>
                <a:cs typeface="Times New Roman" panose="02020603050405020304" pitchFamily="18" charset="0"/>
              </a:rPr>
              <a:t>单析取式有3个文字, </a:t>
            </a:r>
            <a:r>
              <a:rPr lang="en-US" altLang="zh-CN" sz="2400" b="1" dirty="0" err="1" smtClean="0">
                <a:latin typeface="Times New Roman" panose="02020603050405020304" pitchFamily="18" charset="0"/>
                <a:cs typeface="Times New Roman" panose="02020603050405020304" pitchFamily="18" charset="0"/>
              </a:rPr>
              <a:t>因此可以在</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 </a:t>
            </a:r>
            <a:r>
              <a:rPr lang="en-US" altLang="zh-CN" sz="2400" b="1" dirty="0" err="1" smtClean="0">
                <a:latin typeface="Times New Roman" panose="02020603050405020304" pitchFamily="18" charset="0"/>
                <a:cs typeface="Times New Roman" panose="02020603050405020304" pitchFamily="18" charset="0"/>
              </a:rPr>
              <a:t>的多项式时间内构造出</a:t>
            </a:r>
            <a:endParaRPr lang="en-US" altLang="zh-CN" sz="2400" b="1" dirty="0" smtClean="0">
              <a:latin typeface="Times New Roman" panose="02020603050405020304" pitchFamily="18" charset="0"/>
              <a:cs typeface="Times New Roman" panose="02020603050405020304" pitchFamily="18" charset="0"/>
            </a:endParaRPr>
          </a:p>
          <a:p>
            <a:pPr>
              <a:spcBef>
                <a:spcPts val="600"/>
              </a:spcBef>
              <a:buFont typeface="Arial" panose="020B0604020202020204" pitchFamily="34" charset="0"/>
              <a:buNone/>
              <a:defRPr/>
            </a:pPr>
            <a:r>
              <a:rPr lang="en-US" altLang="zh-CN" sz="2400" b="1" i="1" dirty="0" smtClean="0">
                <a:latin typeface="Times New Roman" panose="02020603050405020304" pitchFamily="18" charset="0"/>
                <a:cs typeface="Times New Roman" panose="02020603050405020304" pitchFamily="18" charset="0"/>
              </a:rPr>
              <a:t>F</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a:t>
            </a:r>
            <a:endParaRPr lang="zh-CN" altLang="en-US"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defRPr/>
            </a:pP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defRPr/>
            </a:pPr>
            <a:r>
              <a:rPr lang="zh-CN" altLang="en-US" sz="2400" b="1" dirty="0" smtClean="0">
                <a:solidFill>
                  <a:srgbClr val="C00000"/>
                </a:solidFill>
                <a:latin typeface="Times New Roman" panose="02020603050405020304" pitchFamily="18" charset="0"/>
                <a:cs typeface="Times New Roman" panose="02020603050405020304" pitchFamily="18" charset="0"/>
              </a:rPr>
              <a:t>局部替换法  </a:t>
            </a:r>
            <a:r>
              <a:rPr lang="zh-CN" altLang="en-US" sz="2400" b="1" dirty="0" smtClean="0">
                <a:latin typeface="Times New Roman" panose="02020603050405020304" pitchFamily="18" charset="0"/>
                <a:cs typeface="Times New Roman" panose="02020603050405020304" pitchFamily="18" charset="0"/>
              </a:rPr>
              <a:t>要证</a:t>
            </a:r>
            <a:r>
              <a:rPr lang="zh-CN" altLang="en-US"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25000" dirty="0" smtClean="0">
                <a:latin typeface="Times New Roman" panose="02020603050405020304" pitchFamily="18" charset="0"/>
                <a:cs typeface="Times New Roman" panose="02020603050405020304" pitchFamily="18" charset="0"/>
                <a:sym typeface="Symbol" panose="05050102010706020507" pitchFamily="18" charset="2"/>
              </a:rPr>
              <a:t>1 </a:t>
            </a:r>
            <a:r>
              <a:rPr lang="zh-CN" altLang="en-US"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dirty="0" smtClean="0">
                <a:latin typeface="Times New Roman" panose="02020603050405020304" pitchFamily="18" charset="0"/>
                <a:cs typeface="Times New Roman" panose="02020603050405020304" pitchFamily="18" charset="0"/>
                <a:sym typeface="Symbol" panose="05050102010706020507" pitchFamily="18" charset="2"/>
              </a:rPr>
              <a:t>p </a:t>
            </a:r>
            <a:r>
              <a:rPr lang="zh-CN" altLang="en-US"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25000" dirty="0" smtClean="0">
                <a:latin typeface="Times New Roman" panose="02020603050405020304" pitchFamily="18" charset="0"/>
                <a:cs typeface="Times New Roman" panose="02020603050405020304" pitchFamily="18" charset="0"/>
                <a:sym typeface="Symbol" panose="05050102010706020507" pitchFamily="18" charset="2"/>
              </a:rPr>
              <a:t>2</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dirty="0" smtClean="0">
                <a:latin typeface="Times New Roman" panose="02020603050405020304" pitchFamily="18" charset="0"/>
                <a:cs typeface="Times New Roman" panose="02020603050405020304" pitchFamily="18" charset="0"/>
                <a:sym typeface="Symbol" panose="05050102010706020507" pitchFamily="18" charset="2"/>
              </a:rPr>
              <a:t>当 </a:t>
            </a:r>
            <a:r>
              <a:rPr lang="zh-CN" altLang="en-US"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25000" dirty="0" smtClean="0">
                <a:latin typeface="Times New Roman" panose="02020603050405020304" pitchFamily="18" charset="0"/>
                <a:cs typeface="Times New Roman" panose="02020603050405020304" pitchFamily="18" charset="0"/>
                <a:sym typeface="Symbol" panose="05050102010706020507" pitchFamily="18" charset="2"/>
              </a:rPr>
              <a:t>2 </a:t>
            </a:r>
            <a:r>
              <a:rPr lang="zh-CN" altLang="en-US" sz="2400" b="1" dirty="0" smtClean="0">
                <a:latin typeface="Times New Roman" panose="02020603050405020304" pitchFamily="18" charset="0"/>
                <a:cs typeface="Times New Roman" panose="02020603050405020304" pitchFamily="18" charset="0"/>
                <a:sym typeface="Symbol" panose="05050102010706020507" pitchFamily="18" charset="2"/>
              </a:rPr>
              <a:t>是 </a:t>
            </a:r>
            <a:r>
              <a:rPr lang="zh-CN" altLang="en-US"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25000" dirty="0" smtClean="0">
                <a:latin typeface="Times New Roman" panose="02020603050405020304" pitchFamily="18" charset="0"/>
                <a:cs typeface="Times New Roman" panose="02020603050405020304" pitchFamily="18" charset="0"/>
                <a:sym typeface="Symbol" panose="05050102010706020507" pitchFamily="18" charset="2"/>
              </a:rPr>
              <a:t>1 </a:t>
            </a:r>
            <a:r>
              <a:rPr lang="zh-CN" altLang="en-US" sz="2400" b="1" dirty="0" smtClean="0">
                <a:latin typeface="Times New Roman" panose="02020603050405020304" pitchFamily="18" charset="0"/>
                <a:cs typeface="Times New Roman" panose="02020603050405020304" pitchFamily="18" charset="0"/>
                <a:sym typeface="Symbol" panose="05050102010706020507" pitchFamily="18" charset="2"/>
              </a:rPr>
              <a:t>的子问题或两者的结构</a:t>
            </a:r>
            <a:endPar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endParaRPr>
          </a:p>
          <a:p>
            <a:pPr marL="0" indent="0">
              <a:buFont typeface="Arial" panose="020B0604020202020204" pitchFamily="34" charset="0"/>
              <a:buNone/>
              <a:defRPr/>
            </a:pPr>
            <a:r>
              <a:rPr lang="zh-CN" altLang="en-US" sz="2400" b="1" dirty="0" smtClean="0">
                <a:latin typeface="Times New Roman" panose="02020603050405020304" pitchFamily="18" charset="0"/>
                <a:cs typeface="Times New Roman" panose="02020603050405020304" pitchFamily="18" charset="0"/>
                <a:sym typeface="Symbol" panose="05050102010706020507" pitchFamily="18" charset="2"/>
              </a:rPr>
              <a:t>相似时</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dirty="0" smtClean="0">
                <a:latin typeface="Times New Roman" panose="02020603050405020304" pitchFamily="18" charset="0"/>
                <a:cs typeface="Times New Roman" panose="02020603050405020304" pitchFamily="18" charset="0"/>
                <a:sym typeface="Symbol" panose="05050102010706020507" pitchFamily="18" charset="2"/>
              </a:rPr>
              <a:t>往往可以把 </a:t>
            </a:r>
            <a:r>
              <a:rPr lang="zh-CN" altLang="en-US"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25000" dirty="0" smtClean="0">
                <a:latin typeface="Times New Roman" panose="02020603050405020304" pitchFamily="18" charset="0"/>
                <a:cs typeface="Times New Roman" panose="02020603050405020304" pitchFamily="18" charset="0"/>
                <a:sym typeface="Symbol" panose="05050102010706020507" pitchFamily="18" charset="2"/>
              </a:rPr>
              <a:t>1 </a:t>
            </a:r>
            <a:r>
              <a:rPr lang="zh-CN" altLang="en-US" sz="2400" b="1" dirty="0" smtClean="0">
                <a:latin typeface="Times New Roman" panose="02020603050405020304" pitchFamily="18" charset="0"/>
                <a:cs typeface="Times New Roman" panose="02020603050405020304" pitchFamily="18" charset="0"/>
                <a:sym typeface="Symbol" panose="05050102010706020507" pitchFamily="18" charset="2"/>
              </a:rPr>
              <a:t>的实例的每一个子结构替换成对应的</a:t>
            </a:r>
            <a:r>
              <a:rPr lang="zh-CN" altLang="en-US"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25000" dirty="0" smtClean="0">
                <a:latin typeface="Times New Roman" panose="02020603050405020304" pitchFamily="18" charset="0"/>
                <a:cs typeface="Times New Roman" panose="02020603050405020304" pitchFamily="18" charset="0"/>
                <a:sym typeface="Symbol" panose="05050102010706020507" pitchFamily="18" charset="2"/>
              </a:rPr>
              <a:t>2 </a:t>
            </a:r>
            <a:r>
              <a:rPr lang="zh-CN" altLang="en-US" sz="2400" b="1" dirty="0" smtClean="0">
                <a:latin typeface="Times New Roman" panose="02020603050405020304" pitchFamily="18" charset="0"/>
                <a:cs typeface="Times New Roman" panose="02020603050405020304" pitchFamily="18" charset="0"/>
                <a:sym typeface="Symbol" panose="05050102010706020507" pitchFamily="18" charset="2"/>
              </a:rPr>
              <a:t>实例的子结构</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endParaRPr lang="zh-CN" altLang="en-US" sz="2400" b="1" dirty="0"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p:txBody>
          <a:bodyPr/>
          <a:lstStyle/>
          <a:p>
            <a:r>
              <a:rPr lang="en-US" altLang="zh-CN" sz="4000" b="1" smtClean="0">
                <a:solidFill>
                  <a:srgbClr val="C00000"/>
                </a:solidFill>
                <a:latin typeface="Times New Roman" panose="02020603050405020304" pitchFamily="18" charset="0"/>
                <a:cs typeface="Times New Roman" panose="02020603050405020304" pitchFamily="18" charset="0"/>
              </a:rPr>
              <a:t>9.3.2 </a:t>
            </a:r>
            <a:r>
              <a:rPr lang="zh-CN" altLang="en-US" sz="4000" b="1" smtClean="0">
                <a:solidFill>
                  <a:srgbClr val="C00000"/>
                </a:solidFill>
                <a:latin typeface="Times New Roman" panose="02020603050405020304" pitchFamily="18" charset="0"/>
                <a:cs typeface="Times New Roman" panose="02020603050405020304" pitchFamily="18" charset="0"/>
              </a:rPr>
              <a:t>顶点覆盖、团与独立集</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2" name="内容占位符 1"/>
          <p:cNvSpPr>
            <a:spLocks noGrp="1"/>
          </p:cNvSpPr>
          <p:nvPr>
            <p:ph idx="1"/>
          </p:nvPr>
        </p:nvSpPr>
        <p:spPr>
          <a:xfrm>
            <a:off x="899592" y="1600200"/>
            <a:ext cx="7787208" cy="4525963"/>
          </a:xfrm>
        </p:spPr>
        <p:txBody>
          <a:bodyPr/>
          <a:lstStyle/>
          <a:p>
            <a:pPr marL="0" indent="0">
              <a:buNone/>
            </a:pPr>
            <a:r>
              <a:rPr lang="zh-CN" altLang="zh-CN" sz="2400" b="1" dirty="0" smtClean="0">
                <a:latin typeface="Times New Roman" panose="02020603050405020304" pitchFamily="18" charset="0"/>
                <a:cs typeface="Times New Roman" panose="02020603050405020304" pitchFamily="18" charset="0"/>
              </a:rPr>
              <a:t>设无向图</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G </a:t>
            </a:r>
            <a:r>
              <a:rPr lang="en-US" altLang="zh-CN" sz="2400" b="1" dirty="0" smtClean="0">
                <a:latin typeface="Times New Roman" panose="02020603050405020304" pitchFamily="18" charset="0"/>
                <a:cs typeface="Times New Roman" panose="02020603050405020304" pitchFamily="18" charset="0"/>
              </a:rPr>
              <a:t>= &lt;</a:t>
            </a:r>
            <a:r>
              <a:rPr lang="en-US" altLang="zh-CN" sz="2400" b="1" i="1" dirty="0">
                <a:latin typeface="Times New Roman" panose="02020603050405020304" pitchFamily="18" charset="0"/>
                <a:cs typeface="Times New Roman" panose="02020603050405020304" pitchFamily="18" charset="0"/>
              </a:rPr>
              <a:t>V</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E</a:t>
            </a:r>
            <a:r>
              <a:rPr lang="en-US" altLang="zh-CN" sz="2400" b="1" dirty="0">
                <a:latin typeface="Times New Roman" panose="02020603050405020304" pitchFamily="18" charset="0"/>
                <a:cs typeface="Times New Roman" panose="02020603050405020304" pitchFamily="18" charset="0"/>
              </a:rPr>
              <a:t>&gt;, </a:t>
            </a:r>
            <a:r>
              <a:rPr lang="en-US" altLang="zh-CN" sz="2400" b="1" i="1" dirty="0">
                <a:latin typeface="Times New Roman" panose="02020603050405020304" pitchFamily="18" charset="0"/>
                <a:cs typeface="Times New Roman" panose="02020603050405020304" pitchFamily="18" charset="0"/>
              </a:rPr>
              <a:t>V</a:t>
            </a:r>
            <a:r>
              <a:rPr lang="en-US" altLang="zh-CN" sz="2400" b="1" i="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cs typeface="Times New Roman" panose="02020603050405020304" pitchFamily="18" charset="0"/>
              </a:rPr>
              <a:t> </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cs typeface="Times New Roman" panose="02020603050405020304" pitchFamily="18" charset="0"/>
              </a:rPr>
              <a:t>V</a:t>
            </a:r>
            <a:r>
              <a:rPr lang="en-US" altLang="zh-CN" sz="2400" b="1" dirty="0">
                <a:latin typeface="Times New Roman" panose="02020603050405020304" pitchFamily="18" charset="0"/>
                <a:cs typeface="Times New Roman" panose="02020603050405020304" pitchFamily="18" charset="0"/>
              </a:rPr>
              <a:t>,  </a:t>
            </a:r>
            <a:r>
              <a:rPr lang="en-US" altLang="zh-CN" sz="2400" b="1" i="1" dirty="0">
                <a:latin typeface="Times New Roman" panose="02020603050405020304" pitchFamily="18" charset="0"/>
                <a:cs typeface="Times New Roman" panose="02020603050405020304" pitchFamily="18" charset="0"/>
              </a:rPr>
              <a:t>V</a:t>
            </a:r>
            <a:r>
              <a:rPr lang="en-US" altLang="zh-CN" sz="2400" b="1" i="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cs typeface="Times New Roman" panose="02020603050405020304" pitchFamily="18" charset="0"/>
              </a:rPr>
              <a:t> </a:t>
            </a:r>
            <a:r>
              <a:rPr lang="zh-CN" altLang="zh-CN" sz="2400" b="1" dirty="0" smtClean="0">
                <a:latin typeface="Times New Roman" panose="02020603050405020304" pitchFamily="18" charset="0"/>
                <a:cs typeface="Times New Roman" panose="02020603050405020304" pitchFamily="18" charset="0"/>
              </a:rPr>
              <a:t>是</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G </a:t>
            </a:r>
            <a:r>
              <a:rPr lang="zh-CN" altLang="zh-CN" sz="2400" b="1" dirty="0" smtClean="0">
                <a:latin typeface="Times New Roman" panose="02020603050405020304" pitchFamily="18" charset="0"/>
                <a:cs typeface="Times New Roman" panose="02020603050405020304" pitchFamily="18" charset="0"/>
              </a:rPr>
              <a:t>的</a:t>
            </a:r>
            <a:r>
              <a:rPr lang="zh-CN" altLang="zh-CN" sz="2400" b="1" dirty="0">
                <a:latin typeface="Times New Roman" panose="02020603050405020304" pitchFamily="18" charset="0"/>
                <a:cs typeface="Times New Roman" panose="02020603050405020304" pitchFamily="18" charset="0"/>
              </a:rPr>
              <a:t>一个</a:t>
            </a:r>
            <a:endParaRPr lang="zh-CN" altLang="zh-CN" sz="2400" b="1" dirty="0">
              <a:latin typeface="Times New Roman" panose="02020603050405020304" pitchFamily="18" charset="0"/>
              <a:cs typeface="Times New Roman" panose="02020603050405020304" pitchFamily="18" charset="0"/>
            </a:endParaRPr>
          </a:p>
          <a:p>
            <a:pPr marL="0" indent="0">
              <a:buNone/>
            </a:pPr>
            <a:r>
              <a:rPr lang="zh-CN" altLang="zh-CN" sz="2400" b="1" dirty="0">
                <a:solidFill>
                  <a:srgbClr val="C00000"/>
                </a:solidFill>
                <a:latin typeface="Times New Roman" panose="02020603050405020304" pitchFamily="18" charset="0"/>
                <a:cs typeface="Times New Roman" panose="02020603050405020304" pitchFamily="18" charset="0"/>
              </a:rPr>
              <a:t>顶点覆盖</a:t>
            </a:r>
            <a:r>
              <a:rPr lang="zh-CN" altLang="zh-CN" sz="2400" b="1" dirty="0">
                <a:latin typeface="Times New Roman" panose="02020603050405020304" pitchFamily="18" charset="0"/>
                <a:cs typeface="Times New Roman" panose="02020603050405020304" pitchFamily="18" charset="0"/>
              </a:rPr>
              <a:t>：如果</a:t>
            </a:r>
            <a:r>
              <a:rPr lang="en-US" altLang="zh-CN" sz="2400" b="1" i="1" dirty="0">
                <a:latin typeface="Times New Roman" panose="02020603050405020304" pitchFamily="18" charset="0"/>
                <a:cs typeface="Times New Roman" panose="02020603050405020304" pitchFamily="18" charset="0"/>
              </a:rPr>
              <a:t>G</a:t>
            </a:r>
            <a:r>
              <a:rPr lang="zh-CN" altLang="zh-CN" sz="2400" b="1" dirty="0">
                <a:latin typeface="Times New Roman" panose="02020603050405020304" pitchFamily="18" charset="0"/>
                <a:cs typeface="Times New Roman" panose="02020603050405020304" pitchFamily="18" charset="0"/>
              </a:rPr>
              <a:t>的每一条边都至少有一个顶点</a:t>
            </a:r>
            <a:r>
              <a:rPr lang="zh-CN" altLang="zh-CN" sz="2400" b="1" dirty="0" smtClean="0">
                <a:latin typeface="Times New Roman" panose="02020603050405020304" pitchFamily="18" charset="0"/>
                <a:cs typeface="Times New Roman" panose="02020603050405020304" pitchFamily="18" charset="0"/>
              </a:rPr>
              <a:t>在</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V</a:t>
            </a:r>
            <a:r>
              <a:rPr lang="en-US" altLang="zh-CN" sz="2400" b="1" i="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cs typeface="Times New Roman" panose="02020603050405020304" pitchFamily="18" charset="0"/>
              </a:rPr>
              <a:t> </a:t>
            </a:r>
            <a:r>
              <a:rPr lang="zh-CN" altLang="zh-CN" sz="2400" b="1" dirty="0">
                <a:latin typeface="Times New Roman" panose="02020603050405020304" pitchFamily="18" charset="0"/>
                <a:cs typeface="Times New Roman" panose="02020603050405020304" pitchFamily="18" charset="0"/>
              </a:rPr>
              <a:t>中</a:t>
            </a:r>
            <a:r>
              <a:rPr lang="en-US" altLang="zh-CN" sz="2400" b="1" dirty="0">
                <a:latin typeface="Times New Roman" panose="02020603050405020304" pitchFamily="18" charset="0"/>
                <a:cs typeface="Times New Roman" panose="02020603050405020304" pitchFamily="18" charset="0"/>
              </a:rPr>
              <a:t>, </a:t>
            </a:r>
            <a:endParaRPr lang="zh-CN" altLang="zh-CN" sz="2400" b="1" dirty="0">
              <a:latin typeface="Times New Roman" panose="02020603050405020304" pitchFamily="18" charset="0"/>
              <a:cs typeface="Times New Roman" panose="02020603050405020304" pitchFamily="18" charset="0"/>
            </a:endParaRPr>
          </a:p>
          <a:p>
            <a:pPr marL="0" indent="0">
              <a:buNone/>
            </a:pPr>
            <a:r>
              <a:rPr lang="zh-CN" altLang="zh-CN" sz="2400" b="1" dirty="0">
                <a:solidFill>
                  <a:srgbClr val="C00000"/>
                </a:solidFill>
                <a:latin typeface="Times New Roman" panose="02020603050405020304" pitchFamily="18" charset="0"/>
                <a:cs typeface="Times New Roman" panose="02020603050405020304" pitchFamily="18" charset="0"/>
              </a:rPr>
              <a:t>团</a:t>
            </a:r>
            <a:r>
              <a:rPr lang="zh-CN" altLang="zh-CN" sz="2400" b="1" dirty="0">
                <a:latin typeface="Times New Roman" panose="02020603050405020304" pitchFamily="18" charset="0"/>
                <a:cs typeface="Times New Roman" panose="02020603050405020304" pitchFamily="18" charset="0"/>
              </a:rPr>
              <a:t>：对任意</a:t>
            </a:r>
            <a:r>
              <a:rPr lang="zh-CN" altLang="zh-CN" sz="2400" b="1" dirty="0" smtClean="0">
                <a:latin typeface="Times New Roman" panose="02020603050405020304" pitchFamily="18" charset="0"/>
                <a:cs typeface="Times New Roman" panose="02020603050405020304" pitchFamily="18" charset="0"/>
              </a:rPr>
              <a:t>的</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u</a:t>
            </a:r>
            <a:r>
              <a:rPr lang="en-US" altLang="zh-CN" sz="2400" b="1" dirty="0" err="1"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v</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cs typeface="Times New Roman" panose="02020603050405020304" pitchFamily="18" charset="0"/>
              </a:rPr>
              <a:t> V</a:t>
            </a:r>
            <a:r>
              <a:rPr lang="en-US" altLang="zh-CN" sz="2400" b="1" i="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cs typeface="Times New Roman" panose="02020603050405020304" pitchFamily="18" charset="0"/>
              </a:rPr>
              <a:t> </a:t>
            </a:r>
            <a:r>
              <a:rPr lang="zh-CN" altLang="zh-CN" sz="2400" b="1" dirty="0">
                <a:latin typeface="Times New Roman" panose="02020603050405020304" pitchFamily="18" charset="0"/>
                <a:cs typeface="Times New Roman" panose="02020603050405020304" pitchFamily="18" charset="0"/>
              </a:rPr>
              <a:t>且</a:t>
            </a:r>
            <a:r>
              <a:rPr lang="en-US" altLang="zh-CN" sz="2400" b="1" i="1" dirty="0" smtClean="0">
                <a:latin typeface="Times New Roman" panose="02020603050405020304" pitchFamily="18" charset="0"/>
                <a:cs typeface="Times New Roman" panose="02020603050405020304" pitchFamily="18" charset="0"/>
              </a:rPr>
              <a:t>u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rPr>
              <a:t>v</a:t>
            </a:r>
            <a:r>
              <a:rPr lang="en-US" altLang="zh-CN" sz="2400" b="1" dirty="0">
                <a:latin typeface="Times New Roman" panose="02020603050405020304" pitchFamily="18" charset="0"/>
                <a:cs typeface="Times New Roman" panose="02020603050405020304" pitchFamily="18" charset="0"/>
              </a:rPr>
              <a:t>, </a:t>
            </a:r>
            <a:r>
              <a:rPr lang="zh-CN" altLang="zh-CN" sz="2400" b="1" dirty="0">
                <a:latin typeface="Times New Roman" panose="02020603050405020304" pitchFamily="18" charset="0"/>
                <a:cs typeface="Times New Roman" panose="02020603050405020304" pitchFamily="18" charset="0"/>
              </a:rPr>
              <a:t>都有</a:t>
            </a:r>
            <a:r>
              <a:rPr lang="en-US" altLang="zh-CN" sz="2400" b="1" dirty="0">
                <a:latin typeface="Times New Roman" panose="02020603050405020304" pitchFamily="18" charset="0"/>
                <a:cs typeface="Times New Roman" panose="02020603050405020304" pitchFamily="18" charset="0"/>
              </a:rPr>
              <a:t>(</a:t>
            </a:r>
            <a:r>
              <a:rPr lang="en-US" altLang="zh-CN" sz="2400" b="1" i="1" dirty="0" err="1">
                <a:latin typeface="Times New Roman" panose="02020603050405020304" pitchFamily="18" charset="0"/>
                <a:cs typeface="Times New Roman" panose="02020603050405020304" pitchFamily="18" charset="0"/>
              </a:rPr>
              <a:t>u</a:t>
            </a:r>
            <a:r>
              <a:rPr lang="en-US" altLang="zh-CN" sz="2400" b="1" dirty="0" err="1">
                <a:latin typeface="Times New Roman" panose="02020603050405020304" pitchFamily="18" charset="0"/>
                <a:cs typeface="Times New Roman" panose="02020603050405020304" pitchFamily="18" charset="0"/>
              </a:rPr>
              <a:t>,</a:t>
            </a:r>
            <a:r>
              <a:rPr lang="en-US" altLang="zh-CN" sz="2400" b="1" i="1" dirty="0" err="1">
                <a:latin typeface="Times New Roman" panose="02020603050405020304" pitchFamily="18" charset="0"/>
                <a:cs typeface="Times New Roman" panose="02020603050405020304" pitchFamily="18" charset="0"/>
              </a:rPr>
              <a:t>v</a:t>
            </a:r>
            <a:r>
              <a:rPr lang="en-US" altLang="zh-CN"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cs typeface="Times New Roman" panose="02020603050405020304" pitchFamily="18" charset="0"/>
              </a:rPr>
              <a:t>E</a:t>
            </a:r>
            <a:r>
              <a:rPr lang="en-US" altLang="zh-CN" sz="2400" b="1" dirty="0">
                <a:latin typeface="Times New Roman" panose="02020603050405020304" pitchFamily="18" charset="0"/>
                <a:cs typeface="Times New Roman" panose="02020603050405020304" pitchFamily="18" charset="0"/>
              </a:rPr>
              <a:t>, </a:t>
            </a:r>
            <a:endParaRPr lang="zh-CN" altLang="zh-CN" sz="2400" b="1" dirty="0">
              <a:latin typeface="Times New Roman" panose="02020603050405020304" pitchFamily="18" charset="0"/>
              <a:cs typeface="Times New Roman" panose="02020603050405020304" pitchFamily="18" charset="0"/>
            </a:endParaRPr>
          </a:p>
          <a:p>
            <a:pPr marL="0" indent="0">
              <a:buNone/>
            </a:pPr>
            <a:r>
              <a:rPr lang="zh-CN" altLang="zh-CN" sz="2400" b="1" dirty="0">
                <a:solidFill>
                  <a:srgbClr val="C00000"/>
                </a:solidFill>
                <a:latin typeface="Times New Roman" panose="02020603050405020304" pitchFamily="18" charset="0"/>
                <a:cs typeface="Times New Roman" panose="02020603050405020304" pitchFamily="18" charset="0"/>
              </a:rPr>
              <a:t>独立集</a:t>
            </a:r>
            <a:r>
              <a:rPr lang="zh-CN" altLang="zh-CN" sz="2400" b="1" dirty="0">
                <a:latin typeface="Times New Roman" panose="02020603050405020304" pitchFamily="18" charset="0"/>
                <a:cs typeface="Times New Roman" panose="02020603050405020304" pitchFamily="18" charset="0"/>
              </a:rPr>
              <a:t>：对任意</a:t>
            </a:r>
            <a:r>
              <a:rPr lang="zh-CN" altLang="zh-CN" sz="2400" b="1" dirty="0" smtClean="0">
                <a:latin typeface="Times New Roman" panose="02020603050405020304" pitchFamily="18" charset="0"/>
                <a:cs typeface="Times New Roman" panose="02020603050405020304" pitchFamily="18" charset="0"/>
              </a:rPr>
              <a:t>的</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u</a:t>
            </a:r>
            <a:r>
              <a:rPr lang="en-US" altLang="zh-CN" sz="2400" b="1" dirty="0" err="1"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v</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cs typeface="Times New Roman" panose="02020603050405020304" pitchFamily="18" charset="0"/>
              </a:rPr>
              <a:t> V</a:t>
            </a:r>
            <a:r>
              <a:rPr lang="en-US" altLang="zh-CN" sz="2400" b="1" i="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cs typeface="Times New Roman" panose="02020603050405020304" pitchFamily="18" charset="0"/>
              </a:rPr>
              <a:t> </a:t>
            </a:r>
            <a:r>
              <a:rPr lang="en-US" altLang="zh-CN" sz="2400" b="1" dirty="0">
                <a:latin typeface="Times New Roman" panose="02020603050405020304" pitchFamily="18" charset="0"/>
                <a:cs typeface="Times New Roman" panose="02020603050405020304" pitchFamily="18" charset="0"/>
              </a:rPr>
              <a:t>, </a:t>
            </a:r>
            <a:r>
              <a:rPr lang="zh-CN" altLang="zh-CN" sz="2400" b="1" dirty="0">
                <a:latin typeface="Times New Roman" panose="02020603050405020304" pitchFamily="18" charset="0"/>
                <a:cs typeface="Times New Roman" panose="02020603050405020304" pitchFamily="18" charset="0"/>
              </a:rPr>
              <a:t>都有</a:t>
            </a:r>
            <a:r>
              <a:rPr lang="en-US" altLang="zh-CN" sz="2400" b="1" dirty="0">
                <a:latin typeface="Times New Roman" panose="02020603050405020304" pitchFamily="18" charset="0"/>
                <a:cs typeface="Times New Roman" panose="02020603050405020304" pitchFamily="18" charset="0"/>
              </a:rPr>
              <a:t>(</a:t>
            </a:r>
            <a:r>
              <a:rPr lang="en-US" altLang="zh-CN" sz="2400" b="1" i="1" dirty="0" err="1">
                <a:latin typeface="Times New Roman" panose="02020603050405020304" pitchFamily="18" charset="0"/>
                <a:cs typeface="Times New Roman" panose="02020603050405020304" pitchFamily="18" charset="0"/>
              </a:rPr>
              <a:t>u</a:t>
            </a:r>
            <a:r>
              <a:rPr lang="en-US" altLang="zh-CN" sz="2400" b="1" dirty="0" err="1">
                <a:latin typeface="Times New Roman" panose="02020603050405020304" pitchFamily="18" charset="0"/>
                <a:cs typeface="Times New Roman" panose="02020603050405020304" pitchFamily="18" charset="0"/>
              </a:rPr>
              <a:t>,</a:t>
            </a:r>
            <a:r>
              <a:rPr lang="en-US" altLang="zh-CN" sz="2400" b="1" i="1" dirty="0" err="1">
                <a:latin typeface="Times New Roman" panose="02020603050405020304" pitchFamily="18" charset="0"/>
                <a:cs typeface="Times New Roman" panose="02020603050405020304" pitchFamily="18" charset="0"/>
              </a:rPr>
              <a:t>v</a:t>
            </a:r>
            <a:r>
              <a:rPr lang="en-US" altLang="zh-CN"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E</a:t>
            </a:r>
            <a:r>
              <a:rPr lang="en-US" altLang="zh-CN" sz="2400" b="1" dirty="0" smtClean="0">
                <a:latin typeface="Times New Roman" panose="02020603050405020304" pitchFamily="18" charset="0"/>
                <a:cs typeface="Times New Roman" panose="02020603050405020304" pitchFamily="18" charset="0"/>
              </a:rPr>
              <a:t>.   </a:t>
            </a:r>
            <a:endParaRPr lang="zh-CN" altLang="zh-CN" sz="2400" b="1" dirty="0">
              <a:latin typeface="Times New Roman" panose="02020603050405020304" pitchFamily="18" charset="0"/>
              <a:cs typeface="Times New Roman" panose="02020603050405020304" pitchFamily="18" charset="0"/>
            </a:endParaRPr>
          </a:p>
          <a:p>
            <a:pPr marL="0" indent="0">
              <a:buNone/>
            </a:pPr>
            <a:endParaRPr lang="zh-CN" altLang="en-US" sz="2400" b="1"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5" name="Rectangle 6"/>
              <p:cNvSpPr>
                <a:spLocks noChangeArrowheads="1"/>
              </p:cNvSpPr>
              <p:nvPr/>
            </p:nvSpPr>
            <p:spPr bwMode="auto">
              <a:xfrm>
                <a:off x="719572" y="3844555"/>
                <a:ext cx="7704856" cy="2208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2733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227330" algn="l" defTabSz="914400" rtl="0" eaLnBrk="0" fontAlgn="base" latinLnBrk="0" hangingPunct="0">
                  <a:lnSpc>
                    <a:spcPts val="3300"/>
                  </a:lnSpc>
                  <a:spcBef>
                    <a:spcPct val="0"/>
                  </a:spcBef>
                  <a:spcAft>
                    <a:spcPct val="0"/>
                  </a:spcAft>
                  <a:buClrTx/>
                  <a:buSzTx/>
                  <a:buFontTx/>
                  <a:buNone/>
                </a:pPr>
                <a:r>
                  <a:rPr kumimoji="0" lang="zh-CN" altLang="zh-CN" sz="2400" b="1"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rPr>
                  <a:t>引理</a:t>
                </a:r>
                <a:r>
                  <a:rPr kumimoji="0" lang="en-US" altLang="zh-CN" sz="2400" b="1"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rPr>
                  <a:t>9.1  </a:t>
                </a:r>
                <a:r>
                  <a:rPr kumimoji="0" lang="zh-CN"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对任意的无向图 </a:t>
                </a:r>
                <a:r>
                  <a:rPr kumimoji="0" lang="en-US" altLang="zh-CN" sz="2400" b="1"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G </a:t>
                </a:r>
                <a:r>
                  <a:rPr kumimoji="0" lang="en-US" altLang="zh-CN"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&lt;</a:t>
                </a:r>
                <a:r>
                  <a:rPr kumimoji="0" lang="en-US" altLang="zh-CN" sz="2400" b="1"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V</a:t>
                </a:r>
                <a:r>
                  <a:rPr kumimoji="0" lang="en-US" altLang="zh-CN"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zh-CN" sz="2400" b="1"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a:t>
                </a:r>
                <a:r>
                  <a:rPr kumimoji="0" lang="en-US" altLang="zh-CN"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&gt;</a:t>
                </a:r>
                <a:r>
                  <a:rPr kumimoji="0" lang="zh-CN"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和子集</a:t>
                </a:r>
                <a:r>
                  <a:rPr kumimoji="0" lang="en-US" altLang="zh-CN" sz="2400" b="1"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V</a:t>
                </a:r>
                <a:r>
                  <a:rPr kumimoji="0" lang="en-US" altLang="zh-CN" sz="2400" b="1"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a:t>
                </a:r>
                <a:r>
                  <a:rPr kumimoji="0" lang="en-US" altLang="zh-CN"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zh-CN"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a:t>
                </a:r>
                <a:r>
                  <a:rPr kumimoji="0" lang="en-US" altLang="zh-CN" sz="2400" b="1"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V</a:t>
                </a:r>
                <a:r>
                  <a:rPr kumimoji="0" lang="en-US" altLang="zh-CN"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 </a:t>
                </a:r>
                <a:r>
                  <a:rPr kumimoji="0" lang="zh-CN" altLang="en-US" sz="2400" b="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下述</a:t>
                </a:r>
                <a:endParaRPr kumimoji="0" lang="en-US" altLang="zh-CN" sz="2400" b="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endParaRPr>
              </a:p>
              <a:p>
                <a:pPr marL="0" marR="0" lvl="0" indent="227330" algn="l" defTabSz="914400" rtl="0" eaLnBrk="0" fontAlgn="base" latinLnBrk="0" hangingPunct="0">
                  <a:lnSpc>
                    <a:spcPts val="3300"/>
                  </a:lnSpc>
                  <a:spcBef>
                    <a:spcPct val="0"/>
                  </a:spcBef>
                  <a:spcAft>
                    <a:spcPct val="0"/>
                  </a:spcAft>
                  <a:buClrTx/>
                  <a:buSzTx/>
                  <a:buFontTx/>
                  <a:buNone/>
                </a:pPr>
                <a:r>
                  <a:rPr kumimoji="0" lang="zh-CN" altLang="en-US" sz="2400" b="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命题是等价的</a:t>
                </a:r>
                <a:r>
                  <a:rPr kumimoji="0" lang="en-US" altLang="zh-CN" sz="2400" b="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a:t>
                </a:r>
                <a:endParaRPr kumimoji="0" lang="en-US" altLang="zh-CN" sz="2400" b="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endParaRPr>
              </a:p>
              <a:p>
                <a:pPr marL="0" marR="0" lvl="0" indent="227330" algn="l" defTabSz="914400" rtl="0" eaLnBrk="0" fontAlgn="base" latinLnBrk="0" hangingPunct="0">
                  <a:lnSpc>
                    <a:spcPts val="3300"/>
                  </a:lnSpc>
                  <a:spcBef>
                    <a:spcPct val="0"/>
                  </a:spcBef>
                  <a:spcAft>
                    <a:spcPct val="0"/>
                  </a:spcAft>
                  <a:buClrTx/>
                  <a:buSzTx/>
                  <a:buFontTx/>
                  <a:buNone/>
                </a:pPr>
                <a:r>
                  <a:rPr kumimoji="0" lang="en-US" altLang="zh-CN" sz="2400" b="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(1) </a:t>
                </a:r>
                <a:r>
                  <a:rPr kumimoji="0" lang="en-US" altLang="zh-CN" sz="2400" b="1"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V</a:t>
                </a:r>
                <a:r>
                  <a:rPr kumimoji="0" lang="en-US" altLang="zh-CN" sz="2400" b="1"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zh-CN"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是 </a:t>
                </a:r>
                <a:r>
                  <a:rPr kumimoji="0" lang="en-US" altLang="zh-CN" sz="2400" b="1"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G </a:t>
                </a:r>
                <a:r>
                  <a:rPr kumimoji="0" lang="zh-CN"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的顶点覆盖</a:t>
                </a:r>
                <a:r>
                  <a:rPr kumimoji="0" lang="en-US" altLang="zh-CN" sz="2400" b="1"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a:t>
                </a:r>
                <a:endParaRPr kumimoji="0" lang="en-US" altLang="zh-CN" sz="2400" b="1"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endParaRPr>
              </a:p>
              <a:p>
                <a:pPr marL="0" marR="0" lvl="0" indent="227330" algn="l" defTabSz="914400" rtl="0" eaLnBrk="0" fontAlgn="base" latinLnBrk="0" hangingPunct="0">
                  <a:lnSpc>
                    <a:spcPts val="3300"/>
                  </a:lnSpc>
                  <a:spcBef>
                    <a:spcPct val="0"/>
                  </a:spcBef>
                  <a:spcAft>
                    <a:spcPct val="0"/>
                  </a:spcAft>
                  <a:buClrTx/>
                  <a:buSzTx/>
                  <a:buFontTx/>
                  <a:buNone/>
                </a:pPr>
                <a:r>
                  <a:rPr kumimoji="0" lang="en-US" altLang="zh-CN" sz="2400" b="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(2) </a:t>
                </a:r>
                <a:r>
                  <a:rPr kumimoji="0" lang="en-US" altLang="zh-CN" sz="2400" b="1"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V</a:t>
                </a:r>
                <a:r>
                  <a:rPr kumimoji="0" lang="en-US" altLang="zh-CN"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a:t>
                </a:r>
                <a:r>
                  <a:rPr kumimoji="0" lang="en-US" altLang="zh-CN" sz="2400" b="1"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V</a:t>
                </a:r>
                <a:r>
                  <a:rPr kumimoji="0" lang="en-US" altLang="zh-CN" sz="2400" b="1"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zh-CN"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是 </a:t>
                </a:r>
                <a:r>
                  <a:rPr kumimoji="0" lang="en-US" altLang="zh-CN" sz="2400" b="1"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G </a:t>
                </a:r>
                <a:r>
                  <a:rPr kumimoji="0" lang="zh-CN"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的独立集</a:t>
                </a:r>
                <a:r>
                  <a:rPr kumimoji="0" lang="en-US" altLang="zh-CN" sz="2400" b="1"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a:t>
                </a:r>
                <a:endParaRPr kumimoji="0" lang="en-US" altLang="zh-CN" sz="2400" b="1"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endParaRPr>
              </a:p>
              <a:p>
                <a:pPr marL="0" marR="0" lvl="0" indent="227330" algn="l" defTabSz="914400" rtl="0" eaLnBrk="0" fontAlgn="base" latinLnBrk="0" hangingPunct="0">
                  <a:lnSpc>
                    <a:spcPts val="3300"/>
                  </a:lnSpc>
                  <a:spcBef>
                    <a:spcPct val="0"/>
                  </a:spcBef>
                  <a:spcAft>
                    <a:spcPct val="0"/>
                  </a:spcAft>
                  <a:buClrTx/>
                  <a:buSzTx/>
                  <a:buFontTx/>
                  <a:buNone/>
                </a:pPr>
                <a:r>
                  <a:rPr kumimoji="0" lang="en-US" altLang="zh-CN" sz="2400" b="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(3) </a:t>
                </a:r>
                <a:r>
                  <a:rPr kumimoji="0" lang="en-US" altLang="zh-CN" sz="2400" b="1"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V</a:t>
                </a:r>
                <a:r>
                  <a:rPr kumimoji="0" lang="en-US" altLang="zh-CN"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a:t>
                </a:r>
                <a:r>
                  <a:rPr kumimoji="0" lang="en-US" altLang="zh-CN" sz="2400" b="1"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V</a:t>
                </a:r>
                <a:r>
                  <a:rPr kumimoji="0" lang="en-US" altLang="zh-CN" sz="2400" b="1"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zh-CN"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是补图 </a:t>
                </a:r>
                <a14:m>
                  <m:oMath xmlns:m="http://schemas.openxmlformats.org/officeDocument/2006/math">
                    <m:acc>
                      <m:accPr>
                        <m:chr m:val="̅"/>
                        <m:ctrlPr>
                          <a:rPr kumimoji="0" lang="zh-CN" altLang="en-US" sz="2400" b="1" i="1" u="none" strike="noStrike" cap="none" normalizeH="0" baseline="0" smtClean="0">
                            <a:ln>
                              <a:noFill/>
                            </a:ln>
                            <a:solidFill>
                              <a:schemeClr val="tx1"/>
                            </a:solidFill>
                            <a:effectLst/>
                            <a:latin typeface="Cambria Math" panose="02040503050406030204" pitchFamily="18" charset="0"/>
                            <a:cs typeface="Times New Roman" panose="02020603050405020304" pitchFamily="18" charset="0"/>
                            <a:sym typeface="Symbol" panose="05050102010706020507" pitchFamily="18" charset="2"/>
                          </a:rPr>
                        </m:ctrlPr>
                      </m:accPr>
                      <m:e>
                        <m:r>
                          <a:rPr kumimoji="0" lang="en-US" altLang="zh-CN" sz="2400" b="1" i="1" u="none" strike="noStrike" cap="none" normalizeH="0" baseline="0" smtClean="0">
                            <a:ln>
                              <a:noFill/>
                            </a:ln>
                            <a:solidFill>
                              <a:schemeClr val="tx1"/>
                            </a:solidFill>
                            <a:effectLst/>
                            <a:latin typeface="Cambria Math" panose="02040503050406030204" pitchFamily="18" charset="0"/>
                            <a:cs typeface="Times New Roman" panose="02020603050405020304" pitchFamily="18" charset="0"/>
                            <a:sym typeface="Symbol" panose="05050102010706020507" pitchFamily="18" charset="2"/>
                          </a:rPr>
                          <m:t> </m:t>
                        </m:r>
                        <m:r>
                          <a:rPr kumimoji="0" lang="en-US" altLang="zh-CN" sz="2400" b="1" i="1" u="none" strike="noStrike" cap="none" normalizeH="0" baseline="0" smtClean="0">
                            <a:ln>
                              <a:noFill/>
                            </a:ln>
                            <a:solidFill>
                              <a:schemeClr val="tx1"/>
                            </a:solidFill>
                            <a:effectLst/>
                            <a:latin typeface="Cambria Math" panose="02040503050406030204" pitchFamily="18" charset="0"/>
                            <a:cs typeface="Times New Roman" panose="02020603050405020304" pitchFamily="18" charset="0"/>
                            <a:sym typeface="Symbol" panose="05050102010706020507" pitchFamily="18" charset="2"/>
                          </a:rPr>
                          <m:t>𝑮</m:t>
                        </m:r>
                      </m:e>
                    </m:acc>
                    <m:r>
                      <a:rPr kumimoji="0" lang="en-US" altLang="zh-CN" sz="2400" b="1" i="1" u="none" strike="noStrike" cap="none" normalizeH="0" baseline="0" smtClean="0">
                        <a:ln>
                          <a:noFill/>
                        </a:ln>
                        <a:solidFill>
                          <a:schemeClr val="tx1"/>
                        </a:solidFill>
                        <a:effectLst/>
                        <a:latin typeface="Cambria Math" panose="02040503050406030204" pitchFamily="18" charset="0"/>
                        <a:cs typeface="Times New Roman" panose="02020603050405020304" pitchFamily="18" charset="0"/>
                        <a:sym typeface="Symbol" panose="05050102010706020507" pitchFamily="18" charset="2"/>
                      </a:rPr>
                      <m:t>=&lt;</m:t>
                    </m:r>
                    <m:r>
                      <a:rPr kumimoji="0" lang="en-US" altLang="zh-CN" sz="2400" b="1" i="1" u="none" strike="noStrike" cap="none" normalizeH="0" baseline="0" smtClean="0">
                        <a:ln>
                          <a:noFill/>
                        </a:ln>
                        <a:solidFill>
                          <a:schemeClr val="tx1"/>
                        </a:solidFill>
                        <a:effectLst/>
                        <a:latin typeface="Cambria Math" panose="02040503050406030204" pitchFamily="18" charset="0"/>
                        <a:cs typeface="Times New Roman" panose="02020603050405020304" pitchFamily="18" charset="0"/>
                        <a:sym typeface="Symbol" panose="05050102010706020507" pitchFamily="18" charset="2"/>
                      </a:rPr>
                      <m:t>𝑽</m:t>
                    </m:r>
                    <m:r>
                      <a:rPr kumimoji="0" lang="en-US" altLang="zh-CN" sz="2400" b="1" i="1" u="none" strike="noStrike" cap="none" normalizeH="0" baseline="0" smtClean="0">
                        <a:ln>
                          <a:noFill/>
                        </a:ln>
                        <a:solidFill>
                          <a:schemeClr val="tx1"/>
                        </a:solidFill>
                        <a:effectLst/>
                        <a:latin typeface="Cambria Math" panose="02040503050406030204" pitchFamily="18" charset="0"/>
                        <a:cs typeface="Times New Roman" panose="02020603050405020304" pitchFamily="18" charset="0"/>
                        <a:sym typeface="Symbol" panose="05050102010706020507" pitchFamily="18" charset="2"/>
                      </a:rPr>
                      <m:t>,</m:t>
                    </m:r>
                    <m:acc>
                      <m:accPr>
                        <m:chr m:val="̅"/>
                        <m:ctrlPr>
                          <a:rPr kumimoji="0" lang="en-US" altLang="zh-CN" sz="2400" b="1" i="1" u="none" strike="noStrike" cap="none" normalizeH="0" baseline="0" smtClean="0">
                            <a:ln>
                              <a:noFill/>
                            </a:ln>
                            <a:solidFill>
                              <a:schemeClr val="tx1"/>
                            </a:solidFill>
                            <a:effectLst/>
                            <a:latin typeface="Cambria Math" panose="02040503050406030204" pitchFamily="18" charset="0"/>
                            <a:cs typeface="Times New Roman" panose="02020603050405020304" pitchFamily="18" charset="0"/>
                            <a:sym typeface="Symbol" panose="05050102010706020507" pitchFamily="18" charset="2"/>
                          </a:rPr>
                        </m:ctrlPr>
                      </m:accPr>
                      <m:e>
                        <m:r>
                          <a:rPr kumimoji="0" lang="en-US" altLang="zh-CN" sz="2400" b="1" i="1" u="none" strike="noStrike" cap="none" normalizeH="0" baseline="0" smtClean="0">
                            <a:ln>
                              <a:noFill/>
                            </a:ln>
                            <a:solidFill>
                              <a:schemeClr val="tx1"/>
                            </a:solidFill>
                            <a:effectLst/>
                            <a:latin typeface="Cambria Math" panose="02040503050406030204" pitchFamily="18" charset="0"/>
                            <a:cs typeface="Times New Roman" panose="02020603050405020304" pitchFamily="18" charset="0"/>
                            <a:sym typeface="Symbol" panose="05050102010706020507" pitchFamily="18" charset="2"/>
                          </a:rPr>
                          <m:t>𝑬</m:t>
                        </m:r>
                      </m:e>
                    </m:acc>
                    <m:r>
                      <a:rPr kumimoji="0" lang="en-US" altLang="zh-CN" sz="2400" b="1" i="1" u="none" strike="noStrike" cap="none" normalizeH="0" baseline="0" smtClean="0">
                        <a:ln>
                          <a:noFill/>
                        </a:ln>
                        <a:solidFill>
                          <a:schemeClr val="tx1"/>
                        </a:solidFill>
                        <a:effectLst/>
                        <a:latin typeface="Cambria Math" panose="02040503050406030204" pitchFamily="18" charset="0"/>
                        <a:cs typeface="Times New Roman" panose="02020603050405020304" pitchFamily="18" charset="0"/>
                        <a:sym typeface="Symbol" panose="05050102010706020507" pitchFamily="18" charset="2"/>
                      </a:rPr>
                      <m:t>&gt;</m:t>
                    </m:r>
                    <m:r>
                      <a:rPr lang="zh-CN" altLang="en-US" sz="2400" b="1" i="1">
                        <a:latin typeface="Cambria Math" panose="02040503050406030204" pitchFamily="18" charset="0"/>
                        <a:cs typeface="Times New Roman" panose="02020603050405020304" pitchFamily="18" charset="0"/>
                        <a:sym typeface="Symbol" panose="05050102010706020507" pitchFamily="18" charset="2"/>
                      </a:rPr>
                      <m:t>的</m:t>
                    </m:r>
                  </m:oMath>
                </a14:m>
                <a:r>
                  <a:rPr kumimoji="0" lang="zh-CN" altLang="en-US" sz="2400" b="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团</a:t>
                </a:r>
                <a:r>
                  <a:rPr kumimoji="0" lang="en-US" altLang="zh-CN" sz="2400" b="1"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 </a:t>
                </a:r>
                <a:endParaRPr kumimoji="0" lang="zh-CN" altLang="en-US" sz="2400" b="1"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endParaRPr>
              </a:p>
            </p:txBody>
          </p:sp>
        </mc:Choice>
        <mc:Fallback>
          <p:sp>
            <p:nvSpPr>
              <p:cNvPr id="5" name="Rectangle 6"/>
              <p:cNvSpPr>
                <a:spLocks noRot="1" noChangeAspect="1" noMove="1" noResize="1" noEditPoints="1" noAdjustHandles="1" noChangeArrowheads="1" noChangeShapeType="1" noTextEdit="1"/>
              </p:cNvSpPr>
              <p:nvPr/>
            </p:nvSpPr>
            <p:spPr bwMode="auto">
              <a:xfrm>
                <a:off x="719572" y="3844555"/>
                <a:ext cx="7704856" cy="2208297"/>
              </a:xfrm>
              <a:prstGeom prst="rect">
                <a:avLst/>
              </a:prstGeom>
              <a:blipFill rotWithShape="1">
                <a:blip r:embed="rId1"/>
                <a:stretch>
                  <a:fillRect l="-2" t="-12" r="7" b="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p:txBody>
          <a:bodyPr/>
          <a:lstStyle/>
          <a:p>
            <a:r>
              <a:rPr lang="en-US" altLang="zh-CN" sz="4000" b="1" smtClean="0">
                <a:solidFill>
                  <a:srgbClr val="C00000"/>
                </a:solidFill>
                <a:latin typeface="Times New Roman" panose="02020603050405020304" pitchFamily="18" charset="0"/>
                <a:cs typeface="Times New Roman" panose="02020603050405020304" pitchFamily="18" charset="0"/>
              </a:rPr>
              <a:t> </a:t>
            </a:r>
            <a:r>
              <a:rPr lang="zh-CN" altLang="en-US" sz="4000" b="1" smtClean="0">
                <a:solidFill>
                  <a:srgbClr val="C00000"/>
                </a:solidFill>
                <a:latin typeface="Times New Roman" panose="02020603050405020304" pitchFamily="18" charset="0"/>
                <a:cs typeface="Times New Roman" panose="02020603050405020304" pitchFamily="18" charset="0"/>
              </a:rPr>
              <a:t>顶点覆盖、团与独立集</a:t>
            </a:r>
            <a:endParaRPr lang="zh-CN" altLang="en-US" sz="4000" smtClean="0">
              <a:solidFill>
                <a:srgbClr val="C00000"/>
              </a:solidFill>
              <a:latin typeface="Times New Roman" panose="02020603050405020304" pitchFamily="18" charset="0"/>
              <a:cs typeface="Times New Roman" panose="02020603050405020304" pitchFamily="18" charset="0"/>
            </a:endParaRPr>
          </a:p>
        </p:txBody>
      </p:sp>
      <p:sp>
        <p:nvSpPr>
          <p:cNvPr id="33795" name="内容占位符 2"/>
          <p:cNvSpPr>
            <a:spLocks noGrp="1"/>
          </p:cNvSpPr>
          <p:nvPr>
            <p:ph idx="1"/>
          </p:nvPr>
        </p:nvSpPr>
        <p:spPr/>
        <p:txBody>
          <a:bodyPr/>
          <a:lstStyle/>
          <a:p>
            <a:pPr>
              <a:buFont typeface="Arial" panose="020B0604020202020204" pitchFamily="34" charset="0"/>
              <a:buNone/>
            </a:pPr>
            <a:r>
              <a:rPr lang="zh-CN" altLang="en-US" sz="2400" b="1" dirty="0" smtClean="0">
                <a:solidFill>
                  <a:srgbClr val="C00000"/>
                </a:solidFill>
                <a:latin typeface="Times New Roman" panose="02020603050405020304" pitchFamily="18" charset="0"/>
                <a:cs typeface="Times New Roman" panose="02020603050405020304" pitchFamily="18" charset="0"/>
              </a:rPr>
              <a:t>顶点覆盖 </a:t>
            </a:r>
            <a:r>
              <a:rPr lang="en-US" altLang="zh-CN" sz="2400" b="1" dirty="0" smtClean="0">
                <a:latin typeface="Times New Roman" panose="02020603050405020304" pitchFamily="18" charset="0"/>
                <a:cs typeface="Times New Roman" panose="02020603050405020304" pitchFamily="18" charset="0"/>
              </a:rPr>
              <a:t>(VC): </a:t>
            </a:r>
            <a:r>
              <a:rPr lang="zh-CN" altLang="en-US" sz="2400" b="1" dirty="0" smtClean="0">
                <a:latin typeface="Times New Roman" panose="02020603050405020304" pitchFamily="18" charset="0"/>
                <a:cs typeface="Times New Roman" panose="02020603050405020304" pitchFamily="18" charset="0"/>
              </a:rPr>
              <a:t>任给一个无向图 </a:t>
            </a:r>
            <a:r>
              <a:rPr lang="en-US" altLang="zh-CN" sz="2400" b="1" i="1" dirty="0" smtClean="0">
                <a:latin typeface="Times New Roman" panose="02020603050405020304" pitchFamily="18" charset="0"/>
                <a:cs typeface="Times New Roman" panose="02020603050405020304" pitchFamily="18" charset="0"/>
              </a:rPr>
              <a:t>G</a:t>
            </a:r>
            <a:r>
              <a:rPr lang="en-US" altLang="zh-CN" sz="2400" b="1" dirty="0" smtClean="0">
                <a:latin typeface="Times New Roman" panose="02020603050405020304" pitchFamily="18" charset="0"/>
                <a:cs typeface="Times New Roman" panose="02020603050405020304" pitchFamily="18" charset="0"/>
              </a:rPr>
              <a:t>=&lt;</a:t>
            </a:r>
            <a:r>
              <a:rPr lang="en-US" altLang="zh-CN" sz="2400" b="1" i="1" dirty="0" smtClean="0">
                <a:latin typeface="Times New Roman" panose="02020603050405020304" pitchFamily="18" charset="0"/>
                <a:cs typeface="Times New Roman" panose="02020603050405020304" pitchFamily="18" charset="0"/>
              </a:rPr>
              <a:t>V</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E</a:t>
            </a:r>
            <a:r>
              <a:rPr lang="en-US" altLang="zh-CN" sz="2400" b="1" dirty="0" smtClean="0">
                <a:latin typeface="Times New Roman" panose="02020603050405020304" pitchFamily="18" charset="0"/>
                <a:cs typeface="Times New Roman" panose="02020603050405020304" pitchFamily="18" charset="0"/>
              </a:rPr>
              <a:t>&gt;</a:t>
            </a:r>
            <a:r>
              <a:rPr lang="zh-CN" altLang="en-US" sz="2400" b="1" dirty="0" smtClean="0">
                <a:latin typeface="Times New Roman" panose="02020603050405020304" pitchFamily="18" charset="0"/>
                <a:cs typeface="Times New Roman" panose="02020603050405020304" pitchFamily="18" charset="0"/>
              </a:rPr>
              <a:t>和非负整数</a:t>
            </a:r>
            <a:r>
              <a:rPr lang="en-US" altLang="zh-CN" sz="2400" b="1" i="1" dirty="0" smtClean="0">
                <a:latin typeface="Times New Roman" panose="02020603050405020304" pitchFamily="18" charset="0"/>
                <a:cs typeface="Times New Roman" panose="02020603050405020304" pitchFamily="18" charset="0"/>
              </a:rPr>
              <a:t>K</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V</a:t>
            </a:r>
            <a:r>
              <a:rPr lang="en-US" altLang="zh-CN" sz="2400" b="1" dirty="0" smtClean="0">
                <a:latin typeface="Times New Roman" panose="02020603050405020304" pitchFamily="18" charset="0"/>
                <a:cs typeface="Times New Roman" panose="02020603050405020304" pitchFamily="18" charset="0"/>
              </a:rPr>
              <a:t>|, </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问 </a:t>
            </a:r>
            <a:r>
              <a:rPr lang="en-US" altLang="zh-CN" sz="2400" b="1" i="1" dirty="0" smtClean="0">
                <a:latin typeface="Times New Roman" panose="02020603050405020304" pitchFamily="18" charset="0"/>
                <a:cs typeface="Times New Roman" panose="02020603050405020304" pitchFamily="18" charset="0"/>
              </a:rPr>
              <a:t>G </a:t>
            </a:r>
            <a:r>
              <a:rPr lang="zh-CN" altLang="en-US" sz="2400" b="1" dirty="0" smtClean="0">
                <a:latin typeface="Times New Roman" panose="02020603050405020304" pitchFamily="18" charset="0"/>
                <a:cs typeface="Times New Roman" panose="02020603050405020304" pitchFamily="18" charset="0"/>
              </a:rPr>
              <a:t>有顶点数不超过 </a:t>
            </a:r>
            <a:r>
              <a:rPr lang="en-US" altLang="zh-CN" sz="2400" b="1" i="1" dirty="0" smtClean="0">
                <a:latin typeface="Times New Roman" panose="02020603050405020304" pitchFamily="18" charset="0"/>
                <a:cs typeface="Times New Roman" panose="02020603050405020304" pitchFamily="18" charset="0"/>
              </a:rPr>
              <a:t>K </a:t>
            </a:r>
            <a:r>
              <a:rPr lang="zh-CN" altLang="en-US" sz="2400" b="1" dirty="0" smtClean="0">
                <a:latin typeface="Times New Roman" panose="02020603050405020304" pitchFamily="18" charset="0"/>
                <a:cs typeface="Times New Roman" panose="02020603050405020304" pitchFamily="18" charset="0"/>
              </a:rPr>
              <a:t>的顶点覆盖吗</a:t>
            </a:r>
            <a:r>
              <a:rPr lang="en-US" altLang="zh-CN" sz="2400" b="1" dirty="0" smtClean="0">
                <a:latin typeface="Times New Roman" panose="02020603050405020304" pitchFamily="18" charset="0"/>
                <a:cs typeface="Times New Roman" panose="02020603050405020304" pitchFamily="18" charset="0"/>
              </a:rPr>
              <a:t>?</a:t>
            </a:r>
            <a:endParaRPr lang="zh-CN" altLang="en-US"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dirty="0" smtClean="0">
                <a:solidFill>
                  <a:srgbClr val="C00000"/>
                </a:solidFill>
                <a:latin typeface="Times New Roman" panose="02020603050405020304" pitchFamily="18" charset="0"/>
                <a:cs typeface="Times New Roman" panose="02020603050405020304" pitchFamily="18" charset="0"/>
              </a:rPr>
              <a:t>团</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任给一个无向图 </a:t>
            </a:r>
            <a:r>
              <a:rPr lang="en-US" altLang="zh-CN" sz="2400" b="1" i="1" dirty="0" smtClean="0">
                <a:latin typeface="Times New Roman" panose="02020603050405020304" pitchFamily="18" charset="0"/>
                <a:cs typeface="Times New Roman" panose="02020603050405020304" pitchFamily="18" charset="0"/>
              </a:rPr>
              <a:t>G</a:t>
            </a:r>
            <a:r>
              <a:rPr lang="en-US" altLang="zh-CN" sz="2400" b="1" dirty="0" smtClean="0">
                <a:latin typeface="Times New Roman" panose="02020603050405020304" pitchFamily="18" charset="0"/>
                <a:cs typeface="Times New Roman" panose="02020603050405020304" pitchFamily="18" charset="0"/>
              </a:rPr>
              <a:t>=&lt;</a:t>
            </a:r>
            <a:r>
              <a:rPr lang="en-US" altLang="zh-CN" sz="2400" b="1" i="1" dirty="0" smtClean="0">
                <a:latin typeface="Times New Roman" panose="02020603050405020304" pitchFamily="18" charset="0"/>
                <a:cs typeface="Times New Roman" panose="02020603050405020304" pitchFamily="18" charset="0"/>
              </a:rPr>
              <a:t>V</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E</a:t>
            </a:r>
            <a:r>
              <a:rPr lang="en-US" altLang="zh-CN" sz="2400" b="1" dirty="0" smtClean="0">
                <a:latin typeface="Times New Roman" panose="02020603050405020304" pitchFamily="18" charset="0"/>
                <a:cs typeface="Times New Roman" panose="02020603050405020304" pitchFamily="18" charset="0"/>
              </a:rPr>
              <a:t>&gt;</a:t>
            </a:r>
            <a:r>
              <a:rPr lang="zh-CN" altLang="en-US" sz="2400" b="1" dirty="0" smtClean="0">
                <a:latin typeface="Times New Roman" panose="02020603050405020304" pitchFamily="18" charset="0"/>
                <a:cs typeface="Times New Roman" panose="02020603050405020304" pitchFamily="18" charset="0"/>
              </a:rPr>
              <a:t>和非负整数</a:t>
            </a:r>
            <a:r>
              <a:rPr lang="en-US" altLang="zh-CN" sz="2400" b="1" i="1" dirty="0" smtClean="0">
                <a:latin typeface="Times New Roman" panose="02020603050405020304" pitchFamily="18" charset="0"/>
                <a:cs typeface="Times New Roman" panose="02020603050405020304" pitchFamily="18" charset="0"/>
              </a:rPr>
              <a:t>J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V</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问 </a:t>
            </a:r>
            <a:r>
              <a:rPr lang="en-US" altLang="zh-CN" sz="2400" b="1" i="1" dirty="0" smtClean="0">
                <a:latin typeface="Times New Roman" panose="02020603050405020304" pitchFamily="18" charset="0"/>
                <a:cs typeface="Times New Roman" panose="02020603050405020304" pitchFamily="18" charset="0"/>
              </a:rPr>
              <a:t>G </a:t>
            </a:r>
            <a:r>
              <a:rPr lang="zh-CN" altLang="en-US" sz="2400" b="1" dirty="0" smtClean="0">
                <a:latin typeface="Times New Roman" panose="02020603050405020304" pitchFamily="18" charset="0"/>
                <a:cs typeface="Times New Roman" panose="02020603050405020304" pitchFamily="18" charset="0"/>
              </a:rPr>
              <a:t>有顶点</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数不小于 </a:t>
            </a:r>
            <a:r>
              <a:rPr lang="en-US" altLang="zh-CN" sz="2400" b="1" i="1" dirty="0" smtClean="0">
                <a:latin typeface="Times New Roman" panose="02020603050405020304" pitchFamily="18" charset="0"/>
                <a:cs typeface="Times New Roman" panose="02020603050405020304" pitchFamily="18" charset="0"/>
              </a:rPr>
              <a:t>J </a:t>
            </a:r>
            <a:r>
              <a:rPr lang="zh-CN" altLang="en-US" sz="2400" b="1" dirty="0" smtClean="0">
                <a:latin typeface="Times New Roman" panose="02020603050405020304" pitchFamily="18" charset="0"/>
                <a:cs typeface="Times New Roman" panose="02020603050405020304" pitchFamily="18" charset="0"/>
              </a:rPr>
              <a:t>的团吗</a:t>
            </a:r>
            <a:r>
              <a:rPr lang="en-US" altLang="zh-CN" sz="2400" b="1" dirty="0" smtClean="0">
                <a:latin typeface="Times New Roman" panose="02020603050405020304" pitchFamily="18" charset="0"/>
                <a:cs typeface="Times New Roman" panose="02020603050405020304" pitchFamily="18" charset="0"/>
              </a:rPr>
              <a:t>?</a:t>
            </a:r>
            <a:endParaRPr lang="zh-CN" altLang="en-US"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dirty="0" smtClean="0">
                <a:solidFill>
                  <a:srgbClr val="C00000"/>
                </a:solidFill>
                <a:latin typeface="Times New Roman" panose="02020603050405020304" pitchFamily="18" charset="0"/>
                <a:cs typeface="Times New Roman" panose="02020603050405020304" pitchFamily="18" charset="0"/>
              </a:rPr>
              <a:t>独立集</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任给一个无向图 </a:t>
            </a:r>
            <a:r>
              <a:rPr lang="en-US" altLang="zh-CN" sz="2400" b="1" i="1" dirty="0" smtClean="0">
                <a:latin typeface="Times New Roman" panose="02020603050405020304" pitchFamily="18" charset="0"/>
                <a:cs typeface="Times New Roman" panose="02020603050405020304" pitchFamily="18" charset="0"/>
              </a:rPr>
              <a:t>G</a:t>
            </a:r>
            <a:r>
              <a:rPr lang="en-US" altLang="zh-CN" sz="2400" b="1" dirty="0" smtClean="0">
                <a:latin typeface="Times New Roman" panose="02020603050405020304" pitchFamily="18" charset="0"/>
                <a:cs typeface="Times New Roman" panose="02020603050405020304" pitchFamily="18" charset="0"/>
              </a:rPr>
              <a:t>=&lt;</a:t>
            </a:r>
            <a:r>
              <a:rPr lang="en-US" altLang="zh-CN" sz="2400" b="1" i="1" dirty="0" smtClean="0">
                <a:latin typeface="Times New Roman" panose="02020603050405020304" pitchFamily="18" charset="0"/>
                <a:cs typeface="Times New Roman" panose="02020603050405020304" pitchFamily="18" charset="0"/>
              </a:rPr>
              <a:t>V</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E</a:t>
            </a:r>
            <a:r>
              <a:rPr lang="en-US" altLang="zh-CN" sz="2400" b="1" dirty="0" smtClean="0">
                <a:latin typeface="Times New Roman" panose="02020603050405020304" pitchFamily="18" charset="0"/>
                <a:cs typeface="Times New Roman" panose="02020603050405020304" pitchFamily="18" charset="0"/>
              </a:rPr>
              <a:t>&gt;</a:t>
            </a:r>
            <a:r>
              <a:rPr lang="zh-CN" altLang="en-US" sz="2400" b="1" dirty="0" smtClean="0">
                <a:latin typeface="Times New Roman" panose="02020603050405020304" pitchFamily="18" charset="0"/>
                <a:cs typeface="Times New Roman" panose="02020603050405020304" pitchFamily="18" charset="0"/>
              </a:rPr>
              <a:t>和非负整数 </a:t>
            </a:r>
            <a:r>
              <a:rPr lang="en-US" altLang="zh-CN" sz="2400" b="1" i="1" dirty="0" smtClean="0">
                <a:latin typeface="Times New Roman" panose="02020603050405020304" pitchFamily="18" charset="0"/>
                <a:cs typeface="Times New Roman" panose="02020603050405020304" pitchFamily="18" charset="0"/>
              </a:rPr>
              <a:t>J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V</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问 </a:t>
            </a:r>
            <a:r>
              <a:rPr lang="en-US" altLang="zh-CN" sz="2400" b="1" i="1" dirty="0" smtClean="0">
                <a:latin typeface="Times New Roman" panose="02020603050405020304" pitchFamily="18" charset="0"/>
                <a:cs typeface="Times New Roman" panose="02020603050405020304" pitchFamily="18" charset="0"/>
              </a:rPr>
              <a:t>G </a:t>
            </a:r>
            <a:endParaRPr lang="en-US" altLang="zh-CN" sz="2400" b="1" i="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有顶点数不小于</a:t>
            </a:r>
            <a:r>
              <a:rPr lang="en-US" altLang="zh-CN" sz="2400" b="1" i="1" dirty="0" smtClean="0">
                <a:latin typeface="Times New Roman" panose="02020603050405020304" pitchFamily="18" charset="0"/>
                <a:cs typeface="Times New Roman" panose="02020603050405020304" pitchFamily="18" charset="0"/>
              </a:rPr>
              <a:t>J </a:t>
            </a:r>
            <a:r>
              <a:rPr lang="zh-CN" altLang="en-US" sz="2400" b="1" dirty="0" smtClean="0">
                <a:latin typeface="Times New Roman" panose="02020603050405020304" pitchFamily="18" charset="0"/>
                <a:cs typeface="Times New Roman" panose="02020603050405020304" pitchFamily="18" charset="0"/>
              </a:rPr>
              <a:t>的独立集吗</a:t>
            </a:r>
            <a:r>
              <a:rPr lang="en-US" altLang="zh-CN" sz="2400" b="1" dirty="0" smtClean="0">
                <a:latin typeface="Times New Roman" panose="02020603050405020304" pitchFamily="18" charset="0"/>
                <a:cs typeface="Times New Roman" panose="02020603050405020304" pitchFamily="18" charset="0"/>
              </a:rPr>
              <a:t>? </a:t>
            </a:r>
            <a:endParaRPr lang="zh-CN" altLang="en-US"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根据引理 </a:t>
            </a:r>
            <a:r>
              <a:rPr lang="en-US" altLang="zh-CN" sz="2400" b="1" dirty="0" smtClean="0">
                <a:latin typeface="Times New Roman" panose="02020603050405020304" pitchFamily="18" charset="0"/>
                <a:cs typeface="Times New Roman" panose="02020603050405020304" pitchFamily="18" charset="0"/>
              </a:rPr>
              <a:t>9.1, </a:t>
            </a:r>
            <a:r>
              <a:rPr lang="zh-CN" altLang="en-US" sz="2400" b="1" dirty="0" smtClean="0">
                <a:latin typeface="Times New Roman" panose="02020603050405020304" pitchFamily="18" charset="0"/>
                <a:cs typeface="Times New Roman" panose="02020603050405020304" pitchFamily="18" charset="0"/>
              </a:rPr>
              <a:t>很容易把这</a:t>
            </a:r>
            <a:r>
              <a:rPr lang="en-US" altLang="zh-CN" sz="2400" b="1" dirty="0" smtClean="0">
                <a:latin typeface="Times New Roman" panose="02020603050405020304" pitchFamily="18" charset="0"/>
                <a:cs typeface="Times New Roman" panose="02020603050405020304" pitchFamily="18" charset="0"/>
              </a:rPr>
              <a:t>3</a:t>
            </a:r>
            <a:r>
              <a:rPr lang="zh-CN" altLang="en-US" sz="2400" b="1" dirty="0" smtClean="0">
                <a:latin typeface="Times New Roman" panose="02020603050405020304" pitchFamily="18" charset="0"/>
                <a:cs typeface="Times New Roman" panose="02020603050405020304" pitchFamily="18" charset="0"/>
              </a:rPr>
              <a:t>个问题中的一个问题多项式时间</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变换到另一个问题</a:t>
            </a:r>
            <a:r>
              <a:rPr lang="en-US" altLang="zh-CN" sz="2400" b="1" dirty="0" smtClean="0">
                <a:latin typeface="Times New Roman" panose="02020603050405020304" pitchFamily="18" charset="0"/>
                <a:cs typeface="Times New Roman" panose="02020603050405020304" pitchFamily="18" charset="0"/>
              </a:rPr>
              <a:t>.</a:t>
            </a:r>
            <a:endParaRPr lang="zh-CN" altLang="en-US" sz="2400" b="1" dirty="0"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p:cNvSpPr>
            <a:spLocks noGrp="1"/>
          </p:cNvSpPr>
          <p:nvPr>
            <p:ph type="title"/>
          </p:nvPr>
        </p:nvSpPr>
        <p:spPr/>
        <p:txBody>
          <a:bodyPr/>
          <a:lstStyle/>
          <a:p>
            <a:r>
              <a:rPr lang="zh-CN" altLang="en-US" sz="4000" b="1" dirty="0" smtClean="0">
                <a:solidFill>
                  <a:srgbClr val="C00000"/>
                </a:solidFill>
                <a:latin typeface="Times New Roman" panose="02020603050405020304" pitchFamily="18" charset="0"/>
                <a:cs typeface="Times New Roman" panose="02020603050405020304" pitchFamily="18" charset="0"/>
              </a:rPr>
              <a:t>顶点覆盖</a:t>
            </a:r>
            <a:endParaRPr lang="zh-CN" altLang="en-US" sz="4000" b="1" dirty="0" smtClean="0">
              <a:solidFill>
                <a:srgbClr val="C0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2" name="内容占位符 1"/>
              <p:cNvSpPr>
                <a:spLocks noGrp="1"/>
              </p:cNvSpPr>
              <p:nvPr>
                <p:ph idx="1"/>
              </p:nvPr>
            </p:nvSpPr>
            <p:spPr>
              <a:xfrm>
                <a:off x="765920" y="1556792"/>
                <a:ext cx="7920880" cy="4525963"/>
              </a:xfrm>
            </p:spPr>
            <p:txBody>
              <a:bodyPr/>
              <a:lstStyle/>
              <a:p>
                <a:pPr marL="0" indent="0">
                  <a:buNone/>
                </a:pPr>
                <a:r>
                  <a:rPr lang="zh-CN" altLang="zh-CN" sz="2400" b="1" dirty="0" smtClean="0">
                    <a:solidFill>
                      <a:srgbClr val="C00000"/>
                    </a:solidFill>
                    <a:latin typeface="Times New Roman" panose="02020603050405020304" pitchFamily="18" charset="0"/>
                    <a:cs typeface="Times New Roman" panose="02020603050405020304" pitchFamily="18" charset="0"/>
                  </a:rPr>
                  <a:t>定理</a:t>
                </a:r>
                <a:r>
                  <a:rPr lang="en-US" altLang="zh-CN" sz="2400" b="1" dirty="0">
                    <a:solidFill>
                      <a:srgbClr val="C00000"/>
                    </a:solidFill>
                    <a:latin typeface="Times New Roman" panose="02020603050405020304" pitchFamily="18" charset="0"/>
                    <a:cs typeface="Times New Roman" panose="02020603050405020304" pitchFamily="18" charset="0"/>
                  </a:rPr>
                  <a:t>9.10</a:t>
                </a:r>
                <a:r>
                  <a:rPr lang="en-US" altLang="zh-CN" sz="2400" dirty="0">
                    <a:solidFill>
                      <a:srgbClr val="C00000"/>
                    </a:solidFill>
                    <a:latin typeface="Times New Roman" panose="02020603050405020304" pitchFamily="18" charset="0"/>
                    <a:cs typeface="Times New Roman" panose="02020603050405020304" pitchFamily="18" charset="0"/>
                  </a:rPr>
                  <a:t> </a:t>
                </a:r>
                <a:r>
                  <a:rPr lang="en-US" altLang="zh-CN" sz="2400" dirty="0" smtClean="0">
                    <a:solidFill>
                      <a:srgbClr val="C00000"/>
                    </a:solidFill>
                    <a:latin typeface="Times New Roman" panose="02020603050405020304" pitchFamily="18" charset="0"/>
                    <a:cs typeface="Times New Roman" panose="02020603050405020304" pitchFamily="18" charset="0"/>
                  </a:rPr>
                  <a:t> </a:t>
                </a:r>
                <a:r>
                  <a:rPr lang="zh-CN" altLang="zh-CN" sz="2400" b="1" dirty="0" smtClean="0">
                    <a:latin typeface="Times New Roman" panose="02020603050405020304" pitchFamily="18" charset="0"/>
                    <a:cs typeface="Times New Roman" panose="02020603050405020304" pitchFamily="18" charset="0"/>
                  </a:rPr>
                  <a:t>顶点覆盖是</a:t>
                </a:r>
                <a:r>
                  <a:rPr lang="en-US" altLang="zh-CN" sz="2400" b="1" dirty="0" smtClean="0">
                    <a:latin typeface="Times New Roman" panose="02020603050405020304" pitchFamily="18" charset="0"/>
                    <a:cs typeface="Times New Roman" panose="02020603050405020304" pitchFamily="18" charset="0"/>
                  </a:rPr>
                  <a:t> NP</a:t>
                </a:r>
                <a:r>
                  <a:rPr lang="zh-CN" altLang="zh-CN" sz="2400" b="1" dirty="0">
                    <a:latin typeface="Times New Roman" panose="02020603050405020304" pitchFamily="18" charset="0"/>
                    <a:cs typeface="Times New Roman" panose="02020603050405020304" pitchFamily="18" charset="0"/>
                  </a:rPr>
                  <a:t>完全的</a:t>
                </a:r>
                <a:r>
                  <a:rPr lang="en-US" altLang="zh-CN" sz="2400" b="1" dirty="0">
                    <a:latin typeface="Times New Roman" panose="02020603050405020304" pitchFamily="18" charset="0"/>
                    <a:cs typeface="Times New Roman" panose="02020603050405020304" pitchFamily="18" charset="0"/>
                  </a:rPr>
                  <a:t>.</a:t>
                </a:r>
                <a:endParaRPr lang="zh-CN" altLang="zh-CN" sz="2400" b="1" dirty="0">
                  <a:latin typeface="Times New Roman" panose="02020603050405020304" pitchFamily="18" charset="0"/>
                  <a:cs typeface="Times New Roman" panose="02020603050405020304" pitchFamily="18" charset="0"/>
                </a:endParaRPr>
              </a:p>
              <a:p>
                <a:pPr marL="0" indent="0">
                  <a:spcBef>
                    <a:spcPts val="1200"/>
                  </a:spcBef>
                  <a:buNone/>
                </a:pPr>
                <a:r>
                  <a:rPr lang="zh-CN" altLang="zh-CN" sz="2400" b="1" dirty="0">
                    <a:latin typeface="Times New Roman" panose="02020603050405020304" pitchFamily="18" charset="0"/>
                    <a:cs typeface="Times New Roman" panose="02020603050405020304" pitchFamily="18" charset="0"/>
                  </a:rPr>
                  <a:t>证  </a:t>
                </a:r>
                <a:r>
                  <a:rPr lang="en-US" altLang="zh-CN" sz="2400" b="1" dirty="0" smtClean="0">
                    <a:latin typeface="Times New Roman" panose="02020603050405020304" pitchFamily="18" charset="0"/>
                    <a:cs typeface="Times New Roman" panose="02020603050405020304" pitchFamily="18" charset="0"/>
                  </a:rPr>
                  <a:t> VC</a:t>
                </a:r>
                <a:r>
                  <a:rPr lang="zh-CN" altLang="zh-CN" sz="2400" b="1" dirty="0">
                    <a:latin typeface="Times New Roman" panose="02020603050405020304" pitchFamily="18" charset="0"/>
                    <a:cs typeface="Times New Roman" panose="02020603050405020304" pitchFamily="18" charset="0"/>
                  </a:rPr>
                  <a:t>的非确定型多项式时间算法</a:t>
                </a:r>
                <a:r>
                  <a:rPr lang="en-US" altLang="zh-CN" sz="2400" b="1" dirty="0">
                    <a:latin typeface="Times New Roman" panose="02020603050405020304" pitchFamily="18" charset="0"/>
                    <a:cs typeface="Times New Roman" panose="02020603050405020304" pitchFamily="18" charset="0"/>
                  </a:rPr>
                  <a:t>: </a:t>
                </a:r>
                <a:r>
                  <a:rPr lang="zh-CN" altLang="zh-CN" sz="2400" b="1" dirty="0">
                    <a:latin typeface="Times New Roman" panose="02020603050405020304" pitchFamily="18" charset="0"/>
                    <a:cs typeface="Times New Roman" panose="02020603050405020304" pitchFamily="18" charset="0"/>
                  </a:rPr>
                  <a:t>任意猜想一个</a:t>
                </a:r>
                <a:r>
                  <a:rPr lang="zh-CN" altLang="zh-CN" sz="2400" b="1" dirty="0" smtClean="0">
                    <a:latin typeface="Times New Roman" panose="02020603050405020304" pitchFamily="18" charset="0"/>
                    <a:cs typeface="Times New Roman" panose="02020603050405020304" pitchFamily="18" charset="0"/>
                  </a:rPr>
                  <a:t>子集</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V</a:t>
                </a:r>
                <a:r>
                  <a:rPr lang="en-US" altLang="zh-CN" sz="2400" b="1" i="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cs typeface="Times New Roman" panose="02020603050405020304" pitchFamily="18" charset="0"/>
                  </a:rPr>
                  <a:t> </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cs typeface="Times New Roman" panose="02020603050405020304" pitchFamily="18" charset="0"/>
                  </a:rPr>
                  <a:t>V</a:t>
                </a:r>
                <a:r>
                  <a:rPr lang="en-US" altLang="zh-CN" sz="2400" b="1" dirty="0" smtClean="0">
                    <a:latin typeface="Times New Roman" panose="02020603050405020304" pitchFamily="18" charset="0"/>
                    <a:cs typeface="Times New Roman" panose="02020603050405020304" pitchFamily="18" charset="0"/>
                  </a:rPr>
                  <a:t>,  </a:t>
                </a:r>
                <a:r>
                  <a:rPr lang="en-US" altLang="zh-CN" sz="2400" b="1" dirty="0">
                    <a:latin typeface="Times New Roman" panose="02020603050405020304" pitchFamily="18" charset="0"/>
                    <a:cs typeface="Times New Roman" panose="02020603050405020304" pitchFamily="18" charset="0"/>
                  </a:rPr>
                  <a:t>|</a:t>
                </a:r>
                <a:r>
                  <a:rPr lang="en-US" altLang="zh-CN" sz="2400" b="1" i="1" dirty="0">
                    <a:latin typeface="Times New Roman" panose="02020603050405020304" pitchFamily="18" charset="0"/>
                    <a:cs typeface="Times New Roman" panose="02020603050405020304" pitchFamily="18" charset="0"/>
                  </a:rPr>
                  <a:t>V</a:t>
                </a:r>
                <a:r>
                  <a:rPr lang="en-US" altLang="zh-CN" sz="2400" b="1" i="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rPr>
                  <a:t>K</a:t>
                </a:r>
                <a:r>
                  <a:rPr lang="en-US" altLang="zh-CN" sz="2400" b="1" dirty="0">
                    <a:latin typeface="Times New Roman" panose="02020603050405020304" pitchFamily="18" charset="0"/>
                    <a:cs typeface="Times New Roman" panose="02020603050405020304" pitchFamily="18" charset="0"/>
                  </a:rPr>
                  <a:t>, </a:t>
                </a:r>
                <a:r>
                  <a:rPr lang="zh-CN" altLang="zh-CN" sz="2400" b="1" dirty="0" smtClean="0">
                    <a:latin typeface="Times New Roman" panose="02020603050405020304" pitchFamily="18" charset="0"/>
                    <a:cs typeface="Times New Roman" panose="02020603050405020304" pitchFamily="18" charset="0"/>
                  </a:rPr>
                  <a:t>检查</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V</a:t>
                </a:r>
                <a:r>
                  <a:rPr lang="en-US" altLang="zh-CN" sz="2400" b="1" i="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cs typeface="Times New Roman" panose="02020603050405020304" pitchFamily="18" charset="0"/>
                  </a:rPr>
                  <a:t> </a:t>
                </a:r>
                <a:r>
                  <a:rPr lang="zh-CN" altLang="zh-CN" sz="2400" b="1" dirty="0">
                    <a:latin typeface="Times New Roman" panose="02020603050405020304" pitchFamily="18" charset="0"/>
                    <a:cs typeface="Times New Roman" panose="02020603050405020304" pitchFamily="18" charset="0"/>
                  </a:rPr>
                  <a:t>是否是一个顶点覆盖</a:t>
                </a:r>
                <a:r>
                  <a:rPr lang="en-US" altLang="zh-CN" sz="2400" b="1" dirty="0">
                    <a:latin typeface="Times New Roman" panose="02020603050405020304" pitchFamily="18" charset="0"/>
                    <a:cs typeface="Times New Roman" panose="02020603050405020304" pitchFamily="18" charset="0"/>
                  </a:rPr>
                  <a:t>, </a:t>
                </a:r>
                <a:endParaRPr lang="en-US" altLang="zh-CN" sz="2400" b="1" dirty="0" smtClean="0">
                  <a:latin typeface="Times New Roman" panose="02020603050405020304" pitchFamily="18" charset="0"/>
                  <a:cs typeface="Times New Roman" panose="02020603050405020304" pitchFamily="18" charset="0"/>
                </a:endParaRPr>
              </a:p>
              <a:p>
                <a:pPr marL="0" indent="0">
                  <a:spcBef>
                    <a:spcPts val="1200"/>
                  </a:spcBef>
                  <a:buNone/>
                </a:pPr>
                <a:r>
                  <a:rPr lang="zh-CN" altLang="zh-CN" sz="2400" b="1" dirty="0">
                    <a:latin typeface="Times New Roman" panose="02020603050405020304" pitchFamily="18" charset="0"/>
                    <a:cs typeface="Times New Roman" panose="02020603050405020304" pitchFamily="18" charset="0"/>
                  </a:rPr>
                  <a:t>要</a:t>
                </a:r>
                <a:r>
                  <a:rPr lang="zh-CN" altLang="zh-CN" sz="2400" b="1" dirty="0" smtClean="0">
                    <a:latin typeface="Times New Roman" panose="02020603050405020304" pitchFamily="18" charset="0"/>
                    <a:cs typeface="Times New Roman" panose="02020603050405020304" pitchFamily="18" charset="0"/>
                  </a:rPr>
                  <a:t>证</a:t>
                </a:r>
                <a:r>
                  <a:rPr lang="en-US" altLang="zh-CN" sz="2400" b="1" dirty="0" smtClean="0">
                    <a:latin typeface="Times New Roman" panose="02020603050405020304" pitchFamily="18" charset="0"/>
                    <a:cs typeface="Times New Roman" panose="02020603050405020304" pitchFamily="18" charset="0"/>
                  </a:rPr>
                  <a:t> 3SAT</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dirty="0">
                    <a:latin typeface="Times New Roman" panose="02020603050405020304" pitchFamily="18" charset="0"/>
                    <a:cs typeface="Times New Roman" panose="02020603050405020304" pitchFamily="18" charset="0"/>
                  </a:rPr>
                  <a:t>p</a:t>
                </a:r>
                <a:r>
                  <a:rPr lang="en-US" altLang="zh-CN" sz="2400" b="1" dirty="0">
                    <a:latin typeface="Times New Roman" panose="02020603050405020304" pitchFamily="18" charset="0"/>
                    <a:cs typeface="Times New Roman" panose="02020603050405020304" pitchFamily="18" charset="0"/>
                  </a:rPr>
                  <a:t>VC. </a:t>
                </a:r>
                <a:r>
                  <a:rPr lang="en-US" altLang="zh-CN" sz="2400" b="1" dirty="0" smtClean="0">
                    <a:latin typeface="Times New Roman" panose="02020603050405020304" pitchFamily="18" charset="0"/>
                    <a:cs typeface="Times New Roman" panose="02020603050405020304" pitchFamily="18" charset="0"/>
                  </a:rPr>
                  <a:t> </a:t>
                </a:r>
                <a:r>
                  <a:rPr lang="zh-CN" altLang="zh-CN" sz="2400" b="1" dirty="0" smtClean="0">
                    <a:latin typeface="Times New Roman" panose="02020603050405020304" pitchFamily="18" charset="0"/>
                    <a:cs typeface="Times New Roman" panose="02020603050405020304" pitchFamily="18" charset="0"/>
                  </a:rPr>
                  <a:t>任</a:t>
                </a:r>
                <a:r>
                  <a:rPr lang="zh-CN" altLang="zh-CN" sz="2400" b="1" dirty="0">
                    <a:latin typeface="Times New Roman" panose="02020603050405020304" pitchFamily="18" charset="0"/>
                    <a:cs typeface="Times New Roman" panose="02020603050405020304" pitchFamily="18" charset="0"/>
                  </a:rPr>
                  <a:t>给变</a:t>
                </a:r>
                <a:r>
                  <a:rPr lang="zh-CN" altLang="zh-CN" sz="2400" b="1" dirty="0" smtClean="0">
                    <a:latin typeface="Times New Roman" panose="02020603050405020304" pitchFamily="18" charset="0"/>
                    <a:cs typeface="Times New Roman" panose="02020603050405020304" pitchFamily="18" charset="0"/>
                  </a:rPr>
                  <a:t>元</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x</a:t>
                </a:r>
                <a:r>
                  <a:rPr lang="en-US" altLang="zh-CN" sz="2400" b="1" baseline="-25000" dirty="0" smtClean="0">
                    <a:latin typeface="Times New Roman" panose="02020603050405020304" pitchFamily="18" charset="0"/>
                    <a:cs typeface="Times New Roman" panose="02020603050405020304" pitchFamily="18" charset="0"/>
                  </a:rPr>
                  <a:t>1</a:t>
                </a:r>
                <a:r>
                  <a:rPr lang="en-US" altLang="zh-CN" sz="2400" b="1" dirty="0">
                    <a:latin typeface="Times New Roman" panose="02020603050405020304" pitchFamily="18" charset="0"/>
                    <a:cs typeface="Times New Roman" panose="02020603050405020304" pitchFamily="18" charset="0"/>
                  </a:rPr>
                  <a:t>,</a:t>
                </a:r>
                <a:r>
                  <a:rPr lang="en-US" altLang="zh-CN" sz="2400" b="1" i="1" dirty="0">
                    <a:latin typeface="Times New Roman" panose="02020603050405020304" pitchFamily="18" charset="0"/>
                    <a:cs typeface="Times New Roman" panose="02020603050405020304" pitchFamily="18" charset="0"/>
                  </a:rPr>
                  <a:t> x</a:t>
                </a:r>
                <a:r>
                  <a:rPr lang="en-US" altLang="zh-CN" sz="2400" b="1" baseline="-25000" dirty="0">
                    <a:latin typeface="Times New Roman" panose="02020603050405020304" pitchFamily="18" charset="0"/>
                    <a:cs typeface="Times New Roman" panose="02020603050405020304" pitchFamily="18" charset="0"/>
                  </a:rPr>
                  <a:t>2</a:t>
                </a:r>
                <a:r>
                  <a:rPr lang="en-US" altLang="zh-CN" sz="2400" b="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x</a:t>
                </a:r>
                <a:r>
                  <a:rPr lang="en-US" altLang="zh-CN" sz="2400" b="1" i="1" baseline="-25000" dirty="0" err="1" smtClean="0">
                    <a:latin typeface="Times New Roman" panose="02020603050405020304" pitchFamily="18" charset="0"/>
                    <a:cs typeface="Times New Roman" panose="02020603050405020304" pitchFamily="18" charset="0"/>
                  </a:rPr>
                  <a:t>n</a:t>
                </a:r>
                <a:r>
                  <a:rPr lang="en-US" altLang="zh-CN" sz="2400" b="1" i="1" baseline="-25000" dirty="0" smtClean="0">
                    <a:latin typeface="Times New Roman" panose="02020603050405020304" pitchFamily="18" charset="0"/>
                    <a:cs typeface="Times New Roman" panose="02020603050405020304" pitchFamily="18" charset="0"/>
                  </a:rPr>
                  <a:t> </a:t>
                </a:r>
                <a:r>
                  <a:rPr lang="zh-CN" altLang="zh-CN" sz="2400" b="1" dirty="0" smtClean="0">
                    <a:latin typeface="Times New Roman" panose="02020603050405020304" pitchFamily="18" charset="0"/>
                    <a:cs typeface="Times New Roman" panose="02020603050405020304" pitchFamily="18" charset="0"/>
                  </a:rPr>
                  <a:t>的</a:t>
                </a:r>
                <a:r>
                  <a:rPr lang="en-US" altLang="zh-CN" sz="2400" b="1" dirty="0" smtClean="0">
                    <a:latin typeface="Times New Roman" panose="02020603050405020304" pitchFamily="18" charset="0"/>
                    <a:cs typeface="Times New Roman" panose="02020603050405020304" pitchFamily="18" charset="0"/>
                  </a:rPr>
                  <a:t> 3</a:t>
                </a:r>
                <a:r>
                  <a:rPr lang="zh-CN" altLang="zh-CN" sz="2400" b="1" dirty="0">
                    <a:latin typeface="Times New Roman" panose="02020603050405020304" pitchFamily="18" charset="0"/>
                    <a:cs typeface="Times New Roman" panose="02020603050405020304" pitchFamily="18" charset="0"/>
                  </a:rPr>
                  <a:t>元合取范式</a:t>
                </a:r>
                <a:r>
                  <a:rPr lang="en-US" altLang="zh-CN" sz="2400" b="1" i="1" dirty="0">
                    <a:latin typeface="Times New Roman" panose="02020603050405020304" pitchFamily="18" charset="0"/>
                    <a:cs typeface="Times New Roman" panose="02020603050405020304" pitchFamily="18" charset="0"/>
                  </a:rPr>
                  <a:t>F</a:t>
                </a:r>
                <a:r>
                  <a:rPr lang="en-US" altLang="zh-CN" sz="2400" b="1" dirty="0">
                    <a:latin typeface="Times New Roman" panose="02020603050405020304" pitchFamily="18" charset="0"/>
                    <a:cs typeface="Times New Roman" panose="02020603050405020304" pitchFamily="18" charset="0"/>
                  </a:rPr>
                  <a:t>=</a:t>
                </a:r>
                <a:r>
                  <a:rPr lang="en-US" altLang="zh-CN" sz="2400" b="1" i="1" dirty="0">
                    <a:latin typeface="Times New Roman" panose="02020603050405020304" pitchFamily="18" charset="0"/>
                    <a:cs typeface="Times New Roman" panose="02020603050405020304" pitchFamily="18" charset="0"/>
                  </a:rPr>
                  <a:t>C</a:t>
                </a:r>
                <a:r>
                  <a:rPr lang="en-US" altLang="zh-CN" sz="2400" b="1" baseline="-25000" dirty="0">
                    <a:latin typeface="Times New Roman" panose="02020603050405020304" pitchFamily="18" charset="0"/>
                    <a:cs typeface="Times New Roman" panose="02020603050405020304" pitchFamily="18" charset="0"/>
                  </a:rPr>
                  <a:t>1</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cs typeface="Times New Roman" panose="02020603050405020304" pitchFamily="18" charset="0"/>
                  </a:rPr>
                  <a:t>C</a:t>
                </a:r>
                <a:r>
                  <a:rPr lang="en-US" altLang="zh-CN" sz="2400" b="1" baseline="-25000" dirty="0">
                    <a:latin typeface="Times New Roman" panose="02020603050405020304" pitchFamily="18" charset="0"/>
                    <a:cs typeface="Times New Roman" panose="02020603050405020304" pitchFamily="18" charset="0"/>
                  </a:rPr>
                  <a:t>2</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cs typeface="Times New Roman" panose="02020603050405020304" pitchFamily="18" charset="0"/>
                  </a:rPr>
                  <a:t>C</a:t>
                </a:r>
                <a:r>
                  <a:rPr lang="en-US" altLang="zh-CN" sz="2400" b="1" i="1" baseline="-25000" dirty="0">
                    <a:latin typeface="Times New Roman" panose="02020603050405020304" pitchFamily="18" charset="0"/>
                    <a:cs typeface="Times New Roman" panose="02020603050405020304" pitchFamily="18" charset="0"/>
                  </a:rPr>
                  <a:t>m</a:t>
                </a:r>
                <a:r>
                  <a:rPr lang="en-US" altLang="zh-CN" sz="2400" b="1" dirty="0">
                    <a:latin typeface="Times New Roman" panose="02020603050405020304" pitchFamily="18" charset="0"/>
                    <a:cs typeface="Times New Roman" panose="02020603050405020304" pitchFamily="18" charset="0"/>
                  </a:rPr>
                  <a:t>, </a:t>
                </a:r>
                <a:r>
                  <a:rPr lang="zh-CN" altLang="zh-CN" sz="2400" b="1" dirty="0" smtClean="0">
                    <a:latin typeface="Times New Roman" panose="02020603050405020304" pitchFamily="18" charset="0"/>
                    <a:cs typeface="Times New Roman" panose="02020603050405020304" pitchFamily="18" charset="0"/>
                  </a:rPr>
                  <a:t>其中</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C</a:t>
                </a:r>
                <a:r>
                  <a:rPr lang="en-US" altLang="zh-CN" sz="2400" b="1" i="1" baseline="-25000" dirty="0" err="1" smtClean="0">
                    <a:latin typeface="Times New Roman" panose="02020603050405020304" pitchFamily="18" charset="0"/>
                    <a:cs typeface="Times New Roman" panose="02020603050405020304" pitchFamily="18" charset="0"/>
                  </a:rPr>
                  <a:t>j</a:t>
                </a:r>
                <a:r>
                  <a:rPr lang="en-US" altLang="zh-CN" sz="2400" b="1" i="1" baseline="-25000"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z</a:t>
                </a:r>
                <a:r>
                  <a:rPr lang="en-US" altLang="zh-CN" sz="2400" b="1" i="1" baseline="-25000" dirty="0" smtClean="0">
                    <a:latin typeface="Times New Roman" panose="02020603050405020304" pitchFamily="18" charset="0"/>
                    <a:cs typeface="Times New Roman" panose="02020603050405020304" pitchFamily="18" charset="0"/>
                  </a:rPr>
                  <a:t>j</a:t>
                </a:r>
                <a:r>
                  <a:rPr lang="en-US" altLang="zh-CN" sz="2400" b="1" baseline="-25000" dirty="0" smtClean="0">
                    <a:latin typeface="Times New Roman" panose="02020603050405020304" pitchFamily="18" charset="0"/>
                    <a:cs typeface="Times New Roman" panose="02020603050405020304" pitchFamily="18" charset="0"/>
                  </a:rPr>
                  <a:t>1</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cs typeface="Times New Roman" panose="02020603050405020304" pitchFamily="18" charset="0"/>
                  </a:rPr>
                  <a:t> z</a:t>
                </a:r>
                <a:r>
                  <a:rPr lang="en-US" altLang="zh-CN" sz="2400" b="1" i="1" baseline="-25000" dirty="0">
                    <a:latin typeface="Times New Roman" panose="02020603050405020304" pitchFamily="18" charset="0"/>
                    <a:cs typeface="Times New Roman" panose="02020603050405020304" pitchFamily="18" charset="0"/>
                  </a:rPr>
                  <a:t>j</a:t>
                </a:r>
                <a:r>
                  <a:rPr lang="en-US" altLang="zh-CN" sz="2400" b="1" baseline="-25000" dirty="0">
                    <a:latin typeface="Times New Roman" panose="02020603050405020304" pitchFamily="18" charset="0"/>
                    <a:cs typeface="Times New Roman" panose="02020603050405020304" pitchFamily="18" charset="0"/>
                  </a:rPr>
                  <a:t>2</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cs typeface="Times New Roman" panose="02020603050405020304" pitchFamily="18" charset="0"/>
                  </a:rPr>
                  <a:t> z</a:t>
                </a:r>
                <a:r>
                  <a:rPr lang="en-US" altLang="zh-CN" sz="2400" b="1" i="1" baseline="-25000" dirty="0">
                    <a:latin typeface="Times New Roman" panose="02020603050405020304" pitchFamily="18" charset="0"/>
                    <a:cs typeface="Times New Roman" panose="02020603050405020304" pitchFamily="18" charset="0"/>
                  </a:rPr>
                  <a:t>j</a:t>
                </a:r>
                <a:r>
                  <a:rPr lang="en-US" altLang="zh-CN" sz="2400" b="1" baseline="-25000" dirty="0">
                    <a:latin typeface="Times New Roman" panose="02020603050405020304" pitchFamily="18" charset="0"/>
                    <a:cs typeface="Times New Roman" panose="02020603050405020304" pitchFamily="18" charset="0"/>
                  </a:rPr>
                  <a:t>3</a:t>
                </a:r>
                <a:r>
                  <a:rPr lang="en-US" altLang="zh-CN" sz="2400" b="1" dirty="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z</a:t>
                </a:r>
                <a:r>
                  <a:rPr lang="en-US" altLang="zh-CN" sz="2400" b="1" i="1" baseline="-25000" dirty="0" err="1" smtClean="0">
                    <a:latin typeface="Times New Roman" panose="02020603050405020304" pitchFamily="18" charset="0"/>
                    <a:cs typeface="Times New Roman" panose="02020603050405020304" pitchFamily="18" charset="0"/>
                  </a:rPr>
                  <a:t>jk</a:t>
                </a:r>
                <a:r>
                  <a:rPr lang="en-US" altLang="zh-CN" sz="2400" b="1" i="1" baseline="-25000" dirty="0" smtClean="0">
                    <a:latin typeface="Times New Roman" panose="02020603050405020304" pitchFamily="18" charset="0"/>
                    <a:cs typeface="Times New Roman" panose="02020603050405020304" pitchFamily="18" charset="0"/>
                  </a:rPr>
                  <a:t> </a:t>
                </a:r>
                <a:r>
                  <a:rPr lang="zh-CN" altLang="zh-CN" sz="2400" b="1" dirty="0" smtClean="0">
                    <a:latin typeface="Times New Roman" panose="02020603050405020304" pitchFamily="18" charset="0"/>
                    <a:cs typeface="Times New Roman" panose="02020603050405020304" pitchFamily="18" charset="0"/>
                  </a:rPr>
                  <a:t>是某个</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x</a:t>
                </a:r>
                <a:r>
                  <a:rPr lang="en-US" altLang="zh-CN" sz="2400" b="1" i="1" baseline="-25000" dirty="0" smtClean="0">
                    <a:latin typeface="Times New Roman" panose="02020603050405020304" pitchFamily="18" charset="0"/>
                    <a:cs typeface="Times New Roman" panose="02020603050405020304" pitchFamily="18" charset="0"/>
                  </a:rPr>
                  <a:t>i </a:t>
                </a:r>
                <a:r>
                  <a:rPr lang="zh-CN" altLang="zh-CN" sz="2400" b="1" dirty="0" smtClean="0">
                    <a:latin typeface="Times New Roman" panose="02020603050405020304" pitchFamily="18" charset="0"/>
                    <a:cs typeface="Times New Roman" panose="02020603050405020304" pitchFamily="18" charset="0"/>
                  </a:rPr>
                  <a:t>或</a:t>
                </a:r>
                <a:r>
                  <a:rPr lang="en-US" altLang="zh-CN" sz="2400" b="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cs typeface="Times New Roman" panose="02020603050405020304" pitchFamily="18" charset="0"/>
                  </a:rPr>
                  <a:t>x</a:t>
                </a:r>
                <a:r>
                  <a:rPr lang="en-US" altLang="zh-CN" sz="2400" b="1" i="1" baseline="-25000" dirty="0">
                    <a:latin typeface="Times New Roman" panose="02020603050405020304" pitchFamily="18" charset="0"/>
                    <a:cs typeface="Times New Roman" panose="02020603050405020304" pitchFamily="18" charset="0"/>
                  </a:rPr>
                  <a:t>i</a:t>
                </a:r>
                <a:r>
                  <a:rPr lang="en-US" altLang="zh-CN" sz="2400" b="1" dirty="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k </a:t>
                </a:r>
                <a:r>
                  <a:rPr lang="en-US" altLang="zh-CN" sz="2400" b="1" dirty="0" smtClean="0">
                    <a:latin typeface="Times New Roman" panose="02020603050405020304" pitchFamily="18" charset="0"/>
                    <a:cs typeface="Times New Roman" panose="02020603050405020304" pitchFamily="18" charset="0"/>
                  </a:rPr>
                  <a:t>= 1, 2, 3</a:t>
                </a:r>
                <a:r>
                  <a:rPr lang="en-US" altLang="zh-CN" sz="2400" b="1" dirty="0">
                    <a:latin typeface="Times New Roman" panose="02020603050405020304" pitchFamily="18" charset="0"/>
                    <a:cs typeface="Times New Roman" panose="02020603050405020304" pitchFamily="18" charset="0"/>
                  </a:rPr>
                  <a:t>, 1</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rPr>
                  <a:t>j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rPr>
                  <a:t>m</a:t>
                </a:r>
                <a:r>
                  <a:rPr lang="en-US" altLang="zh-CN" sz="2400" b="1" dirty="0">
                    <a:latin typeface="Times New Roman" panose="02020603050405020304" pitchFamily="18" charset="0"/>
                    <a:cs typeface="Times New Roman" panose="02020603050405020304" pitchFamily="18" charset="0"/>
                  </a:rPr>
                  <a:t>. </a:t>
                </a:r>
                <a:r>
                  <a:rPr lang="zh-CN" altLang="zh-CN" sz="2400" b="1" dirty="0">
                    <a:latin typeface="Times New Roman" panose="02020603050405020304" pitchFamily="18" charset="0"/>
                    <a:cs typeface="Times New Roman" panose="02020603050405020304" pitchFamily="18" charset="0"/>
                  </a:rPr>
                  <a:t>如下构造</a:t>
                </a:r>
                <a:r>
                  <a:rPr lang="en-US" altLang="zh-CN" sz="2400" b="1" dirty="0">
                    <a:latin typeface="Times New Roman" panose="02020603050405020304" pitchFamily="18" charset="0"/>
                    <a:cs typeface="Times New Roman" panose="02020603050405020304" pitchFamily="18" charset="0"/>
                  </a:rPr>
                  <a:t>VC</a:t>
                </a:r>
                <a:r>
                  <a:rPr lang="zh-CN" altLang="zh-CN" sz="2400" b="1" dirty="0">
                    <a:latin typeface="Times New Roman" panose="02020603050405020304" pitchFamily="18" charset="0"/>
                    <a:cs typeface="Times New Roman" panose="02020603050405020304" pitchFamily="18" charset="0"/>
                  </a:rPr>
                  <a:t>的</a:t>
                </a:r>
                <a:r>
                  <a:rPr lang="zh-CN" altLang="zh-CN" sz="2400" b="1" dirty="0" smtClean="0">
                    <a:latin typeface="Times New Roman" panose="02020603050405020304" pitchFamily="18" charset="0"/>
                    <a:cs typeface="Times New Roman" panose="02020603050405020304" pitchFamily="18" charset="0"/>
                  </a:rPr>
                  <a:t>实例</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F</a:t>
                </a:r>
                <a:r>
                  <a:rPr lang="en-US" altLang="zh-CN" sz="2400" b="1" dirty="0">
                    <a:latin typeface="Times New Roman" panose="02020603050405020304" pitchFamily="18" charset="0"/>
                    <a:cs typeface="Times New Roman" panose="02020603050405020304" pitchFamily="18" charset="0"/>
                  </a:rPr>
                  <a:t>)</a:t>
                </a:r>
                <a:r>
                  <a:rPr lang="zh-CN" altLang="zh-CN" sz="2400" b="1" dirty="0">
                    <a:latin typeface="Times New Roman" panose="02020603050405020304" pitchFamily="18" charset="0"/>
                    <a:cs typeface="Times New Roman" panose="02020603050405020304" pitchFamily="18" charset="0"/>
                  </a:rPr>
                  <a:t>：</a:t>
                </a:r>
                <a:r>
                  <a:rPr lang="en-US" altLang="zh-CN" sz="2400" b="1" i="1" dirty="0">
                    <a:latin typeface="Times New Roman" panose="02020603050405020304" pitchFamily="18" charset="0"/>
                    <a:cs typeface="Times New Roman" panose="02020603050405020304" pitchFamily="18" charset="0"/>
                  </a:rPr>
                  <a:t>G</a:t>
                </a:r>
                <a:r>
                  <a:rPr lang="en-US" altLang="zh-CN" sz="2400" b="1" dirty="0">
                    <a:latin typeface="Times New Roman" panose="02020603050405020304" pitchFamily="18" charset="0"/>
                    <a:cs typeface="Times New Roman" panose="02020603050405020304" pitchFamily="18" charset="0"/>
                  </a:rPr>
                  <a:t>=&lt;</a:t>
                </a:r>
                <a:r>
                  <a:rPr lang="en-US" altLang="zh-CN" sz="2400" b="1" i="1" dirty="0">
                    <a:latin typeface="Times New Roman" panose="02020603050405020304" pitchFamily="18" charset="0"/>
                    <a:cs typeface="Times New Roman" panose="02020603050405020304" pitchFamily="18" charset="0"/>
                  </a:rPr>
                  <a:t>V</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E</a:t>
                </a:r>
                <a:r>
                  <a:rPr lang="en-US" altLang="zh-CN" sz="2400" b="1" dirty="0" smtClean="0">
                    <a:latin typeface="Times New Roman" panose="02020603050405020304" pitchFamily="18" charset="0"/>
                    <a:cs typeface="Times New Roman" panose="02020603050405020304" pitchFamily="18" charset="0"/>
                  </a:rPr>
                  <a:t>&gt;</a:t>
                </a:r>
                <a:r>
                  <a:rPr lang="zh-CN" altLang="zh-CN" sz="2400" b="1" dirty="0" smtClean="0">
                    <a:latin typeface="Times New Roman" panose="02020603050405020304" pitchFamily="18" charset="0"/>
                    <a:cs typeface="Times New Roman" panose="02020603050405020304" pitchFamily="18" charset="0"/>
                  </a:rPr>
                  <a:t>和</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K = n+</a:t>
                </a:r>
                <a:r>
                  <a:rPr lang="en-US" altLang="zh-CN" sz="2400" b="1" dirty="0" smtClean="0">
                    <a:latin typeface="Times New Roman" panose="02020603050405020304" pitchFamily="18" charset="0"/>
                    <a:cs typeface="Times New Roman" panose="02020603050405020304" pitchFamily="18" charset="0"/>
                  </a:rPr>
                  <a:t>2</a:t>
                </a:r>
                <a:r>
                  <a:rPr lang="en-US" altLang="zh-CN" sz="2400" b="1" i="1" dirty="0" smtClean="0">
                    <a:latin typeface="Times New Roman" panose="02020603050405020304" pitchFamily="18" charset="0"/>
                    <a:cs typeface="Times New Roman" panose="02020603050405020304" pitchFamily="18" charset="0"/>
                  </a:rPr>
                  <a:t>m</a:t>
                </a:r>
                <a:r>
                  <a:rPr lang="en-US" altLang="zh-CN" sz="2400" b="1" dirty="0" smtClean="0">
                    <a:latin typeface="Times New Roman" panose="02020603050405020304" pitchFamily="18" charset="0"/>
                    <a:cs typeface="Times New Roman" panose="02020603050405020304" pitchFamily="18" charset="0"/>
                  </a:rPr>
                  <a:t>,  </a:t>
                </a:r>
                <a:r>
                  <a:rPr lang="zh-CN" altLang="zh-CN" sz="2400" b="1" dirty="0" smtClean="0">
                    <a:latin typeface="Times New Roman" panose="02020603050405020304" pitchFamily="18" charset="0"/>
                    <a:cs typeface="Times New Roman" panose="02020603050405020304" pitchFamily="18" charset="0"/>
                  </a:rPr>
                  <a:t>其中</a:t>
                </a:r>
                <a:endParaRPr lang="en-US" altLang="zh-CN" sz="2400" b="1" dirty="0" smtClean="0">
                  <a:latin typeface="Times New Roman" panose="02020603050405020304" pitchFamily="18" charset="0"/>
                  <a:cs typeface="Times New Roman" panose="02020603050405020304" pitchFamily="18" charset="0"/>
                </a:endParaRPr>
              </a:p>
              <a:p>
                <a:pPr marL="0" indent="0">
                  <a:spcBef>
                    <a:spcPts val="600"/>
                  </a:spcBef>
                  <a:buNone/>
                </a:pPr>
                <a:r>
                  <a:rPr lang="en-US" altLang="zh-CN" b="1" i="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V </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V</a:t>
                </a:r>
                <a:r>
                  <a:rPr lang="en-US" altLang="zh-CN" sz="2400" b="1" baseline="-25000" dirty="0" smtClean="0">
                    <a:latin typeface="Times New Roman" panose="02020603050405020304" pitchFamily="18" charset="0"/>
                    <a:cs typeface="Times New Roman" panose="02020603050405020304" pitchFamily="18" charset="0"/>
                  </a:rPr>
                  <a:t>1</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cs typeface="Times New Roman" panose="02020603050405020304" pitchFamily="18" charset="0"/>
                  </a:rPr>
                  <a:t>V</a:t>
                </a:r>
                <a:r>
                  <a:rPr lang="en-US" altLang="zh-CN" sz="2400" b="1" baseline="-25000" dirty="0">
                    <a:latin typeface="Times New Roman" panose="02020603050405020304" pitchFamily="18" charset="0"/>
                    <a:cs typeface="Times New Roman" panose="02020603050405020304" pitchFamily="18" charset="0"/>
                  </a:rPr>
                  <a:t>2</a:t>
                </a:r>
                <a:r>
                  <a:rPr lang="en-US" altLang="zh-CN" sz="2400" b="1" dirty="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E  </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E</a:t>
                </a:r>
                <a:r>
                  <a:rPr lang="en-US" altLang="zh-CN" sz="2400" b="1" baseline="-25000" dirty="0" smtClean="0">
                    <a:latin typeface="Times New Roman" panose="02020603050405020304" pitchFamily="18" charset="0"/>
                    <a:cs typeface="Times New Roman" panose="02020603050405020304" pitchFamily="18" charset="0"/>
                  </a:rPr>
                  <a:t>1</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cs typeface="Times New Roman" panose="02020603050405020304" pitchFamily="18" charset="0"/>
                  </a:rPr>
                  <a:t>E</a:t>
                </a:r>
                <a:r>
                  <a:rPr lang="en-US" altLang="zh-CN" sz="2400" b="1" baseline="-25000" dirty="0">
                    <a:latin typeface="Times New Roman" panose="02020603050405020304" pitchFamily="18" charset="0"/>
                    <a:cs typeface="Times New Roman" panose="02020603050405020304" pitchFamily="18" charset="0"/>
                  </a:rPr>
                  <a:t>2</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E</a:t>
                </a:r>
                <a:r>
                  <a:rPr lang="en-US" altLang="zh-CN" sz="2400" b="1" baseline="-25000" dirty="0" smtClean="0">
                    <a:latin typeface="Times New Roman" panose="02020603050405020304" pitchFamily="18" charset="0"/>
                    <a:cs typeface="Times New Roman" panose="02020603050405020304" pitchFamily="18" charset="0"/>
                  </a:rPr>
                  <a:t>3</a:t>
                </a:r>
                <a:endParaRPr lang="en-US" altLang="zh-CN" sz="2400" b="1" baseline="-25000" dirty="0" smtClean="0">
                  <a:latin typeface="Times New Roman" panose="02020603050405020304" pitchFamily="18" charset="0"/>
                  <a:cs typeface="Times New Roman" panose="02020603050405020304" pitchFamily="18" charset="0"/>
                </a:endParaRPr>
              </a:p>
              <a:p>
                <a:pPr marL="0" indent="0">
                  <a:buNone/>
                </a:pPr>
                <a:r>
                  <a:rPr lang="en-US" altLang="zh-CN" sz="2400" dirty="0" smtClean="0"/>
                  <a:t>                          </a:t>
                </a:r>
                <a14:m>
                  <m:oMath xmlns:m="http://schemas.openxmlformats.org/officeDocument/2006/math">
                    <m:sSub>
                      <m:sSubPr>
                        <m:ctrlPr>
                          <a:rPr lang="en-US" altLang="zh-CN" sz="2400" b="1" i="1" smtClean="0">
                            <a:latin typeface="Cambria Math" panose="02040503050406030204" pitchFamily="18" charset="0"/>
                          </a:rPr>
                        </m:ctrlPr>
                      </m:sSubPr>
                      <m:e>
                        <m:r>
                          <a:rPr lang="en-US" altLang="zh-CN" sz="2400" b="1" i="1" smtClean="0">
                            <a:latin typeface="Cambria Math" panose="02040503050406030204" pitchFamily="18" charset="0"/>
                          </a:rPr>
                          <m:t>𝑽</m:t>
                        </m:r>
                      </m:e>
                      <m:sub>
                        <m:r>
                          <a:rPr lang="en-US" altLang="zh-CN" sz="2400" b="1" i="1" smtClean="0">
                            <a:latin typeface="Cambria Math" panose="02040503050406030204" pitchFamily="18" charset="0"/>
                          </a:rPr>
                          <m:t>𝟏</m:t>
                        </m:r>
                      </m:sub>
                    </m:sSub>
                    <m:r>
                      <a:rPr lang="en-US" altLang="zh-CN" sz="2400" b="1" i="1" smtClean="0">
                        <a:latin typeface="Cambria Math" panose="02040503050406030204" pitchFamily="18" charset="0"/>
                      </a:rPr>
                      <m:t>={</m:t>
                    </m:r>
                    <m:sSub>
                      <m:sSubPr>
                        <m:ctrlPr>
                          <a:rPr lang="en-US" altLang="zh-CN" sz="2400" b="1" i="1" smtClean="0">
                            <a:latin typeface="Cambria Math" panose="02040503050406030204" pitchFamily="18" charset="0"/>
                          </a:rPr>
                        </m:ctrlPr>
                      </m:sSubPr>
                      <m:e>
                        <m:r>
                          <a:rPr lang="en-US" altLang="zh-CN" sz="2400" b="1" i="1" smtClean="0">
                            <a:latin typeface="Cambria Math" panose="02040503050406030204" pitchFamily="18" charset="0"/>
                          </a:rPr>
                          <m:t>𝒙</m:t>
                        </m:r>
                      </m:e>
                      <m:sub>
                        <m:r>
                          <a:rPr lang="en-US" altLang="zh-CN" sz="2400" b="1" i="1" smtClean="0">
                            <a:latin typeface="Cambria Math" panose="02040503050406030204" pitchFamily="18" charset="0"/>
                          </a:rPr>
                          <m:t>𝒊</m:t>
                        </m:r>
                      </m:sub>
                    </m:sSub>
                    <m:r>
                      <a:rPr lang="en-US" altLang="zh-CN" sz="2400" b="1" i="1" smtClean="0">
                        <a:latin typeface="Cambria Math" panose="02040503050406030204" pitchFamily="18" charset="0"/>
                      </a:rPr>
                      <m:t>,</m:t>
                    </m:r>
                    <m:acc>
                      <m:accPr>
                        <m:chr m:val="̅"/>
                        <m:ctrlPr>
                          <a:rPr lang="en-US" altLang="zh-CN" sz="2400" b="1" i="1" smtClean="0">
                            <a:latin typeface="Cambria Math" panose="02040503050406030204" pitchFamily="18" charset="0"/>
                          </a:rPr>
                        </m:ctrlPr>
                      </m:accPr>
                      <m:e>
                        <m:sSub>
                          <m:sSubPr>
                            <m:ctrlPr>
                              <a:rPr lang="en-US" altLang="zh-CN" sz="2400" b="1" i="1" smtClean="0">
                                <a:latin typeface="Cambria Math" panose="02040503050406030204" pitchFamily="18" charset="0"/>
                              </a:rPr>
                            </m:ctrlPr>
                          </m:sSubPr>
                          <m:e>
                            <m:r>
                              <a:rPr lang="en-US" altLang="zh-CN" sz="2400" b="1" i="1" smtClean="0">
                                <a:latin typeface="Cambria Math" panose="02040503050406030204" pitchFamily="18" charset="0"/>
                              </a:rPr>
                              <m:t>𝒙</m:t>
                            </m:r>
                          </m:e>
                          <m:sub>
                            <m:r>
                              <a:rPr lang="en-US" altLang="zh-CN" sz="2400" b="1" i="1" smtClean="0">
                                <a:latin typeface="Cambria Math" panose="02040503050406030204" pitchFamily="18" charset="0"/>
                              </a:rPr>
                              <m:t>𝒊</m:t>
                            </m:r>
                          </m:sub>
                        </m:sSub>
                      </m:e>
                    </m:acc>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𝟏</m:t>
                    </m:r>
                    <m:r>
                      <a:rPr lang="en-US" altLang="zh-CN" sz="2400" b="1" i="1" smtClean="0">
                        <a:latin typeface="Cambria Math" panose="02040503050406030204" pitchFamily="18" charset="0"/>
                        <a:ea typeface="Cambria Math" panose="02040503050406030204" pitchFamily="18" charset="0"/>
                      </a:rPr>
                      <m:t>≤</m:t>
                    </m:r>
                    <m:r>
                      <a:rPr lang="en-US" altLang="zh-CN" sz="2400" b="1" i="1" smtClean="0">
                        <a:latin typeface="Cambria Math" panose="02040503050406030204" pitchFamily="18" charset="0"/>
                        <a:ea typeface="Cambria Math" panose="02040503050406030204" pitchFamily="18" charset="0"/>
                      </a:rPr>
                      <m:t>𝒊</m:t>
                    </m:r>
                    <m:r>
                      <a:rPr lang="en-US" altLang="zh-CN" sz="2400" b="1" i="1" smtClean="0">
                        <a:latin typeface="Cambria Math" panose="02040503050406030204" pitchFamily="18" charset="0"/>
                        <a:ea typeface="Cambria Math" panose="02040503050406030204" pitchFamily="18" charset="0"/>
                      </a:rPr>
                      <m:t>≤</m:t>
                    </m:r>
                    <m:r>
                      <a:rPr lang="en-US" altLang="zh-CN" sz="2400" b="1" i="1" smtClean="0">
                        <a:latin typeface="Cambria Math" panose="02040503050406030204" pitchFamily="18" charset="0"/>
                        <a:ea typeface="Cambria Math" panose="02040503050406030204" pitchFamily="18" charset="0"/>
                      </a:rPr>
                      <m:t>𝒏</m:t>
                    </m:r>
                    <m:r>
                      <a:rPr lang="en-US" altLang="zh-CN" sz="2400" b="1" i="1" smtClean="0">
                        <a:latin typeface="Cambria Math" panose="02040503050406030204" pitchFamily="18" charset="0"/>
                      </a:rPr>
                      <m:t>}</m:t>
                    </m:r>
                  </m:oMath>
                </a14:m>
                <a:endParaRPr lang="en-US" altLang="zh-CN" sz="2400" b="1" dirty="0" smtClean="0"/>
              </a:p>
              <a:p>
                <a:pPr marL="0" indent="0">
                  <a:buNone/>
                </a:pPr>
                <a:r>
                  <a:rPr lang="en-US" altLang="zh-CN" sz="2400" b="1" dirty="0" smtClean="0"/>
                  <a:t>                          </a:t>
                </a:r>
                <a14:m>
                  <m:oMath xmlns:m="http://schemas.openxmlformats.org/officeDocument/2006/math">
                    <m:sSub>
                      <m:sSubPr>
                        <m:ctrlPr>
                          <a:rPr lang="en-US" altLang="zh-CN" sz="2400" b="1" i="1" smtClean="0">
                            <a:latin typeface="Cambria Math" panose="02040503050406030204" pitchFamily="18" charset="0"/>
                          </a:rPr>
                        </m:ctrlPr>
                      </m:sSubPr>
                      <m:e>
                        <m:r>
                          <a:rPr lang="en-US" altLang="zh-CN" sz="2400" b="1" i="1" smtClean="0">
                            <a:latin typeface="Cambria Math" panose="02040503050406030204" pitchFamily="18" charset="0"/>
                          </a:rPr>
                          <m:t>𝑬</m:t>
                        </m:r>
                      </m:e>
                      <m:sub>
                        <m:r>
                          <a:rPr lang="en-US" altLang="zh-CN" sz="2400" b="1" i="1" smtClean="0">
                            <a:latin typeface="Cambria Math" panose="02040503050406030204" pitchFamily="18" charset="0"/>
                          </a:rPr>
                          <m:t>𝟏</m:t>
                        </m:r>
                      </m:sub>
                    </m:sSub>
                    <m:r>
                      <a:rPr lang="en-US" altLang="zh-CN" sz="2400" b="1" i="1" smtClean="0">
                        <a:latin typeface="Cambria Math" panose="02040503050406030204" pitchFamily="18" charset="0"/>
                      </a:rPr>
                      <m:t>={(</m:t>
                    </m:r>
                    <m:sSub>
                      <m:sSubPr>
                        <m:ctrlPr>
                          <a:rPr lang="en-US" altLang="zh-CN" sz="2400" b="1" i="1" smtClean="0">
                            <a:latin typeface="Cambria Math" panose="02040503050406030204" pitchFamily="18" charset="0"/>
                          </a:rPr>
                        </m:ctrlPr>
                      </m:sSubPr>
                      <m:e>
                        <m:r>
                          <a:rPr lang="en-US" altLang="zh-CN" sz="2400" b="1" i="1" smtClean="0">
                            <a:latin typeface="Cambria Math" panose="02040503050406030204" pitchFamily="18" charset="0"/>
                          </a:rPr>
                          <m:t>𝒙</m:t>
                        </m:r>
                      </m:e>
                      <m:sub>
                        <m:r>
                          <a:rPr lang="en-US" altLang="zh-CN" sz="2400" b="1" i="1" smtClean="0">
                            <a:latin typeface="Cambria Math" panose="02040503050406030204" pitchFamily="18" charset="0"/>
                          </a:rPr>
                          <m:t>𝒊</m:t>
                        </m:r>
                      </m:sub>
                    </m:sSub>
                    <m:r>
                      <a:rPr lang="en-US" altLang="zh-CN" sz="2400" b="1" i="1" smtClean="0">
                        <a:latin typeface="Cambria Math" panose="02040503050406030204" pitchFamily="18" charset="0"/>
                      </a:rPr>
                      <m:t>,</m:t>
                    </m:r>
                    <m:acc>
                      <m:accPr>
                        <m:chr m:val="̅"/>
                        <m:ctrlPr>
                          <a:rPr lang="en-US" altLang="zh-CN" sz="2400" b="1" i="1" smtClean="0">
                            <a:latin typeface="Cambria Math" panose="02040503050406030204" pitchFamily="18" charset="0"/>
                          </a:rPr>
                        </m:ctrlPr>
                      </m:accPr>
                      <m:e>
                        <m:sSub>
                          <m:sSubPr>
                            <m:ctrlPr>
                              <a:rPr lang="en-US" altLang="zh-CN" sz="2400" b="1" i="1" smtClean="0">
                                <a:latin typeface="Cambria Math" panose="02040503050406030204" pitchFamily="18" charset="0"/>
                              </a:rPr>
                            </m:ctrlPr>
                          </m:sSubPr>
                          <m:e>
                            <m:r>
                              <a:rPr lang="en-US" altLang="zh-CN" sz="2400" b="1" i="1" smtClean="0">
                                <a:latin typeface="Cambria Math" panose="02040503050406030204" pitchFamily="18" charset="0"/>
                              </a:rPr>
                              <m:t>𝒙</m:t>
                            </m:r>
                          </m:e>
                          <m:sub>
                            <m:r>
                              <a:rPr lang="en-US" altLang="zh-CN" sz="2400" b="1" i="1" smtClean="0">
                                <a:latin typeface="Cambria Math" panose="02040503050406030204" pitchFamily="18" charset="0"/>
                              </a:rPr>
                              <m:t>𝒊</m:t>
                            </m:r>
                          </m:sub>
                        </m:sSub>
                      </m:e>
                    </m:acc>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𝟏</m:t>
                    </m:r>
                    <m:r>
                      <a:rPr lang="en-US" altLang="zh-CN" sz="2400" b="1" i="1" smtClean="0">
                        <a:latin typeface="Cambria Math" panose="02040503050406030204" pitchFamily="18" charset="0"/>
                        <a:ea typeface="Cambria Math" panose="02040503050406030204" pitchFamily="18" charset="0"/>
                      </a:rPr>
                      <m:t>≤</m:t>
                    </m:r>
                    <m:r>
                      <a:rPr lang="en-US" altLang="zh-CN" sz="2400" b="1" i="1" smtClean="0">
                        <a:latin typeface="Cambria Math" panose="02040503050406030204" pitchFamily="18" charset="0"/>
                        <a:ea typeface="Cambria Math" panose="02040503050406030204" pitchFamily="18" charset="0"/>
                      </a:rPr>
                      <m:t>𝒊</m:t>
                    </m:r>
                    <m:r>
                      <a:rPr lang="en-US" altLang="zh-CN" sz="2400" b="1" i="1" smtClean="0">
                        <a:latin typeface="Cambria Math" panose="02040503050406030204" pitchFamily="18" charset="0"/>
                        <a:ea typeface="Cambria Math" panose="02040503050406030204" pitchFamily="18" charset="0"/>
                      </a:rPr>
                      <m:t>≤</m:t>
                    </m:r>
                    <m:r>
                      <a:rPr lang="en-US" altLang="zh-CN" sz="2400" b="1" i="1" smtClean="0">
                        <a:latin typeface="Cambria Math" panose="02040503050406030204" pitchFamily="18" charset="0"/>
                        <a:ea typeface="Cambria Math" panose="02040503050406030204" pitchFamily="18" charset="0"/>
                      </a:rPr>
                      <m:t>𝒏</m:t>
                    </m:r>
                    <m:r>
                      <a:rPr lang="en-US" altLang="zh-CN" sz="2400" b="1" i="1" smtClean="0">
                        <a:latin typeface="Cambria Math" panose="02040503050406030204" pitchFamily="18" charset="0"/>
                        <a:ea typeface="Cambria Math" panose="02040503050406030204" pitchFamily="18" charset="0"/>
                      </a:rPr>
                      <m:t>}</m:t>
                    </m:r>
                  </m:oMath>
                </a14:m>
                <a:endParaRPr lang="en-US" altLang="zh-CN" sz="2400" b="1" dirty="0" smtClean="0"/>
              </a:p>
              <a:p>
                <a:pPr marL="0" indent="0">
                  <a:buNone/>
                </a:pPr>
                <a:endParaRPr lang="en-US" altLang="zh-CN" sz="2400" dirty="0"/>
              </a:p>
              <a:p>
                <a:pPr marL="0" indent="0">
                  <a:buNone/>
                </a:pPr>
                <a:endParaRPr lang="en-US" altLang="zh-CN" sz="2400" dirty="0" smtClean="0"/>
              </a:p>
              <a:p>
                <a:pPr marL="0" indent="0">
                  <a:buNone/>
                </a:pPr>
                <a:endParaRPr lang="en-US" altLang="zh-CN" sz="2400" dirty="0"/>
              </a:p>
              <a:p>
                <a:pPr marL="0" indent="0">
                  <a:buNone/>
                </a:pPr>
                <a:endParaRPr lang="en-US" altLang="zh-CN" sz="2400" dirty="0" smtClean="0"/>
              </a:p>
              <a:p>
                <a:pPr marL="0" indent="0">
                  <a:buNone/>
                </a:pPr>
                <a:endParaRPr lang="en-US" altLang="zh-CN" sz="2400" dirty="0"/>
              </a:p>
              <a:p>
                <a:pPr marL="0" indent="0">
                  <a:buNone/>
                </a:pPr>
                <a:endParaRPr lang="en-US" altLang="zh-CN" sz="2400" dirty="0" smtClean="0"/>
              </a:p>
              <a:p>
                <a:pPr marL="0" indent="0">
                  <a:buNone/>
                </a:pPr>
                <a:endParaRPr lang="en-US" altLang="zh-CN" sz="2400" dirty="0"/>
              </a:p>
              <a:p>
                <a:pPr marL="0" indent="0">
                  <a:buNone/>
                </a:pPr>
                <a:endParaRPr lang="en-US" altLang="zh-CN" sz="2400" dirty="0" smtClean="0"/>
              </a:p>
              <a:p>
                <a:pPr marL="0" indent="0">
                  <a:buNone/>
                </a:pPr>
                <a:endParaRPr lang="en-US" altLang="zh-CN" sz="2400" dirty="0"/>
              </a:p>
              <a:p>
                <a:pPr marL="0" indent="0">
                  <a:buNone/>
                </a:pPr>
                <a:endParaRPr lang="en-US" altLang="zh-CN" sz="2400" dirty="0" smtClean="0"/>
              </a:p>
              <a:p>
                <a:endParaRPr lang="en-US" altLang="zh-CN" sz="2400" dirty="0" smtClean="0"/>
              </a:p>
              <a:p>
                <a:endParaRPr lang="en-US" altLang="zh-CN" sz="2400" dirty="0"/>
              </a:p>
              <a:p>
                <a:endParaRPr lang="en-US" altLang="zh-CN" sz="2400" dirty="0" smtClean="0"/>
              </a:p>
              <a:p>
                <a:endParaRPr lang="en-US" altLang="zh-CN" sz="2400" dirty="0"/>
              </a:p>
              <a:p>
                <a:endParaRPr lang="en-US" altLang="zh-CN" sz="2400" dirty="0" smtClean="0"/>
              </a:p>
              <a:p>
                <a:endParaRPr lang="en-US" altLang="zh-CN" sz="2400" dirty="0"/>
              </a:p>
              <a:p>
                <a:endParaRPr lang="en-US" altLang="zh-CN" sz="2400" dirty="0" smtClean="0"/>
              </a:p>
              <a:p>
                <a:pPr marL="0" indent="0">
                  <a:buNone/>
                </a:pPr>
                <a:endParaRPr lang="zh-CN" altLang="en-US" sz="2400" dirty="0"/>
              </a:p>
            </p:txBody>
          </p:sp>
        </mc:Choice>
        <mc:Fallback>
          <p:sp>
            <p:nvSpPr>
              <p:cNvPr id="2" name="内容占位符 1"/>
              <p:cNvSpPr>
                <a:spLocks noRot="1" noChangeAspect="1" noMove="1" noResize="1" noEditPoints="1" noAdjustHandles="1" noChangeArrowheads="1" noChangeShapeType="1" noTextEdit="1"/>
              </p:cNvSpPr>
              <p:nvPr>
                <p:ph idx="1"/>
              </p:nvPr>
            </p:nvSpPr>
            <p:spPr>
              <a:xfrm>
                <a:off x="765920" y="1556792"/>
                <a:ext cx="7920880" cy="4525963"/>
              </a:xfrm>
              <a:blipFill rotWithShape="1">
                <a:blip r:embed="rId1"/>
                <a:stretch>
                  <a:fillRect l="-1" t="-9" b="-170661"/>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p:cNvSpPr>
            <a:spLocks noGrp="1"/>
          </p:cNvSpPr>
          <p:nvPr>
            <p:ph type="title"/>
          </p:nvPr>
        </p:nvSpPr>
        <p:spPr>
          <a:xfrm>
            <a:off x="384175" y="53975"/>
            <a:ext cx="8229600" cy="1143000"/>
          </a:xfrm>
        </p:spPr>
        <p:txBody>
          <a:bodyPr/>
          <a:lstStyle/>
          <a:p>
            <a:r>
              <a:rPr lang="zh-CN" altLang="en-US" sz="4000" b="1" smtClean="0">
                <a:solidFill>
                  <a:srgbClr val="C00000"/>
                </a:solidFill>
                <a:latin typeface="Times New Roman" panose="02020603050405020304" pitchFamily="18" charset="0"/>
                <a:cs typeface="Times New Roman" panose="02020603050405020304" pitchFamily="18" charset="0"/>
              </a:rPr>
              <a:t>证明</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grpSp>
        <p:nvGrpSpPr>
          <p:cNvPr id="35844" name="组合 54"/>
          <p:cNvGrpSpPr/>
          <p:nvPr/>
        </p:nvGrpSpPr>
        <p:grpSpPr bwMode="auto">
          <a:xfrm>
            <a:off x="2051720" y="4009646"/>
            <a:ext cx="4679950" cy="2333625"/>
            <a:chOff x="1979712" y="4005064"/>
            <a:chExt cx="4680520" cy="2333922"/>
          </a:xfrm>
        </p:grpSpPr>
        <p:sp>
          <p:nvSpPr>
            <p:cNvPr id="4" name="椭圆 3"/>
            <p:cNvSpPr/>
            <p:nvPr/>
          </p:nvSpPr>
          <p:spPr>
            <a:xfrm>
              <a:off x="2051158" y="4436919"/>
              <a:ext cx="142892" cy="144480"/>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5" name="椭圆 4"/>
            <p:cNvSpPr/>
            <p:nvPr/>
          </p:nvSpPr>
          <p:spPr>
            <a:xfrm>
              <a:off x="2987897" y="4436919"/>
              <a:ext cx="144481" cy="144480"/>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cxnSp>
          <p:nvCxnSpPr>
            <p:cNvPr id="7" name="直接连接符 6"/>
            <p:cNvCxnSpPr>
              <a:stCxn id="4" idx="6"/>
              <a:endCxn id="5" idx="2"/>
            </p:cNvCxnSpPr>
            <p:nvPr/>
          </p:nvCxnSpPr>
          <p:spPr>
            <a:xfrm>
              <a:off x="2194050" y="4508365"/>
              <a:ext cx="79384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椭圆 7"/>
            <p:cNvSpPr/>
            <p:nvPr/>
          </p:nvSpPr>
          <p:spPr>
            <a:xfrm>
              <a:off x="3707122" y="4436919"/>
              <a:ext cx="144480" cy="144480"/>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9" name="椭圆 8"/>
            <p:cNvSpPr/>
            <p:nvPr/>
          </p:nvSpPr>
          <p:spPr>
            <a:xfrm>
              <a:off x="4572415" y="4436919"/>
              <a:ext cx="142892" cy="144480"/>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cxnSp>
          <p:nvCxnSpPr>
            <p:cNvPr id="10" name="直接连接符 9"/>
            <p:cNvCxnSpPr>
              <a:stCxn id="8" idx="6"/>
              <a:endCxn id="9" idx="2"/>
            </p:cNvCxnSpPr>
            <p:nvPr/>
          </p:nvCxnSpPr>
          <p:spPr>
            <a:xfrm>
              <a:off x="3851602" y="4508365"/>
              <a:ext cx="720813"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椭圆 10"/>
            <p:cNvSpPr/>
            <p:nvPr/>
          </p:nvSpPr>
          <p:spPr>
            <a:xfrm>
              <a:off x="5291640" y="4436919"/>
              <a:ext cx="144480" cy="144480"/>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2" name="椭圆 11"/>
            <p:cNvSpPr/>
            <p:nvPr/>
          </p:nvSpPr>
          <p:spPr>
            <a:xfrm>
              <a:off x="6156933" y="4436919"/>
              <a:ext cx="142892" cy="144480"/>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cxnSp>
          <p:nvCxnSpPr>
            <p:cNvPr id="13" name="直接连接符 12"/>
            <p:cNvCxnSpPr>
              <a:stCxn id="11" idx="6"/>
              <a:endCxn id="12" idx="2"/>
            </p:cNvCxnSpPr>
            <p:nvPr/>
          </p:nvCxnSpPr>
          <p:spPr>
            <a:xfrm>
              <a:off x="5436120" y="4508365"/>
              <a:ext cx="720813"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椭圆 13"/>
            <p:cNvSpPr/>
            <p:nvPr/>
          </p:nvSpPr>
          <p:spPr>
            <a:xfrm>
              <a:off x="2627491" y="5805518"/>
              <a:ext cx="144480" cy="144480"/>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5" name="椭圆 14"/>
            <p:cNvSpPr/>
            <p:nvPr/>
          </p:nvSpPr>
          <p:spPr>
            <a:xfrm>
              <a:off x="3491196" y="5805518"/>
              <a:ext cx="144480" cy="144480"/>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cxnSp>
          <p:nvCxnSpPr>
            <p:cNvPr id="16" name="直接连接符 15"/>
            <p:cNvCxnSpPr>
              <a:stCxn id="14" idx="6"/>
              <a:endCxn id="15" idx="2"/>
            </p:cNvCxnSpPr>
            <p:nvPr/>
          </p:nvCxnSpPr>
          <p:spPr>
            <a:xfrm>
              <a:off x="2771970" y="5876964"/>
              <a:ext cx="719226"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椭圆 16"/>
            <p:cNvSpPr/>
            <p:nvPr/>
          </p:nvSpPr>
          <p:spPr>
            <a:xfrm>
              <a:off x="3059343" y="5229182"/>
              <a:ext cx="144480" cy="144481"/>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cxnSp>
          <p:nvCxnSpPr>
            <p:cNvPr id="19" name="直接连接符 18"/>
            <p:cNvCxnSpPr>
              <a:stCxn id="17" idx="3"/>
              <a:endCxn id="14" idx="7"/>
            </p:cNvCxnSpPr>
            <p:nvPr/>
          </p:nvCxnSpPr>
          <p:spPr>
            <a:xfrm rot="5400000">
              <a:off x="2679090" y="5423676"/>
              <a:ext cx="474722" cy="33024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a:stCxn id="17" idx="5"/>
              <a:endCxn id="15" idx="1"/>
            </p:cNvCxnSpPr>
            <p:nvPr/>
          </p:nvCxnSpPr>
          <p:spPr>
            <a:xfrm rot="16200000" flipH="1">
              <a:off x="3110942" y="5423676"/>
              <a:ext cx="474722" cy="33024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椭圆 21"/>
            <p:cNvSpPr/>
            <p:nvPr/>
          </p:nvSpPr>
          <p:spPr>
            <a:xfrm>
              <a:off x="4715307" y="5805518"/>
              <a:ext cx="144481" cy="144480"/>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23" name="椭圆 22"/>
            <p:cNvSpPr/>
            <p:nvPr/>
          </p:nvSpPr>
          <p:spPr>
            <a:xfrm>
              <a:off x="5580601" y="5805518"/>
              <a:ext cx="142892" cy="144480"/>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cxnSp>
          <p:nvCxnSpPr>
            <p:cNvPr id="24" name="直接连接符 23"/>
            <p:cNvCxnSpPr>
              <a:stCxn id="22" idx="6"/>
              <a:endCxn id="23" idx="2"/>
            </p:cNvCxnSpPr>
            <p:nvPr/>
          </p:nvCxnSpPr>
          <p:spPr>
            <a:xfrm>
              <a:off x="4859788" y="5876964"/>
              <a:ext cx="720813"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5148748" y="5229182"/>
              <a:ext cx="142892" cy="144481"/>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cxnSp>
          <p:nvCxnSpPr>
            <p:cNvPr id="26" name="直接连接符 25"/>
            <p:cNvCxnSpPr>
              <a:stCxn id="25" idx="3"/>
              <a:endCxn id="22" idx="7"/>
            </p:cNvCxnSpPr>
            <p:nvPr/>
          </p:nvCxnSpPr>
          <p:spPr>
            <a:xfrm rot="5400000">
              <a:off x="4766906" y="5423676"/>
              <a:ext cx="474722" cy="33024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a:stCxn id="25" idx="5"/>
              <a:endCxn id="23" idx="1"/>
            </p:cNvCxnSpPr>
            <p:nvPr/>
          </p:nvCxnSpPr>
          <p:spPr>
            <a:xfrm rot="16200000" flipH="1">
              <a:off x="5198759" y="5423676"/>
              <a:ext cx="474722" cy="33024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a:endCxn id="14" idx="1"/>
            </p:cNvCxnSpPr>
            <p:nvPr/>
          </p:nvCxnSpPr>
          <p:spPr>
            <a:xfrm>
              <a:off x="2111490" y="4590926"/>
              <a:ext cx="536640" cy="123523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a:stCxn id="4" idx="5"/>
              <a:endCxn id="22" idx="1"/>
            </p:cNvCxnSpPr>
            <p:nvPr/>
          </p:nvCxnSpPr>
          <p:spPr>
            <a:xfrm>
              <a:off x="2173411" y="4560760"/>
              <a:ext cx="2562537" cy="126539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a:stCxn id="9" idx="3"/>
              <a:endCxn id="17" idx="7"/>
            </p:cNvCxnSpPr>
            <p:nvPr/>
          </p:nvCxnSpPr>
          <p:spPr>
            <a:xfrm rot="5400000">
              <a:off x="3543588" y="4200356"/>
              <a:ext cx="689063" cy="140987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a:stCxn id="15" idx="7"/>
              <a:endCxn id="11" idx="3"/>
            </p:cNvCxnSpPr>
            <p:nvPr/>
          </p:nvCxnSpPr>
          <p:spPr>
            <a:xfrm rot="5400000" flipH="1" flipV="1">
              <a:off x="3831753" y="4344043"/>
              <a:ext cx="1265398" cy="169883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a:stCxn id="8" idx="5"/>
              <a:endCxn id="25" idx="1"/>
            </p:cNvCxnSpPr>
            <p:nvPr/>
          </p:nvCxnSpPr>
          <p:spPr>
            <a:xfrm rot="16200000" flipH="1">
              <a:off x="4155643" y="4236079"/>
              <a:ext cx="689063" cy="133842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a:stCxn id="12" idx="4"/>
              <a:endCxn id="23" idx="7"/>
            </p:cNvCxnSpPr>
            <p:nvPr/>
          </p:nvCxnSpPr>
          <p:spPr>
            <a:xfrm rot="5400000">
              <a:off x="5343237" y="4941015"/>
              <a:ext cx="1244758" cy="5255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5872" name="TextBox 41"/>
            <p:cNvSpPr txBox="1">
              <a:spLocks noChangeArrowheads="1"/>
            </p:cNvSpPr>
            <p:nvPr/>
          </p:nvSpPr>
          <p:spPr bwMode="auto">
            <a:xfrm>
              <a:off x="1979712" y="4005064"/>
              <a:ext cx="57606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2400" b="1" i="1">
                  <a:latin typeface="Times New Roman" panose="02020603050405020304" pitchFamily="18" charset="0"/>
                  <a:cs typeface="Times New Roman" panose="02020603050405020304" pitchFamily="18" charset="0"/>
                </a:rPr>
                <a:t>x</a:t>
              </a:r>
              <a:r>
                <a:rPr lang="en-US" altLang="zh-CN" sz="2400" b="1" baseline="-25000">
                  <a:latin typeface="Times New Roman" panose="02020603050405020304" pitchFamily="18" charset="0"/>
                  <a:cs typeface="Times New Roman" panose="02020603050405020304" pitchFamily="18" charset="0"/>
                </a:rPr>
                <a:t>1</a:t>
              </a:r>
              <a:endParaRPr lang="zh-CN" altLang="en-US" sz="2400" b="1">
                <a:latin typeface="Times New Roman" panose="02020603050405020304" pitchFamily="18" charset="0"/>
                <a:cs typeface="Times New Roman" panose="02020603050405020304" pitchFamily="18" charset="0"/>
              </a:endParaRPr>
            </a:p>
          </p:txBody>
        </p:sp>
        <p:sp>
          <p:nvSpPr>
            <p:cNvPr id="35873" name="TextBox 42"/>
            <p:cNvSpPr txBox="1">
              <a:spLocks noRot="1" noChangeAspect="1" noMove="1" noResize="1" noEditPoints="1" noAdjustHandles="1" noChangeArrowheads="1" noChangeShapeType="1" noTextEdit="1"/>
            </p:cNvSpPr>
            <p:nvPr/>
          </p:nvSpPr>
          <p:spPr bwMode="auto">
            <a:xfrm>
              <a:off x="2843808" y="4005064"/>
              <a:ext cx="576064" cy="822556"/>
            </a:xfrm>
            <a:prstGeom prst="rect">
              <a:avLst/>
            </a:prstGeom>
            <a:blipFill>
              <a:blip r:embed="rId1"/>
              <a:stretch>
                <a:fillRect l="-5263" b="-14815"/>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r>
                <a:rPr lang="zh-CN" altLang="en-US">
                  <a:noFill/>
                </a:rPr>
                <a:t> </a:t>
              </a:r>
              <a:endParaRPr lang="zh-CN" altLang="en-US">
                <a:noFill/>
              </a:endParaRPr>
            </a:p>
          </p:txBody>
        </p:sp>
        <p:sp>
          <p:nvSpPr>
            <p:cNvPr id="35874" name="TextBox 43"/>
            <p:cNvSpPr txBox="1">
              <a:spLocks noChangeArrowheads="1"/>
            </p:cNvSpPr>
            <p:nvPr/>
          </p:nvSpPr>
          <p:spPr bwMode="auto">
            <a:xfrm>
              <a:off x="3635896" y="4005064"/>
              <a:ext cx="57606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2400" b="1" i="1">
                  <a:latin typeface="Times New Roman" panose="02020603050405020304" pitchFamily="18" charset="0"/>
                  <a:cs typeface="Times New Roman" panose="02020603050405020304" pitchFamily="18" charset="0"/>
                </a:rPr>
                <a:t>x</a:t>
              </a:r>
              <a:r>
                <a:rPr lang="en-US" altLang="zh-CN" sz="2400" b="1" baseline="-25000">
                  <a:latin typeface="Times New Roman" panose="02020603050405020304" pitchFamily="18" charset="0"/>
                  <a:cs typeface="Times New Roman" panose="02020603050405020304" pitchFamily="18" charset="0"/>
                </a:rPr>
                <a:t>2</a:t>
              </a:r>
              <a:endParaRPr lang="zh-CN" altLang="en-US" sz="2400" b="1">
                <a:latin typeface="Times New Roman" panose="02020603050405020304" pitchFamily="18" charset="0"/>
                <a:cs typeface="Times New Roman" panose="02020603050405020304" pitchFamily="18" charset="0"/>
              </a:endParaRPr>
            </a:p>
          </p:txBody>
        </p:sp>
        <p:sp>
          <p:nvSpPr>
            <p:cNvPr id="35875" name="TextBox 44"/>
            <p:cNvSpPr txBox="1">
              <a:spLocks noRot="1" noChangeAspect="1" noMove="1" noResize="1" noEditPoints="1" noAdjustHandles="1" noChangeArrowheads="1" noChangeShapeType="1" noTextEdit="1"/>
            </p:cNvSpPr>
            <p:nvPr/>
          </p:nvSpPr>
          <p:spPr bwMode="auto">
            <a:xfrm>
              <a:off x="4499992" y="4005064"/>
              <a:ext cx="576064" cy="461665"/>
            </a:xfrm>
            <a:prstGeom prst="rect">
              <a:avLst/>
            </a:prstGeom>
            <a:blipFill>
              <a:blip r:embed="rId2"/>
              <a:stretch>
                <a:fillRect b="-2632"/>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r>
                <a:rPr lang="zh-CN" altLang="en-US">
                  <a:noFill/>
                </a:rPr>
                <a:t> </a:t>
              </a:r>
              <a:endParaRPr lang="zh-CN" altLang="en-US">
                <a:noFill/>
              </a:endParaRPr>
            </a:p>
          </p:txBody>
        </p:sp>
        <p:sp>
          <p:nvSpPr>
            <p:cNvPr id="35876" name="TextBox 45"/>
            <p:cNvSpPr txBox="1">
              <a:spLocks noChangeArrowheads="1"/>
            </p:cNvSpPr>
            <p:nvPr/>
          </p:nvSpPr>
          <p:spPr bwMode="auto">
            <a:xfrm>
              <a:off x="5220072" y="4005064"/>
              <a:ext cx="57606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2400" b="1" i="1">
                  <a:latin typeface="Times New Roman" panose="02020603050405020304" pitchFamily="18" charset="0"/>
                  <a:cs typeface="Times New Roman" panose="02020603050405020304" pitchFamily="18" charset="0"/>
                </a:rPr>
                <a:t>x</a:t>
              </a:r>
              <a:r>
                <a:rPr lang="en-US" altLang="zh-CN" sz="2400" b="1" baseline="-25000">
                  <a:latin typeface="Times New Roman" panose="02020603050405020304" pitchFamily="18" charset="0"/>
                  <a:cs typeface="Times New Roman" panose="02020603050405020304" pitchFamily="18" charset="0"/>
                </a:rPr>
                <a:t>3</a:t>
              </a:r>
              <a:endParaRPr lang="zh-CN" altLang="en-US" sz="2400" b="1">
                <a:latin typeface="Times New Roman" panose="02020603050405020304" pitchFamily="18" charset="0"/>
                <a:cs typeface="Times New Roman" panose="02020603050405020304" pitchFamily="18" charset="0"/>
              </a:endParaRPr>
            </a:p>
          </p:txBody>
        </p:sp>
        <p:sp>
          <p:nvSpPr>
            <p:cNvPr id="35877" name="TextBox 46"/>
            <p:cNvSpPr txBox="1">
              <a:spLocks noRot="1" noChangeAspect="1" noMove="1" noResize="1" noEditPoints="1" noAdjustHandles="1" noChangeArrowheads="1" noChangeShapeType="1" noTextEdit="1"/>
            </p:cNvSpPr>
            <p:nvPr/>
          </p:nvSpPr>
          <p:spPr bwMode="auto">
            <a:xfrm>
              <a:off x="6084168" y="4005064"/>
              <a:ext cx="576064" cy="461665"/>
            </a:xfrm>
            <a:prstGeom prst="rect">
              <a:avLst/>
            </a:prstGeom>
            <a:blipFill>
              <a:blip r:embed="rId3"/>
              <a:stretch>
                <a:fillRect b="-2632"/>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r>
                <a:rPr lang="zh-CN" altLang="en-US">
                  <a:noFill/>
                </a:rPr>
                <a:t> </a:t>
              </a:r>
              <a:endParaRPr lang="zh-CN" altLang="en-US">
                <a:noFill/>
              </a:endParaRPr>
            </a:p>
          </p:txBody>
        </p:sp>
        <p:sp>
          <p:nvSpPr>
            <p:cNvPr id="35878" name="TextBox 47"/>
            <p:cNvSpPr txBox="1">
              <a:spLocks noChangeArrowheads="1"/>
            </p:cNvSpPr>
            <p:nvPr/>
          </p:nvSpPr>
          <p:spPr bwMode="auto">
            <a:xfrm>
              <a:off x="2051720" y="5877272"/>
              <a:ext cx="9361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2400" b="1">
                  <a:latin typeface="Times New Roman" panose="02020603050405020304" pitchFamily="18" charset="0"/>
                  <a:cs typeface="Times New Roman" panose="02020603050405020304" pitchFamily="18" charset="0"/>
                </a:rPr>
                <a:t>[</a:t>
              </a:r>
              <a:r>
                <a:rPr lang="en-US" altLang="zh-CN" sz="2400" b="1" i="1">
                  <a:latin typeface="Times New Roman" panose="02020603050405020304" pitchFamily="18" charset="0"/>
                  <a:cs typeface="Times New Roman" panose="02020603050405020304" pitchFamily="18" charset="0"/>
                </a:rPr>
                <a:t>x</a:t>
              </a:r>
              <a:r>
                <a:rPr lang="en-US" altLang="zh-CN" sz="2400" b="1" baseline="-25000">
                  <a:latin typeface="Times New Roman" panose="02020603050405020304" pitchFamily="18" charset="0"/>
                  <a:cs typeface="Times New Roman" panose="02020603050405020304" pitchFamily="18" charset="0"/>
                </a:rPr>
                <a:t>1</a:t>
              </a:r>
              <a:r>
                <a:rPr lang="en-US" altLang="zh-CN" sz="2400" b="1" i="1">
                  <a:latin typeface="Times New Roman" panose="02020603050405020304" pitchFamily="18" charset="0"/>
                  <a:cs typeface="Times New Roman" panose="02020603050405020304" pitchFamily="18" charset="0"/>
                </a:rPr>
                <a:t>,</a:t>
              </a:r>
              <a:r>
                <a:rPr lang="en-US" altLang="zh-CN" sz="2400" b="1">
                  <a:latin typeface="Times New Roman" panose="02020603050405020304" pitchFamily="18" charset="0"/>
                  <a:cs typeface="Times New Roman" panose="02020603050405020304" pitchFamily="18" charset="0"/>
                </a:rPr>
                <a:t>1]</a:t>
              </a:r>
              <a:r>
                <a:rPr lang="en-US" altLang="zh-CN" sz="2400" b="1" baseline="-25000">
                  <a:latin typeface="Times New Roman" panose="02020603050405020304" pitchFamily="18" charset="0"/>
                  <a:cs typeface="Times New Roman" panose="02020603050405020304" pitchFamily="18" charset="0"/>
                </a:rPr>
                <a:t> </a:t>
              </a:r>
              <a:endParaRPr lang="zh-CN" altLang="en-US" sz="2400" b="1">
                <a:latin typeface="Times New Roman" panose="02020603050405020304" pitchFamily="18" charset="0"/>
                <a:cs typeface="Times New Roman" panose="02020603050405020304" pitchFamily="18" charset="0"/>
              </a:endParaRPr>
            </a:p>
          </p:txBody>
        </p:sp>
        <p:sp>
          <p:nvSpPr>
            <p:cNvPr id="35879" name="TextBox 49"/>
            <p:cNvSpPr txBox="1">
              <a:spLocks noRot="1" noChangeAspect="1" noMove="1" noResize="1" noEditPoints="1" noAdjustHandles="1" noChangeArrowheads="1" noChangeShapeType="1" noTextEdit="1"/>
            </p:cNvSpPr>
            <p:nvPr/>
          </p:nvSpPr>
          <p:spPr bwMode="auto">
            <a:xfrm>
              <a:off x="2341550" y="4835953"/>
              <a:ext cx="936104" cy="461714"/>
            </a:xfrm>
            <a:prstGeom prst="rect">
              <a:avLst/>
            </a:prstGeom>
            <a:blipFill>
              <a:blip r:embed="rId4"/>
              <a:stretch>
                <a:fillRect l="-9740" t="-10526" r="-4545" b="-28947"/>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r>
                <a:rPr lang="zh-CN" altLang="en-US">
                  <a:noFill/>
                </a:rPr>
                <a:t> </a:t>
              </a:r>
              <a:endParaRPr lang="zh-CN" altLang="en-US">
                <a:noFill/>
              </a:endParaRPr>
            </a:p>
          </p:txBody>
        </p:sp>
        <p:sp>
          <p:nvSpPr>
            <p:cNvPr id="35880" name="TextBox 50"/>
            <p:cNvSpPr txBox="1">
              <a:spLocks noChangeArrowheads="1"/>
            </p:cNvSpPr>
            <p:nvPr/>
          </p:nvSpPr>
          <p:spPr bwMode="auto">
            <a:xfrm>
              <a:off x="3059832" y="5877272"/>
              <a:ext cx="9361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2400" b="1">
                  <a:latin typeface="Times New Roman" panose="02020603050405020304" pitchFamily="18" charset="0"/>
                  <a:cs typeface="Times New Roman" panose="02020603050405020304" pitchFamily="18" charset="0"/>
                </a:rPr>
                <a:t>[</a:t>
              </a:r>
              <a:r>
                <a:rPr lang="en-US" altLang="zh-CN" sz="2400" b="1" i="1">
                  <a:latin typeface="Times New Roman" panose="02020603050405020304" pitchFamily="18" charset="0"/>
                  <a:cs typeface="Times New Roman" panose="02020603050405020304" pitchFamily="18" charset="0"/>
                </a:rPr>
                <a:t>x</a:t>
              </a:r>
              <a:r>
                <a:rPr lang="en-US" altLang="zh-CN" sz="2400" b="1" baseline="-25000">
                  <a:latin typeface="Times New Roman" panose="02020603050405020304" pitchFamily="18" charset="0"/>
                  <a:cs typeface="Times New Roman" panose="02020603050405020304" pitchFamily="18" charset="0"/>
                </a:rPr>
                <a:t>3</a:t>
              </a:r>
              <a:r>
                <a:rPr lang="en-US" altLang="zh-CN" sz="2400" b="1" i="1">
                  <a:latin typeface="Times New Roman" panose="02020603050405020304" pitchFamily="18" charset="0"/>
                  <a:cs typeface="Times New Roman" panose="02020603050405020304" pitchFamily="18" charset="0"/>
                </a:rPr>
                <a:t>,</a:t>
              </a:r>
              <a:r>
                <a:rPr lang="en-US" altLang="zh-CN" sz="2400" b="1">
                  <a:latin typeface="Times New Roman" panose="02020603050405020304" pitchFamily="18" charset="0"/>
                  <a:cs typeface="Times New Roman" panose="02020603050405020304" pitchFamily="18" charset="0"/>
                </a:rPr>
                <a:t>1]</a:t>
              </a:r>
              <a:r>
                <a:rPr lang="en-US" altLang="zh-CN" sz="2400" b="1" baseline="-25000">
                  <a:latin typeface="Times New Roman" panose="02020603050405020304" pitchFamily="18" charset="0"/>
                  <a:cs typeface="Times New Roman" panose="02020603050405020304" pitchFamily="18" charset="0"/>
                </a:rPr>
                <a:t> </a:t>
              </a:r>
              <a:endParaRPr lang="zh-CN" altLang="en-US" sz="2400" b="1">
                <a:latin typeface="Times New Roman" panose="02020603050405020304" pitchFamily="18" charset="0"/>
                <a:cs typeface="Times New Roman" panose="02020603050405020304" pitchFamily="18" charset="0"/>
              </a:endParaRPr>
            </a:p>
          </p:txBody>
        </p:sp>
        <p:sp>
          <p:nvSpPr>
            <p:cNvPr id="35881" name="TextBox 51"/>
            <p:cNvSpPr txBox="1">
              <a:spLocks noChangeArrowheads="1"/>
            </p:cNvSpPr>
            <p:nvPr/>
          </p:nvSpPr>
          <p:spPr bwMode="auto">
            <a:xfrm>
              <a:off x="4211960" y="5877272"/>
              <a:ext cx="9361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2400" b="1">
                  <a:latin typeface="Times New Roman" panose="02020603050405020304" pitchFamily="18" charset="0"/>
                  <a:cs typeface="Times New Roman" panose="02020603050405020304" pitchFamily="18" charset="0"/>
                </a:rPr>
                <a:t>[</a:t>
              </a:r>
              <a:r>
                <a:rPr lang="en-US" altLang="zh-CN" sz="2400" b="1" i="1">
                  <a:latin typeface="Times New Roman" panose="02020603050405020304" pitchFamily="18" charset="0"/>
                  <a:cs typeface="Times New Roman" panose="02020603050405020304" pitchFamily="18" charset="0"/>
                </a:rPr>
                <a:t>x</a:t>
              </a:r>
              <a:r>
                <a:rPr lang="en-US" altLang="zh-CN" sz="2400" b="1" baseline="-25000">
                  <a:latin typeface="Times New Roman" panose="02020603050405020304" pitchFamily="18" charset="0"/>
                  <a:cs typeface="Times New Roman" panose="02020603050405020304" pitchFamily="18" charset="0"/>
                </a:rPr>
                <a:t>1</a:t>
              </a:r>
              <a:r>
                <a:rPr lang="en-US" altLang="zh-CN" sz="2400" b="1" i="1">
                  <a:latin typeface="Times New Roman" panose="02020603050405020304" pitchFamily="18" charset="0"/>
                  <a:cs typeface="Times New Roman" panose="02020603050405020304" pitchFamily="18" charset="0"/>
                </a:rPr>
                <a:t>,</a:t>
              </a:r>
              <a:r>
                <a:rPr lang="en-US" altLang="zh-CN" sz="2400" b="1">
                  <a:latin typeface="Times New Roman" panose="02020603050405020304" pitchFamily="18" charset="0"/>
                  <a:cs typeface="Times New Roman" panose="02020603050405020304" pitchFamily="18" charset="0"/>
                </a:rPr>
                <a:t>2]</a:t>
              </a:r>
              <a:r>
                <a:rPr lang="en-US" altLang="zh-CN" sz="2400" b="1" baseline="-25000">
                  <a:latin typeface="Times New Roman" panose="02020603050405020304" pitchFamily="18" charset="0"/>
                  <a:cs typeface="Times New Roman" panose="02020603050405020304" pitchFamily="18" charset="0"/>
                </a:rPr>
                <a:t> </a:t>
              </a:r>
              <a:endParaRPr lang="zh-CN" altLang="en-US" sz="2400" b="1">
                <a:latin typeface="Times New Roman" panose="02020603050405020304" pitchFamily="18" charset="0"/>
                <a:cs typeface="Times New Roman" panose="02020603050405020304" pitchFamily="18" charset="0"/>
              </a:endParaRPr>
            </a:p>
          </p:txBody>
        </p:sp>
        <p:sp>
          <p:nvSpPr>
            <p:cNvPr id="35882" name="TextBox 52"/>
            <p:cNvSpPr txBox="1">
              <a:spLocks noChangeArrowheads="1"/>
            </p:cNvSpPr>
            <p:nvPr/>
          </p:nvSpPr>
          <p:spPr bwMode="auto">
            <a:xfrm>
              <a:off x="5076056" y="4797152"/>
              <a:ext cx="9361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2400" b="1">
                  <a:latin typeface="Times New Roman" panose="02020603050405020304" pitchFamily="18" charset="0"/>
                  <a:cs typeface="Times New Roman" panose="02020603050405020304" pitchFamily="18" charset="0"/>
                </a:rPr>
                <a:t>[</a:t>
              </a:r>
              <a:r>
                <a:rPr lang="en-US" altLang="zh-CN" sz="2400" b="1" i="1">
                  <a:latin typeface="Times New Roman" panose="02020603050405020304" pitchFamily="18" charset="0"/>
                  <a:cs typeface="Times New Roman" panose="02020603050405020304" pitchFamily="18" charset="0"/>
                </a:rPr>
                <a:t>x</a:t>
              </a:r>
              <a:r>
                <a:rPr lang="en-US" altLang="zh-CN" sz="2400" b="1" baseline="-25000">
                  <a:latin typeface="Times New Roman" panose="02020603050405020304" pitchFamily="18" charset="0"/>
                  <a:cs typeface="Times New Roman" panose="02020603050405020304" pitchFamily="18" charset="0"/>
                </a:rPr>
                <a:t>2</a:t>
              </a:r>
              <a:r>
                <a:rPr lang="en-US" altLang="zh-CN" sz="2400" b="1" i="1">
                  <a:latin typeface="Times New Roman" panose="02020603050405020304" pitchFamily="18" charset="0"/>
                  <a:cs typeface="Times New Roman" panose="02020603050405020304" pitchFamily="18" charset="0"/>
                </a:rPr>
                <a:t>,</a:t>
              </a:r>
              <a:r>
                <a:rPr lang="en-US" altLang="zh-CN" sz="2400" b="1">
                  <a:latin typeface="Times New Roman" panose="02020603050405020304" pitchFamily="18" charset="0"/>
                  <a:cs typeface="Times New Roman" panose="02020603050405020304" pitchFamily="18" charset="0"/>
                </a:rPr>
                <a:t>2]</a:t>
              </a:r>
              <a:r>
                <a:rPr lang="en-US" altLang="zh-CN" sz="2400" b="1" baseline="-25000">
                  <a:latin typeface="Times New Roman" panose="02020603050405020304" pitchFamily="18" charset="0"/>
                  <a:cs typeface="Times New Roman" panose="02020603050405020304" pitchFamily="18" charset="0"/>
                </a:rPr>
                <a:t> </a:t>
              </a:r>
              <a:endParaRPr lang="zh-CN" altLang="en-US" sz="2400" b="1">
                <a:latin typeface="Times New Roman" panose="02020603050405020304" pitchFamily="18" charset="0"/>
                <a:cs typeface="Times New Roman" panose="02020603050405020304" pitchFamily="18" charset="0"/>
              </a:endParaRPr>
            </a:p>
          </p:txBody>
        </p:sp>
        <p:sp>
          <p:nvSpPr>
            <p:cNvPr id="35883" name="TextBox 53"/>
            <p:cNvSpPr txBox="1">
              <a:spLocks noRot="1" noChangeAspect="1" noMove="1" noResize="1" noEditPoints="1" noAdjustHandles="1" noChangeArrowheads="1" noChangeShapeType="1" noTextEdit="1"/>
            </p:cNvSpPr>
            <p:nvPr/>
          </p:nvSpPr>
          <p:spPr bwMode="auto">
            <a:xfrm>
              <a:off x="5292080" y="5877272"/>
              <a:ext cx="936104" cy="461714"/>
            </a:xfrm>
            <a:prstGeom prst="rect">
              <a:avLst/>
            </a:prstGeom>
            <a:blipFill>
              <a:blip r:embed="rId5"/>
              <a:stretch>
                <a:fillRect l="-9740" t="-10526" r="-20779" b="-28947"/>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r>
                <a:rPr lang="zh-CN" altLang="en-US">
                  <a:noFill/>
                </a:rPr>
                <a:t> </a:t>
              </a:r>
              <a:endParaRPr lang="zh-CN" altLang="en-US">
                <a:noFill/>
              </a:endParaRPr>
            </a:p>
          </p:txBody>
        </p:sp>
      </p:grpSp>
      <mc:AlternateContent xmlns:mc="http://schemas.openxmlformats.org/markup-compatibility/2006">
        <mc:Choice xmlns:a14="http://schemas.microsoft.com/office/drawing/2010/main" Requires="a14">
          <p:sp>
            <p:nvSpPr>
              <p:cNvPr id="28" name="文本框 27"/>
              <p:cNvSpPr txBox="1"/>
              <p:nvPr/>
            </p:nvSpPr>
            <p:spPr>
              <a:xfrm>
                <a:off x="521277" y="1058927"/>
                <a:ext cx="8245660" cy="2298065"/>
              </a:xfrm>
              <a:prstGeom prst="rect">
                <a:avLst/>
              </a:prstGeom>
              <a:noFill/>
            </p:spPr>
            <p:txBody>
              <a:bodyPr wrap="square" rtlCol="0">
                <a:spAutoFit/>
              </a:bodyPr>
              <a:lstStyle/>
              <a:p>
                <a:pPr>
                  <a:lnSpc>
                    <a:spcPts val="3200"/>
                  </a:lnSpc>
                </a:pPr>
                <a:r>
                  <a:rPr lang="en-US" altLang="zh-CN" sz="2400" b="1" i="1" dirty="0" smtClean="0">
                    <a:latin typeface="Times New Roman" panose="02020603050405020304" pitchFamily="18" charset="0"/>
                    <a:cs typeface="Times New Roman" panose="02020603050405020304" pitchFamily="18" charset="0"/>
                  </a:rPr>
                  <a:t>V</a:t>
                </a:r>
                <a:r>
                  <a:rPr lang="en-US" altLang="zh-CN" sz="2400" b="1" baseline="-25000" dirty="0" smtClean="0">
                    <a:latin typeface="Times New Roman" panose="02020603050405020304" pitchFamily="18" charset="0"/>
                    <a:cs typeface="Times New Roman" panose="02020603050405020304" pitchFamily="18" charset="0"/>
                  </a:rPr>
                  <a:t>2 </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z’</a:t>
                </a:r>
                <a:r>
                  <a:rPr lang="en-US" altLang="zh-CN" sz="2400" b="1" i="1" baseline="-25000" dirty="0" err="1" smtClean="0">
                    <a:latin typeface="Times New Roman" panose="02020603050405020304" pitchFamily="18" charset="0"/>
                    <a:cs typeface="Times New Roman" panose="02020603050405020304" pitchFamily="18" charset="0"/>
                  </a:rPr>
                  <a:t>jk</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 | </a:t>
                </a:r>
                <a:r>
                  <a:rPr lang="en-US" altLang="zh-CN" sz="2400" b="1" i="1" dirty="0" smtClean="0">
                    <a:latin typeface="Times New Roman" panose="02020603050405020304" pitchFamily="18" charset="0"/>
                    <a:cs typeface="Times New Roman" panose="02020603050405020304" pitchFamily="18" charset="0"/>
                  </a:rPr>
                  <a:t>k </a:t>
                </a:r>
                <a:r>
                  <a:rPr lang="en-US" altLang="zh-CN" sz="2400" b="1" dirty="0" smtClean="0">
                    <a:latin typeface="Times New Roman" panose="02020603050405020304" pitchFamily="18" charset="0"/>
                    <a:cs typeface="Times New Roman" panose="02020603050405020304" pitchFamily="18" charset="0"/>
                  </a:rPr>
                  <a:t>= 1, 2, 3, 1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j</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m</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endPar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endParaRPr>
              </a:p>
              <a:p>
                <a:pPr>
                  <a:lnSpc>
                    <a:spcPts val="3200"/>
                  </a:lnSpc>
                </a:pPr>
                <a:r>
                  <a:rPr lang="en-US" altLang="zh-CN" sz="2400" b="1" i="1" dirty="0" smtClean="0">
                    <a:latin typeface="Times New Roman" panose="02020603050405020304" pitchFamily="18" charset="0"/>
                    <a:cs typeface="Times New Roman" panose="02020603050405020304" pitchFamily="18" charset="0"/>
                  </a:rPr>
                  <a:t>E</a:t>
                </a:r>
                <a:r>
                  <a:rPr lang="en-US" altLang="zh-CN" sz="2400" b="1" baseline="-25000" dirty="0" smtClean="0">
                    <a:latin typeface="Times New Roman" panose="02020603050405020304" pitchFamily="18" charset="0"/>
                    <a:cs typeface="Times New Roman" panose="02020603050405020304" pitchFamily="18" charset="0"/>
                  </a:rPr>
                  <a:t>2 </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z’</a:t>
                </a:r>
                <a:r>
                  <a:rPr lang="en-US" altLang="zh-CN" sz="2400" b="1" i="1" baseline="-25000" dirty="0" smtClean="0">
                    <a:latin typeface="Times New Roman" panose="02020603050405020304" pitchFamily="18" charset="0"/>
                    <a:cs typeface="Times New Roman" panose="02020603050405020304" pitchFamily="18" charset="0"/>
                  </a:rPr>
                  <a:t>j</a:t>
                </a:r>
                <a:r>
                  <a:rPr lang="en-US" altLang="zh-CN" sz="2400" b="1" baseline="-25000"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z’</a:t>
                </a:r>
                <a:r>
                  <a:rPr lang="en-US" altLang="zh-CN" sz="2400" b="1" i="1" baseline="-25000" dirty="0" smtClean="0">
                    <a:latin typeface="Times New Roman" panose="02020603050405020304" pitchFamily="18" charset="0"/>
                    <a:cs typeface="Times New Roman" panose="02020603050405020304" pitchFamily="18" charset="0"/>
                  </a:rPr>
                  <a:t>j</a:t>
                </a:r>
                <a:r>
                  <a:rPr lang="en-US" altLang="zh-CN" sz="2400" b="1" baseline="-25000" dirty="0" smtClean="0">
                    <a:latin typeface="Times New Roman" panose="02020603050405020304" pitchFamily="18" charset="0"/>
                    <a:cs typeface="Times New Roman" panose="02020603050405020304" pitchFamily="18" charset="0"/>
                  </a:rPr>
                  <a:t>2</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z’</a:t>
                </a:r>
                <a:r>
                  <a:rPr lang="en-US" altLang="zh-CN" sz="2400" b="1" i="1" baseline="-25000" dirty="0" smtClean="0">
                    <a:latin typeface="Times New Roman" panose="02020603050405020304" pitchFamily="18" charset="0"/>
                    <a:cs typeface="Times New Roman" panose="02020603050405020304" pitchFamily="18" charset="0"/>
                  </a:rPr>
                  <a:t>j</a:t>
                </a:r>
                <a:r>
                  <a:rPr lang="en-US" altLang="zh-CN" sz="2400" b="1" baseline="-25000" dirty="0" smtClean="0">
                    <a:latin typeface="Times New Roman" panose="02020603050405020304" pitchFamily="18" charset="0"/>
                    <a:cs typeface="Times New Roman" panose="02020603050405020304" pitchFamily="18" charset="0"/>
                  </a:rPr>
                  <a:t>2</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z’</a:t>
                </a:r>
                <a:r>
                  <a:rPr lang="en-US" altLang="zh-CN" sz="2400" b="1" i="1" baseline="-25000" dirty="0" smtClean="0">
                    <a:latin typeface="Times New Roman" panose="02020603050405020304" pitchFamily="18" charset="0"/>
                    <a:cs typeface="Times New Roman" panose="02020603050405020304" pitchFamily="18" charset="0"/>
                  </a:rPr>
                  <a:t>j</a:t>
                </a:r>
                <a:r>
                  <a:rPr lang="en-US" altLang="zh-CN" sz="2400" b="1" baseline="-25000" dirty="0" smtClean="0">
                    <a:latin typeface="Times New Roman" panose="02020603050405020304" pitchFamily="18" charset="0"/>
                    <a:cs typeface="Times New Roman" panose="02020603050405020304" pitchFamily="18" charset="0"/>
                  </a:rPr>
                  <a:t>3</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z’</a:t>
                </a:r>
                <a:r>
                  <a:rPr lang="en-US" altLang="zh-CN" sz="2400" b="1" i="1" baseline="-25000" dirty="0" smtClean="0">
                    <a:latin typeface="Times New Roman" panose="02020603050405020304" pitchFamily="18" charset="0"/>
                    <a:cs typeface="Times New Roman" panose="02020603050405020304" pitchFamily="18" charset="0"/>
                  </a:rPr>
                  <a:t>j</a:t>
                </a:r>
                <a:r>
                  <a:rPr lang="en-US" altLang="zh-CN" sz="2400" b="1" baseline="-25000" dirty="0" smtClean="0">
                    <a:latin typeface="Times New Roman" panose="02020603050405020304" pitchFamily="18" charset="0"/>
                    <a:cs typeface="Times New Roman" panose="02020603050405020304" pitchFamily="18" charset="0"/>
                  </a:rPr>
                  <a:t>3</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z’</a:t>
                </a:r>
                <a:r>
                  <a:rPr lang="en-US" altLang="zh-CN" sz="2400" b="1" i="1" baseline="-25000" dirty="0" smtClean="0">
                    <a:latin typeface="Times New Roman" panose="02020603050405020304" pitchFamily="18" charset="0"/>
                    <a:cs typeface="Times New Roman" panose="02020603050405020304" pitchFamily="18" charset="0"/>
                  </a:rPr>
                  <a:t>j</a:t>
                </a:r>
                <a:r>
                  <a:rPr lang="en-US" altLang="zh-CN" sz="2400" b="1" baseline="-25000"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 |1</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j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m</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endPar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endParaRPr>
              </a:p>
              <a:p>
                <a:pPr>
                  <a:lnSpc>
                    <a:spcPts val="3200"/>
                  </a:lnSpc>
                </a:pPr>
                <a:r>
                  <a:rPr lang="en-US" altLang="zh-CN" sz="2400" b="1" i="1" dirty="0" smtClean="0">
                    <a:latin typeface="Times New Roman" panose="02020603050405020304" pitchFamily="18" charset="0"/>
                    <a:cs typeface="Times New Roman" panose="02020603050405020304" pitchFamily="18" charset="0"/>
                  </a:rPr>
                  <a:t>E</a:t>
                </a:r>
                <a:r>
                  <a:rPr lang="en-US" altLang="zh-CN" sz="2400" b="1" baseline="-25000" dirty="0" smtClean="0">
                    <a:latin typeface="Times New Roman" panose="02020603050405020304" pitchFamily="18" charset="0"/>
                    <a:cs typeface="Times New Roman" panose="02020603050405020304" pitchFamily="18" charset="0"/>
                  </a:rPr>
                  <a:t>3 </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z’</a:t>
                </a:r>
                <a:r>
                  <a:rPr lang="en-US" altLang="zh-CN" sz="2400" b="1" i="1" baseline="-25000" dirty="0" err="1" smtClean="0">
                    <a:latin typeface="Times New Roman" panose="02020603050405020304" pitchFamily="18" charset="0"/>
                    <a:cs typeface="Times New Roman" panose="02020603050405020304" pitchFamily="18" charset="0"/>
                  </a:rPr>
                  <a:t>jk</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z’</a:t>
                </a:r>
                <a:r>
                  <a:rPr lang="en-US" altLang="zh-CN" sz="2400" b="1" i="1" baseline="-25000" dirty="0" err="1" smtClean="0">
                    <a:latin typeface="Times New Roman" panose="02020603050405020304" pitchFamily="18" charset="0"/>
                    <a:cs typeface="Times New Roman" panose="02020603050405020304" pitchFamily="18" charset="0"/>
                  </a:rPr>
                  <a:t>jk</a:t>
                </a:r>
                <a:r>
                  <a:rPr lang="en-US" altLang="zh-CN" sz="2400" b="1" dirty="0" smtClean="0">
                    <a:latin typeface="Times New Roman" panose="02020603050405020304" pitchFamily="18" charset="0"/>
                    <a:cs typeface="Times New Roman" panose="02020603050405020304" pitchFamily="18" charset="0"/>
                  </a:rPr>
                  <a:t>) | </a:t>
                </a:r>
                <a:r>
                  <a:rPr lang="en-US" altLang="zh-CN" sz="2400" b="1" i="1" dirty="0" smtClean="0">
                    <a:latin typeface="Times New Roman" panose="02020603050405020304" pitchFamily="18" charset="0"/>
                    <a:cs typeface="Times New Roman" panose="02020603050405020304" pitchFamily="18" charset="0"/>
                  </a:rPr>
                  <a:t>k </a:t>
                </a:r>
                <a:r>
                  <a:rPr lang="en-US" altLang="zh-CN" sz="2400" b="1" dirty="0" smtClean="0">
                    <a:latin typeface="Times New Roman" panose="02020603050405020304" pitchFamily="18" charset="0"/>
                    <a:cs typeface="Times New Roman" panose="02020603050405020304" pitchFamily="18" charset="0"/>
                  </a:rPr>
                  <a:t>= 1, 2, 3,  1</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j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m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endPar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endParaRPr>
              </a:p>
              <a:p>
                <a:pPr>
                  <a:lnSpc>
                    <a:spcPts val="3200"/>
                  </a:lnSpc>
                  <a:spcBef>
                    <a:spcPts val="1200"/>
                  </a:spcBef>
                </a:pPr>
                <a:r>
                  <a:rPr lang="zh-CN" altLang="zh-CN" sz="2400" b="1" dirty="0">
                    <a:latin typeface="Times New Roman" panose="02020603050405020304" pitchFamily="18" charset="0"/>
                    <a:cs typeface="Times New Roman" panose="02020603050405020304" pitchFamily="18" charset="0"/>
                  </a:rPr>
                  <a:t>这里</a:t>
                </a:r>
                <a:r>
                  <a:rPr lang="zh-CN" altLang="zh-CN" sz="2400" b="1" dirty="0" smtClean="0">
                    <a:latin typeface="Times New Roman" panose="02020603050405020304" pitchFamily="18" charset="0"/>
                    <a:cs typeface="Times New Roman" panose="02020603050405020304" pitchFamily="18" charset="0"/>
                  </a:rPr>
                  <a:t>设</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C</a:t>
                </a:r>
                <a:r>
                  <a:rPr lang="en-US" altLang="zh-CN" sz="2400" b="1" i="1" baseline="-25000" dirty="0" err="1" smtClean="0">
                    <a:latin typeface="Times New Roman" panose="02020603050405020304" pitchFamily="18" charset="0"/>
                    <a:cs typeface="Times New Roman" panose="02020603050405020304" pitchFamily="18" charset="0"/>
                  </a:rPr>
                  <a:t>j</a:t>
                </a:r>
                <a:r>
                  <a:rPr lang="en-US" altLang="zh-CN" sz="2400" b="1" i="1" baseline="-25000"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z</a:t>
                </a:r>
                <a:r>
                  <a:rPr lang="en-US" altLang="zh-CN" sz="2400" b="1" i="1" baseline="-25000" dirty="0" smtClean="0">
                    <a:latin typeface="Times New Roman" panose="02020603050405020304" pitchFamily="18" charset="0"/>
                    <a:cs typeface="Times New Roman" panose="02020603050405020304" pitchFamily="18" charset="0"/>
                  </a:rPr>
                  <a:t>j</a:t>
                </a:r>
                <a:r>
                  <a:rPr lang="en-US" altLang="zh-CN" sz="2400" b="1" baseline="-25000" dirty="0" smtClean="0">
                    <a:latin typeface="Times New Roman" panose="02020603050405020304" pitchFamily="18" charset="0"/>
                    <a:cs typeface="Times New Roman" panose="02020603050405020304" pitchFamily="18" charset="0"/>
                  </a:rPr>
                  <a:t>1</a:t>
                </a:r>
                <a:r>
                  <a:rPr lang="en-US" altLang="zh-CN" sz="2400" b="1" i="1" baseline="-25000"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rPr>
                  <a:t>z</a:t>
                </a:r>
                <a:r>
                  <a:rPr lang="en-US" altLang="zh-CN" sz="2400" b="1" i="1" baseline="-25000" dirty="0" smtClean="0">
                    <a:latin typeface="Times New Roman" panose="02020603050405020304" pitchFamily="18" charset="0"/>
                    <a:cs typeface="Times New Roman" panose="02020603050405020304" pitchFamily="18" charset="0"/>
                  </a:rPr>
                  <a:t>j</a:t>
                </a:r>
                <a:r>
                  <a:rPr lang="en-US" altLang="zh-CN" sz="2400" b="1" baseline="-25000" dirty="0" smtClean="0">
                    <a:latin typeface="Times New Roman" panose="02020603050405020304" pitchFamily="18" charset="0"/>
                    <a:cs typeface="Times New Roman" panose="02020603050405020304" pitchFamily="18" charset="0"/>
                  </a:rPr>
                  <a:t>2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rPr>
                  <a:t>z</a:t>
                </a:r>
                <a:r>
                  <a:rPr lang="en-US" altLang="zh-CN" sz="2400" b="1" i="1" baseline="-25000" dirty="0" smtClean="0">
                    <a:latin typeface="Times New Roman" panose="02020603050405020304" pitchFamily="18" charset="0"/>
                    <a:cs typeface="Times New Roman" panose="02020603050405020304" pitchFamily="18" charset="0"/>
                  </a:rPr>
                  <a:t>j</a:t>
                </a:r>
                <a:r>
                  <a:rPr lang="en-US" altLang="zh-CN" sz="2400" b="1" baseline="-25000" dirty="0" smtClean="0">
                    <a:latin typeface="Times New Roman" panose="02020603050405020304" pitchFamily="18" charset="0"/>
                    <a:cs typeface="Times New Roman" panose="02020603050405020304" pitchFamily="18" charset="0"/>
                  </a:rPr>
                  <a:t>3</a:t>
                </a:r>
                <a:r>
                  <a:rPr lang="en-US" altLang="zh-CN" sz="2400" b="1" dirty="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rPr>
                  <a:t>  </a:t>
                </a:r>
                <a:endParaRPr lang="zh-CN" altLang="zh-CN" sz="2400" dirty="0">
                  <a:latin typeface="Times New Roman" panose="02020603050405020304" pitchFamily="18" charset="0"/>
                  <a:cs typeface="Times New Roman" panose="02020603050405020304" pitchFamily="18" charset="0"/>
                </a:endParaRPr>
              </a:p>
              <a:p>
                <a:pPr>
                  <a:lnSpc>
                    <a:spcPts val="3200"/>
                  </a:lnSpc>
                </a:pPr>
                <a:r>
                  <a:rPr lang="zh-CN" altLang="zh-CN" sz="2400" b="1" dirty="0" smtClean="0">
                    <a:latin typeface="Times New Roman" panose="02020603050405020304" pitchFamily="18" charset="0"/>
                    <a:cs typeface="Times New Roman" panose="02020603050405020304" pitchFamily="18" charset="0"/>
                  </a:rPr>
                  <a:t>当</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z</a:t>
                </a:r>
                <a:r>
                  <a:rPr lang="en-US" altLang="zh-CN" sz="2400" b="1" i="1" baseline="-25000" dirty="0" err="1" smtClean="0">
                    <a:latin typeface="Times New Roman" panose="02020603050405020304" pitchFamily="18" charset="0"/>
                    <a:cs typeface="Times New Roman" panose="02020603050405020304" pitchFamily="18" charset="0"/>
                  </a:rPr>
                  <a:t>jk</a:t>
                </a:r>
                <a:r>
                  <a:rPr lang="en-US" altLang="zh-CN" sz="2400" b="1" baseline="-25000"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 x</a:t>
                </a:r>
                <a:r>
                  <a:rPr lang="en-US" altLang="zh-CN" sz="2400" b="1" i="1" baseline="-25000" dirty="0" smtClean="0">
                    <a:latin typeface="Times New Roman" panose="02020603050405020304" pitchFamily="18" charset="0"/>
                    <a:cs typeface="Times New Roman" panose="02020603050405020304" pitchFamily="18" charset="0"/>
                  </a:rPr>
                  <a:t>i </a:t>
                </a:r>
                <a:r>
                  <a:rPr lang="zh-CN" altLang="zh-CN" sz="2400" b="1" dirty="0" smtClean="0">
                    <a:latin typeface="Times New Roman" panose="02020603050405020304" pitchFamily="18" charset="0"/>
                    <a:cs typeface="Times New Roman" panose="02020603050405020304" pitchFamily="18" charset="0"/>
                  </a:rPr>
                  <a:t>时</a:t>
                </a:r>
                <a:r>
                  <a:rPr lang="zh-CN" altLang="zh-CN" sz="2400" b="1" dirty="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z’</a:t>
                </a:r>
                <a:r>
                  <a:rPr lang="en-US" altLang="zh-CN" sz="2400" b="1" i="1" baseline="-25000" dirty="0" err="1" smtClean="0">
                    <a:latin typeface="Times New Roman" panose="02020603050405020304" pitchFamily="18" charset="0"/>
                    <a:cs typeface="Times New Roman" panose="02020603050405020304" pitchFamily="18" charset="0"/>
                  </a:rPr>
                  <a:t>jk</a:t>
                </a:r>
                <a:r>
                  <a:rPr lang="en-US" altLang="zh-CN" sz="2400" b="1" dirty="0" smtClean="0">
                    <a:latin typeface="Times New Roman" panose="02020603050405020304" pitchFamily="18" charset="0"/>
                    <a:cs typeface="Times New Roman" panose="02020603050405020304" pitchFamily="18" charset="0"/>
                  </a:rPr>
                  <a:t> = </a:t>
                </a:r>
                <a:r>
                  <a:rPr lang="en-US" altLang="zh-CN" sz="2400" b="1" i="1" dirty="0" smtClean="0">
                    <a:latin typeface="Times New Roman" panose="02020603050405020304" pitchFamily="18" charset="0"/>
                    <a:cs typeface="Times New Roman" panose="02020603050405020304" pitchFamily="18" charset="0"/>
                  </a:rPr>
                  <a:t>x</a:t>
                </a:r>
                <a:r>
                  <a:rPr lang="en-US" altLang="zh-CN" sz="2400" b="1" i="1" baseline="-25000" dirty="0" smtClean="0">
                    <a:latin typeface="Times New Roman" panose="02020603050405020304" pitchFamily="18" charset="0"/>
                    <a:cs typeface="Times New Roman" panose="02020603050405020304" pitchFamily="18" charset="0"/>
                  </a:rPr>
                  <a:t>i</a:t>
                </a:r>
                <a:r>
                  <a:rPr lang="zh-CN" altLang="zh-CN" sz="2400" b="1" dirty="0">
                    <a:latin typeface="Times New Roman" panose="02020603050405020304" pitchFamily="18" charset="0"/>
                    <a:cs typeface="Times New Roman" panose="02020603050405020304" pitchFamily="18" charset="0"/>
                  </a:rPr>
                  <a:t>；</a:t>
                </a:r>
                <a:r>
                  <a:rPr lang="zh-CN" altLang="zh-CN" sz="2400" b="1" dirty="0" smtClean="0">
                    <a:latin typeface="Times New Roman" panose="02020603050405020304" pitchFamily="18" charset="0"/>
                    <a:cs typeface="Times New Roman" panose="02020603050405020304" pitchFamily="18" charset="0"/>
                  </a:rPr>
                  <a:t>当</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z</a:t>
                </a:r>
                <a:r>
                  <a:rPr lang="en-US" altLang="zh-CN" sz="2400" b="1" i="1" baseline="-25000" dirty="0" err="1" smtClean="0">
                    <a:latin typeface="Times New Roman" panose="02020603050405020304" pitchFamily="18" charset="0"/>
                    <a:cs typeface="Times New Roman" panose="02020603050405020304" pitchFamily="18" charset="0"/>
                  </a:rPr>
                  <a:t>jk</a:t>
                </a:r>
                <a:r>
                  <a:rPr lang="en-US" altLang="zh-CN" sz="2400" b="1" dirty="0" smtClean="0">
                    <a:latin typeface="Times New Roman" panose="02020603050405020304" pitchFamily="18" charset="0"/>
                    <a:cs typeface="Times New Roman" panose="02020603050405020304" pitchFamily="18" charset="0"/>
                  </a:rPr>
                  <a:t> =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x</a:t>
                </a:r>
                <a:r>
                  <a:rPr lang="en-US" altLang="zh-CN" sz="2400" b="1" i="1" baseline="-25000" dirty="0" smtClean="0">
                    <a:latin typeface="Times New Roman" panose="02020603050405020304" pitchFamily="18" charset="0"/>
                    <a:cs typeface="Times New Roman" panose="02020603050405020304" pitchFamily="18" charset="0"/>
                  </a:rPr>
                  <a:t>i</a:t>
                </a:r>
                <a:r>
                  <a:rPr lang="en-US" altLang="zh-CN" sz="2400" b="1" i="1" dirty="0" smtClean="0">
                    <a:latin typeface="Times New Roman" panose="02020603050405020304" pitchFamily="18" charset="0"/>
                    <a:cs typeface="Times New Roman" panose="02020603050405020304" pitchFamily="18" charset="0"/>
                  </a:rPr>
                  <a:t> </a:t>
                </a:r>
                <a:r>
                  <a:rPr lang="zh-CN" altLang="zh-CN" sz="2400" b="1" dirty="0" smtClean="0">
                    <a:latin typeface="Times New Roman" panose="02020603050405020304" pitchFamily="18" charset="0"/>
                    <a:cs typeface="Times New Roman" panose="02020603050405020304" pitchFamily="18" charset="0"/>
                  </a:rPr>
                  <a:t>时</a:t>
                </a:r>
                <a:r>
                  <a:rPr lang="zh-CN" altLang="zh-CN" sz="2400" b="1" dirty="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z’</a:t>
                </a:r>
                <a:r>
                  <a:rPr lang="en-US" altLang="zh-CN" sz="2400" b="1" i="1" baseline="-25000" dirty="0" err="1" smtClean="0">
                    <a:latin typeface="Times New Roman" panose="02020603050405020304" pitchFamily="18" charset="0"/>
                    <a:cs typeface="Times New Roman" panose="02020603050405020304" pitchFamily="18" charset="0"/>
                  </a:rPr>
                  <a:t>jk</a:t>
                </a:r>
                <a:r>
                  <a:rPr lang="en-US" altLang="zh-CN" sz="2400" b="1" dirty="0" smtClean="0">
                    <a:latin typeface="Times New Roman" panose="02020603050405020304" pitchFamily="18" charset="0"/>
                    <a:cs typeface="Times New Roman" panose="02020603050405020304" pitchFamily="18" charset="0"/>
                  </a:rPr>
                  <a:t> =</a:t>
                </a:r>
                <a14:m>
                  <m:oMath xmlns:m="http://schemas.openxmlformats.org/officeDocument/2006/math">
                    <m:acc>
                      <m:accPr>
                        <m:chr m:val="̅"/>
                        <m:ctrlPr>
                          <a:rPr lang="zh-CN" altLang="zh-CN" sz="2400" b="1" i="1"/>
                        </m:ctrlPr>
                      </m:accPr>
                      <m:e>
                        <m:sSub>
                          <m:sSubPr>
                            <m:ctrlPr>
                              <a:rPr lang="zh-CN" altLang="zh-CN" sz="2400" b="1" i="1"/>
                            </m:ctrlPr>
                          </m:sSubPr>
                          <m:e>
                            <m:r>
                              <a:rPr lang="en-US" altLang="zh-CN" sz="2400" b="1" i="1" smtClean="0">
                                <a:latin typeface="Cambria Math" panose="02040503050406030204" pitchFamily="18" charset="0"/>
                              </a:rPr>
                              <m:t> </m:t>
                            </m:r>
                            <m:r>
                              <a:rPr lang="en-US" altLang="zh-CN" sz="2400" b="1" i="1">
                                <a:latin typeface="Cambria Math" panose="02040503050406030204" pitchFamily="18" charset="0"/>
                              </a:rPr>
                              <m:t>𝒙</m:t>
                            </m:r>
                          </m:e>
                          <m:sub>
                            <m:r>
                              <a:rPr lang="en-US" altLang="zh-CN" sz="2400" b="1" i="1">
                                <a:latin typeface="Cambria Math" panose="02040503050406030204" pitchFamily="18" charset="0"/>
                              </a:rPr>
                              <m:t>𝒊</m:t>
                            </m:r>
                          </m:sub>
                        </m:sSub>
                      </m:e>
                    </m:acc>
                  </m:oMath>
                </a14:m>
                <a:r>
                  <a:rPr lang="en-US" altLang="zh-CN" sz="2400" b="1" dirty="0" smtClean="0">
                    <a:latin typeface="Times New Roman" panose="02020603050405020304" pitchFamily="18" charset="0"/>
                    <a:cs typeface="Times New Roman" panose="02020603050405020304" pitchFamily="18" charset="0"/>
                  </a:rPr>
                  <a:t>.</a:t>
                </a:r>
                <a:endPar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endParaRPr>
              </a:p>
            </p:txBody>
          </p:sp>
        </mc:Choice>
        <mc:Fallback>
          <p:sp>
            <p:nvSpPr>
              <p:cNvPr id="28" name="文本框 27"/>
              <p:cNvSpPr txBox="1">
                <a:spLocks noRot="1" noChangeAspect="1" noMove="1" noResize="1" noEditPoints="1" noAdjustHandles="1" noChangeArrowheads="1" noChangeShapeType="1" noTextEdit="1"/>
              </p:cNvSpPr>
              <p:nvPr/>
            </p:nvSpPr>
            <p:spPr>
              <a:xfrm>
                <a:off x="521277" y="1058927"/>
                <a:ext cx="8245660" cy="2298065"/>
              </a:xfrm>
              <a:prstGeom prst="rect">
                <a:avLst/>
              </a:prstGeom>
              <a:blipFill rotWithShape="1">
                <a:blip r:embed="rId6"/>
                <a:stretch>
                  <a:fillRect l="-7" t="-17" r="2" b="17"/>
                </a:stretch>
              </a:blipFill>
            </p:spPr>
            <p:txBody>
              <a:bodyPr/>
              <a:lstStyle/>
              <a:p>
                <a:r>
                  <a:rPr lang="zh-CN" altLang="en-US">
                    <a:noFill/>
                  </a:rPr>
                  <a:t> </a:t>
                </a:r>
              </a:p>
            </p:txBody>
          </p:sp>
        </mc:Fallback>
      </mc:AlternateContent>
      <p:sp>
        <p:nvSpPr>
          <p:cNvPr id="35847" name="矩形 35846"/>
          <p:cNvSpPr/>
          <p:nvPr/>
        </p:nvSpPr>
        <p:spPr>
          <a:xfrm>
            <a:off x="600682" y="3425483"/>
            <a:ext cx="8128125" cy="461665"/>
          </a:xfrm>
          <a:prstGeom prst="rect">
            <a:avLst/>
          </a:prstGeom>
        </p:spPr>
        <p:txBody>
          <a:bodyPr wrap="square">
            <a:spAutoFit/>
          </a:bodyPr>
          <a:lstStyle/>
          <a:p>
            <a:r>
              <a:rPr lang="zh-CN" altLang="zh-CN" sz="2400" b="1" dirty="0" smtClean="0">
                <a:latin typeface="Times New Roman" panose="02020603050405020304" pitchFamily="18" charset="0"/>
                <a:cs typeface="Times New Roman" panose="02020603050405020304" pitchFamily="18" charset="0"/>
              </a:rPr>
              <a:t>对应</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rPr>
              <a:t>F </a:t>
            </a:r>
            <a:r>
              <a:rPr lang="en-US" altLang="zh-CN" sz="2400" b="1" dirty="0" smtClean="0">
                <a:latin typeface="Times New Roman" panose="02020603050405020304" pitchFamily="18" charset="0"/>
              </a:rPr>
              <a:t>= (</a:t>
            </a:r>
            <a:r>
              <a:rPr lang="en-US" altLang="zh-CN" sz="2400" b="1" i="1" dirty="0" smtClean="0">
                <a:latin typeface="Times New Roman" panose="02020603050405020304" pitchFamily="18" charset="0"/>
              </a:rPr>
              <a:t>x</a:t>
            </a:r>
            <a:r>
              <a:rPr lang="en-US" altLang="zh-CN" sz="2400" b="1" baseline="-25000" dirty="0" smtClean="0">
                <a:latin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rPr>
              <a:t>x</a:t>
            </a:r>
            <a:r>
              <a:rPr lang="en-US" altLang="zh-CN" sz="2400" b="1" baseline="-25000" dirty="0" smtClean="0">
                <a:latin typeface="Times New Roman" panose="02020603050405020304" pitchFamily="18" charset="0"/>
              </a:rPr>
              <a:t>2</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rPr>
              <a:t>x</a:t>
            </a:r>
            <a:r>
              <a:rPr lang="en-US" altLang="zh-CN" sz="2400" b="1" baseline="-25000" dirty="0" smtClean="0">
                <a:latin typeface="Times New Roman" panose="02020603050405020304" pitchFamily="18" charset="0"/>
              </a:rPr>
              <a:t>3</a:t>
            </a:r>
            <a:r>
              <a:rPr lang="en-US" altLang="zh-CN" sz="2400" b="1" dirty="0" smtClean="0">
                <a:latin typeface="Times New Roman" panose="02020603050405020304" pitchFamily="18" charset="0"/>
              </a:rPr>
              <a:t>)</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rPr>
              <a:t>(</a:t>
            </a:r>
            <a:r>
              <a:rPr lang="en-US" altLang="zh-CN" sz="2400" b="1" i="1" dirty="0" smtClean="0">
                <a:latin typeface="Times New Roman" panose="02020603050405020304" pitchFamily="18" charset="0"/>
              </a:rPr>
              <a:t>x</a:t>
            </a:r>
            <a:r>
              <a:rPr lang="en-US" altLang="zh-CN" sz="2400" b="1" baseline="-25000" dirty="0" smtClean="0">
                <a:latin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rPr>
              <a:t>x</a:t>
            </a:r>
            <a:r>
              <a:rPr lang="en-US" altLang="zh-CN" sz="2400" b="1" baseline="-25000" dirty="0" smtClean="0">
                <a:latin typeface="Times New Roman" panose="02020603050405020304" pitchFamily="18" charset="0"/>
              </a:rPr>
              <a:t>2</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rPr>
              <a:t>x</a:t>
            </a:r>
            <a:r>
              <a:rPr lang="en-US" altLang="zh-CN" sz="2400" b="1" baseline="-25000" dirty="0" smtClean="0">
                <a:latin typeface="Times New Roman" panose="02020603050405020304" pitchFamily="18" charset="0"/>
              </a:rPr>
              <a:t>3</a:t>
            </a:r>
            <a:r>
              <a:rPr lang="en-US" altLang="zh-CN" sz="2400" b="1" dirty="0" smtClean="0">
                <a:latin typeface="Times New Roman" panose="02020603050405020304" pitchFamily="18" charset="0"/>
              </a:rPr>
              <a:t>) </a:t>
            </a:r>
            <a:r>
              <a:rPr lang="zh-CN" altLang="zh-CN" sz="2400" b="1" dirty="0" smtClean="0">
                <a:latin typeface="Times New Roman" panose="02020603050405020304" pitchFamily="18" charset="0"/>
                <a:cs typeface="Times New Roman" panose="02020603050405020304" pitchFamily="18" charset="0"/>
              </a:rPr>
              <a:t>的</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rPr>
              <a:t>f</a:t>
            </a:r>
            <a:r>
              <a:rPr lang="en-US" altLang="zh-CN" sz="2400" b="1" dirty="0" smtClean="0">
                <a:latin typeface="Times New Roman" panose="02020603050405020304" pitchFamily="18" charset="0"/>
              </a:rPr>
              <a:t>(</a:t>
            </a:r>
            <a:r>
              <a:rPr lang="en-US" altLang="zh-CN" sz="2400" b="1" i="1" dirty="0" smtClean="0">
                <a:latin typeface="Times New Roman" panose="02020603050405020304" pitchFamily="18" charset="0"/>
              </a:rPr>
              <a:t>F</a:t>
            </a:r>
            <a:r>
              <a:rPr lang="en-US" altLang="zh-CN" sz="2400" b="1" dirty="0" smtClean="0">
                <a:latin typeface="Times New Roman" panose="02020603050405020304" pitchFamily="18" charset="0"/>
              </a:rPr>
              <a:t>): </a:t>
            </a:r>
            <a:r>
              <a:rPr lang="en-US" altLang="zh-CN" sz="2400" b="1" i="1" dirty="0" smtClean="0">
                <a:latin typeface="Times New Roman" panose="02020603050405020304" pitchFamily="18" charset="0"/>
              </a:rPr>
              <a:t>K</a:t>
            </a:r>
            <a:r>
              <a:rPr lang="en-US" altLang="zh-CN" sz="2400" b="1" dirty="0" smtClean="0">
                <a:latin typeface="Times New Roman" panose="02020603050405020304" pitchFamily="18" charset="0"/>
              </a:rPr>
              <a:t>=7, </a:t>
            </a:r>
            <a:r>
              <a:rPr lang="zh-CN" altLang="zh-CN" sz="2400" b="1" dirty="0" smtClean="0">
                <a:latin typeface="Times New Roman" panose="02020603050405020304" pitchFamily="18" charset="0"/>
                <a:cs typeface="Times New Roman" panose="02020603050405020304" pitchFamily="18" charset="0"/>
              </a:rPr>
              <a:t>图</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rPr>
              <a:t>G </a:t>
            </a:r>
            <a:r>
              <a:rPr lang="zh-CN" altLang="zh-CN" sz="2400" b="1" dirty="0" smtClean="0">
                <a:latin typeface="Times New Roman" panose="02020603050405020304" pitchFamily="18" charset="0"/>
                <a:cs typeface="Times New Roman" panose="02020603050405020304" pitchFamily="18" charset="0"/>
              </a:rPr>
              <a:t>如下</a:t>
            </a:r>
            <a:endParaRPr lang="zh-CN" altLang="en-US" sz="2400"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p:cNvSpPr>
          <p:nvPr>
            <p:ph type="title"/>
          </p:nvPr>
        </p:nvSpPr>
        <p:spPr>
          <a:xfrm>
            <a:off x="426944" y="332656"/>
            <a:ext cx="8229600" cy="822325"/>
          </a:xfrm>
        </p:spPr>
        <p:txBody>
          <a:bodyPr/>
          <a:lstStyle/>
          <a:p>
            <a:r>
              <a:rPr lang="zh-CN" altLang="en-US" sz="4000" b="1" dirty="0" smtClean="0">
                <a:solidFill>
                  <a:srgbClr val="C00000"/>
                </a:solidFill>
                <a:latin typeface="Times New Roman" panose="02020603050405020304" pitchFamily="18" charset="0"/>
                <a:cs typeface="Times New Roman" panose="02020603050405020304" pitchFamily="18" charset="0"/>
              </a:rPr>
              <a:t>证明</a:t>
            </a:r>
            <a:endParaRPr lang="zh-CN" altLang="en-US" sz="4000" b="1" dirty="0" smtClean="0">
              <a:solidFill>
                <a:srgbClr val="C0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2" name="内容占位符 1"/>
              <p:cNvSpPr>
                <a:spLocks noGrp="1"/>
              </p:cNvSpPr>
              <p:nvPr>
                <p:ph idx="1"/>
              </p:nvPr>
            </p:nvSpPr>
            <p:spPr>
              <a:xfrm>
                <a:off x="724744" y="1484784"/>
                <a:ext cx="7962056" cy="4525963"/>
              </a:xfrm>
            </p:spPr>
            <p:txBody>
              <a:bodyPr/>
              <a:lstStyle/>
              <a:p>
                <a:pPr marL="0" indent="0">
                  <a:buNone/>
                </a:pPr>
                <a:r>
                  <a:rPr lang="zh-CN" altLang="zh-CN" sz="2400" b="1" dirty="0" smtClean="0">
                    <a:latin typeface="Times New Roman" panose="02020603050405020304" pitchFamily="18" charset="0"/>
                    <a:cs typeface="Times New Roman" panose="02020603050405020304" pitchFamily="18" charset="0"/>
                  </a:rPr>
                  <a:t>要证</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F</a:t>
                </a:r>
                <a:r>
                  <a:rPr lang="zh-CN" altLang="zh-CN" sz="2400" b="1" dirty="0">
                    <a:latin typeface="Times New Roman" panose="02020603050405020304" pitchFamily="18" charset="0"/>
                    <a:cs typeface="Times New Roman" panose="02020603050405020304" pitchFamily="18" charset="0"/>
                  </a:rPr>
                  <a:t>是可满足</a:t>
                </a:r>
                <a:r>
                  <a:rPr lang="zh-CN" altLang="zh-CN" sz="2400" b="1" dirty="0" smtClean="0">
                    <a:latin typeface="Times New Roman" panose="02020603050405020304" pitchFamily="18" charset="0"/>
                    <a:cs typeface="Times New Roman" panose="02020603050405020304" pitchFamily="18" charset="0"/>
                  </a:rPr>
                  <a:t>的</a:t>
                </a:r>
                <a:r>
                  <a:rPr lang="en-US" altLang="zh-CN" sz="2400" b="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rPr>
                  <a:t>G </a:t>
                </a:r>
                <a:r>
                  <a:rPr lang="zh-CN" altLang="zh-CN" sz="2400" b="1" dirty="0" smtClean="0">
                    <a:latin typeface="Times New Roman" panose="02020603050405020304" pitchFamily="18" charset="0"/>
                    <a:cs typeface="Times New Roman" panose="02020603050405020304" pitchFamily="18" charset="0"/>
                  </a:rPr>
                  <a:t>恰好有</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K </a:t>
                </a:r>
                <a:r>
                  <a:rPr lang="zh-CN" altLang="zh-CN" sz="2400" b="1" dirty="0" smtClean="0">
                    <a:latin typeface="Times New Roman" panose="02020603050405020304" pitchFamily="18" charset="0"/>
                    <a:cs typeface="Times New Roman" panose="02020603050405020304" pitchFamily="18" charset="0"/>
                  </a:rPr>
                  <a:t>个</a:t>
                </a:r>
                <a:r>
                  <a:rPr lang="zh-CN" altLang="zh-CN" sz="2400" b="1" dirty="0">
                    <a:latin typeface="Times New Roman" panose="02020603050405020304" pitchFamily="18" charset="0"/>
                    <a:cs typeface="Times New Roman" panose="02020603050405020304" pitchFamily="18" charset="0"/>
                  </a:rPr>
                  <a:t>顶点的顶点覆盖</a:t>
                </a:r>
                <a:r>
                  <a:rPr lang="en-US" altLang="zh-CN" sz="2400" b="1" dirty="0">
                    <a:latin typeface="Times New Roman" panose="02020603050405020304" pitchFamily="18" charset="0"/>
                    <a:cs typeface="Times New Roman" panose="02020603050405020304" pitchFamily="18" charset="0"/>
                  </a:rPr>
                  <a:t>.  </a:t>
                </a:r>
                <a:endParaRPr lang="zh-CN" altLang="zh-CN" sz="2400" b="1" dirty="0">
                  <a:latin typeface="Times New Roman" panose="02020603050405020304" pitchFamily="18" charset="0"/>
                  <a:cs typeface="Times New Roman" panose="02020603050405020304" pitchFamily="18" charset="0"/>
                </a:endParaRPr>
              </a:p>
              <a:p>
                <a:pPr marL="0" indent="0">
                  <a:spcBef>
                    <a:spcPts val="1200"/>
                  </a:spcBef>
                  <a:buNone/>
                </a:pPr>
                <a:r>
                  <a:rPr lang="zh-CN" altLang="zh-CN" sz="2400" b="1" dirty="0">
                    <a:latin typeface="Times New Roman" panose="02020603050405020304" pitchFamily="18" charset="0"/>
                    <a:cs typeface="Times New Roman" panose="02020603050405020304" pitchFamily="18" charset="0"/>
                  </a:rPr>
                  <a:t>必要性</a:t>
                </a:r>
                <a:endParaRPr lang="en-US" altLang="zh-CN" sz="2400" b="1" dirty="0" smtClean="0">
                  <a:latin typeface="Times New Roman" panose="02020603050405020304" pitchFamily="18" charset="0"/>
                  <a:cs typeface="Times New Roman" panose="02020603050405020304" pitchFamily="18" charset="0"/>
                </a:endParaRPr>
              </a:p>
              <a:p>
                <a:pPr marL="0" lvl="0" indent="0">
                  <a:lnSpc>
                    <a:spcPts val="3200"/>
                  </a:lnSpc>
                  <a:spcBef>
                    <a:spcPts val="1200"/>
                  </a:spcBef>
                  <a:buNone/>
                </a:pPr>
                <a:r>
                  <a:rPr lang="zh-CN" altLang="en-US" sz="2400" b="1" dirty="0" smtClean="0">
                    <a:latin typeface="Times New Roman" panose="02020603050405020304" pitchFamily="18" charset="0"/>
                    <a:cs typeface="Times New Roman" panose="02020603050405020304" pitchFamily="18" charset="0"/>
                  </a:rPr>
                  <a:t>设 </a:t>
                </a:r>
                <a:r>
                  <a:rPr lang="en-US" altLang="zh-CN" sz="2400" b="1" i="1" dirty="0" smtClean="0">
                    <a:latin typeface="Times New Roman" panose="02020603050405020304" pitchFamily="18" charset="0"/>
                    <a:cs typeface="Times New Roman" panose="02020603050405020304" pitchFamily="18" charset="0"/>
                  </a:rPr>
                  <a:t>t </a:t>
                </a:r>
                <a:r>
                  <a:rPr lang="zh-CN" altLang="en-US" sz="2400" b="1" dirty="0" smtClean="0">
                    <a:latin typeface="Times New Roman" panose="02020603050405020304" pitchFamily="18" charset="0"/>
                    <a:cs typeface="Times New Roman" panose="02020603050405020304" pitchFamily="18" charset="0"/>
                  </a:rPr>
                  <a:t>是 </a:t>
                </a:r>
                <a:r>
                  <a:rPr lang="en-US" altLang="zh-CN" sz="2400" b="1" i="1" dirty="0" smtClean="0">
                    <a:latin typeface="Times New Roman" panose="02020603050405020304" pitchFamily="18" charset="0"/>
                    <a:cs typeface="Times New Roman" panose="02020603050405020304" pitchFamily="18" charset="0"/>
                  </a:rPr>
                  <a:t>F </a:t>
                </a:r>
                <a:r>
                  <a:rPr lang="zh-CN" altLang="en-US" sz="2400" b="1" dirty="0" smtClean="0">
                    <a:latin typeface="Times New Roman" panose="02020603050405020304" pitchFamily="18" charset="0"/>
                    <a:cs typeface="Times New Roman" panose="02020603050405020304" pitchFamily="18" charset="0"/>
                  </a:rPr>
                  <a:t>的</a:t>
                </a:r>
                <a:r>
                  <a:rPr lang="zh-CN" altLang="en-US" sz="2400" b="1" dirty="0">
                    <a:latin typeface="Times New Roman" panose="02020603050405020304" pitchFamily="18" charset="0"/>
                    <a:cs typeface="Times New Roman" panose="02020603050405020304" pitchFamily="18" charset="0"/>
                  </a:rPr>
                  <a:t>成真值</a:t>
                </a:r>
                <a:r>
                  <a:rPr lang="en-US" altLang="zh-CN" sz="2400" b="1" dirty="0">
                    <a:latin typeface="Times New Roman" panose="02020603050405020304" pitchFamily="18" charset="0"/>
                    <a:cs typeface="Times New Roman" panose="02020603050405020304" pitchFamily="18" charset="0"/>
                  </a:rPr>
                  <a:t>, </a:t>
                </a:r>
                <a:r>
                  <a:rPr lang="zh-CN" altLang="en-US" sz="2400" b="1" dirty="0">
                    <a:latin typeface="Times New Roman" panose="02020603050405020304" pitchFamily="18" charset="0"/>
                    <a:cs typeface="Times New Roman" panose="02020603050405020304" pitchFamily="18" charset="0"/>
                  </a:rPr>
                  <a:t>对每一</a:t>
                </a:r>
                <a:r>
                  <a:rPr lang="zh-CN" altLang="en-US" sz="2400" b="1" dirty="0" smtClean="0">
                    <a:latin typeface="Times New Roman" panose="02020603050405020304" pitchFamily="18" charset="0"/>
                    <a:cs typeface="Times New Roman" panose="02020603050405020304" pitchFamily="18" charset="0"/>
                  </a:rPr>
                  <a:t>个 </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i="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rPr>
                  <a:t>( 1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i="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rPr>
                  <a:t>n</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dirty="0" smtClean="0">
                    <a:latin typeface="Times New Roman" panose="02020603050405020304" pitchFamily="18" charset="0"/>
                    <a:cs typeface="Times New Roman" panose="02020603050405020304" pitchFamily="18" charset="0"/>
                    <a:sym typeface="Symbol" panose="05050102010706020507" pitchFamily="18" charset="2"/>
                  </a:rPr>
                  <a:t>若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t</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x</a:t>
                </a:r>
                <a:r>
                  <a:rPr lang="en-US" altLang="zh-CN" sz="2400" b="1" i="1" baseline="-30000" dirty="0" smtClean="0">
                    <a:latin typeface="Times New Roman" panose="02020603050405020304" pitchFamily="18" charset="0"/>
                    <a:cs typeface="Times New Roman" panose="02020603050405020304" pitchFamily="18" charset="0"/>
                    <a:sym typeface="Symbol" panose="05050102010706020507" pitchFamily="18" charset="2"/>
                  </a:rPr>
                  <a:t>i</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 1</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dirty="0" smtClean="0">
                    <a:latin typeface="Times New Roman" panose="02020603050405020304" pitchFamily="18" charset="0"/>
                    <a:cs typeface="Times New Roman" panose="02020603050405020304" pitchFamily="18" charset="0"/>
                    <a:sym typeface="Symbol" panose="05050102010706020507" pitchFamily="18" charset="2"/>
                  </a:rPr>
                  <a:t>则取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x</a:t>
                </a:r>
                <a:r>
                  <a:rPr lang="en-US" altLang="zh-CN" sz="2400" b="1" i="1" baseline="-30000" dirty="0" smtClean="0">
                    <a:latin typeface="Times New Roman" panose="02020603050405020304" pitchFamily="18" charset="0"/>
                    <a:cs typeface="Times New Roman" panose="02020603050405020304" pitchFamily="18" charset="0"/>
                    <a:sym typeface="Symbol" panose="05050102010706020507" pitchFamily="18" charset="2"/>
                  </a:rPr>
                  <a:t>i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dirty="0" smtClean="0">
                    <a:latin typeface="Times New Roman" panose="02020603050405020304" pitchFamily="18" charset="0"/>
                    <a:cs typeface="Times New Roman" panose="02020603050405020304" pitchFamily="18" charset="0"/>
                    <a:sym typeface="Symbol" panose="05050102010706020507" pitchFamily="18" charset="2"/>
                  </a:rPr>
                  <a:t>若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t</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x</a:t>
                </a:r>
                <a:r>
                  <a:rPr lang="en-US" altLang="zh-CN" sz="2400" b="1" i="1" baseline="-30000" dirty="0" smtClean="0">
                    <a:latin typeface="Times New Roman" panose="02020603050405020304" pitchFamily="18" charset="0"/>
                    <a:cs typeface="Times New Roman" panose="02020603050405020304" pitchFamily="18" charset="0"/>
                    <a:sym typeface="Symbol" panose="05050102010706020507" pitchFamily="18" charset="2"/>
                  </a:rPr>
                  <a:t>i</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 0</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dirty="0" smtClean="0">
                    <a:latin typeface="Times New Roman" panose="02020603050405020304" pitchFamily="18" charset="0"/>
                    <a:cs typeface="Times New Roman" panose="02020603050405020304" pitchFamily="18" charset="0"/>
                    <a:sym typeface="Symbol" panose="05050102010706020507" pitchFamily="18" charset="2"/>
                  </a:rPr>
                  <a:t>则取 </a:t>
                </a:r>
                <a14:m>
                  <m:oMath xmlns:m="http://schemas.openxmlformats.org/officeDocument/2006/math">
                    <m:acc>
                      <m:accPr>
                        <m:chr m:val="̅"/>
                        <m:ctrlPr>
                          <a:rPr lang="zh-CN" altLang="en-US" sz="2400" b="1" i="1" smtClean="0">
                            <a:latin typeface="Cambria Math" panose="02040503050406030204" pitchFamily="18" charset="0"/>
                            <a:cs typeface="Times New Roman" panose="02020603050405020304" pitchFamily="18" charset="0"/>
                            <a:sym typeface="Symbol" panose="05050102010706020507" pitchFamily="18" charset="2"/>
                          </a:rPr>
                        </m:ctrlPr>
                      </m:accPr>
                      <m:e>
                        <m:sSub>
                          <m:sSubPr>
                            <m:ctrlPr>
                              <a:rPr lang="en-US" altLang="zh-CN" sz="2400" b="1" i="1" smtClean="0">
                                <a:latin typeface="Cambria Math" panose="02040503050406030204" pitchFamily="18" charset="0"/>
                                <a:cs typeface="Times New Roman" panose="02020603050405020304" pitchFamily="18" charset="0"/>
                                <a:sym typeface="Symbol" panose="05050102010706020507" pitchFamily="18" charset="2"/>
                              </a:rPr>
                            </m:ctrlPr>
                          </m:sSubPr>
                          <m:e>
                            <m:r>
                              <a:rPr lang="en-US" altLang="zh-CN" sz="2400" b="1" i="1" smtClean="0">
                                <a:latin typeface="Cambria Math" panose="02040503050406030204" pitchFamily="18" charset="0"/>
                                <a:cs typeface="Times New Roman" panose="02020603050405020304" pitchFamily="18" charset="0"/>
                                <a:sym typeface="Symbol" panose="05050102010706020507" pitchFamily="18" charset="2"/>
                              </a:rPr>
                              <m:t>𝒙</m:t>
                            </m:r>
                          </m:e>
                          <m:sub>
                            <m:r>
                              <a:rPr lang="en-US" altLang="zh-CN" sz="2400" b="1" i="1" smtClean="0">
                                <a:latin typeface="Cambria Math" panose="02040503050406030204" pitchFamily="18" charset="0"/>
                                <a:cs typeface="Times New Roman" panose="02020603050405020304" pitchFamily="18" charset="0"/>
                                <a:sym typeface="Symbol" panose="05050102010706020507" pitchFamily="18" charset="2"/>
                              </a:rPr>
                              <m:t>𝒊</m:t>
                            </m:r>
                          </m:sub>
                        </m:sSub>
                      </m:e>
                    </m:acc>
                    <m:r>
                      <a:rPr lang="en-US" altLang="zh-CN" sz="2400" b="1" i="1" smtClean="0">
                        <a:latin typeface="Cambria Math" panose="02040503050406030204" pitchFamily="18" charset="0"/>
                        <a:cs typeface="Times New Roman" panose="02020603050405020304" pitchFamily="18" charset="0"/>
                        <a:sym typeface="Symbol" panose="05050102010706020507" pitchFamily="18" charset="2"/>
                      </a:rPr>
                      <m:t>,</m:t>
                    </m:r>
                  </m:oMath>
                </a14:m>
                <a:r>
                  <a:rPr lang="en-US" altLang="zh-CN" sz="2400" b="1" i="1" dirty="0" smtClean="0">
                    <a:latin typeface="Cambria Math" panose="02040503050406030204" pitchFamily="18" charset="0"/>
                    <a:cs typeface="Times New Roman" panose="02020603050405020304" pitchFamily="18" charset="0"/>
                    <a:sym typeface="Symbol" panose="05050102010706020507" pitchFamily="18" charset="2"/>
                  </a:rPr>
                  <a:t>  </a:t>
                </a:r>
                <a:r>
                  <a:rPr lang="zh-CN" altLang="en-US" sz="2400" b="1" dirty="0" smtClean="0">
                    <a:latin typeface="Times New Roman" panose="02020603050405020304" pitchFamily="18" charset="0"/>
                    <a:cs typeface="Times New Roman" panose="02020603050405020304" pitchFamily="18" charset="0"/>
                    <a:sym typeface="Symbol" panose="05050102010706020507" pitchFamily="18" charset="2"/>
                  </a:rPr>
                  <a:t>这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n </a:t>
                </a:r>
                <a:r>
                  <a:rPr lang="zh-CN" altLang="en-US" sz="2400" b="1" dirty="0" smtClean="0">
                    <a:latin typeface="Times New Roman" panose="02020603050405020304" pitchFamily="18" charset="0"/>
                    <a:cs typeface="Times New Roman" panose="02020603050405020304" pitchFamily="18" charset="0"/>
                    <a:sym typeface="Symbol" panose="05050102010706020507" pitchFamily="18" charset="2"/>
                  </a:rPr>
                  <a:t>个顶点覆盖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E</a:t>
                </a:r>
                <a:r>
                  <a:rPr lang="en-US" altLang="zh-CN" sz="2400" b="1" baseline="-25000" dirty="0" smtClean="0">
                    <a:latin typeface="Times New Roman" panose="02020603050405020304" pitchFamily="18" charset="0"/>
                    <a:cs typeface="Times New Roman" panose="02020603050405020304" pitchFamily="18" charset="0"/>
                    <a:sym typeface="Symbol" panose="05050102010706020507" pitchFamily="18" charset="2"/>
                  </a:rPr>
                  <a:t>1</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dirty="0" smtClean="0">
                    <a:latin typeface="Times New Roman" panose="02020603050405020304" pitchFamily="18" charset="0"/>
                    <a:cs typeface="Times New Roman" panose="02020603050405020304" pitchFamily="18" charset="0"/>
                    <a:sym typeface="Symbol" panose="05050102010706020507" pitchFamily="18" charset="2"/>
                  </a:rPr>
                  <a:t>对每个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j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(1 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j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m</a:t>
                </a:r>
                <a:r>
                  <a:rPr lang="zh-CN" altLang="en-US" sz="2400" b="1" dirty="0" smtClean="0">
                    <a:latin typeface="Times New Roman" panose="02020603050405020304" pitchFamily="18" charset="0"/>
                    <a:cs typeface="Times New Roman" panose="02020603050405020304" pitchFamily="18" charset="0"/>
                    <a:sym typeface="Symbol" panose="05050102010706020507" pitchFamily="18" charset="2"/>
                  </a:rPr>
                  <a:t>），由于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t</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err="1" smtClean="0">
                    <a:latin typeface="Times New Roman" panose="02020603050405020304" pitchFamily="18" charset="0"/>
                    <a:cs typeface="Times New Roman" panose="02020603050405020304" pitchFamily="18" charset="0"/>
                    <a:sym typeface="Symbol" panose="05050102010706020507" pitchFamily="18" charset="2"/>
                  </a:rPr>
                  <a:t>C</a:t>
                </a:r>
                <a:r>
                  <a:rPr lang="en-US" altLang="zh-CN" sz="2400" b="1" i="1" baseline="-25000" dirty="0" err="1" smtClean="0">
                    <a:latin typeface="Times New Roman" panose="02020603050405020304" pitchFamily="18" charset="0"/>
                    <a:cs typeface="Times New Roman" panose="02020603050405020304" pitchFamily="18" charset="0"/>
                    <a:sym typeface="Symbol" panose="05050102010706020507" pitchFamily="18" charset="2"/>
                  </a:rPr>
                  <a:t>j</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 1,  </a:t>
                </a:r>
                <a:r>
                  <a:rPr lang="en-US" altLang="zh-CN" sz="2400" b="1" i="1" dirty="0" err="1" smtClean="0">
                    <a:latin typeface="Times New Roman" panose="02020603050405020304" pitchFamily="18" charset="0"/>
                    <a:cs typeface="Times New Roman" panose="02020603050405020304" pitchFamily="18" charset="0"/>
                    <a:sym typeface="Symbol" panose="05050102010706020507" pitchFamily="18" charset="2"/>
                  </a:rPr>
                  <a:t>C</a:t>
                </a:r>
                <a:r>
                  <a:rPr lang="en-US" altLang="zh-CN" sz="2400" b="1" i="1" baseline="-25000" dirty="0" err="1" smtClean="0">
                    <a:latin typeface="Times New Roman" panose="02020603050405020304" pitchFamily="18" charset="0"/>
                    <a:cs typeface="Times New Roman" panose="02020603050405020304" pitchFamily="18" charset="0"/>
                    <a:sym typeface="Symbol" panose="05050102010706020507" pitchFamily="18" charset="2"/>
                  </a:rPr>
                  <a:t>j</a:t>
                </a:r>
                <a:r>
                  <a:rPr lang="en-US" altLang="zh-CN" sz="2400" b="1" i="1" baseline="-25000" dirty="0" smtClean="0">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dirty="0" smtClean="0">
                    <a:latin typeface="Times New Roman" panose="02020603050405020304" pitchFamily="18" charset="0"/>
                    <a:cs typeface="Times New Roman" panose="02020603050405020304" pitchFamily="18" charset="0"/>
                    <a:sym typeface="Symbol" panose="05050102010706020507" pitchFamily="18" charset="2"/>
                  </a:rPr>
                  <a:t>至少有一个文字 </a:t>
                </a:r>
                <a:r>
                  <a:rPr lang="en-US" altLang="zh-CN" sz="2400" b="1" i="1" dirty="0" err="1" smtClean="0">
                    <a:latin typeface="Times New Roman" panose="02020603050405020304" pitchFamily="18" charset="0"/>
                    <a:cs typeface="Times New Roman" panose="02020603050405020304" pitchFamily="18" charset="0"/>
                    <a:sym typeface="Symbol" panose="05050102010706020507" pitchFamily="18" charset="2"/>
                  </a:rPr>
                  <a:t>z</a:t>
                </a:r>
                <a:r>
                  <a:rPr lang="en-US" altLang="zh-CN" sz="2400" b="1" i="1" baseline="-25000" dirty="0" err="1" smtClean="0">
                    <a:latin typeface="Times New Roman" panose="02020603050405020304" pitchFamily="18" charset="0"/>
                    <a:cs typeface="Times New Roman" panose="02020603050405020304" pitchFamily="18" charset="0"/>
                    <a:sym typeface="Symbol" panose="05050102010706020507" pitchFamily="18" charset="2"/>
                  </a:rPr>
                  <a:t>jk</a:t>
                </a:r>
                <a:r>
                  <a:rPr lang="en-US" altLang="zh-CN" sz="2400" b="1" i="1" baseline="-25000" dirty="0" smtClean="0">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dirty="0" smtClean="0">
                    <a:latin typeface="Times New Roman" panose="02020603050405020304" pitchFamily="18" charset="0"/>
                    <a:cs typeface="Times New Roman" panose="02020603050405020304" pitchFamily="18" charset="0"/>
                    <a:sym typeface="Symbol" panose="05050102010706020507" pitchFamily="18" charset="2"/>
                  </a:rPr>
                  <a:t>的值为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1. </a:t>
                </a:r>
                <a:r>
                  <a:rPr lang="zh-CN" altLang="en-US" sz="2400" b="1" dirty="0" smtClean="0">
                    <a:latin typeface="Times New Roman" panose="02020603050405020304" pitchFamily="18" charset="0"/>
                    <a:cs typeface="Times New Roman" panose="02020603050405020304" pitchFamily="18" charset="0"/>
                    <a:sym typeface="Symbol" panose="05050102010706020507" pitchFamily="18" charset="2"/>
                  </a:rPr>
                  <a:t>于是从对应的三角形顶点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err="1" smtClean="0">
                    <a:latin typeface="Times New Roman" panose="02020603050405020304" pitchFamily="18" charset="0"/>
                    <a:cs typeface="Times New Roman" panose="02020603050405020304" pitchFamily="18" charset="0"/>
                    <a:sym typeface="Symbol" panose="05050102010706020507" pitchFamily="18" charset="2"/>
                  </a:rPr>
                  <a:t>z’</a:t>
                </a:r>
                <a:r>
                  <a:rPr lang="en-US" altLang="zh-CN" sz="2400" b="1" i="1" baseline="-25000" dirty="0" err="1" smtClean="0">
                    <a:latin typeface="Times New Roman" panose="02020603050405020304" pitchFamily="18" charset="0"/>
                    <a:cs typeface="Times New Roman" panose="02020603050405020304" pitchFamily="18" charset="0"/>
                    <a:sym typeface="Symbol" panose="05050102010706020507" pitchFamily="18" charset="2"/>
                  </a:rPr>
                  <a:t>jk</a:t>
                </a:r>
                <a:r>
                  <a:rPr lang="en-US" altLang="zh-CN" sz="2400" b="1" i="1" baseline="-25000"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j</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dirty="0" smtClean="0">
                    <a:latin typeface="Times New Roman" panose="02020603050405020304" pitchFamily="18" charset="0"/>
                    <a:cs typeface="Times New Roman" panose="02020603050405020304" pitchFamily="18" charset="0"/>
                    <a:sym typeface="Symbol" panose="05050102010706020507" pitchFamily="18" charset="2"/>
                  </a:rPr>
                  <a:t>引出的边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err="1" smtClean="0">
                    <a:latin typeface="Times New Roman" panose="02020603050405020304" pitchFamily="18" charset="0"/>
                    <a:cs typeface="Times New Roman" panose="02020603050405020304" pitchFamily="18" charset="0"/>
                    <a:sym typeface="Symbol" panose="05050102010706020507" pitchFamily="18" charset="2"/>
                  </a:rPr>
                  <a:t>z’</a:t>
                </a:r>
                <a:r>
                  <a:rPr lang="en-US" altLang="zh-CN" sz="2400" b="1" i="1" baseline="-25000" dirty="0" err="1" smtClean="0">
                    <a:latin typeface="Times New Roman" panose="02020603050405020304" pitchFamily="18" charset="0"/>
                    <a:cs typeface="Times New Roman" panose="02020603050405020304" pitchFamily="18" charset="0"/>
                    <a:sym typeface="Symbol" panose="05050102010706020507" pitchFamily="18" charset="2"/>
                  </a:rPr>
                  <a:t>jk</a:t>
                </a:r>
                <a:r>
                  <a:rPr lang="en-US" altLang="zh-CN" sz="2400" b="1" i="1" baseline="-25000"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j</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err="1" smtClean="0">
                    <a:latin typeface="Times New Roman" panose="02020603050405020304" pitchFamily="18" charset="0"/>
                    <a:cs typeface="Times New Roman" panose="02020603050405020304" pitchFamily="18" charset="0"/>
                    <a:sym typeface="Symbol" panose="05050102010706020507" pitchFamily="18" charset="2"/>
                  </a:rPr>
                  <a:t>z’</a:t>
                </a:r>
                <a:r>
                  <a:rPr lang="en-US" altLang="zh-CN" sz="2400" b="1" i="1" baseline="-25000" dirty="0" err="1" smtClean="0">
                    <a:latin typeface="Times New Roman" panose="02020603050405020304" pitchFamily="18" charset="0"/>
                    <a:cs typeface="Times New Roman" panose="02020603050405020304" pitchFamily="18" charset="0"/>
                    <a:sym typeface="Symbol" panose="05050102010706020507" pitchFamily="18" charset="2"/>
                  </a:rPr>
                  <a:t>jk</a:t>
                </a:r>
                <a:r>
                  <a:rPr lang="en-US" altLang="zh-CN" sz="2400" b="1" i="1" baseline="-25000"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zh-CN" altLang="en-US" sz="2400" b="1" dirty="0" smtClean="0">
                    <a:latin typeface="Times New Roman" panose="02020603050405020304" pitchFamily="18" charset="0"/>
                    <a:cs typeface="Times New Roman" panose="02020603050405020304" pitchFamily="18" charset="0"/>
                    <a:sym typeface="Symbol" panose="05050102010706020507" pitchFamily="18" charset="2"/>
                  </a:rPr>
                  <a:t>已被覆盖</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dirty="0" smtClean="0">
                    <a:latin typeface="Times New Roman" panose="02020603050405020304" pitchFamily="18" charset="0"/>
                    <a:cs typeface="Times New Roman" panose="02020603050405020304" pitchFamily="18" charset="0"/>
                    <a:sym typeface="Symbol" panose="05050102010706020507" pitchFamily="18" charset="2"/>
                  </a:rPr>
                  <a:t>取该三角形的另外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2</a:t>
                </a:r>
                <a:r>
                  <a:rPr lang="zh-CN" altLang="en-US" sz="2400" b="1" dirty="0" smtClean="0">
                    <a:latin typeface="Times New Roman" panose="02020603050405020304" pitchFamily="18" charset="0"/>
                    <a:cs typeface="Times New Roman" panose="02020603050405020304" pitchFamily="18" charset="0"/>
                    <a:sym typeface="Symbol" panose="05050102010706020507" pitchFamily="18" charset="2"/>
                  </a:rPr>
                  <a:t>个顶点，就覆盖了这个三角形的</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3</a:t>
                </a:r>
                <a:r>
                  <a:rPr lang="zh-CN" altLang="en-US" sz="2400" b="1" dirty="0" smtClean="0">
                    <a:latin typeface="Times New Roman" panose="02020603050405020304" pitchFamily="18" charset="0"/>
                    <a:cs typeface="Times New Roman" panose="02020603050405020304" pitchFamily="18" charset="0"/>
                    <a:sym typeface="Symbol" panose="05050102010706020507" pitchFamily="18" charset="2"/>
                  </a:rPr>
                  <a:t>条边个引出的另外</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2</a:t>
                </a:r>
                <a:r>
                  <a:rPr lang="zh-CN" altLang="en-US" sz="2400" b="1" dirty="0" smtClean="0">
                    <a:latin typeface="Times New Roman" panose="02020603050405020304" pitchFamily="18" charset="0"/>
                    <a:cs typeface="Times New Roman" panose="02020603050405020304" pitchFamily="18" charset="0"/>
                    <a:sym typeface="Symbol" panose="05050102010706020507" pitchFamily="18" charset="2"/>
                  </a:rPr>
                  <a:t>条边，这样取到的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n</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+2</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m </a:t>
                </a:r>
                <a:r>
                  <a:rPr lang="zh-CN" altLang="en-US" sz="2400" b="1" dirty="0" smtClean="0">
                    <a:latin typeface="Times New Roman" panose="02020603050405020304" pitchFamily="18" charset="0"/>
                    <a:cs typeface="Times New Roman" panose="02020603050405020304" pitchFamily="18" charset="0"/>
                    <a:sym typeface="Symbol" panose="05050102010706020507" pitchFamily="18" charset="2"/>
                  </a:rPr>
                  <a:t>个顶点是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G</a:t>
                </a:r>
                <a:r>
                  <a:rPr lang="zh-CN" altLang="en-US" sz="2400" b="1" dirty="0" smtClean="0">
                    <a:latin typeface="Times New Roman" panose="02020603050405020304" pitchFamily="18" charset="0"/>
                    <a:cs typeface="Times New Roman" panose="02020603050405020304" pitchFamily="18" charset="0"/>
                    <a:sym typeface="Symbol" panose="05050102010706020507" pitchFamily="18" charset="2"/>
                  </a:rPr>
                  <a:t>的一个顶点覆盖</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endPar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endParaRPr>
              </a:p>
              <a:p>
                <a:pPr marL="0" indent="0">
                  <a:buNone/>
                </a:pPr>
                <a:endParaRPr lang="zh-CN" altLang="en-US" sz="2400" b="1" dirty="0">
                  <a:latin typeface="Times New Roman" panose="02020603050405020304" pitchFamily="18" charset="0"/>
                  <a:cs typeface="Times New Roman" panose="02020603050405020304" pitchFamily="18" charset="0"/>
                </a:endParaRPr>
              </a:p>
            </p:txBody>
          </p:sp>
        </mc:Choice>
        <mc:Fallback>
          <p:sp>
            <p:nvSpPr>
              <p:cNvPr id="2" name="内容占位符 1"/>
              <p:cNvSpPr>
                <a:spLocks noRot="1" noChangeAspect="1" noMove="1" noResize="1" noEditPoints="1" noAdjustHandles="1" noChangeArrowheads="1" noChangeShapeType="1" noTextEdit="1"/>
              </p:cNvSpPr>
              <p:nvPr>
                <p:ph idx="1"/>
              </p:nvPr>
            </p:nvSpPr>
            <p:spPr>
              <a:xfrm>
                <a:off x="724744" y="1484784"/>
                <a:ext cx="7962056" cy="4525963"/>
              </a:xfrm>
              <a:blipFill rotWithShape="1">
                <a:blip r:embed="rId1"/>
                <a:stretch>
                  <a:fillRect l="-3" t="-3" b="10"/>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p:cNvSpPr>
          <p:nvPr>
            <p:ph type="title"/>
          </p:nvPr>
        </p:nvSpPr>
        <p:spPr>
          <a:xfrm>
            <a:off x="467544" y="125760"/>
            <a:ext cx="8229600" cy="1143000"/>
          </a:xfrm>
        </p:spPr>
        <p:txBody>
          <a:bodyPr/>
          <a:lstStyle/>
          <a:p>
            <a:r>
              <a:rPr lang="zh-CN" altLang="en-US" sz="4000" b="1" dirty="0" smtClean="0">
                <a:solidFill>
                  <a:srgbClr val="C00000"/>
                </a:solidFill>
                <a:latin typeface="Times New Roman" panose="02020603050405020304" pitchFamily="18" charset="0"/>
                <a:cs typeface="Times New Roman" panose="02020603050405020304" pitchFamily="18" charset="0"/>
              </a:rPr>
              <a:t>证明</a:t>
            </a:r>
            <a:endParaRPr lang="zh-CN" altLang="en-US" sz="4000" b="1" dirty="0" smtClean="0">
              <a:solidFill>
                <a:srgbClr val="C0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文本框 2"/>
              <p:cNvSpPr txBox="1"/>
              <p:nvPr/>
            </p:nvSpPr>
            <p:spPr>
              <a:xfrm>
                <a:off x="683568" y="1308327"/>
                <a:ext cx="7427168" cy="4678204"/>
              </a:xfrm>
              <a:prstGeom prst="rect">
                <a:avLst/>
              </a:prstGeom>
              <a:noFill/>
            </p:spPr>
            <p:txBody>
              <a:bodyPr wrap="square" rtlCol="0">
                <a:spAutoFit/>
              </a:bodyPr>
              <a:lstStyle/>
              <a:p>
                <a:pPr>
                  <a:lnSpc>
                    <a:spcPts val="3200"/>
                  </a:lnSpc>
                </a:pPr>
                <a:r>
                  <a:rPr lang="zh-CN" altLang="zh-CN" sz="2400" b="1" dirty="0" smtClean="0">
                    <a:latin typeface="Times New Roman" panose="02020603050405020304" pitchFamily="18" charset="0"/>
                    <a:cs typeface="Times New Roman" panose="02020603050405020304" pitchFamily="18" charset="0"/>
                  </a:rPr>
                  <a:t>反之</a:t>
                </a:r>
                <a:r>
                  <a:rPr lang="en-US" altLang="zh-CN" sz="2400" b="1" dirty="0">
                    <a:latin typeface="Times New Roman" panose="02020603050405020304" pitchFamily="18" charset="0"/>
                    <a:cs typeface="Times New Roman" panose="02020603050405020304" pitchFamily="18" charset="0"/>
                  </a:rPr>
                  <a:t>, </a:t>
                </a:r>
                <a:r>
                  <a:rPr lang="zh-CN" altLang="zh-CN" sz="2400" b="1" dirty="0">
                    <a:latin typeface="Times New Roman" panose="02020603050405020304" pitchFamily="18" charset="0"/>
                    <a:cs typeface="Times New Roman" panose="02020603050405020304" pitchFamily="18" charset="0"/>
                  </a:rPr>
                  <a:t>设</a:t>
                </a:r>
                <a:r>
                  <a:rPr lang="en-US" altLang="zh-CN" sz="2400" b="1" i="1" dirty="0">
                    <a:latin typeface="Times New Roman" panose="02020603050405020304" pitchFamily="18" charset="0"/>
                    <a:cs typeface="Times New Roman" panose="02020603050405020304" pitchFamily="18" charset="0"/>
                  </a:rPr>
                  <a:t>V</a:t>
                </a:r>
                <a:r>
                  <a:rPr lang="en-US" altLang="zh-CN" sz="2400" b="1" i="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cs typeface="Times New Roman" panose="02020603050405020304" pitchFamily="18" charset="0"/>
                  </a:rPr>
                  <a:t> </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V </a:t>
                </a:r>
                <a:r>
                  <a:rPr lang="zh-CN" altLang="zh-CN" sz="2400" b="1" dirty="0" smtClean="0">
                    <a:latin typeface="Times New Roman" panose="02020603050405020304" pitchFamily="18" charset="0"/>
                    <a:cs typeface="Times New Roman" panose="02020603050405020304" pitchFamily="18" charset="0"/>
                  </a:rPr>
                  <a:t>是</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G </a:t>
                </a:r>
                <a:r>
                  <a:rPr lang="zh-CN" altLang="zh-CN" sz="2400" b="1" dirty="0" smtClean="0">
                    <a:latin typeface="Times New Roman" panose="02020603050405020304" pitchFamily="18" charset="0"/>
                    <a:cs typeface="Times New Roman" panose="02020603050405020304" pitchFamily="18" charset="0"/>
                  </a:rPr>
                  <a:t>的</a:t>
                </a:r>
                <a:r>
                  <a:rPr lang="zh-CN" altLang="zh-CN" sz="2400" b="1" dirty="0">
                    <a:latin typeface="Times New Roman" panose="02020603050405020304" pitchFamily="18" charset="0"/>
                    <a:cs typeface="Times New Roman" panose="02020603050405020304" pitchFamily="18" charset="0"/>
                  </a:rPr>
                  <a:t>一个顶点覆盖</a:t>
                </a:r>
                <a:r>
                  <a:rPr lang="zh-CN" altLang="zh-CN" sz="2400" b="1" dirty="0" smtClean="0">
                    <a:latin typeface="Times New Roman" panose="02020603050405020304" pitchFamily="18" charset="0"/>
                    <a:cs typeface="Times New Roman" panose="02020603050405020304" pitchFamily="18" charset="0"/>
                  </a:rPr>
                  <a:t>且</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V’</a:t>
                </a:r>
                <a:r>
                  <a:rPr lang="en-US" altLang="zh-CN" sz="2400" b="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n</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+2</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m</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zh-CN" altLang="zh-CN" sz="2400" b="1" dirty="0" smtClean="0">
                    <a:latin typeface="Times New Roman" panose="02020603050405020304" pitchFamily="18" charset="0"/>
                    <a:cs typeface="Times New Roman" panose="02020603050405020304" pitchFamily="18" charset="0"/>
                  </a:rPr>
                  <a:t>根据</a:t>
                </a:r>
                <a:r>
                  <a:rPr lang="zh-CN" altLang="zh-CN" sz="2400" b="1" dirty="0">
                    <a:latin typeface="Times New Roman" panose="02020603050405020304" pitchFamily="18" charset="0"/>
                    <a:cs typeface="Times New Roman" panose="02020603050405020304" pitchFamily="18" charset="0"/>
                  </a:rPr>
                  <a:t>前面的分析</a:t>
                </a:r>
                <a:r>
                  <a:rPr lang="en-US" altLang="zh-CN" sz="2400" b="1" dirty="0">
                    <a:latin typeface="Times New Roman" panose="02020603050405020304" pitchFamily="18" charset="0"/>
                    <a:cs typeface="Times New Roman" panose="02020603050405020304" pitchFamily="18" charset="0"/>
                  </a:rPr>
                  <a:t>, </a:t>
                </a:r>
                <a:r>
                  <a:rPr lang="zh-CN" altLang="zh-CN" sz="2400" b="1" dirty="0">
                    <a:latin typeface="Times New Roman" panose="02020603050405020304" pitchFamily="18" charset="0"/>
                    <a:cs typeface="Times New Roman" panose="02020603050405020304" pitchFamily="18" charset="0"/>
                  </a:rPr>
                  <a:t>每</a:t>
                </a:r>
                <a:r>
                  <a:rPr lang="zh-CN" altLang="zh-CN" sz="2400" b="1" dirty="0" smtClean="0">
                    <a:latin typeface="Times New Roman" panose="02020603050405020304" pitchFamily="18" charset="0"/>
                    <a:cs typeface="Times New Roman" panose="02020603050405020304" pitchFamily="18" charset="0"/>
                  </a:rPr>
                  <a:t>一对</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x</a:t>
                </a:r>
                <a:r>
                  <a:rPr lang="en-US" altLang="zh-CN" sz="2400" b="1" i="1" baseline="-25000" dirty="0" smtClean="0">
                    <a:latin typeface="Times New Roman" panose="02020603050405020304" pitchFamily="18" charset="0"/>
                    <a:cs typeface="Times New Roman" panose="02020603050405020304" pitchFamily="18" charset="0"/>
                  </a:rPr>
                  <a:t>i </a:t>
                </a:r>
                <a:r>
                  <a:rPr lang="zh-CN" altLang="en-US" sz="2400" b="1" dirty="0" smtClean="0">
                    <a:latin typeface="Times New Roman" panose="02020603050405020304" pitchFamily="18" charset="0"/>
                    <a:cs typeface="Times New Roman" panose="02020603050405020304" pitchFamily="18" charset="0"/>
                  </a:rPr>
                  <a:t>和</a:t>
                </a:r>
                <a14:m>
                  <m:oMath xmlns:m="http://schemas.openxmlformats.org/officeDocument/2006/math">
                    <m:acc>
                      <m:accPr>
                        <m:chr m:val="̅"/>
                        <m:ctrlPr>
                          <a:rPr lang="zh-CN" altLang="en-US" sz="2400" b="1" i="1" smtClean="0">
                            <a:latin typeface="Cambria Math" panose="02040503050406030204" pitchFamily="18" charset="0"/>
                          </a:rPr>
                        </m:ctrlPr>
                      </m:accPr>
                      <m:e>
                        <m:sSub>
                          <m:sSubPr>
                            <m:ctrlPr>
                              <a:rPr lang="en-US" altLang="zh-CN" sz="2400" b="1" i="1" smtClean="0">
                                <a:latin typeface="Cambria Math" panose="02040503050406030204" pitchFamily="18" charset="0"/>
                              </a:rPr>
                            </m:ctrlPr>
                          </m:sSubPr>
                          <m:e>
                            <m:r>
                              <a:rPr lang="en-US" altLang="zh-CN" sz="2400" b="1" i="1" smtClean="0">
                                <a:latin typeface="Cambria Math" panose="02040503050406030204" pitchFamily="18" charset="0"/>
                              </a:rPr>
                              <m:t> </m:t>
                            </m:r>
                            <m:r>
                              <a:rPr lang="en-US" altLang="zh-CN" sz="2400" b="1" i="1" smtClean="0">
                                <a:latin typeface="Cambria Math" panose="02040503050406030204" pitchFamily="18" charset="0"/>
                              </a:rPr>
                              <m:t>𝒙</m:t>
                            </m:r>
                          </m:e>
                          <m:sub>
                            <m:r>
                              <a:rPr lang="en-US" altLang="zh-CN" sz="2400" b="1" i="1" smtClean="0">
                                <a:latin typeface="Cambria Math" panose="02040503050406030204" pitchFamily="18" charset="0"/>
                              </a:rPr>
                              <m:t>𝒊</m:t>
                            </m:r>
                          </m:sub>
                        </m:sSub>
                      </m:e>
                    </m:acc>
                  </m:oMath>
                </a14:m>
                <a:r>
                  <a:rPr lang="en-US" altLang="zh-CN" sz="2400" b="1" dirty="0" smtClean="0">
                    <a:latin typeface="Times New Roman" panose="02020603050405020304" pitchFamily="18" charset="0"/>
                    <a:cs typeface="Times New Roman" panose="02020603050405020304" pitchFamily="18" charset="0"/>
                  </a:rPr>
                  <a:t> </a:t>
                </a:r>
                <a:r>
                  <a:rPr lang="zh-CN" altLang="zh-CN" sz="2400" b="1" dirty="0" smtClean="0">
                    <a:latin typeface="Times New Roman" panose="02020603050405020304" pitchFamily="18" charset="0"/>
                    <a:cs typeface="Times New Roman" panose="02020603050405020304" pitchFamily="18" charset="0"/>
                  </a:rPr>
                  <a:t>中</a:t>
                </a:r>
                <a:r>
                  <a:rPr lang="zh-CN" altLang="zh-CN" sz="2400" b="1" dirty="0">
                    <a:latin typeface="Times New Roman" panose="02020603050405020304" pitchFamily="18" charset="0"/>
                    <a:cs typeface="Times New Roman" panose="02020603050405020304" pitchFamily="18" charset="0"/>
                  </a:rPr>
                  <a:t>恰好有一个</a:t>
                </a:r>
                <a:r>
                  <a:rPr lang="zh-CN" altLang="zh-CN" sz="2400" b="1" dirty="0" smtClean="0">
                    <a:latin typeface="Times New Roman" panose="02020603050405020304" pitchFamily="18" charset="0"/>
                    <a:cs typeface="Times New Roman" panose="02020603050405020304" pitchFamily="18" charset="0"/>
                  </a:rPr>
                  <a:t>属于</a:t>
                </a:r>
                <a:r>
                  <a:rPr lang="en-US" altLang="zh-CN" sz="2400" b="1" i="1" dirty="0" smtClean="0">
                    <a:latin typeface="Times New Roman" panose="02020603050405020304" pitchFamily="18" charset="0"/>
                    <a:cs typeface="Times New Roman" panose="02020603050405020304" pitchFamily="18" charset="0"/>
                  </a:rPr>
                  <a:t>V’</a:t>
                </a:r>
                <a:r>
                  <a:rPr lang="zh-CN" altLang="en-US" sz="2400" b="1" dirty="0" smtClean="0">
                    <a:latin typeface="Times New Roman" panose="02020603050405020304" pitchFamily="18" charset="0"/>
                    <a:cs typeface="Times New Roman" panose="02020603050405020304" pitchFamily="18" charset="0"/>
                  </a:rPr>
                  <a:t>，</a:t>
                </a:r>
                <a:r>
                  <a:rPr lang="zh-CN" altLang="zh-CN" sz="2400" b="1" dirty="0" smtClean="0">
                    <a:latin typeface="Times New Roman" panose="02020603050405020304" pitchFamily="18" charset="0"/>
                    <a:cs typeface="Times New Roman" panose="02020603050405020304" pitchFamily="18" charset="0"/>
                  </a:rPr>
                  <a:t>每</a:t>
                </a:r>
                <a:r>
                  <a:rPr lang="zh-CN" altLang="zh-CN" sz="2400" b="1" dirty="0">
                    <a:latin typeface="Times New Roman" panose="02020603050405020304" pitchFamily="18" charset="0"/>
                    <a:cs typeface="Times New Roman" panose="02020603050405020304" pitchFamily="18" charset="0"/>
                  </a:rPr>
                  <a:t>一个三角形恰好有</a:t>
                </a:r>
                <a:r>
                  <a:rPr lang="en-US" altLang="zh-CN" sz="2400" b="1" dirty="0">
                    <a:latin typeface="Times New Roman" panose="02020603050405020304" pitchFamily="18" charset="0"/>
                    <a:cs typeface="Times New Roman" panose="02020603050405020304" pitchFamily="18" charset="0"/>
                  </a:rPr>
                  <a:t>2</a:t>
                </a:r>
                <a:r>
                  <a:rPr lang="zh-CN" altLang="zh-CN" sz="2400" b="1" dirty="0">
                    <a:latin typeface="Times New Roman" panose="02020603050405020304" pitchFamily="18" charset="0"/>
                    <a:cs typeface="Times New Roman" panose="02020603050405020304" pitchFamily="18" charset="0"/>
                  </a:rPr>
                  <a:t>个顶点</a:t>
                </a:r>
                <a:r>
                  <a:rPr lang="zh-CN" altLang="zh-CN" sz="2400" b="1" dirty="0" smtClean="0">
                    <a:latin typeface="Times New Roman" panose="02020603050405020304" pitchFamily="18" charset="0"/>
                    <a:cs typeface="Times New Roman" panose="02020603050405020304" pitchFamily="18" charset="0"/>
                  </a:rPr>
                  <a:t>属于</a:t>
                </a:r>
                <a:r>
                  <a:rPr lang="en-US" altLang="zh-CN" sz="2400" b="1" i="1" dirty="0" smtClean="0">
                    <a:latin typeface="Times New Roman" panose="02020603050405020304" pitchFamily="18" charset="0"/>
                    <a:cs typeface="Times New Roman" panose="02020603050405020304" pitchFamily="18" charset="0"/>
                  </a:rPr>
                  <a:t>V’</a:t>
                </a:r>
                <a:r>
                  <a:rPr lang="en-US" altLang="zh-CN" sz="2400" b="1" dirty="0" smtClean="0">
                    <a:latin typeface="Times New Roman" panose="02020603050405020304" pitchFamily="18" charset="0"/>
                    <a:cs typeface="Times New Roman" panose="02020603050405020304" pitchFamily="18" charset="0"/>
                  </a:rPr>
                  <a:t>.  </a:t>
                </a:r>
                <a:r>
                  <a:rPr lang="zh-CN" altLang="zh-CN" sz="2400" b="1" dirty="0" smtClean="0">
                    <a:latin typeface="Times New Roman" panose="02020603050405020304" pitchFamily="18" charset="0"/>
                    <a:cs typeface="Times New Roman" panose="02020603050405020304" pitchFamily="18" charset="0"/>
                  </a:rPr>
                  <a:t>对</a:t>
                </a:r>
                <a:r>
                  <a:rPr lang="zh-CN" altLang="zh-CN" sz="2400" b="1" dirty="0">
                    <a:latin typeface="Times New Roman" panose="02020603050405020304" pitchFamily="18" charset="0"/>
                    <a:cs typeface="Times New Roman" panose="02020603050405020304" pitchFamily="18" charset="0"/>
                  </a:rPr>
                  <a:t>每一</a:t>
                </a:r>
                <a:r>
                  <a:rPr lang="zh-CN" altLang="zh-CN" sz="2400" b="1" dirty="0" smtClean="0">
                    <a:latin typeface="Times New Roman" panose="02020603050405020304" pitchFamily="18" charset="0"/>
                    <a:cs typeface="Times New Roman" panose="02020603050405020304" pitchFamily="18" charset="0"/>
                  </a:rPr>
                  <a:t>个</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i="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i="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rPr>
                  <a:t>n</a:t>
                </a:r>
                <a:r>
                  <a:rPr lang="en-US" altLang="zh-CN" sz="2400" b="1" dirty="0" smtClean="0">
                    <a:latin typeface="Times New Roman" panose="02020603050405020304" pitchFamily="18" charset="0"/>
                    <a:cs typeface="Times New Roman" panose="02020603050405020304" pitchFamily="18" charset="0"/>
                  </a:rPr>
                  <a:t>), </a:t>
                </a:r>
                <a:r>
                  <a:rPr lang="zh-CN" altLang="zh-CN" sz="2400" b="1" dirty="0" smtClean="0">
                    <a:latin typeface="Times New Roman" panose="02020603050405020304" pitchFamily="18" charset="0"/>
                    <a:cs typeface="Times New Roman" panose="02020603050405020304" pitchFamily="18" charset="0"/>
                  </a:rPr>
                  <a:t>若</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x</a:t>
                </a:r>
                <a:r>
                  <a:rPr lang="en-US" altLang="zh-CN" sz="2400" b="1" i="1" baseline="-25000" dirty="0" err="1" smtClean="0">
                    <a:latin typeface="Times New Roman" panose="02020603050405020304" pitchFamily="18" charset="0"/>
                    <a:cs typeface="Times New Roman" panose="02020603050405020304" pitchFamily="18" charset="0"/>
                  </a:rPr>
                  <a:t>i</a:t>
                </a:r>
                <a:r>
                  <a:rPr lang="en-US" altLang="zh-CN" sz="2400" b="1" dirty="0" err="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err="1" smtClean="0">
                    <a:latin typeface="Times New Roman" panose="02020603050405020304" pitchFamily="18" charset="0"/>
                    <a:cs typeface="Times New Roman" panose="02020603050405020304" pitchFamily="18" charset="0"/>
                    <a:sym typeface="Symbol" panose="05050102010706020507" pitchFamily="18" charset="2"/>
                  </a:rPr>
                  <a:t>V</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zh-CN" altLang="en-US"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zh-CN" altLang="zh-CN" sz="2400" b="1" dirty="0" smtClean="0">
                    <a:latin typeface="Times New Roman" panose="02020603050405020304" pitchFamily="18" charset="0"/>
                    <a:cs typeface="Times New Roman" panose="02020603050405020304" pitchFamily="18" charset="0"/>
                  </a:rPr>
                  <a:t>则令</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t</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x</a:t>
                </a:r>
                <a:r>
                  <a:rPr lang="en-US" altLang="zh-CN" sz="2400" b="1" i="1" baseline="-25000" dirty="0"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 1</a:t>
                </a:r>
                <a:r>
                  <a:rPr lang="zh-CN" altLang="en-US" sz="2400" b="1" dirty="0" smtClean="0">
                    <a:latin typeface="Times New Roman" panose="02020603050405020304" pitchFamily="18" charset="0"/>
                    <a:cs typeface="Times New Roman" panose="02020603050405020304" pitchFamily="18" charset="0"/>
                  </a:rPr>
                  <a:t>；若 </a:t>
                </a:r>
                <a14:m>
                  <m:oMath xmlns:m="http://schemas.openxmlformats.org/officeDocument/2006/math">
                    <m:acc>
                      <m:accPr>
                        <m:chr m:val="̅"/>
                        <m:ctrlPr>
                          <a:rPr lang="zh-CN" altLang="en-US" sz="2400" b="1" i="1" smtClean="0">
                            <a:latin typeface="Cambria Math" panose="02040503050406030204" pitchFamily="18" charset="0"/>
                          </a:rPr>
                        </m:ctrlPr>
                      </m:accPr>
                      <m:e>
                        <m:sSub>
                          <m:sSubPr>
                            <m:ctrlPr>
                              <a:rPr lang="en-US" altLang="zh-CN" sz="2400" b="1" i="1" smtClean="0">
                                <a:latin typeface="Cambria Math" panose="02040503050406030204" pitchFamily="18" charset="0"/>
                              </a:rPr>
                            </m:ctrlPr>
                          </m:sSubPr>
                          <m:e>
                            <m:r>
                              <a:rPr lang="en-US" altLang="zh-CN" sz="2400" b="1" i="1" smtClean="0">
                                <a:latin typeface="Cambria Math" panose="02040503050406030204" pitchFamily="18" charset="0"/>
                              </a:rPr>
                              <m:t>𝒙</m:t>
                            </m:r>
                          </m:e>
                          <m:sub>
                            <m:r>
                              <a:rPr lang="en-US" altLang="zh-CN" sz="2400" b="1" i="1" smtClean="0">
                                <a:latin typeface="Cambria Math" panose="02040503050406030204" pitchFamily="18" charset="0"/>
                              </a:rPr>
                              <m:t>𝒊</m:t>
                            </m:r>
                          </m:sub>
                        </m:sSub>
                      </m:e>
                    </m:acc>
                  </m:oMath>
                </a14:m>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V’</a:t>
                </a:r>
                <a:r>
                  <a:rPr lang="zh-CN" altLang="en-US"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zh-CN" altLang="zh-CN" sz="2400" b="1" dirty="0" smtClean="0">
                    <a:latin typeface="Times New Roman" panose="02020603050405020304" pitchFamily="18" charset="0"/>
                    <a:cs typeface="Times New Roman" panose="02020603050405020304" pitchFamily="18" charset="0"/>
                  </a:rPr>
                  <a:t>则令</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t</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x</a:t>
                </a:r>
                <a:r>
                  <a:rPr lang="en-US" altLang="zh-CN" sz="2400" b="1" i="1" baseline="-25000" dirty="0"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 0</a:t>
                </a:r>
                <a:r>
                  <a:rPr lang="en-US" altLang="zh-CN" sz="2400" b="1" dirty="0">
                    <a:latin typeface="Times New Roman" panose="02020603050405020304" pitchFamily="18" charset="0"/>
                    <a:cs typeface="Times New Roman" panose="02020603050405020304" pitchFamily="18" charset="0"/>
                  </a:rPr>
                  <a:t>. </a:t>
                </a:r>
                <a:r>
                  <a:rPr lang="zh-CN" altLang="zh-CN" sz="2400" b="1" dirty="0">
                    <a:latin typeface="Times New Roman" panose="02020603050405020304" pitchFamily="18" charset="0"/>
                    <a:cs typeface="Times New Roman" panose="02020603050405020304" pitchFamily="18" charset="0"/>
                  </a:rPr>
                  <a:t>对每一</a:t>
                </a:r>
                <a:r>
                  <a:rPr lang="zh-CN" altLang="zh-CN" sz="2400" b="1" dirty="0" smtClean="0">
                    <a:latin typeface="Times New Roman" panose="02020603050405020304" pitchFamily="18" charset="0"/>
                    <a:cs typeface="Times New Roman" panose="02020603050405020304" pitchFamily="18" charset="0"/>
                  </a:rPr>
                  <a:t>个</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j </a:t>
                </a:r>
                <a:r>
                  <a:rPr lang="en-US" altLang="zh-CN" sz="2400" b="1" dirty="0" smtClean="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rPr>
                  <a:t>j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rPr>
                  <a:t>m</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设 </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z’</a:t>
                </a:r>
                <a:r>
                  <a:rPr lang="en-US" altLang="zh-CN" sz="2400" b="1" i="1" baseline="-25000" dirty="0" err="1" smtClean="0">
                    <a:latin typeface="Times New Roman" panose="02020603050405020304" pitchFamily="18" charset="0"/>
                    <a:cs typeface="Times New Roman" panose="02020603050405020304" pitchFamily="18" charset="0"/>
                  </a:rPr>
                  <a:t>jk</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V’</a:t>
                </a:r>
                <a:r>
                  <a:rPr lang="zh-CN" altLang="en-US" sz="2400" b="1" dirty="0" smtClean="0">
                    <a:latin typeface="Times New Roman" panose="02020603050405020304" pitchFamily="18" charset="0"/>
                    <a:cs typeface="Times New Roman" panose="02020603050405020304" pitchFamily="18" charset="0"/>
                    <a:sym typeface="Symbol" panose="05050102010706020507" pitchFamily="18" charset="2"/>
                  </a:rPr>
                  <a:t>，为了</a:t>
                </a:r>
                <a:r>
                  <a:rPr lang="zh-CN" altLang="zh-CN" sz="2400" b="1" dirty="0" smtClean="0">
                    <a:latin typeface="Times New Roman" panose="02020603050405020304" pitchFamily="18" charset="0"/>
                    <a:cs typeface="Times New Roman" panose="02020603050405020304" pitchFamily="18" charset="0"/>
                  </a:rPr>
                  <a:t>覆盖边</a:t>
                </a:r>
                <a:r>
                  <a:rPr lang="en-US" altLang="zh-CN" sz="2400" b="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z’</a:t>
                </a:r>
                <a:r>
                  <a:rPr lang="en-US" altLang="zh-CN" sz="2400" b="1" i="1" baseline="-25000" dirty="0" err="1" smtClean="0">
                    <a:latin typeface="Times New Roman" panose="02020603050405020304" pitchFamily="18" charset="0"/>
                    <a:cs typeface="Times New Roman" panose="02020603050405020304" pitchFamily="18" charset="0"/>
                  </a:rPr>
                  <a:t>jk</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z’</a:t>
                </a:r>
                <a:r>
                  <a:rPr lang="en-US" altLang="zh-CN" sz="2400" b="1" i="1" baseline="-25000" dirty="0" err="1" smtClean="0">
                    <a:latin typeface="Times New Roman" panose="02020603050405020304" pitchFamily="18" charset="0"/>
                    <a:cs typeface="Times New Roman" panose="02020603050405020304" pitchFamily="18" charset="0"/>
                  </a:rPr>
                  <a:t>jk</a:t>
                </a:r>
                <a:r>
                  <a:rPr lang="en-US" altLang="zh-CN" sz="2400" b="1" dirty="0" smtClean="0">
                    <a:latin typeface="Times New Roman" panose="02020603050405020304" pitchFamily="18" charset="0"/>
                    <a:cs typeface="Times New Roman" panose="02020603050405020304" pitchFamily="18" charset="0"/>
                  </a:rPr>
                  <a:t>)</a:t>
                </a:r>
                <a:r>
                  <a:rPr lang="zh-CN" altLang="en-US" sz="2400" b="1" dirty="0" smtClean="0">
                    <a:latin typeface="Times New Roman" panose="02020603050405020304" pitchFamily="18" charset="0"/>
                    <a:cs typeface="Times New Roman" panose="02020603050405020304" pitchFamily="18" charset="0"/>
                  </a:rPr>
                  <a:t>，必有 </a:t>
                </a:r>
                <a:r>
                  <a:rPr lang="en-US" altLang="zh-CN" sz="2400" b="1" i="1" dirty="0" err="1" smtClean="0">
                    <a:latin typeface="Times New Roman" panose="02020603050405020304" pitchFamily="18" charset="0"/>
                    <a:cs typeface="Times New Roman" panose="02020603050405020304" pitchFamily="18" charset="0"/>
                  </a:rPr>
                  <a:t>z’</a:t>
                </a:r>
                <a:r>
                  <a:rPr lang="en-US" altLang="zh-CN" sz="2400" b="1" i="1" baseline="-25000" dirty="0" err="1" smtClean="0">
                    <a:latin typeface="Times New Roman" panose="02020603050405020304" pitchFamily="18" charset="0"/>
                    <a:cs typeface="Times New Roman" panose="02020603050405020304" pitchFamily="18" charset="0"/>
                  </a:rPr>
                  <a:t>jk</a:t>
                </a:r>
                <a:r>
                  <a:rPr lang="en-US" altLang="zh-CN" sz="2400" b="1" dirty="0" err="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err="1" smtClean="0">
                    <a:latin typeface="Times New Roman" panose="02020603050405020304" pitchFamily="18" charset="0"/>
                    <a:cs typeface="Times New Roman" panose="02020603050405020304" pitchFamily="18" charset="0"/>
                    <a:sym typeface="Symbol" panose="05050102010706020507" pitchFamily="18" charset="2"/>
                  </a:rPr>
                  <a:t>V</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zh-CN" altLang="zh-CN" sz="2400" b="1" dirty="0" smtClean="0">
                    <a:latin typeface="Times New Roman" panose="02020603050405020304" pitchFamily="18" charset="0"/>
                    <a:cs typeface="Times New Roman" panose="02020603050405020304" pitchFamily="18" charset="0"/>
                  </a:rPr>
                  <a:t>由于</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t</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z</a:t>
                </a:r>
                <a:r>
                  <a:rPr lang="en-US" altLang="zh-CN" sz="2400" b="1" i="1" baseline="-25000" dirty="0" err="1" smtClean="0">
                    <a:latin typeface="Times New Roman" panose="02020603050405020304" pitchFamily="18" charset="0"/>
                    <a:cs typeface="Times New Roman" panose="02020603050405020304" pitchFamily="18" charset="0"/>
                  </a:rPr>
                  <a:t>jk</a:t>
                </a:r>
                <a:r>
                  <a:rPr lang="en-US" altLang="zh-CN" sz="2400" b="1" dirty="0" smtClean="0">
                    <a:latin typeface="Times New Roman" panose="02020603050405020304" pitchFamily="18" charset="0"/>
                    <a:cs typeface="Times New Roman" panose="02020603050405020304" pitchFamily="18" charset="0"/>
                  </a:rPr>
                  <a:t>) = 1</a:t>
                </a:r>
                <a:r>
                  <a:rPr lang="en-US" altLang="zh-CN" sz="2400" b="1" dirty="0">
                    <a:latin typeface="Times New Roman" panose="02020603050405020304" pitchFamily="18" charset="0"/>
                    <a:cs typeface="Times New Roman" panose="02020603050405020304" pitchFamily="18" charset="0"/>
                  </a:rPr>
                  <a:t>, </a:t>
                </a:r>
                <a:r>
                  <a:rPr lang="zh-CN" altLang="zh-CN" sz="2400" b="1" dirty="0" smtClean="0">
                    <a:latin typeface="Times New Roman" panose="02020603050405020304" pitchFamily="18" charset="0"/>
                    <a:cs typeface="Times New Roman" panose="02020603050405020304" pitchFamily="18" charset="0"/>
                  </a:rPr>
                  <a:t>从而</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t</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C</a:t>
                </a:r>
                <a:r>
                  <a:rPr lang="en-US" altLang="zh-CN" sz="2400" b="1" i="1" baseline="-25000" dirty="0" err="1"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 = 1</a:t>
                </a:r>
                <a:r>
                  <a:rPr lang="en-US" altLang="zh-CN" sz="2400" b="1" dirty="0">
                    <a:latin typeface="Times New Roman" panose="02020603050405020304" pitchFamily="18" charset="0"/>
                    <a:cs typeface="Times New Roman" panose="02020603050405020304" pitchFamily="18" charset="0"/>
                  </a:rPr>
                  <a:t>. </a:t>
                </a:r>
                <a:r>
                  <a:rPr lang="zh-CN" altLang="zh-CN" sz="2400" b="1" dirty="0">
                    <a:latin typeface="Times New Roman" panose="02020603050405020304" pitchFamily="18" charset="0"/>
                    <a:cs typeface="Times New Roman" panose="02020603050405020304" pitchFamily="18" charset="0"/>
                  </a:rPr>
                  <a:t>因此</a:t>
                </a:r>
                <a:r>
                  <a:rPr lang="en-US" altLang="zh-CN" sz="2400" b="1" dirty="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t </a:t>
                </a:r>
                <a:r>
                  <a:rPr lang="zh-CN" altLang="zh-CN" sz="2400" b="1" dirty="0" smtClean="0">
                    <a:latin typeface="Times New Roman" panose="02020603050405020304" pitchFamily="18" charset="0"/>
                    <a:cs typeface="Times New Roman" panose="02020603050405020304" pitchFamily="18" charset="0"/>
                  </a:rPr>
                  <a:t>是</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F </a:t>
                </a:r>
                <a:r>
                  <a:rPr lang="zh-CN" altLang="zh-CN" sz="2400" b="1" dirty="0" smtClean="0">
                    <a:latin typeface="Times New Roman" panose="02020603050405020304" pitchFamily="18" charset="0"/>
                    <a:cs typeface="Times New Roman" panose="02020603050405020304" pitchFamily="18" charset="0"/>
                  </a:rPr>
                  <a:t>的</a:t>
                </a:r>
                <a:r>
                  <a:rPr lang="zh-CN" altLang="zh-CN" sz="2400" b="1" dirty="0">
                    <a:latin typeface="Times New Roman" panose="02020603050405020304" pitchFamily="18" charset="0"/>
                    <a:cs typeface="Times New Roman" panose="02020603050405020304" pitchFamily="18" charset="0"/>
                  </a:rPr>
                  <a:t>成真赋值</a:t>
                </a:r>
                <a:r>
                  <a:rPr lang="en-US" altLang="zh-CN" sz="2400" b="1" dirty="0">
                    <a:latin typeface="Times New Roman" panose="02020603050405020304" pitchFamily="18" charset="0"/>
                    <a:cs typeface="Times New Roman" panose="02020603050405020304" pitchFamily="18" charset="0"/>
                  </a:rPr>
                  <a:t>, </a:t>
                </a:r>
                <a:r>
                  <a:rPr lang="zh-CN" altLang="zh-CN" sz="2400" b="1" dirty="0">
                    <a:latin typeface="Times New Roman" panose="02020603050405020304" pitchFamily="18" charset="0"/>
                    <a:cs typeface="Times New Roman" panose="02020603050405020304" pitchFamily="18" charset="0"/>
                  </a:rPr>
                  <a:t>得</a:t>
                </a:r>
                <a:r>
                  <a:rPr lang="zh-CN" altLang="zh-CN" sz="2400" b="1" dirty="0" smtClean="0">
                    <a:latin typeface="Times New Roman" panose="02020603050405020304" pitchFamily="18" charset="0"/>
                    <a:cs typeface="Times New Roman" panose="02020603050405020304" pitchFamily="18" charset="0"/>
                  </a:rPr>
                  <a:t>证</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F </a:t>
                </a:r>
                <a:r>
                  <a:rPr lang="zh-CN" altLang="zh-CN" sz="2400" b="1" dirty="0" smtClean="0">
                    <a:latin typeface="Times New Roman" panose="02020603050405020304" pitchFamily="18" charset="0"/>
                    <a:cs typeface="Times New Roman" panose="02020603050405020304" pitchFamily="18" charset="0"/>
                  </a:rPr>
                  <a:t>是</a:t>
                </a:r>
                <a:r>
                  <a:rPr lang="zh-CN" altLang="zh-CN" sz="2400" b="1" dirty="0">
                    <a:latin typeface="Times New Roman" panose="02020603050405020304" pitchFamily="18" charset="0"/>
                    <a:cs typeface="Times New Roman" panose="02020603050405020304" pitchFamily="18" charset="0"/>
                  </a:rPr>
                  <a:t>可满足</a:t>
                </a:r>
                <a:r>
                  <a:rPr lang="zh-CN" altLang="zh-CN" sz="2400" b="1" dirty="0" smtClean="0">
                    <a:latin typeface="Times New Roman" panose="02020603050405020304" pitchFamily="18" charset="0"/>
                    <a:cs typeface="Times New Roman" panose="02020603050405020304" pitchFamily="18" charset="0"/>
                  </a:rPr>
                  <a:t>的</a:t>
                </a:r>
                <a:r>
                  <a:rPr lang="en-US" altLang="zh-CN" sz="2400" b="1" dirty="0" smtClean="0">
                    <a:latin typeface="Times New Roman" panose="02020603050405020304" pitchFamily="18" charset="0"/>
                    <a:cs typeface="Times New Roman" panose="02020603050405020304" pitchFamily="18" charset="0"/>
                  </a:rPr>
                  <a:t>.</a:t>
                </a:r>
                <a:endParaRPr lang="en-US" altLang="zh-CN" sz="2400" b="1" dirty="0" smtClean="0">
                  <a:latin typeface="Times New Roman" panose="02020603050405020304" pitchFamily="18" charset="0"/>
                  <a:cs typeface="Times New Roman" panose="02020603050405020304" pitchFamily="18" charset="0"/>
                </a:endParaRPr>
              </a:p>
              <a:p>
                <a:pPr>
                  <a:lnSpc>
                    <a:spcPts val="3200"/>
                  </a:lnSpc>
                  <a:spcBef>
                    <a:spcPts val="1200"/>
                  </a:spcBef>
                </a:pPr>
                <a:r>
                  <a:rPr lang="en-US" altLang="zh-CN" sz="2400" b="1" dirty="0" smtClean="0">
                    <a:latin typeface="Times New Roman" panose="02020603050405020304" pitchFamily="18" charset="0"/>
                    <a:cs typeface="Times New Roman" panose="02020603050405020304" pitchFamily="18" charset="0"/>
                  </a:rPr>
                  <a:t>G</a:t>
                </a:r>
                <a:r>
                  <a:rPr lang="zh-CN" altLang="en-US" sz="2400" b="1" dirty="0" smtClean="0">
                    <a:latin typeface="Times New Roman" panose="02020603050405020304" pitchFamily="18" charset="0"/>
                    <a:cs typeface="Times New Roman" panose="02020603050405020304" pitchFamily="18" charset="0"/>
                  </a:rPr>
                  <a:t>有 </a:t>
                </a:r>
                <a:r>
                  <a:rPr lang="en-US" altLang="zh-CN" sz="2400" b="1" dirty="0" smtClean="0">
                    <a:latin typeface="Times New Roman" panose="02020603050405020304" pitchFamily="18" charset="0"/>
                    <a:cs typeface="Times New Roman" panose="02020603050405020304" pitchFamily="18" charset="0"/>
                  </a:rPr>
                  <a:t>2</a:t>
                </a:r>
                <a:r>
                  <a:rPr lang="en-US" altLang="zh-CN" sz="2400" b="1" i="1" dirty="0" smtClean="0">
                    <a:latin typeface="Times New Roman" panose="02020603050405020304" pitchFamily="18" charset="0"/>
                    <a:cs typeface="Times New Roman" panose="02020603050405020304" pitchFamily="18" charset="0"/>
                  </a:rPr>
                  <a:t>n</a:t>
                </a:r>
                <a:r>
                  <a:rPr lang="en-US" altLang="zh-CN" sz="2400" b="1" dirty="0" smtClean="0">
                    <a:latin typeface="Times New Roman" panose="02020603050405020304" pitchFamily="18" charset="0"/>
                    <a:cs typeface="Times New Roman" panose="02020603050405020304" pitchFamily="18" charset="0"/>
                  </a:rPr>
                  <a:t>+3</a:t>
                </a:r>
                <a:r>
                  <a:rPr lang="en-US" altLang="zh-CN" sz="2400" b="1" i="1" dirty="0" smtClean="0">
                    <a:latin typeface="Times New Roman" panose="02020603050405020304" pitchFamily="18" charset="0"/>
                    <a:cs typeface="Times New Roman" panose="02020603050405020304" pitchFamily="18" charset="0"/>
                  </a:rPr>
                  <a:t>m </a:t>
                </a:r>
                <a:r>
                  <a:rPr lang="zh-CN" altLang="en-US" sz="2400" b="1" dirty="0" smtClean="0">
                    <a:latin typeface="Times New Roman" panose="02020603050405020304" pitchFamily="18" charset="0"/>
                    <a:cs typeface="Times New Roman" panose="02020603050405020304" pitchFamily="18" charset="0"/>
                  </a:rPr>
                  <a:t>个顶点和 </a:t>
                </a:r>
                <a:r>
                  <a:rPr lang="en-US" altLang="zh-CN" sz="2400" b="1" i="1" dirty="0" smtClean="0">
                    <a:latin typeface="Times New Roman" panose="02020603050405020304" pitchFamily="18" charset="0"/>
                    <a:cs typeface="Times New Roman" panose="02020603050405020304" pitchFamily="18" charset="0"/>
                  </a:rPr>
                  <a:t>n</a:t>
                </a:r>
                <a:r>
                  <a:rPr lang="en-US" altLang="zh-CN" sz="2400" b="1" dirty="0" smtClean="0">
                    <a:latin typeface="Times New Roman" panose="02020603050405020304" pitchFamily="18" charset="0"/>
                    <a:cs typeface="Times New Roman" panose="02020603050405020304" pitchFamily="18" charset="0"/>
                  </a:rPr>
                  <a:t>+6</a:t>
                </a:r>
                <a:r>
                  <a:rPr lang="en-US" altLang="zh-CN" sz="2400" b="1" i="1" dirty="0" smtClean="0">
                    <a:latin typeface="Times New Roman" panose="02020603050405020304" pitchFamily="18" charset="0"/>
                    <a:cs typeface="Times New Roman" panose="02020603050405020304" pitchFamily="18" charset="0"/>
                  </a:rPr>
                  <a:t>m </a:t>
                </a:r>
                <a:r>
                  <a:rPr lang="zh-CN" altLang="en-US" sz="2400" b="1" dirty="0" smtClean="0">
                    <a:latin typeface="Times New Roman" panose="02020603050405020304" pitchFamily="18" charset="0"/>
                    <a:cs typeface="Times New Roman" panose="02020603050405020304" pitchFamily="18" charset="0"/>
                  </a:rPr>
                  <a:t>条边，显然能在多项式时间内构造 </a:t>
                </a:r>
                <a:r>
                  <a:rPr lang="en-US" altLang="zh-CN" sz="2400" b="1" i="1" dirty="0" smtClean="0">
                    <a:latin typeface="Times New Roman" panose="02020603050405020304" pitchFamily="18" charset="0"/>
                    <a:cs typeface="Times New Roman" panose="02020603050405020304" pitchFamily="18" charset="0"/>
                  </a:rPr>
                  <a:t>G </a:t>
                </a:r>
                <a:r>
                  <a:rPr lang="zh-CN" altLang="en-US" sz="2400" b="1" dirty="0" smtClean="0">
                    <a:latin typeface="Times New Roman" panose="02020603050405020304" pitchFamily="18" charset="0"/>
                    <a:cs typeface="Times New Roman" panose="02020603050405020304" pitchFamily="18" charset="0"/>
                  </a:rPr>
                  <a:t>和 </a:t>
                </a:r>
                <a:r>
                  <a:rPr lang="en-US" altLang="zh-CN" sz="2400" b="1" i="1" dirty="0" smtClean="0">
                    <a:latin typeface="Times New Roman" panose="02020603050405020304" pitchFamily="18" charset="0"/>
                    <a:cs typeface="Times New Roman" panose="02020603050405020304" pitchFamily="18" charset="0"/>
                  </a:rPr>
                  <a:t>K</a:t>
                </a:r>
                <a:r>
                  <a:rPr lang="en-US" altLang="zh-CN" sz="2400" b="1" dirty="0" smtClean="0">
                    <a:latin typeface="Times New Roman" panose="02020603050405020304" pitchFamily="18" charset="0"/>
                    <a:cs typeface="Times New Roman" panose="02020603050405020304" pitchFamily="18" charset="0"/>
                  </a:rPr>
                  <a:t>.</a:t>
                </a:r>
                <a:endParaRPr lang="en-US" altLang="zh-CN" sz="2400" b="1" dirty="0" smtClean="0">
                  <a:latin typeface="Times New Roman" panose="02020603050405020304" pitchFamily="18" charset="0"/>
                  <a:cs typeface="Times New Roman" panose="02020603050405020304" pitchFamily="18" charset="0"/>
                </a:endParaRPr>
              </a:p>
              <a:p>
                <a:endParaRPr lang="en-US" altLang="zh-CN" sz="2400" dirty="0">
                  <a:latin typeface="Times New Roman" panose="02020603050405020304" pitchFamily="18" charset="0"/>
                  <a:cs typeface="Times New Roman" panose="02020603050405020304" pitchFamily="18" charset="0"/>
                </a:endParaRPr>
              </a:p>
              <a:p>
                <a:r>
                  <a:rPr lang="zh-CN" altLang="en-US" sz="2400" b="1" dirty="0" smtClean="0">
                    <a:solidFill>
                      <a:srgbClr val="C00000"/>
                    </a:solidFill>
                    <a:latin typeface="Times New Roman" panose="02020603050405020304" pitchFamily="18" charset="0"/>
                    <a:cs typeface="Times New Roman" panose="02020603050405020304" pitchFamily="18" charset="0"/>
                  </a:rPr>
                  <a:t>定理</a:t>
                </a:r>
                <a:r>
                  <a:rPr lang="en-US" altLang="zh-CN" sz="2400" b="1" dirty="0" smtClean="0">
                    <a:solidFill>
                      <a:srgbClr val="C00000"/>
                    </a:solidFill>
                    <a:latin typeface="Times New Roman" panose="02020603050405020304" pitchFamily="18" charset="0"/>
                    <a:cs typeface="Times New Roman" panose="02020603050405020304" pitchFamily="18" charset="0"/>
                  </a:rPr>
                  <a:t>9.11  </a:t>
                </a:r>
                <a:r>
                  <a:rPr lang="zh-CN" altLang="en-US" sz="2400" b="1" dirty="0" smtClean="0">
                    <a:latin typeface="Times New Roman" panose="02020603050405020304" pitchFamily="18" charset="0"/>
                    <a:cs typeface="Times New Roman" panose="02020603050405020304" pitchFamily="18" charset="0"/>
                  </a:rPr>
                  <a:t>独立集和团是 </a:t>
                </a:r>
                <a:r>
                  <a:rPr lang="en-US" altLang="zh-CN" sz="2400" b="1" dirty="0" smtClean="0">
                    <a:latin typeface="Times New Roman" panose="02020603050405020304" pitchFamily="18" charset="0"/>
                    <a:cs typeface="Times New Roman" panose="02020603050405020304" pitchFamily="18" charset="0"/>
                  </a:rPr>
                  <a:t>NP</a:t>
                </a:r>
                <a:r>
                  <a:rPr lang="zh-CN" altLang="en-US" sz="2400" b="1" dirty="0" smtClean="0">
                    <a:latin typeface="Times New Roman" panose="02020603050405020304" pitchFamily="18" charset="0"/>
                    <a:cs typeface="Times New Roman" panose="02020603050405020304" pitchFamily="18" charset="0"/>
                  </a:rPr>
                  <a:t>完全的</a:t>
                </a:r>
                <a:r>
                  <a:rPr lang="en-US" altLang="zh-CN" sz="2400" b="1" dirty="0" smtClean="0">
                    <a:latin typeface="Times New Roman" panose="02020603050405020304" pitchFamily="18" charset="0"/>
                    <a:cs typeface="Times New Roman" panose="02020603050405020304" pitchFamily="18" charset="0"/>
                  </a:rPr>
                  <a:t>.  </a:t>
                </a:r>
                <a:endParaRPr lang="zh-CN" altLang="en-US" sz="2400" b="1" dirty="0">
                  <a:latin typeface="Times New Roman" panose="02020603050405020304" pitchFamily="18" charset="0"/>
                  <a:cs typeface="Times New Roman" panose="02020603050405020304" pitchFamily="18" charset="0"/>
                </a:endParaRPr>
              </a:p>
            </p:txBody>
          </p:sp>
        </mc:Choice>
        <mc:Fallback>
          <p:sp>
            <p:nvSpPr>
              <p:cNvPr id="3" name="文本框 2"/>
              <p:cNvSpPr txBox="1">
                <a:spLocks noRot="1" noChangeAspect="1" noMove="1" noResize="1" noEditPoints="1" noAdjustHandles="1" noChangeArrowheads="1" noChangeShapeType="1" noTextEdit="1"/>
              </p:cNvSpPr>
              <p:nvPr/>
            </p:nvSpPr>
            <p:spPr>
              <a:xfrm>
                <a:off x="683568" y="1308327"/>
                <a:ext cx="7427168" cy="4678204"/>
              </a:xfrm>
              <a:prstGeom prst="rect">
                <a:avLst/>
              </a:prstGeom>
              <a:blipFill rotWithShape="1">
                <a:blip r:embed="rId1"/>
                <a:stretch>
                  <a:fillRect l="-4" t="-5" r="7" b="8"/>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p:cNvSpPr>
            <a:spLocks noGrp="1"/>
          </p:cNvSpPr>
          <p:nvPr>
            <p:ph type="title"/>
          </p:nvPr>
        </p:nvSpPr>
        <p:spPr/>
        <p:txBody>
          <a:bodyPr/>
          <a:lstStyle/>
          <a:p>
            <a:r>
              <a:rPr lang="zh-CN" altLang="en-US" sz="4000" b="1" dirty="0" smtClean="0">
                <a:solidFill>
                  <a:srgbClr val="C00000"/>
                </a:solidFill>
                <a:latin typeface="Times New Roman" panose="02020603050405020304" pitchFamily="18" charset="0"/>
                <a:cs typeface="Times New Roman" panose="02020603050405020304" pitchFamily="18" charset="0"/>
              </a:rPr>
              <a:t>构件设计法</a:t>
            </a:r>
            <a:endParaRPr lang="zh-CN" altLang="en-US" sz="4000" dirty="0" smtClean="0">
              <a:solidFill>
                <a:srgbClr val="C0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2" name="文本框 1"/>
              <p:cNvSpPr txBox="1"/>
              <p:nvPr/>
            </p:nvSpPr>
            <p:spPr>
              <a:xfrm>
                <a:off x="824998" y="1556792"/>
                <a:ext cx="7494004" cy="3965188"/>
              </a:xfrm>
              <a:prstGeom prst="rect">
                <a:avLst/>
              </a:prstGeom>
              <a:noFill/>
            </p:spPr>
            <p:txBody>
              <a:bodyPr wrap="square" rtlCol="0">
                <a:spAutoFit/>
              </a:bodyPr>
              <a:lstStyle/>
              <a:p>
                <a:pPr>
                  <a:lnSpc>
                    <a:spcPts val="3400"/>
                  </a:lnSpc>
                </a:pPr>
                <a:r>
                  <a:rPr lang="zh-CN" altLang="en-US" sz="2400" b="1" dirty="0" smtClean="0">
                    <a:solidFill>
                      <a:srgbClr val="C00000"/>
                    </a:solidFill>
                  </a:rPr>
                  <a:t>构件设计法</a:t>
                </a:r>
                <a:endParaRPr lang="en-US" altLang="zh-CN" sz="2400" b="1" dirty="0" smtClean="0">
                  <a:solidFill>
                    <a:srgbClr val="C00000"/>
                  </a:solidFill>
                </a:endParaRPr>
              </a:p>
              <a:p>
                <a:pPr>
                  <a:lnSpc>
                    <a:spcPts val="3400"/>
                  </a:lnSpc>
                  <a:spcBef>
                    <a:spcPts val="1200"/>
                  </a:spcBef>
                </a:pPr>
                <a:r>
                  <a:rPr lang="zh-CN" altLang="en-US" sz="2400" b="1" dirty="0" smtClean="0">
                    <a:latin typeface="Times New Roman" panose="02020603050405020304" pitchFamily="18" charset="0"/>
                    <a:cs typeface="Times New Roman" panose="02020603050405020304" pitchFamily="18" charset="0"/>
                  </a:rPr>
                  <a:t>定理</a:t>
                </a:r>
                <a:r>
                  <a:rPr lang="en-US" altLang="zh-CN" sz="2400" b="1" dirty="0" smtClean="0">
                    <a:latin typeface="Times New Roman" panose="02020603050405020304" pitchFamily="18" charset="0"/>
                    <a:cs typeface="Times New Roman" panose="02020603050405020304" pitchFamily="18" charset="0"/>
                  </a:rPr>
                  <a:t>9.10</a:t>
                </a:r>
                <a:r>
                  <a:rPr lang="zh-CN" altLang="en-US" sz="2400" b="1" dirty="0" smtClean="0">
                    <a:latin typeface="Times New Roman" panose="02020603050405020304" pitchFamily="18" charset="0"/>
                    <a:cs typeface="Times New Roman" panose="02020603050405020304" pitchFamily="18" charset="0"/>
                  </a:rPr>
                  <a:t>证明中设计了</a:t>
                </a:r>
                <a:r>
                  <a:rPr lang="en-US" altLang="zh-CN" sz="2400" b="1" dirty="0" smtClean="0">
                    <a:latin typeface="Times New Roman" panose="02020603050405020304" pitchFamily="18" charset="0"/>
                    <a:cs typeface="Times New Roman" panose="02020603050405020304" pitchFamily="18" charset="0"/>
                  </a:rPr>
                  <a:t>2</a:t>
                </a:r>
                <a:r>
                  <a:rPr lang="zh-CN" altLang="en-US" sz="2400" b="1" dirty="0" smtClean="0">
                    <a:latin typeface="Times New Roman" panose="02020603050405020304" pitchFamily="18" charset="0"/>
                    <a:cs typeface="Times New Roman" panose="02020603050405020304" pitchFamily="18" charset="0"/>
                  </a:rPr>
                  <a:t>种“构件”</a:t>
                </a:r>
                <a:r>
                  <a:rPr lang="en-US" altLang="zh-CN" sz="2400" b="1" dirty="0" smtClean="0">
                    <a:latin typeface="Times New Roman" panose="02020603050405020304" pitchFamily="18" charset="0"/>
                    <a:cs typeface="Times New Roman" panose="02020603050405020304" pitchFamily="18" charset="0"/>
                  </a:rPr>
                  <a:t>——</a:t>
                </a:r>
                <a:r>
                  <a:rPr lang="zh-CN" altLang="en-US" sz="2400" b="1" dirty="0" smtClean="0">
                    <a:latin typeface="Times New Roman" panose="02020603050405020304" pitchFamily="18" charset="0"/>
                    <a:cs typeface="Times New Roman" panose="02020603050405020304" pitchFamily="18" charset="0"/>
                  </a:rPr>
                  <a:t>变元构件和简单析取式构件</a:t>
                </a:r>
                <a:r>
                  <a:rPr lang="en-US" altLang="zh-CN" sz="2400" b="1" dirty="0" smtClean="0">
                    <a:latin typeface="Times New Roman" panose="02020603050405020304" pitchFamily="18" charset="0"/>
                    <a:cs typeface="Times New Roman" panose="02020603050405020304" pitchFamily="18" charset="0"/>
                  </a:rPr>
                  <a:t>.</a:t>
                </a:r>
                <a:endParaRPr lang="en-US" altLang="zh-CN" sz="2400" b="1" dirty="0" smtClean="0">
                  <a:latin typeface="Times New Roman" panose="02020603050405020304" pitchFamily="18" charset="0"/>
                  <a:cs typeface="Times New Roman" panose="02020603050405020304" pitchFamily="18" charset="0"/>
                </a:endParaRPr>
              </a:p>
              <a:p>
                <a:pPr>
                  <a:lnSpc>
                    <a:spcPts val="3400"/>
                  </a:lnSpc>
                  <a:spcBef>
                    <a:spcPts val="600"/>
                  </a:spcBef>
                </a:pPr>
                <a:r>
                  <a:rPr lang="zh-CN" altLang="en-US" sz="2400" b="1" dirty="0">
                    <a:latin typeface="Times New Roman" panose="02020603050405020304" pitchFamily="18" charset="0"/>
                    <a:cs typeface="Times New Roman" panose="02020603050405020304" pitchFamily="18" charset="0"/>
                  </a:rPr>
                  <a:t>变</a:t>
                </a:r>
                <a:r>
                  <a:rPr lang="zh-CN" altLang="en-US" sz="2400" b="1" dirty="0" smtClean="0">
                    <a:latin typeface="Times New Roman" panose="02020603050405020304" pitchFamily="18" charset="0"/>
                    <a:cs typeface="Times New Roman" panose="02020603050405020304" pitchFamily="18" charset="0"/>
                  </a:rPr>
                  <a:t>元构件是一对顶点 </a:t>
                </a:r>
                <a:r>
                  <a:rPr lang="en-US" altLang="zh-CN" sz="2400" b="1" i="1" dirty="0" smtClean="0">
                    <a:latin typeface="Times New Roman" panose="02020603050405020304" pitchFamily="18" charset="0"/>
                    <a:cs typeface="Times New Roman" panose="02020603050405020304" pitchFamily="18" charset="0"/>
                  </a:rPr>
                  <a:t>x</a:t>
                </a:r>
                <a:r>
                  <a:rPr lang="en-US" altLang="zh-CN" sz="2400" b="1" i="1" baseline="-25000" dirty="0" smtClean="0">
                    <a:latin typeface="Times New Roman" panose="02020603050405020304" pitchFamily="18" charset="0"/>
                    <a:cs typeface="Times New Roman" panose="02020603050405020304" pitchFamily="18" charset="0"/>
                  </a:rPr>
                  <a:t>i</a:t>
                </a:r>
                <a:r>
                  <a:rPr lang="en-US" altLang="zh-CN" sz="2400" b="1" i="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和 </a:t>
                </a:r>
                <a14:m>
                  <m:oMath xmlns:m="http://schemas.openxmlformats.org/officeDocument/2006/math">
                    <m:acc>
                      <m:accPr>
                        <m:chr m:val="̅"/>
                        <m:ctrlPr>
                          <a:rPr lang="zh-CN" altLang="en-US" sz="2400" b="1" i="1" smtClean="0">
                            <a:latin typeface="Cambria Math" panose="02040503050406030204" pitchFamily="18" charset="0"/>
                          </a:rPr>
                        </m:ctrlPr>
                      </m:accPr>
                      <m:e>
                        <m:sSub>
                          <m:sSubPr>
                            <m:ctrlPr>
                              <a:rPr lang="en-US" altLang="zh-CN" sz="2400" b="1" i="1" smtClean="0">
                                <a:latin typeface="Cambria Math" panose="02040503050406030204" pitchFamily="18" charset="0"/>
                              </a:rPr>
                            </m:ctrlPr>
                          </m:sSubPr>
                          <m:e>
                            <m:r>
                              <a:rPr lang="en-US" altLang="zh-CN" sz="2400" b="1" i="1" smtClean="0">
                                <a:latin typeface="Cambria Math" panose="02040503050406030204" pitchFamily="18" charset="0"/>
                              </a:rPr>
                              <m:t>𝒙</m:t>
                            </m:r>
                          </m:e>
                          <m:sub>
                            <m:r>
                              <a:rPr lang="en-US" altLang="zh-CN" sz="2400" b="1" i="1" smtClean="0">
                                <a:latin typeface="Cambria Math" panose="02040503050406030204" pitchFamily="18" charset="0"/>
                              </a:rPr>
                              <m:t>𝒊</m:t>
                            </m:r>
                          </m:sub>
                        </m:sSub>
                      </m:e>
                    </m:acc>
                  </m:oMath>
                </a14:m>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及连接它们的边；</a:t>
                </a:r>
                <a:endParaRPr lang="en-US" altLang="zh-CN" sz="2400" b="1" dirty="0" smtClean="0">
                  <a:latin typeface="Times New Roman" panose="02020603050405020304" pitchFamily="18" charset="0"/>
                  <a:cs typeface="Times New Roman" panose="02020603050405020304" pitchFamily="18" charset="0"/>
                </a:endParaRPr>
              </a:p>
              <a:p>
                <a:pPr>
                  <a:lnSpc>
                    <a:spcPts val="3400"/>
                  </a:lnSpc>
                  <a:spcBef>
                    <a:spcPts val="600"/>
                  </a:spcBef>
                </a:pPr>
                <a:r>
                  <a:rPr lang="zh-CN" altLang="en-US" sz="2400" b="1" dirty="0">
                    <a:latin typeface="Times New Roman" panose="02020603050405020304" pitchFamily="18" charset="0"/>
                    <a:cs typeface="Times New Roman" panose="02020603050405020304" pitchFamily="18" charset="0"/>
                  </a:rPr>
                  <a:t>简单析取</a:t>
                </a:r>
                <a:r>
                  <a:rPr lang="zh-CN" altLang="en-US" sz="2400" b="1" dirty="0" smtClean="0">
                    <a:latin typeface="Times New Roman" panose="02020603050405020304" pitchFamily="18" charset="0"/>
                    <a:cs typeface="Times New Roman" panose="02020603050405020304" pitchFamily="18" charset="0"/>
                  </a:rPr>
                  <a:t>式构件是三角形</a:t>
                </a:r>
                <a:r>
                  <a:rPr lang="en-US" altLang="zh-CN" sz="2400" b="1" dirty="0" smtClean="0">
                    <a:latin typeface="Times New Roman" panose="02020603050405020304" pitchFamily="18" charset="0"/>
                    <a:cs typeface="Times New Roman" panose="02020603050405020304" pitchFamily="18" charset="0"/>
                  </a:rPr>
                  <a:t>. </a:t>
                </a:r>
                <a:endParaRPr lang="en-US" altLang="zh-CN" sz="2400" b="1" dirty="0" smtClean="0">
                  <a:latin typeface="Times New Roman" panose="02020603050405020304" pitchFamily="18" charset="0"/>
                  <a:cs typeface="Times New Roman" panose="02020603050405020304" pitchFamily="18" charset="0"/>
                </a:endParaRPr>
              </a:p>
              <a:p>
                <a:pPr>
                  <a:lnSpc>
                    <a:spcPts val="3400"/>
                  </a:lnSpc>
                  <a:spcBef>
                    <a:spcPts val="600"/>
                  </a:spcBef>
                </a:pPr>
                <a:r>
                  <a:rPr lang="zh-CN" altLang="en-US" sz="2400" b="1" dirty="0" smtClean="0">
                    <a:latin typeface="Times New Roman" panose="02020603050405020304" pitchFamily="18" charset="0"/>
                    <a:cs typeface="Times New Roman" panose="02020603050405020304" pitchFamily="18" charset="0"/>
                  </a:rPr>
                  <a:t>用这些构件及构件的连接购成 </a:t>
                </a:r>
                <a:r>
                  <a:rPr lang="en-US" altLang="zh-CN" sz="2400" b="1" i="1" dirty="0" smtClean="0">
                    <a:latin typeface="Times New Roman" panose="02020603050405020304" pitchFamily="18" charset="0"/>
                    <a:cs typeface="Times New Roman" panose="02020603050405020304" pitchFamily="18" charset="0"/>
                  </a:rPr>
                  <a:t>G</a:t>
                </a:r>
                <a:r>
                  <a:rPr lang="zh-CN" altLang="en-US" sz="2400" b="1" dirty="0" smtClean="0">
                    <a:latin typeface="Times New Roman" panose="02020603050405020304" pitchFamily="18" charset="0"/>
                    <a:cs typeface="Times New Roman" panose="02020603050405020304" pitchFamily="18" charset="0"/>
                  </a:rPr>
                  <a:t>，每个构件各有其功能，通过这种方式达到用 </a:t>
                </a:r>
                <a:r>
                  <a:rPr lang="en-US" altLang="zh-CN" sz="2400" b="1" dirty="0" smtClean="0">
                    <a:latin typeface="Times New Roman" panose="02020603050405020304" pitchFamily="18" charset="0"/>
                    <a:cs typeface="Times New Roman" panose="02020603050405020304" pitchFamily="18" charset="0"/>
                  </a:rPr>
                  <a:t>VC </a:t>
                </a:r>
                <a:r>
                  <a:rPr lang="zh-CN" altLang="en-US" sz="2400" b="1" dirty="0" smtClean="0">
                    <a:latin typeface="Times New Roman" panose="02020603050405020304" pitchFamily="18" charset="0"/>
                    <a:cs typeface="Times New Roman" panose="02020603050405020304" pitchFamily="18" charset="0"/>
                  </a:rPr>
                  <a:t>的实例表达 </a:t>
                </a:r>
                <a:r>
                  <a:rPr lang="en-US" altLang="zh-CN" sz="2400" b="1" dirty="0" smtClean="0">
                    <a:latin typeface="Times New Roman" panose="02020603050405020304" pitchFamily="18" charset="0"/>
                    <a:cs typeface="Times New Roman" panose="02020603050405020304" pitchFamily="18" charset="0"/>
                  </a:rPr>
                  <a:t>3SAT </a:t>
                </a:r>
                <a:r>
                  <a:rPr lang="zh-CN" altLang="en-US" sz="2400" b="1" dirty="0" smtClean="0">
                    <a:latin typeface="Times New Roman" panose="02020603050405020304" pitchFamily="18" charset="0"/>
                    <a:cs typeface="Times New Roman" panose="02020603050405020304" pitchFamily="18" charset="0"/>
                  </a:rPr>
                  <a:t>实例的目的</a:t>
                </a:r>
                <a:r>
                  <a:rPr lang="en-US" altLang="zh-CN" sz="2400" b="1" dirty="0" smtClean="0">
                    <a:latin typeface="Times New Roman" panose="02020603050405020304" pitchFamily="18" charset="0"/>
                    <a:cs typeface="Times New Roman" panose="02020603050405020304" pitchFamily="18" charset="0"/>
                  </a:rPr>
                  <a:t>. </a:t>
                </a:r>
                <a:endParaRPr lang="zh-CN" altLang="en-US" sz="2400" b="1" dirty="0">
                  <a:latin typeface="Times New Roman" panose="02020603050405020304" pitchFamily="18" charset="0"/>
                  <a:cs typeface="Times New Roman" panose="02020603050405020304" pitchFamily="18" charset="0"/>
                </a:endParaRPr>
              </a:p>
            </p:txBody>
          </p:sp>
        </mc:Choice>
        <mc:Fallback>
          <p:sp>
            <p:nvSpPr>
              <p:cNvPr id="2" name="文本框 1"/>
              <p:cNvSpPr txBox="1">
                <a:spLocks noRot="1" noChangeAspect="1" noMove="1" noResize="1" noEditPoints="1" noAdjustHandles="1" noChangeArrowheads="1" noChangeShapeType="1" noTextEdit="1"/>
              </p:cNvSpPr>
              <p:nvPr/>
            </p:nvSpPr>
            <p:spPr>
              <a:xfrm>
                <a:off x="824998" y="1556792"/>
                <a:ext cx="7494004" cy="3965188"/>
              </a:xfrm>
              <a:prstGeom prst="rect">
                <a:avLst/>
              </a:prstGeom>
              <a:blipFill rotWithShape="1">
                <a:blip r:embed="rId1"/>
                <a:stretch>
                  <a:fillRect l="-2" t="-10" r="7" b="1"/>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p:cNvSpPr>
            <a:spLocks noGrp="1"/>
          </p:cNvSpPr>
          <p:nvPr>
            <p:ph type="title"/>
          </p:nvPr>
        </p:nvSpPr>
        <p:spPr>
          <a:xfrm>
            <a:off x="468313" y="87313"/>
            <a:ext cx="8229600" cy="998537"/>
          </a:xfrm>
        </p:spPr>
        <p:txBody>
          <a:bodyPr/>
          <a:lstStyle/>
          <a:p>
            <a:r>
              <a:rPr lang="en-US" altLang="zh-CN" sz="4000" b="1" smtClean="0">
                <a:solidFill>
                  <a:srgbClr val="C00000"/>
                </a:solidFill>
                <a:latin typeface="Times New Roman" panose="02020603050405020304" pitchFamily="18" charset="0"/>
                <a:cs typeface="Times New Roman" panose="02020603050405020304" pitchFamily="18" charset="0"/>
              </a:rPr>
              <a:t>9.3.3 </a:t>
            </a:r>
            <a:r>
              <a:rPr lang="zh-CN" altLang="en-US" sz="4000" b="1" smtClean="0">
                <a:solidFill>
                  <a:srgbClr val="C00000"/>
                </a:solidFill>
                <a:latin typeface="Times New Roman" panose="02020603050405020304" pitchFamily="18" charset="0"/>
                <a:cs typeface="Times New Roman" panose="02020603050405020304" pitchFamily="18" charset="0"/>
              </a:rPr>
              <a:t>哈密顿回路与货郎问题</a:t>
            </a:r>
            <a:endParaRPr lang="zh-CN" altLang="en-US" sz="4000" smtClean="0">
              <a:solidFill>
                <a:srgbClr val="C00000"/>
              </a:solidFill>
              <a:latin typeface="Times New Roman" panose="02020603050405020304" pitchFamily="18" charset="0"/>
              <a:cs typeface="Times New Roman" panose="02020603050405020304" pitchFamily="18" charset="0"/>
            </a:endParaRPr>
          </a:p>
        </p:txBody>
      </p:sp>
      <p:sp>
        <p:nvSpPr>
          <p:cNvPr id="39939" name="内容占位符 2"/>
          <p:cNvSpPr>
            <a:spLocks noGrp="1"/>
          </p:cNvSpPr>
          <p:nvPr>
            <p:ph idx="1"/>
          </p:nvPr>
        </p:nvSpPr>
        <p:spPr>
          <a:xfrm>
            <a:off x="611188" y="1196975"/>
            <a:ext cx="8229600" cy="5175250"/>
          </a:xfrm>
        </p:spPr>
        <p:txBody>
          <a:bodyPr/>
          <a:lstStyle/>
          <a:p>
            <a:pPr>
              <a:buFont typeface="Arial" panose="020B0604020202020204" pitchFamily="34" charset="0"/>
              <a:buNone/>
            </a:pPr>
            <a:r>
              <a:rPr lang="zh-CN" altLang="en-US" sz="2400" b="1" dirty="0" smtClean="0">
                <a:solidFill>
                  <a:srgbClr val="C00000"/>
                </a:solidFill>
                <a:latin typeface="Times New Roman" panose="02020603050405020304" pitchFamily="18" charset="0"/>
                <a:cs typeface="Times New Roman" panose="02020603050405020304" pitchFamily="18" charset="0"/>
              </a:rPr>
              <a:t>有向哈密顿回路</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任给有向图 </a:t>
            </a:r>
            <a:r>
              <a:rPr lang="en-US" altLang="zh-CN" sz="2400" b="1" i="1" dirty="0" smtClean="0">
                <a:latin typeface="Times New Roman" panose="02020603050405020304" pitchFamily="18" charset="0"/>
                <a:cs typeface="Times New Roman" panose="02020603050405020304" pitchFamily="18" charset="0"/>
              </a:rPr>
              <a:t>D</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问</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D</a:t>
            </a:r>
            <a:r>
              <a:rPr lang="zh-CN" altLang="en-US" sz="2400" b="1" dirty="0" smtClean="0">
                <a:latin typeface="Times New Roman" panose="02020603050405020304" pitchFamily="18" charset="0"/>
                <a:cs typeface="Times New Roman" panose="02020603050405020304" pitchFamily="18" charset="0"/>
              </a:rPr>
              <a:t>中有哈密顿回路吗</a:t>
            </a:r>
            <a:r>
              <a:rPr lang="en-US" altLang="zh-CN" sz="2400" b="1" dirty="0" smtClean="0">
                <a:latin typeface="Times New Roman" panose="02020603050405020304" pitchFamily="18" charset="0"/>
                <a:cs typeface="Times New Roman" panose="02020603050405020304" pitchFamily="18" charset="0"/>
              </a:rPr>
              <a:t>?</a:t>
            </a:r>
            <a:endParaRPr lang="zh-CN" altLang="en-US" sz="2400" dirty="0" smtClean="0">
              <a:latin typeface="Times New Roman" panose="02020603050405020304" pitchFamily="18" charset="0"/>
              <a:cs typeface="Times New Roman" panose="02020603050405020304" pitchFamily="18" charset="0"/>
            </a:endParaRPr>
          </a:p>
          <a:p>
            <a:pPr>
              <a:spcBef>
                <a:spcPts val="1800"/>
              </a:spcBef>
              <a:buFont typeface="Arial" panose="020B0604020202020204" pitchFamily="34" charset="0"/>
              <a:buNone/>
            </a:pPr>
            <a:r>
              <a:rPr lang="zh-CN" altLang="en-US" sz="2400" b="1" dirty="0" smtClean="0">
                <a:solidFill>
                  <a:srgbClr val="C00000"/>
                </a:solidFill>
                <a:latin typeface="Times New Roman" panose="02020603050405020304" pitchFamily="18" charset="0"/>
                <a:cs typeface="Times New Roman" panose="02020603050405020304" pitchFamily="18" charset="0"/>
              </a:rPr>
              <a:t>定理 </a:t>
            </a:r>
            <a:r>
              <a:rPr lang="en-US" altLang="zh-CN" sz="2400" b="1" dirty="0" smtClean="0">
                <a:solidFill>
                  <a:srgbClr val="C00000"/>
                </a:solidFill>
                <a:latin typeface="Times New Roman" panose="02020603050405020304" pitchFamily="18" charset="0"/>
                <a:cs typeface="Times New Roman" panose="02020603050405020304" pitchFamily="18" charset="0"/>
              </a:rPr>
              <a:t>9.12</a:t>
            </a:r>
            <a:r>
              <a:rPr lang="en-US" altLang="zh-CN" sz="2400"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有向 </a:t>
            </a:r>
            <a:r>
              <a:rPr lang="en-US" altLang="zh-CN" sz="2400" b="1" dirty="0" smtClean="0">
                <a:latin typeface="Times New Roman" panose="02020603050405020304" pitchFamily="18" charset="0"/>
                <a:cs typeface="Times New Roman" panose="02020603050405020304" pitchFamily="18" charset="0"/>
              </a:rPr>
              <a:t>HC</a:t>
            </a:r>
            <a:r>
              <a:rPr lang="zh-CN" altLang="en-US" sz="2400" b="1" dirty="0" smtClean="0">
                <a:latin typeface="Times New Roman" panose="02020603050405020304" pitchFamily="18" charset="0"/>
                <a:cs typeface="Times New Roman" panose="02020603050405020304" pitchFamily="18" charset="0"/>
              </a:rPr>
              <a:t>是 </a:t>
            </a:r>
            <a:r>
              <a:rPr lang="en-US" altLang="zh-CN" sz="2400" b="1" dirty="0" smtClean="0">
                <a:latin typeface="Times New Roman" panose="02020603050405020304" pitchFamily="18" charset="0"/>
                <a:cs typeface="Times New Roman" panose="02020603050405020304" pitchFamily="18" charset="0"/>
              </a:rPr>
              <a:t>NP</a:t>
            </a:r>
            <a:r>
              <a:rPr lang="zh-CN" altLang="en-US" sz="2400" b="1" dirty="0" smtClean="0">
                <a:latin typeface="Times New Roman" panose="02020603050405020304" pitchFamily="18" charset="0"/>
                <a:cs typeface="Times New Roman" panose="02020603050405020304" pitchFamily="18" charset="0"/>
              </a:rPr>
              <a:t>完全的</a:t>
            </a:r>
            <a:r>
              <a:rPr lang="en-US" altLang="zh-CN" sz="2400" b="1" dirty="0" smtClean="0">
                <a:latin typeface="Times New Roman" panose="02020603050405020304" pitchFamily="18" charset="0"/>
                <a:cs typeface="Times New Roman" panose="02020603050405020304" pitchFamily="18" charset="0"/>
              </a:rPr>
              <a:t>.</a:t>
            </a:r>
            <a:endParaRPr lang="zh-CN" altLang="en-US" sz="2400" b="1" dirty="0" smtClean="0">
              <a:latin typeface="Times New Roman" panose="02020603050405020304" pitchFamily="18" charset="0"/>
              <a:cs typeface="Times New Roman" panose="02020603050405020304" pitchFamily="18" charset="0"/>
            </a:endParaRPr>
          </a:p>
          <a:p>
            <a:pPr>
              <a:spcBef>
                <a:spcPts val="1200"/>
              </a:spcBef>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证   要证 </a:t>
            </a:r>
            <a:r>
              <a:rPr lang="en-US" altLang="zh-CN" sz="2400" b="1" dirty="0" smtClean="0">
                <a:latin typeface="Times New Roman" panose="02020603050405020304" pitchFamily="18" charset="0"/>
                <a:cs typeface="Times New Roman" panose="02020603050405020304" pitchFamily="18" charset="0"/>
              </a:rPr>
              <a:t>3SAT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p </a:t>
            </a:r>
            <a:r>
              <a:rPr lang="zh-CN" altLang="en-US" sz="2400" b="1" dirty="0" smtClean="0">
                <a:latin typeface="Times New Roman" panose="02020603050405020304" pitchFamily="18" charset="0"/>
                <a:cs typeface="Times New Roman" panose="02020603050405020304" pitchFamily="18" charset="0"/>
              </a:rPr>
              <a:t>有向 </a:t>
            </a:r>
            <a:r>
              <a:rPr lang="en-US" altLang="zh-CN" sz="2400" b="1" dirty="0" smtClean="0">
                <a:latin typeface="Times New Roman" panose="02020603050405020304" pitchFamily="18" charset="0"/>
                <a:cs typeface="Times New Roman" panose="02020603050405020304" pitchFamily="18" charset="0"/>
              </a:rPr>
              <a:t>HC. </a:t>
            </a:r>
            <a:endParaRPr lang="en-US" altLang="zh-CN" sz="2400" b="1" dirty="0"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任给变元 </a:t>
            </a:r>
            <a:r>
              <a:rPr lang="en-US" altLang="zh-CN" sz="2400" b="1" i="1" dirty="0" smtClean="0">
                <a:latin typeface="Times New Roman" panose="02020603050405020304" pitchFamily="18" charset="0"/>
                <a:cs typeface="Times New Roman" panose="02020603050405020304" pitchFamily="18" charset="0"/>
              </a:rPr>
              <a:t>x</a:t>
            </a:r>
            <a:r>
              <a:rPr lang="en-US" altLang="zh-CN" sz="2400" b="1" baseline="-25000"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 x</a:t>
            </a:r>
            <a:r>
              <a:rPr lang="en-US" altLang="zh-CN" sz="2400" b="1" baseline="-25000" dirty="0" smtClean="0">
                <a:latin typeface="Times New Roman" panose="02020603050405020304" pitchFamily="18" charset="0"/>
                <a:cs typeface="Times New Roman" panose="02020603050405020304" pitchFamily="18" charset="0"/>
              </a:rPr>
              <a:t>2</a:t>
            </a:r>
            <a:r>
              <a:rPr lang="en-US" altLang="zh-CN" sz="2400" b="1" dirty="0" smtClean="0">
                <a:latin typeface="Times New Roman" panose="02020603050405020304" pitchFamily="18" charset="0"/>
                <a:cs typeface="Times New Roman" panose="02020603050405020304" pitchFamily="18" charset="0"/>
              </a:rPr>
              <a:t>,</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x</a:t>
            </a:r>
            <a:r>
              <a:rPr lang="en-US" altLang="zh-CN" sz="2400" b="1" i="1" baseline="-25000" dirty="0" err="1" smtClean="0">
                <a:latin typeface="Times New Roman" panose="02020603050405020304" pitchFamily="18" charset="0"/>
                <a:cs typeface="Times New Roman" panose="02020603050405020304" pitchFamily="18" charset="0"/>
              </a:rPr>
              <a:t>n</a:t>
            </a:r>
            <a:r>
              <a:rPr lang="en-US" altLang="zh-CN" sz="2400" b="1" i="1" baseline="-25000"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的 </a:t>
            </a:r>
            <a:r>
              <a:rPr lang="en-US" altLang="zh-CN" sz="2400" b="1" dirty="0" smtClean="0">
                <a:latin typeface="Times New Roman" panose="02020603050405020304" pitchFamily="18" charset="0"/>
                <a:cs typeface="Times New Roman" panose="02020603050405020304" pitchFamily="18" charset="0"/>
              </a:rPr>
              <a:t>3</a:t>
            </a:r>
            <a:r>
              <a:rPr lang="zh-CN" altLang="en-US" sz="2400" b="1" dirty="0" smtClean="0">
                <a:latin typeface="Times New Roman" panose="02020603050405020304" pitchFamily="18" charset="0"/>
                <a:cs typeface="Times New Roman" panose="02020603050405020304" pitchFamily="18" charset="0"/>
              </a:rPr>
              <a:t>元合取范式 </a:t>
            </a:r>
            <a:r>
              <a:rPr lang="en-US" altLang="zh-CN" sz="2400" b="1" i="1" dirty="0" smtClean="0">
                <a:latin typeface="Times New Roman" panose="02020603050405020304" pitchFamily="18" charset="0"/>
                <a:cs typeface="Times New Roman" panose="02020603050405020304" pitchFamily="18" charset="0"/>
              </a:rPr>
              <a:t>F </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C</a:t>
            </a:r>
            <a:r>
              <a:rPr lang="en-US" altLang="zh-CN" sz="2400" b="1" baseline="-25000"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C</a:t>
            </a:r>
            <a:r>
              <a:rPr lang="en-US" altLang="zh-CN" sz="2400" b="1" baseline="-25000" dirty="0" smtClean="0">
                <a:latin typeface="Times New Roman" panose="02020603050405020304" pitchFamily="18" charset="0"/>
                <a:cs typeface="Times New Roman" panose="02020603050405020304" pitchFamily="18" charset="0"/>
                <a:sym typeface="Symbol" panose="05050102010706020507" pitchFamily="18" charset="2"/>
              </a:rPr>
              <a:t>2</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C</a:t>
            </a:r>
            <a:r>
              <a:rPr lang="en-US" altLang="zh-CN" sz="2400" b="1" i="1" baseline="-25000" dirty="0" smtClean="0">
                <a:latin typeface="Times New Roman" panose="02020603050405020304" pitchFamily="18" charset="0"/>
                <a:cs typeface="Times New Roman" panose="02020603050405020304" pitchFamily="18" charset="0"/>
                <a:sym typeface="Symbol" panose="05050102010706020507" pitchFamily="18" charset="2"/>
              </a:rPr>
              <a:t>m</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其</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中 </a:t>
            </a:r>
            <a:r>
              <a:rPr lang="en-US" altLang="zh-CN" sz="2400" b="1" i="1" dirty="0" err="1" smtClean="0">
                <a:latin typeface="Times New Roman" panose="02020603050405020304" pitchFamily="18" charset="0"/>
                <a:cs typeface="Times New Roman" panose="02020603050405020304" pitchFamily="18" charset="0"/>
              </a:rPr>
              <a:t>C</a:t>
            </a:r>
            <a:r>
              <a:rPr lang="en-US" altLang="zh-CN" sz="2400" b="1" i="1" baseline="-25000" dirty="0" err="1" smtClean="0">
                <a:latin typeface="Times New Roman" panose="02020603050405020304" pitchFamily="18" charset="0"/>
                <a:cs typeface="Times New Roman" panose="02020603050405020304" pitchFamily="18" charset="0"/>
              </a:rPr>
              <a:t>j</a:t>
            </a:r>
            <a:r>
              <a:rPr lang="en-US" altLang="zh-CN" sz="2400" b="1" i="1" baseline="-25000"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z</a:t>
            </a:r>
            <a:r>
              <a:rPr lang="en-US" altLang="zh-CN" sz="2400" b="1" i="1" baseline="-25000" dirty="0" smtClean="0">
                <a:latin typeface="Times New Roman" panose="02020603050405020304" pitchFamily="18" charset="0"/>
                <a:cs typeface="Times New Roman" panose="02020603050405020304" pitchFamily="18" charset="0"/>
              </a:rPr>
              <a:t>j</a:t>
            </a:r>
            <a:r>
              <a:rPr lang="en-US" altLang="zh-CN" sz="2400" b="1" baseline="-25000"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 z</a:t>
            </a:r>
            <a:r>
              <a:rPr lang="en-US" altLang="zh-CN" sz="2400" b="1" i="1" baseline="-25000" dirty="0" smtClean="0">
                <a:latin typeface="Times New Roman" panose="02020603050405020304" pitchFamily="18" charset="0"/>
                <a:cs typeface="Times New Roman" panose="02020603050405020304" pitchFamily="18" charset="0"/>
              </a:rPr>
              <a:t>j</a:t>
            </a:r>
            <a:r>
              <a:rPr lang="en-US" altLang="zh-CN" sz="2400" b="1" baseline="-25000" dirty="0" smtClean="0">
                <a:latin typeface="Times New Roman" panose="02020603050405020304" pitchFamily="18" charset="0"/>
                <a:cs typeface="Times New Roman" panose="02020603050405020304" pitchFamily="18" charset="0"/>
              </a:rPr>
              <a:t>2</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 z</a:t>
            </a:r>
            <a:r>
              <a:rPr lang="en-US" altLang="zh-CN" sz="2400" b="1" i="1" baseline="-25000" dirty="0" smtClean="0">
                <a:latin typeface="Times New Roman" panose="02020603050405020304" pitchFamily="18" charset="0"/>
                <a:cs typeface="Times New Roman" panose="02020603050405020304" pitchFamily="18" charset="0"/>
              </a:rPr>
              <a:t>j</a:t>
            </a:r>
            <a:r>
              <a:rPr lang="en-US" altLang="zh-CN" sz="2400" b="1" baseline="-25000" dirty="0" smtClean="0">
                <a:latin typeface="Times New Roman" panose="02020603050405020304" pitchFamily="18" charset="0"/>
                <a:cs typeface="Times New Roman" panose="02020603050405020304" pitchFamily="18" charset="0"/>
              </a:rPr>
              <a:t>3</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每个 </a:t>
            </a:r>
            <a:r>
              <a:rPr lang="en-US" altLang="zh-CN" sz="2400" b="1" i="1" dirty="0" err="1" smtClean="0">
                <a:latin typeface="Times New Roman" panose="02020603050405020304" pitchFamily="18" charset="0"/>
                <a:cs typeface="Times New Roman" panose="02020603050405020304" pitchFamily="18" charset="0"/>
              </a:rPr>
              <a:t>z</a:t>
            </a:r>
            <a:r>
              <a:rPr lang="en-US" altLang="zh-CN" sz="2400" b="1" i="1" baseline="-25000" dirty="0" err="1" smtClean="0">
                <a:latin typeface="Times New Roman" panose="02020603050405020304" pitchFamily="18" charset="0"/>
                <a:cs typeface="Times New Roman" panose="02020603050405020304" pitchFamily="18" charset="0"/>
              </a:rPr>
              <a:t>jk</a:t>
            </a:r>
            <a:r>
              <a:rPr lang="en-US" altLang="zh-CN" sz="2400" b="1" i="1" baseline="-25000"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是某个 </a:t>
            </a:r>
            <a:r>
              <a:rPr lang="en-US" altLang="zh-CN" sz="2400" b="1" i="1" dirty="0" smtClean="0">
                <a:latin typeface="Times New Roman" panose="02020603050405020304" pitchFamily="18" charset="0"/>
                <a:cs typeface="Times New Roman" panose="02020603050405020304" pitchFamily="18" charset="0"/>
              </a:rPr>
              <a:t>x</a:t>
            </a:r>
            <a:r>
              <a:rPr lang="en-US" altLang="zh-CN" sz="2400" b="1" i="1" baseline="-25000" dirty="0" smtClean="0">
                <a:latin typeface="Times New Roman" panose="02020603050405020304" pitchFamily="18" charset="0"/>
                <a:cs typeface="Times New Roman" panose="02020603050405020304" pitchFamily="18" charset="0"/>
              </a:rPr>
              <a:t>i </a:t>
            </a:r>
            <a:r>
              <a:rPr lang="zh-CN" altLang="en-US" sz="2400" b="1" dirty="0" smtClean="0">
                <a:latin typeface="Times New Roman" panose="02020603050405020304" pitchFamily="18" charset="0"/>
                <a:cs typeface="Times New Roman" panose="02020603050405020304" pitchFamily="18" charset="0"/>
              </a:rPr>
              <a:t>或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x</a:t>
            </a:r>
            <a:r>
              <a:rPr lang="en-US" altLang="zh-CN" sz="2400" b="1" i="1" baseline="-25000" dirty="0"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endParaRPr lang="en-US" altLang="zh-CN" sz="2400" b="1" dirty="0" smtClean="0">
              <a:latin typeface="Times New Roman" panose="02020603050405020304" pitchFamily="18" charset="0"/>
              <a:cs typeface="Times New Roman" panose="02020603050405020304" pitchFamily="18" charset="0"/>
            </a:endParaRPr>
          </a:p>
          <a:p>
            <a:pPr>
              <a:spcBef>
                <a:spcPts val="600"/>
              </a:spcBef>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采用构件设计法构造有向图</a:t>
            </a:r>
            <a:r>
              <a:rPr lang="en-US" altLang="zh-CN" sz="2400" b="1" i="1" dirty="0" smtClean="0">
                <a:latin typeface="Times New Roman" panose="02020603050405020304" pitchFamily="18" charset="0"/>
                <a:cs typeface="Times New Roman" panose="02020603050405020304" pitchFamily="18" charset="0"/>
              </a:rPr>
              <a:t>D</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表示变元 </a:t>
            </a:r>
            <a:r>
              <a:rPr lang="en-US" altLang="zh-CN" sz="2400" b="1" i="1" dirty="0" smtClean="0">
                <a:latin typeface="Times New Roman" panose="02020603050405020304" pitchFamily="18" charset="0"/>
                <a:cs typeface="Times New Roman" panose="02020603050405020304" pitchFamily="18" charset="0"/>
              </a:rPr>
              <a:t>x</a:t>
            </a:r>
            <a:r>
              <a:rPr lang="en-US" altLang="zh-CN" sz="2400" b="1" i="1" baseline="-25000" dirty="0" smtClean="0">
                <a:latin typeface="Times New Roman" panose="02020603050405020304" pitchFamily="18" charset="0"/>
                <a:cs typeface="Times New Roman" panose="02020603050405020304" pitchFamily="18" charset="0"/>
              </a:rPr>
              <a:t>i </a:t>
            </a:r>
            <a:r>
              <a:rPr lang="zh-CN" altLang="en-US" sz="2400" b="1" dirty="0" smtClean="0">
                <a:latin typeface="Times New Roman" panose="02020603050405020304" pitchFamily="18" charset="0"/>
                <a:cs typeface="Times New Roman" panose="02020603050405020304" pitchFamily="18" charset="0"/>
              </a:rPr>
              <a:t>的构件是一条由</a:t>
            </a:r>
            <a:endParaRPr lang="en-US" altLang="zh-CN" sz="2400" b="1" dirty="0"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一串水平的顶点组成的链 </a:t>
            </a:r>
            <a:r>
              <a:rPr lang="en-US" altLang="zh-CN" sz="2400" b="1" i="1" dirty="0" smtClean="0">
                <a:latin typeface="Times New Roman" panose="02020603050405020304" pitchFamily="18" charset="0"/>
                <a:cs typeface="Times New Roman" panose="02020603050405020304" pitchFamily="18" charset="0"/>
              </a:rPr>
              <a:t>L</a:t>
            </a:r>
            <a:r>
              <a:rPr lang="en-US" altLang="zh-CN" sz="2400" b="1" i="1" baseline="-25000" dirty="0"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相邻的两个顶点之间有一对方</a:t>
            </a:r>
            <a:endParaRPr lang="en-US" altLang="zh-CN" sz="2400" b="1" dirty="0"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向相反的有向边</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只有两种可能的方式通过 </a:t>
            </a:r>
            <a:r>
              <a:rPr lang="en-US" altLang="zh-CN" sz="2400" b="1" i="1" dirty="0" smtClean="0">
                <a:latin typeface="Times New Roman" panose="02020603050405020304" pitchFamily="18" charset="0"/>
                <a:cs typeface="Times New Roman" panose="02020603050405020304" pitchFamily="18" charset="0"/>
              </a:rPr>
              <a:t>L</a:t>
            </a:r>
            <a:r>
              <a:rPr lang="en-US" altLang="zh-CN" sz="2400" b="1" i="1" baseline="-25000" dirty="0" smtClean="0">
                <a:latin typeface="Times New Roman" panose="02020603050405020304" pitchFamily="18" charset="0"/>
                <a:cs typeface="Times New Roman" panose="02020603050405020304" pitchFamily="18" charset="0"/>
              </a:rPr>
              <a:t>i</a:t>
            </a:r>
            <a:r>
              <a:rPr lang="zh-CN" altLang="en-US" sz="2400" b="1" dirty="0" smtClean="0">
                <a:latin typeface="Times New Roman" panose="02020603050405020304" pitchFamily="18" charset="0"/>
                <a:cs typeface="Times New Roman" panose="02020603050405020304" pitchFamily="18" charset="0"/>
              </a:rPr>
              <a:t>上的所有顶点</a:t>
            </a:r>
            <a:endParaRPr lang="en-US" altLang="zh-CN" sz="2400" b="1" dirty="0"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zh-CN" altLang="en-US" sz="2400" b="1" dirty="0" smtClean="0">
                <a:latin typeface="Times New Roman" panose="02020603050405020304" pitchFamily="18" charset="0"/>
                <a:cs typeface="Times New Roman" panose="02020603050405020304" pitchFamily="18" charset="0"/>
              </a:rPr>
              <a:t>从左到右或者从右到左通过 </a:t>
            </a:r>
            <a:r>
              <a:rPr lang="en-US" altLang="zh-CN" sz="2400" b="1" i="1" dirty="0" smtClean="0">
                <a:latin typeface="Times New Roman" panose="02020603050405020304" pitchFamily="18" charset="0"/>
                <a:cs typeface="Times New Roman" panose="02020603050405020304" pitchFamily="18" charset="0"/>
              </a:rPr>
              <a:t>L</a:t>
            </a:r>
            <a:r>
              <a:rPr lang="en-US" altLang="zh-CN" sz="2400" b="1" i="1" baseline="-25000" dirty="0" smtClean="0">
                <a:latin typeface="Times New Roman" panose="02020603050405020304" pitchFamily="18" charset="0"/>
                <a:cs typeface="Times New Roman" panose="02020603050405020304" pitchFamily="18" charset="0"/>
              </a:rPr>
              <a:t>i</a:t>
            </a:r>
            <a:r>
              <a:rPr lang="zh-CN" altLang="en-US" sz="2400" b="1" dirty="0" smtClean="0">
                <a:latin typeface="Times New Roman" panose="02020603050405020304" pitchFamily="18" charset="0"/>
                <a:cs typeface="Times New Roman" panose="02020603050405020304" pitchFamily="18" charset="0"/>
              </a:rPr>
              <a:t>上的所有顶点</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这恰好对</a:t>
            </a:r>
            <a:endParaRPr lang="en-US" altLang="zh-CN" sz="2400" b="1" dirty="0"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应 </a:t>
            </a:r>
            <a:r>
              <a:rPr lang="en-US" altLang="zh-CN" sz="2400" b="1" i="1" dirty="0" smtClean="0">
                <a:latin typeface="Times New Roman" panose="02020603050405020304" pitchFamily="18" charset="0"/>
                <a:cs typeface="Times New Roman" panose="02020603050405020304" pitchFamily="18" charset="0"/>
              </a:rPr>
              <a:t>x</a:t>
            </a:r>
            <a:r>
              <a:rPr lang="en-US" altLang="zh-CN" sz="2400" b="1" i="1" baseline="-25000" dirty="0" smtClean="0">
                <a:latin typeface="Times New Roman" panose="02020603050405020304" pitchFamily="18" charset="0"/>
                <a:cs typeface="Times New Roman" panose="02020603050405020304" pitchFamily="18" charset="0"/>
              </a:rPr>
              <a:t>i </a:t>
            </a:r>
            <a:r>
              <a:rPr lang="zh-CN" altLang="en-US" sz="2400" b="1" dirty="0" smtClean="0">
                <a:latin typeface="Times New Roman" panose="02020603050405020304" pitchFamily="18" charset="0"/>
                <a:cs typeface="Times New Roman" panose="02020603050405020304" pitchFamily="18" charset="0"/>
              </a:rPr>
              <a:t>的值为 </a:t>
            </a:r>
            <a:r>
              <a:rPr lang="en-US" altLang="zh-CN" sz="2400" b="1" dirty="0" smtClean="0">
                <a:latin typeface="Times New Roman" panose="02020603050405020304" pitchFamily="18" charset="0"/>
                <a:cs typeface="Times New Roman" panose="02020603050405020304" pitchFamily="18" charset="0"/>
              </a:rPr>
              <a:t>1 </a:t>
            </a:r>
            <a:r>
              <a:rPr lang="zh-CN" altLang="en-US" sz="2400" b="1" dirty="0" smtClean="0">
                <a:latin typeface="Times New Roman" panose="02020603050405020304" pitchFamily="18" charset="0"/>
                <a:cs typeface="Times New Roman" panose="02020603050405020304" pitchFamily="18" charset="0"/>
              </a:rPr>
              <a:t>或者为 </a:t>
            </a:r>
            <a:r>
              <a:rPr lang="en-US" altLang="zh-CN" sz="2400" b="1" dirty="0" smtClean="0">
                <a:latin typeface="Times New Roman" panose="02020603050405020304" pitchFamily="18" charset="0"/>
                <a:cs typeface="Times New Roman" panose="02020603050405020304" pitchFamily="18" charset="0"/>
              </a:rPr>
              <a:t>0. </a:t>
            </a:r>
            <a:r>
              <a:rPr lang="zh-CN" altLang="en-US" sz="2400" b="1" dirty="0" smtClean="0">
                <a:latin typeface="Times New Roman" panose="02020603050405020304" pitchFamily="18" charset="0"/>
                <a:cs typeface="Times New Roman" panose="02020603050405020304" pitchFamily="18" charset="0"/>
              </a:rPr>
              <a:t>表示简单析取式 </a:t>
            </a:r>
            <a:r>
              <a:rPr lang="en-US" altLang="zh-CN" sz="2400" b="1" i="1" dirty="0" err="1" smtClean="0">
                <a:latin typeface="Times New Roman" panose="02020603050405020304" pitchFamily="18" charset="0"/>
                <a:cs typeface="Times New Roman" panose="02020603050405020304" pitchFamily="18" charset="0"/>
              </a:rPr>
              <a:t>C</a:t>
            </a:r>
            <a:r>
              <a:rPr lang="en-US" altLang="zh-CN" sz="2400" b="1" i="1" baseline="-25000" dirty="0" err="1" smtClean="0">
                <a:latin typeface="Times New Roman" panose="02020603050405020304" pitchFamily="18" charset="0"/>
                <a:cs typeface="Times New Roman" panose="02020603050405020304" pitchFamily="18" charset="0"/>
              </a:rPr>
              <a:t>j</a:t>
            </a:r>
            <a:r>
              <a:rPr lang="en-US" altLang="zh-CN" sz="2400" b="1" i="1" baseline="-25000"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的构件是一个顶</a:t>
            </a:r>
            <a:endParaRPr lang="en-US" altLang="zh-CN" sz="2400" b="1" dirty="0"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点</a:t>
            </a:r>
            <a:r>
              <a:rPr lang="en-US" altLang="zh-CN" sz="2400" b="1" i="1" dirty="0" err="1" smtClean="0">
                <a:latin typeface="Times New Roman" panose="02020603050405020304" pitchFamily="18" charset="0"/>
                <a:cs typeface="Times New Roman" panose="02020603050405020304" pitchFamily="18" charset="0"/>
              </a:rPr>
              <a:t>c</a:t>
            </a:r>
            <a:r>
              <a:rPr lang="en-US" altLang="zh-CN" sz="2400" b="1" i="1" baseline="-25000" dirty="0" err="1"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添加 </a:t>
            </a:r>
            <a:r>
              <a:rPr lang="en-US" altLang="zh-CN" sz="2400" b="1" i="1" dirty="0" smtClean="0">
                <a:latin typeface="Times New Roman" panose="02020603050405020304" pitchFamily="18" charset="0"/>
                <a:cs typeface="Times New Roman" panose="02020603050405020304" pitchFamily="18" charset="0"/>
              </a:rPr>
              <a:t>s</a:t>
            </a:r>
            <a:r>
              <a:rPr lang="en-US" altLang="zh-CN" sz="2400" b="1" baseline="-25000" dirty="0" smtClean="0">
                <a:latin typeface="Times New Roman" panose="02020603050405020304" pitchFamily="18" charset="0"/>
                <a:cs typeface="Times New Roman" panose="02020603050405020304" pitchFamily="18" charset="0"/>
              </a:rPr>
              <a:t>0</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 s</a:t>
            </a:r>
            <a:r>
              <a:rPr lang="en-US" altLang="zh-CN" sz="2400" b="1" baseline="-25000"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rPr>
              <a:t>,</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s</a:t>
            </a:r>
            <a:r>
              <a:rPr lang="en-US" altLang="zh-CN" sz="2400" b="1" i="1" baseline="-25000" dirty="0" err="1" smtClean="0">
                <a:latin typeface="Times New Roman" panose="02020603050405020304" pitchFamily="18" charset="0"/>
                <a:cs typeface="Times New Roman" panose="02020603050405020304" pitchFamily="18" charset="0"/>
              </a:rPr>
              <a:t>n</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并通过它们把 </a:t>
            </a:r>
            <a:r>
              <a:rPr lang="en-US" altLang="zh-CN" sz="2400" b="1" i="1" dirty="0" smtClean="0">
                <a:latin typeface="Times New Roman" panose="02020603050405020304" pitchFamily="18" charset="0"/>
                <a:cs typeface="Times New Roman" panose="02020603050405020304" pitchFamily="18" charset="0"/>
              </a:rPr>
              <a:t>L</a:t>
            </a:r>
            <a:r>
              <a:rPr lang="en-US" altLang="zh-CN" sz="2400" b="1" baseline="-25000"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 L</a:t>
            </a:r>
            <a:r>
              <a:rPr lang="en-US" altLang="zh-CN" sz="2400" b="1" baseline="-25000" dirty="0" smtClean="0">
                <a:latin typeface="Times New Roman" panose="02020603050405020304" pitchFamily="18" charset="0"/>
                <a:cs typeface="Times New Roman" panose="02020603050405020304" pitchFamily="18" charset="0"/>
              </a:rPr>
              <a:t>2</a:t>
            </a:r>
            <a:r>
              <a:rPr lang="en-US" altLang="zh-CN" sz="2400" b="1" dirty="0" smtClean="0">
                <a:latin typeface="Times New Roman" panose="02020603050405020304" pitchFamily="18" charset="0"/>
                <a:cs typeface="Times New Roman" panose="02020603050405020304" pitchFamily="18" charset="0"/>
              </a:rPr>
              <a:t>,</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 L</a:t>
            </a:r>
            <a:r>
              <a:rPr lang="en-US" altLang="zh-CN" sz="2400" b="1" i="1" baseline="-25000" dirty="0" smtClean="0">
                <a:latin typeface="Times New Roman" panose="02020603050405020304" pitchFamily="18" charset="0"/>
                <a:cs typeface="Times New Roman" panose="02020603050405020304" pitchFamily="18" charset="0"/>
              </a:rPr>
              <a:t>n</a:t>
            </a:r>
            <a:r>
              <a:rPr lang="zh-CN" altLang="en-US" sz="2400" b="1" dirty="0" smtClean="0">
                <a:latin typeface="Times New Roman" panose="02020603050405020304" pitchFamily="18" charset="0"/>
                <a:cs typeface="Times New Roman" panose="02020603050405020304" pitchFamily="18" charset="0"/>
              </a:rPr>
              <a:t>连接起来</a:t>
            </a:r>
            <a:r>
              <a:rPr lang="en-US" altLang="zh-CN" sz="2400" b="1" dirty="0" smtClean="0">
                <a:latin typeface="Times New Roman" panose="02020603050405020304" pitchFamily="18" charset="0"/>
                <a:cs typeface="Times New Roman" panose="02020603050405020304" pitchFamily="18" charset="0"/>
              </a:rPr>
              <a:t>.</a:t>
            </a:r>
            <a:endParaRPr lang="zh-CN" altLang="en-US" sz="2400" b="1" dirty="0"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4" descr="图7"/>
          <p:cNvPicPr>
            <a:picLocks noChangeAspect="1" noChangeArrowheads="1"/>
          </p:cNvPicPr>
          <p:nvPr/>
        </p:nvPicPr>
        <p:blipFill>
          <a:blip r:embed="rId1">
            <a:extLst>
              <a:ext uri="{28A0092B-C50C-407E-A947-70E740481C1C}">
                <a14:useLocalDpi xmlns:a14="http://schemas.microsoft.com/office/drawing/2010/main" val="0"/>
              </a:ext>
            </a:extLst>
          </a:blip>
          <a:srcRect r="951" b="5099"/>
          <a:stretch>
            <a:fillRect/>
          </a:stretch>
        </p:blipFill>
        <p:spPr bwMode="auto">
          <a:xfrm>
            <a:off x="971600" y="619844"/>
            <a:ext cx="6176962" cy="590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7740352" y="1700808"/>
            <a:ext cx="1152128" cy="3170099"/>
          </a:xfrm>
          <a:prstGeom prst="rect">
            <a:avLst/>
          </a:prstGeom>
          <a:noFill/>
        </p:spPr>
        <p:txBody>
          <a:bodyPr wrap="square" rtlCol="0">
            <a:spAutoFit/>
          </a:bodyPr>
          <a:lstStyle/>
          <a:p>
            <a:r>
              <a:rPr lang="en-US" altLang="zh-CN" sz="4000" i="1" dirty="0" smtClean="0">
                <a:solidFill>
                  <a:srgbClr val="C00000"/>
                </a:solidFill>
                <a:latin typeface="Times New Roman" panose="02020603050405020304" pitchFamily="18" charset="0"/>
                <a:cs typeface="Times New Roman" panose="02020603050405020304" pitchFamily="18" charset="0"/>
              </a:rPr>
              <a:t>D</a:t>
            </a:r>
            <a:endParaRPr lang="en-US" altLang="zh-CN" sz="4000" i="1" dirty="0" smtClean="0">
              <a:solidFill>
                <a:srgbClr val="C00000"/>
              </a:solidFill>
              <a:latin typeface="Times New Roman" panose="02020603050405020304" pitchFamily="18" charset="0"/>
              <a:cs typeface="Times New Roman" panose="02020603050405020304" pitchFamily="18" charset="0"/>
            </a:endParaRPr>
          </a:p>
          <a:p>
            <a:r>
              <a:rPr lang="zh-CN" altLang="en-US" sz="4000" b="1" dirty="0" smtClean="0">
                <a:solidFill>
                  <a:srgbClr val="C00000"/>
                </a:solidFill>
              </a:rPr>
              <a:t>中</a:t>
            </a:r>
            <a:endParaRPr lang="en-US" altLang="zh-CN" sz="4000" b="1" dirty="0" smtClean="0">
              <a:solidFill>
                <a:srgbClr val="C00000"/>
              </a:solidFill>
            </a:endParaRPr>
          </a:p>
          <a:p>
            <a:r>
              <a:rPr lang="zh-CN" altLang="en-US" sz="4000" b="1" dirty="0" smtClean="0">
                <a:solidFill>
                  <a:srgbClr val="C00000"/>
                </a:solidFill>
              </a:rPr>
              <a:t>的</a:t>
            </a:r>
            <a:endParaRPr lang="en-US" altLang="zh-CN" sz="4000" b="1" dirty="0" smtClean="0">
              <a:solidFill>
                <a:srgbClr val="C00000"/>
              </a:solidFill>
            </a:endParaRPr>
          </a:p>
          <a:p>
            <a:r>
              <a:rPr lang="zh-CN" altLang="en-US" sz="4000" b="1" dirty="0" smtClean="0">
                <a:solidFill>
                  <a:srgbClr val="C00000"/>
                </a:solidFill>
              </a:rPr>
              <a:t>构件</a:t>
            </a:r>
            <a:endParaRPr lang="zh-CN" altLang="en-US" sz="4000" b="1" dirty="0">
              <a:solidFill>
                <a:srgbClr val="C00000"/>
              </a:solidFill>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p:cNvSpPr>
            <a:spLocks noGrp="1"/>
          </p:cNvSpPr>
          <p:nvPr>
            <p:ph type="title"/>
          </p:nvPr>
        </p:nvSpPr>
        <p:spPr>
          <a:xfrm>
            <a:off x="457200" y="274638"/>
            <a:ext cx="8229600" cy="777875"/>
          </a:xfrm>
        </p:spPr>
        <p:txBody>
          <a:bodyPr/>
          <a:lstStyle/>
          <a:p>
            <a:r>
              <a:rPr lang="zh-CN" altLang="en-US" sz="4000" b="1" smtClean="0">
                <a:solidFill>
                  <a:srgbClr val="C00000"/>
                </a:solidFill>
                <a:latin typeface="Times New Roman" panose="02020603050405020304" pitchFamily="18" charset="0"/>
                <a:cs typeface="Times New Roman" panose="02020603050405020304" pitchFamily="18" charset="0"/>
              </a:rPr>
              <a:t>证明</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pic>
        <p:nvPicPr>
          <p:cNvPr id="41987" name="Picture 6" descr="图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03350" y="2924175"/>
            <a:ext cx="6904038" cy="334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8" name="TextBox 6"/>
          <p:cNvSpPr txBox="1">
            <a:spLocks noChangeArrowheads="1"/>
          </p:cNvSpPr>
          <p:nvPr/>
        </p:nvSpPr>
        <p:spPr bwMode="auto">
          <a:xfrm>
            <a:off x="446088" y="1052513"/>
            <a:ext cx="8207375" cy="2109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ts val="3200"/>
              </a:lnSpc>
              <a:spcBef>
                <a:spcPct val="0"/>
              </a:spcBef>
              <a:buFontTx/>
              <a:buNone/>
            </a:pPr>
            <a:r>
              <a:rPr lang="zh-CN" altLang="en-US" sz="2400" b="1">
                <a:latin typeface="Times New Roman" panose="02020603050405020304" pitchFamily="18" charset="0"/>
                <a:cs typeface="Times New Roman" panose="02020603050405020304" pitchFamily="18" charset="0"/>
              </a:rPr>
              <a:t>关键是两种构件之间的连接</a:t>
            </a:r>
            <a:r>
              <a:rPr lang="en-US" altLang="zh-CN" sz="2400" b="1">
                <a:latin typeface="Times New Roman" panose="02020603050405020304" pitchFamily="18" charset="0"/>
                <a:cs typeface="Times New Roman" panose="02020603050405020304" pitchFamily="18" charset="0"/>
              </a:rPr>
              <a:t>: </a:t>
            </a:r>
            <a:r>
              <a:rPr lang="zh-CN" altLang="en-US" sz="2400" b="1">
                <a:latin typeface="Times New Roman" panose="02020603050405020304" pitchFamily="18" charset="0"/>
                <a:cs typeface="Times New Roman" panose="02020603050405020304" pitchFamily="18" charset="0"/>
              </a:rPr>
              <a:t>链 </a:t>
            </a:r>
            <a:r>
              <a:rPr lang="en-US" altLang="zh-CN" sz="2400" b="1" i="1">
                <a:latin typeface="Times New Roman" panose="02020603050405020304" pitchFamily="18" charset="0"/>
                <a:cs typeface="Times New Roman" panose="02020603050405020304" pitchFamily="18" charset="0"/>
              </a:rPr>
              <a:t>L</a:t>
            </a:r>
            <a:r>
              <a:rPr lang="en-US" altLang="zh-CN" sz="2400" b="1" i="1" baseline="-25000">
                <a:latin typeface="Times New Roman" panose="02020603050405020304" pitchFamily="18" charset="0"/>
                <a:cs typeface="Times New Roman" panose="02020603050405020304" pitchFamily="18" charset="0"/>
              </a:rPr>
              <a:t>i </a:t>
            </a:r>
            <a:r>
              <a:rPr lang="zh-CN" altLang="en-US" sz="2400" b="1">
                <a:latin typeface="Times New Roman" panose="02020603050405020304" pitchFamily="18" charset="0"/>
                <a:cs typeface="Times New Roman" panose="02020603050405020304" pitchFamily="18" charset="0"/>
              </a:rPr>
              <a:t>有</a:t>
            </a:r>
            <a:r>
              <a:rPr lang="en-US" altLang="zh-CN" sz="2400" b="1">
                <a:latin typeface="Times New Roman" panose="02020603050405020304" pitchFamily="18" charset="0"/>
                <a:cs typeface="Times New Roman" panose="02020603050405020304" pitchFamily="18" charset="0"/>
              </a:rPr>
              <a:t>3</a:t>
            </a:r>
            <a:r>
              <a:rPr lang="en-US" altLang="zh-CN" sz="2400" b="1" i="1">
                <a:latin typeface="Times New Roman" panose="02020603050405020304" pitchFamily="18" charset="0"/>
                <a:cs typeface="Times New Roman" panose="02020603050405020304" pitchFamily="18" charset="0"/>
              </a:rPr>
              <a:t>m</a:t>
            </a:r>
            <a:r>
              <a:rPr lang="en-US" altLang="zh-CN" sz="2400" b="1">
                <a:latin typeface="Times New Roman" panose="02020603050405020304" pitchFamily="18" charset="0"/>
                <a:cs typeface="Times New Roman" panose="02020603050405020304" pitchFamily="18" charset="0"/>
              </a:rPr>
              <a:t>+1</a:t>
            </a:r>
            <a:r>
              <a:rPr lang="zh-CN" altLang="en-US" sz="2400" b="1">
                <a:latin typeface="Times New Roman" panose="02020603050405020304" pitchFamily="18" charset="0"/>
                <a:cs typeface="Times New Roman" panose="02020603050405020304" pitchFamily="18" charset="0"/>
              </a:rPr>
              <a:t>的顶点</a:t>
            </a:r>
            <a:r>
              <a:rPr lang="en-US" altLang="zh-CN" sz="2400" b="1">
                <a:latin typeface="Times New Roman" panose="02020603050405020304" pitchFamily="18" charset="0"/>
                <a:cs typeface="Times New Roman" panose="02020603050405020304" pitchFamily="18" charset="0"/>
              </a:rPr>
              <a:t>, </a:t>
            </a:r>
            <a:r>
              <a:rPr lang="zh-CN" altLang="en-US" sz="2400" b="1">
                <a:latin typeface="Times New Roman" panose="02020603050405020304" pitchFamily="18" charset="0"/>
                <a:cs typeface="Times New Roman" panose="02020603050405020304" pitchFamily="18" charset="0"/>
              </a:rPr>
              <a:t>依次为 </a:t>
            </a:r>
            <a:r>
              <a:rPr lang="en-US" altLang="zh-CN" sz="2400" b="1" i="1">
                <a:latin typeface="Times New Roman" panose="02020603050405020304" pitchFamily="18" charset="0"/>
                <a:cs typeface="Times New Roman" panose="02020603050405020304" pitchFamily="18" charset="0"/>
              </a:rPr>
              <a:t>d</a:t>
            </a:r>
            <a:r>
              <a:rPr lang="en-US" altLang="zh-CN" sz="2400" b="1" i="1" baseline="-25000">
                <a:latin typeface="Times New Roman" panose="02020603050405020304" pitchFamily="18" charset="0"/>
                <a:cs typeface="Times New Roman" panose="02020603050405020304" pitchFamily="18" charset="0"/>
              </a:rPr>
              <a:t>i</a:t>
            </a:r>
            <a:r>
              <a:rPr lang="en-US" altLang="zh-CN" sz="2400" b="1" baseline="-25000">
                <a:latin typeface="Times New Roman" panose="02020603050405020304" pitchFamily="18" charset="0"/>
                <a:cs typeface="Times New Roman" panose="02020603050405020304" pitchFamily="18" charset="0"/>
              </a:rPr>
              <a:t>0</a:t>
            </a:r>
            <a:r>
              <a:rPr lang="en-US" altLang="zh-CN" sz="2400" b="1">
                <a:latin typeface="Times New Roman" panose="02020603050405020304" pitchFamily="18" charset="0"/>
                <a:cs typeface="Times New Roman" panose="02020603050405020304" pitchFamily="18" charset="0"/>
              </a:rPr>
              <a:t>, </a:t>
            </a:r>
            <a:r>
              <a:rPr lang="en-US" altLang="zh-CN" sz="2400" b="1" i="1">
                <a:latin typeface="Times New Roman" panose="02020603050405020304" pitchFamily="18" charset="0"/>
                <a:cs typeface="Times New Roman" panose="02020603050405020304" pitchFamily="18" charset="0"/>
              </a:rPr>
              <a:t>a</a:t>
            </a:r>
            <a:r>
              <a:rPr lang="en-US" altLang="zh-CN" sz="2400" b="1" i="1" baseline="-25000">
                <a:latin typeface="Times New Roman" panose="02020603050405020304" pitchFamily="18" charset="0"/>
                <a:cs typeface="Times New Roman" panose="02020603050405020304" pitchFamily="18" charset="0"/>
              </a:rPr>
              <a:t>i</a:t>
            </a:r>
            <a:r>
              <a:rPr lang="en-US" altLang="zh-CN" sz="2400" b="1" baseline="-25000">
                <a:latin typeface="Times New Roman" panose="02020603050405020304" pitchFamily="18" charset="0"/>
                <a:cs typeface="Times New Roman" panose="02020603050405020304" pitchFamily="18" charset="0"/>
              </a:rPr>
              <a:t>1</a:t>
            </a:r>
            <a:r>
              <a:rPr lang="en-US" altLang="zh-CN" sz="2400" b="1">
                <a:latin typeface="Times New Roman" panose="02020603050405020304" pitchFamily="18" charset="0"/>
                <a:cs typeface="Times New Roman" panose="02020603050405020304" pitchFamily="18" charset="0"/>
              </a:rPr>
              <a:t>, </a:t>
            </a:r>
            <a:r>
              <a:rPr lang="en-US" altLang="zh-CN" sz="2400" b="1" i="1">
                <a:latin typeface="Times New Roman" panose="02020603050405020304" pitchFamily="18" charset="0"/>
                <a:cs typeface="Times New Roman" panose="02020603050405020304" pitchFamily="18" charset="0"/>
              </a:rPr>
              <a:t>b</a:t>
            </a:r>
            <a:r>
              <a:rPr lang="en-US" altLang="zh-CN" sz="2400" b="1" i="1" baseline="-25000">
                <a:latin typeface="Times New Roman" panose="02020603050405020304" pitchFamily="18" charset="0"/>
                <a:cs typeface="Times New Roman" panose="02020603050405020304" pitchFamily="18" charset="0"/>
              </a:rPr>
              <a:t>i</a:t>
            </a:r>
            <a:r>
              <a:rPr lang="en-US" altLang="zh-CN" sz="2400" b="1" baseline="-25000">
                <a:latin typeface="Times New Roman" panose="02020603050405020304" pitchFamily="18" charset="0"/>
                <a:cs typeface="Times New Roman" panose="02020603050405020304" pitchFamily="18" charset="0"/>
              </a:rPr>
              <a:t>1</a:t>
            </a:r>
            <a:r>
              <a:rPr lang="en-US" altLang="zh-CN" sz="2400" b="1">
                <a:latin typeface="Times New Roman" panose="02020603050405020304" pitchFamily="18" charset="0"/>
                <a:cs typeface="Times New Roman" panose="02020603050405020304" pitchFamily="18" charset="0"/>
              </a:rPr>
              <a:t>,</a:t>
            </a:r>
            <a:r>
              <a:rPr lang="en-US" altLang="zh-CN" sz="2400" b="1" i="1">
                <a:latin typeface="Times New Roman" panose="02020603050405020304" pitchFamily="18" charset="0"/>
                <a:cs typeface="Times New Roman" panose="02020603050405020304" pitchFamily="18" charset="0"/>
              </a:rPr>
              <a:t> d</a:t>
            </a:r>
            <a:r>
              <a:rPr lang="en-US" altLang="zh-CN" sz="2400" b="1" i="1" baseline="-25000">
                <a:latin typeface="Times New Roman" panose="02020603050405020304" pitchFamily="18" charset="0"/>
                <a:cs typeface="Times New Roman" panose="02020603050405020304" pitchFamily="18" charset="0"/>
              </a:rPr>
              <a:t>i</a:t>
            </a:r>
            <a:r>
              <a:rPr lang="en-US" altLang="zh-CN" sz="2400" b="1" baseline="-25000">
                <a:latin typeface="Times New Roman" panose="02020603050405020304" pitchFamily="18" charset="0"/>
                <a:cs typeface="Times New Roman" panose="02020603050405020304" pitchFamily="18" charset="0"/>
              </a:rPr>
              <a:t>1</a:t>
            </a:r>
            <a:r>
              <a:rPr lang="en-US" altLang="zh-CN" sz="2400" b="1">
                <a:latin typeface="Times New Roman" panose="02020603050405020304" pitchFamily="18" charset="0"/>
                <a:cs typeface="Times New Roman" panose="02020603050405020304" pitchFamily="18" charset="0"/>
              </a:rPr>
              <a:t>,</a:t>
            </a:r>
            <a:r>
              <a:rPr lang="en-US" altLang="zh-CN" sz="2400" b="1" i="1">
                <a:latin typeface="Times New Roman" panose="02020603050405020304" pitchFamily="18" charset="0"/>
                <a:cs typeface="Times New Roman" panose="02020603050405020304" pitchFamily="18" charset="0"/>
              </a:rPr>
              <a:t> a</a:t>
            </a:r>
            <a:r>
              <a:rPr lang="en-US" altLang="zh-CN" sz="2400" b="1" i="1" baseline="-25000">
                <a:latin typeface="Times New Roman" panose="02020603050405020304" pitchFamily="18" charset="0"/>
                <a:cs typeface="Times New Roman" panose="02020603050405020304" pitchFamily="18" charset="0"/>
              </a:rPr>
              <a:t>i</a:t>
            </a:r>
            <a:r>
              <a:rPr lang="en-US" altLang="zh-CN" sz="2400" b="1" baseline="-25000">
                <a:latin typeface="Times New Roman" panose="02020603050405020304" pitchFamily="18" charset="0"/>
                <a:cs typeface="Times New Roman" panose="02020603050405020304" pitchFamily="18" charset="0"/>
              </a:rPr>
              <a:t>2</a:t>
            </a:r>
            <a:r>
              <a:rPr lang="en-US" altLang="zh-CN" sz="2400" b="1">
                <a:latin typeface="Times New Roman" panose="02020603050405020304" pitchFamily="18" charset="0"/>
                <a:cs typeface="Times New Roman" panose="02020603050405020304" pitchFamily="18" charset="0"/>
              </a:rPr>
              <a:t>, </a:t>
            </a:r>
            <a:r>
              <a:rPr lang="en-US" altLang="zh-CN" sz="2400" b="1" i="1">
                <a:latin typeface="Times New Roman" panose="02020603050405020304" pitchFamily="18" charset="0"/>
                <a:cs typeface="Times New Roman" panose="02020603050405020304" pitchFamily="18" charset="0"/>
              </a:rPr>
              <a:t>b</a:t>
            </a:r>
            <a:r>
              <a:rPr lang="en-US" altLang="zh-CN" sz="2400" b="1" i="1" baseline="-25000">
                <a:latin typeface="Times New Roman" panose="02020603050405020304" pitchFamily="18" charset="0"/>
                <a:cs typeface="Times New Roman" panose="02020603050405020304" pitchFamily="18" charset="0"/>
              </a:rPr>
              <a:t>i</a:t>
            </a:r>
            <a:r>
              <a:rPr lang="en-US" altLang="zh-CN" sz="2400" b="1" baseline="-25000">
                <a:latin typeface="Times New Roman" panose="02020603050405020304" pitchFamily="18" charset="0"/>
                <a:cs typeface="Times New Roman" panose="02020603050405020304" pitchFamily="18" charset="0"/>
              </a:rPr>
              <a:t>2</a:t>
            </a:r>
            <a:r>
              <a:rPr lang="en-US" altLang="zh-CN" sz="2400" b="1">
                <a:latin typeface="Times New Roman" panose="02020603050405020304" pitchFamily="18" charset="0"/>
                <a:cs typeface="Times New Roman" panose="02020603050405020304" pitchFamily="18" charset="0"/>
              </a:rPr>
              <a:t>,</a:t>
            </a:r>
            <a:r>
              <a:rPr lang="en-US" altLang="zh-CN" sz="2400" b="1" i="1">
                <a:latin typeface="Times New Roman" panose="02020603050405020304" pitchFamily="18" charset="0"/>
                <a:cs typeface="Times New Roman" panose="02020603050405020304" pitchFamily="18" charset="0"/>
              </a:rPr>
              <a:t> d</a:t>
            </a:r>
            <a:r>
              <a:rPr lang="en-US" altLang="zh-CN" sz="2400" b="1" i="1" baseline="-25000">
                <a:latin typeface="Times New Roman" panose="02020603050405020304" pitchFamily="18" charset="0"/>
                <a:cs typeface="Times New Roman" panose="02020603050405020304" pitchFamily="18" charset="0"/>
              </a:rPr>
              <a:t>i</a:t>
            </a:r>
            <a:r>
              <a:rPr lang="en-US" altLang="zh-CN" sz="2400" b="1" baseline="-25000">
                <a:latin typeface="Times New Roman" panose="02020603050405020304" pitchFamily="18" charset="0"/>
                <a:cs typeface="Times New Roman" panose="02020603050405020304" pitchFamily="18" charset="0"/>
              </a:rPr>
              <a:t>2</a:t>
            </a:r>
            <a:r>
              <a:rPr lang="en-US" altLang="zh-CN" sz="2400" b="1">
                <a:latin typeface="Times New Roman" panose="02020603050405020304" pitchFamily="18" charset="0"/>
                <a:cs typeface="Times New Roman" panose="02020603050405020304" pitchFamily="18" charset="0"/>
              </a:rPr>
              <a:t>, </a:t>
            </a:r>
            <a:r>
              <a:rPr lang="en-US" altLang="zh-CN" sz="2400" b="1">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a:latin typeface="Times New Roman" panose="02020603050405020304" pitchFamily="18" charset="0"/>
                <a:cs typeface="Times New Roman" panose="02020603050405020304" pitchFamily="18" charset="0"/>
              </a:rPr>
              <a:t> ,</a:t>
            </a:r>
            <a:r>
              <a:rPr lang="en-US" altLang="zh-CN" sz="2400" b="1" i="1">
                <a:latin typeface="Times New Roman" panose="02020603050405020304" pitchFamily="18" charset="0"/>
                <a:cs typeface="Times New Roman" panose="02020603050405020304" pitchFamily="18" charset="0"/>
              </a:rPr>
              <a:t> a</a:t>
            </a:r>
            <a:r>
              <a:rPr lang="en-US" altLang="zh-CN" sz="2400" b="1" i="1" baseline="-25000">
                <a:latin typeface="Times New Roman" panose="02020603050405020304" pitchFamily="18" charset="0"/>
                <a:cs typeface="Times New Roman" panose="02020603050405020304" pitchFamily="18" charset="0"/>
              </a:rPr>
              <a:t>im</a:t>
            </a:r>
            <a:r>
              <a:rPr lang="en-US" altLang="zh-CN" sz="2400" b="1">
                <a:latin typeface="Times New Roman" panose="02020603050405020304" pitchFamily="18" charset="0"/>
                <a:cs typeface="Times New Roman" panose="02020603050405020304" pitchFamily="18" charset="0"/>
              </a:rPr>
              <a:t>, </a:t>
            </a:r>
            <a:r>
              <a:rPr lang="en-US" altLang="zh-CN" sz="2400" b="1" i="1">
                <a:latin typeface="Times New Roman" panose="02020603050405020304" pitchFamily="18" charset="0"/>
                <a:cs typeface="Times New Roman" panose="02020603050405020304" pitchFamily="18" charset="0"/>
              </a:rPr>
              <a:t>b</a:t>
            </a:r>
            <a:r>
              <a:rPr lang="en-US" altLang="zh-CN" sz="2400" b="1" i="1" baseline="-25000">
                <a:latin typeface="Times New Roman" panose="02020603050405020304" pitchFamily="18" charset="0"/>
                <a:cs typeface="Times New Roman" panose="02020603050405020304" pitchFamily="18" charset="0"/>
              </a:rPr>
              <a:t>im</a:t>
            </a:r>
            <a:r>
              <a:rPr lang="en-US" altLang="zh-CN" sz="2400" b="1">
                <a:latin typeface="Times New Roman" panose="02020603050405020304" pitchFamily="18" charset="0"/>
                <a:cs typeface="Times New Roman" panose="02020603050405020304" pitchFamily="18" charset="0"/>
              </a:rPr>
              <a:t>, </a:t>
            </a:r>
            <a:r>
              <a:rPr lang="en-US" altLang="zh-CN" sz="2400" b="1" i="1">
                <a:latin typeface="Times New Roman" panose="02020603050405020304" pitchFamily="18" charset="0"/>
                <a:cs typeface="Times New Roman" panose="02020603050405020304" pitchFamily="18" charset="0"/>
              </a:rPr>
              <a:t>d</a:t>
            </a:r>
            <a:r>
              <a:rPr lang="en-US" altLang="zh-CN" sz="2400" b="1" i="1" baseline="-25000">
                <a:latin typeface="Times New Roman" panose="02020603050405020304" pitchFamily="18" charset="0"/>
                <a:cs typeface="Times New Roman" panose="02020603050405020304" pitchFamily="18" charset="0"/>
              </a:rPr>
              <a:t>im</a:t>
            </a:r>
            <a:r>
              <a:rPr lang="en-US" altLang="zh-CN" sz="2400" b="1">
                <a:latin typeface="Times New Roman" panose="02020603050405020304" pitchFamily="18" charset="0"/>
                <a:cs typeface="Times New Roman" panose="02020603050405020304" pitchFamily="18" charset="0"/>
              </a:rPr>
              <a:t>. </a:t>
            </a:r>
            <a:r>
              <a:rPr lang="zh-CN" altLang="en-US" sz="2400" b="1">
                <a:latin typeface="Times New Roman" panose="02020603050405020304" pitchFamily="18" charset="0"/>
                <a:cs typeface="Times New Roman" panose="02020603050405020304" pitchFamily="18" charset="0"/>
              </a:rPr>
              <a:t>对每一个</a:t>
            </a:r>
            <a:r>
              <a:rPr lang="en-US" altLang="zh-CN" sz="2400" b="1" i="1">
                <a:latin typeface="Times New Roman" panose="02020603050405020304" pitchFamily="18" charset="0"/>
                <a:cs typeface="Times New Roman" panose="02020603050405020304" pitchFamily="18" charset="0"/>
              </a:rPr>
              <a:t>C</a:t>
            </a:r>
            <a:r>
              <a:rPr lang="en-US" altLang="zh-CN" sz="2400" b="1" i="1" baseline="-25000">
                <a:latin typeface="Times New Roman" panose="02020603050405020304" pitchFamily="18" charset="0"/>
                <a:cs typeface="Times New Roman" panose="02020603050405020304" pitchFamily="18" charset="0"/>
              </a:rPr>
              <a:t>j </a:t>
            </a:r>
            <a:r>
              <a:rPr lang="en-US" altLang="zh-CN" sz="2400" b="1">
                <a:latin typeface="Times New Roman" panose="02020603050405020304" pitchFamily="18" charset="0"/>
                <a:cs typeface="Times New Roman" panose="02020603050405020304" pitchFamily="18" charset="0"/>
              </a:rPr>
              <a:t>=</a:t>
            </a:r>
            <a:r>
              <a:rPr lang="en-US" altLang="zh-CN" sz="2400" b="1" i="1">
                <a:latin typeface="Times New Roman" panose="02020603050405020304" pitchFamily="18" charset="0"/>
                <a:cs typeface="Times New Roman" panose="02020603050405020304" pitchFamily="18" charset="0"/>
              </a:rPr>
              <a:t>z</a:t>
            </a:r>
            <a:r>
              <a:rPr lang="en-US" altLang="zh-CN" sz="2400" b="1" i="1" baseline="-25000">
                <a:latin typeface="Times New Roman" panose="02020603050405020304" pitchFamily="18" charset="0"/>
                <a:cs typeface="Times New Roman" panose="02020603050405020304" pitchFamily="18" charset="0"/>
              </a:rPr>
              <a:t>j</a:t>
            </a:r>
            <a:r>
              <a:rPr lang="en-US" altLang="zh-CN" sz="2400" b="1" baseline="-25000">
                <a:latin typeface="Times New Roman" panose="02020603050405020304" pitchFamily="18" charset="0"/>
                <a:cs typeface="Times New Roman" panose="02020603050405020304" pitchFamily="18" charset="0"/>
              </a:rPr>
              <a:t>1</a:t>
            </a:r>
            <a:r>
              <a:rPr lang="en-US" altLang="zh-CN" sz="2400" b="1">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a:latin typeface="Times New Roman" panose="02020603050405020304" pitchFamily="18" charset="0"/>
                <a:cs typeface="Times New Roman" panose="02020603050405020304" pitchFamily="18" charset="0"/>
              </a:rPr>
              <a:t> z</a:t>
            </a:r>
            <a:r>
              <a:rPr lang="en-US" altLang="zh-CN" sz="2400" b="1" i="1" baseline="-25000">
                <a:latin typeface="Times New Roman" panose="02020603050405020304" pitchFamily="18" charset="0"/>
                <a:cs typeface="Times New Roman" panose="02020603050405020304" pitchFamily="18" charset="0"/>
              </a:rPr>
              <a:t>j</a:t>
            </a:r>
            <a:r>
              <a:rPr lang="en-US" altLang="zh-CN" sz="2400" b="1" baseline="-25000">
                <a:latin typeface="Times New Roman" panose="02020603050405020304" pitchFamily="18" charset="0"/>
                <a:cs typeface="Times New Roman" panose="02020603050405020304" pitchFamily="18" charset="0"/>
              </a:rPr>
              <a:t>2</a:t>
            </a:r>
            <a:r>
              <a:rPr lang="en-US" altLang="zh-CN" sz="2400" b="1">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a:latin typeface="Times New Roman" panose="02020603050405020304" pitchFamily="18" charset="0"/>
                <a:cs typeface="Times New Roman" panose="02020603050405020304" pitchFamily="18" charset="0"/>
              </a:rPr>
              <a:t> z</a:t>
            </a:r>
            <a:r>
              <a:rPr lang="en-US" altLang="zh-CN" sz="2400" b="1" i="1" baseline="-25000">
                <a:latin typeface="Times New Roman" panose="02020603050405020304" pitchFamily="18" charset="0"/>
                <a:cs typeface="Times New Roman" panose="02020603050405020304" pitchFamily="18" charset="0"/>
              </a:rPr>
              <a:t>j</a:t>
            </a:r>
            <a:r>
              <a:rPr lang="en-US" altLang="zh-CN" sz="2400" b="1" baseline="-25000">
                <a:latin typeface="Times New Roman" panose="02020603050405020304" pitchFamily="18" charset="0"/>
                <a:cs typeface="Times New Roman" panose="02020603050405020304" pitchFamily="18" charset="0"/>
              </a:rPr>
              <a:t>3</a:t>
            </a:r>
            <a:r>
              <a:rPr lang="en-US" altLang="zh-CN" sz="2400" b="1">
                <a:latin typeface="Times New Roman" panose="02020603050405020304" pitchFamily="18" charset="0"/>
                <a:cs typeface="Times New Roman" panose="02020603050405020304" pitchFamily="18" charset="0"/>
              </a:rPr>
              <a:t>, </a:t>
            </a:r>
            <a:r>
              <a:rPr lang="zh-CN" altLang="en-US" sz="2400" b="1">
                <a:latin typeface="Times New Roman" panose="02020603050405020304" pitchFamily="18" charset="0"/>
                <a:cs typeface="Times New Roman" panose="02020603050405020304" pitchFamily="18" charset="0"/>
              </a:rPr>
              <a:t>如果 </a:t>
            </a:r>
            <a:r>
              <a:rPr lang="en-US" altLang="zh-CN" sz="2400" b="1" i="1">
                <a:latin typeface="Times New Roman" panose="02020603050405020304" pitchFamily="18" charset="0"/>
                <a:cs typeface="Times New Roman" panose="02020603050405020304" pitchFamily="18" charset="0"/>
              </a:rPr>
              <a:t>z</a:t>
            </a:r>
            <a:r>
              <a:rPr lang="en-US" altLang="zh-CN" sz="2400" b="1" i="1" baseline="-25000">
                <a:latin typeface="Times New Roman" panose="02020603050405020304" pitchFamily="18" charset="0"/>
                <a:cs typeface="Times New Roman" panose="02020603050405020304" pitchFamily="18" charset="0"/>
              </a:rPr>
              <a:t>jk </a:t>
            </a:r>
            <a:r>
              <a:rPr lang="en-US" altLang="zh-CN" sz="2400" b="1">
                <a:latin typeface="Times New Roman" panose="02020603050405020304" pitchFamily="18" charset="0"/>
                <a:cs typeface="Times New Roman" panose="02020603050405020304" pitchFamily="18" charset="0"/>
              </a:rPr>
              <a:t>= </a:t>
            </a:r>
            <a:r>
              <a:rPr lang="en-US" altLang="zh-CN" sz="2400" b="1" i="1">
                <a:latin typeface="Times New Roman" panose="02020603050405020304" pitchFamily="18" charset="0"/>
                <a:cs typeface="Times New Roman" panose="02020603050405020304" pitchFamily="18" charset="0"/>
              </a:rPr>
              <a:t>x</a:t>
            </a:r>
            <a:r>
              <a:rPr lang="en-US" altLang="zh-CN" sz="2400" b="1" i="1" baseline="-25000">
                <a:latin typeface="Times New Roman" panose="02020603050405020304" pitchFamily="18" charset="0"/>
                <a:cs typeface="Times New Roman" panose="02020603050405020304" pitchFamily="18" charset="0"/>
              </a:rPr>
              <a:t>i</a:t>
            </a:r>
            <a:r>
              <a:rPr lang="en-US" altLang="zh-CN" sz="2400" b="1">
                <a:latin typeface="Times New Roman" panose="02020603050405020304" pitchFamily="18" charset="0"/>
                <a:cs typeface="Times New Roman" panose="02020603050405020304" pitchFamily="18" charset="0"/>
              </a:rPr>
              <a:t>, </a:t>
            </a:r>
            <a:r>
              <a:rPr lang="zh-CN" altLang="en-US" sz="2400" b="1">
                <a:latin typeface="Times New Roman" panose="02020603050405020304" pitchFamily="18" charset="0"/>
                <a:cs typeface="Times New Roman" panose="02020603050405020304" pitchFamily="18" charset="0"/>
              </a:rPr>
              <a:t>则添加 </a:t>
            </a:r>
            <a:r>
              <a:rPr lang="en-US" altLang="zh-CN" sz="2400" b="1">
                <a:latin typeface="Times New Roman" panose="02020603050405020304" pitchFamily="18" charset="0"/>
                <a:cs typeface="Times New Roman" panose="02020603050405020304" pitchFamily="18" charset="0"/>
              </a:rPr>
              <a:t>&lt;</a:t>
            </a:r>
            <a:r>
              <a:rPr lang="en-US" altLang="zh-CN" sz="2400" b="1" i="1">
                <a:latin typeface="Times New Roman" panose="02020603050405020304" pitchFamily="18" charset="0"/>
                <a:cs typeface="Times New Roman" panose="02020603050405020304" pitchFamily="18" charset="0"/>
              </a:rPr>
              <a:t>a</a:t>
            </a:r>
            <a:r>
              <a:rPr lang="en-US" altLang="zh-CN" sz="2400" b="1" i="1" baseline="-25000">
                <a:latin typeface="Times New Roman" panose="02020603050405020304" pitchFamily="18" charset="0"/>
                <a:cs typeface="Times New Roman" panose="02020603050405020304" pitchFamily="18" charset="0"/>
              </a:rPr>
              <a:t>ij</a:t>
            </a:r>
            <a:r>
              <a:rPr lang="en-US" altLang="zh-CN" sz="2400" b="1">
                <a:latin typeface="Times New Roman" panose="02020603050405020304" pitchFamily="18" charset="0"/>
                <a:cs typeface="Times New Roman" panose="02020603050405020304" pitchFamily="18" charset="0"/>
              </a:rPr>
              <a:t>, </a:t>
            </a:r>
            <a:r>
              <a:rPr lang="en-US" altLang="zh-CN" sz="2400" b="1" i="1">
                <a:latin typeface="Times New Roman" panose="02020603050405020304" pitchFamily="18" charset="0"/>
                <a:cs typeface="Times New Roman" panose="02020603050405020304" pitchFamily="18" charset="0"/>
              </a:rPr>
              <a:t>c</a:t>
            </a:r>
            <a:r>
              <a:rPr lang="en-US" altLang="zh-CN" sz="2400" b="1" i="1" baseline="-25000">
                <a:latin typeface="Times New Roman" panose="02020603050405020304" pitchFamily="18" charset="0"/>
                <a:cs typeface="Times New Roman" panose="02020603050405020304" pitchFamily="18" charset="0"/>
              </a:rPr>
              <a:t>j</a:t>
            </a:r>
            <a:r>
              <a:rPr lang="en-US" altLang="zh-CN" sz="2400" b="1">
                <a:latin typeface="Times New Roman" panose="02020603050405020304" pitchFamily="18" charset="0"/>
                <a:cs typeface="Times New Roman" panose="02020603050405020304" pitchFamily="18" charset="0"/>
              </a:rPr>
              <a:t>&gt; </a:t>
            </a:r>
            <a:r>
              <a:rPr lang="zh-CN" altLang="en-US" sz="2400" b="1">
                <a:latin typeface="Times New Roman" panose="02020603050405020304" pitchFamily="18" charset="0"/>
                <a:cs typeface="Times New Roman" panose="02020603050405020304" pitchFamily="18" charset="0"/>
              </a:rPr>
              <a:t>和 </a:t>
            </a:r>
            <a:r>
              <a:rPr lang="en-US" altLang="zh-CN" sz="2400" b="1">
                <a:latin typeface="Times New Roman" panose="02020603050405020304" pitchFamily="18" charset="0"/>
                <a:cs typeface="Times New Roman" panose="02020603050405020304" pitchFamily="18" charset="0"/>
              </a:rPr>
              <a:t>&lt;</a:t>
            </a:r>
            <a:r>
              <a:rPr lang="en-US" altLang="zh-CN" sz="2400" b="1" i="1">
                <a:latin typeface="Times New Roman" panose="02020603050405020304" pitchFamily="18" charset="0"/>
                <a:cs typeface="Times New Roman" panose="02020603050405020304" pitchFamily="18" charset="0"/>
              </a:rPr>
              <a:t>c</a:t>
            </a:r>
            <a:r>
              <a:rPr lang="en-US" altLang="zh-CN" sz="2400" b="1" i="1" baseline="-25000">
                <a:latin typeface="Times New Roman" panose="02020603050405020304" pitchFamily="18" charset="0"/>
                <a:cs typeface="Times New Roman" panose="02020603050405020304" pitchFamily="18" charset="0"/>
              </a:rPr>
              <a:t>j</a:t>
            </a:r>
            <a:r>
              <a:rPr lang="en-US" altLang="zh-CN" sz="2400" b="1">
                <a:latin typeface="Times New Roman" panose="02020603050405020304" pitchFamily="18" charset="0"/>
                <a:cs typeface="Times New Roman" panose="02020603050405020304" pitchFamily="18" charset="0"/>
              </a:rPr>
              <a:t>, </a:t>
            </a:r>
            <a:r>
              <a:rPr lang="en-US" altLang="zh-CN" sz="2400" b="1" i="1">
                <a:latin typeface="Times New Roman" panose="02020603050405020304" pitchFamily="18" charset="0"/>
                <a:cs typeface="Times New Roman" panose="02020603050405020304" pitchFamily="18" charset="0"/>
              </a:rPr>
              <a:t>b</a:t>
            </a:r>
            <a:r>
              <a:rPr lang="en-US" altLang="zh-CN" sz="2400" b="1" i="1" baseline="-25000">
                <a:latin typeface="Times New Roman" panose="02020603050405020304" pitchFamily="18" charset="0"/>
                <a:cs typeface="Times New Roman" panose="02020603050405020304" pitchFamily="18" charset="0"/>
              </a:rPr>
              <a:t>ij</a:t>
            </a:r>
            <a:r>
              <a:rPr lang="en-US" altLang="zh-CN" sz="2400" b="1">
                <a:latin typeface="Times New Roman" panose="02020603050405020304" pitchFamily="18" charset="0"/>
                <a:cs typeface="Times New Roman" panose="02020603050405020304" pitchFamily="18" charset="0"/>
              </a:rPr>
              <a:t>&gt;; </a:t>
            </a:r>
            <a:r>
              <a:rPr lang="zh-CN" altLang="en-US" sz="2400" b="1">
                <a:latin typeface="Times New Roman" panose="02020603050405020304" pitchFamily="18" charset="0"/>
                <a:cs typeface="Times New Roman" panose="02020603050405020304" pitchFamily="18" charset="0"/>
              </a:rPr>
              <a:t>如果 </a:t>
            </a:r>
            <a:r>
              <a:rPr lang="en-US" altLang="zh-CN" sz="2400" b="1" i="1">
                <a:latin typeface="Times New Roman" panose="02020603050405020304" pitchFamily="18" charset="0"/>
                <a:cs typeface="Times New Roman" panose="02020603050405020304" pitchFamily="18" charset="0"/>
              </a:rPr>
              <a:t>z</a:t>
            </a:r>
            <a:r>
              <a:rPr lang="en-US" altLang="zh-CN" sz="2400" b="1" i="1" baseline="-25000">
                <a:latin typeface="Times New Roman" panose="02020603050405020304" pitchFamily="18" charset="0"/>
                <a:cs typeface="Times New Roman" panose="02020603050405020304" pitchFamily="18" charset="0"/>
              </a:rPr>
              <a:t>jk </a:t>
            </a:r>
            <a:r>
              <a:rPr lang="en-US" altLang="zh-CN" sz="2400" b="1">
                <a:latin typeface="Times New Roman" panose="02020603050405020304" pitchFamily="18" charset="0"/>
                <a:cs typeface="Times New Roman" panose="02020603050405020304" pitchFamily="18" charset="0"/>
              </a:rPr>
              <a:t>= </a:t>
            </a:r>
            <a:r>
              <a:rPr lang="en-US" altLang="zh-CN" sz="2400" b="1">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a:latin typeface="Times New Roman" panose="02020603050405020304" pitchFamily="18" charset="0"/>
                <a:cs typeface="Times New Roman" panose="02020603050405020304" pitchFamily="18" charset="0"/>
              </a:rPr>
              <a:t>x</a:t>
            </a:r>
            <a:r>
              <a:rPr lang="en-US" altLang="zh-CN" sz="2400" b="1" i="1" baseline="-25000">
                <a:latin typeface="Times New Roman" panose="02020603050405020304" pitchFamily="18" charset="0"/>
                <a:cs typeface="Times New Roman" panose="02020603050405020304" pitchFamily="18" charset="0"/>
              </a:rPr>
              <a:t>i</a:t>
            </a:r>
            <a:r>
              <a:rPr lang="en-US" altLang="zh-CN" sz="2400" b="1">
                <a:latin typeface="Times New Roman" panose="02020603050405020304" pitchFamily="18" charset="0"/>
                <a:cs typeface="Times New Roman" panose="02020603050405020304" pitchFamily="18" charset="0"/>
              </a:rPr>
              <a:t>, </a:t>
            </a:r>
            <a:r>
              <a:rPr lang="zh-CN" altLang="en-US" sz="2400" b="1">
                <a:latin typeface="Times New Roman" panose="02020603050405020304" pitchFamily="18" charset="0"/>
                <a:cs typeface="Times New Roman" panose="02020603050405020304" pitchFamily="18" charset="0"/>
              </a:rPr>
              <a:t>则添加</a:t>
            </a:r>
            <a:r>
              <a:rPr lang="en-US" altLang="zh-CN" sz="2400" b="1">
                <a:latin typeface="Times New Roman" panose="02020603050405020304" pitchFamily="18" charset="0"/>
                <a:cs typeface="Times New Roman" panose="02020603050405020304" pitchFamily="18" charset="0"/>
              </a:rPr>
              <a:t>&lt;</a:t>
            </a:r>
            <a:r>
              <a:rPr lang="en-US" altLang="zh-CN" sz="2400" b="1" i="1">
                <a:latin typeface="Times New Roman" panose="02020603050405020304" pitchFamily="18" charset="0"/>
                <a:cs typeface="Times New Roman" panose="02020603050405020304" pitchFamily="18" charset="0"/>
              </a:rPr>
              <a:t>c</a:t>
            </a:r>
            <a:r>
              <a:rPr lang="en-US" altLang="zh-CN" sz="2400" b="1" i="1" baseline="-25000">
                <a:latin typeface="Times New Roman" panose="02020603050405020304" pitchFamily="18" charset="0"/>
                <a:cs typeface="Times New Roman" panose="02020603050405020304" pitchFamily="18" charset="0"/>
              </a:rPr>
              <a:t>j</a:t>
            </a:r>
            <a:r>
              <a:rPr lang="en-US" altLang="zh-CN" sz="2400" b="1">
                <a:latin typeface="Times New Roman" panose="02020603050405020304" pitchFamily="18" charset="0"/>
                <a:cs typeface="Times New Roman" panose="02020603050405020304" pitchFamily="18" charset="0"/>
              </a:rPr>
              <a:t>, </a:t>
            </a:r>
            <a:r>
              <a:rPr lang="en-US" altLang="zh-CN" sz="2400" b="1" i="1">
                <a:latin typeface="Times New Roman" panose="02020603050405020304" pitchFamily="18" charset="0"/>
                <a:cs typeface="Times New Roman" panose="02020603050405020304" pitchFamily="18" charset="0"/>
              </a:rPr>
              <a:t>a</a:t>
            </a:r>
            <a:r>
              <a:rPr lang="en-US" altLang="zh-CN" sz="2400" b="1" i="1" baseline="-25000">
                <a:latin typeface="Times New Roman" panose="02020603050405020304" pitchFamily="18" charset="0"/>
                <a:cs typeface="Times New Roman" panose="02020603050405020304" pitchFamily="18" charset="0"/>
              </a:rPr>
              <a:t>ij</a:t>
            </a:r>
            <a:r>
              <a:rPr lang="en-US" altLang="zh-CN" sz="2400" b="1">
                <a:latin typeface="Times New Roman" panose="02020603050405020304" pitchFamily="18" charset="0"/>
                <a:cs typeface="Times New Roman" panose="02020603050405020304" pitchFamily="18" charset="0"/>
              </a:rPr>
              <a:t>&gt; </a:t>
            </a:r>
            <a:r>
              <a:rPr lang="zh-CN" altLang="en-US" sz="2400" b="1">
                <a:latin typeface="Times New Roman" panose="02020603050405020304" pitchFamily="18" charset="0"/>
                <a:cs typeface="Times New Roman" panose="02020603050405020304" pitchFamily="18" charset="0"/>
              </a:rPr>
              <a:t>和 </a:t>
            </a:r>
            <a:r>
              <a:rPr lang="en-US" altLang="zh-CN" sz="2400" b="1">
                <a:latin typeface="Times New Roman" panose="02020603050405020304" pitchFamily="18" charset="0"/>
                <a:cs typeface="Times New Roman" panose="02020603050405020304" pitchFamily="18" charset="0"/>
              </a:rPr>
              <a:t>&lt;</a:t>
            </a:r>
            <a:r>
              <a:rPr lang="en-US" altLang="zh-CN" sz="2400" b="1" i="1">
                <a:latin typeface="Times New Roman" panose="02020603050405020304" pitchFamily="18" charset="0"/>
                <a:cs typeface="Times New Roman" panose="02020603050405020304" pitchFamily="18" charset="0"/>
              </a:rPr>
              <a:t>b</a:t>
            </a:r>
            <a:r>
              <a:rPr lang="en-US" altLang="zh-CN" sz="2400" b="1" i="1" baseline="-25000">
                <a:latin typeface="Times New Roman" panose="02020603050405020304" pitchFamily="18" charset="0"/>
                <a:cs typeface="Times New Roman" panose="02020603050405020304" pitchFamily="18" charset="0"/>
              </a:rPr>
              <a:t>ij</a:t>
            </a:r>
            <a:r>
              <a:rPr lang="en-US" altLang="zh-CN" sz="2400" b="1">
                <a:latin typeface="Times New Roman" panose="02020603050405020304" pitchFamily="18" charset="0"/>
                <a:cs typeface="Times New Roman" panose="02020603050405020304" pitchFamily="18" charset="0"/>
              </a:rPr>
              <a:t>, </a:t>
            </a:r>
            <a:r>
              <a:rPr lang="en-US" altLang="zh-CN" sz="2400" b="1" i="1">
                <a:latin typeface="Times New Roman" panose="02020603050405020304" pitchFamily="18" charset="0"/>
                <a:cs typeface="Times New Roman" panose="02020603050405020304" pitchFamily="18" charset="0"/>
              </a:rPr>
              <a:t>c</a:t>
            </a:r>
            <a:r>
              <a:rPr lang="en-US" altLang="zh-CN" sz="2400" b="1" i="1" baseline="-25000">
                <a:latin typeface="Times New Roman" panose="02020603050405020304" pitchFamily="18" charset="0"/>
                <a:cs typeface="Times New Roman" panose="02020603050405020304" pitchFamily="18" charset="0"/>
              </a:rPr>
              <a:t>j</a:t>
            </a:r>
            <a:r>
              <a:rPr lang="en-US" altLang="zh-CN" sz="2400" b="1">
                <a:latin typeface="Times New Roman" panose="02020603050405020304" pitchFamily="18" charset="0"/>
                <a:cs typeface="Times New Roman" panose="02020603050405020304" pitchFamily="18" charset="0"/>
              </a:rPr>
              <a:t>&gt;.    </a:t>
            </a:r>
            <a:endParaRPr lang="en-US" altLang="zh-CN" sz="2400" b="1">
              <a:latin typeface="Times New Roman" panose="02020603050405020304" pitchFamily="18" charset="0"/>
              <a:cs typeface="Times New Roman" panose="02020603050405020304" pitchFamily="18" charset="0"/>
            </a:endParaRPr>
          </a:p>
          <a:p>
            <a:pPr eaLnBrk="1" hangingPunct="1">
              <a:lnSpc>
                <a:spcPts val="3200"/>
              </a:lnSpc>
              <a:spcBef>
                <a:spcPct val="0"/>
              </a:spcBef>
              <a:buFontTx/>
              <a:buNone/>
            </a:pPr>
            <a:r>
              <a:rPr lang="zh-CN" altLang="en-US" sz="2400" b="1">
                <a:solidFill>
                  <a:srgbClr val="C00000"/>
                </a:solidFill>
                <a:latin typeface="Times New Roman" panose="02020603050405020304" pitchFamily="18" charset="0"/>
                <a:cs typeface="Times New Roman" panose="02020603050405020304" pitchFamily="18" charset="0"/>
              </a:rPr>
              <a:t>例如</a:t>
            </a:r>
            <a:r>
              <a:rPr lang="zh-CN" altLang="en-US" sz="2400" b="1">
                <a:latin typeface="Times New Roman" panose="02020603050405020304" pitchFamily="18" charset="0"/>
                <a:cs typeface="Times New Roman" panose="02020603050405020304" pitchFamily="18" charset="0"/>
              </a:rPr>
              <a:t>  </a:t>
            </a:r>
            <a:r>
              <a:rPr lang="en-US" altLang="zh-CN" sz="2400" b="1">
                <a:latin typeface="Times New Roman" panose="02020603050405020304" pitchFamily="18" charset="0"/>
                <a:cs typeface="Times New Roman" panose="02020603050405020304" pitchFamily="18" charset="0"/>
              </a:rPr>
              <a:t>C</a:t>
            </a:r>
            <a:r>
              <a:rPr lang="en-US" altLang="zh-CN" sz="2400" b="1" baseline="-25000">
                <a:latin typeface="Times New Roman" panose="02020603050405020304" pitchFamily="18" charset="0"/>
                <a:cs typeface="Times New Roman" panose="02020603050405020304" pitchFamily="18" charset="0"/>
              </a:rPr>
              <a:t>2 </a:t>
            </a:r>
            <a:r>
              <a:rPr lang="en-US" altLang="zh-CN" sz="2400" b="1">
                <a:latin typeface="Times New Roman" panose="02020603050405020304" pitchFamily="18" charset="0"/>
                <a:cs typeface="Times New Roman" panose="02020603050405020304" pitchFamily="18" charset="0"/>
              </a:rPr>
              <a:t>= </a:t>
            </a:r>
            <a:r>
              <a:rPr lang="en-US" altLang="zh-CN" sz="2400" b="1" i="1">
                <a:latin typeface="Times New Roman" panose="02020603050405020304" pitchFamily="18" charset="0"/>
                <a:cs typeface="Times New Roman" panose="02020603050405020304" pitchFamily="18" charset="0"/>
              </a:rPr>
              <a:t>x</a:t>
            </a:r>
            <a:r>
              <a:rPr lang="en-US" altLang="zh-CN" sz="2400" b="1" baseline="-25000">
                <a:latin typeface="Times New Roman" panose="02020603050405020304" pitchFamily="18" charset="0"/>
                <a:cs typeface="Times New Roman" panose="02020603050405020304" pitchFamily="18" charset="0"/>
              </a:rPr>
              <a:t>1</a:t>
            </a:r>
            <a:r>
              <a:rPr lang="en-US" altLang="zh-CN" sz="2400" b="1">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a:latin typeface="Times New Roman" panose="02020603050405020304" pitchFamily="18" charset="0"/>
                <a:cs typeface="Times New Roman" panose="02020603050405020304" pitchFamily="18" charset="0"/>
                <a:sym typeface="Symbol" panose="05050102010706020507" pitchFamily="18" charset="2"/>
              </a:rPr>
              <a:t>x</a:t>
            </a:r>
            <a:r>
              <a:rPr lang="en-US" altLang="zh-CN" sz="2400" b="1" baseline="-25000">
                <a:latin typeface="Times New Roman" panose="02020603050405020304" pitchFamily="18" charset="0"/>
                <a:cs typeface="Times New Roman" panose="02020603050405020304" pitchFamily="18" charset="0"/>
                <a:sym typeface="Symbol" panose="05050102010706020507" pitchFamily="18" charset="2"/>
              </a:rPr>
              <a:t>3</a:t>
            </a:r>
            <a:r>
              <a:rPr lang="en-US" altLang="zh-CN" sz="2400" b="1">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a:latin typeface="Times New Roman" panose="02020603050405020304" pitchFamily="18" charset="0"/>
                <a:cs typeface="Times New Roman" panose="02020603050405020304" pitchFamily="18" charset="0"/>
                <a:sym typeface="Symbol" panose="05050102010706020507" pitchFamily="18" charset="2"/>
              </a:rPr>
              <a:t>x</a:t>
            </a:r>
            <a:r>
              <a:rPr lang="en-US" altLang="zh-CN" sz="2400" b="1" baseline="-25000">
                <a:latin typeface="Times New Roman" panose="02020603050405020304" pitchFamily="18" charset="0"/>
                <a:cs typeface="Times New Roman" panose="02020603050405020304" pitchFamily="18" charset="0"/>
                <a:sym typeface="Symbol" panose="05050102010706020507" pitchFamily="18" charset="2"/>
              </a:rPr>
              <a:t>4 </a:t>
            </a:r>
            <a:r>
              <a:rPr lang="zh-CN" altLang="en-US" sz="2400" b="1">
                <a:latin typeface="Times New Roman" panose="02020603050405020304" pitchFamily="18" charset="0"/>
                <a:cs typeface="Times New Roman" panose="02020603050405020304" pitchFamily="18" charset="0"/>
                <a:sym typeface="Symbol" panose="05050102010706020507" pitchFamily="18" charset="2"/>
              </a:rPr>
              <a:t>对应的连接</a:t>
            </a:r>
            <a:endParaRPr lang="zh-CN" altLang="en-US" sz="2400" b="1">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p:cNvSpPr>
            <a:spLocks noGrp="1"/>
          </p:cNvSpPr>
          <p:nvPr>
            <p:ph type="title"/>
          </p:nvPr>
        </p:nvSpPr>
        <p:spPr>
          <a:xfrm>
            <a:off x="457200" y="115888"/>
            <a:ext cx="8229600" cy="1143000"/>
          </a:xfrm>
        </p:spPr>
        <p:txBody>
          <a:bodyPr/>
          <a:lstStyle/>
          <a:p>
            <a:r>
              <a:rPr lang="zh-CN" altLang="en-US" sz="4000" b="1" smtClean="0">
                <a:solidFill>
                  <a:srgbClr val="C00000"/>
                </a:solidFill>
                <a:latin typeface="Times New Roman" panose="02020603050405020304" pitchFamily="18" charset="0"/>
                <a:cs typeface="Times New Roman" panose="02020603050405020304" pitchFamily="18" charset="0"/>
              </a:rPr>
              <a:t>证明</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43011" name="内容占位符 2"/>
          <p:cNvSpPr>
            <a:spLocks noGrp="1"/>
          </p:cNvSpPr>
          <p:nvPr>
            <p:ph idx="1"/>
          </p:nvPr>
        </p:nvSpPr>
        <p:spPr>
          <a:xfrm>
            <a:off x="457200" y="1125538"/>
            <a:ext cx="8355013" cy="5264150"/>
          </a:xfrm>
        </p:spPr>
        <p:txBody>
          <a:bodyPr/>
          <a:lstStyle/>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设 </a:t>
            </a:r>
            <a:r>
              <a:rPr lang="en-US" altLang="zh-CN" sz="2400" b="1" i="1" smtClean="0">
                <a:latin typeface="Times New Roman" panose="02020603050405020304" pitchFamily="18" charset="0"/>
                <a:cs typeface="Times New Roman" panose="02020603050405020304" pitchFamily="18" charset="0"/>
              </a:rPr>
              <a:t>F</a:t>
            </a:r>
            <a:r>
              <a:rPr lang="zh-CN" altLang="en-US" sz="2400" b="1" smtClean="0">
                <a:latin typeface="Times New Roman" panose="02020603050405020304" pitchFamily="18" charset="0"/>
                <a:cs typeface="Times New Roman" panose="02020603050405020304" pitchFamily="18" charset="0"/>
              </a:rPr>
              <a:t>是可满足的</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t </a:t>
            </a:r>
            <a:r>
              <a:rPr lang="zh-CN" altLang="en-US" sz="2400" b="1" smtClean="0">
                <a:latin typeface="Times New Roman" panose="02020603050405020304" pitchFamily="18" charset="0"/>
                <a:cs typeface="Times New Roman" panose="02020603050405020304" pitchFamily="18" charset="0"/>
              </a:rPr>
              <a:t>是 </a:t>
            </a:r>
            <a:r>
              <a:rPr lang="en-US" altLang="zh-CN" sz="2400" b="1" i="1" smtClean="0">
                <a:latin typeface="Times New Roman" panose="02020603050405020304" pitchFamily="18" charset="0"/>
                <a:cs typeface="Times New Roman" panose="02020603050405020304" pitchFamily="18" charset="0"/>
              </a:rPr>
              <a:t>F</a:t>
            </a:r>
            <a:r>
              <a:rPr lang="zh-CN" altLang="en-US" sz="2400" b="1" smtClean="0">
                <a:latin typeface="Times New Roman" panose="02020603050405020304" pitchFamily="18" charset="0"/>
                <a:cs typeface="Times New Roman" panose="02020603050405020304" pitchFamily="18" charset="0"/>
              </a:rPr>
              <a:t>的成真赋值</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要根据 </a:t>
            </a:r>
            <a:r>
              <a:rPr lang="en-US" altLang="zh-CN" sz="2400" b="1" i="1" smtClean="0">
                <a:latin typeface="Times New Roman" panose="02020603050405020304" pitchFamily="18" charset="0"/>
                <a:cs typeface="Times New Roman" panose="02020603050405020304" pitchFamily="18" charset="0"/>
              </a:rPr>
              <a:t>t </a:t>
            </a:r>
            <a:r>
              <a:rPr lang="zh-CN" altLang="en-US" sz="2400" b="1" smtClean="0">
                <a:latin typeface="Times New Roman" panose="02020603050405020304" pitchFamily="18" charset="0"/>
                <a:cs typeface="Times New Roman" panose="02020603050405020304" pitchFamily="18" charset="0"/>
              </a:rPr>
              <a:t>构造一条从 </a:t>
            </a:r>
            <a:r>
              <a:rPr lang="en-US" altLang="zh-CN" sz="2400" b="1" i="1" smtClean="0">
                <a:latin typeface="Times New Roman" panose="02020603050405020304" pitchFamily="18" charset="0"/>
                <a:cs typeface="Times New Roman" panose="02020603050405020304" pitchFamily="18" charset="0"/>
              </a:rPr>
              <a:t>s</a:t>
            </a:r>
            <a:r>
              <a:rPr lang="en-US" altLang="zh-CN" sz="2400" b="1" baseline="-25000" smtClean="0">
                <a:latin typeface="Times New Roman" panose="02020603050405020304" pitchFamily="18" charset="0"/>
                <a:cs typeface="Times New Roman" panose="02020603050405020304" pitchFamily="18" charset="0"/>
              </a:rPr>
              <a:t>0 </a:t>
            </a:r>
            <a:r>
              <a:rPr lang="zh-CN" altLang="en-US" sz="2400" b="1" smtClean="0">
                <a:latin typeface="Times New Roman" panose="02020603050405020304" pitchFamily="18" charset="0"/>
                <a:cs typeface="Times New Roman" panose="02020603050405020304" pitchFamily="18" charset="0"/>
              </a:rPr>
              <a:t>到</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i="1" smtClean="0">
                <a:latin typeface="Times New Roman" panose="02020603050405020304" pitchFamily="18" charset="0"/>
                <a:cs typeface="Times New Roman" panose="02020603050405020304" pitchFamily="18" charset="0"/>
              </a:rPr>
              <a:t>s</a:t>
            </a:r>
            <a:r>
              <a:rPr lang="en-US" altLang="zh-CN" sz="2400" b="1" i="1" baseline="-25000" smtClean="0">
                <a:latin typeface="Times New Roman" panose="02020603050405020304" pitchFamily="18" charset="0"/>
                <a:cs typeface="Times New Roman" panose="02020603050405020304" pitchFamily="18" charset="0"/>
              </a:rPr>
              <a:t>n </a:t>
            </a:r>
            <a:r>
              <a:rPr lang="en-US" altLang="zh-CN" sz="2400" b="1" i="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最后回到 </a:t>
            </a:r>
            <a:r>
              <a:rPr lang="en-US" altLang="zh-CN" sz="2400" b="1" i="1" smtClean="0">
                <a:latin typeface="Times New Roman" panose="02020603050405020304" pitchFamily="18" charset="0"/>
                <a:cs typeface="Times New Roman" panose="02020603050405020304" pitchFamily="18" charset="0"/>
              </a:rPr>
              <a:t>s</a:t>
            </a:r>
            <a:r>
              <a:rPr lang="en-US" altLang="zh-CN" sz="2400" b="1" baseline="-25000" smtClean="0">
                <a:latin typeface="Times New Roman" panose="02020603050405020304" pitchFamily="18" charset="0"/>
                <a:cs typeface="Times New Roman" panose="02020603050405020304" pitchFamily="18" charset="0"/>
              </a:rPr>
              <a:t>0 </a:t>
            </a:r>
            <a:r>
              <a:rPr lang="zh-CN" altLang="en-US" sz="2400" b="1" smtClean="0">
                <a:latin typeface="Times New Roman" panose="02020603050405020304" pitchFamily="18" charset="0"/>
                <a:cs typeface="Times New Roman" panose="02020603050405020304" pitchFamily="18" charset="0"/>
              </a:rPr>
              <a:t>的哈密顿回路</a:t>
            </a:r>
            <a:r>
              <a:rPr lang="en-US" altLang="zh-CN" sz="2400" b="1" smtClean="0">
                <a:latin typeface="Times New Roman" panose="02020603050405020304" pitchFamily="18" charset="0"/>
                <a:cs typeface="Times New Roman" panose="02020603050405020304" pitchFamily="18" charset="0"/>
              </a:rPr>
              <a:t>. </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先暂时不考虑所有的 </a:t>
            </a:r>
            <a:r>
              <a:rPr lang="en-US" altLang="zh-CN" sz="2400" b="1" i="1" smtClean="0">
                <a:latin typeface="Times New Roman" panose="02020603050405020304" pitchFamily="18" charset="0"/>
                <a:cs typeface="Times New Roman" panose="02020603050405020304" pitchFamily="18" charset="0"/>
              </a:rPr>
              <a:t>c</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依次对 </a:t>
            </a:r>
            <a:r>
              <a:rPr lang="en-US" altLang="zh-CN" sz="2400" b="1" i="1" smtClean="0">
                <a:latin typeface="Times New Roman" panose="02020603050405020304" pitchFamily="18" charset="0"/>
                <a:cs typeface="Times New Roman" panose="02020603050405020304" pitchFamily="18" charset="0"/>
              </a:rPr>
              <a:t>i </a:t>
            </a:r>
            <a:r>
              <a:rPr lang="en-US" altLang="zh-CN" sz="2400" b="1" smtClean="0">
                <a:latin typeface="Times New Roman" panose="02020603050405020304" pitchFamily="18" charset="0"/>
                <a:cs typeface="Times New Roman" panose="02020603050405020304" pitchFamily="18" charset="0"/>
              </a:rPr>
              <a:t>=1,2,</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n</a:t>
            </a:r>
            <a:r>
              <a:rPr lang="zh-CN" altLang="en-US" sz="2400" b="1" smtClean="0">
                <a:latin typeface="Times New Roman" panose="02020603050405020304" pitchFamily="18" charset="0"/>
                <a:cs typeface="Times New Roman" panose="02020603050405020304" pitchFamily="18" charset="0"/>
              </a:rPr>
              <a:t>进行</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若 </a:t>
            </a:r>
            <a:r>
              <a:rPr lang="en-US" altLang="zh-CN" sz="2400" b="1" i="1" smtClean="0">
                <a:latin typeface="Times New Roman" panose="02020603050405020304" pitchFamily="18" charset="0"/>
                <a:cs typeface="Times New Roman" panose="02020603050405020304" pitchFamily="18" charset="0"/>
              </a:rPr>
              <a:t>t</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x</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)=1, </a:t>
            </a:r>
            <a:r>
              <a:rPr lang="zh-CN" altLang="en-US" sz="2400" b="1" smtClean="0">
                <a:latin typeface="Times New Roman" panose="02020603050405020304" pitchFamily="18" charset="0"/>
                <a:cs typeface="Times New Roman" panose="02020603050405020304" pitchFamily="18" charset="0"/>
              </a:rPr>
              <a:t>则</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从 </a:t>
            </a:r>
            <a:r>
              <a:rPr lang="en-US" altLang="zh-CN" sz="2400" b="1" i="1" smtClean="0">
                <a:latin typeface="Times New Roman" panose="02020603050405020304" pitchFamily="18" charset="0"/>
                <a:cs typeface="Times New Roman" panose="02020603050405020304" pitchFamily="18" charset="0"/>
              </a:rPr>
              <a:t>s</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baseline="-2500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25000" smtClean="0">
                <a:latin typeface="Times New Roman" panose="02020603050405020304" pitchFamily="18" charset="0"/>
                <a:cs typeface="Times New Roman" panose="02020603050405020304" pitchFamily="18" charset="0"/>
              </a:rPr>
              <a:t>1 </a:t>
            </a:r>
            <a:r>
              <a:rPr lang="zh-CN" altLang="en-US" sz="2400" b="1" smtClean="0">
                <a:latin typeface="Times New Roman" panose="02020603050405020304" pitchFamily="18" charset="0"/>
                <a:cs typeface="Times New Roman" panose="02020603050405020304" pitchFamily="18" charset="0"/>
              </a:rPr>
              <a:t>到 </a:t>
            </a:r>
            <a:r>
              <a:rPr lang="en-US" altLang="zh-CN" sz="2400" b="1" i="1" smtClean="0">
                <a:latin typeface="Times New Roman" panose="02020603050405020304" pitchFamily="18" charset="0"/>
                <a:cs typeface="Times New Roman" panose="02020603050405020304" pitchFamily="18" charset="0"/>
              </a:rPr>
              <a:t>d</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baseline="-25000" smtClean="0">
                <a:latin typeface="Times New Roman" panose="02020603050405020304" pitchFamily="18" charset="0"/>
                <a:cs typeface="Times New Roman" panose="02020603050405020304" pitchFamily="18" charset="0"/>
              </a:rPr>
              <a:t>0</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从左到右经过 </a:t>
            </a:r>
            <a:r>
              <a:rPr lang="en-US" altLang="zh-CN" sz="2400" b="1" i="1" smtClean="0">
                <a:latin typeface="Times New Roman" panose="02020603050405020304" pitchFamily="18" charset="0"/>
                <a:cs typeface="Times New Roman" panose="02020603050405020304" pitchFamily="18" charset="0"/>
              </a:rPr>
              <a:t>L</a:t>
            </a:r>
            <a:r>
              <a:rPr lang="en-US" altLang="zh-CN" sz="2400" b="1" i="1" baseline="-25000" smtClean="0">
                <a:latin typeface="Times New Roman" panose="02020603050405020304" pitchFamily="18" charset="0"/>
                <a:cs typeface="Times New Roman" panose="02020603050405020304" pitchFamily="18" charset="0"/>
              </a:rPr>
              <a:t>i </a:t>
            </a:r>
            <a:r>
              <a:rPr lang="zh-CN" altLang="en-US" sz="2400" b="1" smtClean="0">
                <a:latin typeface="Times New Roman" panose="02020603050405020304" pitchFamily="18" charset="0"/>
                <a:cs typeface="Times New Roman" panose="02020603050405020304" pitchFamily="18" charset="0"/>
              </a:rPr>
              <a:t>的所有顶点到达 </a:t>
            </a:r>
            <a:r>
              <a:rPr lang="en-US" altLang="zh-CN" sz="2400" b="1" i="1" smtClean="0">
                <a:latin typeface="Times New Roman" panose="02020603050405020304" pitchFamily="18" charset="0"/>
                <a:cs typeface="Times New Roman" panose="02020603050405020304" pitchFamily="18" charset="0"/>
              </a:rPr>
              <a:t>d</a:t>
            </a:r>
            <a:r>
              <a:rPr lang="en-US" altLang="zh-CN" sz="2400" b="1" i="1" baseline="-25000" smtClean="0">
                <a:latin typeface="Times New Roman" panose="02020603050405020304" pitchFamily="18" charset="0"/>
                <a:cs typeface="Times New Roman" panose="02020603050405020304" pitchFamily="18" charset="0"/>
              </a:rPr>
              <a:t>im</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再到 </a:t>
            </a:r>
            <a:r>
              <a:rPr lang="en-US" altLang="zh-CN" sz="2400" b="1" i="1" smtClean="0">
                <a:latin typeface="Times New Roman" panose="02020603050405020304" pitchFamily="18" charset="0"/>
                <a:cs typeface="Times New Roman" panose="02020603050405020304" pitchFamily="18" charset="0"/>
              </a:rPr>
              <a:t>s</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若</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i="1" smtClean="0">
                <a:latin typeface="Times New Roman" panose="02020603050405020304" pitchFamily="18" charset="0"/>
                <a:cs typeface="Times New Roman" panose="02020603050405020304" pitchFamily="18" charset="0"/>
              </a:rPr>
              <a:t>t</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x</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)=0, </a:t>
            </a:r>
            <a:r>
              <a:rPr lang="zh-CN" altLang="en-US" sz="2400" b="1" smtClean="0">
                <a:latin typeface="Times New Roman" panose="02020603050405020304" pitchFamily="18" charset="0"/>
                <a:cs typeface="Times New Roman" panose="02020603050405020304" pitchFamily="18" charset="0"/>
              </a:rPr>
              <a:t>则从 </a:t>
            </a:r>
            <a:r>
              <a:rPr lang="en-US" altLang="zh-CN" sz="2400" b="1" i="1" smtClean="0">
                <a:latin typeface="Times New Roman" panose="02020603050405020304" pitchFamily="18" charset="0"/>
                <a:cs typeface="Times New Roman" panose="02020603050405020304" pitchFamily="18" charset="0"/>
              </a:rPr>
              <a:t>s</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baseline="-2500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25000" smtClean="0">
                <a:latin typeface="Times New Roman" panose="02020603050405020304" pitchFamily="18" charset="0"/>
                <a:cs typeface="Times New Roman" panose="02020603050405020304" pitchFamily="18" charset="0"/>
              </a:rPr>
              <a:t>1 </a:t>
            </a:r>
            <a:r>
              <a:rPr lang="zh-CN" altLang="en-US" sz="2400" b="1" smtClean="0">
                <a:latin typeface="Times New Roman" panose="02020603050405020304" pitchFamily="18" charset="0"/>
                <a:cs typeface="Times New Roman" panose="02020603050405020304" pitchFamily="18" charset="0"/>
              </a:rPr>
              <a:t>到 </a:t>
            </a:r>
            <a:r>
              <a:rPr lang="en-US" altLang="zh-CN" sz="2400" b="1" i="1" smtClean="0">
                <a:latin typeface="Times New Roman" panose="02020603050405020304" pitchFamily="18" charset="0"/>
                <a:cs typeface="Times New Roman" panose="02020603050405020304" pitchFamily="18" charset="0"/>
              </a:rPr>
              <a:t>d</a:t>
            </a:r>
            <a:r>
              <a:rPr lang="en-US" altLang="zh-CN" sz="2400" b="1" i="1" baseline="-25000" smtClean="0">
                <a:latin typeface="Times New Roman" panose="02020603050405020304" pitchFamily="18" charset="0"/>
                <a:cs typeface="Times New Roman" panose="02020603050405020304" pitchFamily="18" charset="0"/>
              </a:rPr>
              <a:t>im</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从右到左经过 </a:t>
            </a:r>
            <a:r>
              <a:rPr lang="en-US" altLang="zh-CN" sz="2400" b="1" i="1" smtClean="0">
                <a:latin typeface="Times New Roman" panose="02020603050405020304" pitchFamily="18" charset="0"/>
                <a:cs typeface="Times New Roman" panose="02020603050405020304" pitchFamily="18" charset="0"/>
              </a:rPr>
              <a:t>L</a:t>
            </a:r>
            <a:r>
              <a:rPr lang="en-US" altLang="zh-CN" sz="2400" b="1" i="1" baseline="-25000" smtClean="0">
                <a:latin typeface="Times New Roman" panose="02020603050405020304" pitchFamily="18" charset="0"/>
                <a:cs typeface="Times New Roman" panose="02020603050405020304" pitchFamily="18" charset="0"/>
              </a:rPr>
              <a:t>i </a:t>
            </a:r>
            <a:r>
              <a:rPr lang="zh-CN" altLang="en-US" sz="2400" b="1" smtClean="0">
                <a:latin typeface="Times New Roman" panose="02020603050405020304" pitchFamily="18" charset="0"/>
                <a:cs typeface="Times New Roman" panose="02020603050405020304" pitchFamily="18" charset="0"/>
              </a:rPr>
              <a:t>的所有顶点到达 </a:t>
            </a:r>
            <a:r>
              <a:rPr lang="en-US" altLang="zh-CN" sz="2400" b="1" i="1" smtClean="0">
                <a:latin typeface="Times New Roman" panose="02020603050405020304" pitchFamily="18" charset="0"/>
                <a:cs typeface="Times New Roman" panose="02020603050405020304" pitchFamily="18" charset="0"/>
              </a:rPr>
              <a:t>d</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baseline="-25000" smtClean="0">
                <a:latin typeface="Times New Roman" panose="02020603050405020304" pitchFamily="18" charset="0"/>
                <a:cs typeface="Times New Roman" panose="02020603050405020304" pitchFamily="18" charset="0"/>
              </a:rPr>
              <a:t>0</a:t>
            </a:r>
            <a:r>
              <a:rPr lang="en-US" altLang="zh-CN" sz="2400" b="1" smtClean="0">
                <a:latin typeface="Times New Roman" panose="02020603050405020304" pitchFamily="18" charset="0"/>
                <a:cs typeface="Times New Roman" panose="02020603050405020304" pitchFamily="18" charset="0"/>
              </a:rPr>
              <a:t>, </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再到 </a:t>
            </a:r>
            <a:r>
              <a:rPr lang="en-US" altLang="zh-CN" sz="2400" b="1" i="1" smtClean="0">
                <a:latin typeface="Times New Roman" panose="02020603050405020304" pitchFamily="18" charset="0"/>
                <a:cs typeface="Times New Roman" panose="02020603050405020304" pitchFamily="18" charset="0"/>
              </a:rPr>
              <a:t>s</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最后</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从 </a:t>
            </a:r>
            <a:r>
              <a:rPr lang="en-US" altLang="zh-CN" sz="2400" b="1" i="1" smtClean="0">
                <a:latin typeface="Times New Roman" panose="02020603050405020304" pitchFamily="18" charset="0"/>
                <a:cs typeface="Times New Roman" panose="02020603050405020304" pitchFamily="18" charset="0"/>
              </a:rPr>
              <a:t>s</a:t>
            </a:r>
            <a:r>
              <a:rPr lang="en-US" altLang="zh-CN" sz="2400" b="1" i="1" baseline="-25000" smtClean="0">
                <a:latin typeface="Times New Roman" panose="02020603050405020304" pitchFamily="18" charset="0"/>
                <a:cs typeface="Times New Roman" panose="02020603050405020304" pitchFamily="18" charset="0"/>
              </a:rPr>
              <a:t>n </a:t>
            </a:r>
            <a:r>
              <a:rPr lang="zh-CN" altLang="en-US" sz="2400" b="1" smtClean="0">
                <a:latin typeface="Times New Roman" panose="02020603050405020304" pitchFamily="18" charset="0"/>
                <a:cs typeface="Times New Roman" panose="02020603050405020304" pitchFamily="18" charset="0"/>
              </a:rPr>
              <a:t>回到 </a:t>
            </a:r>
            <a:r>
              <a:rPr lang="en-US" altLang="zh-CN" sz="2400" b="1" i="1" smtClean="0">
                <a:latin typeface="Times New Roman" panose="02020603050405020304" pitchFamily="18" charset="0"/>
                <a:cs typeface="Times New Roman" panose="02020603050405020304" pitchFamily="18" charset="0"/>
              </a:rPr>
              <a:t>s</a:t>
            </a:r>
            <a:r>
              <a:rPr lang="en-US" altLang="zh-CN" sz="2400" b="1" baseline="-25000" smtClean="0">
                <a:latin typeface="Times New Roman" panose="02020603050405020304" pitchFamily="18" charset="0"/>
                <a:cs typeface="Times New Roman" panose="02020603050405020304" pitchFamily="18" charset="0"/>
              </a:rPr>
              <a:t>0</a:t>
            </a:r>
            <a:r>
              <a:rPr lang="en-US" altLang="zh-CN" sz="2400" b="1" smtClean="0">
                <a:latin typeface="Times New Roman" panose="02020603050405020304" pitchFamily="18" charset="0"/>
                <a:cs typeface="Times New Roman" panose="02020603050405020304" pitchFamily="18" charset="0"/>
              </a:rPr>
              <a:t>.   </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现在要将所有</a:t>
            </a:r>
            <a:r>
              <a:rPr lang="en-US" altLang="zh-CN" sz="2400" b="1" i="1" smtClean="0">
                <a:latin typeface="Times New Roman" panose="02020603050405020304" pitchFamily="18" charset="0"/>
                <a:cs typeface="Times New Roman" panose="02020603050405020304" pitchFamily="18" charset="0"/>
              </a:rPr>
              <a:t>c</a:t>
            </a:r>
            <a:r>
              <a:rPr lang="en-US" altLang="zh-CN" sz="2400" b="1" i="1" baseline="-25000" smtClean="0">
                <a:latin typeface="Times New Roman" panose="02020603050405020304" pitchFamily="18" charset="0"/>
                <a:cs typeface="Times New Roman" panose="02020603050405020304" pitchFamily="18" charset="0"/>
              </a:rPr>
              <a:t>j </a:t>
            </a:r>
            <a:r>
              <a:rPr lang="zh-CN" altLang="en-US" sz="2400" b="1" smtClean="0">
                <a:latin typeface="Times New Roman" panose="02020603050405020304" pitchFamily="18" charset="0"/>
                <a:cs typeface="Times New Roman" panose="02020603050405020304" pitchFamily="18" charset="0"/>
              </a:rPr>
              <a:t>插入这条回路</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设</a:t>
            </a:r>
            <a:r>
              <a:rPr lang="en-US" altLang="zh-CN" sz="2400" b="1" i="1" smtClean="0">
                <a:latin typeface="Times New Roman" panose="02020603050405020304" pitchFamily="18" charset="0"/>
                <a:cs typeface="Times New Roman" panose="02020603050405020304" pitchFamily="18" charset="0"/>
              </a:rPr>
              <a:t>C</a:t>
            </a:r>
            <a:r>
              <a:rPr lang="en-US" altLang="zh-CN" sz="2400" b="1" i="1" baseline="-25000" smtClean="0">
                <a:latin typeface="Times New Roman" panose="02020603050405020304" pitchFamily="18" charset="0"/>
                <a:cs typeface="Times New Roman" panose="02020603050405020304" pitchFamily="18" charset="0"/>
              </a:rPr>
              <a:t>j </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z</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baseline="-25000" smtClean="0">
                <a:latin typeface="Times New Roman" panose="02020603050405020304" pitchFamily="18" charset="0"/>
                <a:cs typeface="Times New Roman" panose="02020603050405020304" pitchFamily="18" charset="0"/>
              </a:rPr>
              <a:t>1</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 z</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baseline="-25000" smtClean="0">
                <a:latin typeface="Times New Roman" panose="02020603050405020304" pitchFamily="18" charset="0"/>
                <a:cs typeface="Times New Roman" panose="02020603050405020304" pitchFamily="18" charset="0"/>
              </a:rPr>
              <a:t>2</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 z</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baseline="-25000" smtClean="0">
                <a:latin typeface="Times New Roman" panose="02020603050405020304" pitchFamily="18" charset="0"/>
                <a:cs typeface="Times New Roman" panose="02020603050405020304" pitchFamily="18" charset="0"/>
              </a:rPr>
              <a:t>3</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由于</a:t>
            </a:r>
            <a:r>
              <a:rPr lang="en-US" altLang="zh-CN" sz="2400" b="1" i="1" smtClean="0">
                <a:latin typeface="Times New Roman" panose="02020603050405020304" pitchFamily="18" charset="0"/>
                <a:cs typeface="Times New Roman" panose="02020603050405020304" pitchFamily="18" charset="0"/>
              </a:rPr>
              <a:t>t</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C</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)=1, </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必有 </a:t>
            </a:r>
            <a:r>
              <a:rPr lang="en-US" altLang="zh-CN" sz="2400" b="1" i="1" smtClean="0">
                <a:latin typeface="Times New Roman" panose="02020603050405020304" pitchFamily="18" charset="0"/>
                <a:cs typeface="Times New Roman" panose="02020603050405020304" pitchFamily="18" charset="0"/>
              </a:rPr>
              <a:t>k </a:t>
            </a:r>
            <a:r>
              <a:rPr lang="en-US" altLang="zh-CN" sz="2400" b="1" smtClean="0">
                <a:latin typeface="Times New Roman" panose="02020603050405020304" pitchFamily="18" charset="0"/>
                <a:cs typeface="Times New Roman" panose="02020603050405020304" pitchFamily="18" charset="0"/>
              </a:rPr>
              <a:t>(1</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k</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3) </a:t>
            </a:r>
            <a:r>
              <a:rPr lang="zh-CN" altLang="en-US" sz="2400" b="1" smtClean="0">
                <a:latin typeface="Times New Roman" panose="02020603050405020304" pitchFamily="18" charset="0"/>
                <a:cs typeface="Times New Roman" panose="02020603050405020304" pitchFamily="18" charset="0"/>
              </a:rPr>
              <a:t>使得 </a:t>
            </a:r>
            <a:r>
              <a:rPr lang="en-US" altLang="zh-CN" sz="2400" b="1" i="1" smtClean="0">
                <a:latin typeface="Times New Roman" panose="02020603050405020304" pitchFamily="18" charset="0"/>
                <a:cs typeface="Times New Roman" panose="02020603050405020304" pitchFamily="18" charset="0"/>
              </a:rPr>
              <a:t>t</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z</a:t>
            </a:r>
            <a:r>
              <a:rPr lang="en-US" altLang="zh-CN" sz="2400" b="1" i="1" baseline="-25000" smtClean="0">
                <a:latin typeface="Times New Roman" panose="02020603050405020304" pitchFamily="18" charset="0"/>
                <a:cs typeface="Times New Roman" panose="02020603050405020304" pitchFamily="18" charset="0"/>
              </a:rPr>
              <a:t>jk</a:t>
            </a:r>
            <a:r>
              <a:rPr lang="en-US" altLang="zh-CN" sz="2400" b="1" smtClean="0">
                <a:latin typeface="Times New Roman" panose="02020603050405020304" pitchFamily="18" charset="0"/>
                <a:cs typeface="Times New Roman" panose="02020603050405020304" pitchFamily="18" charset="0"/>
              </a:rPr>
              <a:t>)=1. </a:t>
            </a:r>
            <a:r>
              <a:rPr lang="zh-CN" altLang="en-US" sz="2400" b="1" smtClean="0">
                <a:latin typeface="Times New Roman" panose="02020603050405020304" pitchFamily="18" charset="0"/>
                <a:cs typeface="Times New Roman" panose="02020603050405020304" pitchFamily="18" charset="0"/>
              </a:rPr>
              <a:t>若 </a:t>
            </a:r>
            <a:r>
              <a:rPr lang="en-US" altLang="zh-CN" sz="2400" b="1" i="1" smtClean="0">
                <a:latin typeface="Times New Roman" panose="02020603050405020304" pitchFamily="18" charset="0"/>
                <a:cs typeface="Times New Roman" panose="02020603050405020304" pitchFamily="18" charset="0"/>
              </a:rPr>
              <a:t>z</a:t>
            </a:r>
            <a:r>
              <a:rPr lang="en-US" altLang="zh-CN" sz="2400" b="1" i="1" baseline="-25000" smtClean="0">
                <a:latin typeface="Times New Roman" panose="02020603050405020304" pitchFamily="18" charset="0"/>
                <a:cs typeface="Times New Roman" panose="02020603050405020304" pitchFamily="18" charset="0"/>
              </a:rPr>
              <a:t>jk</a:t>
            </a:r>
            <a:r>
              <a:rPr lang="en-US" altLang="zh-CN" sz="2400" b="1" smtClean="0">
                <a:latin typeface="Times New Roman" panose="02020603050405020304" pitchFamily="18" charset="0"/>
                <a:cs typeface="Times New Roman" panose="02020603050405020304" pitchFamily="18" charset="0"/>
              </a:rPr>
              <a:t> = </a:t>
            </a:r>
            <a:r>
              <a:rPr lang="en-US" altLang="zh-CN" sz="2400" b="1" i="1" smtClean="0">
                <a:latin typeface="Times New Roman" panose="02020603050405020304" pitchFamily="18" charset="0"/>
                <a:cs typeface="Times New Roman" panose="02020603050405020304" pitchFamily="18" charset="0"/>
              </a:rPr>
              <a:t>x</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则通路从左到右经过 </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i="1" smtClean="0">
                <a:latin typeface="Times New Roman" panose="02020603050405020304" pitchFamily="18" charset="0"/>
                <a:cs typeface="Times New Roman" panose="02020603050405020304" pitchFamily="18" charset="0"/>
              </a:rPr>
              <a:t>L</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且有有向边 </a:t>
            </a:r>
            <a:r>
              <a:rPr lang="en-US" altLang="zh-CN" sz="2400" b="1" smtClean="0">
                <a:latin typeface="Times New Roman" panose="02020603050405020304" pitchFamily="18" charset="0"/>
                <a:cs typeface="Times New Roman" panose="02020603050405020304" pitchFamily="18" charset="0"/>
              </a:rPr>
              <a:t>&lt;</a:t>
            </a:r>
            <a:r>
              <a:rPr lang="en-US" altLang="zh-CN" sz="2400" b="1" i="1" smtClean="0">
                <a:latin typeface="Times New Roman" panose="02020603050405020304" pitchFamily="18" charset="0"/>
                <a:cs typeface="Times New Roman" panose="02020603050405020304" pitchFamily="18" charset="0"/>
              </a:rPr>
              <a:t>a</a:t>
            </a:r>
            <a:r>
              <a:rPr lang="en-US" altLang="zh-CN" sz="2400" b="1" i="1" baseline="-25000" smtClean="0">
                <a:latin typeface="Times New Roman" panose="02020603050405020304" pitchFamily="18" charset="0"/>
                <a:cs typeface="Times New Roman" panose="02020603050405020304" pitchFamily="18" charset="0"/>
              </a:rPr>
              <a:t>ij</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c</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&gt;</a:t>
            </a:r>
            <a:r>
              <a:rPr lang="zh-CN" altLang="en-US" sz="2400" b="1" smtClean="0">
                <a:latin typeface="Times New Roman" panose="02020603050405020304" pitchFamily="18" charset="0"/>
                <a:cs typeface="Times New Roman" panose="02020603050405020304" pitchFamily="18" charset="0"/>
              </a:rPr>
              <a:t>和 </a:t>
            </a:r>
            <a:r>
              <a:rPr lang="en-US" altLang="zh-CN" sz="2400" b="1" smtClean="0">
                <a:latin typeface="Times New Roman" panose="02020603050405020304" pitchFamily="18" charset="0"/>
                <a:cs typeface="Times New Roman" panose="02020603050405020304" pitchFamily="18" charset="0"/>
              </a:rPr>
              <a:t>&lt;</a:t>
            </a:r>
            <a:r>
              <a:rPr lang="en-US" altLang="zh-CN" sz="2400" b="1" i="1" smtClean="0">
                <a:latin typeface="Times New Roman" panose="02020603050405020304" pitchFamily="18" charset="0"/>
                <a:cs typeface="Times New Roman" panose="02020603050405020304" pitchFamily="18" charset="0"/>
              </a:rPr>
              <a:t>c</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b</a:t>
            </a:r>
            <a:r>
              <a:rPr lang="en-US" altLang="zh-CN" sz="2400" b="1" i="1" baseline="-25000" smtClean="0">
                <a:latin typeface="Times New Roman" panose="02020603050405020304" pitchFamily="18" charset="0"/>
                <a:cs typeface="Times New Roman" panose="02020603050405020304" pitchFamily="18" charset="0"/>
              </a:rPr>
              <a:t>ij</a:t>
            </a:r>
            <a:r>
              <a:rPr lang="en-US" altLang="zh-CN" sz="2400" b="1" smtClean="0">
                <a:latin typeface="Times New Roman" panose="02020603050405020304" pitchFamily="18" charset="0"/>
                <a:cs typeface="Times New Roman" panose="02020603050405020304" pitchFamily="18" charset="0"/>
              </a:rPr>
              <a:t>&gt;. </a:t>
            </a:r>
            <a:r>
              <a:rPr lang="zh-CN" altLang="en-US" sz="2400" b="1" smtClean="0">
                <a:latin typeface="Times New Roman" panose="02020603050405020304" pitchFamily="18" charset="0"/>
                <a:cs typeface="Times New Roman" panose="02020603050405020304" pitchFamily="18" charset="0"/>
              </a:rPr>
              <a:t>于是可以把 </a:t>
            </a:r>
            <a:r>
              <a:rPr lang="en-US" altLang="zh-CN" sz="2400" b="1" i="1" smtClean="0">
                <a:latin typeface="Times New Roman" panose="02020603050405020304" pitchFamily="18" charset="0"/>
                <a:cs typeface="Times New Roman" panose="02020603050405020304" pitchFamily="18" charset="0"/>
              </a:rPr>
              <a:t>c</a:t>
            </a:r>
            <a:r>
              <a:rPr lang="en-US" altLang="zh-CN" sz="2400" b="1" i="1" baseline="-25000" smtClean="0">
                <a:latin typeface="Times New Roman" panose="02020603050405020304" pitchFamily="18" charset="0"/>
                <a:cs typeface="Times New Roman" panose="02020603050405020304" pitchFamily="18" charset="0"/>
              </a:rPr>
              <a:t>j </a:t>
            </a:r>
            <a:r>
              <a:rPr lang="zh-CN" altLang="en-US" sz="2400" b="1" smtClean="0">
                <a:latin typeface="Times New Roman" panose="02020603050405020304" pitchFamily="18" charset="0"/>
                <a:cs typeface="Times New Roman" panose="02020603050405020304" pitchFamily="18" charset="0"/>
              </a:rPr>
              <a:t>插在 </a:t>
            </a:r>
            <a:r>
              <a:rPr lang="en-US" altLang="zh-CN" sz="2400" b="1" i="1" smtClean="0">
                <a:latin typeface="Times New Roman" panose="02020603050405020304" pitchFamily="18" charset="0"/>
                <a:cs typeface="Times New Roman" panose="02020603050405020304" pitchFamily="18" charset="0"/>
              </a:rPr>
              <a:t>a</a:t>
            </a:r>
            <a:r>
              <a:rPr lang="en-US" altLang="zh-CN" sz="2400" b="1" i="1" baseline="-25000" smtClean="0">
                <a:latin typeface="Times New Roman" panose="02020603050405020304" pitchFamily="18" charset="0"/>
                <a:cs typeface="Times New Roman" panose="02020603050405020304" pitchFamily="18" charset="0"/>
              </a:rPr>
              <a:t>ij </a:t>
            </a:r>
            <a:r>
              <a:rPr lang="zh-CN" altLang="en-US" sz="2400" b="1" smtClean="0">
                <a:latin typeface="Times New Roman" panose="02020603050405020304" pitchFamily="18" charset="0"/>
                <a:cs typeface="Times New Roman" panose="02020603050405020304" pitchFamily="18" charset="0"/>
              </a:rPr>
              <a:t>与 </a:t>
            </a:r>
            <a:r>
              <a:rPr lang="en-US" altLang="zh-CN" sz="2400" b="1" i="1" smtClean="0">
                <a:latin typeface="Times New Roman" panose="02020603050405020304" pitchFamily="18" charset="0"/>
                <a:cs typeface="Times New Roman" panose="02020603050405020304" pitchFamily="18" charset="0"/>
              </a:rPr>
              <a:t>b</a:t>
            </a:r>
            <a:r>
              <a:rPr lang="en-US" altLang="zh-CN" sz="2400" b="1" i="1" baseline="-25000" smtClean="0">
                <a:latin typeface="Times New Roman" panose="02020603050405020304" pitchFamily="18" charset="0"/>
                <a:cs typeface="Times New Roman" panose="02020603050405020304" pitchFamily="18" charset="0"/>
              </a:rPr>
              <a:t>ij</a:t>
            </a:r>
            <a:r>
              <a:rPr lang="zh-CN" altLang="en-US" sz="2400" b="1" smtClean="0">
                <a:latin typeface="Times New Roman" panose="02020603050405020304" pitchFamily="18" charset="0"/>
                <a:cs typeface="Times New Roman" panose="02020603050405020304" pitchFamily="18" charset="0"/>
              </a:rPr>
              <a:t>之</a:t>
            </a:r>
            <a:endParaRPr lang="en-US" altLang="zh-CN" sz="2400" b="1" i="1" baseline="-2500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间</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若 </a:t>
            </a:r>
            <a:r>
              <a:rPr lang="en-US" altLang="zh-CN" sz="2400" b="1" i="1" smtClean="0">
                <a:latin typeface="Times New Roman" panose="02020603050405020304" pitchFamily="18" charset="0"/>
                <a:cs typeface="Times New Roman" panose="02020603050405020304" pitchFamily="18" charset="0"/>
              </a:rPr>
              <a:t>z</a:t>
            </a:r>
            <a:r>
              <a:rPr lang="en-US" altLang="zh-CN" sz="2400" b="1" i="1" baseline="-25000" smtClean="0">
                <a:latin typeface="Times New Roman" panose="02020603050405020304" pitchFamily="18" charset="0"/>
                <a:cs typeface="Times New Roman" panose="02020603050405020304" pitchFamily="18" charset="0"/>
              </a:rPr>
              <a:t>jk</a:t>
            </a:r>
            <a:r>
              <a:rPr lang="en-US" altLang="zh-CN" sz="2400" b="1" smtClean="0">
                <a:latin typeface="Times New Roman" panose="02020603050405020304" pitchFamily="18" charset="0"/>
                <a:cs typeface="Times New Roman" panose="02020603050405020304" pitchFamily="18" charset="0"/>
              </a:rPr>
              <a:t> =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x</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则通路从右到左经过 </a:t>
            </a:r>
            <a:r>
              <a:rPr lang="en-US" altLang="zh-CN" sz="2400" b="1" i="1" smtClean="0">
                <a:latin typeface="Times New Roman" panose="02020603050405020304" pitchFamily="18" charset="0"/>
                <a:cs typeface="Times New Roman" panose="02020603050405020304" pitchFamily="18" charset="0"/>
              </a:rPr>
              <a:t>L</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且有有向边 </a:t>
            </a:r>
            <a:r>
              <a:rPr lang="en-US" altLang="zh-CN" sz="2400" b="1" smtClean="0">
                <a:latin typeface="Times New Roman" panose="02020603050405020304" pitchFamily="18" charset="0"/>
                <a:cs typeface="Times New Roman" panose="02020603050405020304" pitchFamily="18" charset="0"/>
              </a:rPr>
              <a:t>&lt;</a:t>
            </a:r>
            <a:r>
              <a:rPr lang="en-US" altLang="zh-CN" sz="2400" b="1" i="1" smtClean="0">
                <a:latin typeface="Times New Roman" panose="02020603050405020304" pitchFamily="18" charset="0"/>
                <a:cs typeface="Times New Roman" panose="02020603050405020304" pitchFamily="18" charset="0"/>
              </a:rPr>
              <a:t>b</a:t>
            </a:r>
            <a:r>
              <a:rPr lang="en-US" altLang="zh-CN" sz="2400" b="1" i="1" baseline="-25000" smtClean="0">
                <a:latin typeface="Times New Roman" panose="02020603050405020304" pitchFamily="18" charset="0"/>
                <a:cs typeface="Times New Roman" panose="02020603050405020304" pitchFamily="18" charset="0"/>
              </a:rPr>
              <a:t>ij</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c</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&gt; </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和 </a:t>
            </a:r>
            <a:r>
              <a:rPr lang="en-US" altLang="zh-CN" sz="2400" b="1" smtClean="0">
                <a:latin typeface="Times New Roman" panose="02020603050405020304" pitchFamily="18" charset="0"/>
                <a:cs typeface="Times New Roman" panose="02020603050405020304" pitchFamily="18" charset="0"/>
              </a:rPr>
              <a:t>&lt;</a:t>
            </a:r>
            <a:r>
              <a:rPr lang="en-US" altLang="zh-CN" sz="2400" b="1" i="1" smtClean="0">
                <a:latin typeface="Times New Roman" panose="02020603050405020304" pitchFamily="18" charset="0"/>
                <a:cs typeface="Times New Roman" panose="02020603050405020304" pitchFamily="18" charset="0"/>
              </a:rPr>
              <a:t>c</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a</a:t>
            </a:r>
            <a:r>
              <a:rPr lang="en-US" altLang="zh-CN" sz="2400" b="1" i="1" baseline="-25000" smtClean="0">
                <a:latin typeface="Times New Roman" panose="02020603050405020304" pitchFamily="18" charset="0"/>
                <a:cs typeface="Times New Roman" panose="02020603050405020304" pitchFamily="18" charset="0"/>
              </a:rPr>
              <a:t>ij</a:t>
            </a:r>
            <a:r>
              <a:rPr lang="en-US" altLang="zh-CN" sz="2400" b="1" smtClean="0">
                <a:latin typeface="Times New Roman" panose="02020603050405020304" pitchFamily="18" charset="0"/>
                <a:cs typeface="Times New Roman" panose="02020603050405020304" pitchFamily="18" charset="0"/>
              </a:rPr>
              <a:t>&gt;. </a:t>
            </a:r>
            <a:r>
              <a:rPr lang="zh-CN" altLang="en-US" sz="2400" b="1" smtClean="0">
                <a:latin typeface="Times New Roman" panose="02020603050405020304" pitchFamily="18" charset="0"/>
                <a:cs typeface="Times New Roman" panose="02020603050405020304" pitchFamily="18" charset="0"/>
              </a:rPr>
              <a:t>于是</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可以把 </a:t>
            </a:r>
            <a:r>
              <a:rPr lang="en-US" altLang="zh-CN" sz="2400" b="1" i="1" smtClean="0">
                <a:latin typeface="Times New Roman" panose="02020603050405020304" pitchFamily="18" charset="0"/>
                <a:cs typeface="Times New Roman" panose="02020603050405020304" pitchFamily="18" charset="0"/>
              </a:rPr>
              <a:t>c</a:t>
            </a:r>
            <a:r>
              <a:rPr lang="en-US" altLang="zh-CN" sz="2400" b="1" i="1" baseline="-25000" smtClean="0">
                <a:latin typeface="Times New Roman" panose="02020603050405020304" pitchFamily="18" charset="0"/>
                <a:cs typeface="Times New Roman" panose="02020603050405020304" pitchFamily="18" charset="0"/>
              </a:rPr>
              <a:t>j </a:t>
            </a:r>
            <a:r>
              <a:rPr lang="zh-CN" altLang="en-US" sz="2400" b="1" smtClean="0">
                <a:latin typeface="Times New Roman" panose="02020603050405020304" pitchFamily="18" charset="0"/>
                <a:cs typeface="Times New Roman" panose="02020603050405020304" pitchFamily="18" charset="0"/>
              </a:rPr>
              <a:t>插在 </a:t>
            </a:r>
            <a:r>
              <a:rPr lang="en-US" altLang="zh-CN" sz="2400" b="1" i="1" smtClean="0">
                <a:latin typeface="Times New Roman" panose="02020603050405020304" pitchFamily="18" charset="0"/>
                <a:cs typeface="Times New Roman" panose="02020603050405020304" pitchFamily="18" charset="0"/>
              </a:rPr>
              <a:t>b</a:t>
            </a:r>
            <a:r>
              <a:rPr lang="en-US" altLang="zh-CN" sz="2400" b="1" i="1" baseline="-25000" smtClean="0">
                <a:latin typeface="Times New Roman" panose="02020603050405020304" pitchFamily="18" charset="0"/>
                <a:cs typeface="Times New Roman" panose="02020603050405020304" pitchFamily="18" charset="0"/>
              </a:rPr>
              <a:t>ij </a:t>
            </a:r>
            <a:r>
              <a:rPr lang="zh-CN" altLang="en-US" sz="2400" b="1" smtClean="0">
                <a:latin typeface="Times New Roman" panose="02020603050405020304" pitchFamily="18" charset="0"/>
                <a:cs typeface="Times New Roman" panose="02020603050405020304" pitchFamily="18" charset="0"/>
              </a:rPr>
              <a:t>与 </a:t>
            </a:r>
            <a:r>
              <a:rPr lang="en-US" altLang="zh-CN" sz="2400" b="1" i="1" smtClean="0">
                <a:latin typeface="Times New Roman" panose="02020603050405020304" pitchFamily="18" charset="0"/>
                <a:cs typeface="Times New Roman" panose="02020603050405020304" pitchFamily="18" charset="0"/>
              </a:rPr>
              <a:t>a</a:t>
            </a:r>
            <a:r>
              <a:rPr lang="en-US" altLang="zh-CN" sz="2400" b="1" i="1" baseline="-25000" smtClean="0">
                <a:latin typeface="Times New Roman" panose="02020603050405020304" pitchFamily="18" charset="0"/>
                <a:cs typeface="Times New Roman" panose="02020603050405020304" pitchFamily="18" charset="0"/>
              </a:rPr>
              <a:t>ij </a:t>
            </a:r>
            <a:r>
              <a:rPr lang="zh-CN" altLang="en-US" sz="2400" b="1" smtClean="0">
                <a:latin typeface="Times New Roman" panose="02020603050405020304" pitchFamily="18" charset="0"/>
                <a:cs typeface="Times New Roman" panose="02020603050405020304" pitchFamily="18" charset="0"/>
              </a:rPr>
              <a:t>之间</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这就得到 </a:t>
            </a:r>
            <a:r>
              <a:rPr lang="en-US" altLang="zh-CN" sz="2400" b="1" i="1" smtClean="0">
                <a:latin typeface="Times New Roman" panose="02020603050405020304" pitchFamily="18" charset="0"/>
                <a:cs typeface="Times New Roman" panose="02020603050405020304" pitchFamily="18" charset="0"/>
              </a:rPr>
              <a:t>D </a:t>
            </a:r>
            <a:r>
              <a:rPr lang="zh-CN" altLang="en-US" sz="2400" b="1" smtClean="0">
                <a:latin typeface="Times New Roman" panose="02020603050405020304" pitchFamily="18" charset="0"/>
                <a:cs typeface="Times New Roman" panose="02020603050405020304" pitchFamily="18" charset="0"/>
              </a:rPr>
              <a:t>中</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的一条哈密顿回路</a:t>
            </a:r>
            <a:r>
              <a:rPr lang="en-US" altLang="zh-CN" sz="2400" b="1" smtClean="0">
                <a:latin typeface="Times New Roman" panose="02020603050405020304" pitchFamily="18" charset="0"/>
                <a:cs typeface="Times New Roman" panose="02020603050405020304" pitchFamily="18" charset="0"/>
              </a:rPr>
              <a:t>.    </a:t>
            </a:r>
            <a:endParaRPr lang="zh-CN" altLang="en-US" sz="2400" b="1"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p:cNvSpPr>
            <a:spLocks noGrp="1"/>
          </p:cNvSpPr>
          <p:nvPr>
            <p:ph type="title"/>
          </p:nvPr>
        </p:nvSpPr>
        <p:spPr>
          <a:xfrm>
            <a:off x="457200" y="260350"/>
            <a:ext cx="8229600" cy="1143000"/>
          </a:xfrm>
        </p:spPr>
        <p:txBody>
          <a:bodyPr/>
          <a:lstStyle/>
          <a:p>
            <a:r>
              <a:rPr lang="zh-CN" altLang="en-US" sz="4000" b="1" smtClean="0">
                <a:solidFill>
                  <a:srgbClr val="C00000"/>
                </a:solidFill>
                <a:latin typeface="Times New Roman" panose="02020603050405020304" pitchFamily="18" charset="0"/>
                <a:cs typeface="Times New Roman" panose="02020603050405020304" pitchFamily="18" charset="0"/>
              </a:rPr>
              <a:t>证明</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44035" name="内容占位符 2"/>
          <p:cNvSpPr>
            <a:spLocks noGrp="1"/>
          </p:cNvSpPr>
          <p:nvPr>
            <p:ph idx="1"/>
          </p:nvPr>
        </p:nvSpPr>
        <p:spPr>
          <a:xfrm>
            <a:off x="611188" y="1700213"/>
            <a:ext cx="8075612" cy="4321175"/>
          </a:xfrm>
        </p:spPr>
        <p:txBody>
          <a:bodyPr/>
          <a:lstStyle/>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反之</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设 </a:t>
            </a:r>
            <a:r>
              <a:rPr lang="en-US" altLang="zh-CN" sz="2400" b="1" i="1" smtClean="0">
                <a:latin typeface="Times New Roman" panose="02020603050405020304" pitchFamily="18" charset="0"/>
                <a:cs typeface="Times New Roman" panose="02020603050405020304" pitchFamily="18" charset="0"/>
              </a:rPr>
              <a:t>D</a:t>
            </a:r>
            <a:r>
              <a:rPr lang="zh-CN" altLang="en-US" sz="2400" b="1" smtClean="0">
                <a:latin typeface="Times New Roman" panose="02020603050405020304" pitchFamily="18" charset="0"/>
                <a:cs typeface="Times New Roman" panose="02020603050405020304" pitchFamily="18" charset="0"/>
              </a:rPr>
              <a:t>有一条哈密顿回路 </a:t>
            </a:r>
            <a:r>
              <a:rPr lang="en-US" altLang="zh-CN" sz="2400" b="1" i="1" smtClean="0">
                <a:latin typeface="Times New Roman" panose="02020603050405020304" pitchFamily="18" charset="0"/>
                <a:cs typeface="Times New Roman" panose="02020603050405020304" pitchFamily="18" charset="0"/>
              </a:rPr>
              <a:t>P</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P </a:t>
            </a:r>
            <a:r>
              <a:rPr lang="zh-CN" altLang="en-US" sz="2400" b="1" smtClean="0">
                <a:latin typeface="Times New Roman" panose="02020603050405020304" pitchFamily="18" charset="0"/>
                <a:cs typeface="Times New Roman" panose="02020603050405020304" pitchFamily="18" charset="0"/>
              </a:rPr>
              <a:t>必须从 </a:t>
            </a:r>
            <a:r>
              <a:rPr lang="en-US" altLang="zh-CN" sz="2400" b="1" i="1" smtClean="0">
                <a:latin typeface="Times New Roman" panose="02020603050405020304" pitchFamily="18" charset="0"/>
                <a:cs typeface="Times New Roman" panose="02020603050405020304" pitchFamily="18" charset="0"/>
              </a:rPr>
              <a:t>s</a:t>
            </a:r>
            <a:r>
              <a:rPr lang="en-US" altLang="zh-CN" sz="2400" b="1" i="1" baseline="-25000" smtClean="0">
                <a:latin typeface="Times New Roman" panose="02020603050405020304" pitchFamily="18" charset="0"/>
                <a:cs typeface="Times New Roman" panose="02020603050405020304" pitchFamily="18" charset="0"/>
              </a:rPr>
              <a:t>n </a:t>
            </a:r>
            <a:r>
              <a:rPr lang="zh-CN" altLang="en-US" sz="2400" b="1" smtClean="0">
                <a:latin typeface="Times New Roman" panose="02020603050405020304" pitchFamily="18" charset="0"/>
                <a:cs typeface="Times New Roman" panose="02020603050405020304" pitchFamily="18" charset="0"/>
              </a:rPr>
              <a:t>到 </a:t>
            </a:r>
            <a:r>
              <a:rPr lang="en-US" altLang="zh-CN" sz="2400" b="1" i="1" smtClean="0">
                <a:latin typeface="Times New Roman" panose="02020603050405020304" pitchFamily="18" charset="0"/>
                <a:cs typeface="Times New Roman" panose="02020603050405020304" pitchFamily="18" charset="0"/>
              </a:rPr>
              <a:t>s</a:t>
            </a:r>
            <a:r>
              <a:rPr lang="en-US" altLang="zh-CN" sz="2400" b="1" baseline="-25000" smtClean="0">
                <a:latin typeface="Times New Roman" panose="02020603050405020304" pitchFamily="18" charset="0"/>
                <a:cs typeface="Times New Roman" panose="02020603050405020304" pitchFamily="18" charset="0"/>
              </a:rPr>
              <a:t>0</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不妨设 </a:t>
            </a:r>
            <a:r>
              <a:rPr lang="en-US" altLang="zh-CN" sz="2400" b="1" i="1" smtClean="0">
                <a:latin typeface="Times New Roman" panose="02020603050405020304" pitchFamily="18" charset="0"/>
                <a:cs typeface="Times New Roman" panose="02020603050405020304" pitchFamily="18" charset="0"/>
              </a:rPr>
              <a:t>P </a:t>
            </a:r>
            <a:endParaRPr lang="en-US" altLang="zh-CN" sz="2400" b="1" i="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从 </a:t>
            </a:r>
            <a:r>
              <a:rPr lang="en-US" altLang="zh-CN" sz="2400" b="1" i="1" smtClean="0">
                <a:latin typeface="Times New Roman" panose="02020603050405020304" pitchFamily="18" charset="0"/>
                <a:cs typeface="Times New Roman" panose="02020603050405020304" pitchFamily="18" charset="0"/>
              </a:rPr>
              <a:t>s</a:t>
            </a:r>
            <a:r>
              <a:rPr lang="en-US" altLang="zh-CN" sz="2400" b="1" baseline="-25000" smtClean="0">
                <a:latin typeface="Times New Roman" panose="02020603050405020304" pitchFamily="18" charset="0"/>
                <a:cs typeface="Times New Roman" panose="02020603050405020304" pitchFamily="18" charset="0"/>
              </a:rPr>
              <a:t>0 </a:t>
            </a:r>
            <a:r>
              <a:rPr lang="zh-CN" altLang="en-US" sz="2400" b="1" smtClean="0">
                <a:latin typeface="Times New Roman" panose="02020603050405020304" pitchFamily="18" charset="0"/>
                <a:cs typeface="Times New Roman" panose="02020603050405020304" pitchFamily="18" charset="0"/>
              </a:rPr>
              <a:t>开始到 </a:t>
            </a:r>
            <a:r>
              <a:rPr lang="en-US" altLang="zh-CN" sz="2400" b="1" i="1" smtClean="0">
                <a:latin typeface="Times New Roman" panose="02020603050405020304" pitchFamily="18" charset="0"/>
                <a:cs typeface="Times New Roman" panose="02020603050405020304" pitchFamily="18" charset="0"/>
              </a:rPr>
              <a:t>s</a:t>
            </a:r>
            <a:r>
              <a:rPr lang="en-US" altLang="zh-CN" sz="2400" b="1" i="1" baseline="-25000" smtClean="0">
                <a:latin typeface="Times New Roman" panose="02020603050405020304" pitchFamily="18" charset="0"/>
                <a:cs typeface="Times New Roman" panose="02020603050405020304" pitchFamily="18" charset="0"/>
              </a:rPr>
              <a:t>n</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最后回到 </a:t>
            </a:r>
            <a:r>
              <a:rPr lang="en-US" altLang="zh-CN" sz="2400" b="1" i="1" smtClean="0">
                <a:latin typeface="Times New Roman" panose="02020603050405020304" pitchFamily="18" charset="0"/>
                <a:cs typeface="Times New Roman" panose="02020603050405020304" pitchFamily="18" charset="0"/>
              </a:rPr>
              <a:t>s</a:t>
            </a:r>
            <a:r>
              <a:rPr lang="en-US" altLang="zh-CN" sz="2400" b="1" baseline="-25000" smtClean="0">
                <a:latin typeface="Times New Roman" panose="02020603050405020304" pitchFamily="18" charset="0"/>
                <a:cs typeface="Times New Roman" panose="02020603050405020304" pitchFamily="18" charset="0"/>
              </a:rPr>
              <a:t>0 </a:t>
            </a:r>
            <a:r>
              <a:rPr lang="zh-CN" altLang="en-US" sz="2400" b="1" smtClean="0">
                <a:latin typeface="Times New Roman" panose="02020603050405020304" pitchFamily="18" charset="0"/>
                <a:cs typeface="Times New Roman" panose="02020603050405020304" pitchFamily="18" charset="0"/>
              </a:rPr>
              <a:t>结束</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我们称上面构造的那种哈</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密顿回路是正常的</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即正常的回路从左到右或者从右到左通</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过每一条 </a:t>
            </a:r>
            <a:r>
              <a:rPr lang="en-US" altLang="zh-CN" sz="2400" b="1" i="1" smtClean="0">
                <a:latin typeface="Times New Roman" panose="02020603050405020304" pitchFamily="18" charset="0"/>
                <a:cs typeface="Times New Roman" panose="02020603050405020304" pitchFamily="18" charset="0"/>
              </a:rPr>
              <a:t>L</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每一个 </a:t>
            </a:r>
            <a:r>
              <a:rPr lang="en-US" altLang="zh-CN" sz="2400" b="1" i="1" smtClean="0">
                <a:latin typeface="Times New Roman" panose="02020603050405020304" pitchFamily="18" charset="0"/>
                <a:cs typeface="Times New Roman" panose="02020603050405020304" pitchFamily="18" charset="0"/>
              </a:rPr>
              <a:t>c</a:t>
            </a:r>
            <a:r>
              <a:rPr lang="en-US" altLang="zh-CN" sz="2400" b="1" i="1" baseline="-25000" smtClean="0">
                <a:latin typeface="Times New Roman" panose="02020603050405020304" pitchFamily="18" charset="0"/>
                <a:cs typeface="Times New Roman" panose="02020603050405020304" pitchFamily="18" charset="0"/>
              </a:rPr>
              <a:t>j </a:t>
            </a:r>
            <a:r>
              <a:rPr lang="zh-CN" altLang="en-US" sz="2400" b="1" smtClean="0">
                <a:latin typeface="Times New Roman" panose="02020603050405020304" pitchFamily="18" charset="0"/>
                <a:cs typeface="Times New Roman" panose="02020603050405020304" pitchFamily="18" charset="0"/>
              </a:rPr>
              <a:t>插在某个 </a:t>
            </a:r>
            <a:r>
              <a:rPr lang="en-US" altLang="zh-CN" sz="2400" b="1" i="1" smtClean="0">
                <a:latin typeface="Times New Roman" panose="02020603050405020304" pitchFamily="18" charset="0"/>
                <a:cs typeface="Times New Roman" panose="02020603050405020304" pitchFamily="18" charset="0"/>
              </a:rPr>
              <a:t>a</a:t>
            </a:r>
            <a:r>
              <a:rPr lang="en-US" altLang="zh-CN" sz="2400" b="1" i="1" baseline="-25000" smtClean="0">
                <a:latin typeface="Times New Roman" panose="02020603050405020304" pitchFamily="18" charset="0"/>
                <a:cs typeface="Times New Roman" panose="02020603050405020304" pitchFamily="18" charset="0"/>
              </a:rPr>
              <a:t>ij </a:t>
            </a:r>
            <a:r>
              <a:rPr lang="zh-CN" altLang="en-US" sz="2400" b="1" smtClean="0">
                <a:latin typeface="Times New Roman" panose="02020603050405020304" pitchFamily="18" charset="0"/>
                <a:cs typeface="Times New Roman" panose="02020603050405020304" pitchFamily="18" charset="0"/>
              </a:rPr>
              <a:t>和 </a:t>
            </a:r>
            <a:r>
              <a:rPr lang="en-US" altLang="zh-CN" sz="2400" b="1" i="1" smtClean="0">
                <a:latin typeface="Times New Roman" panose="02020603050405020304" pitchFamily="18" charset="0"/>
                <a:cs typeface="Times New Roman" panose="02020603050405020304" pitchFamily="18" charset="0"/>
              </a:rPr>
              <a:t>b</a:t>
            </a:r>
            <a:r>
              <a:rPr lang="en-US" altLang="zh-CN" sz="2400" b="1" i="1" baseline="-25000" smtClean="0">
                <a:latin typeface="Times New Roman" panose="02020603050405020304" pitchFamily="18" charset="0"/>
                <a:cs typeface="Times New Roman" panose="02020603050405020304" pitchFamily="18" charset="0"/>
              </a:rPr>
              <a:t>ij </a:t>
            </a:r>
            <a:r>
              <a:rPr lang="zh-CN" altLang="en-US" sz="2400" b="1" smtClean="0">
                <a:latin typeface="Times New Roman" panose="02020603050405020304" pitchFamily="18" charset="0"/>
                <a:cs typeface="Times New Roman" panose="02020603050405020304" pitchFamily="18" charset="0"/>
              </a:rPr>
              <a:t>或者 </a:t>
            </a:r>
            <a:r>
              <a:rPr lang="en-US" altLang="zh-CN" sz="2400" b="1" i="1" smtClean="0">
                <a:latin typeface="Times New Roman" panose="02020603050405020304" pitchFamily="18" charset="0"/>
                <a:cs typeface="Times New Roman" panose="02020603050405020304" pitchFamily="18" charset="0"/>
              </a:rPr>
              <a:t>b</a:t>
            </a:r>
            <a:r>
              <a:rPr lang="en-US" altLang="zh-CN" sz="2400" b="1" i="1" baseline="-25000" smtClean="0">
                <a:latin typeface="Times New Roman" panose="02020603050405020304" pitchFamily="18" charset="0"/>
                <a:cs typeface="Times New Roman" panose="02020603050405020304" pitchFamily="18" charset="0"/>
              </a:rPr>
              <a:t>ij </a:t>
            </a:r>
            <a:r>
              <a:rPr lang="zh-CN" altLang="en-US" sz="2400" b="1" smtClean="0">
                <a:latin typeface="Times New Roman" panose="02020603050405020304" pitchFamily="18" charset="0"/>
                <a:cs typeface="Times New Roman" panose="02020603050405020304" pitchFamily="18" charset="0"/>
              </a:rPr>
              <a:t>和 </a:t>
            </a:r>
            <a:r>
              <a:rPr lang="en-US" altLang="zh-CN" sz="2400" b="1" i="1" smtClean="0">
                <a:latin typeface="Times New Roman" panose="02020603050405020304" pitchFamily="18" charset="0"/>
                <a:cs typeface="Times New Roman" panose="02020603050405020304" pitchFamily="18" charset="0"/>
              </a:rPr>
              <a:t>a</a:t>
            </a:r>
            <a:r>
              <a:rPr lang="en-US" altLang="zh-CN" sz="2400" b="1" i="1" baseline="-25000" smtClean="0">
                <a:latin typeface="Times New Roman" panose="02020603050405020304" pitchFamily="18" charset="0"/>
                <a:cs typeface="Times New Roman" panose="02020603050405020304" pitchFamily="18" charset="0"/>
              </a:rPr>
              <a:t>ij </a:t>
            </a:r>
            <a:r>
              <a:rPr lang="zh-CN" altLang="en-US" sz="2400" b="1" smtClean="0">
                <a:latin typeface="Times New Roman" panose="02020603050405020304" pitchFamily="18" charset="0"/>
                <a:cs typeface="Times New Roman" panose="02020603050405020304" pitchFamily="18" charset="0"/>
              </a:rPr>
              <a:t>之间</a:t>
            </a:r>
            <a:r>
              <a:rPr lang="en-US" altLang="zh-CN" sz="2400" b="1" smtClean="0">
                <a:latin typeface="Times New Roman" panose="02020603050405020304" pitchFamily="18" charset="0"/>
                <a:cs typeface="Times New Roman" panose="02020603050405020304" pitchFamily="18" charset="0"/>
              </a:rPr>
              <a:t>. </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如果 </a:t>
            </a:r>
            <a:r>
              <a:rPr lang="en-US" altLang="zh-CN" sz="2400" b="1" i="1" smtClean="0">
                <a:latin typeface="Times New Roman" panose="02020603050405020304" pitchFamily="18" charset="0"/>
                <a:cs typeface="Times New Roman" panose="02020603050405020304" pitchFamily="18" charset="0"/>
              </a:rPr>
              <a:t>P </a:t>
            </a:r>
            <a:r>
              <a:rPr lang="zh-CN" altLang="en-US" sz="2400" b="1" smtClean="0">
                <a:latin typeface="Times New Roman" panose="02020603050405020304" pitchFamily="18" charset="0"/>
                <a:cs typeface="Times New Roman" panose="02020603050405020304" pitchFamily="18" charset="0"/>
              </a:rPr>
              <a:t>是正常的</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容易根据 </a:t>
            </a:r>
            <a:r>
              <a:rPr lang="en-US" altLang="zh-CN" sz="2400" b="1" i="1" smtClean="0">
                <a:latin typeface="Times New Roman" panose="02020603050405020304" pitchFamily="18" charset="0"/>
                <a:cs typeface="Times New Roman" panose="02020603050405020304" pitchFamily="18" charset="0"/>
              </a:rPr>
              <a:t>P </a:t>
            </a:r>
            <a:r>
              <a:rPr lang="zh-CN" altLang="en-US" sz="2400" b="1" smtClean="0">
                <a:latin typeface="Times New Roman" panose="02020603050405020304" pitchFamily="18" charset="0"/>
                <a:cs typeface="Times New Roman" panose="02020603050405020304" pitchFamily="18" charset="0"/>
              </a:rPr>
              <a:t>规定 </a:t>
            </a:r>
            <a:r>
              <a:rPr lang="en-US" altLang="zh-CN" sz="2400" b="1" i="1" smtClean="0">
                <a:latin typeface="Times New Roman" panose="02020603050405020304" pitchFamily="18" charset="0"/>
                <a:cs typeface="Times New Roman" panose="02020603050405020304" pitchFamily="18" charset="0"/>
              </a:rPr>
              <a:t>F </a:t>
            </a:r>
            <a:r>
              <a:rPr lang="zh-CN" altLang="en-US" sz="2400" b="1" smtClean="0">
                <a:latin typeface="Times New Roman" panose="02020603050405020304" pitchFamily="18" charset="0"/>
                <a:cs typeface="Times New Roman" panose="02020603050405020304" pitchFamily="18" charset="0"/>
              </a:rPr>
              <a:t>的一个成真赋值 </a:t>
            </a:r>
            <a:r>
              <a:rPr lang="en-US" altLang="zh-CN" sz="2400" b="1" i="1" smtClean="0">
                <a:latin typeface="Times New Roman" panose="02020603050405020304" pitchFamily="18" charset="0"/>
                <a:cs typeface="Times New Roman" panose="02020603050405020304" pitchFamily="18" charset="0"/>
              </a:rPr>
              <a:t>t</a:t>
            </a:r>
            <a:r>
              <a:rPr lang="en-US" altLang="zh-CN" sz="2400" b="1" smtClean="0">
                <a:latin typeface="Times New Roman" panose="02020603050405020304" pitchFamily="18" charset="0"/>
                <a:cs typeface="Times New Roman" panose="02020603050405020304" pitchFamily="18" charset="0"/>
              </a:rPr>
              <a:t>: </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若 </a:t>
            </a:r>
            <a:r>
              <a:rPr lang="en-US" altLang="zh-CN" sz="2400" b="1" i="1" smtClean="0">
                <a:latin typeface="Times New Roman" panose="02020603050405020304" pitchFamily="18" charset="0"/>
                <a:cs typeface="Times New Roman" panose="02020603050405020304" pitchFamily="18" charset="0"/>
              </a:rPr>
              <a:t>P </a:t>
            </a:r>
            <a:r>
              <a:rPr lang="zh-CN" altLang="en-US" sz="2400" b="1" smtClean="0">
                <a:latin typeface="Times New Roman" panose="02020603050405020304" pitchFamily="18" charset="0"/>
                <a:cs typeface="Times New Roman" panose="02020603050405020304" pitchFamily="18" charset="0"/>
              </a:rPr>
              <a:t>从左到右通过 </a:t>
            </a:r>
            <a:r>
              <a:rPr lang="en-US" altLang="zh-CN" sz="2400" b="1" i="1" smtClean="0">
                <a:latin typeface="Times New Roman" panose="02020603050405020304" pitchFamily="18" charset="0"/>
                <a:cs typeface="Times New Roman" panose="02020603050405020304" pitchFamily="18" charset="0"/>
              </a:rPr>
              <a:t>L</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则令 </a:t>
            </a:r>
            <a:r>
              <a:rPr lang="en-US" altLang="zh-CN" sz="2400" b="1" i="1" smtClean="0">
                <a:latin typeface="Times New Roman" panose="02020603050405020304" pitchFamily="18" charset="0"/>
                <a:cs typeface="Times New Roman" panose="02020603050405020304" pitchFamily="18" charset="0"/>
              </a:rPr>
              <a:t>t</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x</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)=1; </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若 </a:t>
            </a:r>
            <a:r>
              <a:rPr lang="en-US" altLang="zh-CN" sz="2400" b="1" i="1" smtClean="0">
                <a:latin typeface="Times New Roman" panose="02020603050405020304" pitchFamily="18" charset="0"/>
                <a:cs typeface="Times New Roman" panose="02020603050405020304" pitchFamily="18" charset="0"/>
              </a:rPr>
              <a:t>P </a:t>
            </a:r>
            <a:r>
              <a:rPr lang="zh-CN" altLang="en-US" sz="2400" b="1" smtClean="0">
                <a:latin typeface="Times New Roman" panose="02020603050405020304" pitchFamily="18" charset="0"/>
                <a:cs typeface="Times New Roman" panose="02020603050405020304" pitchFamily="18" charset="0"/>
              </a:rPr>
              <a:t>从右到左通过 </a:t>
            </a:r>
            <a:r>
              <a:rPr lang="en-US" altLang="zh-CN" sz="2400" b="1" i="1" smtClean="0">
                <a:latin typeface="Times New Roman" panose="02020603050405020304" pitchFamily="18" charset="0"/>
                <a:cs typeface="Times New Roman" panose="02020603050405020304" pitchFamily="18" charset="0"/>
              </a:rPr>
              <a:t>L</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则令 </a:t>
            </a:r>
            <a:r>
              <a:rPr lang="en-US" altLang="zh-CN" sz="2400" b="1" i="1" smtClean="0">
                <a:latin typeface="Times New Roman" panose="02020603050405020304" pitchFamily="18" charset="0"/>
                <a:cs typeface="Times New Roman" panose="02020603050405020304" pitchFamily="18" charset="0"/>
              </a:rPr>
              <a:t>t</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x</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)=0. </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根据 </a:t>
            </a:r>
            <a:r>
              <a:rPr lang="en-US" altLang="zh-CN" sz="2400" b="1" i="1" smtClean="0">
                <a:latin typeface="Times New Roman" panose="02020603050405020304" pitchFamily="18" charset="0"/>
                <a:cs typeface="Times New Roman" panose="02020603050405020304" pitchFamily="18" charset="0"/>
              </a:rPr>
              <a:t>c</a:t>
            </a:r>
            <a:r>
              <a:rPr lang="en-US" altLang="zh-CN" sz="2400" b="1" i="1" baseline="-25000" smtClean="0">
                <a:latin typeface="Times New Roman" panose="02020603050405020304" pitchFamily="18" charset="0"/>
                <a:cs typeface="Times New Roman" panose="02020603050405020304" pitchFamily="18" charset="0"/>
              </a:rPr>
              <a:t>j </a:t>
            </a:r>
            <a:r>
              <a:rPr lang="zh-CN" altLang="en-US" sz="2400" b="1" smtClean="0">
                <a:latin typeface="Times New Roman" panose="02020603050405020304" pitchFamily="18" charset="0"/>
                <a:cs typeface="Times New Roman" panose="02020603050405020304" pitchFamily="18" charset="0"/>
              </a:rPr>
              <a:t>插入 </a:t>
            </a:r>
            <a:r>
              <a:rPr lang="en-US" altLang="zh-CN" sz="2400" b="1" i="1" smtClean="0">
                <a:latin typeface="Times New Roman" panose="02020603050405020304" pitchFamily="18" charset="0"/>
                <a:cs typeface="Times New Roman" panose="02020603050405020304" pitchFamily="18" charset="0"/>
              </a:rPr>
              <a:t>L</a:t>
            </a:r>
            <a:r>
              <a:rPr lang="en-US" altLang="zh-CN" sz="2400" b="1" i="1" baseline="-25000" smtClean="0">
                <a:latin typeface="Times New Roman" panose="02020603050405020304" pitchFamily="18" charset="0"/>
                <a:cs typeface="Times New Roman" panose="02020603050405020304" pitchFamily="18" charset="0"/>
              </a:rPr>
              <a:t>i </a:t>
            </a:r>
            <a:r>
              <a:rPr lang="zh-CN" altLang="en-US" sz="2400" b="1" smtClean="0">
                <a:latin typeface="Times New Roman" panose="02020603050405020304" pitchFamily="18" charset="0"/>
                <a:cs typeface="Times New Roman" panose="02020603050405020304" pitchFamily="18" charset="0"/>
              </a:rPr>
              <a:t>的方式</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不难证明必有 </a:t>
            </a:r>
            <a:r>
              <a:rPr lang="en-US" altLang="zh-CN" sz="2400" b="1" i="1" smtClean="0">
                <a:latin typeface="Times New Roman" panose="02020603050405020304" pitchFamily="18" charset="0"/>
                <a:cs typeface="Times New Roman" panose="02020603050405020304" pitchFamily="18" charset="0"/>
              </a:rPr>
              <a:t>t</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C</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)=1.</a:t>
            </a:r>
            <a:endParaRPr lang="en-US" altLang="zh-CN" sz="2400" b="1"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p:cNvSpPr>
          <p:nvPr>
            <p:ph type="title"/>
          </p:nvPr>
        </p:nvSpPr>
        <p:spPr>
          <a:xfrm>
            <a:off x="434975" y="188913"/>
            <a:ext cx="8229600" cy="1143000"/>
          </a:xfrm>
        </p:spPr>
        <p:txBody>
          <a:bodyPr/>
          <a:lstStyle/>
          <a:p>
            <a:r>
              <a:rPr lang="zh-CN" altLang="en-US" sz="4000" b="1" smtClean="0">
                <a:solidFill>
                  <a:srgbClr val="C00000"/>
                </a:solidFill>
                <a:latin typeface="Times New Roman" panose="02020603050405020304" pitchFamily="18" charset="0"/>
                <a:cs typeface="Times New Roman" panose="02020603050405020304" pitchFamily="18" charset="0"/>
              </a:rPr>
              <a:t>证明</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45059" name="内容占位符 2"/>
          <p:cNvSpPr>
            <a:spLocks noGrp="1"/>
          </p:cNvSpPr>
          <p:nvPr>
            <p:ph idx="1"/>
          </p:nvPr>
        </p:nvSpPr>
        <p:spPr>
          <a:xfrm>
            <a:off x="755576" y="1556792"/>
            <a:ext cx="8097465" cy="4525962"/>
          </a:xfrm>
        </p:spPr>
        <p:txBody>
          <a:bodyPr/>
          <a:lstStyle/>
          <a:p>
            <a:pPr>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要证 </a:t>
            </a:r>
            <a:r>
              <a:rPr lang="en-US" altLang="zh-CN" sz="2400" b="1" i="1" dirty="0" smtClean="0">
                <a:latin typeface="Times New Roman" panose="02020603050405020304" pitchFamily="18" charset="0"/>
                <a:cs typeface="Times New Roman" panose="02020603050405020304" pitchFamily="18" charset="0"/>
              </a:rPr>
              <a:t>P</a:t>
            </a:r>
            <a:r>
              <a:rPr lang="zh-CN" altLang="en-US" sz="2400" b="1" dirty="0" smtClean="0">
                <a:latin typeface="Times New Roman" panose="02020603050405020304" pitchFamily="18" charset="0"/>
                <a:cs typeface="Times New Roman" panose="02020603050405020304" pitchFamily="18" charset="0"/>
              </a:rPr>
              <a:t>一定是正常的</a:t>
            </a:r>
            <a:r>
              <a:rPr lang="en-US" altLang="zh-CN" sz="2400" b="1" dirty="0" smtClean="0">
                <a:latin typeface="Times New Roman" panose="02020603050405020304" pitchFamily="18" charset="0"/>
                <a:cs typeface="Times New Roman" panose="02020603050405020304" pitchFamily="18" charset="0"/>
              </a:rPr>
              <a:t>. </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假设不然</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破坏正常性的唯一可能是 </a:t>
            </a:r>
            <a:r>
              <a:rPr lang="en-US" altLang="zh-CN" sz="2400" b="1" i="1" dirty="0" smtClean="0">
                <a:latin typeface="Times New Roman" panose="02020603050405020304" pitchFamily="18" charset="0"/>
                <a:cs typeface="Times New Roman" panose="02020603050405020304" pitchFamily="18" charset="0"/>
              </a:rPr>
              <a:t>P </a:t>
            </a:r>
            <a:r>
              <a:rPr lang="zh-CN" altLang="en-US" sz="2400" b="1" dirty="0" smtClean="0">
                <a:latin typeface="Times New Roman" panose="02020603050405020304" pitchFamily="18" charset="0"/>
                <a:cs typeface="Times New Roman" panose="02020603050405020304" pitchFamily="18" charset="0"/>
              </a:rPr>
              <a:t>从某条链 </a:t>
            </a:r>
            <a:r>
              <a:rPr lang="en-US" altLang="zh-CN" sz="2400" b="1" i="1" dirty="0" smtClean="0">
                <a:latin typeface="Times New Roman" panose="02020603050405020304" pitchFamily="18" charset="0"/>
                <a:cs typeface="Times New Roman" panose="02020603050405020304" pitchFamily="18" charset="0"/>
              </a:rPr>
              <a:t>L</a:t>
            </a:r>
            <a:r>
              <a:rPr lang="en-US" altLang="zh-CN" sz="2400" b="1" i="1" baseline="-25000" dirty="0" smtClean="0">
                <a:latin typeface="Times New Roman" panose="02020603050405020304" pitchFamily="18" charset="0"/>
                <a:cs typeface="Times New Roman" panose="02020603050405020304" pitchFamily="18" charset="0"/>
              </a:rPr>
              <a:t>s </a:t>
            </a:r>
            <a:r>
              <a:rPr lang="zh-CN" altLang="en-US" sz="2400" b="1" dirty="0" smtClean="0">
                <a:latin typeface="Times New Roman" panose="02020603050405020304" pitchFamily="18" charset="0"/>
                <a:cs typeface="Times New Roman" panose="02020603050405020304" pitchFamily="18" charset="0"/>
              </a:rPr>
              <a:t>上的</a:t>
            </a:r>
            <a:r>
              <a:rPr lang="zh-CN" altLang="en-US" sz="2400" b="1" dirty="0" smtClean="0">
                <a:latin typeface="Times New Roman" panose="02020603050405020304" pitchFamily="18" charset="0"/>
                <a:cs typeface="Times New Roman" panose="02020603050405020304" pitchFamily="18" charset="0"/>
              </a:rPr>
              <a:t>顶</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点 </a:t>
            </a:r>
            <a:r>
              <a:rPr lang="en-US" altLang="zh-CN" sz="2400" b="1" i="1" dirty="0" smtClean="0">
                <a:latin typeface="Times New Roman" panose="02020603050405020304" pitchFamily="18" charset="0"/>
                <a:cs typeface="Times New Roman" panose="02020603050405020304" pitchFamily="18" charset="0"/>
              </a:rPr>
              <a:t>u </a:t>
            </a:r>
            <a:r>
              <a:rPr lang="zh-CN" altLang="en-US" sz="2400" b="1" dirty="0" smtClean="0">
                <a:latin typeface="Times New Roman" panose="02020603050405020304" pitchFamily="18" charset="0"/>
                <a:cs typeface="Times New Roman" panose="02020603050405020304" pitchFamily="18" charset="0"/>
              </a:rPr>
              <a:t>到 </a:t>
            </a:r>
            <a:r>
              <a:rPr lang="en-US" altLang="zh-CN" sz="2400" b="1" i="1" dirty="0" err="1" smtClean="0">
                <a:latin typeface="Times New Roman" panose="02020603050405020304" pitchFamily="18" charset="0"/>
                <a:cs typeface="Times New Roman" panose="02020603050405020304" pitchFamily="18" charset="0"/>
              </a:rPr>
              <a:t>c</a:t>
            </a:r>
            <a:r>
              <a:rPr lang="en-US" altLang="zh-CN" sz="2400" b="1" i="1" baseline="-25000" dirty="0" err="1" smtClean="0">
                <a:latin typeface="Times New Roman" panose="02020603050405020304" pitchFamily="18" charset="0"/>
                <a:cs typeface="Times New Roman" panose="02020603050405020304" pitchFamily="18" charset="0"/>
              </a:rPr>
              <a:t>j</a:t>
            </a:r>
            <a:r>
              <a:rPr lang="en-US" altLang="zh-CN" sz="2400" b="1" i="1" baseline="-25000"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后没有回到同一条链中的顶点</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而是到另一条链 </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i="1" dirty="0" smtClean="0">
                <a:latin typeface="Times New Roman" panose="02020603050405020304" pitchFamily="18" charset="0"/>
                <a:cs typeface="Times New Roman" panose="02020603050405020304" pitchFamily="18" charset="0"/>
              </a:rPr>
              <a:t>L</a:t>
            </a:r>
            <a:r>
              <a:rPr lang="en-US" altLang="zh-CN" sz="2400" b="1" i="1" baseline="-25000" dirty="0" smtClean="0">
                <a:latin typeface="Times New Roman" panose="02020603050405020304" pitchFamily="18" charset="0"/>
                <a:cs typeface="Times New Roman" panose="02020603050405020304" pitchFamily="18" charset="0"/>
              </a:rPr>
              <a:t>t </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s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rPr>
              <a:t>t </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中的顶点</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若 </a:t>
            </a:r>
            <a:r>
              <a:rPr lang="en-US" altLang="zh-CN" sz="2400" b="1" i="1" dirty="0" smtClean="0">
                <a:latin typeface="Times New Roman" panose="02020603050405020304" pitchFamily="18" charset="0"/>
                <a:cs typeface="Times New Roman" panose="02020603050405020304" pitchFamily="18" charset="0"/>
              </a:rPr>
              <a:t>u </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a</a:t>
            </a:r>
            <a:r>
              <a:rPr lang="en-US" altLang="zh-CN" sz="2400" b="1" i="1" baseline="-25000" dirty="0" err="1" smtClean="0">
                <a:latin typeface="Times New Roman" panose="02020603050405020304" pitchFamily="18" charset="0"/>
                <a:cs typeface="Times New Roman" panose="02020603050405020304" pitchFamily="18" charset="0"/>
              </a:rPr>
              <a:t>sj</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由于 </a:t>
            </a:r>
            <a:r>
              <a:rPr lang="en-US" altLang="zh-CN" sz="2400" b="1" i="1" dirty="0" err="1" smtClean="0">
                <a:latin typeface="Times New Roman" panose="02020603050405020304" pitchFamily="18" charset="0"/>
                <a:cs typeface="Times New Roman" panose="02020603050405020304" pitchFamily="18" charset="0"/>
              </a:rPr>
              <a:t>b</a:t>
            </a:r>
            <a:r>
              <a:rPr lang="en-US" altLang="zh-CN" sz="2400" b="1" i="1" baseline="-25000" dirty="0" err="1" smtClean="0">
                <a:latin typeface="Times New Roman" panose="02020603050405020304" pitchFamily="18" charset="0"/>
                <a:cs typeface="Times New Roman" panose="02020603050405020304" pitchFamily="18" charset="0"/>
              </a:rPr>
              <a:t>sj</a:t>
            </a:r>
            <a:r>
              <a:rPr lang="en-US" altLang="zh-CN" sz="2400" b="1" i="1" baseline="-25000"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只与 </a:t>
            </a:r>
            <a:r>
              <a:rPr lang="en-US" altLang="zh-CN" sz="2400" b="1" i="1" dirty="0" err="1" smtClean="0">
                <a:latin typeface="Times New Roman" panose="02020603050405020304" pitchFamily="18" charset="0"/>
                <a:cs typeface="Times New Roman" panose="02020603050405020304" pitchFamily="18" charset="0"/>
              </a:rPr>
              <a:t>a</a:t>
            </a:r>
            <a:r>
              <a:rPr lang="en-US" altLang="zh-CN" sz="2400" b="1" i="1" baseline="-25000" dirty="0" err="1" smtClean="0">
                <a:latin typeface="Times New Roman" panose="02020603050405020304" pitchFamily="18" charset="0"/>
                <a:cs typeface="Times New Roman" panose="02020603050405020304" pitchFamily="18" charset="0"/>
              </a:rPr>
              <a:t>sj</a:t>
            </a:r>
            <a:r>
              <a:rPr lang="zh-CN" altLang="en-US" sz="2400" b="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c</a:t>
            </a:r>
            <a:r>
              <a:rPr lang="en-US" altLang="zh-CN" sz="2400" b="1" i="1" baseline="-25000" dirty="0" err="1" smtClean="0">
                <a:latin typeface="Times New Roman" panose="02020603050405020304" pitchFamily="18" charset="0"/>
                <a:cs typeface="Times New Roman" panose="02020603050405020304" pitchFamily="18" charset="0"/>
              </a:rPr>
              <a:t>j</a:t>
            </a:r>
            <a:r>
              <a:rPr lang="en-US" altLang="zh-CN" sz="2400" b="1" i="1" baseline="-25000"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及 </a:t>
            </a:r>
            <a:r>
              <a:rPr lang="en-US" altLang="zh-CN" sz="2400" b="1" i="1" dirty="0" err="1" smtClean="0">
                <a:latin typeface="Times New Roman" panose="02020603050405020304" pitchFamily="18" charset="0"/>
                <a:cs typeface="Times New Roman" panose="02020603050405020304" pitchFamily="18" charset="0"/>
              </a:rPr>
              <a:t>d</a:t>
            </a:r>
            <a:r>
              <a:rPr lang="en-US" altLang="zh-CN" sz="2400" b="1" i="1" baseline="-25000" dirty="0" err="1" smtClean="0">
                <a:latin typeface="Times New Roman" panose="02020603050405020304" pitchFamily="18" charset="0"/>
                <a:cs typeface="Times New Roman" panose="02020603050405020304" pitchFamily="18" charset="0"/>
              </a:rPr>
              <a:t>sj</a:t>
            </a:r>
            <a:r>
              <a:rPr lang="en-US" altLang="zh-CN" sz="2400" b="1" i="1" baseline="-25000"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相</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邻</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P </a:t>
            </a:r>
            <a:r>
              <a:rPr lang="zh-CN" altLang="en-US" sz="2400" b="1" dirty="0" smtClean="0">
                <a:latin typeface="Times New Roman" panose="02020603050405020304" pitchFamily="18" charset="0"/>
                <a:cs typeface="Times New Roman" panose="02020603050405020304" pitchFamily="18" charset="0"/>
              </a:rPr>
              <a:t>已经</a:t>
            </a:r>
            <a:r>
              <a:rPr lang="zh-CN" altLang="en-US" sz="2400" b="1" dirty="0" smtClean="0">
                <a:latin typeface="Times New Roman" panose="02020603050405020304" pitchFamily="18" charset="0"/>
                <a:cs typeface="Times New Roman" panose="02020603050405020304" pitchFamily="18" charset="0"/>
              </a:rPr>
              <a:t>过 </a:t>
            </a:r>
            <a:r>
              <a:rPr lang="en-US" altLang="zh-CN" sz="2400" b="1" i="1" dirty="0" err="1" smtClean="0">
                <a:latin typeface="Times New Roman" panose="02020603050405020304" pitchFamily="18" charset="0"/>
                <a:cs typeface="Times New Roman" panose="02020603050405020304" pitchFamily="18" charset="0"/>
              </a:rPr>
              <a:t>a</a:t>
            </a:r>
            <a:r>
              <a:rPr lang="en-US" altLang="zh-CN" sz="2400" b="1" i="1" baseline="-25000" dirty="0" err="1" smtClean="0">
                <a:latin typeface="Times New Roman" panose="02020603050405020304" pitchFamily="18" charset="0"/>
                <a:cs typeface="Times New Roman" panose="02020603050405020304" pitchFamily="18" charset="0"/>
              </a:rPr>
              <a:t>sj</a:t>
            </a:r>
            <a:r>
              <a:rPr lang="en-US" altLang="zh-CN" sz="2400" b="1" i="1" baseline="-25000"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和 </a:t>
            </a:r>
            <a:r>
              <a:rPr lang="en-US" altLang="zh-CN" sz="2400" b="1" i="1" dirty="0" err="1" smtClean="0">
                <a:latin typeface="Times New Roman" panose="02020603050405020304" pitchFamily="18" charset="0"/>
                <a:cs typeface="Times New Roman" panose="02020603050405020304" pitchFamily="18" charset="0"/>
              </a:rPr>
              <a:t>c</a:t>
            </a:r>
            <a:r>
              <a:rPr lang="en-US" altLang="zh-CN" sz="2400" b="1" i="1" baseline="-25000" dirty="0" err="1" smtClean="0">
                <a:latin typeface="Times New Roman" panose="02020603050405020304" pitchFamily="18" charset="0"/>
                <a:cs typeface="Times New Roman" panose="02020603050405020304" pitchFamily="18" charset="0"/>
              </a:rPr>
              <a:t>j</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b</a:t>
            </a:r>
            <a:r>
              <a:rPr lang="en-US" altLang="zh-CN" sz="2400" b="1" i="1" baseline="-25000" dirty="0" err="1" smtClean="0">
                <a:latin typeface="Times New Roman" panose="02020603050405020304" pitchFamily="18" charset="0"/>
                <a:cs typeface="Times New Roman" panose="02020603050405020304" pitchFamily="18" charset="0"/>
              </a:rPr>
              <a:t>sj</a:t>
            </a:r>
            <a:r>
              <a:rPr lang="en-US" altLang="zh-CN" sz="2400" b="1" i="1" baseline="-25000"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只剩下一个相邻的顶点</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故 </a:t>
            </a:r>
            <a:r>
              <a:rPr lang="en-US" altLang="zh-CN" sz="2400" b="1" i="1" dirty="0" smtClean="0">
                <a:latin typeface="Times New Roman" panose="02020603050405020304" pitchFamily="18" charset="0"/>
                <a:cs typeface="Times New Roman" panose="02020603050405020304" pitchFamily="18" charset="0"/>
              </a:rPr>
              <a:t>P </a:t>
            </a:r>
            <a:r>
              <a:rPr lang="zh-CN" altLang="en-US" sz="2400" b="1" dirty="0" smtClean="0">
                <a:latin typeface="Times New Roman" panose="02020603050405020304" pitchFamily="18" charset="0"/>
                <a:cs typeface="Times New Roman" panose="02020603050405020304" pitchFamily="18" charset="0"/>
              </a:rPr>
              <a:t>不可</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能通过 </a:t>
            </a:r>
            <a:r>
              <a:rPr lang="en-US" altLang="zh-CN" sz="2400" b="1" i="1" dirty="0" err="1" smtClean="0">
                <a:latin typeface="Times New Roman" panose="02020603050405020304" pitchFamily="18" charset="0"/>
                <a:cs typeface="Times New Roman" panose="02020603050405020304" pitchFamily="18" charset="0"/>
              </a:rPr>
              <a:t>b</a:t>
            </a:r>
            <a:r>
              <a:rPr lang="en-US" altLang="zh-CN" sz="2400" b="1" i="1" baseline="-25000" dirty="0" err="1" smtClean="0">
                <a:latin typeface="Times New Roman" panose="02020603050405020304" pitchFamily="18" charset="0"/>
                <a:cs typeface="Times New Roman" panose="02020603050405020304" pitchFamily="18" charset="0"/>
              </a:rPr>
              <a:t>sj</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若 </a:t>
            </a:r>
            <a:r>
              <a:rPr lang="en-US" altLang="zh-CN" sz="2400" b="1" i="1" dirty="0" smtClean="0">
                <a:latin typeface="Times New Roman" panose="02020603050405020304" pitchFamily="18" charset="0"/>
                <a:cs typeface="Times New Roman" panose="02020603050405020304" pitchFamily="18" charset="0"/>
              </a:rPr>
              <a:t>u </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b</a:t>
            </a:r>
            <a:r>
              <a:rPr lang="en-US" altLang="zh-CN" sz="2400" b="1" i="1" baseline="-25000" dirty="0" err="1" smtClean="0">
                <a:latin typeface="Times New Roman" panose="02020603050405020304" pitchFamily="18" charset="0"/>
                <a:cs typeface="Times New Roman" panose="02020603050405020304" pitchFamily="18" charset="0"/>
              </a:rPr>
              <a:t>sj</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由于</a:t>
            </a:r>
            <a:r>
              <a:rPr lang="en-US" altLang="zh-CN" sz="2400" b="1" i="1" dirty="0" err="1" smtClean="0">
                <a:latin typeface="Times New Roman" panose="02020603050405020304" pitchFamily="18" charset="0"/>
                <a:cs typeface="Times New Roman" panose="02020603050405020304" pitchFamily="18" charset="0"/>
              </a:rPr>
              <a:t>a</a:t>
            </a:r>
            <a:r>
              <a:rPr lang="en-US" altLang="zh-CN" sz="2400" b="1" i="1" baseline="-25000" dirty="0" err="1" smtClean="0">
                <a:latin typeface="Times New Roman" panose="02020603050405020304" pitchFamily="18" charset="0"/>
                <a:cs typeface="Times New Roman" panose="02020603050405020304" pitchFamily="18" charset="0"/>
              </a:rPr>
              <a:t>sj</a:t>
            </a:r>
            <a:r>
              <a:rPr lang="en-US" altLang="zh-CN" sz="2400" b="1" i="1" baseline="-25000"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只与 </a:t>
            </a:r>
            <a:r>
              <a:rPr lang="en-US" altLang="zh-CN" sz="2400" b="1" i="1" dirty="0" err="1" smtClean="0">
                <a:latin typeface="Times New Roman" panose="02020603050405020304" pitchFamily="18" charset="0"/>
                <a:cs typeface="Times New Roman" panose="02020603050405020304" pitchFamily="18" charset="0"/>
              </a:rPr>
              <a:t>b</a:t>
            </a:r>
            <a:r>
              <a:rPr lang="en-US" altLang="zh-CN" sz="2400" b="1" i="1" baseline="-25000" dirty="0" err="1" smtClean="0">
                <a:latin typeface="Times New Roman" panose="02020603050405020304" pitchFamily="18" charset="0"/>
                <a:cs typeface="Times New Roman" panose="02020603050405020304" pitchFamily="18" charset="0"/>
              </a:rPr>
              <a:t>sj</a:t>
            </a:r>
            <a:r>
              <a:rPr lang="zh-CN" altLang="en-US"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c</a:t>
            </a:r>
            <a:r>
              <a:rPr lang="en-US" altLang="zh-CN" sz="2400" b="1" i="1" baseline="-25000" dirty="0" err="1" smtClean="0">
                <a:latin typeface="Times New Roman" panose="02020603050405020304" pitchFamily="18" charset="0"/>
                <a:cs typeface="Times New Roman" panose="02020603050405020304" pitchFamily="18" charset="0"/>
              </a:rPr>
              <a:t>j</a:t>
            </a:r>
            <a:r>
              <a:rPr lang="en-US" altLang="zh-CN" sz="2400" b="1" i="1" baseline="-25000"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及 </a:t>
            </a:r>
            <a:r>
              <a:rPr lang="en-US" altLang="zh-CN" sz="2400" b="1" i="1" dirty="0" smtClean="0">
                <a:latin typeface="Times New Roman" panose="02020603050405020304" pitchFamily="18" charset="0"/>
                <a:cs typeface="Times New Roman" panose="02020603050405020304" pitchFamily="18" charset="0"/>
              </a:rPr>
              <a:t>d</a:t>
            </a:r>
            <a:r>
              <a:rPr lang="en-US" altLang="zh-CN" sz="2400" b="1" i="1" baseline="-25000" dirty="0" smtClean="0">
                <a:latin typeface="Times New Roman" panose="02020603050405020304" pitchFamily="18" charset="0"/>
                <a:cs typeface="Times New Roman" panose="02020603050405020304" pitchFamily="18" charset="0"/>
              </a:rPr>
              <a:t>s</a:t>
            </a:r>
            <a:r>
              <a:rPr lang="en-US" altLang="zh-CN" sz="2400" b="1" baseline="-25000" dirty="0" smtClean="0">
                <a:latin typeface="Times New Roman" panose="02020603050405020304" pitchFamily="18" charset="0"/>
                <a:cs typeface="Times New Roman" panose="02020603050405020304" pitchFamily="18" charset="0"/>
              </a:rPr>
              <a:t>(</a:t>
            </a:r>
            <a:r>
              <a:rPr lang="en-US" altLang="zh-CN" sz="2400" b="1" i="1" baseline="-25000" dirty="0" smtClean="0">
                <a:latin typeface="Times New Roman" panose="02020603050405020304" pitchFamily="18" charset="0"/>
                <a:cs typeface="Times New Roman" panose="02020603050405020304" pitchFamily="18" charset="0"/>
              </a:rPr>
              <a:t>j</a:t>
            </a:r>
            <a:r>
              <a:rPr lang="en-US" altLang="zh-CN" sz="2400" b="1" baseline="-25000"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25000" dirty="0" smtClean="0">
                <a:latin typeface="Times New Roman" panose="02020603050405020304" pitchFamily="18" charset="0"/>
                <a:cs typeface="Times New Roman" panose="02020603050405020304" pitchFamily="18" charset="0"/>
              </a:rPr>
              <a:t>1) </a:t>
            </a:r>
            <a:r>
              <a:rPr lang="zh-CN" altLang="en-US" sz="2400" b="1" dirty="0" smtClean="0">
                <a:latin typeface="Times New Roman" panose="02020603050405020304" pitchFamily="18" charset="0"/>
                <a:cs typeface="Times New Roman" panose="02020603050405020304" pitchFamily="18" charset="0"/>
              </a:rPr>
              <a:t>相邻</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P </a:t>
            </a:r>
            <a:r>
              <a:rPr lang="zh-CN" altLang="en-US" sz="2400" b="1" dirty="0" smtClean="0">
                <a:latin typeface="Times New Roman" panose="02020603050405020304" pitchFamily="18" charset="0"/>
                <a:cs typeface="Times New Roman" panose="02020603050405020304" pitchFamily="18" charset="0"/>
              </a:rPr>
              <a:t>已</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经过 </a:t>
            </a:r>
            <a:r>
              <a:rPr lang="en-US" altLang="zh-CN" sz="2400" b="1" i="1" dirty="0" err="1" smtClean="0">
                <a:latin typeface="Times New Roman" panose="02020603050405020304" pitchFamily="18" charset="0"/>
                <a:cs typeface="Times New Roman" panose="02020603050405020304" pitchFamily="18" charset="0"/>
              </a:rPr>
              <a:t>b</a:t>
            </a:r>
            <a:r>
              <a:rPr lang="en-US" altLang="zh-CN" sz="2400" b="1" i="1" baseline="-25000" dirty="0" err="1" smtClean="0">
                <a:latin typeface="Times New Roman" panose="02020603050405020304" pitchFamily="18" charset="0"/>
                <a:cs typeface="Times New Roman" panose="02020603050405020304" pitchFamily="18" charset="0"/>
              </a:rPr>
              <a:t>sj</a:t>
            </a:r>
            <a:r>
              <a:rPr lang="en-US" altLang="zh-CN" sz="2400" b="1" i="1" baseline="-25000"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和 </a:t>
            </a:r>
            <a:r>
              <a:rPr lang="en-US" altLang="zh-CN" sz="2400" b="1" i="1" dirty="0" err="1" smtClean="0">
                <a:latin typeface="Times New Roman" panose="02020603050405020304" pitchFamily="18" charset="0"/>
                <a:cs typeface="Times New Roman" panose="02020603050405020304" pitchFamily="18" charset="0"/>
              </a:rPr>
              <a:t>c</a:t>
            </a:r>
            <a:r>
              <a:rPr lang="en-US" altLang="zh-CN" sz="2400" b="1" i="1" baseline="-25000" dirty="0" err="1" smtClean="0">
                <a:latin typeface="Times New Roman" panose="02020603050405020304" pitchFamily="18" charset="0"/>
                <a:cs typeface="Times New Roman" panose="02020603050405020304" pitchFamily="18" charset="0"/>
              </a:rPr>
              <a:t>j</a:t>
            </a:r>
            <a:r>
              <a:rPr lang="zh-CN" altLang="en-US"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a</a:t>
            </a:r>
            <a:r>
              <a:rPr lang="en-US" altLang="zh-CN" sz="2400" b="1" i="1" baseline="-25000" dirty="0" err="1" smtClean="0">
                <a:latin typeface="Times New Roman" panose="02020603050405020304" pitchFamily="18" charset="0"/>
                <a:cs typeface="Times New Roman" panose="02020603050405020304" pitchFamily="18" charset="0"/>
              </a:rPr>
              <a:t>sj</a:t>
            </a:r>
            <a:r>
              <a:rPr lang="en-US" altLang="zh-CN" sz="2400" b="1" i="1" baseline="-25000"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也只剩下一个相邻的顶点</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故 </a:t>
            </a:r>
            <a:r>
              <a:rPr lang="en-US" altLang="zh-CN" sz="2400" b="1" i="1" dirty="0" smtClean="0">
                <a:latin typeface="Times New Roman" panose="02020603050405020304" pitchFamily="18" charset="0"/>
                <a:cs typeface="Times New Roman" panose="02020603050405020304" pitchFamily="18" charset="0"/>
              </a:rPr>
              <a:t>P </a:t>
            </a:r>
            <a:r>
              <a:rPr lang="zh-CN" altLang="en-US" sz="2400" b="1" dirty="0" smtClean="0">
                <a:latin typeface="Times New Roman" panose="02020603050405020304" pitchFamily="18" charset="0"/>
                <a:cs typeface="Times New Roman" panose="02020603050405020304" pitchFamily="18" charset="0"/>
              </a:rPr>
              <a:t>不可能</a:t>
            </a:r>
            <a:r>
              <a:rPr lang="zh-CN" altLang="en-US" sz="2400" b="1" dirty="0" smtClean="0">
                <a:latin typeface="Times New Roman" panose="02020603050405020304" pitchFamily="18" charset="0"/>
                <a:cs typeface="Times New Roman" panose="02020603050405020304" pitchFamily="18" charset="0"/>
              </a:rPr>
              <a:t>通</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过 </a:t>
            </a:r>
            <a:r>
              <a:rPr lang="en-US" altLang="zh-CN" sz="2400" b="1" i="1" dirty="0" err="1" smtClean="0">
                <a:latin typeface="Times New Roman" panose="02020603050405020304" pitchFamily="18" charset="0"/>
                <a:cs typeface="Times New Roman" panose="02020603050405020304" pitchFamily="18" charset="0"/>
              </a:rPr>
              <a:t>a</a:t>
            </a:r>
            <a:r>
              <a:rPr lang="en-US" altLang="zh-CN" sz="2400" b="1" i="1" baseline="-25000" dirty="0" err="1" smtClean="0">
                <a:latin typeface="Times New Roman" panose="02020603050405020304" pitchFamily="18" charset="0"/>
                <a:cs typeface="Times New Roman" panose="02020603050405020304" pitchFamily="18" charset="0"/>
              </a:rPr>
              <a:t>sj</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都与 </a:t>
            </a:r>
            <a:r>
              <a:rPr lang="en-US" altLang="zh-CN" sz="2400" b="1" i="1" dirty="0" smtClean="0">
                <a:latin typeface="Times New Roman" panose="02020603050405020304" pitchFamily="18" charset="0"/>
                <a:cs typeface="Times New Roman" panose="02020603050405020304" pitchFamily="18" charset="0"/>
              </a:rPr>
              <a:t>P </a:t>
            </a:r>
            <a:r>
              <a:rPr lang="zh-CN" altLang="en-US" sz="2400" b="1" dirty="0" smtClean="0">
                <a:latin typeface="Times New Roman" panose="02020603050405020304" pitchFamily="18" charset="0"/>
                <a:cs typeface="Times New Roman" panose="02020603050405020304" pitchFamily="18" charset="0"/>
              </a:rPr>
              <a:t>是</a:t>
            </a:r>
            <a:r>
              <a:rPr lang="zh-CN" altLang="en-US" sz="2400" b="1" dirty="0" smtClean="0">
                <a:latin typeface="Times New Roman" panose="02020603050405020304" pitchFamily="18" charset="0"/>
                <a:cs typeface="Times New Roman" panose="02020603050405020304" pitchFamily="18" charset="0"/>
              </a:rPr>
              <a:t>哈密顿回路矛盾</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所以 </a:t>
            </a:r>
            <a:r>
              <a:rPr lang="en-US" altLang="zh-CN" sz="2400" b="1" i="1" dirty="0" smtClean="0">
                <a:latin typeface="Times New Roman" panose="02020603050405020304" pitchFamily="18" charset="0"/>
                <a:cs typeface="Times New Roman" panose="02020603050405020304" pitchFamily="18" charset="0"/>
              </a:rPr>
              <a:t>P </a:t>
            </a:r>
            <a:r>
              <a:rPr lang="zh-CN" altLang="en-US" sz="2400" b="1" dirty="0" smtClean="0">
                <a:latin typeface="Times New Roman" panose="02020603050405020304" pitchFamily="18" charset="0"/>
                <a:cs typeface="Times New Roman" panose="02020603050405020304" pitchFamily="18" charset="0"/>
              </a:rPr>
              <a:t>一定是正常的</a:t>
            </a:r>
            <a:r>
              <a:rPr lang="en-US" altLang="zh-CN" sz="2400" b="1" dirty="0" smtClean="0">
                <a:latin typeface="Times New Roman" panose="02020603050405020304" pitchFamily="18" charset="0"/>
                <a:cs typeface="Times New Roman" panose="02020603050405020304" pitchFamily="18" charset="0"/>
              </a:rPr>
              <a:t>.   </a:t>
            </a:r>
            <a:endParaRPr lang="en-US" altLang="zh-CN" sz="2400" b="1" dirty="0" smtClean="0">
              <a:latin typeface="Times New Roman" panose="02020603050405020304" pitchFamily="18" charset="0"/>
              <a:cs typeface="Times New Roman" panose="02020603050405020304" pitchFamily="18" charset="0"/>
            </a:endParaRPr>
          </a:p>
          <a:p>
            <a:pPr>
              <a:spcBef>
                <a:spcPts val="1200"/>
              </a:spcBef>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构造 </a:t>
            </a:r>
            <a:r>
              <a:rPr lang="en-US" altLang="zh-CN" sz="2400" b="1" i="1" dirty="0" smtClean="0">
                <a:latin typeface="Times New Roman" panose="02020603050405020304" pitchFamily="18" charset="0"/>
                <a:cs typeface="Times New Roman" panose="02020603050405020304" pitchFamily="18" charset="0"/>
              </a:rPr>
              <a:t>D </a:t>
            </a:r>
            <a:r>
              <a:rPr lang="zh-CN" altLang="en-US" sz="2400" b="1" dirty="0" smtClean="0">
                <a:latin typeface="Times New Roman" panose="02020603050405020304" pitchFamily="18" charset="0"/>
                <a:cs typeface="Times New Roman" panose="02020603050405020304" pitchFamily="18" charset="0"/>
              </a:rPr>
              <a:t>可以在多项式时间内完成</a:t>
            </a:r>
            <a:r>
              <a:rPr lang="en-US" altLang="zh-CN" sz="2400" b="1" dirty="0" smtClean="0">
                <a:latin typeface="Times New Roman" panose="02020603050405020304" pitchFamily="18" charset="0"/>
                <a:cs typeface="Times New Roman" panose="02020603050405020304" pitchFamily="18" charset="0"/>
              </a:rPr>
              <a:t>.</a:t>
            </a:r>
            <a:endParaRPr lang="zh-CN" altLang="en-US"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endParaRPr lang="zh-CN" altLang="en-US" sz="2400" b="1" dirty="0"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p:cNvSpPr>
          <p:nvPr>
            <p:ph type="title"/>
          </p:nvPr>
        </p:nvSpPr>
        <p:spPr>
          <a:xfrm>
            <a:off x="457200" y="115888"/>
            <a:ext cx="8229600" cy="1143000"/>
          </a:xfrm>
        </p:spPr>
        <p:txBody>
          <a:bodyPr/>
          <a:lstStyle/>
          <a:p>
            <a:r>
              <a:rPr lang="en-US" altLang="zh-CN" sz="4000" b="1" smtClean="0">
                <a:solidFill>
                  <a:srgbClr val="C00000"/>
                </a:solidFill>
                <a:latin typeface="Times New Roman" panose="02020603050405020304" pitchFamily="18" charset="0"/>
                <a:cs typeface="Times New Roman" panose="02020603050405020304" pitchFamily="18" charset="0"/>
              </a:rPr>
              <a:t>HC </a:t>
            </a:r>
            <a:r>
              <a:rPr lang="zh-CN" altLang="en-US" sz="4000" b="1" smtClean="0">
                <a:solidFill>
                  <a:srgbClr val="C00000"/>
                </a:solidFill>
                <a:latin typeface="Times New Roman" panose="02020603050405020304" pitchFamily="18" charset="0"/>
                <a:cs typeface="Times New Roman" panose="02020603050405020304" pitchFamily="18" charset="0"/>
              </a:rPr>
              <a:t>与 </a:t>
            </a:r>
            <a:r>
              <a:rPr lang="en-US" altLang="zh-CN" sz="4000" b="1" smtClean="0">
                <a:solidFill>
                  <a:srgbClr val="C00000"/>
                </a:solidFill>
                <a:latin typeface="Times New Roman" panose="02020603050405020304" pitchFamily="18" charset="0"/>
                <a:cs typeface="Times New Roman" panose="02020603050405020304" pitchFamily="18" charset="0"/>
              </a:rPr>
              <a:t>TSP</a:t>
            </a:r>
            <a:endParaRPr lang="zh-CN" altLang="en-US" sz="4000" smtClean="0">
              <a:solidFill>
                <a:srgbClr val="C00000"/>
              </a:solidFill>
              <a:latin typeface="Times New Roman" panose="02020603050405020304" pitchFamily="18" charset="0"/>
              <a:cs typeface="Times New Roman" panose="02020603050405020304" pitchFamily="18" charset="0"/>
            </a:endParaRPr>
          </a:p>
        </p:txBody>
      </p:sp>
      <p:sp>
        <p:nvSpPr>
          <p:cNvPr id="46083" name="内容占位符 2"/>
          <p:cNvSpPr>
            <a:spLocks noGrp="1"/>
          </p:cNvSpPr>
          <p:nvPr>
            <p:ph idx="1"/>
          </p:nvPr>
        </p:nvSpPr>
        <p:spPr>
          <a:xfrm>
            <a:off x="457200" y="1412875"/>
            <a:ext cx="8229600" cy="4525963"/>
          </a:xfrm>
        </p:spPr>
        <p:txBody>
          <a:bodyPr/>
          <a:lstStyle/>
          <a:p>
            <a:pPr>
              <a:buFont typeface="Arial" panose="020B0604020202020204" pitchFamily="34" charset="0"/>
              <a:buNone/>
            </a:pPr>
            <a:r>
              <a:rPr lang="zh-CN" altLang="en-US" sz="2400" b="1" dirty="0" smtClean="0">
                <a:solidFill>
                  <a:srgbClr val="C00000"/>
                </a:solidFill>
                <a:latin typeface="Times New Roman" panose="02020603050405020304" pitchFamily="18" charset="0"/>
                <a:cs typeface="Times New Roman" panose="02020603050405020304" pitchFamily="18" charset="0"/>
              </a:rPr>
              <a:t>定理</a:t>
            </a:r>
            <a:r>
              <a:rPr lang="en-US" altLang="zh-CN" sz="2400" b="1" dirty="0" smtClean="0">
                <a:solidFill>
                  <a:srgbClr val="C00000"/>
                </a:solidFill>
                <a:latin typeface="Times New Roman" panose="02020603050405020304" pitchFamily="18" charset="0"/>
                <a:cs typeface="Times New Roman" panose="02020603050405020304" pitchFamily="18" charset="0"/>
              </a:rPr>
              <a:t>9.13</a:t>
            </a:r>
            <a:r>
              <a:rPr lang="en-US" altLang="zh-CN" sz="2400" b="1" dirty="0" smtClean="0">
                <a:latin typeface="Times New Roman" panose="02020603050405020304" pitchFamily="18" charset="0"/>
                <a:cs typeface="Times New Roman" panose="02020603050405020304" pitchFamily="18" charset="0"/>
              </a:rPr>
              <a:t>   HC </a:t>
            </a:r>
            <a:r>
              <a:rPr lang="zh-CN" altLang="en-US" sz="2400" b="1" dirty="0" smtClean="0">
                <a:latin typeface="Times New Roman" panose="02020603050405020304" pitchFamily="18" charset="0"/>
                <a:cs typeface="Times New Roman" panose="02020603050405020304" pitchFamily="18" charset="0"/>
              </a:rPr>
              <a:t>是 </a:t>
            </a:r>
            <a:r>
              <a:rPr lang="en-US" altLang="zh-CN" sz="2400" b="1" dirty="0" smtClean="0">
                <a:latin typeface="Times New Roman" panose="02020603050405020304" pitchFamily="18" charset="0"/>
                <a:cs typeface="Times New Roman" panose="02020603050405020304" pitchFamily="18" charset="0"/>
              </a:rPr>
              <a:t>NP</a:t>
            </a:r>
            <a:r>
              <a:rPr lang="zh-CN" altLang="en-US" sz="2400" b="1" dirty="0" smtClean="0">
                <a:latin typeface="Times New Roman" panose="02020603050405020304" pitchFamily="18" charset="0"/>
                <a:cs typeface="Times New Roman" panose="02020603050405020304" pitchFamily="18" charset="0"/>
              </a:rPr>
              <a:t>完全的</a:t>
            </a:r>
            <a:r>
              <a:rPr lang="en-US" altLang="zh-CN" sz="2400" b="1" dirty="0" smtClean="0">
                <a:latin typeface="Times New Roman" panose="02020603050405020304" pitchFamily="18" charset="0"/>
                <a:cs typeface="Times New Roman" panose="02020603050405020304" pitchFamily="18" charset="0"/>
              </a:rPr>
              <a:t>.</a:t>
            </a:r>
            <a:endParaRPr lang="zh-CN" altLang="en-US"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证   要证 有向</a:t>
            </a:r>
            <a:r>
              <a:rPr lang="en-US" altLang="zh-CN" sz="2400" b="1" dirty="0" smtClean="0">
                <a:latin typeface="Times New Roman" panose="02020603050405020304" pitchFamily="18" charset="0"/>
                <a:cs typeface="Times New Roman" panose="02020603050405020304" pitchFamily="18" charset="0"/>
              </a:rPr>
              <a:t>HC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dirty="0" smtClean="0">
                <a:latin typeface="Times New Roman" panose="02020603050405020304" pitchFamily="18" charset="0"/>
                <a:cs typeface="Times New Roman" panose="02020603050405020304" pitchFamily="18" charset="0"/>
              </a:rPr>
              <a:t>p</a:t>
            </a:r>
            <a:r>
              <a:rPr lang="en-US" altLang="zh-CN" sz="2400" b="1" dirty="0" smtClean="0">
                <a:latin typeface="Times New Roman" panose="02020603050405020304" pitchFamily="18" charset="0"/>
                <a:cs typeface="Times New Roman" panose="02020603050405020304" pitchFamily="18" charset="0"/>
              </a:rPr>
              <a:t> HC. </a:t>
            </a:r>
            <a:r>
              <a:rPr lang="zh-CN" altLang="en-US" sz="2400" b="1" dirty="0" smtClean="0">
                <a:latin typeface="Times New Roman" panose="02020603050405020304" pitchFamily="18" charset="0"/>
                <a:cs typeface="Times New Roman" panose="02020603050405020304" pitchFamily="18" charset="0"/>
              </a:rPr>
              <a:t>任给一个有向图 </a:t>
            </a:r>
            <a:r>
              <a:rPr lang="en-US" altLang="zh-CN" sz="2400" b="1" i="1" dirty="0" smtClean="0">
                <a:latin typeface="Times New Roman" panose="02020603050405020304" pitchFamily="18" charset="0"/>
                <a:cs typeface="Times New Roman" panose="02020603050405020304" pitchFamily="18" charset="0"/>
              </a:rPr>
              <a:t>D </a:t>
            </a:r>
            <a:r>
              <a:rPr lang="en-US" altLang="zh-CN" sz="2400" b="1" dirty="0" smtClean="0">
                <a:latin typeface="Times New Roman" panose="02020603050405020304" pitchFamily="18" charset="0"/>
                <a:cs typeface="Times New Roman" panose="02020603050405020304" pitchFamily="18" charset="0"/>
              </a:rPr>
              <a:t>= &lt;</a:t>
            </a:r>
            <a:r>
              <a:rPr lang="en-US" altLang="zh-CN" sz="2400" b="1" i="1" dirty="0" smtClean="0">
                <a:latin typeface="Times New Roman" panose="02020603050405020304" pitchFamily="18" charset="0"/>
                <a:cs typeface="Times New Roman" panose="02020603050405020304" pitchFamily="18" charset="0"/>
              </a:rPr>
              <a:t>V</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E</a:t>
            </a:r>
            <a:r>
              <a:rPr lang="en-US" altLang="zh-CN" sz="2400" b="1" dirty="0" smtClean="0">
                <a:latin typeface="Times New Roman" panose="02020603050405020304" pitchFamily="18" charset="0"/>
                <a:cs typeface="Times New Roman" panose="02020603050405020304" pitchFamily="18" charset="0"/>
              </a:rPr>
              <a:t>&gt;, </a:t>
            </a:r>
            <a:r>
              <a:rPr lang="zh-CN" altLang="en-US" sz="2400" b="1" dirty="0" smtClean="0">
                <a:latin typeface="Times New Roman" panose="02020603050405020304" pitchFamily="18" charset="0"/>
                <a:cs typeface="Times New Roman" panose="02020603050405020304" pitchFamily="18" charset="0"/>
              </a:rPr>
              <a:t>要构造</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无向图 </a:t>
            </a:r>
            <a:r>
              <a:rPr lang="en-US" altLang="zh-CN" sz="2400" b="1" i="1" dirty="0" smtClean="0">
                <a:latin typeface="Times New Roman" panose="02020603050405020304" pitchFamily="18" charset="0"/>
                <a:cs typeface="Times New Roman" panose="02020603050405020304" pitchFamily="18" charset="0"/>
              </a:rPr>
              <a:t>G </a:t>
            </a:r>
            <a:r>
              <a:rPr lang="en-US" altLang="zh-CN" sz="2400" b="1" dirty="0" smtClean="0">
                <a:latin typeface="Times New Roman" panose="02020603050405020304" pitchFamily="18" charset="0"/>
                <a:cs typeface="Times New Roman" panose="02020603050405020304" pitchFamily="18" charset="0"/>
              </a:rPr>
              <a:t>= &lt;</a:t>
            </a:r>
            <a:r>
              <a:rPr lang="en-US" altLang="zh-CN" sz="2400" b="1" i="1" dirty="0" smtClean="0">
                <a:latin typeface="Times New Roman" panose="02020603050405020304" pitchFamily="18" charset="0"/>
                <a:cs typeface="Times New Roman" panose="02020603050405020304" pitchFamily="18" charset="0"/>
              </a:rPr>
              <a:t>V</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E</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 &gt; </a:t>
            </a:r>
            <a:r>
              <a:rPr lang="zh-CN" altLang="en-US" sz="2400" b="1" dirty="0" smtClean="0">
                <a:latin typeface="Times New Roman" panose="02020603050405020304" pitchFamily="18" charset="0"/>
                <a:cs typeface="Times New Roman" panose="02020603050405020304" pitchFamily="18" charset="0"/>
              </a:rPr>
              <a:t>使 </a:t>
            </a:r>
            <a:r>
              <a:rPr lang="en-US" altLang="zh-CN" sz="2400" b="1" i="1" dirty="0" smtClean="0">
                <a:latin typeface="Times New Roman" panose="02020603050405020304" pitchFamily="18" charset="0"/>
                <a:cs typeface="Times New Roman" panose="02020603050405020304" pitchFamily="18" charset="0"/>
              </a:rPr>
              <a:t>D </a:t>
            </a:r>
            <a:r>
              <a:rPr lang="zh-CN" altLang="en-US" sz="2400" b="1" dirty="0" smtClean="0">
                <a:latin typeface="Times New Roman" panose="02020603050405020304" pitchFamily="18" charset="0"/>
                <a:cs typeface="Times New Roman" panose="02020603050405020304" pitchFamily="18" charset="0"/>
              </a:rPr>
              <a:t>有哈密顿回路当且仅当 </a:t>
            </a:r>
            <a:r>
              <a:rPr lang="en-US" altLang="zh-CN" sz="2400" b="1" i="1" dirty="0" smtClean="0">
                <a:latin typeface="Times New Roman" panose="02020603050405020304" pitchFamily="18" charset="0"/>
                <a:cs typeface="Times New Roman" panose="02020603050405020304" pitchFamily="18" charset="0"/>
              </a:rPr>
              <a:t>G </a:t>
            </a:r>
            <a:r>
              <a:rPr lang="zh-CN" altLang="en-US" sz="2400" b="1" dirty="0" smtClean="0">
                <a:latin typeface="Times New Roman" panose="02020603050405020304" pitchFamily="18" charset="0"/>
                <a:cs typeface="Times New Roman" panose="02020603050405020304" pitchFamily="18" charset="0"/>
              </a:rPr>
              <a:t>有哈密顿</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回路</a:t>
            </a:r>
            <a:r>
              <a:rPr lang="en-US" altLang="zh-CN" sz="2400" b="1" dirty="0" smtClean="0">
                <a:latin typeface="Times New Roman" panose="02020603050405020304" pitchFamily="18" charset="0"/>
                <a:cs typeface="Times New Roman" panose="02020603050405020304" pitchFamily="18" charset="0"/>
              </a:rPr>
              <a:t>.</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把 </a:t>
            </a:r>
            <a:r>
              <a:rPr lang="en-US" altLang="zh-CN" sz="2400" b="1" i="1" dirty="0" smtClean="0">
                <a:latin typeface="Times New Roman" panose="02020603050405020304" pitchFamily="18" charset="0"/>
                <a:cs typeface="Times New Roman" panose="02020603050405020304" pitchFamily="18" charset="0"/>
              </a:rPr>
              <a:t>D </a:t>
            </a:r>
            <a:r>
              <a:rPr lang="zh-CN" altLang="en-US" sz="2400" b="1" dirty="0" smtClean="0">
                <a:latin typeface="Times New Roman" panose="02020603050405020304" pitchFamily="18" charset="0"/>
                <a:cs typeface="Times New Roman" panose="02020603050405020304" pitchFamily="18" charset="0"/>
              </a:rPr>
              <a:t>的每一个顶点 </a:t>
            </a:r>
            <a:r>
              <a:rPr lang="en-US" altLang="zh-CN" sz="2400" b="1" i="1" dirty="0" smtClean="0">
                <a:latin typeface="Times New Roman" panose="02020603050405020304" pitchFamily="18" charset="0"/>
                <a:cs typeface="Times New Roman" panose="02020603050405020304" pitchFamily="18" charset="0"/>
              </a:rPr>
              <a:t>v </a:t>
            </a:r>
            <a:r>
              <a:rPr lang="zh-CN" altLang="en-US" sz="2400" b="1" dirty="0" smtClean="0">
                <a:latin typeface="Times New Roman" panose="02020603050405020304" pitchFamily="18" charset="0"/>
                <a:cs typeface="Times New Roman" panose="02020603050405020304" pitchFamily="18" charset="0"/>
              </a:rPr>
              <a:t>替换成 </a:t>
            </a:r>
            <a:r>
              <a:rPr lang="en-US" altLang="zh-CN" sz="2400" b="1" dirty="0" smtClean="0">
                <a:latin typeface="Times New Roman" panose="02020603050405020304" pitchFamily="18" charset="0"/>
                <a:cs typeface="Times New Roman" panose="02020603050405020304" pitchFamily="18" charset="0"/>
              </a:rPr>
              <a:t>3</a:t>
            </a:r>
            <a:r>
              <a:rPr lang="zh-CN" altLang="en-US" sz="2400" b="1" dirty="0" smtClean="0">
                <a:latin typeface="Times New Roman" panose="02020603050405020304" pitchFamily="18" charset="0"/>
                <a:cs typeface="Times New Roman" panose="02020603050405020304" pitchFamily="18" charset="0"/>
              </a:rPr>
              <a:t>个顶点 </a:t>
            </a:r>
            <a:r>
              <a:rPr lang="en-US" altLang="zh-CN" sz="2400" b="1" i="1" dirty="0" smtClean="0">
                <a:latin typeface="Times New Roman" panose="02020603050405020304" pitchFamily="18" charset="0"/>
                <a:cs typeface="Times New Roman" panose="02020603050405020304" pitchFamily="18" charset="0"/>
              </a:rPr>
              <a:t>v</a:t>
            </a:r>
            <a:r>
              <a:rPr lang="en-US" altLang="zh-CN" sz="2400" b="1" baseline="30000" dirty="0" smtClean="0">
                <a:latin typeface="Times New Roman" panose="02020603050405020304" pitchFamily="18" charset="0"/>
                <a:cs typeface="Times New Roman" panose="02020603050405020304" pitchFamily="18" charset="0"/>
              </a:rPr>
              <a:t>in</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v</a:t>
            </a:r>
            <a:r>
              <a:rPr lang="en-US" altLang="zh-CN" sz="2400" b="1" baseline="30000" dirty="0" err="1" smtClean="0">
                <a:latin typeface="Times New Roman" panose="02020603050405020304" pitchFamily="18" charset="0"/>
                <a:cs typeface="Times New Roman" panose="02020603050405020304" pitchFamily="18" charset="0"/>
              </a:rPr>
              <a:t>mid</a:t>
            </a:r>
            <a:r>
              <a:rPr lang="en-US" altLang="zh-CN" sz="2400" b="1" baseline="30000"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和 </a:t>
            </a:r>
            <a:r>
              <a:rPr lang="en-US" altLang="zh-CN" sz="2400" b="1" i="1" dirty="0" err="1" smtClean="0">
                <a:latin typeface="Times New Roman" panose="02020603050405020304" pitchFamily="18" charset="0"/>
                <a:cs typeface="Times New Roman" panose="02020603050405020304" pitchFamily="18" charset="0"/>
              </a:rPr>
              <a:t>v</a:t>
            </a:r>
            <a:r>
              <a:rPr lang="en-US" altLang="zh-CN" sz="2400" b="1" baseline="30000" dirty="0" err="1" smtClean="0">
                <a:latin typeface="Times New Roman" panose="02020603050405020304" pitchFamily="18" charset="0"/>
                <a:cs typeface="Times New Roman" panose="02020603050405020304" pitchFamily="18" charset="0"/>
              </a:rPr>
              <a:t>out</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用边连</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dirty="0" smtClean="0">
                <a:latin typeface="Times New Roman" panose="02020603050405020304" pitchFamily="18" charset="0"/>
                <a:cs typeface="Times New Roman" panose="02020603050405020304" pitchFamily="18" charset="0"/>
              </a:rPr>
              <a:t>接 </a:t>
            </a:r>
            <a:r>
              <a:rPr lang="en-US" altLang="zh-CN" sz="2400" b="1" i="1" dirty="0" smtClean="0">
                <a:latin typeface="Times New Roman" panose="02020603050405020304" pitchFamily="18" charset="0"/>
                <a:cs typeface="Times New Roman" panose="02020603050405020304" pitchFamily="18" charset="0"/>
              </a:rPr>
              <a:t>v</a:t>
            </a:r>
            <a:r>
              <a:rPr lang="en-US" altLang="zh-CN" sz="2400" b="1" baseline="30000" dirty="0" smtClean="0">
                <a:latin typeface="Times New Roman" panose="02020603050405020304" pitchFamily="18" charset="0"/>
                <a:cs typeface="Times New Roman" panose="02020603050405020304" pitchFamily="18" charset="0"/>
              </a:rPr>
              <a:t>in </a:t>
            </a:r>
            <a:r>
              <a:rPr lang="zh-CN" altLang="en-US" sz="2400" b="1" dirty="0" smtClean="0">
                <a:latin typeface="Times New Roman" panose="02020603050405020304" pitchFamily="18" charset="0"/>
                <a:cs typeface="Times New Roman" panose="02020603050405020304" pitchFamily="18" charset="0"/>
              </a:rPr>
              <a:t>和 </a:t>
            </a:r>
            <a:r>
              <a:rPr lang="en-US" altLang="zh-CN" sz="2400" b="1" i="1" dirty="0" err="1" smtClean="0">
                <a:latin typeface="Times New Roman" panose="02020603050405020304" pitchFamily="18" charset="0"/>
                <a:cs typeface="Times New Roman" panose="02020603050405020304" pitchFamily="18" charset="0"/>
              </a:rPr>
              <a:t>v</a:t>
            </a:r>
            <a:r>
              <a:rPr lang="en-US" altLang="zh-CN" sz="2400" b="1" baseline="30000" dirty="0" err="1" smtClean="0">
                <a:latin typeface="Times New Roman" panose="02020603050405020304" pitchFamily="18" charset="0"/>
                <a:cs typeface="Times New Roman" panose="02020603050405020304" pitchFamily="18" charset="0"/>
              </a:rPr>
              <a:t>mid</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v</a:t>
            </a:r>
            <a:r>
              <a:rPr lang="en-US" altLang="zh-CN" sz="2400" b="1" baseline="30000" dirty="0" err="1" smtClean="0">
                <a:latin typeface="Times New Roman" panose="02020603050405020304" pitchFamily="18" charset="0"/>
                <a:cs typeface="Times New Roman" panose="02020603050405020304" pitchFamily="18" charset="0"/>
              </a:rPr>
              <a:t>mid</a:t>
            </a:r>
            <a:r>
              <a:rPr lang="en-US" altLang="zh-CN" sz="2400" b="1" baseline="30000"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和 </a:t>
            </a:r>
            <a:r>
              <a:rPr lang="en-US" altLang="zh-CN" sz="2400" b="1" i="1" dirty="0" err="1" smtClean="0">
                <a:latin typeface="Times New Roman" panose="02020603050405020304" pitchFamily="18" charset="0"/>
                <a:cs typeface="Times New Roman" panose="02020603050405020304" pitchFamily="18" charset="0"/>
              </a:rPr>
              <a:t>v</a:t>
            </a:r>
            <a:r>
              <a:rPr lang="en-US" altLang="zh-CN" sz="2400" b="1" baseline="30000" dirty="0" err="1" smtClean="0">
                <a:latin typeface="Times New Roman" panose="02020603050405020304" pitchFamily="18" charset="0"/>
                <a:cs typeface="Times New Roman" panose="02020603050405020304" pitchFamily="18" charset="0"/>
              </a:rPr>
              <a:t>out</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D </a:t>
            </a:r>
            <a:r>
              <a:rPr lang="zh-CN" altLang="en-US" sz="2400" b="1" dirty="0" smtClean="0">
                <a:latin typeface="Times New Roman" panose="02020603050405020304" pitchFamily="18" charset="0"/>
                <a:cs typeface="Times New Roman" panose="02020603050405020304" pitchFamily="18" charset="0"/>
              </a:rPr>
              <a:t>的每条有向边 </a:t>
            </a:r>
            <a:r>
              <a:rPr lang="en-US" altLang="zh-CN" sz="2400" b="1" dirty="0" smtClean="0">
                <a:latin typeface="Times New Roman" panose="02020603050405020304" pitchFamily="18" charset="0"/>
                <a:cs typeface="Times New Roman" panose="02020603050405020304" pitchFamily="18" charset="0"/>
              </a:rPr>
              <a:t>&lt;</a:t>
            </a:r>
            <a:r>
              <a:rPr lang="en-US" altLang="zh-CN" sz="2400" b="1" i="1" dirty="0" smtClean="0">
                <a:latin typeface="Times New Roman" panose="02020603050405020304" pitchFamily="18" charset="0"/>
                <a:cs typeface="Times New Roman" panose="02020603050405020304" pitchFamily="18" charset="0"/>
              </a:rPr>
              <a:t>u</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v</a:t>
            </a:r>
            <a:r>
              <a:rPr lang="en-US" altLang="zh-CN" sz="2400" b="1" dirty="0" smtClean="0">
                <a:latin typeface="Times New Roman" panose="02020603050405020304" pitchFamily="18" charset="0"/>
                <a:cs typeface="Times New Roman" panose="02020603050405020304" pitchFamily="18" charset="0"/>
              </a:rPr>
              <a:t>&gt; </a:t>
            </a:r>
            <a:r>
              <a:rPr lang="zh-CN" altLang="en-US" sz="2400" b="1" dirty="0" smtClean="0">
                <a:latin typeface="Times New Roman" panose="02020603050405020304" pitchFamily="18" charset="0"/>
                <a:cs typeface="Times New Roman" panose="02020603050405020304" pitchFamily="18" charset="0"/>
              </a:rPr>
              <a:t>在 </a:t>
            </a:r>
            <a:r>
              <a:rPr lang="en-US" altLang="zh-CN" sz="2400" b="1" i="1" dirty="0" smtClean="0">
                <a:latin typeface="Times New Roman" panose="02020603050405020304" pitchFamily="18" charset="0"/>
                <a:cs typeface="Times New Roman" panose="02020603050405020304" pitchFamily="18" charset="0"/>
              </a:rPr>
              <a:t>G </a:t>
            </a:r>
            <a:r>
              <a:rPr lang="zh-CN" altLang="en-US" sz="2400" b="1" dirty="0" smtClean="0">
                <a:latin typeface="Times New Roman" panose="02020603050405020304" pitchFamily="18" charset="0"/>
                <a:cs typeface="Times New Roman" panose="02020603050405020304" pitchFamily="18" charset="0"/>
              </a:rPr>
              <a:t>中换成 </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u</a:t>
            </a:r>
            <a:r>
              <a:rPr lang="en-US" altLang="zh-CN" sz="2400" b="1" baseline="30000" dirty="0" err="1" smtClean="0">
                <a:latin typeface="Times New Roman" panose="02020603050405020304" pitchFamily="18" charset="0"/>
                <a:cs typeface="Times New Roman" panose="02020603050405020304" pitchFamily="18" charset="0"/>
              </a:rPr>
              <a:t>out</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 v</a:t>
            </a:r>
            <a:r>
              <a:rPr lang="en-US" altLang="zh-CN" sz="2400" b="1" baseline="30000" dirty="0" smtClean="0">
                <a:latin typeface="Times New Roman" panose="02020603050405020304" pitchFamily="18" charset="0"/>
                <a:cs typeface="Times New Roman" panose="02020603050405020304" pitchFamily="18" charset="0"/>
              </a:rPr>
              <a:t>in</a:t>
            </a:r>
            <a:r>
              <a:rPr lang="en-US" altLang="zh-CN"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即</a:t>
            </a:r>
            <a:endParaRPr lang="en-US" altLang="zh-CN"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i="1" dirty="0" smtClean="0">
                <a:latin typeface="Times New Roman" panose="02020603050405020304" pitchFamily="18" charset="0"/>
                <a:cs typeface="Times New Roman" panose="02020603050405020304" pitchFamily="18" charset="0"/>
              </a:rPr>
              <a:t>                         V</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 v</a:t>
            </a:r>
            <a:r>
              <a:rPr lang="en-US" altLang="zh-CN" sz="2400" b="1" baseline="30000" dirty="0" smtClean="0">
                <a:latin typeface="Times New Roman" panose="02020603050405020304" pitchFamily="18" charset="0"/>
                <a:cs typeface="Times New Roman" panose="02020603050405020304" pitchFamily="18" charset="0"/>
              </a:rPr>
              <a:t>in</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v</a:t>
            </a:r>
            <a:r>
              <a:rPr lang="en-US" altLang="zh-CN" sz="2400" b="1" baseline="30000" dirty="0" err="1" smtClean="0">
                <a:latin typeface="Times New Roman" panose="02020603050405020304" pitchFamily="18" charset="0"/>
                <a:cs typeface="Times New Roman" panose="02020603050405020304" pitchFamily="18" charset="0"/>
              </a:rPr>
              <a:t>mid</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v</a:t>
            </a:r>
            <a:r>
              <a:rPr lang="en-US" altLang="zh-CN" sz="2400" b="1" baseline="30000" dirty="0" err="1" smtClean="0">
                <a:latin typeface="Times New Roman" panose="02020603050405020304" pitchFamily="18" charset="0"/>
                <a:cs typeface="Times New Roman" panose="02020603050405020304" pitchFamily="18" charset="0"/>
              </a:rPr>
              <a:t>out</a:t>
            </a:r>
            <a:r>
              <a:rPr lang="en-US" altLang="zh-CN" sz="2400" b="1" dirty="0" smtClean="0">
                <a:latin typeface="Times New Roman" panose="02020603050405020304" pitchFamily="18" charset="0"/>
                <a:cs typeface="Times New Roman" panose="02020603050405020304" pitchFamily="18" charset="0"/>
              </a:rPr>
              <a:t> | </a:t>
            </a:r>
            <a:r>
              <a:rPr lang="en-US" altLang="zh-CN" sz="2400" b="1" i="1" dirty="0" err="1" smtClean="0">
                <a:latin typeface="Times New Roman" panose="02020603050405020304" pitchFamily="18" charset="0"/>
                <a:cs typeface="Times New Roman" panose="02020603050405020304" pitchFamily="18" charset="0"/>
              </a:rPr>
              <a:t>v</a:t>
            </a:r>
            <a:r>
              <a:rPr lang="en-US" altLang="zh-CN" sz="2400" b="1" dirty="0" err="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err="1" smtClean="0">
                <a:latin typeface="Times New Roman" panose="02020603050405020304" pitchFamily="18" charset="0"/>
                <a:cs typeface="Times New Roman" panose="02020603050405020304" pitchFamily="18" charset="0"/>
              </a:rPr>
              <a:t>V</a:t>
            </a:r>
            <a:r>
              <a:rPr lang="en-US" altLang="zh-CN" sz="2400" b="1" i="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rPr>
              <a:t>},</a:t>
            </a:r>
            <a:endParaRPr lang="zh-CN" altLang="en-US" sz="24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i="1" dirty="0" smtClean="0">
                <a:latin typeface="Times New Roman" panose="02020603050405020304" pitchFamily="18" charset="0"/>
                <a:cs typeface="Times New Roman" panose="02020603050405020304" pitchFamily="18" charset="0"/>
              </a:rPr>
              <a:t>      E</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u</a:t>
            </a:r>
            <a:r>
              <a:rPr lang="en-US" altLang="zh-CN" sz="2400" b="1" baseline="30000" dirty="0" err="1" smtClean="0">
                <a:latin typeface="Times New Roman" panose="02020603050405020304" pitchFamily="18" charset="0"/>
                <a:cs typeface="Times New Roman" panose="02020603050405020304" pitchFamily="18" charset="0"/>
              </a:rPr>
              <a:t>out</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 v</a:t>
            </a:r>
            <a:r>
              <a:rPr lang="en-US" altLang="zh-CN" sz="2400" b="1" baseline="30000" dirty="0" smtClean="0">
                <a:latin typeface="Times New Roman" panose="02020603050405020304" pitchFamily="18" charset="0"/>
                <a:cs typeface="Times New Roman" panose="02020603050405020304" pitchFamily="18" charset="0"/>
              </a:rPr>
              <a:t>in</a:t>
            </a:r>
            <a:r>
              <a:rPr lang="en-US" altLang="zh-CN" sz="2400" b="1" dirty="0" smtClean="0">
                <a:latin typeface="Times New Roman" panose="02020603050405020304" pitchFamily="18" charset="0"/>
                <a:cs typeface="Times New Roman" panose="02020603050405020304" pitchFamily="18" charset="0"/>
              </a:rPr>
              <a:t>) | &lt;</a:t>
            </a:r>
            <a:r>
              <a:rPr lang="en-US" altLang="zh-CN" sz="2400" b="1" i="1" dirty="0" err="1" smtClean="0">
                <a:latin typeface="Times New Roman" panose="02020603050405020304" pitchFamily="18" charset="0"/>
                <a:cs typeface="Times New Roman" panose="02020603050405020304" pitchFamily="18" charset="0"/>
              </a:rPr>
              <a:t>u</a:t>
            </a:r>
            <a:r>
              <a:rPr lang="en-US" altLang="zh-CN" sz="2400" b="1" dirty="0" err="1"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v</a:t>
            </a:r>
            <a:r>
              <a:rPr lang="en-US" altLang="zh-CN" sz="2400" b="1" dirty="0" smtClean="0">
                <a:latin typeface="Times New Roman" panose="02020603050405020304" pitchFamily="18" charset="0"/>
                <a:cs typeface="Times New Roman" panose="02020603050405020304" pitchFamily="18" charset="0"/>
              </a:rPr>
              <a:t>&gt;</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rPr>
              <a:t>E</a:t>
            </a:r>
            <a:r>
              <a:rPr lang="en-US" altLang="zh-CN" sz="2400" b="1" dirty="0" smtClean="0">
                <a:latin typeface="Times New Roman" panose="02020603050405020304" pitchFamily="18" charset="0"/>
                <a:cs typeface="Times New Roman" panose="02020603050405020304" pitchFamily="18" charset="0"/>
              </a:rPr>
              <a:t>}</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v</a:t>
            </a:r>
            <a:r>
              <a:rPr lang="en-US" altLang="zh-CN" sz="2400" b="1" baseline="30000" dirty="0" err="1" smtClean="0">
                <a:latin typeface="Times New Roman" panose="02020603050405020304" pitchFamily="18" charset="0"/>
                <a:cs typeface="Times New Roman" panose="02020603050405020304" pitchFamily="18" charset="0"/>
              </a:rPr>
              <a:t>in</a:t>
            </a:r>
            <a:r>
              <a:rPr lang="en-US" altLang="zh-CN" sz="2400" b="1" dirty="0" err="1"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v</a:t>
            </a:r>
            <a:r>
              <a:rPr lang="en-US" altLang="zh-CN" sz="2400" b="1" baseline="30000" dirty="0" err="1" smtClean="0">
                <a:latin typeface="Times New Roman" panose="02020603050405020304" pitchFamily="18" charset="0"/>
                <a:cs typeface="Times New Roman" panose="02020603050405020304" pitchFamily="18" charset="0"/>
              </a:rPr>
              <a:t>mid</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v</a:t>
            </a:r>
            <a:r>
              <a:rPr lang="en-US" altLang="zh-CN" sz="2400" b="1" baseline="30000" dirty="0" err="1" smtClean="0">
                <a:latin typeface="Times New Roman" panose="02020603050405020304" pitchFamily="18" charset="0"/>
                <a:cs typeface="Times New Roman" panose="02020603050405020304" pitchFamily="18" charset="0"/>
              </a:rPr>
              <a:t>mid</a:t>
            </a:r>
            <a:r>
              <a:rPr lang="en-US" altLang="zh-CN" sz="2400" b="1" dirty="0" err="1"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v</a:t>
            </a:r>
            <a:r>
              <a:rPr lang="en-US" altLang="zh-CN" sz="2400" b="1" baseline="30000" dirty="0" err="1" smtClean="0">
                <a:latin typeface="Times New Roman" panose="02020603050405020304" pitchFamily="18" charset="0"/>
                <a:cs typeface="Times New Roman" panose="02020603050405020304" pitchFamily="18" charset="0"/>
              </a:rPr>
              <a:t>out</a:t>
            </a:r>
            <a:r>
              <a:rPr lang="en-US" altLang="zh-CN" sz="2400" b="1" dirty="0" smtClean="0">
                <a:latin typeface="Times New Roman" panose="02020603050405020304" pitchFamily="18" charset="0"/>
                <a:cs typeface="Times New Roman" panose="02020603050405020304" pitchFamily="18" charset="0"/>
              </a:rPr>
              <a:t>) | </a:t>
            </a:r>
            <a:r>
              <a:rPr lang="en-US" altLang="zh-CN" sz="2400" b="1" i="1" dirty="0" err="1" smtClean="0">
                <a:latin typeface="Times New Roman" panose="02020603050405020304" pitchFamily="18" charset="0"/>
                <a:cs typeface="Times New Roman" panose="02020603050405020304" pitchFamily="18" charset="0"/>
              </a:rPr>
              <a:t>v</a:t>
            </a:r>
            <a:r>
              <a:rPr lang="en-US" altLang="zh-CN" sz="2400" b="1" dirty="0" err="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err="1" smtClean="0">
                <a:latin typeface="Times New Roman" panose="02020603050405020304" pitchFamily="18" charset="0"/>
                <a:cs typeface="Times New Roman" panose="02020603050405020304" pitchFamily="18" charset="0"/>
              </a:rPr>
              <a:t>V</a:t>
            </a:r>
            <a:r>
              <a:rPr lang="en-US" altLang="zh-CN" sz="2400" b="1" i="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rPr>
              <a:t>}.</a:t>
            </a:r>
            <a:endParaRPr lang="en-US" altLang="zh-CN" sz="2400" b="1" dirty="0" smtClean="0">
              <a:latin typeface="Times New Roman" panose="02020603050405020304" pitchFamily="18" charset="0"/>
              <a:cs typeface="Times New Roman" panose="02020603050405020304" pitchFamily="18" charset="0"/>
            </a:endParaRPr>
          </a:p>
          <a:p>
            <a:pPr>
              <a:spcBef>
                <a:spcPts val="1800"/>
              </a:spcBef>
              <a:buFont typeface="Arial" panose="020B0604020202020204" pitchFamily="34" charset="0"/>
              <a:buNone/>
            </a:pPr>
            <a:r>
              <a:rPr lang="zh-CN" altLang="en-US" sz="2400" b="1" dirty="0" smtClean="0">
                <a:solidFill>
                  <a:srgbClr val="C00000"/>
                </a:solidFill>
              </a:rPr>
              <a:t>定</a:t>
            </a:r>
            <a:r>
              <a:rPr lang="zh-CN" altLang="en-US" sz="2400" b="1" dirty="0" smtClean="0">
                <a:solidFill>
                  <a:srgbClr val="C00000"/>
                </a:solidFill>
                <a:latin typeface="Times New Roman" panose="02020603050405020304" pitchFamily="18" charset="0"/>
                <a:cs typeface="Times New Roman" panose="02020603050405020304" pitchFamily="18" charset="0"/>
              </a:rPr>
              <a:t>理 </a:t>
            </a:r>
            <a:r>
              <a:rPr lang="en-US" altLang="zh-CN" sz="2400" b="1" dirty="0" smtClean="0">
                <a:solidFill>
                  <a:srgbClr val="C00000"/>
                </a:solidFill>
                <a:latin typeface="Times New Roman" panose="02020603050405020304" pitchFamily="18" charset="0"/>
                <a:cs typeface="Times New Roman" panose="02020603050405020304" pitchFamily="18" charset="0"/>
              </a:rPr>
              <a:t>9.14</a:t>
            </a:r>
            <a:r>
              <a:rPr lang="en-US" altLang="zh-CN" sz="2400" b="1" dirty="0" smtClean="0">
                <a:latin typeface="Times New Roman" panose="02020603050405020304" pitchFamily="18" charset="0"/>
                <a:cs typeface="Times New Roman" panose="02020603050405020304" pitchFamily="18" charset="0"/>
              </a:rPr>
              <a:t>  TSP </a:t>
            </a:r>
            <a:r>
              <a:rPr lang="zh-CN" altLang="en-US" sz="2400" b="1" dirty="0" smtClean="0">
                <a:latin typeface="Times New Roman" panose="02020603050405020304" pitchFamily="18" charset="0"/>
                <a:cs typeface="Times New Roman" panose="02020603050405020304" pitchFamily="18" charset="0"/>
              </a:rPr>
              <a:t>是 </a:t>
            </a:r>
            <a:r>
              <a:rPr lang="en-US" altLang="zh-CN" sz="2400" b="1" dirty="0" smtClean="0">
                <a:latin typeface="Times New Roman" panose="02020603050405020304" pitchFamily="18" charset="0"/>
                <a:cs typeface="Times New Roman" panose="02020603050405020304" pitchFamily="18" charset="0"/>
              </a:rPr>
              <a:t>NP</a:t>
            </a:r>
            <a:r>
              <a:rPr lang="zh-CN" altLang="en-US" sz="2400" b="1" dirty="0" smtClean="0">
                <a:latin typeface="Times New Roman" panose="02020603050405020304" pitchFamily="18" charset="0"/>
                <a:cs typeface="Times New Roman" panose="02020603050405020304" pitchFamily="18" charset="0"/>
              </a:rPr>
              <a:t>完全的</a:t>
            </a:r>
            <a:r>
              <a:rPr lang="en-US" altLang="zh-CN" sz="2400" b="1" dirty="0" smtClean="0">
                <a:latin typeface="Times New Roman" panose="02020603050405020304" pitchFamily="18" charset="0"/>
                <a:cs typeface="Times New Roman" panose="02020603050405020304" pitchFamily="18" charset="0"/>
              </a:rPr>
              <a:t>.</a:t>
            </a:r>
            <a:endParaRPr lang="zh-CN" altLang="en-US" sz="2400" b="1" dirty="0" smtClean="0">
              <a:solidFill>
                <a:srgbClr val="C0000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p:txBody>
          <a:bodyPr/>
          <a:lstStyle/>
          <a:p>
            <a:r>
              <a:rPr lang="en-US" altLang="zh-CN" sz="4000" b="1" smtClean="0">
                <a:solidFill>
                  <a:srgbClr val="C00000"/>
                </a:solidFill>
                <a:latin typeface="Times New Roman" panose="02020603050405020304" pitchFamily="18" charset="0"/>
                <a:cs typeface="Times New Roman" panose="02020603050405020304" pitchFamily="18" charset="0"/>
              </a:rPr>
              <a:t>9.3.4  </a:t>
            </a:r>
            <a:r>
              <a:rPr lang="zh-CN" altLang="en-US" sz="4000" b="1" smtClean="0">
                <a:solidFill>
                  <a:srgbClr val="C00000"/>
                </a:solidFill>
                <a:latin typeface="Times New Roman" panose="02020603050405020304" pitchFamily="18" charset="0"/>
                <a:cs typeface="Times New Roman" panose="02020603050405020304" pitchFamily="18" charset="0"/>
              </a:rPr>
              <a:t>恰好覆盖</a:t>
            </a:r>
            <a:endParaRPr lang="zh-CN" altLang="en-US" sz="4000" smtClean="0">
              <a:solidFill>
                <a:srgbClr val="C00000"/>
              </a:solidFill>
              <a:latin typeface="Times New Roman" panose="02020603050405020304" pitchFamily="18" charset="0"/>
              <a:cs typeface="Times New Roman" panose="02020603050405020304" pitchFamily="18" charset="0"/>
            </a:endParaRPr>
          </a:p>
        </p:txBody>
      </p:sp>
      <p:sp>
        <p:nvSpPr>
          <p:cNvPr id="47107" name="内容占位符 2"/>
          <p:cNvSpPr>
            <a:spLocks noGrp="1"/>
          </p:cNvSpPr>
          <p:nvPr>
            <p:ph idx="1"/>
          </p:nvPr>
        </p:nvSpPr>
        <p:spPr>
          <a:xfrm>
            <a:off x="457200" y="1557338"/>
            <a:ext cx="8229600" cy="4525962"/>
          </a:xfrm>
        </p:spPr>
        <p:txBody>
          <a:bodyPr/>
          <a:lstStyle/>
          <a:p>
            <a:pPr>
              <a:buFont typeface="Arial" panose="020B0604020202020204" pitchFamily="34" charset="0"/>
              <a:buNone/>
            </a:pPr>
            <a:r>
              <a:rPr lang="zh-CN" altLang="en-US" sz="2400" b="1" smtClean="0">
                <a:solidFill>
                  <a:srgbClr val="C00000"/>
                </a:solidFill>
                <a:latin typeface="Times New Roman" panose="02020603050405020304" pitchFamily="18" charset="0"/>
                <a:cs typeface="Times New Roman" panose="02020603050405020304" pitchFamily="18" charset="0"/>
              </a:rPr>
              <a:t>恰好覆盖</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给定有穷集 </a:t>
            </a:r>
            <a:r>
              <a:rPr lang="en-US" altLang="zh-CN" sz="2400" b="1" i="1" smtClean="0">
                <a:latin typeface="Times New Roman" panose="02020603050405020304" pitchFamily="18" charset="0"/>
                <a:cs typeface="Times New Roman" panose="02020603050405020304" pitchFamily="18" charset="0"/>
              </a:rPr>
              <a:t>A </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a</a:t>
            </a:r>
            <a:r>
              <a:rPr lang="en-US" altLang="zh-CN" sz="2400" b="1" baseline="-25000" smtClean="0">
                <a:latin typeface="Times New Roman" panose="02020603050405020304" pitchFamily="18" charset="0"/>
                <a:cs typeface="Times New Roman" panose="02020603050405020304" pitchFamily="18" charset="0"/>
              </a:rPr>
              <a:t>1</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 a</a:t>
            </a:r>
            <a:r>
              <a:rPr lang="en-US" altLang="zh-CN" sz="2400" b="1" baseline="-25000" smtClean="0">
                <a:latin typeface="Times New Roman" panose="02020603050405020304" pitchFamily="18" charset="0"/>
                <a:cs typeface="Times New Roman" panose="02020603050405020304" pitchFamily="18" charset="0"/>
              </a:rPr>
              <a:t>2</a:t>
            </a:r>
            <a:r>
              <a:rPr lang="en-US" altLang="zh-CN" sz="2400" b="1" smtClean="0">
                <a:latin typeface="Times New Roman" panose="02020603050405020304" pitchFamily="18" charset="0"/>
                <a:cs typeface="Times New Roman" panose="02020603050405020304" pitchFamily="18" charset="0"/>
              </a:rPr>
              <a:t>,</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 a</a:t>
            </a:r>
            <a:r>
              <a:rPr lang="en-US" altLang="zh-CN" sz="2400" b="1" i="1" baseline="-25000" smtClean="0">
                <a:latin typeface="Times New Roman" panose="02020603050405020304" pitchFamily="18" charset="0"/>
                <a:cs typeface="Times New Roman" panose="02020603050405020304" pitchFamily="18" charset="0"/>
              </a:rPr>
              <a:t>n</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和 </a:t>
            </a:r>
            <a:r>
              <a:rPr lang="en-US" altLang="zh-CN" sz="2400" b="1" i="1" smtClean="0">
                <a:latin typeface="Times New Roman" panose="02020603050405020304" pitchFamily="18" charset="0"/>
                <a:cs typeface="Times New Roman" panose="02020603050405020304" pitchFamily="18" charset="0"/>
              </a:rPr>
              <a:t>A </a:t>
            </a:r>
            <a:r>
              <a:rPr lang="zh-CN" altLang="en-US" sz="2400" b="1" smtClean="0">
                <a:latin typeface="Times New Roman" panose="02020603050405020304" pitchFamily="18" charset="0"/>
                <a:cs typeface="Times New Roman" panose="02020603050405020304" pitchFamily="18" charset="0"/>
              </a:rPr>
              <a:t>的子集的集合</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i="1" smtClean="0">
                <a:latin typeface="Times New Roman" panose="02020603050405020304" pitchFamily="18" charset="0"/>
                <a:cs typeface="Times New Roman" panose="02020603050405020304" pitchFamily="18" charset="0"/>
              </a:rPr>
              <a:t>W </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S</a:t>
            </a:r>
            <a:r>
              <a:rPr lang="en-US" altLang="zh-CN" sz="2400" b="1" baseline="-25000" smtClean="0">
                <a:latin typeface="Times New Roman" panose="02020603050405020304" pitchFamily="18" charset="0"/>
                <a:cs typeface="Times New Roman" panose="02020603050405020304" pitchFamily="18" charset="0"/>
              </a:rPr>
              <a:t>1</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 S</a:t>
            </a:r>
            <a:r>
              <a:rPr lang="en-US" altLang="zh-CN" sz="2400" b="1" baseline="-25000" smtClean="0">
                <a:latin typeface="Times New Roman" panose="02020603050405020304" pitchFamily="18" charset="0"/>
                <a:cs typeface="Times New Roman" panose="02020603050405020304" pitchFamily="18" charset="0"/>
              </a:rPr>
              <a:t>2</a:t>
            </a:r>
            <a:r>
              <a:rPr lang="en-US" altLang="zh-CN" sz="2400" b="1" smtClean="0">
                <a:latin typeface="Times New Roman" panose="02020603050405020304" pitchFamily="18" charset="0"/>
                <a:cs typeface="Times New Roman" panose="02020603050405020304" pitchFamily="18" charset="0"/>
              </a:rPr>
              <a:t>,</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 S</a:t>
            </a:r>
            <a:r>
              <a:rPr lang="en-US" altLang="zh-CN" sz="2400" b="1" i="1" baseline="-25000" smtClean="0">
                <a:latin typeface="Times New Roman" panose="02020603050405020304" pitchFamily="18" charset="0"/>
                <a:cs typeface="Times New Roman" panose="02020603050405020304" pitchFamily="18" charset="0"/>
              </a:rPr>
              <a:t> m</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问</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存在子集 </a:t>
            </a:r>
            <a:r>
              <a:rPr lang="en-US" altLang="zh-CN" sz="2400" b="1" i="1" smtClean="0">
                <a:latin typeface="Times New Roman" panose="02020603050405020304" pitchFamily="18" charset="0"/>
                <a:cs typeface="Times New Roman" panose="02020603050405020304" pitchFamily="18" charset="0"/>
              </a:rPr>
              <a:t>U</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W </a:t>
            </a:r>
            <a:r>
              <a:rPr lang="zh-CN" altLang="en-US" sz="2400" b="1" smtClean="0">
                <a:latin typeface="Times New Roman" panose="02020603050405020304" pitchFamily="18" charset="0"/>
                <a:cs typeface="Times New Roman" panose="02020603050405020304" pitchFamily="18" charset="0"/>
              </a:rPr>
              <a:t>使得 </a:t>
            </a:r>
            <a:r>
              <a:rPr lang="en-US" altLang="zh-CN" sz="2400" b="1" i="1" smtClean="0">
                <a:latin typeface="Times New Roman" panose="02020603050405020304" pitchFamily="18" charset="0"/>
                <a:cs typeface="Times New Roman" panose="02020603050405020304" pitchFamily="18" charset="0"/>
              </a:rPr>
              <a:t>U </a:t>
            </a:r>
            <a:r>
              <a:rPr lang="zh-CN" altLang="en-US" sz="2400" b="1" smtClean="0">
                <a:latin typeface="Times New Roman" panose="02020603050405020304" pitchFamily="18" charset="0"/>
                <a:cs typeface="Times New Roman" panose="02020603050405020304" pitchFamily="18" charset="0"/>
              </a:rPr>
              <a:t>中的子集都</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是不相交的且它们的并集等于 </a:t>
            </a:r>
            <a:r>
              <a:rPr lang="en-US" altLang="zh-CN" sz="2400" b="1" i="1" smtClean="0">
                <a:latin typeface="Times New Roman" panose="02020603050405020304" pitchFamily="18" charset="0"/>
                <a:cs typeface="Times New Roman" panose="02020603050405020304" pitchFamily="18" charset="0"/>
              </a:rPr>
              <a:t>A</a:t>
            </a:r>
            <a:r>
              <a:rPr lang="en-US" altLang="zh-CN" sz="2400" b="1" smtClean="0">
                <a:latin typeface="Times New Roman" panose="02020603050405020304" pitchFamily="18" charset="0"/>
                <a:cs typeface="Times New Roman" panose="02020603050405020304" pitchFamily="18" charset="0"/>
              </a:rPr>
              <a:t>? </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称 </a:t>
            </a:r>
            <a:r>
              <a:rPr lang="en-US" altLang="zh-CN" sz="2400" b="1" i="1" smtClean="0">
                <a:latin typeface="Times New Roman" panose="02020603050405020304" pitchFamily="18" charset="0"/>
                <a:cs typeface="Times New Roman" panose="02020603050405020304" pitchFamily="18" charset="0"/>
              </a:rPr>
              <a:t>W </a:t>
            </a:r>
            <a:r>
              <a:rPr lang="zh-CN" altLang="en-US" sz="2400" b="1" smtClean="0">
                <a:latin typeface="Times New Roman" panose="02020603050405020304" pitchFamily="18" charset="0"/>
                <a:cs typeface="Times New Roman" panose="02020603050405020304" pitchFamily="18" charset="0"/>
              </a:rPr>
              <a:t>这样的子集 </a:t>
            </a:r>
            <a:r>
              <a:rPr lang="en-US" altLang="zh-CN" sz="2400" b="1" i="1" smtClean="0">
                <a:latin typeface="Times New Roman" panose="02020603050405020304" pitchFamily="18" charset="0"/>
                <a:cs typeface="Times New Roman" panose="02020603050405020304" pitchFamily="18" charset="0"/>
              </a:rPr>
              <a:t>U </a:t>
            </a:r>
            <a:r>
              <a:rPr lang="zh-CN" altLang="en-US" sz="2400" b="1" smtClean="0">
                <a:latin typeface="Times New Roman" panose="02020603050405020304" pitchFamily="18" charset="0"/>
                <a:cs typeface="Times New Roman" panose="02020603050405020304" pitchFamily="18" charset="0"/>
              </a:rPr>
              <a:t>是 </a:t>
            </a:r>
            <a:r>
              <a:rPr lang="en-US" altLang="zh-CN" sz="2400" b="1" i="1" smtClean="0">
                <a:latin typeface="Times New Roman" panose="02020603050405020304" pitchFamily="18" charset="0"/>
                <a:cs typeface="Times New Roman" panose="02020603050405020304" pitchFamily="18" charset="0"/>
              </a:rPr>
              <a:t>A </a:t>
            </a:r>
            <a:r>
              <a:rPr lang="zh-CN" altLang="en-US" sz="2400" b="1" smtClean="0">
                <a:latin typeface="Times New Roman" panose="02020603050405020304" pitchFamily="18" charset="0"/>
                <a:cs typeface="Times New Roman" panose="02020603050405020304" pitchFamily="18" charset="0"/>
              </a:rPr>
              <a:t>的恰好覆盖</a:t>
            </a:r>
            <a:r>
              <a:rPr lang="en-US" altLang="zh-CN" sz="2400" b="1" smtClean="0">
                <a:latin typeface="Times New Roman" panose="02020603050405020304" pitchFamily="18" charset="0"/>
                <a:cs typeface="Times New Roman" panose="02020603050405020304" pitchFamily="18" charset="0"/>
              </a:rPr>
              <a:t>.</a:t>
            </a:r>
            <a:endParaRPr lang="zh-CN" altLang="en-US" sz="2400" b="1" smtClean="0">
              <a:latin typeface="Times New Roman" panose="02020603050405020304" pitchFamily="18" charset="0"/>
              <a:cs typeface="Times New Roman" panose="02020603050405020304" pitchFamily="18" charset="0"/>
            </a:endParaRPr>
          </a:p>
          <a:p>
            <a:pPr>
              <a:spcBef>
                <a:spcPts val="1800"/>
              </a:spcBef>
              <a:buFont typeface="Arial" panose="020B0604020202020204" pitchFamily="34" charset="0"/>
              <a:buNone/>
            </a:pPr>
            <a:r>
              <a:rPr lang="zh-CN" altLang="en-US" sz="2400" b="1" smtClean="0">
                <a:solidFill>
                  <a:srgbClr val="C00000"/>
                </a:solidFill>
                <a:latin typeface="Times New Roman" panose="02020603050405020304" pitchFamily="18" charset="0"/>
                <a:cs typeface="Times New Roman" panose="02020603050405020304" pitchFamily="18" charset="0"/>
              </a:rPr>
              <a:t>例如</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设 </a:t>
            </a:r>
            <a:r>
              <a:rPr lang="en-US" altLang="zh-CN" sz="2400" b="1" i="1" smtClean="0">
                <a:latin typeface="Times New Roman" panose="02020603050405020304" pitchFamily="18" charset="0"/>
                <a:cs typeface="Times New Roman" panose="02020603050405020304" pitchFamily="18" charset="0"/>
              </a:rPr>
              <a:t>A</a:t>
            </a:r>
            <a:r>
              <a:rPr lang="en-US" altLang="zh-CN" sz="2400" b="1" smtClean="0">
                <a:latin typeface="Times New Roman" panose="02020603050405020304" pitchFamily="18" charset="0"/>
                <a:cs typeface="Times New Roman" panose="02020603050405020304" pitchFamily="18" charset="0"/>
              </a:rPr>
              <a:t>={1,2,3,4,5}, </a:t>
            </a:r>
            <a:r>
              <a:rPr lang="en-US" altLang="zh-CN" sz="2400" b="1" i="1" smtClean="0">
                <a:latin typeface="Times New Roman" panose="02020603050405020304" pitchFamily="18" charset="0"/>
                <a:cs typeface="Times New Roman" panose="02020603050405020304" pitchFamily="18" charset="0"/>
              </a:rPr>
              <a:t>S</a:t>
            </a:r>
            <a:r>
              <a:rPr lang="en-US" altLang="zh-CN" sz="2400" b="1" baseline="-25000" smtClean="0">
                <a:latin typeface="Times New Roman" panose="02020603050405020304" pitchFamily="18" charset="0"/>
                <a:cs typeface="Times New Roman" panose="02020603050405020304" pitchFamily="18" charset="0"/>
              </a:rPr>
              <a:t>1</a:t>
            </a:r>
            <a:r>
              <a:rPr lang="en-US" altLang="zh-CN" sz="2400" b="1" smtClean="0">
                <a:latin typeface="Times New Roman" panose="02020603050405020304" pitchFamily="18" charset="0"/>
                <a:cs typeface="Times New Roman" panose="02020603050405020304" pitchFamily="18" charset="0"/>
              </a:rPr>
              <a:t>={1,2}, </a:t>
            </a:r>
            <a:r>
              <a:rPr lang="en-US" altLang="zh-CN" sz="2400" b="1" i="1" smtClean="0">
                <a:latin typeface="Times New Roman" panose="02020603050405020304" pitchFamily="18" charset="0"/>
                <a:cs typeface="Times New Roman" panose="02020603050405020304" pitchFamily="18" charset="0"/>
              </a:rPr>
              <a:t>S</a:t>
            </a:r>
            <a:r>
              <a:rPr lang="en-US" altLang="zh-CN" sz="2400" b="1" baseline="-25000" smtClean="0">
                <a:latin typeface="Times New Roman" panose="02020603050405020304" pitchFamily="18" charset="0"/>
                <a:cs typeface="Times New Roman" panose="02020603050405020304" pitchFamily="18" charset="0"/>
              </a:rPr>
              <a:t>2</a:t>
            </a:r>
            <a:r>
              <a:rPr lang="en-US" altLang="zh-CN" sz="2400" b="1" smtClean="0">
                <a:latin typeface="Times New Roman" panose="02020603050405020304" pitchFamily="18" charset="0"/>
                <a:cs typeface="Times New Roman" panose="02020603050405020304" pitchFamily="18" charset="0"/>
              </a:rPr>
              <a:t>={1,3,4}, </a:t>
            </a:r>
            <a:r>
              <a:rPr lang="en-US" altLang="zh-CN" sz="2400" b="1" i="1" smtClean="0">
                <a:latin typeface="Times New Roman" panose="02020603050405020304" pitchFamily="18" charset="0"/>
                <a:cs typeface="Times New Roman" panose="02020603050405020304" pitchFamily="18" charset="0"/>
              </a:rPr>
              <a:t>S</a:t>
            </a:r>
            <a:r>
              <a:rPr lang="en-US" altLang="zh-CN" sz="2400" b="1" baseline="-25000" smtClean="0">
                <a:latin typeface="Times New Roman" panose="02020603050405020304" pitchFamily="18" charset="0"/>
                <a:cs typeface="Times New Roman" panose="02020603050405020304" pitchFamily="18" charset="0"/>
              </a:rPr>
              <a:t>3</a:t>
            </a:r>
            <a:r>
              <a:rPr lang="en-US" altLang="zh-CN" sz="2400" b="1" smtClean="0">
                <a:latin typeface="Times New Roman" panose="02020603050405020304" pitchFamily="18" charset="0"/>
                <a:cs typeface="Times New Roman" panose="02020603050405020304" pitchFamily="18" charset="0"/>
              </a:rPr>
              <a:t>={2,4}, </a:t>
            </a:r>
            <a:r>
              <a:rPr lang="en-US" altLang="zh-CN" sz="2400" b="1" i="1" smtClean="0">
                <a:latin typeface="Times New Roman" panose="02020603050405020304" pitchFamily="18" charset="0"/>
                <a:cs typeface="Times New Roman" panose="02020603050405020304" pitchFamily="18" charset="0"/>
              </a:rPr>
              <a:t>S</a:t>
            </a:r>
            <a:r>
              <a:rPr lang="en-US" altLang="zh-CN" sz="2400" b="1" baseline="-25000" smtClean="0">
                <a:latin typeface="Times New Roman" panose="02020603050405020304" pitchFamily="18" charset="0"/>
                <a:cs typeface="Times New Roman" panose="02020603050405020304" pitchFamily="18" charset="0"/>
              </a:rPr>
              <a:t>4</a:t>
            </a:r>
            <a:r>
              <a:rPr lang="en-US" altLang="zh-CN" sz="2400" b="1" smtClean="0">
                <a:latin typeface="Times New Roman" panose="02020603050405020304" pitchFamily="18" charset="0"/>
                <a:cs typeface="Times New Roman" panose="02020603050405020304" pitchFamily="18" charset="0"/>
              </a:rPr>
              <a:t>={2,5}, </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则</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S</a:t>
            </a:r>
            <a:r>
              <a:rPr lang="en-US" altLang="zh-CN" sz="2400" b="1" baseline="-25000" smtClean="0">
                <a:latin typeface="Times New Roman" panose="02020603050405020304" pitchFamily="18" charset="0"/>
                <a:cs typeface="Times New Roman" panose="02020603050405020304" pitchFamily="18" charset="0"/>
              </a:rPr>
              <a:t>2</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 S</a:t>
            </a:r>
            <a:r>
              <a:rPr lang="en-US" altLang="zh-CN" sz="2400" b="1" baseline="-25000" smtClean="0">
                <a:latin typeface="Times New Roman" panose="02020603050405020304" pitchFamily="18" charset="0"/>
                <a:cs typeface="Times New Roman" panose="02020603050405020304" pitchFamily="18" charset="0"/>
              </a:rPr>
              <a:t>4</a:t>
            </a:r>
            <a:r>
              <a:rPr lang="en-US" altLang="zh-CN" sz="2400" b="1" smtClean="0">
                <a:latin typeface="Times New Roman" panose="02020603050405020304" pitchFamily="18" charset="0"/>
                <a:cs typeface="Times New Roman" panose="02020603050405020304" pitchFamily="18" charset="0"/>
              </a:rPr>
              <a:t>}</a:t>
            </a:r>
            <a:r>
              <a:rPr lang="zh-CN" altLang="en-US" sz="2400" b="1" smtClean="0">
                <a:latin typeface="Times New Roman" panose="02020603050405020304" pitchFamily="18" charset="0"/>
                <a:cs typeface="Times New Roman" panose="02020603050405020304" pitchFamily="18" charset="0"/>
              </a:rPr>
              <a:t>是 </a:t>
            </a:r>
            <a:r>
              <a:rPr lang="en-US" altLang="zh-CN" sz="2400" b="1" i="1" smtClean="0">
                <a:latin typeface="Times New Roman" panose="02020603050405020304" pitchFamily="18" charset="0"/>
                <a:cs typeface="Times New Roman" panose="02020603050405020304" pitchFamily="18" charset="0"/>
              </a:rPr>
              <a:t>A</a:t>
            </a:r>
            <a:r>
              <a:rPr lang="zh-CN" altLang="en-US" sz="2400" b="1" smtClean="0">
                <a:latin typeface="Times New Roman" panose="02020603050405020304" pitchFamily="18" charset="0"/>
                <a:cs typeface="Times New Roman" panose="02020603050405020304" pitchFamily="18" charset="0"/>
              </a:rPr>
              <a:t>的恰好覆盖</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若把 </a:t>
            </a:r>
            <a:r>
              <a:rPr lang="en-US" altLang="zh-CN" sz="2400" b="1" i="1" smtClean="0">
                <a:latin typeface="Times New Roman" panose="02020603050405020304" pitchFamily="18" charset="0"/>
                <a:cs typeface="Times New Roman" panose="02020603050405020304" pitchFamily="18" charset="0"/>
              </a:rPr>
              <a:t>S</a:t>
            </a:r>
            <a:r>
              <a:rPr lang="en-US" altLang="zh-CN" sz="2400" b="1" baseline="-25000" smtClean="0">
                <a:latin typeface="Times New Roman" panose="02020603050405020304" pitchFamily="18" charset="0"/>
                <a:cs typeface="Times New Roman" panose="02020603050405020304" pitchFamily="18" charset="0"/>
              </a:rPr>
              <a:t>4 </a:t>
            </a:r>
            <a:r>
              <a:rPr lang="zh-CN" altLang="en-US" sz="2400" b="1" smtClean="0">
                <a:latin typeface="Times New Roman" panose="02020603050405020304" pitchFamily="18" charset="0"/>
                <a:cs typeface="Times New Roman" panose="02020603050405020304" pitchFamily="18" charset="0"/>
              </a:rPr>
              <a:t>改为 </a:t>
            </a:r>
            <a:r>
              <a:rPr lang="en-US" altLang="zh-CN" sz="2400" b="1" i="1" smtClean="0">
                <a:latin typeface="Times New Roman" panose="02020603050405020304" pitchFamily="18" charset="0"/>
                <a:cs typeface="Times New Roman" panose="02020603050405020304" pitchFamily="18" charset="0"/>
              </a:rPr>
              <a:t>S</a:t>
            </a:r>
            <a:r>
              <a:rPr lang="en-US" altLang="zh-CN" sz="2400" b="1" baseline="-25000" smtClean="0">
                <a:latin typeface="Times New Roman" panose="02020603050405020304" pitchFamily="18" charset="0"/>
                <a:cs typeface="Times New Roman" panose="02020603050405020304" pitchFamily="18" charset="0"/>
              </a:rPr>
              <a:t>4</a:t>
            </a:r>
            <a:r>
              <a:rPr lang="en-US" altLang="zh-CN" sz="2400" b="1" smtClean="0">
                <a:latin typeface="Times New Roman" panose="02020603050405020304" pitchFamily="18" charset="0"/>
                <a:cs typeface="Times New Roman" panose="02020603050405020304" pitchFamily="18" charset="0"/>
              </a:rPr>
              <a:t>={3,5}, </a:t>
            </a:r>
            <a:r>
              <a:rPr lang="zh-CN" altLang="en-US" sz="2400" b="1" smtClean="0">
                <a:latin typeface="Times New Roman" panose="02020603050405020304" pitchFamily="18" charset="0"/>
                <a:cs typeface="Times New Roman" panose="02020603050405020304" pitchFamily="18" charset="0"/>
              </a:rPr>
              <a:t>则不存在 </a:t>
            </a:r>
            <a:r>
              <a:rPr lang="en-US" altLang="zh-CN" sz="2400" b="1" i="1" smtClean="0">
                <a:latin typeface="Times New Roman" panose="02020603050405020304" pitchFamily="18" charset="0"/>
                <a:cs typeface="Times New Roman" panose="02020603050405020304" pitchFamily="18" charset="0"/>
              </a:rPr>
              <a:t>A</a:t>
            </a:r>
            <a:endParaRPr lang="en-US" altLang="zh-CN" sz="2400" b="1" i="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的恰好覆盖</a:t>
            </a:r>
            <a:r>
              <a:rPr lang="en-US" altLang="zh-CN" sz="2400" b="1" smtClean="0">
                <a:latin typeface="Times New Roman" panose="02020603050405020304" pitchFamily="18" charset="0"/>
                <a:cs typeface="Times New Roman" panose="02020603050405020304" pitchFamily="18" charset="0"/>
              </a:rPr>
              <a:t>.</a:t>
            </a:r>
            <a:endParaRPr lang="zh-CN" altLang="en-US"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solidFill>
                  <a:srgbClr val="C00000"/>
                </a:solidFill>
                <a:latin typeface="Times New Roman" panose="02020603050405020304" pitchFamily="18" charset="0"/>
                <a:cs typeface="Times New Roman" panose="02020603050405020304" pitchFamily="18" charset="0"/>
              </a:rPr>
              <a:t>定理 </a:t>
            </a:r>
            <a:r>
              <a:rPr lang="en-US" altLang="zh-CN" sz="2400" b="1" smtClean="0">
                <a:solidFill>
                  <a:srgbClr val="C00000"/>
                </a:solidFill>
                <a:latin typeface="Times New Roman" panose="02020603050405020304" pitchFamily="18" charset="0"/>
                <a:cs typeface="Times New Roman" panose="02020603050405020304" pitchFamily="18" charset="0"/>
              </a:rPr>
              <a:t>9.15</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恰好覆盖是</a:t>
            </a:r>
            <a:r>
              <a:rPr lang="en-US" altLang="zh-CN" sz="2400" b="1" smtClean="0">
                <a:latin typeface="Times New Roman" panose="02020603050405020304" pitchFamily="18" charset="0"/>
                <a:cs typeface="Times New Roman" panose="02020603050405020304" pitchFamily="18" charset="0"/>
              </a:rPr>
              <a:t>NP</a:t>
            </a:r>
            <a:r>
              <a:rPr lang="zh-CN" altLang="en-US" sz="2400" b="1" smtClean="0">
                <a:latin typeface="Times New Roman" panose="02020603050405020304" pitchFamily="18" charset="0"/>
                <a:cs typeface="Times New Roman" panose="02020603050405020304" pitchFamily="18" charset="0"/>
              </a:rPr>
              <a:t>完全的</a:t>
            </a:r>
            <a:r>
              <a:rPr lang="en-US" altLang="zh-CN" sz="2400" b="1" smtClean="0">
                <a:latin typeface="Times New Roman" panose="02020603050405020304" pitchFamily="18" charset="0"/>
                <a:cs typeface="Times New Roman" panose="02020603050405020304" pitchFamily="18" charset="0"/>
              </a:rPr>
              <a:t>.</a:t>
            </a:r>
            <a:endParaRPr lang="zh-CN" altLang="en-US" sz="2400" b="1"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1"/>
          <p:cNvSpPr>
            <a:spLocks noGrp="1"/>
          </p:cNvSpPr>
          <p:nvPr>
            <p:ph type="title"/>
          </p:nvPr>
        </p:nvSpPr>
        <p:spPr>
          <a:xfrm>
            <a:off x="471488" y="90488"/>
            <a:ext cx="8229600" cy="1143000"/>
          </a:xfrm>
        </p:spPr>
        <p:txBody>
          <a:bodyPr/>
          <a:lstStyle/>
          <a:p>
            <a:r>
              <a:rPr lang="zh-CN" altLang="en-US" sz="4000" b="1" smtClean="0">
                <a:solidFill>
                  <a:srgbClr val="C00000"/>
                </a:solidFill>
                <a:latin typeface="Times New Roman" panose="02020603050405020304" pitchFamily="18" charset="0"/>
                <a:cs typeface="Times New Roman" panose="02020603050405020304" pitchFamily="18" charset="0"/>
              </a:rPr>
              <a:t>证明</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48131" name="内容占位符 2"/>
          <p:cNvSpPr>
            <a:spLocks noGrp="1"/>
          </p:cNvSpPr>
          <p:nvPr>
            <p:ph idx="1"/>
          </p:nvPr>
        </p:nvSpPr>
        <p:spPr>
          <a:xfrm>
            <a:off x="471488" y="1125538"/>
            <a:ext cx="8229600" cy="5400675"/>
          </a:xfrm>
        </p:spPr>
        <p:txBody>
          <a:bodyPr/>
          <a:lstStyle/>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证  要证可满足性</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latin typeface="Times New Roman" panose="02020603050405020304" pitchFamily="18" charset="0"/>
                <a:cs typeface="Times New Roman" panose="02020603050405020304" pitchFamily="18" charset="0"/>
              </a:rPr>
              <a:t>p</a:t>
            </a:r>
            <a:r>
              <a:rPr lang="zh-CN" altLang="en-US" sz="2400" b="1" smtClean="0">
                <a:latin typeface="Times New Roman" panose="02020603050405020304" pitchFamily="18" charset="0"/>
                <a:cs typeface="Times New Roman" panose="02020603050405020304" pitchFamily="18" charset="0"/>
              </a:rPr>
              <a:t>恰好覆盖</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任给变元 </a:t>
            </a:r>
            <a:r>
              <a:rPr lang="en-US" altLang="zh-CN" sz="2400" b="1" i="1" smtClean="0">
                <a:latin typeface="Times New Roman" panose="02020603050405020304" pitchFamily="18" charset="0"/>
                <a:cs typeface="Times New Roman" panose="02020603050405020304" pitchFamily="18" charset="0"/>
              </a:rPr>
              <a:t>x</a:t>
            </a:r>
            <a:r>
              <a:rPr lang="en-US" altLang="zh-CN" sz="2400" b="1" baseline="-25000" smtClean="0">
                <a:latin typeface="Times New Roman" panose="02020603050405020304" pitchFamily="18" charset="0"/>
                <a:cs typeface="Times New Roman" panose="02020603050405020304" pitchFamily="18" charset="0"/>
              </a:rPr>
              <a:t>1</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 x</a:t>
            </a:r>
            <a:r>
              <a:rPr lang="en-US" altLang="zh-CN" sz="2400" b="1" baseline="-25000" smtClean="0">
                <a:latin typeface="Times New Roman" panose="02020603050405020304" pitchFamily="18" charset="0"/>
                <a:cs typeface="Times New Roman" panose="02020603050405020304" pitchFamily="18" charset="0"/>
              </a:rPr>
              <a:t>2</a:t>
            </a:r>
            <a:r>
              <a:rPr lang="en-US" altLang="zh-CN" sz="2400" b="1" smtClean="0">
                <a:latin typeface="Times New Roman" panose="02020603050405020304" pitchFamily="18" charset="0"/>
                <a:cs typeface="Times New Roman" panose="02020603050405020304" pitchFamily="18" charset="0"/>
              </a:rPr>
              <a:t>,</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 x</a:t>
            </a:r>
            <a:r>
              <a:rPr lang="en-US" altLang="zh-CN" sz="2400" b="1" i="1" baseline="-25000" smtClean="0">
                <a:latin typeface="Times New Roman" panose="02020603050405020304" pitchFamily="18" charset="0"/>
                <a:cs typeface="Times New Roman" panose="02020603050405020304" pitchFamily="18" charset="0"/>
              </a:rPr>
              <a:t>n </a:t>
            </a:r>
            <a:r>
              <a:rPr lang="zh-CN" altLang="en-US" sz="2400" b="1" smtClean="0">
                <a:latin typeface="Times New Roman" panose="02020603050405020304" pitchFamily="18" charset="0"/>
                <a:cs typeface="Times New Roman" panose="02020603050405020304" pitchFamily="18" charset="0"/>
              </a:rPr>
              <a:t>的合取范</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式 </a:t>
            </a:r>
            <a:r>
              <a:rPr lang="en-US" altLang="zh-CN" sz="2400" b="1" i="1" smtClean="0">
                <a:latin typeface="Times New Roman" panose="02020603050405020304" pitchFamily="18" charset="0"/>
                <a:cs typeface="Times New Roman" panose="02020603050405020304" pitchFamily="18" charset="0"/>
              </a:rPr>
              <a:t>F</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C</a:t>
            </a:r>
            <a:r>
              <a:rPr lang="en-US" altLang="zh-CN" sz="2400" b="1" baseline="-25000" smtClean="0">
                <a:latin typeface="Times New Roman" panose="02020603050405020304" pitchFamily="18" charset="0"/>
                <a:cs typeface="Times New Roman" panose="02020603050405020304" pitchFamily="18" charset="0"/>
              </a:rPr>
              <a:t>1</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C</a:t>
            </a:r>
            <a:r>
              <a:rPr lang="en-US" altLang="zh-CN" sz="2400" b="1" baseline="-25000" smtClean="0">
                <a:latin typeface="Times New Roman" panose="02020603050405020304" pitchFamily="18" charset="0"/>
                <a:cs typeface="Times New Roman" panose="02020603050405020304" pitchFamily="18" charset="0"/>
              </a:rPr>
              <a:t>2</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C</a:t>
            </a:r>
            <a:r>
              <a:rPr lang="en-US" altLang="zh-CN" sz="2400" b="1" i="1" baseline="-25000" smtClean="0">
                <a:latin typeface="Times New Roman" panose="02020603050405020304" pitchFamily="18" charset="0"/>
                <a:cs typeface="Times New Roman" panose="02020603050405020304" pitchFamily="18" charset="0"/>
              </a:rPr>
              <a:t>m</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其中                             </a:t>
            </a:r>
            <a:r>
              <a:rPr lang="en-US" altLang="zh-CN" sz="2400" b="1" smtClean="0">
                <a:latin typeface="Times New Roman" panose="02020603050405020304" pitchFamily="18" charset="0"/>
                <a:cs typeface="Times New Roman" panose="02020603050405020304" pitchFamily="18" charset="0"/>
              </a:rPr>
              <a:t> ,         . </a:t>
            </a:r>
            <a:r>
              <a:rPr lang="zh-CN" altLang="en-US" sz="2400" b="1" smtClean="0">
                <a:latin typeface="Times New Roman" panose="02020603050405020304" pitchFamily="18" charset="0"/>
                <a:cs typeface="Times New Roman" panose="02020603050405020304" pitchFamily="18" charset="0"/>
              </a:rPr>
              <a:t>取</a:t>
            </a:r>
            <a:endParaRPr lang="zh-CN" altLang="en-US"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i="1" smtClean="0">
                <a:latin typeface="Times New Roman" panose="02020603050405020304" pitchFamily="18" charset="0"/>
                <a:cs typeface="Times New Roman" panose="02020603050405020304" pitchFamily="18" charset="0"/>
              </a:rPr>
              <a:t>         A</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x</a:t>
            </a:r>
            <a:r>
              <a:rPr lang="en-US" altLang="zh-CN" sz="2400" b="1" baseline="-25000" smtClean="0">
                <a:latin typeface="Times New Roman" panose="02020603050405020304" pitchFamily="18" charset="0"/>
                <a:cs typeface="Times New Roman" panose="02020603050405020304" pitchFamily="18" charset="0"/>
              </a:rPr>
              <a:t>1</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 x</a:t>
            </a:r>
            <a:r>
              <a:rPr lang="en-US" altLang="zh-CN" sz="2400" b="1" baseline="-25000" smtClean="0">
                <a:latin typeface="Times New Roman" panose="02020603050405020304" pitchFamily="18" charset="0"/>
                <a:cs typeface="Times New Roman" panose="02020603050405020304" pitchFamily="18" charset="0"/>
              </a:rPr>
              <a:t>2</a:t>
            </a:r>
            <a:r>
              <a:rPr lang="en-US" altLang="zh-CN" sz="2400" b="1" smtClean="0">
                <a:latin typeface="Times New Roman" panose="02020603050405020304" pitchFamily="18" charset="0"/>
                <a:cs typeface="Times New Roman" panose="02020603050405020304" pitchFamily="18" charset="0"/>
              </a:rPr>
              <a:t>,</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 x</a:t>
            </a:r>
            <a:r>
              <a:rPr lang="en-US" altLang="zh-CN" sz="2400" b="1" i="1" baseline="-25000" smtClean="0">
                <a:latin typeface="Times New Roman" panose="02020603050405020304" pitchFamily="18" charset="0"/>
                <a:cs typeface="Times New Roman" panose="02020603050405020304" pitchFamily="18" charset="0"/>
              </a:rPr>
              <a:t>n</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C</a:t>
            </a:r>
            <a:r>
              <a:rPr lang="en-US" altLang="zh-CN" sz="2400" b="1" baseline="-25000" smtClean="0">
                <a:latin typeface="Times New Roman" panose="02020603050405020304" pitchFamily="18" charset="0"/>
                <a:cs typeface="Times New Roman" panose="02020603050405020304" pitchFamily="18" charset="0"/>
              </a:rPr>
              <a:t>1</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C</a:t>
            </a:r>
            <a:r>
              <a:rPr lang="en-US" altLang="zh-CN" sz="2400" b="1" baseline="-25000" smtClean="0">
                <a:latin typeface="Times New Roman" panose="02020603050405020304" pitchFamily="18" charset="0"/>
                <a:cs typeface="Times New Roman" panose="02020603050405020304" pitchFamily="18" charset="0"/>
              </a:rPr>
              <a:t>2</a:t>
            </a:r>
            <a:r>
              <a:rPr lang="en-US" altLang="zh-CN" sz="2400" b="1" smtClean="0">
                <a:latin typeface="Times New Roman" panose="02020603050405020304" pitchFamily="18" charset="0"/>
                <a:cs typeface="Times New Roman" panose="02020603050405020304" pitchFamily="18" charset="0"/>
              </a:rPr>
              <a:t>,</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C</a:t>
            </a:r>
            <a:r>
              <a:rPr lang="en-US" altLang="zh-CN" sz="2400" b="1" i="1" baseline="-25000" smtClean="0">
                <a:latin typeface="Times New Roman" panose="02020603050405020304" pitchFamily="18" charset="0"/>
                <a:cs typeface="Times New Roman" panose="02020603050405020304" pitchFamily="18" charset="0"/>
              </a:rPr>
              <a:t>m</a:t>
            </a:r>
            <a:r>
              <a:rPr lang="en-US" altLang="zh-CN" sz="2400" b="1" smtClean="0">
                <a:latin typeface="Times New Roman" panose="02020603050405020304" pitchFamily="18" charset="0"/>
                <a:cs typeface="Times New Roman" panose="02020603050405020304" pitchFamily="18" charset="0"/>
              </a:rPr>
              <a:t>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p</a:t>
            </a:r>
            <a:r>
              <a:rPr lang="en-US" altLang="zh-CN" sz="2400" b="1" i="1" baseline="-25000" smtClean="0">
                <a:latin typeface="Times New Roman" panose="02020603050405020304" pitchFamily="18" charset="0"/>
                <a:cs typeface="Times New Roman" panose="02020603050405020304" pitchFamily="18" charset="0"/>
              </a:rPr>
              <a:t>jt</a:t>
            </a:r>
            <a:r>
              <a:rPr lang="en-US" altLang="zh-CN" sz="2400" b="1" smtClean="0">
                <a:latin typeface="Times New Roman" panose="02020603050405020304" pitchFamily="18" charset="0"/>
                <a:cs typeface="Times New Roman" panose="02020603050405020304" pitchFamily="18" charset="0"/>
              </a:rPr>
              <a:t> | 1</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rPr>
              <a:t>t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rPr>
              <a:t>s</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 1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rPr>
              <a:t>j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rPr>
              <a:t>m</a:t>
            </a:r>
            <a:r>
              <a:rPr lang="en-US" altLang="zh-CN" sz="2400" b="1" smtClean="0">
                <a:latin typeface="Times New Roman" panose="02020603050405020304" pitchFamily="18" charset="0"/>
                <a:cs typeface="Times New Roman" panose="02020603050405020304" pitchFamily="18" charset="0"/>
              </a:rPr>
              <a:t>},  </a:t>
            </a:r>
            <a:endParaRPr lang="zh-CN" altLang="en-US"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其中 </a:t>
            </a:r>
            <a:r>
              <a:rPr lang="en-US" altLang="zh-CN" sz="2400" b="1" i="1" smtClean="0">
                <a:latin typeface="Times New Roman" panose="02020603050405020304" pitchFamily="18" charset="0"/>
                <a:cs typeface="Times New Roman" panose="02020603050405020304" pitchFamily="18" charset="0"/>
              </a:rPr>
              <a:t>p</a:t>
            </a:r>
            <a:r>
              <a:rPr lang="en-US" altLang="zh-CN" sz="2400" b="1" i="1" baseline="-25000" smtClean="0">
                <a:latin typeface="Times New Roman" panose="02020603050405020304" pitchFamily="18" charset="0"/>
                <a:cs typeface="Times New Roman" panose="02020603050405020304" pitchFamily="18" charset="0"/>
              </a:rPr>
              <a:t>jt </a:t>
            </a:r>
            <a:r>
              <a:rPr lang="zh-CN" altLang="en-US" sz="2400" b="1" smtClean="0">
                <a:latin typeface="Times New Roman" panose="02020603050405020304" pitchFamily="18" charset="0"/>
                <a:cs typeface="Times New Roman" panose="02020603050405020304" pitchFamily="18" charset="0"/>
              </a:rPr>
              <a:t>代表</a:t>
            </a:r>
            <a:r>
              <a:rPr lang="en-US" altLang="zh-CN" sz="2400" b="1" i="1" smtClean="0">
                <a:latin typeface="Times New Roman" panose="02020603050405020304" pitchFamily="18" charset="0"/>
                <a:cs typeface="Times New Roman" panose="02020603050405020304" pitchFamily="18" charset="0"/>
              </a:rPr>
              <a:t>C</a:t>
            </a:r>
            <a:r>
              <a:rPr lang="en-US" altLang="zh-CN" sz="2400" b="1" i="1" baseline="-25000" smtClean="0">
                <a:latin typeface="Times New Roman" panose="02020603050405020304" pitchFamily="18" charset="0"/>
                <a:cs typeface="Times New Roman" panose="02020603050405020304" pitchFamily="18" charset="0"/>
              </a:rPr>
              <a:t>j</a:t>
            </a:r>
            <a:r>
              <a:rPr lang="zh-CN" altLang="en-US" sz="2400" b="1" smtClean="0">
                <a:latin typeface="Times New Roman" panose="02020603050405020304" pitchFamily="18" charset="0"/>
                <a:cs typeface="Times New Roman" panose="02020603050405020304" pitchFamily="18" charset="0"/>
              </a:rPr>
              <a:t>中的文字 </a:t>
            </a:r>
            <a:r>
              <a:rPr lang="en-US" altLang="zh-CN" sz="2400" b="1" i="1" smtClean="0">
                <a:latin typeface="Times New Roman" panose="02020603050405020304" pitchFamily="18" charset="0"/>
                <a:cs typeface="Times New Roman" panose="02020603050405020304" pitchFamily="18" charset="0"/>
              </a:rPr>
              <a:t>z</a:t>
            </a:r>
            <a:r>
              <a:rPr lang="en-US" altLang="zh-CN" sz="2400" b="1" i="1" baseline="-25000" smtClean="0">
                <a:latin typeface="Times New Roman" panose="02020603050405020304" pitchFamily="18" charset="0"/>
                <a:cs typeface="Times New Roman" panose="02020603050405020304" pitchFamily="18" charset="0"/>
              </a:rPr>
              <a:t>jt </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W</a:t>
            </a:r>
            <a:r>
              <a:rPr lang="zh-CN" altLang="en-US" sz="2400" b="1" smtClean="0">
                <a:latin typeface="Times New Roman" panose="02020603050405020304" pitchFamily="18" charset="0"/>
                <a:cs typeface="Times New Roman" panose="02020603050405020304" pitchFamily="18" charset="0"/>
              </a:rPr>
              <a:t>包含下述子集</a:t>
            </a:r>
            <a:r>
              <a:rPr lang="en-US" altLang="zh-CN" sz="2400" b="1" smtClean="0">
                <a:latin typeface="Times New Roman" panose="02020603050405020304" pitchFamily="18" charset="0"/>
                <a:cs typeface="Times New Roman" panose="02020603050405020304" pitchFamily="18" charset="0"/>
              </a:rPr>
              <a:t>:</a:t>
            </a:r>
            <a:endParaRPr lang="zh-CN" altLang="en-US" sz="2400" b="1" smtClean="0">
              <a:latin typeface="Times New Roman" panose="02020603050405020304" pitchFamily="18" charset="0"/>
              <a:cs typeface="Times New Roman" panose="02020603050405020304" pitchFamily="18" charset="0"/>
            </a:endParaRPr>
          </a:p>
          <a:p>
            <a:pPr algn="ctr">
              <a:buFont typeface="Arial" panose="020B0604020202020204" pitchFamily="34" charset="0"/>
              <a:buNone/>
            </a:pPr>
            <a:r>
              <a:rPr lang="en-US" altLang="zh-CN" sz="2400" b="1" i="1" smtClean="0">
                <a:latin typeface="Times New Roman" panose="02020603050405020304" pitchFamily="18" charset="0"/>
                <a:cs typeface="Times New Roman" panose="02020603050405020304" pitchFamily="18" charset="0"/>
              </a:rPr>
              <a:t>T</a:t>
            </a:r>
            <a:r>
              <a:rPr lang="en-US" altLang="zh-CN" sz="2400" b="1" i="1" baseline="30000" smtClean="0">
                <a:latin typeface="Times New Roman" panose="02020603050405020304" pitchFamily="18" charset="0"/>
                <a:cs typeface="Times New Roman" panose="02020603050405020304" pitchFamily="18" charset="0"/>
              </a:rPr>
              <a:t>T</a:t>
            </a:r>
            <a:r>
              <a:rPr lang="en-US" altLang="zh-CN" sz="2400" b="1" i="1" baseline="-25000" smtClean="0">
                <a:latin typeface="Times New Roman" panose="02020603050405020304" pitchFamily="18" charset="0"/>
                <a:cs typeface="Times New Roman" panose="02020603050405020304" pitchFamily="18" charset="0"/>
              </a:rPr>
              <a:t>i </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 x</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 p</a:t>
            </a:r>
            <a:r>
              <a:rPr lang="en-US" altLang="zh-CN" sz="2400" b="1" i="1" baseline="-25000" smtClean="0">
                <a:latin typeface="Times New Roman" panose="02020603050405020304" pitchFamily="18" charset="0"/>
                <a:cs typeface="Times New Roman" panose="02020603050405020304" pitchFamily="18" charset="0"/>
              </a:rPr>
              <a:t>jt</a:t>
            </a:r>
            <a:r>
              <a:rPr lang="en-US" altLang="zh-CN" sz="2400" b="1" smtClean="0">
                <a:latin typeface="Times New Roman" panose="02020603050405020304" pitchFamily="18" charset="0"/>
                <a:cs typeface="Times New Roman" panose="02020603050405020304" pitchFamily="18" charset="0"/>
              </a:rPr>
              <a:t> | </a:t>
            </a:r>
            <a:r>
              <a:rPr lang="en-US" altLang="zh-CN" sz="2400" b="1" i="1" smtClean="0">
                <a:latin typeface="Times New Roman" panose="02020603050405020304" pitchFamily="18" charset="0"/>
                <a:cs typeface="Times New Roman" panose="02020603050405020304" pitchFamily="18" charset="0"/>
              </a:rPr>
              <a:t>z</a:t>
            </a:r>
            <a:r>
              <a:rPr lang="en-US" altLang="zh-CN" sz="2400" b="1" i="1" baseline="-25000" smtClean="0">
                <a:latin typeface="Times New Roman" panose="02020603050405020304" pitchFamily="18" charset="0"/>
                <a:cs typeface="Times New Roman" panose="02020603050405020304" pitchFamily="18" charset="0"/>
              </a:rPr>
              <a:t>jt </a:t>
            </a:r>
            <a:r>
              <a:rPr lang="en-US" altLang="zh-CN" sz="2400" b="1" smtClean="0">
                <a:latin typeface="Times New Roman" panose="02020603050405020304" pitchFamily="18" charset="0"/>
                <a:cs typeface="Times New Roman" panose="02020603050405020304" pitchFamily="18" charset="0"/>
              </a:rPr>
              <a:t>=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x</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1</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rPr>
              <a:t>t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rPr>
              <a:t>s</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 1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rPr>
              <a:t>j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rPr>
              <a:t>m </a:t>
            </a:r>
            <a:r>
              <a:rPr lang="en-US" altLang="zh-CN" sz="2400" b="1" smtClean="0">
                <a:latin typeface="Times New Roman" panose="02020603050405020304" pitchFamily="18" charset="0"/>
                <a:cs typeface="Times New Roman" panose="02020603050405020304" pitchFamily="18" charset="0"/>
              </a:rPr>
              <a:t>},   1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rPr>
              <a:t>i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rPr>
              <a:t>n</a:t>
            </a:r>
            <a:r>
              <a:rPr lang="en-US" altLang="zh-CN" sz="2400" b="1" smtClean="0">
                <a:latin typeface="Times New Roman" panose="02020603050405020304" pitchFamily="18" charset="0"/>
                <a:cs typeface="Times New Roman" panose="02020603050405020304" pitchFamily="18" charset="0"/>
              </a:rPr>
              <a:t>,</a:t>
            </a:r>
            <a:endParaRPr lang="zh-CN" altLang="en-US" sz="2400" b="1" smtClean="0">
              <a:latin typeface="Times New Roman" panose="02020603050405020304" pitchFamily="18" charset="0"/>
              <a:cs typeface="Times New Roman" panose="02020603050405020304" pitchFamily="18" charset="0"/>
            </a:endParaRPr>
          </a:p>
          <a:p>
            <a:pPr algn="ctr">
              <a:buFont typeface="Arial" panose="020B0604020202020204" pitchFamily="34" charset="0"/>
              <a:buNone/>
            </a:pPr>
            <a:r>
              <a:rPr lang="en-US" altLang="zh-CN" sz="2400" b="1" i="1" smtClean="0">
                <a:latin typeface="Times New Roman" panose="02020603050405020304" pitchFamily="18" charset="0"/>
                <a:cs typeface="Times New Roman" panose="02020603050405020304" pitchFamily="18" charset="0"/>
              </a:rPr>
              <a:t>T</a:t>
            </a:r>
            <a:r>
              <a:rPr lang="en-US" altLang="zh-CN" sz="2400" b="1" i="1" baseline="30000" smtClean="0">
                <a:latin typeface="Times New Roman" panose="02020603050405020304" pitchFamily="18" charset="0"/>
                <a:cs typeface="Times New Roman" panose="02020603050405020304" pitchFamily="18" charset="0"/>
              </a:rPr>
              <a:t>F</a:t>
            </a:r>
            <a:r>
              <a:rPr lang="en-US" altLang="zh-CN" sz="2400" b="1" i="1" baseline="-25000" smtClean="0">
                <a:latin typeface="Times New Roman" panose="02020603050405020304" pitchFamily="18" charset="0"/>
                <a:cs typeface="Times New Roman" panose="02020603050405020304" pitchFamily="18" charset="0"/>
              </a:rPr>
              <a:t>i </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 x</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 p</a:t>
            </a:r>
            <a:r>
              <a:rPr lang="en-US" altLang="zh-CN" sz="2400" b="1" i="1" baseline="-25000" smtClean="0">
                <a:latin typeface="Times New Roman" panose="02020603050405020304" pitchFamily="18" charset="0"/>
                <a:cs typeface="Times New Roman" panose="02020603050405020304" pitchFamily="18" charset="0"/>
              </a:rPr>
              <a:t>jt</a:t>
            </a:r>
            <a:r>
              <a:rPr lang="en-US" altLang="zh-CN" sz="2400" b="1" smtClean="0">
                <a:latin typeface="Times New Roman" panose="02020603050405020304" pitchFamily="18" charset="0"/>
                <a:cs typeface="Times New Roman" panose="02020603050405020304" pitchFamily="18" charset="0"/>
              </a:rPr>
              <a:t> | </a:t>
            </a:r>
            <a:r>
              <a:rPr lang="en-US" altLang="zh-CN" sz="2400" b="1" i="1" smtClean="0">
                <a:latin typeface="Times New Roman" panose="02020603050405020304" pitchFamily="18" charset="0"/>
                <a:cs typeface="Times New Roman" panose="02020603050405020304" pitchFamily="18" charset="0"/>
              </a:rPr>
              <a:t>z</a:t>
            </a:r>
            <a:r>
              <a:rPr lang="en-US" altLang="zh-CN" sz="2400" b="1" i="1" baseline="-25000" smtClean="0">
                <a:latin typeface="Times New Roman" panose="02020603050405020304" pitchFamily="18" charset="0"/>
                <a:cs typeface="Times New Roman" panose="02020603050405020304" pitchFamily="18" charset="0"/>
              </a:rPr>
              <a:t>jt </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x</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1</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rPr>
              <a:t>t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rPr>
              <a:t>s</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 1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rPr>
              <a:t>j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rPr>
              <a:t>m </a:t>
            </a:r>
            <a:r>
              <a:rPr lang="en-US" altLang="zh-CN" sz="2400" b="1" smtClean="0">
                <a:latin typeface="Times New Roman" panose="02020603050405020304" pitchFamily="18" charset="0"/>
                <a:cs typeface="Times New Roman" panose="02020603050405020304" pitchFamily="18" charset="0"/>
              </a:rPr>
              <a:t>},   1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rPr>
              <a:t>i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rPr>
              <a:t>n</a:t>
            </a:r>
            <a:r>
              <a:rPr lang="en-US" altLang="zh-CN" sz="2400" b="1" smtClean="0">
                <a:latin typeface="Times New Roman" panose="02020603050405020304" pitchFamily="18" charset="0"/>
                <a:cs typeface="Times New Roman" panose="02020603050405020304" pitchFamily="18" charset="0"/>
              </a:rPr>
              <a:t>,</a:t>
            </a:r>
            <a:endParaRPr lang="zh-CN" altLang="en-US" sz="2400" b="1" smtClean="0">
              <a:latin typeface="Times New Roman" panose="02020603050405020304" pitchFamily="18" charset="0"/>
              <a:cs typeface="Times New Roman" panose="02020603050405020304" pitchFamily="18" charset="0"/>
            </a:endParaRPr>
          </a:p>
          <a:p>
            <a:pPr algn="ctr">
              <a:buFont typeface="Arial" panose="020B0604020202020204" pitchFamily="34" charset="0"/>
              <a:buNone/>
            </a:pPr>
            <a:r>
              <a:rPr lang="en-US" altLang="zh-CN" sz="2400" b="1" i="1" smtClean="0">
                <a:latin typeface="Times New Roman" panose="02020603050405020304" pitchFamily="18" charset="0"/>
                <a:cs typeface="Times New Roman" panose="02020603050405020304" pitchFamily="18" charset="0"/>
              </a:rPr>
              <a:t>C</a:t>
            </a:r>
            <a:r>
              <a:rPr lang="en-US" altLang="zh-CN" sz="2400" b="1" i="1" baseline="-25000" smtClean="0">
                <a:latin typeface="Times New Roman" panose="02020603050405020304" pitchFamily="18" charset="0"/>
                <a:cs typeface="Times New Roman" panose="02020603050405020304" pitchFamily="18" charset="0"/>
              </a:rPr>
              <a:t>jt  </a:t>
            </a:r>
            <a:r>
              <a:rPr lang="en-US" altLang="zh-CN" sz="2400" b="1" smtClean="0">
                <a:latin typeface="Times New Roman" panose="02020603050405020304" pitchFamily="18" charset="0"/>
                <a:cs typeface="Times New Roman" panose="02020603050405020304" pitchFamily="18" charset="0"/>
              </a:rPr>
              <a:t>= { </a:t>
            </a:r>
            <a:r>
              <a:rPr lang="en-US" altLang="zh-CN" sz="2400" b="1" i="1" smtClean="0">
                <a:latin typeface="Times New Roman" panose="02020603050405020304" pitchFamily="18" charset="0"/>
                <a:cs typeface="Times New Roman" panose="02020603050405020304" pitchFamily="18" charset="0"/>
              </a:rPr>
              <a:t>C</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 p</a:t>
            </a:r>
            <a:r>
              <a:rPr lang="en-US" altLang="zh-CN" sz="2400" b="1" i="1" baseline="-25000" smtClean="0">
                <a:latin typeface="Times New Roman" panose="02020603050405020304" pitchFamily="18" charset="0"/>
                <a:cs typeface="Times New Roman" panose="02020603050405020304" pitchFamily="18" charset="0"/>
              </a:rPr>
              <a:t>jt </a:t>
            </a:r>
            <a:r>
              <a:rPr lang="en-US" altLang="zh-CN" sz="2400" b="1" smtClean="0">
                <a:latin typeface="Times New Roman" panose="02020603050405020304" pitchFamily="18" charset="0"/>
                <a:cs typeface="Times New Roman" panose="02020603050405020304" pitchFamily="18" charset="0"/>
              </a:rPr>
              <a:t>},  1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rPr>
              <a:t>t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rPr>
              <a:t>s</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 1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rPr>
              <a:t>j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rPr>
              <a:t>m</a:t>
            </a:r>
            <a:r>
              <a:rPr lang="en-US" altLang="zh-CN" sz="2400" b="1" smtClean="0">
                <a:latin typeface="Times New Roman" panose="02020603050405020304" pitchFamily="18" charset="0"/>
                <a:cs typeface="Times New Roman" panose="02020603050405020304" pitchFamily="18" charset="0"/>
              </a:rPr>
              <a:t>.</a:t>
            </a:r>
            <a:endParaRPr lang="zh-CN" altLang="en-US" sz="2400" b="1" smtClean="0">
              <a:latin typeface="Times New Roman" panose="02020603050405020304" pitchFamily="18" charset="0"/>
              <a:cs typeface="Times New Roman" panose="02020603050405020304" pitchFamily="18" charset="0"/>
            </a:endParaRPr>
          </a:p>
          <a:p>
            <a:pPr algn="ctr">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 p</a:t>
            </a:r>
            <a:r>
              <a:rPr lang="en-US" altLang="zh-CN" sz="2400" b="1" i="1" baseline="-25000" smtClean="0">
                <a:latin typeface="Times New Roman" panose="02020603050405020304" pitchFamily="18" charset="0"/>
                <a:cs typeface="Times New Roman" panose="02020603050405020304" pitchFamily="18" charset="0"/>
              </a:rPr>
              <a:t>jt</a:t>
            </a:r>
            <a:r>
              <a:rPr lang="en-US" altLang="zh-CN" sz="2400" b="1" smtClean="0">
                <a:latin typeface="Times New Roman" panose="02020603050405020304" pitchFamily="18" charset="0"/>
                <a:cs typeface="Times New Roman" panose="02020603050405020304" pitchFamily="18" charset="0"/>
              </a:rPr>
              <a:t> }, 1</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rPr>
              <a:t>t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rPr>
              <a:t>s</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 1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rPr>
              <a:t>j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rPr>
              <a:t>m.    </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要证 </a:t>
            </a:r>
            <a:r>
              <a:rPr lang="en-US" altLang="zh-CN" sz="2400" b="1" i="1" smtClean="0">
                <a:latin typeface="Times New Roman" panose="02020603050405020304" pitchFamily="18" charset="0"/>
                <a:cs typeface="Times New Roman" panose="02020603050405020304" pitchFamily="18" charset="0"/>
              </a:rPr>
              <a:t>F </a:t>
            </a:r>
            <a:r>
              <a:rPr lang="zh-CN" altLang="en-US" sz="2400" b="1" smtClean="0">
                <a:latin typeface="Times New Roman" panose="02020603050405020304" pitchFamily="18" charset="0"/>
                <a:cs typeface="Times New Roman" panose="02020603050405020304" pitchFamily="18" charset="0"/>
              </a:rPr>
              <a:t>是可满足的当且仅当 </a:t>
            </a:r>
            <a:r>
              <a:rPr lang="en-US" altLang="zh-CN" sz="2400" b="1" i="1" smtClean="0">
                <a:latin typeface="Times New Roman" panose="02020603050405020304" pitchFamily="18" charset="0"/>
                <a:cs typeface="Times New Roman" panose="02020603050405020304" pitchFamily="18" charset="0"/>
              </a:rPr>
              <a:t>W </a:t>
            </a:r>
            <a:r>
              <a:rPr lang="zh-CN" altLang="en-US" sz="2400" b="1" smtClean="0">
                <a:latin typeface="Times New Roman" panose="02020603050405020304" pitchFamily="18" charset="0"/>
                <a:cs typeface="Times New Roman" panose="02020603050405020304" pitchFamily="18" charset="0"/>
              </a:rPr>
              <a:t>含有 </a:t>
            </a:r>
            <a:r>
              <a:rPr lang="en-US" altLang="zh-CN" sz="2400" b="1" i="1" smtClean="0">
                <a:latin typeface="Times New Roman" panose="02020603050405020304" pitchFamily="18" charset="0"/>
                <a:cs typeface="Times New Roman" panose="02020603050405020304" pitchFamily="18" charset="0"/>
              </a:rPr>
              <a:t>A </a:t>
            </a:r>
            <a:r>
              <a:rPr lang="zh-CN" altLang="en-US" sz="2400" b="1" smtClean="0">
                <a:latin typeface="Times New Roman" panose="02020603050405020304" pitchFamily="18" charset="0"/>
                <a:cs typeface="Times New Roman" panose="02020603050405020304" pitchFamily="18" charset="0"/>
              </a:rPr>
              <a:t>的恰好覆盖</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设</a:t>
            </a:r>
            <a:r>
              <a:rPr lang="en-US" altLang="zh-CN" sz="2400" b="1" i="1" smtClean="0">
                <a:latin typeface="Times New Roman" panose="02020603050405020304" pitchFamily="18" charset="0"/>
                <a:cs typeface="Times New Roman" panose="02020603050405020304" pitchFamily="18" charset="0"/>
              </a:rPr>
              <a:t>U</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W</a:t>
            </a:r>
            <a:endParaRPr lang="en-US" altLang="zh-CN" sz="2400" b="1" i="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是</a:t>
            </a:r>
            <a:r>
              <a:rPr lang="en-US" altLang="zh-CN" sz="2400" b="1" i="1" smtClean="0">
                <a:latin typeface="Times New Roman" panose="02020603050405020304" pitchFamily="18" charset="0"/>
                <a:cs typeface="Times New Roman" panose="02020603050405020304" pitchFamily="18" charset="0"/>
              </a:rPr>
              <a:t>A </a:t>
            </a:r>
            <a:r>
              <a:rPr lang="zh-CN" altLang="en-US" sz="2400" b="1" smtClean="0">
                <a:latin typeface="Times New Roman" panose="02020603050405020304" pitchFamily="18" charset="0"/>
                <a:cs typeface="Times New Roman" panose="02020603050405020304" pitchFamily="18" charset="0"/>
              </a:rPr>
              <a:t>的恰好覆盖</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对每一个</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若</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T</a:t>
            </a:r>
            <a:r>
              <a:rPr lang="en-US" altLang="zh-CN" sz="2400" b="1" i="1" baseline="30000" smtClean="0">
                <a:latin typeface="Times New Roman" panose="02020603050405020304" pitchFamily="18" charset="0"/>
                <a:cs typeface="Times New Roman" panose="02020603050405020304" pitchFamily="18" charset="0"/>
              </a:rPr>
              <a:t>T</a:t>
            </a:r>
            <a:r>
              <a:rPr lang="en-US" altLang="zh-CN" sz="2400" b="1" i="1" baseline="-25000" smtClean="0">
                <a:latin typeface="Times New Roman" panose="02020603050405020304" pitchFamily="18" charset="0"/>
                <a:cs typeface="Times New Roman" panose="02020603050405020304" pitchFamily="18" charset="0"/>
              </a:rPr>
              <a:t>i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U</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则令 </a:t>
            </a:r>
            <a:r>
              <a:rPr lang="en-US" altLang="zh-CN" sz="2400" b="1" i="1" smtClean="0">
                <a:latin typeface="Times New Roman" panose="02020603050405020304" pitchFamily="18" charset="0"/>
                <a:cs typeface="Times New Roman" panose="02020603050405020304" pitchFamily="18" charset="0"/>
              </a:rPr>
              <a:t>t</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x</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)=1; </a:t>
            </a:r>
            <a:r>
              <a:rPr lang="zh-CN" altLang="en-US" sz="2400" b="1" smtClean="0">
                <a:latin typeface="Times New Roman" panose="02020603050405020304" pitchFamily="18" charset="0"/>
                <a:cs typeface="Times New Roman" panose="02020603050405020304" pitchFamily="18" charset="0"/>
              </a:rPr>
              <a:t>若</a:t>
            </a:r>
            <a:r>
              <a:rPr lang="en-US" altLang="zh-CN" sz="2400" b="1" i="1" smtClean="0">
                <a:latin typeface="Times New Roman" panose="02020603050405020304" pitchFamily="18" charset="0"/>
                <a:cs typeface="Times New Roman" panose="02020603050405020304" pitchFamily="18" charset="0"/>
              </a:rPr>
              <a:t>T</a:t>
            </a:r>
            <a:r>
              <a:rPr lang="en-US" altLang="zh-CN" sz="2400" b="1" i="1" baseline="30000" smtClean="0">
                <a:latin typeface="Times New Roman" panose="02020603050405020304" pitchFamily="18" charset="0"/>
                <a:cs typeface="Times New Roman" panose="02020603050405020304" pitchFamily="18" charset="0"/>
              </a:rPr>
              <a:t>F</a:t>
            </a:r>
            <a:r>
              <a:rPr lang="en-US" altLang="zh-CN" sz="2400" b="1" i="1" baseline="-25000" smtClean="0">
                <a:latin typeface="Times New Roman" panose="02020603050405020304" pitchFamily="18" charset="0"/>
                <a:cs typeface="Times New Roman" panose="02020603050405020304" pitchFamily="18" charset="0"/>
              </a:rPr>
              <a:t>i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U</a:t>
            </a:r>
            <a:r>
              <a:rPr lang="en-US" altLang="zh-CN" sz="2400" b="1" smtClean="0">
                <a:latin typeface="Times New Roman" panose="02020603050405020304" pitchFamily="18" charset="0"/>
                <a:cs typeface="Times New Roman" panose="02020603050405020304" pitchFamily="18" charset="0"/>
              </a:rPr>
              <a:t>, </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则令 </a:t>
            </a:r>
            <a:r>
              <a:rPr lang="en-US" altLang="zh-CN" sz="2400" b="1" i="1" smtClean="0">
                <a:latin typeface="Times New Roman" panose="02020603050405020304" pitchFamily="18" charset="0"/>
                <a:cs typeface="Times New Roman" panose="02020603050405020304" pitchFamily="18" charset="0"/>
              </a:rPr>
              <a:t>t</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x</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)=0. </a:t>
            </a:r>
            <a:r>
              <a:rPr lang="zh-CN" altLang="en-US" sz="2400" b="1" smtClean="0">
                <a:latin typeface="Times New Roman" panose="02020603050405020304" pitchFamily="18" charset="0"/>
                <a:cs typeface="Times New Roman" panose="02020603050405020304" pitchFamily="18" charset="0"/>
              </a:rPr>
              <a:t>对每一个 </a:t>
            </a:r>
            <a:r>
              <a:rPr lang="en-US" altLang="zh-CN" sz="2400" b="1" i="1"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必有一个 </a:t>
            </a:r>
            <a:r>
              <a:rPr lang="en-US" altLang="zh-CN" sz="2400" b="1" i="1" smtClean="0">
                <a:latin typeface="Times New Roman" panose="02020603050405020304" pitchFamily="18" charset="0"/>
                <a:cs typeface="Times New Roman" panose="02020603050405020304" pitchFamily="18" charset="0"/>
              </a:rPr>
              <a:t>C</a:t>
            </a:r>
            <a:r>
              <a:rPr lang="en-US" altLang="zh-CN" sz="2400" b="1" i="1" baseline="-25000" smtClean="0">
                <a:latin typeface="Times New Roman" panose="02020603050405020304" pitchFamily="18" charset="0"/>
                <a:cs typeface="Times New Roman" panose="02020603050405020304" pitchFamily="18" charset="0"/>
              </a:rPr>
              <a:t>jt </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C</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 p</a:t>
            </a:r>
            <a:r>
              <a:rPr lang="en-US" altLang="zh-CN" sz="2400" b="1" i="1" baseline="-25000" smtClean="0">
                <a:latin typeface="Times New Roman" panose="02020603050405020304" pitchFamily="18" charset="0"/>
                <a:cs typeface="Times New Roman" panose="02020603050405020304" pitchFamily="18" charset="0"/>
              </a:rPr>
              <a:t>jt</a:t>
            </a:r>
            <a:r>
              <a:rPr lang="en-US" altLang="zh-CN" sz="2400" b="1" smtClean="0">
                <a:latin typeface="Times New Roman" panose="02020603050405020304" pitchFamily="18" charset="0"/>
                <a:cs typeface="Times New Roman" panose="02020603050405020304" pitchFamily="18" charset="0"/>
              </a:rPr>
              <a:t>}</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U</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z</a:t>
            </a:r>
            <a:r>
              <a:rPr lang="en-US" altLang="zh-CN" sz="2400" b="1" i="1" baseline="-25000" smtClean="0">
                <a:latin typeface="Times New Roman" panose="02020603050405020304" pitchFamily="18" charset="0"/>
                <a:cs typeface="Times New Roman" panose="02020603050405020304" pitchFamily="18" charset="0"/>
              </a:rPr>
              <a:t>jt</a:t>
            </a:r>
            <a:r>
              <a:rPr lang="en-US" altLang="zh-CN" sz="2400" b="1" smtClean="0">
                <a:latin typeface="Times New Roman" panose="02020603050405020304" pitchFamily="18" charset="0"/>
                <a:cs typeface="Times New Roman" panose="02020603050405020304" pitchFamily="18" charset="0"/>
              </a:rPr>
              <a:t> = </a:t>
            </a:r>
            <a:r>
              <a:rPr lang="en-US" altLang="zh-CN" sz="2400" b="1" i="1" smtClean="0">
                <a:latin typeface="Times New Roman" panose="02020603050405020304" pitchFamily="18" charset="0"/>
                <a:cs typeface="Times New Roman" panose="02020603050405020304" pitchFamily="18" charset="0"/>
              </a:rPr>
              <a:t>x</a:t>
            </a:r>
            <a:r>
              <a:rPr lang="en-US" altLang="zh-CN" sz="2400" b="1" i="1" baseline="-25000" smtClean="0">
                <a:latin typeface="Times New Roman" panose="02020603050405020304" pitchFamily="18" charset="0"/>
                <a:cs typeface="Times New Roman" panose="02020603050405020304" pitchFamily="18" charset="0"/>
              </a:rPr>
              <a:t>i </a:t>
            </a:r>
            <a:r>
              <a:rPr lang="zh-CN" altLang="en-US" sz="2400" b="1" smtClean="0">
                <a:latin typeface="Times New Roman" panose="02020603050405020304" pitchFamily="18" charset="0"/>
                <a:cs typeface="Times New Roman" panose="02020603050405020304" pitchFamily="18" charset="0"/>
              </a:rPr>
              <a:t>或</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x</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i="1" smtClean="0">
                <a:latin typeface="Times New Roman" panose="02020603050405020304" pitchFamily="18" charset="0"/>
                <a:cs typeface="Times New Roman" panose="02020603050405020304" pitchFamily="18" charset="0"/>
              </a:rPr>
              <a:t> </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若 </a:t>
            </a:r>
            <a:r>
              <a:rPr lang="en-US" altLang="zh-CN" sz="2400" b="1" i="1" smtClean="0">
                <a:latin typeface="Times New Roman" panose="02020603050405020304" pitchFamily="18" charset="0"/>
                <a:cs typeface="Times New Roman" panose="02020603050405020304" pitchFamily="18" charset="0"/>
              </a:rPr>
              <a:t>T</a:t>
            </a:r>
            <a:r>
              <a:rPr lang="en-US" altLang="zh-CN" sz="2400" b="1" i="1" baseline="30000" smtClean="0">
                <a:latin typeface="Times New Roman" panose="02020603050405020304" pitchFamily="18" charset="0"/>
                <a:cs typeface="Times New Roman" panose="02020603050405020304" pitchFamily="18" charset="0"/>
              </a:rPr>
              <a:t>T</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U</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则 </a:t>
            </a:r>
            <a:r>
              <a:rPr lang="en-US" altLang="zh-CN" sz="2400" b="1" i="1" smtClean="0">
                <a:latin typeface="Times New Roman" panose="02020603050405020304" pitchFamily="18" charset="0"/>
                <a:cs typeface="Times New Roman" panose="02020603050405020304" pitchFamily="18" charset="0"/>
              </a:rPr>
              <a:t>p</a:t>
            </a:r>
            <a:r>
              <a:rPr lang="en-US" altLang="zh-CN" sz="2400" b="1" i="1" baseline="-25000" smtClean="0">
                <a:latin typeface="Times New Roman" panose="02020603050405020304" pitchFamily="18" charset="0"/>
                <a:cs typeface="Times New Roman" panose="02020603050405020304" pitchFamily="18" charset="0"/>
              </a:rPr>
              <a:t>jt</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T</a:t>
            </a:r>
            <a:r>
              <a:rPr lang="en-US" altLang="zh-CN" sz="2400" b="1" i="1" baseline="30000" smtClean="0">
                <a:latin typeface="Times New Roman" panose="02020603050405020304" pitchFamily="18" charset="0"/>
                <a:cs typeface="Times New Roman" panose="02020603050405020304" pitchFamily="18" charset="0"/>
              </a:rPr>
              <a:t>T</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 </a:t>
            </a:r>
            <a:r>
              <a:rPr lang="zh-CN" altLang="en-US" sz="2400" b="1" smtClean="0">
                <a:latin typeface="Times New Roman" panose="02020603050405020304" pitchFamily="18" charset="0"/>
                <a:cs typeface="Times New Roman" panose="02020603050405020304" pitchFamily="18" charset="0"/>
              </a:rPr>
              <a:t>从而 </a:t>
            </a:r>
            <a:r>
              <a:rPr lang="en-US" altLang="zh-CN" sz="2400" b="1" i="1" smtClean="0">
                <a:latin typeface="Times New Roman" panose="02020603050405020304" pitchFamily="18" charset="0"/>
                <a:cs typeface="Times New Roman" panose="02020603050405020304" pitchFamily="18" charset="0"/>
              </a:rPr>
              <a:t>z</a:t>
            </a:r>
            <a:r>
              <a:rPr lang="en-US" altLang="zh-CN" sz="2400" b="1" i="1" baseline="-25000" smtClean="0">
                <a:latin typeface="Times New Roman" panose="02020603050405020304" pitchFamily="18" charset="0"/>
                <a:cs typeface="Times New Roman" panose="02020603050405020304" pitchFamily="18" charset="0"/>
              </a:rPr>
              <a:t>jt</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x</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有 </a:t>
            </a:r>
            <a:r>
              <a:rPr lang="en-US" altLang="zh-CN" sz="2400" b="1" i="1" smtClean="0">
                <a:latin typeface="Times New Roman" panose="02020603050405020304" pitchFamily="18" charset="0"/>
                <a:cs typeface="Times New Roman" panose="02020603050405020304" pitchFamily="18" charset="0"/>
              </a:rPr>
              <a:t>t</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x</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)=1, </a:t>
            </a:r>
            <a:r>
              <a:rPr lang="zh-CN" altLang="en-US" sz="2400" b="1" smtClean="0">
                <a:latin typeface="Times New Roman" panose="02020603050405020304" pitchFamily="18" charset="0"/>
                <a:cs typeface="Times New Roman" panose="02020603050405020304" pitchFamily="18" charset="0"/>
              </a:rPr>
              <a:t>故 </a:t>
            </a:r>
            <a:r>
              <a:rPr lang="en-US" altLang="zh-CN" sz="2400" b="1" i="1" smtClean="0">
                <a:latin typeface="Times New Roman" panose="02020603050405020304" pitchFamily="18" charset="0"/>
                <a:cs typeface="Times New Roman" panose="02020603050405020304" pitchFamily="18" charset="0"/>
              </a:rPr>
              <a:t>t </a:t>
            </a:r>
            <a:r>
              <a:rPr lang="zh-CN" altLang="en-US" sz="2400" b="1" smtClean="0">
                <a:latin typeface="Times New Roman" panose="02020603050405020304" pitchFamily="18" charset="0"/>
                <a:cs typeface="Times New Roman" panose="02020603050405020304" pitchFamily="18" charset="0"/>
              </a:rPr>
              <a:t>满足 </a:t>
            </a:r>
            <a:r>
              <a:rPr lang="en-US" altLang="zh-CN" sz="2400" b="1" i="1" smtClean="0">
                <a:latin typeface="Times New Roman" panose="02020603050405020304" pitchFamily="18" charset="0"/>
                <a:cs typeface="Times New Roman" panose="02020603050405020304" pitchFamily="18" charset="0"/>
              </a:rPr>
              <a:t>C</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endParaRPr lang="zh-CN" altLang="en-US" sz="2400" b="1" smtClean="0">
              <a:latin typeface="Times New Roman" panose="02020603050405020304" pitchFamily="18" charset="0"/>
              <a:cs typeface="Times New Roman" panose="02020603050405020304" pitchFamily="18" charset="0"/>
            </a:endParaRPr>
          </a:p>
        </p:txBody>
      </p:sp>
      <p:graphicFrame>
        <p:nvGraphicFramePr>
          <p:cNvPr id="48132" name="Object 4"/>
          <p:cNvGraphicFramePr>
            <a:graphicFrameLocks noChangeAspect="1"/>
          </p:cNvGraphicFramePr>
          <p:nvPr/>
        </p:nvGraphicFramePr>
        <p:xfrm>
          <a:off x="3973513" y="1557338"/>
          <a:ext cx="3046412" cy="520700"/>
        </p:xfrm>
        <a:graphic>
          <a:graphicData uri="http://schemas.openxmlformats.org/presentationml/2006/ole">
            <mc:AlternateContent xmlns:mc="http://schemas.openxmlformats.org/markup-compatibility/2006">
              <mc:Choice xmlns:v="urn:schemas-microsoft-com:vml" Requires="v">
                <p:oleObj spid="_x0000_s48134" name="Equation" r:id="rId1" imgW="1485265" imgH="254000" progId="Equation.3">
                  <p:embed/>
                </p:oleObj>
              </mc:Choice>
              <mc:Fallback>
                <p:oleObj name="Equation" r:id="rId1" imgW="1485265" imgH="2540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73513" y="1557338"/>
                        <a:ext cx="3046412"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p:cNvSpPr>
          <p:nvPr>
            <p:ph type="title"/>
          </p:nvPr>
        </p:nvSpPr>
        <p:spPr>
          <a:xfrm>
            <a:off x="457200" y="6350"/>
            <a:ext cx="8229600" cy="1143000"/>
          </a:xfrm>
        </p:spPr>
        <p:txBody>
          <a:bodyPr/>
          <a:lstStyle/>
          <a:p>
            <a:r>
              <a:rPr lang="zh-CN" altLang="en-US" sz="4000" b="1" smtClean="0">
                <a:solidFill>
                  <a:srgbClr val="C00000"/>
                </a:solidFill>
                <a:latin typeface="Times New Roman" panose="02020603050405020304" pitchFamily="18" charset="0"/>
                <a:cs typeface="Times New Roman" panose="02020603050405020304" pitchFamily="18" charset="0"/>
              </a:rPr>
              <a:t>证明</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49155" name="内容占位符 2"/>
          <p:cNvSpPr>
            <a:spLocks noGrp="1"/>
          </p:cNvSpPr>
          <p:nvPr>
            <p:ph idx="1"/>
          </p:nvPr>
        </p:nvSpPr>
        <p:spPr>
          <a:xfrm>
            <a:off x="479425" y="1112838"/>
            <a:ext cx="8207375" cy="5268912"/>
          </a:xfrm>
        </p:spPr>
        <p:txBody>
          <a:bodyPr/>
          <a:lstStyle/>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若 </a:t>
            </a:r>
            <a:r>
              <a:rPr lang="en-US" altLang="zh-CN" sz="2400" b="1" i="1" smtClean="0">
                <a:latin typeface="Times New Roman" panose="02020603050405020304" pitchFamily="18" charset="0"/>
                <a:cs typeface="Times New Roman" panose="02020603050405020304" pitchFamily="18" charset="0"/>
              </a:rPr>
              <a:t>T</a:t>
            </a:r>
            <a:r>
              <a:rPr lang="en-US" altLang="zh-CN" sz="2400" b="1" i="1" baseline="30000" smtClean="0">
                <a:latin typeface="Times New Roman" panose="02020603050405020304" pitchFamily="18" charset="0"/>
                <a:cs typeface="Times New Roman" panose="02020603050405020304" pitchFamily="18" charset="0"/>
              </a:rPr>
              <a:t>F</a:t>
            </a:r>
            <a:r>
              <a:rPr lang="en-US" altLang="zh-CN" sz="2400" b="1" i="1" baseline="-25000" smtClean="0">
                <a:latin typeface="Times New Roman" panose="02020603050405020304" pitchFamily="18" charset="0"/>
                <a:cs typeface="Times New Roman" panose="02020603050405020304" pitchFamily="18" charset="0"/>
              </a:rPr>
              <a:t>i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U</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则 </a:t>
            </a:r>
            <a:r>
              <a:rPr lang="en-US" altLang="zh-CN" sz="2400" b="1" i="1" smtClean="0">
                <a:latin typeface="Times New Roman" panose="02020603050405020304" pitchFamily="18" charset="0"/>
                <a:cs typeface="Times New Roman" panose="02020603050405020304" pitchFamily="18" charset="0"/>
              </a:rPr>
              <a:t>p</a:t>
            </a:r>
            <a:r>
              <a:rPr lang="en-US" altLang="zh-CN" sz="2400" b="1" i="1" baseline="-25000" smtClean="0">
                <a:latin typeface="Times New Roman" panose="02020603050405020304" pitchFamily="18" charset="0"/>
                <a:cs typeface="Times New Roman" panose="02020603050405020304" pitchFamily="18" charset="0"/>
              </a:rPr>
              <a:t>jt</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T</a:t>
            </a:r>
            <a:r>
              <a:rPr lang="en-US" altLang="zh-CN" sz="2400" b="1" i="1" baseline="30000" smtClean="0">
                <a:latin typeface="Times New Roman" panose="02020603050405020304" pitchFamily="18" charset="0"/>
                <a:cs typeface="Times New Roman" panose="02020603050405020304" pitchFamily="18" charset="0"/>
              </a:rPr>
              <a:t>F</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 </a:t>
            </a:r>
            <a:r>
              <a:rPr lang="zh-CN" altLang="en-US" sz="2400" b="1" smtClean="0">
                <a:latin typeface="Times New Roman" panose="02020603050405020304" pitchFamily="18" charset="0"/>
                <a:cs typeface="Times New Roman" panose="02020603050405020304" pitchFamily="18" charset="0"/>
              </a:rPr>
              <a:t>从而 </a:t>
            </a:r>
            <a:r>
              <a:rPr lang="en-US" altLang="zh-CN" sz="2400" b="1" i="1" smtClean="0">
                <a:latin typeface="Times New Roman" panose="02020603050405020304" pitchFamily="18" charset="0"/>
                <a:cs typeface="Times New Roman" panose="02020603050405020304" pitchFamily="18" charset="0"/>
              </a:rPr>
              <a:t>z</a:t>
            </a:r>
            <a:r>
              <a:rPr lang="en-US" altLang="zh-CN" sz="2400" b="1" i="1" baseline="-25000" smtClean="0">
                <a:latin typeface="Times New Roman" panose="02020603050405020304" pitchFamily="18" charset="0"/>
                <a:cs typeface="Times New Roman" panose="02020603050405020304" pitchFamily="18" charset="0"/>
              </a:rPr>
              <a:t>jt</a:t>
            </a:r>
            <a:r>
              <a:rPr lang="en-US" altLang="zh-CN" sz="2400" b="1" smtClean="0">
                <a:latin typeface="Times New Roman" panose="02020603050405020304" pitchFamily="18" charset="0"/>
                <a:cs typeface="Times New Roman" panose="02020603050405020304" pitchFamily="18" charset="0"/>
              </a:rPr>
              <a:t> =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x</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有 </a:t>
            </a:r>
            <a:r>
              <a:rPr lang="en-US" altLang="zh-CN" sz="2400" b="1" i="1" smtClean="0">
                <a:latin typeface="Times New Roman" panose="02020603050405020304" pitchFamily="18" charset="0"/>
                <a:cs typeface="Times New Roman" panose="02020603050405020304" pitchFamily="18" charset="0"/>
              </a:rPr>
              <a:t>t</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x</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)=0, </a:t>
            </a:r>
            <a:r>
              <a:rPr lang="zh-CN" altLang="en-US" sz="2400" b="1" smtClean="0">
                <a:latin typeface="Times New Roman" panose="02020603050405020304" pitchFamily="18" charset="0"/>
                <a:cs typeface="Times New Roman" panose="02020603050405020304" pitchFamily="18" charset="0"/>
              </a:rPr>
              <a:t>故 </a:t>
            </a:r>
            <a:r>
              <a:rPr lang="en-US" altLang="zh-CN" sz="2400" b="1" i="1" smtClean="0">
                <a:latin typeface="Times New Roman" panose="02020603050405020304" pitchFamily="18" charset="0"/>
                <a:cs typeface="Times New Roman" panose="02020603050405020304" pitchFamily="18" charset="0"/>
              </a:rPr>
              <a:t>t </a:t>
            </a:r>
            <a:r>
              <a:rPr lang="zh-CN" altLang="en-US" sz="2400" b="1" smtClean="0">
                <a:latin typeface="Times New Roman" panose="02020603050405020304" pitchFamily="18" charset="0"/>
                <a:cs typeface="Times New Roman" panose="02020603050405020304" pitchFamily="18" charset="0"/>
              </a:rPr>
              <a:t>也满足 </a:t>
            </a:r>
            <a:r>
              <a:rPr lang="en-US" altLang="zh-CN" sz="2400" b="1" i="1" smtClean="0">
                <a:latin typeface="Times New Roman" panose="02020603050405020304" pitchFamily="18" charset="0"/>
                <a:cs typeface="Times New Roman" panose="02020603050405020304" pitchFamily="18" charset="0"/>
              </a:rPr>
              <a:t>C</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 </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得证 </a:t>
            </a:r>
            <a:r>
              <a:rPr lang="en-US" altLang="zh-CN" sz="2400" b="1" i="1" smtClean="0">
                <a:latin typeface="Times New Roman" panose="02020603050405020304" pitchFamily="18" charset="0"/>
                <a:cs typeface="Times New Roman" panose="02020603050405020304" pitchFamily="18" charset="0"/>
              </a:rPr>
              <a:t>t </a:t>
            </a:r>
            <a:r>
              <a:rPr lang="zh-CN" altLang="en-US" sz="2400" b="1" smtClean="0">
                <a:latin typeface="Times New Roman" panose="02020603050405020304" pitchFamily="18" charset="0"/>
                <a:cs typeface="Times New Roman" panose="02020603050405020304" pitchFamily="18" charset="0"/>
              </a:rPr>
              <a:t>是 </a:t>
            </a:r>
            <a:r>
              <a:rPr lang="en-US" altLang="zh-CN" sz="2400" b="1" i="1" smtClean="0">
                <a:latin typeface="Times New Roman" panose="02020603050405020304" pitchFamily="18" charset="0"/>
                <a:cs typeface="Times New Roman" panose="02020603050405020304" pitchFamily="18" charset="0"/>
              </a:rPr>
              <a:t>F </a:t>
            </a:r>
            <a:r>
              <a:rPr lang="zh-CN" altLang="en-US" sz="2400" b="1" smtClean="0">
                <a:latin typeface="Times New Roman" panose="02020603050405020304" pitchFamily="18" charset="0"/>
                <a:cs typeface="Times New Roman" panose="02020603050405020304" pitchFamily="18" charset="0"/>
              </a:rPr>
              <a:t>的成真赋值</a:t>
            </a:r>
            <a:r>
              <a:rPr lang="en-US" altLang="zh-CN" sz="2400" b="1" smtClean="0">
                <a:latin typeface="Times New Roman" panose="02020603050405020304" pitchFamily="18" charset="0"/>
                <a:cs typeface="Times New Roman" panose="02020603050405020304" pitchFamily="18" charset="0"/>
              </a:rPr>
              <a:t>.     </a:t>
            </a:r>
            <a:endParaRPr lang="en-US" altLang="zh-CN" sz="2400" b="1" smtClean="0">
              <a:latin typeface="Times New Roman" panose="02020603050405020304" pitchFamily="18" charset="0"/>
              <a:cs typeface="Times New Roman" panose="02020603050405020304" pitchFamily="18" charset="0"/>
            </a:endParaRPr>
          </a:p>
          <a:p>
            <a:pPr>
              <a:spcBef>
                <a:spcPts val="1800"/>
              </a:spcBef>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反之</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设 </a:t>
            </a:r>
            <a:r>
              <a:rPr lang="en-US" altLang="zh-CN" sz="2400" b="1" i="1" smtClean="0">
                <a:latin typeface="Times New Roman" panose="02020603050405020304" pitchFamily="18" charset="0"/>
                <a:cs typeface="Times New Roman" panose="02020603050405020304" pitchFamily="18" charset="0"/>
              </a:rPr>
              <a:t>t </a:t>
            </a:r>
            <a:r>
              <a:rPr lang="zh-CN" altLang="en-US" sz="2400" b="1" smtClean="0">
                <a:latin typeface="Times New Roman" panose="02020603050405020304" pitchFamily="18" charset="0"/>
                <a:cs typeface="Times New Roman" panose="02020603050405020304" pitchFamily="18" charset="0"/>
              </a:rPr>
              <a:t>是</a:t>
            </a:r>
            <a:r>
              <a:rPr lang="en-US" altLang="zh-CN" sz="2400" b="1" i="1" smtClean="0">
                <a:latin typeface="Times New Roman" panose="02020603050405020304" pitchFamily="18" charset="0"/>
                <a:cs typeface="Times New Roman" panose="02020603050405020304" pitchFamily="18" charset="0"/>
              </a:rPr>
              <a:t>F</a:t>
            </a:r>
            <a:r>
              <a:rPr lang="zh-CN" altLang="en-US" sz="2400" b="1" smtClean="0">
                <a:latin typeface="Times New Roman" panose="02020603050405020304" pitchFamily="18" charset="0"/>
                <a:cs typeface="Times New Roman" panose="02020603050405020304" pitchFamily="18" charset="0"/>
              </a:rPr>
              <a:t>的成真赋值</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对每一个 </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若 </a:t>
            </a:r>
            <a:r>
              <a:rPr lang="en-US" altLang="zh-CN" sz="2400" b="1" i="1" smtClean="0">
                <a:latin typeface="Times New Roman" panose="02020603050405020304" pitchFamily="18" charset="0"/>
                <a:cs typeface="Times New Roman" panose="02020603050405020304" pitchFamily="18" charset="0"/>
              </a:rPr>
              <a:t>t</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x</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)=1, </a:t>
            </a:r>
            <a:r>
              <a:rPr lang="zh-CN" altLang="en-US" sz="2400" b="1" smtClean="0">
                <a:latin typeface="Times New Roman" panose="02020603050405020304" pitchFamily="18" charset="0"/>
                <a:cs typeface="Times New Roman" panose="02020603050405020304" pitchFamily="18" charset="0"/>
              </a:rPr>
              <a:t>则 </a:t>
            </a:r>
            <a:r>
              <a:rPr lang="en-US" altLang="zh-CN" sz="2400" b="1" i="1" smtClean="0">
                <a:latin typeface="Times New Roman" panose="02020603050405020304" pitchFamily="18" charset="0"/>
                <a:cs typeface="Times New Roman" panose="02020603050405020304" pitchFamily="18" charset="0"/>
              </a:rPr>
              <a:t>U </a:t>
            </a:r>
            <a:r>
              <a:rPr lang="zh-CN" altLang="en-US" sz="2400" b="1" smtClean="0">
                <a:latin typeface="Times New Roman" panose="02020603050405020304" pitchFamily="18" charset="0"/>
                <a:cs typeface="Times New Roman" panose="02020603050405020304" pitchFamily="18" charset="0"/>
              </a:rPr>
              <a:t>包含</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i="1" smtClean="0">
                <a:latin typeface="Times New Roman" panose="02020603050405020304" pitchFamily="18" charset="0"/>
                <a:cs typeface="Times New Roman" panose="02020603050405020304" pitchFamily="18" charset="0"/>
              </a:rPr>
              <a:t>T</a:t>
            </a:r>
            <a:r>
              <a:rPr lang="en-US" altLang="zh-CN" sz="2400" b="1" i="1" baseline="30000" smtClean="0">
                <a:latin typeface="Times New Roman" panose="02020603050405020304" pitchFamily="18" charset="0"/>
                <a:cs typeface="Times New Roman" panose="02020603050405020304" pitchFamily="18" charset="0"/>
              </a:rPr>
              <a:t>T</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若 </a:t>
            </a:r>
            <a:r>
              <a:rPr lang="en-US" altLang="zh-CN" sz="2400" b="1" i="1" smtClean="0">
                <a:latin typeface="Times New Roman" panose="02020603050405020304" pitchFamily="18" charset="0"/>
                <a:cs typeface="Times New Roman" panose="02020603050405020304" pitchFamily="18" charset="0"/>
              </a:rPr>
              <a:t>t</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x</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)=0, </a:t>
            </a:r>
            <a:r>
              <a:rPr lang="zh-CN" altLang="en-US" sz="2400" b="1" smtClean="0">
                <a:latin typeface="Times New Roman" panose="02020603050405020304" pitchFamily="18" charset="0"/>
                <a:cs typeface="Times New Roman" panose="02020603050405020304" pitchFamily="18" charset="0"/>
              </a:rPr>
              <a:t>则 </a:t>
            </a:r>
            <a:r>
              <a:rPr lang="en-US" altLang="zh-CN" sz="2400" b="1" i="1" smtClean="0">
                <a:latin typeface="Times New Roman" panose="02020603050405020304" pitchFamily="18" charset="0"/>
                <a:cs typeface="Times New Roman" panose="02020603050405020304" pitchFamily="18" charset="0"/>
              </a:rPr>
              <a:t>U </a:t>
            </a:r>
            <a:r>
              <a:rPr lang="zh-CN" altLang="en-US" sz="2400" b="1" smtClean="0">
                <a:latin typeface="Times New Roman" panose="02020603050405020304" pitchFamily="18" charset="0"/>
                <a:cs typeface="Times New Roman" panose="02020603050405020304" pitchFamily="18" charset="0"/>
              </a:rPr>
              <a:t>包含 </a:t>
            </a:r>
            <a:r>
              <a:rPr lang="en-US" altLang="zh-CN" sz="2400" b="1" i="1" smtClean="0">
                <a:latin typeface="Times New Roman" panose="02020603050405020304" pitchFamily="18" charset="0"/>
                <a:cs typeface="Times New Roman" panose="02020603050405020304" pitchFamily="18" charset="0"/>
              </a:rPr>
              <a:t>T</a:t>
            </a:r>
            <a:r>
              <a:rPr lang="en-US" altLang="zh-CN" sz="2400" b="1" i="1" baseline="30000" smtClean="0">
                <a:latin typeface="Times New Roman" panose="02020603050405020304" pitchFamily="18" charset="0"/>
                <a:cs typeface="Times New Roman" panose="02020603050405020304" pitchFamily="18" charset="0"/>
              </a:rPr>
              <a:t>F</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 </a:t>
            </a:r>
            <a:r>
              <a:rPr lang="zh-CN" altLang="en-US" sz="2400" b="1" smtClean="0">
                <a:latin typeface="Times New Roman" panose="02020603050405020304" pitchFamily="18" charset="0"/>
                <a:cs typeface="Times New Roman" panose="02020603050405020304" pitchFamily="18" charset="0"/>
              </a:rPr>
              <a:t>对每一个</a:t>
            </a:r>
            <a:r>
              <a:rPr lang="en-US" altLang="zh-CN" sz="2400" b="1" i="1"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由于 </a:t>
            </a:r>
            <a:r>
              <a:rPr lang="en-US" altLang="zh-CN" sz="2400" b="1" i="1" smtClean="0">
                <a:latin typeface="Times New Roman" panose="02020603050405020304" pitchFamily="18" charset="0"/>
                <a:cs typeface="Times New Roman" panose="02020603050405020304" pitchFamily="18" charset="0"/>
              </a:rPr>
              <a:t>t </a:t>
            </a:r>
            <a:r>
              <a:rPr lang="zh-CN" altLang="en-US" sz="2400" b="1" smtClean="0">
                <a:latin typeface="Times New Roman" panose="02020603050405020304" pitchFamily="18" charset="0"/>
                <a:cs typeface="Times New Roman" panose="02020603050405020304" pitchFamily="18" charset="0"/>
              </a:rPr>
              <a:t>满足 </a:t>
            </a:r>
            <a:r>
              <a:rPr lang="en-US" altLang="zh-CN" sz="2400" b="1" i="1" smtClean="0">
                <a:latin typeface="Times New Roman" panose="02020603050405020304" pitchFamily="18" charset="0"/>
                <a:cs typeface="Times New Roman" panose="02020603050405020304" pitchFamily="18" charset="0"/>
              </a:rPr>
              <a:t>C</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C</a:t>
            </a:r>
            <a:r>
              <a:rPr lang="en-US" altLang="zh-CN" sz="2400" b="1" i="1" baseline="-25000" smtClean="0">
                <a:latin typeface="Times New Roman" panose="02020603050405020304" pitchFamily="18" charset="0"/>
                <a:cs typeface="Times New Roman" panose="02020603050405020304" pitchFamily="18" charset="0"/>
              </a:rPr>
              <a:t>j </a:t>
            </a:r>
            <a:r>
              <a:rPr lang="zh-CN" altLang="en-US" sz="2400" b="1" smtClean="0">
                <a:latin typeface="Times New Roman" panose="02020603050405020304" pitchFamily="18" charset="0"/>
                <a:cs typeface="Times New Roman" panose="02020603050405020304" pitchFamily="18" charset="0"/>
              </a:rPr>
              <a:t>必</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有一个文字 </a:t>
            </a:r>
            <a:r>
              <a:rPr lang="en-US" altLang="zh-CN" sz="2400" b="1" i="1" smtClean="0">
                <a:latin typeface="Times New Roman" panose="02020603050405020304" pitchFamily="18" charset="0"/>
                <a:cs typeface="Times New Roman" panose="02020603050405020304" pitchFamily="18" charset="0"/>
              </a:rPr>
              <a:t>z</a:t>
            </a:r>
            <a:r>
              <a:rPr lang="en-US" altLang="zh-CN" sz="2400" b="1" i="1" baseline="-25000" smtClean="0">
                <a:latin typeface="Times New Roman" panose="02020603050405020304" pitchFamily="18" charset="0"/>
                <a:cs typeface="Times New Roman" panose="02020603050405020304" pitchFamily="18" charset="0"/>
              </a:rPr>
              <a:t>jt </a:t>
            </a:r>
            <a:r>
              <a:rPr lang="zh-CN" altLang="en-US" sz="2400" b="1" smtClean="0">
                <a:latin typeface="Times New Roman" panose="02020603050405020304" pitchFamily="18" charset="0"/>
                <a:cs typeface="Times New Roman" panose="02020603050405020304" pitchFamily="18" charset="0"/>
              </a:rPr>
              <a:t>使得 </a:t>
            </a:r>
            <a:r>
              <a:rPr lang="en-US" altLang="zh-CN" sz="2400" b="1" i="1" smtClean="0">
                <a:latin typeface="Times New Roman" panose="02020603050405020304" pitchFamily="18" charset="0"/>
                <a:cs typeface="Times New Roman" panose="02020603050405020304" pitchFamily="18" charset="0"/>
              </a:rPr>
              <a:t>t</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z</a:t>
            </a:r>
            <a:r>
              <a:rPr lang="en-US" altLang="zh-CN" sz="2400" b="1" i="1" baseline="-25000" smtClean="0">
                <a:latin typeface="Times New Roman" panose="02020603050405020304" pitchFamily="18" charset="0"/>
                <a:cs typeface="Times New Roman" panose="02020603050405020304" pitchFamily="18" charset="0"/>
              </a:rPr>
              <a:t>jt</a:t>
            </a:r>
            <a:r>
              <a:rPr lang="en-US" altLang="zh-CN" sz="2400" b="1" smtClean="0">
                <a:latin typeface="Times New Roman" panose="02020603050405020304" pitchFamily="18" charset="0"/>
                <a:cs typeface="Times New Roman" panose="02020603050405020304" pitchFamily="18" charset="0"/>
              </a:rPr>
              <a:t>)=1, </a:t>
            </a:r>
            <a:r>
              <a:rPr lang="zh-CN" altLang="en-US" sz="2400" b="1" smtClean="0">
                <a:latin typeface="Times New Roman" panose="02020603050405020304" pitchFamily="18" charset="0"/>
                <a:cs typeface="Times New Roman" panose="02020603050405020304" pitchFamily="18" charset="0"/>
              </a:rPr>
              <a:t>从而</a:t>
            </a:r>
            <a:r>
              <a:rPr lang="en-US" altLang="zh-CN" sz="2400" b="1" i="1" smtClean="0">
                <a:latin typeface="Times New Roman" panose="02020603050405020304" pitchFamily="18" charset="0"/>
                <a:cs typeface="Times New Roman" panose="02020603050405020304" pitchFamily="18" charset="0"/>
              </a:rPr>
              <a:t>U</a:t>
            </a:r>
            <a:r>
              <a:rPr lang="zh-CN" altLang="en-US" sz="2400" b="1" smtClean="0">
                <a:latin typeface="Times New Roman" panose="02020603050405020304" pitchFamily="18" charset="0"/>
                <a:cs typeface="Times New Roman" panose="02020603050405020304" pitchFamily="18" charset="0"/>
              </a:rPr>
              <a:t>中现有的子集不包含 </a:t>
            </a:r>
            <a:r>
              <a:rPr lang="en-US" altLang="zh-CN" sz="2400" b="1" i="1" smtClean="0">
                <a:latin typeface="Times New Roman" panose="02020603050405020304" pitchFamily="18" charset="0"/>
                <a:cs typeface="Times New Roman" panose="02020603050405020304" pitchFamily="18" charset="0"/>
              </a:rPr>
              <a:t>p</a:t>
            </a:r>
            <a:r>
              <a:rPr lang="en-US" altLang="zh-CN" sz="2400" b="1" i="1" baseline="-25000" smtClean="0">
                <a:latin typeface="Times New Roman" panose="02020603050405020304" pitchFamily="18" charset="0"/>
                <a:cs typeface="Times New Roman" panose="02020603050405020304" pitchFamily="18" charset="0"/>
              </a:rPr>
              <a:t>jt</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于</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是</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可以把 </a:t>
            </a:r>
            <a:r>
              <a:rPr lang="en-US" altLang="zh-CN" sz="2400" b="1" i="1" smtClean="0">
                <a:latin typeface="Times New Roman" panose="02020603050405020304" pitchFamily="18" charset="0"/>
                <a:cs typeface="Times New Roman" panose="02020603050405020304" pitchFamily="18" charset="0"/>
              </a:rPr>
              <a:t>C</a:t>
            </a:r>
            <a:r>
              <a:rPr lang="en-US" altLang="zh-CN" sz="2400" b="1" i="1" baseline="-25000" smtClean="0">
                <a:latin typeface="Times New Roman" panose="02020603050405020304" pitchFamily="18" charset="0"/>
                <a:cs typeface="Times New Roman" panose="02020603050405020304" pitchFamily="18" charset="0"/>
              </a:rPr>
              <a:t>jt </a:t>
            </a:r>
            <a:r>
              <a:rPr lang="zh-CN" altLang="en-US" sz="2400" b="1" smtClean="0">
                <a:latin typeface="Times New Roman" panose="02020603050405020304" pitchFamily="18" charset="0"/>
                <a:cs typeface="Times New Roman" panose="02020603050405020304" pitchFamily="18" charset="0"/>
              </a:rPr>
              <a:t>加入</a:t>
            </a:r>
            <a:r>
              <a:rPr lang="en-US" altLang="zh-CN" sz="2400" b="1" i="1" smtClean="0">
                <a:latin typeface="Times New Roman" panose="02020603050405020304" pitchFamily="18" charset="0"/>
                <a:cs typeface="Times New Roman" panose="02020603050405020304" pitchFamily="18" charset="0"/>
              </a:rPr>
              <a:t>U</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至此</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U </a:t>
            </a:r>
            <a:r>
              <a:rPr lang="zh-CN" altLang="en-US" sz="2400" b="1" smtClean="0">
                <a:latin typeface="Times New Roman" panose="02020603050405020304" pitchFamily="18" charset="0"/>
                <a:cs typeface="Times New Roman" panose="02020603050405020304" pitchFamily="18" charset="0"/>
              </a:rPr>
              <a:t>覆盖了所有的 </a:t>
            </a:r>
            <a:r>
              <a:rPr lang="en-US" altLang="zh-CN" sz="2400" b="1" i="1" smtClean="0">
                <a:latin typeface="Times New Roman" panose="02020603050405020304" pitchFamily="18" charset="0"/>
                <a:cs typeface="Times New Roman" panose="02020603050405020304" pitchFamily="18" charset="0"/>
              </a:rPr>
              <a:t>x</a:t>
            </a:r>
            <a:r>
              <a:rPr lang="en-US" altLang="zh-CN" sz="2400" b="1" i="1" baseline="-25000" smtClean="0">
                <a:latin typeface="Times New Roman" panose="02020603050405020304" pitchFamily="18" charset="0"/>
                <a:cs typeface="Times New Roman" panose="02020603050405020304" pitchFamily="18" charset="0"/>
              </a:rPr>
              <a:t>i </a:t>
            </a:r>
            <a:r>
              <a:rPr lang="zh-CN" altLang="en-US" sz="2400" b="1" smtClean="0">
                <a:latin typeface="Times New Roman" panose="02020603050405020304" pitchFamily="18" charset="0"/>
                <a:cs typeface="Times New Roman" panose="02020603050405020304" pitchFamily="18" charset="0"/>
              </a:rPr>
              <a:t>和 </a:t>
            </a:r>
            <a:r>
              <a:rPr lang="en-US" altLang="zh-CN" sz="2400" b="1" i="1" smtClean="0">
                <a:latin typeface="Times New Roman" panose="02020603050405020304" pitchFamily="18" charset="0"/>
                <a:cs typeface="Times New Roman" panose="02020603050405020304" pitchFamily="18" charset="0"/>
              </a:rPr>
              <a:t>C</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以及部</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分 </a:t>
            </a:r>
            <a:r>
              <a:rPr lang="en-US" altLang="zh-CN" sz="2400" b="1" i="1" smtClean="0">
                <a:latin typeface="Times New Roman" panose="02020603050405020304" pitchFamily="18" charset="0"/>
                <a:cs typeface="Times New Roman" panose="02020603050405020304" pitchFamily="18" charset="0"/>
              </a:rPr>
              <a:t>p</a:t>
            </a:r>
            <a:r>
              <a:rPr lang="en-US" altLang="zh-CN" sz="2400" b="1" i="1" baseline="-25000" smtClean="0">
                <a:latin typeface="Times New Roman" panose="02020603050405020304" pitchFamily="18" charset="0"/>
                <a:cs typeface="Times New Roman" panose="02020603050405020304" pitchFamily="18" charset="0"/>
              </a:rPr>
              <a:t>jt</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最后</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把那些尚未被覆盖的 </a:t>
            </a:r>
            <a:r>
              <a:rPr lang="en-US" altLang="zh-CN" sz="2400" b="1" i="1" smtClean="0">
                <a:latin typeface="Times New Roman" panose="02020603050405020304" pitchFamily="18" charset="0"/>
                <a:cs typeface="Times New Roman" panose="02020603050405020304" pitchFamily="18" charset="0"/>
              </a:rPr>
              <a:t>p</a:t>
            </a:r>
            <a:r>
              <a:rPr lang="en-US" altLang="zh-CN" sz="2400" b="1" i="1" baseline="-25000" smtClean="0">
                <a:latin typeface="Times New Roman" panose="02020603050405020304" pitchFamily="18" charset="0"/>
                <a:cs typeface="Times New Roman" panose="02020603050405020304" pitchFamily="18" charset="0"/>
              </a:rPr>
              <a:t>jt </a:t>
            </a:r>
            <a:r>
              <a:rPr lang="zh-CN" altLang="en-US" sz="2400" b="1" smtClean="0">
                <a:latin typeface="Times New Roman" panose="02020603050405020304" pitchFamily="18" charset="0"/>
                <a:cs typeface="Times New Roman" panose="02020603050405020304" pitchFamily="18" charset="0"/>
              </a:rPr>
              <a:t>构成的单元子集 </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p</a:t>
            </a:r>
            <a:r>
              <a:rPr lang="en-US" altLang="zh-CN" sz="2400" b="1" i="1" baseline="-25000" smtClean="0">
                <a:latin typeface="Times New Roman" panose="02020603050405020304" pitchFamily="18" charset="0"/>
                <a:cs typeface="Times New Roman" panose="02020603050405020304" pitchFamily="18" charset="0"/>
              </a:rPr>
              <a:t>jt</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加</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入</a:t>
            </a:r>
            <a:r>
              <a:rPr lang="en-US" altLang="zh-CN" sz="2400" b="1" i="1" smtClean="0">
                <a:latin typeface="Times New Roman" panose="02020603050405020304" pitchFamily="18" charset="0"/>
                <a:cs typeface="Times New Roman" panose="02020603050405020304" pitchFamily="18" charset="0"/>
              </a:rPr>
              <a:t>U</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即可得到 </a:t>
            </a:r>
            <a:r>
              <a:rPr lang="en-US" altLang="zh-CN" sz="2400" b="1" i="1" smtClean="0">
                <a:latin typeface="Times New Roman" panose="02020603050405020304" pitchFamily="18" charset="0"/>
                <a:cs typeface="Times New Roman" panose="02020603050405020304" pitchFamily="18" charset="0"/>
              </a:rPr>
              <a:t>A </a:t>
            </a:r>
            <a:r>
              <a:rPr lang="zh-CN" altLang="en-US" sz="2400" b="1" smtClean="0">
                <a:latin typeface="Times New Roman" panose="02020603050405020304" pitchFamily="18" charset="0"/>
                <a:cs typeface="Times New Roman" panose="02020603050405020304" pitchFamily="18" charset="0"/>
              </a:rPr>
              <a:t>的恰好覆盖</a:t>
            </a:r>
            <a:r>
              <a:rPr lang="en-US" altLang="zh-CN" sz="2400" b="1" smtClean="0">
                <a:latin typeface="Times New Roman" panose="02020603050405020304" pitchFamily="18" charset="0"/>
                <a:cs typeface="Times New Roman" panose="02020603050405020304" pitchFamily="18" charset="0"/>
              </a:rPr>
              <a:t>.</a:t>
            </a:r>
            <a:endParaRPr lang="en-US" altLang="zh-CN" sz="2400" b="1" smtClean="0">
              <a:latin typeface="Times New Roman" panose="02020603050405020304" pitchFamily="18" charset="0"/>
              <a:cs typeface="Times New Roman" panose="02020603050405020304" pitchFamily="18" charset="0"/>
            </a:endParaRPr>
          </a:p>
          <a:p>
            <a:pPr>
              <a:spcBef>
                <a:spcPts val="1800"/>
              </a:spcBef>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由于</a:t>
            </a:r>
            <a:r>
              <a:rPr lang="en-US" altLang="zh-CN" sz="2400" b="1" i="1" smtClean="0">
                <a:latin typeface="Times New Roman" panose="02020603050405020304" pitchFamily="18" charset="0"/>
                <a:cs typeface="Times New Roman" panose="02020603050405020304" pitchFamily="18" charset="0"/>
              </a:rPr>
              <a:t>F</a:t>
            </a:r>
            <a:r>
              <a:rPr lang="zh-CN" altLang="en-US" sz="2400" b="1" smtClean="0">
                <a:latin typeface="Times New Roman" panose="02020603050405020304" pitchFamily="18" charset="0"/>
                <a:cs typeface="Times New Roman" panose="02020603050405020304" pitchFamily="18" charset="0"/>
              </a:rPr>
              <a:t>中的文字数不超过 </a:t>
            </a:r>
            <a:r>
              <a:rPr lang="en-US" altLang="zh-CN" sz="2400" b="1" i="1" smtClean="0">
                <a:latin typeface="Times New Roman" panose="02020603050405020304" pitchFamily="18" charset="0"/>
                <a:cs typeface="Times New Roman" panose="02020603050405020304" pitchFamily="18" charset="0"/>
              </a:rPr>
              <a:t>mn</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故 </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A</a:t>
            </a:r>
            <a:r>
              <a:rPr lang="en-US" altLang="zh-CN" sz="2400" b="1" smtClean="0">
                <a:latin typeface="Times New Roman" panose="02020603050405020304" pitchFamily="18" charset="0"/>
                <a:cs typeface="Times New Roman" panose="02020603050405020304" pitchFamily="18" charset="0"/>
              </a:rPr>
              <a:t>|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rPr>
              <a:t>n</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m</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mn</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W</a:t>
            </a:r>
            <a:r>
              <a:rPr lang="zh-CN" altLang="en-US" sz="2400" b="1" smtClean="0">
                <a:latin typeface="Times New Roman" panose="02020603050405020304" pitchFamily="18" charset="0"/>
                <a:cs typeface="Times New Roman" panose="02020603050405020304" pitchFamily="18" charset="0"/>
              </a:rPr>
              <a:t>中的子集</a:t>
            </a:r>
            <a:endParaRPr lang="en-US" altLang="zh-CN" sz="2400" b="1"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数不超过 </a:t>
            </a:r>
            <a:r>
              <a:rPr lang="en-US" altLang="zh-CN" sz="2400" b="1" smtClean="0">
                <a:latin typeface="Times New Roman" panose="02020603050405020304" pitchFamily="18" charset="0"/>
                <a:cs typeface="Times New Roman" panose="02020603050405020304" pitchFamily="18" charset="0"/>
              </a:rPr>
              <a:t>2</a:t>
            </a:r>
            <a:r>
              <a:rPr lang="en-US" altLang="zh-CN" sz="2400" b="1" i="1" smtClean="0">
                <a:latin typeface="Times New Roman" panose="02020603050405020304" pitchFamily="18" charset="0"/>
                <a:cs typeface="Times New Roman" panose="02020603050405020304" pitchFamily="18" charset="0"/>
              </a:rPr>
              <a:t>n</a:t>
            </a:r>
            <a:r>
              <a:rPr lang="en-US" altLang="zh-CN" sz="2400" b="1" smtClean="0">
                <a:latin typeface="Times New Roman" panose="02020603050405020304" pitchFamily="18" charset="0"/>
                <a:cs typeface="Times New Roman" panose="02020603050405020304" pitchFamily="18" charset="0"/>
              </a:rPr>
              <a:t>+2</a:t>
            </a:r>
            <a:r>
              <a:rPr lang="en-US" altLang="zh-CN" sz="2400" b="1" i="1" smtClean="0">
                <a:latin typeface="Times New Roman" panose="02020603050405020304" pitchFamily="18" charset="0"/>
                <a:cs typeface="Times New Roman" panose="02020603050405020304" pitchFamily="18" charset="0"/>
              </a:rPr>
              <a:t>mn</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每个子集的大小不超过 </a:t>
            </a:r>
            <a:r>
              <a:rPr lang="en-US" altLang="zh-CN" sz="2400" b="1" i="1" smtClean="0">
                <a:latin typeface="Times New Roman" panose="02020603050405020304" pitchFamily="18" charset="0"/>
                <a:cs typeface="Times New Roman" panose="02020603050405020304" pitchFamily="18" charset="0"/>
              </a:rPr>
              <a:t>n</a:t>
            </a:r>
            <a:r>
              <a:rPr lang="en-US" altLang="zh-CN" sz="2400" b="1" smtClean="0">
                <a:latin typeface="Times New Roman" panose="02020603050405020304" pitchFamily="18" charset="0"/>
                <a:cs typeface="Times New Roman" panose="02020603050405020304" pitchFamily="18" charset="0"/>
              </a:rPr>
              <a:t>+1. </a:t>
            </a:r>
            <a:r>
              <a:rPr lang="zh-CN" altLang="en-US" sz="2400" b="1" smtClean="0">
                <a:latin typeface="Times New Roman" panose="02020603050405020304" pitchFamily="18" charset="0"/>
                <a:cs typeface="Times New Roman" panose="02020603050405020304" pitchFamily="18" charset="0"/>
              </a:rPr>
              <a:t>而且构造很</a:t>
            </a:r>
            <a:endParaRPr lang="en-US" altLang="zh-CN" sz="2400" b="1"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简单</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显然可以在多项式时间内完成</a:t>
            </a:r>
            <a:r>
              <a:rPr lang="en-US" altLang="zh-CN" sz="2400" b="1" smtClean="0">
                <a:latin typeface="Times New Roman" panose="02020603050405020304" pitchFamily="18" charset="0"/>
                <a:cs typeface="Times New Roman" panose="02020603050405020304" pitchFamily="18" charset="0"/>
              </a:rPr>
              <a:t>.</a:t>
            </a:r>
            <a:endParaRPr lang="zh-CN" altLang="en-US" sz="2400" b="1"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p:cNvSpPr>
            <a:spLocks noGrp="1"/>
          </p:cNvSpPr>
          <p:nvPr>
            <p:ph type="title"/>
          </p:nvPr>
        </p:nvSpPr>
        <p:spPr>
          <a:xfrm>
            <a:off x="319088" y="188913"/>
            <a:ext cx="8505825" cy="1143000"/>
          </a:xfrm>
        </p:spPr>
        <p:txBody>
          <a:bodyPr/>
          <a:lstStyle/>
          <a:p>
            <a:r>
              <a:rPr lang="en-US" altLang="zh-CN" sz="4000" b="1" smtClean="0">
                <a:solidFill>
                  <a:srgbClr val="C00000"/>
                </a:solidFill>
                <a:latin typeface="Times New Roman" panose="02020603050405020304" pitchFamily="18" charset="0"/>
                <a:cs typeface="Times New Roman" panose="02020603050405020304" pitchFamily="18" charset="0"/>
              </a:rPr>
              <a:t>9.3.5 </a:t>
            </a:r>
            <a:r>
              <a:rPr lang="zh-CN" altLang="en-US" sz="4000" b="1" smtClean="0">
                <a:solidFill>
                  <a:srgbClr val="C00000"/>
                </a:solidFill>
                <a:latin typeface="Times New Roman" panose="02020603050405020304" pitchFamily="18" charset="0"/>
                <a:cs typeface="Times New Roman" panose="02020603050405020304" pitchFamily="18" charset="0"/>
              </a:rPr>
              <a:t>子集和、背包、装箱与双机调度</a:t>
            </a:r>
            <a:endParaRPr lang="zh-CN" altLang="en-US" sz="4000" smtClean="0">
              <a:solidFill>
                <a:srgbClr val="C00000"/>
              </a:solidFill>
              <a:latin typeface="Times New Roman" panose="02020603050405020304" pitchFamily="18" charset="0"/>
              <a:cs typeface="Times New Roman" panose="02020603050405020304" pitchFamily="18" charset="0"/>
            </a:endParaRPr>
          </a:p>
        </p:txBody>
      </p:sp>
      <p:sp>
        <p:nvSpPr>
          <p:cNvPr id="50179" name="内容占位符 2"/>
          <p:cNvSpPr>
            <a:spLocks noGrp="1"/>
          </p:cNvSpPr>
          <p:nvPr>
            <p:ph idx="1"/>
          </p:nvPr>
        </p:nvSpPr>
        <p:spPr>
          <a:xfrm>
            <a:off x="457200" y="1484313"/>
            <a:ext cx="8229600" cy="4525962"/>
          </a:xfrm>
        </p:spPr>
        <p:txBody>
          <a:bodyPr/>
          <a:lstStyle/>
          <a:p>
            <a:pPr>
              <a:buFont typeface="Arial" panose="020B0604020202020204" pitchFamily="34" charset="0"/>
              <a:buNone/>
            </a:pPr>
            <a:r>
              <a:rPr lang="zh-CN" altLang="en-US" sz="2400" b="1" smtClean="0">
                <a:solidFill>
                  <a:srgbClr val="C00000"/>
                </a:solidFill>
                <a:latin typeface="Times New Roman" panose="02020603050405020304" pitchFamily="18" charset="0"/>
                <a:cs typeface="Times New Roman" panose="02020603050405020304" pitchFamily="18" charset="0"/>
              </a:rPr>
              <a:t>子集和</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给定正整数集合 </a:t>
            </a:r>
            <a:r>
              <a:rPr lang="en-US" altLang="zh-CN" sz="2400" b="1" i="1" smtClean="0">
                <a:latin typeface="Times New Roman" panose="02020603050405020304" pitchFamily="18" charset="0"/>
                <a:cs typeface="Times New Roman" panose="02020603050405020304" pitchFamily="18" charset="0"/>
              </a:rPr>
              <a:t>X</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x</a:t>
            </a:r>
            <a:r>
              <a:rPr lang="en-US" altLang="zh-CN" sz="2400" b="1" baseline="-25000" smtClean="0">
                <a:latin typeface="Times New Roman" panose="02020603050405020304" pitchFamily="18" charset="0"/>
                <a:cs typeface="Times New Roman" panose="02020603050405020304" pitchFamily="18" charset="0"/>
              </a:rPr>
              <a:t>1</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 x</a:t>
            </a:r>
            <a:r>
              <a:rPr lang="en-US" altLang="zh-CN" sz="2400" b="1" baseline="-25000" smtClean="0">
                <a:latin typeface="Times New Roman" panose="02020603050405020304" pitchFamily="18" charset="0"/>
                <a:cs typeface="Times New Roman" panose="02020603050405020304" pitchFamily="18" charset="0"/>
              </a:rPr>
              <a:t>2</a:t>
            </a:r>
            <a:r>
              <a:rPr lang="en-US" altLang="zh-CN" sz="2400" b="1" smtClean="0">
                <a:latin typeface="Times New Roman" panose="02020603050405020304" pitchFamily="18" charset="0"/>
                <a:cs typeface="Times New Roman" panose="02020603050405020304" pitchFamily="18" charset="0"/>
              </a:rPr>
              <a:t>,</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 x</a:t>
            </a:r>
            <a:r>
              <a:rPr lang="en-US" altLang="zh-CN" sz="2400" b="1" i="1" baseline="-25000" smtClean="0">
                <a:latin typeface="Times New Roman" panose="02020603050405020304" pitchFamily="18" charset="0"/>
                <a:cs typeface="Times New Roman" panose="02020603050405020304" pitchFamily="18" charset="0"/>
              </a:rPr>
              <a:t>n</a:t>
            </a:r>
            <a:r>
              <a:rPr lang="en-US" altLang="zh-CN" sz="2400" b="1" smtClean="0">
                <a:latin typeface="Times New Roman" panose="02020603050405020304" pitchFamily="18" charset="0"/>
                <a:cs typeface="Times New Roman" panose="02020603050405020304" pitchFamily="18" charset="0"/>
              </a:rPr>
              <a:t>}</a:t>
            </a:r>
            <a:r>
              <a:rPr lang="zh-CN" altLang="en-US" sz="2400" b="1" smtClean="0">
                <a:latin typeface="Times New Roman" panose="02020603050405020304" pitchFamily="18" charset="0"/>
                <a:cs typeface="Times New Roman" panose="02020603050405020304" pitchFamily="18" charset="0"/>
              </a:rPr>
              <a:t>及正整数 </a:t>
            </a:r>
            <a:r>
              <a:rPr lang="en-US" altLang="zh-CN" sz="2400" b="1" i="1" smtClean="0">
                <a:latin typeface="Times New Roman" panose="02020603050405020304" pitchFamily="18" charset="0"/>
                <a:cs typeface="Times New Roman" panose="02020603050405020304" pitchFamily="18" charset="0"/>
              </a:rPr>
              <a:t>N</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问存在</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i="1" smtClean="0">
                <a:latin typeface="Times New Roman" panose="02020603050405020304" pitchFamily="18" charset="0"/>
                <a:cs typeface="Times New Roman" panose="02020603050405020304" pitchFamily="18" charset="0"/>
              </a:rPr>
              <a:t>X</a:t>
            </a:r>
            <a:r>
              <a:rPr lang="zh-CN" altLang="en-US" sz="2400" b="1" smtClean="0">
                <a:latin typeface="Times New Roman" panose="02020603050405020304" pitchFamily="18" charset="0"/>
                <a:cs typeface="Times New Roman" panose="02020603050405020304" pitchFamily="18" charset="0"/>
              </a:rPr>
              <a:t>的子集 </a:t>
            </a:r>
            <a:r>
              <a:rPr lang="en-US" altLang="zh-CN" sz="2400" b="1" i="1" smtClean="0">
                <a:latin typeface="Times New Roman" panose="02020603050405020304" pitchFamily="18" charset="0"/>
                <a:cs typeface="Times New Roman" panose="02020603050405020304" pitchFamily="18" charset="0"/>
              </a:rPr>
              <a:t>T</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使得 </a:t>
            </a:r>
            <a:r>
              <a:rPr lang="en-US" altLang="zh-CN" sz="2400" b="1" i="1" smtClean="0">
                <a:latin typeface="Times New Roman" panose="02020603050405020304" pitchFamily="18" charset="0"/>
                <a:cs typeface="Times New Roman" panose="02020603050405020304" pitchFamily="18" charset="0"/>
              </a:rPr>
              <a:t>T </a:t>
            </a:r>
            <a:r>
              <a:rPr lang="zh-CN" altLang="en-US" sz="2400" b="1" smtClean="0">
                <a:latin typeface="Times New Roman" panose="02020603050405020304" pitchFamily="18" charset="0"/>
                <a:cs typeface="Times New Roman" panose="02020603050405020304" pitchFamily="18" charset="0"/>
              </a:rPr>
              <a:t>中的元素之和等于</a:t>
            </a:r>
            <a:r>
              <a:rPr lang="en-US" altLang="zh-CN" sz="2400" b="1" i="1" smtClean="0">
                <a:latin typeface="Times New Roman" panose="02020603050405020304" pitchFamily="18" charset="0"/>
                <a:cs typeface="Times New Roman" panose="02020603050405020304" pitchFamily="18" charset="0"/>
              </a:rPr>
              <a:t>N </a:t>
            </a:r>
            <a:r>
              <a:rPr lang="zh-CN" altLang="en-US" sz="2400" b="1" smtClean="0">
                <a:latin typeface="Times New Roman" panose="02020603050405020304" pitchFamily="18" charset="0"/>
                <a:cs typeface="Times New Roman" panose="02020603050405020304" pitchFamily="18" charset="0"/>
              </a:rPr>
              <a:t>吗</a:t>
            </a:r>
            <a:r>
              <a:rPr lang="en-US" altLang="zh-CN" sz="2400" b="1" smtClean="0">
                <a:latin typeface="Times New Roman" panose="02020603050405020304" pitchFamily="18" charset="0"/>
                <a:cs typeface="Times New Roman" panose="02020603050405020304" pitchFamily="18" charset="0"/>
              </a:rPr>
              <a:t>?     </a:t>
            </a:r>
            <a:endParaRPr lang="en-US" altLang="zh-CN" sz="2400" b="1" smtClean="0">
              <a:latin typeface="Times New Roman" panose="02020603050405020304" pitchFamily="18" charset="0"/>
              <a:cs typeface="Times New Roman" panose="02020603050405020304" pitchFamily="18" charset="0"/>
            </a:endParaRPr>
          </a:p>
          <a:p>
            <a:pPr>
              <a:spcBef>
                <a:spcPts val="1800"/>
              </a:spcBef>
              <a:buFont typeface="Arial" panose="020B0604020202020204" pitchFamily="34" charset="0"/>
              <a:buNone/>
            </a:pPr>
            <a:r>
              <a:rPr lang="zh-CN" altLang="en-US" sz="2400" b="1" smtClean="0">
                <a:solidFill>
                  <a:srgbClr val="C00000"/>
                </a:solidFill>
                <a:latin typeface="Times New Roman" panose="02020603050405020304" pitchFamily="18" charset="0"/>
                <a:cs typeface="Times New Roman" panose="02020603050405020304" pitchFamily="18" charset="0"/>
              </a:rPr>
              <a:t>装箱</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给定 </a:t>
            </a:r>
            <a:r>
              <a:rPr lang="en-US" altLang="zh-CN" sz="2400" b="1" i="1" smtClean="0">
                <a:latin typeface="Times New Roman" panose="02020603050405020304" pitchFamily="18" charset="0"/>
                <a:cs typeface="Times New Roman" panose="02020603050405020304" pitchFamily="18" charset="0"/>
              </a:rPr>
              <a:t>n </a:t>
            </a:r>
            <a:r>
              <a:rPr lang="zh-CN" altLang="en-US" sz="2400" b="1" smtClean="0">
                <a:latin typeface="Times New Roman" panose="02020603050405020304" pitchFamily="18" charset="0"/>
                <a:cs typeface="Times New Roman" panose="02020603050405020304" pitchFamily="18" charset="0"/>
              </a:rPr>
              <a:t>件物品</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物品 </a:t>
            </a:r>
            <a:r>
              <a:rPr lang="en-US" altLang="zh-CN" sz="2400" b="1" i="1" smtClean="0">
                <a:latin typeface="Times New Roman" panose="02020603050405020304" pitchFamily="18" charset="0"/>
                <a:cs typeface="Times New Roman" panose="02020603050405020304" pitchFamily="18" charset="0"/>
              </a:rPr>
              <a:t>j </a:t>
            </a:r>
            <a:r>
              <a:rPr lang="zh-CN" altLang="en-US" sz="2400" b="1" smtClean="0">
                <a:latin typeface="Times New Roman" panose="02020603050405020304" pitchFamily="18" charset="0"/>
                <a:cs typeface="Times New Roman" panose="02020603050405020304" pitchFamily="18" charset="0"/>
              </a:rPr>
              <a:t>的重量为正整数 </a:t>
            </a:r>
            <a:r>
              <a:rPr lang="en-US" altLang="zh-CN" sz="2400" b="1" i="1" smtClean="0">
                <a:latin typeface="Times New Roman" panose="02020603050405020304" pitchFamily="18" charset="0"/>
                <a:cs typeface="Times New Roman" panose="02020603050405020304" pitchFamily="18" charset="0"/>
              </a:rPr>
              <a:t>w</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 1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rPr>
              <a:t>j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rPr>
              <a:t>n</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以</a:t>
            </a:r>
            <a:endParaRPr lang="en-US" altLang="zh-CN" sz="2400" b="1"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及箱子数 </a:t>
            </a:r>
            <a:r>
              <a:rPr lang="en-US" altLang="zh-CN" sz="2400" b="1" i="1" smtClean="0">
                <a:latin typeface="Times New Roman" panose="02020603050405020304" pitchFamily="18" charset="0"/>
                <a:cs typeface="Times New Roman" panose="02020603050405020304" pitchFamily="18" charset="0"/>
              </a:rPr>
              <a:t>K</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规定每只箱子装入物品的总重量不超过正整数</a:t>
            </a:r>
            <a:endParaRPr lang="en-US" altLang="zh-CN" sz="2400" b="1" smtClean="0">
              <a:latin typeface="Times New Roman" panose="02020603050405020304" pitchFamily="18" charset="0"/>
              <a:cs typeface="Times New Roman" panose="02020603050405020304" pitchFamily="18" charset="0"/>
            </a:endParaRPr>
          </a:p>
          <a:p>
            <a:pPr>
              <a:spcBef>
                <a:spcPts val="300"/>
              </a:spcBef>
              <a:buFont typeface="Arial" panose="020B0604020202020204" pitchFamily="34" charset="0"/>
              <a:buNone/>
            </a:pPr>
            <a:r>
              <a:rPr lang="en-US" altLang="zh-CN" sz="2400" b="1" i="1" smtClean="0">
                <a:latin typeface="Times New Roman" panose="02020603050405020304" pitchFamily="18" charset="0"/>
                <a:cs typeface="Times New Roman" panose="02020603050405020304" pitchFamily="18" charset="0"/>
              </a:rPr>
              <a:t>B</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问能用 </a:t>
            </a:r>
            <a:r>
              <a:rPr lang="en-US" altLang="zh-CN" sz="2400" b="1" i="1" smtClean="0">
                <a:latin typeface="Times New Roman" panose="02020603050405020304" pitchFamily="18" charset="0"/>
                <a:cs typeface="Times New Roman" panose="02020603050405020304" pitchFamily="18" charset="0"/>
              </a:rPr>
              <a:t>K </a:t>
            </a:r>
            <a:r>
              <a:rPr lang="zh-CN" altLang="en-US" sz="2400" b="1" smtClean="0">
                <a:latin typeface="Times New Roman" panose="02020603050405020304" pitchFamily="18" charset="0"/>
                <a:cs typeface="Times New Roman" panose="02020603050405020304" pitchFamily="18" charset="0"/>
              </a:rPr>
              <a:t>只箱子装入所有的物品吗</a:t>
            </a:r>
            <a:r>
              <a:rPr lang="en-US" altLang="zh-CN" sz="2400" b="1" smtClean="0">
                <a:latin typeface="Times New Roman" panose="02020603050405020304" pitchFamily="18" charset="0"/>
                <a:cs typeface="Times New Roman" panose="02020603050405020304" pitchFamily="18" charset="0"/>
              </a:rPr>
              <a:t>?</a:t>
            </a:r>
            <a:endParaRPr lang="zh-CN" altLang="en-US" sz="2400" b="1" smtClean="0">
              <a:latin typeface="Times New Roman" panose="02020603050405020304" pitchFamily="18" charset="0"/>
              <a:cs typeface="Times New Roman" panose="02020603050405020304" pitchFamily="18" charset="0"/>
            </a:endParaRPr>
          </a:p>
          <a:p>
            <a:pPr>
              <a:spcBef>
                <a:spcPts val="1800"/>
              </a:spcBef>
              <a:buFont typeface="Arial" panose="020B0604020202020204" pitchFamily="34" charset="0"/>
              <a:buNone/>
            </a:pPr>
            <a:r>
              <a:rPr lang="zh-CN" altLang="en-US" sz="2400" b="1" smtClean="0">
                <a:solidFill>
                  <a:srgbClr val="C00000"/>
                </a:solidFill>
                <a:latin typeface="Times New Roman" panose="02020603050405020304" pitchFamily="18" charset="0"/>
                <a:cs typeface="Times New Roman" panose="02020603050405020304" pitchFamily="18" charset="0"/>
              </a:rPr>
              <a:t>双机调度</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有</a:t>
            </a:r>
            <a:r>
              <a:rPr lang="en-US" altLang="zh-CN" sz="2400" b="1" smtClean="0">
                <a:latin typeface="Times New Roman" panose="02020603050405020304" pitchFamily="18" charset="0"/>
                <a:cs typeface="Times New Roman" panose="02020603050405020304" pitchFamily="18" charset="0"/>
              </a:rPr>
              <a:t>2</a:t>
            </a:r>
            <a:r>
              <a:rPr lang="zh-CN" altLang="en-US" sz="2400" b="1" smtClean="0">
                <a:latin typeface="Times New Roman" panose="02020603050405020304" pitchFamily="18" charset="0"/>
                <a:cs typeface="Times New Roman" panose="02020603050405020304" pitchFamily="18" charset="0"/>
              </a:rPr>
              <a:t>台机器和 </a:t>
            </a:r>
            <a:r>
              <a:rPr lang="en-US" altLang="zh-CN" sz="2400" b="1" i="1" smtClean="0">
                <a:latin typeface="Times New Roman" panose="02020603050405020304" pitchFamily="18" charset="0"/>
                <a:cs typeface="Times New Roman" panose="02020603050405020304" pitchFamily="18" charset="0"/>
              </a:rPr>
              <a:t>n </a:t>
            </a:r>
            <a:r>
              <a:rPr lang="zh-CN" altLang="en-US" sz="2400" b="1" smtClean="0">
                <a:latin typeface="Times New Roman" panose="02020603050405020304" pitchFamily="18" charset="0"/>
                <a:cs typeface="Times New Roman" panose="02020603050405020304" pitchFamily="18" charset="0"/>
              </a:rPr>
              <a:t>项作业 </a:t>
            </a:r>
            <a:r>
              <a:rPr lang="en-US" altLang="zh-CN" sz="2400" b="1" i="1" smtClean="0">
                <a:latin typeface="Times New Roman" panose="02020603050405020304" pitchFamily="18" charset="0"/>
                <a:cs typeface="Times New Roman" panose="02020603050405020304" pitchFamily="18" charset="0"/>
              </a:rPr>
              <a:t>J</a:t>
            </a:r>
            <a:r>
              <a:rPr lang="en-US" altLang="zh-CN" sz="2400" b="1" baseline="-25000" smtClean="0">
                <a:latin typeface="Times New Roman" panose="02020603050405020304" pitchFamily="18" charset="0"/>
                <a:cs typeface="Times New Roman" panose="02020603050405020304" pitchFamily="18" charset="0"/>
              </a:rPr>
              <a:t>1</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 J</a:t>
            </a:r>
            <a:r>
              <a:rPr lang="en-US" altLang="zh-CN" sz="2400" b="1" baseline="-25000" smtClean="0">
                <a:latin typeface="Times New Roman" panose="02020603050405020304" pitchFamily="18" charset="0"/>
                <a:cs typeface="Times New Roman" panose="02020603050405020304" pitchFamily="18" charset="0"/>
              </a:rPr>
              <a:t>2</a:t>
            </a:r>
            <a:r>
              <a:rPr lang="en-US" altLang="zh-CN" sz="2400" b="1" smtClean="0">
                <a:latin typeface="Times New Roman" panose="02020603050405020304" pitchFamily="18" charset="0"/>
                <a:cs typeface="Times New Roman" panose="02020603050405020304" pitchFamily="18" charset="0"/>
              </a:rPr>
              <a:t>,</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 J</a:t>
            </a:r>
            <a:r>
              <a:rPr lang="en-US" altLang="zh-CN" sz="2400" b="1" i="1" baseline="-25000" smtClean="0">
                <a:latin typeface="Times New Roman" panose="02020603050405020304" pitchFamily="18" charset="0"/>
                <a:cs typeface="Times New Roman" panose="02020603050405020304" pitchFamily="18" charset="0"/>
              </a:rPr>
              <a:t>n</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这</a:t>
            </a:r>
            <a:r>
              <a:rPr lang="en-US" altLang="zh-CN" sz="2400" b="1" smtClean="0">
                <a:latin typeface="Times New Roman" panose="02020603050405020304" pitchFamily="18" charset="0"/>
                <a:cs typeface="Times New Roman" panose="02020603050405020304" pitchFamily="18" charset="0"/>
              </a:rPr>
              <a:t>2</a:t>
            </a:r>
            <a:r>
              <a:rPr lang="zh-CN" altLang="en-US" sz="2400" b="1" smtClean="0">
                <a:latin typeface="Times New Roman" panose="02020603050405020304" pitchFamily="18" charset="0"/>
                <a:cs typeface="Times New Roman" panose="02020603050405020304" pitchFamily="18" charset="0"/>
              </a:rPr>
              <a:t>台机器完全</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相同</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每一项作业可以在任一台机器上进行</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没有先后顺序</a:t>
            </a:r>
            <a:r>
              <a:rPr lang="en-US" altLang="zh-CN" sz="2400" b="1" smtClean="0">
                <a:latin typeface="Times New Roman" panose="02020603050405020304" pitchFamily="18" charset="0"/>
                <a:cs typeface="Times New Roman" panose="02020603050405020304" pitchFamily="18" charset="0"/>
              </a:rPr>
              <a:t>, </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作业 </a:t>
            </a:r>
            <a:r>
              <a:rPr lang="en-US" altLang="zh-CN" sz="2400" b="1" i="1" smtClean="0">
                <a:latin typeface="Times New Roman" panose="02020603050405020304" pitchFamily="18" charset="0"/>
                <a:cs typeface="Times New Roman" panose="02020603050405020304" pitchFamily="18" charset="0"/>
              </a:rPr>
              <a:t>J</a:t>
            </a:r>
            <a:r>
              <a:rPr lang="en-US" altLang="zh-CN" sz="2400" b="1" i="1" baseline="-25000" smtClean="0">
                <a:latin typeface="Times New Roman" panose="02020603050405020304" pitchFamily="18" charset="0"/>
                <a:cs typeface="Times New Roman" panose="02020603050405020304" pitchFamily="18" charset="0"/>
              </a:rPr>
              <a:t>i </a:t>
            </a:r>
            <a:r>
              <a:rPr lang="zh-CN" altLang="en-US" sz="2400" b="1" smtClean="0">
                <a:latin typeface="Times New Roman" panose="02020603050405020304" pitchFamily="18" charset="0"/>
                <a:cs typeface="Times New Roman" panose="02020603050405020304" pitchFamily="18" charset="0"/>
              </a:rPr>
              <a:t>的处理时间为 </a:t>
            </a:r>
            <a:r>
              <a:rPr lang="en-US" altLang="zh-CN" sz="2400" b="1" i="1" smtClean="0">
                <a:latin typeface="Times New Roman" panose="02020603050405020304" pitchFamily="18" charset="0"/>
                <a:cs typeface="Times New Roman" panose="02020603050405020304" pitchFamily="18" charset="0"/>
              </a:rPr>
              <a:t>t</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1</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rPr>
              <a:t>i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rPr>
              <a:t>n</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截止时间为 </a:t>
            </a:r>
            <a:r>
              <a:rPr lang="en-US" altLang="zh-CN" sz="2400" b="1" i="1" smtClean="0">
                <a:latin typeface="Times New Roman" panose="02020603050405020304" pitchFamily="18" charset="0"/>
                <a:cs typeface="Times New Roman" panose="02020603050405020304" pitchFamily="18" charset="0"/>
              </a:rPr>
              <a:t>D</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所有 </a:t>
            </a:r>
            <a:r>
              <a:rPr lang="en-US" altLang="zh-CN" sz="2400" b="1" i="1" smtClean="0">
                <a:latin typeface="Times New Roman" panose="02020603050405020304" pitchFamily="18" charset="0"/>
                <a:cs typeface="Times New Roman" panose="02020603050405020304" pitchFamily="18" charset="0"/>
              </a:rPr>
              <a:t>t</a:t>
            </a:r>
            <a:r>
              <a:rPr lang="en-US" altLang="zh-CN" sz="2400" b="1" i="1" baseline="-25000" smtClean="0">
                <a:latin typeface="Times New Roman" panose="02020603050405020304" pitchFamily="18" charset="0"/>
                <a:cs typeface="Times New Roman" panose="02020603050405020304" pitchFamily="18" charset="0"/>
              </a:rPr>
              <a:t>i </a:t>
            </a:r>
            <a:r>
              <a:rPr lang="zh-CN" altLang="en-US" sz="2400" b="1" smtClean="0">
                <a:latin typeface="Times New Roman" panose="02020603050405020304" pitchFamily="18" charset="0"/>
                <a:cs typeface="Times New Roman" panose="02020603050405020304" pitchFamily="18" charset="0"/>
              </a:rPr>
              <a:t>和 </a:t>
            </a:r>
            <a:r>
              <a:rPr lang="en-US" altLang="zh-CN" sz="2400" b="1" i="1" smtClean="0">
                <a:latin typeface="Times New Roman" panose="02020603050405020304" pitchFamily="18" charset="0"/>
                <a:cs typeface="Times New Roman" panose="02020603050405020304" pitchFamily="18" charset="0"/>
              </a:rPr>
              <a:t>D</a:t>
            </a:r>
            <a:endParaRPr lang="en-US" altLang="zh-CN" sz="2400" b="1" i="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都是正整数</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问能把 </a:t>
            </a:r>
            <a:r>
              <a:rPr lang="en-US" altLang="zh-CN" sz="2400" b="1" i="1" smtClean="0">
                <a:latin typeface="Times New Roman" panose="02020603050405020304" pitchFamily="18" charset="0"/>
                <a:cs typeface="Times New Roman" panose="02020603050405020304" pitchFamily="18" charset="0"/>
              </a:rPr>
              <a:t>n </a:t>
            </a:r>
            <a:r>
              <a:rPr lang="zh-CN" altLang="en-US" sz="2400" b="1" smtClean="0">
                <a:latin typeface="Times New Roman" panose="02020603050405020304" pitchFamily="18" charset="0"/>
                <a:cs typeface="Times New Roman" panose="02020603050405020304" pitchFamily="18" charset="0"/>
              </a:rPr>
              <a:t>项作业分配给这 </a:t>
            </a:r>
            <a:r>
              <a:rPr lang="en-US" altLang="zh-CN" sz="2400" b="1" smtClean="0">
                <a:latin typeface="Times New Roman" panose="02020603050405020304" pitchFamily="18" charset="0"/>
                <a:cs typeface="Times New Roman" panose="02020603050405020304" pitchFamily="18" charset="0"/>
              </a:rPr>
              <a:t>2</a:t>
            </a:r>
            <a:r>
              <a:rPr lang="zh-CN" altLang="en-US" sz="2400" b="1" smtClean="0">
                <a:latin typeface="Times New Roman" panose="02020603050405020304" pitchFamily="18" charset="0"/>
                <a:cs typeface="Times New Roman" panose="02020603050405020304" pitchFamily="18" charset="0"/>
              </a:rPr>
              <a:t>台机器</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在截止时间</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i="1" smtClean="0">
                <a:latin typeface="Times New Roman" panose="02020603050405020304" pitchFamily="18" charset="0"/>
                <a:cs typeface="Times New Roman" panose="02020603050405020304" pitchFamily="18" charset="0"/>
              </a:rPr>
              <a:t>D </a:t>
            </a:r>
            <a:r>
              <a:rPr lang="zh-CN" altLang="en-US" sz="2400" b="1" smtClean="0">
                <a:latin typeface="Times New Roman" panose="02020603050405020304" pitchFamily="18" charset="0"/>
                <a:cs typeface="Times New Roman" panose="02020603050405020304" pitchFamily="18" charset="0"/>
              </a:rPr>
              <a:t>内完成所有的作业吗</a:t>
            </a:r>
            <a:r>
              <a:rPr lang="en-US" altLang="zh-CN" sz="2400" b="1" smtClean="0">
                <a:latin typeface="Times New Roman" panose="02020603050405020304" pitchFamily="18" charset="0"/>
                <a:cs typeface="Times New Roman" panose="02020603050405020304" pitchFamily="18" charset="0"/>
              </a:rPr>
              <a:t>?</a:t>
            </a:r>
            <a:endParaRPr lang="zh-CN" altLang="en-US" sz="2400" b="1"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1"/>
          <p:cNvSpPr>
            <a:spLocks noGrp="1"/>
          </p:cNvSpPr>
          <p:nvPr>
            <p:ph type="title"/>
          </p:nvPr>
        </p:nvSpPr>
        <p:spPr>
          <a:xfrm>
            <a:off x="457200" y="0"/>
            <a:ext cx="8229600" cy="1143000"/>
          </a:xfrm>
        </p:spPr>
        <p:txBody>
          <a:bodyPr/>
          <a:lstStyle/>
          <a:p>
            <a:r>
              <a:rPr lang="zh-CN" altLang="en-US" sz="4000" b="1" smtClean="0">
                <a:solidFill>
                  <a:srgbClr val="C00000"/>
                </a:solidFill>
                <a:latin typeface="Times New Roman" panose="02020603050405020304" pitchFamily="18" charset="0"/>
                <a:cs typeface="Times New Roman" panose="02020603050405020304" pitchFamily="18" charset="0"/>
              </a:rPr>
              <a:t>子集和</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51203" name="内容占位符 2"/>
          <p:cNvSpPr>
            <a:spLocks noGrp="1"/>
          </p:cNvSpPr>
          <p:nvPr>
            <p:ph idx="1"/>
          </p:nvPr>
        </p:nvSpPr>
        <p:spPr>
          <a:xfrm>
            <a:off x="457200" y="1143000"/>
            <a:ext cx="8229600" cy="5381625"/>
          </a:xfrm>
        </p:spPr>
        <p:txBody>
          <a:bodyPr/>
          <a:lstStyle/>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子集和是 </a:t>
            </a:r>
            <a:r>
              <a:rPr lang="en-US" altLang="zh-CN" sz="2400" b="1" smtClean="0">
                <a:latin typeface="Times New Roman" panose="02020603050405020304" pitchFamily="18" charset="0"/>
                <a:cs typeface="Times New Roman" panose="02020603050405020304" pitchFamily="18" charset="0"/>
              </a:rPr>
              <a:t>0-1</a:t>
            </a:r>
            <a:r>
              <a:rPr lang="zh-CN" altLang="en-US" sz="2400" b="1" smtClean="0">
                <a:latin typeface="Times New Roman" panose="02020603050405020304" pitchFamily="18" charset="0"/>
                <a:cs typeface="Times New Roman" panose="02020603050405020304" pitchFamily="18" charset="0"/>
              </a:rPr>
              <a:t>背包的子问题</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zh-CN" altLang="en-US" sz="2400" b="1" smtClean="0">
                <a:latin typeface="Times New Roman" panose="02020603050405020304" pitchFamily="18" charset="0"/>
                <a:cs typeface="Times New Roman" panose="02020603050405020304" pitchFamily="18" charset="0"/>
              </a:rPr>
              <a:t>限制 </a:t>
            </a:r>
            <a:r>
              <a:rPr lang="en-US" altLang="zh-CN" sz="2400" b="1" smtClean="0">
                <a:latin typeface="Times New Roman" panose="02020603050405020304" pitchFamily="18" charset="0"/>
                <a:cs typeface="Times New Roman" panose="02020603050405020304" pitchFamily="18" charset="0"/>
              </a:rPr>
              <a:t>0-1</a:t>
            </a:r>
            <a:r>
              <a:rPr lang="zh-CN" altLang="en-US" sz="2400" b="1" smtClean="0">
                <a:latin typeface="Times New Roman" panose="02020603050405020304" pitchFamily="18" charset="0"/>
                <a:cs typeface="Times New Roman" panose="02020603050405020304" pitchFamily="18" charset="0"/>
              </a:rPr>
              <a:t>背包的实例中所有</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i="1" smtClean="0">
                <a:latin typeface="Times New Roman" panose="02020603050405020304" pitchFamily="18" charset="0"/>
                <a:cs typeface="Times New Roman" panose="02020603050405020304" pitchFamily="18" charset="0"/>
              </a:rPr>
              <a:t>w</a:t>
            </a:r>
            <a:r>
              <a:rPr lang="en-US" altLang="zh-CN" sz="2400" b="1" i="1" baseline="-25000" smtClean="0">
                <a:latin typeface="Times New Roman" panose="02020603050405020304" pitchFamily="18" charset="0"/>
                <a:cs typeface="Times New Roman" panose="02020603050405020304" pitchFamily="18" charset="0"/>
              </a:rPr>
              <a:t>i </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v</a:t>
            </a:r>
            <a:r>
              <a:rPr lang="en-US" altLang="zh-CN" sz="2400" b="1" i="1" baseline="-25000" smtClean="0">
                <a:latin typeface="Times New Roman" panose="02020603050405020304" pitchFamily="18" charset="0"/>
                <a:cs typeface="Times New Roman" panose="02020603050405020304" pitchFamily="18" charset="0"/>
              </a:rPr>
              <a:t>i </a:t>
            </a:r>
            <a:r>
              <a:rPr lang="zh-CN" altLang="en-US" sz="2400" b="1" smtClean="0">
                <a:latin typeface="Times New Roman" panose="02020603050405020304" pitchFamily="18" charset="0"/>
                <a:cs typeface="Times New Roman" panose="02020603050405020304" pitchFamily="18" charset="0"/>
              </a:rPr>
              <a:t>且 </a:t>
            </a:r>
            <a:r>
              <a:rPr lang="en-US" altLang="zh-CN" sz="2400" b="1" i="1" smtClean="0">
                <a:latin typeface="Times New Roman" panose="02020603050405020304" pitchFamily="18" charset="0"/>
                <a:cs typeface="Times New Roman" panose="02020603050405020304" pitchFamily="18" charset="0"/>
              </a:rPr>
              <a:t>B</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K</a:t>
            </a:r>
            <a:r>
              <a:rPr lang="en-US" altLang="zh-CN" sz="2400" b="1" smtClean="0">
                <a:latin typeface="Times New Roman" panose="02020603050405020304" pitchFamily="18" charset="0"/>
                <a:cs typeface="Times New Roman" panose="02020603050405020304" pitchFamily="18" charset="0"/>
              </a:rPr>
              <a:t>.</a:t>
            </a:r>
            <a:endParaRPr lang="en-US" altLang="zh-CN" sz="2400" b="1" smtClean="0">
              <a:latin typeface="Times New Roman" panose="02020603050405020304" pitchFamily="18" charset="0"/>
              <a:cs typeface="Times New Roman" panose="02020603050405020304" pitchFamily="18" charset="0"/>
            </a:endParaRPr>
          </a:p>
          <a:p>
            <a:pPr>
              <a:spcBef>
                <a:spcPts val="1800"/>
              </a:spcBef>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双机调度可以看作当箱子数 </a:t>
            </a:r>
            <a:r>
              <a:rPr lang="en-US" altLang="zh-CN" sz="2400" b="1" i="1" smtClean="0">
                <a:latin typeface="Times New Roman" panose="02020603050405020304" pitchFamily="18" charset="0"/>
                <a:cs typeface="Times New Roman" panose="02020603050405020304" pitchFamily="18" charset="0"/>
              </a:rPr>
              <a:t>K</a:t>
            </a:r>
            <a:r>
              <a:rPr lang="en-US" altLang="zh-CN" sz="2400" b="1" smtClean="0">
                <a:latin typeface="Times New Roman" panose="02020603050405020304" pitchFamily="18" charset="0"/>
                <a:cs typeface="Times New Roman" panose="02020603050405020304" pitchFamily="18" charset="0"/>
              </a:rPr>
              <a:t>=2 </a:t>
            </a:r>
            <a:r>
              <a:rPr lang="zh-CN" altLang="en-US" sz="2400" b="1" smtClean="0">
                <a:latin typeface="Times New Roman" panose="02020603050405020304" pitchFamily="18" charset="0"/>
                <a:cs typeface="Times New Roman" panose="02020603050405020304" pitchFamily="18" charset="0"/>
              </a:rPr>
              <a:t>时装箱的特殊情况</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zh-CN" altLang="en-US" sz="2400" b="1" smtClean="0">
                <a:latin typeface="Times New Roman" panose="02020603050405020304" pitchFamily="18" charset="0"/>
                <a:cs typeface="Times New Roman" panose="02020603050405020304" pitchFamily="18" charset="0"/>
              </a:rPr>
              <a:t>把物</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品看作作业</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物品的重量是作业的处理时间</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截止时间是每</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只箱子允许的最大重量</a:t>
            </a:r>
            <a:r>
              <a:rPr lang="en-US" altLang="zh-CN" sz="2400" b="1" smtClean="0">
                <a:latin typeface="Times New Roman" panose="02020603050405020304" pitchFamily="18" charset="0"/>
                <a:cs typeface="Times New Roman" panose="02020603050405020304" pitchFamily="18" charset="0"/>
              </a:rPr>
              <a:t>.</a:t>
            </a:r>
            <a:endParaRPr lang="en-US" altLang="zh-CN" sz="2400" b="1" smtClean="0">
              <a:latin typeface="Times New Roman" panose="02020603050405020304" pitchFamily="18" charset="0"/>
              <a:cs typeface="Times New Roman" panose="02020603050405020304" pitchFamily="18" charset="0"/>
            </a:endParaRPr>
          </a:p>
          <a:p>
            <a:pPr>
              <a:spcBef>
                <a:spcPts val="1800"/>
              </a:spcBef>
              <a:buFont typeface="Arial" panose="020B0604020202020204" pitchFamily="34" charset="0"/>
              <a:buNone/>
            </a:pPr>
            <a:r>
              <a:rPr lang="zh-CN" altLang="en-US" sz="2400" b="1" smtClean="0">
                <a:solidFill>
                  <a:srgbClr val="C00000"/>
                </a:solidFill>
                <a:latin typeface="Times New Roman" panose="02020603050405020304" pitchFamily="18" charset="0"/>
                <a:cs typeface="Times New Roman" panose="02020603050405020304" pitchFamily="18" charset="0"/>
              </a:rPr>
              <a:t>定理 </a:t>
            </a:r>
            <a:r>
              <a:rPr lang="en-US" altLang="zh-CN" sz="2400" b="1" smtClean="0">
                <a:solidFill>
                  <a:srgbClr val="C00000"/>
                </a:solidFill>
                <a:latin typeface="Times New Roman" panose="02020603050405020304" pitchFamily="18" charset="0"/>
                <a:cs typeface="Times New Roman" panose="02020603050405020304" pitchFamily="18" charset="0"/>
              </a:rPr>
              <a:t>9.16</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子集和是 </a:t>
            </a:r>
            <a:r>
              <a:rPr lang="en-US" altLang="zh-CN" sz="2400" b="1" smtClean="0">
                <a:latin typeface="Times New Roman" panose="02020603050405020304" pitchFamily="18" charset="0"/>
                <a:cs typeface="Times New Roman" panose="02020603050405020304" pitchFamily="18" charset="0"/>
              </a:rPr>
              <a:t>NP</a:t>
            </a:r>
            <a:r>
              <a:rPr lang="zh-CN" altLang="en-US" sz="2400" b="1" smtClean="0">
                <a:latin typeface="Times New Roman" panose="02020603050405020304" pitchFamily="18" charset="0"/>
                <a:cs typeface="Times New Roman" panose="02020603050405020304" pitchFamily="18" charset="0"/>
              </a:rPr>
              <a:t>完全的</a:t>
            </a:r>
            <a:r>
              <a:rPr lang="en-US" altLang="zh-CN" sz="2400" b="1" smtClean="0">
                <a:latin typeface="Times New Roman" panose="02020603050405020304" pitchFamily="18" charset="0"/>
                <a:cs typeface="Times New Roman" panose="02020603050405020304" pitchFamily="18" charset="0"/>
              </a:rPr>
              <a:t>.</a:t>
            </a:r>
            <a:endParaRPr lang="zh-CN" altLang="en-US"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证   要证恰好覆盖</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25000" smtClean="0">
                <a:latin typeface="Times New Roman" panose="02020603050405020304" pitchFamily="18" charset="0"/>
                <a:cs typeface="Times New Roman" panose="02020603050405020304" pitchFamily="18" charset="0"/>
              </a:rPr>
              <a:t>p</a:t>
            </a:r>
            <a:r>
              <a:rPr lang="zh-CN" altLang="en-US" sz="2400" b="1" smtClean="0">
                <a:latin typeface="Times New Roman" panose="02020603050405020304" pitchFamily="18" charset="0"/>
                <a:cs typeface="Times New Roman" panose="02020603050405020304" pitchFamily="18" charset="0"/>
              </a:rPr>
              <a:t>子集和</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给定有穷集 </a:t>
            </a:r>
            <a:r>
              <a:rPr lang="en-US" altLang="zh-CN" sz="2400" b="1" i="1" smtClean="0">
                <a:latin typeface="Times New Roman" panose="02020603050405020304" pitchFamily="18" charset="0"/>
                <a:cs typeface="Times New Roman" panose="02020603050405020304" pitchFamily="18" charset="0"/>
              </a:rPr>
              <a:t>A</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a</a:t>
            </a:r>
            <a:r>
              <a:rPr lang="en-US" altLang="zh-CN" sz="2400" b="1" baseline="-25000" smtClean="0">
                <a:latin typeface="Times New Roman" panose="02020603050405020304" pitchFamily="18" charset="0"/>
                <a:cs typeface="Times New Roman" panose="02020603050405020304" pitchFamily="18" charset="0"/>
              </a:rPr>
              <a:t>1</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 a</a:t>
            </a:r>
            <a:r>
              <a:rPr lang="en-US" altLang="zh-CN" sz="2400" b="1" baseline="-25000" smtClean="0">
                <a:latin typeface="Times New Roman" panose="02020603050405020304" pitchFamily="18" charset="0"/>
                <a:cs typeface="Times New Roman" panose="02020603050405020304" pitchFamily="18" charset="0"/>
              </a:rPr>
              <a:t>2</a:t>
            </a:r>
            <a:r>
              <a:rPr lang="en-US" altLang="zh-CN" sz="2400" b="1" smtClean="0">
                <a:latin typeface="Times New Roman" panose="02020603050405020304" pitchFamily="18" charset="0"/>
                <a:cs typeface="Times New Roman" panose="02020603050405020304" pitchFamily="18" charset="0"/>
              </a:rPr>
              <a:t>,</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 a</a:t>
            </a:r>
            <a:r>
              <a:rPr lang="en-US" altLang="zh-CN" sz="2400" b="1" i="1" baseline="-25000" smtClean="0">
                <a:latin typeface="Times New Roman" panose="02020603050405020304" pitchFamily="18" charset="0"/>
                <a:cs typeface="Times New Roman" panose="02020603050405020304" pitchFamily="18" charset="0"/>
              </a:rPr>
              <a:t>n</a:t>
            </a:r>
            <a:r>
              <a:rPr lang="en-US" altLang="zh-CN" sz="2400" b="1" smtClean="0">
                <a:latin typeface="Times New Roman" panose="02020603050405020304" pitchFamily="18" charset="0"/>
                <a:cs typeface="Times New Roman" panose="02020603050405020304" pitchFamily="18" charset="0"/>
              </a:rPr>
              <a:t>}</a:t>
            </a:r>
            <a:r>
              <a:rPr lang="zh-CN" altLang="en-US" sz="2400" b="1" smtClean="0">
                <a:latin typeface="Times New Roman" panose="02020603050405020304" pitchFamily="18" charset="0"/>
                <a:cs typeface="Times New Roman" panose="02020603050405020304" pitchFamily="18" charset="0"/>
              </a:rPr>
              <a:t>和 </a:t>
            </a:r>
            <a:r>
              <a:rPr lang="en-US" altLang="zh-CN" sz="2400" b="1" i="1" smtClean="0">
                <a:latin typeface="Times New Roman" panose="02020603050405020304" pitchFamily="18" charset="0"/>
                <a:cs typeface="Times New Roman" panose="02020603050405020304" pitchFamily="18" charset="0"/>
              </a:rPr>
              <a:t>A</a:t>
            </a:r>
            <a:endParaRPr lang="en-US" altLang="zh-CN" sz="2400" b="1" i="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的子集的集合 </a:t>
            </a:r>
            <a:r>
              <a:rPr lang="en-US" altLang="zh-CN" sz="2400" b="1" i="1" smtClean="0">
                <a:latin typeface="Times New Roman" panose="02020603050405020304" pitchFamily="18" charset="0"/>
                <a:cs typeface="Times New Roman" panose="02020603050405020304" pitchFamily="18" charset="0"/>
              </a:rPr>
              <a:t>W</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S</a:t>
            </a:r>
            <a:r>
              <a:rPr lang="en-US" altLang="zh-CN" sz="2400" b="1" baseline="-25000" smtClean="0">
                <a:latin typeface="Times New Roman" panose="02020603050405020304" pitchFamily="18" charset="0"/>
                <a:cs typeface="Times New Roman" panose="02020603050405020304" pitchFamily="18" charset="0"/>
              </a:rPr>
              <a:t>1</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 S</a:t>
            </a:r>
            <a:r>
              <a:rPr lang="en-US" altLang="zh-CN" sz="2400" b="1" baseline="-25000" smtClean="0">
                <a:latin typeface="Times New Roman" panose="02020603050405020304" pitchFamily="18" charset="0"/>
                <a:cs typeface="Times New Roman" panose="02020603050405020304" pitchFamily="18" charset="0"/>
              </a:rPr>
              <a:t>2</a:t>
            </a:r>
            <a:r>
              <a:rPr lang="en-US" altLang="zh-CN" sz="2400" b="1" smtClean="0">
                <a:latin typeface="Times New Roman" panose="02020603050405020304" pitchFamily="18" charset="0"/>
                <a:cs typeface="Times New Roman" panose="02020603050405020304" pitchFamily="18" charset="0"/>
              </a:rPr>
              <a:t>,</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 S</a:t>
            </a:r>
            <a:r>
              <a:rPr lang="en-US" altLang="zh-CN" sz="2400" b="1" i="1" baseline="-25000" smtClean="0">
                <a:latin typeface="Times New Roman" panose="02020603050405020304" pitchFamily="18" charset="0"/>
                <a:cs typeface="Times New Roman" panose="02020603050405020304" pitchFamily="18" charset="0"/>
              </a:rPr>
              <a:t> m</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对应的子集和实例包括非</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负整数的集合 </a:t>
            </a:r>
            <a:r>
              <a:rPr lang="en-US" altLang="zh-CN" sz="2400" b="1" i="1" smtClean="0">
                <a:latin typeface="Times New Roman" panose="02020603050405020304" pitchFamily="18" charset="0"/>
                <a:cs typeface="Times New Roman" panose="02020603050405020304" pitchFamily="18" charset="0"/>
              </a:rPr>
              <a:t>X</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x</a:t>
            </a:r>
            <a:r>
              <a:rPr lang="en-US" altLang="zh-CN" sz="2400" b="1" baseline="-25000" smtClean="0">
                <a:latin typeface="Times New Roman" panose="02020603050405020304" pitchFamily="18" charset="0"/>
                <a:cs typeface="Times New Roman" panose="02020603050405020304" pitchFamily="18" charset="0"/>
              </a:rPr>
              <a:t>1</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 x</a:t>
            </a:r>
            <a:r>
              <a:rPr lang="en-US" altLang="zh-CN" sz="2400" b="1" baseline="-25000" smtClean="0">
                <a:latin typeface="Times New Roman" panose="02020603050405020304" pitchFamily="18" charset="0"/>
                <a:cs typeface="Times New Roman" panose="02020603050405020304" pitchFamily="18" charset="0"/>
              </a:rPr>
              <a:t>2</a:t>
            </a:r>
            <a:r>
              <a:rPr lang="en-US" altLang="zh-CN" sz="2400" b="1" smtClean="0">
                <a:latin typeface="Times New Roman" panose="02020603050405020304" pitchFamily="18" charset="0"/>
                <a:cs typeface="Times New Roman" panose="02020603050405020304" pitchFamily="18" charset="0"/>
              </a:rPr>
              <a:t>,</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 x</a:t>
            </a:r>
            <a:r>
              <a:rPr lang="en-US" altLang="zh-CN" sz="2400" b="1" i="1" baseline="-25000" smtClean="0">
                <a:latin typeface="Times New Roman" panose="02020603050405020304" pitchFamily="18" charset="0"/>
                <a:cs typeface="Times New Roman" panose="02020603050405020304" pitchFamily="18" charset="0"/>
              </a:rPr>
              <a:t>n</a:t>
            </a:r>
            <a:r>
              <a:rPr lang="en-US" altLang="zh-CN" sz="2400" b="1" smtClean="0">
                <a:latin typeface="Times New Roman" panose="02020603050405020304" pitchFamily="18" charset="0"/>
                <a:cs typeface="Times New Roman" panose="02020603050405020304" pitchFamily="18" charset="0"/>
              </a:rPr>
              <a:t>}</a:t>
            </a:r>
            <a:r>
              <a:rPr lang="zh-CN" altLang="en-US" sz="2400" b="1" smtClean="0">
                <a:latin typeface="Times New Roman" panose="02020603050405020304" pitchFamily="18" charset="0"/>
                <a:cs typeface="Times New Roman" panose="02020603050405020304" pitchFamily="18" charset="0"/>
              </a:rPr>
              <a:t>及非负整数 </a:t>
            </a:r>
            <a:r>
              <a:rPr lang="en-US" altLang="zh-CN" sz="2400" b="1" i="1" smtClean="0">
                <a:latin typeface="Times New Roman" panose="02020603050405020304" pitchFamily="18" charset="0"/>
                <a:cs typeface="Times New Roman" panose="02020603050405020304" pitchFamily="18" charset="0"/>
              </a:rPr>
              <a:t>N</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每个 </a:t>
            </a:r>
            <a:r>
              <a:rPr lang="en-US" altLang="zh-CN" sz="2400" b="1" i="1" smtClean="0">
                <a:latin typeface="Times New Roman" panose="02020603050405020304" pitchFamily="18" charset="0"/>
                <a:cs typeface="Times New Roman" panose="02020603050405020304" pitchFamily="18" charset="0"/>
              </a:rPr>
              <a:t>x</a:t>
            </a:r>
            <a:r>
              <a:rPr lang="en-US" altLang="zh-CN" sz="2400" b="1" i="1" baseline="-25000" smtClean="0">
                <a:latin typeface="Times New Roman" panose="02020603050405020304" pitchFamily="18" charset="0"/>
                <a:cs typeface="Times New Roman" panose="02020603050405020304" pitchFamily="18" charset="0"/>
              </a:rPr>
              <a:t>j </a:t>
            </a:r>
            <a:r>
              <a:rPr lang="zh-CN" altLang="en-US" sz="2400" b="1" smtClean="0">
                <a:latin typeface="Times New Roman" panose="02020603050405020304" pitchFamily="18" charset="0"/>
                <a:cs typeface="Times New Roman" panose="02020603050405020304" pitchFamily="18" charset="0"/>
              </a:rPr>
              <a:t>和 </a:t>
            </a:r>
            <a:r>
              <a:rPr lang="en-US" altLang="zh-CN" sz="2400" b="1" i="1" smtClean="0">
                <a:latin typeface="Times New Roman" panose="02020603050405020304" pitchFamily="18" charset="0"/>
                <a:cs typeface="Times New Roman" panose="02020603050405020304" pitchFamily="18" charset="0"/>
              </a:rPr>
              <a:t>N </a:t>
            </a:r>
            <a:r>
              <a:rPr lang="zh-CN" altLang="en-US" sz="2400" b="1" smtClean="0">
                <a:latin typeface="Times New Roman" panose="02020603050405020304" pitchFamily="18" charset="0"/>
                <a:cs typeface="Times New Roman" panose="02020603050405020304" pitchFamily="18" charset="0"/>
              </a:rPr>
              <a:t>都</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可表 成 </a:t>
            </a:r>
            <a:r>
              <a:rPr lang="en-US" altLang="zh-CN" sz="2400" b="1" i="1" smtClean="0">
                <a:latin typeface="Times New Roman" panose="02020603050405020304" pitchFamily="18" charset="0"/>
                <a:cs typeface="Times New Roman" panose="02020603050405020304" pitchFamily="18" charset="0"/>
              </a:rPr>
              <a:t>kn </a:t>
            </a:r>
            <a:r>
              <a:rPr lang="zh-CN" altLang="en-US" sz="2400" b="1" smtClean="0">
                <a:latin typeface="Times New Roman" panose="02020603050405020304" pitchFamily="18" charset="0"/>
                <a:cs typeface="Times New Roman" panose="02020603050405020304" pitchFamily="18" charset="0"/>
              </a:rPr>
              <a:t>位的二进制数</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这 </a:t>
            </a:r>
            <a:r>
              <a:rPr lang="en-US" altLang="zh-CN" sz="2400" b="1" i="1" smtClean="0">
                <a:latin typeface="Times New Roman" panose="02020603050405020304" pitchFamily="18" charset="0"/>
                <a:cs typeface="Times New Roman" panose="02020603050405020304" pitchFamily="18" charset="0"/>
              </a:rPr>
              <a:t>kn </a:t>
            </a:r>
            <a:r>
              <a:rPr lang="zh-CN" altLang="en-US" sz="2400" b="1" smtClean="0">
                <a:latin typeface="Times New Roman" panose="02020603050405020304" pitchFamily="18" charset="0"/>
                <a:cs typeface="Times New Roman" panose="02020603050405020304" pitchFamily="18" charset="0"/>
              </a:rPr>
              <a:t>位分成 </a:t>
            </a:r>
            <a:r>
              <a:rPr lang="en-US" altLang="zh-CN" sz="2400" b="1" i="1" smtClean="0">
                <a:latin typeface="Times New Roman" panose="02020603050405020304" pitchFamily="18" charset="0"/>
                <a:cs typeface="Times New Roman" panose="02020603050405020304" pitchFamily="18" charset="0"/>
              </a:rPr>
              <a:t>n </a:t>
            </a:r>
            <a:r>
              <a:rPr lang="zh-CN" altLang="en-US" sz="2400" b="1" smtClean="0">
                <a:latin typeface="Times New Roman" panose="02020603050405020304" pitchFamily="18" charset="0"/>
                <a:cs typeface="Times New Roman" panose="02020603050405020304" pitchFamily="18" charset="0"/>
              </a:rPr>
              <a:t>段</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每段 </a:t>
            </a:r>
            <a:r>
              <a:rPr lang="en-US" altLang="zh-CN" sz="2400" b="1" i="1" smtClean="0">
                <a:latin typeface="Times New Roman" panose="02020603050405020304" pitchFamily="18" charset="0"/>
                <a:cs typeface="Times New Roman" panose="02020603050405020304" pitchFamily="18" charset="0"/>
              </a:rPr>
              <a:t>k </a:t>
            </a:r>
            <a:r>
              <a:rPr lang="zh-CN" altLang="en-US" sz="2400" b="1" smtClean="0">
                <a:latin typeface="Times New Roman" panose="02020603050405020304" pitchFamily="18" charset="0"/>
                <a:cs typeface="Times New Roman" panose="02020603050405020304" pitchFamily="18" charset="0"/>
              </a:rPr>
              <a:t>位</a:t>
            </a:r>
            <a:r>
              <a:rPr lang="en-US" altLang="zh-CN" sz="2400" b="1" smtClean="0">
                <a:latin typeface="Times New Roman" panose="02020603050405020304" pitchFamily="18" charset="0"/>
                <a:cs typeface="Times New Roman" panose="02020603050405020304" pitchFamily="18" charset="0"/>
              </a:rPr>
              <a:t>,   </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i="1" smtClean="0">
                <a:latin typeface="Times New Roman" panose="02020603050405020304" pitchFamily="18" charset="0"/>
                <a:cs typeface="Times New Roman" panose="02020603050405020304" pitchFamily="18" charset="0"/>
              </a:rPr>
              <a:t>                                     k</a:t>
            </a:r>
            <a:r>
              <a:rPr lang="en-US" altLang="zh-CN" sz="2400" b="1" smtClean="0">
                <a:latin typeface="Times New Roman" panose="02020603050405020304" pitchFamily="18" charset="0"/>
                <a:cs typeface="Times New Roman" panose="02020603050405020304" pitchFamily="18" charset="0"/>
              </a:rPr>
              <a:t>=</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log</a:t>
            </a:r>
            <a:r>
              <a:rPr lang="en-US" altLang="zh-CN" sz="2400" b="1" baseline="-25000" smtClean="0">
                <a:latin typeface="Times New Roman" panose="02020603050405020304" pitchFamily="18" charset="0"/>
                <a:cs typeface="Times New Roman" panose="02020603050405020304" pitchFamily="18" charset="0"/>
              </a:rPr>
              <a:t>2</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m</a:t>
            </a:r>
            <a:r>
              <a:rPr lang="en-US" altLang="zh-CN" sz="2400" b="1" smtClean="0">
                <a:latin typeface="Times New Roman" panose="02020603050405020304" pitchFamily="18" charset="0"/>
                <a:cs typeface="Times New Roman" panose="02020603050405020304" pitchFamily="18" charset="0"/>
              </a:rPr>
              <a:t>+1)</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 </a:t>
            </a:r>
            <a:endParaRPr lang="zh-CN" altLang="en-US" sz="2400" b="1"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1"/>
          <p:cNvSpPr>
            <a:spLocks noGrp="1"/>
          </p:cNvSpPr>
          <p:nvPr>
            <p:ph type="title"/>
          </p:nvPr>
        </p:nvSpPr>
        <p:spPr>
          <a:xfrm>
            <a:off x="465138" y="115888"/>
            <a:ext cx="8229600" cy="1143000"/>
          </a:xfrm>
        </p:spPr>
        <p:txBody>
          <a:bodyPr/>
          <a:lstStyle/>
          <a:p>
            <a:r>
              <a:rPr lang="zh-CN" altLang="en-US" sz="4000" b="1" smtClean="0">
                <a:solidFill>
                  <a:srgbClr val="C00000"/>
                </a:solidFill>
                <a:latin typeface="Times New Roman" panose="02020603050405020304" pitchFamily="18" charset="0"/>
                <a:cs typeface="Times New Roman" panose="02020603050405020304" pitchFamily="18" charset="0"/>
              </a:rPr>
              <a:t>证明</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52227" name="内容占位符 2"/>
          <p:cNvSpPr>
            <a:spLocks noGrp="1"/>
          </p:cNvSpPr>
          <p:nvPr>
            <p:ph idx="1"/>
          </p:nvPr>
        </p:nvSpPr>
        <p:spPr>
          <a:xfrm>
            <a:off x="465138" y="1258888"/>
            <a:ext cx="8229600" cy="4525962"/>
          </a:xfrm>
        </p:spPr>
        <p:txBody>
          <a:bodyPr/>
          <a:lstStyle/>
          <a:p>
            <a:pPr>
              <a:buFont typeface="Arial" panose="020B0604020202020204" pitchFamily="34" charset="0"/>
              <a:buNone/>
            </a:pPr>
            <a:r>
              <a:rPr lang="en-US" altLang="zh-CN" sz="2400" b="1" i="1" smtClean="0">
                <a:latin typeface="Times New Roman" panose="02020603050405020304" pitchFamily="18" charset="0"/>
                <a:cs typeface="Times New Roman" panose="02020603050405020304" pitchFamily="18" charset="0"/>
              </a:rPr>
              <a:t>N </a:t>
            </a:r>
            <a:r>
              <a:rPr lang="zh-CN" altLang="en-US" sz="2400" b="1" smtClean="0">
                <a:latin typeface="Times New Roman" panose="02020603050405020304" pitchFamily="18" charset="0"/>
                <a:cs typeface="Times New Roman" panose="02020603050405020304" pitchFamily="18" charset="0"/>
              </a:rPr>
              <a:t>的每一段的第一位 </a:t>
            </a:r>
            <a:r>
              <a:rPr lang="en-US" altLang="zh-CN" sz="2400" b="1" smtClean="0">
                <a:latin typeface="Times New Roman" panose="02020603050405020304" pitchFamily="18" charset="0"/>
                <a:cs typeface="Times New Roman" panose="02020603050405020304" pitchFamily="18" charset="0"/>
              </a:rPr>
              <a:t>(</a:t>
            </a:r>
            <a:r>
              <a:rPr lang="zh-CN" altLang="en-US" sz="2400" b="1" smtClean="0">
                <a:latin typeface="Times New Roman" panose="02020603050405020304" pitchFamily="18" charset="0"/>
                <a:cs typeface="Times New Roman" panose="02020603050405020304" pitchFamily="18" charset="0"/>
              </a:rPr>
              <a:t>最右的一位</a:t>
            </a:r>
            <a:r>
              <a:rPr lang="en-US" altLang="zh-CN" sz="2400" b="1" smtClean="0">
                <a:latin typeface="Times New Roman" panose="02020603050405020304" pitchFamily="18" charset="0"/>
                <a:cs typeface="Times New Roman" panose="02020603050405020304" pitchFamily="18" charset="0"/>
              </a:rPr>
              <a:t>)</a:t>
            </a:r>
            <a:r>
              <a:rPr lang="zh-CN" altLang="en-US" sz="2400" b="1" smtClean="0">
                <a:latin typeface="Times New Roman" panose="02020603050405020304" pitchFamily="18" charset="0"/>
                <a:cs typeface="Times New Roman" panose="02020603050405020304" pitchFamily="18" charset="0"/>
              </a:rPr>
              <a:t>为 </a:t>
            </a:r>
            <a:r>
              <a:rPr lang="en-US" altLang="zh-CN" sz="2400" b="1" smtClean="0">
                <a:latin typeface="Times New Roman" panose="02020603050405020304" pitchFamily="18" charset="0"/>
                <a:cs typeface="Times New Roman" panose="02020603050405020304" pitchFamily="18" charset="0"/>
              </a:rPr>
              <a:t>1, </a:t>
            </a:r>
            <a:r>
              <a:rPr lang="zh-CN" altLang="en-US" sz="2400" b="1" smtClean="0">
                <a:latin typeface="Times New Roman" panose="02020603050405020304" pitchFamily="18" charset="0"/>
                <a:cs typeface="Times New Roman" panose="02020603050405020304" pitchFamily="18" charset="0"/>
              </a:rPr>
              <a:t>其余的为 </a:t>
            </a:r>
            <a:r>
              <a:rPr lang="en-US" altLang="zh-CN" sz="2400" b="1" smtClean="0">
                <a:latin typeface="Times New Roman" panose="02020603050405020304" pitchFamily="18" charset="0"/>
                <a:cs typeface="Times New Roman" panose="02020603050405020304" pitchFamily="18" charset="0"/>
              </a:rPr>
              <a:t>0.  </a:t>
            </a:r>
            <a:r>
              <a:rPr lang="en-US" altLang="zh-CN" sz="2400" b="1" i="1" smtClean="0">
                <a:latin typeface="Times New Roman" panose="02020603050405020304" pitchFamily="18" charset="0"/>
                <a:cs typeface="Times New Roman" panose="02020603050405020304" pitchFamily="18" charset="0"/>
              </a:rPr>
              <a:t>x</a:t>
            </a:r>
            <a:r>
              <a:rPr lang="en-US" altLang="zh-CN" sz="2400" b="1" i="1" baseline="-25000" smtClean="0">
                <a:latin typeface="Times New Roman" panose="02020603050405020304" pitchFamily="18" charset="0"/>
                <a:cs typeface="Times New Roman" panose="02020603050405020304" pitchFamily="18" charset="0"/>
              </a:rPr>
              <a:t>j </a:t>
            </a:r>
            <a:r>
              <a:rPr lang="zh-CN" altLang="en-US" sz="2400" b="1" smtClean="0">
                <a:latin typeface="Times New Roman" panose="02020603050405020304" pitchFamily="18" charset="0"/>
                <a:cs typeface="Times New Roman" panose="02020603050405020304" pitchFamily="18" charset="0"/>
              </a:rPr>
              <a:t>对应</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于子集 </a:t>
            </a:r>
            <a:r>
              <a:rPr lang="en-US" altLang="zh-CN" sz="2400" b="1" i="1" smtClean="0">
                <a:latin typeface="Times New Roman" panose="02020603050405020304" pitchFamily="18" charset="0"/>
                <a:cs typeface="Times New Roman" panose="02020603050405020304" pitchFamily="18" charset="0"/>
              </a:rPr>
              <a:t>S</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当 </a:t>
            </a:r>
            <a:r>
              <a:rPr lang="en-US" altLang="zh-CN" sz="2400" b="1" i="1" smtClean="0">
                <a:latin typeface="Times New Roman" panose="02020603050405020304" pitchFamily="18" charset="0"/>
                <a:cs typeface="Times New Roman" panose="02020603050405020304" pitchFamily="18" charset="0"/>
              </a:rPr>
              <a:t>a</a:t>
            </a:r>
            <a:r>
              <a:rPr lang="en-US" altLang="zh-CN" sz="2400" b="1" i="1" baseline="-25000" smtClean="0">
                <a:latin typeface="Times New Roman" panose="02020603050405020304" pitchFamily="18" charset="0"/>
                <a:cs typeface="Times New Roman" panose="02020603050405020304" pitchFamily="18" charset="0"/>
              </a:rPr>
              <a:t>i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rPr>
              <a:t>S</a:t>
            </a:r>
            <a:r>
              <a:rPr lang="en-US" altLang="zh-CN" sz="2400" b="1" i="1" baseline="-25000" smtClean="0">
                <a:latin typeface="Times New Roman" panose="02020603050405020304" pitchFamily="18" charset="0"/>
                <a:cs typeface="Times New Roman" panose="02020603050405020304" pitchFamily="18" charset="0"/>
              </a:rPr>
              <a:t>j </a:t>
            </a:r>
            <a:r>
              <a:rPr lang="zh-CN" altLang="en-US" sz="2400" b="1" smtClean="0">
                <a:latin typeface="Times New Roman" panose="02020603050405020304" pitchFamily="18" charset="0"/>
                <a:cs typeface="Times New Roman" panose="02020603050405020304" pitchFamily="18" charset="0"/>
              </a:rPr>
              <a:t>时</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从左到右 </a:t>
            </a:r>
            <a:r>
              <a:rPr lang="en-US" altLang="zh-CN" sz="2400" b="1" i="1" smtClean="0">
                <a:latin typeface="Times New Roman" panose="02020603050405020304" pitchFamily="18" charset="0"/>
                <a:cs typeface="Times New Roman" panose="02020603050405020304" pitchFamily="18" charset="0"/>
              </a:rPr>
              <a:t>x</a:t>
            </a:r>
            <a:r>
              <a:rPr lang="en-US" altLang="zh-CN" sz="2400" b="1" i="1" baseline="-25000" smtClean="0">
                <a:latin typeface="Times New Roman" panose="02020603050405020304" pitchFamily="18" charset="0"/>
                <a:cs typeface="Times New Roman" panose="02020603050405020304" pitchFamily="18" charset="0"/>
              </a:rPr>
              <a:t>j </a:t>
            </a:r>
            <a:r>
              <a:rPr lang="zh-CN" altLang="en-US" sz="2400" b="1" smtClean="0">
                <a:latin typeface="Times New Roman" panose="02020603050405020304" pitchFamily="18" charset="0"/>
                <a:cs typeface="Times New Roman" panose="02020603050405020304" pitchFamily="18" charset="0"/>
              </a:rPr>
              <a:t>的第 </a:t>
            </a:r>
            <a:r>
              <a:rPr lang="en-US" altLang="zh-CN" sz="2400" b="1" i="1" smtClean="0">
                <a:latin typeface="Times New Roman" panose="02020603050405020304" pitchFamily="18" charset="0"/>
                <a:cs typeface="Times New Roman" panose="02020603050405020304" pitchFamily="18" charset="0"/>
              </a:rPr>
              <a:t>i </a:t>
            </a:r>
            <a:r>
              <a:rPr lang="zh-CN" altLang="en-US" sz="2400" b="1" smtClean="0">
                <a:latin typeface="Times New Roman" panose="02020603050405020304" pitchFamily="18" charset="0"/>
                <a:cs typeface="Times New Roman" panose="02020603050405020304" pitchFamily="18" charset="0"/>
              </a:rPr>
              <a:t>段的第一位为 </a:t>
            </a:r>
            <a:r>
              <a:rPr lang="en-US" altLang="zh-CN" sz="2400" b="1" smtClean="0">
                <a:latin typeface="Times New Roman" panose="02020603050405020304" pitchFamily="18" charset="0"/>
                <a:cs typeface="Times New Roman" panose="02020603050405020304" pitchFamily="18" charset="0"/>
              </a:rPr>
              <a:t>1, </a:t>
            </a:r>
            <a:r>
              <a:rPr lang="zh-CN" altLang="en-US" sz="2400" b="1" smtClean="0">
                <a:latin typeface="Times New Roman" panose="02020603050405020304" pitchFamily="18" charset="0"/>
                <a:cs typeface="Times New Roman" panose="02020603050405020304" pitchFamily="18" charset="0"/>
              </a:rPr>
              <a:t>其</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余的为 </a:t>
            </a:r>
            <a:r>
              <a:rPr lang="en-US" altLang="zh-CN" sz="2400" b="1" smtClean="0">
                <a:latin typeface="Times New Roman" panose="02020603050405020304" pitchFamily="18" charset="0"/>
                <a:cs typeface="Times New Roman" panose="02020603050405020304" pitchFamily="18" charset="0"/>
              </a:rPr>
              <a:t>0.   </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例如</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A</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a</a:t>
            </a:r>
            <a:r>
              <a:rPr lang="en-US" altLang="zh-CN" sz="2400" b="1" baseline="-25000" smtClean="0">
                <a:latin typeface="Times New Roman" panose="02020603050405020304" pitchFamily="18" charset="0"/>
                <a:cs typeface="Times New Roman" panose="02020603050405020304" pitchFamily="18" charset="0"/>
              </a:rPr>
              <a:t>1</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 a</a:t>
            </a:r>
            <a:r>
              <a:rPr lang="en-US" altLang="zh-CN" sz="2400" b="1" baseline="-25000" smtClean="0">
                <a:latin typeface="Times New Roman" panose="02020603050405020304" pitchFamily="18" charset="0"/>
                <a:cs typeface="Times New Roman" panose="02020603050405020304" pitchFamily="18" charset="0"/>
              </a:rPr>
              <a:t>2</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 a</a:t>
            </a:r>
            <a:r>
              <a:rPr lang="en-US" altLang="zh-CN" sz="2400" b="1" baseline="-25000" smtClean="0">
                <a:latin typeface="Times New Roman" panose="02020603050405020304" pitchFamily="18" charset="0"/>
                <a:cs typeface="Times New Roman" panose="02020603050405020304" pitchFamily="18" charset="0"/>
              </a:rPr>
              <a:t>3</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 a</a:t>
            </a:r>
            <a:r>
              <a:rPr lang="en-US" altLang="zh-CN" sz="2400" b="1" baseline="-25000" smtClean="0">
                <a:latin typeface="Times New Roman" panose="02020603050405020304" pitchFamily="18" charset="0"/>
                <a:cs typeface="Times New Roman" panose="02020603050405020304" pitchFamily="18" charset="0"/>
              </a:rPr>
              <a:t>4</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S</a:t>
            </a:r>
            <a:r>
              <a:rPr lang="en-US" altLang="zh-CN" sz="2400" b="1" baseline="-25000" smtClean="0">
                <a:latin typeface="Times New Roman" panose="02020603050405020304" pitchFamily="18" charset="0"/>
                <a:cs typeface="Times New Roman" panose="02020603050405020304" pitchFamily="18" charset="0"/>
              </a:rPr>
              <a:t>1</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a</a:t>
            </a:r>
            <a:r>
              <a:rPr lang="en-US" altLang="zh-CN" sz="2400" b="1" baseline="-25000" smtClean="0">
                <a:latin typeface="Times New Roman" panose="02020603050405020304" pitchFamily="18" charset="0"/>
                <a:cs typeface="Times New Roman" panose="02020603050405020304" pitchFamily="18" charset="0"/>
              </a:rPr>
              <a:t>1</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 a</a:t>
            </a:r>
            <a:r>
              <a:rPr lang="en-US" altLang="zh-CN" sz="2400" b="1" baseline="-25000" smtClean="0">
                <a:latin typeface="Times New Roman" panose="02020603050405020304" pitchFamily="18" charset="0"/>
                <a:cs typeface="Times New Roman" panose="02020603050405020304" pitchFamily="18" charset="0"/>
              </a:rPr>
              <a:t>2</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S</a:t>
            </a:r>
            <a:r>
              <a:rPr lang="en-US" altLang="zh-CN" sz="2400" b="1" baseline="-25000" smtClean="0">
                <a:latin typeface="Times New Roman" panose="02020603050405020304" pitchFamily="18" charset="0"/>
                <a:cs typeface="Times New Roman" panose="02020603050405020304" pitchFamily="18" charset="0"/>
              </a:rPr>
              <a:t>2</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a</a:t>
            </a:r>
            <a:r>
              <a:rPr lang="en-US" altLang="zh-CN" sz="2400" b="1" baseline="-25000" smtClean="0">
                <a:latin typeface="Times New Roman" panose="02020603050405020304" pitchFamily="18" charset="0"/>
                <a:cs typeface="Times New Roman" panose="02020603050405020304" pitchFamily="18" charset="0"/>
              </a:rPr>
              <a:t>1</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 a</a:t>
            </a:r>
            <a:r>
              <a:rPr lang="en-US" altLang="zh-CN" sz="2400" b="1" baseline="-25000" smtClean="0">
                <a:latin typeface="Times New Roman" panose="02020603050405020304" pitchFamily="18" charset="0"/>
                <a:cs typeface="Times New Roman" panose="02020603050405020304" pitchFamily="18" charset="0"/>
              </a:rPr>
              <a:t>3</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 a</a:t>
            </a:r>
            <a:r>
              <a:rPr lang="en-US" altLang="zh-CN" sz="2400" b="1" baseline="-25000" smtClean="0">
                <a:latin typeface="Times New Roman" panose="02020603050405020304" pitchFamily="18" charset="0"/>
                <a:cs typeface="Times New Roman" panose="02020603050405020304" pitchFamily="18" charset="0"/>
              </a:rPr>
              <a:t>4</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S</a:t>
            </a:r>
            <a:r>
              <a:rPr lang="en-US" altLang="zh-CN" sz="2400" b="1" baseline="-25000" smtClean="0">
                <a:latin typeface="Times New Roman" panose="02020603050405020304" pitchFamily="18" charset="0"/>
                <a:cs typeface="Times New Roman" panose="02020603050405020304" pitchFamily="18" charset="0"/>
              </a:rPr>
              <a:t>3</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a</a:t>
            </a:r>
            <a:r>
              <a:rPr lang="en-US" altLang="zh-CN" sz="2400" b="1" baseline="-25000" smtClean="0">
                <a:latin typeface="Times New Roman" panose="02020603050405020304" pitchFamily="18" charset="0"/>
                <a:cs typeface="Times New Roman" panose="02020603050405020304" pitchFamily="18" charset="0"/>
              </a:rPr>
              <a:t>2</a:t>
            </a:r>
            <a:r>
              <a:rPr lang="en-US" altLang="zh-CN" sz="2400" b="1" smtClean="0">
                <a:latin typeface="Times New Roman" panose="02020603050405020304" pitchFamily="18" charset="0"/>
                <a:cs typeface="Times New Roman" panose="02020603050405020304" pitchFamily="18" charset="0"/>
              </a:rPr>
              <a:t>}, </a:t>
            </a:r>
            <a:endParaRPr lang="en-US" altLang="zh-CN" sz="2400" b="1" smtClean="0">
              <a:latin typeface="Times New Roman" panose="02020603050405020304" pitchFamily="18" charset="0"/>
              <a:cs typeface="Times New Roman" panose="02020603050405020304" pitchFamily="18" charset="0"/>
            </a:endParaRPr>
          </a:p>
          <a:p>
            <a:pPr algn="ctr">
              <a:buFont typeface="Arial" panose="020B0604020202020204" pitchFamily="34" charset="0"/>
              <a:buNone/>
            </a:pPr>
            <a:r>
              <a:rPr lang="en-US" altLang="zh-CN" sz="2400" b="1" i="1" smtClean="0">
                <a:latin typeface="Times New Roman" panose="02020603050405020304" pitchFamily="18" charset="0"/>
                <a:cs typeface="Times New Roman" panose="02020603050405020304" pitchFamily="18" charset="0"/>
              </a:rPr>
              <a:t>N</a:t>
            </a:r>
            <a:r>
              <a:rPr lang="en-US" altLang="zh-CN" sz="2400" b="1" smtClean="0">
                <a:latin typeface="Times New Roman" panose="02020603050405020304" pitchFamily="18" charset="0"/>
                <a:cs typeface="Times New Roman" panose="02020603050405020304" pitchFamily="18" charset="0"/>
              </a:rPr>
              <a:t>=01010101,  </a:t>
            </a:r>
            <a:r>
              <a:rPr lang="en-US" altLang="zh-CN" sz="2400" b="1" i="1" smtClean="0">
                <a:latin typeface="Times New Roman" panose="02020603050405020304" pitchFamily="18" charset="0"/>
                <a:cs typeface="Times New Roman" panose="02020603050405020304" pitchFamily="18" charset="0"/>
              </a:rPr>
              <a:t>x</a:t>
            </a:r>
            <a:r>
              <a:rPr lang="en-US" altLang="zh-CN" sz="2400" b="1" baseline="-25000" smtClean="0">
                <a:latin typeface="Times New Roman" panose="02020603050405020304" pitchFamily="18" charset="0"/>
                <a:cs typeface="Times New Roman" panose="02020603050405020304" pitchFamily="18" charset="0"/>
              </a:rPr>
              <a:t>1</a:t>
            </a:r>
            <a:r>
              <a:rPr lang="en-US" altLang="zh-CN" sz="2400" b="1" smtClean="0">
                <a:latin typeface="Times New Roman" panose="02020603050405020304" pitchFamily="18" charset="0"/>
                <a:cs typeface="Times New Roman" panose="02020603050405020304" pitchFamily="18" charset="0"/>
              </a:rPr>
              <a:t>=01010000,  </a:t>
            </a:r>
            <a:r>
              <a:rPr lang="en-US" altLang="zh-CN" sz="2400" b="1" i="1" smtClean="0">
                <a:latin typeface="Times New Roman" panose="02020603050405020304" pitchFamily="18" charset="0"/>
                <a:cs typeface="Times New Roman" panose="02020603050405020304" pitchFamily="18" charset="0"/>
              </a:rPr>
              <a:t>x</a:t>
            </a:r>
            <a:r>
              <a:rPr lang="en-US" altLang="zh-CN" sz="2400" b="1" baseline="-25000" smtClean="0">
                <a:latin typeface="Times New Roman" panose="02020603050405020304" pitchFamily="18" charset="0"/>
                <a:cs typeface="Times New Roman" panose="02020603050405020304" pitchFamily="18" charset="0"/>
              </a:rPr>
              <a:t>2</a:t>
            </a:r>
            <a:r>
              <a:rPr lang="en-US" altLang="zh-CN" sz="2400" b="1" smtClean="0">
                <a:latin typeface="Times New Roman" panose="02020603050405020304" pitchFamily="18" charset="0"/>
                <a:cs typeface="Times New Roman" panose="02020603050405020304" pitchFamily="18" charset="0"/>
              </a:rPr>
              <a:t>=01000101,  </a:t>
            </a:r>
            <a:r>
              <a:rPr lang="en-US" altLang="zh-CN" sz="2400" b="1" i="1" smtClean="0">
                <a:latin typeface="Times New Roman" panose="02020603050405020304" pitchFamily="18" charset="0"/>
                <a:cs typeface="Times New Roman" panose="02020603050405020304" pitchFamily="18" charset="0"/>
              </a:rPr>
              <a:t>x</a:t>
            </a:r>
            <a:r>
              <a:rPr lang="en-US" altLang="zh-CN" sz="2400" b="1" baseline="-25000" smtClean="0">
                <a:latin typeface="Times New Roman" panose="02020603050405020304" pitchFamily="18" charset="0"/>
                <a:cs typeface="Times New Roman" panose="02020603050405020304" pitchFamily="18" charset="0"/>
              </a:rPr>
              <a:t>3</a:t>
            </a:r>
            <a:r>
              <a:rPr lang="en-US" altLang="zh-CN" sz="2400" b="1" smtClean="0">
                <a:latin typeface="Times New Roman" panose="02020603050405020304" pitchFamily="18" charset="0"/>
                <a:cs typeface="Times New Roman" panose="02020603050405020304" pitchFamily="18" charset="0"/>
              </a:rPr>
              <a:t>=00010000.</a:t>
            </a:r>
            <a:endParaRPr lang="zh-CN" altLang="en-US" sz="2400" b="1" smtClean="0">
              <a:latin typeface="Times New Roman" panose="02020603050405020304" pitchFamily="18" charset="0"/>
              <a:cs typeface="Times New Roman" panose="02020603050405020304" pitchFamily="18" charset="0"/>
            </a:endParaRPr>
          </a:p>
          <a:p>
            <a:pPr>
              <a:spcBef>
                <a:spcPts val="1200"/>
              </a:spcBef>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要证 </a:t>
            </a:r>
            <a:r>
              <a:rPr lang="en-US" altLang="zh-CN" sz="2400" b="1" i="1" smtClean="0">
                <a:latin typeface="Times New Roman" panose="02020603050405020304" pitchFamily="18" charset="0"/>
                <a:cs typeface="Times New Roman" panose="02020603050405020304" pitchFamily="18" charset="0"/>
              </a:rPr>
              <a:t>W </a:t>
            </a:r>
            <a:r>
              <a:rPr lang="zh-CN" altLang="en-US" sz="2400" b="1" smtClean="0">
                <a:latin typeface="Times New Roman" panose="02020603050405020304" pitchFamily="18" charset="0"/>
                <a:cs typeface="Times New Roman" panose="02020603050405020304" pitchFamily="18" charset="0"/>
              </a:rPr>
              <a:t>中有 </a:t>
            </a:r>
            <a:r>
              <a:rPr lang="en-US" altLang="zh-CN" sz="2400" b="1" i="1" smtClean="0">
                <a:latin typeface="Times New Roman" panose="02020603050405020304" pitchFamily="18" charset="0"/>
                <a:cs typeface="Times New Roman" panose="02020603050405020304" pitchFamily="18" charset="0"/>
              </a:rPr>
              <a:t>A </a:t>
            </a:r>
            <a:r>
              <a:rPr lang="zh-CN" altLang="en-US" sz="2400" b="1" smtClean="0">
                <a:latin typeface="Times New Roman" panose="02020603050405020304" pitchFamily="18" charset="0"/>
                <a:cs typeface="Times New Roman" panose="02020603050405020304" pitchFamily="18" charset="0"/>
              </a:rPr>
              <a:t>的恰好覆盖当且仅当存在子集 </a:t>
            </a:r>
            <a:r>
              <a:rPr lang="en-US" altLang="zh-CN" sz="2400" b="1" i="1" smtClean="0">
                <a:latin typeface="Times New Roman" panose="02020603050405020304" pitchFamily="18" charset="0"/>
                <a:cs typeface="Times New Roman" panose="02020603050405020304" pitchFamily="18" charset="0"/>
              </a:rPr>
              <a:t>T</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X </a:t>
            </a:r>
            <a:r>
              <a:rPr lang="zh-CN" altLang="en-US" sz="2400" b="1" smtClean="0">
                <a:latin typeface="Times New Roman" panose="02020603050405020304" pitchFamily="18" charset="0"/>
                <a:cs typeface="Times New Roman" panose="02020603050405020304" pitchFamily="18" charset="0"/>
              </a:rPr>
              <a:t>使得 </a:t>
            </a:r>
            <a:r>
              <a:rPr lang="en-US" altLang="zh-CN" sz="2400" b="1" i="1" smtClean="0">
                <a:latin typeface="Times New Roman" panose="02020603050405020304" pitchFamily="18" charset="0"/>
                <a:cs typeface="Times New Roman" panose="02020603050405020304" pitchFamily="18" charset="0"/>
              </a:rPr>
              <a:t>T </a:t>
            </a:r>
            <a:r>
              <a:rPr lang="zh-CN" altLang="en-US" sz="2400" b="1" smtClean="0">
                <a:latin typeface="Times New Roman" panose="02020603050405020304" pitchFamily="18" charset="0"/>
                <a:cs typeface="Times New Roman" panose="02020603050405020304" pitchFamily="18" charset="0"/>
              </a:rPr>
              <a:t>中</a:t>
            </a:r>
            <a:endParaRPr lang="en-US" altLang="zh-CN" sz="2400" b="1" smtClean="0">
              <a:latin typeface="Times New Roman" panose="02020603050405020304" pitchFamily="18" charset="0"/>
              <a:cs typeface="Times New Roman" panose="02020603050405020304" pitchFamily="18" charset="0"/>
            </a:endParaRPr>
          </a:p>
          <a:p>
            <a:pPr>
              <a:spcBef>
                <a:spcPts val="500"/>
              </a:spcBef>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元素之和等于 </a:t>
            </a:r>
            <a:r>
              <a:rPr lang="en-US" altLang="zh-CN" sz="2400" b="1" i="1" smtClean="0">
                <a:latin typeface="Times New Roman" panose="02020603050405020304" pitchFamily="18" charset="0"/>
                <a:cs typeface="Times New Roman" panose="02020603050405020304" pitchFamily="18" charset="0"/>
              </a:rPr>
              <a:t>N</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设 </a:t>
            </a:r>
            <a:r>
              <a:rPr lang="en-US" altLang="zh-CN" sz="2400" b="1" i="1" smtClean="0">
                <a:latin typeface="Times New Roman" panose="02020603050405020304" pitchFamily="18" charset="0"/>
                <a:cs typeface="Times New Roman" panose="02020603050405020304" pitchFamily="18" charset="0"/>
              </a:rPr>
              <a:t>U</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W </a:t>
            </a:r>
            <a:r>
              <a:rPr lang="zh-CN" altLang="en-US" sz="2400" b="1" smtClean="0">
                <a:latin typeface="Times New Roman" panose="02020603050405020304" pitchFamily="18" charset="0"/>
                <a:cs typeface="Times New Roman" panose="02020603050405020304" pitchFamily="18" charset="0"/>
              </a:rPr>
              <a:t>是 </a:t>
            </a:r>
            <a:r>
              <a:rPr lang="en-US" altLang="zh-CN" sz="2400" b="1" i="1" smtClean="0">
                <a:latin typeface="Times New Roman" panose="02020603050405020304" pitchFamily="18" charset="0"/>
                <a:cs typeface="Times New Roman" panose="02020603050405020304" pitchFamily="18" charset="0"/>
              </a:rPr>
              <a:t>A </a:t>
            </a:r>
            <a:r>
              <a:rPr lang="zh-CN" altLang="en-US" sz="2400" b="1" smtClean="0">
                <a:latin typeface="Times New Roman" panose="02020603050405020304" pitchFamily="18" charset="0"/>
                <a:cs typeface="Times New Roman" panose="02020603050405020304" pitchFamily="18" charset="0"/>
              </a:rPr>
              <a:t>的恰好覆盖</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令 </a:t>
            </a:r>
            <a:r>
              <a:rPr lang="en-US" altLang="zh-CN" sz="2400" b="1" i="1" smtClean="0">
                <a:latin typeface="Times New Roman" panose="02020603050405020304" pitchFamily="18" charset="0"/>
                <a:cs typeface="Times New Roman" panose="02020603050405020304" pitchFamily="18" charset="0"/>
              </a:rPr>
              <a:t>T</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x</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 | </a:t>
            </a:r>
            <a:r>
              <a:rPr lang="en-US" altLang="zh-CN" sz="2400" b="1" i="1" smtClean="0">
                <a:latin typeface="Times New Roman" panose="02020603050405020304" pitchFamily="18" charset="0"/>
                <a:cs typeface="Times New Roman" panose="02020603050405020304" pitchFamily="18" charset="0"/>
              </a:rPr>
              <a:t>S</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U</a:t>
            </a:r>
            <a:r>
              <a:rPr lang="en-US" altLang="zh-CN" sz="2400" b="1" smtClean="0">
                <a:latin typeface="Times New Roman" panose="02020603050405020304" pitchFamily="18" charset="0"/>
                <a:cs typeface="Times New Roman" panose="02020603050405020304" pitchFamily="18" charset="0"/>
              </a:rPr>
              <a:t>}. </a:t>
            </a:r>
            <a:endParaRPr lang="en-US" altLang="zh-CN" sz="2400" b="1" smtClean="0">
              <a:latin typeface="Times New Roman" panose="02020603050405020304" pitchFamily="18" charset="0"/>
              <a:cs typeface="Times New Roman" panose="02020603050405020304" pitchFamily="18" charset="0"/>
            </a:endParaRPr>
          </a:p>
          <a:p>
            <a:pPr>
              <a:spcBef>
                <a:spcPts val="500"/>
              </a:spcBef>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由于 </a:t>
            </a:r>
            <a:r>
              <a:rPr lang="en-US" altLang="zh-CN" sz="2400" b="1" i="1" smtClean="0">
                <a:latin typeface="Times New Roman" panose="02020603050405020304" pitchFamily="18" charset="0"/>
                <a:cs typeface="Times New Roman" panose="02020603050405020304" pitchFamily="18" charset="0"/>
              </a:rPr>
              <a:t>A </a:t>
            </a:r>
            <a:r>
              <a:rPr lang="zh-CN" altLang="en-US" sz="2400" b="1" smtClean="0">
                <a:latin typeface="Times New Roman" panose="02020603050405020304" pitchFamily="18" charset="0"/>
                <a:cs typeface="Times New Roman" panose="02020603050405020304" pitchFamily="18" charset="0"/>
              </a:rPr>
              <a:t>中的每一个元素在 </a:t>
            </a:r>
            <a:r>
              <a:rPr lang="en-US" altLang="zh-CN" sz="2400" b="1" i="1" smtClean="0">
                <a:latin typeface="Times New Roman" panose="02020603050405020304" pitchFamily="18" charset="0"/>
                <a:cs typeface="Times New Roman" panose="02020603050405020304" pitchFamily="18" charset="0"/>
              </a:rPr>
              <a:t>U </a:t>
            </a:r>
            <a:r>
              <a:rPr lang="zh-CN" altLang="en-US" sz="2400" b="1" smtClean="0">
                <a:latin typeface="Times New Roman" panose="02020603050405020304" pitchFamily="18" charset="0"/>
                <a:cs typeface="Times New Roman" panose="02020603050405020304" pitchFamily="18" charset="0"/>
              </a:rPr>
              <a:t>的所有 </a:t>
            </a:r>
            <a:r>
              <a:rPr lang="en-US" altLang="zh-CN" sz="2400" b="1" i="1" smtClean="0">
                <a:latin typeface="Times New Roman" panose="02020603050405020304" pitchFamily="18" charset="0"/>
                <a:cs typeface="Times New Roman" panose="02020603050405020304" pitchFamily="18" charset="0"/>
              </a:rPr>
              <a:t>S</a:t>
            </a:r>
            <a:r>
              <a:rPr lang="en-US" altLang="zh-CN" sz="2400" b="1" i="1" baseline="-25000" smtClean="0">
                <a:latin typeface="Times New Roman" panose="02020603050405020304" pitchFamily="18" charset="0"/>
                <a:cs typeface="Times New Roman" panose="02020603050405020304" pitchFamily="18" charset="0"/>
              </a:rPr>
              <a:t>j </a:t>
            </a:r>
            <a:r>
              <a:rPr lang="zh-CN" altLang="en-US" sz="2400" b="1" smtClean="0">
                <a:latin typeface="Times New Roman" panose="02020603050405020304" pitchFamily="18" charset="0"/>
                <a:cs typeface="Times New Roman" panose="02020603050405020304" pitchFamily="18" charset="0"/>
              </a:rPr>
              <a:t>中恰好出现一次</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故对</a:t>
            </a:r>
            <a:endParaRPr lang="en-US" altLang="zh-CN" sz="2400" b="1" smtClean="0">
              <a:latin typeface="Times New Roman" panose="02020603050405020304" pitchFamily="18" charset="0"/>
              <a:cs typeface="Times New Roman" panose="02020603050405020304" pitchFamily="18" charset="0"/>
            </a:endParaRPr>
          </a:p>
          <a:p>
            <a:pPr>
              <a:spcBef>
                <a:spcPts val="500"/>
              </a:spcBef>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于二进制数的每一段</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在 </a:t>
            </a:r>
            <a:r>
              <a:rPr lang="en-US" altLang="zh-CN" sz="2400" b="1" i="1" smtClean="0">
                <a:latin typeface="Times New Roman" panose="02020603050405020304" pitchFamily="18" charset="0"/>
                <a:cs typeface="Times New Roman" panose="02020603050405020304" pitchFamily="18" charset="0"/>
              </a:rPr>
              <a:t>T </a:t>
            </a:r>
            <a:r>
              <a:rPr lang="zh-CN" altLang="en-US" sz="2400" b="1" smtClean="0">
                <a:latin typeface="Times New Roman" panose="02020603050405020304" pitchFamily="18" charset="0"/>
                <a:cs typeface="Times New Roman" panose="02020603050405020304" pitchFamily="18" charset="0"/>
              </a:rPr>
              <a:t>的所有 </a:t>
            </a:r>
            <a:r>
              <a:rPr lang="en-US" altLang="zh-CN" sz="2400" b="1" i="1" smtClean="0">
                <a:latin typeface="Times New Roman" panose="02020603050405020304" pitchFamily="18" charset="0"/>
                <a:cs typeface="Times New Roman" panose="02020603050405020304" pitchFamily="18" charset="0"/>
              </a:rPr>
              <a:t>x</a:t>
            </a:r>
            <a:r>
              <a:rPr lang="en-US" altLang="zh-CN" sz="2400" b="1" i="1" baseline="-25000" smtClean="0">
                <a:latin typeface="Times New Roman" panose="02020603050405020304" pitchFamily="18" charset="0"/>
                <a:cs typeface="Times New Roman" panose="02020603050405020304" pitchFamily="18" charset="0"/>
              </a:rPr>
              <a:t>j </a:t>
            </a:r>
            <a:r>
              <a:rPr lang="zh-CN" altLang="en-US" sz="2400" b="1" smtClean="0">
                <a:latin typeface="Times New Roman" panose="02020603050405020304" pitchFamily="18" charset="0"/>
                <a:cs typeface="Times New Roman" panose="02020603050405020304" pitchFamily="18" charset="0"/>
              </a:rPr>
              <a:t>中恰好有一个的这一段</a:t>
            </a:r>
            <a:endParaRPr lang="en-US" altLang="zh-CN" sz="2400" b="1" smtClean="0">
              <a:latin typeface="Times New Roman" panose="02020603050405020304" pitchFamily="18" charset="0"/>
              <a:cs typeface="Times New Roman" panose="02020603050405020304" pitchFamily="18" charset="0"/>
            </a:endParaRPr>
          </a:p>
          <a:p>
            <a:pPr>
              <a:spcBef>
                <a:spcPts val="500"/>
              </a:spcBef>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为 </a:t>
            </a:r>
            <a:r>
              <a:rPr lang="en-US" altLang="zh-CN" sz="2400" b="1" smtClean="0">
                <a:latin typeface="Times New Roman" panose="02020603050405020304" pitchFamily="18" charset="0"/>
                <a:cs typeface="Times New Roman" panose="02020603050405020304" pitchFamily="18" charset="0"/>
              </a:rPr>
              <a:t>00</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01,  </a:t>
            </a:r>
            <a:r>
              <a:rPr lang="zh-CN" altLang="en-US" sz="2400" b="1" smtClean="0">
                <a:latin typeface="Times New Roman" panose="02020603050405020304" pitchFamily="18" charset="0"/>
                <a:cs typeface="Times New Roman" panose="02020603050405020304" pitchFamily="18" charset="0"/>
              </a:rPr>
              <a:t>从而 </a:t>
            </a:r>
            <a:r>
              <a:rPr lang="en-US" altLang="zh-CN" sz="2400" b="1" i="1" smtClean="0">
                <a:latin typeface="Times New Roman" panose="02020603050405020304" pitchFamily="18" charset="0"/>
                <a:cs typeface="Times New Roman" panose="02020603050405020304" pitchFamily="18" charset="0"/>
              </a:rPr>
              <a:t>T </a:t>
            </a:r>
            <a:r>
              <a:rPr lang="zh-CN" altLang="en-US" sz="2400" b="1" smtClean="0">
                <a:latin typeface="Times New Roman" panose="02020603050405020304" pitchFamily="18" charset="0"/>
                <a:cs typeface="Times New Roman" panose="02020603050405020304" pitchFamily="18" charset="0"/>
              </a:rPr>
              <a:t>中所有元素之和等于 </a:t>
            </a:r>
            <a:r>
              <a:rPr lang="en-US" altLang="zh-CN" sz="2400" b="1" i="1" smtClean="0">
                <a:latin typeface="Times New Roman" panose="02020603050405020304" pitchFamily="18" charset="0"/>
                <a:cs typeface="Times New Roman" panose="02020603050405020304" pitchFamily="18" charset="0"/>
              </a:rPr>
              <a:t>N</a:t>
            </a:r>
            <a:r>
              <a:rPr lang="en-US" altLang="zh-CN" sz="2400" b="1" smtClean="0">
                <a:latin typeface="Times New Roman" panose="02020603050405020304" pitchFamily="18" charset="0"/>
                <a:cs typeface="Times New Roman" panose="02020603050405020304" pitchFamily="18" charset="0"/>
              </a:rPr>
              <a:t>. </a:t>
            </a:r>
            <a:endParaRPr lang="zh-CN" altLang="en-US" sz="2400" b="1"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标题 1"/>
          <p:cNvSpPr>
            <a:spLocks noGrp="1"/>
          </p:cNvSpPr>
          <p:nvPr>
            <p:ph type="title"/>
          </p:nvPr>
        </p:nvSpPr>
        <p:spPr>
          <a:xfrm>
            <a:off x="250825" y="115888"/>
            <a:ext cx="8229600" cy="1143000"/>
          </a:xfrm>
        </p:spPr>
        <p:txBody>
          <a:bodyPr/>
          <a:lstStyle/>
          <a:p>
            <a:r>
              <a:rPr lang="zh-CN" altLang="en-US" sz="4000" b="1" smtClean="0">
                <a:solidFill>
                  <a:srgbClr val="C00000"/>
                </a:solidFill>
                <a:latin typeface="Times New Roman" panose="02020603050405020304" pitchFamily="18" charset="0"/>
                <a:cs typeface="Times New Roman" panose="02020603050405020304" pitchFamily="18" charset="0"/>
              </a:rPr>
              <a:t>证明</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53251" name="内容占位符 2"/>
          <p:cNvSpPr>
            <a:spLocks noGrp="1"/>
          </p:cNvSpPr>
          <p:nvPr>
            <p:ph idx="1"/>
          </p:nvPr>
        </p:nvSpPr>
        <p:spPr>
          <a:xfrm>
            <a:off x="457200" y="1443038"/>
            <a:ext cx="8229600" cy="4525962"/>
          </a:xfrm>
        </p:spPr>
        <p:txBody>
          <a:bodyPr/>
          <a:lstStyle/>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反过来</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设 </a:t>
            </a:r>
            <a:r>
              <a:rPr lang="en-US" altLang="zh-CN" sz="2400" b="1" i="1" smtClean="0">
                <a:latin typeface="Times New Roman" panose="02020603050405020304" pitchFamily="18" charset="0"/>
                <a:cs typeface="Times New Roman" panose="02020603050405020304" pitchFamily="18" charset="0"/>
              </a:rPr>
              <a:t>X </a:t>
            </a:r>
            <a:r>
              <a:rPr lang="zh-CN" altLang="en-US" sz="2400" b="1" smtClean="0">
                <a:latin typeface="Times New Roman" panose="02020603050405020304" pitchFamily="18" charset="0"/>
                <a:cs typeface="Times New Roman" panose="02020603050405020304" pitchFamily="18" charset="0"/>
              </a:rPr>
              <a:t>的子集 </a:t>
            </a:r>
            <a:r>
              <a:rPr lang="en-US" altLang="zh-CN" sz="2400" b="1" i="1" smtClean="0">
                <a:latin typeface="Times New Roman" panose="02020603050405020304" pitchFamily="18" charset="0"/>
                <a:cs typeface="Times New Roman" panose="02020603050405020304" pitchFamily="18" charset="0"/>
              </a:rPr>
              <a:t>T </a:t>
            </a:r>
            <a:r>
              <a:rPr lang="zh-CN" altLang="en-US" sz="2400" b="1" smtClean="0">
                <a:latin typeface="Times New Roman" panose="02020603050405020304" pitchFamily="18" charset="0"/>
                <a:cs typeface="Times New Roman" panose="02020603050405020304" pitchFamily="18" charset="0"/>
              </a:rPr>
              <a:t>中元素之和等于 </a:t>
            </a:r>
            <a:r>
              <a:rPr lang="en-US" altLang="zh-CN" sz="2400" b="1" i="1" smtClean="0">
                <a:latin typeface="Times New Roman" panose="02020603050405020304" pitchFamily="18" charset="0"/>
                <a:cs typeface="Times New Roman" panose="02020603050405020304" pitchFamily="18" charset="0"/>
              </a:rPr>
              <a:t>N</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令</a:t>
            </a:r>
            <a:r>
              <a:rPr lang="en-US" altLang="zh-CN" sz="2400" b="1" i="1" smtClean="0">
                <a:latin typeface="Times New Roman" panose="02020603050405020304" pitchFamily="18" charset="0"/>
                <a:cs typeface="Times New Roman" panose="02020603050405020304" pitchFamily="18" charset="0"/>
              </a:rPr>
              <a:t>U </a:t>
            </a:r>
            <a:r>
              <a:rPr lang="en-US" altLang="zh-CN" sz="2400" b="1" smtClean="0">
                <a:latin typeface="Times New Roman" panose="02020603050405020304" pitchFamily="18" charset="0"/>
                <a:cs typeface="Times New Roman" panose="02020603050405020304" pitchFamily="18" charset="0"/>
              </a:rPr>
              <a:t>= { </a:t>
            </a:r>
            <a:r>
              <a:rPr lang="en-US" altLang="zh-CN" sz="2400" b="1" i="1" smtClean="0">
                <a:latin typeface="Times New Roman" panose="02020603050405020304" pitchFamily="18" charset="0"/>
                <a:cs typeface="Times New Roman" panose="02020603050405020304" pitchFamily="18" charset="0"/>
              </a:rPr>
              <a:t>S</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rPr>
              <a:t> | </a:t>
            </a:r>
            <a:r>
              <a:rPr lang="en-US" altLang="zh-CN" sz="2400" b="1" i="1" smtClean="0">
                <a:latin typeface="Times New Roman" panose="02020603050405020304" pitchFamily="18" charset="0"/>
                <a:cs typeface="Times New Roman" panose="02020603050405020304" pitchFamily="18" charset="0"/>
              </a:rPr>
              <a:t>x</a:t>
            </a:r>
            <a:r>
              <a:rPr lang="en-US" altLang="zh-CN" sz="2400" b="1" i="1" baseline="-25000" smtClean="0">
                <a:latin typeface="Times New Roman" panose="02020603050405020304" pitchFamily="18" charset="0"/>
                <a:cs typeface="Times New Roman" panose="02020603050405020304" pitchFamily="18" charset="0"/>
              </a:rPr>
              <a:t>j</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T </a:t>
            </a:r>
            <a:r>
              <a:rPr lang="en-US" altLang="zh-CN" sz="2400" b="1" smtClean="0">
                <a:latin typeface="Times New Roman" panose="02020603050405020304" pitchFamily="18" charset="0"/>
                <a:cs typeface="Times New Roman" panose="02020603050405020304" pitchFamily="18" charset="0"/>
              </a:rPr>
              <a:t>}. </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i="1" smtClean="0">
                <a:latin typeface="Times New Roman" panose="02020603050405020304" pitchFamily="18" charset="0"/>
                <a:cs typeface="Times New Roman" panose="02020603050405020304" pitchFamily="18" charset="0"/>
              </a:rPr>
              <a:t>T </a:t>
            </a:r>
            <a:r>
              <a:rPr lang="zh-CN" altLang="en-US" sz="2400" b="1" smtClean="0">
                <a:latin typeface="Times New Roman" panose="02020603050405020304" pitchFamily="18" charset="0"/>
                <a:cs typeface="Times New Roman" panose="02020603050405020304" pitchFamily="18" charset="0"/>
              </a:rPr>
              <a:t>中至多有 </a:t>
            </a:r>
            <a:r>
              <a:rPr lang="en-US" altLang="zh-CN" sz="2400" b="1" i="1" smtClean="0">
                <a:latin typeface="Times New Roman" panose="02020603050405020304" pitchFamily="18" charset="0"/>
                <a:cs typeface="Times New Roman" panose="02020603050405020304" pitchFamily="18" charset="0"/>
              </a:rPr>
              <a:t>m </a:t>
            </a:r>
            <a:r>
              <a:rPr lang="zh-CN" altLang="en-US" sz="2400" b="1" smtClean="0">
                <a:latin typeface="Times New Roman" panose="02020603050405020304" pitchFamily="18" charset="0"/>
                <a:cs typeface="Times New Roman" panose="02020603050405020304" pitchFamily="18" charset="0"/>
              </a:rPr>
              <a:t>个数</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每一段有 </a:t>
            </a:r>
            <a:r>
              <a:rPr lang="en-US" altLang="zh-CN" sz="2400" b="1" i="1" smtClean="0">
                <a:latin typeface="Times New Roman" panose="02020603050405020304" pitchFamily="18" charset="0"/>
                <a:cs typeface="Times New Roman" panose="02020603050405020304" pitchFamily="18" charset="0"/>
              </a:rPr>
              <a:t>k </a:t>
            </a:r>
            <a:r>
              <a:rPr lang="en-US" altLang="zh-CN" sz="2400" b="1" smtClean="0">
                <a:latin typeface="Times New Roman" panose="02020603050405020304" pitchFamily="18" charset="0"/>
                <a:cs typeface="Times New Roman" panose="02020603050405020304" pitchFamily="18" charset="0"/>
              </a:rPr>
              <a:t>=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log</a:t>
            </a:r>
            <a:r>
              <a:rPr lang="en-US" altLang="zh-CN" sz="2400" b="1" baseline="-25000" smtClean="0">
                <a:latin typeface="Times New Roman" panose="02020603050405020304" pitchFamily="18" charset="0"/>
                <a:cs typeface="Times New Roman" panose="02020603050405020304" pitchFamily="18" charset="0"/>
              </a:rPr>
              <a:t>2</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m</a:t>
            </a:r>
            <a:r>
              <a:rPr lang="en-US" altLang="zh-CN" sz="2400" b="1" smtClean="0">
                <a:latin typeface="Times New Roman" panose="02020603050405020304" pitchFamily="18" charset="0"/>
                <a:cs typeface="Times New Roman" panose="02020603050405020304" pitchFamily="18" charset="0"/>
              </a:rPr>
              <a:t>+1)</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smtClean="0">
                <a:latin typeface="Times New Roman" panose="02020603050405020304" pitchFamily="18" charset="0"/>
                <a:cs typeface="Times New Roman" panose="02020603050405020304" pitchFamily="18" charset="0"/>
              </a:rPr>
              <a:t>位</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最大值为 </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2</a:t>
            </a:r>
            <a:r>
              <a:rPr lang="en-US" altLang="zh-CN" sz="2400" b="1" i="1" baseline="30000" smtClean="0">
                <a:latin typeface="Times New Roman" panose="02020603050405020304" pitchFamily="18" charset="0"/>
                <a:cs typeface="Times New Roman" panose="02020603050405020304" pitchFamily="18" charset="0"/>
              </a:rPr>
              <a:t>k</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1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rPr>
              <a:t>m</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故 </a:t>
            </a:r>
            <a:r>
              <a:rPr lang="en-US" altLang="zh-CN" sz="2400" b="1" i="1" smtClean="0">
                <a:latin typeface="Times New Roman" panose="02020603050405020304" pitchFamily="18" charset="0"/>
                <a:cs typeface="Times New Roman" panose="02020603050405020304" pitchFamily="18" charset="0"/>
              </a:rPr>
              <a:t>T </a:t>
            </a:r>
            <a:r>
              <a:rPr lang="zh-CN" altLang="en-US" sz="2400" b="1" smtClean="0">
                <a:latin typeface="Times New Roman" panose="02020603050405020304" pitchFamily="18" charset="0"/>
                <a:cs typeface="Times New Roman" panose="02020603050405020304" pitchFamily="18" charset="0"/>
              </a:rPr>
              <a:t>中的数相加时不会出现段之间的进位</a:t>
            </a:r>
            <a:r>
              <a:rPr lang="en-US" altLang="zh-CN" sz="2400" b="1" smtClean="0">
                <a:latin typeface="Times New Roman" panose="02020603050405020304" pitchFamily="18" charset="0"/>
                <a:cs typeface="Times New Roman" panose="02020603050405020304" pitchFamily="18" charset="0"/>
              </a:rPr>
              <a:t>. </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对于每一段</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在</a:t>
            </a:r>
            <a:r>
              <a:rPr lang="en-US" altLang="zh-CN" sz="2400" b="1" i="1" smtClean="0">
                <a:latin typeface="Times New Roman" panose="02020603050405020304" pitchFamily="18" charset="0"/>
                <a:cs typeface="Times New Roman" panose="02020603050405020304" pitchFamily="18" charset="0"/>
              </a:rPr>
              <a:t>T </a:t>
            </a:r>
            <a:r>
              <a:rPr lang="zh-CN" altLang="en-US" sz="2400" b="1" smtClean="0">
                <a:latin typeface="Times New Roman" panose="02020603050405020304" pitchFamily="18" charset="0"/>
                <a:cs typeface="Times New Roman" panose="02020603050405020304" pitchFamily="18" charset="0"/>
              </a:rPr>
              <a:t>的所有 </a:t>
            </a:r>
            <a:r>
              <a:rPr lang="en-US" altLang="zh-CN" sz="2400" b="1" i="1" smtClean="0">
                <a:latin typeface="Times New Roman" panose="02020603050405020304" pitchFamily="18" charset="0"/>
                <a:cs typeface="Times New Roman" panose="02020603050405020304" pitchFamily="18" charset="0"/>
              </a:rPr>
              <a:t>x</a:t>
            </a:r>
            <a:r>
              <a:rPr lang="en-US" altLang="zh-CN" sz="2400" b="1" i="1" baseline="-25000" smtClean="0">
                <a:latin typeface="Times New Roman" panose="02020603050405020304" pitchFamily="18" charset="0"/>
                <a:cs typeface="Times New Roman" panose="02020603050405020304" pitchFamily="18" charset="0"/>
              </a:rPr>
              <a:t>j </a:t>
            </a:r>
            <a:r>
              <a:rPr lang="zh-CN" altLang="en-US" sz="2400" b="1" smtClean="0">
                <a:latin typeface="Times New Roman" panose="02020603050405020304" pitchFamily="18" charset="0"/>
                <a:cs typeface="Times New Roman" panose="02020603050405020304" pitchFamily="18" charset="0"/>
              </a:rPr>
              <a:t>中恰好有一个的这一段为 </a:t>
            </a:r>
            <a:r>
              <a:rPr lang="en-US" altLang="zh-CN" sz="2400" b="1" smtClean="0">
                <a:latin typeface="Times New Roman" panose="02020603050405020304" pitchFamily="18" charset="0"/>
                <a:cs typeface="Times New Roman" panose="02020603050405020304" pitchFamily="18" charset="0"/>
              </a:rPr>
              <a:t>00</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smtClean="0">
                <a:latin typeface="Times New Roman" panose="02020603050405020304" pitchFamily="18" charset="0"/>
                <a:cs typeface="Times New Roman" panose="02020603050405020304" pitchFamily="18" charset="0"/>
              </a:rPr>
              <a:t>01, </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这意味着每一个 </a:t>
            </a:r>
            <a:r>
              <a:rPr lang="en-US" altLang="zh-CN" sz="2400" b="1" i="1" smtClean="0">
                <a:latin typeface="Times New Roman" panose="02020603050405020304" pitchFamily="18" charset="0"/>
                <a:cs typeface="Times New Roman" panose="02020603050405020304" pitchFamily="18" charset="0"/>
              </a:rPr>
              <a:t>a</a:t>
            </a:r>
            <a:r>
              <a:rPr lang="en-US" altLang="zh-CN" sz="2400" b="1" i="1" baseline="-25000" smtClean="0">
                <a:latin typeface="Times New Roman" panose="02020603050405020304" pitchFamily="18" charset="0"/>
                <a:cs typeface="Times New Roman" panose="02020603050405020304" pitchFamily="18" charset="0"/>
              </a:rPr>
              <a:t>i </a:t>
            </a:r>
            <a:r>
              <a:rPr lang="zh-CN" altLang="en-US" sz="2400" b="1" smtClean="0">
                <a:latin typeface="Times New Roman" panose="02020603050405020304" pitchFamily="18" charset="0"/>
                <a:cs typeface="Times New Roman" panose="02020603050405020304" pitchFamily="18" charset="0"/>
              </a:rPr>
              <a:t>在 </a:t>
            </a:r>
            <a:r>
              <a:rPr lang="en-US" altLang="zh-CN" sz="2400" b="1" i="1" smtClean="0">
                <a:latin typeface="Times New Roman" panose="02020603050405020304" pitchFamily="18" charset="0"/>
                <a:cs typeface="Times New Roman" panose="02020603050405020304" pitchFamily="18" charset="0"/>
              </a:rPr>
              <a:t>U </a:t>
            </a:r>
            <a:r>
              <a:rPr lang="zh-CN" altLang="en-US" sz="2400" b="1" smtClean="0">
                <a:latin typeface="Times New Roman" panose="02020603050405020304" pitchFamily="18" charset="0"/>
                <a:cs typeface="Times New Roman" panose="02020603050405020304" pitchFamily="18" charset="0"/>
              </a:rPr>
              <a:t>的所有 </a:t>
            </a:r>
            <a:r>
              <a:rPr lang="en-US" altLang="zh-CN" sz="2400" b="1" i="1" smtClean="0">
                <a:latin typeface="Times New Roman" panose="02020603050405020304" pitchFamily="18" charset="0"/>
                <a:cs typeface="Times New Roman" panose="02020603050405020304" pitchFamily="18" charset="0"/>
              </a:rPr>
              <a:t>S</a:t>
            </a:r>
            <a:r>
              <a:rPr lang="en-US" altLang="zh-CN" sz="2400" b="1" i="1" baseline="-25000" smtClean="0">
                <a:latin typeface="Times New Roman" panose="02020603050405020304" pitchFamily="18" charset="0"/>
                <a:cs typeface="Times New Roman" panose="02020603050405020304" pitchFamily="18" charset="0"/>
              </a:rPr>
              <a:t>j </a:t>
            </a:r>
            <a:r>
              <a:rPr lang="zh-CN" altLang="en-US" sz="2400" b="1" smtClean="0">
                <a:latin typeface="Times New Roman" panose="02020603050405020304" pitchFamily="18" charset="0"/>
                <a:cs typeface="Times New Roman" panose="02020603050405020304" pitchFamily="18" charset="0"/>
              </a:rPr>
              <a:t>中恰好出现一次</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即 </a:t>
            </a:r>
            <a:r>
              <a:rPr lang="en-US" altLang="zh-CN" sz="2400" b="1" i="1" smtClean="0">
                <a:latin typeface="Times New Roman" panose="02020603050405020304" pitchFamily="18" charset="0"/>
                <a:cs typeface="Times New Roman" panose="02020603050405020304" pitchFamily="18" charset="0"/>
              </a:rPr>
              <a:t>U </a:t>
            </a:r>
            <a:r>
              <a:rPr lang="zh-CN" altLang="en-US" sz="2400" b="1" smtClean="0">
                <a:latin typeface="Times New Roman" panose="02020603050405020304" pitchFamily="18" charset="0"/>
                <a:cs typeface="Times New Roman" panose="02020603050405020304" pitchFamily="18" charset="0"/>
              </a:rPr>
              <a:t>是 </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i="1" smtClean="0">
                <a:latin typeface="Times New Roman" panose="02020603050405020304" pitchFamily="18" charset="0"/>
                <a:cs typeface="Times New Roman" panose="02020603050405020304" pitchFamily="18" charset="0"/>
              </a:rPr>
              <a:t>A </a:t>
            </a:r>
            <a:r>
              <a:rPr lang="zh-CN" altLang="en-US" sz="2400" b="1" smtClean="0">
                <a:latin typeface="Times New Roman" panose="02020603050405020304" pitchFamily="18" charset="0"/>
                <a:cs typeface="Times New Roman" panose="02020603050405020304" pitchFamily="18" charset="0"/>
              </a:rPr>
              <a:t>的恰好覆盖</a:t>
            </a:r>
            <a:r>
              <a:rPr lang="en-US" altLang="zh-CN" sz="2400" b="1" smtClean="0">
                <a:latin typeface="Times New Roman" panose="02020603050405020304" pitchFamily="18" charset="0"/>
                <a:cs typeface="Times New Roman" panose="02020603050405020304" pitchFamily="18" charset="0"/>
              </a:rPr>
              <a:t>.    </a:t>
            </a:r>
            <a:endParaRPr lang="zh-CN" altLang="en-US" sz="2400" b="1" smtClean="0">
              <a:latin typeface="Times New Roman" panose="02020603050405020304" pitchFamily="18" charset="0"/>
              <a:cs typeface="Times New Roman" panose="02020603050405020304" pitchFamily="18" charset="0"/>
            </a:endParaRPr>
          </a:p>
          <a:p>
            <a:pPr>
              <a:spcBef>
                <a:spcPts val="1800"/>
              </a:spcBef>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构造 </a:t>
            </a:r>
            <a:r>
              <a:rPr lang="en-US" altLang="zh-CN" sz="2400" b="1" i="1" smtClean="0">
                <a:latin typeface="Times New Roman" panose="02020603050405020304" pitchFamily="18" charset="0"/>
                <a:cs typeface="Times New Roman" panose="02020603050405020304" pitchFamily="18" charset="0"/>
              </a:rPr>
              <a:t>X </a:t>
            </a:r>
            <a:r>
              <a:rPr lang="zh-CN" altLang="en-US" sz="2400" b="1" smtClean="0">
                <a:latin typeface="Times New Roman" panose="02020603050405020304" pitchFamily="18" charset="0"/>
                <a:cs typeface="Times New Roman" panose="02020603050405020304" pitchFamily="18" charset="0"/>
              </a:rPr>
              <a:t>和 </a:t>
            </a:r>
            <a:r>
              <a:rPr lang="en-US" altLang="zh-CN" sz="2400" b="1" i="1" smtClean="0">
                <a:latin typeface="Times New Roman" panose="02020603050405020304" pitchFamily="18" charset="0"/>
                <a:cs typeface="Times New Roman" panose="02020603050405020304" pitchFamily="18" charset="0"/>
              </a:rPr>
              <a:t>N </a:t>
            </a:r>
            <a:r>
              <a:rPr lang="zh-CN" altLang="en-US" sz="2400" b="1" smtClean="0">
                <a:latin typeface="Times New Roman" panose="02020603050405020304" pitchFamily="18" charset="0"/>
                <a:cs typeface="Times New Roman" panose="02020603050405020304" pitchFamily="18" charset="0"/>
              </a:rPr>
              <a:t>显然可以在多项式时间内完成</a:t>
            </a:r>
            <a:r>
              <a:rPr lang="en-US" altLang="zh-CN" sz="2400" b="1" smtClean="0">
                <a:latin typeface="Times New Roman" panose="02020603050405020304" pitchFamily="18" charset="0"/>
                <a:cs typeface="Times New Roman" panose="02020603050405020304" pitchFamily="18" charset="0"/>
              </a:rPr>
              <a:t>.   </a:t>
            </a:r>
            <a:endParaRPr lang="en-US" altLang="zh-CN" sz="2400" b="1"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p:cNvSpPr>
            <a:spLocks noGrp="1"/>
          </p:cNvSpPr>
          <p:nvPr>
            <p:ph type="title"/>
          </p:nvPr>
        </p:nvSpPr>
        <p:spPr/>
        <p:txBody>
          <a:bodyPr/>
          <a:lstStyle/>
          <a:p>
            <a:r>
              <a:rPr lang="en-US" altLang="zh-CN" sz="4000" b="1" smtClean="0">
                <a:solidFill>
                  <a:srgbClr val="C00000"/>
                </a:solidFill>
                <a:latin typeface="Times New Roman" panose="02020603050405020304" pitchFamily="18" charset="0"/>
                <a:cs typeface="Times New Roman" panose="02020603050405020304" pitchFamily="18" charset="0"/>
              </a:rPr>
              <a:t>0-1</a:t>
            </a:r>
            <a:r>
              <a:rPr lang="zh-CN" altLang="en-US" sz="4000" b="1" smtClean="0">
                <a:solidFill>
                  <a:srgbClr val="C00000"/>
                </a:solidFill>
                <a:latin typeface="Times New Roman" panose="02020603050405020304" pitchFamily="18" charset="0"/>
                <a:cs typeface="Times New Roman" panose="02020603050405020304" pitchFamily="18" charset="0"/>
              </a:rPr>
              <a:t>背包与伪多项式时间算法</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54275" name="内容占位符 2"/>
          <p:cNvSpPr>
            <a:spLocks noGrp="1"/>
          </p:cNvSpPr>
          <p:nvPr>
            <p:ph idx="1"/>
          </p:nvPr>
        </p:nvSpPr>
        <p:spPr/>
        <p:txBody>
          <a:bodyPr/>
          <a:lstStyle/>
          <a:p>
            <a:pPr>
              <a:buFont typeface="Arial" panose="020B0604020202020204" pitchFamily="34" charset="0"/>
              <a:buNone/>
            </a:pPr>
            <a:r>
              <a:rPr lang="zh-CN" altLang="en-US" sz="2400" b="1" smtClean="0">
                <a:solidFill>
                  <a:srgbClr val="C00000"/>
                </a:solidFill>
                <a:latin typeface="Times New Roman" panose="02020603050405020304" pitchFamily="18" charset="0"/>
                <a:cs typeface="Times New Roman" panose="02020603050405020304" pitchFamily="18" charset="0"/>
              </a:rPr>
              <a:t>定理 </a:t>
            </a:r>
            <a:r>
              <a:rPr lang="en-US" altLang="zh-CN" sz="2400" b="1" smtClean="0">
                <a:solidFill>
                  <a:srgbClr val="C00000"/>
                </a:solidFill>
                <a:latin typeface="Times New Roman" panose="02020603050405020304" pitchFamily="18" charset="0"/>
                <a:cs typeface="Times New Roman" panose="02020603050405020304" pitchFamily="18" charset="0"/>
              </a:rPr>
              <a:t>9.17</a:t>
            </a:r>
            <a:r>
              <a:rPr lang="en-US" altLang="zh-CN" sz="2400" b="1" smtClean="0">
                <a:latin typeface="Times New Roman" panose="02020603050405020304" pitchFamily="18" charset="0"/>
                <a:cs typeface="Times New Roman" panose="02020603050405020304" pitchFamily="18" charset="0"/>
              </a:rPr>
              <a:t>  0-1</a:t>
            </a:r>
            <a:r>
              <a:rPr lang="zh-CN" altLang="en-US" sz="2400" b="1" smtClean="0">
                <a:latin typeface="Times New Roman" panose="02020603050405020304" pitchFamily="18" charset="0"/>
                <a:cs typeface="Times New Roman" panose="02020603050405020304" pitchFamily="18" charset="0"/>
              </a:rPr>
              <a:t>背包是 </a:t>
            </a:r>
            <a:r>
              <a:rPr lang="en-US" altLang="zh-CN" sz="2400" b="1" smtClean="0">
                <a:latin typeface="Times New Roman" panose="02020603050405020304" pitchFamily="18" charset="0"/>
                <a:cs typeface="Times New Roman" panose="02020603050405020304" pitchFamily="18" charset="0"/>
              </a:rPr>
              <a:t>NP</a:t>
            </a:r>
            <a:r>
              <a:rPr lang="zh-CN" altLang="en-US" sz="2400" b="1" smtClean="0">
                <a:latin typeface="Times New Roman" panose="02020603050405020304" pitchFamily="18" charset="0"/>
                <a:cs typeface="Times New Roman" panose="02020603050405020304" pitchFamily="18" charset="0"/>
              </a:rPr>
              <a:t>完全的</a:t>
            </a:r>
            <a:r>
              <a:rPr lang="en-US" altLang="zh-CN" sz="2400" b="1" smtClean="0">
                <a:latin typeface="Times New Roman" panose="02020603050405020304" pitchFamily="18" charset="0"/>
                <a:cs typeface="Times New Roman" panose="02020603050405020304" pitchFamily="18" charset="0"/>
              </a:rPr>
              <a:t>.</a:t>
            </a:r>
            <a:endParaRPr lang="zh-CN" altLang="en-US"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solidFill>
                  <a:srgbClr val="C00000"/>
                </a:solidFill>
                <a:latin typeface="Times New Roman" panose="02020603050405020304" pitchFamily="18" charset="0"/>
                <a:cs typeface="Times New Roman" panose="02020603050405020304" pitchFamily="18" charset="0"/>
              </a:rPr>
              <a:t>注意</a:t>
            </a:r>
            <a:r>
              <a:rPr lang="en-US" altLang="zh-CN" sz="2400" b="1" smtClean="0">
                <a:latin typeface="Times New Roman" panose="02020603050405020304" pitchFamily="18" charset="0"/>
                <a:cs typeface="Times New Roman" panose="02020603050405020304" pitchFamily="18" charset="0"/>
              </a:rPr>
              <a:t>: 0-1</a:t>
            </a:r>
            <a:r>
              <a:rPr lang="zh-CN" altLang="en-US" sz="2400" b="1" smtClean="0">
                <a:latin typeface="Times New Roman" panose="02020603050405020304" pitchFamily="18" charset="0"/>
                <a:cs typeface="Times New Roman" panose="02020603050405020304" pitchFamily="18" charset="0"/>
              </a:rPr>
              <a:t>背包问题优化形式的动态规划算法</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其时间复杂度</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为 </a:t>
            </a:r>
            <a:r>
              <a:rPr lang="en-US" altLang="zh-CN" sz="2400" b="1" i="1" smtClean="0">
                <a:latin typeface="Times New Roman" panose="02020603050405020304" pitchFamily="18" charset="0"/>
                <a:cs typeface="Times New Roman" panose="02020603050405020304" pitchFamily="18" charset="0"/>
              </a:rPr>
              <a:t>O</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nB</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其中 </a:t>
            </a:r>
            <a:r>
              <a:rPr lang="en-US" altLang="zh-CN" sz="2400" b="1" i="1" smtClean="0">
                <a:latin typeface="Times New Roman" panose="02020603050405020304" pitchFamily="18" charset="0"/>
                <a:cs typeface="Times New Roman" panose="02020603050405020304" pitchFamily="18" charset="0"/>
              </a:rPr>
              <a:t>n </a:t>
            </a:r>
            <a:r>
              <a:rPr lang="zh-CN" altLang="en-US" sz="2400" b="1" smtClean="0">
                <a:latin typeface="Times New Roman" panose="02020603050405020304" pitchFamily="18" charset="0"/>
                <a:cs typeface="Times New Roman" panose="02020603050405020304" pitchFamily="18" charset="0"/>
              </a:rPr>
              <a:t>是物品的个数</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B</a:t>
            </a:r>
            <a:r>
              <a:rPr lang="zh-CN" altLang="en-US" sz="2400" b="1" smtClean="0">
                <a:latin typeface="Times New Roman" panose="02020603050405020304" pitchFamily="18" charset="0"/>
                <a:cs typeface="Times New Roman" panose="02020603050405020304" pitchFamily="18" charset="0"/>
              </a:rPr>
              <a:t>是重量限制</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这不是多项</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式时间算法</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而是指数时间算法</a:t>
            </a:r>
            <a:r>
              <a:rPr lang="en-US" altLang="zh-CN" sz="2400" b="1" smtClean="0">
                <a:latin typeface="Times New Roman" panose="02020603050405020304" pitchFamily="18" charset="0"/>
                <a:cs typeface="Times New Roman" panose="02020603050405020304" pitchFamily="18" charset="0"/>
              </a:rPr>
              <a:t>.</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endParaRPr lang="en-US" altLang="zh-CN" sz="2400" b="1" smtClean="0">
              <a:solidFill>
                <a:srgbClr val="C00000"/>
              </a:solidFill>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solidFill>
                  <a:srgbClr val="C00000"/>
                </a:solidFill>
                <a:latin typeface="Times New Roman" panose="02020603050405020304" pitchFamily="18" charset="0"/>
                <a:cs typeface="Times New Roman" panose="02020603050405020304" pitchFamily="18" charset="0"/>
              </a:rPr>
              <a:t>伪多项式时间算法</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算法的时间复杂度以 </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和 </a:t>
            </a:r>
            <a:r>
              <a:rPr lang="en-US" altLang="zh-CN" sz="2400" b="1" smtClean="0">
                <a:latin typeface="Times New Roman" panose="02020603050405020304" pitchFamily="18" charset="0"/>
                <a:cs typeface="Times New Roman" panose="02020603050405020304" pitchFamily="18" charset="0"/>
              </a:rPr>
              <a:t>max(</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的某</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个二元多项式 </a:t>
            </a:r>
            <a:r>
              <a:rPr lang="en-US" altLang="zh-CN" sz="2400" b="1" i="1" smtClean="0">
                <a:latin typeface="Times New Roman" panose="02020603050405020304" pitchFamily="18" charset="0"/>
                <a:cs typeface="Times New Roman" panose="02020603050405020304" pitchFamily="18" charset="0"/>
              </a:rPr>
              <a:t>p</a:t>
            </a:r>
            <a:r>
              <a:rPr lang="en-US" altLang="zh-CN" sz="2400" b="1" smtClean="0">
                <a:latin typeface="Times New Roman" panose="02020603050405020304" pitchFamily="18" charset="0"/>
                <a:cs typeface="Times New Roman" panose="02020603050405020304" pitchFamily="18" charset="0"/>
              </a:rPr>
              <a:t>(|</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max(</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为上界</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其中 </a:t>
            </a:r>
            <a:r>
              <a:rPr lang="en-US" altLang="zh-CN" sz="2400" b="1" smtClean="0">
                <a:latin typeface="Times New Roman" panose="02020603050405020304" pitchFamily="18" charset="0"/>
                <a:cs typeface="Times New Roman" panose="02020603050405020304" pitchFamily="18" charset="0"/>
              </a:rPr>
              <a:t>max(</a:t>
            </a:r>
            <a:r>
              <a:rPr lang="en-US" altLang="zh-CN" sz="2400" b="1" i="1"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是实例 </a:t>
            </a:r>
            <a:r>
              <a:rPr lang="en-US" altLang="zh-CN" sz="2400" b="1" i="1" smtClean="0">
                <a:latin typeface="Times New Roman" panose="02020603050405020304" pitchFamily="18" charset="0"/>
                <a:cs typeface="Times New Roman" panose="02020603050405020304" pitchFamily="18" charset="0"/>
              </a:rPr>
              <a:t>I </a:t>
            </a:r>
            <a:r>
              <a:rPr lang="zh-CN" altLang="en-US" sz="2400" b="1" smtClean="0">
                <a:latin typeface="Times New Roman" panose="02020603050405020304" pitchFamily="18" charset="0"/>
                <a:cs typeface="Times New Roman" panose="02020603050405020304" pitchFamily="18" charset="0"/>
              </a:rPr>
              <a:t>中</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数的最大绝对值</a:t>
            </a:r>
            <a:r>
              <a:rPr lang="en-US" altLang="zh-CN" sz="2400" b="1" smtClean="0">
                <a:latin typeface="Times New Roman" panose="02020603050405020304" pitchFamily="18" charset="0"/>
                <a:cs typeface="Times New Roman" panose="02020603050405020304" pitchFamily="18" charset="0"/>
              </a:rPr>
              <a:t>.</a:t>
            </a:r>
            <a:endParaRPr lang="zh-CN" altLang="en-US"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endParaRPr lang="zh-CN" altLang="en-US" sz="2400" b="1"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标题 1"/>
          <p:cNvSpPr>
            <a:spLocks noGrp="1"/>
          </p:cNvSpPr>
          <p:nvPr>
            <p:ph type="title"/>
          </p:nvPr>
        </p:nvSpPr>
        <p:spPr/>
        <p:txBody>
          <a:bodyPr/>
          <a:lstStyle/>
          <a:p>
            <a:r>
              <a:rPr lang="zh-CN" altLang="en-US" sz="4000" b="1" dirty="0" smtClean="0">
                <a:solidFill>
                  <a:srgbClr val="C00000"/>
                </a:solidFill>
                <a:latin typeface="Times New Roman" panose="02020603050405020304" pitchFamily="18" charset="0"/>
                <a:cs typeface="Times New Roman" panose="02020603050405020304" pitchFamily="18" charset="0"/>
              </a:rPr>
              <a:t>双机调度与</a:t>
            </a:r>
            <a:r>
              <a:rPr lang="zh-CN" altLang="en-US" sz="4000" b="1" dirty="0" smtClean="0">
                <a:solidFill>
                  <a:srgbClr val="C00000"/>
                </a:solidFill>
                <a:latin typeface="Times New Roman" panose="02020603050405020304" pitchFamily="18" charset="0"/>
                <a:cs typeface="Times New Roman" panose="02020603050405020304" pitchFamily="18" charset="0"/>
              </a:rPr>
              <a:t>装箱</a:t>
            </a:r>
            <a:endParaRPr lang="zh-CN" altLang="en-US" sz="4000" b="1" dirty="0" smtClean="0">
              <a:solidFill>
                <a:srgbClr val="C0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矩形 2"/>
              <p:cNvSpPr/>
              <p:nvPr/>
            </p:nvSpPr>
            <p:spPr>
              <a:xfrm>
                <a:off x="863588" y="1427224"/>
                <a:ext cx="7416824" cy="4732065"/>
              </a:xfrm>
              <a:prstGeom prst="rect">
                <a:avLst/>
              </a:prstGeom>
            </p:spPr>
            <p:txBody>
              <a:bodyPr wrap="square">
                <a:spAutoFit/>
              </a:bodyPr>
              <a:lstStyle/>
              <a:p>
                <a:pPr algn="just">
                  <a:spcAft>
                    <a:spcPts val="0"/>
                  </a:spcAft>
                </a:pPr>
                <a:r>
                  <a:rPr lang="zh-CN" altLang="zh-CN" sz="2400" b="1" kern="100" dirty="0" smtClean="0">
                    <a:solidFill>
                      <a:srgbClr val="C00000"/>
                    </a:solidFill>
                    <a:effectLst/>
                    <a:latin typeface="Times New Roman" panose="02020603050405020304" pitchFamily="18" charset="0"/>
                    <a:ea typeface="黑体" panose="02010609060101010101" pitchFamily="49" charset="-122"/>
                  </a:rPr>
                  <a:t>定理</a:t>
                </a:r>
                <a:r>
                  <a:rPr lang="en-US" altLang="zh-CN" sz="2400" b="1" kern="100" dirty="0" smtClean="0">
                    <a:solidFill>
                      <a:srgbClr val="C00000"/>
                    </a:solidFill>
                    <a:effectLst/>
                    <a:latin typeface="Times New Roman" panose="02020603050405020304" pitchFamily="18" charset="0"/>
                    <a:ea typeface="黑体" panose="02010609060101010101" pitchFamily="49" charset="-122"/>
                  </a:rPr>
                  <a:t>9.18   </a:t>
                </a:r>
                <a:r>
                  <a:rPr lang="zh-CN" altLang="zh-CN" sz="2400" b="1" kern="100" dirty="0" smtClean="0">
                    <a:effectLst/>
                    <a:latin typeface="+mj-ea"/>
                    <a:ea typeface="+mj-ea"/>
                  </a:rPr>
                  <a:t>双机调度</a:t>
                </a:r>
                <a:r>
                  <a:rPr lang="zh-CN" altLang="zh-CN" sz="2400" b="1" kern="100" dirty="0" smtClean="0">
                    <a:latin typeface="Times New Roman" panose="02020603050405020304" pitchFamily="18" charset="0"/>
                  </a:rPr>
                  <a:t>是</a:t>
                </a:r>
                <a:r>
                  <a:rPr lang="en-US" altLang="zh-CN" sz="2400" b="1" kern="100" dirty="0" smtClean="0">
                    <a:latin typeface="Times New Roman" panose="02020603050405020304" pitchFamily="18" charset="0"/>
                  </a:rPr>
                  <a:t> NP </a:t>
                </a:r>
                <a:r>
                  <a:rPr lang="zh-CN" altLang="zh-CN" sz="2400" b="1" kern="100" dirty="0" smtClean="0">
                    <a:latin typeface="Times New Roman" panose="02020603050405020304" pitchFamily="18" charset="0"/>
                  </a:rPr>
                  <a:t>完全的</a:t>
                </a:r>
                <a:r>
                  <a:rPr lang="en-US" altLang="zh-CN" sz="2400" b="1" kern="100" dirty="0" smtClean="0">
                    <a:latin typeface="Times New Roman" panose="02020603050405020304" pitchFamily="18" charset="0"/>
                  </a:rPr>
                  <a:t>.</a:t>
                </a:r>
                <a:endParaRPr lang="en-US" altLang="zh-CN" sz="2400" b="1" kern="100" dirty="0" smtClean="0">
                  <a:latin typeface="Times New Roman" panose="02020603050405020304" pitchFamily="18" charset="0"/>
                </a:endParaRPr>
              </a:p>
              <a:p>
                <a:pPr>
                  <a:lnSpc>
                    <a:spcPts val="3300"/>
                  </a:lnSpc>
                  <a:spcBef>
                    <a:spcPts val="1800"/>
                  </a:spcBef>
                </a:pPr>
                <a:r>
                  <a:rPr lang="zh-CN" altLang="zh-CN" sz="2400" b="1" dirty="0" smtClean="0">
                    <a:effectLst/>
                    <a:latin typeface="+mj-ea"/>
                    <a:ea typeface="+mj-ea"/>
                    <a:cs typeface="Times New Roman" panose="02020603050405020304" pitchFamily="18" charset="0"/>
                  </a:rPr>
                  <a:t>证 </a:t>
                </a:r>
                <a:r>
                  <a:rPr lang="zh-CN" altLang="zh-CN" sz="2400" b="1" dirty="0" smtClean="0">
                    <a:effectLst/>
                    <a:ea typeface="Times New Roman" panose="02020603050405020304" pitchFamily="18" charset="0"/>
                  </a:rPr>
                  <a:t> </a:t>
                </a:r>
                <a:r>
                  <a:rPr lang="zh-CN" altLang="zh-CN" sz="2400" b="1" dirty="0">
                    <a:latin typeface="Times New Roman" panose="02020603050405020304" pitchFamily="18" charset="0"/>
                    <a:cs typeface="Times New Roman" panose="02020603050405020304" pitchFamily="18" charset="0"/>
                  </a:rPr>
                  <a:t>要证</a:t>
                </a:r>
                <a:r>
                  <a:rPr lang="zh-CN" altLang="zh-CN" sz="2400" b="1" dirty="0" smtClean="0">
                    <a:effectLst/>
                    <a:latin typeface="Times New Roman" panose="02020603050405020304" pitchFamily="18" charset="0"/>
                    <a:ea typeface="+mn-ea"/>
                    <a:cs typeface="Times New Roman" panose="02020603050405020304" pitchFamily="18" charset="0"/>
                  </a:rPr>
                  <a:t>子集和</a:t>
                </a:r>
                <a:r>
                  <a:rPr lang="en-US" altLang="zh-CN" sz="2400" b="1" dirty="0" smtClean="0">
                    <a:effectLst/>
                    <a:latin typeface="Times New Roman" panose="02020603050405020304" pitchFamily="18" charset="0"/>
                    <a:ea typeface="+mn-ea"/>
                    <a:cs typeface="Times New Roman" panose="02020603050405020304" pitchFamily="18" charset="0"/>
                  </a:rPr>
                  <a:t> </a:t>
                </a:r>
                <a:r>
                  <a:rPr lang="en-US" altLang="zh-CN" sz="2400" b="1" dirty="0" smtClean="0">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2400" b="1" i="1" baseline="-25000" dirty="0" smtClean="0">
                    <a:latin typeface="Times New Roman" panose="02020603050405020304" pitchFamily="18" charset="0"/>
                    <a:ea typeface="+mn-ea"/>
                    <a:cs typeface="Times New Roman" panose="02020603050405020304" pitchFamily="18" charset="0"/>
                  </a:rPr>
                  <a:t>p </a:t>
                </a:r>
                <a:r>
                  <a:rPr lang="zh-CN" altLang="zh-CN" sz="2400" b="1" dirty="0" smtClean="0">
                    <a:effectLst/>
                    <a:latin typeface="Times New Roman" panose="02020603050405020304" pitchFamily="18" charset="0"/>
                    <a:ea typeface="+mn-ea"/>
                    <a:cs typeface="Times New Roman" panose="02020603050405020304" pitchFamily="18" charset="0"/>
                  </a:rPr>
                  <a:t>双机调度</a:t>
                </a:r>
                <a:r>
                  <a:rPr lang="en-US" altLang="zh-CN" sz="2400" b="1" dirty="0">
                    <a:latin typeface="Times New Roman" panose="02020603050405020304" pitchFamily="18" charset="0"/>
                    <a:ea typeface="+mn-ea"/>
                    <a:cs typeface="Times New Roman" panose="02020603050405020304" pitchFamily="18" charset="0"/>
                  </a:rPr>
                  <a:t>. </a:t>
                </a:r>
                <a:r>
                  <a:rPr lang="en-US" altLang="zh-CN" sz="2400" b="1" dirty="0" smtClean="0">
                    <a:latin typeface="Times New Roman" panose="02020603050405020304" pitchFamily="18" charset="0"/>
                    <a:ea typeface="+mn-ea"/>
                    <a:cs typeface="Times New Roman" panose="02020603050405020304" pitchFamily="18" charset="0"/>
                  </a:rPr>
                  <a:t> </a:t>
                </a:r>
                <a:endParaRPr lang="en-US" altLang="zh-CN" sz="2400" b="1" dirty="0" smtClean="0">
                  <a:latin typeface="Times New Roman" panose="02020603050405020304" pitchFamily="18" charset="0"/>
                  <a:ea typeface="+mn-ea"/>
                  <a:cs typeface="Times New Roman" panose="02020603050405020304" pitchFamily="18" charset="0"/>
                </a:endParaRPr>
              </a:p>
              <a:p>
                <a:pPr>
                  <a:lnSpc>
                    <a:spcPts val="3300"/>
                  </a:lnSpc>
                  <a:spcBef>
                    <a:spcPts val="600"/>
                  </a:spcBef>
                </a:pPr>
                <a:r>
                  <a:rPr lang="zh-CN" altLang="zh-CN" sz="2400" b="1" dirty="0" smtClean="0">
                    <a:latin typeface="Times New Roman" panose="02020603050405020304" pitchFamily="18" charset="0"/>
                    <a:ea typeface="+mn-ea"/>
                    <a:cs typeface="Times New Roman" panose="02020603050405020304" pitchFamily="18" charset="0"/>
                  </a:rPr>
                  <a:t>任</a:t>
                </a:r>
                <a:r>
                  <a:rPr lang="zh-CN" altLang="zh-CN" sz="2400" b="1" dirty="0">
                    <a:latin typeface="Times New Roman" panose="02020603050405020304" pitchFamily="18" charset="0"/>
                    <a:ea typeface="+mn-ea"/>
                    <a:cs typeface="Times New Roman" panose="02020603050405020304" pitchFamily="18" charset="0"/>
                  </a:rPr>
                  <a:t>给一个</a:t>
                </a:r>
                <a:r>
                  <a:rPr lang="zh-CN" altLang="zh-CN" sz="2400" b="1" dirty="0" smtClean="0">
                    <a:effectLst/>
                    <a:latin typeface="Times New Roman" panose="02020603050405020304" pitchFamily="18" charset="0"/>
                    <a:ea typeface="+mn-ea"/>
                    <a:cs typeface="Times New Roman" panose="02020603050405020304" pitchFamily="18" charset="0"/>
                  </a:rPr>
                  <a:t>子集和</a:t>
                </a:r>
                <a:r>
                  <a:rPr lang="zh-CN" altLang="zh-CN" sz="2400" b="1" dirty="0">
                    <a:latin typeface="Times New Roman" panose="02020603050405020304" pitchFamily="18" charset="0"/>
                    <a:ea typeface="+mn-ea"/>
                    <a:cs typeface="Times New Roman" panose="02020603050405020304" pitchFamily="18" charset="0"/>
                  </a:rPr>
                  <a:t>实例：正整数</a:t>
                </a:r>
                <a:r>
                  <a:rPr lang="zh-CN" altLang="zh-CN" sz="2400" b="1" dirty="0" smtClean="0">
                    <a:latin typeface="Times New Roman" panose="02020603050405020304" pitchFamily="18" charset="0"/>
                    <a:ea typeface="+mn-ea"/>
                    <a:cs typeface="Times New Roman" panose="02020603050405020304" pitchFamily="18" charset="0"/>
                  </a:rPr>
                  <a:t>集合</a:t>
                </a:r>
                <a:r>
                  <a:rPr lang="en-US" altLang="zh-CN" sz="2400" b="1" dirty="0" smtClean="0">
                    <a:latin typeface="Times New Roman" panose="02020603050405020304" pitchFamily="18" charset="0"/>
                    <a:ea typeface="+mn-ea"/>
                    <a:cs typeface="Times New Roman" panose="02020603050405020304" pitchFamily="18" charset="0"/>
                  </a:rPr>
                  <a:t> </a:t>
                </a:r>
                <a:r>
                  <a:rPr lang="en-US" altLang="zh-CN" sz="2400" b="1" i="1" dirty="0" smtClean="0">
                    <a:latin typeface="Times New Roman" panose="02020603050405020304" pitchFamily="18" charset="0"/>
                    <a:ea typeface="+mn-ea"/>
                    <a:cs typeface="Times New Roman" panose="02020603050405020304" pitchFamily="18" charset="0"/>
                  </a:rPr>
                  <a:t>X</a:t>
                </a:r>
                <a:r>
                  <a:rPr lang="en-US" altLang="zh-CN" sz="2400" b="1" dirty="0" smtClean="0">
                    <a:latin typeface="Times New Roman" panose="02020603050405020304" pitchFamily="18" charset="0"/>
                    <a:ea typeface="+mn-ea"/>
                    <a:cs typeface="Times New Roman" panose="02020603050405020304" pitchFamily="18" charset="0"/>
                  </a:rPr>
                  <a:t>={ </a:t>
                </a:r>
                <a:r>
                  <a:rPr lang="en-US" altLang="zh-CN" sz="2400" b="1" i="1" dirty="0" smtClean="0">
                    <a:latin typeface="Times New Roman" panose="02020603050405020304" pitchFamily="18" charset="0"/>
                    <a:ea typeface="+mn-ea"/>
                    <a:cs typeface="Times New Roman" panose="02020603050405020304" pitchFamily="18" charset="0"/>
                  </a:rPr>
                  <a:t>x</a:t>
                </a:r>
                <a:r>
                  <a:rPr lang="en-US" altLang="zh-CN" sz="2400" b="1" baseline="-25000" dirty="0" smtClean="0">
                    <a:latin typeface="Times New Roman" panose="02020603050405020304" pitchFamily="18" charset="0"/>
                    <a:ea typeface="+mn-ea"/>
                    <a:cs typeface="Times New Roman" panose="02020603050405020304" pitchFamily="18" charset="0"/>
                  </a:rPr>
                  <a:t>1</a:t>
                </a:r>
                <a:r>
                  <a:rPr lang="en-US" altLang="zh-CN" sz="2400" b="1" dirty="0">
                    <a:latin typeface="Times New Roman" panose="02020603050405020304" pitchFamily="18" charset="0"/>
                    <a:ea typeface="+mn-ea"/>
                    <a:cs typeface="Times New Roman" panose="02020603050405020304" pitchFamily="18" charset="0"/>
                  </a:rPr>
                  <a:t>,</a:t>
                </a:r>
                <a:r>
                  <a:rPr lang="en-US" altLang="zh-CN" sz="2400" b="1" i="1" dirty="0">
                    <a:latin typeface="Times New Roman" panose="02020603050405020304" pitchFamily="18" charset="0"/>
                    <a:ea typeface="+mn-ea"/>
                    <a:cs typeface="Times New Roman" panose="02020603050405020304" pitchFamily="18" charset="0"/>
                  </a:rPr>
                  <a:t> x</a:t>
                </a:r>
                <a:r>
                  <a:rPr lang="en-US" altLang="zh-CN" sz="2400" b="1" baseline="-25000" dirty="0">
                    <a:latin typeface="Times New Roman" panose="02020603050405020304" pitchFamily="18" charset="0"/>
                    <a:ea typeface="+mn-ea"/>
                    <a:cs typeface="Times New Roman" panose="02020603050405020304" pitchFamily="18" charset="0"/>
                  </a:rPr>
                  <a:t>2</a:t>
                </a:r>
                <a:r>
                  <a:rPr lang="en-US" altLang="zh-CN" sz="2400" b="1" dirty="0">
                    <a:latin typeface="Times New Roman" panose="02020603050405020304" pitchFamily="18" charset="0"/>
                    <a:ea typeface="+mn-ea"/>
                    <a:cs typeface="Times New Roman" panose="02020603050405020304" pitchFamily="18" charset="0"/>
                  </a:rPr>
                  <a:t>,</a:t>
                </a:r>
                <a:r>
                  <a:rPr lang="en-US" altLang="zh-CN" sz="2400" b="1" dirty="0">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ea typeface="+mn-ea"/>
                    <a:cs typeface="Times New Roman" panose="02020603050405020304" pitchFamily="18" charset="0"/>
                  </a:rPr>
                  <a:t>,</a:t>
                </a:r>
                <a:r>
                  <a:rPr lang="en-US" altLang="zh-CN" sz="2400" b="1" i="1" dirty="0">
                    <a:latin typeface="Times New Roman" panose="02020603050405020304" pitchFamily="18" charset="0"/>
                    <a:ea typeface="+mn-ea"/>
                    <a:cs typeface="Times New Roman" panose="02020603050405020304" pitchFamily="18" charset="0"/>
                  </a:rPr>
                  <a:t> </a:t>
                </a:r>
                <a:r>
                  <a:rPr lang="en-US" altLang="zh-CN" sz="2400" b="1" i="1" dirty="0" err="1" smtClean="0">
                    <a:latin typeface="Times New Roman" panose="02020603050405020304" pitchFamily="18" charset="0"/>
                    <a:ea typeface="+mn-ea"/>
                    <a:cs typeface="Times New Roman" panose="02020603050405020304" pitchFamily="18" charset="0"/>
                  </a:rPr>
                  <a:t>x</a:t>
                </a:r>
                <a:r>
                  <a:rPr lang="en-US" altLang="zh-CN" sz="2400" b="1" i="1" baseline="-25000" dirty="0" err="1" smtClean="0">
                    <a:latin typeface="Times New Roman" panose="02020603050405020304" pitchFamily="18" charset="0"/>
                    <a:ea typeface="+mn-ea"/>
                    <a:cs typeface="Times New Roman" panose="02020603050405020304" pitchFamily="18" charset="0"/>
                  </a:rPr>
                  <a:t>n</a:t>
                </a:r>
                <a:r>
                  <a:rPr lang="en-US" altLang="zh-CN" sz="2400" b="1" i="1" baseline="-25000" dirty="0" smtClean="0">
                    <a:latin typeface="Times New Roman" panose="02020603050405020304" pitchFamily="18" charset="0"/>
                    <a:ea typeface="+mn-ea"/>
                    <a:cs typeface="Times New Roman" panose="02020603050405020304" pitchFamily="18" charset="0"/>
                  </a:rPr>
                  <a:t> </a:t>
                </a:r>
                <a:r>
                  <a:rPr lang="en-US" altLang="zh-CN" sz="2400" b="1" dirty="0" smtClean="0">
                    <a:latin typeface="Times New Roman" panose="02020603050405020304" pitchFamily="18" charset="0"/>
                    <a:ea typeface="+mn-ea"/>
                    <a:cs typeface="Times New Roman" panose="02020603050405020304" pitchFamily="18" charset="0"/>
                  </a:rPr>
                  <a:t>}</a:t>
                </a:r>
                <a:r>
                  <a:rPr lang="zh-CN" altLang="zh-CN" sz="2400" b="1" dirty="0">
                    <a:latin typeface="Times New Roman" panose="02020603050405020304" pitchFamily="18" charset="0"/>
                    <a:ea typeface="+mn-ea"/>
                    <a:cs typeface="Times New Roman" panose="02020603050405020304" pitchFamily="18" charset="0"/>
                  </a:rPr>
                  <a:t>及</a:t>
                </a:r>
                <a:r>
                  <a:rPr lang="zh-CN" altLang="zh-CN" sz="2400" b="1" dirty="0" smtClean="0">
                    <a:latin typeface="Times New Roman" panose="02020603050405020304" pitchFamily="18" charset="0"/>
                    <a:ea typeface="+mn-ea"/>
                    <a:cs typeface="Times New Roman" panose="02020603050405020304" pitchFamily="18" charset="0"/>
                  </a:rPr>
                  <a:t>正整数</a:t>
                </a:r>
                <a:r>
                  <a:rPr lang="en-US" altLang="zh-CN" sz="2400" b="1" dirty="0" smtClean="0">
                    <a:latin typeface="Times New Roman" panose="02020603050405020304" pitchFamily="18" charset="0"/>
                    <a:ea typeface="+mn-ea"/>
                    <a:cs typeface="Times New Roman" panose="02020603050405020304" pitchFamily="18" charset="0"/>
                  </a:rPr>
                  <a:t> </a:t>
                </a:r>
                <a:r>
                  <a:rPr lang="en-US" altLang="zh-CN" sz="2400" b="1" i="1" dirty="0" smtClean="0">
                    <a:latin typeface="Times New Roman" panose="02020603050405020304" pitchFamily="18" charset="0"/>
                    <a:ea typeface="+mn-ea"/>
                    <a:cs typeface="Times New Roman" panose="02020603050405020304" pitchFamily="18" charset="0"/>
                  </a:rPr>
                  <a:t>N </a:t>
                </a:r>
                <a:r>
                  <a:rPr lang="zh-CN" altLang="zh-CN" sz="2400" b="1" dirty="0" smtClean="0">
                    <a:latin typeface="Times New Roman" panose="02020603050405020304" pitchFamily="18" charset="0"/>
                    <a:ea typeface="+mn-ea"/>
                    <a:cs typeface="Times New Roman" panose="02020603050405020304" pitchFamily="18" charset="0"/>
                  </a:rPr>
                  <a:t>组成</a:t>
                </a:r>
                <a:r>
                  <a:rPr lang="en-US" altLang="zh-CN" sz="2400" b="1" dirty="0">
                    <a:latin typeface="Times New Roman" panose="02020603050405020304" pitchFamily="18" charset="0"/>
                    <a:ea typeface="+mn-ea"/>
                    <a:cs typeface="Times New Roman" panose="02020603050405020304" pitchFamily="18" charset="0"/>
                  </a:rPr>
                  <a:t>, </a:t>
                </a:r>
                <a:r>
                  <a:rPr lang="en-US" altLang="zh-CN" sz="2400" b="1" dirty="0" smtClean="0">
                    <a:latin typeface="Times New Roman" panose="02020603050405020304" pitchFamily="18" charset="0"/>
                    <a:ea typeface="+mn-ea"/>
                    <a:cs typeface="Times New Roman" panose="02020603050405020304" pitchFamily="18" charset="0"/>
                  </a:rPr>
                  <a:t> </a:t>
                </a:r>
                <a:r>
                  <a:rPr lang="zh-CN" altLang="zh-CN" sz="2400" b="1" dirty="0" smtClean="0">
                    <a:latin typeface="Times New Roman" panose="02020603050405020304" pitchFamily="18" charset="0"/>
                    <a:ea typeface="+mn-ea"/>
                    <a:cs typeface="Times New Roman" panose="02020603050405020304" pitchFamily="18" charset="0"/>
                  </a:rPr>
                  <a:t>对应</a:t>
                </a:r>
                <a:r>
                  <a:rPr lang="zh-CN" altLang="zh-CN" sz="2400" b="1" dirty="0">
                    <a:latin typeface="Times New Roman" panose="02020603050405020304" pitchFamily="18" charset="0"/>
                    <a:ea typeface="+mn-ea"/>
                    <a:cs typeface="Times New Roman" panose="02020603050405020304" pitchFamily="18" charset="0"/>
                  </a:rPr>
                  <a:t>的</a:t>
                </a:r>
                <a:r>
                  <a:rPr lang="zh-CN" altLang="zh-CN" sz="2400" b="1" dirty="0" smtClean="0">
                    <a:effectLst/>
                    <a:latin typeface="Times New Roman" panose="02020603050405020304" pitchFamily="18" charset="0"/>
                    <a:ea typeface="+mn-ea"/>
                    <a:cs typeface="Times New Roman" panose="02020603050405020304" pitchFamily="18" charset="0"/>
                  </a:rPr>
                  <a:t>双机调度</a:t>
                </a:r>
                <a:r>
                  <a:rPr lang="zh-CN" altLang="zh-CN" sz="2400" b="1" dirty="0">
                    <a:latin typeface="Times New Roman" panose="02020603050405020304" pitchFamily="18" charset="0"/>
                    <a:ea typeface="+mn-ea"/>
                    <a:cs typeface="Times New Roman" panose="02020603050405020304" pitchFamily="18" charset="0"/>
                  </a:rPr>
                  <a:t>实例</a:t>
                </a:r>
                <a:r>
                  <a:rPr lang="zh-CN" altLang="zh-CN" sz="2400" b="1" dirty="0" smtClean="0">
                    <a:latin typeface="Times New Roman" panose="02020603050405020304" pitchFamily="18" charset="0"/>
                    <a:ea typeface="+mn-ea"/>
                    <a:cs typeface="Times New Roman" panose="02020603050405020304" pitchFamily="18" charset="0"/>
                  </a:rPr>
                  <a:t>有</a:t>
                </a:r>
                <a:r>
                  <a:rPr lang="en-US" altLang="zh-CN" sz="2400" b="1" dirty="0" smtClean="0">
                    <a:latin typeface="Times New Roman" panose="02020603050405020304" pitchFamily="18" charset="0"/>
                    <a:ea typeface="+mn-ea"/>
                    <a:cs typeface="Times New Roman" panose="02020603050405020304" pitchFamily="18" charset="0"/>
                  </a:rPr>
                  <a:t> </a:t>
                </a:r>
                <a:r>
                  <a:rPr lang="en-US" altLang="zh-CN" sz="2400" b="1" i="1" dirty="0" smtClean="0">
                    <a:latin typeface="Times New Roman" panose="02020603050405020304" pitchFamily="18" charset="0"/>
                    <a:ea typeface="+mn-ea"/>
                    <a:cs typeface="Times New Roman" panose="02020603050405020304" pitchFamily="18" charset="0"/>
                  </a:rPr>
                  <a:t>n</a:t>
                </a:r>
                <a:r>
                  <a:rPr lang="en-US" altLang="zh-CN" sz="2400" b="1" dirty="0" smtClean="0">
                    <a:latin typeface="Times New Roman" panose="02020603050405020304" pitchFamily="18" charset="0"/>
                    <a:ea typeface="+mn-ea"/>
                    <a:cs typeface="Times New Roman" panose="02020603050405020304" pitchFamily="18" charset="0"/>
                  </a:rPr>
                  <a:t>+2 </a:t>
                </a:r>
                <a:r>
                  <a:rPr lang="zh-CN" altLang="zh-CN" sz="2400" b="1" dirty="0" smtClean="0">
                    <a:latin typeface="Times New Roman" panose="02020603050405020304" pitchFamily="18" charset="0"/>
                    <a:ea typeface="+mn-ea"/>
                    <a:cs typeface="Times New Roman" panose="02020603050405020304" pitchFamily="18" charset="0"/>
                  </a:rPr>
                  <a:t>项作业</a:t>
                </a:r>
                <a:r>
                  <a:rPr lang="en-US" altLang="zh-CN" sz="2400" b="1" dirty="0" smtClean="0">
                    <a:latin typeface="Times New Roman" panose="02020603050405020304" pitchFamily="18" charset="0"/>
                    <a:ea typeface="+mn-ea"/>
                    <a:cs typeface="Times New Roman" panose="02020603050405020304" pitchFamily="18" charset="0"/>
                  </a:rPr>
                  <a:t> </a:t>
                </a:r>
                <a:r>
                  <a:rPr lang="en-US" altLang="zh-CN" sz="2400" b="1" i="1" dirty="0" smtClean="0">
                    <a:latin typeface="Times New Roman" panose="02020603050405020304" pitchFamily="18" charset="0"/>
                    <a:ea typeface="+mn-ea"/>
                    <a:cs typeface="Times New Roman" panose="02020603050405020304" pitchFamily="18" charset="0"/>
                  </a:rPr>
                  <a:t>J</a:t>
                </a:r>
                <a:r>
                  <a:rPr lang="en-US" altLang="zh-CN" sz="2400" b="1" baseline="-25000" dirty="0" smtClean="0">
                    <a:latin typeface="Times New Roman" panose="02020603050405020304" pitchFamily="18" charset="0"/>
                    <a:ea typeface="+mn-ea"/>
                    <a:cs typeface="Times New Roman" panose="02020603050405020304" pitchFamily="18" charset="0"/>
                  </a:rPr>
                  <a:t>1</a:t>
                </a:r>
                <a:r>
                  <a:rPr lang="en-US" altLang="zh-CN" sz="2400" b="1" dirty="0">
                    <a:latin typeface="Times New Roman" panose="02020603050405020304" pitchFamily="18" charset="0"/>
                    <a:ea typeface="+mn-ea"/>
                    <a:cs typeface="Times New Roman" panose="02020603050405020304" pitchFamily="18" charset="0"/>
                  </a:rPr>
                  <a:t>,</a:t>
                </a:r>
                <a:r>
                  <a:rPr lang="en-US" altLang="zh-CN" sz="2400" b="1" i="1" dirty="0">
                    <a:latin typeface="Times New Roman" panose="02020603050405020304" pitchFamily="18" charset="0"/>
                    <a:ea typeface="+mn-ea"/>
                    <a:cs typeface="Times New Roman" panose="02020603050405020304" pitchFamily="18" charset="0"/>
                  </a:rPr>
                  <a:t> J</a:t>
                </a:r>
                <a:r>
                  <a:rPr lang="en-US" altLang="zh-CN" sz="2400" b="1" baseline="-25000" dirty="0">
                    <a:latin typeface="Times New Roman" panose="02020603050405020304" pitchFamily="18" charset="0"/>
                    <a:ea typeface="+mn-ea"/>
                    <a:cs typeface="Times New Roman" panose="02020603050405020304" pitchFamily="18" charset="0"/>
                  </a:rPr>
                  <a:t>2</a:t>
                </a:r>
                <a:r>
                  <a:rPr lang="en-US" altLang="zh-CN" sz="2400" b="1" dirty="0" smtClean="0">
                    <a:latin typeface="Times New Roman" panose="02020603050405020304" pitchFamily="18" charset="0"/>
                    <a:ea typeface="+mn-ea"/>
                    <a:cs typeface="Times New Roman" panose="02020603050405020304" pitchFamily="18" charset="0"/>
                  </a:rPr>
                  <a:t>, </a:t>
                </a:r>
                <a:r>
                  <a:rPr lang="en-US" altLang="zh-CN" sz="2400" b="1" dirty="0" smtClean="0">
                    <a:latin typeface="Times New Roman" panose="02020603050405020304" pitchFamily="18" charset="0"/>
                    <a:ea typeface="+mn-ea"/>
                    <a:cs typeface="Times New Roman" panose="02020603050405020304" pitchFamily="18" charset="0"/>
                    <a:sym typeface="Symbol" panose="05050102010706020507" pitchFamily="18" charset="2"/>
                  </a:rPr>
                  <a:t> </a:t>
                </a:r>
                <a:r>
                  <a:rPr lang="en-US" altLang="zh-CN" sz="2400" b="1" dirty="0" smtClean="0">
                    <a:latin typeface="Times New Roman" panose="02020603050405020304" pitchFamily="18" charset="0"/>
                    <a:ea typeface="+mn-ea"/>
                    <a:cs typeface="Times New Roman" panose="02020603050405020304" pitchFamily="18" charset="0"/>
                  </a:rPr>
                  <a:t>,</a:t>
                </a:r>
                <a:r>
                  <a:rPr lang="en-US" altLang="zh-CN" sz="2400" b="1" i="1" dirty="0" smtClean="0">
                    <a:latin typeface="Times New Roman" panose="02020603050405020304" pitchFamily="18" charset="0"/>
                    <a:ea typeface="+mn-ea"/>
                    <a:cs typeface="Times New Roman" panose="02020603050405020304" pitchFamily="18" charset="0"/>
                  </a:rPr>
                  <a:t> </a:t>
                </a:r>
                <a:r>
                  <a:rPr lang="en-US" altLang="zh-CN" sz="2400" b="1" i="1" dirty="0">
                    <a:latin typeface="Times New Roman" panose="02020603050405020304" pitchFamily="18" charset="0"/>
                    <a:ea typeface="+mn-ea"/>
                    <a:cs typeface="Times New Roman" panose="02020603050405020304" pitchFamily="18" charset="0"/>
                  </a:rPr>
                  <a:t>J</a:t>
                </a:r>
                <a:r>
                  <a:rPr lang="en-US" altLang="zh-CN" sz="2400" b="1" i="1" baseline="-25000" dirty="0">
                    <a:latin typeface="Times New Roman" panose="02020603050405020304" pitchFamily="18" charset="0"/>
                    <a:ea typeface="+mn-ea"/>
                    <a:cs typeface="Times New Roman" panose="02020603050405020304" pitchFamily="18" charset="0"/>
                  </a:rPr>
                  <a:t>n</a:t>
                </a:r>
                <a:r>
                  <a:rPr lang="en-US" altLang="zh-CN" sz="2400" b="1" baseline="-25000" dirty="0">
                    <a:latin typeface="Times New Roman" panose="02020603050405020304" pitchFamily="18" charset="0"/>
                    <a:ea typeface="+mn-ea"/>
                    <a:cs typeface="Times New Roman" panose="02020603050405020304" pitchFamily="18" charset="0"/>
                  </a:rPr>
                  <a:t>+2</a:t>
                </a:r>
                <a:r>
                  <a:rPr lang="en-US" altLang="zh-CN" sz="2400" b="1" dirty="0">
                    <a:latin typeface="Times New Roman" panose="02020603050405020304" pitchFamily="18" charset="0"/>
                    <a:ea typeface="+mn-ea"/>
                    <a:cs typeface="Times New Roman" panose="02020603050405020304" pitchFamily="18" charset="0"/>
                  </a:rPr>
                  <a:t>, </a:t>
                </a:r>
                <a:r>
                  <a:rPr lang="en-US" altLang="zh-CN" sz="2400" b="1" dirty="0" smtClean="0">
                    <a:latin typeface="Times New Roman" panose="02020603050405020304" pitchFamily="18" charset="0"/>
                    <a:ea typeface="+mn-ea"/>
                    <a:cs typeface="Times New Roman" panose="02020603050405020304" pitchFamily="18" charset="0"/>
                  </a:rPr>
                  <a:t> </a:t>
                </a:r>
                <a:r>
                  <a:rPr lang="zh-CN" altLang="zh-CN" sz="2400" b="1" dirty="0" smtClean="0">
                    <a:latin typeface="Times New Roman" panose="02020603050405020304" pitchFamily="18" charset="0"/>
                    <a:ea typeface="+mn-ea"/>
                    <a:cs typeface="Times New Roman" panose="02020603050405020304" pitchFamily="18" charset="0"/>
                  </a:rPr>
                  <a:t>它们</a:t>
                </a:r>
                <a:r>
                  <a:rPr lang="zh-CN" altLang="zh-CN" sz="2400" b="1" dirty="0">
                    <a:latin typeface="Times New Roman" panose="02020603050405020304" pitchFamily="18" charset="0"/>
                    <a:ea typeface="+mn-ea"/>
                    <a:cs typeface="Times New Roman" panose="02020603050405020304" pitchFamily="18" charset="0"/>
                  </a:rPr>
                  <a:t>的处理时间分别</a:t>
                </a:r>
                <a:r>
                  <a:rPr lang="zh-CN" altLang="zh-CN" sz="2400" b="1" dirty="0" smtClean="0">
                    <a:latin typeface="Times New Roman" panose="02020603050405020304" pitchFamily="18" charset="0"/>
                    <a:cs typeface="Times New Roman" panose="02020603050405020304" pitchFamily="18" charset="0"/>
                  </a:rPr>
                  <a:t>为</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rPr>
                  <a:t>x</a:t>
                </a:r>
                <a:r>
                  <a:rPr lang="en-US" altLang="zh-CN" sz="2400" b="1" baseline="-25000" dirty="0" smtClean="0">
                    <a:latin typeface="Times New Roman" panose="02020603050405020304" pitchFamily="18" charset="0"/>
                  </a:rPr>
                  <a:t>1</a:t>
                </a:r>
                <a:r>
                  <a:rPr lang="en-US" altLang="zh-CN" sz="2400" b="1" dirty="0">
                    <a:latin typeface="Times New Roman" panose="02020603050405020304" pitchFamily="18" charset="0"/>
                  </a:rPr>
                  <a:t>,</a:t>
                </a:r>
                <a:r>
                  <a:rPr lang="en-US" altLang="zh-CN" sz="2400" b="1" i="1" dirty="0">
                    <a:latin typeface="Times New Roman" panose="02020603050405020304" pitchFamily="18" charset="0"/>
                  </a:rPr>
                  <a:t> x</a:t>
                </a:r>
                <a:r>
                  <a:rPr lang="en-US" altLang="zh-CN" sz="2400" b="1" baseline="-25000" dirty="0">
                    <a:latin typeface="Times New Roman" panose="02020603050405020304" pitchFamily="18" charset="0"/>
                  </a:rPr>
                  <a:t>2</a:t>
                </a:r>
                <a:r>
                  <a:rPr lang="en-US" altLang="zh-CN" sz="2400" b="1" dirty="0" smtClean="0">
                    <a:latin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smtClean="0"/>
                  <a:t> </a:t>
                </a:r>
                <a:r>
                  <a:rPr lang="en-US" altLang="zh-CN" sz="2400" b="1" i="1" dirty="0" err="1" smtClean="0">
                    <a:latin typeface="Times New Roman" panose="02020603050405020304" pitchFamily="18" charset="0"/>
                    <a:cs typeface="Times New Roman" panose="02020603050405020304" pitchFamily="18" charset="0"/>
                  </a:rPr>
                  <a:t>x</a:t>
                </a:r>
                <a:r>
                  <a:rPr lang="en-US" altLang="zh-CN" sz="2400" b="1" i="1" baseline="-25000" dirty="0" err="1" smtClean="0">
                    <a:latin typeface="Times New Roman" panose="02020603050405020304" pitchFamily="18" charset="0"/>
                    <a:cs typeface="Times New Roman" panose="02020603050405020304" pitchFamily="18" charset="0"/>
                  </a:rPr>
                  <a:t>n</a:t>
                </a:r>
                <a:r>
                  <a:rPr lang="en-US" altLang="zh-CN" sz="2400" b="1" i="1" baseline="-25000"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a</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b</a:t>
                </a:r>
                <a:r>
                  <a:rPr lang="en-US" altLang="zh-CN" sz="2400" b="1" dirty="0" smtClean="0">
                    <a:latin typeface="Times New Roman" panose="02020603050405020304" pitchFamily="18" charset="0"/>
                    <a:cs typeface="Times New Roman" panose="02020603050405020304" pitchFamily="18" charset="0"/>
                  </a:rPr>
                  <a:t>,   </a:t>
                </a:r>
                <a:r>
                  <a:rPr lang="zh-CN" altLang="zh-CN" sz="2400" b="1" dirty="0">
                    <a:latin typeface="Times New Roman" panose="02020603050405020304" pitchFamily="18" charset="0"/>
                    <a:cs typeface="Times New Roman" panose="02020603050405020304" pitchFamily="18" charset="0"/>
                  </a:rPr>
                  <a:t>截止时间</a:t>
                </a:r>
                <a:r>
                  <a:rPr lang="zh-CN" altLang="zh-CN" sz="2400" b="1" dirty="0" smtClean="0">
                    <a:latin typeface="Times New Roman" panose="02020603050405020304" pitchFamily="18" charset="0"/>
                    <a:cs typeface="Times New Roman" panose="02020603050405020304" pitchFamily="18" charset="0"/>
                  </a:rPr>
                  <a:t>为</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D</a:t>
                </a:r>
                <a:r>
                  <a:rPr lang="en-US" altLang="zh-CN" sz="2400" b="1" dirty="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rPr>
                  <a:t> </a:t>
                </a:r>
                <a:r>
                  <a:rPr lang="zh-CN" altLang="zh-CN" sz="2400" b="1" dirty="0" smtClean="0">
                    <a:latin typeface="Times New Roman" panose="02020603050405020304" pitchFamily="18" charset="0"/>
                    <a:cs typeface="Times New Roman" panose="02020603050405020304" pitchFamily="18" charset="0"/>
                  </a:rPr>
                  <a:t>要求存在</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X </a:t>
                </a:r>
                <a:r>
                  <a:rPr lang="zh-CN" altLang="zh-CN" sz="2400" b="1" dirty="0" smtClean="0">
                    <a:latin typeface="Times New Roman" panose="02020603050405020304" pitchFamily="18" charset="0"/>
                    <a:cs typeface="Times New Roman" panose="02020603050405020304" pitchFamily="18" charset="0"/>
                  </a:rPr>
                  <a:t>的子集</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T </a:t>
                </a:r>
                <a:r>
                  <a:rPr lang="zh-CN" altLang="zh-CN" sz="2400" b="1" dirty="0" smtClean="0">
                    <a:latin typeface="Times New Roman" panose="02020603050405020304" pitchFamily="18" charset="0"/>
                    <a:cs typeface="Times New Roman" panose="02020603050405020304" pitchFamily="18" charset="0"/>
                  </a:rPr>
                  <a:t>使得</a:t>
                </a:r>
                <a14:m>
                  <m:oMath xmlns:m="http://schemas.openxmlformats.org/officeDocument/2006/math">
                    <m:r>
                      <a:rPr lang="en-US" altLang="zh-CN" sz="2400" b="1" i="0" smtClean="0">
                        <a:latin typeface="Cambria Math" panose="02040503050406030204" pitchFamily="18" charset="0"/>
                        <a:cs typeface="Times New Roman" panose="02020603050405020304" pitchFamily="18" charset="0"/>
                      </a:rPr>
                      <m:t> </m:t>
                    </m:r>
                    <m:nary>
                      <m:naryPr>
                        <m:chr m:val="∑"/>
                        <m:supHide m:val="on"/>
                        <m:ctrlPr>
                          <a:rPr lang="zh-CN" altLang="en-US" sz="2400" b="1" i="1" smtClean="0">
                            <a:latin typeface="Cambria Math" panose="02040503050406030204" pitchFamily="18" charset="0"/>
                            <a:cs typeface="Times New Roman" panose="02020603050405020304" pitchFamily="18" charset="0"/>
                          </a:rPr>
                        </m:ctrlPr>
                      </m:naryPr>
                      <m:sub>
                        <m:sSub>
                          <m:sSubPr>
                            <m:ctrlPr>
                              <a:rPr lang="en-US" altLang="zh-CN" sz="2400" b="1" i="1" smtClean="0">
                                <a:latin typeface="Cambria Math" panose="02040503050406030204" pitchFamily="18" charset="0"/>
                                <a:cs typeface="Times New Roman" panose="02020603050405020304" pitchFamily="18" charset="0"/>
                              </a:rPr>
                            </m:ctrlPr>
                          </m:sSubPr>
                          <m:e>
                            <m:r>
                              <a:rPr lang="en-US" altLang="zh-CN" sz="2400" b="1" i="1" smtClean="0">
                                <a:latin typeface="Cambria Math" panose="02040503050406030204" pitchFamily="18" charset="0"/>
                                <a:cs typeface="Times New Roman" panose="02020603050405020304" pitchFamily="18" charset="0"/>
                              </a:rPr>
                              <m:t>𝒙</m:t>
                            </m:r>
                          </m:e>
                          <m:sub>
                            <m:r>
                              <a:rPr lang="en-US" altLang="zh-CN" sz="2400" b="1" i="1" smtClean="0">
                                <a:latin typeface="Cambria Math" panose="02040503050406030204" pitchFamily="18" charset="0"/>
                                <a:cs typeface="Times New Roman" panose="02020603050405020304" pitchFamily="18" charset="0"/>
                              </a:rPr>
                              <m:t>𝒊</m:t>
                            </m:r>
                          </m:sub>
                        </m:sSub>
                        <m:r>
                          <m:rPr>
                            <m:brk m:alnAt="7"/>
                          </m:rPr>
                          <a:rPr lang="en-US" altLang="zh-CN" sz="2400" b="1"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b="1" i="1" smtClean="0">
                            <a:latin typeface="Cambria Math" panose="02040503050406030204" pitchFamily="18" charset="0"/>
                            <a:ea typeface="Cambria Math" panose="02040503050406030204" pitchFamily="18" charset="0"/>
                            <a:cs typeface="Times New Roman" panose="02020603050405020304" pitchFamily="18" charset="0"/>
                          </a:rPr>
                          <m:t>𝑻</m:t>
                        </m:r>
                      </m:sub>
                      <m:sup/>
                      <m:e>
                        <m:sSub>
                          <m:sSubPr>
                            <m:ctrlPr>
                              <a:rPr lang="en-US" altLang="zh-CN" sz="2400" b="1" i="1" smtClean="0">
                                <a:latin typeface="Cambria Math" panose="02040503050406030204" pitchFamily="18" charset="0"/>
                                <a:cs typeface="Times New Roman" panose="02020603050405020304" pitchFamily="18" charset="0"/>
                              </a:rPr>
                            </m:ctrlPr>
                          </m:sSubPr>
                          <m:e>
                            <m:r>
                              <a:rPr lang="en-US" altLang="zh-CN" sz="2400" b="1" i="1" smtClean="0">
                                <a:latin typeface="Cambria Math" panose="02040503050406030204" pitchFamily="18" charset="0"/>
                                <a:cs typeface="Times New Roman" panose="02020603050405020304" pitchFamily="18" charset="0"/>
                              </a:rPr>
                              <m:t>𝒙</m:t>
                            </m:r>
                          </m:e>
                          <m:sub>
                            <m:r>
                              <a:rPr lang="en-US" altLang="zh-CN" sz="2400" b="1" i="1" smtClean="0">
                                <a:latin typeface="Cambria Math" panose="02040503050406030204" pitchFamily="18" charset="0"/>
                                <a:cs typeface="Times New Roman" panose="02020603050405020304" pitchFamily="18" charset="0"/>
                              </a:rPr>
                              <m:t>𝒊</m:t>
                            </m:r>
                          </m:sub>
                        </m:sSub>
                        <m:r>
                          <a:rPr lang="en-US" altLang="zh-CN" sz="2400" b="1" i="1" smtClean="0">
                            <a:latin typeface="Cambria Math" panose="02040503050406030204" pitchFamily="18" charset="0"/>
                            <a:cs typeface="Times New Roman" panose="02020603050405020304" pitchFamily="18" charset="0"/>
                          </a:rPr>
                          <m:t>=</m:t>
                        </m:r>
                        <m:r>
                          <a:rPr lang="en-US" altLang="zh-CN" sz="2400" b="1" i="1" smtClean="0">
                            <a:latin typeface="Cambria Math" panose="02040503050406030204" pitchFamily="18" charset="0"/>
                            <a:cs typeface="Times New Roman" panose="02020603050405020304" pitchFamily="18" charset="0"/>
                          </a:rPr>
                          <m:t>𝑵</m:t>
                        </m:r>
                      </m:e>
                    </m:nary>
                  </m:oMath>
                </a14:m>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dirty="0" smtClean="0">
                    <a:latin typeface="Times New Roman" panose="02020603050405020304" pitchFamily="18" charset="0"/>
                    <a:cs typeface="Times New Roman" panose="02020603050405020304" pitchFamily="18" charset="0"/>
                    <a:sym typeface="Symbol" panose="05050102010706020507" pitchFamily="18" charset="2"/>
                  </a:rPr>
                  <a:t>当且仅当</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14:m>
                  <m:oMath xmlns:m="http://schemas.openxmlformats.org/officeDocument/2006/math">
                    <m:r>
                      <a:rPr lang="en-US" altLang="zh-CN" sz="2400" b="1" i="1" smtClean="0">
                        <a:latin typeface="Cambria Math" panose="02040503050406030204" pitchFamily="18" charset="0"/>
                        <a:cs typeface="Times New Roman" panose="02020603050405020304" pitchFamily="18" charset="0"/>
                        <a:sym typeface="Symbol" panose="05050102010706020507" pitchFamily="18" charset="2"/>
                      </a:rPr>
                      <m:t>𝑵</m:t>
                    </m:r>
                    <m:r>
                      <a:rPr lang="en-US" altLang="zh-CN" sz="2400" b="1" i="0" smtClean="0">
                        <a:latin typeface="Cambria Math" panose="02040503050406030204" pitchFamily="18" charset="0"/>
                        <a:cs typeface="Times New Roman" panose="02020603050405020304" pitchFamily="18" charset="0"/>
                        <a:sym typeface="Symbol" panose="05050102010706020507" pitchFamily="18" charset="2"/>
                      </a:rPr>
                      <m:t>+</m:t>
                    </m:r>
                    <m:r>
                      <a:rPr lang="en-US" altLang="zh-CN" sz="2400" b="1" i="1" smtClean="0">
                        <a:latin typeface="Cambria Math" panose="02040503050406030204" pitchFamily="18" charset="0"/>
                        <a:cs typeface="Times New Roman" panose="02020603050405020304" pitchFamily="18" charset="0"/>
                        <a:sym typeface="Symbol" panose="05050102010706020507" pitchFamily="18" charset="2"/>
                      </a:rPr>
                      <m:t>𝒂</m:t>
                    </m:r>
                    <m:r>
                      <a:rPr lang="en-US" altLang="zh-CN" sz="2400" b="1" i="0" smtClean="0">
                        <a:latin typeface="Cambria Math" panose="02040503050406030204" pitchFamily="18" charset="0"/>
                        <a:cs typeface="Times New Roman" panose="02020603050405020304" pitchFamily="18" charset="0"/>
                        <a:sym typeface="Symbol" panose="05050102010706020507" pitchFamily="18" charset="2"/>
                      </a:rPr>
                      <m:t>=</m:t>
                    </m:r>
                    <m:nary>
                      <m:naryPr>
                        <m:chr m:val="∑"/>
                        <m:limLoc m:val="subSup"/>
                        <m:ctrlPr>
                          <a:rPr lang="en-US" altLang="zh-CN" sz="2400" b="1" i="1" smtClean="0">
                            <a:latin typeface="Cambria Math" panose="02040503050406030204" pitchFamily="18" charset="0"/>
                            <a:cs typeface="Times New Roman" panose="02020603050405020304" pitchFamily="18" charset="0"/>
                            <a:sym typeface="Symbol" panose="05050102010706020507" pitchFamily="18" charset="2"/>
                          </a:rPr>
                        </m:ctrlPr>
                      </m:naryPr>
                      <m:sub>
                        <m:r>
                          <m:rPr>
                            <m:brk m:alnAt="25"/>
                          </m:rPr>
                          <a:rPr lang="en-US" altLang="zh-CN" sz="2400" b="1" i="1" smtClean="0">
                            <a:latin typeface="Cambria Math" panose="02040503050406030204" pitchFamily="18" charset="0"/>
                            <a:cs typeface="Times New Roman" panose="02020603050405020304" pitchFamily="18" charset="0"/>
                            <a:sym typeface="Symbol" panose="05050102010706020507" pitchFamily="18" charset="2"/>
                          </a:rPr>
                          <m:t>𝒊</m:t>
                        </m:r>
                        <m:r>
                          <a:rPr lang="en-US" altLang="zh-CN" sz="2400" b="1" i="1" smtClean="0">
                            <a:latin typeface="Cambria Math" panose="02040503050406030204" pitchFamily="18" charset="0"/>
                            <a:cs typeface="Times New Roman" panose="02020603050405020304" pitchFamily="18" charset="0"/>
                            <a:sym typeface="Symbol" panose="05050102010706020507" pitchFamily="18" charset="2"/>
                          </a:rPr>
                          <m:t>=</m:t>
                        </m:r>
                        <m:r>
                          <a:rPr lang="en-US" altLang="zh-CN" sz="2400" b="1" i="1" smtClean="0">
                            <a:latin typeface="Cambria Math" panose="02040503050406030204" pitchFamily="18" charset="0"/>
                            <a:cs typeface="Times New Roman" panose="02020603050405020304" pitchFamily="18" charset="0"/>
                            <a:sym typeface="Symbol" panose="05050102010706020507" pitchFamily="18" charset="2"/>
                          </a:rPr>
                          <m:t>𝟏</m:t>
                        </m:r>
                      </m:sub>
                      <m:sup>
                        <m:r>
                          <a:rPr lang="en-US" altLang="zh-CN" sz="2400" b="1" i="1" smtClean="0">
                            <a:latin typeface="Cambria Math" panose="02040503050406030204" pitchFamily="18" charset="0"/>
                            <a:cs typeface="Times New Roman" panose="02020603050405020304" pitchFamily="18" charset="0"/>
                            <a:sym typeface="Symbol" panose="05050102010706020507" pitchFamily="18" charset="2"/>
                          </a:rPr>
                          <m:t>𝒏</m:t>
                        </m:r>
                      </m:sup>
                      <m:e>
                        <m:sSub>
                          <m:sSubPr>
                            <m:ctrlPr>
                              <a:rPr lang="en-US" altLang="zh-CN" sz="2400" b="1" i="1" smtClean="0">
                                <a:latin typeface="Cambria Math" panose="02040503050406030204" pitchFamily="18" charset="0"/>
                                <a:cs typeface="Times New Roman" panose="02020603050405020304" pitchFamily="18" charset="0"/>
                                <a:sym typeface="Symbol" panose="05050102010706020507" pitchFamily="18" charset="2"/>
                              </a:rPr>
                            </m:ctrlPr>
                          </m:sSubPr>
                          <m:e>
                            <m:r>
                              <a:rPr lang="en-US" altLang="zh-CN" sz="2400" b="1" i="1" smtClean="0">
                                <a:latin typeface="Cambria Math" panose="02040503050406030204" pitchFamily="18" charset="0"/>
                                <a:cs typeface="Times New Roman" panose="02020603050405020304" pitchFamily="18" charset="0"/>
                                <a:sym typeface="Symbol" panose="05050102010706020507" pitchFamily="18" charset="2"/>
                              </a:rPr>
                              <m:t>𝒙</m:t>
                            </m:r>
                          </m:e>
                          <m:sub>
                            <m:r>
                              <a:rPr lang="en-US" altLang="zh-CN" sz="2400" b="1" i="1" smtClean="0">
                                <a:latin typeface="Cambria Math" panose="02040503050406030204" pitchFamily="18" charset="0"/>
                                <a:cs typeface="Times New Roman" panose="02020603050405020304" pitchFamily="18" charset="0"/>
                                <a:sym typeface="Symbol" panose="05050102010706020507" pitchFamily="18" charset="2"/>
                              </a:rPr>
                              <m:t>𝒊</m:t>
                            </m:r>
                          </m:sub>
                        </m:sSub>
                        <m:r>
                          <a:rPr lang="en-US" altLang="zh-CN" sz="2400" b="1" i="1" smtClean="0">
                            <a:latin typeface="Cambria Math" panose="02040503050406030204" pitchFamily="18" charset="0"/>
                            <a:cs typeface="Times New Roman" panose="02020603050405020304" pitchFamily="18" charset="0"/>
                            <a:sym typeface="Symbol" panose="05050102010706020507" pitchFamily="18" charset="2"/>
                          </a:rPr>
                          <m:t>−</m:t>
                        </m:r>
                        <m:r>
                          <a:rPr lang="en-US" altLang="zh-CN" sz="2400" b="1" i="1" smtClean="0">
                            <a:latin typeface="Cambria Math" panose="02040503050406030204" pitchFamily="18" charset="0"/>
                            <a:cs typeface="Times New Roman" panose="02020603050405020304" pitchFamily="18" charset="0"/>
                            <a:sym typeface="Symbol" panose="05050102010706020507" pitchFamily="18" charset="2"/>
                          </a:rPr>
                          <m:t>𝑵</m:t>
                        </m:r>
                        <m:r>
                          <a:rPr lang="en-US" altLang="zh-CN" sz="2400" b="1" i="1" smtClean="0">
                            <a:latin typeface="Cambria Math" panose="02040503050406030204" pitchFamily="18" charset="0"/>
                            <a:cs typeface="Times New Roman" panose="02020603050405020304" pitchFamily="18" charset="0"/>
                            <a:sym typeface="Symbol" panose="05050102010706020507" pitchFamily="18" charset="2"/>
                          </a:rPr>
                          <m:t>+</m:t>
                        </m:r>
                        <m:r>
                          <a:rPr lang="en-US" altLang="zh-CN" sz="2400" b="1" i="1" smtClean="0">
                            <a:latin typeface="Cambria Math" panose="02040503050406030204" pitchFamily="18" charset="0"/>
                            <a:cs typeface="Times New Roman" panose="02020603050405020304" pitchFamily="18" charset="0"/>
                            <a:sym typeface="Symbol" panose="05050102010706020507" pitchFamily="18" charset="2"/>
                          </a:rPr>
                          <m:t>𝒃</m:t>
                        </m:r>
                        <m:r>
                          <a:rPr lang="en-US" altLang="zh-CN" sz="2400" b="1" i="1" smtClean="0">
                            <a:latin typeface="Cambria Math" panose="02040503050406030204" pitchFamily="18" charset="0"/>
                            <a:cs typeface="Times New Roman" panose="02020603050405020304" pitchFamily="18" charset="0"/>
                            <a:sym typeface="Symbol" panose="05050102010706020507" pitchFamily="18" charset="2"/>
                          </a:rPr>
                          <m:t>=</m:t>
                        </m:r>
                        <m:r>
                          <a:rPr lang="en-US" altLang="zh-CN" sz="2400" b="1" i="1" smtClean="0">
                            <a:latin typeface="Cambria Math" panose="02040503050406030204" pitchFamily="18" charset="0"/>
                            <a:cs typeface="Times New Roman" panose="02020603050405020304" pitchFamily="18" charset="0"/>
                            <a:sym typeface="Symbol" panose="05050102010706020507" pitchFamily="18" charset="2"/>
                          </a:rPr>
                          <m:t>𝑫</m:t>
                        </m:r>
                      </m:e>
                    </m:nary>
                    <m:r>
                      <a:rPr lang="en-US" altLang="zh-CN" sz="2400" b="1" i="1" smtClean="0">
                        <a:latin typeface="Cambria Math" panose="02040503050406030204" pitchFamily="18" charset="0"/>
                        <a:cs typeface="Times New Roman" panose="02020603050405020304" pitchFamily="18" charset="0"/>
                        <a:sym typeface="Symbol" panose="05050102010706020507" pitchFamily="18" charset="2"/>
                      </a:rPr>
                      <m:t>. </m:t>
                    </m:r>
                  </m:oMath>
                </a14:m>
                <a:endPar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endParaRPr>
              </a:p>
              <a:p>
                <a:pPr>
                  <a:lnSpc>
                    <a:spcPts val="3300"/>
                  </a:lnSpc>
                </a:pPr>
                <a:r>
                  <a:rPr lang="zh-CN" altLang="en-US" sz="2400" b="1" dirty="0" smtClean="0">
                    <a:latin typeface="Times New Roman" panose="02020603050405020304" pitchFamily="18" charset="0"/>
                    <a:cs typeface="Times New Roman" panose="02020603050405020304" pitchFamily="18" charset="0"/>
                    <a:sym typeface="Symbol" panose="05050102010706020507" pitchFamily="18" charset="2"/>
                  </a:rPr>
                  <a:t>于是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dirty="0" smtClean="0">
                    <a:latin typeface="Times New Roman" panose="02020603050405020304" pitchFamily="18" charset="0"/>
                    <a:cs typeface="Times New Roman" panose="02020603050405020304" pitchFamily="18" charset="0"/>
                    <a:sym typeface="Symbol" panose="05050102010706020507" pitchFamily="18" charset="2"/>
                  </a:rPr>
                  <a:t> </a:t>
                </a:r>
                <a14:m>
                  <m:oMath xmlns:m="http://schemas.openxmlformats.org/officeDocument/2006/math">
                    <m:r>
                      <a:rPr lang="en-US" altLang="zh-CN" sz="2400" b="1" i="1" dirty="0" smtClean="0">
                        <a:latin typeface="Cambria Math" panose="02040503050406030204" pitchFamily="18" charset="0"/>
                        <a:cs typeface="Times New Roman" panose="02020603050405020304" pitchFamily="18" charset="0"/>
                        <a:sym typeface="Symbol" panose="05050102010706020507" pitchFamily="18" charset="2"/>
                      </a:rPr>
                      <m:t>𝒂</m:t>
                    </m:r>
                    <m:r>
                      <a:rPr lang="en-US" altLang="zh-CN" sz="2400" b="1" i="1" dirty="0" smtClean="0">
                        <a:latin typeface="Cambria Math" panose="02040503050406030204" pitchFamily="18" charset="0"/>
                        <a:cs typeface="Times New Roman" panose="02020603050405020304" pitchFamily="18" charset="0"/>
                        <a:sym typeface="Symbol" panose="05050102010706020507" pitchFamily="18" charset="2"/>
                      </a:rPr>
                      <m:t>=</m:t>
                    </m:r>
                    <m:nary>
                      <m:naryPr>
                        <m:chr m:val="∑"/>
                        <m:ctrlPr>
                          <a:rPr lang="en-US" altLang="zh-CN" sz="2400" b="1" i="1" dirty="0" smtClean="0">
                            <a:latin typeface="Cambria Math" panose="02040503050406030204" pitchFamily="18" charset="0"/>
                            <a:cs typeface="Times New Roman" panose="02020603050405020304" pitchFamily="18" charset="0"/>
                            <a:sym typeface="Symbol" panose="05050102010706020507" pitchFamily="18" charset="2"/>
                          </a:rPr>
                        </m:ctrlPr>
                      </m:naryPr>
                      <m:sub>
                        <m:r>
                          <m:rPr>
                            <m:brk m:alnAt="23"/>
                          </m:rPr>
                          <a:rPr lang="en-US" altLang="zh-CN" sz="2400" b="1" i="1" dirty="0" smtClean="0">
                            <a:latin typeface="Cambria Math" panose="02040503050406030204" pitchFamily="18" charset="0"/>
                            <a:cs typeface="Times New Roman" panose="02020603050405020304" pitchFamily="18" charset="0"/>
                            <a:sym typeface="Symbol" panose="05050102010706020507" pitchFamily="18" charset="2"/>
                          </a:rPr>
                          <m:t>𝒊</m:t>
                        </m:r>
                        <m:r>
                          <a:rPr lang="en-US" altLang="zh-CN" sz="2400" b="1" i="1" dirty="0" smtClean="0">
                            <a:latin typeface="Cambria Math" panose="02040503050406030204" pitchFamily="18" charset="0"/>
                            <a:cs typeface="Times New Roman" panose="02020603050405020304" pitchFamily="18" charset="0"/>
                            <a:sym typeface="Symbol" panose="05050102010706020507" pitchFamily="18" charset="2"/>
                          </a:rPr>
                          <m:t>=</m:t>
                        </m:r>
                        <m:r>
                          <a:rPr lang="en-US" altLang="zh-CN" sz="2400" b="1" i="1" dirty="0" smtClean="0">
                            <a:latin typeface="Cambria Math" panose="02040503050406030204" pitchFamily="18" charset="0"/>
                            <a:cs typeface="Times New Roman" panose="02020603050405020304" pitchFamily="18" charset="0"/>
                            <a:sym typeface="Symbol" panose="05050102010706020507" pitchFamily="18" charset="2"/>
                          </a:rPr>
                          <m:t>𝟏</m:t>
                        </m:r>
                      </m:sub>
                      <m:sup>
                        <m:r>
                          <a:rPr lang="en-US" altLang="zh-CN" sz="2400" b="1" i="1" dirty="0" smtClean="0">
                            <a:latin typeface="Cambria Math" panose="02040503050406030204" pitchFamily="18" charset="0"/>
                            <a:cs typeface="Times New Roman" panose="02020603050405020304" pitchFamily="18" charset="0"/>
                            <a:sym typeface="Symbol" panose="05050102010706020507" pitchFamily="18" charset="2"/>
                          </a:rPr>
                          <m:t>𝒏</m:t>
                        </m:r>
                      </m:sup>
                      <m:e>
                        <m:sSub>
                          <m:sSubPr>
                            <m:ctrlPr>
                              <a:rPr lang="en-US" altLang="zh-CN" sz="2400" b="1" i="1" dirty="0" smtClean="0">
                                <a:latin typeface="Cambria Math" panose="02040503050406030204" pitchFamily="18" charset="0"/>
                                <a:cs typeface="Times New Roman" panose="02020603050405020304" pitchFamily="18" charset="0"/>
                                <a:sym typeface="Symbol" panose="05050102010706020507" pitchFamily="18" charset="2"/>
                              </a:rPr>
                            </m:ctrlPr>
                          </m:sSubPr>
                          <m:e>
                            <m:r>
                              <a:rPr lang="en-US" altLang="zh-CN" sz="2400" b="1" i="1" dirty="0" smtClean="0">
                                <a:latin typeface="Cambria Math" panose="02040503050406030204" pitchFamily="18" charset="0"/>
                                <a:cs typeface="Times New Roman" panose="02020603050405020304" pitchFamily="18" charset="0"/>
                                <a:sym typeface="Symbol" panose="05050102010706020507" pitchFamily="18" charset="2"/>
                              </a:rPr>
                              <m:t>𝒙</m:t>
                            </m:r>
                          </m:e>
                          <m:sub>
                            <m:r>
                              <a:rPr lang="en-US" altLang="zh-CN" sz="2400" b="1" i="1" dirty="0" smtClean="0">
                                <a:latin typeface="Cambria Math" panose="02040503050406030204" pitchFamily="18" charset="0"/>
                                <a:cs typeface="Times New Roman" panose="02020603050405020304" pitchFamily="18" charset="0"/>
                                <a:sym typeface="Symbol" panose="05050102010706020507" pitchFamily="18" charset="2"/>
                              </a:rPr>
                              <m:t>𝒊</m:t>
                            </m:r>
                          </m:sub>
                        </m:sSub>
                      </m:e>
                    </m:nary>
                    <m:r>
                      <a:rPr lang="en-US" altLang="zh-CN" sz="2400" b="1" i="1" dirty="0" smtClean="0">
                        <a:latin typeface="Cambria Math" panose="02040503050406030204" pitchFamily="18" charset="0"/>
                        <a:cs typeface="Times New Roman" panose="02020603050405020304" pitchFamily="18" charset="0"/>
                        <a:sym typeface="Symbol" panose="05050102010706020507" pitchFamily="18" charset="2"/>
                      </a:rPr>
                      <m:t>−</m:t>
                    </m:r>
                    <m:r>
                      <a:rPr lang="en-US" altLang="zh-CN" sz="2400" b="1" i="1" dirty="0">
                        <a:latin typeface="Cambria Math" panose="02040503050406030204" pitchFamily="18" charset="0"/>
                        <a:cs typeface="Times New Roman" panose="02020603050405020304" pitchFamily="18" charset="0"/>
                        <a:sym typeface="Symbol" panose="05050102010706020507" pitchFamily="18" charset="2"/>
                      </a:rPr>
                      <m:t>2</m:t>
                    </m:r>
                    <m:r>
                      <a:rPr lang="en-US" altLang="zh-CN" sz="2400" b="1" i="1" dirty="0" smtClean="0">
                        <a:latin typeface="Cambria Math" panose="02040503050406030204" pitchFamily="18" charset="0"/>
                        <a:cs typeface="Times New Roman" panose="02020603050405020304" pitchFamily="18" charset="0"/>
                        <a:sym typeface="Symbol" panose="05050102010706020507" pitchFamily="18" charset="2"/>
                      </a:rPr>
                      <m:t>𝑵</m:t>
                    </m:r>
                    <m:r>
                      <a:rPr lang="en-US" altLang="zh-CN" sz="2400" b="1" i="1" dirty="0" smtClean="0">
                        <a:latin typeface="Cambria Math" panose="02040503050406030204" pitchFamily="18" charset="0"/>
                        <a:cs typeface="Times New Roman" panose="02020603050405020304" pitchFamily="18" charset="0"/>
                        <a:sym typeface="Symbol" panose="05050102010706020507" pitchFamily="18" charset="2"/>
                      </a:rPr>
                      <m:t>+</m:t>
                    </m:r>
                    <m:r>
                      <a:rPr lang="en-US" altLang="zh-CN" sz="2400" b="1" i="1" dirty="0" smtClean="0">
                        <a:latin typeface="Cambria Math" panose="02040503050406030204" pitchFamily="18" charset="0"/>
                        <a:cs typeface="Times New Roman" panose="02020603050405020304" pitchFamily="18" charset="0"/>
                        <a:sym typeface="Symbol" panose="05050102010706020507" pitchFamily="18" charset="2"/>
                      </a:rPr>
                      <m:t>𝒃</m:t>
                    </m:r>
                  </m:oMath>
                </a14:m>
                <a:endPar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endParaRPr>
              </a:p>
              <a:p>
                <a:pPr>
                  <a:lnSpc>
                    <a:spcPts val="3300"/>
                  </a:lnSpc>
                </a:pPr>
                <a:r>
                  <a:rPr lang="zh-CN" altLang="en-US" sz="2400" b="1" dirty="0">
                    <a:latin typeface="Times New Roman" panose="02020603050405020304" pitchFamily="18" charset="0"/>
                    <a:cs typeface="Times New Roman" panose="02020603050405020304" pitchFamily="18" charset="0"/>
                    <a:sym typeface="Symbol" panose="05050102010706020507" pitchFamily="18" charset="2"/>
                  </a:rPr>
                  <a:t>取</a:t>
                </a:r>
                <a:r>
                  <a:rPr lang="zh-CN" altLang="en-US" sz="2400" b="1" dirty="0" smtClean="0">
                    <a:latin typeface="Times New Roman" panose="02020603050405020304" pitchFamily="18" charset="0"/>
                    <a:cs typeface="Times New Roman" panose="02020603050405020304" pitchFamily="18" charset="0"/>
                    <a:sym typeface="Symbol" panose="05050102010706020507" pitchFamily="18" charset="2"/>
                  </a:rPr>
                  <a:t>  </a:t>
                </a:r>
                <a14:m>
                  <m:oMath xmlns:m="http://schemas.openxmlformats.org/officeDocument/2006/math">
                    <m:r>
                      <a:rPr lang="en-US" altLang="zh-CN" sz="2400" b="1" i="1" dirty="0" smtClean="0">
                        <a:latin typeface="Cambria Math" panose="02040503050406030204" pitchFamily="18" charset="0"/>
                        <a:cs typeface="Times New Roman" panose="02020603050405020304" pitchFamily="18" charset="0"/>
                        <a:sym typeface="Symbol" panose="05050102010706020507" pitchFamily="18" charset="2"/>
                      </a:rPr>
                      <m:t>𝒃</m:t>
                    </m:r>
                    <m:r>
                      <a:rPr lang="en-US" altLang="zh-CN" sz="2400" b="1" i="1" dirty="0" smtClean="0">
                        <a:latin typeface="Cambria Math" panose="02040503050406030204" pitchFamily="18" charset="0"/>
                        <a:cs typeface="Times New Roman" panose="02020603050405020304" pitchFamily="18" charset="0"/>
                        <a:sym typeface="Symbol" panose="05050102010706020507" pitchFamily="18" charset="2"/>
                      </a:rPr>
                      <m:t>=</m:t>
                    </m:r>
                    <m:nary>
                      <m:naryPr>
                        <m:chr m:val="∑"/>
                        <m:ctrlPr>
                          <a:rPr lang="en-US" altLang="zh-CN" sz="2400" b="1" i="1" dirty="0" smtClean="0">
                            <a:latin typeface="Cambria Math" panose="02040503050406030204" pitchFamily="18" charset="0"/>
                            <a:cs typeface="Times New Roman" panose="02020603050405020304" pitchFamily="18" charset="0"/>
                            <a:sym typeface="Symbol" panose="05050102010706020507" pitchFamily="18" charset="2"/>
                          </a:rPr>
                        </m:ctrlPr>
                      </m:naryPr>
                      <m:sub>
                        <m:r>
                          <m:rPr>
                            <m:brk m:alnAt="23"/>
                          </m:rPr>
                          <a:rPr lang="en-US" altLang="zh-CN" sz="2400" b="1" i="1" dirty="0" smtClean="0">
                            <a:latin typeface="Cambria Math" panose="02040503050406030204" pitchFamily="18" charset="0"/>
                            <a:cs typeface="Times New Roman" panose="02020603050405020304" pitchFamily="18" charset="0"/>
                            <a:sym typeface="Symbol" panose="05050102010706020507" pitchFamily="18" charset="2"/>
                          </a:rPr>
                          <m:t>𝒊</m:t>
                        </m:r>
                        <m:r>
                          <a:rPr lang="en-US" altLang="zh-CN" sz="2400" b="1" i="1" dirty="0" smtClean="0">
                            <a:latin typeface="Cambria Math" panose="02040503050406030204" pitchFamily="18" charset="0"/>
                            <a:cs typeface="Times New Roman" panose="02020603050405020304" pitchFamily="18" charset="0"/>
                            <a:sym typeface="Symbol" panose="05050102010706020507" pitchFamily="18" charset="2"/>
                          </a:rPr>
                          <m:t>=</m:t>
                        </m:r>
                        <m:r>
                          <a:rPr lang="en-US" altLang="zh-CN" sz="2400" b="1" i="1" dirty="0" smtClean="0">
                            <a:latin typeface="Cambria Math" panose="02040503050406030204" pitchFamily="18" charset="0"/>
                            <a:cs typeface="Times New Roman" panose="02020603050405020304" pitchFamily="18" charset="0"/>
                            <a:sym typeface="Symbol" panose="05050102010706020507" pitchFamily="18" charset="2"/>
                          </a:rPr>
                          <m:t>𝟏</m:t>
                        </m:r>
                      </m:sub>
                      <m:sup>
                        <m:r>
                          <a:rPr lang="en-US" altLang="zh-CN" sz="2400" b="1" i="1" dirty="0" smtClean="0">
                            <a:latin typeface="Cambria Math" panose="02040503050406030204" pitchFamily="18" charset="0"/>
                            <a:cs typeface="Times New Roman" panose="02020603050405020304" pitchFamily="18" charset="0"/>
                            <a:sym typeface="Symbol" panose="05050102010706020507" pitchFamily="18" charset="2"/>
                          </a:rPr>
                          <m:t>𝒏</m:t>
                        </m:r>
                      </m:sup>
                      <m:e>
                        <m:sSub>
                          <m:sSubPr>
                            <m:ctrlPr>
                              <a:rPr lang="en-US" altLang="zh-CN" sz="2400" b="1" i="1" dirty="0" smtClean="0">
                                <a:latin typeface="Cambria Math" panose="02040503050406030204" pitchFamily="18" charset="0"/>
                                <a:cs typeface="Times New Roman" panose="02020603050405020304" pitchFamily="18" charset="0"/>
                                <a:sym typeface="Symbol" panose="05050102010706020507" pitchFamily="18" charset="2"/>
                              </a:rPr>
                            </m:ctrlPr>
                          </m:sSubPr>
                          <m:e>
                            <m:r>
                              <a:rPr lang="en-US" altLang="zh-CN" sz="2400" b="1" i="1" dirty="0" smtClean="0">
                                <a:latin typeface="Cambria Math" panose="02040503050406030204" pitchFamily="18" charset="0"/>
                                <a:cs typeface="Times New Roman" panose="02020603050405020304" pitchFamily="18" charset="0"/>
                                <a:sym typeface="Symbol" panose="05050102010706020507" pitchFamily="18" charset="2"/>
                              </a:rPr>
                              <m:t>𝒙</m:t>
                            </m:r>
                          </m:e>
                          <m:sub>
                            <m:r>
                              <a:rPr lang="en-US" altLang="zh-CN" sz="2400" b="1" i="1" dirty="0" smtClean="0">
                                <a:latin typeface="Cambria Math" panose="02040503050406030204" pitchFamily="18" charset="0"/>
                                <a:cs typeface="Times New Roman" panose="02020603050405020304" pitchFamily="18" charset="0"/>
                                <a:sym typeface="Symbol" panose="05050102010706020507" pitchFamily="18" charset="2"/>
                              </a:rPr>
                              <m:t>𝒊</m:t>
                            </m:r>
                          </m:sub>
                        </m:sSub>
                      </m:e>
                    </m:nary>
                    <m:r>
                      <a:rPr lang="en-US" altLang="zh-CN" sz="2400" b="1" i="1" dirty="0" smtClean="0">
                        <a:latin typeface="Cambria Math" panose="02040503050406030204" pitchFamily="18" charset="0"/>
                        <a:cs typeface="Times New Roman" panose="02020603050405020304" pitchFamily="18" charset="0"/>
                        <a:sym typeface="Symbol" panose="05050102010706020507" pitchFamily="18" charset="2"/>
                      </a:rPr>
                      <m:t>+</m:t>
                    </m:r>
                    <m:r>
                      <a:rPr lang="en-US" altLang="zh-CN" sz="2400" b="1" i="1" dirty="0">
                        <a:latin typeface="Cambria Math" panose="02040503050406030204" pitchFamily="18" charset="0"/>
                        <a:cs typeface="Times New Roman" panose="02020603050405020304" pitchFamily="18" charset="0"/>
                        <a:sym typeface="Symbol" panose="05050102010706020507" pitchFamily="18" charset="2"/>
                      </a:rPr>
                      <m:t>2</m:t>
                    </m:r>
                    <m:r>
                      <a:rPr lang="en-US" altLang="zh-CN" sz="2400" b="1" i="1" dirty="0" smtClean="0">
                        <a:latin typeface="Cambria Math" panose="02040503050406030204" pitchFamily="18" charset="0"/>
                        <a:cs typeface="Times New Roman" panose="02020603050405020304" pitchFamily="18" charset="0"/>
                        <a:sym typeface="Symbol" panose="05050102010706020507" pitchFamily="18" charset="2"/>
                      </a:rPr>
                      <m:t>𝑵</m:t>
                    </m:r>
                    <m:r>
                      <a:rPr lang="en-US" altLang="zh-CN" sz="2400" b="1" i="1" dirty="0" smtClean="0">
                        <a:latin typeface="Cambria Math" panose="02040503050406030204" pitchFamily="18" charset="0"/>
                        <a:cs typeface="Times New Roman" panose="02020603050405020304" pitchFamily="18" charset="0"/>
                        <a:sym typeface="Symbol" panose="05050102010706020507" pitchFamily="18" charset="2"/>
                      </a:rPr>
                      <m:t>,  </m:t>
                    </m:r>
                    <m:r>
                      <a:rPr lang="en-US" altLang="zh-CN" sz="2400" b="1" i="1" dirty="0" smtClean="0">
                        <a:latin typeface="Cambria Math" panose="02040503050406030204" pitchFamily="18" charset="0"/>
                        <a:cs typeface="Times New Roman" panose="02020603050405020304" pitchFamily="18" charset="0"/>
                        <a:sym typeface="Symbol" panose="05050102010706020507" pitchFamily="18" charset="2"/>
                      </a:rPr>
                      <m:t>𝒂</m:t>
                    </m:r>
                    <m:r>
                      <a:rPr lang="en-US" altLang="zh-CN" sz="2400" b="1" i="1" dirty="0" smtClean="0">
                        <a:latin typeface="Cambria Math" panose="02040503050406030204" pitchFamily="18" charset="0"/>
                        <a:cs typeface="Times New Roman" panose="02020603050405020304" pitchFamily="18" charset="0"/>
                        <a:sym typeface="Symbol" panose="05050102010706020507" pitchFamily="18" charset="2"/>
                      </a:rPr>
                      <m:t>=</m:t>
                    </m:r>
                    <m:r>
                      <a:rPr lang="en-US" altLang="zh-CN" sz="2400" b="1" i="1" dirty="0" smtClean="0">
                        <a:latin typeface="Cambria Math" panose="02040503050406030204" pitchFamily="18" charset="0"/>
                        <a:cs typeface="Times New Roman" panose="02020603050405020304" pitchFamily="18" charset="0"/>
                        <a:sym typeface="Symbol" panose="05050102010706020507" pitchFamily="18" charset="2"/>
                      </a:rPr>
                      <m:t>𝟐</m:t>
                    </m:r>
                    <m:nary>
                      <m:naryPr>
                        <m:chr m:val="∑"/>
                        <m:ctrlPr>
                          <a:rPr lang="en-US" altLang="zh-CN" sz="2400" b="1" i="1" dirty="0" smtClean="0">
                            <a:latin typeface="Cambria Math" panose="02040503050406030204" pitchFamily="18" charset="0"/>
                            <a:cs typeface="Times New Roman" panose="02020603050405020304" pitchFamily="18" charset="0"/>
                            <a:sym typeface="Symbol" panose="05050102010706020507" pitchFamily="18" charset="2"/>
                          </a:rPr>
                        </m:ctrlPr>
                      </m:naryPr>
                      <m:sub>
                        <m:r>
                          <m:rPr>
                            <m:brk m:alnAt="23"/>
                          </m:rPr>
                          <a:rPr lang="en-US" altLang="zh-CN" sz="2400" b="1" i="1" dirty="0" smtClean="0">
                            <a:latin typeface="Cambria Math" panose="02040503050406030204" pitchFamily="18" charset="0"/>
                            <a:cs typeface="Times New Roman" panose="02020603050405020304" pitchFamily="18" charset="0"/>
                            <a:sym typeface="Symbol" panose="05050102010706020507" pitchFamily="18" charset="2"/>
                          </a:rPr>
                          <m:t>𝒊</m:t>
                        </m:r>
                        <m:r>
                          <a:rPr lang="en-US" altLang="zh-CN" sz="2400" b="1" i="1" dirty="0" smtClean="0">
                            <a:latin typeface="Cambria Math" panose="02040503050406030204" pitchFamily="18" charset="0"/>
                            <a:cs typeface="Times New Roman" panose="02020603050405020304" pitchFamily="18" charset="0"/>
                            <a:sym typeface="Symbol" panose="05050102010706020507" pitchFamily="18" charset="2"/>
                          </a:rPr>
                          <m:t>=</m:t>
                        </m:r>
                        <m:r>
                          <a:rPr lang="en-US" altLang="zh-CN" sz="2400" b="1" i="1" dirty="0" smtClean="0">
                            <a:latin typeface="Cambria Math" panose="02040503050406030204" pitchFamily="18" charset="0"/>
                            <a:cs typeface="Times New Roman" panose="02020603050405020304" pitchFamily="18" charset="0"/>
                            <a:sym typeface="Symbol" panose="05050102010706020507" pitchFamily="18" charset="2"/>
                          </a:rPr>
                          <m:t>𝟏</m:t>
                        </m:r>
                      </m:sub>
                      <m:sup>
                        <m:r>
                          <a:rPr lang="en-US" altLang="zh-CN" sz="2400" b="1" i="1" dirty="0" smtClean="0">
                            <a:latin typeface="Cambria Math" panose="02040503050406030204" pitchFamily="18" charset="0"/>
                            <a:cs typeface="Times New Roman" panose="02020603050405020304" pitchFamily="18" charset="0"/>
                            <a:sym typeface="Symbol" panose="05050102010706020507" pitchFamily="18" charset="2"/>
                          </a:rPr>
                          <m:t>𝒏</m:t>
                        </m:r>
                      </m:sup>
                      <m:e>
                        <m:sSub>
                          <m:sSubPr>
                            <m:ctrlPr>
                              <a:rPr lang="en-US" altLang="zh-CN" sz="2400" b="1" i="1" dirty="0" smtClean="0">
                                <a:latin typeface="Cambria Math" panose="02040503050406030204" pitchFamily="18" charset="0"/>
                                <a:cs typeface="Times New Roman" panose="02020603050405020304" pitchFamily="18" charset="0"/>
                                <a:sym typeface="Symbol" panose="05050102010706020507" pitchFamily="18" charset="2"/>
                              </a:rPr>
                            </m:ctrlPr>
                          </m:sSubPr>
                          <m:e>
                            <m:r>
                              <a:rPr lang="en-US" altLang="zh-CN" sz="2400" b="1" i="1" dirty="0" smtClean="0">
                                <a:latin typeface="Cambria Math" panose="02040503050406030204" pitchFamily="18" charset="0"/>
                                <a:cs typeface="Times New Roman" panose="02020603050405020304" pitchFamily="18" charset="0"/>
                                <a:sym typeface="Symbol" panose="05050102010706020507" pitchFamily="18" charset="2"/>
                              </a:rPr>
                              <m:t>𝒙</m:t>
                            </m:r>
                          </m:e>
                          <m:sub>
                            <m:r>
                              <a:rPr lang="en-US" altLang="zh-CN" sz="2400" b="1" i="1" dirty="0" smtClean="0">
                                <a:latin typeface="Cambria Math" panose="02040503050406030204" pitchFamily="18" charset="0"/>
                                <a:cs typeface="Times New Roman" panose="02020603050405020304" pitchFamily="18" charset="0"/>
                                <a:sym typeface="Symbol" panose="05050102010706020507" pitchFamily="18" charset="2"/>
                              </a:rPr>
                              <m:t>𝒊</m:t>
                            </m:r>
                          </m:sub>
                        </m:sSub>
                      </m:e>
                    </m:nary>
                    <m:r>
                      <a:rPr lang="en-US" altLang="zh-CN" sz="2400" b="1" i="1" dirty="0" smtClean="0">
                        <a:latin typeface="Cambria Math" panose="02040503050406030204" pitchFamily="18" charset="0"/>
                        <a:cs typeface="Times New Roman" panose="02020603050405020304" pitchFamily="18" charset="0"/>
                        <a:sym typeface="Symbol" panose="05050102010706020507" pitchFamily="18" charset="2"/>
                      </a:rPr>
                      <m:t>,  </m:t>
                    </m:r>
                    <m:r>
                      <a:rPr lang="en-US" altLang="zh-CN" sz="2400" b="1" i="1" dirty="0" smtClean="0">
                        <a:latin typeface="Cambria Math" panose="02040503050406030204" pitchFamily="18" charset="0"/>
                        <a:cs typeface="Times New Roman" panose="02020603050405020304" pitchFamily="18" charset="0"/>
                        <a:sym typeface="Symbol" panose="05050102010706020507" pitchFamily="18" charset="2"/>
                      </a:rPr>
                      <m:t>𝑫</m:t>
                    </m:r>
                    <m:r>
                      <a:rPr lang="en-US" altLang="zh-CN" sz="2400" b="1" i="1" dirty="0" smtClean="0">
                        <a:latin typeface="Cambria Math" panose="02040503050406030204" pitchFamily="18" charset="0"/>
                        <a:cs typeface="Times New Roman" panose="02020603050405020304" pitchFamily="18" charset="0"/>
                        <a:sym typeface="Symbol" panose="05050102010706020507" pitchFamily="18" charset="2"/>
                      </a:rPr>
                      <m:t>=</m:t>
                    </m:r>
                    <m:r>
                      <a:rPr lang="en-US" altLang="zh-CN" sz="2400" b="1" i="1" dirty="0" smtClean="0">
                        <a:latin typeface="Cambria Math" panose="02040503050406030204" pitchFamily="18" charset="0"/>
                        <a:cs typeface="Times New Roman" panose="02020603050405020304" pitchFamily="18" charset="0"/>
                        <a:sym typeface="Symbol" panose="05050102010706020507" pitchFamily="18" charset="2"/>
                      </a:rPr>
                      <m:t>𝟐</m:t>
                    </m:r>
                    <m:nary>
                      <m:naryPr>
                        <m:chr m:val="∑"/>
                        <m:ctrlPr>
                          <a:rPr lang="en-US" altLang="zh-CN" sz="2400" b="1" i="1" dirty="0" smtClean="0">
                            <a:latin typeface="Cambria Math" panose="02040503050406030204" pitchFamily="18" charset="0"/>
                            <a:cs typeface="Times New Roman" panose="02020603050405020304" pitchFamily="18" charset="0"/>
                            <a:sym typeface="Symbol" panose="05050102010706020507" pitchFamily="18" charset="2"/>
                          </a:rPr>
                        </m:ctrlPr>
                      </m:naryPr>
                      <m:sub>
                        <m:r>
                          <m:rPr>
                            <m:brk m:alnAt="23"/>
                          </m:rPr>
                          <a:rPr lang="en-US" altLang="zh-CN" sz="2400" b="1" i="1" dirty="0" smtClean="0">
                            <a:latin typeface="Cambria Math" panose="02040503050406030204" pitchFamily="18" charset="0"/>
                            <a:cs typeface="Times New Roman" panose="02020603050405020304" pitchFamily="18" charset="0"/>
                            <a:sym typeface="Symbol" panose="05050102010706020507" pitchFamily="18" charset="2"/>
                          </a:rPr>
                          <m:t>𝒊</m:t>
                        </m:r>
                        <m:r>
                          <a:rPr lang="en-US" altLang="zh-CN" sz="2400" b="1" i="1" dirty="0" smtClean="0">
                            <a:latin typeface="Cambria Math" panose="02040503050406030204" pitchFamily="18" charset="0"/>
                            <a:cs typeface="Times New Roman" panose="02020603050405020304" pitchFamily="18" charset="0"/>
                            <a:sym typeface="Symbol" panose="05050102010706020507" pitchFamily="18" charset="2"/>
                          </a:rPr>
                          <m:t>=</m:t>
                        </m:r>
                        <m:r>
                          <a:rPr lang="en-US" altLang="zh-CN" sz="2400" b="1" i="1" dirty="0" smtClean="0">
                            <a:latin typeface="Cambria Math" panose="02040503050406030204" pitchFamily="18" charset="0"/>
                            <a:cs typeface="Times New Roman" panose="02020603050405020304" pitchFamily="18" charset="0"/>
                            <a:sym typeface="Symbol" panose="05050102010706020507" pitchFamily="18" charset="2"/>
                          </a:rPr>
                          <m:t>𝟏</m:t>
                        </m:r>
                      </m:sub>
                      <m:sup>
                        <m:r>
                          <a:rPr lang="en-US" altLang="zh-CN" sz="2400" b="1" i="1" dirty="0" smtClean="0">
                            <a:latin typeface="Cambria Math" panose="02040503050406030204" pitchFamily="18" charset="0"/>
                            <a:cs typeface="Times New Roman" panose="02020603050405020304" pitchFamily="18" charset="0"/>
                            <a:sym typeface="Symbol" panose="05050102010706020507" pitchFamily="18" charset="2"/>
                          </a:rPr>
                          <m:t>𝒏</m:t>
                        </m:r>
                      </m:sup>
                      <m:e>
                        <m:sSub>
                          <m:sSubPr>
                            <m:ctrlPr>
                              <a:rPr lang="en-US" altLang="zh-CN" sz="2400" b="1" i="1" dirty="0" smtClean="0">
                                <a:latin typeface="Cambria Math" panose="02040503050406030204" pitchFamily="18" charset="0"/>
                                <a:cs typeface="Times New Roman" panose="02020603050405020304" pitchFamily="18" charset="0"/>
                                <a:sym typeface="Symbol" panose="05050102010706020507" pitchFamily="18" charset="2"/>
                              </a:rPr>
                            </m:ctrlPr>
                          </m:sSubPr>
                          <m:e>
                            <m:r>
                              <a:rPr lang="en-US" altLang="zh-CN" sz="2400" b="1" i="1" dirty="0" smtClean="0">
                                <a:latin typeface="Cambria Math" panose="02040503050406030204" pitchFamily="18" charset="0"/>
                                <a:cs typeface="Times New Roman" panose="02020603050405020304" pitchFamily="18" charset="0"/>
                                <a:sym typeface="Symbol" panose="05050102010706020507" pitchFamily="18" charset="2"/>
                              </a:rPr>
                              <m:t>𝒙</m:t>
                            </m:r>
                          </m:e>
                          <m:sub>
                            <m:r>
                              <a:rPr lang="en-US" altLang="zh-CN" sz="2400" b="1" i="1" dirty="0" smtClean="0">
                                <a:latin typeface="Cambria Math" panose="02040503050406030204" pitchFamily="18" charset="0"/>
                                <a:cs typeface="Times New Roman" panose="02020603050405020304" pitchFamily="18" charset="0"/>
                                <a:sym typeface="Symbol" panose="05050102010706020507" pitchFamily="18" charset="2"/>
                              </a:rPr>
                              <m:t>𝒊</m:t>
                            </m:r>
                          </m:sub>
                        </m:sSub>
                      </m:e>
                    </m:nary>
                    <m:r>
                      <a:rPr lang="en-US" altLang="zh-CN" sz="2400" b="1" i="1" dirty="0" smtClean="0">
                        <a:latin typeface="Cambria Math" panose="02040503050406030204" pitchFamily="18" charset="0"/>
                        <a:cs typeface="Times New Roman" panose="02020603050405020304" pitchFamily="18" charset="0"/>
                        <a:sym typeface="Symbol" panose="05050102010706020507" pitchFamily="18" charset="2"/>
                      </a:rPr>
                      <m:t>+</m:t>
                    </m:r>
                  </m:oMath>
                </a14:m>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N</a:t>
                </a:r>
                <a:endPar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endParaRPr>
              </a:p>
              <a:p>
                <a:pPr>
                  <a:lnSpc>
                    <a:spcPts val="3300"/>
                  </a:lnSpc>
                  <a:spcBef>
                    <a:spcPts val="1200"/>
                  </a:spcBef>
                </a:pPr>
                <a:r>
                  <a:rPr lang="zh-CN" altLang="zh-CN" sz="2400" b="1" dirty="0"/>
                  <a:t>不难证明上述构造满足多项式变换的</a:t>
                </a:r>
                <a:r>
                  <a:rPr lang="zh-CN" altLang="zh-CN" sz="2400" b="1" dirty="0" smtClean="0"/>
                  <a:t>要求</a:t>
                </a:r>
                <a:r>
                  <a:rPr lang="en-US" altLang="zh-CN" sz="2400" b="1" dirty="0" smtClean="0"/>
                  <a:t>. </a:t>
                </a:r>
                <a:endParaRPr lang="zh-CN" altLang="en-US" sz="2400" b="1" dirty="0"/>
              </a:p>
            </p:txBody>
          </p:sp>
        </mc:Choice>
        <mc:Fallback>
          <p:sp>
            <p:nvSpPr>
              <p:cNvPr id="3" name="矩形 2"/>
              <p:cNvSpPr>
                <a:spLocks noRot="1" noChangeAspect="1" noMove="1" noResize="1" noEditPoints="1" noAdjustHandles="1" noChangeArrowheads="1" noChangeShapeType="1" noTextEdit="1"/>
              </p:cNvSpPr>
              <p:nvPr/>
            </p:nvSpPr>
            <p:spPr>
              <a:xfrm>
                <a:off x="863588" y="1427224"/>
                <a:ext cx="7416824" cy="4732065"/>
              </a:xfrm>
              <a:prstGeom prst="rect">
                <a:avLst/>
              </a:prstGeom>
              <a:blipFill rotWithShape="1">
                <a:blip r:embed="rId1"/>
                <a:stretch>
                  <a:fillRect l="-8" t="-8" b="-15772"/>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1"/>
          <p:cNvSpPr>
            <a:spLocks noGrp="1"/>
          </p:cNvSpPr>
          <p:nvPr>
            <p:ph type="title"/>
          </p:nvPr>
        </p:nvSpPr>
        <p:spPr>
          <a:xfrm>
            <a:off x="457200" y="115888"/>
            <a:ext cx="8229600" cy="1143000"/>
          </a:xfrm>
        </p:spPr>
        <p:txBody>
          <a:bodyPr/>
          <a:lstStyle/>
          <a:p>
            <a:r>
              <a:rPr lang="zh-CN" altLang="en-US" b="1" smtClean="0">
                <a:solidFill>
                  <a:srgbClr val="C00000"/>
                </a:solidFill>
              </a:rPr>
              <a:t>整数线性规划</a:t>
            </a:r>
            <a:endParaRPr lang="zh-CN" altLang="en-US" b="1" smtClean="0">
              <a:solidFill>
                <a:srgbClr val="C00000"/>
              </a:solidFill>
            </a:endParaRPr>
          </a:p>
        </p:txBody>
      </p:sp>
      <p:sp>
        <p:nvSpPr>
          <p:cNvPr id="56323" name="内容占位符 2"/>
          <p:cNvSpPr>
            <a:spLocks noGrp="1"/>
          </p:cNvSpPr>
          <p:nvPr>
            <p:ph idx="1"/>
          </p:nvPr>
        </p:nvSpPr>
        <p:spPr>
          <a:xfrm>
            <a:off x="611188" y="1258888"/>
            <a:ext cx="8229600" cy="5040312"/>
          </a:xfrm>
        </p:spPr>
        <p:txBody>
          <a:bodyPr/>
          <a:lstStyle/>
          <a:p>
            <a:pPr marL="0" indent="0">
              <a:buFont typeface="Arial" panose="020B0604020202020204" pitchFamily="34" charset="0"/>
              <a:buNone/>
            </a:pPr>
            <a:r>
              <a:rPr lang="zh-CN" altLang="en-US" sz="2400" b="1" smtClean="0"/>
              <a:t>整数线性规划的一般形式</a:t>
            </a:r>
            <a:endParaRPr lang="en-US" altLang="zh-CN" sz="2400" b="1" smtClean="0"/>
          </a:p>
          <a:p>
            <a:pPr marL="0" indent="0">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                               min </a:t>
            </a:r>
            <a:r>
              <a:rPr lang="en-US" altLang="zh-CN" sz="2400" b="1" i="1" smtClean="0">
                <a:latin typeface="Times New Roman" panose="02020603050405020304" pitchFamily="18" charset="0"/>
                <a:cs typeface="Times New Roman" panose="02020603050405020304" pitchFamily="18" charset="0"/>
              </a:rPr>
              <a:t>c</a:t>
            </a:r>
            <a:r>
              <a:rPr lang="en-US" altLang="zh-CN" sz="2400" b="1" i="1" baseline="30000" smtClean="0">
                <a:latin typeface="Times New Roman" panose="02020603050405020304" pitchFamily="18" charset="0"/>
                <a:cs typeface="Times New Roman" panose="02020603050405020304" pitchFamily="18" charset="0"/>
              </a:rPr>
              <a:t>T</a:t>
            </a:r>
            <a:r>
              <a:rPr lang="en-US" altLang="zh-CN" sz="2400" b="1" i="1" smtClean="0">
                <a:latin typeface="Times New Roman" panose="02020603050405020304" pitchFamily="18" charset="0"/>
                <a:cs typeface="Times New Roman" panose="02020603050405020304" pitchFamily="18" charset="0"/>
              </a:rPr>
              <a:t>x</a:t>
            </a:r>
            <a:endParaRPr lang="zh-CN" altLang="zh-CN" sz="2400" b="1" smtClean="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                               s.t.   </a:t>
            </a:r>
            <a:r>
              <a:rPr lang="en-US" altLang="zh-CN" sz="2400" b="1" i="1" smtClean="0">
                <a:latin typeface="Times New Roman" panose="02020603050405020304" pitchFamily="18" charset="0"/>
                <a:cs typeface="Times New Roman" panose="02020603050405020304" pitchFamily="18" charset="0"/>
              </a:rPr>
              <a:t>Ax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rPr>
              <a:t>b</a:t>
            </a:r>
            <a:endParaRPr lang="zh-CN" altLang="zh-CN" sz="2400" b="1" smtClean="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x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smtClean="0">
                <a:latin typeface="Times New Roman" panose="02020603050405020304" pitchFamily="18" charset="0"/>
                <a:cs typeface="Times New Roman" panose="02020603050405020304" pitchFamily="18" charset="0"/>
              </a:rPr>
              <a:t>0, </a:t>
            </a:r>
            <a:r>
              <a:rPr lang="zh-CN" altLang="zh-CN" sz="2400" b="1" smtClean="0">
                <a:latin typeface="Times New Roman" panose="02020603050405020304" pitchFamily="18" charset="0"/>
                <a:cs typeface="Times New Roman" panose="02020603050405020304" pitchFamily="18" charset="0"/>
              </a:rPr>
              <a:t>整数</a:t>
            </a:r>
            <a:r>
              <a:rPr lang="en-US" altLang="zh-CN" sz="2400" b="1" smtClean="0">
                <a:latin typeface="Times New Roman" panose="02020603050405020304" pitchFamily="18" charset="0"/>
                <a:cs typeface="Times New Roman" panose="02020603050405020304" pitchFamily="18" charset="0"/>
              </a:rPr>
              <a:t>    </a:t>
            </a:r>
            <a:endParaRPr lang="zh-CN" altLang="zh-CN" sz="2400" b="1" smtClean="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zh-CN" altLang="zh-CN" sz="2400" b="1" smtClean="0">
                <a:latin typeface="Times New Roman" panose="02020603050405020304" pitchFamily="18" charset="0"/>
                <a:cs typeface="Times New Roman" panose="02020603050405020304" pitchFamily="18" charset="0"/>
              </a:rPr>
              <a:t>其中</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A </a:t>
            </a:r>
            <a:r>
              <a:rPr lang="zh-CN" altLang="zh-CN" sz="2400" b="1" smtClean="0">
                <a:latin typeface="Times New Roman" panose="02020603050405020304" pitchFamily="18" charset="0"/>
                <a:cs typeface="Times New Roman" panose="02020603050405020304" pitchFamily="18" charset="0"/>
              </a:rPr>
              <a:t>是</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m</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n </a:t>
            </a:r>
            <a:r>
              <a:rPr lang="zh-CN" altLang="zh-CN" sz="2400" b="1" smtClean="0">
                <a:latin typeface="Times New Roman" panose="02020603050405020304" pitchFamily="18" charset="0"/>
                <a:cs typeface="Times New Roman" panose="02020603050405020304" pitchFamily="18" charset="0"/>
              </a:rPr>
              <a:t>的整数矩阵</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b</a:t>
            </a:r>
            <a:r>
              <a:rPr lang="zh-CN" altLang="zh-CN" sz="2400" b="1" smtClean="0">
                <a:latin typeface="Times New Roman" panose="02020603050405020304" pitchFamily="18" charset="0"/>
                <a:cs typeface="Times New Roman" panose="02020603050405020304" pitchFamily="18" charset="0"/>
              </a:rPr>
              <a:t>是</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m </a:t>
            </a:r>
            <a:r>
              <a:rPr lang="zh-CN" altLang="zh-CN" sz="2400" b="1" smtClean="0">
                <a:latin typeface="Times New Roman" panose="02020603050405020304" pitchFamily="18" charset="0"/>
                <a:cs typeface="Times New Roman" panose="02020603050405020304" pitchFamily="18" charset="0"/>
              </a:rPr>
              <a:t>维整数列向量</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c </a:t>
            </a:r>
            <a:r>
              <a:rPr lang="zh-CN" altLang="zh-CN" sz="2400" b="1" smtClean="0">
                <a:latin typeface="Times New Roman" panose="02020603050405020304" pitchFamily="18" charset="0"/>
                <a:cs typeface="Times New Roman" panose="02020603050405020304" pitchFamily="18" charset="0"/>
              </a:rPr>
              <a:t>是</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n </a:t>
            </a:r>
            <a:r>
              <a:rPr lang="zh-CN" altLang="zh-CN" sz="2400" b="1" smtClean="0">
                <a:latin typeface="Times New Roman" panose="02020603050405020304" pitchFamily="18" charset="0"/>
                <a:cs typeface="Times New Roman" panose="02020603050405020304" pitchFamily="18" charset="0"/>
              </a:rPr>
              <a:t>维整数列向量</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x </a:t>
            </a:r>
            <a:r>
              <a:rPr lang="zh-CN" altLang="zh-CN" sz="2400" b="1" smtClean="0">
                <a:latin typeface="Times New Roman" panose="02020603050405020304" pitchFamily="18" charset="0"/>
                <a:cs typeface="Times New Roman" panose="02020603050405020304" pitchFamily="18" charset="0"/>
              </a:rPr>
              <a:t>是待定的</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n </a:t>
            </a:r>
            <a:r>
              <a:rPr lang="zh-CN" altLang="zh-CN" sz="2400" b="1" smtClean="0">
                <a:latin typeface="Times New Roman" panose="02020603050405020304" pitchFamily="18" charset="0"/>
                <a:cs typeface="Times New Roman" panose="02020603050405020304" pitchFamily="18" charset="0"/>
              </a:rPr>
              <a:t>维列向量</a:t>
            </a:r>
            <a:r>
              <a:rPr lang="en-US" altLang="zh-CN" sz="2400" b="1" smtClean="0">
                <a:latin typeface="Times New Roman" panose="02020603050405020304" pitchFamily="18" charset="0"/>
                <a:cs typeface="Times New Roman" panose="02020603050405020304" pitchFamily="18" charset="0"/>
              </a:rPr>
              <a:t>. </a:t>
            </a:r>
            <a:endParaRPr lang="en-US" altLang="zh-CN" sz="2400" b="1" smtClean="0">
              <a:latin typeface="Times New Roman" panose="02020603050405020304" pitchFamily="18" charset="0"/>
              <a:cs typeface="Times New Roman" panose="02020603050405020304" pitchFamily="18" charset="0"/>
            </a:endParaRPr>
          </a:p>
          <a:p>
            <a:pPr marL="0" indent="0">
              <a:spcBef>
                <a:spcPts val="1800"/>
              </a:spcBef>
              <a:buFont typeface="Arial" panose="020B0604020202020204" pitchFamily="34" charset="0"/>
              <a:buNone/>
            </a:pPr>
            <a:r>
              <a:rPr lang="zh-CN" altLang="zh-CN" sz="2400" b="1" smtClean="0">
                <a:solidFill>
                  <a:srgbClr val="C00000"/>
                </a:solidFill>
              </a:rPr>
              <a:t>整数线性规划</a:t>
            </a:r>
            <a:r>
              <a:rPr lang="en-US" altLang="zh-CN" sz="2400" b="1" smtClean="0">
                <a:solidFill>
                  <a:srgbClr val="C00000"/>
                </a:solidFill>
              </a:rPr>
              <a:t> </a:t>
            </a:r>
            <a:r>
              <a:rPr lang="en-US" altLang="zh-CN" sz="2400" smtClean="0">
                <a:solidFill>
                  <a:srgbClr val="C00000"/>
                </a:solidFill>
                <a:latin typeface="Times New Roman" panose="02020603050405020304" pitchFamily="18" charset="0"/>
                <a:cs typeface="Times New Roman" panose="02020603050405020304" pitchFamily="18" charset="0"/>
              </a:rPr>
              <a:t>(</a:t>
            </a:r>
            <a:r>
              <a:rPr lang="en-US" altLang="zh-CN" sz="2400" b="1" smtClean="0">
                <a:solidFill>
                  <a:srgbClr val="C00000"/>
                </a:solidFill>
                <a:latin typeface="Times New Roman" panose="02020603050405020304" pitchFamily="18" charset="0"/>
                <a:cs typeface="Times New Roman" panose="02020603050405020304" pitchFamily="18" charset="0"/>
              </a:rPr>
              <a:t>ILP</a:t>
            </a:r>
            <a:r>
              <a:rPr lang="en-US" altLang="zh-CN" sz="2400" smtClean="0">
                <a:solidFill>
                  <a:srgbClr val="C00000"/>
                </a:solidFill>
                <a:latin typeface="Times New Roman" panose="02020603050405020304" pitchFamily="18" charset="0"/>
                <a:cs typeface="Times New Roman" panose="02020603050405020304" pitchFamily="18" charset="0"/>
              </a:rPr>
              <a:t>)   </a:t>
            </a:r>
            <a:endParaRPr lang="en-US" altLang="zh-CN" sz="2400" smtClean="0">
              <a:solidFill>
                <a:srgbClr val="C00000"/>
              </a:solidFill>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zh-CN" altLang="zh-CN" sz="2400" b="1" smtClean="0">
                <a:latin typeface="Times New Roman" panose="02020603050405020304" pitchFamily="18" charset="0"/>
                <a:cs typeface="Times New Roman" panose="02020603050405020304" pitchFamily="18" charset="0"/>
              </a:rPr>
              <a:t>任给</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m</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smtClean="0">
                <a:latin typeface="Times New Roman" panose="02020603050405020304" pitchFamily="18" charset="0"/>
                <a:cs typeface="Times New Roman" panose="02020603050405020304" pitchFamily="18" charset="0"/>
              </a:rPr>
              <a:t>n </a:t>
            </a:r>
            <a:r>
              <a:rPr lang="zh-CN" altLang="zh-CN" sz="2400" b="1" smtClean="0">
                <a:latin typeface="Times New Roman" panose="02020603050405020304" pitchFamily="18" charset="0"/>
                <a:cs typeface="Times New Roman" panose="02020603050405020304" pitchFamily="18" charset="0"/>
              </a:rPr>
              <a:t>维整数矩阵</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A </a:t>
            </a:r>
            <a:r>
              <a:rPr lang="zh-CN" altLang="zh-CN" sz="2400" b="1" smtClean="0">
                <a:latin typeface="Times New Roman" panose="02020603050405020304" pitchFamily="18" charset="0"/>
                <a:cs typeface="Times New Roman" panose="02020603050405020304" pitchFamily="18" charset="0"/>
              </a:rPr>
              <a:t>和</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m </a:t>
            </a:r>
            <a:r>
              <a:rPr lang="zh-CN" altLang="zh-CN" sz="2400" b="1" smtClean="0">
                <a:latin typeface="Times New Roman" panose="02020603050405020304" pitchFamily="18" charset="0"/>
                <a:cs typeface="Times New Roman" panose="02020603050405020304" pitchFamily="18" charset="0"/>
              </a:rPr>
              <a:t>维整数向量</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b</a:t>
            </a:r>
            <a:r>
              <a:rPr lang="en-US" altLang="zh-CN" sz="2400" b="1" smtClean="0">
                <a:latin typeface="Times New Roman" panose="02020603050405020304" pitchFamily="18" charset="0"/>
                <a:cs typeface="Times New Roman" panose="02020603050405020304" pitchFamily="18" charset="0"/>
              </a:rPr>
              <a:t>, </a:t>
            </a:r>
            <a:r>
              <a:rPr lang="zh-CN" altLang="zh-CN" sz="2400" b="1" smtClean="0">
                <a:latin typeface="Times New Roman" panose="02020603050405020304" pitchFamily="18" charset="0"/>
                <a:cs typeface="Times New Roman" panose="02020603050405020304" pitchFamily="18" charset="0"/>
              </a:rPr>
              <a:t>问下述问题</a:t>
            </a:r>
            <a:endParaRPr lang="zh-CN" altLang="zh-CN" sz="2400" b="1" smtClean="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Ax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rPr>
              <a:t>b</a:t>
            </a:r>
            <a:endParaRPr lang="zh-CN" altLang="zh-CN" sz="2400" b="1" smtClean="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x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smtClean="0">
                <a:latin typeface="Times New Roman" panose="02020603050405020304" pitchFamily="18" charset="0"/>
                <a:cs typeface="Times New Roman" panose="02020603050405020304" pitchFamily="18" charset="0"/>
              </a:rPr>
              <a:t>0, </a:t>
            </a:r>
            <a:r>
              <a:rPr lang="zh-CN" altLang="zh-CN" sz="2400" b="1" smtClean="0">
                <a:latin typeface="Times New Roman" panose="02020603050405020304" pitchFamily="18" charset="0"/>
                <a:cs typeface="Times New Roman" panose="02020603050405020304" pitchFamily="18" charset="0"/>
              </a:rPr>
              <a:t>整数</a:t>
            </a:r>
            <a:r>
              <a:rPr lang="en-US" altLang="zh-CN" sz="2400" b="1" smtClean="0">
                <a:latin typeface="Times New Roman" panose="02020603050405020304" pitchFamily="18" charset="0"/>
                <a:cs typeface="Times New Roman" panose="02020603050405020304" pitchFamily="18" charset="0"/>
              </a:rPr>
              <a:t>                           (9.1)</a:t>
            </a:r>
            <a:endParaRPr lang="zh-CN" altLang="zh-CN" sz="2400" b="1" smtClean="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zh-CN" altLang="zh-CN" sz="2400" b="1" smtClean="0">
                <a:latin typeface="Times New Roman" panose="02020603050405020304" pitchFamily="18" charset="0"/>
                <a:cs typeface="Times New Roman" panose="02020603050405020304" pitchFamily="18" charset="0"/>
              </a:rPr>
              <a:t>是否有解</a:t>
            </a:r>
            <a:r>
              <a:rPr lang="en-US" altLang="zh-CN" sz="2400" b="1" smtClean="0">
                <a:latin typeface="Times New Roman" panose="02020603050405020304" pitchFamily="18" charset="0"/>
                <a:cs typeface="Times New Roman" panose="02020603050405020304" pitchFamily="18" charset="0"/>
              </a:rPr>
              <a:t>?</a:t>
            </a:r>
            <a:endParaRPr lang="zh-CN" altLang="zh-CN" sz="2400" b="1" smtClean="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zh-CN" altLang="en-US" sz="2400" b="1" smtClean="0">
              <a:latin typeface="Times New Roman" panose="02020603050405020304" pitchFamily="18" charset="0"/>
              <a:cs typeface="Times New Roman" panose="02020603050405020304" pitchFamily="18"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标题 1"/>
          <p:cNvSpPr>
            <a:spLocks noGrp="1"/>
          </p:cNvSpPr>
          <p:nvPr>
            <p:ph type="title"/>
          </p:nvPr>
        </p:nvSpPr>
        <p:spPr/>
        <p:txBody>
          <a:bodyPr/>
          <a:lstStyle/>
          <a:p>
            <a:r>
              <a:rPr lang="zh-CN" altLang="en-US" b="1" smtClean="0">
                <a:solidFill>
                  <a:srgbClr val="C00000"/>
                </a:solidFill>
                <a:latin typeface="Times New Roman" panose="02020603050405020304" pitchFamily="18" charset="0"/>
                <a:cs typeface="Times New Roman" panose="02020603050405020304" pitchFamily="18" charset="0"/>
              </a:rPr>
              <a:t>整数线性规划是 </a:t>
            </a:r>
            <a:r>
              <a:rPr lang="en-US" altLang="zh-CN" b="1" smtClean="0">
                <a:solidFill>
                  <a:srgbClr val="C00000"/>
                </a:solidFill>
                <a:latin typeface="Times New Roman" panose="02020603050405020304" pitchFamily="18" charset="0"/>
                <a:cs typeface="Times New Roman" panose="02020603050405020304" pitchFamily="18" charset="0"/>
              </a:rPr>
              <a:t>NP</a:t>
            </a:r>
            <a:r>
              <a:rPr lang="zh-CN" altLang="en-US" b="1" smtClean="0">
                <a:solidFill>
                  <a:srgbClr val="C00000"/>
                </a:solidFill>
                <a:latin typeface="Times New Roman" panose="02020603050405020304" pitchFamily="18" charset="0"/>
                <a:cs typeface="Times New Roman" panose="02020603050405020304" pitchFamily="18" charset="0"/>
              </a:rPr>
              <a:t>难的</a:t>
            </a:r>
            <a:endParaRPr lang="zh-CN" altLang="en-US" b="1" smtClean="0">
              <a:solidFill>
                <a:srgbClr val="C00000"/>
              </a:solidFill>
              <a:latin typeface="Times New Roman" panose="02020603050405020304" pitchFamily="18" charset="0"/>
              <a:cs typeface="Times New Roman" panose="02020603050405020304" pitchFamily="18" charset="0"/>
            </a:endParaRPr>
          </a:p>
        </p:txBody>
      </p:sp>
      <p:sp>
        <p:nvSpPr>
          <p:cNvPr id="57347" name="内容占位符 2"/>
          <p:cNvSpPr>
            <a:spLocks noGrp="1"/>
          </p:cNvSpPr>
          <p:nvPr>
            <p:ph idx="1"/>
          </p:nvPr>
        </p:nvSpPr>
        <p:spPr>
          <a:xfrm>
            <a:off x="457200" y="1639888"/>
            <a:ext cx="8229600" cy="4525962"/>
          </a:xfrm>
        </p:spPr>
        <p:txBody>
          <a:bodyPr/>
          <a:lstStyle/>
          <a:p>
            <a:pPr marL="0" indent="0">
              <a:buFont typeface="Arial" panose="020B0604020202020204" pitchFamily="34" charset="0"/>
              <a:buNone/>
            </a:pPr>
            <a:r>
              <a:rPr lang="zh-CN" altLang="zh-CN" sz="2400" b="1" smtClean="0">
                <a:solidFill>
                  <a:srgbClr val="C00000"/>
                </a:solidFill>
                <a:latin typeface="Times New Roman" panose="02020603050405020304" pitchFamily="18" charset="0"/>
                <a:cs typeface="Times New Roman" panose="02020603050405020304" pitchFamily="18" charset="0"/>
              </a:rPr>
              <a:t>引理</a:t>
            </a:r>
            <a:r>
              <a:rPr lang="en-US" altLang="zh-CN" sz="2400" b="1" smtClean="0">
                <a:solidFill>
                  <a:srgbClr val="C00000"/>
                </a:solidFill>
                <a:latin typeface="Times New Roman" panose="02020603050405020304" pitchFamily="18" charset="0"/>
                <a:cs typeface="Times New Roman" panose="02020603050405020304" pitchFamily="18" charset="0"/>
              </a:rPr>
              <a:t>9.2   </a:t>
            </a:r>
            <a:r>
              <a:rPr lang="en-US" altLang="zh-CN" sz="2400" b="1" smtClean="0">
                <a:latin typeface="Times New Roman" panose="02020603050405020304" pitchFamily="18" charset="0"/>
                <a:cs typeface="Times New Roman" panose="02020603050405020304" pitchFamily="18" charset="0"/>
              </a:rPr>
              <a:t>ILP </a:t>
            </a:r>
            <a:r>
              <a:rPr lang="zh-CN" altLang="zh-CN" sz="2400" b="1" smtClean="0">
                <a:latin typeface="Times New Roman" panose="02020603050405020304" pitchFamily="18" charset="0"/>
                <a:cs typeface="Times New Roman" panose="02020603050405020304" pitchFamily="18" charset="0"/>
              </a:rPr>
              <a:t>是</a:t>
            </a:r>
            <a:r>
              <a:rPr lang="en-US" altLang="zh-CN" sz="2400" b="1" smtClean="0">
                <a:latin typeface="Times New Roman" panose="02020603050405020304" pitchFamily="18" charset="0"/>
                <a:cs typeface="Times New Roman" panose="02020603050405020304" pitchFamily="18" charset="0"/>
              </a:rPr>
              <a:t> NP</a:t>
            </a:r>
            <a:r>
              <a:rPr lang="zh-CN" altLang="zh-CN" sz="2400" b="1" smtClean="0">
                <a:latin typeface="Times New Roman" panose="02020603050405020304" pitchFamily="18" charset="0"/>
                <a:cs typeface="Times New Roman" panose="02020603050405020304" pitchFamily="18" charset="0"/>
              </a:rPr>
              <a:t>难的</a:t>
            </a:r>
            <a:r>
              <a:rPr lang="en-US" altLang="zh-CN" sz="2400" b="1" smtClean="0">
                <a:latin typeface="Times New Roman" panose="02020603050405020304" pitchFamily="18" charset="0"/>
                <a:cs typeface="Times New Roman" panose="02020603050405020304" pitchFamily="18" charset="0"/>
              </a:rPr>
              <a:t>.</a:t>
            </a:r>
            <a:endParaRPr lang="zh-CN" altLang="zh-CN" sz="2400" b="1" smtClean="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zh-CN" altLang="zh-CN" sz="2400" b="1" smtClean="0">
                <a:latin typeface="Times New Roman" panose="02020603050405020304" pitchFamily="18" charset="0"/>
                <a:cs typeface="Times New Roman" panose="02020603050405020304" pitchFamily="18" charset="0"/>
              </a:rPr>
              <a:t>证 </a:t>
            </a:r>
            <a:r>
              <a:rPr lang="en-US" altLang="zh-CN" sz="2400" b="1" smtClean="0">
                <a:latin typeface="Times New Roman" panose="02020603050405020304" pitchFamily="18" charset="0"/>
                <a:cs typeface="Times New Roman" panose="02020603050405020304" pitchFamily="18" charset="0"/>
              </a:rPr>
              <a:t>  </a:t>
            </a:r>
            <a:r>
              <a:rPr lang="zh-CN" altLang="zh-CN" sz="2400" b="1" smtClean="0">
                <a:latin typeface="Times New Roman" panose="02020603050405020304" pitchFamily="18" charset="0"/>
                <a:cs typeface="Times New Roman" panose="02020603050405020304" pitchFamily="18" charset="0"/>
              </a:rPr>
              <a:t>选择</a:t>
            </a:r>
            <a:r>
              <a:rPr lang="en-US" altLang="zh-CN" sz="2400" b="1" smtClean="0">
                <a:latin typeface="Times New Roman" panose="02020603050405020304" pitchFamily="18" charset="0"/>
                <a:cs typeface="Times New Roman" panose="02020603050405020304" pitchFamily="18" charset="0"/>
              </a:rPr>
              <a:t> 0-1</a:t>
            </a:r>
            <a:r>
              <a:rPr lang="zh-CN" altLang="zh-CN" sz="2400" b="1" smtClean="0">
                <a:latin typeface="Times New Roman" panose="02020603050405020304" pitchFamily="18" charset="0"/>
                <a:cs typeface="Times New Roman" panose="02020603050405020304" pitchFamily="18" charset="0"/>
              </a:rPr>
              <a:t>背包</a:t>
            </a:r>
            <a:r>
              <a:rPr lang="en-US" altLang="zh-CN" sz="2400" b="1" smtClean="0">
                <a:latin typeface="Times New Roman" panose="02020603050405020304" pitchFamily="18" charset="0"/>
                <a:cs typeface="Times New Roman" panose="02020603050405020304" pitchFamily="18" charset="0"/>
              </a:rPr>
              <a:t>, </a:t>
            </a:r>
            <a:r>
              <a:rPr lang="zh-CN" altLang="zh-CN" sz="2400" b="1" smtClean="0">
                <a:latin typeface="Times New Roman" panose="02020603050405020304" pitchFamily="18" charset="0"/>
                <a:cs typeface="Times New Roman" panose="02020603050405020304" pitchFamily="18" charset="0"/>
              </a:rPr>
              <a:t>要把</a:t>
            </a:r>
            <a:r>
              <a:rPr lang="en-US" altLang="zh-CN" sz="2400" b="1" smtClean="0">
                <a:latin typeface="Times New Roman" panose="02020603050405020304" pitchFamily="18" charset="0"/>
                <a:cs typeface="Times New Roman" panose="02020603050405020304" pitchFamily="18" charset="0"/>
              </a:rPr>
              <a:t> 0-1</a:t>
            </a:r>
            <a:r>
              <a:rPr lang="zh-CN" altLang="zh-CN" sz="2400" b="1" smtClean="0">
                <a:latin typeface="Times New Roman" panose="02020603050405020304" pitchFamily="18" charset="0"/>
                <a:cs typeface="Times New Roman" panose="02020603050405020304" pitchFamily="18" charset="0"/>
              </a:rPr>
              <a:t>背包多项式时间变换到</a:t>
            </a:r>
            <a:r>
              <a:rPr lang="en-US" altLang="zh-CN" sz="2400" b="1" smtClean="0">
                <a:latin typeface="Times New Roman" panose="02020603050405020304" pitchFamily="18" charset="0"/>
                <a:cs typeface="Times New Roman" panose="02020603050405020304" pitchFamily="18" charset="0"/>
              </a:rPr>
              <a:t> ILP. </a:t>
            </a:r>
            <a:r>
              <a:rPr lang="zh-CN" altLang="zh-CN" sz="2400" b="1" smtClean="0">
                <a:latin typeface="Times New Roman" panose="02020603050405020304" pitchFamily="18" charset="0"/>
                <a:cs typeface="Times New Roman" panose="02020603050405020304" pitchFamily="18" charset="0"/>
              </a:rPr>
              <a:t>任给</a:t>
            </a:r>
            <a:r>
              <a:rPr lang="en-US" altLang="zh-CN" sz="2400" b="1" i="1" smtClean="0">
                <a:latin typeface="Times New Roman" panose="02020603050405020304" pitchFamily="18" charset="0"/>
                <a:cs typeface="Times New Roman" panose="02020603050405020304" pitchFamily="18" charset="0"/>
              </a:rPr>
              <a:t>n </a:t>
            </a:r>
            <a:r>
              <a:rPr lang="zh-CN" altLang="zh-CN" sz="2400" b="1" smtClean="0">
                <a:latin typeface="Times New Roman" panose="02020603050405020304" pitchFamily="18" charset="0"/>
                <a:cs typeface="Times New Roman" panose="02020603050405020304" pitchFamily="18" charset="0"/>
              </a:rPr>
              <a:t>件物品和一个背包</a:t>
            </a:r>
            <a:r>
              <a:rPr lang="en-US" altLang="zh-CN" sz="2400" b="1" smtClean="0">
                <a:latin typeface="Times New Roman" panose="02020603050405020304" pitchFamily="18" charset="0"/>
                <a:cs typeface="Times New Roman" panose="02020603050405020304" pitchFamily="18" charset="0"/>
              </a:rPr>
              <a:t>, </a:t>
            </a:r>
            <a:r>
              <a:rPr lang="zh-CN" altLang="zh-CN" sz="2400" b="1" smtClean="0">
                <a:latin typeface="Times New Roman" panose="02020603050405020304" pitchFamily="18" charset="0"/>
                <a:cs typeface="Times New Roman" panose="02020603050405020304" pitchFamily="18" charset="0"/>
              </a:rPr>
              <a:t>物品</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i </a:t>
            </a:r>
            <a:r>
              <a:rPr lang="zh-CN" altLang="zh-CN" sz="2400" b="1" smtClean="0">
                <a:latin typeface="Times New Roman" panose="02020603050405020304" pitchFamily="18" charset="0"/>
                <a:cs typeface="Times New Roman" panose="02020603050405020304" pitchFamily="18" charset="0"/>
              </a:rPr>
              <a:t>的重量为</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w</a:t>
            </a:r>
            <a:r>
              <a:rPr lang="en-US" altLang="zh-CN" sz="2400" b="1" i="1" baseline="-25000" smtClean="0">
                <a:latin typeface="Times New Roman" panose="02020603050405020304" pitchFamily="18" charset="0"/>
                <a:cs typeface="Times New Roman" panose="02020603050405020304" pitchFamily="18" charset="0"/>
              </a:rPr>
              <a:t>i</a:t>
            </a:r>
            <a:r>
              <a:rPr lang="zh-CN" altLang="zh-CN" sz="2400" b="1" smtClean="0">
                <a:latin typeface="Times New Roman" panose="02020603050405020304" pitchFamily="18" charset="0"/>
                <a:cs typeface="Times New Roman" panose="02020603050405020304" pitchFamily="18" charset="0"/>
              </a:rPr>
              <a:t>、价值为</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v</a:t>
            </a:r>
            <a:r>
              <a:rPr lang="en-US" altLang="zh-CN" sz="2400" b="1" i="1" baseline="-25000" smtClean="0">
                <a:latin typeface="Times New Roman" panose="02020603050405020304" pitchFamily="18" charset="0"/>
                <a:cs typeface="Times New Roman" panose="02020603050405020304" pitchFamily="18" charset="0"/>
              </a:rPr>
              <a:t>i</a:t>
            </a:r>
            <a:r>
              <a:rPr lang="en-US" altLang="zh-CN" sz="2400" b="1" smtClean="0">
                <a:latin typeface="Times New Roman" panose="02020603050405020304" pitchFamily="18" charset="0"/>
                <a:cs typeface="Times New Roman" panose="02020603050405020304" pitchFamily="18" charset="0"/>
              </a:rPr>
              <a:t>, 1</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rPr>
              <a:t>i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rPr>
              <a:t>n</a:t>
            </a:r>
            <a:r>
              <a:rPr lang="en-US" altLang="zh-CN" sz="2400" b="1" smtClean="0">
                <a:latin typeface="Times New Roman" panose="02020603050405020304" pitchFamily="18" charset="0"/>
                <a:cs typeface="Times New Roman" panose="02020603050405020304" pitchFamily="18" charset="0"/>
              </a:rPr>
              <a:t>, </a:t>
            </a:r>
            <a:r>
              <a:rPr lang="zh-CN" altLang="zh-CN" sz="2400" b="1" smtClean="0">
                <a:latin typeface="Times New Roman" panose="02020603050405020304" pitchFamily="18" charset="0"/>
                <a:cs typeface="Times New Roman" panose="02020603050405020304" pitchFamily="18" charset="0"/>
              </a:rPr>
              <a:t>背包的重量限制为</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B</a:t>
            </a:r>
            <a:r>
              <a:rPr lang="en-US" altLang="zh-CN" sz="2400" b="1" smtClean="0">
                <a:latin typeface="Times New Roman" panose="02020603050405020304" pitchFamily="18" charset="0"/>
                <a:cs typeface="Times New Roman" panose="02020603050405020304" pitchFamily="18" charset="0"/>
              </a:rPr>
              <a:t>, </a:t>
            </a:r>
            <a:r>
              <a:rPr lang="zh-CN" altLang="zh-CN" sz="2400" b="1" smtClean="0">
                <a:latin typeface="Times New Roman" panose="02020603050405020304" pitchFamily="18" charset="0"/>
                <a:cs typeface="Times New Roman" panose="02020603050405020304" pitchFamily="18" charset="0"/>
              </a:rPr>
              <a:t>价值的目标为</a:t>
            </a:r>
            <a:r>
              <a:rPr lang="en-US" altLang="zh-CN" sz="2400" b="1" smtClean="0">
                <a:latin typeface="Times New Roman" panose="02020603050405020304" pitchFamily="18" charset="0"/>
                <a:cs typeface="Times New Roman" panose="02020603050405020304" pitchFamily="18" charset="0"/>
              </a:rPr>
              <a:t> </a:t>
            </a:r>
            <a:r>
              <a:rPr lang="en-US" altLang="zh-CN" sz="2400" b="1" i="1" smtClean="0">
                <a:latin typeface="Times New Roman" panose="02020603050405020304" pitchFamily="18" charset="0"/>
                <a:cs typeface="Times New Roman" panose="02020603050405020304" pitchFamily="18" charset="0"/>
              </a:rPr>
              <a:t>K</a:t>
            </a:r>
            <a:r>
              <a:rPr lang="en-US" altLang="zh-CN" sz="2400" b="1" smtClean="0">
                <a:latin typeface="Times New Roman" panose="02020603050405020304" pitchFamily="18" charset="0"/>
                <a:cs typeface="Times New Roman" panose="02020603050405020304" pitchFamily="18" charset="0"/>
              </a:rPr>
              <a:t>, </a:t>
            </a:r>
            <a:r>
              <a:rPr lang="zh-CN" altLang="zh-CN" sz="2400" b="1" smtClean="0">
                <a:latin typeface="Times New Roman" panose="02020603050405020304" pitchFamily="18" charset="0"/>
                <a:cs typeface="Times New Roman" panose="02020603050405020304" pitchFamily="18" charset="0"/>
              </a:rPr>
              <a:t>问题可表示成</a:t>
            </a:r>
            <a:endParaRPr lang="en-US" altLang="zh-CN" sz="2400" b="1" smtClean="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US" altLang="zh-CN" sz="2400" smtClean="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US" altLang="zh-CN" sz="2400" smtClean="0"/>
          </a:p>
          <a:p>
            <a:pPr marL="0" indent="0">
              <a:buFont typeface="Arial" panose="020B0604020202020204" pitchFamily="34" charset="0"/>
              <a:buNone/>
            </a:pPr>
            <a:endParaRPr lang="en-US" altLang="zh-CN" sz="2400" smtClean="0"/>
          </a:p>
          <a:p>
            <a:pPr marL="0" indent="0">
              <a:buFont typeface="Arial" panose="020B0604020202020204" pitchFamily="34" charset="0"/>
              <a:buNone/>
            </a:pPr>
            <a:r>
              <a:rPr lang="en-US" altLang="zh-CN" sz="2400" i="1" smtClean="0"/>
              <a:t>                                </a:t>
            </a:r>
            <a:endParaRPr lang="en-US" altLang="zh-CN" sz="2400" i="1" smtClean="0"/>
          </a:p>
          <a:p>
            <a:pPr marL="0" indent="0">
              <a:buFont typeface="Arial" panose="020B0604020202020204" pitchFamily="34" charset="0"/>
              <a:buNone/>
            </a:pPr>
            <a:r>
              <a:rPr lang="en-US" altLang="zh-CN" sz="2400" b="1" i="1" smtClean="0">
                <a:latin typeface="Times New Roman" panose="02020603050405020304" pitchFamily="18" charset="0"/>
                <a:cs typeface="Times New Roman" panose="02020603050405020304" pitchFamily="18" charset="0"/>
              </a:rPr>
              <a:t>                             x</a:t>
            </a:r>
            <a:r>
              <a:rPr lang="en-US" altLang="zh-CN" sz="2400" b="1" i="1" baseline="-25000" smtClean="0">
                <a:latin typeface="Times New Roman" panose="02020603050405020304" pitchFamily="18" charset="0"/>
                <a:cs typeface="Times New Roman" panose="02020603050405020304" pitchFamily="18" charset="0"/>
              </a:rPr>
              <a:t>i </a:t>
            </a:r>
            <a:r>
              <a:rPr lang="en-US" altLang="zh-CN" sz="2400" b="1" smtClean="0">
                <a:latin typeface="Times New Roman" panose="02020603050405020304" pitchFamily="18" charset="0"/>
                <a:cs typeface="Times New Roman" panose="02020603050405020304" pitchFamily="18" charset="0"/>
              </a:rPr>
              <a:t>= 0,1,   1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rPr>
              <a:t>i </a:t>
            </a:r>
            <a:r>
              <a:rPr lang="en-US" altLang="zh-CN" sz="2400" b="1"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smtClean="0">
                <a:latin typeface="Times New Roman" panose="02020603050405020304" pitchFamily="18" charset="0"/>
                <a:cs typeface="Times New Roman" panose="02020603050405020304" pitchFamily="18" charset="0"/>
              </a:rPr>
              <a:t>n</a:t>
            </a:r>
            <a:endParaRPr lang="zh-CN" altLang="zh-CN" sz="2400" b="1" smtClean="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zh-CN" altLang="zh-CN" sz="2400" smtClean="0"/>
          </a:p>
          <a:p>
            <a:pPr marL="0" indent="0">
              <a:buFont typeface="Arial" panose="020B0604020202020204" pitchFamily="34" charset="0"/>
              <a:buNone/>
            </a:pPr>
            <a:endParaRPr lang="zh-CN" altLang="en-US" smtClean="0"/>
          </a:p>
        </p:txBody>
      </p:sp>
      <p:sp>
        <p:nvSpPr>
          <p:cNvPr id="57348" name="Rectangle 4"/>
          <p:cNvSpPr>
            <a:spLocks noChangeArrowheads="1"/>
          </p:cNvSpPr>
          <p:nvPr/>
        </p:nvSpPr>
        <p:spPr bwMode="auto">
          <a:xfrm>
            <a:off x="0" y="88582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indent="269875">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000">
                <a:latin typeface="Times New Roman" panose="02020603050405020304" pitchFamily="18" charset="0"/>
                <a:cs typeface="Times New Roman" panose="02020603050405020304" pitchFamily="18" charset="0"/>
              </a:rPr>
              <a:t>                       </a:t>
            </a:r>
            <a:endParaRPr lang="en-US" altLang="zh-CN" sz="1800">
              <a:latin typeface="Arial" panose="020B0604020202020204" pitchFamily="34" charset="0"/>
            </a:endParaRPr>
          </a:p>
        </p:txBody>
      </p:sp>
      <p:graphicFrame>
        <p:nvGraphicFramePr>
          <p:cNvPr id="57349" name="对象 8"/>
          <p:cNvGraphicFramePr>
            <a:graphicFrameLocks noChangeAspect="1"/>
          </p:cNvGraphicFramePr>
          <p:nvPr/>
        </p:nvGraphicFramePr>
        <p:xfrm>
          <a:off x="2681288" y="3209925"/>
          <a:ext cx="1768475" cy="877888"/>
        </p:xfrm>
        <a:graphic>
          <a:graphicData uri="http://schemas.openxmlformats.org/presentationml/2006/ole">
            <mc:AlternateContent xmlns:mc="http://schemas.openxmlformats.org/markup-compatibility/2006">
              <mc:Choice xmlns:v="urn:schemas-microsoft-com:vml" Requires="v">
                <p:oleObj spid="_x0000_s57354" name="公式" r:id="rId1" imgW="888365" imgH="444500" progId="Equation.3">
                  <p:embed/>
                </p:oleObj>
              </mc:Choice>
              <mc:Fallback>
                <p:oleObj name="公式" r:id="rId1" imgW="888365" imgH="444500" progId="Equation.3">
                  <p:embed/>
                  <p:pic>
                    <p:nvPicPr>
                      <p:cNvPr id="0" name="对象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81288" y="3209925"/>
                        <a:ext cx="1768475" cy="87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7350" name="对象 9"/>
          <p:cNvGraphicFramePr>
            <a:graphicFrameLocks noChangeAspect="1"/>
          </p:cNvGraphicFramePr>
          <p:nvPr/>
        </p:nvGraphicFramePr>
        <p:xfrm>
          <a:off x="2627313" y="4017963"/>
          <a:ext cx="1957387" cy="995362"/>
        </p:xfrm>
        <a:graphic>
          <a:graphicData uri="http://schemas.openxmlformats.org/presentationml/2006/ole">
            <mc:AlternateContent xmlns:mc="http://schemas.openxmlformats.org/markup-compatibility/2006">
              <mc:Choice xmlns:v="urn:schemas-microsoft-com:vml" Requires="v">
                <p:oleObj spid="_x0000_s57355" name="公式" r:id="rId3" imgW="862965" imgH="444500" progId="Equation.3">
                  <p:embed/>
                </p:oleObj>
              </mc:Choice>
              <mc:Fallback>
                <p:oleObj name="公式" r:id="rId3" imgW="862965" imgH="444500" progId="Equation.3">
                  <p:embed/>
                  <p:pic>
                    <p:nvPicPr>
                      <p:cNvPr id="0" name="对象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27313" y="4017963"/>
                        <a:ext cx="1957387" cy="995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7351" name="Rectangle 9"/>
          <p:cNvSpPr>
            <a:spLocks noChangeArrowheads="1"/>
          </p:cNvSpPr>
          <p:nvPr/>
        </p:nvSpPr>
        <p:spPr bwMode="auto">
          <a:xfrm>
            <a:off x="179388" y="4386263"/>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indent="269875">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000">
                <a:latin typeface="Times New Roman" panose="02020603050405020304" pitchFamily="18" charset="0"/>
                <a:cs typeface="Times New Roman" panose="02020603050405020304" pitchFamily="18" charset="0"/>
              </a:rPr>
              <a:t>                       </a:t>
            </a:r>
            <a:endParaRPr lang="en-US" altLang="zh-CN" sz="1800">
              <a:latin typeface="Arial" panose="020B0604020202020204" pitchFamily="34"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标题 1"/>
          <p:cNvSpPr>
            <a:spLocks noGrp="1"/>
          </p:cNvSpPr>
          <p:nvPr>
            <p:ph type="title"/>
          </p:nvPr>
        </p:nvSpPr>
        <p:spPr>
          <a:xfrm>
            <a:off x="441325" y="44450"/>
            <a:ext cx="8229600" cy="1143000"/>
          </a:xfrm>
        </p:spPr>
        <p:txBody>
          <a:bodyPr/>
          <a:lstStyle/>
          <a:p>
            <a:r>
              <a:rPr lang="zh-CN" altLang="en-US" b="1" smtClean="0">
                <a:solidFill>
                  <a:srgbClr val="C00000"/>
                </a:solidFill>
              </a:rPr>
              <a:t>几个引理</a:t>
            </a:r>
            <a:endParaRPr lang="zh-CN" altLang="en-US" b="1" smtClean="0">
              <a:solidFill>
                <a:srgbClr val="C00000"/>
              </a:solidFill>
            </a:endParaRPr>
          </a:p>
        </p:txBody>
      </p:sp>
      <p:sp>
        <p:nvSpPr>
          <p:cNvPr id="58371" name="内容占位符 2"/>
          <p:cNvSpPr>
            <a:spLocks noGrp="1"/>
          </p:cNvSpPr>
          <p:nvPr>
            <p:ph idx="1"/>
          </p:nvPr>
        </p:nvSpPr>
        <p:spPr>
          <a:xfrm>
            <a:off x="422275" y="1187450"/>
            <a:ext cx="8397875" cy="5113338"/>
          </a:xfrm>
        </p:spPr>
        <p:txBody>
          <a:bodyPr/>
          <a:lstStyle/>
          <a:p>
            <a:pPr marL="0" indent="0">
              <a:buFont typeface="Arial" panose="020B0604020202020204" pitchFamily="34" charset="0"/>
              <a:buNone/>
            </a:pPr>
            <a:r>
              <a:rPr lang="zh-CN" altLang="zh-CN" sz="2400" b="1" dirty="0" smtClean="0">
                <a:latin typeface="Times New Roman" panose="02020603050405020304" pitchFamily="18" charset="0"/>
                <a:cs typeface="Times New Roman" panose="02020603050405020304" pitchFamily="18" charset="0"/>
              </a:rPr>
              <a:t>记</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A </a:t>
            </a:r>
            <a:r>
              <a:rPr lang="zh-CN" altLang="zh-CN" sz="2400" b="1" dirty="0" smtClean="0">
                <a:latin typeface="Times New Roman" panose="02020603050405020304" pitchFamily="18" charset="0"/>
                <a:cs typeface="Times New Roman" panose="02020603050405020304" pitchFamily="18" charset="0"/>
              </a:rPr>
              <a:t>的第</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i="1" dirty="0" smtClean="0">
                <a:latin typeface="Times New Roman" panose="02020603050405020304" pitchFamily="18" charset="0"/>
                <a:cs typeface="Times New Roman" panose="02020603050405020304" pitchFamily="18" charset="0"/>
              </a:rPr>
              <a:t> </a:t>
            </a:r>
            <a:r>
              <a:rPr lang="zh-CN" altLang="zh-CN" sz="2400" b="1" dirty="0" smtClean="0">
                <a:latin typeface="Times New Roman" panose="02020603050405020304" pitchFamily="18" charset="0"/>
                <a:cs typeface="Times New Roman" panose="02020603050405020304" pitchFamily="18" charset="0"/>
              </a:rPr>
              <a:t>行为</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A</a:t>
            </a:r>
            <a:r>
              <a:rPr lang="en-US" altLang="zh-CN" sz="2400" b="1" i="1" baseline="-25000" dirty="0" smtClean="0">
                <a:latin typeface="Times New Roman" panose="02020603050405020304" pitchFamily="18" charset="0"/>
                <a:cs typeface="Times New Roman" panose="02020603050405020304" pitchFamily="18" charset="0"/>
              </a:rPr>
              <a:t>i</a:t>
            </a:r>
            <a:r>
              <a:rPr lang="en-US" altLang="zh-CN" sz="2400" b="1" dirty="0" smtClean="0">
                <a:latin typeface="Times New Roman" panose="02020603050405020304" pitchFamily="18" charset="0"/>
                <a:cs typeface="Times New Roman" panose="02020603050405020304" pitchFamily="18" charset="0"/>
              </a:rPr>
              <a:t>, 1</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i="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rPr>
              <a:t>m</a:t>
            </a:r>
            <a:r>
              <a:rPr lang="en-US" altLang="zh-CN" sz="2400" b="1" dirty="0" smtClean="0">
                <a:latin typeface="Times New Roman" panose="02020603050405020304" pitchFamily="18" charset="0"/>
                <a:cs typeface="Times New Roman" panose="02020603050405020304" pitchFamily="18" charset="0"/>
              </a:rPr>
              <a:t>, </a:t>
            </a:r>
            <a:endParaRPr lang="en-US" altLang="zh-CN" sz="2400" b="1" dirty="0" smtClean="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     </a:t>
            </a:r>
            <a:r>
              <a:rPr lang="en-US" altLang="zh-CN" sz="2400" b="1" dirty="0" smtClean="0">
                <a:latin typeface="Times New Roman" panose="02020603050405020304" pitchFamily="18" charset="0"/>
                <a:cs typeface="Times New Roman" panose="02020603050405020304" pitchFamily="18" charset="0"/>
              </a:rPr>
              <a:t>=max{ | </a:t>
            </a:r>
            <a:r>
              <a:rPr lang="en-US" altLang="zh-CN" sz="2400" b="1" i="1" dirty="0" err="1" smtClean="0">
                <a:latin typeface="Times New Roman" panose="02020603050405020304" pitchFamily="18" charset="0"/>
                <a:cs typeface="Times New Roman" panose="02020603050405020304" pitchFamily="18" charset="0"/>
              </a:rPr>
              <a:t>a</a:t>
            </a:r>
            <a:r>
              <a:rPr lang="en-US" altLang="zh-CN" sz="2400" b="1" i="1" baseline="-25000" dirty="0" err="1" smtClean="0">
                <a:latin typeface="Times New Roman" panose="02020603050405020304" pitchFamily="18" charset="0"/>
                <a:cs typeface="Times New Roman" panose="02020603050405020304" pitchFamily="18" charset="0"/>
              </a:rPr>
              <a:t>ij</a:t>
            </a:r>
            <a:r>
              <a:rPr lang="en-US" altLang="zh-CN" sz="2400" b="1" i="1" baseline="-25000"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rPr>
              <a:t>| | 1</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i="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rPr>
              <a:t>m</a:t>
            </a:r>
            <a:r>
              <a:rPr lang="en-US" altLang="zh-CN" sz="2400" b="1" dirty="0" smtClean="0">
                <a:latin typeface="Times New Roman" panose="02020603050405020304" pitchFamily="18" charset="0"/>
                <a:cs typeface="Times New Roman" panose="02020603050405020304" pitchFamily="18" charset="0"/>
              </a:rPr>
              <a:t>, 1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rPr>
              <a:t>j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rPr>
              <a:t>n </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latin typeface="Times New Roman" panose="02020603050405020304" pitchFamily="18" charset="0"/>
                <a:cs typeface="Times New Roman" panose="02020603050405020304" pitchFamily="18" charset="0"/>
              </a:rPr>
              <a:t>=max{ | </a:t>
            </a:r>
            <a:r>
              <a:rPr lang="en-US" altLang="zh-CN" sz="2400" b="1" i="1" dirty="0" smtClean="0">
                <a:latin typeface="Times New Roman" panose="02020603050405020304" pitchFamily="18" charset="0"/>
                <a:cs typeface="Times New Roman" panose="02020603050405020304" pitchFamily="18" charset="0"/>
              </a:rPr>
              <a:t>b</a:t>
            </a:r>
            <a:r>
              <a:rPr lang="en-US" altLang="zh-CN" sz="2400" b="1" i="1" baseline="-25000" dirty="0" smtClean="0">
                <a:latin typeface="Times New Roman" panose="02020603050405020304" pitchFamily="18" charset="0"/>
                <a:cs typeface="Times New Roman" panose="02020603050405020304" pitchFamily="18" charset="0"/>
              </a:rPr>
              <a:t>i </a:t>
            </a:r>
            <a:r>
              <a:rPr lang="en-US" altLang="zh-CN" sz="2400" b="1" dirty="0" smtClean="0">
                <a:latin typeface="Times New Roman" panose="02020603050405020304" pitchFamily="18" charset="0"/>
                <a:cs typeface="Times New Roman" panose="02020603050405020304" pitchFamily="18" charset="0"/>
              </a:rPr>
              <a:t>| | 1</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i="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rPr>
              <a:t>m </a:t>
            </a:r>
            <a:r>
              <a:rPr lang="en-US" altLang="zh-CN" sz="2400" b="1" dirty="0" smtClean="0">
                <a:latin typeface="Times New Roman" panose="02020603050405020304" pitchFamily="18" charset="0"/>
                <a:cs typeface="Times New Roman" panose="02020603050405020304" pitchFamily="18" charset="0"/>
              </a:rPr>
              <a:t>}.</a:t>
            </a:r>
            <a:endParaRPr lang="zh-CN" altLang="zh-CN" sz="2400" b="1" dirty="0" smtClean="0">
              <a:latin typeface="Times New Roman" panose="02020603050405020304" pitchFamily="18" charset="0"/>
              <a:cs typeface="Times New Roman" panose="02020603050405020304" pitchFamily="18" charset="0"/>
            </a:endParaRPr>
          </a:p>
          <a:p>
            <a:pPr marL="0" indent="0">
              <a:spcBef>
                <a:spcPts val="1800"/>
              </a:spcBef>
              <a:buFont typeface="Arial" panose="020B0604020202020204" pitchFamily="34" charset="0"/>
              <a:buNone/>
            </a:pPr>
            <a:r>
              <a:rPr lang="zh-CN" altLang="zh-CN" sz="2400" b="1" dirty="0" smtClean="0">
                <a:solidFill>
                  <a:srgbClr val="C00000"/>
                </a:solidFill>
                <a:latin typeface="Times New Roman" panose="02020603050405020304" pitchFamily="18" charset="0"/>
                <a:cs typeface="Times New Roman" panose="02020603050405020304" pitchFamily="18" charset="0"/>
              </a:rPr>
              <a:t>引理</a:t>
            </a:r>
            <a:r>
              <a:rPr lang="en-US" altLang="zh-CN" sz="2400" b="1" dirty="0" smtClean="0">
                <a:solidFill>
                  <a:srgbClr val="C00000"/>
                </a:solidFill>
                <a:latin typeface="Times New Roman" panose="02020603050405020304" pitchFamily="18" charset="0"/>
                <a:cs typeface="Times New Roman" panose="02020603050405020304" pitchFamily="18" charset="0"/>
              </a:rPr>
              <a:t>9.3 </a:t>
            </a:r>
            <a:r>
              <a:rPr lang="zh-CN" altLang="zh-CN" sz="2400" b="1" dirty="0" smtClean="0">
                <a:latin typeface="Times New Roman" panose="02020603050405020304" pitchFamily="18" charset="0"/>
                <a:cs typeface="Times New Roman" panose="02020603050405020304" pitchFamily="18" charset="0"/>
              </a:rPr>
              <a:t>设</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B</a:t>
            </a:r>
            <a:r>
              <a:rPr lang="zh-CN" altLang="zh-CN" sz="2400" b="1" dirty="0" smtClean="0">
                <a:latin typeface="Times New Roman" panose="02020603050405020304" pitchFamily="18" charset="0"/>
                <a:cs typeface="Times New Roman" panose="02020603050405020304" pitchFamily="18" charset="0"/>
              </a:rPr>
              <a:t>是</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A</a:t>
            </a:r>
            <a:r>
              <a:rPr lang="zh-CN" altLang="zh-CN" sz="2400" b="1" dirty="0" smtClean="0">
                <a:latin typeface="Times New Roman" panose="02020603050405020304" pitchFamily="18" charset="0"/>
                <a:cs typeface="Times New Roman" panose="02020603050405020304" pitchFamily="18" charset="0"/>
              </a:rPr>
              <a:t>的一个</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r </a:t>
            </a:r>
            <a:r>
              <a:rPr lang="zh-CN" altLang="zh-CN" sz="2400" b="1" dirty="0" smtClean="0">
                <a:latin typeface="Times New Roman" panose="02020603050405020304" pitchFamily="18" charset="0"/>
                <a:cs typeface="Times New Roman" panose="02020603050405020304" pitchFamily="18" charset="0"/>
              </a:rPr>
              <a:t>阶子方阵</a:t>
            </a:r>
            <a:r>
              <a:rPr lang="en-US" altLang="zh-CN" sz="2400" b="1" dirty="0" smtClean="0">
                <a:latin typeface="Times New Roman" panose="02020603050405020304" pitchFamily="18" charset="0"/>
                <a:cs typeface="Times New Roman" panose="02020603050405020304" pitchFamily="18" charset="0"/>
              </a:rPr>
              <a:t>, </a:t>
            </a:r>
            <a:r>
              <a:rPr lang="zh-CN" altLang="zh-CN" sz="2400" b="1" dirty="0" smtClean="0">
                <a:latin typeface="Times New Roman" panose="02020603050405020304" pitchFamily="18" charset="0"/>
                <a:cs typeface="Times New Roman" panose="02020603050405020304" pitchFamily="18" charset="0"/>
              </a:rPr>
              <a:t>则</a:t>
            </a:r>
            <a:r>
              <a:rPr lang="en-US" altLang="zh-CN" sz="2400" b="1" dirty="0" smtClean="0">
                <a:latin typeface="Times New Roman" panose="02020603050405020304" pitchFamily="18" charset="0"/>
                <a:cs typeface="Times New Roman" panose="02020603050405020304" pitchFamily="18" charset="0"/>
              </a:rPr>
              <a:t> |</a:t>
            </a:r>
            <a:r>
              <a:rPr lang="en-US" altLang="zh-CN" sz="2400" b="1" dirty="0" err="1" smtClean="0">
                <a:latin typeface="Times New Roman" panose="02020603050405020304" pitchFamily="18" charset="0"/>
                <a:cs typeface="Times New Roman" panose="02020603050405020304" pitchFamily="18" charset="0"/>
              </a:rPr>
              <a:t>det</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B</a:t>
            </a:r>
            <a:r>
              <a:rPr lang="en-US" altLang="zh-CN" sz="2400" b="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r</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a:t>
            </a:r>
            <a:r>
              <a:rPr lang="en-US" altLang="zh-CN" sz="2400" b="1" i="1" baseline="30000" dirty="0" smtClean="0">
                <a:latin typeface="Times New Roman" panose="02020603050405020304" pitchFamily="18" charset="0"/>
                <a:cs typeface="Times New Roman" panose="02020603050405020304" pitchFamily="18" charset="0"/>
              </a:rPr>
              <a:t>r</a:t>
            </a:r>
            <a:r>
              <a:rPr lang="en-US" altLang="zh-CN" sz="2400" b="1" dirty="0" smtClean="0">
                <a:latin typeface="Times New Roman" panose="02020603050405020304" pitchFamily="18" charset="0"/>
                <a:cs typeface="Times New Roman" panose="02020603050405020304" pitchFamily="18" charset="0"/>
              </a:rPr>
              <a:t>.</a:t>
            </a:r>
            <a:endParaRPr lang="zh-CN" altLang="zh-CN" sz="2400" b="1" dirty="0" smtClean="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zh-CN" altLang="zh-CN" sz="2400" b="1" dirty="0" smtClean="0">
                <a:latin typeface="Times New Roman" panose="02020603050405020304" pitchFamily="18" charset="0"/>
                <a:cs typeface="Times New Roman" panose="02020603050405020304" pitchFamily="18" charset="0"/>
              </a:rPr>
              <a:t>证</a:t>
            </a:r>
            <a:r>
              <a:rPr lang="en-US" altLang="zh-CN" sz="2400" b="1" dirty="0" smtClean="0">
                <a:latin typeface="Times New Roman" panose="02020603050405020304" pitchFamily="18" charset="0"/>
                <a:cs typeface="Times New Roman" panose="02020603050405020304" pitchFamily="18" charset="0"/>
              </a:rPr>
              <a:t>  </a:t>
            </a:r>
            <a:r>
              <a:rPr lang="en-US" altLang="zh-CN" sz="2400" b="1" dirty="0" err="1" smtClean="0">
                <a:latin typeface="Times New Roman" panose="02020603050405020304" pitchFamily="18" charset="0"/>
                <a:cs typeface="Times New Roman" panose="02020603050405020304" pitchFamily="18" charset="0"/>
              </a:rPr>
              <a:t>det</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B</a:t>
            </a:r>
            <a:r>
              <a:rPr lang="en-US" altLang="zh-CN" sz="2400" b="1" dirty="0" smtClean="0">
                <a:latin typeface="Times New Roman" panose="02020603050405020304" pitchFamily="18" charset="0"/>
                <a:cs typeface="Times New Roman" panose="02020603050405020304" pitchFamily="18" charset="0"/>
              </a:rPr>
              <a:t>) </a:t>
            </a:r>
            <a:r>
              <a:rPr lang="zh-CN" altLang="zh-CN" sz="2400" b="1" dirty="0" smtClean="0">
                <a:latin typeface="Times New Roman" panose="02020603050405020304" pitchFamily="18" charset="0"/>
                <a:cs typeface="Times New Roman" panose="02020603050405020304" pitchFamily="18" charset="0"/>
              </a:rPr>
              <a:t>有</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r</a:t>
            </a:r>
            <a:r>
              <a:rPr lang="en-US" altLang="zh-CN" sz="2400" b="1" dirty="0" smtClean="0">
                <a:latin typeface="Times New Roman" panose="02020603050405020304" pitchFamily="18" charset="0"/>
                <a:cs typeface="Times New Roman" panose="02020603050405020304" pitchFamily="18" charset="0"/>
              </a:rPr>
              <a:t>! </a:t>
            </a:r>
            <a:r>
              <a:rPr lang="zh-CN" altLang="zh-CN" sz="2400" b="1" dirty="0" smtClean="0">
                <a:latin typeface="Times New Roman" panose="02020603050405020304" pitchFamily="18" charset="0"/>
                <a:cs typeface="Times New Roman" panose="02020603050405020304" pitchFamily="18" charset="0"/>
              </a:rPr>
              <a:t>项</a:t>
            </a:r>
            <a:r>
              <a:rPr lang="en-US" altLang="zh-CN" sz="2400" b="1" dirty="0" smtClean="0">
                <a:latin typeface="Times New Roman" panose="02020603050405020304" pitchFamily="18" charset="0"/>
                <a:cs typeface="Times New Roman" panose="02020603050405020304" pitchFamily="18" charset="0"/>
              </a:rPr>
              <a:t>, </a:t>
            </a:r>
            <a:r>
              <a:rPr lang="zh-CN" altLang="zh-CN" sz="2400" b="1" dirty="0" smtClean="0">
                <a:latin typeface="Times New Roman" panose="02020603050405020304" pitchFamily="18" charset="0"/>
                <a:cs typeface="Times New Roman" panose="02020603050405020304" pitchFamily="18" charset="0"/>
              </a:rPr>
              <a:t>每一项是</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B </a:t>
            </a:r>
            <a:r>
              <a:rPr lang="zh-CN" altLang="zh-CN" sz="2400" b="1" dirty="0" smtClean="0">
                <a:latin typeface="Times New Roman" panose="02020603050405020304" pitchFamily="18" charset="0"/>
                <a:cs typeface="Times New Roman" panose="02020603050405020304" pitchFamily="18" charset="0"/>
              </a:rPr>
              <a:t>中</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r </a:t>
            </a:r>
            <a:r>
              <a:rPr lang="zh-CN" altLang="zh-CN" sz="2400" b="1" dirty="0" smtClean="0">
                <a:latin typeface="Times New Roman" panose="02020603050405020304" pitchFamily="18" charset="0"/>
                <a:cs typeface="Times New Roman" panose="02020603050405020304" pitchFamily="18" charset="0"/>
              </a:rPr>
              <a:t>个元素的乘积</a:t>
            </a:r>
            <a:r>
              <a:rPr lang="en-US" altLang="zh-CN" sz="2400" b="1" dirty="0" smtClean="0">
                <a:latin typeface="Times New Roman" panose="02020603050405020304" pitchFamily="18" charset="0"/>
                <a:cs typeface="Times New Roman" panose="02020603050405020304" pitchFamily="18" charset="0"/>
              </a:rPr>
              <a:t>, </a:t>
            </a:r>
            <a:r>
              <a:rPr lang="zh-CN" altLang="zh-CN" sz="2400" b="1" dirty="0" smtClean="0">
                <a:latin typeface="Times New Roman" panose="02020603050405020304" pitchFamily="18" charset="0"/>
                <a:cs typeface="Times New Roman" panose="02020603050405020304" pitchFamily="18" charset="0"/>
              </a:rPr>
              <a:t>其绝对值不超过</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baseline="30000" dirty="0" smtClean="0">
                <a:latin typeface="Times New Roman" panose="02020603050405020304" pitchFamily="18" charset="0"/>
                <a:cs typeface="Times New Roman" panose="02020603050405020304" pitchFamily="18" charset="0"/>
              </a:rPr>
              <a:t>r</a:t>
            </a:r>
            <a:r>
              <a:rPr lang="en-US" altLang="zh-CN" sz="2400" b="1" dirty="0" smtClean="0">
                <a:latin typeface="Times New Roman" panose="02020603050405020304" pitchFamily="18" charset="0"/>
                <a:cs typeface="Times New Roman" panose="02020603050405020304" pitchFamily="18" charset="0"/>
              </a:rPr>
              <a:t>,  </a:t>
            </a:r>
            <a:r>
              <a:rPr lang="zh-CN" altLang="zh-CN" sz="2400" b="1" dirty="0" smtClean="0">
                <a:latin typeface="Times New Roman" panose="02020603050405020304" pitchFamily="18" charset="0"/>
                <a:cs typeface="Times New Roman" panose="02020603050405020304" pitchFamily="18" charset="0"/>
              </a:rPr>
              <a:t>故</a:t>
            </a:r>
            <a:r>
              <a:rPr lang="en-US" altLang="zh-CN" sz="2400" b="1" dirty="0" smtClean="0">
                <a:latin typeface="Times New Roman" panose="02020603050405020304" pitchFamily="18" charset="0"/>
                <a:cs typeface="Times New Roman" panose="02020603050405020304" pitchFamily="18" charset="0"/>
              </a:rPr>
              <a:t>            |</a:t>
            </a:r>
            <a:r>
              <a:rPr lang="en-US" altLang="zh-CN" sz="2400" b="1" dirty="0" err="1" smtClean="0">
                <a:latin typeface="Times New Roman" panose="02020603050405020304" pitchFamily="18" charset="0"/>
                <a:cs typeface="Times New Roman" panose="02020603050405020304" pitchFamily="18" charset="0"/>
              </a:rPr>
              <a:t>det</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B</a:t>
            </a:r>
            <a:r>
              <a:rPr lang="en-US" altLang="zh-CN" sz="2400" b="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rPr>
              <a:t>r</a:t>
            </a:r>
            <a:r>
              <a:rPr lang="en-US" altLang="zh-CN" sz="2400" b="1" dirty="0" smtClean="0">
                <a:latin typeface="Times New Roman" panose="02020603050405020304" pitchFamily="18" charset="0"/>
                <a:cs typeface="Times New Roman" panose="02020603050405020304" pitchFamily="18" charset="0"/>
              </a:rPr>
              <a:t>!</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baseline="30000" dirty="0" smtClean="0">
                <a:latin typeface="Times New Roman" panose="02020603050405020304" pitchFamily="18" charset="0"/>
                <a:cs typeface="Times New Roman" panose="02020603050405020304" pitchFamily="18" charset="0"/>
              </a:rPr>
              <a:t>r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r</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a:t>
            </a:r>
            <a:r>
              <a:rPr lang="en-US" altLang="zh-CN" sz="2400" b="1" i="1" baseline="30000" dirty="0" smtClean="0">
                <a:latin typeface="Times New Roman" panose="02020603050405020304" pitchFamily="18" charset="0"/>
                <a:cs typeface="Times New Roman" panose="02020603050405020304" pitchFamily="18" charset="0"/>
              </a:rPr>
              <a:t>r</a:t>
            </a:r>
            <a:r>
              <a:rPr lang="en-US" altLang="zh-CN" sz="2400" b="1" dirty="0" smtClean="0">
                <a:latin typeface="Times New Roman" panose="02020603050405020304" pitchFamily="18" charset="0"/>
                <a:cs typeface="Times New Roman" panose="02020603050405020304" pitchFamily="18" charset="0"/>
              </a:rPr>
              <a:t>.    </a:t>
            </a:r>
            <a:endParaRPr lang="zh-CN" altLang="zh-CN" sz="2400" b="1" dirty="0" smtClean="0">
              <a:latin typeface="Times New Roman" panose="02020603050405020304" pitchFamily="18" charset="0"/>
              <a:cs typeface="Times New Roman" panose="02020603050405020304" pitchFamily="18" charset="0"/>
            </a:endParaRPr>
          </a:p>
          <a:p>
            <a:pPr marL="0" indent="0">
              <a:spcBef>
                <a:spcPts val="1800"/>
              </a:spcBef>
              <a:buFont typeface="Arial" panose="020B0604020202020204" pitchFamily="34" charset="0"/>
              <a:buNone/>
            </a:pPr>
            <a:r>
              <a:rPr lang="zh-CN" altLang="zh-CN" sz="2400" b="1" dirty="0" smtClean="0">
                <a:solidFill>
                  <a:srgbClr val="C00000"/>
                </a:solidFill>
                <a:latin typeface="Times New Roman" panose="02020603050405020304" pitchFamily="18" charset="0"/>
                <a:cs typeface="Times New Roman" panose="02020603050405020304" pitchFamily="18" charset="0"/>
              </a:rPr>
              <a:t>引理</a:t>
            </a:r>
            <a:r>
              <a:rPr lang="en-US" altLang="zh-CN" sz="2400" b="1" dirty="0" smtClean="0">
                <a:solidFill>
                  <a:srgbClr val="C00000"/>
                </a:solidFill>
                <a:latin typeface="Times New Roman" panose="02020603050405020304" pitchFamily="18" charset="0"/>
                <a:cs typeface="Times New Roman" panose="02020603050405020304" pitchFamily="18" charset="0"/>
              </a:rPr>
              <a:t>9.4 </a:t>
            </a:r>
            <a:r>
              <a:rPr lang="zh-CN" altLang="zh-CN" sz="2400" b="1" dirty="0" smtClean="0">
                <a:latin typeface="Times New Roman" panose="02020603050405020304" pitchFamily="18" charset="0"/>
                <a:cs typeface="Times New Roman" panose="02020603050405020304" pitchFamily="18" charset="0"/>
              </a:rPr>
              <a:t>设</a:t>
            </a:r>
            <a:r>
              <a:rPr lang="en-US" altLang="zh-CN" sz="2400" b="1" i="1" dirty="0" smtClean="0">
                <a:latin typeface="Times New Roman" panose="02020603050405020304" pitchFamily="18" charset="0"/>
                <a:cs typeface="Times New Roman" panose="02020603050405020304" pitchFamily="18" charset="0"/>
              </a:rPr>
              <a:t>A</a:t>
            </a:r>
            <a:r>
              <a:rPr lang="zh-CN" altLang="zh-CN" sz="2400" b="1" dirty="0" smtClean="0">
                <a:latin typeface="Times New Roman" panose="02020603050405020304" pitchFamily="18" charset="0"/>
                <a:cs typeface="Times New Roman" panose="02020603050405020304" pitchFamily="18" charset="0"/>
              </a:rPr>
              <a:t>的秩为</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r</a:t>
            </a:r>
            <a:r>
              <a:rPr lang="en-US" altLang="zh-CN" sz="2400" b="1" dirty="0" smtClean="0">
                <a:latin typeface="Times New Roman" panose="02020603050405020304" pitchFamily="18" charset="0"/>
                <a:cs typeface="Times New Roman" panose="02020603050405020304" pitchFamily="18" charset="0"/>
              </a:rPr>
              <a:t>. </a:t>
            </a:r>
            <a:r>
              <a:rPr lang="zh-CN" altLang="zh-CN" sz="2400" b="1" dirty="0" smtClean="0">
                <a:latin typeface="Times New Roman" panose="02020603050405020304" pitchFamily="18" charset="0"/>
                <a:cs typeface="Times New Roman" panose="02020603050405020304" pitchFamily="18" charset="0"/>
              </a:rPr>
              <a:t>如果</a:t>
            </a:r>
            <a:r>
              <a:rPr lang="en-US" altLang="zh-CN" sz="2400" b="1"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rPr>
              <a:t>r </a:t>
            </a:r>
            <a:r>
              <a:rPr lang="en-US" altLang="zh-CN" sz="2400" b="1" dirty="0" smtClean="0">
                <a:latin typeface="Times New Roman" panose="02020603050405020304" pitchFamily="18" charset="0"/>
                <a:cs typeface="Times New Roman" panose="02020603050405020304" pitchFamily="18" charset="0"/>
              </a:rPr>
              <a:t>&lt;</a:t>
            </a:r>
            <a:r>
              <a:rPr lang="en-US" altLang="zh-CN" sz="2400" b="1" i="1" dirty="0" smtClean="0">
                <a:latin typeface="Times New Roman" panose="02020603050405020304" pitchFamily="18" charset="0"/>
                <a:cs typeface="Times New Roman" panose="02020603050405020304" pitchFamily="18" charset="0"/>
              </a:rPr>
              <a:t>n</a:t>
            </a:r>
            <a:r>
              <a:rPr lang="en-US" altLang="zh-CN" sz="2400" b="1" dirty="0" smtClean="0">
                <a:latin typeface="Times New Roman" panose="02020603050405020304" pitchFamily="18" charset="0"/>
                <a:cs typeface="Times New Roman" panose="02020603050405020304" pitchFamily="18" charset="0"/>
              </a:rPr>
              <a:t>, </a:t>
            </a:r>
            <a:r>
              <a:rPr lang="zh-CN" altLang="zh-CN" sz="2400" b="1" dirty="0" smtClean="0">
                <a:latin typeface="Times New Roman" panose="02020603050405020304" pitchFamily="18" charset="0"/>
                <a:cs typeface="Times New Roman" panose="02020603050405020304" pitchFamily="18" charset="0"/>
              </a:rPr>
              <a:t>则存在非零整数向量</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z </a:t>
            </a:r>
            <a:r>
              <a:rPr lang="zh-CN" altLang="zh-CN" sz="2400" b="1" dirty="0" smtClean="0">
                <a:latin typeface="Times New Roman" panose="02020603050405020304" pitchFamily="18" charset="0"/>
                <a:cs typeface="Times New Roman" panose="02020603050405020304" pitchFamily="18" charset="0"/>
              </a:rPr>
              <a:t>使得</a:t>
            </a:r>
            <a:r>
              <a:rPr lang="en-US" altLang="zh-CN" sz="2400" b="1" dirty="0" smtClean="0">
                <a:latin typeface="Times New Roman" panose="02020603050405020304" pitchFamily="18" charset="0"/>
                <a:cs typeface="Times New Roman" panose="02020603050405020304" pitchFamily="18" charset="0"/>
              </a:rPr>
              <a:t>       </a:t>
            </a:r>
            <a:endParaRPr lang="en-US" altLang="zh-CN" sz="2400" b="1" dirty="0" smtClean="0">
              <a:latin typeface="Times New Roman" panose="02020603050405020304" pitchFamily="18" charset="0"/>
              <a:cs typeface="Times New Roman" panose="02020603050405020304" pitchFamily="18" charset="0"/>
            </a:endParaRPr>
          </a:p>
          <a:p>
            <a:pPr marL="0" indent="0">
              <a:spcBef>
                <a:spcPct val="0"/>
              </a:spcBef>
              <a:buFont typeface="Arial" panose="020B0604020202020204" pitchFamily="34" charset="0"/>
              <a:buNone/>
            </a:pPr>
            <a:r>
              <a:rPr lang="en-US" altLang="zh-CN" sz="2400" b="1" i="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Az</a:t>
            </a:r>
            <a:r>
              <a:rPr lang="en-US" altLang="zh-CN" sz="2400" b="1" i="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rPr>
              <a:t>= 0  </a:t>
            </a:r>
            <a:r>
              <a:rPr lang="zh-CN" altLang="zh-CN" sz="2400" b="1" dirty="0" smtClean="0">
                <a:latin typeface="Times New Roman" panose="02020603050405020304" pitchFamily="18" charset="0"/>
                <a:cs typeface="Times New Roman" panose="02020603050405020304" pitchFamily="18" charset="0"/>
              </a:rPr>
              <a:t>且</a:t>
            </a:r>
            <a:r>
              <a:rPr lang="en-US" altLang="zh-CN" sz="2400" b="1" dirty="0" smtClean="0">
                <a:latin typeface="Times New Roman" panose="02020603050405020304" pitchFamily="18" charset="0"/>
                <a:cs typeface="Times New Roman" panose="02020603050405020304" pitchFamily="18" charset="0"/>
              </a:rPr>
              <a:t>   | </a:t>
            </a:r>
            <a:r>
              <a:rPr lang="en-US" altLang="zh-CN" sz="2400" b="1" i="1" dirty="0" err="1" smtClean="0">
                <a:latin typeface="Times New Roman" panose="02020603050405020304" pitchFamily="18" charset="0"/>
                <a:cs typeface="Times New Roman" panose="02020603050405020304" pitchFamily="18" charset="0"/>
              </a:rPr>
              <a:t>z</a:t>
            </a:r>
            <a:r>
              <a:rPr lang="en-US" altLang="zh-CN" sz="2400" b="1" i="1" baseline="-25000" dirty="0" err="1" smtClean="0">
                <a:latin typeface="Times New Roman" panose="02020603050405020304" pitchFamily="18" charset="0"/>
                <a:cs typeface="Times New Roman" panose="02020603050405020304" pitchFamily="18" charset="0"/>
              </a:rPr>
              <a:t>j</a:t>
            </a:r>
            <a:r>
              <a:rPr lang="en-US" altLang="zh-CN" sz="2400" b="1" i="1" baseline="-25000"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n</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a:t>
            </a:r>
            <a:r>
              <a:rPr lang="en-US" altLang="zh-CN" sz="2400" b="1" i="1" baseline="30000" dirty="0" smtClean="0">
                <a:latin typeface="Times New Roman" panose="02020603050405020304" pitchFamily="18" charset="0"/>
                <a:cs typeface="Times New Roman" panose="02020603050405020304" pitchFamily="18" charset="0"/>
              </a:rPr>
              <a:t>n</a:t>
            </a:r>
            <a:r>
              <a:rPr lang="en-US" altLang="zh-CN" sz="2400" b="1" dirty="0" smtClean="0">
                <a:latin typeface="Times New Roman" panose="02020603050405020304" pitchFamily="18" charset="0"/>
                <a:cs typeface="Times New Roman" panose="02020603050405020304" pitchFamily="18" charset="0"/>
              </a:rPr>
              <a:t>, 1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rPr>
              <a:t>j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rPr>
              <a:t>n     </a:t>
            </a:r>
            <a:endParaRPr lang="zh-CN" altLang="zh-CN" sz="2400" b="1" dirty="0" smtClean="0">
              <a:latin typeface="Times New Roman" panose="02020603050405020304" pitchFamily="18" charset="0"/>
              <a:cs typeface="Times New Roman" panose="02020603050405020304" pitchFamily="18" charset="0"/>
            </a:endParaRPr>
          </a:p>
          <a:p>
            <a:pPr marL="0" indent="0">
              <a:spcBef>
                <a:spcPts val="1800"/>
              </a:spcBef>
              <a:buFont typeface="Arial" panose="020B0604020202020204" pitchFamily="34" charset="0"/>
              <a:buNone/>
            </a:pPr>
            <a:r>
              <a:rPr lang="zh-CN" altLang="zh-CN" sz="2400" b="1" dirty="0" smtClean="0">
                <a:solidFill>
                  <a:srgbClr val="C00000"/>
                </a:solidFill>
                <a:latin typeface="Times New Roman" panose="02020603050405020304" pitchFamily="18" charset="0"/>
                <a:cs typeface="Times New Roman" panose="02020603050405020304" pitchFamily="18" charset="0"/>
              </a:rPr>
              <a:t>引理</a:t>
            </a:r>
            <a:r>
              <a:rPr lang="en-US" altLang="zh-CN" sz="2400" b="1" dirty="0" smtClean="0">
                <a:solidFill>
                  <a:srgbClr val="C00000"/>
                </a:solidFill>
                <a:latin typeface="Times New Roman" panose="02020603050405020304" pitchFamily="18" charset="0"/>
                <a:cs typeface="Times New Roman" panose="02020603050405020304" pitchFamily="18" charset="0"/>
              </a:rPr>
              <a:t>9.5  </a:t>
            </a:r>
            <a:r>
              <a:rPr lang="zh-CN" altLang="zh-CN" sz="2400" b="1" dirty="0" smtClean="0">
                <a:latin typeface="Times New Roman" panose="02020603050405020304" pitchFamily="18" charset="0"/>
                <a:cs typeface="Times New Roman" panose="02020603050405020304" pitchFamily="18" charset="0"/>
              </a:rPr>
              <a:t>设</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A </a:t>
            </a:r>
            <a:r>
              <a:rPr lang="zh-CN" altLang="zh-CN" sz="2400" b="1" dirty="0" smtClean="0">
                <a:latin typeface="Times New Roman" panose="02020603050405020304" pitchFamily="18" charset="0"/>
                <a:cs typeface="Times New Roman" panose="02020603050405020304" pitchFamily="18" charset="0"/>
              </a:rPr>
              <a:t>的秩等于</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n</a:t>
            </a:r>
            <a:r>
              <a:rPr lang="en-US" altLang="zh-CN" sz="2400" b="1" dirty="0" smtClean="0">
                <a:latin typeface="Times New Roman" panose="02020603050405020304" pitchFamily="18" charset="0"/>
                <a:cs typeface="Times New Roman" panose="02020603050405020304" pitchFamily="18" charset="0"/>
              </a:rPr>
              <a:t>. </a:t>
            </a:r>
            <a:r>
              <a:rPr lang="zh-CN" altLang="zh-CN" sz="2400" b="1" dirty="0" smtClean="0">
                <a:latin typeface="Times New Roman" panose="02020603050405020304" pitchFamily="18" charset="0"/>
                <a:cs typeface="Times New Roman" panose="02020603050405020304" pitchFamily="18" charset="0"/>
              </a:rPr>
              <a:t>如果</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Ax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rPr>
              <a:t>b </a:t>
            </a:r>
            <a:r>
              <a:rPr lang="zh-CN" altLang="zh-CN" sz="2400" b="1" dirty="0" smtClean="0">
                <a:latin typeface="Times New Roman" panose="02020603050405020304" pitchFamily="18" charset="0"/>
                <a:cs typeface="Times New Roman" panose="02020603050405020304" pitchFamily="18" charset="0"/>
              </a:rPr>
              <a:t>有整数解</a:t>
            </a:r>
            <a:r>
              <a:rPr lang="en-US" altLang="zh-CN" sz="2400" b="1" dirty="0" smtClean="0">
                <a:latin typeface="Times New Roman" panose="02020603050405020304" pitchFamily="18" charset="0"/>
                <a:cs typeface="Times New Roman" panose="02020603050405020304" pitchFamily="18" charset="0"/>
              </a:rPr>
              <a:t>, </a:t>
            </a:r>
            <a:r>
              <a:rPr lang="zh-CN" altLang="zh-CN" sz="2400" b="1" dirty="0" smtClean="0">
                <a:latin typeface="Times New Roman" panose="02020603050405020304" pitchFamily="18" charset="0"/>
                <a:cs typeface="Times New Roman" panose="02020603050405020304" pitchFamily="18" charset="0"/>
              </a:rPr>
              <a:t>则存在整数解</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x </a:t>
            </a:r>
            <a:r>
              <a:rPr lang="zh-CN" altLang="zh-CN" sz="2400" b="1" dirty="0" smtClean="0">
                <a:latin typeface="Times New Roman" panose="02020603050405020304" pitchFamily="18" charset="0"/>
                <a:cs typeface="Times New Roman" panose="02020603050405020304" pitchFamily="18" charset="0"/>
              </a:rPr>
              <a:t>和</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A </a:t>
            </a:r>
            <a:r>
              <a:rPr lang="zh-CN" altLang="zh-CN" sz="2400" b="1" dirty="0" smtClean="0">
                <a:latin typeface="Times New Roman" panose="02020603050405020304" pitchFamily="18" charset="0"/>
                <a:cs typeface="Times New Roman" panose="02020603050405020304" pitchFamily="18" charset="0"/>
              </a:rPr>
              <a:t>的</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k </a:t>
            </a:r>
            <a:r>
              <a:rPr lang="zh-CN" altLang="zh-CN" sz="2400" b="1" dirty="0" smtClean="0">
                <a:latin typeface="Times New Roman" panose="02020603050405020304" pitchFamily="18" charset="0"/>
                <a:cs typeface="Times New Roman" panose="02020603050405020304" pitchFamily="18" charset="0"/>
              </a:rPr>
              <a:t>行</a:t>
            </a:r>
            <a:r>
              <a:rPr lang="en-US" altLang="zh-CN" sz="2400" b="1" dirty="0" smtClean="0">
                <a:latin typeface="Times New Roman" panose="02020603050405020304" pitchFamily="18" charset="0"/>
                <a:cs typeface="Times New Roman" panose="02020603050405020304" pitchFamily="18" charset="0"/>
              </a:rPr>
              <a:t> (</a:t>
            </a:r>
            <a:r>
              <a:rPr lang="zh-CN" altLang="zh-CN" sz="2400" b="1" dirty="0" smtClean="0">
                <a:latin typeface="Times New Roman" panose="02020603050405020304" pitchFamily="18" charset="0"/>
                <a:cs typeface="Times New Roman" panose="02020603050405020304" pitchFamily="18" charset="0"/>
              </a:rPr>
              <a:t>不妨设为</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A</a:t>
            </a:r>
            <a:r>
              <a:rPr lang="en-US" altLang="zh-CN" sz="2400" b="1" baseline="-25000"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A</a:t>
            </a:r>
            <a:r>
              <a:rPr lang="en-US" altLang="zh-CN" sz="2400" b="1" baseline="-25000" dirty="0" smtClean="0">
                <a:latin typeface="Times New Roman" panose="02020603050405020304" pitchFamily="18" charset="0"/>
                <a:cs typeface="Times New Roman" panose="02020603050405020304" pitchFamily="18" charset="0"/>
              </a:rPr>
              <a:t>2</a:t>
            </a:r>
            <a:r>
              <a:rPr lang="en-US" altLang="zh-CN" sz="2400" b="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A</a:t>
            </a:r>
            <a:r>
              <a:rPr lang="en-US" altLang="zh-CN" sz="2400" b="1" i="1" baseline="-25000" dirty="0" err="1" smtClean="0">
                <a:latin typeface="Times New Roman" panose="02020603050405020304" pitchFamily="18" charset="0"/>
                <a:cs typeface="Times New Roman" panose="02020603050405020304" pitchFamily="18" charset="0"/>
              </a:rPr>
              <a:t>k</a:t>
            </a:r>
            <a:r>
              <a:rPr lang="en-US" altLang="zh-CN" sz="2400" b="1" i="1" baseline="-25000"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rPr>
              <a:t>) </a:t>
            </a:r>
            <a:r>
              <a:rPr lang="zh-CN" altLang="zh-CN" sz="2400" b="1" dirty="0" smtClean="0">
                <a:latin typeface="Times New Roman" panose="02020603050405020304" pitchFamily="18" charset="0"/>
                <a:cs typeface="Times New Roman" panose="02020603050405020304" pitchFamily="18" charset="0"/>
              </a:rPr>
              <a:t>使得</a:t>
            </a:r>
            <a:endParaRPr lang="zh-CN" altLang="zh-CN" sz="2400" b="1" dirty="0" smtClean="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b</a:t>
            </a:r>
            <a:r>
              <a:rPr lang="en-US" altLang="zh-CN" sz="2400" b="1" i="1" baseline="-25000" dirty="0" smtClean="0">
                <a:latin typeface="Times New Roman" panose="02020603050405020304" pitchFamily="18" charset="0"/>
                <a:cs typeface="Times New Roman" panose="02020603050405020304" pitchFamily="18" charset="0"/>
              </a:rPr>
              <a:t>i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rPr>
              <a:t>A</a:t>
            </a:r>
            <a:r>
              <a:rPr lang="en-US" altLang="zh-CN" sz="2400" b="1" i="1" baseline="-25000" dirty="0" smtClean="0">
                <a:latin typeface="Times New Roman" panose="02020603050405020304" pitchFamily="18" charset="0"/>
                <a:cs typeface="Times New Roman" panose="02020603050405020304" pitchFamily="18" charset="0"/>
              </a:rPr>
              <a:t>i </a:t>
            </a:r>
            <a:r>
              <a:rPr lang="en-US" altLang="zh-CN" sz="2400" b="1" i="1" dirty="0" smtClean="0">
                <a:latin typeface="Times New Roman" panose="02020603050405020304" pitchFamily="18" charset="0"/>
                <a:cs typeface="Times New Roman" panose="02020603050405020304" pitchFamily="18" charset="0"/>
              </a:rPr>
              <a:t>x</a:t>
            </a:r>
            <a:r>
              <a:rPr lang="en-US" altLang="zh-CN" sz="2400" b="1" baseline="30000"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rPr>
              <a:t>&lt; </a:t>
            </a:r>
            <a:r>
              <a:rPr lang="en-US" altLang="zh-CN" sz="2400" b="1" i="1" dirty="0" smtClean="0">
                <a:latin typeface="Times New Roman" panose="02020603050405020304" pitchFamily="18" charset="0"/>
                <a:cs typeface="Times New Roman" panose="02020603050405020304" pitchFamily="18" charset="0"/>
              </a:rPr>
              <a:t>b</a:t>
            </a:r>
            <a:r>
              <a:rPr lang="en-US" altLang="zh-CN" sz="2400" b="1" i="1" baseline="-25000" dirty="0" smtClean="0">
                <a:latin typeface="Times New Roman" panose="02020603050405020304" pitchFamily="18" charset="0"/>
                <a:cs typeface="Times New Roman" panose="02020603050405020304" pitchFamily="18" charset="0"/>
              </a:rPr>
              <a:t>i </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n</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smtClean="0">
                <a:latin typeface="Times New Roman" panose="02020603050405020304" pitchFamily="18" charset="0"/>
                <a:cs typeface="Times New Roman" panose="02020603050405020304" pitchFamily="18" charset="0"/>
              </a:rPr>
              <a:t>)</a:t>
            </a:r>
            <a:r>
              <a:rPr lang="en-US" altLang="zh-CN" sz="2400" b="1" i="1" baseline="30000" dirty="0" smtClean="0">
                <a:latin typeface="Times New Roman" panose="02020603050405020304" pitchFamily="18" charset="0"/>
                <a:cs typeface="Times New Roman" panose="02020603050405020304" pitchFamily="18" charset="0"/>
              </a:rPr>
              <a:t>n</a:t>
            </a:r>
            <a:r>
              <a:rPr lang="en-US" altLang="zh-CN" sz="2400" b="1" baseline="30000"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rPr>
              <a:t>,   1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i="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rPr>
              <a:t>k</a:t>
            </a:r>
            <a:r>
              <a:rPr lang="en-US" altLang="zh-CN" sz="2400" b="1" dirty="0" smtClean="0">
                <a:latin typeface="Times New Roman" panose="02020603050405020304" pitchFamily="18" charset="0"/>
                <a:cs typeface="Times New Roman" panose="02020603050405020304" pitchFamily="18" charset="0"/>
              </a:rPr>
              <a:t>  </a:t>
            </a:r>
            <a:endParaRPr lang="zh-CN" altLang="zh-CN" sz="2400" b="1" dirty="0" smtClean="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zh-CN" altLang="zh-CN" sz="2400" b="1" dirty="0" smtClean="0">
                <a:latin typeface="Times New Roman" panose="02020603050405020304" pitchFamily="18" charset="0"/>
                <a:cs typeface="Times New Roman" panose="02020603050405020304" pitchFamily="18" charset="0"/>
              </a:rPr>
              <a:t>且这</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k </a:t>
            </a:r>
            <a:r>
              <a:rPr lang="zh-CN" altLang="zh-CN" sz="2400" b="1" dirty="0" smtClean="0">
                <a:latin typeface="Times New Roman" panose="02020603050405020304" pitchFamily="18" charset="0"/>
                <a:cs typeface="Times New Roman" panose="02020603050405020304" pitchFamily="18" charset="0"/>
              </a:rPr>
              <a:t>行的秩等于</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n</a:t>
            </a:r>
            <a:r>
              <a:rPr lang="en-US" altLang="zh-CN" sz="2400" b="1" dirty="0" smtClean="0">
                <a:latin typeface="Times New Roman" panose="02020603050405020304" pitchFamily="18" charset="0"/>
                <a:cs typeface="Times New Roman" panose="02020603050405020304" pitchFamily="18" charset="0"/>
              </a:rPr>
              <a:t>.</a:t>
            </a:r>
            <a:endParaRPr lang="zh-CN" altLang="zh-CN" sz="2400" b="1" dirty="0" smtClean="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zh-CN" altLang="en-US" sz="2400" b="1" dirty="0" smtClean="0">
              <a:latin typeface="Times New Roman" panose="02020603050405020304" pitchFamily="18" charset="0"/>
              <a:cs typeface="Times New Roman" panose="02020603050405020304" pitchFamily="18"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1"/>
          <p:cNvSpPr>
            <a:spLocks noGrp="1"/>
          </p:cNvSpPr>
          <p:nvPr>
            <p:ph type="title"/>
          </p:nvPr>
        </p:nvSpPr>
        <p:spPr/>
        <p:txBody>
          <a:bodyPr/>
          <a:lstStyle/>
          <a:p>
            <a:r>
              <a:rPr lang="en-US" altLang="zh-CN" b="1" smtClean="0">
                <a:solidFill>
                  <a:srgbClr val="C00000"/>
                </a:solidFill>
                <a:latin typeface="Times New Roman" panose="02020603050405020304" pitchFamily="18" charset="0"/>
                <a:cs typeface="Times New Roman" panose="02020603050405020304" pitchFamily="18" charset="0"/>
              </a:rPr>
              <a:t>ILP </a:t>
            </a:r>
            <a:r>
              <a:rPr lang="zh-CN" altLang="en-US" b="1" smtClean="0">
                <a:solidFill>
                  <a:srgbClr val="C00000"/>
                </a:solidFill>
                <a:latin typeface="Times New Roman" panose="02020603050405020304" pitchFamily="18" charset="0"/>
                <a:cs typeface="Times New Roman" panose="02020603050405020304" pitchFamily="18" charset="0"/>
              </a:rPr>
              <a:t>是 </a:t>
            </a:r>
            <a:r>
              <a:rPr lang="en-US" altLang="zh-CN" b="1" smtClean="0">
                <a:solidFill>
                  <a:srgbClr val="C00000"/>
                </a:solidFill>
                <a:latin typeface="Times New Roman" panose="02020603050405020304" pitchFamily="18" charset="0"/>
                <a:cs typeface="Times New Roman" panose="02020603050405020304" pitchFamily="18" charset="0"/>
              </a:rPr>
              <a:t>NP</a:t>
            </a:r>
            <a:r>
              <a:rPr lang="zh-CN" altLang="en-US" b="1" smtClean="0">
                <a:solidFill>
                  <a:srgbClr val="C00000"/>
                </a:solidFill>
                <a:latin typeface="Times New Roman" panose="02020603050405020304" pitchFamily="18" charset="0"/>
                <a:cs typeface="Times New Roman" panose="02020603050405020304" pitchFamily="18" charset="0"/>
              </a:rPr>
              <a:t>完全的</a:t>
            </a:r>
            <a:endParaRPr lang="zh-CN" altLang="en-US" b="1" smtClean="0">
              <a:solidFill>
                <a:srgbClr val="C00000"/>
              </a:solidFill>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a:xfrm>
            <a:off x="457200" y="1412875"/>
            <a:ext cx="8229600" cy="4895850"/>
          </a:xfrm>
        </p:spPr>
        <p:txBody>
          <a:bodyPr/>
          <a:lstStyle/>
          <a:p>
            <a:pPr marL="0" indent="0">
              <a:buFont typeface="Arial" panose="020B0604020202020204" pitchFamily="34" charset="0"/>
              <a:buNone/>
              <a:defRPr/>
            </a:pPr>
            <a:r>
              <a:rPr lang="zh-CN" altLang="zh-CN" sz="2400" b="1" dirty="0">
                <a:solidFill>
                  <a:srgbClr val="C00000"/>
                </a:solidFill>
                <a:latin typeface="Times New Roman" panose="02020603050405020304" pitchFamily="18" charset="0"/>
                <a:cs typeface="Times New Roman" panose="02020603050405020304" pitchFamily="18" charset="0"/>
              </a:rPr>
              <a:t>引理</a:t>
            </a:r>
            <a:r>
              <a:rPr lang="en-US" altLang="zh-CN" sz="2400" b="1" dirty="0">
                <a:solidFill>
                  <a:srgbClr val="C00000"/>
                </a:solidFill>
                <a:latin typeface="Times New Roman" panose="02020603050405020304" pitchFamily="18" charset="0"/>
                <a:cs typeface="Times New Roman" panose="02020603050405020304" pitchFamily="18" charset="0"/>
              </a:rPr>
              <a:t>9.6 </a:t>
            </a:r>
            <a:r>
              <a:rPr lang="en-US" altLang="zh-CN" sz="2400" b="1" dirty="0" smtClean="0">
                <a:solidFill>
                  <a:srgbClr val="C00000"/>
                </a:solidFill>
                <a:latin typeface="Times New Roman" panose="02020603050405020304" pitchFamily="18" charset="0"/>
                <a:cs typeface="Times New Roman" panose="02020603050405020304" pitchFamily="18" charset="0"/>
              </a:rPr>
              <a:t> </a:t>
            </a:r>
            <a:r>
              <a:rPr lang="zh-CN" altLang="zh-CN" sz="2400" b="1" dirty="0" smtClean="0">
                <a:latin typeface="Times New Roman" panose="02020603050405020304" pitchFamily="18" charset="0"/>
                <a:cs typeface="Times New Roman" panose="02020603050405020304" pitchFamily="18" charset="0"/>
              </a:rPr>
              <a:t>如果</a:t>
            </a:r>
            <a:r>
              <a:rPr lang="en-US" altLang="zh-CN" sz="2400" b="1" dirty="0" smtClean="0">
                <a:latin typeface="Times New Roman" panose="02020603050405020304" pitchFamily="18" charset="0"/>
                <a:cs typeface="Times New Roman" panose="02020603050405020304" pitchFamily="18" charset="0"/>
              </a:rPr>
              <a:t> (</a:t>
            </a:r>
            <a:r>
              <a:rPr lang="en-US" altLang="zh-CN" sz="2400" b="1" dirty="0">
                <a:latin typeface="Times New Roman" panose="02020603050405020304" pitchFamily="18" charset="0"/>
                <a:cs typeface="Times New Roman" panose="02020603050405020304" pitchFamily="18" charset="0"/>
              </a:rPr>
              <a:t>9.1</a:t>
            </a:r>
            <a:r>
              <a:rPr lang="en-US" altLang="zh-CN" sz="2400" b="1" dirty="0" smtClean="0">
                <a:latin typeface="Times New Roman" panose="02020603050405020304" pitchFamily="18" charset="0"/>
                <a:cs typeface="Times New Roman" panose="02020603050405020304" pitchFamily="18" charset="0"/>
              </a:rPr>
              <a:t>) </a:t>
            </a:r>
            <a:r>
              <a:rPr lang="zh-CN" altLang="zh-CN" sz="2400" b="1" dirty="0" smtClean="0">
                <a:latin typeface="Times New Roman" panose="02020603050405020304" pitchFamily="18" charset="0"/>
                <a:cs typeface="Times New Roman" panose="02020603050405020304" pitchFamily="18" charset="0"/>
              </a:rPr>
              <a:t>有</a:t>
            </a:r>
            <a:r>
              <a:rPr lang="zh-CN" altLang="zh-CN" sz="2400" b="1" dirty="0">
                <a:latin typeface="Times New Roman" panose="02020603050405020304" pitchFamily="18" charset="0"/>
                <a:cs typeface="Times New Roman" panose="02020603050405020304" pitchFamily="18" charset="0"/>
              </a:rPr>
              <a:t>解</a:t>
            </a:r>
            <a:r>
              <a:rPr lang="en-US" altLang="zh-CN" sz="2400" b="1" dirty="0">
                <a:latin typeface="Times New Roman" panose="02020603050405020304" pitchFamily="18" charset="0"/>
                <a:cs typeface="Times New Roman" panose="02020603050405020304" pitchFamily="18" charset="0"/>
              </a:rPr>
              <a:t>, </a:t>
            </a:r>
            <a:r>
              <a:rPr lang="zh-CN" altLang="zh-CN" sz="2400" b="1" dirty="0">
                <a:latin typeface="Times New Roman" panose="02020603050405020304" pitchFamily="18" charset="0"/>
                <a:cs typeface="Times New Roman" panose="02020603050405020304" pitchFamily="18" charset="0"/>
              </a:rPr>
              <a:t>则存在一个</a:t>
            </a:r>
            <a:r>
              <a:rPr lang="zh-CN" altLang="zh-CN" sz="2400" b="1" dirty="0" smtClean="0">
                <a:latin typeface="Times New Roman" panose="02020603050405020304" pitchFamily="18" charset="0"/>
                <a:cs typeface="Times New Roman" panose="02020603050405020304" pitchFamily="18" charset="0"/>
              </a:rPr>
              <a:t>解</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x </a:t>
            </a:r>
            <a:r>
              <a:rPr lang="zh-CN" altLang="zh-CN" sz="2400" b="1" dirty="0" smtClean="0">
                <a:latin typeface="Times New Roman" panose="02020603050405020304" pitchFamily="18" charset="0"/>
                <a:cs typeface="Times New Roman" panose="02020603050405020304" pitchFamily="18" charset="0"/>
              </a:rPr>
              <a:t>使得</a:t>
            </a:r>
            <a:r>
              <a:rPr lang="zh-CN" altLang="zh-CN" sz="2400" b="1" dirty="0">
                <a:latin typeface="Times New Roman" panose="02020603050405020304" pitchFamily="18" charset="0"/>
                <a:cs typeface="Times New Roman" panose="02020603050405020304" pitchFamily="18" charset="0"/>
              </a:rPr>
              <a:t>每一个</a:t>
            </a:r>
            <a:r>
              <a:rPr lang="zh-CN" altLang="zh-CN" sz="2400" b="1" dirty="0" smtClean="0">
                <a:latin typeface="Times New Roman" panose="02020603050405020304" pitchFamily="18" charset="0"/>
                <a:cs typeface="Times New Roman" panose="02020603050405020304" pitchFamily="18" charset="0"/>
              </a:rPr>
              <a:t>分量</a:t>
            </a:r>
            <a:r>
              <a:rPr lang="en-US" altLang="zh-CN" sz="2400" b="1" dirty="0" smtClean="0">
                <a:latin typeface="Times New Roman" panose="02020603050405020304" pitchFamily="18" charset="0"/>
                <a:cs typeface="Times New Roman" panose="02020603050405020304" pitchFamily="18" charset="0"/>
              </a:rPr>
              <a:t>    </a:t>
            </a:r>
            <a:endParaRPr lang="en-US" altLang="zh-CN" sz="2400" b="1" dirty="0" smtClean="0">
              <a:latin typeface="Times New Roman" panose="02020603050405020304" pitchFamily="18" charset="0"/>
              <a:cs typeface="Times New Roman" panose="02020603050405020304" pitchFamily="18" charset="0"/>
            </a:endParaRPr>
          </a:p>
          <a:p>
            <a:pPr marL="0" indent="0">
              <a:buFont typeface="Arial" panose="020B0604020202020204" pitchFamily="34" charset="0"/>
              <a:buNone/>
              <a:defRPr/>
            </a:pPr>
            <a:r>
              <a:rPr lang="en-US" altLang="zh-CN" sz="2400" b="1" i="1" dirty="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x</a:t>
            </a:r>
            <a:r>
              <a:rPr lang="en-US" altLang="zh-CN" sz="2400" b="1" i="1" baseline="-25000" dirty="0" err="1" smtClean="0">
                <a:latin typeface="Times New Roman" panose="02020603050405020304" pitchFamily="18" charset="0"/>
                <a:cs typeface="Times New Roman" panose="02020603050405020304" pitchFamily="18" charset="0"/>
              </a:rPr>
              <a:t>j</a:t>
            </a:r>
            <a:r>
              <a:rPr lang="en-US" altLang="zh-CN" sz="2400" b="1" i="1" baseline="-25000"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a:latin typeface="Times New Roman" panose="02020603050405020304" pitchFamily="18" charset="0"/>
                <a:cs typeface="Times New Roman" panose="02020603050405020304" pitchFamily="18" charset="0"/>
              </a:rPr>
              <a:t>n</a:t>
            </a:r>
            <a:r>
              <a:rPr lang="en-US" altLang="zh-CN" sz="2400" b="1" i="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cs typeface="Times New Roman" panose="02020603050405020304" pitchFamily="18" charset="0"/>
              </a:rPr>
              <a:t>)</a:t>
            </a:r>
            <a:r>
              <a:rPr lang="en-US" altLang="zh-CN" sz="2400" b="1" baseline="30000" dirty="0">
                <a:latin typeface="Times New Roman" panose="02020603050405020304" pitchFamily="18" charset="0"/>
                <a:cs typeface="Times New Roman" panose="02020603050405020304" pitchFamily="18" charset="0"/>
              </a:rPr>
              <a:t>2</a:t>
            </a:r>
            <a:r>
              <a:rPr lang="en-US" altLang="zh-CN" sz="2400" b="1" i="1" baseline="30000" dirty="0">
                <a:latin typeface="Times New Roman" panose="02020603050405020304" pitchFamily="18" charset="0"/>
                <a:cs typeface="Times New Roman" panose="02020603050405020304" pitchFamily="18" charset="0"/>
              </a:rPr>
              <a:t>n</a:t>
            </a:r>
            <a:r>
              <a:rPr lang="en-US" altLang="zh-CN" sz="2400" b="1" dirty="0" smtClean="0">
                <a:latin typeface="Times New Roman" panose="02020603050405020304" pitchFamily="18" charset="0"/>
                <a:cs typeface="Times New Roman" panose="02020603050405020304" pitchFamily="18" charset="0"/>
              </a:rPr>
              <a:t>,  1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rPr>
              <a:t>j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rPr>
              <a:t>n</a:t>
            </a:r>
            <a:r>
              <a:rPr lang="en-US" altLang="zh-CN" sz="2400" b="1" dirty="0" smtClean="0">
                <a:latin typeface="Times New Roman" panose="02020603050405020304" pitchFamily="18" charset="0"/>
                <a:cs typeface="Times New Roman" panose="02020603050405020304" pitchFamily="18" charset="0"/>
              </a:rPr>
              <a:t>.    </a:t>
            </a:r>
            <a:endParaRPr lang="en-US" altLang="zh-CN" sz="2400" b="1" dirty="0" smtClean="0">
              <a:latin typeface="Times New Roman" panose="02020603050405020304" pitchFamily="18" charset="0"/>
              <a:cs typeface="Times New Roman" panose="02020603050405020304" pitchFamily="18" charset="0"/>
            </a:endParaRPr>
          </a:p>
          <a:p>
            <a:pPr marL="0" indent="0">
              <a:spcBef>
                <a:spcPts val="1800"/>
              </a:spcBef>
              <a:buFont typeface="Arial" panose="020B0604020202020204" pitchFamily="34" charset="0"/>
              <a:buNone/>
              <a:defRPr/>
            </a:pPr>
            <a:r>
              <a:rPr lang="zh-CN" altLang="zh-CN" sz="2400" b="1" dirty="0" smtClean="0">
                <a:solidFill>
                  <a:srgbClr val="C00000"/>
                </a:solidFill>
                <a:latin typeface="Times New Roman" panose="02020603050405020304" pitchFamily="18" charset="0"/>
                <a:cs typeface="Times New Roman" panose="02020603050405020304" pitchFamily="18" charset="0"/>
              </a:rPr>
              <a:t>定理</a:t>
            </a:r>
            <a:r>
              <a:rPr lang="en-US" altLang="zh-CN" sz="2400" b="1" dirty="0" smtClean="0">
                <a:solidFill>
                  <a:srgbClr val="C00000"/>
                </a:solidFill>
                <a:latin typeface="Times New Roman" panose="02020603050405020304" pitchFamily="18" charset="0"/>
                <a:cs typeface="Times New Roman" panose="02020603050405020304" pitchFamily="18" charset="0"/>
              </a:rPr>
              <a:t> 9.20  </a:t>
            </a:r>
            <a:r>
              <a:rPr lang="en-US" altLang="zh-CN" sz="2400" b="1" dirty="0" smtClean="0">
                <a:latin typeface="Times New Roman" panose="02020603050405020304" pitchFamily="18" charset="0"/>
                <a:cs typeface="Times New Roman" panose="02020603050405020304" pitchFamily="18" charset="0"/>
              </a:rPr>
              <a:t>ILP </a:t>
            </a:r>
            <a:r>
              <a:rPr lang="zh-CN" altLang="zh-CN" sz="2400" b="1" dirty="0" smtClean="0">
                <a:latin typeface="Times New Roman" panose="02020603050405020304" pitchFamily="18" charset="0"/>
                <a:cs typeface="Times New Roman" panose="02020603050405020304" pitchFamily="18" charset="0"/>
              </a:rPr>
              <a:t>是</a:t>
            </a:r>
            <a:r>
              <a:rPr lang="en-US" altLang="zh-CN" sz="2400" b="1" dirty="0" smtClean="0">
                <a:latin typeface="Times New Roman" panose="02020603050405020304" pitchFamily="18" charset="0"/>
                <a:cs typeface="Times New Roman" panose="02020603050405020304" pitchFamily="18" charset="0"/>
              </a:rPr>
              <a:t> NP</a:t>
            </a:r>
            <a:r>
              <a:rPr lang="zh-CN" altLang="zh-CN" sz="2400" b="1" dirty="0">
                <a:latin typeface="Times New Roman" panose="02020603050405020304" pitchFamily="18" charset="0"/>
                <a:cs typeface="Times New Roman" panose="02020603050405020304" pitchFamily="18" charset="0"/>
              </a:rPr>
              <a:t>完全的</a:t>
            </a:r>
            <a:r>
              <a:rPr lang="en-US" altLang="zh-CN" sz="2400" b="1" dirty="0">
                <a:latin typeface="Times New Roman" panose="02020603050405020304" pitchFamily="18" charset="0"/>
                <a:cs typeface="Times New Roman" panose="02020603050405020304" pitchFamily="18" charset="0"/>
              </a:rPr>
              <a:t>.</a:t>
            </a:r>
            <a:endParaRPr lang="zh-CN" altLang="zh-CN" sz="2400" b="1"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defRPr/>
            </a:pPr>
            <a:r>
              <a:rPr lang="zh-CN" altLang="zh-CN" sz="2400" b="1" dirty="0">
                <a:latin typeface="Times New Roman" panose="02020603050405020304" pitchFamily="18" charset="0"/>
                <a:cs typeface="Times New Roman" panose="02020603050405020304" pitchFamily="18" charset="0"/>
              </a:rPr>
              <a:t>证 </a:t>
            </a:r>
            <a:r>
              <a:rPr lang="en-US" altLang="zh-CN" sz="2400" b="1" dirty="0" smtClean="0">
                <a:latin typeface="Times New Roman" panose="02020603050405020304" pitchFamily="18" charset="0"/>
                <a:cs typeface="Times New Roman" panose="02020603050405020304" pitchFamily="18" charset="0"/>
              </a:rPr>
              <a:t> </a:t>
            </a:r>
            <a:r>
              <a:rPr lang="zh-CN" altLang="zh-CN" sz="2400" b="1" dirty="0" smtClean="0">
                <a:latin typeface="Times New Roman" panose="02020603050405020304" pitchFamily="18" charset="0"/>
                <a:cs typeface="Times New Roman" panose="02020603050405020304" pitchFamily="18" charset="0"/>
              </a:rPr>
              <a:t>引理</a:t>
            </a:r>
            <a:r>
              <a:rPr lang="en-US" altLang="zh-CN" sz="2400" b="1" dirty="0">
                <a:latin typeface="Times New Roman" panose="02020603050405020304" pitchFamily="18" charset="0"/>
                <a:cs typeface="Times New Roman" panose="02020603050405020304" pitchFamily="18" charset="0"/>
              </a:rPr>
              <a:t>9.2</a:t>
            </a:r>
            <a:r>
              <a:rPr lang="zh-CN" altLang="zh-CN" sz="2400" b="1" dirty="0">
                <a:latin typeface="Times New Roman" panose="02020603050405020304" pitchFamily="18" charset="0"/>
                <a:cs typeface="Times New Roman" panose="02020603050405020304" pitchFamily="18" charset="0"/>
              </a:rPr>
              <a:t>已经</a:t>
            </a:r>
            <a:r>
              <a:rPr lang="zh-CN" altLang="zh-CN" sz="2400" b="1" dirty="0" smtClean="0">
                <a:latin typeface="Times New Roman" panose="02020603050405020304" pitchFamily="18" charset="0"/>
                <a:cs typeface="Times New Roman" panose="02020603050405020304" pitchFamily="18" charset="0"/>
              </a:rPr>
              <a:t>证明</a:t>
            </a:r>
            <a:r>
              <a:rPr lang="en-US" altLang="zh-CN" sz="2400" b="1" dirty="0" smtClean="0">
                <a:latin typeface="Times New Roman" panose="02020603050405020304" pitchFamily="18" charset="0"/>
                <a:cs typeface="Times New Roman" panose="02020603050405020304" pitchFamily="18" charset="0"/>
              </a:rPr>
              <a:t> ILP </a:t>
            </a:r>
            <a:r>
              <a:rPr lang="zh-CN" altLang="zh-CN" sz="2400" b="1" dirty="0" smtClean="0">
                <a:latin typeface="Times New Roman" panose="02020603050405020304" pitchFamily="18" charset="0"/>
                <a:cs typeface="Times New Roman" panose="02020603050405020304" pitchFamily="18" charset="0"/>
              </a:rPr>
              <a:t>是</a:t>
            </a:r>
            <a:r>
              <a:rPr lang="en-US" altLang="zh-CN" sz="2400" b="1" dirty="0">
                <a:latin typeface="Times New Roman" panose="02020603050405020304" pitchFamily="18" charset="0"/>
                <a:cs typeface="Times New Roman" panose="02020603050405020304" pitchFamily="18" charset="0"/>
              </a:rPr>
              <a:t>NP</a:t>
            </a:r>
            <a:r>
              <a:rPr lang="zh-CN" altLang="zh-CN" sz="2400" b="1" dirty="0">
                <a:latin typeface="Times New Roman" panose="02020603050405020304" pitchFamily="18" charset="0"/>
                <a:cs typeface="Times New Roman" panose="02020603050405020304" pitchFamily="18" charset="0"/>
              </a:rPr>
              <a:t>难的</a:t>
            </a:r>
            <a:r>
              <a:rPr lang="en-US" altLang="zh-CN" sz="2400" b="1" dirty="0">
                <a:latin typeface="Times New Roman" panose="02020603050405020304" pitchFamily="18" charset="0"/>
                <a:cs typeface="Times New Roman" panose="02020603050405020304" pitchFamily="18" charset="0"/>
              </a:rPr>
              <a:t>, </a:t>
            </a:r>
            <a:r>
              <a:rPr lang="zh-CN" altLang="zh-CN" sz="2400" b="1" dirty="0">
                <a:latin typeface="Times New Roman" panose="02020603050405020304" pitchFamily="18" charset="0"/>
                <a:cs typeface="Times New Roman" panose="02020603050405020304" pitchFamily="18" charset="0"/>
              </a:rPr>
              <a:t>现在</a:t>
            </a:r>
            <a:r>
              <a:rPr lang="zh-CN" altLang="zh-CN" sz="2400" b="1" dirty="0" smtClean="0">
                <a:latin typeface="Times New Roman" panose="02020603050405020304" pitchFamily="18" charset="0"/>
                <a:cs typeface="Times New Roman" panose="02020603050405020304" pitchFamily="18" charset="0"/>
              </a:rPr>
              <a:t>证明</a:t>
            </a:r>
            <a:r>
              <a:rPr lang="en-US" altLang="zh-CN" sz="2400" b="1" dirty="0" smtClean="0">
                <a:latin typeface="Times New Roman" panose="02020603050405020304" pitchFamily="18" charset="0"/>
                <a:cs typeface="Times New Roman" panose="02020603050405020304" pitchFamily="18" charset="0"/>
              </a:rPr>
              <a:t> ILP</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cs typeface="Times New Roman" panose="02020603050405020304" pitchFamily="18" charset="0"/>
              </a:rPr>
              <a:t>NP.</a:t>
            </a:r>
            <a:endParaRPr lang="zh-CN" altLang="zh-CN" sz="2400" b="1"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defRPr/>
            </a:pPr>
            <a:r>
              <a:rPr lang="zh-CN" altLang="zh-CN" sz="2400" b="1" dirty="0">
                <a:latin typeface="Times New Roman" panose="02020603050405020304" pitchFamily="18" charset="0"/>
                <a:cs typeface="Times New Roman" panose="02020603050405020304" pitchFamily="18" charset="0"/>
              </a:rPr>
              <a:t>根据引理</a:t>
            </a:r>
            <a:r>
              <a:rPr lang="en-US" altLang="zh-CN" sz="2400" b="1" dirty="0">
                <a:latin typeface="Times New Roman" panose="02020603050405020304" pitchFamily="18" charset="0"/>
                <a:cs typeface="Times New Roman" panose="02020603050405020304" pitchFamily="18" charset="0"/>
              </a:rPr>
              <a:t>9.6, </a:t>
            </a:r>
            <a:r>
              <a:rPr lang="zh-CN" altLang="zh-CN" sz="2400" b="1" dirty="0">
                <a:latin typeface="Times New Roman" panose="02020603050405020304" pitchFamily="18" charset="0"/>
                <a:cs typeface="Times New Roman" panose="02020603050405020304" pitchFamily="18" charset="0"/>
              </a:rPr>
              <a:t>下述过程</a:t>
            </a:r>
            <a:r>
              <a:rPr lang="zh-CN" altLang="zh-CN" sz="2400" b="1" dirty="0" smtClean="0">
                <a:latin typeface="Times New Roman" panose="02020603050405020304" pitchFamily="18" charset="0"/>
                <a:cs typeface="Times New Roman" panose="02020603050405020304" pitchFamily="18" charset="0"/>
              </a:rPr>
              <a:t>是</a:t>
            </a:r>
            <a:r>
              <a:rPr lang="en-US" altLang="zh-CN" sz="2400" b="1" dirty="0" smtClean="0">
                <a:latin typeface="Times New Roman" panose="02020603050405020304" pitchFamily="18" charset="0"/>
                <a:cs typeface="Times New Roman" panose="02020603050405020304" pitchFamily="18" charset="0"/>
              </a:rPr>
              <a:t> ILP </a:t>
            </a:r>
            <a:r>
              <a:rPr lang="zh-CN" altLang="zh-CN" sz="2400" b="1" dirty="0" smtClean="0">
                <a:latin typeface="Times New Roman" panose="02020603050405020304" pitchFamily="18" charset="0"/>
                <a:cs typeface="Times New Roman" panose="02020603050405020304" pitchFamily="18" charset="0"/>
              </a:rPr>
              <a:t>的</a:t>
            </a:r>
            <a:r>
              <a:rPr lang="zh-CN" altLang="zh-CN" sz="2400" b="1" dirty="0">
                <a:latin typeface="Times New Roman" panose="02020603050405020304" pitchFamily="18" charset="0"/>
                <a:cs typeface="Times New Roman" panose="02020603050405020304" pitchFamily="18" charset="0"/>
              </a:rPr>
              <a:t>非确定型算法</a:t>
            </a:r>
            <a:r>
              <a:rPr lang="en-US" altLang="zh-CN" sz="2400" b="1" dirty="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rPr>
              <a:t> </a:t>
            </a:r>
            <a:r>
              <a:rPr lang="zh-CN" altLang="zh-CN" sz="2400" b="1" dirty="0" smtClean="0">
                <a:latin typeface="Times New Roman" panose="02020603050405020304" pitchFamily="18" charset="0"/>
                <a:cs typeface="Times New Roman" panose="02020603050405020304" pitchFamily="18" charset="0"/>
              </a:rPr>
              <a:t>猜想</a:t>
            </a:r>
            <a:r>
              <a:rPr lang="zh-CN" altLang="zh-CN" sz="2400" b="1" dirty="0">
                <a:latin typeface="Times New Roman" panose="02020603050405020304" pitchFamily="18" charset="0"/>
                <a:cs typeface="Times New Roman" panose="02020603050405020304" pitchFamily="18" charset="0"/>
              </a:rPr>
              <a:t>一</a:t>
            </a:r>
            <a:r>
              <a:rPr lang="zh-CN" altLang="zh-CN" sz="2400" b="1" dirty="0" smtClean="0">
                <a:latin typeface="Times New Roman" panose="02020603050405020304" pitchFamily="18" charset="0"/>
                <a:cs typeface="Times New Roman" panose="02020603050405020304" pitchFamily="18" charset="0"/>
              </a:rPr>
              <a:t>个</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n </a:t>
            </a:r>
            <a:r>
              <a:rPr lang="zh-CN" altLang="zh-CN" sz="2400" b="1" dirty="0" smtClean="0">
                <a:latin typeface="Times New Roman" panose="02020603050405020304" pitchFamily="18" charset="0"/>
                <a:cs typeface="Times New Roman" panose="02020603050405020304" pitchFamily="18" charset="0"/>
              </a:rPr>
              <a:t>维</a:t>
            </a:r>
            <a:r>
              <a:rPr lang="zh-CN" altLang="zh-CN" sz="2400" b="1" dirty="0">
                <a:latin typeface="Times New Roman" panose="02020603050405020304" pitchFamily="18" charset="0"/>
                <a:cs typeface="Times New Roman" panose="02020603050405020304" pitchFamily="18" charset="0"/>
              </a:rPr>
              <a:t>非负整数</a:t>
            </a:r>
            <a:r>
              <a:rPr lang="zh-CN" altLang="zh-CN" sz="2400" b="1" dirty="0" smtClean="0">
                <a:latin typeface="Times New Roman" panose="02020603050405020304" pitchFamily="18" charset="0"/>
                <a:cs typeface="Times New Roman" panose="02020603050405020304" pitchFamily="18" charset="0"/>
              </a:rPr>
              <a:t>向量</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x</a:t>
            </a:r>
            <a:r>
              <a:rPr lang="en-US" altLang="zh-CN" sz="2400" b="1" dirty="0">
                <a:latin typeface="Times New Roman" panose="02020603050405020304" pitchFamily="18" charset="0"/>
                <a:cs typeface="Times New Roman" panose="02020603050405020304" pitchFamily="18" charset="0"/>
              </a:rPr>
              <a:t>, </a:t>
            </a:r>
            <a:r>
              <a:rPr lang="zh-CN" altLang="zh-CN" sz="2400" b="1" dirty="0">
                <a:latin typeface="Times New Roman" panose="02020603050405020304" pitchFamily="18" charset="0"/>
                <a:cs typeface="Times New Roman" panose="02020603050405020304" pitchFamily="18" charset="0"/>
              </a:rPr>
              <a:t>它的每一个</a:t>
            </a:r>
            <a:r>
              <a:rPr lang="zh-CN" altLang="zh-CN" sz="2400" b="1" dirty="0" smtClean="0">
                <a:latin typeface="Times New Roman" panose="02020603050405020304" pitchFamily="18" charset="0"/>
                <a:cs typeface="Times New Roman" panose="02020603050405020304" pitchFamily="18" charset="0"/>
              </a:rPr>
              <a:t>分量</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x</a:t>
            </a:r>
            <a:r>
              <a:rPr lang="en-US" altLang="zh-CN" sz="2400" b="1" i="1" baseline="-25000" dirty="0" err="1" smtClean="0">
                <a:latin typeface="Times New Roman" panose="02020603050405020304" pitchFamily="18" charset="0"/>
                <a:cs typeface="Times New Roman" panose="02020603050405020304" pitchFamily="18" charset="0"/>
              </a:rPr>
              <a:t>j</a:t>
            </a:r>
            <a:r>
              <a:rPr lang="en-US" altLang="zh-CN" sz="2400" b="1" i="1" baseline="-25000"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a:latin typeface="Times New Roman" panose="02020603050405020304" pitchFamily="18" charset="0"/>
                <a:cs typeface="Times New Roman" panose="02020603050405020304" pitchFamily="18" charset="0"/>
              </a:rPr>
              <a:t>n</a:t>
            </a:r>
            <a:r>
              <a:rPr lang="en-US" altLang="zh-CN" sz="2400" b="1" i="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cs typeface="Times New Roman" panose="02020603050405020304" pitchFamily="18" charset="0"/>
              </a:rPr>
              <a:t>)</a:t>
            </a:r>
            <a:r>
              <a:rPr lang="en-US" altLang="zh-CN" sz="2400" b="1" baseline="30000" dirty="0">
                <a:latin typeface="Times New Roman" panose="02020603050405020304" pitchFamily="18" charset="0"/>
                <a:cs typeface="Times New Roman" panose="02020603050405020304" pitchFamily="18" charset="0"/>
              </a:rPr>
              <a:t>2</a:t>
            </a:r>
            <a:r>
              <a:rPr lang="en-US" altLang="zh-CN" sz="2400" b="1" i="1" baseline="30000" dirty="0">
                <a:latin typeface="Times New Roman" panose="02020603050405020304" pitchFamily="18" charset="0"/>
                <a:cs typeface="Times New Roman" panose="02020603050405020304" pitchFamily="18" charset="0"/>
              </a:rPr>
              <a:t>n</a:t>
            </a:r>
            <a:r>
              <a:rPr lang="en-US" altLang="zh-CN" sz="2400" b="1" dirty="0">
                <a:latin typeface="Times New Roman" panose="02020603050405020304" pitchFamily="18" charset="0"/>
                <a:cs typeface="Times New Roman" panose="02020603050405020304" pitchFamily="18" charset="0"/>
              </a:rPr>
              <a:t>, 1</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rPr>
              <a:t>j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rPr>
              <a:t>n</a:t>
            </a:r>
            <a:r>
              <a:rPr lang="en-US" altLang="zh-CN" sz="2400" b="1" dirty="0">
                <a:latin typeface="Times New Roman" panose="02020603050405020304" pitchFamily="18" charset="0"/>
                <a:cs typeface="Times New Roman" panose="02020603050405020304" pitchFamily="18" charset="0"/>
              </a:rPr>
              <a:t>. </a:t>
            </a:r>
            <a:r>
              <a:rPr lang="zh-CN" altLang="zh-CN" sz="2400" b="1" dirty="0">
                <a:latin typeface="Times New Roman" panose="02020603050405020304" pitchFamily="18" charset="0"/>
                <a:cs typeface="Times New Roman" panose="02020603050405020304" pitchFamily="18" charset="0"/>
              </a:rPr>
              <a:t>若</a:t>
            </a:r>
            <a:r>
              <a:rPr lang="en-US" altLang="zh-CN" sz="2400" b="1" i="1" dirty="0" smtClean="0">
                <a:latin typeface="Times New Roman" panose="02020603050405020304" pitchFamily="18" charset="0"/>
                <a:cs typeface="Times New Roman" panose="02020603050405020304" pitchFamily="18" charset="0"/>
              </a:rPr>
              <a:t>Ax </a:t>
            </a:r>
            <a:r>
              <a:rPr lang="en-US" altLang="zh-CN" sz="2400" b="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smtClean="0">
                <a:latin typeface="Times New Roman" panose="02020603050405020304" pitchFamily="18" charset="0"/>
                <a:cs typeface="Times New Roman" panose="02020603050405020304" pitchFamily="18" charset="0"/>
              </a:rPr>
              <a:t>b</a:t>
            </a:r>
            <a:r>
              <a:rPr lang="en-US" altLang="zh-CN" sz="2400" b="1" dirty="0">
                <a:latin typeface="Times New Roman" panose="02020603050405020304" pitchFamily="18" charset="0"/>
                <a:cs typeface="Times New Roman" panose="02020603050405020304" pitchFamily="18" charset="0"/>
              </a:rPr>
              <a:t>, </a:t>
            </a:r>
            <a:r>
              <a:rPr lang="zh-CN" altLang="zh-CN" sz="2400" b="1" dirty="0">
                <a:latin typeface="Times New Roman" panose="02020603050405020304" pitchFamily="18" charset="0"/>
                <a:cs typeface="Times New Roman" panose="02020603050405020304" pitchFamily="18" charset="0"/>
              </a:rPr>
              <a:t>则回答“</a:t>
            </a:r>
            <a:r>
              <a:rPr lang="en-US" altLang="zh-CN" sz="2400" b="1" dirty="0">
                <a:latin typeface="Times New Roman" panose="02020603050405020304" pitchFamily="18" charset="0"/>
                <a:cs typeface="Times New Roman" panose="02020603050405020304" pitchFamily="18" charset="0"/>
              </a:rPr>
              <a:t>Yes</a:t>
            </a:r>
            <a:r>
              <a:rPr lang="zh-CN" altLang="zh-CN"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 </a:t>
            </a:r>
            <a:r>
              <a:rPr lang="zh-CN" altLang="zh-CN" sz="2400" b="1" dirty="0">
                <a:latin typeface="Times New Roman" panose="02020603050405020304" pitchFamily="18" charset="0"/>
                <a:cs typeface="Times New Roman" panose="02020603050405020304" pitchFamily="18" charset="0"/>
              </a:rPr>
              <a:t>否则回答“</a:t>
            </a:r>
            <a:r>
              <a:rPr lang="en-US" altLang="zh-CN" sz="2400" b="1" dirty="0">
                <a:latin typeface="Times New Roman" panose="02020603050405020304" pitchFamily="18" charset="0"/>
                <a:cs typeface="Times New Roman" panose="02020603050405020304" pitchFamily="18" charset="0"/>
              </a:rPr>
              <a:t>No</a:t>
            </a:r>
            <a:r>
              <a:rPr lang="zh-CN" altLang="zh-CN"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  </a:t>
            </a:r>
            <a:endParaRPr lang="zh-CN" altLang="zh-CN" sz="2400" b="1"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defRPr/>
            </a:pPr>
            <a:r>
              <a:rPr lang="en-US" altLang="zh-CN" sz="2400" b="1" dirty="0" smtClean="0">
                <a:latin typeface="Times New Roman" panose="02020603050405020304" pitchFamily="18" charset="0"/>
                <a:cs typeface="Times New Roman" panose="02020603050405020304" pitchFamily="18" charset="0"/>
              </a:rPr>
              <a:t>ILP </a:t>
            </a:r>
            <a:r>
              <a:rPr lang="zh-CN" altLang="zh-CN" sz="2400" b="1" dirty="0" smtClean="0">
                <a:latin typeface="Times New Roman" panose="02020603050405020304" pitchFamily="18" charset="0"/>
                <a:cs typeface="Times New Roman" panose="02020603050405020304" pitchFamily="18" charset="0"/>
              </a:rPr>
              <a:t>的实例</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I </a:t>
            </a:r>
            <a:r>
              <a:rPr lang="zh-CN" altLang="zh-CN" sz="2400" b="1" dirty="0" smtClean="0">
                <a:latin typeface="Times New Roman" panose="02020603050405020304" pitchFamily="18" charset="0"/>
                <a:cs typeface="Times New Roman" panose="02020603050405020304" pitchFamily="18" charset="0"/>
              </a:rPr>
              <a:t>的</a:t>
            </a:r>
            <a:r>
              <a:rPr lang="zh-CN" altLang="zh-CN" sz="2400" b="1" dirty="0">
                <a:latin typeface="Times New Roman" panose="02020603050405020304" pitchFamily="18" charset="0"/>
                <a:cs typeface="Times New Roman" panose="02020603050405020304" pitchFamily="18" charset="0"/>
              </a:rPr>
              <a:t>规模取</a:t>
            </a:r>
            <a:r>
              <a:rPr lang="zh-CN" altLang="zh-CN" sz="2400" b="1" dirty="0" smtClean="0">
                <a:latin typeface="Times New Roman" panose="02020603050405020304" pitchFamily="18" charset="0"/>
                <a:cs typeface="Times New Roman" panose="02020603050405020304" pitchFamily="18" charset="0"/>
              </a:rPr>
              <a:t>作</a:t>
            </a:r>
            <a:r>
              <a:rPr lang="en-US" altLang="zh-CN" sz="2400" b="1" dirty="0" smtClean="0">
                <a:latin typeface="Times New Roman" panose="02020603050405020304" pitchFamily="18" charset="0"/>
                <a:cs typeface="Times New Roman" panose="02020603050405020304" pitchFamily="18" charset="0"/>
              </a:rPr>
              <a:t> | </a:t>
            </a:r>
            <a:r>
              <a:rPr lang="en-US" altLang="zh-CN" sz="2400" b="1" i="1" dirty="0" smtClean="0">
                <a:latin typeface="Times New Roman" panose="02020603050405020304" pitchFamily="18" charset="0"/>
                <a:cs typeface="Times New Roman" panose="02020603050405020304" pitchFamily="18" charset="0"/>
              </a:rPr>
              <a:t>I </a:t>
            </a:r>
            <a:r>
              <a:rPr lang="en-US" altLang="zh-CN" sz="2400" b="1" dirty="0" smtClean="0">
                <a:latin typeface="Times New Roman" panose="02020603050405020304" pitchFamily="18" charset="0"/>
                <a:cs typeface="Times New Roman" panose="02020603050405020304" pitchFamily="18" charset="0"/>
              </a:rPr>
              <a:t>| = </a:t>
            </a:r>
            <a:r>
              <a:rPr lang="en-US" altLang="zh-CN" sz="2400" b="1" i="1" dirty="0" err="1" smtClean="0">
                <a:latin typeface="Times New Roman" panose="02020603050405020304" pitchFamily="18" charset="0"/>
                <a:cs typeface="Times New Roman" panose="02020603050405020304" pitchFamily="18" charset="0"/>
              </a:rPr>
              <a:t>mn</a:t>
            </a:r>
            <a:r>
              <a:rPr lang="en-US" altLang="zh-CN" sz="2400" b="1" i="1" dirty="0" smtClean="0">
                <a:latin typeface="Times New Roman" panose="02020603050405020304" pitchFamily="18" charset="0"/>
                <a:cs typeface="Times New Roman" panose="02020603050405020304" pitchFamily="18" charset="0"/>
              </a:rPr>
              <a:t> </a:t>
            </a:r>
            <a:r>
              <a:rPr lang="en-US" altLang="zh-CN" sz="2400" b="1" dirty="0" smtClean="0">
                <a:latin typeface="Times New Roman" panose="02020603050405020304" pitchFamily="18" charset="0"/>
                <a:cs typeface="Times New Roman" panose="02020603050405020304" pitchFamily="18" charset="0"/>
              </a:rPr>
              <a:t>+ log</a:t>
            </a:r>
            <a:r>
              <a:rPr lang="en-US" altLang="zh-CN" sz="2400" b="1" baseline="-25000" dirty="0" smtClean="0">
                <a:latin typeface="Times New Roman" panose="02020603050405020304" pitchFamily="18" charset="0"/>
                <a:cs typeface="Times New Roman" panose="02020603050405020304" pitchFamily="18" charset="0"/>
              </a:rPr>
              <a:t>2</a:t>
            </a:r>
            <a:r>
              <a:rPr lang="en-US" altLang="zh-CN" sz="2400" b="1" dirty="0" smtClean="0">
                <a:latin typeface="Times New Roman" panose="02020603050405020304" pitchFamily="18" charset="0"/>
                <a:cs typeface="Times New Roman" panose="02020603050405020304" pitchFamily="18" charset="0"/>
              </a:rPr>
              <a:t>(max</a:t>
            </a:r>
            <a:r>
              <a:rPr lang="en-US" altLang="zh-CN" sz="2400" b="1" dirty="0">
                <a:latin typeface="Times New Roman" panose="02020603050405020304" pitchFamily="18" charset="0"/>
                <a:cs typeface="Times New Roman" panose="02020603050405020304" pitchFamily="18" charset="0"/>
              </a:rPr>
              <a:t>(</a:t>
            </a:r>
            <a:r>
              <a:rPr lang="en-US" altLang="zh-CN" sz="2400" b="1" i="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latin typeface="Times New Roman" panose="02020603050405020304" pitchFamily="18" charset="0"/>
                <a:cs typeface="Times New Roman" panose="02020603050405020304" pitchFamily="18" charset="0"/>
              </a:rPr>
              <a:t>)).  </a:t>
            </a:r>
            <a:r>
              <a:rPr lang="zh-CN" altLang="zh-CN" sz="2400" b="1" dirty="0" smtClean="0">
                <a:latin typeface="Times New Roman" panose="02020603050405020304" pitchFamily="18" charset="0"/>
                <a:cs typeface="Times New Roman" panose="02020603050405020304" pitchFamily="18" charset="0"/>
              </a:rPr>
              <a:t>注意</a:t>
            </a:r>
            <a:r>
              <a:rPr lang="zh-CN" altLang="zh-CN" sz="2400" b="1" dirty="0">
                <a:latin typeface="Times New Roman" panose="02020603050405020304" pitchFamily="18" charset="0"/>
                <a:cs typeface="Times New Roman" panose="02020603050405020304" pitchFamily="18" charset="0"/>
              </a:rPr>
              <a:t>到猜想</a:t>
            </a:r>
            <a:r>
              <a:rPr lang="zh-CN" altLang="zh-CN" sz="2400" b="1" dirty="0" smtClean="0">
                <a:latin typeface="Times New Roman" panose="02020603050405020304" pitchFamily="18" charset="0"/>
                <a:cs typeface="Times New Roman" panose="02020603050405020304" pitchFamily="18" charset="0"/>
              </a:rPr>
              <a:t>的</a:t>
            </a:r>
            <a:r>
              <a:rPr lang="en-US" altLang="zh-CN" sz="2400" b="1" dirty="0" smtClean="0">
                <a:latin typeface="Times New Roman" panose="02020603050405020304" pitchFamily="18" charset="0"/>
                <a:cs typeface="Times New Roman" panose="02020603050405020304" pitchFamily="18" charset="0"/>
              </a:rPr>
              <a:t> </a:t>
            </a:r>
            <a:r>
              <a:rPr lang="en-US" altLang="zh-CN" sz="2400" b="1" i="1" dirty="0" err="1" smtClean="0">
                <a:latin typeface="Times New Roman" panose="02020603050405020304" pitchFamily="18" charset="0"/>
                <a:cs typeface="Times New Roman" panose="02020603050405020304" pitchFamily="18" charset="0"/>
              </a:rPr>
              <a:t>x</a:t>
            </a:r>
            <a:r>
              <a:rPr lang="en-US" altLang="zh-CN" sz="2400" b="1" i="1" baseline="-25000" dirty="0" err="1" smtClean="0">
                <a:latin typeface="Times New Roman" panose="02020603050405020304" pitchFamily="18" charset="0"/>
                <a:cs typeface="Times New Roman" panose="02020603050405020304" pitchFamily="18" charset="0"/>
              </a:rPr>
              <a:t>j</a:t>
            </a:r>
            <a:r>
              <a:rPr lang="en-US" altLang="zh-CN" sz="2400" b="1" i="1" baseline="-25000" dirty="0" smtClean="0">
                <a:latin typeface="Times New Roman" panose="02020603050405020304" pitchFamily="18" charset="0"/>
                <a:cs typeface="Times New Roman" panose="02020603050405020304" pitchFamily="18" charset="0"/>
              </a:rPr>
              <a:t> </a:t>
            </a:r>
            <a:r>
              <a:rPr lang="zh-CN" altLang="zh-CN" sz="2400" b="1" dirty="0" smtClean="0">
                <a:latin typeface="Times New Roman" panose="02020603050405020304" pitchFamily="18" charset="0"/>
                <a:cs typeface="Times New Roman" panose="02020603050405020304" pitchFamily="18" charset="0"/>
              </a:rPr>
              <a:t>的</a:t>
            </a:r>
            <a:r>
              <a:rPr lang="zh-CN" altLang="zh-CN" sz="2400" b="1" dirty="0">
                <a:latin typeface="Times New Roman" panose="02020603050405020304" pitchFamily="18" charset="0"/>
                <a:cs typeface="Times New Roman" panose="02020603050405020304" pitchFamily="18" charset="0"/>
              </a:rPr>
              <a:t>二进制表示的长度不超过</a:t>
            </a:r>
            <a:endParaRPr lang="zh-CN" altLang="zh-CN" sz="2400" b="1"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defRPr/>
            </a:pPr>
            <a:r>
              <a:rPr lang="en-US" altLang="zh-CN" sz="2400" b="1" dirty="0" smtClean="0">
                <a:latin typeface="Times New Roman" panose="02020603050405020304" pitchFamily="18" charset="0"/>
                <a:cs typeface="Times New Roman" panose="02020603050405020304" pitchFamily="18" charset="0"/>
              </a:rPr>
              <a:t>                   log</a:t>
            </a:r>
            <a:r>
              <a:rPr lang="en-US" altLang="zh-CN" sz="2400" b="1" baseline="-25000" dirty="0" smtClean="0">
                <a:latin typeface="Times New Roman" panose="02020603050405020304" pitchFamily="18" charset="0"/>
                <a:cs typeface="Times New Roman" panose="02020603050405020304" pitchFamily="18" charset="0"/>
              </a:rPr>
              <a:t>2</a:t>
            </a:r>
            <a:r>
              <a:rPr lang="en-US" altLang="zh-CN" sz="2400" b="1" dirty="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a:latin typeface="Times New Roman" panose="02020603050405020304" pitchFamily="18" charset="0"/>
                <a:cs typeface="Times New Roman" panose="02020603050405020304" pitchFamily="18" charset="0"/>
              </a:rPr>
              <a:t>n</a:t>
            </a:r>
            <a:r>
              <a:rPr lang="en-US" altLang="zh-CN" sz="2400" b="1" i="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cs typeface="Times New Roman" panose="02020603050405020304" pitchFamily="18" charset="0"/>
              </a:rPr>
              <a:t>)</a:t>
            </a:r>
            <a:r>
              <a:rPr lang="en-US" altLang="zh-CN" sz="2400" b="1" baseline="30000" dirty="0" smtClean="0">
                <a:latin typeface="Times New Roman" panose="02020603050405020304" pitchFamily="18" charset="0"/>
                <a:cs typeface="Times New Roman" panose="02020603050405020304" pitchFamily="18" charset="0"/>
              </a:rPr>
              <a:t>2</a:t>
            </a:r>
            <a:r>
              <a:rPr lang="en-US" altLang="zh-CN" sz="2400" b="1" i="1" baseline="30000" dirty="0" smtClean="0">
                <a:latin typeface="Times New Roman" panose="02020603050405020304" pitchFamily="18" charset="0"/>
                <a:cs typeface="Times New Roman" panose="02020603050405020304" pitchFamily="18" charset="0"/>
              </a:rPr>
              <a:t>n </a:t>
            </a:r>
            <a:r>
              <a:rPr lang="en-US" altLang="zh-CN" sz="2400" b="1" dirty="0" smtClean="0">
                <a:latin typeface="Times New Roman" panose="02020603050405020304" pitchFamily="18" charset="0"/>
                <a:cs typeface="Times New Roman" panose="02020603050405020304" pitchFamily="18" charset="0"/>
              </a:rPr>
              <a:t>)+1 = 2</a:t>
            </a:r>
            <a:r>
              <a:rPr lang="en-US" altLang="zh-CN" sz="2400" b="1" i="1" dirty="0" smtClean="0">
                <a:latin typeface="Times New Roman" panose="02020603050405020304" pitchFamily="18" charset="0"/>
                <a:cs typeface="Times New Roman" panose="02020603050405020304" pitchFamily="18" charset="0"/>
              </a:rPr>
              <a:t>n</a:t>
            </a:r>
            <a:r>
              <a:rPr lang="en-US" altLang="zh-CN" sz="2400" b="1" dirty="0" smtClean="0">
                <a:latin typeface="Times New Roman" panose="02020603050405020304" pitchFamily="18" charset="0"/>
                <a:cs typeface="Times New Roman" panose="02020603050405020304" pitchFamily="18" charset="0"/>
              </a:rPr>
              <a:t>log</a:t>
            </a:r>
            <a:r>
              <a:rPr lang="en-US" altLang="zh-CN" sz="2400" b="1" baseline="-25000" dirty="0" smtClean="0">
                <a:latin typeface="Times New Roman" panose="02020603050405020304" pitchFamily="18" charset="0"/>
                <a:cs typeface="Times New Roman" panose="02020603050405020304" pitchFamily="18" charset="0"/>
              </a:rPr>
              <a:t>2</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n</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latin typeface="Times New Roman" panose="02020603050405020304" pitchFamily="18" charset="0"/>
                <a:cs typeface="Times New Roman" panose="02020603050405020304" pitchFamily="18" charset="0"/>
              </a:rPr>
              <a:t>) + log</a:t>
            </a:r>
            <a:r>
              <a:rPr lang="en-US" altLang="zh-CN" sz="2400" b="1" baseline="-25000" dirty="0" smtClean="0">
                <a:latin typeface="Times New Roman" panose="02020603050405020304" pitchFamily="18" charset="0"/>
                <a:cs typeface="Times New Roman" panose="02020603050405020304" pitchFamily="18" charset="0"/>
              </a:rPr>
              <a:t>2 </a:t>
            </a:r>
            <a:r>
              <a:rPr lang="en-US" altLang="zh-CN" sz="2400" b="1" i="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smtClean="0">
                <a:latin typeface="Times New Roman" panose="02020603050405020304" pitchFamily="18" charset="0"/>
                <a:cs typeface="Times New Roman" panose="02020603050405020304" pitchFamily="18" charset="0"/>
              </a:rPr>
              <a:t>+ 1</a:t>
            </a:r>
            <a:endParaRPr lang="zh-CN" altLang="zh-CN" sz="2400" b="1"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defRPr/>
            </a:pPr>
            <a:r>
              <a:rPr lang="zh-CN" altLang="zh-CN" sz="2400" b="1" dirty="0">
                <a:latin typeface="Times New Roman" panose="02020603050405020304" pitchFamily="18" charset="0"/>
                <a:cs typeface="Times New Roman" panose="02020603050405020304" pitchFamily="18" charset="0"/>
              </a:rPr>
              <a:t>上述过程可以</a:t>
            </a:r>
            <a:r>
              <a:rPr lang="zh-CN" altLang="zh-CN" sz="2400" b="1" dirty="0" smtClean="0">
                <a:latin typeface="Times New Roman" panose="02020603050405020304" pitchFamily="18" charset="0"/>
                <a:cs typeface="Times New Roman" panose="02020603050405020304" pitchFamily="18" charset="0"/>
              </a:rPr>
              <a:t>在</a:t>
            </a:r>
            <a:r>
              <a:rPr lang="en-US" altLang="zh-CN" sz="2400" b="1" dirty="0" smtClean="0">
                <a:latin typeface="Times New Roman" panose="02020603050405020304" pitchFamily="18" charset="0"/>
                <a:cs typeface="Times New Roman" panose="02020603050405020304" pitchFamily="18" charset="0"/>
              </a:rPr>
              <a:t> | </a:t>
            </a:r>
            <a:r>
              <a:rPr lang="en-US" altLang="zh-CN" sz="2400" b="1" i="1" dirty="0" smtClean="0">
                <a:latin typeface="Times New Roman" panose="02020603050405020304" pitchFamily="18" charset="0"/>
                <a:cs typeface="Times New Roman" panose="02020603050405020304" pitchFamily="18" charset="0"/>
              </a:rPr>
              <a:t>I </a:t>
            </a:r>
            <a:r>
              <a:rPr lang="en-US" altLang="zh-CN" sz="2400" b="1" dirty="0" smtClean="0">
                <a:latin typeface="Times New Roman" panose="02020603050405020304" pitchFamily="18" charset="0"/>
                <a:cs typeface="Times New Roman" panose="02020603050405020304" pitchFamily="18" charset="0"/>
              </a:rPr>
              <a:t>| </a:t>
            </a:r>
            <a:r>
              <a:rPr lang="zh-CN" altLang="zh-CN" sz="2400" b="1" dirty="0" smtClean="0">
                <a:latin typeface="Times New Roman" panose="02020603050405020304" pitchFamily="18" charset="0"/>
                <a:cs typeface="Times New Roman" panose="02020603050405020304" pitchFamily="18" charset="0"/>
              </a:rPr>
              <a:t>的</a:t>
            </a:r>
            <a:r>
              <a:rPr lang="zh-CN" altLang="zh-CN" sz="2400" b="1" dirty="0">
                <a:latin typeface="Times New Roman" panose="02020603050405020304" pitchFamily="18" charset="0"/>
                <a:cs typeface="Times New Roman" panose="02020603050405020304" pitchFamily="18" charset="0"/>
              </a:rPr>
              <a:t>多项式时间内完成</a:t>
            </a:r>
            <a:r>
              <a:rPr lang="en-US" altLang="zh-CN" sz="2400" b="1" dirty="0">
                <a:latin typeface="Times New Roman" panose="02020603050405020304" pitchFamily="18" charset="0"/>
                <a:cs typeface="Times New Roman" panose="02020603050405020304" pitchFamily="18" charset="0"/>
              </a:rPr>
              <a:t>.</a:t>
            </a:r>
            <a:endParaRPr lang="zh-CN" altLang="zh-CN" sz="2400" b="1"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defRPr/>
            </a:pPr>
            <a:endParaRPr lang="zh-CN" altLang="zh-CN" sz="2400" b="1" dirty="0">
              <a:latin typeface="Times New Roman" panose="02020603050405020304" pitchFamily="18" charset="0"/>
              <a:cs typeface="Times New Roman" panose="02020603050405020304" pitchFamily="18" charset="0"/>
            </a:endParaRPr>
          </a:p>
          <a:p>
            <a:pPr>
              <a:defRPr/>
            </a:pPr>
            <a:endParaRPr lang="zh-CN" alt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1"/>
          <p:cNvSpPr>
            <a:spLocks noGrp="1"/>
          </p:cNvSpPr>
          <p:nvPr>
            <p:ph type="title"/>
          </p:nvPr>
        </p:nvSpPr>
        <p:spPr>
          <a:xfrm>
            <a:off x="457200" y="188913"/>
            <a:ext cx="8229600" cy="1143000"/>
          </a:xfrm>
        </p:spPr>
        <p:txBody>
          <a:bodyPr/>
          <a:lstStyle/>
          <a:p>
            <a:r>
              <a:rPr lang="zh-CN" altLang="en-US" sz="4000" b="1" smtClean="0">
                <a:solidFill>
                  <a:srgbClr val="C00000"/>
                </a:solidFill>
                <a:latin typeface="Times New Roman" panose="02020603050405020304" pitchFamily="18" charset="0"/>
                <a:cs typeface="Times New Roman" panose="02020603050405020304" pitchFamily="18" charset="0"/>
              </a:rPr>
              <a:t>小结</a:t>
            </a:r>
            <a:endParaRPr lang="zh-CN" altLang="en-US" sz="4000" b="1" smtClean="0">
              <a:solidFill>
                <a:srgbClr val="C00000"/>
              </a:solidFill>
              <a:latin typeface="Times New Roman" panose="02020603050405020304" pitchFamily="18" charset="0"/>
              <a:cs typeface="Times New Roman" panose="02020603050405020304" pitchFamily="18" charset="0"/>
            </a:endParaRPr>
          </a:p>
        </p:txBody>
      </p:sp>
      <p:sp>
        <p:nvSpPr>
          <p:cNvPr id="60419" name="内容占位符 2"/>
          <p:cNvSpPr>
            <a:spLocks noGrp="1"/>
          </p:cNvSpPr>
          <p:nvPr>
            <p:ph idx="1"/>
          </p:nvPr>
        </p:nvSpPr>
        <p:spPr>
          <a:xfrm>
            <a:off x="457200" y="1417638"/>
            <a:ext cx="8229600" cy="4525962"/>
          </a:xfrm>
        </p:spPr>
        <p:txBody>
          <a:bodyPr/>
          <a:lstStyle/>
          <a:p>
            <a:pPr>
              <a:buFont typeface="Arial" panose="020B0604020202020204" pitchFamily="34" charset="0"/>
              <a:buNone/>
            </a:pPr>
            <a:r>
              <a:rPr lang="zh-CN" altLang="en-US" sz="2400" b="1" smtClean="0">
                <a:latin typeface="Times New Roman" panose="02020603050405020304" pitchFamily="18" charset="0"/>
                <a:cs typeface="Times New Roman" panose="02020603050405020304" pitchFamily="18" charset="0"/>
              </a:rPr>
              <a:t>证明问题是 </a:t>
            </a:r>
            <a:r>
              <a:rPr lang="en-US" altLang="zh-CN" sz="2400" b="1" smtClean="0">
                <a:latin typeface="Times New Roman" panose="02020603050405020304" pitchFamily="18" charset="0"/>
                <a:cs typeface="Times New Roman" panose="02020603050405020304" pitchFamily="18" charset="0"/>
              </a:rPr>
              <a:t>NP</a:t>
            </a:r>
            <a:r>
              <a:rPr lang="zh-CN" altLang="en-US" sz="2400" b="1" smtClean="0">
                <a:latin typeface="Times New Roman" panose="02020603050405020304" pitchFamily="18" charset="0"/>
                <a:cs typeface="Times New Roman" panose="02020603050405020304" pitchFamily="18" charset="0"/>
              </a:rPr>
              <a:t>难的</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(1) </a:t>
            </a:r>
            <a:r>
              <a:rPr lang="zh-CN" altLang="en-US" sz="2400" b="1" smtClean="0">
                <a:latin typeface="Times New Roman" panose="02020603050405020304" pitchFamily="18" charset="0"/>
                <a:cs typeface="Times New Roman" panose="02020603050405020304" pitchFamily="18" charset="0"/>
              </a:rPr>
              <a:t>要选好一个已知的 </a:t>
            </a:r>
            <a:r>
              <a:rPr lang="en-US" altLang="zh-CN" sz="2400" b="1" smtClean="0">
                <a:latin typeface="Times New Roman" panose="02020603050405020304" pitchFamily="18" charset="0"/>
                <a:cs typeface="Times New Roman" panose="02020603050405020304" pitchFamily="18" charset="0"/>
              </a:rPr>
              <a:t>NP</a:t>
            </a:r>
            <a:r>
              <a:rPr lang="zh-CN" altLang="en-US" sz="2400" b="1" smtClean="0">
                <a:latin typeface="Times New Roman" panose="02020603050405020304" pitchFamily="18" charset="0"/>
                <a:cs typeface="Times New Roman" panose="02020603050405020304" pitchFamily="18" charset="0"/>
              </a:rPr>
              <a:t>完全问题</a:t>
            </a:r>
            <a:r>
              <a:rPr lang="en-US" altLang="zh-CN" sz="2400" b="1" smtClean="0">
                <a:latin typeface="Times New Roman" panose="02020603050405020304" pitchFamily="18" charset="0"/>
                <a:cs typeface="Times New Roman" panose="02020603050405020304" pitchFamily="18" charset="0"/>
              </a:rPr>
              <a:t>. </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zh-CN" sz="2400" b="1" smtClean="0">
                <a:latin typeface="Times New Roman" panose="02020603050405020304" pitchFamily="18" charset="0"/>
                <a:cs typeface="Times New Roman" panose="02020603050405020304" pitchFamily="18" charset="0"/>
              </a:rPr>
              <a:t>(2) </a:t>
            </a:r>
            <a:r>
              <a:rPr lang="zh-CN" altLang="en-US" sz="2400" b="1" smtClean="0">
                <a:latin typeface="Times New Roman" panose="02020603050405020304" pitchFamily="18" charset="0"/>
                <a:cs typeface="Times New Roman" panose="02020603050405020304" pitchFamily="18" charset="0"/>
              </a:rPr>
              <a:t>常用的证明方法</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限制法</a:t>
            </a:r>
            <a:r>
              <a:rPr lang="en-US" altLang="zh-CN" sz="2400" b="1" smtClean="0">
                <a:latin typeface="Times New Roman" panose="02020603050405020304" pitchFamily="18" charset="0"/>
                <a:cs typeface="Times New Roman" panose="02020603050405020304" pitchFamily="18" charset="0"/>
              </a:rPr>
              <a:t>, </a:t>
            </a:r>
            <a:r>
              <a:rPr lang="zh-CN" altLang="en-US" sz="2400" b="1" smtClean="0">
                <a:latin typeface="Times New Roman" panose="02020603050405020304" pitchFamily="18" charset="0"/>
                <a:cs typeface="Times New Roman" panose="02020603050405020304" pitchFamily="18" charset="0"/>
              </a:rPr>
              <a:t>局部替换法和构件设计法</a:t>
            </a:r>
            <a:r>
              <a:rPr lang="en-US" altLang="zh-CN" sz="2400" b="1" smtClean="0">
                <a:latin typeface="Times New Roman" panose="02020603050405020304" pitchFamily="18" charset="0"/>
                <a:cs typeface="Times New Roman" panose="02020603050405020304" pitchFamily="18" charset="0"/>
              </a:rPr>
              <a:t>. </a:t>
            </a:r>
            <a:endParaRPr lang="en-US" altLang="zh-CN" sz="2400" b="1" smtClean="0">
              <a:latin typeface="Times New Roman" panose="02020603050405020304" pitchFamily="18" charset="0"/>
              <a:cs typeface="Times New Roman" panose="02020603050405020304" pitchFamily="18" charset="0"/>
            </a:endParaRPr>
          </a:p>
          <a:p>
            <a:pPr>
              <a:buFont typeface="Arial" panose="020B0604020202020204" pitchFamily="34" charset="0"/>
              <a:buNone/>
            </a:pPr>
            <a:endParaRPr lang="en-US" altLang="zh-CN" sz="2400" b="1"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PP_MARK_KEY" val="98c3fbd1-507f-4cdf-969f-1062b57b8ad7"/>
  <p:tag name="COMMONDATA" val="eyJoZGlkIjoiZDBmZTc0ODk3N2IyMzc2ODZhMDBiODE4YzYzZDNiNDg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17407</Words>
  <Application>WPS 演示</Application>
  <PresentationFormat>全屏显示(4:3)</PresentationFormat>
  <Paragraphs>697</Paragraphs>
  <Slides>59</Slides>
  <Notes>0</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8</vt:i4>
      </vt:variant>
      <vt:variant>
        <vt:lpstr>幻灯片标题</vt:lpstr>
      </vt:variant>
      <vt:variant>
        <vt:i4>59</vt:i4>
      </vt:variant>
    </vt:vector>
  </HeadingPairs>
  <TitlesOfParts>
    <vt:vector size="79" baseType="lpstr">
      <vt:lpstr>Arial</vt:lpstr>
      <vt:lpstr>宋体</vt:lpstr>
      <vt:lpstr>Wingdings</vt:lpstr>
      <vt:lpstr>Calibri</vt:lpstr>
      <vt:lpstr>Times New Roman</vt:lpstr>
      <vt:lpstr>Symbol</vt:lpstr>
      <vt:lpstr>Symbol</vt:lpstr>
      <vt:lpstr>微软雅黑</vt:lpstr>
      <vt:lpstr>Arial Unicode MS</vt:lpstr>
      <vt:lpstr>Cambria Math</vt:lpstr>
      <vt:lpstr>黑体</vt:lpstr>
      <vt:lpstr>Office 主题</vt:lpstr>
      <vt:lpstr>Equation.3</vt:lpstr>
      <vt:lpstr>Equation.3</vt:lpstr>
      <vt:lpstr>Equation.3</vt:lpstr>
      <vt:lpstr>Equation.3</vt:lpstr>
      <vt:lpstr>Equation.3</vt:lpstr>
      <vt:lpstr>Equation.3</vt:lpstr>
      <vt:lpstr>Equation.3</vt:lpstr>
      <vt:lpstr>Equation.3</vt:lpstr>
      <vt:lpstr>第9章  NP完全性</vt:lpstr>
      <vt:lpstr>第9章  NP完全性</vt:lpstr>
      <vt:lpstr>9.1 P类与NP类</vt:lpstr>
      <vt:lpstr>什么是好算法?</vt:lpstr>
      <vt:lpstr>算法的时间复杂度</vt:lpstr>
      <vt:lpstr>几点说明</vt:lpstr>
      <vt:lpstr>几点说明</vt:lpstr>
      <vt:lpstr>几点说明</vt:lpstr>
      <vt:lpstr>几点说明</vt:lpstr>
      <vt:lpstr>易解的问题与难解的问题</vt:lpstr>
      <vt:lpstr>9.1.2 判定问题</vt:lpstr>
      <vt:lpstr>组合优化问题与判定问题</vt:lpstr>
      <vt:lpstr>组合优化问题与判定问题</vt:lpstr>
      <vt:lpstr>9.1.3  NP类</vt:lpstr>
      <vt:lpstr>非确定型多项式时间算法</vt:lpstr>
      <vt:lpstr>9.2 多项式时间变换与NP完全性</vt:lpstr>
      <vt:lpstr>例</vt:lpstr>
      <vt:lpstr>例</vt:lpstr>
      <vt:lpstr>p的性质</vt:lpstr>
      <vt:lpstr>p的性质</vt:lpstr>
      <vt:lpstr>9.2.2 NP完全性</vt:lpstr>
      <vt:lpstr>证明 NP完全性的“捷径”</vt:lpstr>
      <vt:lpstr>9.2.3 Cook-Levin定理</vt:lpstr>
      <vt:lpstr>Cook-Levin定理</vt:lpstr>
      <vt:lpstr>9.3 几个NP完全问题</vt:lpstr>
      <vt:lpstr>9.3.1 最大可满足性与三元可满足性</vt:lpstr>
      <vt:lpstr>MAX-SAT</vt:lpstr>
      <vt:lpstr>3SAT</vt:lpstr>
      <vt:lpstr>PowerPoint 演示文稿</vt:lpstr>
      <vt:lpstr>证明</vt:lpstr>
      <vt:lpstr>证明</vt:lpstr>
      <vt:lpstr>9.3.2 顶点覆盖、团与独立集</vt:lpstr>
      <vt:lpstr> 顶点覆盖、团与独立集</vt:lpstr>
      <vt:lpstr>顶点覆盖</vt:lpstr>
      <vt:lpstr>证明</vt:lpstr>
      <vt:lpstr>证明</vt:lpstr>
      <vt:lpstr>证明</vt:lpstr>
      <vt:lpstr>构件设计法</vt:lpstr>
      <vt:lpstr>9.3.3 哈密顿回路与货郎问题</vt:lpstr>
      <vt:lpstr>PowerPoint 演示文稿</vt:lpstr>
      <vt:lpstr>证明</vt:lpstr>
      <vt:lpstr>证明</vt:lpstr>
      <vt:lpstr>证明</vt:lpstr>
      <vt:lpstr>证明</vt:lpstr>
      <vt:lpstr>HC 与 TSP</vt:lpstr>
      <vt:lpstr>9.3.4  恰好覆盖</vt:lpstr>
      <vt:lpstr>证明</vt:lpstr>
      <vt:lpstr>证明</vt:lpstr>
      <vt:lpstr>9.3.5 子集和、背包、装箱与双机调度</vt:lpstr>
      <vt:lpstr>子集和</vt:lpstr>
      <vt:lpstr>证明</vt:lpstr>
      <vt:lpstr>证明</vt:lpstr>
      <vt:lpstr>0-1背包与伪多项式时间算法</vt:lpstr>
      <vt:lpstr>双机调度与装箱</vt:lpstr>
      <vt:lpstr>整数线性规划</vt:lpstr>
      <vt:lpstr>整数线性规划是 NP难的</vt:lpstr>
      <vt:lpstr>几个引理</vt:lpstr>
      <vt:lpstr>ILP 是 NP完全的</vt:lpstr>
      <vt:lpstr>小结</vt:lpstr>
    </vt:vector>
  </TitlesOfParts>
  <Company>Beijing Universtiy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Zhang Li Ang</dc:creator>
  <cp:lastModifiedBy>魏黄</cp:lastModifiedBy>
  <cp:revision>260</cp:revision>
  <dcterms:created xsi:type="dcterms:W3CDTF">2010-12-08T08:34:00Z</dcterms:created>
  <dcterms:modified xsi:type="dcterms:W3CDTF">2023-05-04T13:25:00Z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2888337D9D9642128F35CF386F896DCE_12</vt:lpwstr>
  </property>
  <property fmtid="{D5CDD505-2E9C-101B-9397-08002B2CF9AE}" pid="3" name="KSOProductBuildVer">
    <vt:lpwstr>2052-11.1.0.14036</vt:lpwstr>
  </property>
</Properties>
</file>