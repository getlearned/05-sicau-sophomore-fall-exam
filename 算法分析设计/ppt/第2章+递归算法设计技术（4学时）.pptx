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2"/>
    <p:sldId id="296" r:id="rId43"/>
    <p:sldId id="297" r:id="rId44"/>
    <p:sldId id="298" r:id="rId45"/>
    <p:sldId id="299" r:id="rId46"/>
    <p:sldId id="300" r:id="rId47"/>
    <p:sldId id="334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-1380" y="-96"/>
      </p:cViewPr>
      <p:guideLst>
        <p:guide orient="horz" pos="2148"/>
        <p:guide pos="27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57F76-2F6E-4E54-BDE1-48C633D29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770EC-6851-4C4E-AD21-F57C56B084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CFC1E-8741-43AA-A694-09BBD1DFD6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CFC1E-8741-43AA-A694-09BBD1DFD6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1CFC1E-8741-43AA-A694-09BBD1DFD6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4" Type="http://schemas.openxmlformats.org/officeDocument/2006/relationships/theme" Target="../theme/theme1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9"/>
          <p:cNvSpPr>
            <a:spLocks noChangeArrowheads="1"/>
          </p:cNvSpPr>
          <p:nvPr userDrawn="1"/>
        </p:nvSpPr>
        <p:spPr bwMode="gray">
          <a:xfrm>
            <a:off x="457200" y="0"/>
            <a:ext cx="8477250" cy="768350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gray">
          <a:xfrm>
            <a:off x="0" y="0"/>
            <a:ext cx="457200" cy="7683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1" name="Rectangle 30"/>
          <p:cNvSpPr>
            <a:spLocks noChangeArrowheads="1"/>
          </p:cNvSpPr>
          <p:nvPr userDrawn="1"/>
        </p:nvSpPr>
        <p:spPr bwMode="gray">
          <a:xfrm>
            <a:off x="0" y="762000"/>
            <a:ext cx="457200" cy="1524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2" name="Rectangle 32"/>
          <p:cNvSpPr>
            <a:spLocks noChangeArrowheads="1"/>
          </p:cNvSpPr>
          <p:nvPr userDrawn="1"/>
        </p:nvSpPr>
        <p:spPr bwMode="gray">
          <a:xfrm>
            <a:off x="0" y="914400"/>
            <a:ext cx="457200" cy="4191000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42353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3" name="Rectangle 49"/>
          <p:cNvSpPr>
            <a:spLocks noChangeArrowheads="1"/>
          </p:cNvSpPr>
          <p:nvPr userDrawn="1"/>
        </p:nvSpPr>
        <p:spPr bwMode="gray">
          <a:xfrm>
            <a:off x="0" y="5105400"/>
            <a:ext cx="457200" cy="1383311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42353"/>
                  <a:invGamma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19" name="Rectangle 65"/>
          <p:cNvSpPr>
            <a:spLocks noChangeArrowheads="1"/>
          </p:cNvSpPr>
          <p:nvPr userDrawn="1"/>
        </p:nvSpPr>
        <p:spPr bwMode="gray">
          <a:xfrm>
            <a:off x="8763000" y="914400"/>
            <a:ext cx="381000" cy="51054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51373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20" name="Rectangle 66"/>
          <p:cNvSpPr>
            <a:spLocks noChangeArrowheads="1"/>
          </p:cNvSpPr>
          <p:nvPr userDrawn="1"/>
        </p:nvSpPr>
        <p:spPr bwMode="gray">
          <a:xfrm>
            <a:off x="8763000" y="762000"/>
            <a:ext cx="381000" cy="1524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sp>
        <p:nvSpPr>
          <p:cNvPr id="21" name="Rectangle 67"/>
          <p:cNvSpPr>
            <a:spLocks noChangeArrowheads="1"/>
          </p:cNvSpPr>
          <p:nvPr userDrawn="1"/>
        </p:nvSpPr>
        <p:spPr bwMode="gray">
          <a:xfrm>
            <a:off x="8770938" y="0"/>
            <a:ext cx="373062" cy="762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22" name="Rectangle 68"/>
          <p:cNvSpPr>
            <a:spLocks noChangeArrowheads="1"/>
          </p:cNvSpPr>
          <p:nvPr userDrawn="1"/>
        </p:nvSpPr>
        <p:spPr bwMode="gray">
          <a:xfrm>
            <a:off x="457201" y="762000"/>
            <a:ext cx="8315325" cy="1524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3333"/>
                  <a:invGamma/>
                </a:scheme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 sz="1350">
              <a:ea typeface="宋体" panose="02010600030101010101" pitchFamily="2" charset="-122"/>
            </a:endParaRPr>
          </a:p>
        </p:txBody>
      </p:sp>
      <p:grpSp>
        <p:nvGrpSpPr>
          <p:cNvPr id="24" name="Group 104"/>
          <p:cNvGrpSpPr/>
          <p:nvPr userDrawn="1"/>
        </p:nvGrpSpPr>
        <p:grpSpPr bwMode="auto">
          <a:xfrm>
            <a:off x="8002589" y="69850"/>
            <a:ext cx="657225" cy="636588"/>
            <a:chOff x="5041" y="44"/>
            <a:chExt cx="414" cy="401"/>
          </a:xfrm>
        </p:grpSpPr>
        <p:sp>
          <p:nvSpPr>
            <p:cNvPr id="25" name="Oval 105"/>
            <p:cNvSpPr>
              <a:spLocks noChangeArrowheads="1"/>
            </p:cNvSpPr>
            <p:nvPr userDrawn="1"/>
          </p:nvSpPr>
          <p:spPr bwMode="gray">
            <a:xfrm rot="149948">
              <a:off x="5161" y="161"/>
              <a:ext cx="175" cy="170"/>
            </a:xfrm>
            <a:prstGeom prst="ellipse">
              <a:avLst/>
            </a:prstGeom>
            <a:gradFill rotWithShape="1">
              <a:gsLst>
                <a:gs pos="0">
                  <a:schemeClr val="bg2">
                    <a:gamma/>
                    <a:tint val="0"/>
                    <a:invGamma/>
                  </a:schemeClr>
                </a:gs>
                <a:gs pos="100000">
                  <a:schemeClr val="bg2"/>
                </a:gs>
              </a:gsLst>
              <a:path path="shape">
                <a:fillToRect l="50000" t="50000" r="50000" b="50000"/>
              </a:path>
            </a:gradFill>
            <a:ln w="0" algn="ctr">
              <a:noFill/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grpSp>
          <p:nvGrpSpPr>
            <p:cNvPr id="26" name="Group 106"/>
            <p:cNvGrpSpPr/>
            <p:nvPr userDrawn="1"/>
          </p:nvGrpSpPr>
          <p:grpSpPr bwMode="auto">
            <a:xfrm rot="334874">
              <a:off x="5321" y="313"/>
              <a:ext cx="98" cy="75"/>
              <a:chOff x="3452" y="878"/>
              <a:chExt cx="402" cy="342"/>
            </a:xfrm>
          </p:grpSpPr>
          <p:sp>
            <p:nvSpPr>
              <p:cNvPr id="55" name="Oval 107"/>
              <p:cNvSpPr>
                <a:spLocks noChangeArrowheads="1"/>
              </p:cNvSpPr>
              <p:nvPr userDrawn="1"/>
            </p:nvSpPr>
            <p:spPr bwMode="gray">
              <a:xfrm>
                <a:off x="3640" y="1024"/>
                <a:ext cx="111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6" name="Oval 108"/>
              <p:cNvSpPr>
                <a:spLocks noChangeArrowheads="1"/>
              </p:cNvSpPr>
              <p:nvPr userDrawn="1"/>
            </p:nvSpPr>
            <p:spPr bwMode="gray">
              <a:xfrm>
                <a:off x="3762" y="1122"/>
                <a:ext cx="90" cy="8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7" name="Oval 109"/>
              <p:cNvSpPr>
                <a:spLocks noChangeArrowheads="1"/>
              </p:cNvSpPr>
              <p:nvPr userDrawn="1"/>
            </p:nvSpPr>
            <p:spPr bwMode="gray">
              <a:xfrm>
                <a:off x="3427" y="874"/>
                <a:ext cx="180" cy="17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110"/>
            <p:cNvGrpSpPr/>
            <p:nvPr userDrawn="1"/>
          </p:nvGrpSpPr>
          <p:grpSpPr bwMode="auto">
            <a:xfrm rot="-2104554">
              <a:off x="5358" y="218"/>
              <a:ext cx="97" cy="75"/>
              <a:chOff x="3452" y="878"/>
              <a:chExt cx="402" cy="342"/>
            </a:xfrm>
          </p:grpSpPr>
          <p:sp>
            <p:nvSpPr>
              <p:cNvPr id="52" name="Oval 111"/>
              <p:cNvSpPr>
                <a:spLocks noChangeArrowheads="1"/>
              </p:cNvSpPr>
              <p:nvPr userDrawn="1"/>
            </p:nvSpPr>
            <p:spPr bwMode="gray">
              <a:xfrm>
                <a:off x="3630" y="997"/>
                <a:ext cx="112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3" name="Oval 112"/>
              <p:cNvSpPr>
                <a:spLocks noChangeArrowheads="1"/>
              </p:cNvSpPr>
              <p:nvPr userDrawn="1"/>
            </p:nvSpPr>
            <p:spPr bwMode="gray">
              <a:xfrm>
                <a:off x="3761" y="1124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4" name="Oval 113"/>
              <p:cNvSpPr>
                <a:spLocks noChangeArrowheads="1"/>
              </p:cNvSpPr>
              <p:nvPr userDrawn="1"/>
            </p:nvSpPr>
            <p:spPr bwMode="gray">
              <a:xfrm>
                <a:off x="3446" y="857"/>
                <a:ext cx="174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" name="Group 114"/>
            <p:cNvGrpSpPr/>
            <p:nvPr userDrawn="1"/>
          </p:nvGrpSpPr>
          <p:grpSpPr bwMode="auto">
            <a:xfrm rot="-4646600">
              <a:off x="5335" y="107"/>
              <a:ext cx="88" cy="82"/>
              <a:chOff x="3452" y="878"/>
              <a:chExt cx="402" cy="342"/>
            </a:xfrm>
          </p:grpSpPr>
          <p:sp>
            <p:nvSpPr>
              <p:cNvPr id="49" name="Oval 115"/>
              <p:cNvSpPr>
                <a:spLocks noChangeArrowheads="1"/>
              </p:cNvSpPr>
              <p:nvPr userDrawn="1"/>
            </p:nvSpPr>
            <p:spPr bwMode="gray">
              <a:xfrm>
                <a:off x="3656" y="1009"/>
                <a:ext cx="110" cy="129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0" name="Oval 116"/>
              <p:cNvSpPr>
                <a:spLocks noChangeArrowheads="1"/>
              </p:cNvSpPr>
              <p:nvPr userDrawn="1"/>
            </p:nvSpPr>
            <p:spPr bwMode="gray">
              <a:xfrm>
                <a:off x="3768" y="1107"/>
                <a:ext cx="91" cy="9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51" name="Oval 117"/>
              <p:cNvSpPr>
                <a:spLocks noChangeArrowheads="1"/>
              </p:cNvSpPr>
              <p:nvPr userDrawn="1"/>
            </p:nvSpPr>
            <p:spPr bwMode="gray">
              <a:xfrm>
                <a:off x="3453" y="877"/>
                <a:ext cx="183" cy="184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" name="Group 118"/>
            <p:cNvGrpSpPr/>
            <p:nvPr userDrawn="1"/>
          </p:nvGrpSpPr>
          <p:grpSpPr bwMode="auto">
            <a:xfrm rot="2913403">
              <a:off x="5210" y="359"/>
              <a:ext cx="88" cy="83"/>
              <a:chOff x="3452" y="878"/>
              <a:chExt cx="402" cy="342"/>
            </a:xfrm>
          </p:grpSpPr>
          <p:sp>
            <p:nvSpPr>
              <p:cNvPr id="46" name="Oval 119"/>
              <p:cNvSpPr>
                <a:spLocks noChangeArrowheads="1"/>
              </p:cNvSpPr>
              <p:nvPr userDrawn="1"/>
            </p:nvSpPr>
            <p:spPr bwMode="gray">
              <a:xfrm>
                <a:off x="3621" y="1033"/>
                <a:ext cx="110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7" name="Oval 120"/>
              <p:cNvSpPr>
                <a:spLocks noChangeArrowheads="1"/>
              </p:cNvSpPr>
              <p:nvPr userDrawn="1"/>
            </p:nvSpPr>
            <p:spPr bwMode="gray">
              <a:xfrm>
                <a:off x="3763" y="1128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8" name="Oval 121"/>
              <p:cNvSpPr>
                <a:spLocks noChangeArrowheads="1"/>
              </p:cNvSpPr>
              <p:nvPr userDrawn="1"/>
            </p:nvSpPr>
            <p:spPr bwMode="gray">
              <a:xfrm>
                <a:off x="3434" y="889"/>
                <a:ext cx="183" cy="17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" name="Group 122"/>
            <p:cNvGrpSpPr/>
            <p:nvPr userDrawn="1"/>
          </p:nvGrpSpPr>
          <p:grpSpPr bwMode="auto">
            <a:xfrm rot="-7888389">
              <a:off x="5212" y="46"/>
              <a:ext cx="88" cy="83"/>
              <a:chOff x="3452" y="878"/>
              <a:chExt cx="402" cy="342"/>
            </a:xfrm>
          </p:grpSpPr>
          <p:sp>
            <p:nvSpPr>
              <p:cNvPr id="43" name="Oval 123"/>
              <p:cNvSpPr>
                <a:spLocks noChangeArrowheads="1"/>
              </p:cNvSpPr>
              <p:nvPr userDrawn="1"/>
            </p:nvSpPr>
            <p:spPr bwMode="gray">
              <a:xfrm>
                <a:off x="3641" y="1021"/>
                <a:ext cx="110" cy="124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4" name="Oval 124"/>
              <p:cNvSpPr>
                <a:spLocks noChangeArrowheads="1"/>
              </p:cNvSpPr>
              <p:nvPr userDrawn="1"/>
            </p:nvSpPr>
            <p:spPr bwMode="gray">
              <a:xfrm>
                <a:off x="3769" y="1116"/>
                <a:ext cx="91" cy="91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5" name="Oval 125"/>
              <p:cNvSpPr>
                <a:spLocks noChangeArrowheads="1"/>
              </p:cNvSpPr>
              <p:nvPr userDrawn="1"/>
            </p:nvSpPr>
            <p:spPr bwMode="gray">
              <a:xfrm>
                <a:off x="3471" y="863"/>
                <a:ext cx="183" cy="17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" name="Group 126"/>
            <p:cNvGrpSpPr/>
            <p:nvPr userDrawn="1"/>
          </p:nvGrpSpPr>
          <p:grpSpPr bwMode="auto">
            <a:xfrm rot="-10069553">
              <a:off x="5089" y="95"/>
              <a:ext cx="97" cy="76"/>
              <a:chOff x="3452" y="878"/>
              <a:chExt cx="402" cy="342"/>
            </a:xfrm>
          </p:grpSpPr>
          <p:sp>
            <p:nvSpPr>
              <p:cNvPr id="40" name="Oval 127"/>
              <p:cNvSpPr>
                <a:spLocks noChangeArrowheads="1"/>
              </p:cNvSpPr>
              <p:nvPr userDrawn="1"/>
            </p:nvSpPr>
            <p:spPr bwMode="gray">
              <a:xfrm>
                <a:off x="3639" y="1027"/>
                <a:ext cx="112" cy="126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1" name="Oval 128"/>
              <p:cNvSpPr>
                <a:spLocks noChangeArrowheads="1"/>
              </p:cNvSpPr>
              <p:nvPr userDrawn="1"/>
            </p:nvSpPr>
            <p:spPr bwMode="gray">
              <a:xfrm>
                <a:off x="3748" y="1146"/>
                <a:ext cx="91" cy="90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42" name="Oval 129"/>
              <p:cNvSpPr>
                <a:spLocks noChangeArrowheads="1"/>
              </p:cNvSpPr>
              <p:nvPr userDrawn="1"/>
            </p:nvSpPr>
            <p:spPr bwMode="gray">
              <a:xfrm>
                <a:off x="3451" y="879"/>
                <a:ext cx="182" cy="180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" name="Group 130"/>
            <p:cNvGrpSpPr/>
            <p:nvPr userDrawn="1"/>
          </p:nvGrpSpPr>
          <p:grpSpPr bwMode="auto">
            <a:xfrm rot="8885358">
              <a:off x="5041" y="204"/>
              <a:ext cx="97" cy="75"/>
              <a:chOff x="3452" y="878"/>
              <a:chExt cx="402" cy="342"/>
            </a:xfrm>
          </p:grpSpPr>
          <p:sp>
            <p:nvSpPr>
              <p:cNvPr id="37" name="Oval 131"/>
              <p:cNvSpPr>
                <a:spLocks noChangeArrowheads="1"/>
              </p:cNvSpPr>
              <p:nvPr userDrawn="1"/>
            </p:nvSpPr>
            <p:spPr bwMode="gray">
              <a:xfrm>
                <a:off x="3640" y="1022"/>
                <a:ext cx="112" cy="128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Oval 132"/>
              <p:cNvSpPr>
                <a:spLocks noChangeArrowheads="1"/>
              </p:cNvSpPr>
              <p:nvPr userDrawn="1"/>
            </p:nvSpPr>
            <p:spPr bwMode="gray">
              <a:xfrm>
                <a:off x="3744" y="1131"/>
                <a:ext cx="91" cy="87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9" name="Oval 133"/>
              <p:cNvSpPr>
                <a:spLocks noChangeArrowheads="1"/>
              </p:cNvSpPr>
              <p:nvPr userDrawn="1"/>
            </p:nvSpPr>
            <p:spPr bwMode="gray">
              <a:xfrm>
                <a:off x="3451" y="874"/>
                <a:ext cx="182" cy="18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3" name="Group 134"/>
            <p:cNvGrpSpPr/>
            <p:nvPr userDrawn="1"/>
          </p:nvGrpSpPr>
          <p:grpSpPr bwMode="auto">
            <a:xfrm rot="6558351">
              <a:off x="5085" y="304"/>
              <a:ext cx="88" cy="82"/>
              <a:chOff x="3452" y="878"/>
              <a:chExt cx="402" cy="342"/>
            </a:xfrm>
          </p:grpSpPr>
          <p:sp>
            <p:nvSpPr>
              <p:cNvPr id="34" name="Oval 135"/>
              <p:cNvSpPr>
                <a:spLocks noChangeArrowheads="1"/>
              </p:cNvSpPr>
              <p:nvPr userDrawn="1"/>
            </p:nvSpPr>
            <p:spPr bwMode="gray">
              <a:xfrm>
                <a:off x="3639" y="1066"/>
                <a:ext cx="110" cy="129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Oval 136"/>
              <p:cNvSpPr>
                <a:spLocks noChangeArrowheads="1"/>
              </p:cNvSpPr>
              <p:nvPr userDrawn="1"/>
            </p:nvSpPr>
            <p:spPr bwMode="gray">
              <a:xfrm>
                <a:off x="3763" y="1130"/>
                <a:ext cx="91" cy="92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  <p:sp>
            <p:nvSpPr>
              <p:cNvPr id="36" name="Oval 137"/>
              <p:cNvSpPr>
                <a:spLocks noChangeArrowheads="1"/>
              </p:cNvSpPr>
              <p:nvPr userDrawn="1"/>
            </p:nvSpPr>
            <p:spPr bwMode="gray">
              <a:xfrm>
                <a:off x="3444" y="901"/>
                <a:ext cx="187" cy="184"/>
              </a:xfrm>
              <a:prstGeom prst="ellipse">
                <a:avLst/>
              </a:prstGeom>
              <a:gradFill rotWithShape="1">
                <a:gsLst>
                  <a:gs pos="0">
                    <a:schemeClr val="bg2">
                      <a:gamma/>
                      <a:tint val="0"/>
                      <a:invGamma/>
                    </a:schemeClr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0" algn="ctr">
                <a:noFill/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135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8" name="Line 151"/>
          <p:cNvSpPr>
            <a:spLocks noChangeShapeType="1"/>
          </p:cNvSpPr>
          <p:nvPr userDrawn="1"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59" name="Line 152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1" name="Line 154"/>
          <p:cNvSpPr>
            <a:spLocks noChangeShapeType="1"/>
          </p:cNvSpPr>
          <p:nvPr userDrawn="1"/>
        </p:nvSpPr>
        <p:spPr bwMode="auto">
          <a:xfrm>
            <a:off x="4572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2" name="Line 155"/>
          <p:cNvSpPr>
            <a:spLocks noChangeShapeType="1"/>
          </p:cNvSpPr>
          <p:nvPr userDrawn="1"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3" name="Line 157"/>
          <p:cNvSpPr>
            <a:spLocks noChangeShapeType="1"/>
          </p:cNvSpPr>
          <p:nvPr userDrawn="1"/>
        </p:nvSpPr>
        <p:spPr bwMode="auto">
          <a:xfrm flipH="1">
            <a:off x="0" y="5105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  <p:sp>
        <p:nvSpPr>
          <p:cNvPr id="66" name="Rectangle 60"/>
          <p:cNvSpPr>
            <a:spLocks noChangeArrowheads="1"/>
          </p:cNvSpPr>
          <p:nvPr userDrawn="1"/>
        </p:nvSpPr>
        <p:spPr bwMode="gray">
          <a:xfrm>
            <a:off x="457669" y="6475213"/>
            <a:ext cx="8686801" cy="383745"/>
          </a:xfrm>
          <a:prstGeom prst="rect">
            <a:avLst/>
          </a:prstGeom>
          <a:gradFill rotWithShape="1">
            <a:gsLst>
              <a:gs pos="0">
                <a:schemeClr val="folHlink">
                  <a:gamma/>
                  <a:tint val="54510"/>
                  <a:invGamma/>
                </a:schemeClr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" name="矩形 66"/>
          <p:cNvSpPr/>
          <p:nvPr userDrawn="1"/>
        </p:nvSpPr>
        <p:spPr>
          <a:xfrm>
            <a:off x="353300" y="6387619"/>
            <a:ext cx="26468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b="1" cap="none" spc="0" dirty="0" smtClean="0">
                <a:solidFill>
                  <a:schemeClr val="accent4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四川农业大学</a:t>
            </a:r>
            <a:endParaRPr lang="zh-CN" altLang="en-US" sz="3200" b="1" cap="none" spc="0" dirty="0">
              <a:solidFill>
                <a:schemeClr val="accent4"/>
              </a:solidFill>
              <a:effectLst/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8" name="Rectangle 61"/>
          <p:cNvSpPr>
            <a:spLocks noChangeArrowheads="1"/>
          </p:cNvSpPr>
          <p:nvPr userDrawn="1"/>
        </p:nvSpPr>
        <p:spPr bwMode="gray">
          <a:xfrm>
            <a:off x="8769028" y="6488711"/>
            <a:ext cx="391714" cy="39280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84706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" name="Line 153"/>
          <p:cNvSpPr>
            <a:spLocks noChangeShapeType="1"/>
          </p:cNvSpPr>
          <p:nvPr userDrawn="1"/>
        </p:nvSpPr>
        <p:spPr bwMode="auto">
          <a:xfrm>
            <a:off x="470" y="6475214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71" name="Text Box 1027"/>
          <p:cNvSpPr txBox="1">
            <a:spLocks noChangeArrowheads="1"/>
          </p:cNvSpPr>
          <p:nvPr userDrawn="1"/>
        </p:nvSpPr>
        <p:spPr bwMode="auto">
          <a:xfrm>
            <a:off x="5607072" y="6468504"/>
            <a:ext cx="3097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dirty="0">
                <a:solidFill>
                  <a:srgbClr val="990000"/>
                </a:solidFill>
                <a:latin typeface="Monotype Corsiva" panose="03010101010201010101" pitchFamily="66" charset="0"/>
                <a:ea typeface="楷体_GB2312" panose="02010609030101010101" pitchFamily="49" charset="-122"/>
              </a:rPr>
              <a:t>© </a:t>
            </a:r>
            <a:r>
              <a:rPr lang="en-US" altLang="zh-CN" b="1" dirty="0">
                <a:solidFill>
                  <a:srgbClr val="990000"/>
                </a:solidFill>
                <a:latin typeface="Monotype Corsiva" panose="03010101010201010101" pitchFamily="66" charset="0"/>
                <a:ea typeface="楷体_GB2312" panose="02010609030101010101" pitchFamily="49" charset="-122"/>
              </a:rPr>
              <a:t>Copyright by </a:t>
            </a:r>
            <a:r>
              <a:rPr lang="en-US" altLang="zh-CN" b="1" dirty="0" err="1" smtClean="0">
                <a:solidFill>
                  <a:srgbClr val="990000"/>
                </a:solidFill>
                <a:latin typeface="Monotype Corsiva" panose="03010101010201010101" pitchFamily="66" charset="0"/>
                <a:ea typeface="楷体_GB2312" panose="02010609030101010101" pitchFamily="49" charset="-122"/>
              </a:rPr>
              <a:t>Zhiyong</a:t>
            </a:r>
            <a:r>
              <a:rPr lang="en-US" altLang="zh-CN" b="1" dirty="0" smtClean="0">
                <a:solidFill>
                  <a:srgbClr val="990000"/>
                </a:solidFill>
                <a:latin typeface="Monotype Corsiva" panose="03010101010201010101" pitchFamily="66" charset="0"/>
                <a:ea typeface="楷体_GB2312" panose="02010609030101010101" pitchFamily="49" charset="-122"/>
              </a:rPr>
              <a:t> Li</a:t>
            </a:r>
            <a:endParaRPr lang="en-US" altLang="zh-CN" b="1" dirty="0">
              <a:solidFill>
                <a:srgbClr val="990000"/>
              </a:solidFill>
              <a:latin typeface="Monotype Corsiva" panose="03010101010201010101" pitchFamily="66" charset="0"/>
              <a:ea typeface="楷体_GB2312" panose="02010609030101010101" pitchFamily="49" charset="-122"/>
            </a:endParaRPr>
          </a:p>
        </p:txBody>
      </p:sp>
      <p:sp>
        <p:nvSpPr>
          <p:cNvPr id="72" name="文本框 8"/>
          <p:cNvSpPr txBox="1"/>
          <p:nvPr userDrawn="1"/>
        </p:nvSpPr>
        <p:spPr>
          <a:xfrm>
            <a:off x="2790628" y="6502832"/>
            <a:ext cx="2374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 smtClean="0">
                <a:solidFill>
                  <a:srgbClr val="00B0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信息工程学院</a:t>
            </a:r>
            <a:endParaRPr lang="zh-CN" altLang="en-US" sz="2000" b="1" dirty="0">
              <a:solidFill>
                <a:srgbClr val="00B0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Rectangle 63"/>
          <p:cNvSpPr>
            <a:spLocks noChangeArrowheads="1"/>
          </p:cNvSpPr>
          <p:nvPr userDrawn="1"/>
        </p:nvSpPr>
        <p:spPr bwMode="gray">
          <a:xfrm>
            <a:off x="8769351" y="5205846"/>
            <a:ext cx="374649" cy="125587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73" name="Line 157"/>
          <p:cNvSpPr>
            <a:spLocks noChangeShapeType="1"/>
          </p:cNvSpPr>
          <p:nvPr userDrawn="1"/>
        </p:nvSpPr>
        <p:spPr bwMode="auto">
          <a:xfrm flipH="1">
            <a:off x="8754341" y="5205846"/>
            <a:ext cx="400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0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34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9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0.xml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4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5.xml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9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0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7" Type="http://schemas.openxmlformats.org/officeDocument/2006/relationships/slideLayout" Target="../slideLayouts/slideLayout51.xml"/><Relationship Id="rId16" Type="http://schemas.openxmlformats.org/officeDocument/2006/relationships/image" Target="../media/image105.png"/><Relationship Id="rId15" Type="http://schemas.openxmlformats.org/officeDocument/2006/relationships/image" Target="../media/image104.png"/><Relationship Id="rId14" Type="http://schemas.openxmlformats.org/officeDocument/2006/relationships/image" Target="../media/image103.png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0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.xml"/><Relationship Id="rId1" Type="http://schemas.openxmlformats.org/officeDocument/2006/relationships/image" Target="../media/image107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png"/><Relationship Id="rId8" Type="http://schemas.openxmlformats.org/officeDocument/2006/relationships/image" Target="../media/image115.png"/><Relationship Id="rId7" Type="http://schemas.openxmlformats.org/officeDocument/2006/relationships/image" Target="../media/image114.png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1" Type="http://schemas.openxmlformats.org/officeDocument/2006/relationships/slideLayout" Target="../slideLayouts/slideLayout56.xml"/><Relationship Id="rId10" Type="http://schemas.openxmlformats.org/officeDocument/2006/relationships/image" Target="../media/image117.png"/><Relationship Id="rId1" Type="http://schemas.openxmlformats.org/officeDocument/2006/relationships/image" Target="../media/image108.png"/></Relationships>
</file>

<file path=ppt/slides/_rels/slide6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7" Type="http://schemas.openxmlformats.org/officeDocument/2006/relationships/image" Target="../media/image130.png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9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0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1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7" Type="http://schemas.openxmlformats.org/officeDocument/2006/relationships/image" Target="../media/image153.png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_rels/slide6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3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5.xml"/><Relationship Id="rId3" Type="http://schemas.openxmlformats.org/officeDocument/2006/relationships/image" Target="../media/image160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6.xml"/><Relationship Id="rId3" Type="http://schemas.openxmlformats.org/officeDocument/2006/relationships/image" Target="../media/image161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7.xml"/><Relationship Id="rId3" Type="http://schemas.openxmlformats.org/officeDocument/2006/relationships/image" Target="../media/image162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8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3" Type="http://schemas.openxmlformats.org/officeDocument/2006/relationships/image" Target="../media/image163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9.xml"/><Relationship Id="rId2" Type="http://schemas.openxmlformats.org/officeDocument/2006/relationships/image" Target="../media/image168.png"/><Relationship Id="rId1" Type="http://schemas.openxmlformats.org/officeDocument/2006/relationships/image" Target="../media/image167.pn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0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Relationship Id="rId3" Type="http://schemas.openxmlformats.org/officeDocument/2006/relationships/image" Target="../media/image169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.xml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5.png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2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Relationship Id="rId3" Type="http://schemas.openxmlformats.org/officeDocument/2006/relationships/image" Target="../media/image178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83477" y="2501900"/>
            <a:ext cx="8282151" cy="1030288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20"/>
              </a:spcBef>
            </a:pPr>
            <a:r>
              <a:rPr sz="66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</a:t>
            </a:r>
            <a:r>
              <a:rPr sz="6600" b="1" spc="-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</a:t>
            </a:r>
            <a:r>
              <a:rPr sz="66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教</a:t>
            </a:r>
            <a:r>
              <a:rPr sz="6600" b="1" spc="-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学内</a:t>
            </a:r>
            <a:r>
              <a:rPr sz="66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容</a:t>
            </a:r>
            <a:endParaRPr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 idx="4294967295"/>
          </p:nvPr>
        </p:nvSpPr>
        <p:spPr>
          <a:xfrm>
            <a:off x="457200" y="15875"/>
            <a:ext cx="8293100" cy="693738"/>
          </a:xfrm>
          <a:prstGeom prst="rect">
            <a:avLst/>
          </a:prstGeom>
        </p:spPr>
        <p:txBody>
          <a:bodyPr vert="horz" wrap="square" lIns="0" tIns="16311" rIns="0" bIns="0" rtlCol="0" anchor="ctr">
            <a:spAutoFit/>
          </a:bodyPr>
          <a:lstStyle/>
          <a:p>
            <a:pPr marL="46355" algn="ctr">
              <a:lnSpc>
                <a:spcPct val="100000"/>
              </a:lnSpc>
              <a:spcBef>
                <a:spcPts val="130"/>
              </a:spcBef>
            </a:pPr>
            <a:r>
              <a:rPr sz="4400" baseline="89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r>
              <a:rPr sz="4400" spc="-147" baseline="89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b="1" spc="-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算法的数学基础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9284" y="595375"/>
            <a:ext cx="437388" cy="2804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53668" y="627888"/>
            <a:ext cx="438912" cy="28244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129284" y="0"/>
            <a:ext cx="185927" cy="233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53667" y="1"/>
            <a:ext cx="187452" cy="266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770954" y="4749800"/>
            <a:ext cx="1564006" cy="1193800"/>
          </a:xfrm>
          <a:custGeom>
            <a:avLst/>
            <a:gdLst/>
            <a:ahLst/>
            <a:cxnLst/>
            <a:rect l="l" t="t" r="r" b="b"/>
            <a:pathLst>
              <a:path w="1564005" h="895350">
                <a:moveTo>
                  <a:pt x="0" y="149225"/>
                </a:moveTo>
                <a:lnTo>
                  <a:pt x="7608" y="102055"/>
                </a:lnTo>
                <a:lnTo>
                  <a:pt x="28793" y="61091"/>
                </a:lnTo>
                <a:lnTo>
                  <a:pt x="61096" y="28789"/>
                </a:lnTo>
                <a:lnTo>
                  <a:pt x="102060" y="7606"/>
                </a:lnTo>
                <a:lnTo>
                  <a:pt x="149225" y="0"/>
                </a:lnTo>
                <a:lnTo>
                  <a:pt x="1414399" y="0"/>
                </a:lnTo>
                <a:lnTo>
                  <a:pt x="1461582" y="7606"/>
                </a:lnTo>
                <a:lnTo>
                  <a:pt x="1502577" y="28789"/>
                </a:lnTo>
                <a:lnTo>
                  <a:pt x="1534916" y="61091"/>
                </a:lnTo>
                <a:lnTo>
                  <a:pt x="1556131" y="102055"/>
                </a:lnTo>
                <a:lnTo>
                  <a:pt x="1563751" y="149225"/>
                </a:lnTo>
                <a:lnTo>
                  <a:pt x="1563751" y="746125"/>
                </a:lnTo>
                <a:lnTo>
                  <a:pt x="1556131" y="793289"/>
                </a:lnTo>
                <a:lnTo>
                  <a:pt x="1534916" y="834253"/>
                </a:lnTo>
                <a:lnTo>
                  <a:pt x="1502577" y="866556"/>
                </a:lnTo>
                <a:lnTo>
                  <a:pt x="1461582" y="887741"/>
                </a:lnTo>
                <a:lnTo>
                  <a:pt x="1414399" y="895350"/>
                </a:lnTo>
                <a:lnTo>
                  <a:pt x="149225" y="895350"/>
                </a:lnTo>
                <a:lnTo>
                  <a:pt x="102060" y="887741"/>
                </a:lnTo>
                <a:lnTo>
                  <a:pt x="61096" y="866556"/>
                </a:lnTo>
                <a:lnTo>
                  <a:pt x="28793" y="834253"/>
                </a:lnTo>
                <a:lnTo>
                  <a:pt x="7608" y="793289"/>
                </a:lnTo>
                <a:lnTo>
                  <a:pt x="0" y="746125"/>
                </a:lnTo>
                <a:lnTo>
                  <a:pt x="0" y="14922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3402" y="4933414"/>
            <a:ext cx="1564006" cy="724379"/>
          </a:xfrm>
          <a:prstGeom prst="rect">
            <a:avLst/>
          </a:prstGeom>
        </p:spPr>
        <p:txBody>
          <a:bodyPr vert="horz" wrap="square" lIns="0" tIns="44273" rIns="0" bIns="0" rtlCol="0">
            <a:spAutoFit/>
          </a:bodyPr>
          <a:lstStyle/>
          <a:p>
            <a:pPr marL="156845" marR="6350" indent="-142240" algn="ctr">
              <a:lnSpc>
                <a:spcPts val="2470"/>
              </a:lnSpc>
              <a:spcBef>
                <a:spcPts val="350"/>
              </a:spcBef>
            </a:pPr>
            <a:r>
              <a:rPr sz="24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算法迭代与</a:t>
            </a:r>
            <a:endParaRPr lang="en-US" sz="2400" b="1" dirty="0" smtClean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56845" marR="6350" indent="-142240" algn="ctr">
              <a:lnSpc>
                <a:spcPts val="2470"/>
              </a:lnSpc>
              <a:spcBef>
                <a:spcPts val="350"/>
              </a:spcBef>
            </a:pPr>
            <a:r>
              <a:rPr sz="24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序列求和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4034" y="5157695"/>
            <a:ext cx="3668402" cy="812800"/>
          </a:xfrm>
          <a:custGeom>
            <a:avLst/>
            <a:gdLst/>
            <a:ahLst/>
            <a:cxnLst/>
            <a:rect l="l" t="t" r="r" b="b"/>
            <a:pathLst>
              <a:path w="3352800" h="609600">
                <a:moveTo>
                  <a:pt x="0" y="101600"/>
                </a:moveTo>
                <a:lnTo>
                  <a:pt x="7981" y="62054"/>
                </a:lnTo>
                <a:lnTo>
                  <a:pt x="29749" y="29759"/>
                </a:lnTo>
                <a:lnTo>
                  <a:pt x="62043" y="7984"/>
                </a:lnTo>
                <a:lnTo>
                  <a:pt x="101600" y="0"/>
                </a:lnTo>
                <a:lnTo>
                  <a:pt x="3251200" y="0"/>
                </a:lnTo>
                <a:lnTo>
                  <a:pt x="3290756" y="7984"/>
                </a:lnTo>
                <a:lnTo>
                  <a:pt x="3323050" y="29759"/>
                </a:lnTo>
                <a:lnTo>
                  <a:pt x="3344818" y="62054"/>
                </a:lnTo>
                <a:lnTo>
                  <a:pt x="3352800" y="101600"/>
                </a:lnTo>
                <a:lnTo>
                  <a:pt x="3352800" y="508000"/>
                </a:lnTo>
                <a:lnTo>
                  <a:pt x="3344818" y="547545"/>
                </a:lnTo>
                <a:lnTo>
                  <a:pt x="3323050" y="579840"/>
                </a:lnTo>
                <a:lnTo>
                  <a:pt x="3290756" y="601615"/>
                </a:lnTo>
                <a:lnTo>
                  <a:pt x="3251200" y="609600"/>
                </a:lnTo>
                <a:lnTo>
                  <a:pt x="101600" y="609600"/>
                </a:lnTo>
                <a:lnTo>
                  <a:pt x="62043" y="601615"/>
                </a:lnTo>
                <a:lnTo>
                  <a:pt x="29749" y="579840"/>
                </a:lnTo>
                <a:lnTo>
                  <a:pt x="7981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94970" y="5341808"/>
            <a:ext cx="4090024" cy="38501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递推方程与算法分析的关系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34153" y="3429003"/>
            <a:ext cx="1407431" cy="1568873"/>
          </a:xfrm>
          <a:custGeom>
            <a:avLst/>
            <a:gdLst/>
            <a:ahLst/>
            <a:cxnLst/>
            <a:rect l="l" t="t" r="r" b="b"/>
            <a:pathLst>
              <a:path w="1335404" h="1176654">
                <a:moveTo>
                  <a:pt x="0" y="196087"/>
                </a:moveTo>
                <a:lnTo>
                  <a:pt x="5176" y="151115"/>
                </a:lnTo>
                <a:lnTo>
                  <a:pt x="19921" y="109838"/>
                </a:lnTo>
                <a:lnTo>
                  <a:pt x="43057" y="73430"/>
                </a:lnTo>
                <a:lnTo>
                  <a:pt x="73406" y="43067"/>
                </a:lnTo>
                <a:lnTo>
                  <a:pt x="109792" y="19924"/>
                </a:lnTo>
                <a:lnTo>
                  <a:pt x="151035" y="5177"/>
                </a:lnTo>
                <a:lnTo>
                  <a:pt x="195961" y="0"/>
                </a:lnTo>
                <a:lnTo>
                  <a:pt x="1138936" y="0"/>
                </a:lnTo>
                <a:lnTo>
                  <a:pt x="1183908" y="5177"/>
                </a:lnTo>
                <a:lnTo>
                  <a:pt x="1225185" y="19924"/>
                </a:lnTo>
                <a:lnTo>
                  <a:pt x="1261593" y="43067"/>
                </a:lnTo>
                <a:lnTo>
                  <a:pt x="1291956" y="73430"/>
                </a:lnTo>
                <a:lnTo>
                  <a:pt x="1315099" y="109838"/>
                </a:lnTo>
                <a:lnTo>
                  <a:pt x="1329846" y="151115"/>
                </a:lnTo>
                <a:lnTo>
                  <a:pt x="1335024" y="196087"/>
                </a:lnTo>
                <a:lnTo>
                  <a:pt x="1335024" y="980313"/>
                </a:lnTo>
                <a:lnTo>
                  <a:pt x="1329846" y="1025245"/>
                </a:lnTo>
                <a:lnTo>
                  <a:pt x="1315099" y="1066507"/>
                </a:lnTo>
                <a:lnTo>
                  <a:pt x="1291956" y="1102917"/>
                </a:lnTo>
                <a:lnTo>
                  <a:pt x="1261593" y="1133293"/>
                </a:lnTo>
                <a:lnTo>
                  <a:pt x="1225185" y="1156454"/>
                </a:lnTo>
                <a:lnTo>
                  <a:pt x="1183908" y="1171217"/>
                </a:lnTo>
                <a:lnTo>
                  <a:pt x="1138936" y="1176401"/>
                </a:lnTo>
                <a:lnTo>
                  <a:pt x="195961" y="1176401"/>
                </a:lnTo>
                <a:lnTo>
                  <a:pt x="151035" y="1171217"/>
                </a:lnTo>
                <a:lnTo>
                  <a:pt x="109792" y="1156454"/>
                </a:lnTo>
                <a:lnTo>
                  <a:pt x="73406" y="1133293"/>
                </a:lnTo>
                <a:lnTo>
                  <a:pt x="43057" y="1102917"/>
                </a:lnTo>
                <a:lnTo>
                  <a:pt x="19921" y="1066507"/>
                </a:lnTo>
                <a:lnTo>
                  <a:pt x="5176" y="1025245"/>
                </a:lnTo>
                <a:lnTo>
                  <a:pt x="0" y="980313"/>
                </a:lnTo>
                <a:lnTo>
                  <a:pt x="0" y="196087"/>
                </a:lnTo>
                <a:close/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7217" y="3814274"/>
            <a:ext cx="1434367" cy="754349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algn="ctr">
              <a:spcBef>
                <a:spcPts val="120"/>
              </a:spcBef>
            </a:pPr>
            <a:r>
              <a:rPr sz="24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主定理及其证明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59552" y="1417853"/>
            <a:ext cx="1380661" cy="1867218"/>
          </a:xfrm>
          <a:custGeom>
            <a:avLst/>
            <a:gdLst/>
            <a:ahLst/>
            <a:cxnLst/>
            <a:rect l="l" t="t" r="r" b="b"/>
            <a:pathLst>
              <a:path w="1310004" h="1311275">
                <a:moveTo>
                  <a:pt x="0" y="218312"/>
                </a:moveTo>
                <a:lnTo>
                  <a:pt x="5761" y="168270"/>
                </a:lnTo>
                <a:lnTo>
                  <a:pt x="22172" y="122325"/>
                </a:lnTo>
                <a:lnTo>
                  <a:pt x="47926" y="81789"/>
                </a:lnTo>
                <a:lnTo>
                  <a:pt x="81712" y="47976"/>
                </a:lnTo>
                <a:lnTo>
                  <a:pt x="122223" y="22197"/>
                </a:lnTo>
                <a:lnTo>
                  <a:pt x="168150" y="5768"/>
                </a:lnTo>
                <a:lnTo>
                  <a:pt x="218186" y="0"/>
                </a:lnTo>
                <a:lnTo>
                  <a:pt x="1091311" y="0"/>
                </a:lnTo>
                <a:lnTo>
                  <a:pt x="1141353" y="5768"/>
                </a:lnTo>
                <a:lnTo>
                  <a:pt x="1187298" y="22197"/>
                </a:lnTo>
                <a:lnTo>
                  <a:pt x="1227834" y="47976"/>
                </a:lnTo>
                <a:lnTo>
                  <a:pt x="1261647" y="81789"/>
                </a:lnTo>
                <a:lnTo>
                  <a:pt x="1287426" y="122325"/>
                </a:lnTo>
                <a:lnTo>
                  <a:pt x="1303855" y="168270"/>
                </a:lnTo>
                <a:lnTo>
                  <a:pt x="1309624" y="218312"/>
                </a:lnTo>
                <a:lnTo>
                  <a:pt x="1309624" y="1092962"/>
                </a:lnTo>
                <a:lnTo>
                  <a:pt x="1303855" y="1143004"/>
                </a:lnTo>
                <a:lnTo>
                  <a:pt x="1287426" y="1188949"/>
                </a:lnTo>
                <a:lnTo>
                  <a:pt x="1261647" y="1229485"/>
                </a:lnTo>
                <a:lnTo>
                  <a:pt x="1227834" y="1263298"/>
                </a:lnTo>
                <a:lnTo>
                  <a:pt x="1187298" y="1289077"/>
                </a:lnTo>
                <a:lnTo>
                  <a:pt x="1141353" y="1305506"/>
                </a:lnTo>
                <a:lnTo>
                  <a:pt x="1091311" y="1311275"/>
                </a:lnTo>
                <a:lnTo>
                  <a:pt x="218186" y="1311275"/>
                </a:lnTo>
                <a:lnTo>
                  <a:pt x="168150" y="1305506"/>
                </a:lnTo>
                <a:lnTo>
                  <a:pt x="122223" y="1289077"/>
                </a:lnTo>
                <a:lnTo>
                  <a:pt x="81712" y="1263298"/>
                </a:lnTo>
                <a:lnTo>
                  <a:pt x="47926" y="1229485"/>
                </a:lnTo>
                <a:lnTo>
                  <a:pt x="22172" y="1188949"/>
                </a:lnTo>
                <a:lnTo>
                  <a:pt x="5761" y="1143004"/>
                </a:lnTo>
                <a:lnTo>
                  <a:pt x="0" y="1092962"/>
                </a:lnTo>
                <a:lnTo>
                  <a:pt x="0" y="218312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2247" y="1931469"/>
            <a:ext cx="1211241" cy="685123"/>
          </a:xfrm>
          <a:prstGeom prst="rect">
            <a:avLst/>
          </a:prstGeom>
        </p:spPr>
        <p:txBody>
          <a:bodyPr vert="horz" wrap="square" lIns="0" tIns="43497" rIns="0" bIns="0" rtlCol="0">
            <a:spAutoFit/>
          </a:bodyPr>
          <a:lstStyle/>
          <a:p>
            <a:pPr marR="6350" algn="ctr">
              <a:lnSpc>
                <a:spcPts val="2470"/>
              </a:lnSpc>
            </a:pPr>
            <a:r>
              <a:rPr sz="24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主定理的应用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30777" y="1417104"/>
            <a:ext cx="909955" cy="1878971"/>
          </a:xfrm>
          <a:custGeom>
            <a:avLst/>
            <a:gdLst/>
            <a:ahLst/>
            <a:cxnLst/>
            <a:rect l="l" t="t" r="r" b="b"/>
            <a:pathLst>
              <a:path w="909954" h="1319530">
                <a:moveTo>
                  <a:pt x="0" y="151637"/>
                </a:moveTo>
                <a:lnTo>
                  <a:pt x="7723" y="103680"/>
                </a:lnTo>
                <a:lnTo>
                  <a:pt x="29236" y="62051"/>
                </a:lnTo>
                <a:lnTo>
                  <a:pt x="62051" y="29236"/>
                </a:lnTo>
                <a:lnTo>
                  <a:pt x="103680" y="7723"/>
                </a:lnTo>
                <a:lnTo>
                  <a:pt x="151637" y="0"/>
                </a:lnTo>
                <a:lnTo>
                  <a:pt x="758063" y="0"/>
                </a:lnTo>
                <a:lnTo>
                  <a:pt x="805971" y="7723"/>
                </a:lnTo>
                <a:lnTo>
                  <a:pt x="847594" y="29236"/>
                </a:lnTo>
                <a:lnTo>
                  <a:pt x="880428" y="62051"/>
                </a:lnTo>
                <a:lnTo>
                  <a:pt x="901965" y="103680"/>
                </a:lnTo>
                <a:lnTo>
                  <a:pt x="909701" y="151637"/>
                </a:lnTo>
                <a:lnTo>
                  <a:pt x="909701" y="1167638"/>
                </a:lnTo>
                <a:lnTo>
                  <a:pt x="901965" y="1215546"/>
                </a:lnTo>
                <a:lnTo>
                  <a:pt x="880428" y="1257169"/>
                </a:lnTo>
                <a:lnTo>
                  <a:pt x="847594" y="1290003"/>
                </a:lnTo>
                <a:lnTo>
                  <a:pt x="805971" y="1311540"/>
                </a:lnTo>
                <a:lnTo>
                  <a:pt x="758063" y="1319276"/>
                </a:lnTo>
                <a:lnTo>
                  <a:pt x="151637" y="1319276"/>
                </a:lnTo>
                <a:lnTo>
                  <a:pt x="103680" y="1311540"/>
                </a:lnTo>
                <a:lnTo>
                  <a:pt x="62051" y="1290003"/>
                </a:lnTo>
                <a:lnTo>
                  <a:pt x="29236" y="1257169"/>
                </a:lnTo>
                <a:lnTo>
                  <a:pt x="7723" y="1215546"/>
                </a:lnTo>
                <a:lnTo>
                  <a:pt x="0" y="1167638"/>
                </a:lnTo>
                <a:lnTo>
                  <a:pt x="0" y="15163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2359" y="1377604"/>
            <a:ext cx="485776" cy="1817863"/>
          </a:xfrm>
          <a:prstGeom prst="rect">
            <a:avLst/>
          </a:prstGeom>
        </p:spPr>
        <p:txBody>
          <a:bodyPr vert="horz" wrap="square" lIns="0" tIns="26409" rIns="0" bIns="0" rtlCol="0">
            <a:spAutoFit/>
          </a:bodyPr>
          <a:lstStyle/>
          <a:p>
            <a:pPr marL="15240" marR="6350" algn="just">
              <a:lnSpc>
                <a:spcPct val="97000"/>
              </a:lnSpc>
              <a:spcBef>
                <a:spcPts val="210"/>
              </a:spcBef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递归 树模 </a:t>
            </a:r>
            <a:r>
              <a:rPr sz="24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型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55079" y="1417104"/>
            <a:ext cx="1539875" cy="3231095"/>
          </a:xfrm>
          <a:custGeom>
            <a:avLst/>
            <a:gdLst/>
            <a:ahLst/>
            <a:cxnLst/>
            <a:rect l="l" t="t" r="r" b="b"/>
            <a:pathLst>
              <a:path w="1539875" h="2362200">
                <a:moveTo>
                  <a:pt x="0" y="256666"/>
                </a:moveTo>
                <a:lnTo>
                  <a:pt x="4135" y="210536"/>
                </a:lnTo>
                <a:lnTo>
                  <a:pt x="16057" y="167116"/>
                </a:lnTo>
                <a:lnTo>
                  <a:pt x="35041" y="127131"/>
                </a:lnTo>
                <a:lnTo>
                  <a:pt x="60362" y="91308"/>
                </a:lnTo>
                <a:lnTo>
                  <a:pt x="91295" y="60371"/>
                </a:lnTo>
                <a:lnTo>
                  <a:pt x="127116" y="35047"/>
                </a:lnTo>
                <a:lnTo>
                  <a:pt x="167099" y="16060"/>
                </a:lnTo>
                <a:lnTo>
                  <a:pt x="210520" y="4135"/>
                </a:lnTo>
                <a:lnTo>
                  <a:pt x="256654" y="0"/>
                </a:lnTo>
                <a:lnTo>
                  <a:pt x="1283208" y="0"/>
                </a:lnTo>
                <a:lnTo>
                  <a:pt x="1329338" y="4135"/>
                </a:lnTo>
                <a:lnTo>
                  <a:pt x="1372758" y="16060"/>
                </a:lnTo>
                <a:lnTo>
                  <a:pt x="1412743" y="35047"/>
                </a:lnTo>
                <a:lnTo>
                  <a:pt x="1448566" y="60371"/>
                </a:lnTo>
                <a:lnTo>
                  <a:pt x="1479503" y="91308"/>
                </a:lnTo>
                <a:lnTo>
                  <a:pt x="1504827" y="127131"/>
                </a:lnTo>
                <a:lnTo>
                  <a:pt x="1523814" y="167116"/>
                </a:lnTo>
                <a:lnTo>
                  <a:pt x="1535739" y="210536"/>
                </a:lnTo>
                <a:lnTo>
                  <a:pt x="1539875" y="256666"/>
                </a:lnTo>
                <a:lnTo>
                  <a:pt x="1539875" y="2105533"/>
                </a:lnTo>
                <a:lnTo>
                  <a:pt x="1535739" y="2151663"/>
                </a:lnTo>
                <a:lnTo>
                  <a:pt x="1523814" y="2195083"/>
                </a:lnTo>
                <a:lnTo>
                  <a:pt x="1504827" y="2235068"/>
                </a:lnTo>
                <a:lnTo>
                  <a:pt x="1479503" y="2270891"/>
                </a:lnTo>
                <a:lnTo>
                  <a:pt x="1448566" y="2301828"/>
                </a:lnTo>
                <a:lnTo>
                  <a:pt x="1412743" y="2327152"/>
                </a:lnTo>
                <a:lnTo>
                  <a:pt x="1372758" y="2346139"/>
                </a:lnTo>
                <a:lnTo>
                  <a:pt x="1329338" y="2358064"/>
                </a:lnTo>
                <a:lnTo>
                  <a:pt x="1283208" y="2362200"/>
                </a:lnTo>
                <a:lnTo>
                  <a:pt x="256654" y="2362200"/>
                </a:lnTo>
                <a:lnTo>
                  <a:pt x="210520" y="2358064"/>
                </a:lnTo>
                <a:lnTo>
                  <a:pt x="167099" y="2346139"/>
                </a:lnTo>
                <a:lnTo>
                  <a:pt x="127116" y="2327152"/>
                </a:lnTo>
                <a:lnTo>
                  <a:pt x="91295" y="2301828"/>
                </a:lnTo>
                <a:lnTo>
                  <a:pt x="60362" y="2270891"/>
                </a:lnTo>
                <a:lnTo>
                  <a:pt x="35041" y="2235068"/>
                </a:lnTo>
                <a:lnTo>
                  <a:pt x="16057" y="2195083"/>
                </a:lnTo>
                <a:lnTo>
                  <a:pt x="4135" y="2151663"/>
                </a:lnTo>
                <a:lnTo>
                  <a:pt x="0" y="2105533"/>
                </a:lnTo>
                <a:lnTo>
                  <a:pt x="0" y="256666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5616" y="1776339"/>
            <a:ext cx="1297360" cy="754349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5575" marR="6350" indent="-139700">
              <a:spcBef>
                <a:spcPts val="120"/>
              </a:spcBef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序列求和 方法：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64298" y="2844334"/>
            <a:ext cx="1265271" cy="38501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求和公式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0954" y="3681703"/>
            <a:ext cx="1524000" cy="682535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algn="ctr">
              <a:lnSpc>
                <a:spcPts val="2555"/>
              </a:lnSpc>
              <a:spcBef>
                <a:spcPts val="120"/>
              </a:spcBef>
            </a:pPr>
            <a:r>
              <a:rPr sz="24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估计和式的上界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16375" y="3429003"/>
            <a:ext cx="1828800" cy="1568873"/>
          </a:xfrm>
          <a:custGeom>
            <a:avLst/>
            <a:gdLst/>
            <a:ahLst/>
            <a:cxnLst/>
            <a:rect l="l" t="t" r="r" b="b"/>
            <a:pathLst>
              <a:path w="1828800" h="1176654">
                <a:moveTo>
                  <a:pt x="0" y="196087"/>
                </a:moveTo>
                <a:lnTo>
                  <a:pt x="5177" y="151115"/>
                </a:lnTo>
                <a:lnTo>
                  <a:pt x="19924" y="109838"/>
                </a:lnTo>
                <a:lnTo>
                  <a:pt x="43067" y="73430"/>
                </a:lnTo>
                <a:lnTo>
                  <a:pt x="73430" y="43067"/>
                </a:lnTo>
                <a:lnTo>
                  <a:pt x="109838" y="19924"/>
                </a:lnTo>
                <a:lnTo>
                  <a:pt x="151115" y="5177"/>
                </a:lnTo>
                <a:lnTo>
                  <a:pt x="196087" y="0"/>
                </a:lnTo>
                <a:lnTo>
                  <a:pt x="1632712" y="0"/>
                </a:lnTo>
                <a:lnTo>
                  <a:pt x="1677684" y="5177"/>
                </a:lnTo>
                <a:lnTo>
                  <a:pt x="1718961" y="19924"/>
                </a:lnTo>
                <a:lnTo>
                  <a:pt x="1755369" y="43067"/>
                </a:lnTo>
                <a:lnTo>
                  <a:pt x="1785732" y="73430"/>
                </a:lnTo>
                <a:lnTo>
                  <a:pt x="1808875" y="109838"/>
                </a:lnTo>
                <a:lnTo>
                  <a:pt x="1823622" y="151115"/>
                </a:lnTo>
                <a:lnTo>
                  <a:pt x="1828800" y="196087"/>
                </a:lnTo>
                <a:lnTo>
                  <a:pt x="1828800" y="980313"/>
                </a:lnTo>
                <a:lnTo>
                  <a:pt x="1823622" y="1025245"/>
                </a:lnTo>
                <a:lnTo>
                  <a:pt x="1808875" y="1066507"/>
                </a:lnTo>
                <a:lnTo>
                  <a:pt x="1785732" y="1102917"/>
                </a:lnTo>
                <a:lnTo>
                  <a:pt x="1755369" y="1133293"/>
                </a:lnTo>
                <a:lnTo>
                  <a:pt x="1718961" y="1156454"/>
                </a:lnTo>
                <a:lnTo>
                  <a:pt x="1677684" y="1171217"/>
                </a:lnTo>
                <a:lnTo>
                  <a:pt x="1632712" y="1176401"/>
                </a:lnTo>
                <a:lnTo>
                  <a:pt x="196087" y="1176401"/>
                </a:lnTo>
                <a:lnTo>
                  <a:pt x="151115" y="1171217"/>
                </a:lnTo>
                <a:lnTo>
                  <a:pt x="109838" y="1156454"/>
                </a:lnTo>
                <a:lnTo>
                  <a:pt x="73430" y="1133293"/>
                </a:lnTo>
                <a:lnTo>
                  <a:pt x="43067" y="1102917"/>
                </a:lnTo>
                <a:lnTo>
                  <a:pt x="19924" y="1066507"/>
                </a:lnTo>
                <a:lnTo>
                  <a:pt x="5177" y="1025245"/>
                </a:lnTo>
                <a:lnTo>
                  <a:pt x="0" y="980313"/>
                </a:lnTo>
                <a:lnTo>
                  <a:pt x="0" y="19608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9945" y="3596473"/>
            <a:ext cx="1456877" cy="1123681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R="6350"/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迭代法： 基本迭代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5240"/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换元迭代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16377" y="1417104"/>
            <a:ext cx="806450" cy="1878971"/>
          </a:xfrm>
          <a:custGeom>
            <a:avLst/>
            <a:gdLst/>
            <a:ahLst/>
            <a:cxnLst/>
            <a:rect l="l" t="t" r="r" b="b"/>
            <a:pathLst>
              <a:path w="806450" h="1319530">
                <a:moveTo>
                  <a:pt x="0" y="134365"/>
                </a:moveTo>
                <a:lnTo>
                  <a:pt x="6853" y="91911"/>
                </a:lnTo>
                <a:lnTo>
                  <a:pt x="25936" y="55028"/>
                </a:lnTo>
                <a:lnTo>
                  <a:pt x="55028" y="25936"/>
                </a:lnTo>
                <a:lnTo>
                  <a:pt x="91911" y="6853"/>
                </a:lnTo>
                <a:lnTo>
                  <a:pt x="134366" y="0"/>
                </a:lnTo>
                <a:lnTo>
                  <a:pt x="672083" y="0"/>
                </a:lnTo>
                <a:lnTo>
                  <a:pt x="714538" y="6853"/>
                </a:lnTo>
                <a:lnTo>
                  <a:pt x="751421" y="25936"/>
                </a:lnTo>
                <a:lnTo>
                  <a:pt x="780513" y="55028"/>
                </a:lnTo>
                <a:lnTo>
                  <a:pt x="799596" y="91911"/>
                </a:lnTo>
                <a:lnTo>
                  <a:pt x="806450" y="134365"/>
                </a:lnTo>
                <a:lnTo>
                  <a:pt x="806450" y="1184783"/>
                </a:lnTo>
                <a:lnTo>
                  <a:pt x="799596" y="1227299"/>
                </a:lnTo>
                <a:lnTo>
                  <a:pt x="780513" y="1264219"/>
                </a:lnTo>
                <a:lnTo>
                  <a:pt x="751421" y="1293331"/>
                </a:lnTo>
                <a:lnTo>
                  <a:pt x="714538" y="1312421"/>
                </a:lnTo>
                <a:lnTo>
                  <a:pt x="672083" y="1319276"/>
                </a:lnTo>
                <a:lnTo>
                  <a:pt x="134366" y="1319276"/>
                </a:lnTo>
                <a:lnTo>
                  <a:pt x="91911" y="1312421"/>
                </a:lnTo>
                <a:lnTo>
                  <a:pt x="55028" y="1293331"/>
                </a:lnTo>
                <a:lnTo>
                  <a:pt x="25936" y="1264219"/>
                </a:lnTo>
                <a:lnTo>
                  <a:pt x="6853" y="1227299"/>
                </a:lnTo>
                <a:lnTo>
                  <a:pt x="0" y="1184783"/>
                </a:lnTo>
                <a:lnTo>
                  <a:pt x="0" y="13436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56651" y="1377604"/>
            <a:ext cx="485776" cy="1817863"/>
          </a:xfrm>
          <a:prstGeom prst="rect">
            <a:avLst/>
          </a:prstGeom>
        </p:spPr>
        <p:txBody>
          <a:bodyPr vert="horz" wrap="square" lIns="0" tIns="26409" rIns="0" bIns="0" rtlCol="0">
            <a:spAutoFit/>
          </a:bodyPr>
          <a:lstStyle/>
          <a:p>
            <a:pPr marL="15240" marR="6350" algn="just">
              <a:lnSpc>
                <a:spcPct val="97000"/>
              </a:lnSpc>
              <a:spcBef>
                <a:spcPts val="210"/>
              </a:spcBef>
            </a:pP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差消 法化 </a:t>
            </a:r>
            <a:r>
              <a:rPr sz="24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简</a:t>
            </a:r>
            <a:endParaRPr sz="24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80411" y="2837246"/>
            <a:ext cx="8267700" cy="927100"/>
          </a:xfrm>
          <a:prstGeom prst="rect">
            <a:avLst/>
          </a:prstGeom>
        </p:spPr>
        <p:txBody>
          <a:bodyPr vert="horz" wrap="square" lIns="0" tIns="11651" rIns="0" bIns="0" rtlCol="0" anchor="ctr">
            <a:spAutoFit/>
          </a:bodyPr>
          <a:lstStyle/>
          <a:p>
            <a:pPr marL="11430" algn="ctr">
              <a:spcBef>
                <a:spcPts val="90"/>
              </a:spcBef>
            </a:pPr>
            <a:r>
              <a:rPr sz="6600" b="1" spc="-18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</a:t>
            </a:r>
            <a:r>
              <a:rPr sz="66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</a:t>
            </a:r>
            <a:r>
              <a:rPr sz="6600" b="1" spc="-18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sz="66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和的</a:t>
            </a:r>
            <a:r>
              <a:rPr sz="6600" b="1" spc="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</a:t>
            </a:r>
            <a:r>
              <a:rPr sz="6600" b="1" spc="-18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20738" y="82550"/>
            <a:ext cx="8323262" cy="620713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数列求和公式</a:t>
            </a:r>
            <a:endParaRPr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89963" y="0"/>
            <a:ext cx="13944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08250" y="1"/>
            <a:ext cx="140590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89963" y="0"/>
            <a:ext cx="13944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08250" y="1"/>
            <a:ext cx="140590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89963" y="0"/>
            <a:ext cx="13944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08250" y="1"/>
            <a:ext cx="140590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04938" y="1044642"/>
            <a:ext cx="7433287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等差、等比数列与调和级数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/>
              <p:cNvSpPr/>
              <p:nvPr/>
            </p:nvSpPr>
            <p:spPr>
              <a:xfrm>
                <a:off x="1472215" y="1587549"/>
                <a:ext cx="3062640" cy="109126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 smtClean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215" y="1587549"/>
                <a:ext cx="3062640" cy="1091265"/>
              </a:xfrm>
              <a:prstGeom prst="rect">
                <a:avLst/>
              </a:prstGeom>
              <a:blipFill rotWithShape="1">
                <a:blip r:embed="rId3"/>
                <a:stretch>
                  <a:fillRect l="-9" t="-4" r="1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矩形 34"/>
              <p:cNvSpPr/>
              <p:nvPr/>
            </p:nvSpPr>
            <p:spPr>
              <a:xfrm>
                <a:off x="1472213" y="3060277"/>
                <a:ext cx="3380100" cy="109126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213" y="3060277"/>
                <a:ext cx="3380100" cy="1091265"/>
              </a:xfrm>
              <a:prstGeom prst="rect">
                <a:avLst/>
              </a:prstGeom>
              <a:blipFill rotWithShape="1">
                <a:blip r:embed="rId4"/>
                <a:stretch>
                  <a:fillRect l="-8" t="-19" r="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/>
              <p:cNvSpPr/>
              <p:nvPr/>
            </p:nvSpPr>
            <p:spPr>
              <a:xfrm>
                <a:off x="4972472" y="3056906"/>
                <a:ext cx="2476070" cy="1091458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472" y="3056906"/>
                <a:ext cx="2476070" cy="1091458"/>
              </a:xfrm>
              <a:prstGeom prst="rect">
                <a:avLst/>
              </a:prstGeom>
              <a:blipFill rotWithShape="1">
                <a:blip r:embed="rId5"/>
                <a:stretch>
                  <a:fillRect l="-17" t="-1" r="25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/>
              <p:cNvSpPr/>
              <p:nvPr/>
            </p:nvSpPr>
            <p:spPr>
              <a:xfrm>
                <a:off x="6993607" y="3375927"/>
                <a:ext cx="1353455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607" y="3375927"/>
                <a:ext cx="1353455" cy="454039"/>
              </a:xfrm>
              <a:prstGeom prst="rect">
                <a:avLst/>
              </a:prstGeom>
              <a:blipFill rotWithShape="1">
                <a:blip r:embed="rId6"/>
                <a:stretch>
                  <a:fillRect l="-26" t="-59" r="46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1479432" y="4589851"/>
                <a:ext cx="2973065" cy="109126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432" y="4589851"/>
                <a:ext cx="2973065" cy="1091265"/>
              </a:xfrm>
              <a:prstGeom prst="rect">
                <a:avLst/>
              </a:prstGeom>
              <a:blipFill rotWithShape="1">
                <a:blip r:embed="rId7"/>
                <a:stretch>
                  <a:fillRect l="-17" t="-7" r="17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60425" y="61913"/>
            <a:ext cx="8283575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lang="zh-CN" altLang="en-US" sz="4400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数列</a:t>
            </a:r>
            <a:r>
              <a:rPr sz="4400" spc="-1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求和的例子</a:t>
            </a:r>
            <a:endParaRPr sz="4400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65821" y="1309664"/>
            <a:ext cx="1159669" cy="915247"/>
          </a:xfrm>
          <a:custGeom>
            <a:avLst/>
            <a:gdLst/>
            <a:ahLst/>
            <a:cxnLst/>
            <a:rect l="l" t="t" r="r" b="b"/>
            <a:pathLst>
              <a:path w="1546225" h="686435">
                <a:moveTo>
                  <a:pt x="1017990" y="0"/>
                </a:moveTo>
                <a:lnTo>
                  <a:pt x="965248" y="1309"/>
                </a:lnTo>
                <a:lnTo>
                  <a:pt x="913554" y="5916"/>
                </a:lnTo>
                <a:lnTo>
                  <a:pt x="863228" y="13687"/>
                </a:lnTo>
                <a:lnTo>
                  <a:pt x="814589" y="24491"/>
                </a:lnTo>
                <a:lnTo>
                  <a:pt x="767955" y="38197"/>
                </a:lnTo>
                <a:lnTo>
                  <a:pt x="723645" y="54674"/>
                </a:lnTo>
                <a:lnTo>
                  <a:pt x="681979" y="73789"/>
                </a:lnTo>
                <a:lnTo>
                  <a:pt x="643275" y="95411"/>
                </a:lnTo>
                <a:lnTo>
                  <a:pt x="607851" y="119409"/>
                </a:lnTo>
                <a:lnTo>
                  <a:pt x="576028" y="145651"/>
                </a:lnTo>
                <a:lnTo>
                  <a:pt x="548123" y="174006"/>
                </a:lnTo>
                <a:lnTo>
                  <a:pt x="524455" y="204342"/>
                </a:lnTo>
                <a:lnTo>
                  <a:pt x="491109" y="270431"/>
                </a:lnTo>
                <a:lnTo>
                  <a:pt x="0" y="329105"/>
                </a:lnTo>
                <a:lnTo>
                  <a:pt x="486791" y="401241"/>
                </a:lnTo>
                <a:lnTo>
                  <a:pt x="499945" y="438052"/>
                </a:lnTo>
                <a:lnTo>
                  <a:pt x="519017" y="473237"/>
                </a:lnTo>
                <a:lnTo>
                  <a:pt x="543659" y="506562"/>
                </a:lnTo>
                <a:lnTo>
                  <a:pt x="573523" y="537792"/>
                </a:lnTo>
                <a:lnTo>
                  <a:pt x="608260" y="566695"/>
                </a:lnTo>
                <a:lnTo>
                  <a:pt x="647523" y="593035"/>
                </a:lnTo>
                <a:lnTo>
                  <a:pt x="690964" y="616578"/>
                </a:lnTo>
                <a:lnTo>
                  <a:pt x="738234" y="637090"/>
                </a:lnTo>
                <a:lnTo>
                  <a:pt x="788986" y="654338"/>
                </a:lnTo>
                <a:lnTo>
                  <a:pt x="842870" y="668086"/>
                </a:lnTo>
                <a:lnTo>
                  <a:pt x="899541" y="678101"/>
                </a:lnTo>
                <a:lnTo>
                  <a:pt x="953424" y="683778"/>
                </a:lnTo>
                <a:lnTo>
                  <a:pt x="1006897" y="685896"/>
                </a:lnTo>
                <a:lnTo>
                  <a:pt x="1059639" y="684586"/>
                </a:lnTo>
                <a:lnTo>
                  <a:pt x="1111333" y="679980"/>
                </a:lnTo>
                <a:lnTo>
                  <a:pt x="1161659" y="672209"/>
                </a:lnTo>
                <a:lnTo>
                  <a:pt x="1210298" y="661405"/>
                </a:lnTo>
                <a:lnTo>
                  <a:pt x="1256932" y="647698"/>
                </a:lnTo>
                <a:lnTo>
                  <a:pt x="1301242" y="631222"/>
                </a:lnTo>
                <a:lnTo>
                  <a:pt x="1342908" y="612107"/>
                </a:lnTo>
                <a:lnTo>
                  <a:pt x="1381612" y="590485"/>
                </a:lnTo>
                <a:lnTo>
                  <a:pt x="1417036" y="566487"/>
                </a:lnTo>
                <a:lnTo>
                  <a:pt x="1448859" y="540244"/>
                </a:lnTo>
                <a:lnTo>
                  <a:pt x="1476764" y="511890"/>
                </a:lnTo>
                <a:lnTo>
                  <a:pt x="1500432" y="481554"/>
                </a:lnTo>
                <a:lnTo>
                  <a:pt x="1533779" y="415465"/>
                </a:lnTo>
                <a:lnTo>
                  <a:pt x="1545974" y="341916"/>
                </a:lnTo>
                <a:lnTo>
                  <a:pt x="1542886" y="305865"/>
                </a:lnTo>
                <a:lnTo>
                  <a:pt x="1519583" y="236451"/>
                </a:lnTo>
                <a:lnTo>
                  <a:pt x="1499866" y="203586"/>
                </a:lnTo>
                <a:lnTo>
                  <a:pt x="1475106" y="172280"/>
                </a:lnTo>
                <a:lnTo>
                  <a:pt x="1445551" y="142782"/>
                </a:lnTo>
                <a:lnTo>
                  <a:pt x="1411450" y="115341"/>
                </a:lnTo>
                <a:lnTo>
                  <a:pt x="1373053" y="90204"/>
                </a:lnTo>
                <a:lnTo>
                  <a:pt x="1330609" y="67621"/>
                </a:lnTo>
                <a:lnTo>
                  <a:pt x="1284367" y="47839"/>
                </a:lnTo>
                <a:lnTo>
                  <a:pt x="1234576" y="31109"/>
                </a:lnTo>
                <a:lnTo>
                  <a:pt x="1181486" y="17678"/>
                </a:lnTo>
                <a:lnTo>
                  <a:pt x="1125347" y="7795"/>
                </a:lnTo>
                <a:lnTo>
                  <a:pt x="1071463" y="2117"/>
                </a:lnTo>
                <a:lnTo>
                  <a:pt x="101799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4365821" y="1309664"/>
            <a:ext cx="1159669" cy="915247"/>
          </a:xfrm>
          <a:custGeom>
            <a:avLst/>
            <a:gdLst/>
            <a:ahLst/>
            <a:cxnLst/>
            <a:rect l="l" t="t" r="r" b="b"/>
            <a:pathLst>
              <a:path w="1546225" h="686435">
                <a:moveTo>
                  <a:pt x="0" y="329105"/>
                </a:moveTo>
                <a:lnTo>
                  <a:pt x="491109" y="270431"/>
                </a:lnTo>
                <a:lnTo>
                  <a:pt x="505344" y="236527"/>
                </a:lnTo>
                <a:lnTo>
                  <a:pt x="524455" y="204342"/>
                </a:lnTo>
                <a:lnTo>
                  <a:pt x="548123" y="174006"/>
                </a:lnTo>
                <a:lnTo>
                  <a:pt x="576028" y="145651"/>
                </a:lnTo>
                <a:lnTo>
                  <a:pt x="607851" y="119409"/>
                </a:lnTo>
                <a:lnTo>
                  <a:pt x="643275" y="95411"/>
                </a:lnTo>
                <a:lnTo>
                  <a:pt x="681979" y="73789"/>
                </a:lnTo>
                <a:lnTo>
                  <a:pt x="723645" y="54674"/>
                </a:lnTo>
                <a:lnTo>
                  <a:pt x="767955" y="38197"/>
                </a:lnTo>
                <a:lnTo>
                  <a:pt x="814589" y="24491"/>
                </a:lnTo>
                <a:lnTo>
                  <a:pt x="863228" y="13687"/>
                </a:lnTo>
                <a:lnTo>
                  <a:pt x="913554" y="5916"/>
                </a:lnTo>
                <a:lnTo>
                  <a:pt x="965248" y="1309"/>
                </a:lnTo>
                <a:lnTo>
                  <a:pt x="1017990" y="0"/>
                </a:lnTo>
                <a:lnTo>
                  <a:pt x="1071463" y="2117"/>
                </a:lnTo>
                <a:lnTo>
                  <a:pt x="1125347" y="7795"/>
                </a:lnTo>
                <a:lnTo>
                  <a:pt x="1181486" y="17678"/>
                </a:lnTo>
                <a:lnTo>
                  <a:pt x="1234576" y="31109"/>
                </a:lnTo>
                <a:lnTo>
                  <a:pt x="1284367" y="47839"/>
                </a:lnTo>
                <a:lnTo>
                  <a:pt x="1330609" y="67621"/>
                </a:lnTo>
                <a:lnTo>
                  <a:pt x="1373053" y="90204"/>
                </a:lnTo>
                <a:lnTo>
                  <a:pt x="1411450" y="115341"/>
                </a:lnTo>
                <a:lnTo>
                  <a:pt x="1445551" y="142782"/>
                </a:lnTo>
                <a:lnTo>
                  <a:pt x="1475106" y="172280"/>
                </a:lnTo>
                <a:lnTo>
                  <a:pt x="1499866" y="203586"/>
                </a:lnTo>
                <a:lnTo>
                  <a:pt x="1519583" y="236451"/>
                </a:lnTo>
                <a:lnTo>
                  <a:pt x="1542886" y="305865"/>
                </a:lnTo>
                <a:lnTo>
                  <a:pt x="1545974" y="341916"/>
                </a:lnTo>
                <a:lnTo>
                  <a:pt x="1543022" y="378532"/>
                </a:lnTo>
                <a:lnTo>
                  <a:pt x="1519543" y="449368"/>
                </a:lnTo>
                <a:lnTo>
                  <a:pt x="1476764" y="511890"/>
                </a:lnTo>
                <a:lnTo>
                  <a:pt x="1448859" y="540244"/>
                </a:lnTo>
                <a:lnTo>
                  <a:pt x="1417036" y="566487"/>
                </a:lnTo>
                <a:lnTo>
                  <a:pt x="1381612" y="590485"/>
                </a:lnTo>
                <a:lnTo>
                  <a:pt x="1342908" y="612107"/>
                </a:lnTo>
                <a:lnTo>
                  <a:pt x="1301242" y="631222"/>
                </a:lnTo>
                <a:lnTo>
                  <a:pt x="1256932" y="647698"/>
                </a:lnTo>
                <a:lnTo>
                  <a:pt x="1210298" y="661405"/>
                </a:lnTo>
                <a:lnTo>
                  <a:pt x="1161659" y="672209"/>
                </a:lnTo>
                <a:lnTo>
                  <a:pt x="1111333" y="679980"/>
                </a:lnTo>
                <a:lnTo>
                  <a:pt x="1059639" y="684586"/>
                </a:lnTo>
                <a:lnTo>
                  <a:pt x="1006897" y="685896"/>
                </a:lnTo>
                <a:lnTo>
                  <a:pt x="953424" y="683778"/>
                </a:lnTo>
                <a:lnTo>
                  <a:pt x="899541" y="678101"/>
                </a:lnTo>
                <a:lnTo>
                  <a:pt x="842870" y="668086"/>
                </a:lnTo>
                <a:lnTo>
                  <a:pt x="788986" y="654338"/>
                </a:lnTo>
                <a:lnTo>
                  <a:pt x="738234" y="637090"/>
                </a:lnTo>
                <a:lnTo>
                  <a:pt x="690964" y="616578"/>
                </a:lnTo>
                <a:lnTo>
                  <a:pt x="647523" y="593035"/>
                </a:lnTo>
                <a:lnTo>
                  <a:pt x="608260" y="566695"/>
                </a:lnTo>
                <a:lnTo>
                  <a:pt x="573523" y="537792"/>
                </a:lnTo>
                <a:lnTo>
                  <a:pt x="543659" y="506562"/>
                </a:lnTo>
                <a:lnTo>
                  <a:pt x="519017" y="473237"/>
                </a:lnTo>
                <a:lnTo>
                  <a:pt x="499945" y="438052"/>
                </a:lnTo>
                <a:lnTo>
                  <a:pt x="486791" y="401241"/>
                </a:lnTo>
                <a:lnTo>
                  <a:pt x="0" y="32910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4924082" y="1412714"/>
            <a:ext cx="403383" cy="751017"/>
          </a:xfrm>
          <a:prstGeom prst="rect">
            <a:avLst/>
          </a:prstGeom>
        </p:spPr>
        <p:txBody>
          <a:bodyPr vert="horz" wrap="square" lIns="0" tIns="12234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4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拆项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55948" y="3130857"/>
            <a:ext cx="829151" cy="773853"/>
          </a:xfrm>
          <a:custGeom>
            <a:avLst/>
            <a:gdLst/>
            <a:ahLst/>
            <a:cxnLst/>
            <a:rect l="l" t="t" r="r" b="b"/>
            <a:pathLst>
              <a:path w="1105535" h="580389">
                <a:moveTo>
                  <a:pt x="0" y="0"/>
                </a:moveTo>
                <a:lnTo>
                  <a:pt x="144525" y="154558"/>
                </a:lnTo>
                <a:lnTo>
                  <a:pt x="101482" y="188608"/>
                </a:lnTo>
                <a:lnTo>
                  <a:pt x="69643" y="224885"/>
                </a:lnTo>
                <a:lnTo>
                  <a:pt x="49067" y="262733"/>
                </a:lnTo>
                <a:lnTo>
                  <a:pt x="39814" y="301497"/>
                </a:lnTo>
                <a:lnTo>
                  <a:pt x="41943" y="340524"/>
                </a:lnTo>
                <a:lnTo>
                  <a:pt x="55514" y="379158"/>
                </a:lnTo>
                <a:lnTo>
                  <a:pt x="80587" y="416744"/>
                </a:lnTo>
                <a:lnTo>
                  <a:pt x="117220" y="452627"/>
                </a:lnTo>
                <a:lnTo>
                  <a:pt x="147974" y="475187"/>
                </a:lnTo>
                <a:lnTo>
                  <a:pt x="182457" y="495686"/>
                </a:lnTo>
                <a:lnTo>
                  <a:pt x="220302" y="514082"/>
                </a:lnTo>
                <a:lnTo>
                  <a:pt x="261139" y="530328"/>
                </a:lnTo>
                <a:lnTo>
                  <a:pt x="304600" y="544380"/>
                </a:lnTo>
                <a:lnTo>
                  <a:pt x="350317" y="556194"/>
                </a:lnTo>
                <a:lnTo>
                  <a:pt x="397919" y="565725"/>
                </a:lnTo>
                <a:lnTo>
                  <a:pt x="447039" y="572928"/>
                </a:lnTo>
                <a:lnTo>
                  <a:pt x="497309" y="577759"/>
                </a:lnTo>
                <a:lnTo>
                  <a:pt x="548358" y="580173"/>
                </a:lnTo>
                <a:lnTo>
                  <a:pt x="599819" y="580126"/>
                </a:lnTo>
                <a:lnTo>
                  <a:pt x="651323" y="577572"/>
                </a:lnTo>
                <a:lnTo>
                  <a:pt x="702501" y="572467"/>
                </a:lnTo>
                <a:lnTo>
                  <a:pt x="752984" y="564767"/>
                </a:lnTo>
                <a:lnTo>
                  <a:pt x="802404" y="554426"/>
                </a:lnTo>
                <a:lnTo>
                  <a:pt x="850391" y="541401"/>
                </a:lnTo>
                <a:lnTo>
                  <a:pt x="905343" y="522205"/>
                </a:lnTo>
                <a:lnTo>
                  <a:pt x="954026" y="500250"/>
                </a:lnTo>
                <a:lnTo>
                  <a:pt x="996275" y="475879"/>
                </a:lnTo>
                <a:lnTo>
                  <a:pt x="1031921" y="449435"/>
                </a:lnTo>
                <a:lnTo>
                  <a:pt x="1060798" y="421261"/>
                </a:lnTo>
                <a:lnTo>
                  <a:pt x="1097577" y="361095"/>
                </a:lnTo>
                <a:lnTo>
                  <a:pt x="1105272" y="298126"/>
                </a:lnTo>
                <a:lnTo>
                  <a:pt x="1097796" y="266447"/>
                </a:lnTo>
                <a:lnTo>
                  <a:pt x="1059359" y="204417"/>
                </a:lnTo>
                <a:lnTo>
                  <a:pt x="1028064" y="174751"/>
                </a:lnTo>
                <a:lnTo>
                  <a:pt x="997311" y="152192"/>
                </a:lnTo>
                <a:lnTo>
                  <a:pt x="962828" y="131693"/>
                </a:lnTo>
                <a:lnTo>
                  <a:pt x="924983" y="113297"/>
                </a:lnTo>
                <a:lnTo>
                  <a:pt x="884146" y="97051"/>
                </a:lnTo>
                <a:lnTo>
                  <a:pt x="849900" y="85978"/>
                </a:lnTo>
                <a:lnTo>
                  <a:pt x="294893" y="85978"/>
                </a:lnTo>
                <a:lnTo>
                  <a:pt x="0" y="0"/>
                </a:lnTo>
                <a:close/>
              </a:path>
              <a:path w="1105535" h="580389">
                <a:moveTo>
                  <a:pt x="596927" y="47206"/>
                </a:moveTo>
                <a:lnTo>
                  <a:pt x="545466" y="47253"/>
                </a:lnTo>
                <a:lnTo>
                  <a:pt x="493962" y="49807"/>
                </a:lnTo>
                <a:lnTo>
                  <a:pt x="442784" y="54912"/>
                </a:lnTo>
                <a:lnTo>
                  <a:pt x="392301" y="62612"/>
                </a:lnTo>
                <a:lnTo>
                  <a:pt x="342881" y="72953"/>
                </a:lnTo>
                <a:lnTo>
                  <a:pt x="294893" y="85978"/>
                </a:lnTo>
                <a:lnTo>
                  <a:pt x="849900" y="85978"/>
                </a:lnTo>
                <a:lnTo>
                  <a:pt x="794968" y="71185"/>
                </a:lnTo>
                <a:lnTo>
                  <a:pt x="747366" y="61654"/>
                </a:lnTo>
                <a:lnTo>
                  <a:pt x="698246" y="54451"/>
                </a:lnTo>
                <a:lnTo>
                  <a:pt x="647976" y="49620"/>
                </a:lnTo>
                <a:lnTo>
                  <a:pt x="596927" y="47206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455948" y="3130857"/>
            <a:ext cx="829151" cy="773853"/>
          </a:xfrm>
          <a:custGeom>
            <a:avLst/>
            <a:gdLst/>
            <a:ahLst/>
            <a:cxnLst/>
            <a:rect l="l" t="t" r="r" b="b"/>
            <a:pathLst>
              <a:path w="1105535" h="580389">
                <a:moveTo>
                  <a:pt x="0" y="0"/>
                </a:moveTo>
                <a:lnTo>
                  <a:pt x="294893" y="85978"/>
                </a:lnTo>
                <a:lnTo>
                  <a:pt x="342881" y="72953"/>
                </a:lnTo>
                <a:lnTo>
                  <a:pt x="392301" y="62612"/>
                </a:lnTo>
                <a:lnTo>
                  <a:pt x="442784" y="54912"/>
                </a:lnTo>
                <a:lnTo>
                  <a:pt x="493962" y="49807"/>
                </a:lnTo>
                <a:lnTo>
                  <a:pt x="545466" y="47253"/>
                </a:lnTo>
                <a:lnTo>
                  <a:pt x="596927" y="47206"/>
                </a:lnTo>
                <a:lnTo>
                  <a:pt x="647976" y="49620"/>
                </a:lnTo>
                <a:lnTo>
                  <a:pt x="698246" y="54451"/>
                </a:lnTo>
                <a:lnTo>
                  <a:pt x="747366" y="61654"/>
                </a:lnTo>
                <a:lnTo>
                  <a:pt x="794968" y="71185"/>
                </a:lnTo>
                <a:lnTo>
                  <a:pt x="840685" y="82999"/>
                </a:lnTo>
                <a:lnTo>
                  <a:pt x="884146" y="97051"/>
                </a:lnTo>
                <a:lnTo>
                  <a:pt x="924983" y="113297"/>
                </a:lnTo>
                <a:lnTo>
                  <a:pt x="962828" y="131693"/>
                </a:lnTo>
                <a:lnTo>
                  <a:pt x="997311" y="152192"/>
                </a:lnTo>
                <a:lnTo>
                  <a:pt x="1028064" y="174751"/>
                </a:lnTo>
                <a:lnTo>
                  <a:pt x="1059359" y="204417"/>
                </a:lnTo>
                <a:lnTo>
                  <a:pt x="1082547" y="235096"/>
                </a:lnTo>
                <a:lnTo>
                  <a:pt x="1105272" y="298126"/>
                </a:lnTo>
                <a:lnTo>
                  <a:pt x="1105143" y="329789"/>
                </a:lnTo>
                <a:lnTo>
                  <a:pt x="1082739" y="391700"/>
                </a:lnTo>
                <a:lnTo>
                  <a:pt x="1031921" y="449435"/>
                </a:lnTo>
                <a:lnTo>
                  <a:pt x="996275" y="475879"/>
                </a:lnTo>
                <a:lnTo>
                  <a:pt x="954026" y="500250"/>
                </a:lnTo>
                <a:lnTo>
                  <a:pt x="905343" y="522205"/>
                </a:lnTo>
                <a:lnTo>
                  <a:pt x="850391" y="541401"/>
                </a:lnTo>
                <a:lnTo>
                  <a:pt x="802404" y="554426"/>
                </a:lnTo>
                <a:lnTo>
                  <a:pt x="752984" y="564767"/>
                </a:lnTo>
                <a:lnTo>
                  <a:pt x="702501" y="572467"/>
                </a:lnTo>
                <a:lnTo>
                  <a:pt x="651323" y="577572"/>
                </a:lnTo>
                <a:lnTo>
                  <a:pt x="599819" y="580126"/>
                </a:lnTo>
                <a:lnTo>
                  <a:pt x="548358" y="580173"/>
                </a:lnTo>
                <a:lnTo>
                  <a:pt x="497309" y="577759"/>
                </a:lnTo>
                <a:lnTo>
                  <a:pt x="447039" y="572928"/>
                </a:lnTo>
                <a:lnTo>
                  <a:pt x="397919" y="565725"/>
                </a:lnTo>
                <a:lnTo>
                  <a:pt x="350317" y="556194"/>
                </a:lnTo>
                <a:lnTo>
                  <a:pt x="304600" y="544380"/>
                </a:lnTo>
                <a:lnTo>
                  <a:pt x="261139" y="530328"/>
                </a:lnTo>
                <a:lnTo>
                  <a:pt x="220302" y="514082"/>
                </a:lnTo>
                <a:lnTo>
                  <a:pt x="182457" y="495686"/>
                </a:lnTo>
                <a:lnTo>
                  <a:pt x="147974" y="475187"/>
                </a:lnTo>
                <a:lnTo>
                  <a:pt x="117220" y="452627"/>
                </a:lnTo>
                <a:lnTo>
                  <a:pt x="80587" y="416744"/>
                </a:lnTo>
                <a:lnTo>
                  <a:pt x="55514" y="379158"/>
                </a:lnTo>
                <a:lnTo>
                  <a:pt x="41943" y="340524"/>
                </a:lnTo>
                <a:lnTo>
                  <a:pt x="39814" y="301497"/>
                </a:lnTo>
                <a:lnTo>
                  <a:pt x="49067" y="262733"/>
                </a:lnTo>
                <a:lnTo>
                  <a:pt x="69643" y="224885"/>
                </a:lnTo>
                <a:lnTo>
                  <a:pt x="101482" y="188608"/>
                </a:lnTo>
                <a:lnTo>
                  <a:pt x="144525" y="15455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4101619" y="4444484"/>
            <a:ext cx="923449" cy="914400"/>
          </a:xfrm>
          <a:custGeom>
            <a:avLst/>
            <a:gdLst/>
            <a:ahLst/>
            <a:cxnLst/>
            <a:rect l="l" t="t" r="r" b="b"/>
            <a:pathLst>
              <a:path w="1231264" h="685800">
                <a:moveTo>
                  <a:pt x="0" y="89238"/>
                </a:moveTo>
                <a:lnTo>
                  <a:pt x="191897" y="234145"/>
                </a:lnTo>
                <a:lnTo>
                  <a:pt x="175141" y="274228"/>
                </a:lnTo>
                <a:lnTo>
                  <a:pt x="166131" y="314723"/>
                </a:lnTo>
                <a:lnTo>
                  <a:pt x="164687" y="355214"/>
                </a:lnTo>
                <a:lnTo>
                  <a:pt x="170632" y="395285"/>
                </a:lnTo>
                <a:lnTo>
                  <a:pt x="183784" y="434521"/>
                </a:lnTo>
                <a:lnTo>
                  <a:pt x="203967" y="472507"/>
                </a:lnTo>
                <a:lnTo>
                  <a:pt x="230999" y="508825"/>
                </a:lnTo>
                <a:lnTo>
                  <a:pt x="264703" y="543062"/>
                </a:lnTo>
                <a:lnTo>
                  <a:pt x="304899" y="574801"/>
                </a:lnTo>
                <a:lnTo>
                  <a:pt x="351409" y="603626"/>
                </a:lnTo>
                <a:lnTo>
                  <a:pt x="394671" y="625046"/>
                </a:lnTo>
                <a:lnTo>
                  <a:pt x="440195" y="643203"/>
                </a:lnTo>
                <a:lnTo>
                  <a:pt x="487604" y="658117"/>
                </a:lnTo>
                <a:lnTo>
                  <a:pt x="536519" y="669805"/>
                </a:lnTo>
                <a:lnTo>
                  <a:pt x="586562" y="678289"/>
                </a:lnTo>
                <a:lnTo>
                  <a:pt x="637355" y="683586"/>
                </a:lnTo>
                <a:lnTo>
                  <a:pt x="688520" y="685715"/>
                </a:lnTo>
                <a:lnTo>
                  <a:pt x="739679" y="684697"/>
                </a:lnTo>
                <a:lnTo>
                  <a:pt x="790454" y="680550"/>
                </a:lnTo>
                <a:lnTo>
                  <a:pt x="840468" y="673292"/>
                </a:lnTo>
                <a:lnTo>
                  <a:pt x="889341" y="662944"/>
                </a:lnTo>
                <a:lnTo>
                  <a:pt x="936696" y="649525"/>
                </a:lnTo>
                <a:lnTo>
                  <a:pt x="982155" y="633053"/>
                </a:lnTo>
                <a:lnTo>
                  <a:pt x="1025340" y="613548"/>
                </a:lnTo>
                <a:lnTo>
                  <a:pt x="1065873" y="591028"/>
                </a:lnTo>
                <a:lnTo>
                  <a:pt x="1103376" y="565514"/>
                </a:lnTo>
                <a:lnTo>
                  <a:pt x="1141034" y="533605"/>
                </a:lnTo>
                <a:lnTo>
                  <a:pt x="1172069" y="499842"/>
                </a:lnTo>
                <a:lnTo>
                  <a:pt x="1196526" y="464588"/>
                </a:lnTo>
                <a:lnTo>
                  <a:pt x="1214448" y="428205"/>
                </a:lnTo>
                <a:lnTo>
                  <a:pt x="1225881" y="391057"/>
                </a:lnTo>
                <a:lnTo>
                  <a:pt x="1230868" y="353506"/>
                </a:lnTo>
                <a:lnTo>
                  <a:pt x="1229455" y="315914"/>
                </a:lnTo>
                <a:lnTo>
                  <a:pt x="1207603" y="242063"/>
                </a:lnTo>
                <a:lnTo>
                  <a:pt x="1187253" y="206528"/>
                </a:lnTo>
                <a:lnTo>
                  <a:pt x="1160680" y="172404"/>
                </a:lnTo>
                <a:lnTo>
                  <a:pt x="1127928" y="140054"/>
                </a:lnTo>
                <a:lnTo>
                  <a:pt x="1102410" y="120226"/>
                </a:lnTo>
                <a:lnTo>
                  <a:pt x="292100" y="120226"/>
                </a:lnTo>
                <a:lnTo>
                  <a:pt x="0" y="89238"/>
                </a:lnTo>
                <a:close/>
              </a:path>
              <a:path w="1231264" h="685800">
                <a:moveTo>
                  <a:pt x="706955" y="0"/>
                </a:moveTo>
                <a:lnTo>
                  <a:pt x="655796" y="1021"/>
                </a:lnTo>
                <a:lnTo>
                  <a:pt x="605021" y="5172"/>
                </a:lnTo>
                <a:lnTo>
                  <a:pt x="555007" y="12434"/>
                </a:lnTo>
                <a:lnTo>
                  <a:pt x="506134" y="22786"/>
                </a:lnTo>
                <a:lnTo>
                  <a:pt x="458779" y="36210"/>
                </a:lnTo>
                <a:lnTo>
                  <a:pt x="413320" y="52685"/>
                </a:lnTo>
                <a:lnTo>
                  <a:pt x="370135" y="72193"/>
                </a:lnTo>
                <a:lnTo>
                  <a:pt x="329602" y="94713"/>
                </a:lnTo>
                <a:lnTo>
                  <a:pt x="292100" y="120226"/>
                </a:lnTo>
                <a:lnTo>
                  <a:pt x="1102410" y="120226"/>
                </a:lnTo>
                <a:lnTo>
                  <a:pt x="1044066" y="82126"/>
                </a:lnTo>
                <a:lnTo>
                  <a:pt x="1000804" y="60692"/>
                </a:lnTo>
                <a:lnTo>
                  <a:pt x="955280" y="42524"/>
                </a:lnTo>
                <a:lnTo>
                  <a:pt x="907871" y="27603"/>
                </a:lnTo>
                <a:lnTo>
                  <a:pt x="858956" y="15910"/>
                </a:lnTo>
                <a:lnTo>
                  <a:pt x="808913" y="7424"/>
                </a:lnTo>
                <a:lnTo>
                  <a:pt x="758120" y="2127"/>
                </a:lnTo>
                <a:lnTo>
                  <a:pt x="706955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101619" y="4444484"/>
            <a:ext cx="923449" cy="914400"/>
          </a:xfrm>
          <a:custGeom>
            <a:avLst/>
            <a:gdLst/>
            <a:ahLst/>
            <a:cxnLst/>
            <a:rect l="l" t="t" r="r" b="b"/>
            <a:pathLst>
              <a:path w="1231264" h="685800">
                <a:moveTo>
                  <a:pt x="0" y="89238"/>
                </a:moveTo>
                <a:lnTo>
                  <a:pt x="292100" y="120226"/>
                </a:lnTo>
                <a:lnTo>
                  <a:pt x="329602" y="94713"/>
                </a:lnTo>
                <a:lnTo>
                  <a:pt x="370135" y="72193"/>
                </a:lnTo>
                <a:lnTo>
                  <a:pt x="413320" y="52685"/>
                </a:lnTo>
                <a:lnTo>
                  <a:pt x="458779" y="36210"/>
                </a:lnTo>
                <a:lnTo>
                  <a:pt x="506134" y="22786"/>
                </a:lnTo>
                <a:lnTo>
                  <a:pt x="555007" y="12434"/>
                </a:lnTo>
                <a:lnTo>
                  <a:pt x="605021" y="5172"/>
                </a:lnTo>
                <a:lnTo>
                  <a:pt x="655796" y="1021"/>
                </a:lnTo>
                <a:lnTo>
                  <a:pt x="706955" y="0"/>
                </a:lnTo>
                <a:lnTo>
                  <a:pt x="758120" y="2127"/>
                </a:lnTo>
                <a:lnTo>
                  <a:pt x="808913" y="7424"/>
                </a:lnTo>
                <a:lnTo>
                  <a:pt x="858956" y="15910"/>
                </a:lnTo>
                <a:lnTo>
                  <a:pt x="907871" y="27603"/>
                </a:lnTo>
                <a:lnTo>
                  <a:pt x="955280" y="42524"/>
                </a:lnTo>
                <a:lnTo>
                  <a:pt x="1000804" y="60692"/>
                </a:lnTo>
                <a:lnTo>
                  <a:pt x="1044066" y="82126"/>
                </a:lnTo>
                <a:lnTo>
                  <a:pt x="1089042" y="109840"/>
                </a:lnTo>
                <a:lnTo>
                  <a:pt x="1127928" y="140054"/>
                </a:lnTo>
                <a:lnTo>
                  <a:pt x="1160680" y="172404"/>
                </a:lnTo>
                <a:lnTo>
                  <a:pt x="1187253" y="206528"/>
                </a:lnTo>
                <a:lnTo>
                  <a:pt x="1207603" y="242063"/>
                </a:lnTo>
                <a:lnTo>
                  <a:pt x="1221685" y="278646"/>
                </a:lnTo>
                <a:lnTo>
                  <a:pt x="1230868" y="353506"/>
                </a:lnTo>
                <a:lnTo>
                  <a:pt x="1225881" y="391057"/>
                </a:lnTo>
                <a:lnTo>
                  <a:pt x="1214448" y="428205"/>
                </a:lnTo>
                <a:lnTo>
                  <a:pt x="1196526" y="464588"/>
                </a:lnTo>
                <a:lnTo>
                  <a:pt x="1172069" y="499842"/>
                </a:lnTo>
                <a:lnTo>
                  <a:pt x="1141034" y="533605"/>
                </a:lnTo>
                <a:lnTo>
                  <a:pt x="1103376" y="565514"/>
                </a:lnTo>
                <a:lnTo>
                  <a:pt x="1065873" y="591028"/>
                </a:lnTo>
                <a:lnTo>
                  <a:pt x="1025340" y="613548"/>
                </a:lnTo>
                <a:lnTo>
                  <a:pt x="982155" y="633053"/>
                </a:lnTo>
                <a:lnTo>
                  <a:pt x="936696" y="649525"/>
                </a:lnTo>
                <a:lnTo>
                  <a:pt x="889341" y="662944"/>
                </a:lnTo>
                <a:lnTo>
                  <a:pt x="840468" y="673292"/>
                </a:lnTo>
                <a:lnTo>
                  <a:pt x="790454" y="680550"/>
                </a:lnTo>
                <a:lnTo>
                  <a:pt x="739679" y="684697"/>
                </a:lnTo>
                <a:lnTo>
                  <a:pt x="688520" y="685715"/>
                </a:lnTo>
                <a:lnTo>
                  <a:pt x="637355" y="683586"/>
                </a:lnTo>
                <a:lnTo>
                  <a:pt x="586562" y="678289"/>
                </a:lnTo>
                <a:lnTo>
                  <a:pt x="536519" y="669805"/>
                </a:lnTo>
                <a:lnTo>
                  <a:pt x="487604" y="658117"/>
                </a:lnTo>
                <a:lnTo>
                  <a:pt x="440195" y="643203"/>
                </a:lnTo>
                <a:lnTo>
                  <a:pt x="394671" y="625046"/>
                </a:lnTo>
                <a:lnTo>
                  <a:pt x="351409" y="603626"/>
                </a:lnTo>
                <a:lnTo>
                  <a:pt x="304899" y="574801"/>
                </a:lnTo>
                <a:lnTo>
                  <a:pt x="264703" y="543062"/>
                </a:lnTo>
                <a:lnTo>
                  <a:pt x="230999" y="508825"/>
                </a:lnTo>
                <a:lnTo>
                  <a:pt x="203967" y="472507"/>
                </a:lnTo>
                <a:lnTo>
                  <a:pt x="183784" y="434521"/>
                </a:lnTo>
                <a:lnTo>
                  <a:pt x="170632" y="395285"/>
                </a:lnTo>
                <a:lnTo>
                  <a:pt x="164687" y="355214"/>
                </a:lnTo>
                <a:lnTo>
                  <a:pt x="166131" y="314723"/>
                </a:lnTo>
                <a:lnTo>
                  <a:pt x="175141" y="274228"/>
                </a:lnTo>
                <a:lnTo>
                  <a:pt x="191897" y="234145"/>
                </a:lnTo>
                <a:lnTo>
                  <a:pt x="0" y="8923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4476508" y="4469163"/>
            <a:ext cx="403383" cy="75042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b="1" spc="5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拆项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876083" y="1065314"/>
                <a:ext cx="1503880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83" y="1065314"/>
                <a:ext cx="1503880" cy="1137752"/>
              </a:xfrm>
              <a:prstGeom prst="rect">
                <a:avLst/>
              </a:prstGeom>
              <a:blipFill rotWithShape="1">
                <a:blip r:embed="rId1"/>
                <a:stretch>
                  <a:fillRect l="-28" t="-37" r="41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486995" y="2453060"/>
                <a:ext cx="3065462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95" y="2453060"/>
                <a:ext cx="3065462" cy="1137752"/>
              </a:xfrm>
              <a:prstGeom prst="rect">
                <a:avLst/>
              </a:prstGeom>
              <a:blipFill rotWithShape="1">
                <a:blip r:embed="rId2"/>
                <a:stretch>
                  <a:fillRect l="-19" t="-5" r="9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2"/>
          <p:cNvSpPr txBox="1"/>
          <p:nvPr/>
        </p:nvSpPr>
        <p:spPr>
          <a:xfrm>
            <a:off x="6730265" y="3159984"/>
            <a:ext cx="403383" cy="75042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lang="zh-CN" altLang="en-US" sz="2400" b="1" spc="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変限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546629" y="5523102"/>
                <a:ext cx="4730597" cy="50155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𝒌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altLang="zh-CN" sz="2400" b="1" dirty="0"/>
                  <a:t>+1</a:t>
                </a:r>
                <a:endParaRPr lang="zh-CN" altLang="en-US" sz="2400" b="1" dirty="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29" y="5523102"/>
                <a:ext cx="4730597" cy="501553"/>
              </a:xfrm>
              <a:prstGeom prst="rect">
                <a:avLst/>
              </a:prstGeom>
              <a:blipFill rotWithShape="1">
                <a:blip r:embed="rId3"/>
                <a:stretch>
                  <a:fillRect l="-11" t="-101" r="8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/>
              <p:cNvSpPr/>
              <p:nvPr/>
            </p:nvSpPr>
            <p:spPr>
              <a:xfrm>
                <a:off x="486994" y="3955632"/>
                <a:ext cx="3765550" cy="1141730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94" y="3955632"/>
                <a:ext cx="3765550" cy="1141730"/>
              </a:xfrm>
              <a:prstGeom prst="rect">
                <a:avLst/>
              </a:prstGeom>
              <a:blipFill rotWithShape="1">
                <a:blip r:embed="rId4"/>
                <a:stretch>
                  <a:fillRect l="-16" t="-19" r="1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2053541" y="1067280"/>
                <a:ext cx="2800133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541" y="1067280"/>
                <a:ext cx="2800133" cy="1137752"/>
              </a:xfrm>
              <a:prstGeom prst="rect">
                <a:avLst/>
              </a:prstGeom>
              <a:blipFill rotWithShape="1">
                <a:blip r:embed="rId5"/>
                <a:stretch>
                  <a:fillRect l="-21" t="-42" r="13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3208019" y="2469205"/>
                <a:ext cx="3669538" cy="1137752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019" y="2469205"/>
                <a:ext cx="3669538" cy="1137752"/>
              </a:xfrm>
              <a:prstGeom prst="rect">
                <a:avLst/>
              </a:prstGeom>
              <a:blipFill rotWithShape="1">
                <a:blip r:embed="rId6"/>
                <a:stretch>
                  <a:fillRect l="-17" t="-29" r="1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4899757" y="2469205"/>
            <a:ext cx="1830507" cy="12040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993043" y="2461132"/>
            <a:ext cx="1214976" cy="12040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 animBg="1"/>
      <p:bldP spid="18" grpId="0" animBg="1"/>
      <p:bldP spid="20" grpId="0" animBg="1"/>
      <p:bldP spid="21" grpId="0" animBg="1"/>
      <p:bldP spid="22" grpId="0"/>
      <p:bldP spid="25" grpId="0" animBg="1"/>
      <p:bldP spid="26" grpId="0"/>
      <p:bldP spid="27" grpId="0" animBg="1"/>
      <p:bldP spid="28" grpId="0" animBg="1"/>
      <p:bldP spid="19" grpId="0" animBg="1"/>
      <p:bldP spid="23" grpId="0" animBg="1"/>
      <p:bldP spid="3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4738" y="1186327"/>
            <a:ext cx="7961244" cy="1206964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</a:t>
            </a:r>
            <a:r>
              <a:rPr sz="2800" b="1" spc="-5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BinarySearch </a:t>
            </a:r>
            <a:r>
              <a:rPr sz="2800" b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b="1" i="1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</a:t>
            </a:r>
            <a:r>
              <a:rPr sz="2800" b="1" i="1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b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输入：数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sz="2800" b="1" spc="-5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下标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sz="2800" b="1" spc="-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sz="2800" b="1" spc="-5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；数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">
              <a:lnSpc>
                <a:spcPts val="2635"/>
              </a:lnSpc>
            </a:pP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685800" y="2626452"/>
            <a:ext cx="8202672" cy="3386455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3970">
              <a:lnSpc>
                <a:spcPts val="3760"/>
              </a:lnSpc>
              <a:tabLst>
                <a:tab pos="361950" algn="l"/>
                <a:tab pos="1228725" algn="l"/>
              </a:tabLst>
            </a:pPr>
            <a:r>
              <a:rPr sz="2600" b="1" dirty="0" smtClean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.	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00" b="1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5" dirty="0">
                <a:latin typeface="Symbol" panose="05050102010706020507"/>
                <a:cs typeface="Symbol" panose="05050102010706020507"/>
              </a:rPr>
              <a:t></a:t>
            </a:r>
            <a:r>
              <a:rPr sz="2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1;	</a:t>
            </a:r>
            <a:r>
              <a:rPr sz="2600" b="1" i="1" spc="-5" dirty="0">
                <a:latin typeface="Times New Roman" panose="02020603050405020304"/>
                <a:cs typeface="Times New Roman" panose="02020603050405020304"/>
              </a:rPr>
              <a:t>r </a:t>
            </a:r>
            <a:r>
              <a:rPr sz="2600" b="1" spc="-5" dirty="0">
                <a:latin typeface="Symbol" panose="05050102010706020507"/>
                <a:cs typeface="Symbol" panose="05050102010706020507"/>
              </a:rPr>
              <a:t></a:t>
            </a:r>
            <a:r>
              <a:rPr sz="2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3970" marR="2872740">
              <a:lnSpc>
                <a:spcPts val="3760"/>
              </a:lnSpc>
              <a:tabLst>
                <a:tab pos="361950" algn="l"/>
                <a:tab pos="641350" algn="l"/>
                <a:tab pos="1137920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2.	</a:t>
            </a:r>
            <a:r>
              <a:rPr lang="en-US" sz="2600" b="1" spc="-5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00" b="1" spc="-5" dirty="0" smtClean="0">
                <a:latin typeface="Times New Roman" panose="02020603050405020304"/>
                <a:cs typeface="Times New Roman" panose="02020603050405020304"/>
              </a:rPr>
              <a:t>hile</a:t>
            </a:r>
            <a:r>
              <a:rPr lang="en-US" sz="2600" b="1" spc="-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i="1" dirty="0" smtClean="0">
                <a:latin typeface="Times New Roman" panose="02020603050405020304"/>
                <a:cs typeface="Times New Roman" panose="02020603050405020304"/>
              </a:rPr>
              <a:t>l </a:t>
            </a:r>
            <a:r>
              <a:rPr sz="2600" b="1" spc="-5" dirty="0">
                <a:latin typeface="Symbol" panose="05050102010706020507"/>
                <a:cs typeface="Symbol" panose="05050102010706020507"/>
              </a:rPr>
              <a:t></a:t>
            </a:r>
            <a:r>
              <a:rPr sz="2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i="1" spc="-5" dirty="0">
                <a:latin typeface="Times New Roman" panose="02020603050405020304"/>
                <a:cs typeface="Times New Roman" panose="02020603050405020304"/>
              </a:rPr>
              <a:t>r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do  </a:t>
            </a:r>
            <a:endParaRPr lang="en-US" sz="2600" b="1" spc="-10" dirty="0">
              <a:latin typeface="Times New Roman" panose="02020603050405020304"/>
              <a:cs typeface="Times New Roman" panose="02020603050405020304"/>
            </a:endParaRPr>
          </a:p>
          <a:p>
            <a:pPr marL="13970" marR="2872740">
              <a:lnSpc>
                <a:spcPts val="3760"/>
              </a:lnSpc>
              <a:tabLst>
                <a:tab pos="361950" algn="l"/>
                <a:tab pos="641350" algn="l"/>
                <a:tab pos="1137920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3.		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m </a:t>
            </a:r>
            <a:r>
              <a:rPr sz="2600" b="1" spc="-5" dirty="0">
                <a:latin typeface="Symbol" panose="05050102010706020507"/>
                <a:cs typeface="Symbol" panose="05050102010706020507"/>
              </a:rPr>
              <a:t></a:t>
            </a:r>
            <a:r>
              <a:rPr sz="2600" b="1" spc="-7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Symbol" panose="05050102010706020507"/>
                <a:cs typeface="Symbol" panose="05050102010706020507"/>
              </a:rPr>
              <a:t>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)/2</a:t>
            </a:r>
            <a:r>
              <a:rPr sz="2600" b="1" dirty="0">
                <a:latin typeface="Symbol" panose="05050102010706020507"/>
                <a:cs typeface="Symbol" panose="05050102010706020507"/>
              </a:rPr>
              <a:t></a:t>
            </a:r>
            <a:endParaRPr sz="2600" dirty="0">
              <a:latin typeface="Symbol" panose="05050102010706020507"/>
              <a:cs typeface="Symbol" panose="05050102010706020507"/>
            </a:endParaRPr>
          </a:p>
          <a:p>
            <a:pPr marL="641985" indent="-628650">
              <a:lnSpc>
                <a:spcPts val="3760"/>
              </a:lnSpc>
              <a:buAutoNum type="arabicPeriod" startAt="4"/>
              <a:tabLst>
                <a:tab pos="641350" algn="l"/>
                <a:tab pos="641985" algn="l"/>
                <a:tab pos="951865" algn="l"/>
                <a:tab pos="1964690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if	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]=</a:t>
            </a:r>
            <a:r>
              <a:rPr sz="2600" b="1" i="1" dirty="0" smtClean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sz="2600" b="1" i="1" dirty="0" smtClean="0">
                <a:latin typeface="Times New Roman" panose="02020603050405020304"/>
                <a:cs typeface="Times New Roman" panose="02020603050405020304"/>
              </a:rPr>
              <a:t>       </a:t>
            </a:r>
            <a:r>
              <a:rPr sz="2600" b="1" spc="-5" dirty="0" smtClean="0">
                <a:latin typeface="Times New Roman" panose="02020603050405020304"/>
                <a:cs typeface="Times New Roman" panose="02020603050405020304"/>
              </a:rPr>
              <a:t>then</a:t>
            </a:r>
            <a:r>
              <a:rPr sz="2600" b="1" spc="-14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600" b="1" spc="-14" dirty="0" smtClean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2600" b="1" spc="-10" dirty="0" smtClean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600" b="1" spc="-14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600" b="1" spc="-14" dirty="0" smtClean="0">
                <a:latin typeface="Times New Roman" panose="02020603050405020304"/>
                <a:cs typeface="Times New Roman" panose="02020603050405020304"/>
              </a:rPr>
              <a:t>   </a:t>
            </a:r>
            <a:r>
              <a:rPr sz="2600" b="1" i="1" dirty="0" smtClean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00" b="1" i="1" spc="-28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600" b="1" i="1" spc="-28" dirty="0" smtClean="0">
                <a:latin typeface="Times New Roman" panose="02020603050405020304"/>
                <a:cs typeface="Times New Roman" panose="02020603050405020304"/>
              </a:rPr>
              <a:t>    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//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600" b="1" dirty="0">
                <a:latin typeface="宋体" panose="02010600030101010101" pitchFamily="2" charset="-122"/>
                <a:cs typeface="宋体" panose="02010600030101010101" pitchFamily="2" charset="-122"/>
              </a:rPr>
              <a:t>中位元素</a:t>
            </a:r>
            <a:endParaRPr sz="26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41985" indent="-628650">
              <a:lnSpc>
                <a:spcPts val="3760"/>
              </a:lnSpc>
              <a:buAutoNum type="arabicPeriod" startAt="4"/>
              <a:tabLst>
                <a:tab pos="641350" algn="l"/>
                <a:tab pos="641985" algn="l"/>
                <a:tab pos="1214755" algn="l"/>
                <a:tab pos="1525270" algn="l"/>
                <a:tab pos="2677795" algn="l"/>
                <a:tab pos="3345815" algn="l"/>
              </a:tabLst>
            </a:pPr>
            <a:r>
              <a:rPr sz="2600" b="1" dirty="0" smtClean="0">
                <a:latin typeface="Times New Roman" panose="02020603050405020304"/>
                <a:cs typeface="Times New Roman" panose="02020603050405020304"/>
              </a:rPr>
              <a:t>else</a:t>
            </a:r>
            <a:r>
              <a:rPr lang="en-US" sz="2600" b="1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00" b="1" dirty="0" smtClean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lang="en-US" sz="2600" b="1" dirty="0" smtClean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600" b="1" i="1" dirty="0" smtClean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00" b="1" dirty="0" smtClean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600" b="1" i="1" dirty="0" smtClean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]</a:t>
            </a:r>
            <a:r>
              <a:rPr sz="2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600" b="1" spc="-5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x	</a:t>
            </a:r>
            <a:r>
              <a:rPr sz="2600" b="1" spc="-5" dirty="0" smtClean="0">
                <a:latin typeface="Times New Roman" panose="02020603050405020304"/>
                <a:cs typeface="Times New Roman" panose="02020603050405020304"/>
              </a:rPr>
              <a:t>then</a:t>
            </a:r>
            <a:r>
              <a:rPr lang="en-US" sz="2600" b="1" spc="-5" dirty="0" smtClean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lang="en-US" sz="2600" b="1" spc="-5" dirty="0" smtClean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600" b="1" i="1" spc="-5" dirty="0" smtClean="0">
                <a:latin typeface="Times New Roman" panose="02020603050405020304"/>
                <a:cs typeface="Times New Roman" panose="02020603050405020304"/>
              </a:rPr>
              <a:t>r </a:t>
            </a:r>
            <a:r>
              <a:rPr sz="2600" b="1" spc="-5" dirty="0">
                <a:latin typeface="Symbol" panose="05050102010706020507"/>
                <a:cs typeface="Symbol" panose="05050102010706020507"/>
              </a:rPr>
              <a:t></a:t>
            </a:r>
            <a:r>
              <a:rPr sz="2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1201420" indent="-1188085">
              <a:lnSpc>
                <a:spcPts val="3760"/>
              </a:lnSpc>
              <a:buAutoNum type="arabicPeriod" startAt="4"/>
              <a:tabLst>
                <a:tab pos="1200785" algn="l"/>
                <a:tab pos="1201420" algn="l"/>
                <a:tab pos="1774190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else	</a:t>
            </a:r>
            <a:r>
              <a:rPr sz="2600" b="1" i="1" dirty="0">
                <a:latin typeface="Times New Roman" panose="02020603050405020304"/>
                <a:cs typeface="Times New Roman" panose="02020603050405020304"/>
              </a:rPr>
              <a:t>l </a:t>
            </a:r>
            <a:r>
              <a:rPr sz="2600" b="1" dirty="0">
                <a:latin typeface="Symbol" panose="05050102010706020507"/>
                <a:cs typeface="Symbol" panose="05050102010706020507"/>
              </a:rPr>
              <a:t>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i="1" spc="-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00" b="1" spc="-5" dirty="0">
                <a:latin typeface="Times New Roman" panose="02020603050405020304"/>
                <a:cs typeface="Times New Roman" panose="02020603050405020304"/>
              </a:rPr>
              <a:t>+1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62585" indent="-349250">
              <a:lnSpc>
                <a:spcPts val="3760"/>
              </a:lnSpc>
              <a:buAutoNum type="arabicPeriod" startAt="4"/>
              <a:tabLst>
                <a:tab pos="361950" algn="l"/>
                <a:tab pos="362585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2"/>
          <p:cNvSpPr txBox="1"/>
          <p:nvPr/>
        </p:nvSpPr>
        <p:spPr>
          <a:xfrm>
            <a:off x="435794" y="68655"/>
            <a:ext cx="8323445" cy="620574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>
            <a:lvl1pPr algn="l" defTabSz="83883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" algn="ctr">
              <a:spcBef>
                <a:spcPts val="85"/>
              </a:spcBef>
            </a:pPr>
            <a:r>
              <a:rPr lang="zh-CN" altLang="en-US" sz="4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二分检索算法</a:t>
            </a:r>
            <a:endParaRPr lang="zh-CN" altLang="en-US"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54063" y="58738"/>
            <a:ext cx="8389937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二分检索运行实例</a:t>
            </a:r>
            <a:endParaRPr sz="4400" b="1" spc="-14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85952" y="1533721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43151" y="1533721"/>
            <a:ext cx="451486" cy="480907"/>
          </a:xfrm>
          <a:custGeom>
            <a:avLst/>
            <a:gdLst/>
            <a:ahLst/>
            <a:cxnLst/>
            <a:rect l="l" t="t" r="r" b="b"/>
            <a:pathLst>
              <a:path w="601980" h="360680">
                <a:moveTo>
                  <a:pt x="0" y="360362"/>
                </a:moveTo>
                <a:lnTo>
                  <a:pt x="601726" y="360362"/>
                </a:lnTo>
                <a:lnTo>
                  <a:pt x="601726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94447" y="1533638"/>
            <a:ext cx="459581" cy="478368"/>
          </a:xfrm>
          <a:custGeom>
            <a:avLst/>
            <a:gdLst/>
            <a:ahLst/>
            <a:cxnLst/>
            <a:rect l="l" t="t" r="r" b="b"/>
            <a:pathLst>
              <a:path w="612775" h="358775">
                <a:moveTo>
                  <a:pt x="0" y="358775"/>
                </a:moveTo>
                <a:lnTo>
                  <a:pt x="612775" y="358775"/>
                </a:lnTo>
                <a:lnTo>
                  <a:pt x="612775" y="0"/>
                </a:lnTo>
                <a:lnTo>
                  <a:pt x="0" y="0"/>
                </a:lnTo>
                <a:lnTo>
                  <a:pt x="0" y="358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14752" y="1533638"/>
            <a:ext cx="459581" cy="478368"/>
          </a:xfrm>
          <a:custGeom>
            <a:avLst/>
            <a:gdLst/>
            <a:ahLst/>
            <a:cxnLst/>
            <a:rect l="l" t="t" r="r" b="b"/>
            <a:pathLst>
              <a:path w="612775" h="358775">
                <a:moveTo>
                  <a:pt x="0" y="358775"/>
                </a:moveTo>
                <a:lnTo>
                  <a:pt x="612775" y="358775"/>
                </a:lnTo>
                <a:lnTo>
                  <a:pt x="612775" y="0"/>
                </a:lnTo>
                <a:lnTo>
                  <a:pt x="0" y="0"/>
                </a:lnTo>
                <a:lnTo>
                  <a:pt x="0" y="3587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9226" y="1330435"/>
          <a:ext cx="3206112" cy="12149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628"/>
                <a:gridCol w="457676"/>
                <a:gridCol w="454819"/>
                <a:gridCol w="457676"/>
                <a:gridCol w="460533"/>
                <a:gridCol w="457676"/>
                <a:gridCol w="459104"/>
              </a:tblGrid>
              <a:tr h="203284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4804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25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25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25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38100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4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407" marB="0">
                    <a:lnL w="38100">
                      <a:solidFill>
                        <a:srgbClr val="938953"/>
                      </a:solidFill>
                      <a:prstDash val="solid"/>
                    </a:lnL>
                    <a:lnR w="38100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539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253" marB="0">
                    <a:lnL w="38100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6407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725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</a:tr>
              <a:tr h="53119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3.5</a:t>
                      </a:r>
                      <a:endParaRPr sz="24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62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1885952" y="3091589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43152" y="3091589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00352" y="3091589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57552" y="3091589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14752" y="3091589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80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419227" y="3074656"/>
          <a:ext cx="3205635" cy="97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628"/>
                <a:gridCol w="447199"/>
                <a:gridCol w="467676"/>
                <a:gridCol w="457676"/>
                <a:gridCol w="457676"/>
                <a:gridCol w="457676"/>
                <a:gridCol w="459104"/>
              </a:tblGrid>
              <a:tr h="4804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</a:tr>
              <a:tr h="4973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3.5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3179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428751" y="2854521"/>
            <a:ext cx="1371600" cy="154940"/>
          </a:xfrm>
          <a:custGeom>
            <a:avLst/>
            <a:gdLst/>
            <a:ahLst/>
            <a:cxnLst/>
            <a:rect l="l" t="t" r="r" b="b"/>
            <a:pathLst>
              <a:path w="1828800" h="116205">
                <a:moveTo>
                  <a:pt x="0" y="115887"/>
                </a:moveTo>
                <a:lnTo>
                  <a:pt x="1828800" y="115887"/>
                </a:lnTo>
                <a:lnTo>
                  <a:pt x="1828800" y="0"/>
                </a:lnTo>
                <a:lnTo>
                  <a:pt x="0" y="0"/>
                </a:lnTo>
                <a:lnTo>
                  <a:pt x="0" y="115887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85952" y="4507554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43152" y="4507554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00352" y="4507554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57552" y="4507554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14752" y="4507554"/>
            <a:ext cx="459581" cy="480907"/>
          </a:xfrm>
          <a:custGeom>
            <a:avLst/>
            <a:gdLst/>
            <a:ahLst/>
            <a:cxnLst/>
            <a:rect l="l" t="t" r="r" b="b"/>
            <a:pathLst>
              <a:path w="612775" h="360679">
                <a:moveTo>
                  <a:pt x="0" y="360362"/>
                </a:moveTo>
                <a:lnTo>
                  <a:pt x="612775" y="360362"/>
                </a:lnTo>
                <a:lnTo>
                  <a:pt x="612775" y="0"/>
                </a:lnTo>
                <a:lnTo>
                  <a:pt x="0" y="0"/>
                </a:lnTo>
                <a:lnTo>
                  <a:pt x="0" y="3603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419226" y="4490621"/>
          <a:ext cx="3208016" cy="984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628"/>
                <a:gridCol w="457676"/>
                <a:gridCol w="456723"/>
                <a:gridCol w="459104"/>
                <a:gridCol w="458152"/>
                <a:gridCol w="458152"/>
                <a:gridCol w="459581"/>
              </a:tblGrid>
              <a:tr h="4804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7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</a:tr>
              <a:tr h="5037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Calibri" panose="020F0502020204030204"/>
                          <a:cs typeface="Calibri" panose="020F0502020204030204"/>
                        </a:rPr>
                        <a:t>3.5</a:t>
                      </a:r>
                      <a:endParaRPr sz="2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4995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D44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T w="28575">
                      <a:solidFill>
                        <a:srgbClr val="938953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2343151" y="4276918"/>
            <a:ext cx="457200" cy="154940"/>
          </a:xfrm>
          <a:custGeom>
            <a:avLst/>
            <a:gdLst/>
            <a:ahLst/>
            <a:cxnLst/>
            <a:rect l="l" t="t" r="r" b="b"/>
            <a:pathLst>
              <a:path w="609600" h="116204">
                <a:moveTo>
                  <a:pt x="0" y="115888"/>
                </a:moveTo>
                <a:lnTo>
                  <a:pt x="609600" y="115888"/>
                </a:lnTo>
                <a:lnTo>
                  <a:pt x="609600" y="0"/>
                </a:lnTo>
                <a:lnTo>
                  <a:pt x="0" y="0"/>
                </a:lnTo>
                <a:lnTo>
                  <a:pt x="0" y="115888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83244" y="4580025"/>
            <a:ext cx="2927037" cy="34518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81280">
              <a:lnSpc>
                <a:spcPts val="2620"/>
              </a:lnSpc>
            </a:pP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b="1" spc="-10" dirty="0">
                <a:latin typeface="Arial" panose="020B0604020202020204"/>
                <a:cs typeface="Arial" panose="020B0604020202020204"/>
              </a:rPr>
              <a:t>3</a:t>
            </a:r>
            <a:r>
              <a:rPr lang="zh-CN" altLang="en-US" sz="24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次 </a:t>
            </a:r>
            <a:r>
              <a:rPr lang="en-US" altLang="zh-CN" sz="2400" b="1" dirty="0" smtClean="0">
                <a:latin typeface="Times New Roman" panose="02020603050405020304"/>
                <a:cs typeface="Times New Roman" panose="02020603050405020304"/>
              </a:rPr>
              <a:t>3.5 </a:t>
            </a:r>
            <a:r>
              <a:rPr lang="en-US" altLang="zh-CN" sz="2400" b="1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zh-CN" altLang="en-US" sz="2400" b="1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400" b="1" dirty="0">
                <a:latin typeface="Times New Roman" panose="02020603050405020304"/>
                <a:cs typeface="Times New Roman" panose="02020603050405020304"/>
              </a:rPr>
              <a:t>3</a:t>
            </a:r>
            <a:endParaRPr lang="zh-CN" altLang="en-US"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86090" y="1538090"/>
            <a:ext cx="2862828" cy="418132"/>
          </a:xfrm>
          <a:prstGeom prst="rect">
            <a:avLst/>
          </a:prstGeom>
        </p:spPr>
        <p:txBody>
          <a:bodyPr wrap="square" lIns="83887" tIns="41944" rIns="83887" bIns="41944">
            <a:spAutoFit/>
          </a:bodyPr>
          <a:lstStyle/>
          <a:p>
            <a:pPr marL="11430">
              <a:lnSpc>
                <a:spcPts val="2620"/>
              </a:lnSpc>
              <a:spcBef>
                <a:spcPts val="90"/>
              </a:spcBef>
            </a:pP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b="1" spc="-10" dirty="0">
                <a:latin typeface="Arial" panose="020B0604020202020204"/>
                <a:cs typeface="Arial" panose="020B0604020202020204"/>
              </a:rPr>
              <a:t>1</a:t>
            </a:r>
            <a:r>
              <a:rPr lang="zh-CN" altLang="en-US" sz="24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次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Times New Roman" panose="02020603050405020304"/>
                <a:cs typeface="Times New Roman" panose="02020603050405020304"/>
              </a:rPr>
              <a:t>3.5 </a:t>
            </a:r>
            <a:r>
              <a:rPr lang="en-US" altLang="zh-CN" sz="2400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zh-CN" altLang="en-US" sz="2400" b="1" spc="-10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400" b="1" dirty="0">
                <a:latin typeface="Times New Roman" panose="02020603050405020304"/>
                <a:cs typeface="Times New Roman" panose="02020603050405020304"/>
              </a:rPr>
              <a:t>4</a:t>
            </a:r>
            <a:endParaRPr lang="zh-CN" altLang="en-US"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247988" y="3086050"/>
            <a:ext cx="3223659" cy="418132"/>
          </a:xfrm>
          <a:prstGeom prst="rect">
            <a:avLst/>
          </a:prstGeom>
        </p:spPr>
        <p:txBody>
          <a:bodyPr wrap="square" lIns="83887" tIns="41944" rIns="83887" bIns="41944">
            <a:spAutoFit/>
          </a:bodyPr>
          <a:lstStyle/>
          <a:p>
            <a:pPr marL="81280">
              <a:lnSpc>
                <a:spcPts val="2620"/>
              </a:lnSpc>
            </a:pP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2400" b="1" spc="-10" dirty="0">
                <a:latin typeface="Arial" panose="020B0604020202020204"/>
                <a:cs typeface="Arial" panose="020B0604020202020204"/>
              </a:rPr>
              <a:t>2</a:t>
            </a:r>
            <a:r>
              <a:rPr lang="zh-CN" altLang="en-US" sz="24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次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 smtClean="0">
                <a:latin typeface="Times New Roman" panose="02020603050405020304"/>
                <a:cs typeface="Times New Roman" panose="02020603050405020304"/>
              </a:rPr>
              <a:t>3.5 </a:t>
            </a:r>
            <a:r>
              <a:rPr lang="en-US" altLang="zh-CN" sz="2400" b="1" dirty="0"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zh-CN" altLang="en-US" sz="2400" b="1" spc="-10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400" b="1" dirty="0">
                <a:latin typeface="Times New Roman" panose="02020603050405020304"/>
                <a:cs typeface="Times New Roman" panose="02020603050405020304"/>
              </a:rPr>
              <a:t>2</a:t>
            </a:r>
            <a:endParaRPr lang="zh-CN" altLang="en-US"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71525" y="114300"/>
            <a:ext cx="8372475" cy="620713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44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400" b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+1</a:t>
            </a:r>
            <a:r>
              <a:rPr sz="4400" b="1" spc="-10" dirty="0">
                <a:solidFill>
                  <a:srgbClr val="C00000"/>
                </a:solidFill>
              </a:rPr>
              <a:t>个输入</a:t>
            </a:r>
            <a:endParaRPr sz="4400" b="1" spc="-10" dirty="0">
              <a:solidFill>
                <a:srgbClr val="C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680" y="1069784"/>
            <a:ext cx="6204630" cy="443241"/>
          </a:xfrm>
          <a:prstGeom prst="rect">
            <a:avLst/>
          </a:prstGeom>
        </p:spPr>
        <p:txBody>
          <a:bodyPr vert="horz" wrap="square" lIns="0" tIns="12234" rIns="0" bIns="0" rtlCol="0">
            <a:spAutoFit/>
          </a:bodyPr>
          <a:lstStyle/>
          <a:p>
            <a:pPr marL="23495">
              <a:spcBef>
                <a:spcPts val="95"/>
              </a:spcBef>
            </a:pP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假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sz="2800" b="1" spc="-689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6" baseline="26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spc="5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，输入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800" b="1" spc="-683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i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种：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81595" y="1618753"/>
            <a:ext cx="2171701" cy="4267200"/>
          </a:xfrm>
          <a:custGeom>
            <a:avLst/>
            <a:gdLst/>
            <a:ahLst/>
            <a:cxnLst/>
            <a:rect l="l" t="t" r="r" b="b"/>
            <a:pathLst>
              <a:path w="2895600" h="3200400">
                <a:moveTo>
                  <a:pt x="0" y="482600"/>
                </a:moveTo>
                <a:lnTo>
                  <a:pt x="2208" y="436116"/>
                </a:lnTo>
                <a:lnTo>
                  <a:pt x="8700" y="390883"/>
                </a:lnTo>
                <a:lnTo>
                  <a:pt x="19273" y="347104"/>
                </a:lnTo>
                <a:lnTo>
                  <a:pt x="33724" y="304981"/>
                </a:lnTo>
                <a:lnTo>
                  <a:pt x="51852" y="264716"/>
                </a:lnTo>
                <a:lnTo>
                  <a:pt x="73454" y="226510"/>
                </a:lnTo>
                <a:lnTo>
                  <a:pt x="98329" y="190567"/>
                </a:lnTo>
                <a:lnTo>
                  <a:pt x="126274" y="157087"/>
                </a:lnTo>
                <a:lnTo>
                  <a:pt x="157087" y="126274"/>
                </a:lnTo>
                <a:lnTo>
                  <a:pt x="190567" y="98329"/>
                </a:lnTo>
                <a:lnTo>
                  <a:pt x="226510" y="73454"/>
                </a:lnTo>
                <a:lnTo>
                  <a:pt x="264716" y="51852"/>
                </a:lnTo>
                <a:lnTo>
                  <a:pt x="304981" y="33724"/>
                </a:lnTo>
                <a:lnTo>
                  <a:pt x="347104" y="19273"/>
                </a:lnTo>
                <a:lnTo>
                  <a:pt x="390883" y="8700"/>
                </a:lnTo>
                <a:lnTo>
                  <a:pt x="436116" y="2208"/>
                </a:lnTo>
                <a:lnTo>
                  <a:pt x="482600" y="0"/>
                </a:lnTo>
                <a:lnTo>
                  <a:pt x="2413000" y="0"/>
                </a:lnTo>
                <a:lnTo>
                  <a:pt x="2459483" y="2208"/>
                </a:lnTo>
                <a:lnTo>
                  <a:pt x="2504716" y="8700"/>
                </a:lnTo>
                <a:lnTo>
                  <a:pt x="2548495" y="19273"/>
                </a:lnTo>
                <a:lnTo>
                  <a:pt x="2590618" y="33724"/>
                </a:lnTo>
                <a:lnTo>
                  <a:pt x="2630883" y="51852"/>
                </a:lnTo>
                <a:lnTo>
                  <a:pt x="2669089" y="73454"/>
                </a:lnTo>
                <a:lnTo>
                  <a:pt x="2705032" y="98329"/>
                </a:lnTo>
                <a:lnTo>
                  <a:pt x="2738512" y="126274"/>
                </a:lnTo>
                <a:lnTo>
                  <a:pt x="2769325" y="157087"/>
                </a:lnTo>
                <a:lnTo>
                  <a:pt x="2797270" y="190567"/>
                </a:lnTo>
                <a:lnTo>
                  <a:pt x="2822145" y="226510"/>
                </a:lnTo>
                <a:lnTo>
                  <a:pt x="2843747" y="264716"/>
                </a:lnTo>
                <a:lnTo>
                  <a:pt x="2861875" y="304981"/>
                </a:lnTo>
                <a:lnTo>
                  <a:pt x="2876326" y="347104"/>
                </a:lnTo>
                <a:lnTo>
                  <a:pt x="2886899" y="390883"/>
                </a:lnTo>
                <a:lnTo>
                  <a:pt x="2893391" y="436116"/>
                </a:lnTo>
                <a:lnTo>
                  <a:pt x="2895600" y="482600"/>
                </a:lnTo>
                <a:lnTo>
                  <a:pt x="2895600" y="2717787"/>
                </a:lnTo>
                <a:lnTo>
                  <a:pt x="2893391" y="2764265"/>
                </a:lnTo>
                <a:lnTo>
                  <a:pt x="2886899" y="2809493"/>
                </a:lnTo>
                <a:lnTo>
                  <a:pt x="2876326" y="2853269"/>
                </a:lnTo>
                <a:lnTo>
                  <a:pt x="2861875" y="2895391"/>
                </a:lnTo>
                <a:lnTo>
                  <a:pt x="2843747" y="2935656"/>
                </a:lnTo>
                <a:lnTo>
                  <a:pt x="2822145" y="2973863"/>
                </a:lnTo>
                <a:lnTo>
                  <a:pt x="2797270" y="3009808"/>
                </a:lnTo>
                <a:lnTo>
                  <a:pt x="2769325" y="3043290"/>
                </a:lnTo>
                <a:lnTo>
                  <a:pt x="2738512" y="3074106"/>
                </a:lnTo>
                <a:lnTo>
                  <a:pt x="2705032" y="3102054"/>
                </a:lnTo>
                <a:lnTo>
                  <a:pt x="2669089" y="3126932"/>
                </a:lnTo>
                <a:lnTo>
                  <a:pt x="2630883" y="3148538"/>
                </a:lnTo>
                <a:lnTo>
                  <a:pt x="2590618" y="3166669"/>
                </a:lnTo>
                <a:lnTo>
                  <a:pt x="2548495" y="3181122"/>
                </a:lnTo>
                <a:lnTo>
                  <a:pt x="2504716" y="3191697"/>
                </a:lnTo>
                <a:lnTo>
                  <a:pt x="2459483" y="3198190"/>
                </a:lnTo>
                <a:lnTo>
                  <a:pt x="2413000" y="3200400"/>
                </a:lnTo>
                <a:lnTo>
                  <a:pt x="482600" y="3200400"/>
                </a:lnTo>
                <a:lnTo>
                  <a:pt x="436116" y="3198190"/>
                </a:lnTo>
                <a:lnTo>
                  <a:pt x="390883" y="3191697"/>
                </a:lnTo>
                <a:lnTo>
                  <a:pt x="347104" y="3181122"/>
                </a:lnTo>
                <a:lnTo>
                  <a:pt x="304981" y="3166669"/>
                </a:lnTo>
                <a:lnTo>
                  <a:pt x="264716" y="3148538"/>
                </a:lnTo>
                <a:lnTo>
                  <a:pt x="226510" y="3126932"/>
                </a:lnTo>
                <a:lnTo>
                  <a:pt x="190567" y="3102054"/>
                </a:lnTo>
                <a:lnTo>
                  <a:pt x="157087" y="3074106"/>
                </a:lnTo>
                <a:lnTo>
                  <a:pt x="126274" y="3043290"/>
                </a:lnTo>
                <a:lnTo>
                  <a:pt x="98329" y="3009808"/>
                </a:lnTo>
                <a:lnTo>
                  <a:pt x="73454" y="2973863"/>
                </a:lnTo>
                <a:lnTo>
                  <a:pt x="51852" y="2935656"/>
                </a:lnTo>
                <a:lnTo>
                  <a:pt x="33724" y="2895391"/>
                </a:lnTo>
                <a:lnTo>
                  <a:pt x="19273" y="2853269"/>
                </a:lnTo>
                <a:lnTo>
                  <a:pt x="8700" y="2809493"/>
                </a:lnTo>
                <a:lnTo>
                  <a:pt x="2208" y="2764265"/>
                </a:lnTo>
                <a:lnTo>
                  <a:pt x="0" y="2717787"/>
                </a:lnTo>
                <a:lnTo>
                  <a:pt x="0" y="4826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20559" y="1676852"/>
            <a:ext cx="2886452" cy="3025410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80010" marR="200025" indent="419735" algn="ctr">
              <a:lnSpc>
                <a:spcPct val="150000"/>
              </a:lnSpc>
              <a:spcBef>
                <a:spcPts val="90"/>
              </a:spcBef>
            </a:pP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&lt; 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[1]  </a:t>
            </a:r>
            <a:endParaRPr lang="en-US" sz="2400" b="1" spc="-5" dirty="0" smtClean="0">
              <a:latin typeface="Times New Roman" panose="02020603050405020304"/>
              <a:cs typeface="Times New Roman" panose="02020603050405020304"/>
            </a:endParaRPr>
          </a:p>
          <a:p>
            <a:pPr marL="80010" marR="200025" indent="419735" algn="ctr">
              <a:lnSpc>
                <a:spcPct val="150000"/>
              </a:lnSpc>
              <a:spcBef>
                <a:spcPts val="90"/>
              </a:spcBef>
            </a:pPr>
            <a:r>
              <a:rPr sz="2400" b="1" i="1" spc="-5" dirty="0" smtClean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 smtClean="0">
                <a:latin typeface="Times New Roman" panose="02020603050405020304"/>
                <a:cs typeface="Times New Roman" panose="02020603050405020304"/>
              </a:rPr>
              <a:t>[1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]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&lt; 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400" b="1" spc="-7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[2]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638810" algn="ctr">
              <a:lnSpc>
                <a:spcPct val="150000"/>
              </a:lnSpc>
              <a:spcBef>
                <a:spcPts val="550"/>
              </a:spcBef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…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1430" algn="ctr">
              <a:lnSpc>
                <a:spcPct val="150000"/>
              </a:lnSpc>
              <a:spcBef>
                <a:spcPts val="550"/>
              </a:spcBef>
            </a:pP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-1]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&lt; 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400" b="1" spc="-8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]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429260" algn="ctr">
              <a:lnSpc>
                <a:spcPct val="150000"/>
              </a:lnSpc>
              <a:spcBef>
                <a:spcPts val="555"/>
              </a:spcBef>
            </a:pP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] 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400" b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8896" y="5268566"/>
            <a:ext cx="1500334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不在</a:t>
            </a:r>
            <a:r>
              <a:rPr sz="24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34117" y="1618753"/>
            <a:ext cx="1200150" cy="4267200"/>
          </a:xfrm>
          <a:custGeom>
            <a:avLst/>
            <a:gdLst/>
            <a:ahLst/>
            <a:cxnLst/>
            <a:rect l="l" t="t" r="r" b="b"/>
            <a:pathLst>
              <a:path w="1600200" h="32004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1333500" y="0"/>
                </a:lnTo>
                <a:lnTo>
                  <a:pt x="1381446" y="4296"/>
                </a:lnTo>
                <a:lnTo>
                  <a:pt x="1426570" y="16682"/>
                </a:lnTo>
                <a:lnTo>
                  <a:pt x="1468119" y="36406"/>
                </a:lnTo>
                <a:lnTo>
                  <a:pt x="1505341" y="62716"/>
                </a:lnTo>
                <a:lnTo>
                  <a:pt x="1537483" y="94858"/>
                </a:lnTo>
                <a:lnTo>
                  <a:pt x="1563793" y="132079"/>
                </a:lnTo>
                <a:lnTo>
                  <a:pt x="1583517" y="173629"/>
                </a:lnTo>
                <a:lnTo>
                  <a:pt x="1595903" y="218753"/>
                </a:lnTo>
                <a:lnTo>
                  <a:pt x="1600200" y="266700"/>
                </a:lnTo>
                <a:lnTo>
                  <a:pt x="1600200" y="2933700"/>
                </a:lnTo>
                <a:lnTo>
                  <a:pt x="1595903" y="2981639"/>
                </a:lnTo>
                <a:lnTo>
                  <a:pt x="1583517" y="3026760"/>
                </a:lnTo>
                <a:lnTo>
                  <a:pt x="1563793" y="3068308"/>
                </a:lnTo>
                <a:lnTo>
                  <a:pt x="1537483" y="3105531"/>
                </a:lnTo>
                <a:lnTo>
                  <a:pt x="1505341" y="3137675"/>
                </a:lnTo>
                <a:lnTo>
                  <a:pt x="1468119" y="3163987"/>
                </a:lnTo>
                <a:lnTo>
                  <a:pt x="1426570" y="3183714"/>
                </a:lnTo>
                <a:lnTo>
                  <a:pt x="1381446" y="3196103"/>
                </a:lnTo>
                <a:lnTo>
                  <a:pt x="1333500" y="3200400"/>
                </a:lnTo>
                <a:lnTo>
                  <a:pt x="266700" y="3200400"/>
                </a:lnTo>
                <a:lnTo>
                  <a:pt x="218760" y="3196103"/>
                </a:lnTo>
                <a:lnTo>
                  <a:pt x="173639" y="3183714"/>
                </a:lnTo>
                <a:lnTo>
                  <a:pt x="132091" y="3163987"/>
                </a:lnTo>
                <a:lnTo>
                  <a:pt x="94868" y="3137675"/>
                </a:lnTo>
                <a:lnTo>
                  <a:pt x="62724" y="3105531"/>
                </a:lnTo>
                <a:lnTo>
                  <a:pt x="36412" y="3068308"/>
                </a:lnTo>
                <a:lnTo>
                  <a:pt x="16685" y="3026760"/>
                </a:lnTo>
                <a:lnTo>
                  <a:pt x="4296" y="2981639"/>
                </a:lnTo>
                <a:lnTo>
                  <a:pt x="0" y="2933700"/>
                </a:lnTo>
                <a:lnTo>
                  <a:pt x="0" y="2667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83397" y="1572267"/>
            <a:ext cx="1449267" cy="3160119"/>
          </a:xfrm>
          <a:prstGeom prst="rect">
            <a:avLst/>
          </a:prstGeom>
        </p:spPr>
        <p:txBody>
          <a:bodyPr vert="horz" wrap="square" lIns="0" tIns="81557" rIns="0" bIns="0" rtlCol="0">
            <a:spAutoFit/>
          </a:bodyPr>
          <a:lstStyle/>
          <a:p>
            <a:pPr marL="81280">
              <a:lnSpc>
                <a:spcPct val="150000"/>
              </a:lnSpc>
              <a:spcBef>
                <a:spcPts val="640"/>
              </a:spcBef>
            </a:pP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i="1" spc="-7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[1]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81280">
              <a:lnSpc>
                <a:spcPct val="150000"/>
              </a:lnSpc>
              <a:spcBef>
                <a:spcPts val="550"/>
              </a:spcBef>
            </a:pP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i="1" spc="-7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=T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[2]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221615">
              <a:lnSpc>
                <a:spcPct val="150000"/>
              </a:lnSpc>
              <a:spcBef>
                <a:spcPts val="550"/>
              </a:spcBef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…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1430">
              <a:lnSpc>
                <a:spcPct val="150000"/>
              </a:lnSpc>
              <a:spcBef>
                <a:spcPts val="555"/>
              </a:spcBef>
            </a:pP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x=T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n-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1]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1430">
              <a:lnSpc>
                <a:spcPct val="150000"/>
              </a:lnSpc>
              <a:spcBef>
                <a:spcPts val="550"/>
              </a:spcBef>
            </a:pPr>
            <a:r>
              <a:rPr sz="2400" b="1" i="1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i="1" spc="-2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400"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]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8210" y="5286649"/>
            <a:ext cx="1200150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b="1" i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sz="2400" b="1" i="1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b="1" spc="-1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87785" y="1229176"/>
          <a:ext cx="4124674" cy="383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0832"/>
                <a:gridCol w="285039"/>
                <a:gridCol w="2028803"/>
              </a:tblGrid>
              <a:tr h="3831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585858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1327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585858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87789" y="2302574"/>
          <a:ext cx="4124675" cy="40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4213"/>
                <a:gridCol w="285039"/>
                <a:gridCol w="821582"/>
                <a:gridCol w="285039"/>
                <a:gridCol w="845055"/>
                <a:gridCol w="285039"/>
                <a:gridCol w="898708"/>
              </a:tblGrid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585858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503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5033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53975">
                      <a:solidFill>
                        <a:srgbClr val="938953"/>
                      </a:solidFill>
                      <a:prstDash val="solid"/>
                    </a:lnT>
                    <a:lnB w="28575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585858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566224" y="3489626"/>
            <a:ext cx="219700" cy="431800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0" y="323850"/>
                </a:moveTo>
                <a:lnTo>
                  <a:pt x="215900" y="323850"/>
                </a:lnTo>
                <a:lnTo>
                  <a:pt x="21590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23524" y="3489626"/>
            <a:ext cx="219700" cy="431800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0" y="323850"/>
                </a:moveTo>
                <a:lnTo>
                  <a:pt x="215900" y="323850"/>
                </a:lnTo>
                <a:lnTo>
                  <a:pt x="21590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4874" y="3489626"/>
            <a:ext cx="219700" cy="431800"/>
          </a:xfrm>
          <a:custGeom>
            <a:avLst/>
            <a:gdLst/>
            <a:ahLst/>
            <a:cxnLst/>
            <a:rect l="l" t="t" r="r" b="b"/>
            <a:pathLst>
              <a:path w="215900" h="323850">
                <a:moveTo>
                  <a:pt x="0" y="323850"/>
                </a:moveTo>
                <a:lnTo>
                  <a:pt x="215900" y="323850"/>
                </a:lnTo>
                <a:lnTo>
                  <a:pt x="215900" y="0"/>
                </a:lnTo>
                <a:lnTo>
                  <a:pt x="0" y="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87789" y="3450595"/>
          <a:ext cx="4124679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203"/>
                <a:gridCol w="285039"/>
                <a:gridCol w="217970"/>
                <a:gridCol w="285039"/>
                <a:gridCol w="318574"/>
                <a:gridCol w="285039"/>
                <a:gridCol w="217970"/>
                <a:gridCol w="285039"/>
                <a:gridCol w="241444"/>
                <a:gridCol w="285039"/>
                <a:gridCol w="295097"/>
                <a:gridCol w="285039"/>
                <a:gridCol w="318574"/>
                <a:gridCol w="285039"/>
                <a:gridCol w="318574"/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585858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0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112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938953"/>
                      </a:solidFill>
                      <a:prstDash val="solid"/>
                    </a:lnR>
                    <a:lnT w="38100">
                      <a:solidFill>
                        <a:srgbClr val="938953"/>
                      </a:solidFill>
                      <a:prstDash val="solid"/>
                    </a:lnT>
                    <a:lnB w="38100">
                      <a:solidFill>
                        <a:srgbClr val="938953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938953"/>
                      </a:solidFill>
                      <a:prstDash val="solid"/>
                    </a:lnL>
                    <a:lnR w="28575">
                      <a:solidFill>
                        <a:srgbClr val="585858"/>
                      </a:solidFill>
                      <a:prstDash val="solid"/>
                    </a:lnR>
                    <a:lnT w="28575">
                      <a:solidFill>
                        <a:srgbClr val="585858"/>
                      </a:solidFill>
                      <a:prstDash val="solid"/>
                    </a:lnT>
                    <a:lnB w="28575">
                      <a:solidFill>
                        <a:srgbClr val="58585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754063" y="92075"/>
            <a:ext cx="8389937" cy="620713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0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比较</a:t>
            </a:r>
            <a:r>
              <a:rPr sz="4400" b="1" i="1" spc="-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t</a:t>
            </a:r>
            <a:r>
              <a:rPr sz="4400" b="1" spc="-1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次的输入个数</a:t>
            </a:r>
            <a:endParaRPr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3835" y="1193801"/>
            <a:ext cx="2018669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>
              <a:spcBef>
                <a:spcPts val="90"/>
              </a:spcBef>
            </a:pPr>
            <a:r>
              <a:rPr sz="24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比较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次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400" b="1" spc="-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endParaRPr lang="en-US" sz="2400" b="1" spc="-1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5991290" y="2271374"/>
            <a:ext cx="2170420" cy="38109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>
            <a:defPPr>
              <a:defRPr lang="zh-CN"/>
            </a:defPPr>
            <a:lvl1pPr>
              <a:spcBef>
                <a:spcPts val="90"/>
              </a:spcBef>
              <a:defRPr sz="2400" b="1" spc="-5"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r>
              <a:rPr dirty="0"/>
              <a:t>比较2次:2个</a:t>
            </a:r>
            <a:endParaRPr lang="en-US" dirty="0"/>
          </a:p>
        </p:txBody>
      </p:sp>
      <p:sp>
        <p:nvSpPr>
          <p:cNvPr id="11" name="object 9"/>
          <p:cNvSpPr txBox="1"/>
          <p:nvPr/>
        </p:nvSpPr>
        <p:spPr>
          <a:xfrm>
            <a:off x="5990918" y="3233934"/>
            <a:ext cx="2170793" cy="70612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R="31115">
              <a:lnSpc>
                <a:spcPct val="188000"/>
              </a:lnSpc>
              <a:spcBef>
                <a:spcPts val="90"/>
              </a:spcBef>
            </a:pPr>
            <a:r>
              <a:rPr sz="24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比较3次:4个</a:t>
            </a:r>
            <a:endParaRPr sz="2400" b="1" spc="-5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510731" y="4223213"/>
            <a:ext cx="8130710" cy="1442285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>
              <a:spcBef>
                <a:spcPts val="40"/>
              </a:spcBef>
            </a:pP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R="74295">
              <a:lnSpc>
                <a:spcPct val="116000"/>
              </a:lnSpc>
              <a:tabLst>
                <a:tab pos="2499360" algn="l"/>
              </a:tabLst>
            </a:pP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i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=1,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2,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…,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8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比</a:t>
            </a:r>
            <a:r>
              <a:rPr sz="2800" b="1" spc="-10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较</a:t>
            </a:r>
            <a:r>
              <a:rPr sz="2800" b="1" spc="-628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次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800" b="1" spc="-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6" baseline="260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6" baseline="26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14" baseline="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latin typeface="宋体" panose="02010600030101010101" pitchFamily="2" charset="-122"/>
                <a:cs typeface="宋体" panose="02010600030101010101" pitchFamily="2" charset="-122"/>
              </a:rPr>
              <a:t>个 </a:t>
            </a:r>
            <a:endParaRPr lang="en-US" sz="2800" b="1" spc="-1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74295">
              <a:lnSpc>
                <a:spcPct val="116000"/>
              </a:lnSpc>
              <a:tabLst>
                <a:tab pos="2499360" algn="l"/>
              </a:tabLst>
            </a:pPr>
            <a:r>
              <a:rPr sz="28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比</a:t>
            </a:r>
            <a:r>
              <a:rPr sz="2800" b="1" spc="-10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较</a:t>
            </a:r>
            <a:r>
              <a:rPr sz="2800" b="1" spc="-619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次的输入</a:t>
            </a:r>
            <a:r>
              <a:rPr sz="2800" b="1" spc="-10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800" b="1" spc="-61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14" baseline="26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spc="14" baseline="26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800" b="1" spc="-6" baseline="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510731" y="5766551"/>
            <a:ext cx="8121560" cy="34518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>
              <a:lnSpc>
                <a:spcPts val="2550"/>
              </a:lnSpc>
            </a:pPr>
            <a:r>
              <a:rPr sz="2800" b="1" dirty="0" err="1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总次数</a:t>
            </a:r>
            <a:r>
              <a:rPr sz="2800" b="1" dirty="0" err="1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：对每个输入乘以次数并求和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>
            <a:spLocks noGrp="1"/>
          </p:cNvSpPr>
          <p:nvPr>
            <p:ph type="title" idx="4294967295"/>
          </p:nvPr>
        </p:nvSpPr>
        <p:spPr>
          <a:xfrm>
            <a:off x="792163" y="80963"/>
            <a:ext cx="8351837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二分检索平均时间复杂度</a:t>
            </a:r>
            <a:endParaRPr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5"/>
              <p:cNvSpPr txBox="1"/>
              <p:nvPr/>
            </p:nvSpPr>
            <p:spPr>
              <a:xfrm>
                <a:off x="554754" y="1144864"/>
                <a:ext cx="7506680" cy="450346"/>
              </a:xfrm>
              <a:prstGeom prst="rect">
                <a:avLst/>
              </a:prstGeom>
            </p:spPr>
            <p:txBody>
              <a:bodyPr vert="horz" wrap="square" lIns="0" tIns="11651" rIns="0" bIns="0" rtlCol="0">
                <a:spAutoFit/>
              </a:bodyPr>
              <a:lstStyle/>
              <a:p>
                <a:pPr marL="23495">
                  <a:spcBef>
                    <a:spcPts val="9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假</a:t>
                </a:r>
                <a:r>
                  <a:rPr lang="zh-CN" altLang="en-US" sz="2800" b="1" spc="-1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zh-CN" sz="2800" i="1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ar-AE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zh-CN" altLang="ar-AE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各种输入概率相等</a:t>
                </a:r>
                <a:endParaRPr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54" y="1144864"/>
                <a:ext cx="7506680" cy="450346"/>
              </a:xfrm>
              <a:prstGeom prst="rect">
                <a:avLst/>
              </a:prstGeom>
              <a:blipFill rotWithShape="1">
                <a:blip r:embed="rId1"/>
                <a:stretch>
                  <a:fillRect l="-5" t="-132" r="1" b="-3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556284" y="1590648"/>
                <a:ext cx="6385409" cy="1258555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84" y="1590648"/>
                <a:ext cx="6385409" cy="1258555"/>
              </a:xfrm>
              <a:prstGeom prst="rect">
                <a:avLst/>
              </a:prstGeom>
              <a:blipFill rotWithShape="1">
                <a:blip r:embed="rId2"/>
                <a:stretch>
                  <a:fillRect t="-48" r="8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/>
              <p:cNvSpPr/>
              <p:nvPr/>
            </p:nvSpPr>
            <p:spPr>
              <a:xfrm>
                <a:off x="517636" y="2834257"/>
                <a:ext cx="5551587" cy="1258555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36" y="2834257"/>
                <a:ext cx="5551587" cy="1258555"/>
              </a:xfrm>
              <a:prstGeom prst="rect">
                <a:avLst/>
              </a:prstGeom>
              <a:blipFill rotWithShape="1">
                <a:blip r:embed="rId3"/>
                <a:stretch>
                  <a:fillRect l="-2" t="-20" r="10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 30"/>
              <p:cNvSpPr/>
              <p:nvPr/>
            </p:nvSpPr>
            <p:spPr>
              <a:xfrm>
                <a:off x="517637" y="5172313"/>
                <a:ext cx="7412101" cy="843185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CN" sz="24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 panose="02040503050406030204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37" y="5172313"/>
                <a:ext cx="7412101" cy="843185"/>
              </a:xfrm>
              <a:prstGeom prst="rect">
                <a:avLst/>
              </a:prstGeom>
              <a:blipFill rotWithShape="1">
                <a:blip r:embed="rId4"/>
                <a:stretch>
                  <a:fillRect l="-2" t="-28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/>
              <p:nvPr/>
            </p:nvSpPr>
            <p:spPr>
              <a:xfrm>
                <a:off x="517637" y="4216701"/>
                <a:ext cx="6036914" cy="784771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37" y="4216701"/>
                <a:ext cx="6036914" cy="784771"/>
              </a:xfrm>
              <a:prstGeom prst="rect">
                <a:avLst/>
              </a:prstGeom>
              <a:blipFill rotWithShape="1">
                <a:blip r:embed="rId5"/>
                <a:stretch>
                  <a:fillRect l="-2" t="-38" r="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6546" y="1132839"/>
            <a:ext cx="3538451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放大法：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993" y="2070571"/>
            <a:ext cx="2070194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1.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993" y="2971730"/>
            <a:ext cx="8381101" cy="941186"/>
          </a:xfrm>
          <a:prstGeom prst="rect">
            <a:avLst/>
          </a:prstGeom>
        </p:spPr>
        <p:txBody>
          <a:bodyPr vert="horz" wrap="square" lIns="0" tIns="78644" rIns="0" bIns="0" rtlCol="0">
            <a:spAutoFit/>
          </a:bodyPr>
          <a:lstStyle/>
          <a:p>
            <a:pPr marL="34925">
              <a:spcBef>
                <a:spcPts val="620"/>
              </a:spcBef>
              <a:tabLst>
                <a:tab pos="383540" algn="l"/>
              </a:tabLst>
            </a:pPr>
            <a:r>
              <a:rPr sz="2800" b="1" spc="-5" dirty="0">
                <a:latin typeface="Times New Roman" panose="02020603050405020304"/>
                <a:cs typeface="Times New Roman" panose="02020603050405020304"/>
              </a:rPr>
              <a:t>2.	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假设存在常</a:t>
            </a:r>
            <a:r>
              <a:rPr sz="2800" b="1" spc="-10" dirty="0"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sz="2800" b="1" spc="-56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u="sng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00" b="1" i="1" u="sng" spc="-14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sng" spc="-5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&lt;1</a:t>
            </a: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800" b="1" spc="-5" dirty="0" smtClean="0">
                <a:latin typeface="宋体" panose="02010600030101010101" pitchFamily="2" charset="-122"/>
                <a:cs typeface="宋体" panose="02010600030101010101" pitchFamily="2" charset="-122"/>
              </a:rPr>
              <a:t>使</a:t>
            </a:r>
            <a:r>
              <a:rPr sz="28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得</a:t>
            </a:r>
            <a:r>
              <a:rPr sz="2800" b="1" spc="-5" dirty="0" smtClean="0">
                <a:latin typeface="宋体" panose="02010600030101010101" pitchFamily="2" charset="-122"/>
                <a:cs typeface="宋体" panose="02010600030101010101" pitchFamily="2" charset="-122"/>
              </a:rPr>
              <a:t>对一切</a:t>
            </a:r>
            <a:r>
              <a:rPr sz="2800" b="1" i="1" dirty="0" smtClean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1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</a:t>
            </a:r>
            <a:r>
              <a:rPr sz="2800" b="1" spc="-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800" b="1" spc="-10" dirty="0" smtClean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800" b="1" spc="-550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baseline="-21000" dirty="0">
                <a:latin typeface="Times New Roman" panose="02020603050405020304"/>
                <a:cs typeface="Times New Roman" panose="02020603050405020304"/>
              </a:rPr>
              <a:t>+1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baseline="-21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21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5" dirty="0">
                <a:latin typeface="Symbol" panose="05050102010706020507"/>
                <a:cs typeface="Symbol" panose="05050102010706020507"/>
              </a:rPr>
              <a:t></a:t>
            </a:r>
            <a:r>
              <a:rPr sz="2800" b="1" spc="-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00" b="1" i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成立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762000" y="42863"/>
            <a:ext cx="8382000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估计和式上界的放大法</a:t>
            </a:r>
            <a:endParaRPr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45126" y="5285175"/>
            <a:ext cx="4182399" cy="404038"/>
          </a:xfrm>
          <a:prstGeom prst="rect">
            <a:avLst/>
          </a:prstGeom>
          <a:ln w="31750">
            <a:solidFill>
              <a:srgbClr val="548ED4"/>
            </a:solidFill>
          </a:ln>
        </p:spPr>
        <p:txBody>
          <a:bodyPr vert="horz" wrap="square" lIns="0" tIns="34370" rIns="0" bIns="0" rtlCol="0">
            <a:spAutoFit/>
          </a:bodyPr>
          <a:lstStyle/>
          <a:p>
            <a:pPr marL="83820">
              <a:spcBef>
                <a:spcPts val="270"/>
              </a:spcBef>
              <a:tabLst>
                <a:tab pos="1182370" algn="l"/>
              </a:tabLst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07594" y="4896096"/>
            <a:ext cx="315641" cy="389467"/>
          </a:xfrm>
          <a:custGeom>
            <a:avLst/>
            <a:gdLst/>
            <a:ahLst/>
            <a:cxnLst/>
            <a:rect l="l" t="t" r="r" b="b"/>
            <a:pathLst>
              <a:path w="332105" h="292100">
                <a:moveTo>
                  <a:pt x="0" y="146050"/>
                </a:moveTo>
                <a:lnTo>
                  <a:pt x="165862" y="0"/>
                </a:lnTo>
                <a:lnTo>
                  <a:pt x="331850" y="146050"/>
                </a:lnTo>
                <a:lnTo>
                  <a:pt x="248793" y="146050"/>
                </a:lnTo>
                <a:lnTo>
                  <a:pt x="248793" y="292100"/>
                </a:lnTo>
                <a:lnTo>
                  <a:pt x="82931" y="292100"/>
                </a:lnTo>
                <a:lnTo>
                  <a:pt x="82931" y="146050"/>
                </a:lnTo>
                <a:lnTo>
                  <a:pt x="0" y="14605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 flipV="1">
            <a:off x="6704867" y="3511779"/>
            <a:ext cx="1281295" cy="48385"/>
          </a:xfrm>
          <a:custGeom>
            <a:avLst/>
            <a:gdLst/>
            <a:ahLst/>
            <a:cxnLst/>
            <a:rect l="l" t="t" r="r" b="b"/>
            <a:pathLst>
              <a:path w="1219200" h="1904">
                <a:moveTo>
                  <a:pt x="0" y="0"/>
                </a:moveTo>
                <a:lnTo>
                  <a:pt x="1219200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3582050" y="1626143"/>
            <a:ext cx="780098" cy="817880"/>
          </a:xfrm>
          <a:custGeom>
            <a:avLst/>
            <a:gdLst/>
            <a:ahLst/>
            <a:cxnLst/>
            <a:rect l="l" t="t" r="r" b="b"/>
            <a:pathLst>
              <a:path w="1040129" h="613410">
                <a:moveTo>
                  <a:pt x="580612" y="0"/>
                </a:moveTo>
                <a:lnTo>
                  <a:pt x="528426" y="2167"/>
                </a:lnTo>
                <a:lnTo>
                  <a:pt x="475869" y="8476"/>
                </a:lnTo>
                <a:lnTo>
                  <a:pt x="420940" y="19767"/>
                </a:lnTo>
                <a:lnTo>
                  <a:pt x="369670" y="35181"/>
                </a:lnTo>
                <a:lnTo>
                  <a:pt x="322375" y="54372"/>
                </a:lnTo>
                <a:lnTo>
                  <a:pt x="279371" y="76993"/>
                </a:lnTo>
                <a:lnTo>
                  <a:pt x="240977" y="102699"/>
                </a:lnTo>
                <a:lnTo>
                  <a:pt x="207510" y="131145"/>
                </a:lnTo>
                <a:lnTo>
                  <a:pt x="179285" y="161984"/>
                </a:lnTo>
                <a:lnTo>
                  <a:pt x="156620" y="194871"/>
                </a:lnTo>
                <a:lnTo>
                  <a:pt x="139833" y="229460"/>
                </a:lnTo>
                <a:lnTo>
                  <a:pt x="125157" y="302361"/>
                </a:lnTo>
                <a:lnTo>
                  <a:pt x="127903" y="339981"/>
                </a:lnTo>
                <a:lnTo>
                  <a:pt x="137795" y="377919"/>
                </a:lnTo>
                <a:lnTo>
                  <a:pt x="0" y="484091"/>
                </a:lnTo>
                <a:lnTo>
                  <a:pt x="210058" y="484345"/>
                </a:lnTo>
                <a:lnTo>
                  <a:pt x="244868" y="513214"/>
                </a:lnTo>
                <a:lnTo>
                  <a:pt x="284017" y="538695"/>
                </a:lnTo>
                <a:lnTo>
                  <a:pt x="326969" y="560654"/>
                </a:lnTo>
                <a:lnTo>
                  <a:pt x="373186" y="578957"/>
                </a:lnTo>
                <a:lnTo>
                  <a:pt x="422132" y="593470"/>
                </a:lnTo>
                <a:lnTo>
                  <a:pt x="473268" y="604059"/>
                </a:lnTo>
                <a:lnTo>
                  <a:pt x="526057" y="610589"/>
                </a:lnTo>
                <a:lnTo>
                  <a:pt x="579963" y="612926"/>
                </a:lnTo>
                <a:lnTo>
                  <a:pt x="634448" y="610937"/>
                </a:lnTo>
                <a:lnTo>
                  <a:pt x="688975" y="604487"/>
                </a:lnTo>
                <a:lnTo>
                  <a:pt x="743903" y="593196"/>
                </a:lnTo>
                <a:lnTo>
                  <a:pt x="795173" y="577782"/>
                </a:lnTo>
                <a:lnTo>
                  <a:pt x="842468" y="558592"/>
                </a:lnTo>
                <a:lnTo>
                  <a:pt x="885472" y="535971"/>
                </a:lnTo>
                <a:lnTo>
                  <a:pt x="923866" y="510264"/>
                </a:lnTo>
                <a:lnTo>
                  <a:pt x="957333" y="481818"/>
                </a:lnTo>
                <a:lnTo>
                  <a:pt x="985558" y="450979"/>
                </a:lnTo>
                <a:lnTo>
                  <a:pt x="1008223" y="418092"/>
                </a:lnTo>
                <a:lnTo>
                  <a:pt x="1025010" y="383503"/>
                </a:lnTo>
                <a:lnTo>
                  <a:pt x="1039686" y="310603"/>
                </a:lnTo>
                <a:lnTo>
                  <a:pt x="1036940" y="272983"/>
                </a:lnTo>
                <a:lnTo>
                  <a:pt x="1027049" y="235044"/>
                </a:lnTo>
                <a:lnTo>
                  <a:pt x="990885" y="168643"/>
                </a:lnTo>
                <a:lnTo>
                  <a:pt x="965202" y="138760"/>
                </a:lnTo>
                <a:lnTo>
                  <a:pt x="935005" y="111317"/>
                </a:lnTo>
                <a:lnTo>
                  <a:pt x="900707" y="86482"/>
                </a:lnTo>
                <a:lnTo>
                  <a:pt x="862723" y="64427"/>
                </a:lnTo>
                <a:lnTo>
                  <a:pt x="821467" y="45322"/>
                </a:lnTo>
                <a:lnTo>
                  <a:pt x="777354" y="29337"/>
                </a:lnTo>
                <a:lnTo>
                  <a:pt x="730797" y="16642"/>
                </a:lnTo>
                <a:lnTo>
                  <a:pt x="682212" y="7407"/>
                </a:lnTo>
                <a:lnTo>
                  <a:pt x="632012" y="1803"/>
                </a:lnTo>
                <a:lnTo>
                  <a:pt x="58061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3582050" y="1626143"/>
            <a:ext cx="780098" cy="817880"/>
          </a:xfrm>
          <a:custGeom>
            <a:avLst/>
            <a:gdLst/>
            <a:ahLst/>
            <a:cxnLst/>
            <a:rect l="l" t="t" r="r" b="b"/>
            <a:pathLst>
              <a:path w="1040129" h="613410">
                <a:moveTo>
                  <a:pt x="0" y="484091"/>
                </a:moveTo>
                <a:lnTo>
                  <a:pt x="137795" y="377919"/>
                </a:lnTo>
                <a:lnTo>
                  <a:pt x="127903" y="339981"/>
                </a:lnTo>
                <a:lnTo>
                  <a:pt x="125157" y="302361"/>
                </a:lnTo>
                <a:lnTo>
                  <a:pt x="139833" y="229460"/>
                </a:lnTo>
                <a:lnTo>
                  <a:pt x="156620" y="194871"/>
                </a:lnTo>
                <a:lnTo>
                  <a:pt x="179285" y="161984"/>
                </a:lnTo>
                <a:lnTo>
                  <a:pt x="207510" y="131145"/>
                </a:lnTo>
                <a:lnTo>
                  <a:pt x="240977" y="102699"/>
                </a:lnTo>
                <a:lnTo>
                  <a:pt x="279371" y="76993"/>
                </a:lnTo>
                <a:lnTo>
                  <a:pt x="322375" y="54372"/>
                </a:lnTo>
                <a:lnTo>
                  <a:pt x="369670" y="35181"/>
                </a:lnTo>
                <a:lnTo>
                  <a:pt x="420940" y="19767"/>
                </a:lnTo>
                <a:lnTo>
                  <a:pt x="475869" y="8476"/>
                </a:lnTo>
                <a:lnTo>
                  <a:pt x="528426" y="2167"/>
                </a:lnTo>
                <a:lnTo>
                  <a:pt x="580612" y="0"/>
                </a:lnTo>
                <a:lnTo>
                  <a:pt x="632012" y="1803"/>
                </a:lnTo>
                <a:lnTo>
                  <a:pt x="682212" y="7407"/>
                </a:lnTo>
                <a:lnTo>
                  <a:pt x="730797" y="16642"/>
                </a:lnTo>
                <a:lnTo>
                  <a:pt x="777354" y="29337"/>
                </a:lnTo>
                <a:lnTo>
                  <a:pt x="821467" y="45322"/>
                </a:lnTo>
                <a:lnTo>
                  <a:pt x="862723" y="64427"/>
                </a:lnTo>
                <a:lnTo>
                  <a:pt x="900707" y="86482"/>
                </a:lnTo>
                <a:lnTo>
                  <a:pt x="935005" y="111317"/>
                </a:lnTo>
                <a:lnTo>
                  <a:pt x="965202" y="138760"/>
                </a:lnTo>
                <a:lnTo>
                  <a:pt x="990885" y="168643"/>
                </a:lnTo>
                <a:lnTo>
                  <a:pt x="1011638" y="200794"/>
                </a:lnTo>
                <a:lnTo>
                  <a:pt x="1036940" y="272983"/>
                </a:lnTo>
                <a:lnTo>
                  <a:pt x="1039686" y="310603"/>
                </a:lnTo>
                <a:lnTo>
                  <a:pt x="1035604" y="347558"/>
                </a:lnTo>
                <a:lnTo>
                  <a:pt x="1008223" y="418092"/>
                </a:lnTo>
                <a:lnTo>
                  <a:pt x="985558" y="450979"/>
                </a:lnTo>
                <a:lnTo>
                  <a:pt x="957333" y="481818"/>
                </a:lnTo>
                <a:lnTo>
                  <a:pt x="923866" y="510264"/>
                </a:lnTo>
                <a:lnTo>
                  <a:pt x="885472" y="535971"/>
                </a:lnTo>
                <a:lnTo>
                  <a:pt x="842468" y="558592"/>
                </a:lnTo>
                <a:lnTo>
                  <a:pt x="795173" y="577782"/>
                </a:lnTo>
                <a:lnTo>
                  <a:pt x="743903" y="593196"/>
                </a:lnTo>
                <a:lnTo>
                  <a:pt x="688975" y="604487"/>
                </a:lnTo>
                <a:lnTo>
                  <a:pt x="634448" y="610937"/>
                </a:lnTo>
                <a:lnTo>
                  <a:pt x="579963" y="612926"/>
                </a:lnTo>
                <a:lnTo>
                  <a:pt x="526057" y="610589"/>
                </a:lnTo>
                <a:lnTo>
                  <a:pt x="473268" y="604059"/>
                </a:lnTo>
                <a:lnTo>
                  <a:pt x="422132" y="593470"/>
                </a:lnTo>
                <a:lnTo>
                  <a:pt x="373186" y="578957"/>
                </a:lnTo>
                <a:lnTo>
                  <a:pt x="326969" y="560654"/>
                </a:lnTo>
                <a:lnTo>
                  <a:pt x="284017" y="538695"/>
                </a:lnTo>
                <a:lnTo>
                  <a:pt x="244868" y="513214"/>
                </a:lnTo>
                <a:lnTo>
                  <a:pt x="210058" y="484345"/>
                </a:lnTo>
                <a:lnTo>
                  <a:pt x="0" y="48409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3837227" y="1643592"/>
            <a:ext cx="364331" cy="750429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放大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/>
              <p:nvPr/>
            </p:nvSpPr>
            <p:spPr>
              <a:xfrm>
                <a:off x="949151" y="1626143"/>
                <a:ext cx="3070051" cy="125900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51" y="1626143"/>
                <a:ext cx="3070051" cy="1259003"/>
              </a:xfrm>
              <a:prstGeom prst="rect">
                <a:avLst/>
              </a:prstGeom>
              <a:blipFill rotWithShape="1">
                <a:blip r:embed="rId1"/>
                <a:stretch>
                  <a:fillRect l="-15" t="-43" r="9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2028484" y="3795759"/>
                <a:ext cx="5404948" cy="1091458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484" y="3795759"/>
                <a:ext cx="5404948" cy="1091458"/>
              </a:xfrm>
              <a:prstGeom prst="rect">
                <a:avLst/>
              </a:prstGeom>
              <a:blipFill rotWithShape="1">
                <a:blip r:embed="rId2"/>
                <a:stretch>
                  <a:fillRect l="-5" t="-33" r="2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089655" y="5233095"/>
                <a:ext cx="5580600" cy="462375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2400" b="1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zh-CN" sz="2400" b="1" i="1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655" y="5233095"/>
                <a:ext cx="5580600" cy="462375"/>
              </a:xfrm>
              <a:prstGeom prst="rect">
                <a:avLst/>
              </a:prstGeom>
              <a:blipFill rotWithShape="1">
                <a:blip r:embed="rId3"/>
                <a:stretch>
                  <a:fillRect l="-9" t="-13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 animBg="1"/>
      <p:bldP spid="20" grpId="0" animBg="1"/>
      <p:bldP spid="21" grpId="0" animBg="1"/>
      <p:bldP spid="26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2000" y="65088"/>
            <a:ext cx="8382000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放大法的例子</a:t>
            </a:r>
            <a:endParaRPr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1117583" y="2302214"/>
                <a:ext cx="6137704" cy="730616"/>
              </a:xfrm>
              <a:prstGeom prst="rect">
                <a:avLst/>
              </a:prstGeom>
            </p:spPr>
            <p:txBody>
              <a:bodyPr vert="horz" wrap="square" lIns="0" tIns="11651" rIns="0" bIns="0" rtlCol="0">
                <a:spAutoFit/>
              </a:bodyPr>
              <a:lstStyle/>
              <a:p>
                <a:pPr marL="11430">
                  <a:spcBef>
                    <a:spcPts val="90"/>
                  </a:spcBef>
                </a:pPr>
                <a:r>
                  <a:rPr lang="zh-CN" altLang="en-US" sz="2800" b="1" spc="-1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解由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2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CN" sz="3200" b="1" i="1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𝒌</m:t>
                        </m:r>
                      </m:num>
                      <m:den>
                        <m:sSup>
                          <m:sSupPr>
                            <m:ctrlPr>
                              <a:rPr lang="ar-AE" altLang="zh-CN" sz="3200" b="1" i="1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ar-AE" altLang="zh-CN" sz="3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zh-CN" altLang="ar-AE" sz="32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2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zh-CN" sz="3200" b="1" i="1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zh-CN" altLang="ar-AE" sz="32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ar-AE" altLang="zh-CN" sz="3200" b="1" i="1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ar-AE" altLang="zh-CN" sz="3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  <m:sup>
                            <m:r>
                              <a:rPr lang="zh-CN" altLang="ar-AE" sz="32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</m:oMath>
                </a14:m>
                <a:endParaRPr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83" y="2302214"/>
                <a:ext cx="6137704" cy="730616"/>
              </a:xfrm>
              <a:prstGeom prst="rect">
                <a:avLst/>
              </a:prstGeom>
              <a:blipFill rotWithShape="1">
                <a:blip r:embed="rId1"/>
                <a:stretch>
                  <a:fillRect l="-10" t="-46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1093176" y="4118009"/>
            <a:ext cx="261811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002" y="4"/>
            <a:ext cx="129159" cy="477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1000" y="14227"/>
            <a:ext cx="140590" cy="497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497048" y="1417284"/>
                <a:ext cx="3287151" cy="370249"/>
              </a:xfrm>
              <a:prstGeom prst="rect">
                <a:avLst/>
              </a:prstGeom>
            </p:spPr>
            <p:txBody>
              <a:bodyPr vert="horz" wrap="square" lIns="0" tIns="11068" rIns="0" bIns="0" rtlCol="0">
                <a:spAutoFit/>
              </a:bodyPr>
              <a:lstStyle/>
              <a:p>
                <a:pPr marL="34925">
                  <a:lnSpc>
                    <a:spcPts val="2830"/>
                  </a:lnSpc>
                </a:pPr>
                <a:r>
                  <a:rPr lang="zh-CN" altLang="en-US" sz="2800" b="1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估</a:t>
                </a:r>
                <a:r>
                  <a:rPr lang="zh-CN" altLang="en-US" sz="2800" b="1" spc="-1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          </m:t>
                    </m:r>
                  </m:oMath>
                </a14:m>
                <a:r>
                  <a:rPr lang="zh-CN" altLang="en-US" sz="2800" b="1" spc="-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的上界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48" y="1417284"/>
                <a:ext cx="3287151" cy="370249"/>
              </a:xfrm>
              <a:prstGeom prst="rect">
                <a:avLst/>
              </a:prstGeom>
              <a:blipFill rotWithShape="1">
                <a:blip r:embed="rId4"/>
                <a:stretch>
                  <a:fillRect l="-15" t="-6508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/>
          <p:nvPr/>
        </p:nvSpPr>
        <p:spPr>
          <a:xfrm>
            <a:off x="429321" y="928013"/>
            <a:ext cx="676656" cy="3332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7321" y="962556"/>
            <a:ext cx="686943" cy="3312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143002" y="4"/>
            <a:ext cx="129159" cy="477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151000" y="14227"/>
            <a:ext cx="140590" cy="497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47449" y="3142787"/>
            <a:ext cx="763932" cy="12192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152400"/>
                </a:moveTo>
                <a:lnTo>
                  <a:pt x="7766" y="104217"/>
                </a:lnTo>
                <a:lnTo>
                  <a:pt x="29394" y="62380"/>
                </a:lnTo>
                <a:lnTo>
                  <a:pt x="62380" y="29394"/>
                </a:lnTo>
                <a:lnTo>
                  <a:pt x="104217" y="7766"/>
                </a:lnTo>
                <a:lnTo>
                  <a:pt x="152400" y="0"/>
                </a:lnTo>
                <a:lnTo>
                  <a:pt x="762000" y="0"/>
                </a:lnTo>
                <a:lnTo>
                  <a:pt x="810182" y="7766"/>
                </a:lnTo>
                <a:lnTo>
                  <a:pt x="852019" y="29394"/>
                </a:lnTo>
                <a:lnTo>
                  <a:pt x="885005" y="62380"/>
                </a:lnTo>
                <a:lnTo>
                  <a:pt x="906633" y="104217"/>
                </a:lnTo>
                <a:lnTo>
                  <a:pt x="914400" y="152400"/>
                </a:lnTo>
                <a:lnTo>
                  <a:pt x="914400" y="762000"/>
                </a:lnTo>
                <a:lnTo>
                  <a:pt x="906633" y="810182"/>
                </a:lnTo>
                <a:lnTo>
                  <a:pt x="885005" y="852019"/>
                </a:lnTo>
                <a:lnTo>
                  <a:pt x="852019" y="885005"/>
                </a:lnTo>
                <a:lnTo>
                  <a:pt x="810182" y="906633"/>
                </a:lnTo>
                <a:lnTo>
                  <a:pt x="762000" y="914400"/>
                </a:lnTo>
                <a:lnTo>
                  <a:pt x="152400" y="914400"/>
                </a:lnTo>
                <a:lnTo>
                  <a:pt x="104217" y="906633"/>
                </a:lnTo>
                <a:lnTo>
                  <a:pt x="62380" y="885005"/>
                </a:lnTo>
                <a:lnTo>
                  <a:pt x="29394" y="852019"/>
                </a:lnTo>
                <a:lnTo>
                  <a:pt x="7766" y="810182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676719" y="4528536"/>
            <a:ext cx="3466781" cy="1388051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/>
              <p:cNvSpPr/>
              <p:nvPr/>
            </p:nvSpPr>
            <p:spPr>
              <a:xfrm>
                <a:off x="1694257" y="3256897"/>
                <a:ext cx="3976418" cy="975657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CN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ar-AE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altLang="zh-CN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ar-AE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257" y="3256897"/>
                <a:ext cx="3976418" cy="975657"/>
              </a:xfrm>
              <a:prstGeom prst="rect">
                <a:avLst/>
              </a:prstGeom>
              <a:blipFill rotWithShape="1">
                <a:blip r:embed="rId7"/>
                <a:stretch>
                  <a:fillRect l="-2" t="-63" r="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/>
              <p:cNvSpPr/>
              <p:nvPr/>
            </p:nvSpPr>
            <p:spPr>
              <a:xfrm>
                <a:off x="1595848" y="4516563"/>
                <a:ext cx="5959203" cy="1390770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1" i="1">
                                      <a:latin typeface="Cambria Math" panose="02040503050406030204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800" b="1" i="1">
                                          <a:latin typeface="Cambria Math" panose="02040503050406030204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848" y="4516563"/>
                <a:ext cx="5959203" cy="1390770"/>
              </a:xfrm>
              <a:prstGeom prst="rect">
                <a:avLst/>
              </a:prstGeom>
              <a:blipFill rotWithShape="1">
                <a:blip r:embed="rId8"/>
                <a:stretch>
                  <a:fillRect l="-2" t="-32" r="8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矩形 41"/>
              <p:cNvSpPr/>
              <p:nvPr/>
            </p:nvSpPr>
            <p:spPr>
              <a:xfrm>
                <a:off x="1038923" y="1000393"/>
                <a:ext cx="1217135" cy="125900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23" y="1000393"/>
                <a:ext cx="1217135" cy="1259003"/>
              </a:xfrm>
              <a:prstGeom prst="rect">
                <a:avLst/>
              </a:prstGeom>
              <a:blipFill rotWithShape="1">
                <a:blip r:embed="rId9"/>
                <a:stretch>
                  <a:fillRect l="-5" t="-21" r="4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9" grpId="0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84275" y="55563"/>
            <a:ext cx="7959725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估计和式渐近的界</a:t>
            </a:r>
            <a:endParaRPr sz="4400" b="1" spc="-14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7807" y="1418235"/>
            <a:ext cx="1087330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估计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0741" y="1428110"/>
            <a:ext cx="3250934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的渐近的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界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.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2525" y="2128738"/>
            <a:ext cx="4955270" cy="260829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862737" y="1016320"/>
                <a:ext cx="1138139" cy="125900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37" y="1016320"/>
                <a:ext cx="1138139" cy="1259003"/>
              </a:xfrm>
              <a:prstGeom prst="rect">
                <a:avLst/>
              </a:prstGeom>
              <a:blipFill rotWithShape="1">
                <a:blip r:embed="rId2"/>
                <a:stretch>
                  <a:fillRect l="-36" t="-25" r="55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2123908" y="4692641"/>
                <a:ext cx="5298172" cy="125900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908" y="4692641"/>
                <a:ext cx="5298172" cy="1259003"/>
              </a:xfrm>
              <a:prstGeom prst="rect">
                <a:avLst/>
              </a:prstGeom>
              <a:blipFill rotWithShape="1">
                <a:blip r:embed="rId3"/>
                <a:stretch>
                  <a:fillRect l="-9" t="-50" r="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645587" y="5075677"/>
                <a:ext cx="22409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587" y="5075677"/>
                <a:ext cx="2240934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5" t="-23" r="2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93763" y="88900"/>
            <a:ext cx="8250237" cy="620713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估计和式渐近的界</a:t>
            </a:r>
            <a:endParaRPr sz="4400" b="1" spc="-14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22146" y="3223900"/>
            <a:ext cx="4467885" cy="2628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1696350" y="2345042"/>
                <a:ext cx="2937300" cy="125900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350" y="2345042"/>
                <a:ext cx="2937300" cy="1259003"/>
              </a:xfrm>
              <a:prstGeom prst="rect">
                <a:avLst/>
              </a:prstGeom>
              <a:blipFill rotWithShape="1">
                <a:blip r:embed="rId2"/>
                <a:stretch>
                  <a:fillRect l="-9" t="-49" r="2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6183740" y="2727295"/>
                <a:ext cx="1751795" cy="93654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740" y="2727295"/>
                <a:ext cx="1751795" cy="936543"/>
              </a:xfrm>
              <a:prstGeom prst="rect">
                <a:avLst/>
              </a:prstGeom>
              <a:blipFill rotWithShape="1">
                <a:blip r:embed="rId3"/>
                <a:stretch>
                  <a:fillRect l="-6" t="-65" r="33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5839778" y="4172297"/>
                <a:ext cx="2979541" cy="125900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l-GR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778" y="4172297"/>
                <a:ext cx="2979541" cy="1259003"/>
              </a:xfrm>
              <a:prstGeom prst="rect">
                <a:avLst/>
              </a:prstGeom>
              <a:blipFill rotWithShape="1">
                <a:blip r:embed="rId4"/>
                <a:stretch>
                  <a:fillRect l="-11" t="-28" r="15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3"/>
          <p:cNvSpPr txBox="1"/>
          <p:nvPr/>
        </p:nvSpPr>
        <p:spPr>
          <a:xfrm>
            <a:off x="482815" y="1508825"/>
            <a:ext cx="1087330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估计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1785749" y="1518700"/>
            <a:ext cx="3250934" cy="442652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的渐近的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界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.</a:t>
            </a:r>
            <a:endParaRPr sz="2800" dirty="0">
              <a:latin typeface="Calibri" panose="020F0502020204030204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907745" y="1106911"/>
                <a:ext cx="1138139" cy="125900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45" y="1106911"/>
                <a:ext cx="1138139" cy="1259003"/>
              </a:xfrm>
              <a:prstGeom prst="rect">
                <a:avLst/>
              </a:prstGeom>
              <a:blipFill rotWithShape="1">
                <a:blip r:embed="rId5"/>
                <a:stretch>
                  <a:fillRect l="-29" t="-8" r="48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4267154" y="2451999"/>
                <a:ext cx="2333909" cy="10216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154" y="2451999"/>
                <a:ext cx="2333909" cy="1021690"/>
              </a:xfrm>
              <a:prstGeom prst="rect">
                <a:avLst/>
              </a:prstGeom>
              <a:blipFill rotWithShape="1">
                <a:blip r:embed="rId6"/>
                <a:stretch>
                  <a:fillRect l="-25" t="-26" r="10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20" grpId="0" animBg="1"/>
      <p:bldP spid="21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19138" y="100013"/>
            <a:ext cx="8424862" cy="620712"/>
          </a:xfrm>
          <a:prstGeom prst="rect">
            <a:avLst/>
          </a:prstGeom>
        </p:spPr>
        <p:txBody>
          <a:bodyPr vert="horz" wrap="square" lIns="0" tIns="11068" rIns="0" bIns="0" rtlCol="0" anchor="ctr">
            <a:spAutoFit/>
          </a:bodyPr>
          <a:lstStyle/>
          <a:p>
            <a:pPr marL="11430" algn="ctr">
              <a:spcBef>
                <a:spcPts val="85"/>
              </a:spcBef>
            </a:pPr>
            <a:r>
              <a:rPr sz="4400" b="1" spc="-1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sz="4400" b="1" spc="-1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054" y="1065141"/>
            <a:ext cx="8389872" cy="3664047"/>
          </a:xfrm>
          <a:prstGeom prst="rect">
            <a:avLst/>
          </a:prstGeom>
        </p:spPr>
        <p:txBody>
          <a:bodyPr vert="horz" wrap="square" lIns="0" tIns="11651" rIns="0" bIns="0" rtlCol="0">
            <a:spAutoFit/>
          </a:bodyPr>
          <a:lstStyle/>
          <a:p>
            <a:pPr marL="323215" marR="1971040" indent="-312420">
              <a:lnSpc>
                <a:spcPct val="150000"/>
              </a:lnSpc>
              <a:spcBef>
                <a:spcPts val="90"/>
              </a:spcBef>
              <a:buFont typeface="Arial" panose="020B0604020202020204"/>
              <a:buChar char="•"/>
              <a:tabLst>
                <a:tab pos="325120" algn="l"/>
                <a:tab pos="325755" algn="l"/>
              </a:tabLst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序列求和基本公式： </a:t>
            </a:r>
            <a:endParaRPr 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R="1971040">
              <a:tabLst>
                <a:tab pos="325120" algn="l"/>
                <a:tab pos="325755" algn="l"/>
              </a:tabLst>
            </a:pPr>
            <a:r>
              <a:rPr 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等差数列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R="3379470"/>
            <a:r>
              <a:rPr 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等比数列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endParaRPr 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R="3379470"/>
            <a:r>
              <a:rPr 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 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调和级数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23215" marR="2814955" indent="-312420">
              <a:lnSpc>
                <a:spcPct val="150000"/>
              </a:lnSpc>
              <a:spcBef>
                <a:spcPts val="1540"/>
              </a:spcBef>
              <a:buFont typeface="Arial" panose="020B0604020202020204"/>
              <a:buChar char="•"/>
              <a:tabLst>
                <a:tab pos="325120" algn="l"/>
                <a:tab pos="325755" algn="l"/>
              </a:tabLst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估计序列和： </a:t>
            </a:r>
            <a:endParaRPr 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0795" marR="2814955">
              <a:tabLst>
                <a:tab pos="325120" algn="l"/>
                <a:tab pos="325755" algn="l"/>
              </a:tabLst>
            </a:pP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放大法求上界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323215"/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用积分做和式的渐近的界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99393" y="2614722"/>
            <a:ext cx="8347075" cy="132556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递归方程与算法分析</a:t>
            </a:r>
            <a:endParaRPr lang="zh-CN" altLang="en-US"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4063" y="0"/>
            <a:ext cx="8389937" cy="76041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递推方程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71488" y="1087438"/>
                <a:ext cx="8266112" cy="43513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设序列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，简记为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，一把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与某些个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联系起来的等式叫做关于序列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:r>
                  <a:rPr lang="zh-CN" altLang="en-US" sz="2800" b="1" dirty="0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递推方程</a:t>
                </a:r>
                <a:endParaRPr lang="en-US" altLang="zh-CN" sz="2800" b="1" dirty="0" smtClean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b="1" dirty="0" smtClean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递推方程的求解</a:t>
                </a:r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endParaRPr lang="en-US" altLang="zh-CN" sz="2800" b="1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给定关于序列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的递推</a:t>
                </a:r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方程和若干初值，计算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71488" y="1087438"/>
                <a:ext cx="8266112" cy="4351337"/>
              </a:xfrm>
              <a:prstGeom prst="rect">
                <a:avLst/>
              </a:prstGeom>
              <a:blipFill rotWithShape="1">
                <a:blip r:embed="rId1"/>
                <a:stretch>
                  <a:fillRect l="-4" t="-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4063" y="52388"/>
            <a:ext cx="8389937" cy="6572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递推方程的例子</a:t>
            </a:r>
            <a:endParaRPr lang="zh-CN" altLang="en-US" sz="44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1380780" y="4261645"/>
                <a:ext cx="6316663" cy="2338387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/>
              <a:p>
                <a:pPr marL="0" indent="0" algn="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4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40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4000" b="1" i="1">
                                  <a:latin typeface="Cambria Math" panose="02040503050406030204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4000" b="1" i="1">
                              <a:latin typeface="Cambria Math" panose="02040503050406030204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4000" b="1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4000" b="1" i="1"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4000" b="1" i="1">
                                          <a:latin typeface="Cambria Math" panose="02040503050406030204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4000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40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4000" b="1" i="1">
                                  <a:latin typeface="Cambria Math" panose="02040503050406030204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4000" b="1" i="1">
                              <a:latin typeface="Cambria Math" panose="02040503050406030204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4000" b="1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4000" b="1" i="1"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4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4000" b="1" i="1">
                                          <a:latin typeface="Cambria Math" panose="02040503050406030204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4000" b="1" i="1" smtClean="0">
                                      <a:latin typeface="Cambria Math" panose="02040503050406030204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zh-CN" altLang="en-US" sz="3800" b="1" dirty="0"/>
              </a:p>
            </p:txBody>
          </p:sp>
        </mc:Choice>
        <mc:Fallback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380780" y="4261645"/>
                <a:ext cx="6316663" cy="2338387"/>
              </a:xfrm>
              <a:prstGeom prst="rect">
                <a:avLst/>
              </a:prstGeom>
              <a:blipFill rotWithShape="1">
                <a:blip r:embed="rId1"/>
                <a:stretch>
                  <a:fillRect l="-5" t="-7" r="1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39"/>
          <p:cNvSpPr/>
          <p:nvPr/>
        </p:nvSpPr>
        <p:spPr>
          <a:xfrm>
            <a:off x="1522870" y="4444542"/>
            <a:ext cx="6174573" cy="1377409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000"/>
          </a:p>
        </p:txBody>
      </p:sp>
      <p:sp>
        <p:nvSpPr>
          <p:cNvPr id="8" name="object 39"/>
          <p:cNvSpPr/>
          <p:nvPr/>
        </p:nvSpPr>
        <p:spPr>
          <a:xfrm>
            <a:off x="2326090" y="2619773"/>
            <a:ext cx="3661693" cy="1245602"/>
          </a:xfrm>
          <a:custGeom>
            <a:avLst/>
            <a:gdLst/>
            <a:ahLst/>
            <a:cxnLst/>
            <a:rect l="l" t="t" r="r" b="b"/>
            <a:pathLst>
              <a:path w="2895600" h="914400">
                <a:moveTo>
                  <a:pt x="0" y="152400"/>
                </a:moveTo>
                <a:lnTo>
                  <a:pt x="7769" y="104217"/>
                </a:lnTo>
                <a:lnTo>
                  <a:pt x="29405" y="62380"/>
                </a:lnTo>
                <a:lnTo>
                  <a:pt x="62396" y="29394"/>
                </a:lnTo>
                <a:lnTo>
                  <a:pt x="104231" y="7766"/>
                </a:lnTo>
                <a:lnTo>
                  <a:pt x="152400" y="0"/>
                </a:lnTo>
                <a:lnTo>
                  <a:pt x="2743200" y="0"/>
                </a:lnTo>
                <a:lnTo>
                  <a:pt x="2791382" y="7766"/>
                </a:lnTo>
                <a:lnTo>
                  <a:pt x="2833219" y="29394"/>
                </a:lnTo>
                <a:lnTo>
                  <a:pt x="2866205" y="62380"/>
                </a:lnTo>
                <a:lnTo>
                  <a:pt x="2887833" y="104217"/>
                </a:lnTo>
                <a:lnTo>
                  <a:pt x="2895600" y="152400"/>
                </a:lnTo>
                <a:lnTo>
                  <a:pt x="2895600" y="762000"/>
                </a:lnTo>
                <a:lnTo>
                  <a:pt x="2887833" y="810168"/>
                </a:lnTo>
                <a:lnTo>
                  <a:pt x="2866205" y="852003"/>
                </a:lnTo>
                <a:lnTo>
                  <a:pt x="2833219" y="884994"/>
                </a:lnTo>
                <a:lnTo>
                  <a:pt x="2791382" y="906630"/>
                </a:lnTo>
                <a:lnTo>
                  <a:pt x="2743200" y="914400"/>
                </a:lnTo>
                <a:lnTo>
                  <a:pt x="152400" y="914400"/>
                </a:lnTo>
                <a:lnTo>
                  <a:pt x="104231" y="906630"/>
                </a:lnTo>
                <a:lnTo>
                  <a:pt x="62396" y="884994"/>
                </a:lnTo>
                <a:lnTo>
                  <a:pt x="29405" y="852003"/>
                </a:lnTo>
                <a:lnTo>
                  <a:pt x="7769" y="810168"/>
                </a:lnTo>
                <a:lnTo>
                  <a:pt x="0" y="7620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26" name="Picture 2" descr="âFibonacci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154" y="953542"/>
            <a:ext cx="1447800" cy="22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5987784" y="3192685"/>
            <a:ext cx="2958339" cy="648964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zh-CN" altLang="en-US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数学家</a:t>
            </a:r>
            <a:r>
              <a:rPr lang="en-US" altLang="zh-CN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Fibonacci</a:t>
            </a:r>
            <a:endParaRPr lang="en-US" altLang="zh-CN" sz="2200" b="1" spc="15" dirty="0">
              <a:solidFill>
                <a:srgbClr val="CC3300"/>
              </a:solidFill>
              <a:latin typeface="QPLIHV+ËÎÌå"/>
              <a:cs typeface="QPLIHV+ËÎÌå"/>
            </a:endParaRPr>
          </a:p>
          <a:p>
            <a:pPr algn="just">
              <a:lnSpc>
                <a:spcPts val="2200"/>
              </a:lnSpc>
            </a:pPr>
            <a:r>
              <a:rPr lang="zh-CN" altLang="en-US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意大利</a:t>
            </a:r>
            <a:r>
              <a:rPr lang="en-US" altLang="zh-CN" sz="2200" b="1" spc="15" dirty="0">
                <a:solidFill>
                  <a:srgbClr val="CC3300"/>
                </a:solidFill>
                <a:latin typeface="QPLIHV+ËÎÌå"/>
                <a:cs typeface="QPLIHV+ËÎÌå"/>
              </a:rPr>
              <a:t>1170-1240</a:t>
            </a:r>
            <a:endParaRPr lang="zh-CN" altLang="en-US" sz="2200" b="1" spc="15" dirty="0">
              <a:solidFill>
                <a:srgbClr val="CC3300"/>
              </a:solidFill>
              <a:latin typeface="QPLIHV+ËÎÌå"/>
              <a:cs typeface="QPLIHV+ËÎÌå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占位符 2"/>
              <p:cNvSpPr txBox="1"/>
              <p:nvPr/>
            </p:nvSpPr>
            <p:spPr>
              <a:xfrm>
                <a:off x="459716" y="1054309"/>
                <a:ext cx="6497177" cy="2918136"/>
              </a:xfrm>
              <a:prstGeom prst="rect">
                <a:avLst/>
              </a:prstGeom>
            </p:spPr>
            <p:txBody>
              <a:bodyPr vert="horz" lIns="83887" tIns="41944" rIns="83887" bIns="41944" rtlCol="0">
                <a:normAutofit fontScale="85000" lnSpcReduction="20000"/>
              </a:bodyPr>
              <a:lstStyle>
                <a:lvl1pPr marL="209550" indent="-209550" algn="l" defTabSz="838835" rtl="0" eaLnBrk="1" latinLnBrk="0" hangingPunct="1">
                  <a:lnSpc>
                    <a:spcPct val="90000"/>
                  </a:lnSpc>
                  <a:spcBef>
                    <a:spcPts val="915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9285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8385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68120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87220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306955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26055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145790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564890" indent="-209550" algn="l" defTabSz="838835" rtl="0" eaLnBrk="1" latinLnBrk="0" hangingPunct="1">
                  <a:lnSpc>
                    <a:spcPct val="90000"/>
                  </a:lnSpc>
                  <a:spcBef>
                    <a:spcPts val="460"/>
                  </a:spcBef>
                  <a:buFont typeface="Arial" panose="020B0604020202020204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600" b="1" dirty="0" smtClean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Fibonacci</a:t>
                </a:r>
                <a:r>
                  <a:rPr lang="zh-CN" altLang="en-US" sz="3600" b="1" dirty="0" smtClean="0"/>
                  <a:t>数</a:t>
                </a:r>
                <a:endParaRPr lang="en-US" altLang="zh-CN" sz="36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CN" sz="3600" b="1" dirty="0" smtClean="0">
                    <a:solidFill>
                      <a:srgbClr val="002060"/>
                    </a:solidFill>
                  </a:rPr>
                  <a:t>1, 1, 2, 3, 5, 8, 13, 21, 34, 55, …</a:t>
                </a:r>
                <a:endParaRPr lang="en-US" altLang="zh-CN" sz="3600" b="1" dirty="0" smtClean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b="1" dirty="0"/>
                  <a:t>递推</a:t>
                </a:r>
                <a:r>
                  <a:rPr lang="zh-CN" altLang="en-US" sz="3600" b="1" dirty="0" smtClean="0"/>
                  <a:t>方程：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6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6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3600" b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b="1" dirty="0" smtClean="0"/>
                  <a:t>初值：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altLang="zh-CN" sz="3600" b="1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3600" b="1" dirty="0" smtClean="0"/>
              </a:p>
              <a:p>
                <a:pPr marL="0" indent="0" algn="r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endParaRPr lang="zh-CN" altLang="en-US" sz="3800" b="1" dirty="0"/>
              </a:p>
            </p:txBody>
          </p:sp>
        </mc:Choice>
        <mc:Fallback>
          <p:sp>
            <p:nvSpPr>
              <p:cNvPr id="9" name="文本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6" y="1054309"/>
                <a:ext cx="6497177" cy="2918136"/>
              </a:xfrm>
              <a:prstGeom prst="rect">
                <a:avLst/>
              </a:prstGeom>
              <a:blipFill rotWithShape="1">
                <a:blip r:embed="rId3"/>
                <a:stretch>
                  <a:fillRect l="-9" t="-7" r="7" b="-23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887816" y="4011946"/>
            <a:ext cx="90601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解：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71525" y="0"/>
            <a:ext cx="8372475" cy="82073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4400" b="1" spc="18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Fibonacci</a:t>
            </a:r>
            <a:r>
              <a:rPr lang="zh-CN" altLang="en-US" sz="4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数的</a:t>
            </a:r>
            <a:r>
              <a:rPr lang="zh-CN" altLang="en-US" sz="4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endParaRPr lang="zh-CN" altLang="en-US" sz="44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768" y="1015126"/>
            <a:ext cx="6721718" cy="51773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l="78280" r="17653" b="38347"/>
          <a:stretch>
            <a:fillRect/>
          </a:stretch>
        </p:blipFill>
        <p:spPr>
          <a:xfrm>
            <a:off x="3169619" y="1626310"/>
            <a:ext cx="219586" cy="136164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/>
          <a:srcRect l="78280" r="17653" b="38347"/>
          <a:stretch>
            <a:fillRect/>
          </a:stretch>
        </p:blipFill>
        <p:spPr>
          <a:xfrm>
            <a:off x="6533760" y="1626308"/>
            <a:ext cx="219586" cy="13616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/>
          <a:srcRect l="78280" r="17653" b="38347"/>
          <a:stretch>
            <a:fillRect/>
          </a:stretch>
        </p:blipFill>
        <p:spPr>
          <a:xfrm>
            <a:off x="4717125" y="1626309"/>
            <a:ext cx="219586" cy="136164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87400" y="20638"/>
            <a:ext cx="8356600" cy="6572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Hanoi</a:t>
            </a: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塔问题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8787" y="4060121"/>
            <a:ext cx="8357128" cy="1692840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800" b="1" spc="14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盘子从大到小顺序放</a:t>
            </a:r>
            <a:r>
              <a:rPr lang="zh-CN" altLang="en-US" sz="2800" b="1" spc="14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i="1" spc="-168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柱上</a:t>
            </a:r>
            <a:r>
              <a:rPr lang="zh-CN" altLang="en-US" sz="2800" b="1" spc="14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，要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把它们从</a:t>
            </a:r>
            <a:r>
              <a:rPr lang="zh-CN" altLang="en-US" sz="2800" b="1" spc="6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i="1" spc="-153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移到</a:t>
            </a:r>
            <a:r>
              <a:rPr lang="zh-CN" altLang="en-US" sz="2800" b="1" spc="7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，每次移动</a:t>
            </a:r>
            <a:r>
              <a:rPr lang="zh-CN" altLang="en-US" sz="2800" b="1" spc="9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800" b="1" spc="14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盘子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，移动时不允许大盘压在小盘上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 spc="15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</a:t>
            </a:r>
            <a:r>
              <a:rPr lang="zh-CN" altLang="en-US" sz="28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一种移动方法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l="4994" t="51523" r="70437" b="37981"/>
          <a:stretch>
            <a:fillRect/>
          </a:stretch>
        </p:blipFill>
        <p:spPr>
          <a:xfrm>
            <a:off x="2605728" y="2746288"/>
            <a:ext cx="1326674" cy="23179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t="62006"/>
          <a:stretch>
            <a:fillRect/>
          </a:stretch>
        </p:blipFill>
        <p:spPr>
          <a:xfrm>
            <a:off x="2293982" y="2978078"/>
            <a:ext cx="5400000" cy="83912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757130" y="2211484"/>
            <a:ext cx="1023870" cy="496868"/>
            <a:chOff x="2931365" y="1837401"/>
            <a:chExt cx="1088573" cy="46949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10819" t="24381" r="76135" b="65320"/>
            <a:stretch>
              <a:fillRect/>
            </a:stretch>
          </p:blipFill>
          <p:spPr>
            <a:xfrm>
              <a:off x="3101135" y="1837401"/>
              <a:ext cx="749031" cy="214919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1"/>
            <a:srcRect l="7900" t="38356" r="73139" b="51348"/>
            <a:stretch>
              <a:fillRect/>
            </a:stretch>
          </p:blipFill>
          <p:spPr>
            <a:xfrm>
              <a:off x="2931365" y="2092025"/>
              <a:ext cx="1088573" cy="214870"/>
            </a:xfrm>
            <a:prstGeom prst="rect">
              <a:avLst/>
            </a:prstGeom>
            <a:ln w="25400">
              <a:solidFill>
                <a:schemeClr val="tx1"/>
              </a:solidFill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13 -0.00686 L 0.04866 -0.03773 C 0.05927 -0.04483 0.07429 -0.04606 0.08964 -0.04238 C 0.10728 -0.03969 0.11953 -0.03062 0.12769 -0.01691 L 0.169 0.03601 " pathEditMode="relative" rAng="600000" ptsTypes="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3" y="-6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635E-6 -2.43018E-6 L 0.09813 -0.03576 C 0.11871 -0.04385 0.14973 -0.04826 0.18174 -0.04826 C 0.21848 -0.04826 0.24804 -0.04385 0.26861 -0.03576 L 0.36708 -2.43018E-6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54" y="-24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786 0.00196 L 0.22126 -0.03797 C 0.23252 -0.04704 0.24934 -0.05218 0.26698 -0.05218 C 0.2869 -0.05218 0.30307 -0.04704 0.31433 -0.03797 L 0.36806 0.00196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0" y="-27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9688"/>
            <a:ext cx="8389938" cy="6572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递归算法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idx="4294967295"/>
          </p:nvPr>
        </p:nvSpPr>
        <p:spPr>
          <a:xfrm>
            <a:off x="798513" y="1141413"/>
            <a:ext cx="8345487" cy="300355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ts val="3250"/>
              </a:lnSpc>
              <a:buNone/>
            </a:pP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zh-CN" altLang="en-US" sz="2800" b="1" spc="72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Hanoi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spc="293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个盘子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3250"/>
              </a:lnSpc>
              <a:spcBef>
                <a:spcPts val="81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spc="719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if</a:t>
            </a:r>
            <a:r>
              <a:rPr lang="en-US" altLang="zh-CN" sz="2800" b="1" spc="73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lang="en-US" altLang="zh-CN" sz="2800" b="1" spc="73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then move</a:t>
            </a:r>
            <a:r>
              <a:rPr lang="en-US" altLang="zh-CN"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spc="73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个盘子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lang="en-US" altLang="zh-CN" sz="2800" b="1" i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3600"/>
              </a:lnSpc>
              <a:spcBef>
                <a:spcPts val="57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spc="716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else</a:t>
            </a:r>
            <a:r>
              <a:rPr lang="en-US" altLang="zh-CN" sz="2800" b="1" spc="7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Hanoi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spc="18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3250"/>
              </a:lnSpc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          move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3595"/>
              </a:lnSpc>
              <a:spcBef>
                <a:spcPts val="560"/>
              </a:spcBef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          Hanoi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spc="18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595"/>
              </a:lnSpc>
            </a:pPr>
            <a:endParaRPr lang="zh-CN" altLang="en-US" dirty="0">
              <a:solidFill>
                <a:srgbClr val="000000"/>
              </a:solidFill>
              <a:latin typeface="QPLIHV+ËÎÌå"/>
              <a:cs typeface="QPLIHV+ËÎÌå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35662" y="4880042"/>
            <a:ext cx="3424406" cy="1008037"/>
          </a:xfrm>
          <a:prstGeom prst="rect">
            <a:avLst/>
          </a:prstGeom>
          <a:noFill/>
        </p:spPr>
        <p:txBody>
          <a:bodyPr wrap="none" lIns="83887" tIns="41944" rIns="83887" bIns="41944" rtlCol="0">
            <a:spAutoFit/>
          </a:bodyPr>
          <a:lstStyle/>
          <a:p>
            <a:pPr>
              <a:lnSpc>
                <a:spcPts val="3595"/>
              </a:lnSpc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) = 2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spc="18" dirty="0">
                <a:solidFill>
                  <a:srgbClr val="000000"/>
                </a:solidFill>
                <a:latin typeface="BMKVFN+Symbol"/>
                <a:cs typeface="BMKVFN+Symbol"/>
              </a:rPr>
              <a:t>-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1)</a:t>
            </a:r>
            <a:r>
              <a:rPr lang="en-US" altLang="zh-CN" sz="2800" b="1" spc="-2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en-US" altLang="zh-CN" sz="2800" b="1" spc="-1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QPLIHV+ËÎÌå"/>
                <a:cs typeface="QPLIHV+ËÎÌå"/>
              </a:rPr>
              <a:t>，</a:t>
            </a:r>
            <a:endParaRPr lang="zh-CN" altLang="en-US" sz="2800" dirty="0">
              <a:solidFill>
                <a:srgbClr val="000000"/>
              </a:solidFill>
              <a:latin typeface="QPLIHV+ËÎÌå"/>
              <a:cs typeface="QPLIHV+ËÎÌå"/>
            </a:endParaRPr>
          </a:p>
          <a:p>
            <a:pPr marL="14605">
              <a:lnSpc>
                <a:spcPts val="3255"/>
              </a:lnSpc>
              <a:spcBef>
                <a:spcPts val="270"/>
              </a:spcBef>
            </a:pP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(1) = 1</a:t>
            </a:r>
            <a:r>
              <a:rPr lang="zh-CN" altLang="en-US" sz="2800" dirty="0">
                <a:solidFill>
                  <a:srgbClr val="000000"/>
                </a:solidFill>
                <a:latin typeface="QPLIHV+ËÎÌå"/>
                <a:cs typeface="QPLIHV+ËÎÌå"/>
              </a:rPr>
              <a:t>，</a:t>
            </a:r>
            <a:endParaRPr lang="zh-CN" altLang="en-US" sz="2800" dirty="0">
              <a:solidFill>
                <a:srgbClr val="000000"/>
              </a:solidFill>
              <a:latin typeface="QPLIHV+ËÎÌå"/>
              <a:cs typeface="QPLIHV+ËÎÌå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739483" y="1599528"/>
            <a:ext cx="8267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989216" y="2678795"/>
            <a:ext cx="8267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762" y="3793465"/>
            <a:ext cx="8267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2"/>
          <p:cNvSpPr txBox="1"/>
          <p:nvPr/>
        </p:nvSpPr>
        <p:spPr>
          <a:xfrm>
            <a:off x="484206" y="3987141"/>
            <a:ext cx="8297370" cy="892900"/>
          </a:xfrm>
          <a:prstGeom prst="rect">
            <a:avLst/>
          </a:prstGeom>
        </p:spPr>
        <p:txBody>
          <a:bodyPr vert="horz" lIns="83887" tIns="41944" rIns="83887" bIns="41944" rtlCol="0">
            <a:normAutofit lnSpcReduction="10000"/>
          </a:bodyPr>
          <a:lstStyle>
            <a:lvl1pPr marL="209550" indent="-209550" algn="l" defTabSz="838835" rtl="0" eaLnBrk="1" latinLnBrk="0" hangingPunct="1">
              <a:lnSpc>
                <a:spcPct val="90000"/>
              </a:lnSpc>
              <a:spcBef>
                <a:spcPts val="915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9285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8385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8120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87220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06955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26055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45790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64890" indent="-209550" algn="l" defTabSz="838835" rtl="0" eaLnBrk="1" latinLnBrk="0" hangingPunct="1">
              <a:lnSpc>
                <a:spcPct val="90000"/>
              </a:lnSpc>
              <a:spcBef>
                <a:spcPts val="46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设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14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个盘子的移动次数为</a:t>
            </a:r>
            <a:r>
              <a:rPr lang="zh-CN" altLang="en-US" sz="2800" b="1" spc="2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595"/>
              </a:lnSpc>
            </a:pPr>
            <a:endParaRPr lang="zh-CN" altLang="en-US" dirty="0">
              <a:solidFill>
                <a:srgbClr val="000000"/>
              </a:solidFill>
              <a:latin typeface="QPLIHV+ËÎÌå"/>
              <a:cs typeface="QPLIHV+ËÎÌå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01675" y="42863"/>
            <a:ext cx="8442325" cy="6572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分析算法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825500" y="1063625"/>
                <a:ext cx="8318500" cy="11080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T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) = 2 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T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(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lang="en-US" altLang="zh-CN" sz="2800" b="1" spc="18" dirty="0">
                    <a:solidFill>
                      <a:srgbClr val="000000"/>
                    </a:solidFill>
                    <a:latin typeface="BMKVFN+Symbol"/>
                    <a:cs typeface="BMKVFN+Symbol"/>
                  </a:rPr>
                  <a:t>-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1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)+ 1</a:t>
                </a:r>
                <a:r>
                  <a:rPr lang="zh-CN" altLang="en-US" sz="2800" b="1" spc="14" dirty="0">
                    <a:solidFill>
                      <a:srgbClr val="000000"/>
                    </a:solidFill>
                    <a:latin typeface="QPLIHV+ËÎÌå"/>
                    <a:cs typeface="QPLIHV+ËÎÌå"/>
                  </a:rPr>
                  <a:t>，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T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/>
                    <a:cs typeface="Times New Roman" panose="02020603050405020304"/>
                  </a:rPr>
                  <a:t>(1) = 1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QPLIHV+ËÎÌå"/>
                    <a:cs typeface="QPLIHV+ËÎÌå"/>
                  </a:rPr>
                  <a:t>，</a:t>
                </a:r>
                <a:endParaRPr lang="zh-CN" altLang="en-US" sz="2800" b="1" dirty="0">
                  <a:solidFill>
                    <a:srgbClr val="000000"/>
                  </a:solidFill>
                  <a:latin typeface="QPLIHV+ËÎÌå"/>
                  <a:cs typeface="QPLIHV+ËÎÌå"/>
                </a:endParaRPr>
              </a:p>
              <a:p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QPLIHV+ËÎÌå"/>
                      </a:rPr>
                      <m:t>𝑻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QPLIHV+ËÎÌå"/>
                          </a:rPr>
                        </m:ctrlPr>
                      </m:dPr>
                      <m:e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QPLIHV+ËÎÌå"/>
                          </a:rPr>
                          <m:t>𝒏</m:t>
                        </m:r>
                      </m:e>
                    </m:d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QPLIHV+ËÎÌå"/>
                      </a:rPr>
                      <m:t>=</m:t>
                    </m:r>
                    <m:sSup>
                      <m:sSupPr>
                        <m:ctrlP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2800" b="1" i="1" dirty="0"/>
              </a:p>
            </p:txBody>
          </p:sp>
        </mc:Choice>
        <mc:Fallback>
          <p:sp>
            <p:nvSpPr>
              <p:cNvPr id="3" name="文本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825500" y="1063625"/>
                <a:ext cx="8318500" cy="1108075"/>
              </a:xfrm>
              <a:prstGeom prst="rect">
                <a:avLst/>
              </a:prstGeom>
              <a:blipFill rotWithShape="1">
                <a:blip r:embed="rId1"/>
                <a:stretch>
                  <a:fillRect t="-7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482469" y="2466808"/>
            <a:ext cx="8126591" cy="1033685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>
              <a:lnSpc>
                <a:spcPts val="325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spc="-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15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秒移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个盘子要多少时间？</a:t>
            </a:r>
            <a:endParaRPr lang="zh-CN" altLang="en-US" sz="2800" b="1" spc="14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255"/>
              </a:lnSpc>
              <a:spcBef>
                <a:spcPts val="81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5000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亿年！千万亿次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秒，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spc="1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个多小时</a:t>
            </a:r>
            <a:endParaRPr lang="zh-CN" altLang="en-US" sz="2800" b="1" spc="14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46412" y="3978288"/>
            <a:ext cx="3249743" cy="515594"/>
          </a:xfrm>
          <a:prstGeom prst="rect">
            <a:avLst/>
          </a:prstGeom>
          <a:noFill/>
        </p:spPr>
        <p:txBody>
          <a:bodyPr wrap="none" lIns="83887" tIns="41944" rIns="83887" bIns="41944" rtlCol="0">
            <a:spAutoFit/>
          </a:bodyPr>
          <a:lstStyle/>
          <a:p>
            <a:r>
              <a:rPr lang="zh-CN" altLang="en-US" sz="2800" b="1" spc="15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有没有更好的算法</a:t>
            </a:r>
            <a:r>
              <a:rPr lang="en-US" altLang="zh-CN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?</a:t>
            </a:r>
            <a:endParaRPr lang="en-US" altLang="zh-CN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471" y="4879759"/>
            <a:ext cx="8231903" cy="828501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zh-CN" altLang="en-US" sz="2800" b="1" spc="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没有</a:t>
            </a:r>
            <a:r>
              <a:rPr lang="zh-CN" altLang="en-US" sz="2800" b="1" spc="14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！</a:t>
            </a:r>
            <a:endParaRPr lang="en-US" altLang="zh-CN" sz="2800" b="1" spc="14" dirty="0" smtClean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QPLIHV+ËÎÌå"/>
            </a:endParaRPr>
          </a:p>
          <a:p>
            <a:pPr algn="just">
              <a:lnSpc>
                <a:spcPts val="2940"/>
              </a:lnSpc>
            </a:pPr>
            <a:r>
              <a:rPr lang="zh-CN" altLang="en-US" sz="2800" b="1" spc="14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这</a:t>
            </a:r>
            <a:r>
              <a:rPr lang="zh-CN" altLang="en-US" sz="2800" b="1" spc="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是一个难解的问题，不</a:t>
            </a:r>
            <a:r>
              <a:rPr lang="zh-CN" altLang="en-US" sz="2800" b="1" spc="14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存在多项式时间</a:t>
            </a:r>
            <a:r>
              <a:rPr lang="zh-CN" altLang="en-US" sz="2800" b="1" spc="14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PLIHV+ËÎÌå"/>
              </a:rPr>
              <a:t>的算法！</a:t>
            </a:r>
            <a:endParaRPr lang="zh-CN" altLang="en-US" sz="2800" b="1" spc="14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QPLIHV+ËÎÌå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01" y="3630382"/>
            <a:ext cx="907911" cy="12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79375"/>
            <a:ext cx="8415338" cy="5778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插入排序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4294967295"/>
              </p:nvPr>
            </p:nvSpPr>
            <p:spPr>
              <a:xfrm>
                <a:off x="495300" y="1100138"/>
                <a:ext cx="8267700" cy="47085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算法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𝑰𝒏𝒔𝒆𝒓𝒕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𝑺𝒐𝒓𝒕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𝒕𝒐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zh-CN" altLang="en-US" sz="2800" b="1" dirty="0" smtClean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endPara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// 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把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插入</a:t>
                </a:r>
                <a:endParaRPr lang="en-US" altLang="zh-CN" sz="2800" b="1" dirty="0" smtClean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𝒘𝒉𝒊𝒍𝒆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𝒂𝒏𝒅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</a:t>
                </a:r>
                <a:endPara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CN" sz="2800" b="1" i="1" smtClean="0">
                        <a:latin typeface="Cambria Math" panose="02040503050406030204"/>
                        <a:ea typeface="Cambria Math" panose="02040503050406030204" pitchFamily="18" charset="0"/>
                      </a:rPr>
                      <m:t>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endPara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/>
                        <a:ea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19735" indent="-419735" algn="l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副标题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4294967295"/>
              </p:nvPr>
            </p:nvSpPr>
            <p:spPr>
              <a:xfrm>
                <a:off x="495300" y="1100138"/>
                <a:ext cx="8267700" cy="4708525"/>
              </a:xfrm>
              <a:prstGeom prst="rect">
                <a:avLst/>
              </a:prstGeom>
              <a:blipFill rotWithShape="1">
                <a:blip r:embed="rId1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948621" y="2049912"/>
            <a:ext cx="17365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53998" y="3486619"/>
            <a:ext cx="4468041" cy="228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84645" y="1018896"/>
                <a:ext cx="8346597" cy="4177030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插入排序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基本运算是元素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比较，对规模为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的输入最坏情况下的时间复杂度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</m:oMath>
                  </m:oMathPara>
                </a14:m>
                <a:endParaRPr lang="en-US" altLang="zh-CN" sz="2800" b="1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解为</a:t>
                </a:r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800" b="1" i="1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b="1" i="1">
                    <a:latin typeface="Cambria Math" panose="02040503050406030204" pitchFamily="18" charset="0"/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45" y="1018896"/>
                <a:ext cx="8346597" cy="4177030"/>
              </a:xfrm>
              <a:prstGeom prst="rect">
                <a:avLst/>
              </a:prstGeom>
              <a:blipFill rotWithShape="1">
                <a:blip r:embed="rId1"/>
                <a:stretch>
                  <a:fillRect l="-2" t="-9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484645" y="-21020"/>
            <a:ext cx="83420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最坏情况下时间复杂度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03275" y="0"/>
            <a:ext cx="8340725" cy="66357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小 结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76313"/>
            <a:ext cx="8331200" cy="435133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递推方程的定义及初值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递推方程与算法时间复杂度的关系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	Hanoi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塔的递归排序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插入排序的迭代算法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13301" y="2420500"/>
            <a:ext cx="6853237" cy="1844675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R="6350" algn="ctr"/>
            <a:r>
              <a:rPr sz="66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迭代法求解</a:t>
            </a:r>
            <a:r>
              <a:rPr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br>
              <a:rPr 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递推方程</a:t>
            </a:r>
            <a:endParaRPr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9938" y="52388"/>
            <a:ext cx="8374062" cy="623887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迭代法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3751" y="1227379"/>
            <a:ext cx="855233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/>
              <a:t>不断用递推方程的右部替换左部</a:t>
            </a:r>
            <a:endParaRPr lang="zh-CN" altLang="en-US" sz="3200" b="1" dirty="0"/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/>
              <a:t>每次替换，随着 </a:t>
            </a:r>
            <a:r>
              <a:rPr lang="en-US" altLang="zh-CN" sz="3200" b="1" dirty="0"/>
              <a:t>n </a:t>
            </a:r>
            <a:r>
              <a:rPr lang="zh-CN" altLang="en-US" sz="3200" b="1" dirty="0"/>
              <a:t>的降低在和式中多出一项</a:t>
            </a:r>
            <a:endParaRPr lang="zh-CN" altLang="en-US" sz="3200" b="1" dirty="0"/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/>
              <a:t>直到出现初值停止迭代</a:t>
            </a:r>
            <a:endParaRPr lang="zh-CN" altLang="en-US" sz="3200" b="1" dirty="0"/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/>
              <a:t>将初值代入并对和式求和</a:t>
            </a:r>
            <a:endParaRPr lang="zh-CN" altLang="en-US" sz="3200" b="1" dirty="0"/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zh-CN" altLang="en-US" sz="3200" b="1" dirty="0"/>
              <a:t>可用数学归纳法验证解的正确性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8575"/>
            <a:ext cx="8364538" cy="625475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Hanoi 塔算法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4685" y="1106579"/>
            <a:ext cx="4242755" cy="791637"/>
          </a:xfrm>
          <a:prstGeom prst="rect">
            <a:avLst/>
          </a:prstGeom>
          <a:ln w="25400">
            <a:solidFill>
              <a:srgbClr val="006FC0"/>
            </a:solidFill>
          </a:ln>
        </p:spPr>
        <p:txBody>
          <a:bodyPr vert="horz" wrap="square" lIns="0" tIns="47381" rIns="0" bIns="0" rtlCol="0">
            <a:spAutoFit/>
          </a:bodyPr>
          <a:lstStyle/>
          <a:p>
            <a:pPr marL="195580">
              <a:lnSpc>
                <a:spcPts val="2930"/>
              </a:lnSpc>
              <a:spcBef>
                <a:spcPts val="375"/>
              </a:spcBef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 = 2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1) +</a:t>
            </a:r>
            <a:r>
              <a:rPr sz="2800" b="1" spc="-13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188595">
              <a:lnSpc>
                <a:spcPts val="293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(1) =</a:t>
            </a:r>
            <a:r>
              <a:rPr sz="2800" b="1" spc="-4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0217" y="4318306"/>
            <a:ext cx="7212200" cy="50812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46355">
              <a:spcBef>
                <a:spcPts val="120"/>
              </a:spcBef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b="1" spc="6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100" b="1" i="1" spc="8" baseline="26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100" b="1" spc="8" baseline="26000" dirty="0">
                <a:latin typeface="Symbol" panose="05050102010706020507"/>
                <a:cs typeface="Symbol" panose="05050102010706020507"/>
              </a:rPr>
              <a:t></a:t>
            </a:r>
            <a:r>
              <a:rPr sz="3100" b="1" spc="8" baseline="26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i="1" spc="6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spc="6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(1)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b="1" spc="-4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100" b="1" i="1" spc="8" baseline="26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100" b="1" spc="8" baseline="26000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3100" b="1" spc="8" baseline="26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spc="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+2</a:t>
            </a:r>
            <a:r>
              <a:rPr sz="3100" b="1" i="1" spc="8" baseline="26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100" b="1" spc="8" baseline="26000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3100" b="1" spc="8" baseline="26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3200" b="1" spc="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+…+2+1</a:t>
            </a:r>
            <a:endParaRPr sz="32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8995" y="4682161"/>
            <a:ext cx="3132660" cy="1406541"/>
          </a:xfrm>
          <a:prstGeom prst="rect">
            <a:avLst/>
          </a:prstGeom>
        </p:spPr>
        <p:txBody>
          <a:bodyPr vert="horz" wrap="square" lIns="0" tIns="214378" rIns="0" bIns="0" rtlCol="0">
            <a:spAutoFit/>
          </a:bodyPr>
          <a:lstStyle/>
          <a:p>
            <a:pPr marL="46355">
              <a:spcBef>
                <a:spcPts val="1690"/>
              </a:spcBef>
            </a:pPr>
            <a:r>
              <a:rPr sz="4800" b="1" baseline="-170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4800" b="1" spc="18" baseline="-17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100" b="1" i="1" spc="12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b="1" spc="12" dirty="0">
                <a:latin typeface="Symbol" panose="05050102010706020507"/>
                <a:cs typeface="Symbol" panose="05050102010706020507"/>
              </a:rPr>
              <a:t></a:t>
            </a:r>
            <a:r>
              <a:rPr sz="2100" b="1" spc="12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4800" b="1" baseline="-17000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4800" b="1" spc="-137" baseline="-17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1" spc="18" baseline="-17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100" b="1" i="1" spc="12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b="1" spc="12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100" b="1" spc="12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4800" b="1" spc="18" baseline="-17000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4800" b="1" spc="18" baseline="-17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4800" baseline="-170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6355">
              <a:spcBef>
                <a:spcPts val="1570"/>
              </a:spcBef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200" b="1" spc="-25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6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100" b="1" i="1" spc="8" baseline="26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6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spc="6" dirty="0">
                <a:latin typeface="Times New Roman" panose="02020603050405020304"/>
                <a:cs typeface="Times New Roman" panose="02020603050405020304"/>
              </a:rPr>
              <a:t>1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486" y="1292417"/>
            <a:ext cx="8273954" cy="2756814"/>
          </a:xfrm>
          <a:prstGeom prst="rect">
            <a:avLst/>
          </a:prstGeom>
        </p:spPr>
        <p:txBody>
          <a:bodyPr vert="horz" wrap="square" lIns="0" tIns="182532" rIns="0" bIns="0" rtlCol="0">
            <a:spAutoFit/>
          </a:bodyPr>
          <a:lstStyle/>
          <a:p>
            <a:pPr marL="31115">
              <a:spcBef>
                <a:spcPts val="1440"/>
              </a:spcBef>
            </a:pP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 = 2 </a:t>
            </a:r>
            <a:r>
              <a:rPr sz="3200" b="1" i="1" u="sng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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869950">
              <a:spcBef>
                <a:spcPts val="1325"/>
              </a:spcBef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= 2 </a:t>
            </a:r>
            <a:r>
              <a:rPr sz="3200" b="1" u="sng" spc="1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[</a:t>
            </a:r>
            <a:r>
              <a:rPr sz="3200" b="1" u="sng" spc="190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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2) + 1</a:t>
            </a:r>
            <a:r>
              <a:rPr sz="3200" b="1" u="sng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]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 +</a:t>
            </a:r>
            <a:r>
              <a:rPr sz="3200" b="1" spc="-53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869950">
              <a:spcBef>
                <a:spcPts val="1720"/>
              </a:spcBef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3200" b="1" spc="6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100" b="1" spc="8" baseline="26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2) + </a:t>
            </a:r>
            <a:r>
              <a:rPr sz="3200" b="1" u="sng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 +</a:t>
            </a:r>
            <a:r>
              <a:rPr sz="32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sz="3200" b="1" dirty="0" smtClean="0">
                <a:latin typeface="Times New Roman" panose="02020603050405020304"/>
                <a:cs typeface="Times New Roman" panose="02020603050405020304"/>
              </a:rPr>
              <a:t>  </a:t>
            </a:r>
            <a:endParaRPr lang="en-US" sz="3200" b="1" dirty="0" smtClean="0">
              <a:latin typeface="Times New Roman" panose="02020603050405020304"/>
              <a:cs typeface="Times New Roman" panose="02020603050405020304"/>
            </a:endParaRPr>
          </a:p>
          <a:p>
            <a:pPr marL="869950">
              <a:spcBef>
                <a:spcPts val="1720"/>
              </a:spcBef>
            </a:pP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200" b="1" spc="-2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6" dirty="0">
                <a:latin typeface="Times New Roman" panose="02020603050405020304"/>
                <a:cs typeface="Times New Roman" panose="02020603050405020304"/>
              </a:rPr>
              <a:t>…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56985" y="3157473"/>
            <a:ext cx="54104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69950">
              <a:spcBef>
                <a:spcPts val="172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随着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的降低在和式中多出一项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57238" y="92075"/>
            <a:ext cx="8386762" cy="623888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插入排序算法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985" y="1512110"/>
            <a:ext cx="1896734" cy="384234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31115">
              <a:spcBef>
                <a:spcPts val="115"/>
              </a:spcBef>
            </a:pPr>
            <a:r>
              <a:rPr sz="2400" b="1" i="1" spc="-37" dirty="0" smtClean="0">
                <a:latin typeface="Times New Roman" panose="02020603050405020304"/>
                <a:cs typeface="Times New Roman" panose="02020603050405020304"/>
              </a:rPr>
              <a:t>W </a:t>
            </a:r>
            <a:r>
              <a:rPr sz="2400" b="1" spc="-18" dirty="0">
                <a:latin typeface="Times New Roman" panose="02020603050405020304"/>
                <a:cs typeface="Times New Roman" panose="02020603050405020304"/>
              </a:rPr>
              <a:t>(1) </a:t>
            </a:r>
            <a:r>
              <a:rPr sz="2400" b="1" spc="25" dirty="0">
                <a:latin typeface="Symbol" panose="05050102010706020507"/>
                <a:cs typeface="Symbol" panose="05050102010706020507"/>
              </a:rPr>
              <a:t></a:t>
            </a:r>
            <a:r>
              <a:rPr sz="2400" b="1" spc="-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25" dirty="0">
                <a:latin typeface="Times New Roman" panose="02020603050405020304"/>
                <a:cs typeface="Times New Roman" panose="02020603050405020304"/>
              </a:rPr>
              <a:t>0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86215" y="1123280"/>
            <a:ext cx="3091202" cy="445789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>
              <a:spcBef>
                <a:spcPts val="115"/>
              </a:spcBef>
            </a:pPr>
            <a:r>
              <a:rPr lang="en-US" sz="2800" b="1" spc="-37" dirty="0" smtClean="0">
                <a:latin typeface="Symbol" panose="05050102010706020507"/>
                <a:cs typeface="Times New Roman" panose="02020603050405020304"/>
              </a:rPr>
              <a:t> </a:t>
            </a:r>
            <a:r>
              <a:rPr sz="3600" b="1" i="1" spc="-54" baseline="3000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600" b="1" i="1" spc="-302" baseline="300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63" baseline="30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600" b="1" i="1" spc="63" baseline="3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600" b="1" spc="63" baseline="30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600" b="1" spc="-14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37" baseline="3000" dirty="0">
                <a:latin typeface="Symbol" panose="05050102010706020507"/>
                <a:cs typeface="Symbol" panose="05050102010706020507"/>
              </a:rPr>
              <a:t></a:t>
            </a:r>
            <a:r>
              <a:rPr sz="3600" b="1" spc="-283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i="1" spc="63" baseline="300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600" b="1" i="1" spc="-294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73" baseline="30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600" b="1" i="1" spc="73" baseline="3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600" b="1" i="1" spc="-294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37" baseline="3000" dirty="0">
                <a:latin typeface="Symbol" panose="05050102010706020507"/>
                <a:cs typeface="Symbol" panose="05050102010706020507"/>
              </a:rPr>
              <a:t></a:t>
            </a:r>
            <a:r>
              <a:rPr sz="3600" b="1" spc="-37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8" baseline="3000" dirty="0">
                <a:latin typeface="Times New Roman" panose="02020603050405020304"/>
                <a:cs typeface="Times New Roman" panose="02020603050405020304"/>
              </a:rPr>
              <a:t>1)</a:t>
            </a:r>
            <a:r>
              <a:rPr sz="3600" b="1" spc="-320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37" baseline="3000" dirty="0">
                <a:latin typeface="Symbol" panose="05050102010706020507"/>
                <a:cs typeface="Symbol" panose="05050102010706020507"/>
              </a:rPr>
              <a:t></a:t>
            </a:r>
            <a:r>
              <a:rPr sz="3600" b="1" spc="-147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i="1" spc="37" baseline="3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600" b="1" i="1" spc="-302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37" baseline="3000" dirty="0">
                <a:latin typeface="Symbol" panose="05050102010706020507"/>
                <a:cs typeface="Symbol" panose="05050102010706020507"/>
              </a:rPr>
              <a:t></a:t>
            </a:r>
            <a:r>
              <a:rPr sz="3600" b="1" spc="-375" baseline="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37" baseline="3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3600" baseline="3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86215" y="1123280"/>
            <a:ext cx="3051998" cy="828040"/>
          </a:xfrm>
          <a:custGeom>
            <a:avLst/>
            <a:gdLst/>
            <a:ahLst/>
            <a:cxnLst/>
            <a:rect l="l" t="t" r="r" b="b"/>
            <a:pathLst>
              <a:path w="2187575" h="621030">
                <a:moveTo>
                  <a:pt x="0" y="620712"/>
                </a:moveTo>
                <a:lnTo>
                  <a:pt x="2187575" y="620712"/>
                </a:lnTo>
                <a:lnTo>
                  <a:pt x="2187575" y="0"/>
                </a:lnTo>
                <a:lnTo>
                  <a:pt x="0" y="0"/>
                </a:lnTo>
                <a:lnTo>
                  <a:pt x="0" y="620712"/>
                </a:lnTo>
                <a:close/>
              </a:path>
            </a:pathLst>
          </a:custGeom>
          <a:ln w="254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435425" y="1285698"/>
            <a:ext cx="8389872" cy="4229773"/>
          </a:xfrm>
          <a:prstGeom prst="rect">
            <a:avLst/>
          </a:prstGeom>
        </p:spPr>
        <p:txBody>
          <a:bodyPr vert="horz" wrap="square" lIns="0" tIns="155346" rIns="0" bIns="0" rtlCol="0">
            <a:spAutoFit/>
          </a:bodyPr>
          <a:lstStyle/>
          <a:p>
            <a:pPr marL="15240">
              <a:spcBef>
                <a:spcPts val="1225"/>
              </a:spcBef>
            </a:pP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1)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 +</a:t>
            </a:r>
            <a:r>
              <a:rPr sz="2900" b="1" spc="-7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5240">
              <a:spcBef>
                <a:spcPts val="1100"/>
              </a:spcBef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2) + 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2] 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9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5240">
              <a:spcBef>
                <a:spcPts val="1100"/>
              </a:spcBef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2) </a:t>
            </a:r>
            <a:r>
              <a:rPr sz="2900" b="1" dirty="0" smtClean="0">
                <a:latin typeface="Times New Roman" panose="02020603050405020304"/>
                <a:cs typeface="Times New Roman" panose="02020603050405020304"/>
              </a:rPr>
              <a:t>+ </a:t>
            </a:r>
            <a:r>
              <a:rPr sz="2900" b="1" i="1" u="sng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u="sng" dirty="0" smtClean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u="sng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900" b="1" dirty="0" smtClean="0">
                <a:latin typeface="Times New Roman" panose="02020603050405020304"/>
                <a:cs typeface="Times New Roman" panose="02020603050405020304"/>
              </a:rPr>
              <a:t> +</a:t>
            </a:r>
            <a:r>
              <a:rPr sz="2900" b="1" spc="-104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 smtClean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en-US" sz="2900" b="1" dirty="0" smtClean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随着 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的降低在和式中多出一项</a:t>
            </a:r>
            <a:endParaRPr sz="29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5240">
              <a:spcBef>
                <a:spcPts val="1915"/>
              </a:spcBef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9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5240">
              <a:spcBef>
                <a:spcPts val="1120"/>
              </a:spcBef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(1) + </a:t>
            </a:r>
            <a:r>
              <a:rPr sz="29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 + 2 + … + (</a:t>
            </a:r>
            <a:r>
              <a:rPr sz="29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2) +</a:t>
            </a:r>
            <a:r>
              <a:rPr sz="2900" b="1" spc="-172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spc="-6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900" b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1)</a:t>
            </a:r>
            <a:endParaRPr sz="29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5240">
              <a:spcBef>
                <a:spcPts val="1100"/>
              </a:spcBef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= 1 + 2 + … + (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2) +</a:t>
            </a:r>
            <a:r>
              <a:rPr sz="2900" b="1" spc="-12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1)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5240">
              <a:spcBef>
                <a:spcPts val="1105"/>
              </a:spcBef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9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1)/2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79463" y="20638"/>
            <a:ext cx="8364537" cy="625475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换元迭代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1670" y="1151982"/>
            <a:ext cx="801444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/>
              <a:t>将对 </a:t>
            </a:r>
            <a:r>
              <a:rPr lang="en-US" altLang="zh-CN" sz="2800" b="1" dirty="0"/>
              <a:t>n </a:t>
            </a:r>
            <a:r>
              <a:rPr lang="zh-CN" altLang="en-US" sz="2800" b="1" dirty="0"/>
              <a:t>的递推式换成对其他变元</a:t>
            </a:r>
            <a:r>
              <a:rPr lang="en-US" altLang="zh-CN" sz="2800" b="1" dirty="0"/>
              <a:t>k</a:t>
            </a:r>
            <a:r>
              <a:rPr lang="zh-CN" altLang="en-US" sz="2800" b="1" dirty="0"/>
              <a:t>的递推式</a:t>
            </a:r>
            <a:endParaRPr lang="zh-CN" altLang="en-US" sz="2800" b="1" dirty="0"/>
          </a:p>
          <a:p>
            <a:pPr marL="457200" indent="-4572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/>
              <a:t>对 </a:t>
            </a:r>
            <a:r>
              <a:rPr lang="en-US" altLang="zh-CN" sz="2800" b="1" dirty="0"/>
              <a:t>k </a:t>
            </a:r>
            <a:r>
              <a:rPr lang="zh-CN" altLang="en-US" sz="2800" b="1" dirty="0"/>
              <a:t>直接迭代</a:t>
            </a:r>
            <a:endParaRPr lang="zh-CN" altLang="en-US" sz="2800" b="1" dirty="0"/>
          </a:p>
          <a:p>
            <a:pPr marL="457200" indent="-4572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/>
              <a:t>将解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关于 </a:t>
            </a:r>
            <a:r>
              <a:rPr lang="en-US" altLang="zh-CN" sz="2800" b="1" dirty="0"/>
              <a:t>k </a:t>
            </a:r>
            <a:r>
              <a:rPr lang="zh-CN" altLang="en-US" sz="2800" b="1" dirty="0"/>
              <a:t>的函数</a:t>
            </a:r>
            <a:r>
              <a:rPr lang="en-US" altLang="zh-CN" sz="2800" b="1" dirty="0"/>
              <a:t>) </a:t>
            </a:r>
            <a:r>
              <a:rPr lang="zh-CN" altLang="en-US" sz="2800" b="1" dirty="0"/>
              <a:t>转换成关于</a:t>
            </a:r>
            <a:r>
              <a:rPr lang="en-US" altLang="zh-CN" sz="2800" b="1" dirty="0"/>
              <a:t>n </a:t>
            </a:r>
            <a:r>
              <a:rPr lang="zh-CN" altLang="en-US" sz="2800" b="1" dirty="0"/>
              <a:t>的函数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54063" y="26988"/>
            <a:ext cx="8389937" cy="623887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二分归并排序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850" y="1076409"/>
            <a:ext cx="7890649" cy="4322782"/>
          </a:xfrm>
          <a:prstGeom prst="rect">
            <a:avLst/>
          </a:prstGeom>
        </p:spPr>
        <p:txBody>
          <a:bodyPr vert="horz" wrap="square" lIns="0" tIns="110296" rIns="0" bIns="0" rtlCol="0">
            <a:spAutoFit/>
          </a:bodyPr>
          <a:lstStyle/>
          <a:p>
            <a:pPr marL="15240">
              <a:spcBef>
                <a:spcPts val="870"/>
              </a:spcBef>
            </a:pP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spc="-465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MergeSort </a:t>
            </a:r>
            <a:r>
              <a:rPr sz="29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900" b="1" spc="-3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)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42875">
              <a:spcBef>
                <a:spcPts val="750"/>
              </a:spcBef>
            </a:pPr>
            <a:r>
              <a:rPr sz="29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输入：数</a:t>
            </a:r>
            <a:r>
              <a:rPr sz="29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sz="2900" b="1" spc="-75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9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9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9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sz="29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sz="29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9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sz="29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42875">
              <a:spcBef>
                <a:spcPts val="705"/>
              </a:spcBef>
            </a:pPr>
            <a:r>
              <a:rPr sz="29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输出：按递增顺序排序的数</a:t>
            </a:r>
            <a:r>
              <a:rPr sz="29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sz="2900" b="1" spc="-789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A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42875">
              <a:spcBef>
                <a:spcPts val="660"/>
              </a:spcBef>
              <a:tabLst>
                <a:tab pos="701675" algn="l"/>
                <a:tab pos="1113790" algn="l"/>
              </a:tabLst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1.	if	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p 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9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r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42875">
              <a:spcBef>
                <a:spcPts val="720"/>
              </a:spcBef>
              <a:tabLst>
                <a:tab pos="701675" algn="l"/>
              </a:tabLst>
            </a:pP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2.	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then</a:t>
            </a:r>
            <a:r>
              <a:rPr sz="29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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p+r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)/2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</a:t>
            </a:r>
            <a:endParaRPr sz="2900" dirty="0">
              <a:latin typeface="Symbol" panose="05050102010706020507"/>
              <a:cs typeface="Symbol" panose="05050102010706020507"/>
            </a:endParaRPr>
          </a:p>
          <a:p>
            <a:pPr marL="1227455" indent="-1084580">
              <a:spcBef>
                <a:spcPts val="690"/>
              </a:spcBef>
              <a:buAutoNum type="arabicPeriod" startAt="3"/>
              <a:tabLst>
                <a:tab pos="1226185" algn="l"/>
                <a:tab pos="1226820" algn="l"/>
              </a:tabLst>
            </a:pP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spc="257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MergeSort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900" b="1" spc="-4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)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320165" indent="-1177290">
              <a:spcBef>
                <a:spcPts val="705"/>
              </a:spcBef>
              <a:buAutoNum type="arabicPeriod" startAt="3"/>
              <a:tabLst>
                <a:tab pos="1319530" algn="l"/>
                <a:tab pos="1320165" algn="l"/>
              </a:tabLst>
            </a:pPr>
            <a:r>
              <a:rPr sz="2900" b="1" spc="257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MergeSort </a:t>
            </a:r>
            <a:r>
              <a:rPr sz="29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+1,</a:t>
            </a:r>
            <a:r>
              <a:rPr sz="2900" b="1" spc="-6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)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1446530" indent="-1303020">
              <a:spcBef>
                <a:spcPts val="710"/>
              </a:spcBef>
              <a:buAutoNum type="arabicPeriod" startAt="3"/>
              <a:tabLst>
                <a:tab pos="1445260" algn="l"/>
                <a:tab pos="1445895" algn="l"/>
              </a:tabLst>
            </a:pPr>
            <a:r>
              <a:rPr sz="2900" b="1" dirty="0">
                <a:latin typeface="Times New Roman" panose="02020603050405020304"/>
                <a:cs typeface="Times New Roman" panose="02020603050405020304"/>
              </a:rPr>
              <a:t>Merge (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9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)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27075" y="84138"/>
            <a:ext cx="8416925" cy="625475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换</a:t>
            </a:r>
            <a:r>
              <a:rPr 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元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4453" y="5182464"/>
            <a:ext cx="3251327" cy="6155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469703" y="1098585"/>
            <a:ext cx="8361088" cy="365823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915035" marR="202565" indent="-838200">
              <a:lnSpc>
                <a:spcPct val="120000"/>
              </a:lnSpc>
              <a:spcBef>
                <a:spcPts val="115"/>
              </a:spcBef>
              <a:tabLst>
                <a:tab pos="1928495" algn="l"/>
              </a:tabLst>
            </a:pPr>
            <a:r>
              <a:rPr sz="32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</a:t>
            </a:r>
            <a:r>
              <a:rPr sz="32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3200" b="1" spc="-74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32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32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sz="3200" b="1" i="1" baseline="2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	</a:t>
            </a:r>
            <a:r>
              <a:rPr sz="32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递推方程如下</a:t>
            </a:r>
            <a:r>
              <a:rPr sz="3200" b="1" spc="-6" dirty="0">
                <a:latin typeface="宋体" panose="02010600030101010101" pitchFamily="2" charset="-122"/>
                <a:cs typeface="宋体" panose="02010600030101010101" pitchFamily="2" charset="-122"/>
              </a:rPr>
              <a:t>：  </a:t>
            </a:r>
            <a:endParaRPr lang="en-US" sz="3200" b="1" spc="-6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15035" marR="202565" indent="-838200">
              <a:lnSpc>
                <a:spcPct val="120000"/>
              </a:lnSpc>
              <a:spcBef>
                <a:spcPts val="115"/>
              </a:spcBef>
              <a:tabLst>
                <a:tab pos="1928495" algn="l"/>
              </a:tabLst>
            </a:pPr>
            <a:r>
              <a:rPr lang="en-US" sz="3200" b="1" i="1" spc="-6" dirty="0">
                <a:latin typeface="宋体" panose="02010600030101010101" pitchFamily="2" charset="-122"/>
                <a:cs typeface="Times New Roman" panose="02020603050405020304"/>
              </a:rPr>
              <a:t> </a:t>
            </a:r>
            <a:r>
              <a:rPr lang="en-US" sz="3200" b="1" i="1" spc="-6" dirty="0" smtClean="0">
                <a:latin typeface="宋体" panose="02010600030101010101" pitchFamily="2" charset="-122"/>
                <a:cs typeface="Times New Roman" panose="02020603050405020304"/>
              </a:rPr>
              <a:t>             </a:t>
            </a:r>
            <a:r>
              <a:rPr sz="3200" b="1" i="1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32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2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/2)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 </a:t>
            </a:r>
            <a:endParaRPr lang="en-US" sz="3200" b="1" dirty="0" smtClean="0">
              <a:latin typeface="Times New Roman" panose="02020603050405020304"/>
              <a:cs typeface="Times New Roman" panose="02020603050405020304"/>
            </a:endParaRPr>
          </a:p>
          <a:p>
            <a:pPr marL="915035" marR="202565" indent="-838200">
              <a:lnSpc>
                <a:spcPct val="120000"/>
              </a:lnSpc>
              <a:spcBef>
                <a:spcPts val="115"/>
              </a:spcBef>
              <a:tabLst>
                <a:tab pos="1928495" algn="l"/>
              </a:tabLst>
            </a:pPr>
            <a:r>
              <a:rPr lang="en-US" sz="32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b="1" dirty="0" smtClean="0">
                <a:latin typeface="Times New Roman" panose="02020603050405020304"/>
                <a:cs typeface="Times New Roman" panose="02020603050405020304"/>
              </a:rPr>
              <a:t>                          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(1)=0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>
              <a:spcBef>
                <a:spcPts val="5"/>
              </a:spcBef>
            </a:pP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77470">
              <a:lnSpc>
                <a:spcPts val="3510"/>
              </a:lnSpc>
            </a:pPr>
            <a:r>
              <a:rPr sz="32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换元</a:t>
            </a:r>
            <a:r>
              <a:rPr sz="3200" b="1" spc="-6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3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007110">
              <a:lnSpc>
                <a:spcPts val="3500"/>
              </a:lnSpc>
            </a:pPr>
            <a:r>
              <a:rPr lang="en-US" sz="3200" b="1" i="1" dirty="0" smtClean="0">
                <a:latin typeface="Times New Roman" panose="02020603050405020304"/>
                <a:cs typeface="Times New Roman" panose="02020603050405020304"/>
              </a:rPr>
              <a:t>           </a:t>
            </a:r>
            <a:r>
              <a:rPr lang="en-US" sz="3200" b="1" i="1" dirty="0" smtClean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3200" b="1" i="1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3200" b="1" i="1" baseline="24000" dirty="0" smtClean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3200" b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i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200" b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3200" b="1" i="1" spc="-8" baseline="2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spc="-8" baseline="2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3200" b="1" spc="-6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b="1" spc="-6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i="1" baseline="2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3200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007110">
              <a:lnSpc>
                <a:spcPts val="3515"/>
              </a:lnSpc>
            </a:pPr>
            <a:r>
              <a:rPr lang="en-US" sz="3200" b="1" i="1" spc="-6" dirty="0" smtClean="0">
                <a:latin typeface="Times New Roman" panose="02020603050405020304"/>
                <a:cs typeface="Times New Roman" panose="02020603050405020304"/>
              </a:rPr>
              <a:t>               </a:t>
            </a:r>
            <a:r>
              <a:rPr sz="3200" b="1" i="1" spc="-6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200" b="1" spc="-6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3200" b="1" spc="-6" dirty="0" smtClean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spc="-6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200" b="1" spc="-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06328" y="3808316"/>
            <a:ext cx="7789732" cy="2297840"/>
          </a:xfrm>
          <a:prstGeom prst="rect">
            <a:avLst/>
          </a:prstGeom>
        </p:spPr>
        <p:txBody>
          <a:bodyPr vert="horz" wrap="square" lIns="0" tIns="162337" rIns="0" bIns="0" rtlCol="0">
            <a:spAutoFit/>
          </a:bodyPr>
          <a:lstStyle/>
          <a:p>
            <a:pPr marL="46355">
              <a:spcBef>
                <a:spcPts val="1280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80" dirty="0">
                <a:latin typeface="Times New Roman" panose="02020603050405020304"/>
                <a:cs typeface="Times New Roman" panose="02020603050405020304"/>
              </a:rPr>
              <a:t>...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46355">
              <a:spcBef>
                <a:spcPts val="1170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-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275" baseline="4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3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239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(1)</a:t>
            </a:r>
            <a:r>
              <a:rPr sz="2800" b="1" spc="-42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12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18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4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b="1" i="1" spc="92" baseline="4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i="1" spc="92" baseline="4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b="1" i="1" spc="18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k-1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en-US" altLang="zh-CN" sz="2800" b="1" i="1" spc="18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k-2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spc="8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+2+1</a:t>
            </a:r>
            <a:r>
              <a:rPr lang="en-US" altLang="zh-CN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spc="18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">
              <a:spcBef>
                <a:spcPts val="1170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18" dirty="0" smtClean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spc="61" dirty="0" smtClean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 smtClean="0">
                <a:latin typeface="Times New Roman" panose="02020603050405020304"/>
                <a:cs typeface="Times New Roman" panose="02020603050405020304"/>
              </a:rPr>
              <a:t>k </a:t>
            </a:r>
            <a:r>
              <a:rPr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18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 </a:t>
            </a:r>
            <a:r>
              <a:rPr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</a:t>
            </a:r>
            <a:r>
              <a:rPr sz="2800" spc="-159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6355">
              <a:spcBef>
                <a:spcPts val="840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18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i="1" spc="-37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37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spc="-34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18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i="1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spc="-15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18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i="1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328" y="3411400"/>
            <a:ext cx="7007221" cy="450496"/>
          </a:xfrm>
          <a:prstGeom prst="rect">
            <a:avLst/>
          </a:prstGeom>
        </p:spPr>
        <p:txBody>
          <a:bodyPr vert="horz" wrap="square" lIns="0" tIns="19419" rIns="0" bIns="0" rtlCol="0">
            <a:spAutoFit/>
          </a:bodyPr>
          <a:lstStyle/>
          <a:p>
            <a:pPr marL="46355">
              <a:spcBef>
                <a:spcPts val="155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3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45" baseline="44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[2</a:t>
            </a:r>
            <a:r>
              <a:rPr sz="2800" b="1" i="1" spc="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2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73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800" b="1" i="1" spc="109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30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18" baseline="44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118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spc="-8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269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</a:t>
            </a:r>
            <a:r>
              <a:rPr sz="2800" spc="-98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294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09" baseline="44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109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477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-3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98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1]</a:t>
            </a:r>
            <a:r>
              <a:rPr sz="2800" spc="9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661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-139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257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9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650" baseline="4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spc="-31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929" y="1921815"/>
            <a:ext cx="6076034" cy="1179585"/>
          </a:xfrm>
          <a:prstGeom prst="rect">
            <a:avLst/>
          </a:prstGeom>
        </p:spPr>
        <p:txBody>
          <a:bodyPr vert="horz" wrap="square" lIns="0" tIns="162337" rIns="0" bIns="0" rtlCol="0">
            <a:spAutoFit/>
          </a:bodyPr>
          <a:lstStyle/>
          <a:p>
            <a:pPr marL="77470">
              <a:spcBef>
                <a:spcPts val="1280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7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6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[2</a:t>
            </a:r>
            <a:r>
              <a:rPr sz="2800" b="1" i="1" spc="-6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22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800" b="1" i="1" spc="118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30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18" baseline="44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118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9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263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</a:t>
            </a:r>
            <a:r>
              <a:rPr sz="2800" spc="-104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30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45" baseline="44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45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394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-3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3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1]</a:t>
            </a:r>
            <a:r>
              <a:rPr sz="2800" b="1" spc="-39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650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-30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7470">
              <a:spcBef>
                <a:spcPts val="1155"/>
              </a:spcBef>
            </a:pP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8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118" baseline="42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22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800" b="1" i="1" spc="118" baseline="42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302" baseline="42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18" baseline="42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118" baseline="42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92" baseline="42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263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2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650" baseline="42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-139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-263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2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661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spc="-3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140" y="1478658"/>
            <a:ext cx="5203773" cy="450496"/>
          </a:xfrm>
          <a:prstGeom prst="rect">
            <a:avLst/>
          </a:prstGeom>
        </p:spPr>
        <p:txBody>
          <a:bodyPr vert="horz" wrap="square" lIns="0" tIns="19419" rIns="0" bIns="0" rtlCol="0">
            <a:spAutoFit/>
          </a:bodyPr>
          <a:lstStyle/>
          <a:p>
            <a:pPr marL="31115">
              <a:spcBef>
                <a:spcPts val="155"/>
              </a:spcBef>
            </a:pPr>
            <a:r>
              <a:rPr sz="2800" b="1" i="1" spc="37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22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6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6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</a:t>
            </a:r>
            <a:r>
              <a:rPr sz="2800" spc="-7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8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-8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i="1" spc="-227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spc="-1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-302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45" baseline="44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45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165" baseline="4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2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19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2800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6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i="1" spc="92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800" b="1" i="1" spc="650" baseline="440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18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2800" spc="-31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18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798513" y="71438"/>
            <a:ext cx="8345487" cy="623887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迭代求解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0814" y="1054132"/>
            <a:ext cx="4190942" cy="490982"/>
          </a:xfrm>
          <a:prstGeom prst="rect">
            <a:avLst/>
          </a:prstGeom>
          <a:ln w="25400">
            <a:solidFill>
              <a:srgbClr val="006FC0"/>
            </a:solidFill>
          </a:ln>
        </p:spPr>
        <p:txBody>
          <a:bodyPr vert="horz" wrap="square" lIns="0" tIns="44274" rIns="0" bIns="0" rtlCol="0">
            <a:spAutoFit/>
          </a:bodyPr>
          <a:lstStyle/>
          <a:p>
            <a:pPr marL="112395">
              <a:spcBef>
                <a:spcPts val="350"/>
              </a:spcBef>
            </a:pPr>
            <a:r>
              <a:rPr sz="29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900" b="1" i="1" baseline="24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900" b="1" i="1" spc="-6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900" b="1" i="1" spc="-8" baseline="24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900" b="1" spc="-8" baseline="24000" dirty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2900" b="1" spc="-6" dirty="0"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900" b="1" spc="-6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900" b="1" i="1" baseline="24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9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9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68289" y="1612315"/>
            <a:ext cx="1719638" cy="1122680"/>
          </a:xfrm>
          <a:custGeom>
            <a:avLst/>
            <a:gdLst/>
            <a:ahLst/>
            <a:cxnLst/>
            <a:rect l="l" t="t" r="r" b="b"/>
            <a:pathLst>
              <a:path w="1747520" h="842010">
                <a:moveTo>
                  <a:pt x="1033538" y="0"/>
                </a:moveTo>
                <a:lnTo>
                  <a:pt x="982739" y="636"/>
                </a:lnTo>
                <a:lnTo>
                  <a:pt x="932286" y="3329"/>
                </a:lnTo>
                <a:lnTo>
                  <a:pt x="882370" y="8048"/>
                </a:lnTo>
                <a:lnTo>
                  <a:pt x="833183" y="14762"/>
                </a:lnTo>
                <a:lnTo>
                  <a:pt x="784915" y="23442"/>
                </a:lnTo>
                <a:lnTo>
                  <a:pt x="737758" y="34058"/>
                </a:lnTo>
                <a:lnTo>
                  <a:pt x="691902" y="46579"/>
                </a:lnTo>
                <a:lnTo>
                  <a:pt x="647539" y="60975"/>
                </a:lnTo>
                <a:lnTo>
                  <a:pt x="604860" y="77216"/>
                </a:lnTo>
                <a:lnTo>
                  <a:pt x="564055" y="95272"/>
                </a:lnTo>
                <a:lnTo>
                  <a:pt x="525317" y="115113"/>
                </a:lnTo>
                <a:lnTo>
                  <a:pt x="488835" y="136709"/>
                </a:lnTo>
                <a:lnTo>
                  <a:pt x="454801" y="160029"/>
                </a:lnTo>
                <a:lnTo>
                  <a:pt x="423407" y="185044"/>
                </a:lnTo>
                <a:lnTo>
                  <a:pt x="394842" y="211723"/>
                </a:lnTo>
                <a:lnTo>
                  <a:pt x="0" y="218454"/>
                </a:lnTo>
                <a:lnTo>
                  <a:pt x="305942" y="363615"/>
                </a:lnTo>
                <a:lnTo>
                  <a:pt x="299902" y="402741"/>
                </a:lnTo>
                <a:lnTo>
                  <a:pt x="300121" y="441548"/>
                </a:lnTo>
                <a:lnTo>
                  <a:pt x="306419" y="479821"/>
                </a:lnTo>
                <a:lnTo>
                  <a:pt x="318611" y="517343"/>
                </a:lnTo>
                <a:lnTo>
                  <a:pt x="336515" y="553900"/>
                </a:lnTo>
                <a:lnTo>
                  <a:pt x="359948" y="589277"/>
                </a:lnTo>
                <a:lnTo>
                  <a:pt x="388728" y="623258"/>
                </a:lnTo>
                <a:lnTo>
                  <a:pt x="422672" y="655627"/>
                </a:lnTo>
                <a:lnTo>
                  <a:pt x="461596" y="686169"/>
                </a:lnTo>
                <a:lnTo>
                  <a:pt x="505319" y="714670"/>
                </a:lnTo>
                <a:lnTo>
                  <a:pt x="553657" y="740912"/>
                </a:lnTo>
                <a:lnTo>
                  <a:pt x="606427" y="764682"/>
                </a:lnTo>
                <a:lnTo>
                  <a:pt x="663448" y="785763"/>
                </a:lnTo>
                <a:lnTo>
                  <a:pt x="711320" y="800362"/>
                </a:lnTo>
                <a:lnTo>
                  <a:pt x="760184" y="812694"/>
                </a:lnTo>
                <a:lnTo>
                  <a:pt x="809848" y="822789"/>
                </a:lnTo>
                <a:lnTo>
                  <a:pt x="860121" y="830678"/>
                </a:lnTo>
                <a:lnTo>
                  <a:pt x="910813" y="836389"/>
                </a:lnTo>
                <a:lnTo>
                  <a:pt x="961731" y="839955"/>
                </a:lnTo>
                <a:lnTo>
                  <a:pt x="1012685" y="841404"/>
                </a:lnTo>
                <a:lnTo>
                  <a:pt x="1063484" y="840767"/>
                </a:lnTo>
                <a:lnTo>
                  <a:pt x="1113937" y="838075"/>
                </a:lnTo>
                <a:lnTo>
                  <a:pt x="1163853" y="833356"/>
                </a:lnTo>
                <a:lnTo>
                  <a:pt x="1213040" y="826642"/>
                </a:lnTo>
                <a:lnTo>
                  <a:pt x="1261308" y="817961"/>
                </a:lnTo>
                <a:lnTo>
                  <a:pt x="1308465" y="807346"/>
                </a:lnTo>
                <a:lnTo>
                  <a:pt x="1354321" y="794825"/>
                </a:lnTo>
                <a:lnTo>
                  <a:pt x="1398684" y="780429"/>
                </a:lnTo>
                <a:lnTo>
                  <a:pt x="1441363" y="764188"/>
                </a:lnTo>
                <a:lnTo>
                  <a:pt x="1482168" y="746132"/>
                </a:lnTo>
                <a:lnTo>
                  <a:pt x="1520906" y="726290"/>
                </a:lnTo>
                <a:lnTo>
                  <a:pt x="1557388" y="704695"/>
                </a:lnTo>
                <a:lnTo>
                  <a:pt x="1591422" y="681374"/>
                </a:lnTo>
                <a:lnTo>
                  <a:pt x="1622816" y="656360"/>
                </a:lnTo>
                <a:lnTo>
                  <a:pt x="1651381" y="629680"/>
                </a:lnTo>
                <a:lnTo>
                  <a:pt x="1681548" y="595609"/>
                </a:lnTo>
                <a:lnTo>
                  <a:pt x="1705905" y="560712"/>
                </a:lnTo>
                <a:lnTo>
                  <a:pt x="1724547" y="525193"/>
                </a:lnTo>
                <a:lnTo>
                  <a:pt x="1737567" y="489255"/>
                </a:lnTo>
                <a:lnTo>
                  <a:pt x="1747124" y="416932"/>
                </a:lnTo>
                <a:lnTo>
                  <a:pt x="1743851" y="380952"/>
                </a:lnTo>
                <a:lnTo>
                  <a:pt x="1721675" y="310371"/>
                </a:lnTo>
                <a:lnTo>
                  <a:pt x="1702962" y="276174"/>
                </a:lnTo>
                <a:lnTo>
                  <a:pt x="1679292" y="242978"/>
                </a:lnTo>
                <a:lnTo>
                  <a:pt x="1650760" y="210985"/>
                </a:lnTo>
                <a:lnTo>
                  <a:pt x="1617460" y="180397"/>
                </a:lnTo>
                <a:lnTo>
                  <a:pt x="1579489" y="151418"/>
                </a:lnTo>
                <a:lnTo>
                  <a:pt x="1536939" y="124250"/>
                </a:lnTo>
                <a:lnTo>
                  <a:pt x="1489908" y="99096"/>
                </a:lnTo>
                <a:lnTo>
                  <a:pt x="1438488" y="76158"/>
                </a:lnTo>
                <a:lnTo>
                  <a:pt x="1382776" y="55640"/>
                </a:lnTo>
                <a:lnTo>
                  <a:pt x="1334903" y="41042"/>
                </a:lnTo>
                <a:lnTo>
                  <a:pt x="1286039" y="28710"/>
                </a:lnTo>
                <a:lnTo>
                  <a:pt x="1236375" y="18615"/>
                </a:lnTo>
                <a:lnTo>
                  <a:pt x="1186102" y="10726"/>
                </a:lnTo>
                <a:lnTo>
                  <a:pt x="1135410" y="5014"/>
                </a:lnTo>
                <a:lnTo>
                  <a:pt x="1084492" y="1449"/>
                </a:lnTo>
                <a:lnTo>
                  <a:pt x="1033538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4740407" y="1592565"/>
            <a:ext cx="1747520" cy="1122680"/>
          </a:xfrm>
          <a:custGeom>
            <a:avLst/>
            <a:gdLst/>
            <a:ahLst/>
            <a:cxnLst/>
            <a:rect l="l" t="t" r="r" b="b"/>
            <a:pathLst>
              <a:path w="1747520" h="842010">
                <a:moveTo>
                  <a:pt x="0" y="218454"/>
                </a:moveTo>
                <a:lnTo>
                  <a:pt x="394842" y="211723"/>
                </a:lnTo>
                <a:lnTo>
                  <a:pt x="423407" y="185044"/>
                </a:lnTo>
                <a:lnTo>
                  <a:pt x="454801" y="160029"/>
                </a:lnTo>
                <a:lnTo>
                  <a:pt x="488835" y="136709"/>
                </a:lnTo>
                <a:lnTo>
                  <a:pt x="525317" y="115113"/>
                </a:lnTo>
                <a:lnTo>
                  <a:pt x="564055" y="95272"/>
                </a:lnTo>
                <a:lnTo>
                  <a:pt x="604860" y="77216"/>
                </a:lnTo>
                <a:lnTo>
                  <a:pt x="647539" y="60975"/>
                </a:lnTo>
                <a:lnTo>
                  <a:pt x="691902" y="46579"/>
                </a:lnTo>
                <a:lnTo>
                  <a:pt x="737758" y="34058"/>
                </a:lnTo>
                <a:lnTo>
                  <a:pt x="784915" y="23442"/>
                </a:lnTo>
                <a:lnTo>
                  <a:pt x="833183" y="14762"/>
                </a:lnTo>
                <a:lnTo>
                  <a:pt x="882370" y="8048"/>
                </a:lnTo>
                <a:lnTo>
                  <a:pt x="932286" y="3329"/>
                </a:lnTo>
                <a:lnTo>
                  <a:pt x="982739" y="636"/>
                </a:lnTo>
                <a:lnTo>
                  <a:pt x="1033538" y="0"/>
                </a:lnTo>
                <a:lnTo>
                  <a:pt x="1084492" y="1449"/>
                </a:lnTo>
                <a:lnTo>
                  <a:pt x="1135410" y="5014"/>
                </a:lnTo>
                <a:lnTo>
                  <a:pt x="1186102" y="10726"/>
                </a:lnTo>
                <a:lnTo>
                  <a:pt x="1236375" y="18615"/>
                </a:lnTo>
                <a:lnTo>
                  <a:pt x="1286039" y="28710"/>
                </a:lnTo>
                <a:lnTo>
                  <a:pt x="1334903" y="41042"/>
                </a:lnTo>
                <a:lnTo>
                  <a:pt x="1382776" y="55640"/>
                </a:lnTo>
                <a:lnTo>
                  <a:pt x="1438488" y="76158"/>
                </a:lnTo>
                <a:lnTo>
                  <a:pt x="1489908" y="99096"/>
                </a:lnTo>
                <a:lnTo>
                  <a:pt x="1536939" y="124250"/>
                </a:lnTo>
                <a:lnTo>
                  <a:pt x="1579489" y="151418"/>
                </a:lnTo>
                <a:lnTo>
                  <a:pt x="1617460" y="180397"/>
                </a:lnTo>
                <a:lnTo>
                  <a:pt x="1650760" y="210985"/>
                </a:lnTo>
                <a:lnTo>
                  <a:pt x="1679292" y="242978"/>
                </a:lnTo>
                <a:lnTo>
                  <a:pt x="1702962" y="276174"/>
                </a:lnTo>
                <a:lnTo>
                  <a:pt x="1721675" y="310371"/>
                </a:lnTo>
                <a:lnTo>
                  <a:pt x="1743851" y="380952"/>
                </a:lnTo>
                <a:lnTo>
                  <a:pt x="1747124" y="416932"/>
                </a:lnTo>
                <a:lnTo>
                  <a:pt x="1745061" y="453101"/>
                </a:lnTo>
                <a:lnTo>
                  <a:pt x="1724547" y="525193"/>
                </a:lnTo>
                <a:lnTo>
                  <a:pt x="1705905" y="560712"/>
                </a:lnTo>
                <a:lnTo>
                  <a:pt x="1681548" y="595609"/>
                </a:lnTo>
                <a:lnTo>
                  <a:pt x="1651381" y="629680"/>
                </a:lnTo>
                <a:lnTo>
                  <a:pt x="1622816" y="656360"/>
                </a:lnTo>
                <a:lnTo>
                  <a:pt x="1591422" y="681374"/>
                </a:lnTo>
                <a:lnTo>
                  <a:pt x="1557388" y="704695"/>
                </a:lnTo>
                <a:lnTo>
                  <a:pt x="1520906" y="726290"/>
                </a:lnTo>
                <a:lnTo>
                  <a:pt x="1482168" y="746132"/>
                </a:lnTo>
                <a:lnTo>
                  <a:pt x="1441363" y="764188"/>
                </a:lnTo>
                <a:lnTo>
                  <a:pt x="1398684" y="780429"/>
                </a:lnTo>
                <a:lnTo>
                  <a:pt x="1354321" y="794825"/>
                </a:lnTo>
                <a:lnTo>
                  <a:pt x="1308465" y="807346"/>
                </a:lnTo>
                <a:lnTo>
                  <a:pt x="1261308" y="817961"/>
                </a:lnTo>
                <a:lnTo>
                  <a:pt x="1213040" y="826642"/>
                </a:lnTo>
                <a:lnTo>
                  <a:pt x="1163853" y="833356"/>
                </a:lnTo>
                <a:lnTo>
                  <a:pt x="1113937" y="838075"/>
                </a:lnTo>
                <a:lnTo>
                  <a:pt x="1063484" y="840767"/>
                </a:lnTo>
                <a:lnTo>
                  <a:pt x="1012685" y="841404"/>
                </a:lnTo>
                <a:lnTo>
                  <a:pt x="961731" y="839955"/>
                </a:lnTo>
                <a:lnTo>
                  <a:pt x="910813" y="836389"/>
                </a:lnTo>
                <a:lnTo>
                  <a:pt x="860121" y="830678"/>
                </a:lnTo>
                <a:lnTo>
                  <a:pt x="809848" y="822789"/>
                </a:lnTo>
                <a:lnTo>
                  <a:pt x="760184" y="812694"/>
                </a:lnTo>
                <a:lnTo>
                  <a:pt x="711320" y="800362"/>
                </a:lnTo>
                <a:lnTo>
                  <a:pt x="663448" y="785763"/>
                </a:lnTo>
                <a:lnTo>
                  <a:pt x="606427" y="764682"/>
                </a:lnTo>
                <a:lnTo>
                  <a:pt x="553657" y="740912"/>
                </a:lnTo>
                <a:lnTo>
                  <a:pt x="505319" y="714670"/>
                </a:lnTo>
                <a:lnTo>
                  <a:pt x="461596" y="686169"/>
                </a:lnTo>
                <a:lnTo>
                  <a:pt x="422672" y="655627"/>
                </a:lnTo>
                <a:lnTo>
                  <a:pt x="388728" y="623258"/>
                </a:lnTo>
                <a:lnTo>
                  <a:pt x="359948" y="589277"/>
                </a:lnTo>
                <a:lnTo>
                  <a:pt x="336515" y="553900"/>
                </a:lnTo>
                <a:lnTo>
                  <a:pt x="318611" y="517343"/>
                </a:lnTo>
                <a:lnTo>
                  <a:pt x="306419" y="479821"/>
                </a:lnTo>
                <a:lnTo>
                  <a:pt x="300121" y="441548"/>
                </a:lnTo>
                <a:lnTo>
                  <a:pt x="299902" y="402741"/>
                </a:lnTo>
                <a:lnTo>
                  <a:pt x="305942" y="363615"/>
                </a:lnTo>
                <a:lnTo>
                  <a:pt x="0" y="218454"/>
                </a:lnTo>
                <a:close/>
              </a:path>
            </a:pathLst>
          </a:custGeom>
          <a:ln w="253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4" name="object 14"/>
          <p:cNvSpPr txBox="1"/>
          <p:nvPr/>
        </p:nvSpPr>
        <p:spPr>
          <a:xfrm>
            <a:off x="5348482" y="1717498"/>
            <a:ext cx="1069698" cy="685123"/>
          </a:xfrm>
          <a:prstGeom prst="rect">
            <a:avLst/>
          </a:prstGeom>
        </p:spPr>
        <p:txBody>
          <a:bodyPr vert="horz" wrap="square" lIns="0" tIns="43497" rIns="0" bIns="0" rtlCol="0">
            <a:spAutoFit/>
          </a:bodyPr>
          <a:lstStyle/>
          <a:p>
            <a:pPr marL="15240" marR="6350" indent="70485">
              <a:lnSpc>
                <a:spcPts val="2470"/>
              </a:lnSpc>
              <a:spcBef>
                <a:spcPts val="340"/>
              </a:spcBef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换元，  对</a:t>
            </a:r>
            <a:r>
              <a:rPr sz="2200" b="1" i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迭代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49300" y="120650"/>
            <a:ext cx="8394700" cy="623888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解的正确性-归纳验证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030" y="1046698"/>
            <a:ext cx="8333240" cy="4823669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625475" marR="6350" indent="-596265">
              <a:lnSpc>
                <a:spcPct val="145000"/>
              </a:lnSpc>
              <a:spcBef>
                <a:spcPts val="120"/>
              </a:spcBef>
            </a:pP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证明:下述递推方程的解</a:t>
            </a:r>
            <a:r>
              <a:rPr sz="2800" b="1" spc="-18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sz="2800" b="1" spc="-569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1)/2  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                   </a:t>
            </a:r>
            <a:endParaRPr lang="en-US" sz="2800" b="1" spc="-6" dirty="0" smtClean="0">
              <a:latin typeface="Times New Roman" panose="02020603050405020304"/>
              <a:cs typeface="Times New Roman" panose="02020603050405020304"/>
            </a:endParaRPr>
          </a:p>
          <a:p>
            <a:pPr marL="625475" marR="6350" indent="-596265"/>
            <a:r>
              <a:rPr lang="en-US" sz="2800" b="1" i="1" spc="-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                          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1)+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625475"/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                    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(1)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28575"/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方法：数学归纳法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8575">
              <a:spcBef>
                <a:spcPts val="735"/>
              </a:spcBef>
            </a:pPr>
            <a:r>
              <a:rPr lang="en-US" sz="2800" b="1" spc="-18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sz="2800" b="1" spc="-18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sz="2800" b="1" spc="-18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=1</a:t>
            </a:r>
            <a:r>
              <a:rPr sz="2800" b="1" spc="-6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(1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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(1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1)/2 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800" b="1" spc="12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15240">
              <a:lnSpc>
                <a:spcPts val="3215"/>
              </a:lnSpc>
              <a:spcBef>
                <a:spcPts val="1020"/>
              </a:spcBef>
              <a:tabLst>
                <a:tab pos="1920240" algn="l"/>
              </a:tabLst>
            </a:pPr>
            <a:r>
              <a:rPr lang="en-US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sz="2800" b="1" spc="-6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假设对于</a:t>
            </a:r>
            <a:r>
              <a:rPr sz="2800" b="1" i="1" spc="-6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6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i="1" spc="-6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)=</a:t>
            </a:r>
            <a:r>
              <a:rPr lang="en-US" altLang="zh-CN"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spc="-6" dirty="0" smtClean="0">
                <a:uFill>
                  <a:solidFill>
                    <a:srgbClr val="CC3300"/>
                  </a:solidFill>
                </a:uFill>
                <a:latin typeface="Symbol" panose="05050102010706020507"/>
                <a:cs typeface="Symbol" panose="05050102010706020507"/>
              </a:rPr>
              <a:t> </a:t>
            </a:r>
            <a:r>
              <a:rPr lang="en-US" altLang="zh-CN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)/2</a:t>
            </a:r>
            <a:r>
              <a:rPr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满足方程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en-US" sz="2800" b="1" spc="-6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5240">
              <a:lnSpc>
                <a:spcPts val="3215"/>
              </a:lnSpc>
              <a:spcBef>
                <a:spcPts val="1020"/>
              </a:spcBef>
              <a:tabLst>
                <a:tab pos="1920240" algn="l"/>
              </a:tabLst>
            </a:pPr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                        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+1)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25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6" dirty="0"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 </a:t>
            </a:r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endParaRPr lang="en-US" sz="2800" b="1" i="1" spc="-6" dirty="0" smtClean="0">
              <a:latin typeface="Times New Roman" panose="02020603050405020304"/>
              <a:cs typeface="Times New Roman" panose="02020603050405020304"/>
            </a:endParaRPr>
          </a:p>
          <a:p>
            <a:pPr marL="354330">
              <a:spcBef>
                <a:spcPts val="20"/>
              </a:spcBef>
            </a:pPr>
            <a:r>
              <a:rPr lang="en-US" sz="2800" b="1" i="1" spc="-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                                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spc="-6" dirty="0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solidFill>
                  <a:srgbClr val="FF0000"/>
                </a:solidFill>
                <a:uFill>
                  <a:solidFill>
                    <a:srgbClr val="CC3300"/>
                  </a:solidFill>
                </a:uFill>
                <a:latin typeface="Times New Roman" panose="02020603050405020304"/>
                <a:cs typeface="Times New Roman" panose="02020603050405020304"/>
              </a:rPr>
              <a:t>1)/2</a:t>
            </a:r>
            <a:r>
              <a:rPr sz="2800" b="1" spc="-6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-4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354330"/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                                 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[(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1)/2+1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]</a:t>
            </a:r>
            <a:r>
              <a:rPr lang="en-US" sz="2800" b="1" spc="-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18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+1)/2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442" y="1093086"/>
            <a:ext cx="8325052" cy="613228"/>
          </a:xfrm>
          <a:prstGeom prst="rect">
            <a:avLst/>
          </a:prstGeom>
        </p:spPr>
        <p:txBody>
          <a:bodyPr vert="horz" wrap="square" lIns="0" tIns="119617" rIns="0" bIns="0" rtlCol="0">
            <a:spAutoFit/>
          </a:bodyPr>
          <a:lstStyle/>
          <a:p>
            <a:pPr marL="15240">
              <a:spcBef>
                <a:spcPts val="600"/>
              </a:spcBef>
            </a:pPr>
            <a:r>
              <a:rPr sz="3200" b="1" spc="-6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迭代法求解递推方程</a:t>
            </a:r>
            <a:endParaRPr lang="en-US" sz="3200" b="1" spc="-6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19138" y="88900"/>
            <a:ext cx="8424862" cy="623888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小</a:t>
            </a:r>
            <a:r>
              <a:rPr 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结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5442" y="1812302"/>
            <a:ext cx="796065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/>
              <a:t>直接迭代，代入初值，然后求和</a:t>
            </a:r>
            <a:endParaRPr lang="zh-CN" altLang="en-US" sz="2800" b="1" dirty="0"/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/>
              <a:t>对递推方程和初值进行换元，然后求和，求和后进行相反换元，得到原始递推方程的解</a:t>
            </a:r>
            <a:endParaRPr lang="zh-CN" altLang="en-US" sz="2800" b="1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/>
              <a:t>验证方法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数学归纳法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14400" y="2108693"/>
            <a:ext cx="7259638" cy="2047875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L="15240" marR="6350" indent="422275" algn="ctr">
              <a:lnSpc>
                <a:spcPct val="100000"/>
              </a:lnSpc>
              <a:spcBef>
                <a:spcPts val="120"/>
              </a:spcBef>
            </a:pPr>
            <a:r>
              <a:rPr sz="6600" b="1" spc="-18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差消法化简</a:t>
            </a:r>
            <a:r>
              <a:rPr sz="6600" b="1" spc="-18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br>
              <a:rPr lang="en-US" sz="6600" b="1" spc="-18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b="1" spc="-3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sz="6600" b="1" spc="-6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sz="6600" b="1" spc="-3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</a:t>
            </a:r>
            <a:r>
              <a:rPr sz="6600" b="1" spc="-6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推方</a:t>
            </a:r>
            <a:r>
              <a:rPr sz="6600" b="1" spc="-30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</a:t>
            </a:r>
            <a:endParaRPr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84138"/>
            <a:ext cx="8328025" cy="625475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快速排序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4723" y="1054070"/>
            <a:ext cx="8369356" cy="3653562"/>
          </a:xfrm>
          <a:prstGeom prst="rect">
            <a:avLst/>
          </a:prstGeom>
        </p:spPr>
        <p:txBody>
          <a:bodyPr vert="horz" wrap="square" lIns="0" tIns="173988" rIns="0" bIns="0" rtlCol="0">
            <a:spAutoFit/>
          </a:bodyPr>
          <a:lstStyle/>
          <a:p>
            <a:pPr marL="472440" indent="-457200">
              <a:spcBef>
                <a:spcPts val="600"/>
              </a:spcBef>
              <a:buFont typeface="Wingdings" panose="05000000000000000000" pitchFamily="2" charset="2"/>
              <a:buChar char="l"/>
              <a:tabLst>
                <a:tab pos="433705" algn="l"/>
                <a:tab pos="434340" algn="l"/>
              </a:tabLst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</a:t>
            </a:r>
            <a:r>
              <a:rPr sz="28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2800" b="1" spc="-75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的元素彼此不等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52170" marR="6350" indent="-466090">
              <a:spcBef>
                <a:spcPts val="600"/>
              </a:spcBef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以首元素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[1]对数</a:t>
            </a:r>
            <a:r>
              <a:rPr sz="28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sz="2800" b="1" spc="-80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p..r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划分,使得：  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52170" marR="6350" indent="-466090">
              <a:spcBef>
                <a:spcPts val="600"/>
              </a:spcBef>
            </a:pPr>
            <a:r>
              <a:rPr 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的元素放</a:t>
            </a:r>
            <a:r>
              <a:rPr sz="2800" b="1" spc="-12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-734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852170">
              <a:spcBef>
                <a:spcPts val="600"/>
              </a:spcBef>
            </a:pP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sz="2800" b="1" spc="-12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sz="2800" b="1" spc="-74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的元素放</a:t>
            </a:r>
            <a:r>
              <a:rPr sz="28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-734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+1..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72440" indent="-457200">
              <a:spcBef>
                <a:spcPts val="600"/>
              </a:spcBef>
              <a:buFont typeface="Wingdings" panose="05000000000000000000" pitchFamily="2" charset="2"/>
              <a:buChar char="l"/>
              <a:tabLst>
                <a:tab pos="433705" algn="l"/>
                <a:tab pos="434340" algn="l"/>
              </a:tabLst>
            </a:pPr>
            <a:r>
              <a:rPr sz="2800" b="1" spc="-6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</a:t>
            </a:r>
            <a:r>
              <a:rPr sz="2800" b="1" spc="-12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spc="-75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</a:t>
            </a:r>
            <a:r>
              <a:rPr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sz="2800" b="1" spc="-12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-77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+1..</a:t>
            </a:r>
            <a:r>
              <a:rPr sz="2800" b="1" i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排序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7660">
              <a:spcBef>
                <a:spcPts val="600"/>
              </a:spcBef>
            </a:pPr>
            <a:r>
              <a:rPr sz="2800" b="1" spc="-6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工作量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子问题工作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量+</a:t>
            </a:r>
            <a:r>
              <a:rPr sz="2800" b="1" spc="-6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划分工作量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46125" y="79375"/>
            <a:ext cx="8397875" cy="625475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输入情况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8957" y="964220"/>
            <a:ext cx="4367069" cy="445789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240">
              <a:spcBef>
                <a:spcPts val="115"/>
              </a:spcBef>
              <a:tabLst>
                <a:tab pos="433705" algn="l"/>
                <a:tab pos="434340" algn="l"/>
              </a:tabLst>
            </a:pPr>
            <a:r>
              <a:rPr sz="2800" b="1" spc="-18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有</a:t>
            </a:r>
            <a:r>
              <a:rPr sz="2800" b="1" spc="-72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i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2800" b="1" i="1" spc="-37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种可能的输入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249" y="5255095"/>
            <a:ext cx="7802483" cy="445789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240">
              <a:spcBef>
                <a:spcPts val="115"/>
              </a:spcBef>
            </a:pPr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对每个输入，划分的比</a:t>
            </a:r>
            <a:r>
              <a:rPr sz="2800" b="1" spc="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较</a:t>
            </a:r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次数</a:t>
            </a:r>
            <a:r>
              <a:rPr sz="2800" b="1" spc="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都</a:t>
            </a:r>
            <a:r>
              <a:rPr sz="2800" b="1" spc="-18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是</a:t>
            </a:r>
            <a:r>
              <a:rPr sz="2800" b="1" spc="-649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15135" y="1410335"/>
          <a:ext cx="5507355" cy="93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745"/>
                <a:gridCol w="1619250"/>
                <a:gridCol w="1864360"/>
              </a:tblGrid>
              <a:tr h="932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x</a:t>
                      </a:r>
                      <a:r>
                        <a:rPr sz="2400" b="1" i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排好序位置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033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子问</a:t>
                      </a:r>
                      <a:r>
                        <a:rPr sz="2400" b="1" spc="-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题</a:t>
                      </a:r>
                      <a:r>
                        <a:rPr sz="2400" b="1" spc="-48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规模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033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子问</a:t>
                      </a:r>
                      <a:r>
                        <a:rPr sz="2400" b="1" spc="-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题</a:t>
                      </a:r>
                      <a:r>
                        <a:rPr sz="2400" b="1" spc="-484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规模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55033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Grp="1"/>
          </p:cNvGraphicFramePr>
          <p:nvPr/>
        </p:nvGraphicFramePr>
        <p:xfrm>
          <a:off x="1712239" y="4592655"/>
          <a:ext cx="5507641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563"/>
                <a:gridCol w="1632338"/>
                <a:gridCol w="1851740"/>
              </a:tblGrid>
              <a:tr h="508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500" b="1" dirty="0"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5"/>
          <p:cNvGraphicFramePr>
            <a:graphicFrameLocks noGrp="1"/>
          </p:cNvGraphicFramePr>
          <p:nvPr/>
        </p:nvGraphicFramePr>
        <p:xfrm>
          <a:off x="1709188" y="4083098"/>
          <a:ext cx="5507641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563"/>
                <a:gridCol w="1632338"/>
                <a:gridCol w="1851740"/>
              </a:tblGrid>
              <a:tr h="508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500" b="1" spc="-5" dirty="0"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500" b="1" spc="-5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500" b="1" dirty="0"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5"/>
          <p:cNvGraphicFramePr>
            <a:graphicFrameLocks noGrp="1"/>
          </p:cNvGraphicFramePr>
          <p:nvPr/>
        </p:nvGraphicFramePr>
        <p:xfrm>
          <a:off x="1706138" y="3573639"/>
          <a:ext cx="5507641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563"/>
                <a:gridCol w="1632338"/>
                <a:gridCol w="1851740"/>
              </a:tblGrid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spc="5" dirty="0">
                          <a:latin typeface="Times New Roman" panose="02020603050405020304"/>
                          <a:cs typeface="Times New Roman" panose="02020603050405020304"/>
                        </a:rPr>
                        <a:t>...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spc="5" dirty="0">
                          <a:latin typeface="Times New Roman" panose="02020603050405020304"/>
                          <a:cs typeface="Times New Roman" panose="02020603050405020304"/>
                        </a:rPr>
                        <a:t>...</a:t>
                      </a: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spc="5" dirty="0" smtClean="0">
                          <a:latin typeface="Times New Roman" panose="02020603050405020304"/>
                          <a:cs typeface="Times New Roman" panose="02020603050405020304"/>
                        </a:rPr>
                        <a:t>...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5"/>
          <p:cNvGraphicFramePr>
            <a:graphicFrameLocks noGrp="1"/>
          </p:cNvGraphicFramePr>
          <p:nvPr/>
        </p:nvGraphicFramePr>
        <p:xfrm>
          <a:off x="1708957" y="3078244"/>
          <a:ext cx="5507641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563"/>
                <a:gridCol w="1632338"/>
                <a:gridCol w="1851740"/>
              </a:tblGrid>
              <a:tr h="508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500" b="1" spc="-5" dirty="0"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500" b="1" spc="-5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5"/>
          <p:cNvGraphicFramePr>
            <a:graphicFrameLocks noGrp="1"/>
          </p:cNvGraphicFramePr>
          <p:nvPr/>
        </p:nvGraphicFramePr>
        <p:xfrm>
          <a:off x="1709188" y="2570994"/>
          <a:ext cx="5507641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563"/>
                <a:gridCol w="1632338"/>
                <a:gridCol w="1851740"/>
              </a:tblGrid>
              <a:tr h="508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500" b="1" spc="-5" dirty="0"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500" b="1" spc="-5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5"/>
          <p:cNvGraphicFramePr>
            <a:graphicFrameLocks noGrp="1"/>
          </p:cNvGraphicFramePr>
          <p:nvPr/>
        </p:nvGraphicFramePr>
        <p:xfrm>
          <a:off x="1711553" y="2138287"/>
          <a:ext cx="5507641" cy="432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563"/>
                <a:gridCol w="1632338"/>
                <a:gridCol w="1851740"/>
              </a:tblGrid>
              <a:tr h="4019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5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500" b="1" spc="-5" dirty="0">
                          <a:latin typeface="Symbol" panose="05050102010706020507"/>
                          <a:cs typeface="Symbol" panose="05050102010706020507"/>
                        </a:rPr>
                        <a:t></a:t>
                      </a:r>
                      <a:r>
                        <a:rPr sz="2500" b="1" spc="-5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1647" marB="0">
                    <a:lnL w="12700" cap="flat" cmpd="sng" algn="ctr">
                      <a:solidFill>
                        <a:srgbClr val="4F8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31838" y="31750"/>
            <a:ext cx="8412162" cy="623888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工作量总和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0918" y="1043125"/>
            <a:ext cx="7529467" cy="4067806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11480" marR="709930" indent="-24765" algn="just">
              <a:lnSpc>
                <a:spcPct val="120000"/>
              </a:lnSpc>
              <a:spcBef>
                <a:spcPts val="115"/>
              </a:spcBef>
            </a:pP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(0) +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1) +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1</a:t>
            </a:r>
            <a:endParaRPr lang="en-US" sz="3200" b="1" dirty="0" smtClean="0">
              <a:latin typeface="Times New Roman" panose="02020603050405020304"/>
              <a:cs typeface="Times New Roman" panose="02020603050405020304"/>
            </a:endParaRPr>
          </a:p>
          <a:p>
            <a:pPr marL="411480" marR="709930" indent="-24765" algn="just">
              <a:lnSpc>
                <a:spcPct val="120000"/>
              </a:lnSpc>
              <a:spcBef>
                <a:spcPts val="115"/>
              </a:spcBef>
            </a:pPr>
            <a:r>
              <a:rPr sz="3200" b="1" i="1" dirty="0" smtClean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(1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 +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2) +</a:t>
            </a:r>
            <a:r>
              <a:rPr sz="32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  </a:t>
            </a:r>
            <a:endParaRPr lang="en-US" sz="3200" b="1" dirty="0" smtClean="0">
              <a:latin typeface="Times New Roman" panose="02020603050405020304"/>
              <a:cs typeface="Times New Roman" panose="02020603050405020304"/>
            </a:endParaRPr>
          </a:p>
          <a:p>
            <a:pPr marL="411480" marR="709930" indent="-24765" algn="just">
              <a:lnSpc>
                <a:spcPct val="120000"/>
              </a:lnSpc>
              <a:spcBef>
                <a:spcPts val="115"/>
              </a:spcBef>
            </a:pPr>
            <a:r>
              <a:rPr sz="3200" b="1" i="1" dirty="0" smtClean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 smtClean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 +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3) +</a:t>
            </a:r>
            <a:r>
              <a:rPr sz="3200" b="1" spc="-12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917575">
              <a:spcBef>
                <a:spcPts val="750"/>
              </a:spcBef>
            </a:pPr>
            <a:r>
              <a:rPr sz="3200" b="1" spc="-6" dirty="0">
                <a:latin typeface="Times New Roman" panose="02020603050405020304"/>
                <a:cs typeface="Times New Roman" panose="02020603050405020304"/>
              </a:rPr>
              <a:t>...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411480">
              <a:spcBef>
                <a:spcPts val="705"/>
              </a:spcBef>
            </a:pP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1) +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(0) +</a:t>
            </a:r>
            <a:r>
              <a:rPr sz="3200" b="1" spc="-9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>
              <a:spcBef>
                <a:spcPts val="5"/>
              </a:spcBef>
            </a:pPr>
            <a:endParaRPr sz="3800" dirty="0">
              <a:latin typeface="Times New Roman" panose="02020603050405020304"/>
              <a:cs typeface="Times New Roman" panose="02020603050405020304"/>
            </a:endParaRPr>
          </a:p>
          <a:p>
            <a:pPr marL="15240"/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08160" y="4565748"/>
            <a:ext cx="3582035" cy="2540"/>
          </a:xfrm>
          <a:custGeom>
            <a:avLst/>
            <a:gdLst/>
            <a:ahLst/>
            <a:cxnLst/>
            <a:rect l="l" t="t" r="r" b="b"/>
            <a:pathLst>
              <a:path w="3582035" h="1904">
                <a:moveTo>
                  <a:pt x="0" y="0"/>
                </a:moveTo>
                <a:lnTo>
                  <a:pt x="3581463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443701" y="3077028"/>
            <a:ext cx="1905" cy="406400"/>
          </a:xfrm>
          <a:custGeom>
            <a:avLst/>
            <a:gdLst/>
            <a:ahLst/>
            <a:cxnLst/>
            <a:rect l="l" t="t" r="r" b="b"/>
            <a:pathLst>
              <a:path w="1905" h="304800">
                <a:moveTo>
                  <a:pt x="1587" y="0"/>
                </a:moveTo>
                <a:lnTo>
                  <a:pt x="0" y="30480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290918" y="3238161"/>
            <a:ext cx="304800" cy="2540"/>
          </a:xfrm>
          <a:custGeom>
            <a:avLst/>
            <a:gdLst/>
            <a:ahLst/>
            <a:cxnLst/>
            <a:rect l="l" t="t" r="r" b="b"/>
            <a:pathLst>
              <a:path w="304800" h="1904">
                <a:moveTo>
                  <a:pt x="0" y="0"/>
                </a:moveTo>
                <a:lnTo>
                  <a:pt x="304800" y="165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3"/>
          <p:cNvSpPr txBox="1"/>
          <p:nvPr/>
        </p:nvSpPr>
        <p:spPr>
          <a:xfrm>
            <a:off x="1443318" y="4784680"/>
            <a:ext cx="6789042" cy="50734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240"/>
            <a:r>
              <a:rPr sz="3200" b="1" dirty="0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2[</a:t>
            </a:r>
            <a:r>
              <a:rPr sz="3200" b="1" i="1" dirty="0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 smtClean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(1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)+...+</a:t>
            </a:r>
            <a:r>
              <a:rPr sz="32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1)]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2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</a:t>
            </a:r>
            <a:r>
              <a:rPr sz="32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1)</a:t>
            </a:r>
            <a:endParaRPr sz="32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0413" y="65088"/>
            <a:ext cx="8383587" cy="623887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/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快速排序平均工作量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05" y="1150497"/>
            <a:ext cx="7648072" cy="461962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 marR="6350">
              <a:spcBef>
                <a:spcPts val="120"/>
              </a:spcBef>
            </a:pP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假设首元素排好序在每个位置是等概率的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477470" y="1910665"/>
                <a:ext cx="5894070" cy="1490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/>
                        </a:rPr>
                        <m:t>𝑻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3200" b="1" i="1" smtClean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𝒊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=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𝒏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32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3200" b="1" i="1" dirty="0" smtClean="0">
                              <a:solidFill>
                                <a:srgbClr val="0000FF"/>
                              </a:solidFill>
                              <a:latin typeface="Times New Roman" panose="02020603050405020304"/>
                              <a:cs typeface="Times New Roman" panose="02020603050405020304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solidFill>
                                <a:srgbClr val="0000FF"/>
                              </a:solidFill>
                              <a:latin typeface="Symbol" panose="05050102010706020507"/>
                              <a:cs typeface="Symbol" panose="05050102010706020507"/>
                            </a:rPr>
                            <m:t></m:t>
                          </m:r>
                          <m:r>
                            <m:rPr>
                              <m:nor/>
                            </m:rPr>
                            <a:rPr lang="en-US" altLang="zh-CN" sz="3200" b="1" dirty="0" smtClean="0">
                              <a:solidFill>
                                <a:srgbClr val="0000FF"/>
                              </a:solidFill>
                              <a:latin typeface="Times New Roman" panose="02020603050405020304"/>
                              <a:cs typeface="Times New Roman" panose="02020603050405020304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altLang="zh-CN" sz="3200" dirty="0">
                              <a:latin typeface="Times New Roman" panose="02020603050405020304"/>
                              <a:cs typeface="Times New Roman" panose="02020603050405020304"/>
                            </a:rPr>
                            <m:t> </m:t>
                          </m:r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𝒏</m:t>
                          </m:r>
                          <m:r>
                            <a:rPr lang="en-US" altLang="zh-CN" sz="3200" b="1" i="1">
                              <a:latin typeface="Cambria Math" panose="02040503050406030204"/>
                              <a:ea typeface="Cambria Math" panose="02040503050406030204"/>
                            </a:rPr>
                            <m:t>≥</m:t>
                          </m:r>
                          <m:r>
                            <a:rPr lang="en-US" altLang="zh-CN" sz="32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𝟐</m:t>
                          </m:r>
                        </m:e>
                      </m:nary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470" y="1910665"/>
                <a:ext cx="5894070" cy="1490980"/>
              </a:xfrm>
              <a:prstGeom prst="rect">
                <a:avLst/>
              </a:prstGeom>
              <a:blipFill rotWithShape="1">
                <a:blip r:embed="rId1"/>
                <a:stretch>
                  <a:fillRect l="-8" t="-39" r="8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0"/>
          <p:cNvSpPr txBox="1"/>
          <p:nvPr/>
        </p:nvSpPr>
        <p:spPr>
          <a:xfrm>
            <a:off x="658905" y="4392281"/>
            <a:ext cx="8116405" cy="910590"/>
          </a:xfrm>
          <a:prstGeom prst="rect">
            <a:avLst/>
          </a:prstGeom>
        </p:spPr>
        <p:txBody>
          <a:bodyPr vert="horz" wrap="square" lIns="0" tIns="17864" rIns="0" bIns="0" rtlCol="0">
            <a:spAutoFit/>
          </a:bodyPr>
          <a:lstStyle/>
          <a:p>
            <a:pPr marL="15240">
              <a:spcBef>
                <a:spcPts val="2845"/>
              </a:spcBef>
            </a:pPr>
            <a:r>
              <a:rPr sz="29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全部历史递推方程</a:t>
            </a:r>
            <a:endParaRPr sz="29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5240"/>
            <a:r>
              <a:rPr sz="29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对于高阶方程应该先化简，然后迭代</a:t>
            </a:r>
            <a:endParaRPr sz="29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681497" y="3640760"/>
                <a:ext cx="20132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/>
                        </a:rPr>
                        <m:t>𝑻</m:t>
                      </m:r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/>
                            </a:rPr>
                            <m:t>𝟏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/>
                        </a:rPr>
                        <m:t>𝟎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497" y="3640760"/>
                <a:ext cx="2013243" cy="584775"/>
              </a:xfrm>
              <a:prstGeom prst="rect">
                <a:avLst/>
              </a:prstGeom>
              <a:blipFill rotWithShape="1">
                <a:blip r:embed="rId2"/>
                <a:stretch>
                  <a:fillRect l="-1" t="-52" r="15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4149643" y="2419219"/>
            <a:ext cx="1525443" cy="2747957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4294967295"/>
          </p:nvPr>
        </p:nvSpPr>
        <p:spPr>
          <a:xfrm>
            <a:off x="6400800" y="8609013"/>
            <a:ext cx="2743200" cy="21907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1115">
              <a:lnSpc>
                <a:spcPts val="1745"/>
              </a:lnSpc>
            </a:pPr>
            <a:fld id="{81D60167-4931-47E6-BA6A-407CBD079E47}" type="slidenum">
              <a:rPr spc="-6" dirty="0"/>
            </a:fld>
            <a:endParaRPr spc="-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2918586" y="989551"/>
                <a:ext cx="3769558" cy="12220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𝒄𝒏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586" y="989551"/>
                <a:ext cx="3769558" cy="1222066"/>
              </a:xfrm>
              <a:prstGeom prst="rect">
                <a:avLst/>
              </a:prstGeom>
              <a:blipFill rotWithShape="1">
                <a:blip r:embed="rId1"/>
                <a:stretch>
                  <a:fillRect l="-3" t="-18" r="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1"/>
              <p:nvPr/>
            </p:nvSpPr>
            <p:spPr>
              <a:xfrm>
                <a:off x="2750531" y="2419218"/>
                <a:ext cx="3857851" cy="1134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𝒏𝑻</m:t>
                      </m:r>
                      <m:d>
                        <m:d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𝟐</m:t>
                      </m:r>
                      <m:nary>
                        <m:naryPr>
                          <m:chr m:val="∑"/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531" y="2419218"/>
                <a:ext cx="3857851" cy="1134862"/>
              </a:xfrm>
              <a:prstGeom prst="rect">
                <a:avLst/>
              </a:prstGeom>
              <a:blipFill rotWithShape="1">
                <a:blip r:embed="rId2"/>
                <a:stretch>
                  <a:fillRect l="-9" t="-44" r="1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1409061" y="3872543"/>
                <a:ext cx="6195735" cy="1134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𝟐</m:t>
                      </m:r>
                      <m:nary>
                        <m:naryPr>
                          <m:chr m:val="∑"/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061" y="3872543"/>
                <a:ext cx="6195735" cy="1134862"/>
              </a:xfrm>
              <a:prstGeom prst="rect">
                <a:avLst/>
              </a:prstGeom>
              <a:blipFill rotWithShape="1">
                <a:blip r:embed="rId3"/>
                <a:stretch>
                  <a:fillRect l="-10" t="-28" r="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48835" y="2775061"/>
            <a:ext cx="2689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等式两边同乘</a:t>
            </a:r>
            <a:r>
              <a:rPr lang="en-US" altLang="zh-CN" sz="2400" b="1" dirty="0" smtClean="0"/>
              <a:t>n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71847" y="5285620"/>
            <a:ext cx="82657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925"/>
              </a:spcBef>
            </a:pPr>
            <a:r>
              <a:rPr lang="zh-CN" altLang="en-US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利用两个方程相减，将右边的项尽可能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消去，以达到降阶的目的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3207203" y="2019325"/>
            <a:ext cx="286683" cy="515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下箭头 12"/>
          <p:cNvSpPr/>
          <p:nvPr/>
        </p:nvSpPr>
        <p:spPr>
          <a:xfrm>
            <a:off x="3188623" y="3468353"/>
            <a:ext cx="286683" cy="515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71846" y="0"/>
            <a:ext cx="83620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差消化简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6" grpId="0" animBg="1"/>
      <p:bldP spid="3" grpId="0"/>
      <p:bldP spid="4" grpId="0"/>
      <p:bldP spid="5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60413" y="26988"/>
            <a:ext cx="8383587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差消化简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19654" y="3746612"/>
            <a:ext cx="332105" cy="491067"/>
          </a:xfrm>
          <a:custGeom>
            <a:avLst/>
            <a:gdLst/>
            <a:ahLst/>
            <a:cxnLst/>
            <a:rect l="l" t="t" r="r" b="b"/>
            <a:pathLst>
              <a:path w="332105" h="368300">
                <a:moveTo>
                  <a:pt x="331850" y="202437"/>
                </a:moveTo>
                <a:lnTo>
                  <a:pt x="0" y="202437"/>
                </a:lnTo>
                <a:lnTo>
                  <a:pt x="165862" y="368300"/>
                </a:lnTo>
                <a:lnTo>
                  <a:pt x="331850" y="202437"/>
                </a:lnTo>
                <a:close/>
              </a:path>
              <a:path w="332105" h="368300">
                <a:moveTo>
                  <a:pt x="248793" y="0"/>
                </a:moveTo>
                <a:lnTo>
                  <a:pt x="82931" y="0"/>
                </a:lnTo>
                <a:lnTo>
                  <a:pt x="82931" y="202437"/>
                </a:lnTo>
                <a:lnTo>
                  <a:pt x="248793" y="202437"/>
                </a:lnTo>
                <a:lnTo>
                  <a:pt x="248793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4319654" y="3746612"/>
            <a:ext cx="332105" cy="491067"/>
          </a:xfrm>
          <a:custGeom>
            <a:avLst/>
            <a:gdLst/>
            <a:ahLst/>
            <a:cxnLst/>
            <a:rect l="l" t="t" r="r" b="b"/>
            <a:pathLst>
              <a:path w="332105" h="368300">
                <a:moveTo>
                  <a:pt x="0" y="202437"/>
                </a:moveTo>
                <a:lnTo>
                  <a:pt x="82931" y="202437"/>
                </a:lnTo>
                <a:lnTo>
                  <a:pt x="82931" y="0"/>
                </a:lnTo>
                <a:lnTo>
                  <a:pt x="248793" y="0"/>
                </a:lnTo>
                <a:lnTo>
                  <a:pt x="248793" y="202437"/>
                </a:lnTo>
                <a:lnTo>
                  <a:pt x="331850" y="202437"/>
                </a:lnTo>
                <a:lnTo>
                  <a:pt x="165862" y="368300"/>
                </a:lnTo>
                <a:lnTo>
                  <a:pt x="0" y="202437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4319655" y="2405754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90500"/>
                </a:moveTo>
                <a:lnTo>
                  <a:pt x="0" y="190500"/>
                </a:lnTo>
                <a:lnTo>
                  <a:pt x="190500" y="381000"/>
                </a:lnTo>
                <a:lnTo>
                  <a:pt x="381000" y="190500"/>
                </a:lnTo>
                <a:close/>
              </a:path>
              <a:path w="381000" h="381000">
                <a:moveTo>
                  <a:pt x="285750" y="0"/>
                </a:moveTo>
                <a:lnTo>
                  <a:pt x="95250" y="0"/>
                </a:lnTo>
                <a:lnTo>
                  <a:pt x="95250" y="190500"/>
                </a:lnTo>
                <a:lnTo>
                  <a:pt x="285750" y="190500"/>
                </a:lnTo>
                <a:lnTo>
                  <a:pt x="28575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4319655" y="2405754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95250" y="190500"/>
                </a:lnTo>
                <a:lnTo>
                  <a:pt x="95250" y="0"/>
                </a:lnTo>
                <a:lnTo>
                  <a:pt x="285750" y="0"/>
                </a:lnTo>
                <a:lnTo>
                  <a:pt x="285750" y="190500"/>
                </a:lnTo>
                <a:lnTo>
                  <a:pt x="381000" y="190500"/>
                </a:lnTo>
                <a:lnTo>
                  <a:pt x="190500" y="381000"/>
                </a:lnTo>
                <a:lnTo>
                  <a:pt x="0" y="1905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 txBox="1"/>
          <p:nvPr/>
        </p:nvSpPr>
        <p:spPr>
          <a:xfrm>
            <a:off x="2656432" y="3746611"/>
            <a:ext cx="3108959" cy="755134"/>
          </a:xfrm>
          <a:prstGeom prst="rect">
            <a:avLst/>
          </a:prstGeom>
        </p:spPr>
        <p:txBody>
          <a:bodyPr vert="horz" wrap="square" lIns="0" tIns="16311" rIns="0" bIns="0" rtlCol="0">
            <a:spAutoFit/>
          </a:bodyPr>
          <a:lstStyle/>
          <a:p>
            <a:pPr marL="2533650">
              <a:spcBef>
                <a:spcPts val="2560"/>
              </a:spcBef>
            </a:pPr>
            <a:r>
              <a:rPr lang="zh-CN" altLang="en-US" sz="2400" b="1" dirty="0">
                <a:solidFill>
                  <a:srgbClr val="006F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变形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457846" y="1140239"/>
                <a:ext cx="40738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846" y="1140239"/>
                <a:ext cx="4073872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-13" t="-96" r="-680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287782" y="1738086"/>
                <a:ext cx="5034583" cy="440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782" y="1738086"/>
                <a:ext cx="5034583" cy="440633"/>
              </a:xfrm>
              <a:prstGeom prst="rect">
                <a:avLst/>
              </a:prstGeom>
              <a:blipFill rotWithShape="1">
                <a:blip r:embed="rId2"/>
                <a:stretch>
                  <a:fillRect l="-8" t="-21" r="-42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497632" y="3078431"/>
                <a:ext cx="521790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632" y="3078431"/>
                <a:ext cx="5217903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6" t="-136" r="8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3746983" y="4728652"/>
                <a:ext cx="4221477" cy="8433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983" y="4728652"/>
                <a:ext cx="4221477" cy="843372"/>
              </a:xfrm>
              <a:prstGeom prst="rect">
                <a:avLst/>
              </a:prstGeom>
              <a:blipFill rotWithShape="1">
                <a:blip r:embed="rId4"/>
                <a:stretch>
                  <a:fillRect l="-11" t="-52" r="1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2561172" y="2421450"/>
            <a:ext cx="3297833" cy="454039"/>
          </a:xfrm>
          <a:prstGeom prst="rect">
            <a:avLst/>
          </a:prstGeom>
        </p:spPr>
        <p:txBody>
          <a:bodyPr wrap="none" lIns="83887" tIns="41944" rIns="83887" bIns="41944">
            <a:spAutoFit/>
          </a:bodyPr>
          <a:lstStyle/>
          <a:p>
            <a:pPr marL="2485390">
              <a:spcBef>
                <a:spcPts val="1230"/>
              </a:spcBef>
            </a:pPr>
            <a:r>
              <a:rPr lang="zh-CN" altLang="en-US" sz="2400" b="1" dirty="0">
                <a:solidFill>
                  <a:srgbClr val="006F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化简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798563" y="1596249"/>
            <a:ext cx="241472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746983" y="2218041"/>
            <a:ext cx="13278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73383" y="4940921"/>
            <a:ext cx="3846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等式两边同</a:t>
            </a:r>
            <a:r>
              <a:rPr lang="zh-CN" altLang="en-US" sz="2400" b="1" dirty="0"/>
              <a:t>除</a:t>
            </a:r>
            <a:r>
              <a:rPr lang="en-US" altLang="zh-CN" sz="2400" b="1" dirty="0" smtClean="0"/>
              <a:t>n(n+1)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5" grpId="0" animBg="1"/>
      <p:bldP spid="16" grpId="0" animBg="1"/>
      <p:bldP spid="18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08025" y="34925"/>
            <a:ext cx="843597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迭代求解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6605" y="4805504"/>
            <a:ext cx="3563705" cy="509697"/>
          </a:xfrm>
          <a:prstGeom prst="rect">
            <a:avLst/>
          </a:prstGeom>
        </p:spPr>
        <p:txBody>
          <a:bodyPr vert="horz" wrap="square" lIns="0" tIns="17088" rIns="0" bIns="0" rtlCol="0">
            <a:spAutoFit/>
          </a:bodyPr>
          <a:lstStyle/>
          <a:p>
            <a:pPr marL="15240">
              <a:spcBef>
                <a:spcPts val="135"/>
              </a:spcBef>
            </a:pPr>
            <a:r>
              <a:rPr sz="3200" spc="122" dirty="0">
                <a:latin typeface="Symbol" panose="05050102010706020507"/>
                <a:cs typeface="Symbol" panose="05050102010706020507"/>
              </a:rPr>
              <a:t></a:t>
            </a:r>
            <a:r>
              <a:rPr sz="32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165" dirty="0">
                <a:latin typeface="Times New Roman" panose="02020603050405020304"/>
                <a:cs typeface="Times New Roman" panose="02020603050405020304"/>
              </a:rPr>
              <a:t>Θ</a:t>
            </a:r>
            <a:r>
              <a:rPr sz="3200" b="1" spc="165" dirty="0">
                <a:latin typeface="Times New Roman" panose="02020603050405020304"/>
                <a:cs typeface="Times New Roman" panose="02020603050405020304"/>
              </a:rPr>
              <a:t>(log</a:t>
            </a:r>
            <a:r>
              <a:rPr sz="3200" b="1" spc="-526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13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135" dirty="0">
                <a:latin typeface="Times New Roman" panose="02020603050405020304"/>
                <a:cs typeface="Times New Roman" panose="02020603050405020304"/>
              </a:rPr>
              <a:t>)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01892" y="5216347"/>
            <a:ext cx="3947453" cy="568900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240">
              <a:spcBef>
                <a:spcPts val="115"/>
              </a:spcBef>
            </a:pPr>
            <a:r>
              <a:rPr sz="3400" b="1" i="1" spc="-6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400" b="1" spc="-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400" b="1" i="1" spc="-6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400" b="1" spc="-6" dirty="0">
                <a:latin typeface="Times New Roman" panose="02020603050405020304"/>
                <a:cs typeface="Times New Roman" panose="02020603050405020304"/>
              </a:rPr>
              <a:t>) =</a:t>
            </a:r>
            <a:r>
              <a:rPr sz="3400" b="1" spc="-4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i="1" spc="-18" dirty="0">
                <a:latin typeface="Symbol" panose="05050102010706020507"/>
                <a:cs typeface="Symbol" panose="05050102010706020507"/>
              </a:rPr>
              <a:t></a:t>
            </a:r>
            <a:r>
              <a:rPr sz="3400" b="1" spc="-18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400" b="1" i="1" spc="-18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400" b="1" spc="-18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3400" b="1" i="1" spc="-18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400" b="1" spc="-18" dirty="0">
                <a:latin typeface="Times New Roman" panose="02020603050405020304"/>
                <a:cs typeface="Times New Roman" panose="02020603050405020304"/>
              </a:rPr>
              <a:t>)</a:t>
            </a:r>
            <a:endParaRPr sz="3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/>
          <p:nvPr/>
        </p:nvSpPr>
        <p:spPr>
          <a:xfrm rot="4485950">
            <a:off x="554669" y="2998006"/>
            <a:ext cx="1028868" cy="1085060"/>
          </a:xfrm>
          <a:custGeom>
            <a:avLst/>
            <a:gdLst/>
            <a:ahLst/>
            <a:cxnLst/>
            <a:rect l="l" t="t" r="r" b="b"/>
            <a:pathLst>
              <a:path w="914400" h="915670">
                <a:moveTo>
                  <a:pt x="93916" y="0"/>
                </a:moveTo>
                <a:lnTo>
                  <a:pt x="134556" y="199262"/>
                </a:lnTo>
                <a:lnTo>
                  <a:pt x="100850" y="233560"/>
                </a:lnTo>
                <a:lnTo>
                  <a:pt x="71831" y="270524"/>
                </a:lnTo>
                <a:lnTo>
                  <a:pt x="47585" y="309766"/>
                </a:lnTo>
                <a:lnTo>
                  <a:pt x="28194" y="350898"/>
                </a:lnTo>
                <a:lnTo>
                  <a:pt x="13744" y="393531"/>
                </a:lnTo>
                <a:lnTo>
                  <a:pt x="4317" y="437278"/>
                </a:lnTo>
                <a:lnTo>
                  <a:pt x="0" y="481750"/>
                </a:lnTo>
                <a:lnTo>
                  <a:pt x="874" y="526560"/>
                </a:lnTo>
                <a:lnTo>
                  <a:pt x="7026" y="571318"/>
                </a:lnTo>
                <a:lnTo>
                  <a:pt x="18538" y="615637"/>
                </a:lnTo>
                <a:lnTo>
                  <a:pt x="35496" y="659130"/>
                </a:lnTo>
                <a:lnTo>
                  <a:pt x="57286" y="700270"/>
                </a:lnTo>
                <a:lnTo>
                  <a:pt x="83246" y="738256"/>
                </a:lnTo>
                <a:lnTo>
                  <a:pt x="113010" y="772952"/>
                </a:lnTo>
                <a:lnTo>
                  <a:pt x="146216" y="804220"/>
                </a:lnTo>
                <a:lnTo>
                  <a:pt x="182496" y="831925"/>
                </a:lnTo>
                <a:lnTo>
                  <a:pt x="221487" y="855929"/>
                </a:lnTo>
                <a:lnTo>
                  <a:pt x="262823" y="876096"/>
                </a:lnTo>
                <a:lnTo>
                  <a:pt x="306140" y="892289"/>
                </a:lnTo>
                <a:lnTo>
                  <a:pt x="351073" y="904372"/>
                </a:lnTo>
                <a:lnTo>
                  <a:pt x="397258" y="912208"/>
                </a:lnTo>
                <a:lnTo>
                  <a:pt x="444328" y="915660"/>
                </a:lnTo>
                <a:lnTo>
                  <a:pt x="491920" y="914593"/>
                </a:lnTo>
                <a:lnTo>
                  <a:pt x="539668" y="908868"/>
                </a:lnTo>
                <a:lnTo>
                  <a:pt x="587207" y="898351"/>
                </a:lnTo>
                <a:lnTo>
                  <a:pt x="634174" y="882904"/>
                </a:lnTo>
                <a:lnTo>
                  <a:pt x="679060" y="862922"/>
                </a:lnTo>
                <a:lnTo>
                  <a:pt x="720502" y="839117"/>
                </a:lnTo>
                <a:lnTo>
                  <a:pt x="758351" y="811822"/>
                </a:lnTo>
                <a:lnTo>
                  <a:pt x="792460" y="781373"/>
                </a:lnTo>
                <a:lnTo>
                  <a:pt x="822679" y="748105"/>
                </a:lnTo>
                <a:lnTo>
                  <a:pt x="848861" y="712352"/>
                </a:lnTo>
                <a:lnTo>
                  <a:pt x="870855" y="674449"/>
                </a:lnTo>
                <a:lnTo>
                  <a:pt x="888515" y="634731"/>
                </a:lnTo>
                <a:lnTo>
                  <a:pt x="901691" y="593532"/>
                </a:lnTo>
                <a:lnTo>
                  <a:pt x="910234" y="551189"/>
                </a:lnTo>
                <a:lnTo>
                  <a:pt x="913997" y="508035"/>
                </a:lnTo>
                <a:lnTo>
                  <a:pt x="912830" y="464405"/>
                </a:lnTo>
                <a:lnTo>
                  <a:pt x="906585" y="420634"/>
                </a:lnTo>
                <a:lnTo>
                  <a:pt x="895114" y="377057"/>
                </a:lnTo>
                <a:lnTo>
                  <a:pt x="878268" y="334009"/>
                </a:lnTo>
                <a:lnTo>
                  <a:pt x="856478" y="292869"/>
                </a:lnTo>
                <a:lnTo>
                  <a:pt x="830518" y="254883"/>
                </a:lnTo>
                <a:lnTo>
                  <a:pt x="800753" y="220187"/>
                </a:lnTo>
                <a:lnTo>
                  <a:pt x="767548" y="188919"/>
                </a:lnTo>
                <a:lnTo>
                  <a:pt x="731268" y="161214"/>
                </a:lnTo>
                <a:lnTo>
                  <a:pt x="692277" y="137210"/>
                </a:lnTo>
                <a:lnTo>
                  <a:pt x="650940" y="117043"/>
                </a:lnTo>
                <a:lnTo>
                  <a:pt x="632729" y="110236"/>
                </a:lnTo>
                <a:lnTo>
                  <a:pt x="279590" y="110236"/>
                </a:lnTo>
                <a:lnTo>
                  <a:pt x="93916" y="0"/>
                </a:lnTo>
                <a:close/>
              </a:path>
              <a:path w="914400" h="915670">
                <a:moveTo>
                  <a:pt x="469436" y="77479"/>
                </a:moveTo>
                <a:lnTo>
                  <a:pt x="421844" y="78546"/>
                </a:lnTo>
                <a:lnTo>
                  <a:pt x="374096" y="84271"/>
                </a:lnTo>
                <a:lnTo>
                  <a:pt x="326556" y="94788"/>
                </a:lnTo>
                <a:lnTo>
                  <a:pt x="279590" y="110236"/>
                </a:lnTo>
                <a:lnTo>
                  <a:pt x="632729" y="110236"/>
                </a:lnTo>
                <a:lnTo>
                  <a:pt x="607623" y="100850"/>
                </a:lnTo>
                <a:lnTo>
                  <a:pt x="562690" y="88767"/>
                </a:lnTo>
                <a:lnTo>
                  <a:pt x="516506" y="80931"/>
                </a:lnTo>
                <a:lnTo>
                  <a:pt x="469436" y="77479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8" name="object 28"/>
          <p:cNvSpPr/>
          <p:nvPr/>
        </p:nvSpPr>
        <p:spPr>
          <a:xfrm rot="4423400">
            <a:off x="554669" y="2998006"/>
            <a:ext cx="1028868" cy="1085060"/>
          </a:xfrm>
          <a:custGeom>
            <a:avLst/>
            <a:gdLst/>
            <a:ahLst/>
            <a:cxnLst/>
            <a:rect l="l" t="t" r="r" b="b"/>
            <a:pathLst>
              <a:path w="914400" h="915670">
                <a:moveTo>
                  <a:pt x="93916" y="0"/>
                </a:moveTo>
                <a:lnTo>
                  <a:pt x="279590" y="110236"/>
                </a:lnTo>
                <a:lnTo>
                  <a:pt x="326556" y="94788"/>
                </a:lnTo>
                <a:lnTo>
                  <a:pt x="374096" y="84271"/>
                </a:lnTo>
                <a:lnTo>
                  <a:pt x="421844" y="78546"/>
                </a:lnTo>
                <a:lnTo>
                  <a:pt x="469436" y="77479"/>
                </a:lnTo>
                <a:lnTo>
                  <a:pt x="516506" y="80931"/>
                </a:lnTo>
                <a:lnTo>
                  <a:pt x="562690" y="88767"/>
                </a:lnTo>
                <a:lnTo>
                  <a:pt x="607623" y="100850"/>
                </a:lnTo>
                <a:lnTo>
                  <a:pt x="650940" y="117043"/>
                </a:lnTo>
                <a:lnTo>
                  <a:pt x="692277" y="137210"/>
                </a:lnTo>
                <a:lnTo>
                  <a:pt x="731268" y="161214"/>
                </a:lnTo>
                <a:lnTo>
                  <a:pt x="767548" y="188919"/>
                </a:lnTo>
                <a:lnTo>
                  <a:pt x="800753" y="220187"/>
                </a:lnTo>
                <a:lnTo>
                  <a:pt x="830518" y="254883"/>
                </a:lnTo>
                <a:lnTo>
                  <a:pt x="856478" y="292869"/>
                </a:lnTo>
                <a:lnTo>
                  <a:pt x="878268" y="334009"/>
                </a:lnTo>
                <a:lnTo>
                  <a:pt x="895114" y="377057"/>
                </a:lnTo>
                <a:lnTo>
                  <a:pt x="906585" y="420634"/>
                </a:lnTo>
                <a:lnTo>
                  <a:pt x="912830" y="464405"/>
                </a:lnTo>
                <a:lnTo>
                  <a:pt x="913997" y="508035"/>
                </a:lnTo>
                <a:lnTo>
                  <a:pt x="910234" y="551189"/>
                </a:lnTo>
                <a:lnTo>
                  <a:pt x="901691" y="593532"/>
                </a:lnTo>
                <a:lnTo>
                  <a:pt x="888515" y="634731"/>
                </a:lnTo>
                <a:lnTo>
                  <a:pt x="870855" y="674449"/>
                </a:lnTo>
                <a:lnTo>
                  <a:pt x="848861" y="712352"/>
                </a:lnTo>
                <a:lnTo>
                  <a:pt x="822679" y="748105"/>
                </a:lnTo>
                <a:lnTo>
                  <a:pt x="792460" y="781373"/>
                </a:lnTo>
                <a:lnTo>
                  <a:pt x="758351" y="811822"/>
                </a:lnTo>
                <a:lnTo>
                  <a:pt x="720502" y="839117"/>
                </a:lnTo>
                <a:lnTo>
                  <a:pt x="679060" y="862922"/>
                </a:lnTo>
                <a:lnTo>
                  <a:pt x="634174" y="882904"/>
                </a:lnTo>
                <a:lnTo>
                  <a:pt x="587207" y="898351"/>
                </a:lnTo>
                <a:lnTo>
                  <a:pt x="539668" y="908868"/>
                </a:lnTo>
                <a:lnTo>
                  <a:pt x="491920" y="914593"/>
                </a:lnTo>
                <a:lnTo>
                  <a:pt x="444328" y="915660"/>
                </a:lnTo>
                <a:lnTo>
                  <a:pt x="397258" y="912208"/>
                </a:lnTo>
                <a:lnTo>
                  <a:pt x="351073" y="904372"/>
                </a:lnTo>
                <a:lnTo>
                  <a:pt x="306140" y="892289"/>
                </a:lnTo>
                <a:lnTo>
                  <a:pt x="262823" y="876096"/>
                </a:lnTo>
                <a:lnTo>
                  <a:pt x="221487" y="855929"/>
                </a:lnTo>
                <a:lnTo>
                  <a:pt x="182496" y="831925"/>
                </a:lnTo>
                <a:lnTo>
                  <a:pt x="146216" y="804220"/>
                </a:lnTo>
                <a:lnTo>
                  <a:pt x="113010" y="772952"/>
                </a:lnTo>
                <a:lnTo>
                  <a:pt x="83246" y="738256"/>
                </a:lnTo>
                <a:lnTo>
                  <a:pt x="57286" y="700270"/>
                </a:lnTo>
                <a:lnTo>
                  <a:pt x="35496" y="659130"/>
                </a:lnTo>
                <a:lnTo>
                  <a:pt x="18538" y="615637"/>
                </a:lnTo>
                <a:lnTo>
                  <a:pt x="7026" y="571318"/>
                </a:lnTo>
                <a:lnTo>
                  <a:pt x="874" y="526560"/>
                </a:lnTo>
                <a:lnTo>
                  <a:pt x="0" y="481750"/>
                </a:lnTo>
                <a:lnTo>
                  <a:pt x="4317" y="437278"/>
                </a:lnTo>
                <a:lnTo>
                  <a:pt x="13744" y="393531"/>
                </a:lnTo>
                <a:lnTo>
                  <a:pt x="28194" y="350898"/>
                </a:lnTo>
                <a:lnTo>
                  <a:pt x="47585" y="309766"/>
                </a:lnTo>
                <a:lnTo>
                  <a:pt x="71831" y="270524"/>
                </a:lnTo>
                <a:lnTo>
                  <a:pt x="100850" y="233560"/>
                </a:lnTo>
                <a:lnTo>
                  <a:pt x="134556" y="199262"/>
                </a:lnTo>
                <a:lnTo>
                  <a:pt x="93916" y="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9" name="object 29"/>
          <p:cNvSpPr txBox="1"/>
          <p:nvPr/>
        </p:nvSpPr>
        <p:spPr>
          <a:xfrm>
            <a:off x="589809" y="2358238"/>
            <a:ext cx="1053389" cy="1471499"/>
          </a:xfrm>
          <a:prstGeom prst="rect">
            <a:avLst/>
          </a:prstGeom>
        </p:spPr>
        <p:txBody>
          <a:bodyPr vert="horz" wrap="square" lIns="0" tIns="17088" rIns="0" bIns="0" rtlCol="0">
            <a:spAutoFit/>
          </a:bodyPr>
          <a:lstStyle/>
          <a:p>
            <a:pPr marL="15240">
              <a:spcBef>
                <a:spcPts val="135"/>
              </a:spcBef>
            </a:pPr>
            <a:r>
              <a:rPr lang="en-US" sz="3200" b="1" spc="110" dirty="0">
                <a:latin typeface="Times New Roman" panose="02020603050405020304"/>
                <a:cs typeface="Times New Roman" panose="02020603050405020304"/>
              </a:rPr>
              <a:t> 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215265">
              <a:lnSpc>
                <a:spcPts val="2555"/>
              </a:lnSpc>
              <a:spcBef>
                <a:spcPts val="2330"/>
              </a:spcBef>
            </a:pPr>
            <a:r>
              <a:rPr sz="2200" b="1" dirty="0" err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代入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265">
              <a:lnSpc>
                <a:spcPts val="2555"/>
              </a:lnSpc>
            </a:pPr>
            <a:r>
              <a:rPr sz="2200" b="1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初值</a:t>
            </a:r>
            <a:endParaRPr sz="22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1534800" y="1250535"/>
                <a:ext cx="3919471" cy="78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600" b="1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num>
                        <m:den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6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d>
                            <m:dPr>
                              <m:ctrlP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6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6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800" y="1250535"/>
                <a:ext cx="3919471" cy="783228"/>
              </a:xfrm>
              <a:prstGeom prst="rect">
                <a:avLst/>
              </a:prstGeom>
              <a:blipFill rotWithShape="1">
                <a:blip r:embed="rId1"/>
                <a:stretch>
                  <a:fillRect t="-28" r="7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1202484" y="2442527"/>
                <a:ext cx="4766498" cy="7729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6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6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b="1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6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6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f>
                            <m:fPr>
                              <m:ctrlP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altLang="zh-CN" sz="26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484" y="2442527"/>
                <a:ext cx="4766498" cy="772904"/>
              </a:xfrm>
              <a:prstGeom prst="rect">
                <a:avLst/>
              </a:prstGeom>
              <a:blipFill rotWithShape="1">
                <a:blip r:embed="rId2"/>
                <a:stretch>
                  <a:fillRect l="-9" t="-41" r="13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1202484" y="3624015"/>
                <a:ext cx="3829638" cy="762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600" b="1" i="1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6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6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f>
                            <m:fPr>
                              <m:ctrlPr>
                                <a:rPr lang="en-US" altLang="zh-CN" sz="26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600" b="1" dirty="0"/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484" y="3624015"/>
                <a:ext cx="3829638" cy="762453"/>
              </a:xfrm>
              <a:prstGeom prst="rect">
                <a:avLst/>
              </a:prstGeom>
              <a:blipFill rotWithShape="1">
                <a:blip r:embed="rId3"/>
                <a:stretch>
                  <a:fillRect l="-11" t="-9" r="10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bject 21"/>
          <p:cNvSpPr/>
          <p:nvPr/>
        </p:nvSpPr>
        <p:spPr>
          <a:xfrm>
            <a:off x="4410289" y="1250535"/>
            <a:ext cx="970603" cy="993808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21"/>
          <p:cNvSpPr/>
          <p:nvPr/>
        </p:nvSpPr>
        <p:spPr>
          <a:xfrm>
            <a:off x="2613949" y="2365386"/>
            <a:ext cx="3382402" cy="993808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矩形 2"/>
          <p:cNvSpPr/>
          <p:nvPr/>
        </p:nvSpPr>
        <p:spPr>
          <a:xfrm>
            <a:off x="5984144" y="2577248"/>
            <a:ext cx="25652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>
              <a:spcBef>
                <a:spcPts val="11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随着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的降低在和式中多出一项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2"/>
              <p:cNvSpPr txBox="1"/>
              <p:nvPr/>
            </p:nvSpPr>
            <p:spPr>
              <a:xfrm>
                <a:off x="5791979" y="3409269"/>
                <a:ext cx="17851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5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979" y="3409269"/>
                <a:ext cx="1785104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8" t="-113" r="15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360026" y="4287469"/>
            <a:ext cx="14311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240">
              <a:spcBef>
                <a:spcPts val="1100"/>
              </a:spcBef>
            </a:pPr>
            <a:r>
              <a:rPr lang="zh-CN" altLang="en-US" sz="24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调和级数</a:t>
            </a:r>
            <a:endParaRPr lang="zh-CN" alt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17" name="object 21"/>
          <p:cNvSpPr/>
          <p:nvPr/>
        </p:nvSpPr>
        <p:spPr>
          <a:xfrm>
            <a:off x="1975585" y="3570718"/>
            <a:ext cx="3036030" cy="993808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27" grpId="0" animBg="1"/>
      <p:bldP spid="28" grpId="0" animBg="1"/>
      <p:bldP spid="31" grpId="0" animBg="1"/>
      <p:bldP spid="32" grpId="0" animBg="1"/>
      <p:bldP spid="12" grpId="0" animBg="1"/>
      <p:bldP spid="3" grpId="0"/>
      <p:bldP spid="15" grpId="0" animBg="1"/>
      <p:bldP spid="16" grpId="0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141984"/>
            <a:ext cx="8202188" cy="1309167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57200" marR="6350" indent="-457200">
              <a:lnSpc>
                <a:spcPct val="150000"/>
              </a:lnSpc>
              <a:spcBef>
                <a:spcPts val="115"/>
              </a:spcBef>
              <a:buFont typeface="Wingdings" panose="05000000000000000000" pitchFamily="2" charset="2"/>
              <a:buChar char="l"/>
              <a:tabLst>
                <a:tab pos="433705" algn="l"/>
                <a:tab pos="434340" algn="l"/>
              </a:tabLst>
            </a:pPr>
            <a:r>
              <a:rPr sz="2800" b="1" spc="-6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对于高阶递推方程先要用差消法化简为一阶方程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472440" indent="-457200">
              <a:lnSpc>
                <a:spcPct val="150000"/>
              </a:lnSpc>
              <a:spcBef>
                <a:spcPts val="825"/>
              </a:spcBef>
              <a:buFont typeface="Wingdings" panose="05000000000000000000" pitchFamily="2" charset="2"/>
              <a:buChar char="l"/>
              <a:tabLst>
                <a:tab pos="433705" algn="l"/>
                <a:tab pos="434340" algn="l"/>
              </a:tabLst>
            </a:pPr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迭代求解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54063" y="0"/>
            <a:ext cx="8389937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小结</a:t>
            </a:r>
            <a:endParaRPr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$5{YM)_CN(_0W]U3_HMAD%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635" y="1400810"/>
            <a:ext cx="3981450" cy="4824095"/>
          </a:xfrm>
          <a:prstGeom prst="rect">
            <a:avLst/>
          </a:prstGeom>
        </p:spPr>
      </p:pic>
      <p:pic>
        <p:nvPicPr>
          <p:cNvPr id="4" name="图片 3" descr="(IZ2LC~M}AC(U${GAL5OV]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085" y="1401445"/>
            <a:ext cx="4152900" cy="476631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88275" y="2769640"/>
            <a:ext cx="7886700" cy="132556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递归树</a:t>
            </a:r>
            <a:endParaRPr lang="zh-CN" altLang="en-US"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0888" y="0"/>
            <a:ext cx="8393112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递归树的概念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44500" y="1093788"/>
            <a:ext cx="8305800" cy="435133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递归树是迭代计算的模型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递归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树的生成过程与迭代过程一致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递归树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上所有项恰好是迭代之后产生和式中的项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对递归树上的项求和就是迭代后方程的解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175"/>
            <a:ext cx="8401050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迭代在递归树中的表示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36071" y="1069543"/>
                <a:ext cx="8380450" cy="51559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如果递归树上某节点标记为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b="1" i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71" y="1069543"/>
                <a:ext cx="8380450" cy="515594"/>
              </a:xfrm>
              <a:prstGeom prst="rect">
                <a:avLst/>
              </a:prstGeom>
              <a:blipFill rotWithShape="1">
                <a:blip r:embed="rId1"/>
                <a:stretch>
                  <a:fillRect l="-6" t="-39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638630" y="1575530"/>
                <a:ext cx="7828178" cy="454039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𝒈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4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b="1" i="1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30" y="1575530"/>
                <a:ext cx="7828178" cy="454039"/>
              </a:xfrm>
              <a:prstGeom prst="rect">
                <a:avLst/>
              </a:prstGeom>
              <a:blipFill rotWithShape="1">
                <a:blip r:embed="rId2"/>
                <a:stretch>
                  <a:fillRect l="-6" t="-21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026744" y="1954443"/>
                <a:ext cx="2751851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744" y="1954443"/>
                <a:ext cx="2751851" cy="515594"/>
              </a:xfrm>
              <a:prstGeom prst="rect">
                <a:avLst/>
              </a:prstGeom>
              <a:blipFill rotWithShape="1">
                <a:blip r:embed="rId3"/>
                <a:stretch>
                  <a:fillRect l="-12" t="-106" r="3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36070" y="2442043"/>
                <a:ext cx="7372615" cy="51559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称为函数项</a:t>
                </a:r>
                <a:r>
                  <a:rPr lang="en-US" altLang="zh-CN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.</a:t>
                </a:r>
                <a:endPara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70" y="2442043"/>
                <a:ext cx="7372615" cy="515594"/>
              </a:xfrm>
              <a:prstGeom prst="rect">
                <a:avLst/>
              </a:prstGeom>
              <a:blipFill rotWithShape="1">
                <a:blip r:embed="rId4"/>
                <a:stretch>
                  <a:fillRect l="-6" t="-91" r="1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r="87182"/>
          <a:stretch>
            <a:fillRect/>
          </a:stretch>
        </p:blipFill>
        <p:spPr>
          <a:xfrm>
            <a:off x="1423225" y="3037622"/>
            <a:ext cx="723831" cy="271913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14321" t="12831" r="51646" b="45571"/>
          <a:stretch>
            <a:fillRect/>
          </a:stretch>
        </p:blipFill>
        <p:spPr>
          <a:xfrm>
            <a:off x="2360492" y="3386524"/>
            <a:ext cx="1921948" cy="11310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"/>
          <a:stretch>
            <a:fillRect/>
          </a:stretch>
        </p:blipFill>
        <p:spPr>
          <a:xfrm>
            <a:off x="4181796" y="3113556"/>
            <a:ext cx="4024868" cy="25672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30163"/>
            <a:ext cx="836612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二层子树的例子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7193" y="1200716"/>
            <a:ext cx="2403566" cy="515594"/>
          </a:xfrm>
          <a:prstGeom prst="rect">
            <a:avLst/>
          </a:prstGeom>
          <a:noFill/>
        </p:spPr>
        <p:txBody>
          <a:bodyPr wrap="square" lIns="83887" tIns="41944" rIns="83887" bIns="41944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二分归并排序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138350" y="1774164"/>
                <a:ext cx="4422821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350" y="1774164"/>
                <a:ext cx="4422821" cy="515594"/>
              </a:xfrm>
              <a:prstGeom prst="rect">
                <a:avLst/>
              </a:prstGeom>
              <a:blipFill rotWithShape="1">
                <a:blip r:embed="rId1"/>
                <a:stretch>
                  <a:fillRect l="-7" t="-118" r="8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998" y="3085596"/>
            <a:ext cx="1657495" cy="15469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3408151" y="2717716"/>
                <a:ext cx="1133651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151" y="2717716"/>
                <a:ext cx="1133651" cy="515594"/>
              </a:xfrm>
              <a:prstGeom prst="rect">
                <a:avLst/>
              </a:prstGeom>
              <a:blipFill rotWithShape="1">
                <a:blip r:embed="rId3"/>
                <a:stretch>
                  <a:fillRect l="-9" t="-107" r="25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2678213" y="4632590"/>
                <a:ext cx="1555946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213" y="4632590"/>
                <a:ext cx="1555946" cy="515594"/>
              </a:xfrm>
              <a:prstGeom prst="rect">
                <a:avLst/>
              </a:prstGeom>
              <a:blipFill rotWithShape="1">
                <a:blip r:embed="rId4"/>
                <a:stretch>
                  <a:fillRect l="-27" t="-51" r="39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4222841" y="4639342"/>
                <a:ext cx="1555946" cy="515594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841" y="4639342"/>
                <a:ext cx="1555946" cy="515594"/>
              </a:xfrm>
              <a:prstGeom prst="rect">
                <a:avLst/>
              </a:prstGeom>
              <a:blipFill rotWithShape="1">
                <a:blip r:embed="rId4"/>
                <a:stretch>
                  <a:fillRect l="-6" t="-6" r="1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50800"/>
            <a:ext cx="8382000" cy="728663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</a:t>
            </a: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树的生成规则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482600" y="1162050"/>
                <a:ext cx="8305800" cy="43513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初始，递归树只有根节点，其值为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l"/>
                </a:pPr>
                <a:endPara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不断继续下述过程：</a:t>
                </a:r>
                <a:endPara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96240" indent="0">
                  <a:buFont typeface="Wingdings" panose="05000000000000000000" pitchFamily="2" charset="2"/>
                  <a:buChar char="Ø"/>
                </a:pP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将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函数项叶结点的迭代式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𝑾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表示成二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层子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树</a:t>
                </a:r>
                <a:endPara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96240" indent="0">
                  <a:buFont typeface="Wingdings" panose="05000000000000000000" pitchFamily="2" charset="2"/>
                  <a:buChar char="Ø"/>
                </a:pP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用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该子树替换该叶结点</a:t>
                </a:r>
                <a:endParaRPr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/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继续递归树的生成，直到树中无函数项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只有初值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为置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en-US" altLang="zh-CN" sz="2800" b="1" dirty="0" smtClean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482600" y="1162050"/>
                <a:ext cx="8305800" cy="4351338"/>
              </a:xfrm>
              <a:prstGeom prst="rect">
                <a:avLst/>
              </a:prstGeom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8825" y="0"/>
            <a:ext cx="8385175" cy="78105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递归树生成实例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87704"/>
          <a:stretch>
            <a:fillRect/>
          </a:stretch>
        </p:blipFill>
        <p:spPr>
          <a:xfrm>
            <a:off x="613558" y="1259309"/>
            <a:ext cx="3452159" cy="53713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223526" y="1919710"/>
            <a:ext cx="3864672" cy="825353"/>
            <a:chOff x="2188507" y="2065955"/>
            <a:chExt cx="4108898" cy="77988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t="19077" b="62840"/>
            <a:stretch>
              <a:fillRect/>
            </a:stretch>
          </p:blipFill>
          <p:spPr>
            <a:xfrm>
              <a:off x="2627089" y="2099388"/>
              <a:ext cx="3670316" cy="746449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2188507" y="2065955"/>
              <a:ext cx="1357126" cy="4943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根节点</a:t>
              </a:r>
              <a:endParaRPr lang="zh-CN" altLang="en-US" sz="2400" b="1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282492" y="2962304"/>
            <a:ext cx="3805706" cy="2689195"/>
            <a:chOff x="2251199" y="3051110"/>
            <a:chExt cx="4046206" cy="254104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/>
            <a:srcRect t="38441"/>
            <a:stretch>
              <a:fillRect/>
            </a:stretch>
          </p:blipFill>
          <p:spPr>
            <a:xfrm>
              <a:off x="2627089" y="3051110"/>
              <a:ext cx="3670316" cy="254104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251199" y="4044467"/>
              <a:ext cx="1346741" cy="49439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叶结点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0888" y="0"/>
            <a:ext cx="8393112" cy="8001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递归树生成实例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67210"/>
          <a:stretch>
            <a:fillRect/>
          </a:stretch>
        </p:blipFill>
        <p:spPr>
          <a:xfrm>
            <a:off x="3670074" y="1325486"/>
            <a:ext cx="3217824" cy="14593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32050"/>
          <a:stretch>
            <a:fillRect/>
          </a:stretch>
        </p:blipFill>
        <p:spPr>
          <a:xfrm>
            <a:off x="3652521" y="2869306"/>
            <a:ext cx="3217824" cy="280681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61594" y="4632062"/>
            <a:ext cx="19909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240" indent="0"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用该子树替换该叶结点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78850" y="4384681"/>
            <a:ext cx="1608912" cy="139764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68350" y="0"/>
            <a:ext cx="8375650" cy="8001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递归树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r="19772"/>
          <a:stretch>
            <a:fillRect/>
          </a:stretch>
        </p:blipFill>
        <p:spPr>
          <a:xfrm>
            <a:off x="902500" y="963397"/>
            <a:ext cx="4878870" cy="51896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304587" y="1077697"/>
                <a:ext cx="959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−</m:t>
                      </m:r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𝟏</m:t>
                      </m:r>
                    </m:oMath>
                  </m:oMathPara>
                </a14:m>
                <a:endParaRPr lang="zh-CN" altLang="en-US" sz="2400" b="1" kern="400" spc="-1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587" y="1077697"/>
                <a:ext cx="95949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2" t="-22" r="33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338594" y="5550305"/>
                <a:ext cx="1155124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kern="400" spc="-100" smtClean="0">
                        <a:latin typeface="Cambria Math" panose="02040503050406030204"/>
                      </a:rPr>
                      <m:t>𝒏</m:t>
                    </m:r>
                    <m:r>
                      <a:rPr lang="en-US" altLang="zh-CN" sz="2400" b="1" i="1" kern="400" spc="-100" smtClean="0">
                        <a:latin typeface="Cambria Math" panose="02040503050406030204"/>
                      </a:rPr>
                      <m:t>−</m:t>
                    </m:r>
                    <m:r>
                      <a:rPr lang="en-US" altLang="zh-CN" sz="2400" b="1" i="1" kern="400" spc="-100" smtClean="0">
                        <a:latin typeface="Cambria Math" panose="02040503050406030204"/>
                      </a:rPr>
                      <m:t>𝟐</m:t>
                    </m:r>
                  </m:oMath>
                </a14:m>
                <a:r>
                  <a:rPr lang="en-US" altLang="zh-CN" sz="2400" b="1" kern="400" spc="-100" baseline="30000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k-1</a:t>
                </a:r>
                <a:endParaRPr lang="zh-CN" altLang="en-US" sz="2400" b="1" kern="400" spc="-100" baseline="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594" y="5550305"/>
                <a:ext cx="1155124" cy="453137"/>
              </a:xfrm>
              <a:prstGeom prst="rect">
                <a:avLst/>
              </a:prstGeom>
              <a:blipFill rotWithShape="1">
                <a:blip r:embed="rId3"/>
                <a:stretch>
                  <a:fillRect l="-2" t="-6816" r="7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8595" y="4107808"/>
                <a:ext cx="959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−</m:t>
                      </m:r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𝟒</m:t>
                      </m:r>
                    </m:oMath>
                  </m:oMathPara>
                </a14:m>
                <a:endParaRPr lang="zh-CN" altLang="en-US" sz="2400" b="1" kern="400" spc="-1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595" y="4107808"/>
                <a:ext cx="959493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3" t="-136" r="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312932" y="2539563"/>
                <a:ext cx="9594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−</m:t>
                      </m:r>
                      <m:r>
                        <a:rPr lang="en-US" altLang="zh-CN" sz="2400" b="1" i="1" kern="400" spc="-100" smtClean="0">
                          <a:latin typeface="Cambria Math" panose="02040503050406030204"/>
                        </a:rPr>
                        <m:t>𝟐</m:t>
                      </m:r>
                    </m:oMath>
                  </m:oMathPara>
                </a14:m>
                <a:endParaRPr lang="zh-CN" altLang="en-US" sz="2400" b="1" kern="400" spc="-1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932" y="2539563"/>
                <a:ext cx="959493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41" t="-43" r="4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65175" y="0"/>
            <a:ext cx="8378825" cy="9144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对递归树上的量求和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58590"/>
          <a:stretch>
            <a:fillRect/>
          </a:stretch>
        </p:blipFill>
        <p:spPr>
          <a:xfrm>
            <a:off x="1319939" y="1588167"/>
            <a:ext cx="6001195" cy="1810619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166400" y="3643670"/>
            <a:ext cx="6476586" cy="2696334"/>
            <a:chOff x="1441267" y="3209730"/>
            <a:chExt cx="6885870" cy="254778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/>
            <a:srcRect t="47322" r="7163"/>
            <a:stretch>
              <a:fillRect/>
            </a:stretch>
          </p:blipFill>
          <p:spPr>
            <a:xfrm>
              <a:off x="1441267" y="3209730"/>
              <a:ext cx="6125860" cy="25477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7406267" y="3249236"/>
                  <a:ext cx="920870" cy="3780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>
                            <a:latin typeface="Cambria Math" panose="02040503050406030204"/>
                          </a:rPr>
                          <m:t>𝒌</m:t>
                        </m:r>
                        <m:r>
                          <a:rPr lang="en-US" altLang="zh-CN" sz="2000" b="1" i="1">
                            <a:latin typeface="Cambria Math" panose="02040503050406030204"/>
                          </a:rPr>
                          <m:t>−</m:t>
                        </m:r>
                        <m:r>
                          <a:rPr lang="en-US" altLang="zh-CN" sz="2000" b="1" i="1">
                            <a:latin typeface="Cambria Math" panose="02040503050406030204"/>
                          </a:rPr>
                          <m:t>𝟏</m:t>
                        </m:r>
                      </m:oMath>
                    </m:oMathPara>
                  </a14:m>
                  <a:endParaRPr lang="zh-CN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6267" y="3249236"/>
                  <a:ext cx="920870" cy="37806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直接连接符 7"/>
          <p:cNvCxnSpPr/>
          <p:nvPr/>
        </p:nvCxnSpPr>
        <p:spPr>
          <a:xfrm>
            <a:off x="2619120" y="4334892"/>
            <a:ext cx="33860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9098" y="4351349"/>
            <a:ext cx="338602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977409" y="4344767"/>
            <a:ext cx="33860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889302" y="4344767"/>
            <a:ext cx="33860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283172" y="4341474"/>
            <a:ext cx="338602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633505" y="4354637"/>
            <a:ext cx="338602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694119" y="5394763"/>
            <a:ext cx="1015807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48369" y="5378303"/>
            <a:ext cx="67720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6388376" y="4597762"/>
            <a:ext cx="1793248" cy="1561635"/>
            <a:chOff x="6189701" y="4045943"/>
            <a:chExt cx="1906571" cy="147560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360268" y="4045943"/>
                  <a:ext cx="1547440" cy="509724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800" b="1" i="1" smtClean="0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latin typeface="Cambria Math" panose="02040503050406030204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latin typeface="Cambria Math" panose="02040503050406030204"/>
                              </a:rPr>
                              <m:t>𝒌</m:t>
                            </m:r>
                          </m:sup>
                        </m:sSup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0268" y="4045943"/>
                  <a:ext cx="1547440" cy="509724"/>
                </a:xfrm>
                <a:prstGeom prst="rect">
                  <a:avLst/>
                </a:prstGeom>
                <a:blipFill rotWithShape="1">
                  <a:blip r:embed="rId3"/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右箭头 17"/>
            <p:cNvSpPr/>
            <p:nvPr/>
          </p:nvSpPr>
          <p:spPr>
            <a:xfrm rot="5400000">
              <a:off x="6830489" y="4678488"/>
              <a:ext cx="440571" cy="261258"/>
            </a:xfrm>
            <a:prstGeom prst="rightArrow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189701" y="5027149"/>
                  <a:ext cx="1906571" cy="494395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𝒌</m:t>
                        </m:r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800" b="1" i="0" smtClean="0">
                            <a:latin typeface="Cambria Math" panose="02040503050406030204"/>
                          </a:rPr>
                          <m:t>𝐥𝐨𝐠𝐧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9701" y="5027149"/>
                  <a:ext cx="1906571" cy="494395"/>
                </a:xfrm>
                <a:prstGeom prst="rect">
                  <a:avLst/>
                </a:prstGeom>
                <a:blipFill rotWithShape="1">
                  <a:blip r:embed="rId4"/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73113" y="20638"/>
            <a:ext cx="8370887" cy="76676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递归树应用实例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88626"/>
          <a:stretch>
            <a:fillRect/>
          </a:stretch>
        </p:blipFill>
        <p:spPr>
          <a:xfrm>
            <a:off x="2125011" y="1048247"/>
            <a:ext cx="5298264" cy="5941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71766" y="1565214"/>
                <a:ext cx="506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766" y="1565214"/>
                <a:ext cx="50687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20" t="-110" r="22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51371" y="2784690"/>
                <a:ext cx="811440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𝟐</m:t>
                          </m:r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371" y="2784690"/>
                <a:ext cx="811440" cy="901785"/>
              </a:xfrm>
              <a:prstGeom prst="rect">
                <a:avLst/>
              </a:prstGeom>
              <a:blipFill rotWithShape="1">
                <a:blip r:embed="rId3"/>
                <a:stretch>
                  <a:fillRect l="-12" t="-24" r="1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506424" y="2856756"/>
                <a:ext cx="596638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424" y="2856756"/>
                <a:ext cx="596638" cy="836383"/>
              </a:xfrm>
              <a:prstGeom prst="rect">
                <a:avLst/>
              </a:prstGeom>
              <a:blipFill rotWithShape="1">
                <a:blip r:embed="rId4"/>
                <a:stretch>
                  <a:fillRect l="-78" t="-63" r="34" b="-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/>
          <p:cNvCxnSpPr>
            <a:endCxn id="33" idx="0"/>
          </p:cNvCxnSpPr>
          <p:nvPr/>
        </p:nvCxnSpPr>
        <p:spPr>
          <a:xfrm flipH="1">
            <a:off x="4666851" y="1917180"/>
            <a:ext cx="875190" cy="908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endCxn id="34" idx="0"/>
          </p:cNvCxnSpPr>
          <p:nvPr/>
        </p:nvCxnSpPr>
        <p:spPr>
          <a:xfrm>
            <a:off x="5881694" y="1915422"/>
            <a:ext cx="839994" cy="908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4583002" y="4493031"/>
                <a:ext cx="811440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𝟐</m:t>
                          </m:r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002" y="4493031"/>
                <a:ext cx="811440" cy="901785"/>
              </a:xfrm>
              <a:prstGeom prst="rect">
                <a:avLst/>
              </a:prstGeom>
              <a:blipFill rotWithShape="1">
                <a:blip r:embed="rId5"/>
                <a:stretch>
                  <a:fillRect l="-26" t="-45" r="14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039566" y="4558525"/>
                <a:ext cx="596638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566" y="4558525"/>
                <a:ext cx="596638" cy="836383"/>
              </a:xfrm>
              <a:prstGeom prst="rect">
                <a:avLst/>
              </a:prstGeom>
              <a:blipFill rotWithShape="1">
                <a:blip r:embed="rId6"/>
                <a:stretch>
                  <a:fillRect l="-55" t="-59" r="12" b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连接符 25"/>
          <p:cNvCxnSpPr/>
          <p:nvPr/>
        </p:nvCxnSpPr>
        <p:spPr>
          <a:xfrm flipH="1">
            <a:off x="4382036" y="3721900"/>
            <a:ext cx="323925" cy="86751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832760" y="3752199"/>
            <a:ext cx="85974" cy="8269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748495" y="3759644"/>
            <a:ext cx="274589" cy="82976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6345003" y="3751065"/>
            <a:ext cx="323925" cy="86751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6060029" y="4512178"/>
                <a:ext cx="811440" cy="9017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𝟐</m:t>
                          </m:r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029" y="4512178"/>
                <a:ext cx="811440" cy="901785"/>
              </a:xfrm>
              <a:prstGeom prst="rect">
                <a:avLst/>
              </a:prstGeom>
              <a:blipFill rotWithShape="1">
                <a:blip r:embed="rId5"/>
                <a:stretch>
                  <a:fillRect l="-28" t="-56" r="17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675344" y="4515623"/>
                <a:ext cx="811440" cy="90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𝟒</m:t>
                          </m:r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344" y="4515623"/>
                <a:ext cx="811440" cy="900246"/>
              </a:xfrm>
              <a:prstGeom prst="rect">
                <a:avLst/>
              </a:prstGeom>
              <a:blipFill rotWithShape="1">
                <a:blip r:embed="rId7"/>
                <a:stretch>
                  <a:fillRect l="-28" t="-15" r="17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4115588" y="2825870"/>
            <a:ext cx="1102526" cy="268366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170425" y="2823822"/>
            <a:ext cx="1102526" cy="268366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>
                <a:latin typeface="Cambria Math" panose="02040503050406030204"/>
              </a:rPr>
              <a:t>⋯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5412079" y="5587509"/>
                <a:ext cx="701923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/>
                          <a:ea typeface="Cambria Math" panose="02040503050406030204"/>
                        </a:rPr>
                        <m:t>⋯⋯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79" y="5587509"/>
                <a:ext cx="701923" cy="353943"/>
              </a:xfrm>
              <a:prstGeom prst="rect">
                <a:avLst/>
              </a:prstGeom>
              <a:blipFill rotWithShape="1">
                <a:blip r:embed="rId8"/>
                <a:stretch>
                  <a:fillRect l="-87" t="-41" r="32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2958490" y="5748794"/>
                <a:ext cx="5682310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/>
                          <a:ea typeface="Cambria Math" panose="02040503050406030204"/>
                        </a:rPr>
                        <m:t>⋯⋯⋯⋯⋯⋯⋯⋯⋯⋯</m:t>
                      </m:r>
                      <m:r>
                        <a:rPr lang="en-US" altLang="zh-CN" b="0" i="1" smtClean="0">
                          <a:latin typeface="Cambria Math" panose="02040503050406030204"/>
                          <a:ea typeface="Cambria Math" panose="02040503050406030204"/>
                        </a:rPr>
                        <m:t>                       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490" y="5748794"/>
                <a:ext cx="5682310" cy="353943"/>
              </a:xfrm>
              <a:prstGeom prst="rect">
                <a:avLst/>
              </a:prstGeom>
              <a:blipFill rotWithShape="1">
                <a:blip r:embed="rId9"/>
                <a:stretch>
                  <a:fillRect t="-39" r="6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7869006" y="1536036"/>
                <a:ext cx="506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006" y="1536036"/>
                <a:ext cx="50687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7" t="-116" r="45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7898215" y="2960775"/>
                <a:ext cx="506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215" y="2960775"/>
                <a:ext cx="50687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7" t="-77" r="44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7901092" y="4669116"/>
                <a:ext cx="506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092" y="4669116"/>
                <a:ext cx="50687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83" t="-114" r="111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7766434" y="5580505"/>
                <a:ext cx="106792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𝑶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434" y="5580505"/>
                <a:ext cx="1067920" cy="523220"/>
              </a:xfrm>
              <a:prstGeom prst="rect">
                <a:avLst/>
              </a:prstGeom>
              <a:blipFill rotWithShape="1">
                <a:blip r:embed="rId10"/>
                <a:stretch>
                  <a:fillRect l="-36" t="-24" r="22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2193989" y="1538799"/>
                <a:ext cx="506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989" y="1538799"/>
                <a:ext cx="50687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3" t="-37" r="40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2411519" y="2543057"/>
                <a:ext cx="1005403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/>
                      </a:rPr>
                      <m:t>𝑻</m:t>
                    </m:r>
                    <m:r>
                      <a:rPr lang="en-US" altLang="zh-CN" sz="2800" b="1" i="1" smtClean="0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519" y="2543057"/>
                <a:ext cx="1005403" cy="714683"/>
              </a:xfrm>
              <a:prstGeom prst="rect">
                <a:avLst/>
              </a:prstGeom>
              <a:blipFill rotWithShape="1">
                <a:blip r:embed="rId11"/>
                <a:stretch>
                  <a:fillRect l="-42" t="-72" r="-4801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1535568" y="2570406"/>
                <a:ext cx="848309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/>
                      </a:rPr>
                      <m:t>𝑻</m:t>
                    </m:r>
                    <m:r>
                      <a:rPr lang="en-US" altLang="zh-CN" sz="2800" b="1" i="1" smtClean="0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568" y="2570406"/>
                <a:ext cx="848309" cy="666914"/>
              </a:xfrm>
              <a:prstGeom prst="rect">
                <a:avLst/>
              </a:prstGeom>
              <a:blipFill rotWithShape="1">
                <a:blip r:embed="rId12"/>
                <a:stretch>
                  <a:fillRect l="-16" t="-84" r="-635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直接连接符 54"/>
          <p:cNvCxnSpPr>
            <a:endCxn id="54" idx="0"/>
          </p:cNvCxnSpPr>
          <p:nvPr/>
        </p:nvCxnSpPr>
        <p:spPr>
          <a:xfrm flipH="1">
            <a:off x="1959723" y="1981137"/>
            <a:ext cx="433721" cy="5892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2496173" y="1981136"/>
            <a:ext cx="331600" cy="6386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H="1">
            <a:off x="1848777" y="4374482"/>
            <a:ext cx="497817" cy="7195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519534" y="4374482"/>
            <a:ext cx="409076" cy="7195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/>
              <p:cNvSpPr txBox="1"/>
              <p:nvPr/>
            </p:nvSpPr>
            <p:spPr>
              <a:xfrm>
                <a:off x="321375" y="2095448"/>
                <a:ext cx="10294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𝑻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(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75" y="2095448"/>
                <a:ext cx="1029448" cy="523220"/>
              </a:xfrm>
              <a:prstGeom prst="rect">
                <a:avLst/>
              </a:prstGeom>
              <a:blipFill rotWithShape="1">
                <a:blip r:embed="rId13"/>
                <a:stretch>
                  <a:fillRect l="-6" t="-111" r="17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左右箭头 65"/>
          <p:cNvSpPr/>
          <p:nvPr/>
        </p:nvSpPr>
        <p:spPr>
          <a:xfrm>
            <a:off x="1149668" y="2230776"/>
            <a:ext cx="631377" cy="28595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/>
              <p:cNvSpPr txBox="1"/>
              <p:nvPr/>
            </p:nvSpPr>
            <p:spPr>
              <a:xfrm>
                <a:off x="403984" y="4294478"/>
                <a:ext cx="848309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/>
                      </a:rPr>
                      <m:t>𝑻</m:t>
                    </m:r>
                    <m:r>
                      <a:rPr lang="en-US" altLang="zh-CN" sz="2800" b="1" i="1" smtClean="0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4" y="4294478"/>
                <a:ext cx="848309" cy="666914"/>
              </a:xfrm>
              <a:prstGeom prst="rect">
                <a:avLst/>
              </a:prstGeom>
              <a:blipFill rotWithShape="1">
                <a:blip r:embed="rId12"/>
                <a:stretch>
                  <a:fillRect l="-15" t="-91" r="-635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左右箭头 67"/>
          <p:cNvSpPr/>
          <p:nvPr/>
        </p:nvSpPr>
        <p:spPr>
          <a:xfrm>
            <a:off x="1123339" y="4504402"/>
            <a:ext cx="631377" cy="28595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/>
              <p:cNvSpPr txBox="1"/>
              <p:nvPr/>
            </p:nvSpPr>
            <p:spPr>
              <a:xfrm>
                <a:off x="2206292" y="3519939"/>
                <a:ext cx="506870" cy="836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292" y="3519939"/>
                <a:ext cx="506870" cy="836383"/>
              </a:xfrm>
              <a:prstGeom prst="rect">
                <a:avLst/>
              </a:prstGeom>
              <a:blipFill rotWithShape="1">
                <a:blip r:embed="rId14"/>
                <a:stretch>
                  <a:fillRect l="-60" t="-16" r="87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2455788" y="4944804"/>
                <a:ext cx="1005403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/>
                      </a:rPr>
                      <m:t>𝑻</m:t>
                    </m:r>
                    <m:r>
                      <a:rPr lang="en-US" altLang="zh-CN" sz="2800" b="1" i="1" smtClean="0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88" y="4944804"/>
                <a:ext cx="1005403" cy="714683"/>
              </a:xfrm>
              <a:prstGeom prst="rect">
                <a:avLst/>
              </a:prstGeom>
              <a:blipFill rotWithShape="1">
                <a:blip r:embed="rId15"/>
                <a:stretch>
                  <a:fillRect l="-24" t="-8" r="-4819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1579838" y="4972154"/>
                <a:ext cx="848309" cy="666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/>
                      </a:rPr>
                      <m:t>𝑻</m:t>
                    </m:r>
                    <m:r>
                      <a:rPr lang="en-US" altLang="zh-CN" sz="2800" b="1" i="1" smtClean="0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838" y="4972154"/>
                <a:ext cx="848309" cy="666914"/>
              </a:xfrm>
              <a:prstGeom prst="rect">
                <a:avLst/>
              </a:prstGeom>
              <a:blipFill rotWithShape="1">
                <a:blip r:embed="rId16"/>
                <a:stretch>
                  <a:fillRect l="-70" t="-16" r="-6299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22" grpId="0" animBg="1"/>
      <p:bldP spid="23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51" grpId="0" animBg="1"/>
      <p:bldP spid="53" grpId="0" animBg="1"/>
      <p:bldP spid="5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85813" y="0"/>
            <a:ext cx="8358187" cy="7905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求和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 rotWithShape="1">
          <a:blip r:embed="rId1"/>
          <a:srcRect b="72416"/>
          <a:stretch>
            <a:fillRect/>
          </a:stretch>
        </p:blipFill>
        <p:spPr>
          <a:xfrm>
            <a:off x="596900" y="1075795"/>
            <a:ext cx="5076825" cy="1200150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 rotWithShape="1">
          <a:blip r:embed="rId1"/>
          <a:srcRect t="35557" b="52642"/>
          <a:stretch>
            <a:fillRect/>
          </a:stretch>
        </p:blipFill>
        <p:spPr>
          <a:xfrm>
            <a:off x="1547599" y="2389491"/>
            <a:ext cx="5076578" cy="513482"/>
          </a:xfrm>
          <a:prstGeom prst="rect">
            <a:avLst/>
          </a:prstGeom>
        </p:spPr>
      </p:pic>
      <p:pic>
        <p:nvPicPr>
          <p:cNvPr id="6" name="内容占位符 3"/>
          <p:cNvPicPr>
            <a:picLocks noChangeAspect="1"/>
          </p:cNvPicPr>
          <p:nvPr/>
        </p:nvPicPr>
        <p:blipFill rotWithShape="1">
          <a:blip r:embed="rId1"/>
          <a:srcRect t="48189" b="39696"/>
          <a:stretch>
            <a:fillRect/>
          </a:stretch>
        </p:blipFill>
        <p:spPr>
          <a:xfrm>
            <a:off x="1769925" y="3396705"/>
            <a:ext cx="5076578" cy="527137"/>
          </a:xfrm>
          <a:prstGeom prst="rect">
            <a:avLst/>
          </a:prstGeom>
        </p:spPr>
      </p:pic>
      <p:pic>
        <p:nvPicPr>
          <p:cNvPr id="7" name="内容占位符 3"/>
          <p:cNvPicPr>
            <a:picLocks noChangeAspect="1"/>
          </p:cNvPicPr>
          <p:nvPr/>
        </p:nvPicPr>
        <p:blipFill rotWithShape="1">
          <a:blip r:embed="rId1"/>
          <a:srcRect t="59815" b="24333"/>
          <a:stretch>
            <a:fillRect/>
          </a:stretch>
        </p:blipFill>
        <p:spPr>
          <a:xfrm>
            <a:off x="1769925" y="4150329"/>
            <a:ext cx="5076578" cy="689752"/>
          </a:xfrm>
          <a:prstGeom prst="rect">
            <a:avLst/>
          </a:prstGeom>
        </p:spPr>
      </p:pic>
      <p:pic>
        <p:nvPicPr>
          <p:cNvPr id="8" name="内容占位符 3"/>
          <p:cNvPicPr>
            <a:picLocks noChangeAspect="1"/>
          </p:cNvPicPr>
          <p:nvPr/>
        </p:nvPicPr>
        <p:blipFill rotWithShape="1">
          <a:blip r:embed="rId1"/>
          <a:srcRect t="86547"/>
          <a:stretch>
            <a:fillRect/>
          </a:stretch>
        </p:blipFill>
        <p:spPr>
          <a:xfrm>
            <a:off x="1581618" y="5144493"/>
            <a:ext cx="5076578" cy="585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77875" y="0"/>
            <a:ext cx="8366125" cy="7905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44500" y="1119188"/>
            <a:ext cx="8331200" cy="435133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递归树是迭代的图形表达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递归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树的生成规则</a:t>
            </a:r>
            <a:endParaRPr lang="en-US" altLang="zh-CN" sz="28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如何利用递归树求解递推方程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94290" y="2776757"/>
            <a:ext cx="8372475" cy="132556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主定理及其证明</a:t>
            </a:r>
            <a:endParaRPr lang="zh-CN" altLang="en-US"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4063" y="25400"/>
            <a:ext cx="8389937" cy="735013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主定理的应用背景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70" y="1136121"/>
            <a:ext cx="6144030" cy="44537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44538" y="122238"/>
            <a:ext cx="8399462" cy="60325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主定理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12637" y="1198519"/>
                <a:ext cx="8354605" cy="9464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:r>
                  <a:rPr lang="zh-CN" altLang="en-US" sz="2800" b="1" dirty="0" smtClean="0">
                    <a:solidFill>
                      <a:srgbClr val="C00000"/>
                    </a:solidFill>
                  </a:rPr>
                  <a:t>定理</a:t>
                </a:r>
                <a:r>
                  <a:rPr lang="zh-CN" altLang="en-US" sz="2800" dirty="0" smtClean="0"/>
                  <a:t>：</a:t>
                </a:r>
                <a:r>
                  <a:rPr lang="zh-CN" altLang="en-US" sz="2800" b="1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800" b="1" dirty="0"/>
                  <a:t> 为常数，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为函数，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𝐓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为非负整数，且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𝐓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𝒂𝑻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 panose="02040503050406030204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zh-CN" sz="2800" b="1" i="1" dirty="0">
                                <a:latin typeface="Cambria Math" panose="02040503050406030204"/>
                              </a:rPr>
                            </m:ctrlPr>
                          </m:fPr>
                          <m:num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den>
                        </m:f>
                      </m:e>
                    </m:d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/>
                  <a:t>，则</a:t>
                </a:r>
                <a:endParaRPr lang="zh-CN" altLang="en-US" sz="28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37" y="1198519"/>
                <a:ext cx="8354605" cy="946482"/>
              </a:xfrm>
              <a:prstGeom prst="rect">
                <a:avLst/>
              </a:prstGeom>
              <a:blipFill rotWithShape="1">
                <a:blip r:embed="rId1"/>
                <a:stretch>
                  <a:fillRect l="-6" t="-29" r="5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12637" y="2417055"/>
                <a:ext cx="5997845" cy="50155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en-US" altLang="zh-CN" sz="2400" b="1" dirty="0" smtClean="0"/>
                  <a:t>1. </a:t>
                </a:r>
                <a:r>
                  <a:rPr lang="zh-CN" altLang="en-US" sz="2400" b="1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dirty="0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400" b="1" i="1" dirty="0">
                                    <a:latin typeface="Cambria Math" panose="02040503050406030204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400" b="1" i="1" dirty="0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func>
                            <m:r>
                              <a:rPr lang="en-US" altLang="zh-CN" sz="2400" b="1" i="1" dirty="0" smtClean="0">
                                <a:latin typeface="Cambria Math" panose="02040503050406030204"/>
                              </a:rPr>
                              <m:t> 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𝜺</m:t>
                            </m:r>
                          </m:sup>
                        </m:sSup>
                      </m:e>
                    </m:d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2400" b="1" dirty="0"/>
                  <a:t>，那么</a:t>
                </a:r>
                <a:endParaRPr lang="zh-CN" altLang="en-US" sz="2400" b="1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37" y="2417055"/>
                <a:ext cx="5997845" cy="501553"/>
              </a:xfrm>
              <a:prstGeom prst="rect">
                <a:avLst/>
              </a:prstGeom>
              <a:blipFill rotWithShape="1">
                <a:blip r:embed="rId2"/>
                <a:stretch>
                  <a:fillRect l="-9" t="-49" r="3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516526" y="2924085"/>
                <a:ext cx="2733769" cy="50155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526" y="2924085"/>
                <a:ext cx="2733769" cy="501553"/>
              </a:xfrm>
              <a:prstGeom prst="rect">
                <a:avLst/>
              </a:prstGeom>
              <a:blipFill rotWithShape="1">
                <a:blip r:embed="rId3"/>
                <a:stretch>
                  <a:fillRect l="-1" t="-109" r="4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12637" y="3607236"/>
                <a:ext cx="6796462" cy="50155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en-US" altLang="zh-CN" sz="2400" b="1" dirty="0"/>
                  <a:t>2. </a:t>
                </a:r>
                <a:r>
                  <a:rPr lang="zh-CN" altLang="en-US" sz="2400" b="1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𝜣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dirty="0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400" b="1" i="1" dirty="0">
                                    <a:latin typeface="Cambria Math" panose="02040503050406030204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400" b="1" i="1" dirty="0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zh-CN" altLang="en-US" sz="2400" b="1" dirty="0"/>
                  <a:t>，那么</a:t>
                </a:r>
                <a:endParaRPr lang="zh-CN" altLang="en-US" sz="2400" b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37" y="3607236"/>
                <a:ext cx="6796462" cy="501553"/>
              </a:xfrm>
              <a:prstGeom prst="rect">
                <a:avLst/>
              </a:prstGeom>
              <a:blipFill rotWithShape="1">
                <a:blip r:embed="rId4"/>
                <a:stretch>
                  <a:fillRect l="-8" t="-87" r="9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518835" y="4128156"/>
                <a:ext cx="3480768" cy="501553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835" y="4128156"/>
                <a:ext cx="3480768" cy="501553"/>
              </a:xfrm>
              <a:prstGeom prst="rect">
                <a:avLst/>
              </a:prstGeom>
              <a:blipFill rotWithShape="1">
                <a:blip r:embed="rId5"/>
                <a:stretch>
                  <a:fillRect l="-12" t="-4" r="4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03860" y="4669331"/>
                <a:ext cx="8363382" cy="87088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:r>
                  <a:rPr lang="en-US" altLang="zh-CN" sz="2400" b="1" dirty="0" smtClean="0"/>
                  <a:t>3. </a:t>
                </a:r>
                <a:r>
                  <a:rPr lang="zh-CN" altLang="en-US" sz="2400" b="1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𝜴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dirty="0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400" b="1" i="1" dirty="0">
                                    <a:latin typeface="Cambria Math" panose="02040503050406030204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400" b="1" i="1" dirty="0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US" altLang="zh-CN" sz="2400" b="1" i="1" dirty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func>
                            <m:r>
                              <a:rPr lang="en-US" altLang="zh-CN" sz="2400" b="1" i="1" dirty="0" smtClean="0">
                                <a:latin typeface="Cambria Math" panose="02040503050406030204"/>
                              </a:rPr>
                              <m:t> </m:t>
                            </m:r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𝜺</m:t>
                            </m:r>
                          </m:sup>
                        </m:sSup>
                      </m:e>
                    </m:d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/>
                  <a:t>，且对于某个常数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zh-CN" sz="2400" b="1" dirty="0"/>
                  <a:t>&lt;1</a:t>
                </a:r>
                <a:r>
                  <a:rPr lang="zh-CN" altLang="en-US" sz="2400" b="1" dirty="0"/>
                  <a:t>和充分大的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b="1" dirty="0"/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𝒂𝒇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US" altLang="zh-CN" sz="2400" b="1" i="1" dirty="0"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𝒄𝒇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/>
                  <a:t>，那么</a:t>
                </a:r>
                <a:endParaRPr lang="zh-CN" altLang="en-US" sz="2400" b="1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" y="4669331"/>
                <a:ext cx="8363382" cy="870884"/>
              </a:xfrm>
              <a:prstGeom prst="rect">
                <a:avLst/>
              </a:prstGeom>
              <a:blipFill rotWithShape="1">
                <a:blip r:embed="rId6"/>
                <a:stretch>
                  <a:fillRect t="-20" r="5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2500744" y="5521574"/>
                <a:ext cx="2483123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744" y="5521574"/>
                <a:ext cx="2483123" cy="454039"/>
              </a:xfrm>
              <a:prstGeom prst="rect">
                <a:avLst/>
              </a:prstGeom>
              <a:blipFill rotWithShape="1">
                <a:blip r:embed="rId7"/>
                <a:stretch>
                  <a:fillRect l="-5" t="-55" r="16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椭圆形标注 10"/>
              <p:cNvSpPr/>
              <p:nvPr/>
            </p:nvSpPr>
            <p:spPr>
              <a:xfrm>
                <a:off x="5636789" y="2842396"/>
                <a:ext cx="1252875" cy="589280"/>
              </a:xfrm>
              <a:prstGeom prst="wedgeEllipseCallout">
                <a:avLst>
                  <a:gd name="adj1" fmla="val -101688"/>
                  <a:gd name="adj2" fmla="val -773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3887" tIns="41944" rIns="83887" bIns="41944" rtlCol="0" anchor="ctr"/>
              <a:lstStyle/>
              <a:p>
                <a:pPr algn="ctr"/>
                <a:r>
                  <a:rPr lang="zh-CN" altLang="en-US" sz="2400" b="1" dirty="0"/>
                  <a:t>存在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1" name="椭圆形标注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789" y="2842396"/>
                <a:ext cx="1252875" cy="589280"/>
              </a:xfrm>
              <a:prstGeom prst="wedgeEllipseCallout">
                <a:avLst>
                  <a:gd name="adj1" fmla="val -101688"/>
                  <a:gd name="adj2" fmla="val -77300"/>
                </a:avLst>
              </a:prstGeom>
              <a:blipFill rotWithShape="1">
                <a:blip r:embed="rId8"/>
                <a:stretch>
                  <a:fillRect l="-55591" t="-30627" r="-463" b="-12154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椭圆形标注 11"/>
              <p:cNvSpPr/>
              <p:nvPr/>
            </p:nvSpPr>
            <p:spPr>
              <a:xfrm>
                <a:off x="6107345" y="3374646"/>
                <a:ext cx="1313238" cy="793009"/>
              </a:xfrm>
              <a:prstGeom prst="wedgeEllipseCallout">
                <a:avLst>
                  <a:gd name="adj1" fmla="val -144149"/>
                  <a:gd name="adj2" fmla="val 5091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3887" tIns="41944" rIns="83887" bIns="41944" rtlCol="0" anchor="ctr"/>
              <a:lstStyle/>
              <a:p>
                <a:pPr algn="ctr"/>
                <a:r>
                  <a:rPr lang="zh-CN" altLang="en-US" sz="2400" b="1" dirty="0"/>
                  <a:t>存在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2" name="椭圆形标注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345" y="3374646"/>
                <a:ext cx="1313238" cy="793009"/>
              </a:xfrm>
              <a:prstGeom prst="wedgeEllipseCallout">
                <a:avLst>
                  <a:gd name="adj1" fmla="val -144149"/>
                  <a:gd name="adj2" fmla="val 50910"/>
                </a:avLst>
              </a:prstGeom>
              <a:blipFill rotWithShape="1">
                <a:blip r:embed="rId9"/>
                <a:stretch>
                  <a:fillRect l="-98007" t="-833" r="-486" b="-2624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椭圆形标注 12"/>
              <p:cNvSpPr/>
              <p:nvPr/>
            </p:nvSpPr>
            <p:spPr>
              <a:xfrm>
                <a:off x="7287562" y="5606594"/>
                <a:ext cx="1479679" cy="790986"/>
              </a:xfrm>
              <a:prstGeom prst="wedgeEllipseCallout">
                <a:avLst>
                  <a:gd name="adj1" fmla="val -63977"/>
                  <a:gd name="adj2" fmla="val -116809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3887" tIns="41944" rIns="83887" bIns="41944" rtlCol="0" anchor="ctr"/>
              <a:lstStyle/>
              <a:p>
                <a:pPr algn="ctr"/>
                <a:r>
                  <a:rPr lang="zh-CN" altLang="en-US" sz="2400" dirty="0" smtClean="0"/>
                  <a:t>存在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400" dirty="0" smtClean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3" name="椭圆形标注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562" y="5606594"/>
                <a:ext cx="1479679" cy="790986"/>
              </a:xfrm>
              <a:prstGeom prst="wedgeEllipseCallout">
                <a:avLst>
                  <a:gd name="adj1" fmla="val -63977"/>
                  <a:gd name="adj2" fmla="val -116809"/>
                </a:avLst>
              </a:prstGeom>
              <a:blipFill rotWithShape="1">
                <a:blip r:embed="rId10"/>
                <a:stretch>
                  <a:fillRect l="-16285" t="-71070" r="-443" b="-808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bldLvl="0" animBg="1"/>
      <p:bldP spid="12" grpId="0" animBg="1"/>
      <p:bldP spid="1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54063" y="125413"/>
            <a:ext cx="8389937" cy="5683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249349" y="1418988"/>
                <a:ext cx="4552054" cy="51559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349" y="1418988"/>
                <a:ext cx="4552054" cy="515594"/>
              </a:xfrm>
              <a:prstGeom prst="rect">
                <a:avLst/>
              </a:prstGeom>
              <a:blipFill rotWithShape="1">
                <a:blip r:embed="rId1"/>
                <a:stretch>
                  <a:fillRect l="-12" t="-77" r="7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29261" y="1689809"/>
                <a:ext cx="4238815" cy="53181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1" i="1" dirty="0">
                            <a:latin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zh-CN" altLang="en-US" sz="22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61" y="1689809"/>
                <a:ext cx="4238815" cy="531817"/>
              </a:xfrm>
              <a:prstGeom prst="rect">
                <a:avLst/>
              </a:prstGeom>
              <a:blipFill rotWithShape="1">
                <a:blip r:embed="rId2"/>
                <a:stretch>
                  <a:fillRect l="-7" t="-14" r="12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42982" y="2446344"/>
                <a:ext cx="4992071" cy="82869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𝒂𝑻</m:t>
                      </m:r>
                      <m:d>
                        <m:dPr>
                          <m:ctrlP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82" y="2446344"/>
                <a:ext cx="4992071" cy="828693"/>
              </a:xfrm>
              <a:prstGeom prst="rect">
                <a:avLst/>
              </a:prstGeom>
              <a:blipFill rotWithShape="1">
                <a:blip r:embed="rId3"/>
                <a:stretch>
                  <a:fillRect l="-8" t="-39" r="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154763" y="3377963"/>
                <a:ext cx="5045411" cy="82869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𝒂𝑻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8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63" y="3377963"/>
                <a:ext cx="5045411" cy="828693"/>
              </a:xfrm>
              <a:prstGeom prst="rect">
                <a:avLst/>
              </a:prstGeom>
              <a:blipFill rotWithShape="1">
                <a:blip r:embed="rId4"/>
                <a:stretch>
                  <a:fillRect l="-7" t="-48" r="1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137210" y="4444026"/>
                <a:ext cx="6326237" cy="82869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10" y="4444026"/>
                <a:ext cx="6326237" cy="828693"/>
              </a:xfrm>
              <a:prstGeom prst="rect">
                <a:avLst/>
              </a:prstGeom>
              <a:blipFill rotWithShape="1">
                <a:blip r:embed="rId5"/>
                <a:stretch>
                  <a:fillRect l="-9" t="-36" r="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137210" y="5554923"/>
                <a:ext cx="4570822" cy="515594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10" y="5554923"/>
                <a:ext cx="4570822" cy="515594"/>
              </a:xfrm>
              <a:prstGeom prst="rect">
                <a:avLst/>
              </a:prstGeom>
              <a:blipFill rotWithShape="1">
                <a:blip r:embed="rId6"/>
                <a:stretch>
                  <a:fillRect l="-12" t="-112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21"/>
          <p:cNvSpPr/>
          <p:nvPr/>
        </p:nvSpPr>
        <p:spPr>
          <a:xfrm>
            <a:off x="4568659" y="1300487"/>
            <a:ext cx="3815136" cy="822469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44538" y="109538"/>
            <a:ext cx="8399462" cy="61277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迭代结果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object 21"/>
          <p:cNvSpPr/>
          <p:nvPr/>
        </p:nvSpPr>
        <p:spPr>
          <a:xfrm>
            <a:off x="4780294" y="1050039"/>
            <a:ext cx="4000536" cy="610411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52474" y="2088893"/>
                <a:ext cx="7258286" cy="72731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74" y="2088893"/>
                <a:ext cx="7258286" cy="727319"/>
              </a:xfrm>
              <a:prstGeom prst="rect">
                <a:avLst/>
              </a:prstGeom>
              <a:blipFill rotWithShape="1">
                <a:blip r:embed="rId1"/>
                <a:stretch>
                  <a:fillRect l="-4" t="-52" r="7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875807" y="2913164"/>
                <a:ext cx="6205164" cy="118507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07" y="2913164"/>
                <a:ext cx="6205164" cy="1185073"/>
              </a:xfrm>
              <a:prstGeom prst="rect">
                <a:avLst/>
              </a:prstGeom>
              <a:blipFill rotWithShape="1">
                <a:blip r:embed="rId2"/>
                <a:stretch>
                  <a:fillRect l="-2" t="-35" r="1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885736" y="4111921"/>
                <a:ext cx="4820394" cy="118507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36" y="4111921"/>
                <a:ext cx="4820394" cy="1185073"/>
              </a:xfrm>
              <a:prstGeom prst="rect">
                <a:avLst/>
              </a:prstGeom>
              <a:blipFill rotWithShape="1">
                <a:blip r:embed="rId3"/>
                <a:stretch>
                  <a:fillRect l="-11" t="-25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465169" y="5220269"/>
            <a:ext cx="8435631" cy="1106141"/>
          </a:xfrm>
          <a:prstGeom prst="rect">
            <a:avLst/>
          </a:prstGeom>
        </p:spPr>
        <p:txBody>
          <a:bodyPr wrap="square" lIns="83887" tIns="41944" rIns="83887" bIns="41944">
            <a:spAutoFit/>
          </a:bodyPr>
          <a:lstStyle/>
          <a:p>
            <a:pPr marL="262255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第一项为所有最小子问题的计算工作量</a:t>
            </a:r>
            <a:endParaRPr lang="en-US" altLang="zh-CN" sz="2400" b="1" spc="14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QMCWBO+ËÎÌå"/>
            </a:endParaRPr>
          </a:p>
          <a:p>
            <a:pPr marL="262255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spc="14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第二项为迭代过程归约到子问题及综合解的工作量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4728687" y="4531807"/>
                <a:ext cx="1660142" cy="454039"/>
              </a:xfrm>
              <a:prstGeom prst="rect">
                <a:avLst/>
              </a:prstGeom>
            </p:spPr>
            <p:txBody>
              <a:bodyPr wrap="non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687" y="4531807"/>
                <a:ext cx="1660142" cy="454039"/>
              </a:xfrm>
              <a:prstGeom prst="rect">
                <a:avLst/>
              </a:prstGeom>
              <a:blipFill rotWithShape="1">
                <a:blip r:embed="rId4"/>
                <a:stretch>
                  <a:fillRect l="-29" t="-98" r="6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6855708" y="3651739"/>
            <a:ext cx="1799852" cy="1330072"/>
            <a:chOff x="6703961" y="2466483"/>
            <a:chExt cx="1913593" cy="12567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5"/>
                <p:cNvSpPr txBox="1"/>
                <p:nvPr/>
              </p:nvSpPr>
              <p:spPr>
                <a:xfrm>
                  <a:off x="6787940" y="2466483"/>
                  <a:ext cx="1570696" cy="502518"/>
                </a:xfrm>
                <a:prstGeom prst="rect">
                  <a:avLst/>
                </a:prstGeom>
                <a:noFill/>
              </p:spPr>
              <p:txBody>
                <a:bodyPr wrap="square" lIns="83887" tIns="41944" rIns="83887" bIns="41944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1" i="1" dirty="0" smtClean="0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800" b="1" i="1" dirty="0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zh-CN" altLang="en-US" sz="2200" b="1" dirty="0"/>
                </a:p>
              </p:txBody>
            </p:sp>
          </mc:Choice>
          <mc:Fallback>
            <p:sp>
              <p:nvSpPr>
                <p:cNvPr id="12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7940" y="2466483"/>
                  <a:ext cx="1570696" cy="502518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6703961" y="3228884"/>
                  <a:ext cx="1913593" cy="4943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i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k=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</m:e>
                      </m:func>
                    </m:oMath>
                  </a14:m>
                  <a:endParaRPr lang="zh-CN" alt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961" y="3228884"/>
                  <a:ext cx="1913593" cy="49439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下箭头 8"/>
            <p:cNvSpPr/>
            <p:nvPr/>
          </p:nvSpPr>
          <p:spPr>
            <a:xfrm>
              <a:off x="7371188" y="2929812"/>
              <a:ext cx="304741" cy="40121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5"/>
              <p:cNvSpPr txBox="1"/>
              <p:nvPr/>
            </p:nvSpPr>
            <p:spPr>
              <a:xfrm>
                <a:off x="4682984" y="1079115"/>
                <a:ext cx="4755426" cy="53476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dirty="0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 panose="02040503050406030204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US" altLang="zh-CN" sz="2800" b="1" i="0" dirty="0" smtClean="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 panose="02040503050406030204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>
                                  <a:latin typeface="Cambria Math" panose="02040503050406030204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 smtClean="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 smtClean="0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 smtClean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 smtClean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b="0" i="0" dirty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800" b="1" i="1" dirty="0" smtClean="0">
                                      <a:latin typeface="Cambria Math" panose="02040503050406030204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 smtClean="0">
                                  <a:latin typeface="Cambria Math" panose="02040503050406030204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>
          <p:sp>
            <p:nvSpPr>
              <p:cNvPr id="14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984" y="1079115"/>
                <a:ext cx="4755426" cy="534767"/>
              </a:xfrm>
              <a:prstGeom prst="rect">
                <a:avLst/>
              </a:prstGeom>
              <a:blipFill rotWithShape="1">
                <a:blip r:embed="rId7"/>
                <a:stretch>
                  <a:fillRect l="-10" t="-47" r="9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186476" y="2000611"/>
            <a:ext cx="1219866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751712" y="2007820"/>
            <a:ext cx="4853634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/>
      <p:bldP spid="11" grpId="0" animBg="1"/>
      <p:bldP spid="14" grpId="0" animBg="1"/>
      <p:bldP spid="15" grpId="0" animBg="1"/>
      <p:bldP spid="1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49300" y="26988"/>
            <a:ext cx="83947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Case1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object 21"/>
          <p:cNvSpPr/>
          <p:nvPr/>
        </p:nvSpPr>
        <p:spPr>
          <a:xfrm>
            <a:off x="5567776" y="1117266"/>
            <a:ext cx="3051622" cy="610411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82415" y="1568769"/>
                <a:ext cx="8393601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15" y="1568769"/>
                <a:ext cx="8393601" cy="1368392"/>
              </a:xfrm>
              <a:prstGeom prst="rect">
                <a:avLst/>
              </a:prstGeom>
              <a:blipFill rotWithShape="1">
                <a:blip r:embed="rId1"/>
                <a:stretch>
                  <a:fillRect l="-2" t="-23" r="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202314" y="3109639"/>
                <a:ext cx="7573702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CN" sz="2800" b="1" i="1" dirty="0">
                                                  <a:latin typeface="Cambria Math" panose="02040503050406030204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altLang="zh-CN" sz="28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func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b="1" i="1" dirty="0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314" y="3109639"/>
                <a:ext cx="7573702" cy="1471882"/>
              </a:xfrm>
              <a:prstGeom prst="rect">
                <a:avLst/>
              </a:prstGeom>
              <a:blipFill rotWithShape="1">
                <a:blip r:embed="rId2"/>
                <a:stretch>
                  <a:fillRect l="-3" t="-3" r="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202314" y="4656621"/>
                <a:ext cx="7573702" cy="19189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800" b="1" i="1" dirty="0" smtClean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b="1" i="1" dirty="0" smtClean="0">
                                          <a:latin typeface="Cambria Math" panose="02040503050406030204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dirty="0" smtClean="0">
                                              <a:latin typeface="Cambria Math" panose="02040503050406030204"/>
                                            </a:rPr>
                                            <m:t>𝒂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CN" sz="2800" b="1" i="1" dirty="0">
                                                  <a:latin typeface="Cambria Math" panose="02040503050406030204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func>
                                                <m:funcPr>
                                                  <m:ctrlPr>
                                                    <a:rPr lang="en-US" altLang="zh-CN" sz="2800" b="1" i="1" dirty="0">
                                                      <a:latin typeface="Cambria Math" panose="02040503050406030204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800" b="1" i="1" dirty="0">
                                                          <a:latin typeface="Cambria Math" panose="02040503050406030204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8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𝒍𝒐𝒈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8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sub>
                                                  </m:sSub>
                                                </m:fName>
                                                <m:e>
                                                  <m:r>
                                                    <a:rPr lang="en-US" altLang="zh-CN" sz="28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</m:func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altLang="en-US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𝜺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b="1" i="1" dirty="0" smtClean="0">
                                      <a:latin typeface="Cambria Math" panose="02040503050406030204"/>
                                    </a:rPr>
                                    <m:t>𝒋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314" y="4656621"/>
                <a:ext cx="7573702" cy="1918992"/>
              </a:xfrm>
              <a:prstGeom prst="rect">
                <a:avLst/>
              </a:prstGeom>
              <a:blipFill rotWithShape="1">
                <a:blip r:embed="rId3"/>
                <a:stretch>
                  <a:fillRect l="-3" t="-9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5500977" y="1111146"/>
                <a:ext cx="3476273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977" y="1111146"/>
                <a:ext cx="3476273" cy="578685"/>
              </a:xfrm>
              <a:prstGeom prst="rect">
                <a:avLst/>
              </a:prstGeom>
              <a:blipFill rotWithShape="1">
                <a:blip r:embed="rId4"/>
                <a:stretch>
                  <a:fillRect l="-17" t="-92" r="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4493761" y="1761576"/>
            <a:ext cx="1018018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901027" y="3200328"/>
            <a:ext cx="1656955" cy="53385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156098" y="1829260"/>
            <a:ext cx="1799852" cy="1330072"/>
            <a:chOff x="6703961" y="2466483"/>
            <a:chExt cx="1913593" cy="12567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5"/>
                <p:cNvSpPr txBox="1"/>
                <p:nvPr/>
              </p:nvSpPr>
              <p:spPr>
                <a:xfrm>
                  <a:off x="6787940" y="2466483"/>
                  <a:ext cx="1570696" cy="502518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square" lIns="83887" tIns="41944" rIns="83887" bIns="41944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b="1" i="1" dirty="0" smtClean="0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800" b="1" i="1" dirty="0" smtClean="0"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zh-CN" altLang="en-US" sz="2200" b="1" dirty="0"/>
                </a:p>
              </p:txBody>
            </p:sp>
          </mc:Choice>
          <mc:Fallback>
            <p:sp>
              <p:nvSpPr>
                <p:cNvPr id="13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7940" y="2466483"/>
                  <a:ext cx="1570696" cy="502518"/>
                </a:xfrm>
                <a:prstGeom prst="rect">
                  <a:avLst/>
                </a:prstGeom>
                <a:blipFill rotWithShape="1">
                  <a:blip r:embed="rId5"/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703961" y="3228884"/>
                  <a:ext cx="1913593" cy="494394"/>
                </a:xfrm>
                <a:prstGeom prst="rect">
                  <a:avLst/>
                </a:prstGeom>
                <a:noFill/>
                <a:ln w="25400">
                  <a:solidFill>
                    <a:srgbClr val="C0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i="1" dirty="0" smtClean="0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k=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800" b="1" i="1">
                              <a:solidFill>
                                <a:srgbClr val="C00000"/>
                              </a:solidFill>
                              <a:latin typeface="Cambria Math" panose="02040503050406030204"/>
                            </a:rPr>
                            <m:t>𝒏</m:t>
                          </m:r>
                        </m:e>
                      </m:func>
                    </m:oMath>
                  </a14:m>
                  <a:endParaRPr lang="zh-CN" alt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3961" y="3228884"/>
                  <a:ext cx="1913593" cy="494394"/>
                </a:xfrm>
                <a:prstGeom prst="rect">
                  <a:avLst/>
                </a:prstGeom>
                <a:blipFill rotWithShape="1">
                  <a:blip r:embed="rId6"/>
                </a:blipFill>
                <a:ln w="2540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下箭头 14"/>
            <p:cNvSpPr/>
            <p:nvPr/>
          </p:nvSpPr>
          <p:spPr>
            <a:xfrm>
              <a:off x="7371188" y="2929812"/>
              <a:ext cx="304741" cy="401217"/>
            </a:xfrm>
            <a:prstGeom prst="downArrow">
              <a:avLst/>
            </a:prstGeom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3" grpId="0" animBg="1"/>
      <p:bldP spid="10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87400" y="-4763"/>
            <a:ext cx="8356600" cy="879476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Case1(</a:t>
            </a:r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824233" y="1165851"/>
                <a:ext cx="3916680" cy="92923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900" b="1" i="1" dirty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19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19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900" b="1" i="1" dirty="0">
                                      <a:latin typeface="Cambria Math" panose="02040503050406030204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sz="22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sz="2200" b="1" i="1" dirty="0">
                                                  <a:latin typeface="Cambria Math" panose="02040503050406030204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𝒍𝒐𝒈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2200" b="1" i="1" dirty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func>
                                      <m:r>
                                        <a:rPr lang="en-US" altLang="zh-CN" sz="2200" b="1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200" b="1" i="1" dirty="0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19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1" i="1" dirty="0">
                              <a:latin typeface="Cambria Math" panose="02040503050406030204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zh-CN" altLang="en-US" sz="22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200" b="1" i="1" dirty="0">
                                      <a:latin typeface="Cambria Math" panose="02040503050406030204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sz="22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sz="2200" b="1" i="1" dirty="0">
                                                  <a:latin typeface="Cambria Math" panose="02040503050406030204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𝒍𝒐𝒈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sz="2200" b="1" i="1" dirty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1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1" i="1" dirty="0">
                              <a:latin typeface="Cambria Math" panose="02040503050406030204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zh-CN" altLang="en-US" sz="22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2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9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233" y="1165851"/>
                <a:ext cx="3916680" cy="929234"/>
              </a:xfrm>
              <a:prstGeom prst="rect">
                <a:avLst/>
              </a:prstGeom>
              <a:blipFill rotWithShape="1">
                <a:blip r:embed="rId1"/>
                <a:stretch>
                  <a:fillRect l="-4" t="-67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1"/>
          <p:cNvSpPr/>
          <p:nvPr/>
        </p:nvSpPr>
        <p:spPr>
          <a:xfrm>
            <a:off x="4859340" y="1049738"/>
            <a:ext cx="3814873" cy="1142176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07671" y="2056129"/>
                <a:ext cx="7306448" cy="1273751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b="1" i="1" dirty="0">
                                                  <a:latin typeface="Cambria Math" panose="02040503050406030204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func>
                                                <m:funcPr>
                                                  <m:ctrlPr>
                                                    <a:rPr lang="en-US" altLang="zh-CN" sz="2400" b="1" i="1" dirty="0">
                                                      <a:latin typeface="Cambria Math" panose="02040503050406030204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2400" b="1" i="1" dirty="0">
                                                          <a:latin typeface="Cambria Math" panose="02040503050406030204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24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𝒍𝒐𝒈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2400" b="1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𝒃</m:t>
                                                      </m:r>
                                                    </m:sub>
                                                  </m:sSub>
                                                </m:fName>
                                                <m:e>
                                                  <m:r>
                                                    <a:rPr lang="en-US" altLang="zh-CN" sz="2400" b="1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𝒂</m:t>
                                                  </m:r>
                                                </m:e>
                                              </m:func>
                                              <m:r>
                                                <a:rPr lang="en-US" altLang="zh-CN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zh-CN" altLang="en-US" sz="24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𝜺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1" y="2056129"/>
                <a:ext cx="7306448" cy="1273751"/>
              </a:xfrm>
              <a:prstGeom prst="rect">
                <a:avLst/>
              </a:prstGeom>
              <a:blipFill rotWithShape="1">
                <a:blip r:embed="rId2"/>
                <a:stretch>
                  <a:fillRect t="-50" r="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07672" y="3372051"/>
                <a:ext cx="8333241" cy="1273751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1" dirty="0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r>
                                            <a:rPr lang="zh-CN" altLang="en-US" sz="2400" b="1" i="1" dirty="0"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2" y="3372051"/>
                <a:ext cx="8333241" cy="1273751"/>
              </a:xfrm>
              <a:prstGeom prst="rect">
                <a:avLst/>
              </a:prstGeom>
              <a:blipFill rotWithShape="1">
                <a:blip r:embed="rId3"/>
                <a:stretch>
                  <a:fillRect t="-16" r="2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18149" y="4690121"/>
                <a:ext cx="8322765" cy="937056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1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zh-CN" altLang="en-US" sz="24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  <m:func>
                                    <m:funcPr>
                                      <m:ctrlPr>
                                        <a:rPr lang="en-US" altLang="zh-CN" sz="24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altLang="zh-CN" sz="2400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24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func>
                                </m:sup>
                              </m:sSup>
                              <m:r>
                                <a:rPr lang="en-US" altLang="zh-CN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  <m:t>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1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zh-CN" altLang="en-US" sz="2400" b="1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sup>
                              </m:sSup>
                              <m:r>
                                <a:rPr lang="en-US" altLang="zh-CN" sz="24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9" y="4690121"/>
                <a:ext cx="8322765" cy="937056"/>
              </a:xfrm>
              <a:prstGeom prst="rect">
                <a:avLst/>
              </a:prstGeom>
              <a:blipFill rotWithShape="1">
                <a:blip r:embed="rId4"/>
                <a:stretch>
                  <a:fillRect l="-4" t="-1" r="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30737" y="5698370"/>
                <a:ext cx="8310176" cy="501553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zh-CN" altLang="en-US" sz="24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37" y="5698370"/>
                <a:ext cx="8310176" cy="501553"/>
              </a:xfrm>
              <a:prstGeom prst="rect">
                <a:avLst/>
              </a:prstGeom>
              <a:blipFill rotWithShape="1">
                <a:blip r:embed="rId5"/>
                <a:stretch>
                  <a:fillRect l="-2" t="-103" r="2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5094503" y="2700510"/>
            <a:ext cx="1567553" cy="53385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978400" y="3779130"/>
            <a:ext cx="724724" cy="53385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03124" y="4996638"/>
            <a:ext cx="107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常数</a:t>
            </a:r>
            <a:endParaRPr lang="zh-CN" altLang="en-US" sz="2400" b="1" dirty="0"/>
          </a:p>
        </p:txBody>
      </p:sp>
      <p:sp>
        <p:nvSpPr>
          <p:cNvPr id="12" name="矩形 11"/>
          <p:cNvSpPr/>
          <p:nvPr/>
        </p:nvSpPr>
        <p:spPr>
          <a:xfrm>
            <a:off x="4060896" y="4720067"/>
            <a:ext cx="1164248" cy="4563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97945" y="5176454"/>
            <a:ext cx="1142817" cy="45638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3" grpId="0"/>
      <p:bldP spid="12" grpId="0" animBg="1"/>
      <p:bldP spid="1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833438" y="23813"/>
            <a:ext cx="8310562" cy="75406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Case2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719395" y="1105986"/>
                <a:ext cx="3208512" cy="53181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395" y="1105986"/>
                <a:ext cx="3208512" cy="531817"/>
              </a:xfrm>
              <a:prstGeom prst="rect">
                <a:avLst/>
              </a:prstGeom>
              <a:blipFill rotWithShape="1">
                <a:blip r:embed="rId1"/>
                <a:stretch>
                  <a:fillRect l="-18" t="-85" r="14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1"/>
          <p:cNvSpPr/>
          <p:nvPr/>
        </p:nvSpPr>
        <p:spPr>
          <a:xfrm>
            <a:off x="5973901" y="1105985"/>
            <a:ext cx="2694232" cy="549815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90998" y="1314769"/>
                <a:ext cx="8316095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98" y="1314769"/>
                <a:ext cx="8316095" cy="1368392"/>
              </a:xfrm>
              <a:prstGeom prst="rect">
                <a:avLst/>
              </a:prstGeom>
              <a:blipFill rotWithShape="1">
                <a:blip r:embed="rId2"/>
                <a:stretch>
                  <a:fillRect l="-6" t="-23" r="7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075526" y="2557073"/>
                <a:ext cx="7631565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28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US" altLang="zh-CN" sz="2800" b="1" i="1" dirty="0">
                                                  <a:latin typeface="Cambria Math" panose="02040503050406030204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𝒃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8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altLang="zh-CN" sz="2800" b="1" i="1" dirty="0">
                                              <a:latin typeface="Cambria Math" panose="02040503050406030204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dirty="0"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func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200" b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526" y="2557073"/>
                <a:ext cx="7631565" cy="1471882"/>
              </a:xfrm>
              <a:prstGeom prst="rect">
                <a:avLst/>
              </a:prstGeom>
              <a:blipFill rotWithShape="1">
                <a:blip r:embed="rId3"/>
                <a:stretch>
                  <a:fillRect l="-6" t="-38" r="8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075526" y="3854963"/>
                <a:ext cx="7631564" cy="147188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526" y="3854963"/>
                <a:ext cx="7631564" cy="1471882"/>
              </a:xfrm>
              <a:prstGeom prst="rect">
                <a:avLst/>
              </a:prstGeom>
              <a:blipFill rotWithShape="1">
                <a:blip r:embed="rId4"/>
                <a:stretch>
                  <a:fillRect l="-6" t="-35" r="8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075526" y="5345220"/>
                <a:ext cx="7631563" cy="105740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dirty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526" y="5345220"/>
                <a:ext cx="7631563" cy="1057409"/>
              </a:xfrm>
              <a:prstGeom prst="rect">
                <a:avLst/>
              </a:prstGeom>
              <a:blipFill rotWithShape="1">
                <a:blip r:embed="rId5"/>
                <a:stretch>
                  <a:fillRect l="-6" t="-40" r="8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461283" y="1604289"/>
            <a:ext cx="1003394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08219" y="2836718"/>
            <a:ext cx="1618294" cy="100373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09613" y="133350"/>
            <a:ext cx="8434387" cy="620713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Case3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066453" y="986510"/>
                <a:ext cx="3916680" cy="531817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dirty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453" y="986510"/>
                <a:ext cx="3916680" cy="531817"/>
              </a:xfrm>
              <a:prstGeom prst="rect">
                <a:avLst/>
              </a:prstGeom>
              <a:blipFill rotWithShape="1">
                <a:blip r:embed="rId1"/>
                <a:stretch>
                  <a:fillRect l="-11" t="-67" r="1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21"/>
          <p:cNvSpPr/>
          <p:nvPr/>
        </p:nvSpPr>
        <p:spPr>
          <a:xfrm>
            <a:off x="5386494" y="986510"/>
            <a:ext cx="3284221" cy="1142176"/>
          </a:xfrm>
          <a:custGeom>
            <a:avLst/>
            <a:gdLst/>
            <a:ahLst/>
            <a:cxnLst/>
            <a:rect l="l" t="t" r="r" b="b"/>
            <a:pathLst>
              <a:path w="1752600" h="1447800">
                <a:moveTo>
                  <a:pt x="0" y="241300"/>
                </a:moveTo>
                <a:lnTo>
                  <a:pt x="4904" y="192682"/>
                </a:lnTo>
                <a:lnTo>
                  <a:pt x="18968" y="147393"/>
                </a:lnTo>
                <a:lnTo>
                  <a:pt x="41221" y="106405"/>
                </a:lnTo>
                <a:lnTo>
                  <a:pt x="70691" y="70691"/>
                </a:lnTo>
                <a:lnTo>
                  <a:pt x="106405" y="41221"/>
                </a:lnTo>
                <a:lnTo>
                  <a:pt x="147393" y="18968"/>
                </a:lnTo>
                <a:lnTo>
                  <a:pt x="192682" y="4904"/>
                </a:lnTo>
                <a:lnTo>
                  <a:pt x="241300" y="0"/>
                </a:lnTo>
                <a:lnTo>
                  <a:pt x="1511300" y="0"/>
                </a:lnTo>
                <a:lnTo>
                  <a:pt x="1559917" y="4904"/>
                </a:lnTo>
                <a:lnTo>
                  <a:pt x="1605206" y="18968"/>
                </a:lnTo>
                <a:lnTo>
                  <a:pt x="1646194" y="41221"/>
                </a:lnTo>
                <a:lnTo>
                  <a:pt x="1681908" y="70691"/>
                </a:lnTo>
                <a:lnTo>
                  <a:pt x="1711378" y="106405"/>
                </a:lnTo>
                <a:lnTo>
                  <a:pt x="1733631" y="147393"/>
                </a:lnTo>
                <a:lnTo>
                  <a:pt x="1747695" y="192682"/>
                </a:lnTo>
                <a:lnTo>
                  <a:pt x="1752600" y="241300"/>
                </a:lnTo>
                <a:lnTo>
                  <a:pt x="1752600" y="1206500"/>
                </a:lnTo>
                <a:lnTo>
                  <a:pt x="1747695" y="1255128"/>
                </a:lnTo>
                <a:lnTo>
                  <a:pt x="1733631" y="1300422"/>
                </a:lnTo>
                <a:lnTo>
                  <a:pt x="1711378" y="1341410"/>
                </a:lnTo>
                <a:lnTo>
                  <a:pt x="1681908" y="1377122"/>
                </a:lnTo>
                <a:lnTo>
                  <a:pt x="1646194" y="1406588"/>
                </a:lnTo>
                <a:lnTo>
                  <a:pt x="1605206" y="1428836"/>
                </a:lnTo>
                <a:lnTo>
                  <a:pt x="1559917" y="1442897"/>
                </a:lnTo>
                <a:lnTo>
                  <a:pt x="1511300" y="1447800"/>
                </a:lnTo>
                <a:lnTo>
                  <a:pt x="241300" y="1447800"/>
                </a:lnTo>
                <a:lnTo>
                  <a:pt x="192682" y="1442897"/>
                </a:lnTo>
                <a:lnTo>
                  <a:pt x="147393" y="1428836"/>
                </a:lnTo>
                <a:lnTo>
                  <a:pt x="106405" y="1406588"/>
                </a:lnTo>
                <a:lnTo>
                  <a:pt x="70691" y="1377122"/>
                </a:lnTo>
                <a:lnTo>
                  <a:pt x="41221" y="1341410"/>
                </a:lnTo>
                <a:lnTo>
                  <a:pt x="18968" y="1300422"/>
                </a:lnTo>
                <a:lnTo>
                  <a:pt x="4904" y="1255128"/>
                </a:lnTo>
                <a:lnTo>
                  <a:pt x="0" y="1206500"/>
                </a:lnTo>
                <a:lnTo>
                  <a:pt x="0" y="241300"/>
                </a:lnTo>
                <a:close/>
              </a:path>
            </a:pathLst>
          </a:custGeom>
          <a:ln w="317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950729" y="1557599"/>
                <a:ext cx="3916680" cy="515594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𝒂𝒇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𝒄𝒇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729" y="1557599"/>
                <a:ext cx="3916680" cy="515594"/>
              </a:xfrm>
              <a:prstGeom prst="rect">
                <a:avLst/>
              </a:prstGeom>
              <a:blipFill rotWithShape="1">
                <a:blip r:embed="rId2"/>
                <a:stretch>
                  <a:fillRect l="-7" t="-112" r="7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368594" y="2179726"/>
                <a:ext cx="8381094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94" y="2179726"/>
                <a:ext cx="8381094" cy="1368392"/>
              </a:xfrm>
              <a:prstGeom prst="rect">
                <a:avLst/>
              </a:prstGeom>
              <a:blipFill rotWithShape="1">
                <a:blip r:embed="rId3"/>
                <a:stretch>
                  <a:fillRect l="-4" t="-30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83993" y="3593521"/>
                <a:ext cx="4643283" cy="181550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993" y="3593521"/>
                <a:ext cx="4643283" cy="1815502"/>
              </a:xfrm>
              <a:prstGeom prst="rect">
                <a:avLst/>
              </a:prstGeom>
              <a:blipFill rotWithShape="1">
                <a:blip r:embed="rId4"/>
                <a:stretch>
                  <a:fillRect l="-8" t="-3" r="1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1111267" y="5200773"/>
                <a:ext cx="2440304" cy="829078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dirty="0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 smtClean="0"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2800" b="1" i="1" dirty="0" smtClean="0">
                              <a:latin typeface="Cambria Math" panose="02040503050406030204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dirty="0" smtClean="0">
                          <a:latin typeface="Cambria Math" panose="02040503050406030204"/>
                        </a:rPr>
                        <m:t>𝒂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67" y="5200773"/>
                <a:ext cx="2440304" cy="829078"/>
              </a:xfrm>
              <a:prstGeom prst="rect">
                <a:avLst/>
              </a:prstGeom>
              <a:blipFill rotWithShape="1">
                <a:blip r:embed="rId5"/>
                <a:stretch>
                  <a:fillRect l="-1" t="-15" r="1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074275" y="2310985"/>
            <a:ext cx="1115510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882949" y="4945797"/>
            <a:ext cx="1293445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272447" y="4941518"/>
            <a:ext cx="1559086" cy="86913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5380833" y="5370114"/>
                <a:ext cx="3486576" cy="526623"/>
              </a:xfrm>
              <a:prstGeom prst="rect">
                <a:avLst/>
              </a:prstGeom>
            </p:spPr>
            <p:txBody>
              <a:bodyPr wrap="square" lIns="83887" tIns="41944" rIns="83887" bIns="41944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b="1" i="1" dirty="0" smtClean="0">
                          <a:latin typeface="Cambria Math" panose="02040503050406030204"/>
                          <a:ea typeface="Cambria Math" panose="02040503050406030204"/>
                        </a:rPr>
                        <m:t>⋯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33" y="5370114"/>
                <a:ext cx="3486576" cy="526623"/>
              </a:xfrm>
              <a:prstGeom prst="rect">
                <a:avLst/>
              </a:prstGeom>
              <a:blipFill rotWithShape="1">
                <a:blip r:embed="rId6"/>
                <a:stretch>
                  <a:fillRect l="-14" t="-105" r="8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2942935" y="5180183"/>
                <a:ext cx="2901307" cy="8367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𝒄𝒇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935" y="5180183"/>
                <a:ext cx="2901307" cy="836704"/>
              </a:xfrm>
              <a:prstGeom prst="rect">
                <a:avLst/>
              </a:prstGeom>
              <a:blipFill rotWithShape="1">
                <a:blip r:embed="rId7"/>
                <a:stretch>
                  <a:fillRect l="-12" t="-58" r="1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9" grpId="0" animBg="1"/>
      <p:bldP spid="11" grpId="0" animBg="1"/>
      <p:bldP spid="12" grpId="0" animBg="1"/>
      <p:bldP spid="13" grpId="0" animBg="1"/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28663" y="50800"/>
            <a:ext cx="8415337" cy="59213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Case3(</a:t>
            </a:r>
            <a:r>
              <a:rPr lang="zh-CN" altLang="en-US" sz="4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01473" y="1162369"/>
                <a:ext cx="8381096" cy="1368392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b="1" i="1" dirty="0" smtClean="0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en-US" altLang="zh-CN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73" y="1162369"/>
                <a:ext cx="8381096" cy="1368392"/>
              </a:xfrm>
              <a:prstGeom prst="rect">
                <a:avLst/>
              </a:prstGeom>
              <a:blipFill rotWithShape="1">
                <a:blip r:embed="rId1"/>
                <a:stretch>
                  <a:fillRect l="-2" t="-23" r="6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191315" y="2545977"/>
                <a:ext cx="7591254" cy="966808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f>
                        <m:fPr>
                          <m:ctrlPr>
                            <a:rPr lang="en-US" altLang="zh-CN" sz="2800" b="1" i="1" dirty="0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</m:sup>
                          </m:sSup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315" y="2545977"/>
                <a:ext cx="7591254" cy="966808"/>
              </a:xfrm>
              <a:prstGeom prst="rect">
                <a:avLst/>
              </a:prstGeom>
              <a:blipFill rotWithShape="1">
                <a:blip r:embed="rId2"/>
                <a:stretch>
                  <a:fillRect l="-1" t="-27" r="7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191315" y="3759259"/>
                <a:ext cx="7591253" cy="57105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l-GR" altLang="zh-CN" sz="2800" b="1" i="1" dirty="0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315" y="3759259"/>
                <a:ext cx="7591253" cy="571059"/>
              </a:xfrm>
              <a:prstGeom prst="rect">
                <a:avLst/>
              </a:prstGeom>
              <a:blipFill rotWithShape="1">
                <a:blip r:embed="rId3"/>
                <a:stretch>
                  <a:fillRect l="-1" t="-10" r="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91315" y="4734754"/>
                <a:ext cx="7591253" cy="571059"/>
              </a:xfrm>
              <a:prstGeom prst="rect">
                <a:avLst/>
              </a:prstGeom>
              <a:noFill/>
            </p:spPr>
            <p:txBody>
              <a:bodyPr wrap="square" lIns="83887" tIns="41944" rIns="83887" bIns="41944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d>
                        <m:dPr>
                          <m:ctrlPr>
                            <a:rPr lang="el-GR" altLang="zh-CN" sz="2800" b="1" i="1" dirty="0">
                              <a:latin typeface="Cambria Math" panose="02040503050406030204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315" y="4734754"/>
                <a:ext cx="7591253" cy="571059"/>
              </a:xfrm>
              <a:prstGeom prst="rect">
                <a:avLst/>
              </a:prstGeom>
              <a:blipFill rotWithShape="1">
                <a:blip r:embed="rId4"/>
                <a:stretch>
                  <a:fillRect l="-1" t="-34" r="7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4711175" y="1628064"/>
            <a:ext cx="459837" cy="52366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425959" y="4228312"/>
                <a:ext cx="3476273" cy="578685"/>
              </a:xfrm>
              <a:prstGeom prst="rect">
                <a:avLst/>
              </a:prstGeom>
              <a:ln w="25400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𝜴</m:t>
                      </m:r>
                      <m:d>
                        <m:dPr>
                          <m:ctrlPr>
                            <a:rPr lang="en-US" altLang="zh-CN" sz="2800" b="1" i="1" dirty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dirty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800" b="1" i="1" dirty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800" b="1" i="1" dirty="0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dirty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b="1" i="1" dirty="0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59" y="4228312"/>
                <a:ext cx="3476273" cy="578685"/>
              </a:xfrm>
              <a:prstGeom prst="rect">
                <a:avLst/>
              </a:prstGeom>
              <a:blipFill rotWithShape="1">
                <a:blip r:embed="rId5"/>
                <a:stretch>
                  <a:fillRect l="-366" t="-2278" r="-357" b="-2187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6155002" y="2856827"/>
                <a:ext cx="23555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/>
                  <a:t>常数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zh-CN" sz="2800" b="1" dirty="0"/>
                  <a:t>&lt;1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002" y="2856827"/>
                <a:ext cx="2355503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5" t="-114" r="10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3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79463" y="0"/>
            <a:ext cx="8364537" cy="74136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44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endParaRPr lang="zh-CN" altLang="en-US" sz="4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313" y="1247775"/>
            <a:ext cx="8332787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主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定理的应用背景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QMCWBO+ËÎÌå"/>
            </a:endParaRPr>
          </a:p>
          <a:p>
            <a:pPr>
              <a:lnSpc>
                <a:spcPct val="150000"/>
              </a:lnSpc>
              <a:spcBef>
                <a:spcPts val="88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主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定理的内容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QMCWBO+ËÎÌå"/>
            </a:endParaRPr>
          </a:p>
          <a:p>
            <a:pPr>
              <a:lnSpc>
                <a:spcPct val="150000"/>
              </a:lnSpc>
              <a:spcBef>
                <a:spcPts val="835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主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QMCWBO+ËÎÌå"/>
              </a:rPr>
              <a:t>定理的证明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QMCWBO+ËÎÌå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99801" y="2435225"/>
            <a:ext cx="8355012" cy="1031875"/>
          </a:xfrm>
          <a:prstGeom prst="rect">
            <a:avLst/>
          </a:prstGeom>
        </p:spPr>
        <p:txBody>
          <a:bodyPr vert="horz" wrap="square" lIns="0" tIns="15534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20"/>
              </a:spcBef>
            </a:pPr>
            <a:r>
              <a:rPr sz="66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</a:t>
            </a:r>
            <a:r>
              <a:rPr sz="6600" b="1" spc="-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</a:t>
            </a:r>
            <a:r>
              <a:rPr sz="66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</a:t>
            </a:r>
            <a:r>
              <a:rPr sz="6600" b="1" spc="-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的应</a:t>
            </a:r>
            <a:r>
              <a:rPr sz="66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endParaRPr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27075" y="101600"/>
            <a:ext cx="841692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求解递推方程：</a:t>
            </a:r>
            <a:r>
              <a:rPr sz="44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例1</a:t>
            </a:r>
            <a:endParaRPr sz="4400" b="1" spc="-2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idx="4294967295"/>
          </p:nvPr>
        </p:nvSpPr>
        <p:spPr>
          <a:xfrm>
            <a:off x="465651" y="1146175"/>
            <a:ext cx="8297349" cy="1081088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910"/>
              </a:spcBef>
              <a:buNone/>
              <a:tabLst>
                <a:tab pos="896620" algn="l"/>
              </a:tabLst>
            </a:pP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例1	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求解递推方程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37515" indent="0">
              <a:lnSpc>
                <a:spcPct val="100000"/>
              </a:lnSpc>
              <a:spcBef>
                <a:spcPts val="795"/>
              </a:spcBef>
              <a:buNone/>
            </a:pPr>
            <a:r>
              <a:rPr 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9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/3) +</a:t>
            </a:r>
            <a:r>
              <a:rPr sz="2800" b="1" spc="-8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endParaRPr sz="2800" b="1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4" name="object 14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5" name="object 15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6" name="object 16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7" name="object 17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8" name="object 18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21" name="object 21"/>
          <p:cNvSpPr txBox="1"/>
          <p:nvPr/>
        </p:nvSpPr>
        <p:spPr>
          <a:xfrm>
            <a:off x="2398931" y="3547759"/>
            <a:ext cx="3036501" cy="63045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6355">
              <a:spcBef>
                <a:spcPts val="115"/>
              </a:spcBef>
            </a:pPr>
            <a:r>
              <a:rPr sz="6000" b="1" i="1" baseline="-17000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6" dirty="0" smtClean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6" dirty="0" smtClean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400" b="1" spc="18" baseline="-19000" dirty="0" smtClean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spc="12" dirty="0" smtClean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300" b="1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b="1" spc="-269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100" b="1" spc="-8" baseline="-17000" dirty="0" smtClean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5100" b="1" i="1" spc="-8" baseline="-17000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300" b="1" spc="6" dirty="0" smtClean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5100" b="1" spc="-8" baseline="-17000" dirty="0" smtClean="0">
                <a:latin typeface="Times New Roman" panose="02020603050405020304"/>
                <a:cs typeface="Times New Roman" panose="02020603050405020304"/>
              </a:rPr>
              <a:t>,</a:t>
            </a:r>
            <a:endParaRPr sz="5100" baseline="-17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14616" y="3719625"/>
            <a:ext cx="3295640" cy="538122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6355">
              <a:spcBef>
                <a:spcPts val="115"/>
              </a:spcBef>
            </a:pPr>
            <a:r>
              <a:rPr sz="3400" b="1" i="1" spc="-6" dirty="0" smtClean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400" b="1" i="1" spc="12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4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400" b="1" spc="-6" dirty="0" smtClean="0">
                <a:latin typeface="Times New Roman" panose="02020603050405020304"/>
                <a:cs typeface="Times New Roman" panose="02020603050405020304"/>
              </a:rPr>
              <a:t>) =</a:t>
            </a:r>
            <a:r>
              <a:rPr sz="3400" b="1" spc="6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12" dirty="0" smtClean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8" baseline="26000" dirty="0" smtClean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800" b="1" baseline="26000" dirty="0" smtClean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00" b="1" spc="8" baseline="26000" dirty="0" smtClean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600" b="1" spc="18" baseline="26000" dirty="0" smtClean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spc="18" baseline="26000" dirty="0" smtClean="0">
                <a:latin typeface="Times New Roman" panose="02020603050405020304"/>
                <a:cs typeface="Times New Roman" panose="02020603050405020304"/>
              </a:rPr>
              <a:t>9</a:t>
            </a:r>
            <a:r>
              <a:rPr lang="en-US" altLang="zh-CN" sz="2800" b="1" spc="18" baseline="30000" dirty="0" smtClean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-1</a:t>
            </a:r>
            <a:r>
              <a:rPr sz="3400" b="1" spc="-6" dirty="0" smtClean="0">
                <a:latin typeface="Times New Roman" panose="02020603050405020304"/>
                <a:cs typeface="Times New Roman" panose="02020603050405020304"/>
              </a:rPr>
              <a:t>)</a:t>
            </a:r>
            <a:endParaRPr sz="3400" dirty="0"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24"/>
              <p:cNvSpPr txBox="1"/>
              <p:nvPr/>
            </p:nvSpPr>
            <p:spPr>
              <a:xfrm>
                <a:off x="1056146" y="4636355"/>
                <a:ext cx="7082218" cy="507345"/>
              </a:xfrm>
              <a:prstGeom prst="rect">
                <a:avLst/>
              </a:prstGeom>
            </p:spPr>
            <p:txBody>
              <a:bodyPr vert="horz" wrap="square" lIns="0" tIns="14758" rIns="0" bIns="0" rtlCol="0">
                <a:spAutoFit/>
              </a:bodyPr>
              <a:lstStyle/>
              <a:p>
                <a:pPr marL="15240">
                  <a:spcBef>
                    <a:spcPts val="115"/>
                  </a:spcBef>
                </a:pPr>
                <a:r>
                  <a:rPr sz="2800" b="1" dirty="0">
                    <a:latin typeface="黑体" panose="02010609060101010101" pitchFamily="49" charset="-122"/>
                    <a:ea typeface="黑体" panose="02010609060101010101" pitchFamily="49" charset="-122"/>
                    <a:cs typeface="宋体" panose="02010600030101010101" pitchFamily="2" charset="-122"/>
                  </a:rPr>
                  <a:t>相当于主定理</a:t>
                </a:r>
                <a:r>
                  <a:rPr sz="2800" b="1" spc="6" dirty="0">
                    <a:latin typeface="黑体" panose="02010609060101010101" pitchFamily="49" charset="-122"/>
                    <a:ea typeface="黑体" panose="02010609060101010101" pitchFamily="49" charset="-122"/>
                    <a:cs typeface="宋体" panose="02010600030101010101" pitchFamily="2" charset="-122"/>
                  </a:rPr>
                  <a:t>的</a:t>
                </a:r>
                <a:r>
                  <a:rPr sz="2800" b="1" spc="-6" dirty="0">
                    <a:latin typeface="黑体" panose="02010609060101010101" pitchFamily="49" charset="-122"/>
                    <a:ea typeface="黑体" panose="02010609060101010101" pitchFamily="49" charset="-122"/>
                    <a:cs typeface="Calibri" panose="020F0502020204030204"/>
                  </a:rPr>
                  <a:t>case1</a:t>
                </a:r>
                <a:r>
                  <a:rPr sz="2800" b="1" spc="-6" dirty="0">
                    <a:latin typeface="黑体" panose="02010609060101010101" pitchFamily="49" charset="-122"/>
                    <a:ea typeface="黑体" panose="02010609060101010101" pitchFamily="49" charset="-122"/>
                    <a:cs typeface="宋体" panose="02010600030101010101" pitchFamily="2" charset="-122"/>
                  </a:rPr>
                  <a:t>，其</a:t>
                </a:r>
                <a:r>
                  <a:rPr sz="2800" b="1" dirty="0">
                    <a:latin typeface="黑体" panose="02010609060101010101" pitchFamily="49" charset="-122"/>
                    <a:ea typeface="黑体" panose="02010609060101010101" pitchFamily="49" charset="-122"/>
                    <a:cs typeface="宋体" panose="02010600030101010101" pitchFamily="2" charset="-122"/>
                  </a:rPr>
                  <a:t>中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sz="2800" b="1" spc="-6" dirty="0">
                    <a:latin typeface="黑体" panose="02010609060101010101" pitchFamily="49" charset="-122"/>
                    <a:ea typeface="黑体" panose="02010609060101010101" pitchFamily="49" charset="-122"/>
                    <a:cs typeface="Calibri" panose="020F0502020204030204"/>
                  </a:rPr>
                  <a:t>=1</a:t>
                </a:r>
                <a:r>
                  <a:rPr sz="3200" b="1" spc="-6" dirty="0">
                    <a:latin typeface="Calibri" panose="020F0502020204030204"/>
                    <a:cs typeface="Calibri" panose="020F0502020204030204"/>
                  </a:rPr>
                  <a:t>.</a:t>
                </a:r>
                <a:endParaRPr sz="3200" dirty="0">
                  <a:latin typeface="Calibri" panose="020F0502020204030204"/>
                  <a:cs typeface="Calibri" panose="020F0502020204030204"/>
                </a:endParaRPr>
              </a:p>
            </p:txBody>
          </p:sp>
        </mc:Choice>
        <mc:Fallback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146" y="4636355"/>
                <a:ext cx="7082218" cy="507345"/>
              </a:xfrm>
              <a:prstGeom prst="rect">
                <a:avLst/>
              </a:prstGeom>
              <a:blipFill rotWithShape="1">
                <a:blip r:embed="rId3"/>
                <a:stretch>
                  <a:fillRect l="-2" t="-43" r="3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bject 25"/>
          <p:cNvSpPr txBox="1"/>
          <p:nvPr/>
        </p:nvSpPr>
        <p:spPr>
          <a:xfrm>
            <a:off x="1056145" y="5292667"/>
            <a:ext cx="8319664" cy="446573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根据定理得到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54185" y="5239194"/>
            <a:ext cx="4178653" cy="538122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46355">
              <a:spcBef>
                <a:spcPts val="115"/>
              </a:spcBef>
            </a:pP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3400" b="1" i="1" spc="-135" dirty="0">
                <a:latin typeface="Symbol" panose="05050102010706020507"/>
                <a:cs typeface="Symbol" panose="05050102010706020507"/>
              </a:rPr>
              <a:t></a:t>
            </a:r>
            <a:r>
              <a:rPr sz="3400" b="1" i="1" spc="-15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100" b="1" baseline="26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)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0"/>
          <p:cNvSpPr txBox="1"/>
          <p:nvPr/>
        </p:nvSpPr>
        <p:spPr>
          <a:xfrm>
            <a:off x="465651" y="2180623"/>
            <a:ext cx="8407424" cy="1081230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>
            <a:lvl1pPr marL="182245" indent="-182245" algn="l" defTabSz="728980" rtl="0" eaLnBrk="1" latinLnBrk="0" hangingPunct="1">
              <a:lnSpc>
                <a:spcPct val="90000"/>
              </a:lnSpc>
              <a:spcBef>
                <a:spcPts val="795"/>
              </a:spcBef>
              <a:buFont typeface="Arial" panose="020B0604020202020204" pitchFamily="34" charset="0"/>
              <a:buChar char="•"/>
              <a:defRPr sz="22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6735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9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1225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5715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0840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5330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69820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4310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98800" indent="-182245" algn="l" defTabSz="728980" rtl="0" eaLnBrk="1" latinLnBrk="0" hangingPunct="1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4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85"/>
              </a:spcBef>
              <a:buNone/>
            </a:pPr>
            <a:r>
              <a:rPr lang="zh-CN" altLang="en-US" sz="2800" b="1" spc="-12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sz="2800" b="1" spc="-183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上述递推方程中的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4795" indent="0">
              <a:lnSpc>
                <a:spcPct val="100000"/>
              </a:lnSpc>
              <a:spcBef>
                <a:spcPts val="795"/>
              </a:spcBef>
              <a:buFont typeface="Arial" panose="020B0604020202020204" pitchFamily="34" charset="0"/>
              <a:buNone/>
            </a:pPr>
            <a:r>
              <a:rPr lang="zh-CN" altLang="en-US" sz="2800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</a:t>
            </a:r>
            <a:r>
              <a:rPr lang="en-US"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en-US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sz="2800" b="1" spc="-12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9，</a:t>
            </a:r>
            <a:r>
              <a:rPr lang="en-US" sz="2800" b="1" spc="-869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en-US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3，</a:t>
            </a:r>
            <a:r>
              <a:rPr 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2800" b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= </a:t>
            </a:r>
            <a:r>
              <a:rPr lang="en-US" sz="2800" b="1" i="1" spc="-6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 animBg="1"/>
      <p:bldP spid="25" grpId="0"/>
      <p:bldP spid="26" grpId="0"/>
      <p:bldP spid="2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4" name="object 14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5" name="object 15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6" name="object 16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7" name="object 17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8" name="object 18"/>
          <p:cNvSpPr txBox="1">
            <a:spLocks noGrp="1"/>
          </p:cNvSpPr>
          <p:nvPr>
            <p:ph type="title" idx="4294967295"/>
          </p:nvPr>
        </p:nvSpPr>
        <p:spPr>
          <a:xfrm>
            <a:off x="815975" y="61913"/>
            <a:ext cx="832802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求解递推方程：</a:t>
            </a:r>
            <a:r>
              <a:rPr sz="44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例2</a:t>
            </a:r>
            <a:endParaRPr sz="4400" b="1" spc="-2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2473" y="1072593"/>
            <a:ext cx="8372320" cy="1081230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/>
          <a:p>
            <a:pPr marL="62230">
              <a:spcBef>
                <a:spcPts val="910"/>
              </a:spcBef>
              <a:tabLst>
                <a:tab pos="851535" algn="l"/>
              </a:tabLst>
            </a:pP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2	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求解递推方程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766445">
              <a:spcBef>
                <a:spcPts val="795"/>
              </a:spcBef>
            </a:pPr>
            <a:r>
              <a:rPr lang="en-US" sz="2800" b="1" i="1" dirty="0" smtClean="0">
                <a:latin typeface="Times New Roman" panose="02020603050405020304"/>
                <a:cs typeface="Times New Roman" panose="02020603050405020304"/>
              </a:rPr>
              <a:t>                         </a:t>
            </a:r>
            <a:r>
              <a:rPr sz="2800" b="1" i="1" dirty="0" smtClean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/3) +</a:t>
            </a:r>
            <a:r>
              <a:rPr sz="2800" b="1" spc="-73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0490" y="5256150"/>
            <a:ext cx="7485918" cy="507345"/>
          </a:xfrm>
          <a:prstGeom prst="rect">
            <a:avLst/>
          </a:prstGeom>
        </p:spPr>
        <p:txBody>
          <a:bodyPr vert="horz" wrap="square" lIns="0" tIns="14758" rIns="0" bIns="0" rtlCol="0">
            <a:spAutoFit/>
          </a:bodyPr>
          <a:lstStyle/>
          <a:p>
            <a:pPr marL="15240">
              <a:spcBef>
                <a:spcPts val="115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根据定理得</a:t>
            </a:r>
            <a:r>
              <a:rPr sz="28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到</a:t>
            </a:r>
            <a:r>
              <a:rPr sz="3200" b="1" spc="-5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135" dirty="0">
                <a:latin typeface="Symbol" panose="05050102010706020507"/>
                <a:cs typeface="Symbol" panose="05050102010706020507"/>
              </a:rPr>
              <a:t></a:t>
            </a:r>
            <a:r>
              <a:rPr sz="2800" b="1" i="1" spc="-6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spc="-6" dirty="0" err="1" smtClean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0"/>
          <p:cNvSpPr txBox="1"/>
          <p:nvPr/>
        </p:nvSpPr>
        <p:spPr>
          <a:xfrm>
            <a:off x="447335" y="2216865"/>
            <a:ext cx="8372320" cy="1112007"/>
          </a:xfrm>
          <a:prstGeom prst="rect">
            <a:avLst/>
          </a:prstGeom>
        </p:spPr>
        <p:txBody>
          <a:bodyPr vert="horz" wrap="square" lIns="0" tIns="115733" rIns="0" bIns="0" rtlCol="0">
            <a:spAutoFit/>
          </a:bodyPr>
          <a:lstStyle/>
          <a:p>
            <a:pPr marL="62230">
              <a:spcBef>
                <a:spcPts val="2585"/>
              </a:spcBef>
            </a:pPr>
            <a:r>
              <a:rPr sz="2800" b="1" spc="-12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解</a:t>
            </a:r>
            <a:r>
              <a:rPr sz="2800" b="1" spc="-183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上述递推方程中的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587375">
              <a:lnSpc>
                <a:spcPts val="3680"/>
              </a:lnSpc>
              <a:spcBef>
                <a:spcPts val="735"/>
              </a:spcBef>
              <a:tabLst>
                <a:tab pos="3160395" algn="l"/>
              </a:tabLst>
            </a:pPr>
            <a:r>
              <a:rPr lang="en-US" sz="2800" b="1" i="1" spc="-177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                                </a:t>
            </a:r>
            <a:r>
              <a:rPr sz="2800" b="1" i="1" spc="-177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= 1, </a:t>
            </a:r>
            <a:r>
              <a:rPr sz="2800" b="1" i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b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3/2</a:t>
            </a:r>
            <a:r>
              <a:rPr sz="2800" b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800" b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-92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80302" y="4670290"/>
            <a:ext cx="40268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230">
              <a:spcBef>
                <a:spcPts val="247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相当于主定理</a:t>
            </a:r>
            <a:r>
              <a:rPr lang="zh-CN" altLang="en-US" sz="2800" b="1" spc="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的</a:t>
            </a:r>
            <a:r>
              <a:rPr lang="en-US" altLang="zh-CN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Case2</a:t>
            </a:r>
            <a:r>
              <a:rPr lang="en-US" altLang="zh-CN" sz="2800" b="1" spc="-80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.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cs typeface="Calibri" panose="020F0502020204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949699" y="3728025"/>
                <a:ext cx="3067443" cy="5485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 panose="02040503050406030204"/>
                                    </a:rPr>
                                    <m:t>𝐥𝐨𝐠</m:t>
                                  </m:r>
                                </m:e>
                                <m:sub>
                                  <m:f>
                                    <m:fPr>
                                      <m:type m:val="lin"/>
                                      <m:ctrlPr>
                                        <a:rPr lang="en-US" altLang="zh-CN" sz="2800" b="1" i="1" smtClean="0">
                                          <a:latin typeface="Cambria Math" panose="02040503050406030204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b="1" i="1" smtClean="0">
                                          <a:latin typeface="Cambria Math" panose="02040503050406030204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US" altLang="zh-CN" sz="2800" b="1" i="1" smtClean="0">
                                          <a:latin typeface="Cambria Math" panose="02040503050406030204"/>
                                        </a:rPr>
                                        <m:t>𝟐</m:t>
                                      </m:r>
                                    </m:den>
                                  </m:f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𝟏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𝟎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𝟏</m:t>
                      </m:r>
                    </m:oMath>
                  </m:oMathPara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99" y="3728025"/>
                <a:ext cx="3067443" cy="548548"/>
              </a:xfrm>
              <a:prstGeom prst="rect">
                <a:avLst/>
              </a:prstGeom>
              <a:blipFill rotWithShape="1">
                <a:blip r:embed="rId3"/>
                <a:stretch>
                  <a:fillRect l="-4" t="-105" r="17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 txBox="1">
            <a:spLocks noGrp="1"/>
          </p:cNvSpPr>
          <p:nvPr>
            <p:ph type="title" idx="4294967295"/>
          </p:nvPr>
        </p:nvSpPr>
        <p:spPr>
          <a:xfrm>
            <a:off x="754063" y="-50800"/>
            <a:ext cx="8389937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求解递推方程：</a:t>
            </a:r>
            <a:r>
              <a:rPr sz="4400" b="1" spc="-2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例3</a:t>
            </a:r>
            <a:endParaRPr sz="4400" b="1" spc="-2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24881" y="5547582"/>
            <a:ext cx="135890" cy="420988"/>
          </a:xfrm>
          <a:prstGeom prst="rect">
            <a:avLst/>
          </a:prstGeom>
        </p:spPr>
        <p:txBody>
          <a:bodyPr vert="horz" wrap="square" lIns="0" tIns="5437" rIns="0" bIns="0" rtlCol="0">
            <a:spAutoFit/>
          </a:bodyPr>
          <a:lstStyle/>
          <a:p>
            <a:pPr>
              <a:spcBef>
                <a:spcPts val="45"/>
              </a:spcBef>
            </a:pPr>
            <a:endParaRPr sz="1200" dirty="0">
              <a:latin typeface="Times New Roman" panose="02020603050405020304"/>
              <a:cs typeface="Times New Roman" panose="02020603050405020304"/>
            </a:endParaRPr>
          </a:p>
          <a:p>
            <a:pPr marL="31115"/>
            <a:endParaRPr sz="1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611" y="1065840"/>
            <a:ext cx="8354768" cy="3555333"/>
          </a:xfrm>
          <a:prstGeom prst="rect">
            <a:avLst/>
          </a:prstGeom>
        </p:spPr>
        <p:txBody>
          <a:bodyPr vert="horz" wrap="square" lIns="0" tIns="107189" rIns="0" bIns="0" rtlCol="0">
            <a:spAutoFit/>
          </a:bodyPr>
          <a:lstStyle/>
          <a:p>
            <a:pPr marL="62230">
              <a:spcBef>
                <a:spcPts val="845"/>
              </a:spcBef>
              <a:tabLst>
                <a:tab pos="851535" algn="l"/>
              </a:tabLst>
            </a:pP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3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求解递推方程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604520">
              <a:lnSpc>
                <a:spcPct val="200000"/>
              </a:lnSpc>
            </a:pPr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                 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/4) 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800" b="1" spc="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 err="1" smtClean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  <a:p>
            <a:r>
              <a:rPr sz="2800" b="1" spc="-12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解</a:t>
            </a:r>
            <a:r>
              <a:rPr sz="2800" b="1" spc="-172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上述递推方程中的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494665" marR="52705">
              <a:lnSpc>
                <a:spcPct val="200000"/>
              </a:lnSpc>
              <a:tabLst>
                <a:tab pos="1830705" algn="l"/>
                <a:tab pos="3275965" algn="l"/>
              </a:tabLst>
            </a:pPr>
            <a:r>
              <a:rPr lang="en-US" sz="2800" b="1" i="1" spc="-6" dirty="0" smtClean="0">
                <a:latin typeface="Times New Roman" panose="02020603050405020304"/>
                <a:cs typeface="Times New Roman" panose="02020603050405020304"/>
              </a:rPr>
              <a:t>                      </a:t>
            </a:r>
            <a:r>
              <a:rPr sz="2800" b="1" i="1" spc="-6" dirty="0" smtClean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b="1" i="1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12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3,	</a:t>
            </a:r>
            <a:r>
              <a:rPr lang="en-US" sz="2800" b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00" b="1" i="1" spc="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800" b="1" spc="12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800" b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sz="2800" b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800" b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6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) = </a:t>
            </a:r>
            <a:r>
              <a:rPr sz="2800" b="1" i="1" dirty="0" err="1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 err="1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dirty="0" err="1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endParaRPr lang="en-US" sz="2800" b="1" i="1" dirty="0" smtClean="0">
              <a:uFill>
                <a:solidFill>
                  <a:srgbClr val="C00000"/>
                </a:solidFill>
              </a:uFill>
              <a:latin typeface="Times New Roman" panose="02020603050405020304"/>
              <a:cs typeface="Times New Roman" panose="02020603050405020304"/>
            </a:endParaRPr>
          </a:p>
          <a:p>
            <a:pPr marL="494665" marR="52705">
              <a:lnSpc>
                <a:spcPct val="200000"/>
              </a:lnSpc>
              <a:tabLst>
                <a:tab pos="1830705" algn="l"/>
                <a:tab pos="3275965" algn="l"/>
              </a:tabLst>
            </a:pPr>
            <a:r>
              <a:rPr sz="2800" b="1" i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endParaRPr lang="en-US" sz="2800" b="1" i="1" dirty="0" smtClean="0"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34394" y="3892326"/>
                <a:ext cx="5782160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l-GR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𝜴</m:t>
                      </m:r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𝟒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𝟑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 +</m:t>
                              </m:r>
                              <m:r>
                                <a:rPr lang="zh-CN" altLang="en-US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𝜺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)≈</m:t>
                      </m:r>
                      <m:r>
                        <a:rPr lang="el-GR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𝜴</m:t>
                      </m:r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𝒏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𝟎</m:t>
                          </m:r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.</m:t>
                          </m:r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𝟕𝟗𝟑</m:t>
                          </m:r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zh-CN" altLang="en-US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𝜺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394" y="3892326"/>
                <a:ext cx="5782160" cy="539443"/>
              </a:xfrm>
              <a:prstGeom prst="rect">
                <a:avLst/>
              </a:prstGeom>
              <a:blipFill rotWithShape="1">
                <a:blip r:embed="rId3"/>
                <a:stretch>
                  <a:fillRect l="-3" t="-7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789100" y="4759771"/>
            <a:ext cx="25932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230">
              <a:spcBef>
                <a:spcPts val="1400"/>
              </a:spcBef>
            </a:pPr>
            <a:r>
              <a:rPr lang="zh-CN" altLang="en-US" sz="2800" b="1" spc="709" dirty="0"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lang="zh-CN" altLang="en-US" sz="2800" b="1" dirty="0">
                <a:latin typeface="Symbol" panose="05050102010706020507"/>
                <a:cs typeface="Symbol" panose="05050102010706020507"/>
              </a:rPr>
              <a:t></a:t>
            </a:r>
            <a:r>
              <a:rPr lang="zh-CN" altLang="en-US" sz="2800" b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= 0.2</a:t>
            </a:r>
            <a:r>
              <a:rPr lang="zh-CN" altLang="en-US" sz="2800" b="1" spc="-12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即可</a:t>
            </a:r>
            <a:r>
              <a:rPr lang="en-US" altLang="zh-CN" sz="2800" b="1" dirty="0">
                <a:latin typeface="Calibri" panose="020F0502020204030204"/>
                <a:cs typeface="Calibri" panose="020F0502020204030204"/>
              </a:rPr>
              <a:t>.</a:t>
            </a:r>
            <a:endParaRPr lang="zh-CN" altLang="en-US" sz="2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1" name="object 11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2" name="object 12"/>
          <p:cNvSpPr txBox="1">
            <a:spLocks noGrp="1"/>
          </p:cNvSpPr>
          <p:nvPr>
            <p:ph type="title" idx="4294967295"/>
          </p:nvPr>
        </p:nvSpPr>
        <p:spPr>
          <a:xfrm>
            <a:off x="0" y="47625"/>
            <a:ext cx="837247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条件验证</a:t>
            </a:r>
            <a:endParaRPr sz="4400" b="1" spc="-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>
              <a:xfrm>
                <a:off x="2896555" y="2473878"/>
                <a:ext cx="7306988" cy="562139"/>
              </a:xfrm>
              <a:prstGeom prst="rect">
                <a:avLst/>
              </a:prstGeom>
            </p:spPr>
            <p:txBody>
              <a:bodyPr vert="horz" wrap="square" lIns="0" tIns="23302" rIns="0" bIns="0" rtlCol="0">
                <a:spAutoFit/>
              </a:bodyPr>
              <a:lstStyle/>
              <a:p>
                <a:pPr marL="15240" marR="1266190" algn="just">
                  <a:lnSpc>
                    <a:spcPct val="125000"/>
                  </a:lnSpc>
                  <a:spcBef>
                    <a:spcPts val="185"/>
                  </a:spcBef>
                </a:pPr>
                <a:r>
                  <a:rPr lang="en-US" sz="2800" b="1" spc="-6" dirty="0" smtClean="0">
                    <a:latin typeface="Times New Roman" panose="02020603050405020304"/>
                    <a:cs typeface="Times New Roman" panose="02020603050405020304"/>
                  </a:rPr>
                  <a:t>=</a:t>
                </a:r>
                <a:r>
                  <a:rPr sz="2800" b="1" spc="-6" dirty="0" smtClean="0">
                    <a:solidFill>
                      <a:srgbClr val="C00000"/>
                    </a:solidFill>
                    <a:latin typeface="Times New Roman" panose="02020603050405020304"/>
                    <a:cs typeface="Times New Roman" panose="02020603050405020304"/>
                  </a:rPr>
                  <a:t>3</a:t>
                </a:r>
                <a:r>
                  <a:rPr sz="2800" b="1" dirty="0" smtClean="0">
                    <a:solidFill>
                      <a:srgbClr val="0000FF"/>
                    </a:solidFill>
                    <a:latin typeface="Times New Roman" panose="02020603050405020304"/>
                    <a:cs typeface="Times New Roman" panose="02020603050405020304"/>
                  </a:rPr>
                  <a:t>(</a:t>
                </a:r>
                <a:r>
                  <a:rPr sz="2800" b="1" i="1" dirty="0" smtClean="0">
                    <a:solidFill>
                      <a:srgbClr val="0000FF"/>
                    </a:solidFill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sz="2800" b="1" dirty="0" smtClean="0">
                    <a:solidFill>
                      <a:srgbClr val="0000FF"/>
                    </a:solidFill>
                    <a:latin typeface="Times New Roman" panose="02020603050405020304"/>
                    <a:cs typeface="Times New Roman" panose="02020603050405020304"/>
                  </a:rPr>
                  <a:t>/4)</a:t>
                </a:r>
                <a:r>
                  <a:rPr sz="2800" b="1" dirty="0" smtClean="0">
                    <a:latin typeface="Times New Roman" panose="02020603050405020304"/>
                    <a:cs typeface="Times New Roman" panose="02020603050405020304"/>
                  </a:rPr>
                  <a:t>log(</a:t>
                </a:r>
                <a:r>
                  <a:rPr sz="2800" b="1" i="1" dirty="0" smtClean="0">
                    <a:latin typeface="Times New Roman" panose="02020603050405020304"/>
                    <a:cs typeface="Times New Roman" panose="02020603050405020304"/>
                  </a:rPr>
                  <a:t>n</a:t>
                </a:r>
                <a:r>
                  <a:rPr sz="2800" b="1" dirty="0" smtClean="0">
                    <a:latin typeface="Times New Roman" panose="02020603050405020304"/>
                    <a:cs typeface="Times New Roman" panose="02020603050405020304"/>
                  </a:rPr>
                  <a:t>/4)</a:t>
                </a:r>
                <a:r>
                  <a:rPr sz="2800" b="1" spc="-6" dirty="0" smtClean="0">
                    <a:latin typeface="Symbol" panose="05050102010706020507"/>
                    <a:cs typeface="Symbol" panose="05050102010706020507"/>
                  </a:rPr>
                  <a:t>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/>
                        <a:ea typeface="Cambria Math" panose="02040503050406030204"/>
                      </a:rPr>
                      <m:t>𝒄𝒇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/>
                            <a:ea typeface="Cambria Math" panose="02040503050406030204"/>
                          </a:rPr>
                          <m:t>𝒏</m:t>
                        </m:r>
                      </m:e>
                    </m:d>
                    <m:r>
                      <a:rPr lang="en-US" altLang="zh-CN" sz="2800" b="1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</m:oMath>
                </a14:m>
                <a:r>
                  <a:rPr lang="en-US" sz="2800" b="1" i="1" spc="147" dirty="0" smtClean="0">
                    <a:latin typeface="Times New Roman" panose="02020603050405020304"/>
                    <a:cs typeface="Times New Roman" panose="02020603050405020304"/>
                  </a:rPr>
                  <a:t>=</a:t>
                </a:r>
                <a:r>
                  <a:rPr sz="2800" b="1" i="1" spc="147" dirty="0" smtClean="0">
                    <a:latin typeface="Times New Roman" panose="02020603050405020304"/>
                    <a:cs typeface="Times New Roman" panose="02020603050405020304"/>
                  </a:rPr>
                  <a:t>cn</a:t>
                </a:r>
                <a:r>
                  <a:rPr sz="2800" b="1" dirty="0" smtClean="0">
                    <a:latin typeface="Times New Roman" panose="02020603050405020304"/>
                    <a:cs typeface="Times New Roman" panose="02020603050405020304"/>
                  </a:rPr>
                  <a:t>log</a:t>
                </a:r>
                <a:r>
                  <a:rPr sz="2800" b="1" i="1" spc="-6" dirty="0" smtClean="0">
                    <a:latin typeface="Times New Roman" panose="02020603050405020304"/>
                    <a:cs typeface="Times New Roman" panose="02020603050405020304"/>
                  </a:rPr>
                  <a:t>n</a:t>
                </a:r>
                <a:endParaRPr sz="2800" dirty="0" smtClean="0">
                  <a:latin typeface="Times New Roman" panose="02020603050405020304"/>
                  <a:cs typeface="Times New Roman" panose="02020603050405020304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555" y="2473878"/>
                <a:ext cx="7306988" cy="562139"/>
              </a:xfrm>
              <a:prstGeom prst="rect">
                <a:avLst/>
              </a:prstGeom>
              <a:blipFill rotWithShape="1">
                <a:blip r:embed="rId3"/>
                <a:stretch>
                  <a:fillRect l="-4" t="-98" r="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982892" y="1193814"/>
                <a:ext cx="30675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𝒂𝒇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𝒃</m:t>
                          </m:r>
                        </m:den>
                      </m:f>
                      <m:r>
                        <a:rPr lang="en-US" altLang="zh-CN" sz="2800" b="1" i="1" smtClean="0">
                          <a:latin typeface="Cambria Math" panose="02040503050406030204"/>
                        </a:rPr>
                        <m:t>)</m:t>
                      </m:r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𝒄</m:t>
                      </m:r>
                      <m:r>
                        <a:rPr lang="en-US" altLang="zh-CN" sz="2800" b="1" i="0" smtClean="0">
                          <a:latin typeface="Cambria Math" panose="02040503050406030204"/>
                          <a:ea typeface="Cambria Math" panose="02040503050406030204"/>
                        </a:rPr>
                        <m:t>𝐟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92" y="1193814"/>
                <a:ext cx="306757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8" t="-3" r="14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5222834" y="1193814"/>
                <a:ext cx="26693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/>
                              <a:ea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latin typeface="Cambria Math" panose="02040503050406030204"/>
                              <a:ea typeface="Cambria Math" panose="02040503050406030204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834" y="1193814"/>
                <a:ext cx="2669384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22" t="-3" r="16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362671" y="1203689"/>
            <a:ext cx="10848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要使 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21448" y="1193814"/>
            <a:ext cx="21645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成立，代入 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475305" y="1161732"/>
            <a:ext cx="296935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1266190">
              <a:lnSpc>
                <a:spcPct val="125000"/>
              </a:lnSpc>
              <a:spcBef>
                <a:spcPts val="185"/>
              </a:spcBef>
            </a:pPr>
            <a:r>
              <a:rPr lang="en-US" altLang="zh-CN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,</a:t>
            </a:r>
            <a:r>
              <a:rPr lang="zh-CN" altLang="en-US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得到</a:t>
            </a:r>
            <a:endParaRPr lang="zh-CN" altLang="en-US" sz="2800" b="1" spc="-6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21" name="object 14"/>
          <p:cNvSpPr txBox="1"/>
          <p:nvPr/>
        </p:nvSpPr>
        <p:spPr>
          <a:xfrm>
            <a:off x="400583" y="3484003"/>
            <a:ext cx="8354768" cy="2118911"/>
          </a:xfrm>
          <a:prstGeom prst="rect">
            <a:avLst/>
          </a:prstGeom>
        </p:spPr>
        <p:txBody>
          <a:bodyPr vert="horz" wrap="square" lIns="0" tIns="23302" rIns="0" bIns="0" rtlCol="0">
            <a:spAutoFit/>
          </a:bodyPr>
          <a:lstStyle/>
          <a:p>
            <a:pPr marL="15240" marR="6350">
              <a:lnSpc>
                <a:spcPct val="99000"/>
              </a:lnSpc>
              <a:spcBef>
                <a:spcPts val="2265"/>
              </a:spcBef>
              <a:tabLst>
                <a:tab pos="3067050" algn="l"/>
              </a:tabLst>
            </a:pPr>
            <a:r>
              <a:rPr sz="2800" b="1" spc="6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只</a:t>
            </a:r>
            <a:r>
              <a:rPr sz="2800" b="1" spc="-6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要</a:t>
            </a:r>
            <a:r>
              <a:rPr sz="2800" b="1" spc="-929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i="1" u="sng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00" b="1" i="1" u="sng" spc="-37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sng" dirty="0"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</a:t>
            </a:r>
            <a:r>
              <a:rPr sz="2800" b="1" u="sng" spc="-30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u="sng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3/4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800" b="1" spc="6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上述不等式可以</a:t>
            </a:r>
            <a:r>
              <a:rPr sz="2800" b="1" spc="-12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对所</a:t>
            </a:r>
            <a:r>
              <a:rPr sz="2800" b="1" spc="-6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有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充分大</a:t>
            </a:r>
            <a:r>
              <a:rPr sz="2800" b="1" spc="-6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的</a:t>
            </a:r>
            <a:r>
              <a:rPr sz="28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</a:t>
            </a:r>
            <a:r>
              <a:rPr sz="2800" b="1" i="1" spc="-25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成立</a:t>
            </a:r>
            <a:r>
              <a:rPr sz="2800" b="1" dirty="0">
                <a:latin typeface="Calibri" panose="020F0502020204030204"/>
                <a:cs typeface="Calibri" panose="020F0502020204030204"/>
              </a:rPr>
              <a:t>.	</a:t>
            </a:r>
            <a:endParaRPr lang="en-US" sz="2800" b="1" dirty="0" smtClean="0">
              <a:latin typeface="Calibri" panose="020F0502020204030204"/>
              <a:cs typeface="Calibri" panose="020F0502020204030204"/>
            </a:endParaRPr>
          </a:p>
          <a:p>
            <a:pPr marL="15240" marR="6350">
              <a:lnSpc>
                <a:spcPct val="99000"/>
              </a:lnSpc>
              <a:spcBef>
                <a:spcPts val="2265"/>
              </a:spcBef>
              <a:tabLst>
                <a:tab pos="3067050" algn="l"/>
              </a:tabLst>
            </a:pP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相当于主定理的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spc="-6" dirty="0">
                <a:latin typeface="Calibri" panose="020F0502020204030204"/>
                <a:cs typeface="Calibri" panose="020F0502020204030204"/>
              </a:rPr>
              <a:t>Case3.</a:t>
            </a:r>
            <a:endParaRPr sz="2800" dirty="0">
              <a:latin typeface="Calibri" panose="020F0502020204030204"/>
              <a:cs typeface="Calibri" panose="020F0502020204030204"/>
            </a:endParaRPr>
          </a:p>
          <a:p>
            <a:pPr marL="15240">
              <a:spcBef>
                <a:spcPts val="705"/>
              </a:spcBef>
            </a:pPr>
            <a:r>
              <a:rPr sz="2800" b="1" spc="6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因此</a:t>
            </a:r>
            <a:r>
              <a:rPr sz="2800" b="1" spc="-6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800" b="1" spc="514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i="1" spc="-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3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30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30" dirty="0">
                <a:latin typeface="Symbol" panose="05050102010706020507"/>
                <a:cs typeface="Symbol" panose="05050102010706020507"/>
              </a:rPr>
              <a:t></a:t>
            </a:r>
            <a:r>
              <a:rPr sz="2800" b="1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6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6" dirty="0">
                <a:latin typeface="Times New Roman" panose="02020603050405020304"/>
                <a:cs typeface="Times New Roman" panose="02020603050405020304"/>
              </a:rPr>
              <a:t>f 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2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))=</a:t>
            </a:r>
            <a:r>
              <a:rPr sz="2800" b="1" i="1" spc="-25" dirty="0">
                <a:latin typeface="Symbol" panose="05050102010706020507"/>
                <a:cs typeface="Symbol" panose="05050102010706020507"/>
              </a:rPr>
              <a:t></a:t>
            </a:r>
            <a:r>
              <a:rPr sz="2800" b="1" i="1" spc="-37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/>
              <p:nvPr/>
            </p:nvSpPr>
            <p:spPr>
              <a:xfrm>
                <a:off x="590802" y="1767543"/>
                <a:ext cx="588211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0" smtClean="0"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𝒂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𝒃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𝐥𝐨𝐠</m:t>
                          </m:r>
                        </m:fName>
                        <m:e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𝒃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02" y="1767543"/>
                <a:ext cx="5882115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4" t="-65" r="6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/>
      <p:bldP spid="2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15975" y="0"/>
            <a:ext cx="832802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递归算法分析</a:t>
            </a:r>
            <a:endParaRPr sz="4400" b="1" spc="-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175" y="1134818"/>
            <a:ext cx="8371930" cy="554025"/>
          </a:xfrm>
          <a:prstGeom prst="rect">
            <a:avLst/>
          </a:prstGeom>
        </p:spPr>
        <p:txBody>
          <a:bodyPr vert="horz" wrap="square" lIns="0" tIns="121947" rIns="0" bIns="0" rtlCol="0">
            <a:spAutoFit/>
          </a:bodyPr>
          <a:lstStyle/>
          <a:p>
            <a:pPr algn="just">
              <a:spcBef>
                <a:spcPts val="960"/>
              </a:spcBef>
            </a:pPr>
            <a:r>
              <a:rPr sz="2800" b="1" spc="-6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二分检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索</a:t>
            </a:r>
            <a:r>
              <a:rPr sz="2800" b="1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/2)+1,</a:t>
            </a:r>
            <a:r>
              <a:rPr sz="2800" b="1" spc="-1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(1)=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1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176" y="5139564"/>
            <a:ext cx="8371929" cy="509320"/>
          </a:xfrm>
          <a:prstGeom prst="rect">
            <a:avLst/>
          </a:prstGeom>
        </p:spPr>
        <p:txBody>
          <a:bodyPr vert="horz" wrap="square" lIns="0" tIns="77674" rIns="0" bIns="0" rtlCol="0">
            <a:spAutoFit/>
          </a:bodyPr>
          <a:lstStyle/>
          <a:p>
            <a:pPr marL="15240">
              <a:spcBef>
                <a:spcPts val="610"/>
              </a:spcBef>
            </a:pP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属于</a:t>
            </a:r>
            <a:r>
              <a:rPr sz="2800" b="1" spc="-6" dirty="0" smtClean="0">
                <a:latin typeface="Times New Roman" panose="02020603050405020304"/>
                <a:cs typeface="Times New Roman" panose="02020603050405020304"/>
              </a:rPr>
              <a:t>Case2</a:t>
            </a:r>
            <a:r>
              <a:rPr sz="2800" b="1" spc="-6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800" b="1" i="1" spc="-12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12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12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12" dirty="0">
                <a:latin typeface="Symbol" panose="05050102010706020507"/>
                <a:cs typeface="Symbol" panose="05050102010706020507"/>
              </a:rPr>
              <a:t>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12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spc="-12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)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480605" y="2267292"/>
            <a:ext cx="8284549" cy="1061856"/>
          </a:xfrm>
          <a:prstGeom prst="rect">
            <a:avLst/>
          </a:prstGeom>
        </p:spPr>
        <p:txBody>
          <a:bodyPr vert="horz" wrap="square" lIns="0" tIns="121947" rIns="0" bIns="0" rtlCol="0">
            <a:spAutoFit/>
          </a:bodyPr>
          <a:lstStyle/>
          <a:p>
            <a:pPr marR="3599815">
              <a:spcBef>
                <a:spcPts val="925"/>
              </a:spcBef>
            </a:pPr>
            <a:r>
              <a:rPr sz="2800" b="1" spc="-6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属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于</a:t>
            </a:r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Case2</a:t>
            </a:r>
            <a:r>
              <a:rPr sz="2800" b="1" spc="-6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1042035" algn="ctr">
              <a:spcBef>
                <a:spcPts val="555"/>
              </a:spcBef>
            </a:pPr>
            <a:r>
              <a:rPr sz="2800" b="1" i="1" spc="-12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spc="-12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)=</a:t>
            </a:r>
            <a:r>
              <a:rPr sz="2800" b="1" i="1" spc="-12" dirty="0">
                <a:latin typeface="Symbol" panose="05050102010706020507"/>
                <a:cs typeface="Symbol" panose="05050102010706020507"/>
              </a:rPr>
              <a:t></a:t>
            </a:r>
            <a:r>
              <a:rPr sz="2800" b="1" spc="-12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spc="-12" dirty="0" err="1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spc="-12" dirty="0" err="1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spc="-12" dirty="0" smtClean="0"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800" dirty="0"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728482" y="1682807"/>
                <a:ext cx="5659755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𝒃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 panose="02040503050406030204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𝟏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𝟏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482" y="1682807"/>
                <a:ext cx="5659755" cy="539443"/>
              </a:xfrm>
              <a:prstGeom prst="rect">
                <a:avLst/>
              </a:prstGeom>
              <a:blipFill rotWithShape="1">
                <a:blip r:embed="rId1"/>
                <a:stretch>
                  <a:fillRect t="-11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6"/>
          <p:cNvSpPr txBox="1"/>
          <p:nvPr/>
        </p:nvSpPr>
        <p:spPr>
          <a:xfrm>
            <a:off x="494822" y="3342139"/>
            <a:ext cx="8371930" cy="1087504"/>
          </a:xfrm>
          <a:prstGeom prst="rect">
            <a:avLst/>
          </a:prstGeom>
        </p:spPr>
        <p:txBody>
          <a:bodyPr vert="horz" wrap="square" lIns="0" tIns="121947" rIns="0" bIns="0" rtlCol="0">
            <a:spAutoFit/>
          </a:bodyPr>
          <a:lstStyle/>
          <a:p>
            <a:pPr marR="1042035" algn="just">
              <a:spcBef>
                <a:spcPts val="555"/>
              </a:spcBef>
            </a:pPr>
            <a:r>
              <a:rPr sz="2800" b="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二分归并排序</a:t>
            </a:r>
            <a:r>
              <a:rPr sz="2800" b="1" spc="-12" dirty="0"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sz="28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19760">
              <a:spcBef>
                <a:spcPts val="750"/>
              </a:spcBef>
            </a:pPr>
            <a:r>
              <a:rPr lang="en-US" sz="2800" b="1" i="1" dirty="0" smtClean="0">
                <a:latin typeface="Times New Roman" panose="02020603050405020304"/>
                <a:cs typeface="Times New Roman" panose="02020603050405020304"/>
              </a:rPr>
              <a:t>              </a:t>
            </a:r>
            <a:r>
              <a:rPr sz="2800" b="1" i="1" dirty="0" smtClean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)=2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/2)+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Symbol" panose="05050102010706020507"/>
                <a:cs typeface="Symbol" panose="05050102010706020507"/>
              </a:rPr>
              <a:t>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1,</a:t>
            </a:r>
            <a:r>
              <a:rPr sz="2800" b="1" spc="-15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(1)=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0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617294" y="4569449"/>
                <a:ext cx="6337056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𝒃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 panose="02040503050406030204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𝟐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−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𝟏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294" y="4569449"/>
                <a:ext cx="6337056" cy="539443"/>
              </a:xfrm>
              <a:prstGeom prst="rect">
                <a:avLst/>
              </a:prstGeom>
              <a:blipFill rotWithShape="1">
                <a:blip r:embed="rId2"/>
                <a:stretch>
                  <a:fillRect l="-9" t="-116" r="5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3" grpId="0" animBg="1"/>
      <p:bldP spid="11" grpId="0"/>
      <p:bldP spid="1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36600" y="50800"/>
            <a:ext cx="8407400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不能使用主定理的例子</a:t>
            </a:r>
            <a:endParaRPr sz="4400" b="1" spc="-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129284" y="0"/>
            <a:ext cx="185927" cy="22961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153667" y="1"/>
            <a:ext cx="187452" cy="264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0" name="object 10"/>
          <p:cNvSpPr txBox="1"/>
          <p:nvPr/>
        </p:nvSpPr>
        <p:spPr>
          <a:xfrm>
            <a:off x="451128" y="1121719"/>
            <a:ext cx="8407424" cy="625397"/>
          </a:xfrm>
          <a:prstGeom prst="rect">
            <a:avLst/>
          </a:prstGeom>
        </p:spPr>
        <p:txBody>
          <a:bodyPr vert="horz" wrap="square" lIns="0" tIns="192629" rIns="0" bIns="0" rtlCol="0">
            <a:spAutoFit/>
          </a:bodyPr>
          <a:lstStyle/>
          <a:p>
            <a:pPr>
              <a:spcBef>
                <a:spcPts val="1515"/>
              </a:spcBef>
              <a:tabLst>
                <a:tab pos="929640" algn="l"/>
              </a:tabLst>
            </a:pP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例</a:t>
            </a:r>
            <a:r>
              <a:rPr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/>
              </a:rPr>
              <a:t>4	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求</a:t>
            </a:r>
            <a:r>
              <a:rPr sz="28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解</a:t>
            </a:r>
            <a:r>
              <a:rPr sz="2800" b="1" spc="539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)=2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/2)+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 err="1" smtClean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503952" y="2624942"/>
            <a:ext cx="8407424" cy="1133229"/>
          </a:xfrm>
          <a:prstGeom prst="rect">
            <a:avLst/>
          </a:prstGeom>
        </p:spPr>
        <p:txBody>
          <a:bodyPr vert="horz" wrap="square" lIns="0" tIns="192629" rIns="0" bIns="0" rtlCol="0">
            <a:spAutoFit/>
          </a:bodyPr>
          <a:lstStyle/>
          <a:p>
            <a:pPr>
              <a:spcBef>
                <a:spcPts val="2005"/>
              </a:spcBef>
            </a:pP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不存在</a:t>
            </a:r>
            <a:r>
              <a:rPr sz="2800" b="1" i="1" spc="-61" dirty="0">
                <a:latin typeface="Symbol" panose="05050102010706020507"/>
                <a:cs typeface="Symbol" panose="05050102010706020507"/>
              </a:rPr>
              <a:t></a:t>
            </a:r>
            <a:r>
              <a:rPr sz="2800" b="1" i="1" spc="-4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&gt;0</a:t>
            </a:r>
            <a:r>
              <a:rPr sz="2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使下式成立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1256030">
              <a:spcBef>
                <a:spcPts val="555"/>
              </a:spcBef>
            </a:pPr>
            <a:endParaRPr lang="en-US" sz="2800" b="1" i="1" spc="-6" dirty="0" smtClean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7421" y="1865321"/>
            <a:ext cx="6848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700">
              <a:spcBef>
                <a:spcPts val="1395"/>
              </a:spcBef>
              <a:tabLst>
                <a:tab pos="946785" algn="l"/>
                <a:tab pos="2318385" algn="l"/>
                <a:tab pos="3864610" algn="l"/>
              </a:tabLst>
            </a:pPr>
            <a:r>
              <a:rPr lang="zh-CN" altLang="en-US" sz="28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解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351504" y="1844576"/>
                <a:ext cx="6513578" cy="539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𝒂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𝒃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800" b="1" i="1" smtClean="0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0" smtClean="0">
                                      <a:latin typeface="Cambria Math" panose="02040503050406030204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𝟐</m:t>
                              </m:r>
                            </m:e>
                          </m:func>
                        </m:sup>
                      </m:sSup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, 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504" y="1844576"/>
                <a:ext cx="6513578" cy="539443"/>
              </a:xfrm>
              <a:prstGeom prst="rect">
                <a:avLst/>
              </a:prstGeom>
              <a:blipFill rotWithShape="1">
                <a:blip r:embed="rId3"/>
                <a:stretch>
                  <a:fillRect l="-3" t="-99" r="9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2190315" y="3351112"/>
                <a:ext cx="4451988" cy="578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𝒇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latin typeface="Cambria Math" panose="02040503050406030204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func>
                      <m:r>
                        <a:rPr lang="en-US" altLang="zh-CN" sz="2800" b="1" i="1">
                          <a:latin typeface="Cambria Math" panose="02040503050406030204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 panose="02040503050406030204"/>
                        </a:rPr>
                        <m:t>𝜴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/>
                                </a:rPr>
                                <m:t>+</m:t>
                              </m:r>
                              <m:r>
                                <a:rPr lang="zh-CN" altLang="en-US" sz="2800" b="1" i="1" smtClean="0">
                                  <a:latin typeface="Cambria Math" panose="02040503050406030204"/>
                                </a:rPr>
                                <m:t>𝜺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315" y="3351112"/>
                <a:ext cx="4451988" cy="578685"/>
              </a:xfrm>
              <a:prstGeom prst="rect">
                <a:avLst/>
              </a:prstGeom>
              <a:blipFill rotWithShape="1">
                <a:blip r:embed="rId4"/>
                <a:stretch>
                  <a:fillRect l="-4" t="-37" r="5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5993362" y="2811450"/>
                <a:ext cx="2028248" cy="523220"/>
              </a:xfrm>
              <a:prstGeom prst="rect">
                <a:avLst/>
              </a:prstGeom>
              <a:ln w="25400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800" b="1" i="0" smtClean="0">
                              <a:latin typeface="Cambria Math" panose="02040503050406030204"/>
                              <a:ea typeface="Cambria Math" panose="02040503050406030204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800" b="1" i="1" smtClean="0">
                              <a:latin typeface="Cambria Math" panose="02040503050406030204"/>
                              <a:ea typeface="Cambria Math" panose="02040503050406030204"/>
                            </a:rPr>
                            <m:t>𝒏</m:t>
                          </m:r>
                        </m:e>
                      </m:func>
                      <m:r>
                        <a:rPr lang="en-US" altLang="zh-CN" sz="2800" b="1" i="1" smtClean="0">
                          <a:latin typeface="Cambria Math" panose="02040503050406030204"/>
                          <a:ea typeface="Cambria Math" panose="02040503050406030204"/>
                        </a:rPr>
                        <m:t>&lt;</m:t>
                      </m:r>
                      <m:sSup>
                        <m:sSupPr>
                          <m:ctrlPr>
                            <a:rPr lang="en-US" altLang="zh-CN" sz="2800" b="1" i="1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2800" b="1" i="1">
                              <a:latin typeface="Cambria Math" panose="02040503050406030204"/>
                            </a:rPr>
                            <m:t>𝒏</m:t>
                          </m:r>
                        </m:e>
                        <m:sup>
                          <m:r>
                            <a:rPr lang="zh-CN" altLang="en-US" sz="2800" b="1" i="1">
                              <a:latin typeface="Cambria Math" panose="02040503050406030204"/>
                            </a:rPr>
                            <m:t>𝜺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362" y="2811450"/>
                <a:ext cx="2028248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38" t="-2486" r="-612" b="-2373"/>
                </a:stretch>
              </a:blipFill>
              <a:ln w="254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451128" y="4149292"/>
            <a:ext cx="8279222" cy="1237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" marR="37465" algn="just">
              <a:lnSpc>
                <a:spcPct val="118000"/>
              </a:lnSpc>
              <a:spcBef>
                <a:spcPts val="965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不存</a:t>
            </a:r>
            <a:r>
              <a:rPr lang="zh-CN" altLang="en-US" sz="28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在</a:t>
            </a:r>
            <a:r>
              <a:rPr lang="zh-CN" altLang="en-US" sz="2800" b="1" spc="-85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lang="en-US" altLang="zh-CN" sz="2800" b="1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&lt;1</a:t>
            </a:r>
            <a:r>
              <a:rPr lang="en-US" altLang="zh-CN" sz="2800" b="1" spc="-1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sz="2800" b="1" spc="-12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使</a:t>
            </a:r>
            <a:r>
              <a:rPr lang="zh-CN" altLang="en-US" sz="2800" b="1" spc="-764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dirty="0" err="1">
                <a:latin typeface="Times New Roman" panose="02020603050405020304"/>
                <a:cs typeface="Times New Roman" panose="02020603050405020304"/>
              </a:rPr>
              <a:t>af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altLang="zh-CN" sz="2800" b="1" dirty="0">
                <a:latin typeface="Symbol" panose="05050102010706020507"/>
                <a:cs typeface="Symbol" panose="05050102010706020507"/>
              </a:rPr>
              <a:t></a:t>
            </a:r>
            <a:r>
              <a:rPr lang="en-US" altLang="zh-CN" sz="2800" b="1" i="1" dirty="0" err="1">
                <a:latin typeface="Times New Roman" panose="02020603050405020304"/>
                <a:cs typeface="Times New Roman" panose="02020603050405020304"/>
              </a:rPr>
              <a:t>cf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zh-CN" altLang="en-US"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对所有充分大</a:t>
            </a:r>
            <a:r>
              <a:rPr lang="zh-CN" altLang="en-US" sz="2800" b="1" spc="-18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的</a:t>
            </a:r>
            <a:r>
              <a:rPr lang="zh-CN" altLang="en-US" sz="2800" b="1" spc="-850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spc="-6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/>
              </a:rPr>
              <a:t>n </a:t>
            </a:r>
            <a:r>
              <a:rPr lang="zh-CN" altLang="en-US" sz="2800" b="1" spc="-6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成立</a:t>
            </a:r>
            <a:endParaRPr lang="zh-CN" altLang="en-US" sz="2800" b="1" spc="-6" dirty="0" smtClean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46355" marR="37465">
              <a:lnSpc>
                <a:spcPct val="118000"/>
              </a:lnSpc>
              <a:spcBef>
                <a:spcPts val="965"/>
              </a:spcBef>
            </a:pPr>
            <a:r>
              <a:rPr lang="zh-CN" altLang="en-US" sz="2800" b="1" spc="-6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b="1" i="1" dirty="0" err="1" smtClean="0">
                <a:latin typeface="Times New Roman" panose="02020603050405020304"/>
                <a:cs typeface="Times New Roman" panose="02020603050405020304"/>
              </a:rPr>
              <a:t>af</a:t>
            </a:r>
            <a:r>
              <a:rPr lang="en-US" altLang="zh-CN" sz="2800" b="1" dirty="0" smtClean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sz="2800" b="1" i="1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 smtClean="0">
                <a:latin typeface="Times New Roman" panose="02020603050405020304"/>
                <a:cs typeface="Times New Roman" panose="02020603050405020304"/>
              </a:rPr>
              <a:t>/</a:t>
            </a:r>
            <a:r>
              <a:rPr lang="en-US" altLang="zh-CN" sz="2800" b="1" i="1" dirty="0" smtClean="0"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altLang="zh-CN" sz="2800" b="1" dirty="0" smtClean="0">
                <a:latin typeface="Times New Roman" panose="02020603050405020304"/>
                <a:cs typeface="Times New Roman" panose="02020603050405020304"/>
              </a:rPr>
              <a:t>) =2(</a:t>
            </a:r>
            <a:r>
              <a:rPr lang="en-US" altLang="zh-CN" sz="2800" b="1" i="1" dirty="0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 smtClean="0">
                <a:latin typeface="Times New Roman" panose="02020603050405020304"/>
                <a:cs typeface="Times New Roman" panose="02020603050405020304"/>
              </a:rPr>
              <a:t>/2)log(</a:t>
            </a:r>
            <a:r>
              <a:rPr lang="en-US" altLang="zh-CN" sz="2800" b="1" i="1" dirty="0" smtClean="0">
                <a:latin typeface="Times New Roman" panose="02020603050405020304"/>
                <a:cs typeface="Times New Roman" panose="02020603050405020304"/>
              </a:rPr>
              <a:t>n/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2)</a:t>
            </a:r>
            <a:endParaRPr lang="en-US" altLang="zh-CN" sz="2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269453" y="4896852"/>
            <a:ext cx="1475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spc="-6" dirty="0" smtClean="0"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</a:t>
            </a:r>
            <a:r>
              <a:rPr lang="en-US" altLang="zh-CN" sz="2800" b="1" spc="-67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sz="2800" b="1" i="1" spc="-6" dirty="0" err="1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cn</a:t>
            </a:r>
            <a:r>
              <a:rPr lang="en-US" altLang="zh-CN" sz="2800" b="1" spc="-6" dirty="0" err="1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log</a:t>
            </a:r>
            <a:r>
              <a:rPr lang="en-US" altLang="zh-CN" sz="2800" b="1" i="1" spc="-6" dirty="0" err="1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endParaRPr lang="zh-CN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4111296" y="4863030"/>
            <a:ext cx="2337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sz="2800" b="1" i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(log</a:t>
            </a:r>
            <a:r>
              <a:rPr lang="en-US" altLang="zh-CN" sz="2800" b="1" i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z="2800" b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-log</a:t>
            </a:r>
            <a:r>
              <a:rPr lang="en-US" altLang="zh-CN" sz="2800" b="1" i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z="2800" b="1" dirty="0" smtClean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) 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 animBg="1"/>
      <p:bldP spid="16" grpId="0" animBg="1"/>
      <p:bldP spid="18" grpId="0"/>
      <p:bldP spid="19" grpId="0"/>
      <p:bldP spid="2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82638" y="15875"/>
            <a:ext cx="8361362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递归树求解</a:t>
            </a:r>
            <a:endParaRPr sz="4400" b="1" spc="-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" y="3"/>
            <a:ext cx="172211" cy="47751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0668" y="14225"/>
            <a:ext cx="187452" cy="497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" y="3"/>
            <a:ext cx="172211" cy="47751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0668" y="14225"/>
            <a:ext cx="187452" cy="497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" y="3"/>
            <a:ext cx="172211" cy="47751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8" name="object 8"/>
          <p:cNvSpPr/>
          <p:nvPr/>
        </p:nvSpPr>
        <p:spPr>
          <a:xfrm>
            <a:off x="10668" y="14225"/>
            <a:ext cx="187452" cy="497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13" name="object 13"/>
          <p:cNvSpPr/>
          <p:nvPr/>
        </p:nvSpPr>
        <p:spPr>
          <a:xfrm>
            <a:off x="1632678" y="2029915"/>
            <a:ext cx="1836457" cy="495537"/>
          </a:xfrm>
          <a:custGeom>
            <a:avLst/>
            <a:gdLst/>
            <a:ahLst/>
            <a:cxnLst/>
            <a:rect l="l" t="t" r="r" b="b"/>
            <a:pathLst>
              <a:path w="259080" h="220980">
                <a:moveTo>
                  <a:pt x="258699" y="0"/>
                </a:moveTo>
                <a:lnTo>
                  <a:pt x="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820173" y="2029915"/>
            <a:ext cx="1728876" cy="475787"/>
          </a:xfrm>
          <a:custGeom>
            <a:avLst/>
            <a:gdLst/>
            <a:ahLst/>
            <a:cxnLst/>
            <a:rect l="l" t="t" r="r" b="b"/>
            <a:pathLst>
              <a:path w="260350" h="220980">
                <a:moveTo>
                  <a:pt x="0" y="0"/>
                </a:moveTo>
                <a:lnTo>
                  <a:pt x="26035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 txBox="1"/>
          <p:nvPr/>
        </p:nvSpPr>
        <p:spPr>
          <a:xfrm>
            <a:off x="7680856" y="4465682"/>
            <a:ext cx="939800" cy="90823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>
              <a:spcBef>
                <a:spcPts val="120"/>
              </a:spcBef>
            </a:pPr>
            <a:r>
              <a:rPr sz="2900" spc="-6" dirty="0">
                <a:latin typeface="Arial" panose="020B0604020202020204"/>
                <a:cs typeface="Arial" panose="020B0604020202020204"/>
              </a:rPr>
              <a:t>………</a:t>
            </a:r>
            <a:endParaRPr sz="29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10"/>
          <p:cNvSpPr txBox="1"/>
          <p:nvPr/>
        </p:nvSpPr>
        <p:spPr>
          <a:xfrm>
            <a:off x="522417" y="1036584"/>
            <a:ext cx="8407424" cy="625397"/>
          </a:xfrm>
          <a:prstGeom prst="rect">
            <a:avLst/>
          </a:prstGeom>
        </p:spPr>
        <p:txBody>
          <a:bodyPr vert="horz" wrap="square" lIns="0" tIns="192629" rIns="0" bIns="0" rtlCol="0">
            <a:spAutoFit/>
          </a:bodyPr>
          <a:lstStyle/>
          <a:p>
            <a:pPr>
              <a:spcBef>
                <a:spcPts val="1515"/>
              </a:spcBef>
              <a:tabLst>
                <a:tab pos="929640" algn="l"/>
              </a:tabLst>
            </a:pP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求</a:t>
            </a:r>
            <a:r>
              <a:rPr sz="2800" b="1" spc="-12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解</a:t>
            </a:r>
            <a:r>
              <a:rPr sz="2800" b="1" spc="539" dirty="0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)=2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/2)+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00" b="1" dirty="0" err="1" smtClean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i="1" dirty="0" err="1" smtClean="0">
                <a:latin typeface="Times New Roman" panose="02020603050405020304"/>
                <a:cs typeface="Times New Roman" panose="02020603050405020304"/>
              </a:rPr>
              <a:t>n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051006" y="1644163"/>
                <a:ext cx="12859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𝒏</m:t>
                      </m:r>
                      <m:func>
                        <m:func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latin typeface="Cambria Math" panose="02040503050406030204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006" y="1644163"/>
                <a:ext cx="1285928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36" t="-32" r="40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718991" y="2387031"/>
                <a:ext cx="1994007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91" y="2387031"/>
                <a:ext cx="1994007" cy="806696"/>
              </a:xfrm>
              <a:prstGeom prst="rect">
                <a:avLst/>
              </a:prstGeom>
              <a:blipFill rotWithShape="1">
                <a:blip r:embed="rId4"/>
                <a:stretch>
                  <a:fillRect l="-9" t="-8" r="1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4382353" y="2384335"/>
                <a:ext cx="1994007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353" y="2384335"/>
                <a:ext cx="1994007" cy="806696"/>
              </a:xfrm>
              <a:prstGeom prst="rect">
                <a:avLst/>
              </a:prstGeom>
              <a:blipFill rotWithShape="1">
                <a:blip r:embed="rId4"/>
                <a:stretch>
                  <a:fillRect l="-11" t="-68" r="16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bject 13"/>
          <p:cNvSpPr/>
          <p:nvPr/>
        </p:nvSpPr>
        <p:spPr>
          <a:xfrm>
            <a:off x="771650" y="3258534"/>
            <a:ext cx="669884" cy="538939"/>
          </a:xfrm>
          <a:custGeom>
            <a:avLst/>
            <a:gdLst/>
            <a:ahLst/>
            <a:cxnLst/>
            <a:rect l="l" t="t" r="r" b="b"/>
            <a:pathLst>
              <a:path w="259080" h="220980">
                <a:moveTo>
                  <a:pt x="258699" y="0"/>
                </a:moveTo>
                <a:lnTo>
                  <a:pt x="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0" name="object 14"/>
          <p:cNvSpPr/>
          <p:nvPr/>
        </p:nvSpPr>
        <p:spPr>
          <a:xfrm>
            <a:off x="1783978" y="3252444"/>
            <a:ext cx="796818" cy="545028"/>
          </a:xfrm>
          <a:custGeom>
            <a:avLst/>
            <a:gdLst/>
            <a:ahLst/>
            <a:cxnLst/>
            <a:rect l="l" t="t" r="r" b="b"/>
            <a:pathLst>
              <a:path w="260350" h="220980">
                <a:moveTo>
                  <a:pt x="0" y="0"/>
                </a:moveTo>
                <a:lnTo>
                  <a:pt x="26035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10668" y="3806906"/>
                <a:ext cx="1994007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" y="3806906"/>
                <a:ext cx="1994007" cy="806696"/>
              </a:xfrm>
              <a:prstGeom prst="rect">
                <a:avLst/>
              </a:prstGeom>
              <a:blipFill rotWithShape="1">
                <a:blip r:embed="rId5"/>
                <a:stretch>
                  <a:fillRect l="-25" t="-10" r="31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1813437" y="3804211"/>
                <a:ext cx="1994007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437" y="3804211"/>
                <a:ext cx="1994007" cy="806696"/>
              </a:xfrm>
              <a:prstGeom prst="rect">
                <a:avLst/>
              </a:prstGeom>
              <a:blipFill rotWithShape="1">
                <a:blip r:embed="rId5"/>
                <a:stretch>
                  <a:fillRect l="-26" t="-70" r="31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bject 13"/>
          <p:cNvSpPr/>
          <p:nvPr/>
        </p:nvSpPr>
        <p:spPr>
          <a:xfrm>
            <a:off x="4456540" y="3248850"/>
            <a:ext cx="669884" cy="538939"/>
          </a:xfrm>
          <a:custGeom>
            <a:avLst/>
            <a:gdLst/>
            <a:ahLst/>
            <a:cxnLst/>
            <a:rect l="l" t="t" r="r" b="b"/>
            <a:pathLst>
              <a:path w="259080" h="220980">
                <a:moveTo>
                  <a:pt x="258699" y="0"/>
                </a:moveTo>
                <a:lnTo>
                  <a:pt x="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6" name="object 14"/>
          <p:cNvSpPr/>
          <p:nvPr/>
        </p:nvSpPr>
        <p:spPr>
          <a:xfrm>
            <a:off x="5468869" y="3242759"/>
            <a:ext cx="796818" cy="545028"/>
          </a:xfrm>
          <a:custGeom>
            <a:avLst/>
            <a:gdLst/>
            <a:ahLst/>
            <a:cxnLst/>
            <a:rect l="l" t="t" r="r" b="b"/>
            <a:pathLst>
              <a:path w="260350" h="220980">
                <a:moveTo>
                  <a:pt x="0" y="0"/>
                </a:moveTo>
                <a:lnTo>
                  <a:pt x="260350" y="2205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3756993" y="3797222"/>
                <a:ext cx="1994007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993" y="3797222"/>
                <a:ext cx="1994007" cy="806696"/>
              </a:xfrm>
              <a:prstGeom prst="rect">
                <a:avLst/>
              </a:prstGeom>
              <a:blipFill rotWithShape="1">
                <a:blip r:embed="rId5"/>
                <a:stretch>
                  <a:fillRect l="-17" t="-69" r="2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5498328" y="3794526"/>
                <a:ext cx="1994007" cy="8066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latin typeface="Cambria Math" panose="02040503050406030204"/>
                            </a:rPr>
                            <m:t>𝒏</m:t>
                          </m:r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/>
                                </a:rPr>
                                <m:t>𝟐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328" y="3794526"/>
                <a:ext cx="1994007" cy="806696"/>
              </a:xfrm>
              <a:prstGeom prst="rect">
                <a:avLst/>
              </a:prstGeom>
              <a:blipFill rotWithShape="1">
                <a:blip r:embed="rId5"/>
                <a:stretch>
                  <a:fillRect l="-25" t="-50" r="30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7209076" y="1639460"/>
                <a:ext cx="12859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𝒏</m:t>
                      </m:r>
                      <m:func>
                        <m:func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latin typeface="Cambria Math" panose="02040503050406030204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076" y="1639460"/>
                <a:ext cx="1285928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43" t="-114" r="47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7209076" y="2566909"/>
                <a:ext cx="20404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𝒏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>
                                  <a:latin typeface="Cambria Math" panose="02040503050406030204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 panose="02040503050406030204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076" y="2566909"/>
                <a:ext cx="2040495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27" t="-52" r="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7224320" y="3977100"/>
                <a:ext cx="20404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𝒏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>
                                  <a:latin typeface="Cambria Math" panose="02040503050406030204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 panose="02040503050406030204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𝟐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320" y="3977100"/>
                <a:ext cx="2040495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27" t="-21" r="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6758512" y="5447653"/>
                <a:ext cx="25941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𝒏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400" b="1" i="1">
                                  <a:latin typeface="Cambria Math" panose="02040503050406030204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>
                                  <a:latin typeface="Cambria Math" panose="02040503050406030204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en-US" altLang="zh-CN" sz="2400" b="1" i="1">
                                  <a:latin typeface="Cambria Math" panose="02040503050406030204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latin typeface="Cambria Math" panose="02040503050406030204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512" y="5447653"/>
                <a:ext cx="2594108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8" t="-135" r="1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bject 31"/>
          <p:cNvSpPr txBox="1"/>
          <p:nvPr/>
        </p:nvSpPr>
        <p:spPr>
          <a:xfrm>
            <a:off x="1452094" y="4757839"/>
            <a:ext cx="939800" cy="90823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 algn="ctr">
              <a:spcBef>
                <a:spcPts val="120"/>
              </a:spcBef>
            </a:pPr>
            <a:r>
              <a:rPr sz="2900" spc="-6" dirty="0">
                <a:latin typeface="Arial" panose="020B0604020202020204"/>
                <a:cs typeface="Arial" panose="020B0604020202020204"/>
              </a:rPr>
              <a:t>………</a:t>
            </a:r>
            <a:endParaRPr sz="29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object 31"/>
          <p:cNvSpPr txBox="1"/>
          <p:nvPr/>
        </p:nvSpPr>
        <p:spPr>
          <a:xfrm>
            <a:off x="4998968" y="4740207"/>
            <a:ext cx="939800" cy="908238"/>
          </a:xfrm>
          <a:prstGeom prst="rect">
            <a:avLst/>
          </a:prstGeom>
        </p:spPr>
        <p:txBody>
          <a:bodyPr vert="horz" wrap="square" lIns="0" tIns="15534" rIns="0" bIns="0" rtlCol="0">
            <a:spAutoFit/>
          </a:bodyPr>
          <a:lstStyle/>
          <a:p>
            <a:pPr marL="15240" algn="ctr">
              <a:spcBef>
                <a:spcPts val="120"/>
              </a:spcBef>
            </a:pPr>
            <a:r>
              <a:rPr sz="2900" spc="-6" dirty="0">
                <a:latin typeface="Arial" panose="020B0604020202020204"/>
                <a:cs typeface="Arial" panose="020B0604020202020204"/>
              </a:rPr>
              <a:t>………</a:t>
            </a:r>
            <a:endParaRPr sz="29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1" grpId="0"/>
      <p:bldP spid="33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4" grpId="0"/>
      <p:bldP spid="5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754063" y="14288"/>
            <a:ext cx="8389937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endParaRPr sz="4400" b="1" spc="-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" y="3"/>
            <a:ext cx="172211" cy="47751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4" name="object 4"/>
          <p:cNvSpPr/>
          <p:nvPr/>
        </p:nvSpPr>
        <p:spPr>
          <a:xfrm>
            <a:off x="10668" y="14225"/>
            <a:ext cx="187452" cy="497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5" name="object 5"/>
          <p:cNvSpPr/>
          <p:nvPr/>
        </p:nvSpPr>
        <p:spPr>
          <a:xfrm>
            <a:off x="1" y="3"/>
            <a:ext cx="172211" cy="47751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6" name="object 6"/>
          <p:cNvSpPr/>
          <p:nvPr/>
        </p:nvSpPr>
        <p:spPr>
          <a:xfrm>
            <a:off x="10668" y="14225"/>
            <a:ext cx="187452" cy="4978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7" name="object 7"/>
          <p:cNvSpPr/>
          <p:nvPr/>
        </p:nvSpPr>
        <p:spPr>
          <a:xfrm>
            <a:off x="1" y="3"/>
            <a:ext cx="172211" cy="47751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200"/>
          </a:p>
        </p:txBody>
      </p:sp>
      <p:sp>
        <p:nvSpPr>
          <p:cNvPr id="9" name="object 9"/>
          <p:cNvSpPr txBox="1"/>
          <p:nvPr/>
        </p:nvSpPr>
        <p:spPr>
          <a:xfrm>
            <a:off x="420643" y="1026137"/>
            <a:ext cx="8354767" cy="4449264"/>
          </a:xfrm>
          <a:prstGeom prst="rect">
            <a:avLst/>
          </a:prstGeom>
        </p:spPr>
        <p:txBody>
          <a:bodyPr vert="horz" wrap="square" lIns="0" tIns="139034" rIns="0" bIns="0" rtlCol="0">
            <a:spAutoFit/>
          </a:bodyPr>
          <a:lstStyle/>
          <a:p>
            <a:pPr marL="46355">
              <a:lnSpc>
                <a:spcPct val="150000"/>
              </a:lnSpc>
              <a:spcBef>
                <a:spcPts val="1095"/>
              </a:spcBef>
            </a:pPr>
            <a:r>
              <a:rPr sz="3200" b="1" i="1" spc="-147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200" b="1" i="1" spc="-5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49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spc="-49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49" dirty="0" smtClean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200" spc="-135" dirty="0" smtClean="0">
                <a:latin typeface="Symbol" panose="05050102010706020507"/>
                <a:cs typeface="Symbol" panose="05050102010706020507"/>
              </a:rPr>
              <a:t></a:t>
            </a:r>
            <a:r>
              <a:rPr sz="3200" spc="-5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3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48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8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3200" b="1" spc="-47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3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36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(log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spc="-4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spc="-13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200" b="1" spc="-37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(log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8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)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352425">
              <a:lnSpc>
                <a:spcPct val="150000"/>
              </a:lnSpc>
              <a:spcBef>
                <a:spcPts val="970"/>
              </a:spcBef>
            </a:pPr>
            <a:r>
              <a:rPr lang="en-US" sz="3200" spc="-135" dirty="0" smtClean="0">
                <a:latin typeface="Symbol" panose="05050102010706020507"/>
                <a:cs typeface="Symbol" panose="05050102010706020507"/>
              </a:rPr>
              <a:t>                       </a:t>
            </a:r>
            <a:r>
              <a:rPr sz="3200" spc="-135" dirty="0" smtClean="0">
                <a:latin typeface="Symbol" panose="05050102010706020507"/>
                <a:cs typeface="Symbol" panose="05050102010706020507"/>
              </a:rPr>
              <a:t></a:t>
            </a:r>
            <a:r>
              <a:rPr sz="3200" spc="-24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18" dirty="0">
                <a:latin typeface="Times New Roman" panose="02020603050405020304"/>
                <a:cs typeface="Times New Roman" panose="02020603050405020304"/>
              </a:rPr>
              <a:t>...</a:t>
            </a:r>
            <a:r>
              <a:rPr sz="3200" spc="18" dirty="0">
                <a:latin typeface="Symbol" panose="05050102010706020507"/>
                <a:cs typeface="Symbol" panose="05050102010706020507"/>
              </a:rPr>
              <a:t></a:t>
            </a:r>
            <a:r>
              <a:rPr sz="320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(log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22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i="1" spc="-1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solidFill>
                  <a:srgbClr val="0000FF"/>
                </a:solidFill>
                <a:latin typeface="Symbol" panose="05050102010706020507"/>
                <a:cs typeface="Symbol" panose="05050102010706020507"/>
              </a:rPr>
              <a:t></a:t>
            </a:r>
            <a:r>
              <a:rPr sz="3200" spc="-379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3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spc="-135" dirty="0">
                <a:latin typeface="Times New Roman" panose="02020603050405020304"/>
                <a:cs typeface="Times New Roman" panose="02020603050405020304"/>
              </a:rPr>
              <a:t>)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69850">
              <a:lnSpc>
                <a:spcPct val="150000"/>
              </a:lnSpc>
              <a:spcBef>
                <a:spcPts val="970"/>
              </a:spcBef>
            </a:pPr>
            <a:r>
              <a:rPr lang="en-US" sz="3200" spc="-135" dirty="0" smtClean="0">
                <a:latin typeface="Symbol" panose="05050102010706020507"/>
                <a:cs typeface="Symbol" panose="05050102010706020507"/>
              </a:rPr>
              <a:t>        </a:t>
            </a:r>
            <a:r>
              <a:rPr sz="3200" spc="-135" dirty="0" smtClean="0">
                <a:latin typeface="Symbol" panose="05050102010706020507"/>
                <a:cs typeface="Symbol" panose="05050102010706020507"/>
              </a:rPr>
              <a:t></a:t>
            </a:r>
            <a:r>
              <a:rPr sz="3200" spc="-153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spc="-5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48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8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3200" b="1" spc="-4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8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200" b="1" spc="-5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8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3200" b="1" spc="-46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36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spc="-23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53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153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u="heavy" spc="-153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u="heavy" spc="-465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</a:t>
            </a:r>
            <a:r>
              <a:rPr sz="3200" u="heavy" spc="-19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u="heavy" spc="-12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u="heavy" spc="-367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</a:t>
            </a:r>
            <a:r>
              <a:rPr sz="3200" u="heavy" spc="-239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u="heavy" spc="1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...</a:t>
            </a:r>
            <a:r>
              <a:rPr sz="3200" u="heavy" spc="1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</a:t>
            </a:r>
            <a:r>
              <a:rPr sz="3200" u="heavy" spc="-190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u="heavy" spc="-12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i="1" u="heavy" spc="-147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</a:t>
            </a:r>
            <a:r>
              <a:rPr sz="3200" u="heavy" spc="-422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u="heavy" spc="-135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b="1" u="heavy" spc="-135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)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69850">
              <a:lnSpc>
                <a:spcPct val="150000"/>
              </a:lnSpc>
              <a:spcBef>
                <a:spcPts val="1370"/>
              </a:spcBef>
            </a:pPr>
            <a:r>
              <a:rPr lang="en-US" sz="3200" spc="-135" dirty="0" smtClean="0">
                <a:latin typeface="Symbol" panose="05050102010706020507"/>
                <a:cs typeface="Symbol" panose="05050102010706020507"/>
              </a:rPr>
              <a:t>        </a:t>
            </a:r>
            <a:r>
              <a:rPr sz="3200" spc="-135" dirty="0" smtClean="0">
                <a:latin typeface="Symbol" panose="05050102010706020507"/>
                <a:cs typeface="Symbol" panose="05050102010706020507"/>
              </a:rPr>
              <a:t></a:t>
            </a:r>
            <a:r>
              <a:rPr sz="3200" spc="-5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3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48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spc="-82" baseline="43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320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13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35" dirty="0">
                <a:latin typeface="Symbol" panose="05050102010706020507"/>
                <a:cs typeface="Symbol" panose="05050102010706020507"/>
              </a:rPr>
              <a:t></a:t>
            </a:r>
            <a:r>
              <a:rPr sz="3200" spc="-23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49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u="heavy" spc="-49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u="heavy" spc="-49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u="heavy" spc="-49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200" b="1" i="1" u="heavy" spc="-139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u="heavy" spc="-135" dirty="0">
                <a:uFill>
                  <a:solidFill>
                    <a:srgbClr val="C00000"/>
                  </a:solidFill>
                </a:uFill>
                <a:latin typeface="Symbol" panose="05050102010706020507"/>
                <a:cs typeface="Symbol" panose="05050102010706020507"/>
              </a:rPr>
              <a:t></a:t>
            </a:r>
            <a:r>
              <a:rPr sz="3200" u="heavy" spc="-428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u="heavy" spc="12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1)/</a:t>
            </a:r>
            <a:r>
              <a:rPr sz="3200" b="1" u="heavy" spc="-257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u="heavy" spc="-122" dirty="0">
                <a:uFill>
                  <a:solidFill>
                    <a:srgbClr val="C00000"/>
                  </a:solidFill>
                </a:u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3200" b="1" spc="-183" dirty="0">
                <a:latin typeface="Times New Roman" panose="02020603050405020304"/>
                <a:cs typeface="Times New Roman" panose="02020603050405020304"/>
              </a:rPr>
              <a:t> </a:t>
            </a:r>
            <a:endParaRPr lang="en-US" sz="3200" b="1" spc="-183" dirty="0" smtClean="0">
              <a:latin typeface="Times New Roman" panose="02020603050405020304"/>
              <a:cs typeface="Times New Roman" panose="02020603050405020304"/>
            </a:endParaRPr>
          </a:p>
          <a:p>
            <a:pPr marL="69850">
              <a:lnSpc>
                <a:spcPct val="150000"/>
              </a:lnSpc>
              <a:spcBef>
                <a:spcPts val="1370"/>
              </a:spcBef>
            </a:pPr>
            <a:r>
              <a:rPr lang="en-US" sz="3200" spc="-135" dirty="0" smtClean="0">
                <a:latin typeface="Symbol" panose="05050102010706020507"/>
                <a:cs typeface="Symbol" panose="05050102010706020507"/>
              </a:rPr>
              <a:t>        </a:t>
            </a:r>
            <a:r>
              <a:rPr sz="3200" spc="-135" dirty="0" smtClean="0">
                <a:latin typeface="Symbol" panose="05050102010706020507"/>
                <a:cs typeface="Symbol" panose="05050102010706020507"/>
              </a:rPr>
              <a:t></a:t>
            </a:r>
            <a:r>
              <a:rPr sz="3200" spc="-153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8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200" b="1" spc="-8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200" b="1" i="1" spc="-8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i="1" spc="-48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800" b="1" spc="-82" baseline="43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800" b="1" spc="320" baseline="4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i="1" spc="-8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)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762066" y="2665582"/>
            <a:ext cx="2381934" cy="1927412"/>
            <a:chOff x="7464393" y="2853463"/>
            <a:chExt cx="2532459" cy="18212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464393" y="2853463"/>
                  <a:ext cx="2532459" cy="5097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  <m:sSup>
                          <m:sSupPr>
                            <m:ctrlP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US" altLang="zh-CN" sz="28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8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8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𝒌</m:t>
                            </m:r>
                          </m:sup>
                        </m:sSup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𝟏</m:t>
                        </m:r>
                      </m:oMath>
                    </m:oMathPara>
                  </a14:m>
                  <a:endParaRPr lang="zh-CN" altLang="en-US" sz="1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393" y="2853463"/>
                  <a:ext cx="2532459" cy="50972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7474121" y="3517530"/>
                  <a:ext cx="1547440" cy="5097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800" b="1" i="1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𝒌</m:t>
                            </m:r>
                          </m:sup>
                        </m:sSup>
                      </m:oMath>
                    </m:oMathPara>
                  </a14:m>
                  <a:endParaRPr lang="zh-CN" altLang="en-US" sz="1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121" y="3517530"/>
                  <a:ext cx="1547440" cy="50972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509788" y="4180295"/>
                  <a:ext cx="1982105" cy="49439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</m:ctrlPr>
                          </m:funcPr>
                          <m:fName>
                            <m:r>
                              <a:rPr lang="en-US" altLang="zh-CN" sz="2800" b="1" i="0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altLang="zh-CN" sz="2800" b="1" i="1" smtClean="0">
                                <a:solidFill>
                                  <a:srgbClr val="C00000"/>
                                </a:solidFill>
                                <a:latin typeface="Cambria Math" panose="02040503050406030204"/>
                              </a:rPr>
                              <m:t>𝒏</m:t>
                            </m:r>
                          </m:e>
                        </m:func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=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𝒌</m:t>
                        </m:r>
                      </m:oMath>
                    </m:oMathPara>
                  </a14:m>
                  <a:endParaRPr lang="zh-CN" altLang="en-US" sz="18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9788" y="4180295"/>
                  <a:ext cx="1982105" cy="494394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下箭头 12"/>
            <p:cNvSpPr/>
            <p:nvPr/>
          </p:nvSpPr>
          <p:spPr>
            <a:xfrm>
              <a:off x="8015591" y="3364922"/>
              <a:ext cx="204114" cy="2634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14" name="下箭头 13"/>
            <p:cNvSpPr/>
            <p:nvPr/>
          </p:nvSpPr>
          <p:spPr>
            <a:xfrm>
              <a:off x="8027022" y="3975168"/>
              <a:ext cx="204114" cy="26349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369" y="1076960"/>
            <a:ext cx="8354768" cy="1430818"/>
          </a:xfrm>
          <a:prstGeom prst="rect">
            <a:avLst/>
          </a:prstGeom>
        </p:spPr>
        <p:txBody>
          <a:bodyPr vert="horz" wrap="square" lIns="0" tIns="59032" rIns="0" bIns="0" rtlCol="0">
            <a:spAutoFit/>
          </a:bodyPr>
          <a:lstStyle/>
          <a:p>
            <a:pPr marL="457200" marR="6350" indent="-457200">
              <a:lnSpc>
                <a:spcPct val="150000"/>
              </a:lnSpc>
              <a:spcBef>
                <a:spcPts val="465"/>
              </a:spcBef>
              <a:buFont typeface="Wingdings" panose="05000000000000000000" pitchFamily="2" charset="2"/>
              <a:buChar char="l"/>
              <a:tabLst>
                <a:tab pos="433705" algn="l"/>
                <a:tab pos="434340" algn="l"/>
              </a:tabLst>
            </a:pPr>
            <a:r>
              <a:rPr sz="2800" b="1" spc="-6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使用主定理求解递推方程需要满足什么条件</a:t>
            </a:r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？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  <a:p>
            <a:pPr marL="457200" marR="6350" indent="-457200">
              <a:lnSpc>
                <a:spcPct val="150000"/>
              </a:lnSpc>
              <a:spcBef>
                <a:spcPts val="1365"/>
              </a:spcBef>
              <a:buFont typeface="Wingdings" panose="05000000000000000000" pitchFamily="2" charset="2"/>
              <a:buChar char="l"/>
              <a:tabLst>
                <a:tab pos="433705" algn="l"/>
                <a:tab pos="434340" algn="l"/>
              </a:tabLst>
            </a:pPr>
            <a:r>
              <a:rPr sz="2800" b="1" spc="-6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主定理怎样用于算法复杂度分析</a:t>
            </a:r>
            <a:r>
              <a:rPr sz="2800" b="1" spc="-6" dirty="0"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？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8372475" cy="692150"/>
          </a:xfrm>
          <a:prstGeom prst="rect">
            <a:avLst/>
          </a:prstGeom>
        </p:spPr>
        <p:txBody>
          <a:bodyPr vert="horz" wrap="square" lIns="0" tIns="14758" rIns="0" bIns="0" rtlCol="0" anchor="ctr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15"/>
              </a:spcBef>
            </a:pP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lang="en-US"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sz="4400" b="1" spc="-12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  <a:endParaRPr sz="4400" b="1" spc="-12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433*73"/>
  <p:tag name="TABLE_ENDDRAG_RECT" val="135*111*433*73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11053</Words>
  <Application>WPS 演示</Application>
  <PresentationFormat>全屏显示(4:3)</PresentationFormat>
  <Paragraphs>1008</Paragraphs>
  <Slides>78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104" baseType="lpstr">
      <vt:lpstr>Arial</vt:lpstr>
      <vt:lpstr>宋体</vt:lpstr>
      <vt:lpstr>Wingdings</vt:lpstr>
      <vt:lpstr>华文行楷</vt:lpstr>
      <vt:lpstr>微软雅黑</vt:lpstr>
      <vt:lpstr>Monotype Corsiva</vt:lpstr>
      <vt:lpstr>楷体_GB2312</vt:lpstr>
      <vt:lpstr>黑体</vt:lpstr>
      <vt:lpstr>Times New Roman</vt:lpstr>
      <vt:lpstr>Cambria Math</vt:lpstr>
      <vt:lpstr>Cambria Math</vt:lpstr>
      <vt:lpstr>Times New Roman</vt:lpstr>
      <vt:lpstr>Symbol</vt:lpstr>
      <vt:lpstr>Calibri</vt:lpstr>
      <vt:lpstr>Arial</vt:lpstr>
      <vt:lpstr>Mongolian Baiti</vt:lpstr>
      <vt:lpstr>Arial Unicode MS</vt:lpstr>
      <vt:lpstr>等线</vt:lpstr>
      <vt:lpstr>QPLIHV+ËÎÌå</vt:lpstr>
      <vt:lpstr>Segoe Print</vt:lpstr>
      <vt:lpstr>BMKVFN+Symbol</vt:lpstr>
      <vt:lpstr>QMCWBO+ËÎÌå</vt:lpstr>
      <vt:lpstr>新宋体</vt:lpstr>
      <vt:lpstr>Calibri Light</vt:lpstr>
      <vt:lpstr>Calibri</vt:lpstr>
      <vt:lpstr>1_Office 主题​​</vt:lpstr>
      <vt:lpstr>本周教学内容</vt:lpstr>
      <vt:lpstr>. 算法的数学基础</vt:lpstr>
      <vt:lpstr>序列求和的方法</vt:lpstr>
      <vt:lpstr>数列求和公式</vt:lpstr>
      <vt:lpstr>数列求和的例子</vt:lpstr>
      <vt:lpstr>PowerPoint 演示文稿</vt:lpstr>
      <vt:lpstr>二分检索运行实例</vt:lpstr>
      <vt:lpstr>2n+1个输入</vt:lpstr>
      <vt:lpstr>比较t次的输入个数</vt:lpstr>
      <vt:lpstr>二分检索平均时间复杂度</vt:lpstr>
      <vt:lpstr>估计和式上界的放大法</vt:lpstr>
      <vt:lpstr>放大法的例子</vt:lpstr>
      <vt:lpstr>估计和式渐近的界</vt:lpstr>
      <vt:lpstr>估计和式渐近的界</vt:lpstr>
      <vt:lpstr>小结</vt:lpstr>
      <vt:lpstr>递归方程与算法分析</vt:lpstr>
      <vt:lpstr>递推方程</vt:lpstr>
      <vt:lpstr>递推方程的例子</vt:lpstr>
      <vt:lpstr>Fibonacci数的存在</vt:lpstr>
      <vt:lpstr>Hanoi塔问题</vt:lpstr>
      <vt:lpstr>递归算法</vt:lpstr>
      <vt:lpstr>分析算法</vt:lpstr>
      <vt:lpstr>插入排序</vt:lpstr>
      <vt:lpstr>PowerPoint 演示文稿</vt:lpstr>
      <vt:lpstr>小 结</vt:lpstr>
      <vt:lpstr>迭代法求解  递推方程</vt:lpstr>
      <vt:lpstr>迭代法</vt:lpstr>
      <vt:lpstr>Hanoi 塔算法</vt:lpstr>
      <vt:lpstr>插入排序算法</vt:lpstr>
      <vt:lpstr>换元迭代</vt:lpstr>
      <vt:lpstr>二分归并排序</vt:lpstr>
      <vt:lpstr>换 元</vt:lpstr>
      <vt:lpstr>迭代求解</vt:lpstr>
      <vt:lpstr>解的正确性-归纳验证</vt:lpstr>
      <vt:lpstr>小 结</vt:lpstr>
      <vt:lpstr>差消法化简  高阶递推方程</vt:lpstr>
      <vt:lpstr>快速排序</vt:lpstr>
      <vt:lpstr>输入情况</vt:lpstr>
      <vt:lpstr>工作量总和</vt:lpstr>
      <vt:lpstr>快速排序平均工作量</vt:lpstr>
      <vt:lpstr>PowerPoint 演示文稿</vt:lpstr>
      <vt:lpstr>差消化简</vt:lpstr>
      <vt:lpstr>迭代求解</vt:lpstr>
      <vt:lpstr>小结</vt:lpstr>
      <vt:lpstr>PowerPoint 演示文稿</vt:lpstr>
      <vt:lpstr>递归树</vt:lpstr>
      <vt:lpstr>递归树的概念</vt:lpstr>
      <vt:lpstr>迭代在递归树中的表示</vt:lpstr>
      <vt:lpstr>二层子树的例子</vt:lpstr>
      <vt:lpstr>递归树的生成规则</vt:lpstr>
      <vt:lpstr>递归树生成实例</vt:lpstr>
      <vt:lpstr>递归树生成实例</vt:lpstr>
      <vt:lpstr>递归树</vt:lpstr>
      <vt:lpstr>对递归树上的量求和</vt:lpstr>
      <vt:lpstr>递归树应用实例</vt:lpstr>
      <vt:lpstr>求和</vt:lpstr>
      <vt:lpstr>小结</vt:lpstr>
      <vt:lpstr>主定理及其证明</vt:lpstr>
      <vt:lpstr>主定理的应用背景</vt:lpstr>
      <vt:lpstr>主定理</vt:lpstr>
      <vt:lpstr>迭代</vt:lpstr>
      <vt:lpstr>迭代结果</vt:lpstr>
      <vt:lpstr>Case1</vt:lpstr>
      <vt:lpstr>Case1(续)</vt:lpstr>
      <vt:lpstr>Case2</vt:lpstr>
      <vt:lpstr>Case3</vt:lpstr>
      <vt:lpstr>Case3(续)</vt:lpstr>
      <vt:lpstr>小结</vt:lpstr>
      <vt:lpstr>主定理的应用</vt:lpstr>
      <vt:lpstr>求解递推方程：例1</vt:lpstr>
      <vt:lpstr>求解递推方程：例2</vt:lpstr>
      <vt:lpstr>求解递推方程：例3</vt:lpstr>
      <vt:lpstr>条件验证</vt:lpstr>
      <vt:lpstr>递归算法分析</vt:lpstr>
      <vt:lpstr>不能使用主定理的例子</vt:lpstr>
      <vt:lpstr>递归树求解</vt:lpstr>
      <vt:lpstr>求 和</vt:lpstr>
      <vt:lpstr>小 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S</cp:lastModifiedBy>
  <cp:revision>29</cp:revision>
  <dcterms:created xsi:type="dcterms:W3CDTF">2019-06-18T13:40:00Z</dcterms:created>
  <dcterms:modified xsi:type="dcterms:W3CDTF">2022-03-07T13:54:02Z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0AEBCA627249445DB2C45ADAF2D15AD8</vt:lpwstr>
  </property>
  <property fmtid="{D5CDD505-2E9C-101B-9397-08002B2CF9AE}" pid="3" name="KSOProductBuildVer">
    <vt:lpwstr>2052-11.1.0.11365</vt:lpwstr>
  </property>
</Properties>
</file>