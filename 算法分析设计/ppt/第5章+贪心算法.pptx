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43"/>
  </p:notesMasterIdLst>
  <p:sldIdLst>
    <p:sldId id="257" r:id="rId3"/>
    <p:sldId id="25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0" r:id="rId13"/>
    <p:sldId id="281" r:id="rId14"/>
    <p:sldId id="282" r:id="rId15"/>
    <p:sldId id="283" r:id="rId16"/>
    <p:sldId id="284" r:id="rId17"/>
    <p:sldId id="285" r:id="rId18"/>
    <p:sldId id="287" r:id="rId19"/>
    <p:sldId id="288" r:id="rId20"/>
    <p:sldId id="290" r:id="rId21"/>
    <p:sldId id="289" r:id="rId22"/>
    <p:sldId id="291" r:id="rId23"/>
    <p:sldId id="292" r:id="rId24"/>
    <p:sldId id="293" r:id="rId25"/>
    <p:sldId id="294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258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90" y="2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61307-1AAD-4152-8E4E-6983C6887987}" type="datetimeFigureOut">
              <a:rPr lang="zh-CN" altLang="en-US" smtClean="0"/>
              <a:t>2019/5/22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EBF5B-3DA1-45B3-9D80-8C6DD314B8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26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A08E5-8769-484F-A1C1-FF7F58C4BC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845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6B0C2227-A30F-4605-9EAA-2E0B0C82478F}" type="datetime1">
              <a:rPr lang="zh-CN" altLang="en-US" smtClean="0"/>
              <a:t>2019/5/22</a:t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AB83F64E-642C-4361-A984-213450EF1A3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80882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6B0C2227-A30F-4605-9EAA-2E0B0C82478F}" type="datetime1">
              <a:rPr lang="zh-CN" altLang="en-US" smtClean="0"/>
              <a:t>2019/5/22</a:t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AB83F64E-642C-4361-A984-213450EF1A3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50302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867550EB-0EF3-4427-B85D-BFD34C12D457}" type="datetime1">
              <a:rPr lang="zh-CN" altLang="en-US" smtClean="0"/>
              <a:t>2019/5/22</a:t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AB83F64E-642C-4361-A984-213450EF1A3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18057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/>
            </a:lvl1pPr>
          </a:lstStyle>
          <a:p>
            <a:fld id="{1BD687D1-D925-45FB-BD11-1A15B22470BE}" type="datetime1">
              <a:rPr lang="zh-CN" altLang="en-US" smtClean="0"/>
              <a:t>2019/5/22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fld id="{38B6C1F8-11CD-4249-A6B6-D494F507029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158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D5D7-EC7A-4AB1-9780-084257269FA5}" type="datetime1">
              <a:rPr lang="zh-CN" altLang="en-US" smtClean="0"/>
              <a:t>2019/5/22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6C1F8-11CD-4249-A6B6-D494F507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2163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5AE7E-86B4-492E-9560-930A61DC7366}" type="datetime1">
              <a:rPr lang="zh-CN" altLang="en-US" smtClean="0"/>
              <a:t>2019/5/22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6C1F8-11CD-4249-A6B6-D494F507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9776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85E31-995A-4A05-BB52-9FC808AF8D9B}" type="datetime1">
              <a:rPr lang="zh-CN" altLang="en-US" smtClean="0"/>
              <a:t>2019/5/22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6C1F8-11CD-4249-A6B6-D494F507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2304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0F3DE-54DC-4958-8CE5-1CCDDD910EC5}" type="datetime1">
              <a:rPr lang="zh-CN" altLang="en-US" smtClean="0"/>
              <a:t>2019/5/22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6C1F8-11CD-4249-A6B6-D494F507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964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F8B47-AA9E-4B06-B16F-2B6A0A013FFD}" type="datetime1">
              <a:rPr lang="zh-CN" altLang="en-US" smtClean="0"/>
              <a:t>2019/5/22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6C1F8-11CD-4249-A6B6-D494F507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343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8A016-BE25-41F9-853E-34FEB80326BF}" type="datetime1">
              <a:rPr lang="zh-CN" altLang="en-US" smtClean="0"/>
              <a:t>2019/5/22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6C1F8-11CD-4249-A6B6-D494F507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868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B9702-9859-40CF-BF68-C42483582DB1}" type="datetime1">
              <a:rPr lang="zh-CN" altLang="en-US" smtClean="0"/>
              <a:t>2019/5/22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6C1F8-11CD-4249-A6B6-D494F507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461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64490-6FAA-4F1A-BE4F-45533E65FF1A}" type="datetime1">
              <a:rPr lang="zh-CN" altLang="en-US" smtClean="0"/>
              <a:t>2019/5/22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6C1F8-11CD-4249-A6B6-D494F507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039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BED90-03F6-4063-8B3C-E18F44CC3734}" type="datetime1">
              <a:rPr lang="zh-CN" altLang="en-US" smtClean="0"/>
              <a:t>2019/5/22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6C1F8-11CD-4249-A6B6-D494F507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0672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567B8-EB51-4529-AF15-7E0EB9F304C0}" type="datetime1">
              <a:rPr lang="zh-CN" altLang="en-US" smtClean="0"/>
              <a:t>2019/5/22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6C1F8-11CD-4249-A6B6-D494F50702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748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649441" y="845538"/>
            <a:ext cx="9886116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2333" y="1"/>
            <a:ext cx="1789251" cy="105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948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B1BE7-B532-4DB0-BB06-A6CF91F83C62}" type="datetime1">
              <a:rPr lang="zh-CN" altLang="en-US" smtClean="0"/>
              <a:pPr/>
              <a:t>2019/5/22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6C1F8-11CD-4249-A6B6-D494F507029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70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microsoft.com/office/2007/relationships/hdphoto" Target="../media/hdphoto1.wd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_淘宝网chenying0907出品 21"/>
          <p:cNvSpPr txBox="1"/>
          <p:nvPr>
            <p:custDataLst>
              <p:tags r:id="rId1"/>
            </p:custDataLst>
          </p:nvPr>
        </p:nvSpPr>
        <p:spPr>
          <a:xfrm>
            <a:off x="551383" y="2087837"/>
            <a:ext cx="68931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40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算法分析与设计</a:t>
            </a:r>
            <a:r>
              <a:rPr lang="en-US" altLang="zh-CN" sz="40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》</a:t>
            </a:r>
          </a:p>
          <a:p>
            <a:pPr algn="ctr"/>
            <a:r>
              <a:rPr lang="en-US" altLang="zh-CN" sz="40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40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贪心算法</a:t>
            </a:r>
            <a:endParaRPr lang="en-US" altLang="zh-CN" sz="4000" b="1" dirty="0" smtClean="0">
              <a:solidFill>
                <a:schemeClr val="accent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PA_淘宝网chenying0907出品 3"/>
          <p:cNvSpPr/>
          <p:nvPr>
            <p:custDataLst>
              <p:tags r:id="rId2"/>
            </p:custDataLst>
          </p:nvPr>
        </p:nvSpPr>
        <p:spPr>
          <a:xfrm>
            <a:off x="551384" y="1772817"/>
            <a:ext cx="311085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A_淘宝网chenying0907出品 4"/>
          <p:cNvSpPr/>
          <p:nvPr>
            <p:custDataLst>
              <p:tags r:id="rId3"/>
            </p:custDataLst>
          </p:nvPr>
        </p:nvSpPr>
        <p:spPr>
          <a:xfrm>
            <a:off x="7170741" y="1772817"/>
            <a:ext cx="311085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PA_淘宝网chenying0907出品 7"/>
          <p:cNvSpPr/>
          <p:nvPr>
            <p:custDataLst>
              <p:tags r:id="rId4"/>
            </p:custDataLst>
          </p:nvPr>
        </p:nvSpPr>
        <p:spPr>
          <a:xfrm>
            <a:off x="7464154" y="2319198"/>
            <a:ext cx="386499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9"/>
          <p:cNvCxnSpPr/>
          <p:nvPr>
            <p:custDataLst>
              <p:tags r:id="rId5"/>
            </p:custDataLst>
          </p:nvPr>
        </p:nvCxnSpPr>
        <p:spPr>
          <a:xfrm>
            <a:off x="7170741" y="4318053"/>
            <a:ext cx="4397867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A_淘宝网chenying0907出品 10"/>
          <p:cNvSpPr/>
          <p:nvPr>
            <p:custDataLst>
              <p:tags r:id="rId6"/>
            </p:custDataLst>
          </p:nvPr>
        </p:nvSpPr>
        <p:spPr>
          <a:xfrm>
            <a:off x="7869503" y="2391198"/>
            <a:ext cx="386499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PA_淘宝网chenying0907出品 11"/>
          <p:cNvSpPr/>
          <p:nvPr>
            <p:custDataLst>
              <p:tags r:id="rId7"/>
            </p:custDataLst>
          </p:nvPr>
        </p:nvSpPr>
        <p:spPr>
          <a:xfrm>
            <a:off x="8282862" y="2391198"/>
            <a:ext cx="386499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A_淘宝网chenying0907出品 12"/>
          <p:cNvSpPr/>
          <p:nvPr>
            <p:custDataLst>
              <p:tags r:id="rId8"/>
            </p:custDataLst>
          </p:nvPr>
        </p:nvSpPr>
        <p:spPr>
          <a:xfrm>
            <a:off x="8688946" y="2427198"/>
            <a:ext cx="386499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PA_淘宝网chenying0907出品 13"/>
          <p:cNvSpPr/>
          <p:nvPr>
            <p:custDataLst>
              <p:tags r:id="rId9"/>
            </p:custDataLst>
          </p:nvPr>
        </p:nvSpPr>
        <p:spPr>
          <a:xfrm>
            <a:off x="9114615" y="2463198"/>
            <a:ext cx="386499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PA_淘宝网chenying0907出品 14"/>
          <p:cNvSpPr/>
          <p:nvPr>
            <p:custDataLst>
              <p:tags r:id="rId10"/>
            </p:custDataLst>
          </p:nvPr>
        </p:nvSpPr>
        <p:spPr>
          <a:xfrm>
            <a:off x="9537208" y="2499198"/>
            <a:ext cx="386499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PA_淘宝网chenying0907出品 15"/>
          <p:cNvSpPr/>
          <p:nvPr>
            <p:custDataLst>
              <p:tags r:id="rId11"/>
            </p:custDataLst>
          </p:nvPr>
        </p:nvSpPr>
        <p:spPr>
          <a:xfrm rot="20959521">
            <a:off x="10080404" y="2550354"/>
            <a:ext cx="386499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PA_淘宝网chenying0907出品 16"/>
          <p:cNvSpPr/>
          <p:nvPr>
            <p:custDataLst>
              <p:tags r:id="rId12"/>
            </p:custDataLst>
          </p:nvPr>
        </p:nvSpPr>
        <p:spPr>
          <a:xfrm rot="19779136">
            <a:off x="10760962" y="2591950"/>
            <a:ext cx="386499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PA_直接连接符 17"/>
          <p:cNvCxnSpPr/>
          <p:nvPr>
            <p:custDataLst>
              <p:tags r:id="rId13"/>
            </p:custDataLst>
          </p:nvPr>
        </p:nvCxnSpPr>
        <p:spPr>
          <a:xfrm>
            <a:off x="898724" y="4305353"/>
            <a:ext cx="6264696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9"/>
          <p:cNvCxnSpPr/>
          <p:nvPr>
            <p:custDataLst>
              <p:tags r:id="rId14"/>
            </p:custDataLst>
          </p:nvPr>
        </p:nvCxnSpPr>
        <p:spPr>
          <a:xfrm>
            <a:off x="839416" y="1772817"/>
            <a:ext cx="642023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A_直接连接符 20"/>
          <p:cNvCxnSpPr/>
          <p:nvPr>
            <p:custDataLst>
              <p:tags r:id="rId15"/>
            </p:custDataLst>
          </p:nvPr>
        </p:nvCxnSpPr>
        <p:spPr>
          <a:xfrm flipV="1">
            <a:off x="767408" y="3573016"/>
            <a:ext cx="6446139" cy="11318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A_淘宝网chenying0907出品 22"/>
          <p:cNvSpPr txBox="1"/>
          <p:nvPr>
            <p:custDataLst>
              <p:tags r:id="rId16"/>
            </p:custDataLst>
          </p:nvPr>
        </p:nvSpPr>
        <p:spPr>
          <a:xfrm>
            <a:off x="1146298" y="3762400"/>
            <a:ext cx="5093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试讲人：李志勇</a:t>
            </a:r>
          </a:p>
        </p:txBody>
      </p:sp>
      <p:pic>
        <p:nvPicPr>
          <p:cNvPr id="28" name="Picture 2" descr="https://xxgc.sicau.edu.cn/dfiles/14355/wp-content/uploads/2017/04/logo.png"/>
          <p:cNvPicPr>
            <a:picLocks noChangeAspect="1" noChangeArrowheads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harpenSoften amoun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606" y="10099"/>
            <a:ext cx="4286250" cy="819151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551384" y="5003884"/>
            <a:ext cx="109164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算法设计与分析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》(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版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，屈婉玲、刘田、张立昂、王捍贫，</a:t>
            </a: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清华大学出版社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C6765-BE6E-4593-A223-F2D7034B6D81}" type="datetime1">
              <a:rPr lang="zh-CN" altLang="en-US" smtClean="0"/>
              <a:t>2019/5/22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6C1F8-11CD-4249-A6B6-D494F5070295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26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200"/>
                            </p:stCondLst>
                            <p:childTnLst>
                              <p:par>
                                <p:cTn id="8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5" grpId="0" animBg="1"/>
      <p:bldP spid="5" grpId="1" animBg="1"/>
      <p:bldP spid="6" grpId="0" animBg="1"/>
      <p:bldP spid="7" grpId="0" animBg="1"/>
      <p:bldP spid="9" grpId="0" animBg="1"/>
      <p:bldP spid="10" grpId="0" bldLvl="0" animBg="1"/>
      <p:bldP spid="11" grpId="0" bldLvl="0" animBg="1"/>
      <p:bldP spid="12" grpId="0" animBg="1"/>
      <p:bldP spid="13" grpId="0" animBg="1"/>
      <p:bldP spid="14" grpId="0" animBg="1"/>
      <p:bldP spid="15" grpId="0" animBg="1"/>
      <p:bldP spid="20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3"/>
          <p:cNvSpPr/>
          <p:nvPr/>
        </p:nvSpPr>
        <p:spPr>
          <a:xfrm>
            <a:off x="3807529" y="1140213"/>
            <a:ext cx="438912" cy="210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4"/>
          <p:cNvSpPr/>
          <p:nvPr/>
        </p:nvSpPr>
        <p:spPr>
          <a:xfrm>
            <a:off x="3833437" y="1164598"/>
            <a:ext cx="437388" cy="211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5"/>
          <p:cNvSpPr txBox="1"/>
          <p:nvPr/>
        </p:nvSpPr>
        <p:spPr>
          <a:xfrm>
            <a:off x="4100900" y="1183902"/>
            <a:ext cx="49530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latin typeface="Times New Roman"/>
                <a:cs typeface="Times New Roman"/>
              </a:rPr>
              <a:t>.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1" name="object 8"/>
          <p:cNvSpPr/>
          <p:nvPr/>
        </p:nvSpPr>
        <p:spPr>
          <a:xfrm>
            <a:off x="3720661" y="5117782"/>
            <a:ext cx="4782207" cy="686458"/>
          </a:xfrm>
          <a:custGeom>
            <a:avLst/>
            <a:gdLst/>
            <a:ahLst/>
            <a:cxnLst/>
            <a:rect l="l" t="t" r="r" b="b"/>
            <a:pathLst>
              <a:path w="4572000" h="631825">
                <a:moveTo>
                  <a:pt x="0" y="105308"/>
                </a:moveTo>
                <a:lnTo>
                  <a:pt x="8274" y="64304"/>
                </a:lnTo>
                <a:lnTo>
                  <a:pt x="30841" y="30832"/>
                </a:lnTo>
                <a:lnTo>
                  <a:pt x="64315" y="8271"/>
                </a:lnTo>
                <a:lnTo>
                  <a:pt x="105308" y="0"/>
                </a:lnTo>
                <a:lnTo>
                  <a:pt x="4466717" y="0"/>
                </a:lnTo>
                <a:lnTo>
                  <a:pt x="4507706" y="8271"/>
                </a:lnTo>
                <a:lnTo>
                  <a:pt x="4541170" y="30832"/>
                </a:lnTo>
                <a:lnTo>
                  <a:pt x="4563729" y="64304"/>
                </a:lnTo>
                <a:lnTo>
                  <a:pt x="4572000" y="105308"/>
                </a:lnTo>
                <a:lnTo>
                  <a:pt x="4572000" y="526516"/>
                </a:lnTo>
                <a:lnTo>
                  <a:pt x="4563729" y="567509"/>
                </a:lnTo>
                <a:lnTo>
                  <a:pt x="4541170" y="600983"/>
                </a:lnTo>
                <a:lnTo>
                  <a:pt x="4507706" y="623550"/>
                </a:lnTo>
                <a:lnTo>
                  <a:pt x="4466717" y="631825"/>
                </a:lnTo>
                <a:lnTo>
                  <a:pt x="105308" y="631825"/>
                </a:lnTo>
                <a:lnTo>
                  <a:pt x="64315" y="623550"/>
                </a:lnTo>
                <a:lnTo>
                  <a:pt x="30841" y="600983"/>
                </a:lnTo>
                <a:lnTo>
                  <a:pt x="8274" y="567509"/>
                </a:lnTo>
                <a:lnTo>
                  <a:pt x="0" y="526516"/>
                </a:lnTo>
                <a:lnTo>
                  <a:pt x="0" y="105308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8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bject 9"/>
          <p:cNvSpPr txBox="1"/>
          <p:nvPr/>
        </p:nvSpPr>
        <p:spPr>
          <a:xfrm>
            <a:off x="3773214" y="5236614"/>
            <a:ext cx="479271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贪心法的例子：活动选择问题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object 12"/>
          <p:cNvSpPr txBox="1">
            <a:spLocks/>
          </p:cNvSpPr>
          <p:nvPr/>
        </p:nvSpPr>
        <p:spPr>
          <a:xfrm>
            <a:off x="2046761" y="318481"/>
            <a:ext cx="8029902" cy="935513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pc="-10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贪心法的设计要素</a:t>
            </a:r>
            <a:endParaRPr lang="zh-CN" altLang="en-US" spc="-1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object 14"/>
          <p:cNvSpPr txBox="1"/>
          <p:nvPr/>
        </p:nvSpPr>
        <p:spPr>
          <a:xfrm>
            <a:off x="6350372" y="3340702"/>
            <a:ext cx="2257600" cy="131561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R="5080" algn="ctr">
              <a:lnSpc>
                <a:spcPct val="97900"/>
              </a:lnSpc>
              <a:spcBef>
                <a:spcPts val="155"/>
              </a:spcBef>
            </a:pPr>
            <a:r>
              <a:rPr sz="2800" b="1" spc="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贪心法证明:交换论证</a:t>
            </a:r>
            <a:endParaRPr sz="2800" b="1" spc="5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5080" algn="ctr">
              <a:lnSpc>
                <a:spcPct val="97900"/>
              </a:lnSpc>
              <a:spcBef>
                <a:spcPts val="155"/>
              </a:spcBef>
            </a:pPr>
            <a:r>
              <a:rPr sz="2800" b="1" spc="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最小延迟调度</a:t>
            </a:r>
            <a:endParaRPr sz="2800" b="1" spc="5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object 15"/>
          <p:cNvSpPr/>
          <p:nvPr/>
        </p:nvSpPr>
        <p:spPr>
          <a:xfrm>
            <a:off x="3331779" y="1652699"/>
            <a:ext cx="5276193" cy="1218503"/>
          </a:xfrm>
          <a:custGeom>
            <a:avLst/>
            <a:gdLst/>
            <a:ahLst/>
            <a:cxnLst/>
            <a:rect l="l" t="t" r="r" b="b"/>
            <a:pathLst>
              <a:path w="4572000" h="762000">
                <a:moveTo>
                  <a:pt x="0" y="127000"/>
                </a:moveTo>
                <a:lnTo>
                  <a:pt x="9980" y="77581"/>
                </a:lnTo>
                <a:lnTo>
                  <a:pt x="37196" y="37211"/>
                </a:lnTo>
                <a:lnTo>
                  <a:pt x="77565" y="9985"/>
                </a:lnTo>
                <a:lnTo>
                  <a:pt x="127000" y="0"/>
                </a:lnTo>
                <a:lnTo>
                  <a:pt x="4445000" y="0"/>
                </a:lnTo>
                <a:lnTo>
                  <a:pt x="4494418" y="9985"/>
                </a:lnTo>
                <a:lnTo>
                  <a:pt x="4534789" y="37211"/>
                </a:lnTo>
                <a:lnTo>
                  <a:pt x="4562014" y="77581"/>
                </a:lnTo>
                <a:lnTo>
                  <a:pt x="4572000" y="127000"/>
                </a:lnTo>
                <a:lnTo>
                  <a:pt x="4572000" y="635000"/>
                </a:lnTo>
                <a:lnTo>
                  <a:pt x="4562014" y="684418"/>
                </a:lnTo>
                <a:lnTo>
                  <a:pt x="4534789" y="724789"/>
                </a:lnTo>
                <a:lnTo>
                  <a:pt x="4494418" y="752014"/>
                </a:lnTo>
                <a:lnTo>
                  <a:pt x="4445000" y="762000"/>
                </a:lnTo>
                <a:lnTo>
                  <a:pt x="127000" y="762000"/>
                </a:lnTo>
                <a:lnTo>
                  <a:pt x="77565" y="752014"/>
                </a:lnTo>
                <a:lnTo>
                  <a:pt x="37196" y="724788"/>
                </a:lnTo>
                <a:lnTo>
                  <a:pt x="9980" y="684418"/>
                </a:lnTo>
                <a:lnTo>
                  <a:pt x="0" y="635000"/>
                </a:lnTo>
                <a:lnTo>
                  <a:pt x="0" y="1270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8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object 16"/>
          <p:cNvSpPr txBox="1"/>
          <p:nvPr/>
        </p:nvSpPr>
        <p:spPr>
          <a:xfrm>
            <a:off x="3553809" y="1801661"/>
            <a:ext cx="4938549" cy="8880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27635" algn="ctr">
              <a:lnSpc>
                <a:spcPct val="100000"/>
              </a:lnSpc>
              <a:spcBef>
                <a:spcPts val="105"/>
              </a:spcBef>
            </a:pP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得不到最优解的处理：  </a:t>
            </a:r>
            <a:endParaRPr lang="en-US" sz="2800" b="1" spc="5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2700" marR="5080" indent="127635" algn="ctr">
              <a:lnSpc>
                <a:spcPct val="100000"/>
              </a:lnSpc>
              <a:spcBef>
                <a:spcPts val="105"/>
              </a:spcBef>
            </a:pP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找零钱问题的参数化分析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object 18"/>
          <p:cNvSpPr txBox="1"/>
          <p:nvPr/>
        </p:nvSpPr>
        <p:spPr>
          <a:xfrm>
            <a:off x="3310427" y="3366045"/>
            <a:ext cx="2015922" cy="1286763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R="5080" algn="ctr">
              <a:lnSpc>
                <a:spcPct val="97900"/>
              </a:lnSpc>
              <a:spcBef>
                <a:spcPts val="155"/>
              </a:spcBef>
            </a:pP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贪心法证明</a:t>
            </a: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按规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模归纳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装载问题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object 10"/>
          <p:cNvSpPr/>
          <p:nvPr/>
        </p:nvSpPr>
        <p:spPr>
          <a:xfrm>
            <a:off x="3307988" y="3100166"/>
            <a:ext cx="1963369" cy="1823445"/>
          </a:xfrm>
          <a:custGeom>
            <a:avLst/>
            <a:gdLst/>
            <a:ahLst/>
            <a:cxnLst/>
            <a:rect l="l" t="t" r="r" b="b"/>
            <a:pathLst>
              <a:path w="1524000" h="1600200">
                <a:moveTo>
                  <a:pt x="0" y="254000"/>
                </a:moveTo>
                <a:lnTo>
                  <a:pt x="4092" y="208328"/>
                </a:lnTo>
                <a:lnTo>
                  <a:pt x="15890" y="165349"/>
                </a:lnTo>
                <a:lnTo>
                  <a:pt x="34677" y="125777"/>
                </a:lnTo>
                <a:lnTo>
                  <a:pt x="59736" y="90328"/>
                </a:lnTo>
                <a:lnTo>
                  <a:pt x="90349" y="59719"/>
                </a:lnTo>
                <a:lnTo>
                  <a:pt x="125799" y="34666"/>
                </a:lnTo>
                <a:lnTo>
                  <a:pt x="165369" y="15884"/>
                </a:lnTo>
                <a:lnTo>
                  <a:pt x="208342" y="4090"/>
                </a:lnTo>
                <a:lnTo>
                  <a:pt x="254000" y="0"/>
                </a:lnTo>
                <a:lnTo>
                  <a:pt x="1270000" y="0"/>
                </a:lnTo>
                <a:lnTo>
                  <a:pt x="1315671" y="4090"/>
                </a:lnTo>
                <a:lnTo>
                  <a:pt x="1358650" y="15884"/>
                </a:lnTo>
                <a:lnTo>
                  <a:pt x="1398222" y="34666"/>
                </a:lnTo>
                <a:lnTo>
                  <a:pt x="1433671" y="59719"/>
                </a:lnTo>
                <a:lnTo>
                  <a:pt x="1464280" y="90328"/>
                </a:lnTo>
                <a:lnTo>
                  <a:pt x="1489333" y="125777"/>
                </a:lnTo>
                <a:lnTo>
                  <a:pt x="1508115" y="165349"/>
                </a:lnTo>
                <a:lnTo>
                  <a:pt x="1519909" y="208328"/>
                </a:lnTo>
                <a:lnTo>
                  <a:pt x="1524000" y="254000"/>
                </a:lnTo>
                <a:lnTo>
                  <a:pt x="1524000" y="1346200"/>
                </a:lnTo>
                <a:lnTo>
                  <a:pt x="1519909" y="1391871"/>
                </a:lnTo>
                <a:lnTo>
                  <a:pt x="1508115" y="1434850"/>
                </a:lnTo>
                <a:lnTo>
                  <a:pt x="1489333" y="1474422"/>
                </a:lnTo>
                <a:lnTo>
                  <a:pt x="1464280" y="1509871"/>
                </a:lnTo>
                <a:lnTo>
                  <a:pt x="1433671" y="1540480"/>
                </a:lnTo>
                <a:lnTo>
                  <a:pt x="1398222" y="1565533"/>
                </a:lnTo>
                <a:lnTo>
                  <a:pt x="1358650" y="1584315"/>
                </a:lnTo>
                <a:lnTo>
                  <a:pt x="1315671" y="1596109"/>
                </a:lnTo>
                <a:lnTo>
                  <a:pt x="1270000" y="1600200"/>
                </a:lnTo>
                <a:lnTo>
                  <a:pt x="254000" y="1600200"/>
                </a:lnTo>
                <a:lnTo>
                  <a:pt x="208342" y="1596109"/>
                </a:lnTo>
                <a:lnTo>
                  <a:pt x="165369" y="1584315"/>
                </a:lnTo>
                <a:lnTo>
                  <a:pt x="125799" y="1565533"/>
                </a:lnTo>
                <a:lnTo>
                  <a:pt x="90349" y="1540480"/>
                </a:lnTo>
                <a:lnTo>
                  <a:pt x="59736" y="1509871"/>
                </a:lnTo>
                <a:lnTo>
                  <a:pt x="34677" y="1474422"/>
                </a:lnTo>
                <a:lnTo>
                  <a:pt x="15890" y="1434850"/>
                </a:lnTo>
                <a:lnTo>
                  <a:pt x="4092" y="1391871"/>
                </a:lnTo>
                <a:lnTo>
                  <a:pt x="0" y="1346200"/>
                </a:lnTo>
                <a:lnTo>
                  <a:pt x="0" y="2540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8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object 10"/>
          <p:cNvSpPr/>
          <p:nvPr/>
        </p:nvSpPr>
        <p:spPr>
          <a:xfrm>
            <a:off x="6319158" y="3112955"/>
            <a:ext cx="2288814" cy="1823445"/>
          </a:xfrm>
          <a:custGeom>
            <a:avLst/>
            <a:gdLst/>
            <a:ahLst/>
            <a:cxnLst/>
            <a:rect l="l" t="t" r="r" b="b"/>
            <a:pathLst>
              <a:path w="1524000" h="1600200">
                <a:moveTo>
                  <a:pt x="0" y="254000"/>
                </a:moveTo>
                <a:lnTo>
                  <a:pt x="4092" y="208328"/>
                </a:lnTo>
                <a:lnTo>
                  <a:pt x="15890" y="165349"/>
                </a:lnTo>
                <a:lnTo>
                  <a:pt x="34677" y="125777"/>
                </a:lnTo>
                <a:lnTo>
                  <a:pt x="59736" y="90328"/>
                </a:lnTo>
                <a:lnTo>
                  <a:pt x="90349" y="59719"/>
                </a:lnTo>
                <a:lnTo>
                  <a:pt x="125799" y="34666"/>
                </a:lnTo>
                <a:lnTo>
                  <a:pt x="165369" y="15884"/>
                </a:lnTo>
                <a:lnTo>
                  <a:pt x="208342" y="4090"/>
                </a:lnTo>
                <a:lnTo>
                  <a:pt x="254000" y="0"/>
                </a:lnTo>
                <a:lnTo>
                  <a:pt x="1270000" y="0"/>
                </a:lnTo>
                <a:lnTo>
                  <a:pt x="1315671" y="4090"/>
                </a:lnTo>
                <a:lnTo>
                  <a:pt x="1358650" y="15884"/>
                </a:lnTo>
                <a:lnTo>
                  <a:pt x="1398222" y="34666"/>
                </a:lnTo>
                <a:lnTo>
                  <a:pt x="1433671" y="59719"/>
                </a:lnTo>
                <a:lnTo>
                  <a:pt x="1464280" y="90328"/>
                </a:lnTo>
                <a:lnTo>
                  <a:pt x="1489333" y="125777"/>
                </a:lnTo>
                <a:lnTo>
                  <a:pt x="1508115" y="165349"/>
                </a:lnTo>
                <a:lnTo>
                  <a:pt x="1519909" y="208328"/>
                </a:lnTo>
                <a:lnTo>
                  <a:pt x="1524000" y="254000"/>
                </a:lnTo>
                <a:lnTo>
                  <a:pt x="1524000" y="1346200"/>
                </a:lnTo>
                <a:lnTo>
                  <a:pt x="1519909" y="1391871"/>
                </a:lnTo>
                <a:lnTo>
                  <a:pt x="1508115" y="1434850"/>
                </a:lnTo>
                <a:lnTo>
                  <a:pt x="1489333" y="1474422"/>
                </a:lnTo>
                <a:lnTo>
                  <a:pt x="1464280" y="1509871"/>
                </a:lnTo>
                <a:lnTo>
                  <a:pt x="1433671" y="1540480"/>
                </a:lnTo>
                <a:lnTo>
                  <a:pt x="1398222" y="1565533"/>
                </a:lnTo>
                <a:lnTo>
                  <a:pt x="1358650" y="1584315"/>
                </a:lnTo>
                <a:lnTo>
                  <a:pt x="1315671" y="1596109"/>
                </a:lnTo>
                <a:lnTo>
                  <a:pt x="1270000" y="1600200"/>
                </a:lnTo>
                <a:lnTo>
                  <a:pt x="254000" y="1600200"/>
                </a:lnTo>
                <a:lnTo>
                  <a:pt x="208342" y="1596109"/>
                </a:lnTo>
                <a:lnTo>
                  <a:pt x="165369" y="1584315"/>
                </a:lnTo>
                <a:lnTo>
                  <a:pt x="125799" y="1565533"/>
                </a:lnTo>
                <a:lnTo>
                  <a:pt x="90349" y="1540480"/>
                </a:lnTo>
                <a:lnTo>
                  <a:pt x="59736" y="1509871"/>
                </a:lnTo>
                <a:lnTo>
                  <a:pt x="34677" y="1474422"/>
                </a:lnTo>
                <a:lnTo>
                  <a:pt x="15890" y="1434850"/>
                </a:lnTo>
                <a:lnTo>
                  <a:pt x="4092" y="1391871"/>
                </a:lnTo>
                <a:lnTo>
                  <a:pt x="0" y="1346200"/>
                </a:lnTo>
                <a:lnTo>
                  <a:pt x="0" y="254000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 sz="28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6C1F8-11CD-4249-A6B6-D494F5070295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59EF-ADB7-40A4-872A-42BA627B3280}" type="datetime1">
              <a:rPr lang="zh-CN" altLang="en-US" smtClean="0"/>
              <a:t>2019/5/22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98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27" grpId="0"/>
      <p:bldP spid="28" grpId="0" animBg="1"/>
      <p:bldP spid="29" grpId="0"/>
      <p:bldP spid="31" grpId="0"/>
      <p:bldP spid="32" grpId="0" animBg="1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 noGrp="1"/>
          </p:cNvSpPr>
          <p:nvPr>
            <p:ph type="title" idx="4294967295"/>
          </p:nvPr>
        </p:nvSpPr>
        <p:spPr>
          <a:xfrm>
            <a:off x="2144110" y="1994054"/>
            <a:ext cx="8776138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0"/>
              </a:spcBef>
            </a:pPr>
            <a:r>
              <a:rPr sz="6600" b="1" spc="-15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贪心</a:t>
            </a:r>
            <a:r>
              <a:rPr sz="6600" b="1" spc="5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</a:t>
            </a:r>
            <a:r>
              <a:rPr sz="6600" b="1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的例子</a:t>
            </a:r>
            <a:r>
              <a:rPr sz="66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sz="66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sz="66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sz="6600" b="1" spc="-15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活动</a:t>
            </a:r>
            <a:r>
              <a:rPr sz="6600" b="1" spc="5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</a:t>
            </a:r>
            <a:r>
              <a:rPr sz="6600" b="1" spc="-5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择问</a:t>
            </a:r>
            <a:r>
              <a:rPr sz="6600" b="1" spc="-25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题</a:t>
            </a:r>
            <a:endParaRPr sz="66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6C1F8-11CD-4249-A6B6-D494F5070295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00A3-11C4-489F-86DD-7DB8F1CA5CB7}" type="datetime1">
              <a:rPr lang="zh-CN" altLang="en-US" smtClean="0"/>
              <a:t>2019/5/22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15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2441985" y="105513"/>
            <a:ext cx="741449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活动选择问</a:t>
            </a:r>
            <a:r>
              <a:rPr sz="4000" b="1" spc="-1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题</a:t>
            </a:r>
          </a:p>
        </p:txBody>
      </p:sp>
      <p:graphicFrame>
        <p:nvGraphicFramePr>
          <p:cNvPr id="5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501222"/>
              </p:ext>
            </p:extLst>
          </p:nvPr>
        </p:nvGraphicFramePr>
        <p:xfrm>
          <a:off x="2297759" y="4308318"/>
          <a:ext cx="5892727" cy="13411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5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58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58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51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58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58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58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583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7968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349"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b="1" i="1" baseline="-21367" dirty="0">
                          <a:latin typeface="Times New Roman"/>
                          <a:cs typeface="Times New Roman"/>
                        </a:rPr>
                        <a:t>i</a:t>
                      </a:r>
                      <a:endParaRPr sz="2800" baseline="-21367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707"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b="1" i="1" baseline="-21367" dirty="0">
                          <a:latin typeface="Times New Roman"/>
                          <a:cs typeface="Times New Roman"/>
                        </a:rPr>
                        <a:t>i</a:t>
                      </a:r>
                      <a:endParaRPr sz="2800" baseline="-21367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800" b="1" spc="-55" dirty="0">
                          <a:latin typeface="Times New Roman"/>
                          <a:cs typeface="Times New Roman"/>
                        </a:rPr>
                        <a:t>11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12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13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/>
              <p:cNvSpPr txBox="1"/>
              <p:nvPr/>
            </p:nvSpPr>
            <p:spPr>
              <a:xfrm>
                <a:off x="645459" y="866479"/>
                <a:ext cx="10875981" cy="267021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5400" marR="17780" algn="just">
                  <a:lnSpc>
                    <a:spcPct val="150000"/>
                  </a:lnSpc>
                  <a:spcBef>
                    <a:spcPts val="100"/>
                  </a:spcBef>
                </a:pPr>
                <a:r>
                  <a:rPr sz="2800" b="1" spc="-5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输入</a:t>
                </a:r>
                <a:r>
                  <a:rPr sz="2800" b="1" spc="-5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:r>
                  <a:rPr sz="2800" b="1" i="1" spc="-5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sz="2800" b="1" i="1" spc="5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</a:t>
                </a:r>
                <a:r>
                  <a:rPr sz="2800" b="1" spc="-2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{1,</a:t>
                </a:r>
                <a:r>
                  <a:rPr sz="2800" b="1" spc="-5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2,</a:t>
                </a:r>
                <a:r>
                  <a:rPr sz="2800" b="1" spc="-15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…</a:t>
                </a:r>
                <a:r>
                  <a:rPr sz="2800" b="1" spc="-1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sz="2800" b="1" spc="-1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i="1" spc="-5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sz="2800" b="1" spc="-5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}</a:t>
                </a:r>
                <a:r>
                  <a:rPr sz="2800" b="1" spc="-5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为</a:t>
                </a:r>
                <a:r>
                  <a:rPr lang="en-US" sz="2800" b="1" spc="-5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i="1" spc="-5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sz="2800" b="1" i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spc="-5" dirty="0" err="1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项活动</a:t>
                </a:r>
                <a:r>
                  <a:rPr sz="2800" b="1" spc="-10" dirty="0" err="1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</a:t>
                </a:r>
                <a:r>
                  <a:rPr sz="2800" b="1" spc="-5" dirty="0" err="1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集合</a:t>
                </a:r>
                <a:r>
                  <a:rPr sz="2800" b="1" spc="-10" dirty="0" err="1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sz="2800" b="1" i="1" dirty="0" err="1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sz="2800" b="1" i="1" baseline="-20833" dirty="0" err="1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sz="2800" b="1" i="1" baseline="-20833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sz="2800" b="1" spc="575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i="1" spc="-5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f</a:t>
                </a:r>
                <a:r>
                  <a:rPr sz="2800" b="1" i="1" spc="-7" baseline="-20833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  </a:t>
                </a:r>
                <a:r>
                  <a:rPr sz="2800" b="1" spc="-5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分别为活</a:t>
                </a:r>
                <a:r>
                  <a:rPr sz="2800" b="1" spc="-1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动</a:t>
                </a:r>
                <a:r>
                  <a:rPr sz="2800" b="1" spc="-585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i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sz="2800" b="1" i="1" spc="-15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spc="-5" dirty="0" err="1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的开始</a:t>
                </a:r>
                <a:r>
                  <a:rPr sz="2800" b="1" spc="-10" dirty="0" err="1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:r>
                  <a:rPr sz="2800" b="1" spc="-5" dirty="0" err="1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结束时间</a:t>
                </a:r>
                <a:r>
                  <a:rPr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sz="28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06400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2800" b="1" spc="-5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                       </a:t>
                </a:r>
                <a:r>
                  <a:rPr sz="2800" b="1" spc="-5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活</a:t>
                </a:r>
                <a:r>
                  <a:rPr sz="2800" b="1" spc="-10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动</a:t>
                </a:r>
                <a:r>
                  <a:rPr sz="2800" b="1" spc="-605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sz="2800" b="1" spc="-605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i="1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sz="2800" b="1" i="1" spc="-1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spc="-1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:r>
                  <a:rPr sz="2800" b="1" spc="-605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sz="2800" b="1" spc="-605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j</a:t>
                </a:r>
                <a:r>
                  <a:rPr sz="2800" b="1" i="1" spc="-15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spc="-5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相</a:t>
                </a:r>
                <a:r>
                  <a:rPr sz="2800" b="1" spc="-10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容</a:t>
                </a:r>
                <a:r>
                  <a:rPr lang="en-US" sz="2800" b="1" spc="-1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spc="-6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i="1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sz="2800" b="1" i="1" baseline="-20833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sz="2800" b="1" i="1" spc="7" baseline="-20833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spc="-5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US" sz="2800" b="1" spc="-5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i="1" spc="-5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f</a:t>
                </a:r>
                <a:r>
                  <a:rPr sz="2800" b="1" i="1" spc="-7" baseline="-20833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j</a:t>
                </a:r>
                <a:r>
                  <a:rPr sz="2800" b="1" i="1" spc="577" baseline="-20833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spc="-1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或</a:t>
                </a:r>
                <a:r>
                  <a:rPr lang="en-US" sz="2800" b="1" spc="-1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spc="-61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i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sz="2800" b="1" i="1" baseline="-20833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j</a:t>
                </a:r>
                <a:r>
                  <a:rPr sz="2800" b="1" i="1" baseline="-20833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pc="-5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US" sz="2800" b="1" spc="-5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i="1" spc="-5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f</a:t>
                </a:r>
                <a:r>
                  <a:rPr sz="2800" b="1" i="1" spc="-7" baseline="-20833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sz="2800" b="1" i="1" spc="-15" baseline="-20833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sz="28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25400" algn="just"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800" b="1" spc="-5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求</a:t>
                </a:r>
                <a:r>
                  <a:rPr sz="2800" b="1" spc="-5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：最大</a:t>
                </a:r>
                <a:r>
                  <a:rPr sz="2800" b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</a:t>
                </a:r>
                <a:r>
                  <a:rPr sz="2800" b="1" spc="5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两</a:t>
                </a:r>
                <a:r>
                  <a:rPr sz="2800" b="1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两相容的活动</a:t>
                </a:r>
                <a:r>
                  <a:rPr sz="2800" b="1" spc="-10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集</a:t>
                </a:r>
                <a:r>
                  <a:rPr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sz="2800" b="1" i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A</a:t>
                </a:r>
                <a:endParaRPr sz="28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59" y="866479"/>
                <a:ext cx="10875981" cy="2670218"/>
              </a:xfrm>
              <a:prstGeom prst="rect">
                <a:avLst/>
              </a:prstGeom>
              <a:blipFill rotWithShape="1">
                <a:blip r:embed="rId2"/>
                <a:stretch>
                  <a:fillRect l="-1794" r="-1794" b="-75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6"/>
          <p:cNvSpPr txBox="1"/>
          <p:nvPr/>
        </p:nvSpPr>
        <p:spPr>
          <a:xfrm>
            <a:off x="2241813" y="5827334"/>
            <a:ext cx="405238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解：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{1,</a:t>
            </a:r>
            <a:r>
              <a:rPr sz="2800" b="1" spc="-25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4,</a:t>
            </a:r>
            <a:r>
              <a:rPr sz="2800" b="1" spc="-40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8}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Times New Roman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8EF0378-F7F3-4662-92AF-977C077905B8}" type="datetime1">
              <a:rPr lang="zh-CN" altLang="en-US" smtClean="0"/>
              <a:t>2019/5/22</a:t>
            </a:fld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59759" y="3643613"/>
            <a:ext cx="20098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400">
              <a:lnSpc>
                <a:spcPct val="100000"/>
              </a:lnSpc>
              <a:spcBef>
                <a:spcPts val="1445"/>
              </a:spcBef>
            </a:pPr>
            <a:r>
              <a:rPr lang="zh-CN" altLang="en-US"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输入实例</a:t>
            </a:r>
            <a:r>
              <a:rPr lang="zh-CN" altLang="en-US" sz="2800" b="1" spc="-1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42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5155684" y="94853"/>
            <a:ext cx="307391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贪心算</a:t>
            </a:r>
            <a:r>
              <a:rPr lang="zh-CN" altLang="en-US" sz="4000" b="1" spc="-1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6654" y="1116561"/>
            <a:ext cx="10874786" cy="5117106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R="163830" algn="just">
              <a:lnSpc>
                <a:spcPct val="150000"/>
              </a:lnSpc>
            </a:pPr>
            <a:r>
              <a:rPr sz="2800" b="1" spc="-5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挑</a:t>
            </a:r>
            <a:r>
              <a:rPr lang="zh-CN" altLang="en-US" sz="2800" b="1" spc="-5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选过程是多步判断，每步依据某种“短视”的策略进行活动选择，选择时注意满足相容性条件</a:t>
            </a:r>
            <a:r>
              <a:rPr lang="en-US" altLang="zh-CN" sz="2800" b="1" spc="-5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.</a:t>
            </a:r>
          </a:p>
          <a:p>
            <a:pPr marL="50800" marR="163830" algn="just">
              <a:lnSpc>
                <a:spcPct val="96800"/>
              </a:lnSpc>
              <a:spcBef>
                <a:spcPts val="190"/>
              </a:spcBef>
            </a:pPr>
            <a:endParaRPr lang="en-US" sz="2400" b="1" spc="-5" dirty="0" smtClean="0">
              <a:latin typeface="宋体"/>
              <a:cs typeface="宋体"/>
            </a:endParaRPr>
          </a:p>
          <a:p>
            <a:pPr marL="50800" marR="163830" algn="just">
              <a:lnSpc>
                <a:spcPct val="96800"/>
              </a:lnSpc>
              <a:spcBef>
                <a:spcPts val="190"/>
              </a:spcBef>
            </a:pPr>
            <a:r>
              <a:rPr sz="2800" b="1" spc="-5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策略</a:t>
            </a:r>
            <a:r>
              <a:rPr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：开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始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间早的优先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b="1" spc="-5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      </a:t>
            </a:r>
            <a:r>
              <a:rPr sz="2800" b="1" spc="-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排序</a:t>
            </a:r>
            <a:r>
              <a:rPr sz="2800" b="1" spc="-1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使</a:t>
            </a:r>
            <a:r>
              <a:rPr sz="2800" b="1" spc="-615" dirty="0" smtClean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i="1" spc="-5" dirty="0">
                <a:latin typeface="Times New Roman"/>
                <a:cs typeface="Times New Roman"/>
              </a:rPr>
              <a:t>s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5" dirty="0">
                <a:latin typeface="Times New Roman"/>
                <a:cs typeface="Times New Roman"/>
              </a:rPr>
              <a:t>…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i="1" spc="-5" dirty="0">
                <a:latin typeface="Times New Roman"/>
                <a:cs typeface="Times New Roman"/>
              </a:rPr>
              <a:t>s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宋体"/>
                <a:cs typeface="宋体"/>
              </a:rPr>
              <a:t>，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从前向后挑</a:t>
            </a:r>
            <a:r>
              <a:rPr sz="2800" b="1" spc="-10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选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50800" algn="just">
              <a:lnSpc>
                <a:spcPct val="100000"/>
              </a:lnSpc>
              <a:spcBef>
                <a:spcPts val="840"/>
              </a:spcBef>
            </a:pPr>
            <a:r>
              <a:rPr sz="28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策略</a:t>
            </a:r>
            <a:r>
              <a:rPr sz="28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：占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用</a:t>
            </a:r>
            <a:r>
              <a:rPr sz="28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时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间少的优先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R="55244" algn="just">
              <a:lnSpc>
                <a:spcPct val="150000"/>
              </a:lnSpc>
            </a:pPr>
            <a:r>
              <a:rPr lang="en-US" sz="2800" b="1" spc="-5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      </a:t>
            </a:r>
            <a:r>
              <a:rPr sz="2800" b="1" spc="-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排序使</a:t>
            </a:r>
            <a:r>
              <a:rPr sz="2800" b="1" spc="-1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得</a:t>
            </a:r>
            <a:r>
              <a:rPr sz="2800" b="1" spc="-600" dirty="0" smtClean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宋体"/>
                <a:cs typeface="宋体"/>
              </a:rPr>
              <a:t>－</a:t>
            </a:r>
            <a:r>
              <a:rPr sz="2800" b="1" i="1" spc="-5" dirty="0">
                <a:latin typeface="Times New Roman"/>
                <a:cs typeface="Times New Roman"/>
              </a:rPr>
              <a:t>s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宋体"/>
                <a:cs typeface="宋体"/>
              </a:rPr>
              <a:t>－</a:t>
            </a:r>
            <a:r>
              <a:rPr sz="2800" b="1" i="1" spc="-5" dirty="0">
                <a:latin typeface="Times New Roman"/>
                <a:cs typeface="Times New Roman"/>
              </a:rPr>
              <a:t>s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5" dirty="0">
                <a:latin typeface="Times New Roman"/>
                <a:cs typeface="Times New Roman"/>
              </a:rPr>
              <a:t>…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宋体"/>
                <a:cs typeface="宋体"/>
              </a:rPr>
              <a:t>－</a:t>
            </a:r>
            <a:r>
              <a:rPr sz="2800" b="1" i="1" spc="-5" dirty="0">
                <a:latin typeface="Times New Roman"/>
                <a:cs typeface="Times New Roman"/>
              </a:rPr>
              <a:t>s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宋体"/>
                <a:cs typeface="宋体"/>
              </a:rPr>
              <a:t>，  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从前向后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挑</a:t>
            </a:r>
            <a:r>
              <a:rPr sz="2800" b="1" spc="-10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选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50800" algn="just">
              <a:lnSpc>
                <a:spcPts val="2855"/>
              </a:lnSpc>
              <a:spcBef>
                <a:spcPts val="960"/>
              </a:spcBef>
            </a:pPr>
            <a:r>
              <a:rPr sz="28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策略</a:t>
            </a:r>
            <a:r>
              <a:rPr sz="28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3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：结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束</a:t>
            </a:r>
            <a:r>
              <a:rPr sz="28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早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的优先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algn="just">
              <a:lnSpc>
                <a:spcPct val="150000"/>
              </a:lnSpc>
            </a:pPr>
            <a:r>
              <a:rPr lang="en-US" sz="2800" b="1" spc="-5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      </a:t>
            </a:r>
            <a:r>
              <a:rPr sz="2800" b="1" spc="-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排序</a:t>
            </a:r>
            <a:r>
              <a:rPr sz="2800" b="1" spc="-1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使</a:t>
            </a:r>
            <a:r>
              <a:rPr sz="2800" b="1" spc="-35" dirty="0" smtClean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5" dirty="0">
                <a:latin typeface="Times New Roman"/>
                <a:cs typeface="Times New Roman"/>
              </a:rPr>
              <a:t>…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宋体"/>
                <a:cs typeface="宋体"/>
              </a:rPr>
              <a:t>，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从前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向后挑</a:t>
            </a:r>
            <a:r>
              <a:rPr sz="2800" b="1" spc="-10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选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23EBA99-B619-40D4-8540-A25A1EC35301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348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4656623" y="93218"/>
            <a:ext cx="519448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策略</a:t>
            </a:r>
            <a:r>
              <a:rPr lang="en-US" altLang="zh-CN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的反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37497" y="4002343"/>
            <a:ext cx="1138559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5" dirty="0">
                <a:latin typeface="宋体"/>
                <a:cs typeface="宋体"/>
              </a:rPr>
              <a:t>活动</a:t>
            </a:r>
            <a:r>
              <a:rPr sz="2400" b="1" spc="-5" dirty="0">
                <a:latin typeface="Times New Roman"/>
                <a:cs typeface="Times New Roman"/>
              </a:rPr>
              <a:t>2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45898" y="4002343"/>
            <a:ext cx="1081678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5" dirty="0">
                <a:latin typeface="宋体"/>
                <a:cs typeface="宋体"/>
              </a:rPr>
              <a:t>活动</a:t>
            </a:r>
            <a:r>
              <a:rPr sz="2400" b="1" spc="-5" dirty="0">
                <a:latin typeface="Times New Roman"/>
                <a:cs typeface="Times New Roman"/>
              </a:rPr>
              <a:t>3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98934" y="4230844"/>
            <a:ext cx="963094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5" dirty="0">
                <a:solidFill>
                  <a:srgbClr val="C00000"/>
                </a:solidFill>
                <a:latin typeface="宋体"/>
                <a:cs typeface="宋体"/>
              </a:rPr>
              <a:t>活动</a:t>
            </a:r>
            <a:r>
              <a:rPr sz="2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endParaRPr sz="2000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72550" y="4653790"/>
            <a:ext cx="4786630" cy="0"/>
          </a:xfrm>
          <a:custGeom>
            <a:avLst/>
            <a:gdLst/>
            <a:ahLst/>
            <a:cxnLst/>
            <a:rect l="l" t="t" r="r" b="b"/>
            <a:pathLst>
              <a:path w="4786630">
                <a:moveTo>
                  <a:pt x="0" y="0"/>
                </a:moveTo>
                <a:lnTo>
                  <a:pt x="4786122" y="0"/>
                </a:lnTo>
              </a:path>
            </a:pathLst>
          </a:custGeom>
          <a:ln w="762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72930" y="4958970"/>
            <a:ext cx="5469890" cy="0"/>
          </a:xfrm>
          <a:custGeom>
            <a:avLst/>
            <a:gdLst/>
            <a:ahLst/>
            <a:cxnLst/>
            <a:rect l="l" t="t" r="r" b="b"/>
            <a:pathLst>
              <a:path w="5469890">
                <a:moveTo>
                  <a:pt x="0" y="0"/>
                </a:moveTo>
                <a:lnTo>
                  <a:pt x="5469636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72930" y="4249548"/>
            <a:ext cx="1270" cy="720090"/>
          </a:xfrm>
          <a:custGeom>
            <a:avLst/>
            <a:gdLst/>
            <a:ahLst/>
            <a:cxnLst/>
            <a:rect l="l" t="t" r="r" b="b"/>
            <a:pathLst>
              <a:path w="1270" h="720089">
                <a:moveTo>
                  <a:pt x="0" y="0"/>
                </a:moveTo>
                <a:lnTo>
                  <a:pt x="762" y="72009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59052" y="4850767"/>
            <a:ext cx="1270" cy="108585"/>
          </a:xfrm>
          <a:custGeom>
            <a:avLst/>
            <a:gdLst/>
            <a:ahLst/>
            <a:cxnLst/>
            <a:rect l="l" t="t" r="r" b="b"/>
            <a:pathLst>
              <a:path w="1270" h="108585">
                <a:moveTo>
                  <a:pt x="380" y="-12572"/>
                </a:moveTo>
                <a:lnTo>
                  <a:pt x="380" y="120777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69271" y="4850767"/>
            <a:ext cx="1270" cy="108585"/>
          </a:xfrm>
          <a:custGeom>
            <a:avLst/>
            <a:gdLst/>
            <a:ahLst/>
            <a:cxnLst/>
            <a:rect l="l" t="t" r="r" b="b"/>
            <a:pathLst>
              <a:path w="1269" h="108585">
                <a:moveTo>
                  <a:pt x="381" y="-12572"/>
                </a:moveTo>
                <a:lnTo>
                  <a:pt x="381" y="120777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85757" y="4850767"/>
            <a:ext cx="1270" cy="108585"/>
          </a:xfrm>
          <a:custGeom>
            <a:avLst/>
            <a:gdLst/>
            <a:ahLst/>
            <a:cxnLst/>
            <a:rect l="l" t="t" r="r" b="b"/>
            <a:pathLst>
              <a:path w="1269" h="108585">
                <a:moveTo>
                  <a:pt x="381" y="-12572"/>
                </a:moveTo>
                <a:lnTo>
                  <a:pt x="381" y="120777"/>
                </a:lnTo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52022" y="4850767"/>
            <a:ext cx="1905" cy="108585"/>
          </a:xfrm>
          <a:custGeom>
            <a:avLst/>
            <a:gdLst/>
            <a:ahLst/>
            <a:cxnLst/>
            <a:rect l="l" t="t" r="r" b="b"/>
            <a:pathLst>
              <a:path w="1905" h="108585">
                <a:moveTo>
                  <a:pt x="762" y="-12572"/>
                </a:moveTo>
                <a:lnTo>
                  <a:pt x="762" y="120777"/>
                </a:lnTo>
              </a:path>
            </a:pathLst>
          </a:custGeom>
          <a:ln w="266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62713" y="4850767"/>
            <a:ext cx="1270" cy="108585"/>
          </a:xfrm>
          <a:custGeom>
            <a:avLst/>
            <a:gdLst/>
            <a:ahLst/>
            <a:cxnLst/>
            <a:rect l="l" t="t" r="r" b="b"/>
            <a:pathLst>
              <a:path w="1270" h="108585">
                <a:moveTo>
                  <a:pt x="381" y="-12572"/>
                </a:moveTo>
                <a:lnTo>
                  <a:pt x="381" y="120777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759828" y="5049900"/>
            <a:ext cx="2006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1155065" algn="l"/>
                <a:tab pos="1840864" algn="l"/>
              </a:tabLst>
            </a:pPr>
            <a:r>
              <a:rPr sz="2400" b="1" dirty="0">
                <a:latin typeface="Times New Roman"/>
                <a:cs typeface="Times New Roman"/>
              </a:rPr>
              <a:t>0	2	5	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88828" y="5049900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31828" y="5049900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20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78518" y="4401568"/>
            <a:ext cx="695960" cy="0"/>
          </a:xfrm>
          <a:custGeom>
            <a:avLst/>
            <a:gdLst/>
            <a:ahLst/>
            <a:cxnLst/>
            <a:rect l="l" t="t" r="r" b="b"/>
            <a:pathLst>
              <a:path w="695960">
                <a:moveTo>
                  <a:pt x="0" y="0"/>
                </a:moveTo>
                <a:lnTo>
                  <a:pt x="695706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59262" y="4401568"/>
            <a:ext cx="1690370" cy="0"/>
          </a:xfrm>
          <a:custGeom>
            <a:avLst/>
            <a:gdLst/>
            <a:ahLst/>
            <a:cxnLst/>
            <a:rect l="l" t="t" r="r" b="b"/>
            <a:pathLst>
              <a:path w="1690370">
                <a:moveTo>
                  <a:pt x="0" y="0"/>
                </a:moveTo>
                <a:lnTo>
                  <a:pt x="1690116" y="0"/>
                </a:lnTo>
              </a:path>
            </a:pathLst>
          </a:custGeom>
          <a:ln w="762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72661" y="1139604"/>
            <a:ext cx="10867697" cy="2598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策略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1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：</a:t>
            </a:r>
            <a:r>
              <a:rPr sz="2800" b="1" spc="-5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开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始</a:t>
            </a:r>
            <a:r>
              <a:rPr sz="2800" b="1" spc="5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早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的优先</a:t>
            </a:r>
            <a:endParaRPr 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>
              <a:lnSpc>
                <a:spcPct val="150000"/>
              </a:lnSpc>
            </a:pPr>
            <a:endParaRPr sz="2800" b="1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>
              <a:lnSpc>
                <a:spcPct val="150000"/>
              </a:lnSpc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反例</a:t>
            </a:r>
            <a:r>
              <a:rPr sz="2400" b="1" spc="-5" dirty="0">
                <a:latin typeface="宋体"/>
                <a:cs typeface="宋体"/>
              </a:rPr>
              <a:t>：</a:t>
            </a:r>
            <a:r>
              <a:rPr sz="2800" b="1" i="1" spc="-5" dirty="0">
                <a:latin typeface="Times New Roman"/>
                <a:cs typeface="Times New Roman"/>
              </a:rPr>
              <a:t>S</a:t>
            </a:r>
            <a:r>
              <a:rPr sz="2800" b="1" i="1" spc="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={1,2,3</a:t>
            </a:r>
            <a:r>
              <a:rPr sz="2800" b="1" spc="-5" dirty="0">
                <a:latin typeface="Times New Roman"/>
                <a:cs typeface="Times New Roman"/>
              </a:rPr>
              <a:t> }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tabLst>
                <a:tab pos="876300" algn="l"/>
                <a:tab pos="1784985" algn="l"/>
                <a:tab pos="2560320" algn="l"/>
                <a:tab pos="3317240" algn="l"/>
                <a:tab pos="4092575" algn="l"/>
              </a:tabLst>
            </a:pPr>
            <a:r>
              <a:rPr sz="2800" b="1" i="1" dirty="0">
                <a:latin typeface="Times New Roman"/>
                <a:cs typeface="Times New Roman"/>
              </a:rPr>
              <a:t>s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=0,	</a:t>
            </a:r>
            <a:r>
              <a:rPr sz="2800" b="1" i="1" dirty="0">
                <a:latin typeface="Times New Roman"/>
                <a:cs typeface="Times New Roman"/>
              </a:rPr>
              <a:t>f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=20,	</a:t>
            </a:r>
            <a:r>
              <a:rPr sz="2800" b="1" i="1" dirty="0">
                <a:latin typeface="Times New Roman"/>
                <a:cs typeface="Times New Roman"/>
              </a:rPr>
              <a:t>s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=2,	</a:t>
            </a:r>
            <a:r>
              <a:rPr sz="2800" b="1" i="1" dirty="0">
                <a:latin typeface="Times New Roman"/>
                <a:cs typeface="Times New Roman"/>
              </a:rPr>
              <a:t>f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=5,	</a:t>
            </a:r>
            <a:r>
              <a:rPr sz="2800" b="1" i="1" dirty="0">
                <a:latin typeface="Times New Roman"/>
                <a:cs typeface="Times New Roman"/>
              </a:rPr>
              <a:t>s</a:t>
            </a:r>
            <a:r>
              <a:rPr sz="2800" b="1" baseline="-20833" dirty="0">
                <a:latin typeface="Times New Roman"/>
                <a:cs typeface="Times New Roman"/>
              </a:rPr>
              <a:t>3</a:t>
            </a:r>
            <a:r>
              <a:rPr sz="2800" b="1" dirty="0">
                <a:latin typeface="Times New Roman"/>
                <a:cs typeface="Times New Roman"/>
              </a:rPr>
              <a:t>=8,	</a:t>
            </a:r>
            <a:r>
              <a:rPr sz="2800" b="1" i="1" dirty="0">
                <a:latin typeface="Times New Roman"/>
                <a:cs typeface="Times New Roman"/>
              </a:rPr>
              <a:t>f</a:t>
            </a:r>
            <a:r>
              <a:rPr sz="2800" b="1" baseline="-20833" dirty="0">
                <a:latin typeface="Times New Roman"/>
                <a:cs typeface="Times New Roman"/>
              </a:rPr>
              <a:t>3</a:t>
            </a:r>
            <a:r>
              <a:rPr sz="2800" b="1" dirty="0">
                <a:latin typeface="Times New Roman"/>
                <a:cs typeface="Times New Roman"/>
              </a:rPr>
              <a:t>=15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23" name="日期占位符 2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54730D1-965D-415F-8289-BC19986B397D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8035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4252486" y="80988"/>
            <a:ext cx="673082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策略</a:t>
            </a:r>
            <a:r>
              <a:rPr lang="en-US" altLang="zh-CN" sz="40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</a:t>
            </a: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的反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9769" y="4367560"/>
            <a:ext cx="129561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5" dirty="0">
                <a:latin typeface="宋体"/>
                <a:cs typeface="宋体"/>
              </a:rPr>
              <a:t>活动</a:t>
            </a:r>
            <a:r>
              <a:rPr sz="2400" b="1" spc="-5" dirty="0">
                <a:latin typeface="Times New Roman"/>
                <a:cs typeface="Times New Roman"/>
              </a:rPr>
              <a:t>3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91958" y="4353838"/>
            <a:ext cx="129561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5" dirty="0">
                <a:latin typeface="宋体"/>
                <a:cs typeface="宋体"/>
              </a:rPr>
              <a:t>活动</a:t>
            </a:r>
            <a:r>
              <a:rPr sz="2400" b="1" spc="-5" dirty="0">
                <a:latin typeface="Times New Roman"/>
                <a:cs typeface="Times New Roman"/>
              </a:rPr>
              <a:t>1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0181" y="4864678"/>
            <a:ext cx="2212340" cy="0"/>
          </a:xfrm>
          <a:custGeom>
            <a:avLst/>
            <a:gdLst/>
            <a:ahLst/>
            <a:cxnLst/>
            <a:rect l="l" t="t" r="r" b="b"/>
            <a:pathLst>
              <a:path w="2212340">
                <a:moveTo>
                  <a:pt x="0" y="0"/>
                </a:moveTo>
                <a:lnTo>
                  <a:pt x="2212086" y="0"/>
                </a:lnTo>
              </a:path>
            </a:pathLst>
          </a:custGeom>
          <a:ln w="762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90563" y="5206435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>
                <a:moveTo>
                  <a:pt x="0" y="0"/>
                </a:moveTo>
                <a:lnTo>
                  <a:pt x="504063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90563" y="4372807"/>
            <a:ext cx="1905" cy="807085"/>
          </a:xfrm>
          <a:custGeom>
            <a:avLst/>
            <a:gdLst/>
            <a:ahLst/>
            <a:cxnLst/>
            <a:rect l="l" t="t" r="r" b="b"/>
            <a:pathLst>
              <a:path w="1904" h="807085">
                <a:moveTo>
                  <a:pt x="0" y="0"/>
                </a:moveTo>
                <a:lnTo>
                  <a:pt x="1524" y="806958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30081" y="5087562"/>
            <a:ext cx="1905" cy="121285"/>
          </a:xfrm>
          <a:custGeom>
            <a:avLst/>
            <a:gdLst/>
            <a:ahLst/>
            <a:cxnLst/>
            <a:rect l="l" t="t" r="r" b="b"/>
            <a:pathLst>
              <a:path w="1905" h="121285">
                <a:moveTo>
                  <a:pt x="762" y="-12572"/>
                </a:moveTo>
                <a:lnTo>
                  <a:pt x="762" y="133731"/>
                </a:lnTo>
              </a:path>
            </a:pathLst>
          </a:custGeom>
          <a:ln w="266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5165" y="5085277"/>
            <a:ext cx="1270" cy="121285"/>
          </a:xfrm>
          <a:custGeom>
            <a:avLst/>
            <a:gdLst/>
            <a:ahLst/>
            <a:cxnLst/>
            <a:rect l="l" t="t" r="r" b="b"/>
            <a:pathLst>
              <a:path w="1270" h="121285">
                <a:moveTo>
                  <a:pt x="380" y="-12573"/>
                </a:moveTo>
                <a:lnTo>
                  <a:pt x="380" y="13373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631462" y="5289942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41262" y="5289942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17662" y="5289942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95004" y="4581976"/>
            <a:ext cx="540385" cy="0"/>
          </a:xfrm>
          <a:custGeom>
            <a:avLst/>
            <a:gdLst/>
            <a:ahLst/>
            <a:cxnLst/>
            <a:rect l="l" t="t" r="r" b="b"/>
            <a:pathLst>
              <a:path w="540385">
                <a:moveTo>
                  <a:pt x="0" y="0"/>
                </a:moveTo>
                <a:lnTo>
                  <a:pt x="540258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40367" y="4863153"/>
            <a:ext cx="1800225" cy="1270"/>
          </a:xfrm>
          <a:custGeom>
            <a:avLst/>
            <a:gdLst/>
            <a:ahLst/>
            <a:cxnLst/>
            <a:rect l="l" t="t" r="r" b="b"/>
            <a:pathLst>
              <a:path w="1800225" h="1270">
                <a:moveTo>
                  <a:pt x="0" y="761"/>
                </a:moveTo>
                <a:lnTo>
                  <a:pt x="1799844" y="0"/>
                </a:lnTo>
              </a:path>
            </a:pathLst>
          </a:custGeom>
          <a:ln w="76200"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/>
          </p:cNvSpPr>
          <p:nvPr/>
        </p:nvSpPr>
        <p:spPr>
          <a:xfrm>
            <a:off x="687689" y="1171349"/>
            <a:ext cx="10905221" cy="2520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b="1" spc="-5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策略</a:t>
            </a:r>
            <a:r>
              <a:rPr lang="en-US" altLang="zh-CN" b="1" spc="-5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2</a:t>
            </a:r>
            <a:r>
              <a:rPr lang="zh-CN" altLang="en-US" b="1" spc="-5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：占</a:t>
            </a: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lang="zh-CN" altLang="en-US" b="1" spc="5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少</a:t>
            </a: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的优先</a:t>
            </a:r>
            <a:endParaRPr lang="en-US" altLang="zh-CN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b="1" spc="-5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反例</a:t>
            </a:r>
            <a:r>
              <a:rPr lang="zh-CN" altLang="en-US" spc="-10" dirty="0" smtClean="0"/>
              <a:t>：</a:t>
            </a:r>
            <a:r>
              <a:rPr lang="zh-CN" altLang="en-US" spc="5" dirty="0" smtClean="0"/>
              <a:t> </a:t>
            </a:r>
            <a:r>
              <a:rPr lang="en-US" b="1" i="1" spc="-5" dirty="0" smtClean="0">
                <a:latin typeface="Times New Roman"/>
                <a:cs typeface="Times New Roman"/>
              </a:rPr>
              <a:t>S </a:t>
            </a:r>
            <a:r>
              <a:rPr lang="en-US" b="1" dirty="0" smtClean="0">
                <a:latin typeface="Times New Roman"/>
                <a:cs typeface="Times New Roman"/>
              </a:rPr>
              <a:t>=</a:t>
            </a:r>
            <a:r>
              <a:rPr lang="en-US" b="1" spc="-10" dirty="0" smtClean="0">
                <a:latin typeface="Times New Roman"/>
                <a:cs typeface="Times New Roman"/>
              </a:rPr>
              <a:t> </a:t>
            </a:r>
            <a:r>
              <a:rPr lang="en-US" b="1" spc="-5" dirty="0" smtClean="0">
                <a:latin typeface="Times New Roman"/>
                <a:cs typeface="Times New Roman"/>
              </a:rPr>
              <a:t>{</a:t>
            </a:r>
            <a:r>
              <a:rPr lang="en-US" b="1" dirty="0" smtClean="0">
                <a:latin typeface="Times New Roman"/>
                <a:cs typeface="Times New Roman"/>
              </a:rPr>
              <a:t> 1, 2,</a:t>
            </a:r>
            <a:r>
              <a:rPr lang="en-US" b="1" spc="-5" dirty="0" smtClean="0">
                <a:latin typeface="Times New Roman"/>
                <a:cs typeface="Times New Roman"/>
              </a:rPr>
              <a:t> </a:t>
            </a:r>
            <a:r>
              <a:rPr lang="en-US" b="1" dirty="0" smtClean="0">
                <a:latin typeface="Times New Roman"/>
                <a:cs typeface="Times New Roman"/>
              </a:rPr>
              <a:t>3 </a:t>
            </a:r>
            <a:r>
              <a:rPr lang="en-US" b="1" spc="-5" dirty="0" smtClean="0">
                <a:latin typeface="Times New Roman"/>
                <a:cs typeface="Times New Roman"/>
              </a:rPr>
              <a:t>}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1" i="1" dirty="0" smtClean="0">
                <a:latin typeface="Times New Roman"/>
                <a:cs typeface="Times New Roman"/>
              </a:rPr>
              <a:t>s</a:t>
            </a:r>
            <a:r>
              <a:rPr lang="en-US" b="1" baseline="-20833" dirty="0" smtClean="0">
                <a:latin typeface="Times New Roman"/>
                <a:cs typeface="Times New Roman"/>
              </a:rPr>
              <a:t>1</a:t>
            </a:r>
            <a:r>
              <a:rPr lang="en-US" b="1" dirty="0" smtClean="0">
                <a:latin typeface="Times New Roman"/>
                <a:cs typeface="Times New Roman"/>
              </a:rPr>
              <a:t>=0,  </a:t>
            </a:r>
            <a:r>
              <a:rPr lang="en-US" b="1" i="1" dirty="0" smtClean="0">
                <a:latin typeface="Times New Roman"/>
                <a:cs typeface="Times New Roman"/>
              </a:rPr>
              <a:t>f</a:t>
            </a:r>
            <a:r>
              <a:rPr lang="en-US" b="1" baseline="-20833" dirty="0" smtClean="0">
                <a:latin typeface="Times New Roman"/>
                <a:cs typeface="Times New Roman"/>
              </a:rPr>
              <a:t>1</a:t>
            </a:r>
            <a:r>
              <a:rPr lang="en-US" b="1" dirty="0" smtClean="0">
                <a:latin typeface="Times New Roman"/>
                <a:cs typeface="Times New Roman"/>
              </a:rPr>
              <a:t>=8,</a:t>
            </a:r>
            <a:r>
              <a:rPr lang="en-US" b="1" spc="-15" dirty="0" smtClean="0">
                <a:latin typeface="Times New Roman"/>
                <a:cs typeface="Times New Roman"/>
              </a:rPr>
              <a:t>  </a:t>
            </a:r>
            <a:r>
              <a:rPr lang="en-US" b="1" i="1" dirty="0" smtClean="0">
                <a:latin typeface="Times New Roman"/>
                <a:cs typeface="Times New Roman"/>
              </a:rPr>
              <a:t>s</a:t>
            </a:r>
            <a:r>
              <a:rPr lang="en-US" b="1" baseline="-20833" dirty="0" smtClean="0">
                <a:latin typeface="Times New Roman"/>
                <a:cs typeface="Times New Roman"/>
              </a:rPr>
              <a:t>2</a:t>
            </a:r>
            <a:r>
              <a:rPr lang="en-US" b="1" dirty="0" smtClean="0">
                <a:latin typeface="Times New Roman"/>
                <a:cs typeface="Times New Roman"/>
              </a:rPr>
              <a:t>=7,</a:t>
            </a:r>
            <a:r>
              <a:rPr lang="en-US" b="1" spc="-10" dirty="0" smtClean="0">
                <a:latin typeface="Times New Roman"/>
                <a:cs typeface="Times New Roman"/>
              </a:rPr>
              <a:t>  </a:t>
            </a:r>
            <a:r>
              <a:rPr lang="en-US" b="1" i="1" dirty="0" smtClean="0">
                <a:latin typeface="Times New Roman"/>
                <a:cs typeface="Times New Roman"/>
              </a:rPr>
              <a:t>f</a:t>
            </a:r>
            <a:r>
              <a:rPr lang="en-US" b="1" baseline="-20833" dirty="0" smtClean="0">
                <a:latin typeface="Times New Roman"/>
                <a:cs typeface="Times New Roman"/>
              </a:rPr>
              <a:t>2</a:t>
            </a:r>
            <a:r>
              <a:rPr lang="en-US" b="1" dirty="0" smtClean="0">
                <a:latin typeface="Times New Roman"/>
                <a:cs typeface="Times New Roman"/>
              </a:rPr>
              <a:t>=9,	 </a:t>
            </a:r>
            <a:r>
              <a:rPr lang="en-US" b="1" i="1" dirty="0" smtClean="0">
                <a:latin typeface="Times New Roman"/>
                <a:cs typeface="Times New Roman"/>
              </a:rPr>
              <a:t>s</a:t>
            </a:r>
            <a:r>
              <a:rPr lang="en-US" b="1" baseline="-20833" dirty="0" smtClean="0">
                <a:latin typeface="Times New Roman"/>
                <a:cs typeface="Times New Roman"/>
              </a:rPr>
              <a:t>3</a:t>
            </a:r>
            <a:r>
              <a:rPr lang="en-US" b="1" dirty="0" smtClean="0">
                <a:latin typeface="Times New Roman"/>
                <a:cs typeface="Times New Roman"/>
              </a:rPr>
              <a:t>=8, 	</a:t>
            </a:r>
            <a:r>
              <a:rPr lang="en-US" b="1" i="1" dirty="0" smtClean="0">
                <a:latin typeface="Times New Roman"/>
                <a:cs typeface="Times New Roman"/>
              </a:rPr>
              <a:t>f</a:t>
            </a:r>
            <a:r>
              <a:rPr lang="en-US" b="1" baseline="-20833" dirty="0" smtClean="0">
                <a:latin typeface="Times New Roman"/>
                <a:cs typeface="Times New Roman"/>
              </a:rPr>
              <a:t>3</a:t>
            </a:r>
            <a:r>
              <a:rPr lang="en-US" b="1" dirty="0" smtClean="0">
                <a:latin typeface="Times New Roman"/>
                <a:cs typeface="Times New Roman"/>
              </a:rPr>
              <a:t>=15</a:t>
            </a:r>
          </a:p>
        </p:txBody>
      </p:sp>
      <p:sp>
        <p:nvSpPr>
          <p:cNvPr id="17" name="矩形 16"/>
          <p:cNvSpPr/>
          <p:nvPr/>
        </p:nvSpPr>
        <p:spPr>
          <a:xfrm>
            <a:off x="5064933" y="4131988"/>
            <a:ext cx="19050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400" b="1" spc="-5" dirty="0">
                <a:solidFill>
                  <a:srgbClr val="C00000"/>
                </a:solidFill>
              </a:rPr>
              <a:t>活动</a:t>
            </a:r>
            <a:r>
              <a:rPr lang="en-US" altLang="zh-CN"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endParaRPr lang="zh-CN" altLang="en-US" sz="2400" b="1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20" name="日期占位符 19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6D0463F-3FC8-4D62-8075-E91C14971674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2280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906" y="972571"/>
            <a:ext cx="423838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算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法</a:t>
            </a:r>
            <a:r>
              <a:rPr sz="2800" b="1" spc="-45" dirty="0">
                <a:latin typeface="宋体"/>
                <a:cs typeface="宋体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Greedy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Select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7105" y="1360401"/>
            <a:ext cx="10963253" cy="13619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00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输入：活动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集</a:t>
            </a:r>
            <a:r>
              <a:rPr sz="2800" b="1" spc="-535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</a:t>
            </a:r>
            <a:r>
              <a:rPr sz="2800" b="1" spc="-5" dirty="0">
                <a:latin typeface="宋体"/>
                <a:cs typeface="宋体"/>
              </a:rPr>
              <a:t>，</a:t>
            </a:r>
            <a:r>
              <a:rPr sz="2800" b="1" i="1" spc="-5" dirty="0">
                <a:latin typeface="Times New Roman"/>
                <a:cs typeface="Times New Roman"/>
              </a:rPr>
              <a:t>s</a:t>
            </a:r>
            <a:r>
              <a:rPr sz="2800" b="1" i="1" spc="-7" baseline="-21072" dirty="0">
                <a:latin typeface="Times New Roman"/>
                <a:cs typeface="Times New Roman"/>
              </a:rPr>
              <a:t>i</a:t>
            </a:r>
            <a:r>
              <a:rPr sz="2800" b="1" i="1" baseline="-21072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</a:t>
            </a:r>
            <a:r>
              <a:rPr sz="2800" b="1" i="1" baseline="-21072" dirty="0">
                <a:latin typeface="Times New Roman"/>
                <a:cs typeface="Times New Roman"/>
              </a:rPr>
              <a:t>i</a:t>
            </a:r>
            <a:r>
              <a:rPr sz="2800" b="1" dirty="0">
                <a:latin typeface="Times New Roman"/>
                <a:cs typeface="Times New Roman"/>
              </a:rPr>
              <a:t>,</a:t>
            </a:r>
          </a:p>
          <a:p>
            <a:pPr marL="971550">
              <a:lnSpc>
                <a:spcPct val="100000"/>
              </a:lnSpc>
              <a:spcBef>
                <a:spcPts val="600"/>
              </a:spcBef>
            </a:pPr>
            <a:r>
              <a:rPr sz="2800" b="1" i="1" dirty="0">
                <a:latin typeface="Times New Roman"/>
                <a:cs typeface="Times New Roman"/>
              </a:rPr>
              <a:t>i </a:t>
            </a:r>
            <a:r>
              <a:rPr sz="2800" b="1" dirty="0">
                <a:latin typeface="Times New Roman"/>
                <a:cs typeface="Times New Roman"/>
              </a:rPr>
              <a:t>= 1, 2, … , </a:t>
            </a:r>
            <a:r>
              <a:rPr sz="2800" b="1" i="1" spc="-10" dirty="0">
                <a:latin typeface="Times New Roman"/>
                <a:cs typeface="Times New Roman"/>
              </a:rPr>
              <a:t>n</a:t>
            </a:r>
            <a:r>
              <a:rPr sz="2800" b="1" spc="-10" dirty="0">
                <a:latin typeface="宋体"/>
                <a:cs typeface="宋体"/>
              </a:rPr>
              <a:t>，</a:t>
            </a:r>
            <a:r>
              <a:rPr sz="2800" b="1" spc="-635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</a:t>
            </a:r>
            <a:r>
              <a:rPr sz="2800" b="1" baseline="-21072" dirty="0">
                <a:latin typeface="Times New Roman"/>
                <a:cs typeface="Times New Roman"/>
              </a:rPr>
              <a:t>1 </a:t>
            </a:r>
            <a:r>
              <a:rPr sz="2800" b="1" dirty="0">
                <a:latin typeface="Symbol"/>
                <a:cs typeface="Symbol"/>
              </a:rPr>
              <a:t></a:t>
            </a:r>
            <a:r>
              <a:rPr sz="2800" b="1" dirty="0">
                <a:latin typeface="Times New Roman"/>
                <a:cs typeface="Times New Roman"/>
              </a:rPr>
              <a:t> … </a:t>
            </a:r>
            <a:r>
              <a:rPr sz="2800" b="1" dirty="0">
                <a:latin typeface="Symbol"/>
                <a:cs typeface="Symbol"/>
              </a:rPr>
              <a:t>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</a:t>
            </a:r>
            <a:r>
              <a:rPr sz="2800" b="1" i="1" baseline="-21072" dirty="0">
                <a:latin typeface="Times New Roman"/>
                <a:cs typeface="Times New Roman"/>
              </a:rPr>
              <a:t>n</a:t>
            </a:r>
            <a:endParaRPr sz="2800" b="1" baseline="-21072" dirty="0">
              <a:latin typeface="Times New Roman"/>
              <a:cs typeface="Times New Roman"/>
            </a:endParaRPr>
          </a:p>
          <a:p>
            <a:pPr marL="63500">
              <a:lnSpc>
                <a:spcPts val="2630"/>
              </a:lnSpc>
              <a:spcBef>
                <a:spcPts val="600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输出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spc="-1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Symbol"/>
                <a:cs typeface="Symbol"/>
              </a:rPr>
              <a:t>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i="1" spc="-5" dirty="0" err="1">
                <a:latin typeface="Times New Roman"/>
                <a:cs typeface="Times New Roman"/>
              </a:rPr>
              <a:t>S</a:t>
            </a:r>
            <a:r>
              <a:rPr sz="2800" b="1" spc="-5" dirty="0" err="1">
                <a:latin typeface="宋体"/>
                <a:cs typeface="宋体"/>
              </a:rPr>
              <a:t>，</a:t>
            </a: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选中的活动</a:t>
            </a:r>
            <a:r>
              <a:rPr sz="2800" b="1" dirty="0" err="1" smtClean="0">
                <a:latin typeface="黑体" pitchFamily="49" charset="-122"/>
                <a:ea typeface="黑体" pitchFamily="49" charset="-122"/>
                <a:cs typeface="宋体"/>
              </a:rPr>
              <a:t>子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集</a:t>
            </a:r>
            <a:endParaRPr sz="2800" b="1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11" name="object 11"/>
          <p:cNvSpPr txBox="1">
            <a:spLocks/>
          </p:cNvSpPr>
          <p:nvPr/>
        </p:nvSpPr>
        <p:spPr>
          <a:xfrm>
            <a:off x="4740585" y="91135"/>
            <a:ext cx="391256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策略</a:t>
            </a:r>
            <a:r>
              <a:rPr lang="en-US" altLang="zh-CN" sz="40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3</a:t>
            </a: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伪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2"/>
          <a:srcRect t="2041"/>
          <a:stretch/>
        </p:blipFill>
        <p:spPr>
          <a:xfrm>
            <a:off x="2423433" y="2750305"/>
            <a:ext cx="4885714" cy="3741120"/>
          </a:xfrm>
          <a:prstGeom prst="rect">
            <a:avLst/>
          </a:prstGeom>
        </p:spPr>
      </p:pic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5EFDE04-BEB2-455C-91DC-457FC57723BF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91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644592"/>
              </p:ext>
            </p:extLst>
          </p:nvPr>
        </p:nvGraphicFramePr>
        <p:xfrm>
          <a:off x="2729974" y="1724249"/>
          <a:ext cx="6257378" cy="1598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8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7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90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0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90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90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90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90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32890"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890"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800" b="1" i="1" baseline="-25641" dirty="0">
                          <a:latin typeface="Times New Roman"/>
                          <a:cs typeface="Times New Roman"/>
                        </a:rPr>
                        <a:t>i</a:t>
                      </a:r>
                      <a:endParaRPr sz="2800" baseline="-25641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890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i="1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800" b="1" i="1" baseline="-25641" dirty="0">
                          <a:latin typeface="Times New Roman"/>
                          <a:cs typeface="Times New Roman"/>
                        </a:rPr>
                        <a:t>i</a:t>
                      </a:r>
                      <a:endParaRPr sz="2800" baseline="-2564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9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10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spc="-55" dirty="0">
                          <a:latin typeface="Times New Roman"/>
                          <a:cs typeface="Times New Roman"/>
                        </a:rPr>
                        <a:t>11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12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b="1" spc="-5" dirty="0">
                          <a:latin typeface="Times New Roman"/>
                          <a:cs typeface="Times New Roman"/>
                        </a:rPr>
                        <a:t>13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4"/>
          <p:cNvSpPr txBox="1"/>
          <p:nvPr/>
        </p:nvSpPr>
        <p:spPr>
          <a:xfrm>
            <a:off x="692370" y="3411532"/>
            <a:ext cx="6980182" cy="1028487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2463800" algn="l"/>
              </a:tabLst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解</a:t>
            </a:r>
            <a:r>
              <a:rPr sz="2800" b="1" spc="-10" dirty="0">
                <a:latin typeface="宋体"/>
                <a:cs typeface="宋体"/>
              </a:rPr>
              <a:t>:</a:t>
            </a:r>
            <a:r>
              <a:rPr sz="2800" b="1" spc="20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{1, 4, 8},	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800" b="1" i="1" spc="-90" dirty="0">
                <a:latin typeface="Times New Roman"/>
                <a:cs typeface="Times New Roman"/>
              </a:rPr>
              <a:t> </a:t>
            </a:r>
            <a:r>
              <a:rPr sz="2800" b="1" spc="-90" dirty="0">
                <a:latin typeface="Times New Roman"/>
                <a:cs typeface="Times New Roman"/>
              </a:rPr>
              <a:t>=11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时间复杂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度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4" name="object 5"/>
          <p:cNvSpPr txBox="1"/>
          <p:nvPr/>
        </p:nvSpPr>
        <p:spPr>
          <a:xfrm>
            <a:off x="2729974" y="4597534"/>
            <a:ext cx="5846467" cy="646972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585"/>
              </a:spcBef>
            </a:pPr>
            <a:r>
              <a:rPr sz="2800" b="1" spc="-5" dirty="0" err="1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宋体"/>
              </a:rPr>
              <a:t>如何证明</a:t>
            </a:r>
            <a:r>
              <a:rPr sz="2800" b="1" dirty="0" err="1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宋体"/>
              </a:rPr>
              <a:t>该</a:t>
            </a:r>
            <a:r>
              <a:rPr sz="2800" b="1" spc="5" dirty="0" err="1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宋体"/>
              </a:rPr>
              <a:t>算</a:t>
            </a:r>
            <a:r>
              <a:rPr sz="2800" b="1" dirty="0" err="1" smtClean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宋体"/>
              </a:rPr>
              <a:t>法对所有的实例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5" name="object 6"/>
          <p:cNvSpPr txBox="1"/>
          <p:nvPr/>
        </p:nvSpPr>
        <p:spPr>
          <a:xfrm>
            <a:off x="2806173" y="5283829"/>
            <a:ext cx="332160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宋体"/>
              </a:rPr>
              <a:t>都得到正</a:t>
            </a:r>
            <a:r>
              <a:rPr sz="28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宋体"/>
              </a:rPr>
              <a:t>确</a:t>
            </a:r>
            <a:r>
              <a:rPr sz="2800" b="1" spc="5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宋体"/>
              </a:rPr>
              <a:t>的</a:t>
            </a:r>
            <a:r>
              <a:rPr sz="2800" b="1" spc="-5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宋体"/>
              </a:rPr>
              <a:t>解</a:t>
            </a:r>
            <a:r>
              <a:rPr sz="28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?</a:t>
            </a:r>
            <a:endParaRPr sz="2800" dirty="0">
              <a:latin typeface="黑体" pitchFamily="49" charset="-122"/>
              <a:ea typeface="黑体" pitchFamily="49" charset="-122"/>
              <a:cs typeface="Times New Roman"/>
            </a:endParaRPr>
          </a:p>
        </p:txBody>
      </p:sp>
      <p:sp>
        <p:nvSpPr>
          <p:cNvPr id="6" name="object 7"/>
          <p:cNvSpPr/>
          <p:nvPr/>
        </p:nvSpPr>
        <p:spPr>
          <a:xfrm>
            <a:off x="2138195" y="4893990"/>
            <a:ext cx="579323" cy="761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2"/>
          <p:cNvSpPr txBox="1">
            <a:spLocks/>
          </p:cNvSpPr>
          <p:nvPr/>
        </p:nvSpPr>
        <p:spPr>
          <a:xfrm>
            <a:off x="3545840" y="-20890"/>
            <a:ext cx="5755815" cy="743793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303020">
              <a:lnSpc>
                <a:spcPct val="100000"/>
              </a:lnSpc>
              <a:spcBef>
                <a:spcPts val="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运行实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</a:p>
        </p:txBody>
      </p:sp>
      <p:sp>
        <p:nvSpPr>
          <p:cNvPr id="9" name="object 2"/>
          <p:cNvSpPr txBox="1">
            <a:spLocks/>
          </p:cNvSpPr>
          <p:nvPr/>
        </p:nvSpPr>
        <p:spPr>
          <a:xfrm>
            <a:off x="692369" y="987975"/>
            <a:ext cx="4432825" cy="559127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lang="zh-CN" altLang="en-US" sz="2800" b="1" spc="-5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输入：</a:t>
            </a:r>
            <a:r>
              <a:rPr lang="en-US" altLang="zh-CN" sz="2800" b="1" i="1" spc="-5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800" b="1" i="1" spc="1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zh-CN" altLang="en-US" sz="2800" b="1" spc="-2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spc="-5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1,</a:t>
            </a:r>
            <a:r>
              <a:rPr lang="zh-CN" altLang="en-US" sz="2800" b="1" spc="-1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2,</a:t>
            </a:r>
            <a:r>
              <a:rPr lang="zh-CN" altLang="en-US" sz="2800" b="1" spc="-1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zh-CN" altLang="en-US" sz="2800" b="1" spc="-1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800" b="1" spc="-5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2800" b="1" spc="-1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spc="-5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39722" y="3988920"/>
            <a:ext cx="43720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lang="en-US" altLang="zh-CN" sz="2800" b="1" i="1" spc="-5" dirty="0">
                <a:latin typeface="Times New Roman"/>
                <a:cs typeface="Times New Roman"/>
              </a:rPr>
              <a:t>O</a:t>
            </a:r>
            <a:r>
              <a:rPr lang="en-US" altLang="zh-CN" sz="2800" b="1" spc="-5" dirty="0">
                <a:latin typeface="Times New Roman"/>
                <a:cs typeface="Times New Roman"/>
              </a:rPr>
              <a:t>(</a:t>
            </a:r>
            <a:r>
              <a:rPr lang="en-US" altLang="zh-CN" sz="2800" b="1" i="1" spc="-5" dirty="0" err="1">
                <a:latin typeface="Times New Roman"/>
                <a:cs typeface="Times New Roman"/>
              </a:rPr>
              <a:t>n</a:t>
            </a:r>
            <a:r>
              <a:rPr lang="en-US" altLang="zh-CN" sz="2800" b="1" spc="-5" dirty="0" err="1">
                <a:latin typeface="Times New Roman"/>
                <a:cs typeface="Times New Roman"/>
              </a:rPr>
              <a:t>log</a:t>
            </a:r>
            <a:r>
              <a:rPr lang="en-US" altLang="zh-CN" sz="2800" b="1" i="1" spc="-5" dirty="0" err="1">
                <a:latin typeface="Times New Roman"/>
                <a:cs typeface="Times New Roman"/>
              </a:rPr>
              <a:t>n</a:t>
            </a:r>
            <a:r>
              <a:rPr lang="en-US" altLang="zh-CN" sz="2800" b="1" spc="-5" dirty="0">
                <a:latin typeface="Times New Roman"/>
                <a:cs typeface="Times New Roman"/>
              </a:rPr>
              <a:t>) </a:t>
            </a:r>
            <a:r>
              <a:rPr lang="en-US" altLang="zh-CN" sz="2800" b="1" dirty="0">
                <a:latin typeface="Times New Roman"/>
                <a:cs typeface="Times New Roman"/>
              </a:rPr>
              <a:t>+ </a:t>
            </a:r>
            <a:r>
              <a:rPr lang="en-US" altLang="zh-CN" sz="2800" b="1" i="1" spc="-5" dirty="0">
                <a:latin typeface="Times New Roman"/>
                <a:cs typeface="Times New Roman"/>
              </a:rPr>
              <a:t>O</a:t>
            </a:r>
            <a:r>
              <a:rPr lang="en-US" altLang="zh-CN" sz="2800" b="1" spc="-5" dirty="0">
                <a:latin typeface="Times New Roman"/>
                <a:cs typeface="Times New Roman"/>
              </a:rPr>
              <a:t>(</a:t>
            </a:r>
            <a:r>
              <a:rPr lang="en-US" altLang="zh-CN" sz="2800" b="1" i="1" spc="-5" dirty="0">
                <a:latin typeface="Times New Roman"/>
                <a:cs typeface="Times New Roman"/>
              </a:rPr>
              <a:t>n</a:t>
            </a:r>
            <a:r>
              <a:rPr lang="en-US" altLang="zh-CN" sz="2800" b="1" spc="-5" dirty="0">
                <a:latin typeface="Times New Roman"/>
                <a:cs typeface="Times New Roman"/>
              </a:rPr>
              <a:t>) </a:t>
            </a:r>
            <a:r>
              <a:rPr lang="en-US" altLang="zh-CN" sz="2800" b="1" dirty="0">
                <a:latin typeface="Times New Roman"/>
                <a:cs typeface="Times New Roman"/>
              </a:rPr>
              <a:t>= </a:t>
            </a:r>
            <a:r>
              <a:rPr lang="en-US" altLang="zh-CN" sz="2800" b="1" i="1" spc="-5" dirty="0">
                <a:latin typeface="Times New Roman"/>
                <a:cs typeface="Times New Roman"/>
              </a:rPr>
              <a:t>O</a:t>
            </a:r>
            <a:r>
              <a:rPr lang="en-US" altLang="zh-CN" sz="2800" b="1" spc="-5" dirty="0">
                <a:latin typeface="Times New Roman"/>
                <a:cs typeface="Times New Roman"/>
              </a:rPr>
              <a:t>(</a:t>
            </a:r>
            <a:r>
              <a:rPr lang="en-US" altLang="zh-CN" sz="2800" b="1" i="1" spc="-5" dirty="0" err="1">
                <a:latin typeface="Times New Roman"/>
                <a:cs typeface="Times New Roman"/>
              </a:rPr>
              <a:t>n</a:t>
            </a:r>
            <a:r>
              <a:rPr lang="en-US" altLang="zh-CN" sz="2800" b="1" spc="-5" dirty="0" err="1">
                <a:latin typeface="Times New Roman"/>
                <a:cs typeface="Times New Roman"/>
              </a:rPr>
              <a:t>log</a:t>
            </a:r>
            <a:r>
              <a:rPr lang="en-US" altLang="zh-CN" sz="2800" b="1" i="1" spc="-5" dirty="0" err="1">
                <a:latin typeface="Times New Roman"/>
                <a:cs typeface="Times New Roman"/>
              </a:rPr>
              <a:t>n</a:t>
            </a:r>
            <a:r>
              <a:rPr lang="en-US" altLang="zh-CN" sz="2800" b="1" spc="-5" dirty="0">
                <a:latin typeface="Times New Roman"/>
                <a:cs typeface="Times New Roman"/>
              </a:rPr>
              <a:t>)</a:t>
            </a:r>
            <a:endParaRPr lang="en-US" altLang="zh-CN" sz="2800" dirty="0">
              <a:latin typeface="Times New Roman"/>
              <a:cs typeface="Times New Roman"/>
            </a:endParaRPr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C980585-036A-4FAC-AC54-74AF4150DD52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257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 animBg="1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/>
          </p:cNvSpPr>
          <p:nvPr/>
        </p:nvSpPr>
        <p:spPr>
          <a:xfrm>
            <a:off x="4200485" y="110677"/>
            <a:ext cx="577383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贪心算法的特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点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3172" y="1043264"/>
            <a:ext cx="11151476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设计要素：</a:t>
            </a:r>
          </a:p>
          <a:p>
            <a:pPr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贪心法适用于组合优化问题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求解过程是多步判断过程，最终的 判断序列对应于问题的最优解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依据某种“短视的”贪心选择性质判断，性质好坏决定算法的成败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贪心法必须进行正确性证明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证明贪心法不正确的技巧：举反例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贪心法的优势：算法简单，时间和空间复杂性低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BB67EC4-D095-47EE-B89D-97AE25EC8D41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3867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838200" y="2552397"/>
            <a:ext cx="10467731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66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最优</a:t>
            </a:r>
            <a:r>
              <a:rPr lang="zh-CN" altLang="en-US" sz="6600" b="1" spc="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装</a:t>
            </a:r>
            <a:r>
              <a:rPr lang="zh-CN" altLang="en-US" sz="6600" b="1" spc="-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载问</a:t>
            </a:r>
            <a:r>
              <a:rPr lang="zh-CN" altLang="en-US" sz="6600" b="1" spc="-2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题</a:t>
            </a:r>
            <a:endParaRPr lang="zh-CN" altLang="en-US" sz="66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6C1F8-11CD-4249-A6B6-D494F5070295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2A9BE-CB96-4074-B5C8-E2ED884111B7}" type="datetime1">
              <a:rPr lang="zh-CN" altLang="en-US" smtClean="0"/>
              <a:t>2019/5/22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705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/>
          <p:nvPr/>
        </p:nvSpPr>
        <p:spPr>
          <a:xfrm>
            <a:off x="653830" y="1170624"/>
            <a:ext cx="10854998" cy="38568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8100">
              <a:lnSpc>
                <a:spcPct val="150000"/>
              </a:lnSpc>
            </a:pPr>
            <a:r>
              <a:rPr sz="2800" b="1" spc="-5" dirty="0" err="1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问题</a:t>
            </a:r>
            <a:r>
              <a:rPr sz="2800" b="1" spc="-10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lang="zh-CN" altLang="en-US" sz="2800" b="1" spc="-1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个集装箱</a:t>
            </a:r>
            <a:r>
              <a:rPr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2800" b="1" spc="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2,</a:t>
            </a:r>
            <a:r>
              <a:rPr sz="2800" b="1" spc="-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…</a:t>
            </a:r>
            <a:r>
              <a:rPr sz="2800" b="1" spc="-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2800" b="1" spc="-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lang="zh-CN" altLang="en-US" sz="2800" b="1" spc="-1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装上轮船，集装箱 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</a:t>
            </a:r>
            <a:r>
              <a:rPr lang="zh-CN" altLang="en-US" sz="2800" b="1" spc="-2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的重量  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w</a:t>
            </a:r>
            <a:r>
              <a:rPr sz="2800" b="1" baseline="-2083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</a:t>
            </a:r>
            <a:r>
              <a:rPr sz="2800" b="1" spc="-15" baseline="-2083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zh-CN" altLang="en-US" sz="2800" b="1" spc="-1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轮船装载重量限制为  </a:t>
            </a:r>
            <a:r>
              <a:rPr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C</a:t>
            </a:r>
            <a:r>
              <a:rPr lang="en-US" altLang="zh-CN"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  </a:t>
            </a:r>
            <a:r>
              <a:rPr lang="zh-CN" altLang="en-US"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无体积限制</a:t>
            </a:r>
            <a:r>
              <a:rPr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.</a:t>
            </a:r>
            <a:r>
              <a:rPr lang="en-US"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</a:t>
            </a:r>
            <a:r>
              <a:rPr lang="zh-CN" altLang="en-US"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问如何装使得上船的集装箱最多？不妨</a:t>
            </a:r>
            <a:r>
              <a:rPr lang="zh-CN" altLang="en-US" sz="2800" b="1" spc="-60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设每个箱子的重量            </a:t>
            </a:r>
            <a:r>
              <a:rPr sz="2800" b="1" spc="-5" dirty="0" err="1" smtClean="0">
                <a:latin typeface="Times New Roman"/>
                <a:cs typeface="Times New Roman"/>
              </a:rPr>
              <a:t>w</a:t>
            </a:r>
            <a:r>
              <a:rPr sz="2800" b="1" spc="-7" baseline="-20833" dirty="0" err="1" smtClean="0">
                <a:latin typeface="Times New Roman"/>
                <a:cs typeface="Times New Roman"/>
              </a:rPr>
              <a:t>i</a:t>
            </a:r>
            <a:r>
              <a:rPr lang="en-US" sz="2800" b="1" spc="-7" baseline="-20833" dirty="0" smtClean="0">
                <a:latin typeface="Times New Roman"/>
                <a:cs typeface="Times New Roman"/>
              </a:rPr>
              <a:t> </a:t>
            </a:r>
            <a:r>
              <a:rPr sz="2800" b="1" spc="-5" dirty="0" smtClean="0">
                <a:latin typeface="Symbol"/>
                <a:cs typeface="Symbol"/>
              </a:rPr>
              <a:t></a:t>
            </a:r>
            <a:r>
              <a:rPr lang="en-US" sz="2800" b="1" spc="-5" dirty="0" smtClean="0">
                <a:latin typeface="Symbol"/>
                <a:cs typeface="Symbol"/>
              </a:rPr>
              <a:t> </a:t>
            </a:r>
            <a:r>
              <a:rPr sz="2800" b="1" spc="-5" dirty="0" smtClean="0">
                <a:latin typeface="Times New Roman"/>
                <a:cs typeface="Times New Roman"/>
              </a:rPr>
              <a:t>C</a:t>
            </a:r>
            <a:r>
              <a:rPr sz="2800" b="1" spc="-5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R="30480" algn="just">
              <a:lnSpc>
                <a:spcPct val="150000"/>
              </a:lnSpc>
              <a:spcBef>
                <a:spcPts val="4200"/>
              </a:spcBef>
              <a:tabLst>
                <a:tab pos="4349115" algn="l"/>
              </a:tabLst>
            </a:pPr>
            <a:r>
              <a:rPr lang="zh-CN" altLang="en-US"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该问题是 </a:t>
            </a:r>
            <a:r>
              <a:rPr lang="en-US" altLang="zh-CN"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0-1 </a:t>
            </a:r>
            <a:r>
              <a:rPr lang="zh-CN" altLang="en-US"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背包问题的子问题</a:t>
            </a:r>
            <a:r>
              <a:rPr lang="en-US" altLang="zh-CN"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. </a:t>
            </a:r>
            <a:r>
              <a:rPr lang="zh-CN" altLang="en-US"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集装箱相当于物品，物品重量是 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w</a:t>
            </a:r>
            <a:r>
              <a:rPr sz="2800" b="1" spc="-7" baseline="-20833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</a:t>
            </a:r>
            <a:r>
              <a:rPr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lang="zh-CN" altLang="en-US" sz="2800" b="1" spc="-1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价值</a:t>
            </a:r>
            <a:r>
              <a:rPr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v</a:t>
            </a:r>
            <a:r>
              <a:rPr sz="2800" b="1" baseline="-20833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</a:t>
            </a:r>
            <a:r>
              <a:rPr lang="zh-CN" altLang="en-US" sz="2800" b="1" spc="-22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都等于 </a:t>
            </a:r>
            <a:r>
              <a:rPr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1，</a:t>
            </a:r>
            <a:r>
              <a:rPr lang="zh-CN" altLang="en-US"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轮船载重限制 </a:t>
            </a:r>
            <a:r>
              <a:rPr lang="en-US" altLang="zh-CN"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C </a:t>
            </a:r>
            <a:r>
              <a:rPr lang="zh-CN" altLang="en-US"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相当于背包重量限制 </a:t>
            </a:r>
            <a:r>
              <a:rPr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b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56847" y="64273"/>
            <a:ext cx="411799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最优装载问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题</a:t>
            </a:r>
            <a:endParaRPr lang="zh-CN" altLang="en-US" sz="4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4E9150-E8F0-44D3-AE72-9F7B917F3921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164835-57AB-4348-A78C-6735D96544A2}" type="datetime1">
              <a:rPr lang="zh-CN" altLang="en-US" smtClean="0"/>
              <a:t>2019/5/22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01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5283809" y="139100"/>
            <a:ext cx="242027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建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620" y="916720"/>
            <a:ext cx="10864719" cy="129740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sz="2800" b="1" spc="-10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设</a:t>
            </a:r>
            <a:r>
              <a:rPr sz="2800" b="1" spc="-610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&lt;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...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&gt;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表示解向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量</a:t>
            </a:r>
            <a:r>
              <a:rPr sz="2800" b="1" dirty="0">
                <a:latin typeface="宋体"/>
                <a:cs typeface="宋体"/>
              </a:rPr>
              <a:t>，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0833" dirty="0">
                <a:latin typeface="Times New Roman"/>
                <a:cs typeface="Times New Roman"/>
              </a:rPr>
              <a:t>i</a:t>
            </a:r>
            <a:r>
              <a:rPr sz="2800" b="1" i="1" spc="37" baseline="-2083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 smtClean="0">
                <a:latin typeface="Times New Roman"/>
                <a:cs typeface="Times New Roman"/>
              </a:rPr>
              <a:t>0,1,</a:t>
            </a:r>
            <a:r>
              <a:rPr lang="en-US" sz="2800" b="1" dirty="0" smtClean="0">
                <a:latin typeface="Times New Roman"/>
                <a:cs typeface="Times New Roman"/>
              </a:rPr>
              <a:t> </a:t>
            </a:r>
          </a:p>
          <a:p>
            <a:pPr>
              <a:lnSpc>
                <a:spcPct val="150000"/>
              </a:lnSpc>
            </a:pPr>
            <a:r>
              <a:rPr sz="2800" b="1" i="1" dirty="0" smtClean="0">
                <a:latin typeface="Times New Roman"/>
                <a:cs typeface="Times New Roman"/>
              </a:rPr>
              <a:t>x</a:t>
            </a:r>
            <a:r>
              <a:rPr sz="2800" b="1" i="1" baseline="-20833" dirty="0" smtClean="0">
                <a:latin typeface="Times New Roman"/>
                <a:cs typeface="Times New Roman"/>
              </a:rPr>
              <a:t>i</a:t>
            </a:r>
            <a:r>
              <a:rPr sz="2800" b="1" i="1" spc="-7" baseline="-20833" dirty="0" smtClean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 smtClean="0">
                <a:latin typeface="Times New Roman"/>
                <a:cs typeface="Times New Roman"/>
              </a:rPr>
              <a:t>1</a:t>
            </a:r>
            <a:r>
              <a:rPr lang="en-US" sz="2800" b="1" dirty="0" smtClean="0">
                <a:latin typeface="Times New Roman"/>
                <a:cs typeface="Times New Roman"/>
              </a:rPr>
              <a:t> </a:t>
            </a:r>
            <a:r>
              <a:rPr sz="2800" b="1" spc="-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当且仅当</a:t>
            </a:r>
            <a:r>
              <a:rPr sz="2800" b="1" spc="-10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第</a:t>
            </a:r>
            <a:r>
              <a:rPr sz="2800" b="1" spc="-585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</a:t>
            </a:r>
            <a:r>
              <a:rPr sz="2800" b="1" i="1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i</a:t>
            </a:r>
            <a:r>
              <a:rPr sz="2800" b="1" i="1" spc="-15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个集装箱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装上</a:t>
            </a:r>
            <a:r>
              <a:rPr sz="2800" b="1" spc="-10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船</a:t>
            </a:r>
            <a:endParaRPr sz="2800" b="1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63066" y="2942243"/>
            <a:ext cx="166176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目标函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数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3067" y="4283048"/>
            <a:ext cx="166176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约束条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件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829" y="2701252"/>
            <a:ext cx="4549800" cy="3071116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9112BF6-D124-46D4-8B5A-68672D85FE65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7144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4933761" y="100194"/>
            <a:ext cx="391594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算法设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4468" y="1216825"/>
            <a:ext cx="10796401" cy="4198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indent="-45720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l"/>
              <a:tabLst>
                <a:tab pos="367665" algn="l"/>
                <a:tab pos="368300" algn="l"/>
              </a:tabLst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贪心策略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：</a:t>
            </a:r>
            <a:r>
              <a:rPr sz="28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轻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者优</a:t>
            </a:r>
            <a:r>
              <a:rPr sz="2800" b="1" spc="-10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先</a:t>
            </a:r>
            <a:endParaRPr sz="2800" b="1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indent="-45720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l"/>
              <a:tabLst>
                <a:tab pos="367665" algn="l"/>
                <a:tab pos="368300" algn="l"/>
              </a:tabLst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算法设计</a:t>
            </a:r>
            <a:r>
              <a:rPr sz="2800" b="1" spc="-10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：</a:t>
            </a:r>
            <a:endParaRPr sz="2800" b="1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800" b="1" spc="-5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    </a:t>
            </a:r>
            <a:r>
              <a:rPr sz="2800" b="1" spc="-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将集装箱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排序</a:t>
            </a:r>
            <a:r>
              <a:rPr sz="2800" b="1" spc="5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，</a:t>
            </a:r>
            <a:r>
              <a:rPr sz="2800" b="1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使</a:t>
            </a:r>
            <a:r>
              <a:rPr sz="2800" b="1" spc="-10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得</a:t>
            </a:r>
            <a:endParaRPr sz="2800" b="1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800" b="1" i="1" dirty="0" smtClean="0">
                <a:latin typeface="Times New Roman"/>
                <a:cs typeface="Times New Roman"/>
              </a:rPr>
              <a:t>                                  </a:t>
            </a:r>
            <a:r>
              <a:rPr sz="2800" b="1" i="1" dirty="0" smtClean="0">
                <a:latin typeface="Times New Roman"/>
                <a:cs typeface="Times New Roman"/>
              </a:rPr>
              <a:t>w</a:t>
            </a:r>
            <a:r>
              <a:rPr sz="2800" b="1" baseline="-20833" dirty="0" smtClean="0">
                <a:latin typeface="Times New Roman"/>
                <a:cs typeface="Times New Roman"/>
              </a:rPr>
              <a:t>1 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baseline="-20833" dirty="0">
                <a:latin typeface="Times New Roman"/>
                <a:cs typeface="Times New Roman"/>
              </a:rPr>
              <a:t>2 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... 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2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i="1" baseline="-20833" dirty="0">
                <a:latin typeface="Times New Roman"/>
                <a:cs typeface="Times New Roman"/>
              </a:rPr>
              <a:t>n</a:t>
            </a:r>
            <a:endParaRPr sz="2800" b="1" baseline="-20833" dirty="0">
              <a:latin typeface="Times New Roman"/>
              <a:cs typeface="Times New Roman"/>
            </a:endParaRPr>
          </a:p>
          <a:p>
            <a:pPr marR="17780" indent="-1905" algn="just">
              <a:lnSpc>
                <a:spcPct val="150000"/>
              </a:lnSpc>
              <a:spcBef>
                <a:spcPts val="600"/>
              </a:spcBef>
            </a:pPr>
            <a:r>
              <a:rPr lang="en-US" sz="2800" b="1" spc="-5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    </a:t>
            </a:r>
            <a:r>
              <a:rPr sz="2800" b="1" spc="-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按照标号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从小</a:t>
            </a:r>
            <a:r>
              <a:rPr sz="2800" b="1" spc="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到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大装箱</a:t>
            </a:r>
            <a:r>
              <a:rPr sz="2800" b="1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，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直到装入</a:t>
            </a:r>
            <a:r>
              <a:rPr sz="2800" b="1" spc="-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下一个箱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子</a:t>
            </a:r>
            <a:r>
              <a:rPr sz="2800" b="1" spc="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将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使得集装箱总重超过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轮船装载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重</a:t>
            </a:r>
            <a:r>
              <a:rPr sz="28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量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限制，则停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止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Calibri"/>
              </a:rPr>
              <a:t>.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E4EC956-530D-4D1C-968E-97ABFBD97DE1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816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675201" y="1218429"/>
            <a:ext cx="10950741" cy="41216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176530" indent="-45720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l"/>
              <a:tabLst>
                <a:tab pos="354965" algn="l"/>
                <a:tab pos="355600" algn="l"/>
              </a:tabLst>
            </a:pPr>
            <a:r>
              <a:rPr sz="2800" b="1" spc="-5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命题：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装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载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问题任何</a:t>
            </a:r>
            <a:r>
              <a:rPr sz="2800" b="1" u="heavy" dirty="0" err="1" smtClean="0"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规模</a:t>
            </a:r>
            <a:r>
              <a:rPr sz="2800" b="1" u="heavy" spc="-10" dirty="0" err="1" smtClean="0"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sz="2800" b="1" u="heavy" spc="-10" dirty="0" smtClean="0"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u="heavy" spc="-620" dirty="0" smtClean="0"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u="heavy" spc="-5" dirty="0">
                <a:uFill>
                  <a:solidFill>
                    <a:srgbClr val="C00000"/>
                  </a:solidFill>
                </a:u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i="1" spc="-4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输入实例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spc="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法得到最优</a:t>
            </a: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marL="469900" indent="-45720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l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设集装箱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轻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到重记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1,</a:t>
            </a:r>
            <a:r>
              <a:rPr sz="2800" b="1" spc="1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2,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i="1" spc="-1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69900" indent="-45720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l"/>
              <a:tabLst>
                <a:tab pos="354965" algn="l"/>
                <a:tab pos="355600" algn="l"/>
              </a:tabLst>
            </a:pPr>
            <a:r>
              <a:rPr sz="2800" b="1" spc="-5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归纳基</a:t>
            </a:r>
            <a:r>
              <a:rPr sz="2800" b="1" spc="-10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础</a:t>
            </a:r>
            <a:r>
              <a:rPr sz="2800" b="1" spc="360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证明对任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何</a:t>
            </a:r>
            <a:r>
              <a:rPr sz="2800" b="1" spc="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只</a:t>
            </a:r>
            <a:r>
              <a:rPr sz="2800" b="1" spc="-1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含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个箱</a:t>
            </a:r>
            <a:r>
              <a:rPr sz="2800" b="1" spc="-1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</a:t>
            </a:r>
            <a:r>
              <a:rPr sz="2800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的输入实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贪心法得到最优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显然正确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marL="469900" marR="5080" indent="-45720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l"/>
              <a:tabLst>
                <a:tab pos="354965" algn="l"/>
                <a:tab pos="355600" algn="l"/>
              </a:tabLst>
            </a:pPr>
            <a:r>
              <a:rPr sz="2800" b="1" spc="-5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归纳步</a:t>
            </a:r>
            <a:r>
              <a:rPr sz="2800" b="1" spc="-10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骤</a:t>
            </a:r>
            <a:r>
              <a:rPr sz="2800" b="1" spc="37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假设对于任何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spc="-1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sz="2800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箱子的输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入</a:t>
            </a:r>
            <a:r>
              <a:rPr sz="2800" b="1" spc="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例贪心法都能得到最</a:t>
            </a:r>
            <a:r>
              <a:rPr sz="2800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优解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，那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么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于任何</a:t>
            </a:r>
            <a:r>
              <a:rPr sz="2800" b="1" i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+1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个箱子的输</a:t>
            </a:r>
            <a:r>
              <a:rPr sz="2800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入实例贪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心</a:t>
            </a:r>
            <a:r>
              <a:rPr sz="2800" b="1" spc="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法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也得到最优</a:t>
            </a:r>
            <a:r>
              <a:rPr sz="2800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sz="2800" b="1" dirty="0">
                <a:latin typeface="Calibri"/>
                <a:cs typeface="Calibri"/>
              </a:rPr>
              <a:t>.</a:t>
            </a:r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4326610" y="94938"/>
            <a:ext cx="633088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正确性证明思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8D06C24-00B5-45C8-8EC6-654ADB6EDA67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845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4368225" y="80619"/>
            <a:ext cx="495795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归纳步骤证明</a:t>
            </a:r>
            <a:r>
              <a:rPr lang="zh-CN" altLang="en-US" sz="4000" b="1" spc="-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路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9291" y="1427906"/>
            <a:ext cx="4848613" cy="467436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={1,2,...,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+1},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5" dirty="0">
                <a:latin typeface="Times New Roman"/>
                <a:cs typeface="Times New Roman"/>
              </a:rPr>
              <a:t>...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Times New Roman"/>
                <a:cs typeface="Times New Roman"/>
              </a:rPr>
              <a:t>+1</a:t>
            </a:r>
            <a:endParaRPr sz="2800" baseline="-20833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86289" y="2179876"/>
            <a:ext cx="5714619" cy="782265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90805">
              <a:lnSpc>
                <a:spcPts val="2990"/>
              </a:lnSpc>
              <a:spcBef>
                <a:spcPts val="200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去掉箱子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宋体"/>
                <a:cs typeface="宋体"/>
              </a:rPr>
              <a:t>，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令</a:t>
            </a:r>
            <a:r>
              <a:rPr sz="2800" b="1" spc="-580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C'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30" dirty="0">
                <a:latin typeface="Times New Roman"/>
                <a:cs typeface="Times New Roman"/>
              </a:rPr>
              <a:t>C</a:t>
            </a:r>
            <a:r>
              <a:rPr sz="2800" b="1" i="1" spc="-30" dirty="0">
                <a:latin typeface="Symbol"/>
                <a:cs typeface="Symbol"/>
              </a:rPr>
              <a:t>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{</a:t>
            </a:r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}</a:t>
            </a:r>
            <a:r>
              <a:rPr sz="2800" b="1" spc="-5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  <a:p>
            <a:pPr marL="90805">
              <a:lnSpc>
                <a:spcPts val="2870"/>
              </a:lnSpc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得到规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模</a:t>
            </a:r>
            <a:r>
              <a:rPr sz="2800" b="1" spc="-585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的输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入</a:t>
            </a:r>
            <a:r>
              <a:rPr sz="2800" b="1" spc="-580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N'</a:t>
            </a:r>
            <a:r>
              <a:rPr sz="2800" b="1" spc="-5" dirty="0">
                <a:latin typeface="Times New Roman"/>
                <a:cs typeface="Times New Roman"/>
              </a:rPr>
              <a:t>=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{2,3,...,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+1}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02807" y="1965725"/>
            <a:ext cx="240792" cy="2407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3686937" y="3273697"/>
            <a:ext cx="4680967" cy="47000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关于输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入</a:t>
            </a:r>
            <a:r>
              <a:rPr sz="2800" b="1" spc="-595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N'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和</a:t>
            </a:r>
            <a:r>
              <a:rPr sz="2800" b="1" i="1" spc="-5" dirty="0">
                <a:latin typeface="Times New Roman"/>
                <a:cs typeface="Times New Roman"/>
              </a:rPr>
              <a:t>C'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的最优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解</a:t>
            </a:r>
            <a:r>
              <a:rPr sz="2800" b="1" spc="-585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I'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02807" y="3032524"/>
            <a:ext cx="240792" cy="2407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8" name="object 8"/>
          <p:cNvSpPr txBox="1"/>
          <p:nvPr/>
        </p:nvSpPr>
        <p:spPr>
          <a:xfrm>
            <a:off x="4038980" y="4035697"/>
            <a:ext cx="4075006" cy="469359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0"/>
              </a:spcBef>
            </a:pP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在</a:t>
            </a:r>
            <a:r>
              <a:rPr sz="2800" b="1" spc="-615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I'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加入箱子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宋体"/>
                <a:cs typeface="宋体"/>
              </a:rPr>
              <a:t>，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得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到</a:t>
            </a:r>
            <a:r>
              <a:rPr sz="2800" b="1" spc="-590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02807" y="3794525"/>
            <a:ext cx="240792" cy="2407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10" name="object 10"/>
          <p:cNvSpPr txBox="1"/>
          <p:nvPr/>
        </p:nvSpPr>
        <p:spPr>
          <a:xfrm>
            <a:off x="3686937" y="4797697"/>
            <a:ext cx="5299408" cy="469359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00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证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明</a:t>
            </a:r>
            <a:r>
              <a:rPr sz="2800" b="1" spc="-610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是关于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输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入</a:t>
            </a:r>
            <a:r>
              <a:rPr sz="2800" b="1" spc="-590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的最优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解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02807" y="4556525"/>
            <a:ext cx="240792" cy="240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sp>
        <p:nvSpPr>
          <p:cNvPr id="15" name="日期占位符 1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DAA0C39-B3D7-4CC3-AED3-B81AE06BC888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18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4880220" y="96842"/>
            <a:ext cx="464607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正确性证明</a:t>
            </a:r>
            <a:r>
              <a:rPr lang="en-US" altLang="zh-CN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续</a:t>
            </a:r>
            <a:r>
              <a:rPr lang="en-US" altLang="zh-CN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3683" y="811394"/>
            <a:ext cx="10962289" cy="1946943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50000"/>
              </a:lnSpc>
            </a:pPr>
            <a:r>
              <a:rPr lang="zh-CN" altLang="en-US" sz="2800" b="1" i="1" spc="-5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假定 </a:t>
            </a:r>
            <a:r>
              <a:rPr sz="2800" b="1" i="1" spc="-5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 </a:t>
            </a:r>
            <a:r>
              <a:rPr lang="en-US" sz="2800" b="1" spc="-5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err="1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是关</a:t>
            </a:r>
            <a:r>
              <a:rPr sz="2800" b="1" spc="-10" dirty="0" err="1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于</a:t>
            </a:r>
            <a:r>
              <a:rPr sz="2800" b="1" spc="-580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2800" b="1" i="1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的最优解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若不然，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包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含</a:t>
            </a:r>
            <a:r>
              <a:rPr sz="2800" b="1" spc="-59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spc="-1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的关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于</a:t>
            </a:r>
            <a:r>
              <a:rPr sz="2800" b="1" spc="-60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的最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优解</a:t>
            </a:r>
            <a:r>
              <a:rPr sz="2800" b="1" spc="-61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Times New Roman"/>
                <a:cs typeface="Times New Roman"/>
              </a:rPr>
              <a:t>*(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如</a:t>
            </a:r>
            <a:r>
              <a:rPr sz="2800" b="1" spc="-10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果</a:t>
            </a:r>
            <a:r>
              <a:rPr sz="2800" b="1" spc="-600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Times New Roman"/>
                <a:cs typeface="Times New Roman"/>
              </a:rPr>
              <a:t>*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中没有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宋体"/>
                <a:cs typeface="宋体"/>
              </a:rPr>
              <a:t>，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sz="2800" b="1" spc="-58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替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换</a:t>
            </a:r>
            <a:r>
              <a:rPr sz="2800" b="1" spc="-60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Times New Roman"/>
                <a:cs typeface="Times New Roman"/>
              </a:rPr>
              <a:t>*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的第一个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素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得到的解也是最优解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),</a:t>
            </a:r>
            <a:r>
              <a:rPr sz="2800" b="1" spc="-5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10" dirty="0" smtClean="0">
                <a:latin typeface="黑体" pitchFamily="49" charset="-122"/>
                <a:ea typeface="黑体" pitchFamily="49" charset="-122"/>
                <a:cs typeface="宋体"/>
              </a:rPr>
              <a:t>且</a:t>
            </a:r>
            <a:r>
              <a:rPr lang="en-US" sz="2800" b="1" spc="-10" dirty="0" smtClean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spc="-5" dirty="0" smtClean="0">
                <a:latin typeface="Times New Roman"/>
                <a:cs typeface="Times New Roman"/>
              </a:rPr>
              <a:t>|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Times New Roman"/>
                <a:cs typeface="Times New Roman"/>
              </a:rPr>
              <a:t>*|&gt;|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 </a:t>
            </a:r>
            <a:r>
              <a:rPr sz="2800" b="1" spc="-5" dirty="0" smtClean="0">
                <a:latin typeface="Times New Roman"/>
                <a:cs typeface="Times New Roman"/>
              </a:rPr>
              <a:t>|</a:t>
            </a:r>
            <a:r>
              <a:rPr sz="2800" b="1" spc="-5" dirty="0" smtClean="0">
                <a:latin typeface="宋体"/>
                <a:cs typeface="宋体"/>
              </a:rPr>
              <a:t>；</a:t>
            </a:r>
            <a:endParaRPr lang="en-US" sz="2800" b="1" spc="-5" dirty="0" smtClean="0">
              <a:latin typeface="宋体"/>
              <a:cs typeface="宋体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F613D33-4E01-4A37-850E-DB996E9C1CFE}" type="datetime1">
              <a:rPr lang="zh-CN" altLang="en-US" smtClean="0"/>
              <a:t>2019/5/22</a:t>
            </a:fld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612" y="4643824"/>
            <a:ext cx="6546850" cy="143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597262" y="2834227"/>
            <a:ext cx="1077675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lang="zh-CN" altLang="en-US" sz="28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那么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lang="en-US" altLang="zh-CN"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*</a:t>
            </a:r>
            <a:r>
              <a:rPr lang="en-US" altLang="zh-CN" sz="2800" b="1" dirty="0">
                <a:solidFill>
                  <a:srgbClr val="C00000"/>
                </a:solidFill>
                <a:latin typeface="Symbol"/>
                <a:cs typeface="Symbol"/>
              </a:rPr>
              <a:t></a:t>
            </a:r>
            <a:r>
              <a:rPr lang="en-US" altLang="zh-CN"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{1}</a:t>
            </a:r>
            <a:r>
              <a:rPr lang="zh-CN" altLang="en-US" sz="2800" b="1" spc="-1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是</a:t>
            </a:r>
            <a:r>
              <a:rPr lang="zh-CN" altLang="en-US" sz="2800" b="1" spc="-600" dirty="0">
                <a:solidFill>
                  <a:srgbClr val="C00000"/>
                </a:solidFill>
                <a:latin typeface="宋体"/>
                <a:cs typeface="宋体"/>
              </a:rPr>
              <a:t> </a:t>
            </a:r>
            <a:r>
              <a:rPr lang="en-US" altLang="zh-CN"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N' </a:t>
            </a:r>
            <a:r>
              <a:rPr lang="zh-CN" altLang="en-US" sz="28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和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/>
                <a:cs typeface="Times New Roman"/>
              </a:rPr>
              <a:t>C'</a:t>
            </a:r>
            <a:r>
              <a:rPr lang="en-US" altLang="zh-CN" sz="2800" b="1" i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zh-CN" altLang="en-US" sz="28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的解</a:t>
            </a:r>
            <a:r>
              <a:rPr lang="zh-CN" altLang="en-US" sz="2800" b="1" spc="-1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且</a:t>
            </a:r>
            <a:endParaRPr lang="zh-CN" altLang="en-US" sz="28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R="399415" algn="ctr">
              <a:lnSpc>
                <a:spcPct val="150000"/>
              </a:lnSpc>
            </a:pPr>
            <a:r>
              <a:rPr lang="en-US" altLang="zh-CN"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| </a:t>
            </a:r>
            <a:r>
              <a:rPr lang="en-US" altLang="zh-CN"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lang="en-US" altLang="zh-CN"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*</a:t>
            </a:r>
            <a:r>
              <a:rPr lang="en-US" altLang="zh-CN" sz="2800" b="1" spc="-5" dirty="0">
                <a:solidFill>
                  <a:srgbClr val="C00000"/>
                </a:solidFill>
                <a:latin typeface="Symbol"/>
                <a:cs typeface="Symbol"/>
              </a:rPr>
              <a:t></a:t>
            </a:r>
            <a:r>
              <a:rPr lang="en-US" altLang="zh-CN"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{1}| </a:t>
            </a:r>
            <a:r>
              <a:rPr lang="en-US" altLang="zh-CN"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&gt; </a:t>
            </a:r>
            <a:r>
              <a:rPr lang="en-US" altLang="zh-CN"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| </a:t>
            </a:r>
            <a:r>
              <a:rPr lang="en-US" altLang="zh-CN"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I </a:t>
            </a:r>
            <a:r>
              <a:rPr lang="en-US" altLang="zh-CN" sz="2800" b="1" spc="-5" dirty="0">
                <a:solidFill>
                  <a:srgbClr val="C00000"/>
                </a:solidFill>
                <a:latin typeface="Symbol"/>
                <a:cs typeface="Symbol"/>
              </a:rPr>
              <a:t></a:t>
            </a:r>
            <a:r>
              <a:rPr lang="en-US" altLang="zh-CN"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{1} | </a:t>
            </a:r>
            <a:r>
              <a:rPr lang="en-US" altLang="zh-CN"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= </a:t>
            </a:r>
            <a:r>
              <a:rPr lang="en-US" altLang="zh-CN"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| </a:t>
            </a:r>
            <a:r>
              <a:rPr lang="en-US" altLang="zh-CN"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I'</a:t>
            </a:r>
            <a:r>
              <a:rPr lang="en-US" altLang="zh-CN" sz="2800" b="1" i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|</a:t>
            </a:r>
            <a:endParaRPr lang="en-US" altLang="zh-CN" sz="2800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50000"/>
              </a:lnSpc>
            </a:pPr>
            <a:r>
              <a:rPr lang="zh-CN" altLang="en-US" sz="2800" b="1" spc="-1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zh-CN" altLang="en-US" sz="2800" b="1" spc="-61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I'</a:t>
            </a:r>
            <a:r>
              <a:rPr lang="zh-CN" altLang="en-US"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是关于</a:t>
            </a:r>
            <a:r>
              <a:rPr lang="en-US" altLang="zh-CN" sz="2800" b="1" i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N'</a:t>
            </a:r>
            <a:r>
              <a:rPr lang="en-US" altLang="zh-CN" sz="2800" b="1" i="1" spc="1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C'</a:t>
            </a:r>
            <a:r>
              <a:rPr lang="en-US" altLang="zh-CN" sz="2800" b="1" i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的最优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解矛</a:t>
            </a:r>
            <a:r>
              <a:rPr lang="zh-CN" altLang="en-US"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盾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78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5354320" y="80623"/>
            <a:ext cx="282229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319" y="1095480"/>
            <a:ext cx="10820488" cy="19277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0" marR="5080" indent="-51435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l"/>
              <a:tabLst>
                <a:tab pos="271145" algn="l"/>
                <a:tab pos="271780" algn="l"/>
              </a:tabLst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装载问题是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0-1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背包的子问</a:t>
            </a:r>
            <a:r>
              <a:rPr sz="2800" b="1" spc="-10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题</a:t>
            </a:r>
            <a:r>
              <a:rPr sz="2800" b="1" spc="-5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(</a:t>
            </a:r>
            <a:r>
              <a:rPr sz="2800" b="1" spc="-5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每</a:t>
            </a:r>
            <a:r>
              <a:rPr sz="2800" b="1" spc="-10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件</a:t>
            </a:r>
            <a:r>
              <a:rPr sz="2800" b="1" spc="-5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物品重量为</a:t>
            </a:r>
            <a:r>
              <a:rPr sz="2800" b="1" spc="5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1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)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，</a:t>
            </a:r>
            <a:r>
              <a:rPr sz="2800" b="1" spc="-5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N</a:t>
            </a:r>
            <a:r>
              <a:rPr sz="2800" b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P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难的问</a:t>
            </a:r>
            <a:r>
              <a:rPr sz="2800" b="1" spc="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题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存在多</a:t>
            </a:r>
            <a:r>
              <a:rPr sz="2800" b="1" spc="-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项式时间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可</a:t>
            </a:r>
            <a:r>
              <a:rPr sz="2800" b="1" spc="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解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的子问</a:t>
            </a:r>
            <a:r>
              <a:rPr sz="2800" b="1" spc="-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题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.</a:t>
            </a:r>
          </a:p>
          <a:p>
            <a:pPr marL="527051" indent="-514350" algn="just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l"/>
              <a:tabLst>
                <a:tab pos="271145" algn="l"/>
                <a:tab pos="271780" algn="l"/>
              </a:tabLst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贪心法证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明</a:t>
            </a:r>
            <a:r>
              <a:rPr sz="28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：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对规模归纳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345E1E5-C0AE-4DFF-AD15-2C0E4A2DC4A5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541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2585545" y="2596057"/>
            <a:ext cx="7882758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66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最小</a:t>
            </a:r>
            <a:r>
              <a:rPr lang="zh-CN" altLang="en-US" sz="6600" b="1" spc="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延</a:t>
            </a:r>
            <a:r>
              <a:rPr lang="zh-CN" altLang="en-US" sz="6600" b="1" spc="-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迟调度问题</a:t>
            </a:r>
            <a:endParaRPr lang="zh-CN" altLang="en-US" sz="66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6C1F8-11CD-4249-A6B6-D494F5070295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5044-FDA5-4AF6-ADF3-054E764BAB1A}" type="datetime1">
              <a:rPr lang="zh-CN" altLang="en-US" smtClean="0"/>
              <a:t>2019/5/22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149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3864017" y="94593"/>
            <a:ext cx="553275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最小</a:t>
            </a:r>
            <a:r>
              <a:rPr lang="zh-CN" altLang="en-US" sz="4000" b="1" spc="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延</a:t>
            </a:r>
            <a:r>
              <a:rPr lang="zh-CN" altLang="en-US" sz="4000" b="1" spc="-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迟调度问题</a:t>
            </a:r>
            <a:endParaRPr lang="zh-CN" altLang="en-US" sz="4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672663" y="921997"/>
            <a:ext cx="10836166" cy="1548757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50800">
              <a:lnSpc>
                <a:spcPts val="3900"/>
              </a:lnSpc>
              <a:spcBef>
                <a:spcPts val="600"/>
              </a:spcBef>
            </a:pPr>
            <a:r>
              <a:rPr sz="2800" b="1" spc="-5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sz="2800" b="1" spc="-10" dirty="0" err="1" smtClean="0">
                <a:latin typeface="宋体"/>
                <a:cs typeface="宋体"/>
              </a:rPr>
              <a:t>：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客户集合</a:t>
            </a:r>
            <a:r>
              <a:rPr sz="2800" b="1" i="1" spc="-5" dirty="0" err="1">
                <a:latin typeface="Times New Roman"/>
                <a:cs typeface="Times New Roman"/>
              </a:rPr>
              <a:t>A</a:t>
            </a:r>
            <a:r>
              <a:rPr sz="2800" b="1" spc="-5" dirty="0">
                <a:latin typeface="宋体"/>
                <a:cs typeface="宋体"/>
              </a:rPr>
              <a:t>，</a:t>
            </a:r>
            <a:r>
              <a:rPr sz="2800" b="1" spc="-5" dirty="0">
                <a:latin typeface="Symbol"/>
                <a:cs typeface="Symbol"/>
              </a:rPr>
              <a:t>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Symbol"/>
                <a:cs typeface="Symbol"/>
              </a:rPr>
              <a:t>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5" dirty="0">
                <a:latin typeface="宋体"/>
                <a:cs typeface="宋体"/>
              </a:rPr>
              <a:t>，</a:t>
            </a: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i="1" spc="-7" baseline="-20833" dirty="0">
                <a:latin typeface="Times New Roman"/>
                <a:cs typeface="Times New Roman"/>
              </a:rPr>
              <a:t>i </a:t>
            </a: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为服务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时间</a:t>
            </a:r>
            <a:r>
              <a:rPr sz="2800" b="1" dirty="0" err="1">
                <a:latin typeface="宋体"/>
                <a:cs typeface="宋体"/>
              </a:rPr>
              <a:t>，</a:t>
            </a:r>
            <a:r>
              <a:rPr sz="2800" b="1" i="1" dirty="0" err="1">
                <a:latin typeface="Times New Roman"/>
                <a:cs typeface="Times New Roman"/>
              </a:rPr>
              <a:t>d</a:t>
            </a:r>
            <a:r>
              <a:rPr sz="2800" b="1" i="1" baseline="-20833" dirty="0" err="1">
                <a:latin typeface="Times New Roman"/>
                <a:cs typeface="Times New Roman"/>
              </a:rPr>
              <a:t>i</a:t>
            </a:r>
            <a:r>
              <a:rPr sz="2800" b="1" i="1" baseline="-20833" dirty="0">
                <a:latin typeface="Times New Roman"/>
                <a:cs typeface="Times New Roman"/>
              </a:rPr>
              <a:t> 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要求完成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间</a:t>
            </a:r>
            <a:r>
              <a:rPr sz="2800" b="1" spc="-5" dirty="0" err="1">
                <a:latin typeface="宋体"/>
                <a:cs typeface="宋体"/>
              </a:rPr>
              <a:t>，</a:t>
            </a:r>
            <a:r>
              <a:rPr sz="2800" b="1" i="1" spc="-5" dirty="0" err="1">
                <a:latin typeface="Times New Roman"/>
                <a:cs typeface="Times New Roman"/>
              </a:rPr>
              <a:t>t</a:t>
            </a:r>
            <a:r>
              <a:rPr sz="2800" b="1" i="1" spc="-7" baseline="-20833" dirty="0" err="1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spc="5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</a:t>
            </a:r>
            <a:r>
              <a:rPr sz="2800" b="1" i="1" spc="-7" baseline="-20833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为正整数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sz="2800" b="1" spc="59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一个</a:t>
            </a:r>
            <a:r>
              <a:rPr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调</a:t>
            </a:r>
            <a:r>
              <a:rPr sz="2800" b="1" spc="-1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度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sz="2800" b="1" i="1" spc="-1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5" dirty="0">
                <a:latin typeface="Symbol"/>
                <a:cs typeface="Symbol"/>
              </a:rPr>
              <a:t></a:t>
            </a:r>
            <a:r>
              <a:rPr sz="2800" b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宋体"/>
                <a:cs typeface="宋体"/>
              </a:rPr>
              <a:t>，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为客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户</a:t>
            </a:r>
            <a:r>
              <a:rPr sz="2800" b="1" spc="-58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sz="2800" b="1" i="1" spc="-1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的开始时间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sz="2800" b="1" spc="2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1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en-US"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最大延迟达到最小的调度，即求 </a:t>
            </a:r>
            <a:r>
              <a:rPr lang="en-US" altLang="zh-CN"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zh-CN" altLang="en-US" sz="2800" b="1" spc="-1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使得</a:t>
            </a:r>
            <a:endParaRPr lang="zh-CN" altLang="en-US" sz="2800" b="1" spc="-1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3D0E534-476B-42E6-B7FD-058155C1FEC3}" type="datetime1">
              <a:rPr lang="zh-CN" altLang="en-US" smtClean="0"/>
              <a:t>2019/5/22</a:t>
            </a:fld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753" y="2470754"/>
            <a:ext cx="6083300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object 3"/>
          <p:cNvSpPr/>
          <p:nvPr/>
        </p:nvSpPr>
        <p:spPr>
          <a:xfrm>
            <a:off x="3335720" y="5511125"/>
            <a:ext cx="0" cy="29209"/>
          </a:xfrm>
          <a:custGeom>
            <a:avLst/>
            <a:gdLst/>
            <a:ahLst/>
            <a:cxnLst/>
            <a:rect l="l" t="t" r="r" b="b"/>
            <a:pathLst>
              <a:path h="29210">
                <a:moveTo>
                  <a:pt x="0" y="0"/>
                </a:moveTo>
                <a:lnTo>
                  <a:pt x="0" y="2895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3335530" y="5308432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0"/>
                </a:moveTo>
                <a:lnTo>
                  <a:pt x="0" y="215646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4200400" y="5308432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0"/>
                </a:moveTo>
                <a:lnTo>
                  <a:pt x="0" y="215646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/>
          <p:nvPr/>
        </p:nvSpPr>
        <p:spPr>
          <a:xfrm>
            <a:off x="5640580" y="5308432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0"/>
                </a:moveTo>
                <a:lnTo>
                  <a:pt x="0" y="215646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7"/>
          <p:cNvSpPr/>
          <p:nvPr/>
        </p:nvSpPr>
        <p:spPr>
          <a:xfrm>
            <a:off x="6388864" y="5308432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0"/>
                </a:moveTo>
                <a:lnTo>
                  <a:pt x="0" y="215646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8"/>
          <p:cNvSpPr/>
          <p:nvPr/>
        </p:nvSpPr>
        <p:spPr>
          <a:xfrm>
            <a:off x="8175754" y="5308432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0"/>
                </a:moveTo>
                <a:lnTo>
                  <a:pt x="0" y="215646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9"/>
          <p:cNvSpPr txBox="1"/>
          <p:nvPr/>
        </p:nvSpPr>
        <p:spPr>
          <a:xfrm>
            <a:off x="7189954" y="5614439"/>
            <a:ext cx="135255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99515" algn="l"/>
              </a:tabLst>
            </a:pPr>
            <a:r>
              <a:rPr sz="2200" b="1" dirty="0">
                <a:solidFill>
                  <a:srgbClr val="050505"/>
                </a:solidFill>
                <a:latin typeface="Times New Roman"/>
                <a:cs typeface="Times New Roman"/>
              </a:rPr>
              <a:t>4	</a:t>
            </a:r>
            <a:r>
              <a:rPr sz="2200" b="1" dirty="0"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6" name="object 10"/>
          <p:cNvSpPr txBox="1"/>
          <p:nvPr/>
        </p:nvSpPr>
        <p:spPr>
          <a:xfrm>
            <a:off x="3344166" y="5110821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1"/>
          <p:cNvSpPr txBox="1"/>
          <p:nvPr/>
        </p:nvSpPr>
        <p:spPr>
          <a:xfrm>
            <a:off x="4068842" y="5084912"/>
            <a:ext cx="1570594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0485" algn="l"/>
                <a:tab pos="2108835" algn="l"/>
                <a:tab pos="3925570" algn="l"/>
                <a:tab pos="4485005" algn="l"/>
              </a:tabLst>
            </a:pPr>
            <a:r>
              <a:rPr lang="en-US" sz="2200" b="1" i="1" dirty="0" smtClean="0">
                <a:latin typeface="Times New Roman"/>
                <a:cs typeface="Times New Roman"/>
              </a:rPr>
              <a:t>f</a:t>
            </a:r>
            <a:r>
              <a:rPr lang="en-US" sz="2200" b="1" dirty="0" smtClean="0">
                <a:latin typeface="Times New Roman"/>
                <a:cs typeface="Times New Roman"/>
              </a:rPr>
              <a:t>(</a:t>
            </a:r>
            <a:r>
              <a:rPr lang="en-US" sz="2200" b="1" i="1" dirty="0" smtClean="0">
                <a:latin typeface="Times New Roman"/>
                <a:cs typeface="Times New Roman"/>
              </a:rPr>
              <a:t>i</a:t>
            </a:r>
            <a:r>
              <a:rPr lang="en-US" sz="2200" b="1" dirty="0" smtClean="0">
                <a:latin typeface="Times New Roman"/>
                <a:cs typeface="Times New Roman"/>
              </a:rPr>
              <a:t>)</a:t>
            </a:r>
            <a:r>
              <a:rPr lang="en-US" sz="2200" b="1" dirty="0">
                <a:latin typeface="Times New Roman"/>
                <a:cs typeface="Times New Roman"/>
              </a:rPr>
              <a:t> </a:t>
            </a:r>
            <a:r>
              <a:rPr lang="en-US" sz="2200" b="1" dirty="0" smtClean="0">
                <a:latin typeface="Times New Roman"/>
                <a:cs typeface="Times New Roman"/>
              </a:rPr>
              <a:t>    </a:t>
            </a:r>
            <a:r>
              <a:rPr lang="en-US" sz="2200" b="1" i="1" dirty="0" smtClean="0">
                <a:latin typeface="Times New Roman"/>
                <a:cs typeface="Times New Roman"/>
              </a:rPr>
              <a:t> i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8" name="object 12"/>
          <p:cNvSpPr/>
          <p:nvPr/>
        </p:nvSpPr>
        <p:spPr>
          <a:xfrm>
            <a:off x="3335910" y="5471120"/>
            <a:ext cx="863600" cy="144145"/>
          </a:xfrm>
          <a:custGeom>
            <a:avLst/>
            <a:gdLst/>
            <a:ahLst/>
            <a:cxnLst/>
            <a:rect l="l" t="t" r="r" b="b"/>
            <a:pathLst>
              <a:path w="863600" h="144145">
                <a:moveTo>
                  <a:pt x="0" y="0"/>
                </a:moveTo>
                <a:lnTo>
                  <a:pt x="863346" y="0"/>
                </a:lnTo>
                <a:lnTo>
                  <a:pt x="863346" y="144017"/>
                </a:lnTo>
                <a:lnTo>
                  <a:pt x="0" y="144017"/>
                </a:lnTo>
                <a:lnTo>
                  <a:pt x="0" y="0"/>
                </a:lnTo>
                <a:close/>
              </a:path>
            </a:pathLst>
          </a:custGeom>
          <a:solidFill>
            <a:srgbClr val="99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3"/>
          <p:cNvSpPr/>
          <p:nvPr/>
        </p:nvSpPr>
        <p:spPr>
          <a:xfrm>
            <a:off x="3335910" y="5471120"/>
            <a:ext cx="863600" cy="144145"/>
          </a:xfrm>
          <a:custGeom>
            <a:avLst/>
            <a:gdLst/>
            <a:ahLst/>
            <a:cxnLst/>
            <a:rect l="l" t="t" r="r" b="b"/>
            <a:pathLst>
              <a:path w="863600" h="144145">
                <a:moveTo>
                  <a:pt x="0" y="0"/>
                </a:moveTo>
                <a:lnTo>
                  <a:pt x="863346" y="0"/>
                </a:lnTo>
                <a:lnTo>
                  <a:pt x="863346" y="144017"/>
                </a:lnTo>
                <a:lnTo>
                  <a:pt x="0" y="144017"/>
                </a:lnTo>
                <a:lnTo>
                  <a:pt x="0" y="0"/>
                </a:lnTo>
                <a:close/>
              </a:path>
            </a:pathLst>
          </a:custGeom>
          <a:ln w="990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4"/>
          <p:cNvSpPr/>
          <p:nvPr/>
        </p:nvSpPr>
        <p:spPr>
          <a:xfrm>
            <a:off x="4199256" y="5469595"/>
            <a:ext cx="1442085" cy="144145"/>
          </a:xfrm>
          <a:custGeom>
            <a:avLst/>
            <a:gdLst/>
            <a:ahLst/>
            <a:cxnLst/>
            <a:rect l="l" t="t" r="r" b="b"/>
            <a:pathLst>
              <a:path w="1442085" h="144145">
                <a:moveTo>
                  <a:pt x="0" y="0"/>
                </a:moveTo>
                <a:lnTo>
                  <a:pt x="1441704" y="0"/>
                </a:lnTo>
                <a:lnTo>
                  <a:pt x="1441704" y="144018"/>
                </a:lnTo>
                <a:lnTo>
                  <a:pt x="0" y="144018"/>
                </a:lnTo>
                <a:lnTo>
                  <a:pt x="0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5"/>
          <p:cNvSpPr/>
          <p:nvPr/>
        </p:nvSpPr>
        <p:spPr>
          <a:xfrm>
            <a:off x="4199256" y="5469595"/>
            <a:ext cx="1442085" cy="144145"/>
          </a:xfrm>
          <a:custGeom>
            <a:avLst/>
            <a:gdLst/>
            <a:ahLst/>
            <a:cxnLst/>
            <a:rect l="l" t="t" r="r" b="b"/>
            <a:pathLst>
              <a:path w="1442085" h="144145">
                <a:moveTo>
                  <a:pt x="0" y="0"/>
                </a:moveTo>
                <a:lnTo>
                  <a:pt x="1441704" y="0"/>
                </a:lnTo>
                <a:lnTo>
                  <a:pt x="1441704" y="144018"/>
                </a:lnTo>
                <a:lnTo>
                  <a:pt x="0" y="144018"/>
                </a:lnTo>
                <a:lnTo>
                  <a:pt x="0" y="0"/>
                </a:lnTo>
                <a:close/>
              </a:path>
            </a:pathLst>
          </a:custGeom>
          <a:ln w="990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6"/>
          <p:cNvSpPr/>
          <p:nvPr/>
        </p:nvSpPr>
        <p:spPr>
          <a:xfrm>
            <a:off x="5639436" y="5471120"/>
            <a:ext cx="749935" cy="144145"/>
          </a:xfrm>
          <a:custGeom>
            <a:avLst/>
            <a:gdLst/>
            <a:ahLst/>
            <a:cxnLst/>
            <a:rect l="l" t="t" r="r" b="b"/>
            <a:pathLst>
              <a:path w="749935" h="144145">
                <a:moveTo>
                  <a:pt x="0" y="0"/>
                </a:moveTo>
                <a:lnTo>
                  <a:pt x="749808" y="0"/>
                </a:lnTo>
                <a:lnTo>
                  <a:pt x="749808" y="144017"/>
                </a:lnTo>
                <a:lnTo>
                  <a:pt x="0" y="144017"/>
                </a:lnTo>
                <a:lnTo>
                  <a:pt x="0" y="0"/>
                </a:lnTo>
                <a:close/>
              </a:path>
            </a:pathLst>
          </a:custGeom>
          <a:solidFill>
            <a:srgbClr val="66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7"/>
          <p:cNvSpPr/>
          <p:nvPr/>
        </p:nvSpPr>
        <p:spPr>
          <a:xfrm>
            <a:off x="5639436" y="5471120"/>
            <a:ext cx="749935" cy="144145"/>
          </a:xfrm>
          <a:custGeom>
            <a:avLst/>
            <a:gdLst/>
            <a:ahLst/>
            <a:cxnLst/>
            <a:rect l="l" t="t" r="r" b="b"/>
            <a:pathLst>
              <a:path w="749935" h="144145">
                <a:moveTo>
                  <a:pt x="0" y="0"/>
                </a:moveTo>
                <a:lnTo>
                  <a:pt x="749808" y="0"/>
                </a:lnTo>
                <a:lnTo>
                  <a:pt x="749808" y="144017"/>
                </a:lnTo>
                <a:lnTo>
                  <a:pt x="0" y="144017"/>
                </a:lnTo>
                <a:lnTo>
                  <a:pt x="0" y="0"/>
                </a:lnTo>
                <a:close/>
              </a:path>
            </a:pathLst>
          </a:custGeom>
          <a:ln w="990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8"/>
          <p:cNvSpPr/>
          <p:nvPr/>
        </p:nvSpPr>
        <p:spPr>
          <a:xfrm>
            <a:off x="6387721" y="5469595"/>
            <a:ext cx="1786255" cy="144145"/>
          </a:xfrm>
          <a:custGeom>
            <a:avLst/>
            <a:gdLst/>
            <a:ahLst/>
            <a:cxnLst/>
            <a:rect l="l" t="t" r="r" b="b"/>
            <a:pathLst>
              <a:path w="1786254" h="144145">
                <a:moveTo>
                  <a:pt x="0" y="0"/>
                </a:moveTo>
                <a:lnTo>
                  <a:pt x="1786127" y="0"/>
                </a:lnTo>
                <a:lnTo>
                  <a:pt x="1786127" y="144018"/>
                </a:lnTo>
                <a:lnTo>
                  <a:pt x="0" y="144018"/>
                </a:lnTo>
                <a:lnTo>
                  <a:pt x="0" y="0"/>
                </a:lnTo>
                <a:close/>
              </a:path>
            </a:pathLst>
          </a:custGeom>
          <a:solidFill>
            <a:srgbClr val="C4BD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9"/>
          <p:cNvSpPr/>
          <p:nvPr/>
        </p:nvSpPr>
        <p:spPr>
          <a:xfrm>
            <a:off x="6387721" y="5469595"/>
            <a:ext cx="1786255" cy="144145"/>
          </a:xfrm>
          <a:custGeom>
            <a:avLst/>
            <a:gdLst/>
            <a:ahLst/>
            <a:cxnLst/>
            <a:rect l="l" t="t" r="r" b="b"/>
            <a:pathLst>
              <a:path w="1786254" h="144145">
                <a:moveTo>
                  <a:pt x="0" y="0"/>
                </a:moveTo>
                <a:lnTo>
                  <a:pt x="1786127" y="0"/>
                </a:lnTo>
                <a:lnTo>
                  <a:pt x="1786127" y="144018"/>
                </a:lnTo>
                <a:lnTo>
                  <a:pt x="0" y="144018"/>
                </a:lnTo>
                <a:lnTo>
                  <a:pt x="0" y="0"/>
                </a:lnTo>
                <a:close/>
              </a:path>
            </a:pathLst>
          </a:custGeom>
          <a:ln w="990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0"/>
          <p:cNvSpPr/>
          <p:nvPr/>
        </p:nvSpPr>
        <p:spPr>
          <a:xfrm>
            <a:off x="8174610" y="5471120"/>
            <a:ext cx="575310" cy="144145"/>
          </a:xfrm>
          <a:custGeom>
            <a:avLst/>
            <a:gdLst/>
            <a:ahLst/>
            <a:cxnLst/>
            <a:rect l="l" t="t" r="r" b="b"/>
            <a:pathLst>
              <a:path w="575310" h="144145">
                <a:moveTo>
                  <a:pt x="0" y="0"/>
                </a:moveTo>
                <a:lnTo>
                  <a:pt x="575310" y="0"/>
                </a:lnTo>
                <a:lnTo>
                  <a:pt x="575310" y="144017"/>
                </a:lnTo>
                <a:lnTo>
                  <a:pt x="0" y="144017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1"/>
          <p:cNvSpPr/>
          <p:nvPr/>
        </p:nvSpPr>
        <p:spPr>
          <a:xfrm>
            <a:off x="8174610" y="5471120"/>
            <a:ext cx="575310" cy="144145"/>
          </a:xfrm>
          <a:custGeom>
            <a:avLst/>
            <a:gdLst/>
            <a:ahLst/>
            <a:cxnLst/>
            <a:rect l="l" t="t" r="r" b="b"/>
            <a:pathLst>
              <a:path w="575310" h="144145">
                <a:moveTo>
                  <a:pt x="0" y="0"/>
                </a:moveTo>
                <a:lnTo>
                  <a:pt x="575310" y="0"/>
                </a:lnTo>
                <a:lnTo>
                  <a:pt x="575310" y="144017"/>
                </a:lnTo>
                <a:lnTo>
                  <a:pt x="0" y="144017"/>
                </a:lnTo>
                <a:lnTo>
                  <a:pt x="0" y="0"/>
                </a:lnTo>
                <a:close/>
              </a:path>
            </a:pathLst>
          </a:custGeom>
          <a:ln w="990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28" name="直接连接符 27"/>
          <p:cNvCxnSpPr/>
          <p:nvPr/>
        </p:nvCxnSpPr>
        <p:spPr>
          <a:xfrm>
            <a:off x="5094514" y="5053906"/>
            <a:ext cx="0" cy="84302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bject 10"/>
          <p:cNvSpPr txBox="1"/>
          <p:nvPr/>
        </p:nvSpPr>
        <p:spPr>
          <a:xfrm>
            <a:off x="4914121" y="5810654"/>
            <a:ext cx="488302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 i="1" spc="-5" dirty="0" smtClean="0">
                <a:latin typeface="Times New Roman"/>
                <a:cs typeface="Times New Roman"/>
              </a:rPr>
              <a:t>d</a:t>
            </a:r>
            <a:r>
              <a:rPr lang="en-US" sz="2000" b="1" spc="-5" dirty="0" smtClean="0">
                <a:latin typeface="Times New Roman"/>
                <a:cs typeface="Times New Roman"/>
              </a:rPr>
              <a:t>(</a:t>
            </a:r>
            <a:r>
              <a:rPr lang="en-US" sz="2000" b="1" i="1" spc="-5" dirty="0" smtClean="0">
                <a:latin typeface="Times New Roman"/>
                <a:cs typeface="Times New Roman"/>
              </a:rPr>
              <a:t>i</a:t>
            </a:r>
            <a:r>
              <a:rPr lang="en-US" sz="2000" b="1" spc="-5" dirty="0" smtClean="0">
                <a:latin typeface="Times New Roman"/>
                <a:cs typeface="Times New Roman"/>
              </a:rPr>
              <a:t>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3" name="object 11"/>
          <p:cNvSpPr txBox="1"/>
          <p:nvPr/>
        </p:nvSpPr>
        <p:spPr>
          <a:xfrm>
            <a:off x="5430416" y="5065004"/>
            <a:ext cx="1570594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0485" algn="l"/>
                <a:tab pos="2108835" algn="l"/>
                <a:tab pos="3925570" algn="l"/>
                <a:tab pos="4485005" algn="l"/>
              </a:tabLst>
            </a:pPr>
            <a:r>
              <a:rPr lang="en-US" sz="2200" b="1" i="1" dirty="0" smtClean="0">
                <a:latin typeface="Times New Roman"/>
                <a:cs typeface="Times New Roman"/>
              </a:rPr>
              <a:t>f</a:t>
            </a:r>
            <a:r>
              <a:rPr lang="en-US" sz="2200" b="1" dirty="0" smtClean="0">
                <a:latin typeface="Times New Roman"/>
                <a:cs typeface="Times New Roman"/>
              </a:rPr>
              <a:t>(</a:t>
            </a:r>
            <a:r>
              <a:rPr lang="en-US" sz="2200" b="1" i="1" dirty="0" smtClean="0">
                <a:latin typeface="Times New Roman"/>
                <a:cs typeface="Times New Roman"/>
              </a:rPr>
              <a:t>i</a:t>
            </a:r>
            <a:r>
              <a:rPr lang="en-US" sz="2200" b="1" dirty="0" smtClean="0">
                <a:latin typeface="Times New Roman"/>
                <a:cs typeface="Times New Roman"/>
              </a:rPr>
              <a:t>)+</a:t>
            </a:r>
            <a:r>
              <a:rPr lang="en-US" sz="2200" b="1" i="1" dirty="0" smtClean="0">
                <a:latin typeface="Times New Roman"/>
                <a:cs typeface="Times New Roman"/>
              </a:rPr>
              <a:t>t</a:t>
            </a:r>
            <a:r>
              <a:rPr lang="en-US" sz="2200" b="1" dirty="0" smtClean="0">
                <a:latin typeface="Times New Roman"/>
                <a:cs typeface="Times New Roman"/>
              </a:rPr>
              <a:t>(</a:t>
            </a:r>
            <a:r>
              <a:rPr lang="en-US" altLang="zh-CN" sz="2200" b="1" i="1" dirty="0">
                <a:latin typeface="Times New Roman"/>
                <a:cs typeface="Times New Roman"/>
              </a:rPr>
              <a:t>i</a:t>
            </a:r>
            <a:r>
              <a:rPr lang="en-US" sz="2200" b="1" dirty="0" smtClean="0">
                <a:latin typeface="Times New Roman"/>
                <a:cs typeface="Times New Roman"/>
              </a:rPr>
              <a:t>)</a:t>
            </a:r>
            <a:endParaRPr sz="2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5410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2" grpId="0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4525294" y="63060"/>
            <a:ext cx="404048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实例：调度</a:t>
            </a:r>
            <a:r>
              <a:rPr lang="en-US" altLang="zh-CN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75064" y="4322380"/>
            <a:ext cx="0" cy="29209"/>
          </a:xfrm>
          <a:custGeom>
            <a:avLst/>
            <a:gdLst/>
            <a:ahLst/>
            <a:cxnLst/>
            <a:rect l="l" t="t" r="r" b="b"/>
            <a:pathLst>
              <a:path h="29210">
                <a:moveTo>
                  <a:pt x="0" y="0"/>
                </a:moveTo>
                <a:lnTo>
                  <a:pt x="0" y="2895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74874" y="4119687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0"/>
                </a:moveTo>
                <a:lnTo>
                  <a:pt x="0" y="215646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39744" y="4119687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0"/>
                </a:moveTo>
                <a:lnTo>
                  <a:pt x="0" y="215646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79924" y="4119687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0"/>
                </a:moveTo>
                <a:lnTo>
                  <a:pt x="0" y="215646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28208" y="4119687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0"/>
                </a:moveTo>
                <a:lnTo>
                  <a:pt x="0" y="215646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015098" y="4119687"/>
            <a:ext cx="0" cy="215900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0"/>
                </a:moveTo>
                <a:lnTo>
                  <a:pt x="0" y="215646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029298" y="4425694"/>
            <a:ext cx="135255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99515" algn="l"/>
              </a:tabLst>
            </a:pPr>
            <a:r>
              <a:rPr sz="2200" b="1" dirty="0">
                <a:solidFill>
                  <a:srgbClr val="050505"/>
                </a:solidFill>
                <a:latin typeface="Times New Roman"/>
                <a:cs typeface="Times New Roman"/>
              </a:rPr>
              <a:t>4	</a:t>
            </a:r>
            <a:r>
              <a:rPr sz="2200" b="1" dirty="0">
                <a:latin typeface="Times New Roman"/>
                <a:cs typeface="Times New Roman"/>
              </a:rPr>
              <a:t>5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83510" y="3922076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45509" y="3896167"/>
            <a:ext cx="4778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0485" algn="l"/>
                <a:tab pos="2108835" algn="l"/>
                <a:tab pos="3925570" algn="l"/>
                <a:tab pos="4485005" algn="l"/>
              </a:tabLst>
            </a:pPr>
            <a:r>
              <a:rPr sz="2200" b="1" dirty="0">
                <a:latin typeface="Times New Roman"/>
                <a:cs typeface="Times New Roman"/>
              </a:rPr>
              <a:t>5	13	17	27	30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75254" y="4282375"/>
            <a:ext cx="863600" cy="144145"/>
          </a:xfrm>
          <a:custGeom>
            <a:avLst/>
            <a:gdLst/>
            <a:ahLst/>
            <a:cxnLst/>
            <a:rect l="l" t="t" r="r" b="b"/>
            <a:pathLst>
              <a:path w="863600" h="144145">
                <a:moveTo>
                  <a:pt x="0" y="0"/>
                </a:moveTo>
                <a:lnTo>
                  <a:pt x="863346" y="0"/>
                </a:lnTo>
                <a:lnTo>
                  <a:pt x="863346" y="144017"/>
                </a:lnTo>
                <a:lnTo>
                  <a:pt x="0" y="144017"/>
                </a:lnTo>
                <a:lnTo>
                  <a:pt x="0" y="0"/>
                </a:lnTo>
                <a:close/>
              </a:path>
            </a:pathLst>
          </a:custGeom>
          <a:solidFill>
            <a:srgbClr val="99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75254" y="4282375"/>
            <a:ext cx="863600" cy="144145"/>
          </a:xfrm>
          <a:custGeom>
            <a:avLst/>
            <a:gdLst/>
            <a:ahLst/>
            <a:cxnLst/>
            <a:rect l="l" t="t" r="r" b="b"/>
            <a:pathLst>
              <a:path w="863600" h="144145">
                <a:moveTo>
                  <a:pt x="0" y="0"/>
                </a:moveTo>
                <a:lnTo>
                  <a:pt x="863346" y="0"/>
                </a:lnTo>
                <a:lnTo>
                  <a:pt x="863346" y="144017"/>
                </a:lnTo>
                <a:lnTo>
                  <a:pt x="0" y="144017"/>
                </a:lnTo>
                <a:lnTo>
                  <a:pt x="0" y="0"/>
                </a:lnTo>
                <a:close/>
              </a:path>
            </a:pathLst>
          </a:custGeom>
          <a:ln w="990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038600" y="4280850"/>
            <a:ext cx="1442085" cy="144145"/>
          </a:xfrm>
          <a:custGeom>
            <a:avLst/>
            <a:gdLst/>
            <a:ahLst/>
            <a:cxnLst/>
            <a:rect l="l" t="t" r="r" b="b"/>
            <a:pathLst>
              <a:path w="1442085" h="144145">
                <a:moveTo>
                  <a:pt x="0" y="0"/>
                </a:moveTo>
                <a:lnTo>
                  <a:pt x="1441704" y="0"/>
                </a:lnTo>
                <a:lnTo>
                  <a:pt x="1441704" y="144018"/>
                </a:lnTo>
                <a:lnTo>
                  <a:pt x="0" y="144018"/>
                </a:lnTo>
                <a:lnTo>
                  <a:pt x="0" y="0"/>
                </a:lnTo>
                <a:close/>
              </a:path>
            </a:pathLst>
          </a:custGeom>
          <a:solidFill>
            <a:srgbClr val="93C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38600" y="4280850"/>
            <a:ext cx="1442085" cy="144145"/>
          </a:xfrm>
          <a:custGeom>
            <a:avLst/>
            <a:gdLst/>
            <a:ahLst/>
            <a:cxnLst/>
            <a:rect l="l" t="t" r="r" b="b"/>
            <a:pathLst>
              <a:path w="1442085" h="144145">
                <a:moveTo>
                  <a:pt x="0" y="0"/>
                </a:moveTo>
                <a:lnTo>
                  <a:pt x="1441704" y="0"/>
                </a:lnTo>
                <a:lnTo>
                  <a:pt x="1441704" y="144018"/>
                </a:lnTo>
                <a:lnTo>
                  <a:pt x="0" y="144018"/>
                </a:lnTo>
                <a:lnTo>
                  <a:pt x="0" y="0"/>
                </a:lnTo>
                <a:close/>
              </a:path>
            </a:pathLst>
          </a:custGeom>
          <a:ln w="990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78780" y="4282375"/>
            <a:ext cx="749935" cy="144145"/>
          </a:xfrm>
          <a:custGeom>
            <a:avLst/>
            <a:gdLst/>
            <a:ahLst/>
            <a:cxnLst/>
            <a:rect l="l" t="t" r="r" b="b"/>
            <a:pathLst>
              <a:path w="749935" h="144145">
                <a:moveTo>
                  <a:pt x="0" y="0"/>
                </a:moveTo>
                <a:lnTo>
                  <a:pt x="749808" y="0"/>
                </a:lnTo>
                <a:lnTo>
                  <a:pt x="749808" y="144017"/>
                </a:lnTo>
                <a:lnTo>
                  <a:pt x="0" y="144017"/>
                </a:lnTo>
                <a:lnTo>
                  <a:pt x="0" y="0"/>
                </a:lnTo>
                <a:close/>
              </a:path>
            </a:pathLst>
          </a:custGeom>
          <a:solidFill>
            <a:srgbClr val="66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478780" y="4282375"/>
            <a:ext cx="749935" cy="144145"/>
          </a:xfrm>
          <a:custGeom>
            <a:avLst/>
            <a:gdLst/>
            <a:ahLst/>
            <a:cxnLst/>
            <a:rect l="l" t="t" r="r" b="b"/>
            <a:pathLst>
              <a:path w="749935" h="144145">
                <a:moveTo>
                  <a:pt x="0" y="0"/>
                </a:moveTo>
                <a:lnTo>
                  <a:pt x="749808" y="0"/>
                </a:lnTo>
                <a:lnTo>
                  <a:pt x="749808" y="144017"/>
                </a:lnTo>
                <a:lnTo>
                  <a:pt x="0" y="144017"/>
                </a:lnTo>
                <a:lnTo>
                  <a:pt x="0" y="0"/>
                </a:lnTo>
                <a:close/>
              </a:path>
            </a:pathLst>
          </a:custGeom>
          <a:ln w="990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27065" y="4280850"/>
            <a:ext cx="1786255" cy="144145"/>
          </a:xfrm>
          <a:custGeom>
            <a:avLst/>
            <a:gdLst/>
            <a:ahLst/>
            <a:cxnLst/>
            <a:rect l="l" t="t" r="r" b="b"/>
            <a:pathLst>
              <a:path w="1786254" h="144145">
                <a:moveTo>
                  <a:pt x="0" y="0"/>
                </a:moveTo>
                <a:lnTo>
                  <a:pt x="1786127" y="0"/>
                </a:lnTo>
                <a:lnTo>
                  <a:pt x="1786127" y="144018"/>
                </a:lnTo>
                <a:lnTo>
                  <a:pt x="0" y="144018"/>
                </a:lnTo>
                <a:lnTo>
                  <a:pt x="0" y="0"/>
                </a:lnTo>
                <a:close/>
              </a:path>
            </a:pathLst>
          </a:custGeom>
          <a:solidFill>
            <a:srgbClr val="C4BD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227065" y="4280850"/>
            <a:ext cx="1786255" cy="144145"/>
          </a:xfrm>
          <a:custGeom>
            <a:avLst/>
            <a:gdLst/>
            <a:ahLst/>
            <a:cxnLst/>
            <a:rect l="l" t="t" r="r" b="b"/>
            <a:pathLst>
              <a:path w="1786254" h="144145">
                <a:moveTo>
                  <a:pt x="0" y="0"/>
                </a:moveTo>
                <a:lnTo>
                  <a:pt x="1786127" y="0"/>
                </a:lnTo>
                <a:lnTo>
                  <a:pt x="1786127" y="144018"/>
                </a:lnTo>
                <a:lnTo>
                  <a:pt x="0" y="144018"/>
                </a:lnTo>
                <a:lnTo>
                  <a:pt x="0" y="0"/>
                </a:lnTo>
                <a:close/>
              </a:path>
            </a:pathLst>
          </a:custGeom>
          <a:ln w="990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013954" y="4282375"/>
            <a:ext cx="575310" cy="144145"/>
          </a:xfrm>
          <a:custGeom>
            <a:avLst/>
            <a:gdLst/>
            <a:ahLst/>
            <a:cxnLst/>
            <a:rect l="l" t="t" r="r" b="b"/>
            <a:pathLst>
              <a:path w="575310" h="144145">
                <a:moveTo>
                  <a:pt x="0" y="0"/>
                </a:moveTo>
                <a:lnTo>
                  <a:pt x="575310" y="0"/>
                </a:lnTo>
                <a:lnTo>
                  <a:pt x="575310" y="144017"/>
                </a:lnTo>
                <a:lnTo>
                  <a:pt x="0" y="144017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013954" y="4282375"/>
            <a:ext cx="575310" cy="144145"/>
          </a:xfrm>
          <a:custGeom>
            <a:avLst/>
            <a:gdLst/>
            <a:ahLst/>
            <a:cxnLst/>
            <a:rect l="l" t="t" r="r" b="b"/>
            <a:pathLst>
              <a:path w="575310" h="144145">
                <a:moveTo>
                  <a:pt x="0" y="0"/>
                </a:moveTo>
                <a:lnTo>
                  <a:pt x="575310" y="0"/>
                </a:lnTo>
                <a:lnTo>
                  <a:pt x="575310" y="144017"/>
                </a:lnTo>
                <a:lnTo>
                  <a:pt x="0" y="144017"/>
                </a:lnTo>
                <a:lnTo>
                  <a:pt x="0" y="0"/>
                </a:lnTo>
                <a:close/>
              </a:path>
            </a:pathLst>
          </a:custGeom>
          <a:ln w="990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09600" y="1020098"/>
            <a:ext cx="10941269" cy="581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50000"/>
              </a:lnSpc>
            </a:pP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dirty="0">
                <a:latin typeface="Times New Roman"/>
                <a:cs typeface="Times New Roman"/>
              </a:rPr>
              <a:t>= {1, 2, 3, 4, 5}, </a:t>
            </a:r>
            <a:r>
              <a:rPr sz="2800" b="1" i="1" dirty="0">
                <a:latin typeface="Times New Roman"/>
                <a:cs typeface="Times New Roman"/>
              </a:rPr>
              <a:t>T </a:t>
            </a:r>
            <a:r>
              <a:rPr sz="2800" b="1" dirty="0">
                <a:latin typeface="Times New Roman"/>
                <a:cs typeface="Times New Roman"/>
              </a:rPr>
              <a:t>= &lt;5, 8, 4, 10,</a:t>
            </a:r>
            <a:r>
              <a:rPr sz="2800" b="1" spc="-229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3</a:t>
            </a:r>
            <a:r>
              <a:rPr sz="2800" b="1" dirty="0" smtClean="0">
                <a:latin typeface="Times New Roman"/>
                <a:cs typeface="Times New Roman"/>
              </a:rPr>
              <a:t>&gt;,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smtClean="0">
                <a:latin typeface="Times New Roman"/>
                <a:cs typeface="Times New Roman"/>
              </a:rPr>
              <a:t> </a:t>
            </a:r>
            <a:r>
              <a:rPr sz="2800" b="1" i="1" spc="-5" dirty="0" smtClean="0">
                <a:latin typeface="Times New Roman"/>
                <a:cs typeface="Times New Roman"/>
              </a:rPr>
              <a:t>D </a:t>
            </a:r>
            <a:r>
              <a:rPr sz="2800" b="1" dirty="0">
                <a:latin typeface="Times New Roman"/>
                <a:cs typeface="Times New Roman"/>
              </a:rPr>
              <a:t>= &lt;10, 12, 15, </a:t>
            </a:r>
            <a:r>
              <a:rPr sz="2800" b="1" spc="-45" dirty="0">
                <a:latin typeface="Times New Roman"/>
                <a:cs typeface="Times New Roman"/>
              </a:rPr>
              <a:t>11,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20</a:t>
            </a:r>
            <a:r>
              <a:rPr sz="2800" b="1" dirty="0" smtClean="0">
                <a:latin typeface="Times New Roman"/>
                <a:cs typeface="Times New Roman"/>
              </a:rPr>
              <a:t>&gt;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4" name="object 23"/>
          <p:cNvSpPr txBox="1"/>
          <p:nvPr/>
        </p:nvSpPr>
        <p:spPr>
          <a:xfrm>
            <a:off x="3183510" y="4270484"/>
            <a:ext cx="4829810" cy="159723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386715">
              <a:lnSpc>
                <a:spcPct val="100000"/>
              </a:lnSpc>
              <a:spcBef>
                <a:spcPts val="1395"/>
              </a:spcBef>
              <a:tabLst>
                <a:tab pos="1364615" algn="l"/>
                <a:tab pos="2553335" algn="l"/>
              </a:tabLst>
            </a:pPr>
            <a:r>
              <a:rPr sz="2200" b="1" dirty="0">
                <a:latin typeface="Times New Roman"/>
                <a:cs typeface="Times New Roman"/>
              </a:rPr>
              <a:t>1	2	3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各任务延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迟</a:t>
            </a:r>
            <a:r>
              <a:rPr sz="2800" b="1" dirty="0">
                <a:latin typeface="宋体"/>
                <a:cs typeface="宋体"/>
              </a:rPr>
              <a:t>：</a:t>
            </a:r>
            <a:r>
              <a:rPr sz="2800" b="1" dirty="0">
                <a:latin typeface="Times New Roman"/>
                <a:cs typeface="Times New Roman"/>
              </a:rPr>
              <a:t>0,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1,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2,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16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10;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最大延迟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spc="-5" dirty="0">
                <a:latin typeface="Times New Roman"/>
                <a:cs typeface="Times New Roman"/>
              </a:rPr>
              <a:t>16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5" name="页脚占位符 2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6" name="灯片编号占位符 2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FADD879-C84B-4B98-8D19-2AB3EF2E6E12}" type="datetime1">
              <a:rPr lang="zh-CN" altLang="en-US" smtClean="0"/>
              <a:t>2019/5/22</a:t>
            </a:fld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497628" y="2276857"/>
            <a:ext cx="966340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">
              <a:lnSpc>
                <a:spcPct val="150000"/>
              </a:lnSpc>
              <a:spcBef>
                <a:spcPts val="4200"/>
              </a:spcBef>
            </a:pPr>
            <a:r>
              <a:rPr lang="zh-CN" altLang="en-US"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调度</a:t>
            </a:r>
            <a:r>
              <a:rPr lang="en-US" altLang="zh-CN"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：顺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序</a:t>
            </a:r>
            <a:r>
              <a:rPr lang="zh-CN" altLang="en-US" sz="2800" b="1" spc="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安</a:t>
            </a:r>
            <a:r>
              <a:rPr lang="zh-CN" altLang="en-US" sz="2800" b="1" spc="-1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排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5400">
              <a:lnSpc>
                <a:spcPct val="150000"/>
              </a:lnSpc>
            </a:pPr>
            <a:r>
              <a:rPr lang="en-US" altLang="zh-CN" sz="2800" b="1" i="1" spc="-5" dirty="0">
                <a:latin typeface="Times New Roman"/>
                <a:cs typeface="Times New Roman"/>
              </a:rPr>
              <a:t>f</a:t>
            </a:r>
            <a:r>
              <a:rPr lang="en-US" altLang="zh-CN" sz="2800" b="1" spc="-7" baseline="-20833" dirty="0">
                <a:latin typeface="Times New Roman"/>
                <a:cs typeface="Times New Roman"/>
              </a:rPr>
              <a:t>1</a:t>
            </a:r>
            <a:r>
              <a:rPr lang="en-US" altLang="zh-CN" sz="2800" b="1" spc="-5" dirty="0">
                <a:latin typeface="Times New Roman"/>
                <a:cs typeface="Times New Roman"/>
              </a:rPr>
              <a:t>(1)=0, </a:t>
            </a:r>
            <a:r>
              <a:rPr lang="en-US" altLang="zh-CN" sz="2800" b="1" i="1" spc="-5" dirty="0">
                <a:latin typeface="Times New Roman"/>
                <a:cs typeface="Times New Roman"/>
              </a:rPr>
              <a:t>f</a:t>
            </a:r>
            <a:r>
              <a:rPr lang="en-US" altLang="zh-CN" sz="2800" b="1" spc="-7" baseline="-20833" dirty="0">
                <a:latin typeface="Times New Roman"/>
                <a:cs typeface="Times New Roman"/>
              </a:rPr>
              <a:t>1</a:t>
            </a:r>
            <a:r>
              <a:rPr lang="en-US" altLang="zh-CN" sz="2800" b="1" spc="-5" dirty="0">
                <a:latin typeface="Times New Roman"/>
                <a:cs typeface="Times New Roman"/>
              </a:rPr>
              <a:t>(2)=5, </a:t>
            </a:r>
            <a:r>
              <a:rPr lang="en-US" altLang="zh-CN" sz="2800" b="1" i="1" spc="-5" dirty="0">
                <a:latin typeface="Times New Roman"/>
                <a:cs typeface="Times New Roman"/>
              </a:rPr>
              <a:t>f</a:t>
            </a:r>
            <a:r>
              <a:rPr lang="en-US" altLang="zh-CN" sz="2800" b="1" spc="-7" baseline="-20833" dirty="0">
                <a:latin typeface="Times New Roman"/>
                <a:cs typeface="Times New Roman"/>
              </a:rPr>
              <a:t>1</a:t>
            </a:r>
            <a:r>
              <a:rPr lang="en-US" altLang="zh-CN" sz="2800" b="1" spc="-5" dirty="0">
                <a:latin typeface="Times New Roman"/>
                <a:cs typeface="Times New Roman"/>
              </a:rPr>
              <a:t>(3)=13, </a:t>
            </a:r>
            <a:r>
              <a:rPr lang="en-US" altLang="zh-CN" sz="2800" b="1" i="1" spc="-5" dirty="0">
                <a:latin typeface="Times New Roman"/>
                <a:cs typeface="Times New Roman"/>
              </a:rPr>
              <a:t>f</a:t>
            </a:r>
            <a:r>
              <a:rPr lang="en-US" altLang="zh-CN" sz="2800" b="1" spc="-7" baseline="-20833" dirty="0">
                <a:latin typeface="Times New Roman"/>
                <a:cs typeface="Times New Roman"/>
              </a:rPr>
              <a:t>1</a:t>
            </a:r>
            <a:r>
              <a:rPr lang="en-US" altLang="zh-CN" sz="2800" b="1" spc="-5" dirty="0">
                <a:latin typeface="Times New Roman"/>
                <a:cs typeface="Times New Roman"/>
              </a:rPr>
              <a:t>(4)=17,</a:t>
            </a:r>
            <a:r>
              <a:rPr lang="en-US" altLang="zh-CN" sz="2800" b="1" spc="35" dirty="0">
                <a:latin typeface="Times New Roman"/>
                <a:cs typeface="Times New Roman"/>
              </a:rPr>
              <a:t> </a:t>
            </a:r>
            <a:r>
              <a:rPr lang="en-US" altLang="zh-CN" sz="2800" b="1" i="1" spc="-5" dirty="0">
                <a:latin typeface="Times New Roman"/>
                <a:cs typeface="Times New Roman"/>
              </a:rPr>
              <a:t>f</a:t>
            </a:r>
            <a:r>
              <a:rPr lang="en-US" altLang="zh-CN" sz="2800" b="1" spc="-7" baseline="-20833" dirty="0">
                <a:latin typeface="Times New Roman"/>
                <a:cs typeface="Times New Roman"/>
              </a:rPr>
              <a:t>1</a:t>
            </a:r>
            <a:r>
              <a:rPr lang="en-US" altLang="zh-CN" sz="2800" b="1" spc="-5" dirty="0">
                <a:latin typeface="Times New Roman"/>
                <a:cs typeface="Times New Roman"/>
              </a:rPr>
              <a:t>(5)=27</a:t>
            </a:r>
            <a:endParaRPr lang="en-US" altLang="zh-CN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3641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3983" y="4010657"/>
            <a:ext cx="830580" cy="144145"/>
          </a:xfrm>
          <a:custGeom>
            <a:avLst/>
            <a:gdLst/>
            <a:ahLst/>
            <a:cxnLst/>
            <a:rect l="l" t="t" r="r" b="b"/>
            <a:pathLst>
              <a:path w="830580" h="144145">
                <a:moveTo>
                  <a:pt x="0" y="0"/>
                </a:moveTo>
                <a:lnTo>
                  <a:pt x="830580" y="0"/>
                </a:lnTo>
                <a:lnTo>
                  <a:pt x="830580" y="144018"/>
                </a:lnTo>
                <a:lnTo>
                  <a:pt x="0" y="144018"/>
                </a:lnTo>
                <a:lnTo>
                  <a:pt x="0" y="0"/>
                </a:lnTo>
                <a:close/>
              </a:path>
            </a:pathLst>
          </a:custGeom>
          <a:solidFill>
            <a:srgbClr val="99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27059" y="4010657"/>
            <a:ext cx="1385570" cy="144145"/>
          </a:xfrm>
          <a:custGeom>
            <a:avLst/>
            <a:gdLst/>
            <a:ahLst/>
            <a:cxnLst/>
            <a:rect l="l" t="t" r="r" b="b"/>
            <a:pathLst>
              <a:path w="1385570" h="144145">
                <a:moveTo>
                  <a:pt x="0" y="0"/>
                </a:moveTo>
                <a:lnTo>
                  <a:pt x="1385316" y="0"/>
                </a:lnTo>
                <a:lnTo>
                  <a:pt x="1385316" y="144018"/>
                </a:lnTo>
                <a:lnTo>
                  <a:pt x="0" y="144018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03416" y="4012180"/>
            <a:ext cx="1717675" cy="144145"/>
          </a:xfrm>
          <a:custGeom>
            <a:avLst/>
            <a:gdLst/>
            <a:ahLst/>
            <a:cxnLst/>
            <a:rect l="l" t="t" r="r" b="b"/>
            <a:pathLst>
              <a:path w="1717675" h="144145">
                <a:moveTo>
                  <a:pt x="0" y="0"/>
                </a:moveTo>
                <a:lnTo>
                  <a:pt x="1717548" y="0"/>
                </a:lnTo>
                <a:lnTo>
                  <a:pt x="1717548" y="144018"/>
                </a:lnTo>
                <a:lnTo>
                  <a:pt x="0" y="144018"/>
                </a:lnTo>
                <a:lnTo>
                  <a:pt x="0" y="0"/>
                </a:lnTo>
                <a:close/>
              </a:path>
            </a:pathLst>
          </a:custGeom>
          <a:solidFill>
            <a:srgbClr val="A7A8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03416" y="4012180"/>
            <a:ext cx="1717675" cy="144145"/>
          </a:xfrm>
          <a:custGeom>
            <a:avLst/>
            <a:gdLst/>
            <a:ahLst/>
            <a:cxnLst/>
            <a:rect l="l" t="t" r="r" b="b"/>
            <a:pathLst>
              <a:path w="1717675" h="144145">
                <a:moveTo>
                  <a:pt x="0" y="0"/>
                </a:moveTo>
                <a:lnTo>
                  <a:pt x="1717548" y="0"/>
                </a:lnTo>
                <a:lnTo>
                  <a:pt x="1717548" y="144018"/>
                </a:lnTo>
                <a:lnTo>
                  <a:pt x="0" y="144018"/>
                </a:lnTo>
                <a:lnTo>
                  <a:pt x="0" y="0"/>
                </a:lnTo>
                <a:close/>
              </a:path>
            </a:pathLst>
          </a:custGeom>
          <a:ln w="609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13899" y="4012180"/>
            <a:ext cx="721360" cy="144145"/>
          </a:xfrm>
          <a:custGeom>
            <a:avLst/>
            <a:gdLst/>
            <a:ahLst/>
            <a:cxnLst/>
            <a:rect l="l" t="t" r="r" b="b"/>
            <a:pathLst>
              <a:path w="721360" h="144145">
                <a:moveTo>
                  <a:pt x="0" y="0"/>
                </a:moveTo>
                <a:lnTo>
                  <a:pt x="720851" y="0"/>
                </a:lnTo>
                <a:lnTo>
                  <a:pt x="720851" y="144018"/>
                </a:lnTo>
                <a:lnTo>
                  <a:pt x="0" y="144018"/>
                </a:lnTo>
                <a:lnTo>
                  <a:pt x="0" y="0"/>
                </a:lnTo>
                <a:close/>
              </a:path>
            </a:pathLst>
          </a:custGeom>
          <a:solidFill>
            <a:srgbClr val="66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35133" y="4012561"/>
            <a:ext cx="553720" cy="144145"/>
          </a:xfrm>
          <a:custGeom>
            <a:avLst/>
            <a:gdLst/>
            <a:ahLst/>
            <a:cxnLst/>
            <a:rect l="l" t="t" r="r" b="b"/>
            <a:pathLst>
              <a:path w="553720" h="144145">
                <a:moveTo>
                  <a:pt x="0" y="0"/>
                </a:moveTo>
                <a:lnTo>
                  <a:pt x="553212" y="0"/>
                </a:lnTo>
                <a:lnTo>
                  <a:pt x="553212" y="144018"/>
                </a:lnTo>
                <a:lnTo>
                  <a:pt x="0" y="144018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35133" y="4012561"/>
            <a:ext cx="553720" cy="144145"/>
          </a:xfrm>
          <a:custGeom>
            <a:avLst/>
            <a:gdLst/>
            <a:ahLst/>
            <a:cxnLst/>
            <a:rect l="l" t="t" r="r" b="b"/>
            <a:pathLst>
              <a:path w="553720" h="144145">
                <a:moveTo>
                  <a:pt x="0" y="0"/>
                </a:moveTo>
                <a:lnTo>
                  <a:pt x="553212" y="0"/>
                </a:lnTo>
                <a:lnTo>
                  <a:pt x="553212" y="144018"/>
                </a:lnTo>
                <a:lnTo>
                  <a:pt x="0" y="144018"/>
                </a:lnTo>
                <a:lnTo>
                  <a:pt x="0" y="0"/>
                </a:lnTo>
                <a:close/>
              </a:path>
            </a:pathLst>
          </a:custGeom>
          <a:ln w="990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27059" y="3986273"/>
            <a:ext cx="0" cy="245110"/>
          </a:xfrm>
          <a:custGeom>
            <a:avLst/>
            <a:gdLst/>
            <a:ahLst/>
            <a:cxnLst/>
            <a:rect l="l" t="t" r="r" b="b"/>
            <a:pathLst>
              <a:path h="245110">
                <a:moveTo>
                  <a:pt x="0" y="0"/>
                </a:moveTo>
                <a:lnTo>
                  <a:pt x="0" y="244602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13899" y="3986273"/>
            <a:ext cx="0" cy="245110"/>
          </a:xfrm>
          <a:custGeom>
            <a:avLst/>
            <a:gdLst/>
            <a:ahLst/>
            <a:cxnLst/>
            <a:rect l="l" t="t" r="r" b="b"/>
            <a:pathLst>
              <a:path h="245110">
                <a:moveTo>
                  <a:pt x="0" y="0"/>
                </a:moveTo>
                <a:lnTo>
                  <a:pt x="0" y="244602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09511" y="3986273"/>
            <a:ext cx="0" cy="245110"/>
          </a:xfrm>
          <a:custGeom>
            <a:avLst/>
            <a:gdLst/>
            <a:ahLst/>
            <a:cxnLst/>
            <a:rect l="l" t="t" r="r" b="b"/>
            <a:pathLst>
              <a:path h="245110">
                <a:moveTo>
                  <a:pt x="0" y="0"/>
                </a:moveTo>
                <a:lnTo>
                  <a:pt x="0" y="244602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634752" y="3986273"/>
            <a:ext cx="0" cy="245110"/>
          </a:xfrm>
          <a:custGeom>
            <a:avLst/>
            <a:gdLst/>
            <a:ahLst/>
            <a:cxnLst/>
            <a:rect l="l" t="t" r="r" b="b"/>
            <a:pathLst>
              <a:path h="245110">
                <a:moveTo>
                  <a:pt x="0" y="0"/>
                </a:moveTo>
                <a:lnTo>
                  <a:pt x="0" y="244602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/>
          </p:cNvSpPr>
          <p:nvPr/>
        </p:nvSpPr>
        <p:spPr>
          <a:xfrm>
            <a:off x="4849568" y="55127"/>
            <a:ext cx="352202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更优的调度</a:t>
            </a:r>
            <a:r>
              <a:rPr lang="en-US" altLang="zh-CN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object 15"/>
          <p:cNvSpPr txBox="1"/>
          <p:nvPr/>
        </p:nvSpPr>
        <p:spPr>
          <a:xfrm>
            <a:off x="717242" y="5087069"/>
            <a:ext cx="8792586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lang="zh-CN" altLang="en-US"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各任务延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迟</a:t>
            </a:r>
            <a:r>
              <a:rPr lang="zh-CN" altLang="en-US" sz="2800" b="1" dirty="0">
                <a:latin typeface="宋体"/>
                <a:cs typeface="宋体"/>
              </a:rPr>
              <a:t>：</a:t>
            </a:r>
            <a:r>
              <a:rPr lang="en-US" altLang="zh-CN" sz="2800" b="1" dirty="0">
                <a:latin typeface="Times New Roman"/>
                <a:cs typeface="Times New Roman"/>
              </a:rPr>
              <a:t>0,</a:t>
            </a:r>
            <a:r>
              <a:rPr lang="zh-CN" altLang="en-US" sz="2800" b="1" spc="25" dirty="0">
                <a:latin typeface="Times New Roman"/>
                <a:cs typeface="Times New Roman"/>
              </a:rPr>
              <a:t> </a:t>
            </a:r>
            <a:r>
              <a:rPr lang="en-US" altLang="zh-CN" sz="2800" b="1" spc="-45" dirty="0">
                <a:latin typeface="Times New Roman"/>
                <a:cs typeface="Times New Roman"/>
              </a:rPr>
              <a:t>11,</a:t>
            </a:r>
            <a:r>
              <a:rPr lang="zh-CN" altLang="en-US" sz="2800" b="1" spc="-15" dirty="0">
                <a:latin typeface="Times New Roman"/>
                <a:cs typeface="Times New Roman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12</a:t>
            </a:r>
            <a:r>
              <a:rPr lang="en-US" altLang="zh-CN" sz="2800" b="1" dirty="0">
                <a:latin typeface="Times New Roman"/>
                <a:cs typeface="Times New Roman"/>
              </a:rPr>
              <a:t>,</a:t>
            </a:r>
            <a:r>
              <a:rPr lang="zh-CN" altLang="en-US" sz="2800" b="1" spc="-5" dirty="0">
                <a:latin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cs typeface="Times New Roman"/>
              </a:rPr>
              <a:t>4, 10</a:t>
            </a:r>
            <a:r>
              <a:rPr lang="en-US" altLang="zh-CN" sz="2800" b="1" dirty="0" smtClean="0">
                <a:latin typeface="Times New Roman"/>
                <a:cs typeface="Times New Roman"/>
              </a:rPr>
              <a:t>;</a:t>
            </a:r>
          </a:p>
          <a:p>
            <a:pPr marL="12700">
              <a:lnSpc>
                <a:spcPts val="2720"/>
              </a:lnSpc>
            </a:pPr>
            <a:r>
              <a:rPr sz="2800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最大延迟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dirty="0">
                <a:latin typeface="Times New Roman"/>
                <a:cs typeface="Times New Roman"/>
              </a:rPr>
              <a:t>12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6" name="object 14"/>
          <p:cNvSpPr txBox="1"/>
          <p:nvPr/>
        </p:nvSpPr>
        <p:spPr>
          <a:xfrm>
            <a:off x="717242" y="1051709"/>
            <a:ext cx="10802095" cy="3495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50000"/>
              </a:lnSpc>
            </a:pP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dirty="0">
                <a:latin typeface="Times New Roman"/>
                <a:cs typeface="Times New Roman"/>
              </a:rPr>
              <a:t>= {1, 2, 3, 4, 5}, </a:t>
            </a:r>
            <a:r>
              <a:rPr sz="2800" b="1" i="1" dirty="0">
                <a:latin typeface="Times New Roman"/>
                <a:cs typeface="Times New Roman"/>
              </a:rPr>
              <a:t>T </a:t>
            </a:r>
            <a:r>
              <a:rPr sz="2800" b="1" dirty="0">
                <a:latin typeface="Times New Roman"/>
                <a:cs typeface="Times New Roman"/>
              </a:rPr>
              <a:t>= &lt;5, 8, 4, 10,</a:t>
            </a:r>
            <a:r>
              <a:rPr sz="2800" b="1" spc="-229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3</a:t>
            </a:r>
            <a:r>
              <a:rPr sz="2800" b="1" dirty="0" smtClean="0">
                <a:latin typeface="Times New Roman"/>
                <a:cs typeface="Times New Roman"/>
              </a:rPr>
              <a:t>&gt;,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b="1" i="1" spc="-5" dirty="0" smtClean="0">
                <a:latin typeface="Times New Roman"/>
                <a:cs typeface="Times New Roman"/>
              </a:rPr>
              <a:t>D </a:t>
            </a:r>
            <a:r>
              <a:rPr sz="2800" b="1" dirty="0">
                <a:latin typeface="Times New Roman"/>
                <a:cs typeface="Times New Roman"/>
              </a:rPr>
              <a:t>= &lt;10, 12, 15, </a:t>
            </a:r>
            <a:r>
              <a:rPr sz="2800" b="1" spc="-45" dirty="0">
                <a:latin typeface="Times New Roman"/>
                <a:cs typeface="Times New Roman"/>
              </a:rPr>
              <a:t>11,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20</a:t>
            </a:r>
            <a:r>
              <a:rPr sz="2800" b="1" dirty="0" smtClean="0">
                <a:latin typeface="Times New Roman"/>
                <a:cs typeface="Times New Roman"/>
              </a:rPr>
              <a:t>&gt;</a:t>
            </a:r>
            <a:endParaRPr lang="en-US" sz="2800" b="1" dirty="0" smtClean="0">
              <a:latin typeface="Times New Roman"/>
              <a:cs typeface="Times New Roman"/>
            </a:endParaRPr>
          </a:p>
          <a:p>
            <a:endParaRPr sz="2800" dirty="0">
              <a:latin typeface="Times New Roman"/>
              <a:cs typeface="Times New Roman"/>
            </a:endParaRPr>
          </a:p>
          <a:p>
            <a:pPr marL="25400">
              <a:lnSpc>
                <a:spcPct val="150000"/>
              </a:lnSpc>
            </a:pPr>
            <a:r>
              <a:rPr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调度2：按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截</a:t>
            </a:r>
            <a:r>
              <a:rPr sz="2800" b="1" spc="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止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时间从前到后安排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5400">
              <a:lnSpc>
                <a:spcPct val="15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(1)=0, 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(2)=15, 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(3)=23, 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(4)=5,</a:t>
            </a:r>
            <a:r>
              <a:rPr sz="2800" b="1" spc="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(5)=</a:t>
            </a:r>
            <a:r>
              <a:rPr sz="2800" b="1" spc="-5" dirty="0" smtClean="0">
                <a:latin typeface="Times New Roman"/>
                <a:cs typeface="Times New Roman"/>
              </a:rPr>
              <a:t>27</a:t>
            </a:r>
            <a:endParaRPr sz="2400" dirty="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1745"/>
              </a:spcBef>
              <a:tabLst>
                <a:tab pos="933450" algn="l"/>
                <a:tab pos="2609850" algn="l"/>
                <a:tab pos="4006850" algn="l"/>
                <a:tab pos="4705985" algn="l"/>
                <a:tab pos="5193665" algn="l"/>
              </a:tabLst>
            </a:pPr>
            <a:r>
              <a:rPr sz="2200" b="1" dirty="0">
                <a:latin typeface="Times New Roman"/>
                <a:cs typeface="Times New Roman"/>
              </a:rPr>
              <a:t>0	5	15	23	27	</a:t>
            </a:r>
            <a:r>
              <a:rPr sz="2200" b="1" dirty="0" smtClean="0">
                <a:latin typeface="Times New Roman"/>
                <a:cs typeface="Times New Roman"/>
              </a:rPr>
              <a:t>30</a:t>
            </a:r>
            <a:endParaRPr lang="en-US" sz="2200" dirty="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1745"/>
              </a:spcBef>
              <a:tabLst>
                <a:tab pos="933450" algn="l"/>
                <a:tab pos="2609850" algn="l"/>
                <a:tab pos="4006850" algn="l"/>
                <a:tab pos="4705985" algn="l"/>
                <a:tab pos="5193665" algn="l"/>
              </a:tabLst>
            </a:pPr>
            <a:r>
              <a:rPr lang="en-US" sz="2200" b="1" dirty="0" smtClean="0">
                <a:latin typeface="Times New Roman"/>
                <a:cs typeface="Times New Roman"/>
              </a:rPr>
              <a:t>     </a:t>
            </a:r>
            <a:r>
              <a:rPr sz="2200" b="1" dirty="0" smtClean="0">
                <a:latin typeface="Times New Roman"/>
                <a:cs typeface="Times New Roman"/>
              </a:rPr>
              <a:t>1</a:t>
            </a:r>
            <a:r>
              <a:rPr lang="en-US" sz="2200" b="1" dirty="0" smtClean="0">
                <a:latin typeface="Times New Roman"/>
                <a:cs typeface="Times New Roman"/>
              </a:rPr>
              <a:t>    </a:t>
            </a:r>
            <a:r>
              <a:rPr lang="en-US" sz="2200" b="1" dirty="0">
                <a:latin typeface="Times New Roman"/>
                <a:cs typeface="Times New Roman"/>
              </a:rPr>
              <a:t> </a:t>
            </a:r>
            <a:r>
              <a:rPr lang="en-US" sz="2200" b="1" dirty="0" smtClean="0">
                <a:latin typeface="Times New Roman"/>
                <a:cs typeface="Times New Roman"/>
              </a:rPr>
              <a:t>           </a:t>
            </a:r>
            <a:r>
              <a:rPr sz="2200" b="1" dirty="0" smtClean="0">
                <a:latin typeface="Times New Roman"/>
                <a:cs typeface="Times New Roman"/>
              </a:rPr>
              <a:t>4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lang="en-US" sz="2200" b="1" dirty="0" smtClean="0">
                <a:latin typeface="Times New Roman"/>
                <a:cs typeface="Times New Roman"/>
              </a:rPr>
              <a:t>            </a:t>
            </a:r>
            <a:r>
              <a:rPr sz="2200" b="1" dirty="0" smtClean="0">
                <a:latin typeface="Times New Roman"/>
                <a:cs typeface="Times New Roman"/>
              </a:rPr>
              <a:t>2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lang="en-US" sz="2200" b="1" dirty="0" smtClean="0">
                <a:latin typeface="Times New Roman"/>
                <a:cs typeface="Times New Roman"/>
              </a:rPr>
              <a:t>      </a:t>
            </a:r>
            <a:r>
              <a:rPr sz="2200" b="1" dirty="0" smtClean="0">
                <a:latin typeface="Times New Roman"/>
                <a:cs typeface="Times New Roman"/>
              </a:rPr>
              <a:t>3</a:t>
            </a:r>
            <a:r>
              <a:rPr lang="en-US" sz="2200" b="1" dirty="0" smtClean="0">
                <a:latin typeface="Times New Roman"/>
                <a:cs typeface="Times New Roman"/>
              </a:rPr>
              <a:t>    </a:t>
            </a:r>
            <a:r>
              <a:rPr sz="2200" b="1" dirty="0">
                <a:latin typeface="Times New Roman"/>
                <a:cs typeface="Times New Roman"/>
              </a:rPr>
              <a:t>	</a:t>
            </a:r>
            <a:r>
              <a:rPr sz="2200" b="1" dirty="0" smtClean="0">
                <a:latin typeface="Times New Roman"/>
                <a:cs typeface="Times New Roman"/>
              </a:rPr>
              <a:t>5</a:t>
            </a:r>
            <a:endParaRPr sz="2250" dirty="0">
              <a:latin typeface="Times New Roman"/>
              <a:cs typeface="Times New Roman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D8E6FBB-07E5-436B-BD2E-D50990837361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9487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4781362" y="115960"/>
            <a:ext cx="337466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贪心策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略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1640" y="1124805"/>
            <a:ext cx="10888717" cy="461087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5080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贪心策略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按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照</a:t>
            </a:r>
            <a:r>
              <a:rPr sz="2800" b="1" spc="-59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i="1" spc="-7" baseline="-20833" dirty="0">
                <a:latin typeface="Times New Roman"/>
                <a:cs typeface="Times New Roman"/>
              </a:rPr>
              <a:t>i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从小到大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安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排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508000" marR="3048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贪心策略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按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照</a:t>
            </a:r>
            <a:r>
              <a:rPr sz="2800" b="1" spc="-60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800" b="1" i="1" baseline="-20833" dirty="0">
                <a:latin typeface="Times New Roman"/>
                <a:cs typeface="Times New Roman"/>
              </a:rPr>
              <a:t>i</a:t>
            </a:r>
            <a:r>
              <a:rPr sz="2800" b="1" i="1" spc="-22" baseline="-20833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Symbol"/>
                <a:cs typeface="Symbol"/>
              </a:rPr>
              <a:t>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i="1" spc="-7" baseline="-20833" dirty="0">
                <a:latin typeface="Times New Roman"/>
                <a:cs typeface="Times New Roman"/>
              </a:rPr>
              <a:t>i</a:t>
            </a:r>
            <a:r>
              <a:rPr sz="2800" b="1" i="1" spc="-30" baseline="-20833" dirty="0">
                <a:latin typeface="Times New Roman"/>
                <a:cs typeface="Times New Roman"/>
              </a:rPr>
              <a:t> </a:t>
            </a: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从小到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大安</a:t>
            </a:r>
            <a:r>
              <a:rPr sz="2800" b="1" spc="-1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排</a:t>
            </a:r>
            <a:r>
              <a:rPr sz="2800" b="1" spc="-10" dirty="0">
                <a:latin typeface="宋体"/>
                <a:cs typeface="宋体"/>
              </a:rPr>
              <a:t> </a:t>
            </a:r>
            <a:endParaRPr lang="en-US" sz="2800" b="1" spc="-10" dirty="0" smtClean="0">
              <a:latin typeface="宋体"/>
              <a:cs typeface="宋体"/>
            </a:endParaRPr>
          </a:p>
          <a:p>
            <a:pPr marL="508000" marR="3048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sz="2800" b="1" spc="-5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贪心策略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按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照</a:t>
            </a:r>
            <a:r>
              <a:rPr sz="2800" b="1" spc="-65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800" b="1" i="1" baseline="-20833" dirty="0">
                <a:latin typeface="Times New Roman"/>
                <a:cs typeface="Times New Roman"/>
              </a:rPr>
              <a:t>i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从小到大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安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排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23215" marR="490855" indent="-273050">
              <a:lnSpc>
                <a:spcPct val="150000"/>
              </a:lnSpc>
            </a:pPr>
            <a:r>
              <a:rPr lang="en-US" sz="2800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</a:t>
            </a:r>
            <a:r>
              <a:rPr sz="2800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策略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spc="-2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对某些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实例得不到最优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endParaRPr 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23215" marR="490855" indent="-273050">
              <a:lnSpc>
                <a:spcPct val="150000"/>
              </a:lnSpc>
            </a:pP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 </a:t>
            </a:r>
            <a:r>
              <a:rPr sz="2800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反例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=1,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=100,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=10,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=10</a:t>
            </a:r>
          </a:p>
          <a:p>
            <a:pPr marL="323215" marR="651510" indent="-273050">
              <a:lnSpc>
                <a:spcPct val="150000"/>
              </a:lnSpc>
            </a:pPr>
            <a:r>
              <a:rPr lang="en-US" sz="2800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</a:t>
            </a:r>
            <a:r>
              <a:rPr sz="2800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策略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spc="-14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对某些实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例得不到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优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 </a:t>
            </a:r>
            <a:endParaRPr 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23215" marR="651510" indent="-273050">
              <a:lnSpc>
                <a:spcPct val="150000"/>
              </a:lnSpc>
            </a:pPr>
            <a:r>
              <a:rPr lang="en-US" sz="2800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  </a:t>
            </a:r>
            <a:r>
              <a:rPr sz="2800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反例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=1,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=2,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=10,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=10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0AEC2F2-C065-4D86-8DD1-B93E5CC91509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079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3171" y="1021362"/>
            <a:ext cx="10741573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2117090">
              <a:lnSpc>
                <a:spcPct val="150000"/>
              </a:lnSpc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法</a:t>
            </a:r>
            <a:r>
              <a:rPr sz="2800" b="1" spc="-80" dirty="0">
                <a:latin typeface="宋体"/>
                <a:cs typeface="宋体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Schedule 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 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输出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endParaRPr sz="2800" dirty="0">
              <a:latin typeface="Times New Roman"/>
              <a:cs typeface="Times New Roman"/>
            </a:endParaRPr>
          </a:p>
          <a:p>
            <a:pPr marL="25400">
              <a:lnSpc>
                <a:spcPct val="150000"/>
              </a:lnSpc>
              <a:tabLst>
                <a:tab pos="406400" algn="l"/>
              </a:tabLst>
            </a:pPr>
            <a:r>
              <a:rPr lang="en-US" sz="2800" b="1" dirty="0" smtClean="0">
                <a:latin typeface="Times New Roman"/>
                <a:cs typeface="Times New Roman"/>
              </a:rPr>
              <a:t>                </a:t>
            </a:r>
            <a:r>
              <a:rPr sz="2800" b="1" dirty="0" smtClean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.	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排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序</a:t>
            </a:r>
            <a:r>
              <a:rPr sz="2800" b="1" spc="-60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sz="2800" b="1" i="1" spc="-14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sz="2800" b="1" spc="-60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spc="-15" baseline="-20833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spc="277" baseline="-20833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…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800" b="1" i="1" baseline="-20833" dirty="0">
                <a:latin typeface="Times New Roman"/>
                <a:cs typeface="Times New Roman"/>
              </a:rPr>
              <a:t>n</a:t>
            </a:r>
            <a:endParaRPr sz="2800" baseline="-20833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20145" y="2250412"/>
            <a:ext cx="247277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</a:tabLst>
            </a:pPr>
            <a:r>
              <a:rPr sz="2800" b="1" dirty="0">
                <a:latin typeface="Times New Roman"/>
                <a:cs typeface="Times New Roman"/>
              </a:rPr>
              <a:t>2.	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5" dirty="0">
                <a:latin typeface="Times New Roman"/>
                <a:cs typeface="Times New Roman"/>
              </a:rPr>
              <a:t>(1) </a:t>
            </a:r>
            <a:r>
              <a:rPr sz="2800" b="1" spc="-5" dirty="0">
                <a:latin typeface="Symbol"/>
                <a:cs typeface="Symbol"/>
              </a:rPr>
              <a:t>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0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20145" y="2730606"/>
            <a:ext cx="18449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</a:tabLst>
            </a:pPr>
            <a:r>
              <a:rPr sz="2800" b="1" dirty="0">
                <a:latin typeface="Times New Roman"/>
                <a:cs typeface="Times New Roman"/>
              </a:rPr>
              <a:t>3.	</a:t>
            </a:r>
            <a:r>
              <a:rPr sz="2800" b="1" i="1" dirty="0">
                <a:latin typeface="Times New Roman"/>
                <a:cs typeface="Times New Roman"/>
              </a:rPr>
              <a:t>i </a:t>
            </a:r>
            <a:r>
              <a:rPr sz="2800" b="1" spc="-5" dirty="0">
                <a:latin typeface="Symbol"/>
                <a:cs typeface="Symbol"/>
              </a:rPr>
              <a:t>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09840" y="3221931"/>
            <a:ext cx="285430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  <a:tab pos="1238885" algn="l"/>
                <a:tab pos="1965325" algn="l"/>
              </a:tabLst>
            </a:pPr>
            <a:r>
              <a:rPr sz="2800" b="1" dirty="0">
                <a:latin typeface="Times New Roman"/>
                <a:cs typeface="Times New Roman"/>
              </a:rPr>
              <a:t>4.	</a:t>
            </a:r>
            <a:r>
              <a:rPr sz="2800" b="1" spc="-5" dirty="0">
                <a:latin typeface="Times New Roman"/>
                <a:cs typeface="Times New Roman"/>
              </a:rPr>
              <a:t>w</a:t>
            </a:r>
            <a:r>
              <a:rPr sz="2800" b="1" spc="-10" dirty="0">
                <a:latin typeface="Times New Roman"/>
                <a:cs typeface="Times New Roman"/>
              </a:rPr>
              <a:t>h</a:t>
            </a:r>
            <a:r>
              <a:rPr sz="2800" b="1" spc="-5" dirty="0">
                <a:latin typeface="Times New Roman"/>
                <a:cs typeface="Times New Roman"/>
              </a:rPr>
              <a:t>il</a:t>
            </a:r>
            <a:r>
              <a:rPr sz="2800" b="1" dirty="0">
                <a:latin typeface="Times New Roman"/>
                <a:cs typeface="Times New Roman"/>
              </a:rPr>
              <a:t>e	</a:t>
            </a:r>
            <a:r>
              <a:rPr sz="2800" b="1" i="1" dirty="0">
                <a:latin typeface="Times New Roman"/>
                <a:cs typeface="Times New Roman"/>
              </a:rPr>
              <a:t>i 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i="1" dirty="0">
                <a:latin typeface="Times New Roman"/>
                <a:cs typeface="Times New Roman"/>
              </a:rPr>
              <a:t>	</a:t>
            </a:r>
            <a:r>
              <a:rPr sz="2800" b="1" spc="-10" dirty="0">
                <a:latin typeface="Times New Roman"/>
                <a:cs typeface="Times New Roman"/>
              </a:rPr>
              <a:t>do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90189" y="3746820"/>
            <a:ext cx="4480813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75665" algn="l"/>
              </a:tabLst>
            </a:pPr>
            <a:r>
              <a:rPr sz="2800" b="1" dirty="0">
                <a:latin typeface="Times New Roman"/>
                <a:cs typeface="Times New Roman"/>
              </a:rPr>
              <a:t>5</a:t>
            </a:r>
            <a:r>
              <a:rPr sz="2800" b="1" i="1" dirty="0">
                <a:latin typeface="Times New Roman"/>
                <a:cs typeface="Times New Roman"/>
              </a:rPr>
              <a:t>.	f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i</a:t>
            </a:r>
            <a:r>
              <a:rPr sz="2800" b="1" dirty="0">
                <a:latin typeface="Times New Roman"/>
                <a:cs typeface="Times New Roman"/>
              </a:rPr>
              <a:t>) </a:t>
            </a:r>
            <a:r>
              <a:rPr sz="2800" b="1" spc="-5" dirty="0">
                <a:latin typeface="Symbol"/>
                <a:cs typeface="Symbol"/>
              </a:rPr>
              <a:t>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Symbol"/>
                <a:cs typeface="Symbol"/>
              </a:rPr>
              <a:t></a:t>
            </a:r>
            <a:r>
              <a:rPr sz="2800" b="1" spc="-5" dirty="0">
                <a:latin typeface="Times New Roman"/>
                <a:cs typeface="Times New Roman"/>
              </a:rPr>
              <a:t>1) 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800" b="1" i="1" baseline="-20833" dirty="0">
                <a:latin typeface="Times New Roman"/>
                <a:cs typeface="Times New Roman"/>
              </a:rPr>
              <a:t>i</a:t>
            </a:r>
            <a:r>
              <a:rPr sz="2800" b="1" baseline="-20833" dirty="0">
                <a:latin typeface="Symbol"/>
                <a:cs typeface="Symbol"/>
              </a:rPr>
              <a:t>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endParaRPr sz="2800" baseline="-20833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tabLst>
                <a:tab pos="875665" algn="l"/>
              </a:tabLst>
            </a:pPr>
            <a:r>
              <a:rPr sz="2800" b="1" dirty="0">
                <a:latin typeface="Times New Roman"/>
                <a:cs typeface="Times New Roman"/>
              </a:rPr>
              <a:t>6.	</a:t>
            </a:r>
            <a:r>
              <a:rPr sz="2800" b="1" i="1" dirty="0">
                <a:latin typeface="Times New Roman"/>
                <a:cs typeface="Times New Roman"/>
              </a:rPr>
              <a:t>i </a:t>
            </a:r>
            <a:r>
              <a:rPr sz="2800" b="1" spc="-5" dirty="0">
                <a:latin typeface="Symbol"/>
                <a:cs typeface="Symbol"/>
              </a:rPr>
              <a:t>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 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7505" y="5001446"/>
            <a:ext cx="873681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2800" b="1" spc="-5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设计思想</a:t>
            </a:r>
            <a:r>
              <a:rPr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800" b="1" spc="5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按</a:t>
            </a:r>
            <a:r>
              <a:rPr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完成时间从早到晚安</a:t>
            </a:r>
            <a:r>
              <a:rPr lang="zh-CN" altLang="en-US" sz="2800" b="1" spc="-5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排任务，</a:t>
            </a:r>
            <a:r>
              <a:rPr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没</a:t>
            </a:r>
            <a:r>
              <a:rPr lang="zh-CN" altLang="en-US" sz="2800" b="1" spc="5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空</a:t>
            </a:r>
            <a:r>
              <a:rPr lang="zh-CN" altLang="en-US" sz="2800" b="1" spc="-5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闲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.</a:t>
            </a:r>
            <a:endParaRPr lang="zh-CN" altLang="en-US" sz="2400" dirty="0" smtClean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/>
          </p:cNvSpPr>
          <p:nvPr/>
        </p:nvSpPr>
        <p:spPr>
          <a:xfrm>
            <a:off x="4886403" y="56177"/>
            <a:ext cx="302599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策略</a:t>
            </a:r>
            <a:r>
              <a:rPr lang="en-US" altLang="zh-CN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伪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87021" y="3727270"/>
            <a:ext cx="1503910" cy="612775"/>
          </a:xfrm>
          <a:custGeom>
            <a:avLst/>
            <a:gdLst/>
            <a:ahLst/>
            <a:cxnLst/>
            <a:rect l="l" t="t" r="r" b="b"/>
            <a:pathLst>
              <a:path w="1104900" h="612775">
                <a:moveTo>
                  <a:pt x="630760" y="0"/>
                </a:moveTo>
                <a:lnTo>
                  <a:pt x="574831" y="3661"/>
                </a:lnTo>
                <a:lnTo>
                  <a:pt x="520879" y="11753"/>
                </a:lnTo>
                <a:lnTo>
                  <a:pt x="469368" y="24014"/>
                </a:lnTo>
                <a:lnTo>
                  <a:pt x="420763" y="40184"/>
                </a:lnTo>
                <a:lnTo>
                  <a:pt x="375528" y="60003"/>
                </a:lnTo>
                <a:lnTo>
                  <a:pt x="334129" y="83210"/>
                </a:lnTo>
                <a:lnTo>
                  <a:pt x="297029" y="109544"/>
                </a:lnTo>
                <a:lnTo>
                  <a:pt x="264693" y="138745"/>
                </a:lnTo>
                <a:lnTo>
                  <a:pt x="237587" y="170552"/>
                </a:lnTo>
                <a:lnTo>
                  <a:pt x="216175" y="204705"/>
                </a:lnTo>
                <a:lnTo>
                  <a:pt x="200921" y="240943"/>
                </a:lnTo>
                <a:lnTo>
                  <a:pt x="192290" y="279006"/>
                </a:lnTo>
                <a:lnTo>
                  <a:pt x="0" y="351117"/>
                </a:lnTo>
                <a:lnTo>
                  <a:pt x="210286" y="395275"/>
                </a:lnTo>
                <a:lnTo>
                  <a:pt x="229565" y="430055"/>
                </a:lnTo>
                <a:lnTo>
                  <a:pt x="254567" y="462552"/>
                </a:lnTo>
                <a:lnTo>
                  <a:pt x="284846" y="492523"/>
                </a:lnTo>
                <a:lnTo>
                  <a:pt x="319959" y="519728"/>
                </a:lnTo>
                <a:lnTo>
                  <a:pt x="359459" y="543922"/>
                </a:lnTo>
                <a:lnTo>
                  <a:pt x="402901" y="564864"/>
                </a:lnTo>
                <a:lnTo>
                  <a:pt x="449840" y="582311"/>
                </a:lnTo>
                <a:lnTo>
                  <a:pt x="499831" y="596022"/>
                </a:lnTo>
                <a:lnTo>
                  <a:pt x="552428" y="605754"/>
                </a:lnTo>
                <a:lnTo>
                  <a:pt x="607187" y="611264"/>
                </a:lnTo>
                <a:lnTo>
                  <a:pt x="664627" y="612290"/>
                </a:lnTo>
                <a:lnTo>
                  <a:pt x="720556" y="608627"/>
                </a:lnTo>
                <a:lnTo>
                  <a:pt x="774508" y="600534"/>
                </a:lnTo>
                <a:lnTo>
                  <a:pt x="826020" y="588272"/>
                </a:lnTo>
                <a:lnTo>
                  <a:pt x="874627" y="572102"/>
                </a:lnTo>
                <a:lnTo>
                  <a:pt x="919862" y="552284"/>
                </a:lnTo>
                <a:lnTo>
                  <a:pt x="961263" y="529078"/>
                </a:lnTo>
                <a:lnTo>
                  <a:pt x="998363" y="502745"/>
                </a:lnTo>
                <a:lnTo>
                  <a:pt x="1030699" y="473545"/>
                </a:lnTo>
                <a:lnTo>
                  <a:pt x="1057805" y="441739"/>
                </a:lnTo>
                <a:lnTo>
                  <a:pt x="1079216" y="407586"/>
                </a:lnTo>
                <a:lnTo>
                  <a:pt x="1094468" y="371349"/>
                </a:lnTo>
                <a:lnTo>
                  <a:pt x="1103096" y="333286"/>
                </a:lnTo>
                <a:lnTo>
                  <a:pt x="1104630" y="294800"/>
                </a:lnTo>
                <a:lnTo>
                  <a:pt x="1099163" y="257328"/>
                </a:lnTo>
                <a:lnTo>
                  <a:pt x="1087085" y="221179"/>
                </a:lnTo>
                <a:lnTo>
                  <a:pt x="1068783" y="186666"/>
                </a:lnTo>
                <a:lnTo>
                  <a:pt x="1044648" y="154100"/>
                </a:lnTo>
                <a:lnTo>
                  <a:pt x="1015067" y="123793"/>
                </a:lnTo>
                <a:lnTo>
                  <a:pt x="980430" y="96055"/>
                </a:lnTo>
                <a:lnTo>
                  <a:pt x="941125" y="71199"/>
                </a:lnTo>
                <a:lnTo>
                  <a:pt x="897542" y="49534"/>
                </a:lnTo>
                <a:lnTo>
                  <a:pt x="850069" y="31374"/>
                </a:lnTo>
                <a:lnTo>
                  <a:pt x="799095" y="17028"/>
                </a:lnTo>
                <a:lnTo>
                  <a:pt x="745009" y="6810"/>
                </a:lnTo>
                <a:lnTo>
                  <a:pt x="688200" y="1029"/>
                </a:lnTo>
                <a:lnTo>
                  <a:pt x="630760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87021" y="3727270"/>
            <a:ext cx="1503910" cy="612775"/>
          </a:xfrm>
          <a:custGeom>
            <a:avLst/>
            <a:gdLst/>
            <a:ahLst/>
            <a:cxnLst/>
            <a:rect l="l" t="t" r="r" b="b"/>
            <a:pathLst>
              <a:path w="1104900" h="612775">
                <a:moveTo>
                  <a:pt x="0" y="351117"/>
                </a:moveTo>
                <a:lnTo>
                  <a:pt x="192290" y="279006"/>
                </a:lnTo>
                <a:lnTo>
                  <a:pt x="200921" y="240943"/>
                </a:lnTo>
                <a:lnTo>
                  <a:pt x="216175" y="204705"/>
                </a:lnTo>
                <a:lnTo>
                  <a:pt x="237587" y="170552"/>
                </a:lnTo>
                <a:lnTo>
                  <a:pt x="264693" y="138745"/>
                </a:lnTo>
                <a:lnTo>
                  <a:pt x="297029" y="109544"/>
                </a:lnTo>
                <a:lnTo>
                  <a:pt x="334129" y="83210"/>
                </a:lnTo>
                <a:lnTo>
                  <a:pt x="375528" y="60003"/>
                </a:lnTo>
                <a:lnTo>
                  <a:pt x="420763" y="40184"/>
                </a:lnTo>
                <a:lnTo>
                  <a:pt x="469368" y="24014"/>
                </a:lnTo>
                <a:lnTo>
                  <a:pt x="520879" y="11753"/>
                </a:lnTo>
                <a:lnTo>
                  <a:pt x="574831" y="3661"/>
                </a:lnTo>
                <a:lnTo>
                  <a:pt x="630760" y="0"/>
                </a:lnTo>
                <a:lnTo>
                  <a:pt x="688200" y="1029"/>
                </a:lnTo>
                <a:lnTo>
                  <a:pt x="745009" y="6810"/>
                </a:lnTo>
                <a:lnTo>
                  <a:pt x="799095" y="17028"/>
                </a:lnTo>
                <a:lnTo>
                  <a:pt x="850069" y="31374"/>
                </a:lnTo>
                <a:lnTo>
                  <a:pt x="897542" y="49534"/>
                </a:lnTo>
                <a:lnTo>
                  <a:pt x="941125" y="71199"/>
                </a:lnTo>
                <a:lnTo>
                  <a:pt x="980430" y="96055"/>
                </a:lnTo>
                <a:lnTo>
                  <a:pt x="1015067" y="123793"/>
                </a:lnTo>
                <a:lnTo>
                  <a:pt x="1044648" y="154100"/>
                </a:lnTo>
                <a:lnTo>
                  <a:pt x="1068783" y="186666"/>
                </a:lnTo>
                <a:lnTo>
                  <a:pt x="1087085" y="221179"/>
                </a:lnTo>
                <a:lnTo>
                  <a:pt x="1099163" y="257328"/>
                </a:lnTo>
                <a:lnTo>
                  <a:pt x="1104630" y="294800"/>
                </a:lnTo>
                <a:lnTo>
                  <a:pt x="1103096" y="333286"/>
                </a:lnTo>
                <a:lnTo>
                  <a:pt x="1094468" y="371349"/>
                </a:lnTo>
                <a:lnTo>
                  <a:pt x="1079216" y="407586"/>
                </a:lnTo>
                <a:lnTo>
                  <a:pt x="1057805" y="441739"/>
                </a:lnTo>
                <a:lnTo>
                  <a:pt x="1030699" y="473545"/>
                </a:lnTo>
                <a:lnTo>
                  <a:pt x="998363" y="502745"/>
                </a:lnTo>
                <a:lnTo>
                  <a:pt x="961263" y="529078"/>
                </a:lnTo>
                <a:lnTo>
                  <a:pt x="919862" y="552284"/>
                </a:lnTo>
                <a:lnTo>
                  <a:pt x="874627" y="572102"/>
                </a:lnTo>
                <a:lnTo>
                  <a:pt x="826020" y="588272"/>
                </a:lnTo>
                <a:lnTo>
                  <a:pt x="774508" y="600534"/>
                </a:lnTo>
                <a:lnTo>
                  <a:pt x="720556" y="608627"/>
                </a:lnTo>
                <a:lnTo>
                  <a:pt x="664627" y="612290"/>
                </a:lnTo>
                <a:lnTo>
                  <a:pt x="607187" y="611264"/>
                </a:lnTo>
                <a:lnTo>
                  <a:pt x="552428" y="605754"/>
                </a:lnTo>
                <a:lnTo>
                  <a:pt x="499831" y="596022"/>
                </a:lnTo>
                <a:lnTo>
                  <a:pt x="449840" y="582311"/>
                </a:lnTo>
                <a:lnTo>
                  <a:pt x="402901" y="564864"/>
                </a:lnTo>
                <a:lnTo>
                  <a:pt x="359459" y="543922"/>
                </a:lnTo>
                <a:lnTo>
                  <a:pt x="319959" y="519728"/>
                </a:lnTo>
                <a:lnTo>
                  <a:pt x="284846" y="492523"/>
                </a:lnTo>
                <a:lnTo>
                  <a:pt x="254567" y="462552"/>
                </a:lnTo>
                <a:lnTo>
                  <a:pt x="229565" y="430055"/>
                </a:lnTo>
                <a:lnTo>
                  <a:pt x="210286" y="395275"/>
                </a:lnTo>
                <a:lnTo>
                  <a:pt x="0" y="351117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22782" y="3752933"/>
            <a:ext cx="941773" cy="586699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ts val="2030"/>
              </a:lnSpc>
              <a:spcBef>
                <a:spcPts val="275"/>
              </a:spcBef>
            </a:pPr>
            <a:r>
              <a:rPr sz="2400" b="1" spc="-5" dirty="0" err="1" smtClean="0">
                <a:solidFill>
                  <a:srgbClr val="FFFFFF"/>
                </a:solidFill>
                <a:latin typeface="黑体" pitchFamily="49" charset="-122"/>
                <a:ea typeface="黑体" pitchFamily="49" charset="-122"/>
                <a:cs typeface="宋体"/>
              </a:rPr>
              <a:t>没有</a:t>
            </a:r>
            <a:endParaRPr lang="en-US" sz="2400" b="1" spc="-5" dirty="0" smtClean="0">
              <a:solidFill>
                <a:srgbClr val="FFFFFF"/>
              </a:solidFill>
              <a:latin typeface="黑体" pitchFamily="49" charset="-122"/>
              <a:ea typeface="黑体" pitchFamily="49" charset="-122"/>
              <a:cs typeface="宋体"/>
            </a:endParaRPr>
          </a:p>
          <a:p>
            <a:pPr marL="12700" marR="5080">
              <a:lnSpc>
                <a:spcPts val="2030"/>
              </a:lnSpc>
              <a:spcBef>
                <a:spcPts val="275"/>
              </a:spcBef>
            </a:pPr>
            <a:r>
              <a:rPr sz="2400" b="1" spc="-5" dirty="0" err="1" smtClean="0">
                <a:solidFill>
                  <a:srgbClr val="FFFFFF"/>
                </a:solidFill>
                <a:latin typeface="黑体" pitchFamily="49" charset="-122"/>
                <a:ea typeface="黑体" pitchFamily="49" charset="-122"/>
                <a:cs typeface="宋体"/>
              </a:rPr>
              <a:t>空闲</a:t>
            </a:r>
            <a:endParaRPr sz="24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00744" y="2888879"/>
            <a:ext cx="1786277" cy="612775"/>
          </a:xfrm>
          <a:custGeom>
            <a:avLst/>
            <a:gdLst/>
            <a:ahLst/>
            <a:cxnLst/>
            <a:rect l="l" t="t" r="r" b="b"/>
            <a:pathLst>
              <a:path w="1442720" h="612775">
                <a:moveTo>
                  <a:pt x="0" y="112766"/>
                </a:moveTo>
                <a:lnTo>
                  <a:pt x="241769" y="233276"/>
                </a:lnTo>
                <a:lnTo>
                  <a:pt x="228517" y="269775"/>
                </a:lnTo>
                <a:lnTo>
                  <a:pt x="224146" y="306270"/>
                </a:lnTo>
                <a:lnTo>
                  <a:pt x="240991" y="377803"/>
                </a:lnTo>
                <a:lnTo>
                  <a:pt x="261680" y="412121"/>
                </a:lnTo>
                <a:lnTo>
                  <a:pt x="290193" y="444991"/>
                </a:lnTo>
                <a:lnTo>
                  <a:pt x="326268" y="476053"/>
                </a:lnTo>
                <a:lnTo>
                  <a:pt x="369639" y="504947"/>
                </a:lnTo>
                <a:lnTo>
                  <a:pt x="420042" y="531313"/>
                </a:lnTo>
                <a:lnTo>
                  <a:pt x="477215" y="554789"/>
                </a:lnTo>
                <a:lnTo>
                  <a:pt x="523675" y="570083"/>
                </a:lnTo>
                <a:lnTo>
                  <a:pt x="571833" y="582994"/>
                </a:lnTo>
                <a:lnTo>
                  <a:pt x="621390" y="593547"/>
                </a:lnTo>
                <a:lnTo>
                  <a:pt x="672044" y="601766"/>
                </a:lnTo>
                <a:lnTo>
                  <a:pt x="723496" y="607676"/>
                </a:lnTo>
                <a:lnTo>
                  <a:pt x="775445" y="611301"/>
                </a:lnTo>
                <a:lnTo>
                  <a:pt x="827589" y="612666"/>
                </a:lnTo>
                <a:lnTo>
                  <a:pt x="879630" y="611795"/>
                </a:lnTo>
                <a:lnTo>
                  <a:pt x="931267" y="608713"/>
                </a:lnTo>
                <a:lnTo>
                  <a:pt x="982198" y="603445"/>
                </a:lnTo>
                <a:lnTo>
                  <a:pt x="1032124" y="596014"/>
                </a:lnTo>
                <a:lnTo>
                  <a:pt x="1080744" y="586445"/>
                </a:lnTo>
                <a:lnTo>
                  <a:pt x="1127758" y="574763"/>
                </a:lnTo>
                <a:lnTo>
                  <a:pt x="1172865" y="560992"/>
                </a:lnTo>
                <a:lnTo>
                  <a:pt x="1215765" y="545157"/>
                </a:lnTo>
                <a:lnTo>
                  <a:pt x="1256157" y="527282"/>
                </a:lnTo>
                <a:lnTo>
                  <a:pt x="1293741" y="507392"/>
                </a:lnTo>
                <a:lnTo>
                  <a:pt x="1328216" y="485511"/>
                </a:lnTo>
                <a:lnTo>
                  <a:pt x="1366473" y="455329"/>
                </a:lnTo>
                <a:lnTo>
                  <a:pt x="1396915" y="423808"/>
                </a:lnTo>
                <a:lnTo>
                  <a:pt x="1419646" y="391269"/>
                </a:lnTo>
                <a:lnTo>
                  <a:pt x="1442387" y="324418"/>
                </a:lnTo>
                <a:lnTo>
                  <a:pt x="1442606" y="290749"/>
                </a:lnTo>
                <a:lnTo>
                  <a:pt x="1435527" y="257344"/>
                </a:lnTo>
                <a:lnTo>
                  <a:pt x="1399891" y="192612"/>
                </a:lnTo>
                <a:lnTo>
                  <a:pt x="1371541" y="161927"/>
                </a:lnTo>
                <a:lnTo>
                  <a:pt x="1336308" y="132790"/>
                </a:lnTo>
                <a:lnTo>
                  <a:pt x="1327625" y="127155"/>
                </a:lnTo>
                <a:lnTo>
                  <a:pt x="339331" y="127155"/>
                </a:lnTo>
                <a:lnTo>
                  <a:pt x="0" y="112766"/>
                </a:lnTo>
                <a:close/>
              </a:path>
              <a:path w="1442720" h="612775">
                <a:moveTo>
                  <a:pt x="839961" y="0"/>
                </a:moveTo>
                <a:lnTo>
                  <a:pt x="787919" y="870"/>
                </a:lnTo>
                <a:lnTo>
                  <a:pt x="736282" y="3952"/>
                </a:lnTo>
                <a:lnTo>
                  <a:pt x="685350" y="9221"/>
                </a:lnTo>
                <a:lnTo>
                  <a:pt x="635424" y="16652"/>
                </a:lnTo>
                <a:lnTo>
                  <a:pt x="586803" y="26220"/>
                </a:lnTo>
                <a:lnTo>
                  <a:pt x="539789" y="37902"/>
                </a:lnTo>
                <a:lnTo>
                  <a:pt x="494682" y="51673"/>
                </a:lnTo>
                <a:lnTo>
                  <a:pt x="451782" y="67508"/>
                </a:lnTo>
                <a:lnTo>
                  <a:pt x="411390" y="85383"/>
                </a:lnTo>
                <a:lnTo>
                  <a:pt x="373806" y="105274"/>
                </a:lnTo>
                <a:lnTo>
                  <a:pt x="339331" y="127155"/>
                </a:lnTo>
                <a:lnTo>
                  <a:pt x="1327625" y="127155"/>
                </a:lnTo>
                <a:lnTo>
                  <a:pt x="1294296" y="105522"/>
                </a:lnTo>
                <a:lnTo>
                  <a:pt x="1245607" y="80444"/>
                </a:lnTo>
                <a:lnTo>
                  <a:pt x="1190345" y="57876"/>
                </a:lnTo>
                <a:lnTo>
                  <a:pt x="1143883" y="42583"/>
                </a:lnTo>
                <a:lnTo>
                  <a:pt x="1095723" y="29672"/>
                </a:lnTo>
                <a:lnTo>
                  <a:pt x="1046165" y="19119"/>
                </a:lnTo>
                <a:lnTo>
                  <a:pt x="995509" y="10900"/>
                </a:lnTo>
                <a:lnTo>
                  <a:pt x="944056" y="4990"/>
                </a:lnTo>
                <a:lnTo>
                  <a:pt x="892106" y="1365"/>
                </a:lnTo>
                <a:lnTo>
                  <a:pt x="839961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00743" y="2888879"/>
            <a:ext cx="1786278" cy="612775"/>
          </a:xfrm>
          <a:custGeom>
            <a:avLst/>
            <a:gdLst/>
            <a:ahLst/>
            <a:cxnLst/>
            <a:rect l="l" t="t" r="r" b="b"/>
            <a:pathLst>
              <a:path w="1442720" h="612775">
                <a:moveTo>
                  <a:pt x="0" y="112766"/>
                </a:moveTo>
                <a:lnTo>
                  <a:pt x="339331" y="127155"/>
                </a:lnTo>
                <a:lnTo>
                  <a:pt x="373806" y="105274"/>
                </a:lnTo>
                <a:lnTo>
                  <a:pt x="411390" y="85383"/>
                </a:lnTo>
                <a:lnTo>
                  <a:pt x="451782" y="67508"/>
                </a:lnTo>
                <a:lnTo>
                  <a:pt x="494682" y="51673"/>
                </a:lnTo>
                <a:lnTo>
                  <a:pt x="539789" y="37902"/>
                </a:lnTo>
                <a:lnTo>
                  <a:pt x="586803" y="26220"/>
                </a:lnTo>
                <a:lnTo>
                  <a:pt x="635424" y="16652"/>
                </a:lnTo>
                <a:lnTo>
                  <a:pt x="685350" y="9221"/>
                </a:lnTo>
                <a:lnTo>
                  <a:pt x="736282" y="3952"/>
                </a:lnTo>
                <a:lnTo>
                  <a:pt x="787919" y="870"/>
                </a:lnTo>
                <a:lnTo>
                  <a:pt x="839961" y="0"/>
                </a:lnTo>
                <a:lnTo>
                  <a:pt x="892106" y="1365"/>
                </a:lnTo>
                <a:lnTo>
                  <a:pt x="944056" y="4990"/>
                </a:lnTo>
                <a:lnTo>
                  <a:pt x="995509" y="10900"/>
                </a:lnTo>
                <a:lnTo>
                  <a:pt x="1046165" y="19119"/>
                </a:lnTo>
                <a:lnTo>
                  <a:pt x="1095723" y="29672"/>
                </a:lnTo>
                <a:lnTo>
                  <a:pt x="1143883" y="42583"/>
                </a:lnTo>
                <a:lnTo>
                  <a:pt x="1190345" y="57876"/>
                </a:lnTo>
                <a:lnTo>
                  <a:pt x="1245607" y="80444"/>
                </a:lnTo>
                <a:lnTo>
                  <a:pt x="1294296" y="105522"/>
                </a:lnTo>
                <a:lnTo>
                  <a:pt x="1336308" y="132790"/>
                </a:lnTo>
                <a:lnTo>
                  <a:pt x="1371541" y="161927"/>
                </a:lnTo>
                <a:lnTo>
                  <a:pt x="1399891" y="192612"/>
                </a:lnTo>
                <a:lnTo>
                  <a:pt x="1421254" y="224525"/>
                </a:lnTo>
                <a:lnTo>
                  <a:pt x="1442606" y="290749"/>
                </a:lnTo>
                <a:lnTo>
                  <a:pt x="1442387" y="324418"/>
                </a:lnTo>
                <a:lnTo>
                  <a:pt x="1419646" y="391269"/>
                </a:lnTo>
                <a:lnTo>
                  <a:pt x="1396915" y="423808"/>
                </a:lnTo>
                <a:lnTo>
                  <a:pt x="1366473" y="455329"/>
                </a:lnTo>
                <a:lnTo>
                  <a:pt x="1328216" y="485511"/>
                </a:lnTo>
                <a:lnTo>
                  <a:pt x="1293741" y="507392"/>
                </a:lnTo>
                <a:lnTo>
                  <a:pt x="1256157" y="527282"/>
                </a:lnTo>
                <a:lnTo>
                  <a:pt x="1215765" y="545157"/>
                </a:lnTo>
                <a:lnTo>
                  <a:pt x="1172865" y="560992"/>
                </a:lnTo>
                <a:lnTo>
                  <a:pt x="1127758" y="574763"/>
                </a:lnTo>
                <a:lnTo>
                  <a:pt x="1080744" y="586445"/>
                </a:lnTo>
                <a:lnTo>
                  <a:pt x="1032124" y="596014"/>
                </a:lnTo>
                <a:lnTo>
                  <a:pt x="982198" y="603445"/>
                </a:lnTo>
                <a:lnTo>
                  <a:pt x="931267" y="608713"/>
                </a:lnTo>
                <a:lnTo>
                  <a:pt x="879630" y="611795"/>
                </a:lnTo>
                <a:lnTo>
                  <a:pt x="827589" y="612666"/>
                </a:lnTo>
                <a:lnTo>
                  <a:pt x="775445" y="611301"/>
                </a:lnTo>
                <a:lnTo>
                  <a:pt x="723496" y="607676"/>
                </a:lnTo>
                <a:lnTo>
                  <a:pt x="672044" y="601766"/>
                </a:lnTo>
                <a:lnTo>
                  <a:pt x="621390" y="593547"/>
                </a:lnTo>
                <a:lnTo>
                  <a:pt x="571833" y="582994"/>
                </a:lnTo>
                <a:lnTo>
                  <a:pt x="523675" y="570083"/>
                </a:lnTo>
                <a:lnTo>
                  <a:pt x="477215" y="554789"/>
                </a:lnTo>
                <a:lnTo>
                  <a:pt x="420042" y="531313"/>
                </a:lnTo>
                <a:lnTo>
                  <a:pt x="369639" y="504947"/>
                </a:lnTo>
                <a:lnTo>
                  <a:pt x="326268" y="476053"/>
                </a:lnTo>
                <a:lnTo>
                  <a:pt x="290193" y="444991"/>
                </a:lnTo>
                <a:lnTo>
                  <a:pt x="261680" y="412121"/>
                </a:lnTo>
                <a:lnTo>
                  <a:pt x="240991" y="377803"/>
                </a:lnTo>
                <a:lnTo>
                  <a:pt x="224146" y="306270"/>
                </a:lnTo>
                <a:lnTo>
                  <a:pt x="228517" y="269775"/>
                </a:lnTo>
                <a:lnTo>
                  <a:pt x="241769" y="233276"/>
                </a:lnTo>
                <a:lnTo>
                  <a:pt x="0" y="112766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482399" y="3014016"/>
            <a:ext cx="156060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485" marR="5080" indent="-58419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宋体"/>
                <a:cs typeface="宋体"/>
              </a:rPr>
              <a:t>从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sz="2400" b="1" spc="-10" dirty="0" smtClean="0">
                <a:solidFill>
                  <a:srgbClr val="FFFFFF"/>
                </a:solidFill>
                <a:latin typeface="宋体"/>
                <a:cs typeface="宋体"/>
              </a:rPr>
              <a:t>时</a:t>
            </a:r>
            <a:r>
              <a:rPr sz="2400" b="1" spc="-5" dirty="0" smtClean="0">
                <a:solidFill>
                  <a:srgbClr val="FFFFFF"/>
                </a:solidFill>
                <a:latin typeface="宋体"/>
                <a:cs typeface="宋体"/>
              </a:rPr>
              <a:t>刻起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16" name="页脚占位符 1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sp>
        <p:nvSpPr>
          <p:cNvPr id="18" name="日期占位符 17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E5913C7-3419-4980-9548-2F28C04A4AF1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2608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3928460" y="130467"/>
            <a:ext cx="575156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交换相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邻</a:t>
            </a:r>
            <a:r>
              <a:rPr lang="zh-CN" altLang="en-US" sz="4000" b="1" spc="-5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逆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序</a:t>
            </a:r>
            <a:r>
              <a:rPr lang="zh-CN" altLang="en-US" sz="4000" b="1" spc="-5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仍旧最优</a:t>
            </a:r>
            <a:endParaRPr lang="zh-CN" altLang="en-US" sz="4000" b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2621" y="1282147"/>
            <a:ext cx="10845695" cy="40446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just">
              <a:lnSpc>
                <a:spcPct val="150000"/>
              </a:lnSpc>
              <a:spcAft>
                <a:spcPts val="1200"/>
              </a:spcAft>
            </a:pP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sz="2800" b="1" spc="-680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是一个任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意最优解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存在相邻逆序 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Times New Roman"/>
                <a:cs typeface="Times New Roman"/>
              </a:rPr>
              <a:t>, </a:t>
            </a:r>
            <a:r>
              <a:rPr sz="2800" b="1" i="1" dirty="0">
                <a:latin typeface="Times New Roman"/>
                <a:cs typeface="Times New Roman"/>
              </a:rPr>
              <a:t>j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r>
              <a:rPr sz="2800" b="1" spc="59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交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换</a:t>
            </a:r>
            <a:r>
              <a:rPr sz="2800" b="1" spc="-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sz="2800" b="1" i="1" spc="-1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sz="2800" b="1" spc="-60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sz="2800" b="1" i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的顺序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得到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sz="2800" b="1" spc="-595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. 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那 </a:t>
            </a:r>
            <a:r>
              <a:rPr sz="2800" b="1" spc="-1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么</a:t>
            </a:r>
            <a:r>
              <a:rPr lang="en-US" sz="2800" b="1" spc="-1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615" dirty="0" smtClean="0">
                <a:latin typeface="宋体"/>
                <a:cs typeface="宋体"/>
              </a:rPr>
              <a:t> </a:t>
            </a:r>
            <a:r>
              <a:rPr sz="2800" b="1" i="1" spc="-5" dirty="0" smtClean="0">
                <a:latin typeface="Times New Roman"/>
                <a:cs typeface="Times New Roman"/>
              </a:rPr>
              <a:t>f</a:t>
            </a:r>
            <a:r>
              <a:rPr sz="2800" b="1" spc="-7" baseline="-20833" dirty="0" smtClean="0">
                <a:latin typeface="Times New Roman"/>
                <a:cs typeface="Times New Roman"/>
              </a:rPr>
              <a:t>2</a:t>
            </a:r>
            <a:r>
              <a:rPr lang="en-US" sz="2800" b="1" spc="-7" baseline="-20833" dirty="0" smtClean="0">
                <a:latin typeface="Times New Roman"/>
                <a:cs typeface="Times New Roman"/>
              </a:rPr>
              <a:t> 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的最大延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迟不超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过</a:t>
            </a:r>
            <a:r>
              <a:rPr sz="2800" b="1" spc="-5" dirty="0" smtClean="0">
                <a:latin typeface="宋体"/>
                <a:cs typeface="宋体"/>
              </a:rPr>
              <a:t> </a:t>
            </a:r>
            <a:r>
              <a:rPr sz="2800" b="1" i="1" spc="-5" dirty="0" smtClean="0">
                <a:latin typeface="Times New Roman"/>
                <a:cs typeface="Times New Roman"/>
              </a:rPr>
              <a:t>f</a:t>
            </a:r>
            <a:r>
              <a:rPr sz="2800" b="1" spc="-7" baseline="-20833" dirty="0" smtClean="0">
                <a:latin typeface="Times New Roman"/>
                <a:cs typeface="Times New Roman"/>
              </a:rPr>
              <a:t>1</a:t>
            </a:r>
            <a:r>
              <a:rPr lang="en-US" sz="2800" b="1" spc="-7" baseline="-20833" dirty="0" smtClean="0">
                <a:latin typeface="Times New Roman"/>
                <a:cs typeface="Times New Roman"/>
              </a:rPr>
              <a:t> 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的最大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延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迟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marL="38100">
              <a:lnSpc>
                <a:spcPct val="150000"/>
              </a:lnSpc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理由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ea"/>
              <a:buAutoNum type="circleNumDbPlain"/>
              <a:tabLst>
                <a:tab pos="435609" algn="l"/>
              </a:tabLst>
            </a:pP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交</a:t>
            </a:r>
            <a:r>
              <a:rPr sz="2800" b="1" spc="-1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换</a:t>
            </a:r>
            <a:r>
              <a:rPr sz="2800" b="1" spc="-55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b="1" spc="-55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b="1" i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与其他客户延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迟时间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无关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ea"/>
              <a:buAutoNum type="circleNumDbPlain"/>
              <a:tabLst>
                <a:tab pos="435609" algn="l"/>
              </a:tabLst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交换后不增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加</a:t>
            </a:r>
            <a:r>
              <a:rPr sz="2800" b="1" spc="-540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j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的延迟，但可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能增</a:t>
            </a:r>
            <a:r>
              <a:rPr sz="2800" b="1" spc="-1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加</a:t>
            </a:r>
            <a:r>
              <a:rPr sz="2800" b="1" spc="-54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的延迟</a:t>
            </a:r>
            <a:endParaRPr 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ea"/>
              <a:buAutoNum type="circleNumDbPlain"/>
              <a:tabLst>
                <a:tab pos="435609" algn="l"/>
              </a:tabLst>
            </a:pPr>
            <a:r>
              <a:rPr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sz="2800" b="1" i="1" spc="-1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sz="2800" b="1" spc="-55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b="1" spc="-55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f</a:t>
            </a:r>
            <a:r>
              <a:rPr sz="2800" b="1" baseline="-21072" dirty="0" smtClean="0">
                <a:latin typeface="Times New Roman"/>
                <a:cs typeface="Times New Roman"/>
              </a:rPr>
              <a:t>2</a:t>
            </a:r>
            <a:r>
              <a:rPr lang="en-US" sz="2800" b="1" baseline="-21072" dirty="0" smtClean="0">
                <a:latin typeface="Times New Roman"/>
                <a:cs typeface="Times New Roman"/>
              </a:rPr>
              <a:t> 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的延迟小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于</a:t>
            </a:r>
            <a:r>
              <a:rPr lang="en-US" sz="2800" b="1" spc="-1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3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sz="2800" b="1" spc="-56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b="1" spc="-56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f</a:t>
            </a:r>
            <a:r>
              <a:rPr sz="2800" b="1" baseline="-21072" dirty="0" smtClean="0">
                <a:latin typeface="Times New Roman"/>
                <a:cs typeface="Times New Roman"/>
              </a:rPr>
              <a:t>1</a:t>
            </a:r>
            <a:r>
              <a:rPr sz="2800" b="1" spc="284" baseline="-21072" dirty="0" smtClean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的延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迟</a:t>
            </a:r>
            <a:r>
              <a:rPr sz="2800" b="1" spc="-55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小于</a:t>
            </a:r>
            <a:r>
              <a:rPr lang="en-US" sz="2800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f</a:t>
            </a:r>
            <a:r>
              <a:rPr sz="2800" b="1" i="1" spc="5" dirty="0" smtClean="0">
                <a:latin typeface="Times New Roman"/>
                <a:cs typeface="Times New Roman"/>
              </a:rPr>
              <a:t> </a:t>
            </a:r>
            <a:r>
              <a:rPr sz="2800" b="1" spc="7" baseline="-21072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的最大延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迟</a:t>
            </a:r>
            <a:r>
              <a:rPr sz="2800" b="1" spc="-53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b="1" spc="-53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8A77076-A194-4ED7-9842-4E0AA03C3D0E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494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2728589" y="183934"/>
            <a:ext cx="804451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36905" marR="17780" indent="-612140">
              <a:lnSpc>
                <a:spcPct val="100000"/>
              </a:lnSpc>
              <a:spcBef>
                <a:spcPts val="95"/>
              </a:spcBef>
            </a:pPr>
            <a:r>
              <a:rPr lang="en-US" sz="4000" b="1" i="1" spc="-5" dirty="0" err="1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</a:t>
            </a:r>
            <a:r>
              <a:rPr lang="en-US" sz="4000" b="1" i="1" spc="-50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在</a:t>
            </a:r>
            <a:r>
              <a:rPr lang="zh-CN" altLang="en-US" sz="4000" b="1" spc="-844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sz="4000" b="1" i="1" spc="5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f</a:t>
            </a:r>
            <a:r>
              <a:rPr lang="en-US" sz="4000" b="1" spc="7" baseline="-21164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4000" b="1" spc="-10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的延迟</a:t>
            </a:r>
            <a:r>
              <a:rPr lang="zh-CN" altLang="en-US" sz="4000" b="1" spc="-5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不超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过 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sz="4000" b="1" i="1" spc="-5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j</a:t>
            </a:r>
            <a:r>
              <a:rPr lang="en-US" sz="4000" b="1" i="1" spc="-20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zh-CN" altLang="en-US" sz="4000" b="1" spc="-10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在</a:t>
            </a:r>
            <a:r>
              <a:rPr lang="en-US" sz="4000" b="1" i="1" spc="5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f</a:t>
            </a:r>
            <a:r>
              <a:rPr lang="en-US" sz="4000" b="1" spc="7" baseline="-21164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en-US" sz="4000" b="1" spc="397" baseline="-21164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zh-CN" altLang="en-US" sz="4000" b="1" spc="-10" dirty="0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的延迟</a:t>
            </a:r>
            <a:endParaRPr lang="zh-CN" altLang="en-US" sz="4000" b="1" dirty="0">
              <a:solidFill>
                <a:srgbClr val="C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570863" y="3453296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200" y="0"/>
                </a:lnTo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47063" y="3910496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200" y="0"/>
                </a:lnTo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51919" y="2919363"/>
            <a:ext cx="4892688" cy="2181366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770"/>
              </a:spcBef>
            </a:pPr>
            <a:r>
              <a:rPr sz="2800" b="1" spc="-5" dirty="0">
                <a:latin typeface="Times New Roman"/>
                <a:cs typeface="Times New Roman"/>
              </a:rPr>
              <a:t>delay( </a:t>
            </a:r>
            <a:r>
              <a:rPr sz="2800" b="1" i="1" dirty="0">
                <a:latin typeface="Times New Roman"/>
                <a:cs typeface="Times New Roman"/>
              </a:rPr>
              <a:t>f</a:t>
            </a:r>
            <a:r>
              <a:rPr sz="2800" b="1" baseline="-21241" dirty="0">
                <a:latin typeface="Times New Roman"/>
                <a:cs typeface="Times New Roman"/>
              </a:rPr>
              <a:t>2</a:t>
            </a:r>
            <a:r>
              <a:rPr sz="2800" b="1" i="1" dirty="0">
                <a:latin typeface="Times New Roman"/>
                <a:cs typeface="Times New Roman"/>
              </a:rPr>
              <a:t>,i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r>
              <a:rPr sz="2800" b="1" i="1" dirty="0">
                <a:latin typeface="Times New Roman"/>
                <a:cs typeface="Times New Roman"/>
              </a:rPr>
              <a:t>=s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800" b="1" i="1" baseline="-21241" dirty="0">
                <a:latin typeface="Times New Roman"/>
                <a:cs typeface="Times New Roman"/>
              </a:rPr>
              <a:t>j </a:t>
            </a:r>
            <a:r>
              <a:rPr sz="2800" b="1" spc="-30" dirty="0">
                <a:latin typeface="Times New Roman"/>
                <a:cs typeface="Times New Roman"/>
              </a:rPr>
              <a:t>+</a:t>
            </a:r>
            <a:r>
              <a:rPr sz="2800" b="1" i="1" spc="-30" dirty="0">
                <a:latin typeface="Times New Roman"/>
                <a:cs typeface="Times New Roman"/>
              </a:rPr>
              <a:t>t</a:t>
            </a:r>
            <a:r>
              <a:rPr sz="2800" b="1" i="1" spc="-44" baseline="-21241" dirty="0">
                <a:latin typeface="Times New Roman"/>
                <a:cs typeface="Times New Roman"/>
              </a:rPr>
              <a:t>i</a:t>
            </a:r>
            <a:r>
              <a:rPr sz="2800" b="1" i="1" spc="-30" dirty="0">
                <a:latin typeface="宋体"/>
                <a:cs typeface="宋体"/>
              </a:rPr>
              <a:t>－</a:t>
            </a:r>
            <a:r>
              <a:rPr sz="2800" b="1" i="1" spc="-720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800" b="1" i="1" baseline="-21241" dirty="0">
                <a:latin typeface="Times New Roman"/>
                <a:cs typeface="Times New Roman"/>
              </a:rPr>
              <a:t>i</a:t>
            </a:r>
            <a:endParaRPr sz="2800" baseline="-21241" dirty="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600"/>
              </a:spcBef>
            </a:pPr>
            <a:r>
              <a:rPr sz="2800" b="1" spc="-5" dirty="0">
                <a:latin typeface="Times New Roman"/>
                <a:cs typeface="Times New Roman"/>
              </a:rPr>
              <a:t>delay( </a:t>
            </a:r>
            <a:r>
              <a:rPr sz="2800" b="1" i="1" dirty="0">
                <a:latin typeface="Times New Roman"/>
                <a:cs typeface="Times New Roman"/>
              </a:rPr>
              <a:t>f</a:t>
            </a:r>
            <a:r>
              <a:rPr sz="2800" b="1" baseline="-21241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 </a:t>
            </a:r>
            <a:r>
              <a:rPr sz="2800" b="1" i="1" spc="-5" dirty="0">
                <a:latin typeface="Times New Roman"/>
                <a:cs typeface="Times New Roman"/>
              </a:rPr>
              <a:t>j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i="1" spc="-5" dirty="0">
                <a:latin typeface="Times New Roman"/>
                <a:cs typeface="Times New Roman"/>
              </a:rPr>
              <a:t>=s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i="1" spc="-7" baseline="-21241" dirty="0">
                <a:latin typeface="Times New Roman"/>
                <a:cs typeface="Times New Roman"/>
              </a:rPr>
              <a:t>i</a:t>
            </a:r>
            <a:r>
              <a:rPr sz="2800" b="1" i="1" spc="-22" baseline="-21241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i="1" dirty="0">
                <a:latin typeface="Times New Roman"/>
                <a:cs typeface="Times New Roman"/>
              </a:rPr>
              <a:t>t</a:t>
            </a:r>
            <a:r>
              <a:rPr sz="2800" b="1" i="1" baseline="-21241" dirty="0">
                <a:latin typeface="Times New Roman"/>
                <a:cs typeface="Times New Roman"/>
              </a:rPr>
              <a:t>j</a:t>
            </a:r>
            <a:r>
              <a:rPr sz="2800" b="1" dirty="0">
                <a:latin typeface="宋体"/>
                <a:cs typeface="宋体"/>
              </a:rPr>
              <a:t>－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800" b="1" i="1" baseline="-21241" dirty="0">
                <a:latin typeface="Times New Roman"/>
                <a:cs typeface="Times New Roman"/>
              </a:rPr>
              <a:t>j</a:t>
            </a:r>
            <a:endParaRPr sz="2800" baseline="-21241" dirty="0">
              <a:latin typeface="Times New Roman"/>
              <a:cs typeface="Times New Roman"/>
            </a:endParaRPr>
          </a:p>
          <a:p>
            <a:pPr marL="209550">
              <a:lnSpc>
                <a:spcPct val="100000"/>
              </a:lnSpc>
              <a:spcBef>
                <a:spcPts val="91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d</a:t>
            </a:r>
            <a:r>
              <a:rPr sz="2800" b="1" i="1" spc="-7" baseline="-20833" dirty="0">
                <a:latin typeface="Times New Roman"/>
                <a:cs typeface="Times New Roman"/>
              </a:rPr>
              <a:t>j</a:t>
            </a:r>
            <a:r>
              <a:rPr sz="2800" b="1" i="1" spc="-5" dirty="0">
                <a:latin typeface="Times New Roman"/>
                <a:cs typeface="Times New Roman"/>
              </a:rPr>
              <a:t>&lt;d</a:t>
            </a:r>
            <a:r>
              <a:rPr sz="2800" b="1" i="1" spc="-7" baseline="-20833" dirty="0">
                <a:latin typeface="Times New Roman"/>
                <a:cs typeface="Times New Roman"/>
              </a:rPr>
              <a:t>i</a:t>
            </a:r>
            <a:endParaRPr sz="2800" baseline="-20833" dirty="0">
              <a:latin typeface="Times New Roman"/>
              <a:cs typeface="Times New Roman"/>
            </a:endParaRPr>
          </a:p>
          <a:p>
            <a:pPr marL="60325">
              <a:lnSpc>
                <a:spcPct val="100000"/>
              </a:lnSpc>
              <a:spcBef>
                <a:spcPts val="1295"/>
              </a:spcBef>
            </a:pPr>
            <a:r>
              <a:rPr sz="2800" b="1" spc="-5" dirty="0">
                <a:latin typeface="Times New Roman"/>
                <a:cs typeface="Times New Roman"/>
              </a:rPr>
              <a:t>delay(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&lt; </a:t>
            </a:r>
            <a:r>
              <a:rPr sz="2800" b="1" spc="-5" dirty="0">
                <a:latin typeface="Times New Roman"/>
                <a:cs typeface="Times New Roman"/>
              </a:rPr>
              <a:t>delya(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i="1" spc="-5" dirty="0">
                <a:latin typeface="Times New Roman"/>
                <a:cs typeface="Times New Roman"/>
              </a:rPr>
              <a:t>j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40539" y="1784515"/>
            <a:ext cx="1830705" cy="277495"/>
          </a:xfrm>
          <a:custGeom>
            <a:avLst/>
            <a:gdLst/>
            <a:ahLst/>
            <a:cxnLst/>
            <a:rect l="l" t="t" r="r" b="b"/>
            <a:pathLst>
              <a:path w="1830705" h="277494">
                <a:moveTo>
                  <a:pt x="0" y="0"/>
                </a:moveTo>
                <a:lnTo>
                  <a:pt x="1830324" y="0"/>
                </a:lnTo>
                <a:lnTo>
                  <a:pt x="1830324" y="277367"/>
                </a:lnTo>
                <a:lnTo>
                  <a:pt x="0" y="277367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7" name="object 7"/>
          <p:cNvSpPr/>
          <p:nvPr/>
        </p:nvSpPr>
        <p:spPr>
          <a:xfrm>
            <a:off x="5570863" y="1784515"/>
            <a:ext cx="2803525" cy="277495"/>
          </a:xfrm>
          <a:custGeom>
            <a:avLst/>
            <a:gdLst/>
            <a:ahLst/>
            <a:cxnLst/>
            <a:rect l="l" t="t" r="r" b="b"/>
            <a:pathLst>
              <a:path w="2803525" h="277494">
                <a:moveTo>
                  <a:pt x="0" y="0"/>
                </a:moveTo>
                <a:lnTo>
                  <a:pt x="2803397" y="0"/>
                </a:lnTo>
                <a:lnTo>
                  <a:pt x="2803397" y="277367"/>
                </a:lnTo>
                <a:lnTo>
                  <a:pt x="0" y="277367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8" name="object 8"/>
          <p:cNvSpPr/>
          <p:nvPr/>
        </p:nvSpPr>
        <p:spPr>
          <a:xfrm>
            <a:off x="5570863" y="1784515"/>
            <a:ext cx="2803525" cy="277495"/>
          </a:xfrm>
          <a:custGeom>
            <a:avLst/>
            <a:gdLst/>
            <a:ahLst/>
            <a:cxnLst/>
            <a:rect l="l" t="t" r="r" b="b"/>
            <a:pathLst>
              <a:path w="2803525" h="277494">
                <a:moveTo>
                  <a:pt x="0" y="0"/>
                </a:moveTo>
                <a:lnTo>
                  <a:pt x="2803397" y="0"/>
                </a:lnTo>
                <a:lnTo>
                  <a:pt x="2803397" y="277367"/>
                </a:lnTo>
                <a:lnTo>
                  <a:pt x="0" y="277367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9" name="object 9"/>
          <p:cNvSpPr/>
          <p:nvPr/>
        </p:nvSpPr>
        <p:spPr>
          <a:xfrm>
            <a:off x="3740539" y="2192185"/>
            <a:ext cx="2744470" cy="278130"/>
          </a:xfrm>
          <a:custGeom>
            <a:avLst/>
            <a:gdLst/>
            <a:ahLst/>
            <a:cxnLst/>
            <a:rect l="l" t="t" r="r" b="b"/>
            <a:pathLst>
              <a:path w="2744470" h="278130">
                <a:moveTo>
                  <a:pt x="0" y="0"/>
                </a:moveTo>
                <a:lnTo>
                  <a:pt x="2743962" y="0"/>
                </a:lnTo>
                <a:lnTo>
                  <a:pt x="2743962" y="278130"/>
                </a:lnTo>
                <a:lnTo>
                  <a:pt x="0" y="278130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10" name="object 10"/>
          <p:cNvSpPr/>
          <p:nvPr/>
        </p:nvSpPr>
        <p:spPr>
          <a:xfrm>
            <a:off x="6484502" y="2192185"/>
            <a:ext cx="1889760" cy="278130"/>
          </a:xfrm>
          <a:custGeom>
            <a:avLst/>
            <a:gdLst/>
            <a:ahLst/>
            <a:cxnLst/>
            <a:rect l="l" t="t" r="r" b="b"/>
            <a:pathLst>
              <a:path w="1889760" h="278130">
                <a:moveTo>
                  <a:pt x="0" y="0"/>
                </a:moveTo>
                <a:lnTo>
                  <a:pt x="1889760" y="0"/>
                </a:lnTo>
                <a:lnTo>
                  <a:pt x="1889760" y="278130"/>
                </a:lnTo>
                <a:lnTo>
                  <a:pt x="0" y="27813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11" name="object 11"/>
          <p:cNvSpPr/>
          <p:nvPr/>
        </p:nvSpPr>
        <p:spPr>
          <a:xfrm>
            <a:off x="6484502" y="2192185"/>
            <a:ext cx="1889760" cy="278130"/>
          </a:xfrm>
          <a:custGeom>
            <a:avLst/>
            <a:gdLst/>
            <a:ahLst/>
            <a:cxnLst/>
            <a:rect l="l" t="t" r="r" b="b"/>
            <a:pathLst>
              <a:path w="1889760" h="278130">
                <a:moveTo>
                  <a:pt x="0" y="0"/>
                </a:moveTo>
                <a:lnTo>
                  <a:pt x="1889760" y="0"/>
                </a:lnTo>
                <a:lnTo>
                  <a:pt x="1889760" y="278130"/>
                </a:lnTo>
                <a:lnTo>
                  <a:pt x="0" y="27813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12" name="object 12"/>
          <p:cNvSpPr txBox="1"/>
          <p:nvPr/>
        </p:nvSpPr>
        <p:spPr>
          <a:xfrm>
            <a:off x="5028523" y="1720302"/>
            <a:ext cx="3198417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86635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i	j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35753" y="2082201"/>
            <a:ext cx="838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19281" y="2082201"/>
            <a:ext cx="8382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j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40539" y="1543723"/>
            <a:ext cx="0" cy="1066800"/>
          </a:xfrm>
          <a:custGeom>
            <a:avLst/>
            <a:gdLst/>
            <a:ahLst/>
            <a:cxnLst/>
            <a:rect l="l" t="t" r="r" b="b"/>
            <a:pathLst>
              <a:path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16" name="object 16"/>
          <p:cNvSpPr txBox="1"/>
          <p:nvPr/>
        </p:nvSpPr>
        <p:spPr>
          <a:xfrm>
            <a:off x="3612178" y="2470315"/>
            <a:ext cx="14414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s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59784" y="1543723"/>
            <a:ext cx="0" cy="1066800"/>
          </a:xfrm>
          <a:custGeom>
            <a:avLst/>
            <a:gdLst/>
            <a:ahLst/>
            <a:cxnLst/>
            <a:rect l="l" t="t" r="r" b="b"/>
            <a:pathLst>
              <a:path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  <p:sp>
        <p:nvSpPr>
          <p:cNvPr id="18" name="object 18"/>
          <p:cNvSpPr txBox="1"/>
          <p:nvPr/>
        </p:nvSpPr>
        <p:spPr>
          <a:xfrm>
            <a:off x="7756922" y="2600455"/>
            <a:ext cx="147844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s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i="1" spc="-7" baseline="-20833" dirty="0">
                <a:latin typeface="Times New Roman"/>
                <a:cs typeface="Times New Roman"/>
              </a:rPr>
              <a:t>j</a:t>
            </a:r>
            <a:r>
              <a:rPr sz="2800" b="1" i="1" spc="-82" baseline="-20833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i="1" spc="-7" baseline="-20833" dirty="0">
                <a:latin typeface="Times New Roman"/>
                <a:cs typeface="Times New Roman"/>
              </a:rPr>
              <a:t>i</a:t>
            </a:r>
            <a:endParaRPr sz="2800" baseline="-20833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28296" y="1501738"/>
            <a:ext cx="523621" cy="11410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31300"/>
              </a:lnSpc>
              <a:spcBef>
                <a:spcPts val="9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baseline="-20833" dirty="0">
                <a:latin typeface="Times New Roman"/>
                <a:cs typeface="Times New Roman"/>
              </a:rPr>
              <a:t>1  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endParaRPr sz="2800" baseline="-20833" dirty="0">
              <a:latin typeface="Times New Roman"/>
              <a:cs typeface="Times New Roman"/>
            </a:endParaRPr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sp>
        <p:nvSpPr>
          <p:cNvPr id="23" name="日期占位符 2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7FC81B7-FB7A-4546-8234-74C3549A51D9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342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5754147" y="52550"/>
            <a:ext cx="292277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612140" y="906272"/>
            <a:ext cx="10928219" cy="356277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1300" indent="-45720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l"/>
            </a:pPr>
            <a:r>
              <a:rPr lang="zh-CN" altLang="en-US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贪心法正</a:t>
            </a:r>
            <a:r>
              <a:rPr lang="zh-CN" altLang="en-US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确</a:t>
            </a:r>
            <a:r>
              <a:rPr lang="zh-CN" altLang="en-US" b="1" spc="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性</a:t>
            </a:r>
            <a:r>
              <a:rPr lang="zh-CN" altLang="en-US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证明方法：交换论证</a:t>
            </a:r>
          </a:p>
          <a:p>
            <a:pPr marL="469900" marR="5080" indent="-45720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l"/>
              <a:tabLst>
                <a:tab pos="347345" algn="l"/>
                <a:tab pos="347980" algn="l"/>
              </a:tabLst>
            </a:pPr>
            <a:r>
              <a:rPr lang="zh-CN" altLang="en-US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分析算法</a:t>
            </a:r>
            <a:r>
              <a:rPr lang="zh-CN" altLang="en-US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zh-CN" altLang="en-US" b="1" spc="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zh-CN" altLang="en-US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一般最优解的区</a:t>
            </a:r>
            <a:r>
              <a:rPr lang="zh-CN" altLang="en-US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别</a:t>
            </a:r>
            <a:r>
              <a:rPr lang="en-US" altLang="zh-CN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找到把一</a:t>
            </a:r>
            <a:r>
              <a:rPr lang="zh-CN" altLang="en-US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般</a:t>
            </a:r>
            <a:r>
              <a:rPr lang="zh-CN" altLang="en-US" b="1" spc="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zh-CN" altLang="en-US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改造成算法解的一 </a:t>
            </a:r>
            <a:r>
              <a:rPr lang="zh-CN" altLang="en-US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系列操作</a:t>
            </a:r>
            <a:r>
              <a:rPr lang="en-US" altLang="zh-CN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替换成份、交换次序</a:t>
            </a:r>
            <a:r>
              <a:rPr lang="en-US" altLang="zh-CN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469900" indent="-45720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l"/>
              <a:tabLst>
                <a:tab pos="347345" algn="l"/>
                <a:tab pos="347980" algn="l"/>
              </a:tabLst>
            </a:pPr>
            <a:r>
              <a:rPr lang="zh-CN" altLang="en-US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证明操作</a:t>
            </a:r>
            <a:r>
              <a:rPr lang="zh-CN" altLang="en-US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步</a:t>
            </a:r>
            <a:r>
              <a:rPr lang="zh-CN" altLang="en-US" b="1" spc="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</a:t>
            </a:r>
            <a:r>
              <a:rPr lang="zh-CN" altLang="en-US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zh-CN" altLang="en-US" b="1" spc="-1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限</a:t>
            </a:r>
          </a:p>
          <a:p>
            <a:pPr marL="469900" marR="80010" indent="-45720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l"/>
              <a:tabLst>
                <a:tab pos="347345" algn="l"/>
                <a:tab pos="347980" algn="l"/>
              </a:tabLst>
            </a:pPr>
            <a:r>
              <a:rPr lang="zh-CN" altLang="en-US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证明每步</a:t>
            </a:r>
            <a:r>
              <a:rPr lang="zh-CN" altLang="en-US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操</a:t>
            </a:r>
            <a:r>
              <a:rPr lang="zh-CN" altLang="en-US" b="1" spc="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作</a:t>
            </a:r>
            <a:r>
              <a:rPr lang="zh-CN" altLang="en-US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后的得到解仍旧保</a:t>
            </a:r>
            <a:r>
              <a:rPr lang="zh-CN" altLang="en-US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持最</a:t>
            </a:r>
            <a:r>
              <a:rPr lang="zh-CN" altLang="en-US" b="1" spc="-1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优</a:t>
            </a:r>
            <a:endParaRPr lang="zh-CN" altLang="en-US" b="1" spc="-1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D45FA95-A828-421E-8245-164BBE33A749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171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3581400" y="1993771"/>
            <a:ext cx="5632972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6870" marR="5080" indent="-344805">
              <a:lnSpc>
                <a:spcPct val="100000"/>
              </a:lnSpc>
              <a:spcBef>
                <a:spcPts val="100"/>
              </a:spcBef>
            </a:pPr>
            <a:r>
              <a:rPr lang="zh-CN" altLang="en-US" sz="66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得不</a:t>
            </a:r>
            <a:r>
              <a:rPr lang="zh-CN" altLang="en-US" sz="6600" b="1" spc="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zh-CN" altLang="en-US" sz="6600" b="1" spc="-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最优</a:t>
            </a:r>
            <a:r>
              <a:rPr lang="zh-CN" altLang="en-US" sz="6600" b="1" spc="-2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 </a:t>
            </a:r>
            <a:r>
              <a:rPr lang="zh-CN" altLang="en-US" sz="66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的处</a:t>
            </a:r>
            <a:r>
              <a:rPr lang="zh-CN" altLang="en-US" sz="6600" b="1" spc="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</a:t>
            </a:r>
            <a:r>
              <a:rPr lang="zh-CN" altLang="en-US" sz="6600" b="1" spc="-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</a:t>
            </a:r>
            <a:r>
              <a:rPr lang="zh-CN" altLang="en-US" sz="6600" b="1" spc="-2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</a:t>
            </a:r>
            <a:endParaRPr lang="zh-CN" altLang="en-US" sz="66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6C1F8-11CD-4249-A6B6-D494F5070295}" type="slidenum">
              <a:rPr lang="zh-CN" altLang="en-US" smtClean="0"/>
              <a:pPr/>
              <a:t>28</a:t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3ED43-9931-4312-8EAD-C73CF27C8096}" type="datetime1">
              <a:rPr lang="zh-CN" altLang="en-US" smtClean="0"/>
              <a:t>2019/5/22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74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2421584" y="154091"/>
            <a:ext cx="8067740" cy="628377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得不到最优解</a:t>
            </a:r>
            <a:r>
              <a:rPr lang="zh-CN" altLang="en-US" sz="4000" b="1" spc="-5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的处</a:t>
            </a:r>
            <a:r>
              <a:rPr lang="zh-CN" altLang="en-US" sz="4000" b="1" spc="-15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</a:t>
            </a:r>
            <a:endParaRPr lang="zh-CN" altLang="en-US" sz="4000" b="1" spc="-15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740891" y="1143254"/>
            <a:ext cx="10694363" cy="39164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50000"/>
              </a:lnSpc>
              <a:spcBef>
                <a:spcPts val="100"/>
              </a:spcBef>
              <a:buFont typeface="Wingdings" pitchFamily="2" charset="2"/>
              <a:buChar char="l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输入参数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</a:t>
            </a:r>
            <a:r>
              <a:rPr sz="2800" b="1" spc="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析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3695">
              <a:lnSpc>
                <a:spcPct val="150000"/>
              </a:lnSpc>
              <a:spcBef>
                <a:spcPts val="105"/>
              </a:spcBef>
            </a:pP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考虑输入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参数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什么取值范围内使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用贪心法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可以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到最优解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 marL="469900" indent="-457200" algn="just">
              <a:lnSpc>
                <a:spcPct val="150000"/>
              </a:lnSpc>
              <a:buFont typeface="Wingdings" pitchFamily="2" charset="2"/>
              <a:buChar char="l"/>
              <a:tabLst>
                <a:tab pos="355600" algn="l"/>
              </a:tabLst>
            </a:pPr>
            <a:r>
              <a:rPr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误差分析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3695" marR="5080" algn="just">
              <a:lnSpc>
                <a:spcPct val="150000"/>
              </a:lnSpc>
              <a:spcBef>
                <a:spcPts val="130"/>
              </a:spcBef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估计贪心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法——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近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似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算法所得到的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解与最优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解的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误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差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对所有的输入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实例在最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坏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情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况下误差的上界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4E9150-E8F0-44D3-AE72-9F7B917F3921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7A1A4B-EEF6-49C6-84B7-372FE2C23132}" type="datetime1">
              <a:rPr lang="zh-CN" altLang="en-US" smtClean="0"/>
              <a:t>2019/5/22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983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1686464" y="94936"/>
            <a:ext cx="980134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找零钱问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题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8316" y="1008213"/>
            <a:ext cx="11015367" cy="37830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49554" algn="just">
              <a:lnSpc>
                <a:spcPct val="150000"/>
              </a:lnSpc>
              <a:spcBef>
                <a:spcPts val="600"/>
              </a:spcBef>
              <a:tabLst>
                <a:tab pos="551815" algn="l"/>
                <a:tab pos="2752725" algn="l"/>
              </a:tabLst>
            </a:pPr>
            <a:r>
              <a:rPr sz="2800" b="1" spc="-5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</a:t>
            </a:r>
            <a:r>
              <a:rPr sz="2800" b="1" spc="-10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题</a:t>
            </a:r>
            <a:r>
              <a:rPr lang="en-US" sz="2800" b="1" spc="-155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sz="2800" b="1" spc="-67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i="1" spc="-2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种零钱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spc="-65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重量分别为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  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...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,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价值分别为</a:t>
            </a:r>
            <a:r>
              <a:rPr sz="2800" b="1" i="1" dirty="0">
                <a:latin typeface="Times New Roman"/>
                <a:cs typeface="Times New Roman"/>
              </a:rPr>
              <a:t>v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spc="22" baseline="-2083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1,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v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...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,  </a:t>
            </a:r>
            <a:r>
              <a:rPr sz="2800" b="1" i="1" spc="-5" dirty="0" err="1">
                <a:latin typeface="Times New Roman"/>
                <a:cs typeface="Times New Roman"/>
              </a:rPr>
              <a:t>v</a:t>
            </a:r>
            <a:r>
              <a:rPr sz="2800" b="1" i="1" spc="-7" baseline="-20833" dirty="0" err="1">
                <a:latin typeface="Times New Roman"/>
                <a:cs typeface="Times New Roman"/>
              </a:rPr>
              <a:t>n</a:t>
            </a:r>
            <a:r>
              <a:rPr sz="2800" b="1" spc="-5" dirty="0" err="1" smtClean="0">
                <a:latin typeface="Times New Roman"/>
                <a:cs typeface="Times New Roman"/>
              </a:rPr>
              <a:t>.</a:t>
            </a:r>
            <a:r>
              <a:rPr lang="en-US" sz="2800" b="1" spc="-5" dirty="0">
                <a:latin typeface="Times New Roman"/>
                <a:cs typeface="Times New Roman"/>
              </a:rPr>
              <a:t> 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需要付的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钱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sz="2800" b="1" spc="-610" dirty="0" smtClean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y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.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不妨设币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值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和钱数都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正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整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</a:t>
            </a:r>
            <a:r>
              <a:rPr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</a:t>
            </a: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：如何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付钱</a:t>
            </a:r>
            <a:r>
              <a:rPr sz="2800" b="1" spc="-1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得所付钱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重最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轻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3600"/>
              </a:spcBef>
            </a:pPr>
            <a:r>
              <a:rPr sz="2800" b="1" spc="-5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</a:t>
            </a:r>
            <a:r>
              <a:rPr sz="2800" b="1" spc="-10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sz="2800" b="1" i="1" dirty="0" smtClean="0">
                <a:latin typeface="Times New Roman"/>
                <a:cs typeface="Times New Roman"/>
              </a:rPr>
              <a:t>v</a:t>
            </a:r>
            <a:r>
              <a:rPr sz="2800" b="1" baseline="-20833" dirty="0" smtClean="0">
                <a:latin typeface="Times New Roman"/>
                <a:cs typeface="Times New Roman"/>
              </a:rPr>
              <a:t>1</a:t>
            </a:r>
            <a:r>
              <a:rPr sz="2800" b="1" dirty="0" smtClean="0">
                <a:latin typeface="Times New Roman"/>
                <a:cs typeface="Times New Roman"/>
              </a:rPr>
              <a:t>=1</a:t>
            </a:r>
            <a:r>
              <a:rPr sz="2800" b="1" dirty="0">
                <a:latin typeface="Times New Roman"/>
                <a:cs typeface="Times New Roman"/>
              </a:rPr>
              <a:t>, </a:t>
            </a:r>
            <a:r>
              <a:rPr sz="2800" b="1" i="1" dirty="0">
                <a:latin typeface="Times New Roman"/>
                <a:cs typeface="Times New Roman"/>
              </a:rPr>
              <a:t>v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=5, </a:t>
            </a:r>
            <a:r>
              <a:rPr sz="2800" b="1" i="1" dirty="0">
                <a:latin typeface="Times New Roman"/>
                <a:cs typeface="Times New Roman"/>
              </a:rPr>
              <a:t>v</a:t>
            </a:r>
            <a:r>
              <a:rPr sz="2800" b="1" baseline="-20833" dirty="0">
                <a:latin typeface="Times New Roman"/>
                <a:cs typeface="Times New Roman"/>
              </a:rPr>
              <a:t>3</a:t>
            </a:r>
            <a:r>
              <a:rPr sz="2800" b="1" dirty="0">
                <a:latin typeface="Times New Roman"/>
                <a:cs typeface="Times New Roman"/>
              </a:rPr>
              <a:t>=14, </a:t>
            </a:r>
            <a:r>
              <a:rPr sz="2800" b="1" i="1" dirty="0">
                <a:latin typeface="Times New Roman"/>
                <a:cs typeface="Times New Roman"/>
              </a:rPr>
              <a:t>v</a:t>
            </a:r>
            <a:r>
              <a:rPr sz="2800" b="1" baseline="-20833" dirty="0">
                <a:latin typeface="Times New Roman"/>
                <a:cs typeface="Times New Roman"/>
              </a:rPr>
              <a:t>4</a:t>
            </a:r>
            <a:r>
              <a:rPr sz="2800" b="1" dirty="0">
                <a:latin typeface="Times New Roman"/>
                <a:cs typeface="Times New Roman"/>
              </a:rPr>
              <a:t>=18, </a:t>
            </a:r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i="1" spc="-7" baseline="-20833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Times New Roman"/>
                <a:cs typeface="Times New Roman"/>
              </a:rPr>
              <a:t>=1,</a:t>
            </a:r>
            <a:r>
              <a:rPr sz="2800" b="1" spc="-14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</a:t>
            </a:r>
            <a:r>
              <a:rPr sz="2800" b="1" dirty="0">
                <a:latin typeface="Times New Roman"/>
                <a:cs typeface="Times New Roman"/>
              </a:rPr>
              <a:t>=1,2,3,4.  </a:t>
            </a:r>
            <a:r>
              <a:rPr sz="2800" b="1" i="1" dirty="0">
                <a:latin typeface="Times New Roman"/>
                <a:cs typeface="Times New Roman"/>
              </a:rPr>
              <a:t>y</a:t>
            </a:r>
            <a:r>
              <a:rPr sz="2800" b="1" dirty="0">
                <a:latin typeface="Times New Roman"/>
                <a:cs typeface="Times New Roman"/>
              </a:rPr>
              <a:t>=28</a:t>
            </a:r>
            <a:endParaRPr sz="28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tabLst>
                <a:tab pos="2185670" algn="l"/>
              </a:tabLst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最优解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7" baseline="-20833" dirty="0">
                <a:latin typeface="Times New Roman"/>
                <a:cs typeface="Times New Roman"/>
              </a:rPr>
              <a:t>3</a:t>
            </a:r>
            <a:r>
              <a:rPr sz="2800" b="1" spc="-5" dirty="0">
                <a:latin typeface="Times New Roman"/>
                <a:cs typeface="Times New Roman"/>
              </a:rPr>
              <a:t>=2,	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=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=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7" baseline="-20833" dirty="0">
                <a:latin typeface="Times New Roman"/>
                <a:cs typeface="Times New Roman"/>
              </a:rPr>
              <a:t>4</a:t>
            </a:r>
            <a:r>
              <a:rPr sz="2800" b="1" spc="-5" dirty="0">
                <a:latin typeface="Times New Roman"/>
                <a:cs typeface="Times New Roman"/>
              </a:rPr>
              <a:t>=0</a:t>
            </a:r>
            <a:r>
              <a:rPr sz="2800" b="1" spc="-5" dirty="0">
                <a:latin typeface="宋体"/>
                <a:cs typeface="宋体"/>
              </a:rPr>
              <a:t>，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总重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588994E-CB52-44F9-AC1B-9C1D8F5D110A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743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5512409" y="123841"/>
            <a:ext cx="290637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建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2939" y="1503003"/>
            <a:ext cx="10877419" cy="5298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30480" indent="-76200">
              <a:lnSpc>
                <a:spcPct val="119800"/>
              </a:lnSpc>
              <a:spcBef>
                <a:spcPts val="100"/>
              </a:spcBef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令选用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sz="2800" b="1" spc="-61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sz="2800" b="1" i="1" spc="-3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种硬币的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数目</a:t>
            </a:r>
            <a:r>
              <a:rPr sz="2800" b="1" spc="-1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sz="2800" b="1" spc="-6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5" dirty="0" err="1" smtClean="0">
                <a:latin typeface="Times New Roman"/>
                <a:cs typeface="Times New Roman"/>
              </a:rPr>
              <a:t>x</a:t>
            </a:r>
            <a:r>
              <a:rPr sz="2800" b="1" i="1" spc="-7" baseline="-20833" dirty="0" err="1" smtClean="0">
                <a:latin typeface="Times New Roman"/>
                <a:cs typeface="Times New Roman"/>
              </a:rPr>
              <a:t>i</a:t>
            </a:r>
            <a:r>
              <a:rPr sz="2800" b="1" spc="-5" dirty="0" err="1" smtClean="0">
                <a:latin typeface="宋体"/>
                <a:cs typeface="宋体"/>
              </a:rPr>
              <a:t>，</a:t>
            </a:r>
            <a:r>
              <a:rPr sz="2800" b="1" i="1" dirty="0" err="1" smtClean="0">
                <a:latin typeface="Times New Roman"/>
                <a:cs typeface="Times New Roman"/>
              </a:rPr>
              <a:t>i</a:t>
            </a:r>
            <a:r>
              <a:rPr sz="2800" b="1" i="1" dirty="0" smtClean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 1, 2, … ,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i="1" spc="-5" dirty="0" smtClean="0">
                <a:latin typeface="Times New Roman"/>
                <a:cs typeface="Times New Roman"/>
              </a:rPr>
              <a:t>n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F97DEBC-EB73-43EB-8516-359004ED3861}" type="datetime1">
              <a:rPr lang="zh-CN" altLang="en-US" smtClean="0"/>
              <a:t>2019/5/22</a:t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1882" y="2584732"/>
            <a:ext cx="5598225" cy="222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70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/>
          <p:nvPr/>
        </p:nvSpPr>
        <p:spPr>
          <a:xfrm>
            <a:off x="672662" y="1323533"/>
            <a:ext cx="10836166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165735" indent="-762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i="1" spc="-7" baseline="-20833" dirty="0">
                <a:latin typeface="Times New Roman"/>
                <a:cs typeface="Times New Roman"/>
              </a:rPr>
              <a:t>k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y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表示用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前</a:t>
            </a:r>
            <a:r>
              <a:rPr sz="2800" b="1" spc="-65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种零钱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，总钱数为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sz="2800" b="1" i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的最小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重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量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/>
          </p:cNvSpPr>
          <p:nvPr/>
        </p:nvSpPr>
        <p:spPr>
          <a:xfrm>
            <a:off x="4109095" y="99186"/>
            <a:ext cx="550490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动态规划算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32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2B9E5B8-B039-4531-8FC8-691B11BE6888}" type="datetime1">
              <a:rPr lang="zh-CN" altLang="en-US" smtClean="0"/>
              <a:t>2019/5/22</a:t>
            </a:fld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183" y="2327274"/>
            <a:ext cx="7560454" cy="2785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2304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5349896" y="108282"/>
            <a:ext cx="299882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贪心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2473" y="1007862"/>
            <a:ext cx="10856865" cy="1177245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560"/>
              </a:spcBef>
            </a:pP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单位价值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重</a:t>
            </a:r>
            <a:r>
              <a:rPr sz="2800" b="1" spc="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量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轻的货币优先，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en-US" sz="2800" b="1" spc="-5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5400">
              <a:lnSpc>
                <a:spcPct val="100000"/>
              </a:lnSpc>
              <a:spcBef>
                <a:spcPts val="935"/>
              </a:spcBef>
            </a:pPr>
            <a:endParaRPr lang="en-US" sz="2800" b="1" spc="-5" dirty="0" smtClean="0">
              <a:latin typeface="宋体"/>
              <a:cs typeface="宋体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33</a:t>
            </a:fld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F6B50CF-CC3F-4919-9223-5CEAF683F766}" type="datetime1">
              <a:rPr lang="zh-CN" altLang="en-US" smtClean="0"/>
              <a:t>2019/5/22</a:t>
            </a:fld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1236" y="3339638"/>
            <a:ext cx="6666435" cy="1290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1236" y="4585216"/>
            <a:ext cx="3888070" cy="1282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275" y="1763486"/>
            <a:ext cx="3059660" cy="917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753305" y="2685520"/>
            <a:ext cx="1045275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">
              <a:lnSpc>
                <a:spcPct val="150000"/>
              </a:lnSpc>
            </a:pPr>
            <a:r>
              <a:rPr lang="zh-CN" altLang="en-US" sz="2800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zh-CN" altLang="en-US"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前</a:t>
            </a:r>
            <a:r>
              <a:rPr lang="zh-CN" altLang="en-US" sz="2800" b="1" spc="-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800" b="1" i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种零钱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，总钱数</a:t>
            </a:r>
            <a:r>
              <a:rPr lang="zh-CN" altLang="en-US"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zh-CN" altLang="en-US" sz="2800" b="1" spc="-58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/>
                <a:cs typeface="Times New Roman"/>
              </a:rPr>
              <a:t>y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贪心法的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</a:t>
            </a:r>
            <a:r>
              <a:rPr lang="zh-CN" altLang="en-US"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重</a:t>
            </a:r>
            <a:r>
              <a:rPr lang="zh-CN" altLang="en-US"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zh-CN" altLang="en-US" sz="2800" b="1" spc="-580" dirty="0">
                <a:latin typeface="宋体"/>
                <a:cs typeface="宋体"/>
              </a:rPr>
              <a:t> </a:t>
            </a:r>
            <a:r>
              <a:rPr lang="en-US" altLang="zh-CN" sz="2800" b="1" i="1" spc="-5" dirty="0" err="1">
                <a:latin typeface="Times New Roman"/>
                <a:cs typeface="Times New Roman"/>
              </a:rPr>
              <a:t>G</a:t>
            </a:r>
            <a:r>
              <a:rPr lang="en-US" altLang="zh-CN" sz="2800" b="1" i="1" spc="-7" baseline="-20833" dirty="0" err="1">
                <a:latin typeface="Times New Roman"/>
                <a:cs typeface="Times New Roman"/>
              </a:rPr>
              <a:t>k</a:t>
            </a:r>
            <a:r>
              <a:rPr lang="en-US" altLang="zh-CN" sz="2800" b="1" spc="-5" dirty="0">
                <a:latin typeface="Times New Roman"/>
                <a:cs typeface="Times New Roman"/>
              </a:rPr>
              <a:t>(</a:t>
            </a:r>
            <a:r>
              <a:rPr lang="en-US" altLang="zh-CN" sz="2800" b="1" i="1" spc="-5" dirty="0">
                <a:latin typeface="Times New Roman"/>
                <a:cs typeface="Times New Roman"/>
              </a:rPr>
              <a:t>y</a:t>
            </a:r>
            <a:r>
              <a:rPr lang="en-US" altLang="zh-CN" sz="2800" b="1" spc="-5" dirty="0">
                <a:latin typeface="Times New Roman"/>
                <a:cs typeface="Times New Roman"/>
              </a:rPr>
              <a:t>)</a:t>
            </a:r>
            <a:r>
              <a:rPr lang="zh-CN" altLang="en-US" sz="2800" b="1" spc="-5" dirty="0">
                <a:latin typeface="宋体"/>
                <a:cs typeface="宋体"/>
              </a:rPr>
              <a:t>，</a:t>
            </a:r>
            <a:endParaRPr lang="zh-CN" altLang="en-US" sz="28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050947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3726022" y="138506"/>
            <a:ext cx="657648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i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=1,2</a:t>
            </a:r>
            <a:r>
              <a:rPr lang="zh-CN" altLang="en-US" sz="4000" b="1" spc="-10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贪心法是最优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endParaRPr lang="zh-CN" altLang="en-US" sz="4000" b="1" spc="-15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4193" y="1030205"/>
            <a:ext cx="10762593" cy="110620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6370" marR="335915">
              <a:lnSpc>
                <a:spcPct val="123300"/>
              </a:lnSpc>
              <a:spcBef>
                <a:spcPts val="160"/>
              </a:spcBef>
              <a:tabLst>
                <a:tab pos="1042669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只有一种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零</a:t>
            </a:r>
            <a:r>
              <a:rPr sz="28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钱</a:t>
            </a:r>
            <a:r>
              <a:rPr sz="2800" b="1" i="1" spc="-20" dirty="0">
                <a:latin typeface="宋体"/>
                <a:cs typeface="宋体"/>
              </a:rPr>
              <a:t>，</a:t>
            </a:r>
            <a:r>
              <a:rPr sz="2800" b="1" i="1" spc="-20" dirty="0">
                <a:latin typeface="Times New Roman"/>
                <a:cs typeface="Times New Roman"/>
              </a:rPr>
              <a:t>F</a:t>
            </a:r>
            <a:r>
              <a:rPr sz="2800" b="1" spc="-30" baseline="-20833" dirty="0">
                <a:latin typeface="Times New Roman"/>
                <a:cs typeface="Times New Roman"/>
              </a:rPr>
              <a:t>1</a:t>
            </a:r>
            <a:r>
              <a:rPr sz="2800" b="1" spc="-20" dirty="0">
                <a:latin typeface="Times New Roman"/>
                <a:cs typeface="Times New Roman"/>
              </a:rPr>
              <a:t>(</a:t>
            </a:r>
            <a:r>
              <a:rPr sz="2800" b="1" i="1" spc="-20" dirty="0">
                <a:latin typeface="Times New Roman"/>
                <a:cs typeface="Times New Roman"/>
              </a:rPr>
              <a:t>y</a:t>
            </a:r>
            <a:r>
              <a:rPr sz="2800" b="1" spc="-20" dirty="0">
                <a:latin typeface="Times New Roman"/>
                <a:cs typeface="Times New Roman"/>
              </a:rPr>
              <a:t>)</a:t>
            </a:r>
            <a:r>
              <a:rPr sz="2800" b="1" dirty="0">
                <a:latin typeface="Times New Roman"/>
                <a:cs typeface="Times New Roman"/>
              </a:rPr>
              <a:t> =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G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y</a:t>
            </a:r>
            <a:r>
              <a:rPr sz="2800" b="1" dirty="0">
                <a:latin typeface="Times New Roman"/>
                <a:cs typeface="Times New Roman"/>
              </a:rPr>
              <a:t>) 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2,	</a:t>
            </a:r>
            <a:endParaRPr lang="en-US" sz="2800" b="1" dirty="0" smtClean="0">
              <a:latin typeface="Times New Roman"/>
              <a:cs typeface="Times New Roman"/>
            </a:endParaRPr>
          </a:p>
          <a:p>
            <a:pPr marL="166370" marR="335915">
              <a:lnSpc>
                <a:spcPct val="123300"/>
              </a:lnSpc>
              <a:spcBef>
                <a:spcPts val="160"/>
              </a:spcBef>
              <a:tabLst>
                <a:tab pos="1042669" algn="l"/>
              </a:tabLst>
            </a:pPr>
            <a:r>
              <a:rPr sz="2800" b="1" i="1" spc="-5" dirty="0" smtClean="0">
                <a:latin typeface="Times New Roman"/>
                <a:cs typeface="Times New Roman"/>
              </a:rPr>
              <a:t>x</a:t>
            </a:r>
            <a:r>
              <a:rPr sz="2800" b="1" spc="-7" baseline="-20833" dirty="0" smtClean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越大，</a:t>
            </a:r>
            <a:r>
              <a:rPr sz="2800" b="1" spc="-5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得</a:t>
            </a:r>
            <a:r>
              <a:rPr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到的解越</a:t>
            </a:r>
            <a:r>
              <a:rPr sz="2800" b="1" spc="-10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好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2"/>
          <a:srcRect b="74791"/>
          <a:stretch/>
        </p:blipFill>
        <p:spPr>
          <a:xfrm>
            <a:off x="2341720" y="2136405"/>
            <a:ext cx="6714515" cy="1011056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34</a:t>
            </a:fld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03215DA-6BFE-4EA2-8F66-E25F0F1281CE}" type="datetime1">
              <a:rPr lang="zh-CN" altLang="en-US" smtClean="0"/>
              <a:t>2019/5/22</a:t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t="26449"/>
          <a:stretch/>
        </p:blipFill>
        <p:spPr>
          <a:xfrm>
            <a:off x="2341719" y="3147461"/>
            <a:ext cx="6714515" cy="294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51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4757713" y="127125"/>
            <a:ext cx="344035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判别条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件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712" y="1100280"/>
            <a:ext cx="10896688" cy="45364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900" marR="30480">
              <a:lnSpc>
                <a:spcPct val="150000"/>
              </a:lnSpc>
              <a:tabLst>
                <a:tab pos="1000125" algn="l"/>
                <a:tab pos="1690370" algn="l"/>
              </a:tabLst>
            </a:pPr>
            <a:r>
              <a:rPr sz="2800" b="1" spc="-1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</a:t>
            </a:r>
            <a:r>
              <a:rPr sz="2800" b="1" spc="-1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理	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对每个正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整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</a:t>
            </a:r>
            <a:r>
              <a:rPr sz="2800" b="1" spc="-66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假设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对所有非负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整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</a:t>
            </a:r>
            <a:r>
              <a:rPr sz="2800" b="1" spc="-60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2800" b="1" spc="-60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y</a:t>
            </a:r>
            <a:r>
              <a:rPr sz="2800" b="1" i="1" spc="-10" dirty="0" smtClean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sz="2800" b="1" i="1" dirty="0">
                <a:latin typeface="Times New Roman"/>
                <a:cs typeface="Times New Roman"/>
              </a:rPr>
              <a:t>G</a:t>
            </a:r>
            <a:r>
              <a:rPr sz="2800" b="1" i="1" baseline="-24305" dirty="0">
                <a:latin typeface="Times New Roman"/>
                <a:cs typeface="Times New Roman"/>
              </a:rPr>
              <a:t>k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y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spc="-5" dirty="0" err="1">
                <a:latin typeface="Times New Roman"/>
                <a:cs typeface="Times New Roman"/>
              </a:rPr>
              <a:t>F</a:t>
            </a:r>
            <a:r>
              <a:rPr sz="2800" b="1" i="1" spc="-7" baseline="-24305" dirty="0" err="1">
                <a:latin typeface="Times New Roman"/>
                <a:cs typeface="Times New Roman"/>
              </a:rPr>
              <a:t>k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y</a:t>
            </a:r>
            <a:r>
              <a:rPr sz="2800" b="1" spc="-5" dirty="0" smtClean="0">
                <a:latin typeface="Times New Roman"/>
                <a:cs typeface="Times New Roman"/>
              </a:rPr>
              <a:t>)</a:t>
            </a:r>
            <a:r>
              <a:rPr sz="2800" b="1" spc="-5" dirty="0" smtClean="0">
                <a:latin typeface="宋体"/>
                <a:cs typeface="宋体"/>
              </a:rPr>
              <a:t>，</a:t>
            </a:r>
            <a:endParaRPr lang="en-US" sz="2800" b="1" spc="-5" dirty="0" smtClean="0">
              <a:latin typeface="宋体"/>
              <a:cs typeface="宋体"/>
            </a:endParaRPr>
          </a:p>
          <a:p>
            <a:pPr marL="88900" marR="30480">
              <a:lnSpc>
                <a:spcPct val="150000"/>
              </a:lnSpc>
              <a:tabLst>
                <a:tab pos="1000125" algn="l"/>
                <a:tab pos="1690370" algn="l"/>
              </a:tabLst>
            </a:pPr>
            <a:r>
              <a:rPr lang="en-US" sz="2800" b="1" spc="-5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</a:t>
            </a:r>
            <a:r>
              <a:rPr sz="2800" b="1" spc="-5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且存</a:t>
            </a:r>
            <a:r>
              <a:rPr sz="2800" b="1" spc="-10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sz="2800" b="1" spc="-600" dirty="0" smtClean="0">
                <a:solidFill>
                  <a:srgbClr val="C00000"/>
                </a:solidFill>
                <a:latin typeface="宋体"/>
                <a:cs typeface="宋体"/>
              </a:rPr>
              <a:t> </a:t>
            </a:r>
            <a:r>
              <a:rPr sz="2800" b="1" i="1" dirty="0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r>
              <a:rPr sz="28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宋体"/>
                <a:cs typeface="宋体"/>
              </a:rPr>
              <a:t>和</a:t>
            </a:r>
            <a:r>
              <a:rPr sz="2800" b="1" spc="-610" dirty="0">
                <a:solidFill>
                  <a:srgbClr val="C000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solidFill>
                  <a:srgbClr val="C00000"/>
                </a:solidFill>
                <a:latin typeface="Symbol"/>
                <a:cs typeface="Symbol"/>
              </a:rPr>
              <a:t>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满足</a:t>
            </a:r>
            <a:r>
              <a:rPr lang="en-US" sz="2800" b="1" spc="-10" dirty="0">
                <a:solidFill>
                  <a:srgbClr val="C00000"/>
                </a:solidFill>
                <a:latin typeface="宋体"/>
                <a:cs typeface="Times New Roman" panose="02020603050405020304" pitchFamily="18" charset="0"/>
              </a:rPr>
              <a:t> </a:t>
            </a:r>
            <a:r>
              <a:rPr lang="en-US" sz="2800" b="1" spc="-10" dirty="0" smtClean="0">
                <a:solidFill>
                  <a:srgbClr val="C00000"/>
                </a:solidFill>
                <a:latin typeface="宋体"/>
                <a:cs typeface="Times New Roman" panose="02020603050405020304" pitchFamily="18" charset="0"/>
              </a:rPr>
              <a:t> </a:t>
            </a:r>
            <a:r>
              <a:rPr sz="2800" b="1" i="1" spc="-5" dirty="0" smtClean="0">
                <a:solidFill>
                  <a:srgbClr val="C00000"/>
                </a:solidFill>
                <a:latin typeface="Times New Roman"/>
                <a:cs typeface="Times New Roman"/>
              </a:rPr>
              <a:t>v</a:t>
            </a:r>
            <a:r>
              <a:rPr sz="2800" b="1" i="1" spc="-7" baseline="-24305" dirty="0" smtClean="0">
                <a:solidFill>
                  <a:srgbClr val="C00000"/>
                </a:solidFill>
                <a:latin typeface="Times New Roman"/>
                <a:cs typeface="Times New Roman"/>
              </a:rPr>
              <a:t>k</a:t>
            </a:r>
            <a:r>
              <a:rPr sz="2800" b="1" spc="-7" baseline="-24305" dirty="0" smtClean="0">
                <a:solidFill>
                  <a:srgbClr val="C00000"/>
                </a:solidFill>
                <a:latin typeface="Times New Roman"/>
                <a:cs typeface="Times New Roman"/>
              </a:rPr>
              <a:t>+1 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=</a:t>
            </a:r>
            <a:r>
              <a:rPr sz="28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C00000"/>
                </a:solidFill>
                <a:latin typeface="Times New Roman"/>
                <a:cs typeface="Times New Roman"/>
              </a:rPr>
              <a:t>pv</a:t>
            </a:r>
            <a:r>
              <a:rPr sz="2800" b="1" i="1" baseline="-24305" dirty="0">
                <a:solidFill>
                  <a:srgbClr val="C00000"/>
                </a:solidFill>
                <a:latin typeface="Times New Roman"/>
                <a:cs typeface="Times New Roman"/>
              </a:rPr>
              <a:t>k</a:t>
            </a:r>
            <a:r>
              <a:rPr sz="2800" b="1" dirty="0">
                <a:solidFill>
                  <a:srgbClr val="C00000"/>
                </a:solidFill>
                <a:latin typeface="宋体"/>
                <a:cs typeface="宋体"/>
              </a:rPr>
              <a:t>－</a:t>
            </a:r>
            <a:r>
              <a:rPr sz="2800" b="1" dirty="0">
                <a:solidFill>
                  <a:srgbClr val="C00000"/>
                </a:solidFill>
                <a:latin typeface="Symbol"/>
                <a:cs typeface="Symbol"/>
              </a:rPr>
              <a:t>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,</a:t>
            </a:r>
            <a:endParaRPr sz="2800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88900">
              <a:lnSpc>
                <a:spcPct val="150000"/>
              </a:lnSpc>
            </a:pPr>
            <a:r>
              <a:rPr lang="en-US" sz="2800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sz="2800" b="1" spc="-600" dirty="0" smtClean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0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Symbol"/>
                <a:cs typeface="Symbol"/>
              </a:rPr>
              <a:t>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&lt;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</a:t>
            </a:r>
            <a:r>
              <a:rPr sz="2800" b="1" i="1" spc="-7" baseline="-24305" dirty="0">
                <a:latin typeface="Times New Roman"/>
                <a:cs typeface="Times New Roman"/>
              </a:rPr>
              <a:t>k</a:t>
            </a:r>
            <a:r>
              <a:rPr sz="2800" b="1" spc="-5" dirty="0">
                <a:latin typeface="宋体"/>
                <a:cs typeface="宋体"/>
              </a:rPr>
              <a:t>，</a:t>
            </a:r>
            <a:r>
              <a:rPr sz="2800" b="1" i="1" spc="-5" dirty="0">
                <a:latin typeface="Times New Roman"/>
                <a:cs typeface="Times New Roman"/>
              </a:rPr>
              <a:t>v</a:t>
            </a:r>
            <a:r>
              <a:rPr sz="2800" b="1" i="1" spc="-7" baseline="-20833" dirty="0">
                <a:latin typeface="Times New Roman"/>
                <a:cs typeface="Times New Roman"/>
              </a:rPr>
              <a:t>k</a:t>
            </a:r>
            <a:r>
              <a:rPr sz="2800" b="1" i="1" spc="-22" baseline="-20833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</a:t>
            </a:r>
            <a:r>
              <a:rPr sz="2800" b="1" i="1" spc="-7" baseline="-20833" dirty="0">
                <a:latin typeface="Times New Roman"/>
                <a:cs typeface="Times New Roman"/>
              </a:rPr>
              <a:t>k</a:t>
            </a:r>
            <a:r>
              <a:rPr sz="2800" b="1" spc="-7" baseline="-20833" dirty="0">
                <a:latin typeface="Times New Roman"/>
                <a:cs typeface="Times New Roman"/>
              </a:rPr>
              <a:t>+1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为正整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</a:t>
            </a:r>
            <a:r>
              <a:rPr sz="2800" b="1" spc="-10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  <a:p>
            <a:pPr marL="88900">
              <a:lnSpc>
                <a:spcPct val="150000"/>
              </a:lnSpc>
            </a:pPr>
            <a:r>
              <a:rPr lang="en-US" sz="2800" b="1" spc="-5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则下面的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题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等价</a:t>
            </a:r>
            <a:r>
              <a:rPr sz="2800" b="1" spc="-10" dirty="0">
                <a:latin typeface="宋体"/>
                <a:cs typeface="宋体"/>
              </a:rPr>
              <a:t>：</a:t>
            </a:r>
            <a:endParaRPr sz="2800" dirty="0">
              <a:latin typeface="宋体"/>
              <a:cs typeface="宋体"/>
            </a:endParaRPr>
          </a:p>
          <a:p>
            <a:pPr marL="1440000">
              <a:lnSpc>
                <a:spcPct val="150000"/>
              </a:lnSpc>
              <a:buFont typeface="Times New Roman"/>
              <a:buAutoNum type="arabicParenBoth"/>
              <a:tabLst>
                <a:tab pos="521334" algn="l"/>
                <a:tab pos="2888615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G</a:t>
            </a:r>
            <a:r>
              <a:rPr sz="2800" b="1" i="1" spc="-7" baseline="-24305" dirty="0">
                <a:latin typeface="Times New Roman"/>
                <a:cs typeface="Times New Roman"/>
              </a:rPr>
              <a:t>k</a:t>
            </a:r>
            <a:r>
              <a:rPr sz="2800" b="1" spc="-7" baseline="-24305" dirty="0">
                <a:latin typeface="Times New Roman"/>
                <a:cs typeface="Times New Roman"/>
              </a:rPr>
              <a:t>+1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y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dirty="0">
                <a:latin typeface="Times New Roman"/>
                <a:cs typeface="Times New Roman"/>
              </a:rPr>
              <a:t> =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i="1" spc="-7" baseline="-24305" dirty="0">
                <a:latin typeface="Times New Roman"/>
                <a:cs typeface="Times New Roman"/>
              </a:rPr>
              <a:t>k</a:t>
            </a:r>
            <a:r>
              <a:rPr sz="2800" b="1" spc="-7" baseline="-24305" dirty="0">
                <a:latin typeface="Times New Roman"/>
                <a:cs typeface="Times New Roman"/>
              </a:rPr>
              <a:t>+1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y</a:t>
            </a:r>
            <a:r>
              <a:rPr sz="2800" b="1" spc="-5" dirty="0">
                <a:latin typeface="Times New Roman"/>
                <a:cs typeface="Times New Roman"/>
              </a:rPr>
              <a:t>)	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对一切正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整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</a:t>
            </a:r>
            <a:r>
              <a:rPr sz="2800" b="1" spc="-590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y</a:t>
            </a:r>
            <a:r>
              <a:rPr sz="2800" b="1" spc="-5" dirty="0">
                <a:latin typeface="宋体"/>
                <a:cs typeface="宋体"/>
              </a:rPr>
              <a:t>；</a:t>
            </a:r>
            <a:endParaRPr sz="2800" dirty="0">
              <a:latin typeface="宋体"/>
              <a:cs typeface="宋体"/>
            </a:endParaRPr>
          </a:p>
          <a:p>
            <a:pPr marL="1440000">
              <a:lnSpc>
                <a:spcPct val="150000"/>
              </a:lnSpc>
              <a:buFont typeface="Times New Roman"/>
              <a:buAutoNum type="arabicParenBoth"/>
              <a:tabLst>
                <a:tab pos="521334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G</a:t>
            </a:r>
            <a:r>
              <a:rPr sz="2800" b="1" i="1" spc="-7" baseline="-24305" dirty="0">
                <a:latin typeface="Times New Roman"/>
                <a:cs typeface="Times New Roman"/>
              </a:rPr>
              <a:t>k</a:t>
            </a:r>
            <a:r>
              <a:rPr sz="2800" b="1" spc="-7" baseline="-24305" dirty="0">
                <a:latin typeface="Times New Roman"/>
                <a:cs typeface="Times New Roman"/>
              </a:rPr>
              <a:t>+1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pv</a:t>
            </a:r>
            <a:r>
              <a:rPr sz="2800" b="1" i="1" spc="-7" baseline="-24305" dirty="0">
                <a:latin typeface="Times New Roman"/>
                <a:cs typeface="Times New Roman"/>
              </a:rPr>
              <a:t>k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i="1" spc="-7" baseline="-24305" dirty="0">
                <a:latin typeface="Times New Roman"/>
                <a:cs typeface="Times New Roman"/>
              </a:rPr>
              <a:t>k</a:t>
            </a:r>
            <a:r>
              <a:rPr sz="2800" b="1" spc="-7" baseline="-24305" dirty="0">
                <a:latin typeface="Times New Roman"/>
                <a:cs typeface="Times New Roman"/>
              </a:rPr>
              <a:t>+1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pv</a:t>
            </a:r>
            <a:r>
              <a:rPr sz="2800" b="1" i="1" spc="-7" baseline="-24305" dirty="0">
                <a:latin typeface="Times New Roman"/>
                <a:cs typeface="Times New Roman"/>
              </a:rPr>
              <a:t>k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spc="-5" dirty="0">
                <a:latin typeface="宋体"/>
                <a:cs typeface="宋体"/>
              </a:rPr>
              <a:t>；</a:t>
            </a:r>
            <a:endParaRPr sz="2800" dirty="0">
              <a:latin typeface="宋体"/>
              <a:cs typeface="宋体"/>
            </a:endParaRPr>
          </a:p>
          <a:p>
            <a:pPr marL="1440000">
              <a:lnSpc>
                <a:spcPct val="150000"/>
              </a:lnSpc>
            </a:pPr>
            <a:r>
              <a:rPr sz="2800" b="1" spc="-5" dirty="0">
                <a:latin typeface="Times New Roman"/>
                <a:cs typeface="Times New Roman"/>
              </a:rPr>
              <a:t>(3) </a:t>
            </a:r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i="1" spc="-7" baseline="-24305" dirty="0">
                <a:latin typeface="Times New Roman"/>
                <a:cs typeface="Times New Roman"/>
              </a:rPr>
              <a:t>k</a:t>
            </a:r>
            <a:r>
              <a:rPr sz="2800" b="1" spc="-7" baseline="-24305" dirty="0">
                <a:latin typeface="Times New Roman"/>
                <a:cs typeface="Times New Roman"/>
              </a:rPr>
              <a:t>+1 </a:t>
            </a:r>
            <a:r>
              <a:rPr sz="2800" b="1" dirty="0">
                <a:latin typeface="Times New Roman"/>
                <a:cs typeface="Times New Roman"/>
              </a:rPr>
              <a:t>+ </a:t>
            </a:r>
            <a:r>
              <a:rPr sz="2800" b="1" i="1" spc="-5" dirty="0">
                <a:latin typeface="Times New Roman"/>
                <a:cs typeface="Times New Roman"/>
              </a:rPr>
              <a:t>G</a:t>
            </a:r>
            <a:r>
              <a:rPr sz="2800" b="1" i="1" spc="-7" baseline="-24305" dirty="0">
                <a:latin typeface="Times New Roman"/>
                <a:cs typeface="Times New Roman"/>
              </a:rPr>
              <a:t>k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spc="-5" dirty="0">
                <a:latin typeface="Symbol"/>
                <a:cs typeface="Symbol"/>
              </a:rPr>
              <a:t>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pw</a:t>
            </a:r>
            <a:r>
              <a:rPr sz="2800" b="1" i="1" baseline="-24305" dirty="0">
                <a:latin typeface="Times New Roman"/>
                <a:cs typeface="Times New Roman"/>
              </a:rPr>
              <a:t>k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93240" y="1900648"/>
            <a:ext cx="2209800" cy="457200"/>
          </a:xfrm>
          <a:custGeom>
            <a:avLst/>
            <a:gdLst/>
            <a:ahLst/>
            <a:cxnLst/>
            <a:rect l="l" t="t" r="r" b="b"/>
            <a:pathLst>
              <a:path w="2209800" h="457200">
                <a:moveTo>
                  <a:pt x="0" y="76200"/>
                </a:moveTo>
                <a:lnTo>
                  <a:pt x="5987" y="46537"/>
                </a:lnTo>
                <a:lnTo>
                  <a:pt x="22317" y="22317"/>
                </a:lnTo>
                <a:lnTo>
                  <a:pt x="46537" y="5987"/>
                </a:lnTo>
                <a:lnTo>
                  <a:pt x="76200" y="0"/>
                </a:lnTo>
                <a:lnTo>
                  <a:pt x="2133600" y="0"/>
                </a:lnTo>
                <a:lnTo>
                  <a:pt x="2163262" y="5987"/>
                </a:lnTo>
                <a:lnTo>
                  <a:pt x="2187482" y="22317"/>
                </a:lnTo>
                <a:lnTo>
                  <a:pt x="2203812" y="46537"/>
                </a:lnTo>
                <a:lnTo>
                  <a:pt x="2209800" y="76200"/>
                </a:lnTo>
                <a:lnTo>
                  <a:pt x="2209800" y="381000"/>
                </a:lnTo>
                <a:lnTo>
                  <a:pt x="2203812" y="410656"/>
                </a:lnTo>
                <a:lnTo>
                  <a:pt x="2187482" y="434878"/>
                </a:lnTo>
                <a:lnTo>
                  <a:pt x="2163262" y="451210"/>
                </a:lnTo>
                <a:lnTo>
                  <a:pt x="2133600" y="457200"/>
                </a:lnTo>
                <a:lnTo>
                  <a:pt x="76200" y="457200"/>
                </a:lnTo>
                <a:lnTo>
                  <a:pt x="46537" y="451210"/>
                </a:lnTo>
                <a:lnTo>
                  <a:pt x="22317" y="434878"/>
                </a:lnTo>
                <a:lnTo>
                  <a:pt x="5987" y="410656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35</a:t>
            </a:fld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44B4626-1560-4A48-87BC-FF7125806E3B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128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2429672" y="138568"/>
            <a:ext cx="851159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几点说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8781" y="1134806"/>
            <a:ext cx="10985149" cy="45371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 indent="-457200" algn="just">
              <a:lnSpc>
                <a:spcPct val="150000"/>
              </a:lnSpc>
              <a:buFont typeface="Wingdings" pitchFamily="2" charset="2"/>
              <a:buChar char="l"/>
              <a:tabLst>
                <a:tab pos="380365" algn="l"/>
                <a:tab pos="381000" algn="l"/>
              </a:tabLst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根据条件(1)与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(3)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的等价性，可以</a:t>
            </a:r>
            <a:r>
              <a:rPr sz="2800" b="1" spc="-1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sz="2800" b="1" spc="-63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sz="2800" b="1" dirty="0" smtClean="0">
                <a:latin typeface="Times New Roman"/>
                <a:cs typeface="Times New Roman"/>
              </a:rPr>
              <a:t>=</a:t>
            </a:r>
            <a:r>
              <a:rPr sz="2800" b="1" spc="-30" dirty="0" smtClean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3,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4,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...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宋体"/>
                <a:cs typeface="宋体"/>
              </a:rPr>
              <a:t>，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依次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条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件(3)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对贪心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法是否得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优解做出判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别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95300" indent="-457200" algn="just">
              <a:lnSpc>
                <a:spcPct val="150000"/>
              </a:lnSpc>
              <a:buFont typeface="Wingdings" pitchFamily="2" charset="2"/>
              <a:buChar char="l"/>
              <a:tabLst>
                <a:tab pos="380365" algn="l"/>
                <a:tab pos="381000" algn="l"/>
              </a:tabLst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条件(3)验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sz="2800" b="1" spc="-58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次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需</a:t>
            </a:r>
            <a:r>
              <a:rPr sz="2800" b="1" spc="-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k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时间</a:t>
            </a:r>
            <a:r>
              <a:rPr sz="2800" b="1" spc="-5" dirty="0" err="1">
                <a:latin typeface="宋体"/>
                <a:cs typeface="宋体"/>
              </a:rPr>
              <a:t>，</a:t>
            </a:r>
            <a:r>
              <a:rPr sz="2800" b="1" i="1" spc="-5" dirty="0" err="1">
                <a:latin typeface="Times New Roman"/>
                <a:cs typeface="Times New Roman"/>
              </a:rPr>
              <a:t>k</a:t>
            </a:r>
            <a:r>
              <a:rPr sz="2800" b="1" i="1" spc="15" dirty="0">
                <a:latin typeface="Times New Roman"/>
                <a:cs typeface="Times New Roman"/>
              </a:rPr>
              <a:t> </a:t>
            </a:r>
            <a:r>
              <a:rPr sz="2800" b="1" dirty="0" smtClean="0">
                <a:latin typeface="Times New Roman"/>
                <a:cs typeface="Times New Roman"/>
              </a:rPr>
              <a:t>=</a:t>
            </a:r>
            <a:r>
              <a:rPr sz="2800" b="1" i="1" spc="-5" dirty="0" smtClean="0">
                <a:latin typeface="Times New Roman"/>
                <a:cs typeface="Times New Roman"/>
              </a:rPr>
              <a:t>O</a:t>
            </a:r>
            <a:r>
              <a:rPr sz="2800" b="1" spc="-5" dirty="0" smtClean="0">
                <a:latin typeface="Times New Roman"/>
                <a:cs typeface="Times New Roman"/>
              </a:rPr>
              <a:t>(</a:t>
            </a:r>
            <a:r>
              <a:rPr sz="2800" b="1" i="1" spc="-5" dirty="0" smtClean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spc="-5" dirty="0">
                <a:latin typeface="宋体"/>
                <a:cs typeface="宋体"/>
              </a:rPr>
              <a:t>，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整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验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证时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间</a:t>
            </a:r>
            <a:r>
              <a:rPr sz="2800" b="1" i="1" dirty="0">
                <a:latin typeface="Times New Roman"/>
                <a:cs typeface="Times New Roman"/>
              </a:rPr>
              <a:t>O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baseline="24305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495300" marR="33655" indent="-457200" algn="just">
              <a:lnSpc>
                <a:spcPct val="150000"/>
              </a:lnSpc>
              <a:buFont typeface="Wingdings" pitchFamily="2" charset="2"/>
              <a:buChar char="l"/>
              <a:tabLst>
                <a:tab pos="380365" algn="l"/>
                <a:tab pos="381000" algn="l"/>
                <a:tab pos="1221740" algn="l"/>
              </a:tabLst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条件(2)是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条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件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sz="2800" b="1" spc="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sz="2800" b="1" spc="-61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y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i="1" dirty="0" err="1">
                <a:latin typeface="Times New Roman"/>
                <a:cs typeface="Times New Roman"/>
              </a:rPr>
              <a:t>pv</a:t>
            </a:r>
            <a:r>
              <a:rPr sz="2800" b="1" i="1" baseline="-20833" dirty="0" err="1">
                <a:latin typeface="Times New Roman"/>
                <a:cs typeface="Times New Roman"/>
              </a:rPr>
              <a:t>k</a:t>
            </a:r>
            <a:r>
              <a:rPr sz="2800" b="1" i="1" spc="270" baseline="-20833" dirty="0">
                <a:latin typeface="Times New Roman"/>
                <a:cs typeface="Times New Roman"/>
              </a:rPr>
              <a:t> 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时的特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殊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情况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	</a:t>
            </a:r>
            <a:endParaRPr 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080000" marR="33655" indent="-457200" algn="just">
              <a:lnSpc>
                <a:spcPct val="150000"/>
              </a:lnSpc>
              <a:buFont typeface="Wingdings" pitchFamily="2" charset="2"/>
              <a:buChar char="Ø"/>
              <a:tabLst>
                <a:tab pos="380365" algn="l"/>
                <a:tab pos="381000" algn="l"/>
                <a:tab pos="1221740" algn="l"/>
              </a:tabLst>
            </a:pP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若条件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sz="2800" b="1" dirty="0">
                <a:latin typeface="宋体"/>
                <a:cs typeface="宋体"/>
              </a:rPr>
              <a:t>，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显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然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有条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件(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2)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	</a:t>
            </a:r>
            <a:endParaRPr 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080000" marR="33655" indent="-457200" algn="just">
              <a:lnSpc>
                <a:spcPct val="150000"/>
              </a:lnSpc>
              <a:buFont typeface="Wingdings" pitchFamily="2" charset="2"/>
              <a:buChar char="Ø"/>
              <a:tabLst>
                <a:tab pos="380365" algn="l"/>
                <a:tab pos="381000" algn="l"/>
                <a:tab pos="1221740" algn="l"/>
              </a:tabLst>
            </a:pP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反之</a:t>
            </a: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若条</a:t>
            </a: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件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</a:t>
            </a:r>
            <a:r>
              <a:rPr sz="2800" b="1" spc="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成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立，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则条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件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(1)不成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立，钱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</a:t>
            </a:r>
            <a:r>
              <a:rPr sz="2800" b="1" spc="-59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y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i="1" dirty="0" err="1">
                <a:latin typeface="Times New Roman"/>
                <a:cs typeface="Times New Roman"/>
              </a:rPr>
              <a:t>pv</a:t>
            </a:r>
            <a:r>
              <a:rPr sz="2800" b="1" i="1" baseline="-20833" dirty="0" err="1">
                <a:latin typeface="Times New Roman"/>
                <a:cs typeface="Times New Roman"/>
              </a:rPr>
              <a:t>k</a:t>
            </a:r>
            <a:r>
              <a:rPr sz="2800" b="1" i="1" spc="277" baseline="-20833" dirty="0">
                <a:latin typeface="Times New Roman"/>
                <a:cs typeface="Times New Roman"/>
              </a:rPr>
              <a:t> 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恰好提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供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了一个贪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心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法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不正确的反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36</a:t>
            </a:fld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34F9138-BCCF-4762-9821-0556A747071D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395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718083" y="1040200"/>
            <a:ext cx="10979931" cy="50860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sz="28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例</a:t>
            </a:r>
            <a:r>
              <a:rPr sz="2800" b="1" spc="-10" dirty="0">
                <a:solidFill>
                  <a:srgbClr val="C00000"/>
                </a:solidFill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=1,</a:t>
            </a:r>
            <a:r>
              <a:rPr sz="2800" b="1" i="1" spc="-5" dirty="0">
                <a:latin typeface="Times New Roman"/>
                <a:cs typeface="Times New Roman"/>
              </a:rPr>
              <a:t>v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=5,</a:t>
            </a:r>
            <a:r>
              <a:rPr sz="2800" b="1" i="1" spc="-5" dirty="0">
                <a:latin typeface="Times New Roman"/>
                <a:cs typeface="Times New Roman"/>
              </a:rPr>
              <a:t>v</a:t>
            </a:r>
            <a:r>
              <a:rPr sz="2800" b="1" spc="-7" baseline="-20833" dirty="0">
                <a:latin typeface="Times New Roman"/>
                <a:cs typeface="Times New Roman"/>
              </a:rPr>
              <a:t>3</a:t>
            </a:r>
            <a:r>
              <a:rPr sz="2800" b="1" spc="-5" dirty="0">
                <a:latin typeface="Times New Roman"/>
                <a:cs typeface="Times New Roman"/>
              </a:rPr>
              <a:t>=14,</a:t>
            </a:r>
            <a:r>
              <a:rPr sz="2800" b="1" i="1" spc="-5" dirty="0">
                <a:latin typeface="Times New Roman"/>
                <a:cs typeface="Times New Roman"/>
              </a:rPr>
              <a:t>v</a:t>
            </a:r>
            <a:r>
              <a:rPr sz="2800" b="1" spc="-7" baseline="-20833" dirty="0">
                <a:latin typeface="Times New Roman"/>
                <a:cs typeface="Times New Roman"/>
              </a:rPr>
              <a:t>4</a:t>
            </a:r>
            <a:r>
              <a:rPr sz="2800" b="1" spc="-5" dirty="0">
                <a:latin typeface="Times New Roman"/>
                <a:cs typeface="Times New Roman"/>
              </a:rPr>
              <a:t>=18,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i="1" spc="-5" dirty="0" err="1" smtClean="0">
                <a:latin typeface="Times New Roman"/>
                <a:cs typeface="Times New Roman"/>
              </a:rPr>
              <a:t>w</a:t>
            </a:r>
            <a:r>
              <a:rPr sz="2800" b="1" i="1" spc="-7" baseline="-20833" dirty="0" err="1" smtClean="0">
                <a:latin typeface="Times New Roman"/>
                <a:cs typeface="Times New Roman"/>
              </a:rPr>
              <a:t>i</a:t>
            </a:r>
            <a:r>
              <a:rPr sz="2800" b="1" spc="-5" dirty="0" smtClean="0">
                <a:latin typeface="Times New Roman"/>
                <a:cs typeface="Times New Roman"/>
              </a:rPr>
              <a:t>=1,</a:t>
            </a:r>
            <a:r>
              <a:rPr sz="2800" b="1" i="1" dirty="0" smtClean="0">
                <a:latin typeface="Times New Roman"/>
                <a:cs typeface="Times New Roman"/>
              </a:rPr>
              <a:t>i</a:t>
            </a:r>
            <a:r>
              <a:rPr sz="2800" b="1" dirty="0" smtClean="0">
                <a:latin typeface="Times New Roman"/>
                <a:cs typeface="Times New Roman"/>
              </a:rPr>
              <a:t>=1,2,3,4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endParaRPr lang="en-US" sz="2800" b="1" spc="-15" dirty="0" smtClean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800" b="1" spc="-15" dirty="0">
                <a:latin typeface="Times New Roman"/>
                <a:cs typeface="Times New Roman"/>
              </a:rPr>
              <a:t> </a:t>
            </a:r>
            <a:r>
              <a:rPr lang="en-US" sz="2800" b="1" spc="-15" dirty="0" smtClean="0">
                <a:latin typeface="Times New Roman"/>
                <a:cs typeface="Times New Roman"/>
              </a:rPr>
              <a:t>     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对一</a:t>
            </a:r>
            <a:r>
              <a:rPr sz="2800" b="1" spc="-10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切</a:t>
            </a:r>
            <a:r>
              <a:rPr lang="en-US" sz="2800" b="1" spc="-1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9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y</a:t>
            </a:r>
            <a:r>
              <a:rPr sz="2800" b="1" i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1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有</a:t>
            </a:r>
            <a:r>
              <a:rPr lang="en-US" sz="2800" b="1" spc="-1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5" dirty="0" smtClean="0">
                <a:latin typeface="Times New Roman"/>
                <a:cs typeface="Times New Roman"/>
              </a:rPr>
              <a:t>G</a:t>
            </a:r>
            <a:r>
              <a:rPr sz="2800" b="1" spc="-7" baseline="-20833" dirty="0" smtClean="0">
                <a:latin typeface="Times New Roman"/>
                <a:cs typeface="Times New Roman"/>
              </a:rPr>
              <a:t>1</a:t>
            </a:r>
            <a:r>
              <a:rPr sz="2800" b="1" spc="-5" dirty="0" smtClean="0">
                <a:latin typeface="Times New Roman"/>
                <a:cs typeface="Times New Roman"/>
              </a:rPr>
              <a:t>(</a:t>
            </a:r>
            <a:r>
              <a:rPr sz="2800" b="1" i="1" spc="-5" dirty="0" smtClean="0">
                <a:latin typeface="Times New Roman"/>
                <a:cs typeface="Times New Roman"/>
              </a:rPr>
              <a:t>y</a:t>
            </a:r>
            <a:r>
              <a:rPr sz="2800" b="1" spc="-5" dirty="0">
                <a:latin typeface="Times New Roman"/>
                <a:cs typeface="Times New Roman"/>
              </a:rPr>
              <a:t>)=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y</a:t>
            </a:r>
            <a:r>
              <a:rPr sz="2800" b="1" spc="-5" dirty="0">
                <a:latin typeface="Times New Roman"/>
                <a:cs typeface="Times New Roman"/>
              </a:rPr>
              <a:t>),	</a:t>
            </a:r>
            <a:r>
              <a:rPr sz="2800" b="1" i="1" spc="-5" dirty="0">
                <a:latin typeface="Times New Roman"/>
                <a:cs typeface="Times New Roman"/>
              </a:rPr>
              <a:t>G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y</a:t>
            </a:r>
            <a:r>
              <a:rPr sz="2800" b="1" spc="-5" dirty="0">
                <a:latin typeface="Times New Roman"/>
                <a:cs typeface="Times New Roman"/>
              </a:rPr>
              <a:t>)=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y</a:t>
            </a:r>
            <a:r>
              <a:rPr sz="2800" b="1" spc="-5" dirty="0">
                <a:latin typeface="Times New Roman"/>
                <a:cs typeface="Times New Roman"/>
              </a:rPr>
              <a:t>).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Aft>
                <a:spcPts val="2400"/>
              </a:spcAft>
              <a:tabLst>
                <a:tab pos="967740" algn="l"/>
              </a:tabLst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验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证</a:t>
            </a:r>
            <a:r>
              <a:rPr sz="2800" b="1" spc="-10" dirty="0">
                <a:latin typeface="宋体"/>
                <a:cs typeface="宋体"/>
              </a:rPr>
              <a:t>	</a:t>
            </a:r>
            <a:r>
              <a:rPr sz="2800" b="1" i="1" dirty="0">
                <a:latin typeface="Times New Roman"/>
                <a:cs typeface="Times New Roman"/>
              </a:rPr>
              <a:t>G</a:t>
            </a:r>
            <a:r>
              <a:rPr sz="2800" b="1" baseline="-20833" dirty="0">
                <a:latin typeface="Times New Roman"/>
                <a:cs typeface="Times New Roman"/>
              </a:rPr>
              <a:t>3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y</a:t>
            </a:r>
            <a:r>
              <a:rPr sz="2800" b="1" dirty="0">
                <a:latin typeface="Times New Roman"/>
                <a:cs typeface="Times New Roman"/>
              </a:rPr>
              <a:t>) =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</a:t>
            </a:r>
            <a:r>
              <a:rPr sz="2800" b="1" baseline="-20833" dirty="0">
                <a:latin typeface="Times New Roman"/>
                <a:cs typeface="Times New Roman"/>
              </a:rPr>
              <a:t>3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y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sz="2800" b="1" i="1" spc="5" dirty="0">
                <a:latin typeface="Times New Roman"/>
                <a:cs typeface="Times New Roman"/>
              </a:rPr>
              <a:t>v</a:t>
            </a:r>
            <a:r>
              <a:rPr sz="2800" b="1" spc="7" baseline="-21241" dirty="0">
                <a:latin typeface="Times New Roman"/>
                <a:cs typeface="Times New Roman"/>
              </a:rPr>
              <a:t>3 </a:t>
            </a:r>
            <a:r>
              <a:rPr sz="2800" b="1" spc="-5" dirty="0">
                <a:latin typeface="Times New Roman"/>
                <a:cs typeface="Times New Roman"/>
              </a:rPr>
              <a:t>= </a:t>
            </a:r>
            <a:r>
              <a:rPr sz="2800" b="1" i="1" dirty="0">
                <a:latin typeface="Times New Roman"/>
                <a:cs typeface="Times New Roman"/>
              </a:rPr>
              <a:t>pv</a:t>
            </a:r>
            <a:r>
              <a:rPr sz="2800" b="1" baseline="-21241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宋体"/>
                <a:cs typeface="宋体"/>
              </a:rPr>
              <a:t>－</a:t>
            </a:r>
            <a:r>
              <a:rPr sz="2800" b="1" dirty="0">
                <a:latin typeface="Symbol"/>
                <a:cs typeface="Symbol"/>
              </a:rPr>
              <a:t>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Symbol"/>
                <a:cs typeface="Symbol"/>
              </a:rPr>
              <a:t>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 </a:t>
            </a:r>
            <a:r>
              <a:rPr sz="2800" b="1" spc="-5" dirty="0">
                <a:latin typeface="Times New Roman"/>
                <a:cs typeface="Times New Roman"/>
              </a:rPr>
              <a:t>= 3, </a:t>
            </a:r>
            <a:r>
              <a:rPr sz="2800" b="1" spc="-5" dirty="0">
                <a:latin typeface="Symbol"/>
                <a:cs typeface="Symbol"/>
              </a:rPr>
              <a:t></a:t>
            </a:r>
            <a:r>
              <a:rPr sz="2800" b="1" spc="-5" dirty="0">
                <a:latin typeface="Times New Roman"/>
                <a:cs typeface="Times New Roman"/>
              </a:rPr>
              <a:t> =</a:t>
            </a:r>
            <a:r>
              <a:rPr sz="2800" b="1" spc="8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1.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baseline="-21241" dirty="0">
                <a:latin typeface="Times New Roman"/>
                <a:cs typeface="Times New Roman"/>
              </a:rPr>
              <a:t>3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i="1" dirty="0">
                <a:latin typeface="Times New Roman"/>
                <a:cs typeface="Times New Roman"/>
              </a:rPr>
              <a:t>G</a:t>
            </a:r>
            <a:r>
              <a:rPr sz="2800" b="1" baseline="-21241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dirty="0">
                <a:latin typeface="Symbol"/>
                <a:cs typeface="Symbol"/>
              </a:rPr>
              <a:t></a:t>
            </a:r>
            <a:r>
              <a:rPr sz="2800" b="1" dirty="0">
                <a:latin typeface="Times New Roman"/>
                <a:cs typeface="Times New Roman"/>
              </a:rPr>
              <a:t>)=</a:t>
            </a:r>
            <a:r>
              <a:rPr sz="2800" b="1" dirty="0" smtClean="0">
                <a:latin typeface="Times New Roman"/>
                <a:cs typeface="Times New Roman"/>
              </a:rPr>
              <a:t>1+1=2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smtClean="0">
                <a:latin typeface="Times New Roman"/>
                <a:cs typeface="Times New Roman"/>
              </a:rPr>
              <a:t>    </a:t>
            </a:r>
            <a:r>
              <a:rPr lang="en-US" sz="2800" dirty="0" smtClean="0">
                <a:latin typeface="Times New Roman"/>
                <a:cs typeface="Times New Roman"/>
              </a:rPr>
              <a:t>  </a:t>
            </a:r>
            <a:r>
              <a:rPr sz="2800" b="1" i="1" dirty="0" smtClean="0">
                <a:latin typeface="Times New Roman"/>
                <a:cs typeface="Times New Roman"/>
              </a:rPr>
              <a:t>pw</a:t>
            </a:r>
            <a:r>
              <a:rPr sz="2800" b="1" baseline="-21241" dirty="0" smtClean="0">
                <a:latin typeface="Times New Roman"/>
                <a:cs typeface="Times New Roman"/>
              </a:rPr>
              <a:t>2</a:t>
            </a:r>
            <a:r>
              <a:rPr sz="2800" b="1" dirty="0" smtClean="0">
                <a:latin typeface="Times New Roman"/>
                <a:cs typeface="Times New Roman"/>
              </a:rPr>
              <a:t>=3</a:t>
            </a:r>
            <a:r>
              <a:rPr sz="2800" b="1" dirty="0">
                <a:latin typeface="Symbol"/>
                <a:cs typeface="Symbol"/>
              </a:rPr>
              <a:t></a:t>
            </a:r>
            <a:r>
              <a:rPr sz="2800" b="1" dirty="0">
                <a:latin typeface="Times New Roman"/>
                <a:cs typeface="Times New Roman"/>
              </a:rPr>
              <a:t>1=3  </a:t>
            </a:r>
            <a:endParaRPr lang="en-US" sz="2800" b="1" dirty="0" smtClean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sz="2800" b="1" i="1" spc="-5" dirty="0" smtClean="0">
                <a:latin typeface="Times New Roman"/>
                <a:cs typeface="Times New Roman"/>
              </a:rPr>
              <a:t>w</a:t>
            </a:r>
            <a:r>
              <a:rPr sz="2800" b="1" spc="22" baseline="-21241" dirty="0" smtClean="0">
                <a:latin typeface="Times New Roman"/>
                <a:cs typeface="Times New Roman"/>
              </a:rPr>
              <a:t>3</a:t>
            </a:r>
            <a:r>
              <a:rPr sz="2800" b="1" spc="-5" dirty="0" smtClean="0">
                <a:latin typeface="Times New Roman"/>
                <a:cs typeface="Times New Roman"/>
              </a:rPr>
              <a:t>+</a:t>
            </a:r>
            <a:r>
              <a:rPr sz="2800" b="1" i="1" spc="-5" dirty="0" smtClean="0">
                <a:latin typeface="Times New Roman"/>
                <a:cs typeface="Times New Roman"/>
              </a:rPr>
              <a:t>G</a:t>
            </a:r>
            <a:r>
              <a:rPr sz="2800" b="1" spc="22" baseline="-21241" dirty="0" smtClean="0">
                <a:latin typeface="Times New Roman"/>
                <a:cs typeface="Times New Roman"/>
              </a:rPr>
              <a:t>2</a:t>
            </a:r>
            <a:r>
              <a:rPr sz="2800" b="1" spc="-10" dirty="0">
                <a:latin typeface="Times New Roman"/>
                <a:cs typeface="Times New Roman"/>
              </a:rPr>
              <a:t>(</a:t>
            </a:r>
            <a:r>
              <a:rPr sz="2800" b="1" dirty="0">
                <a:latin typeface="Symbol"/>
                <a:cs typeface="Symbol"/>
              </a:rPr>
              <a:t></a:t>
            </a:r>
            <a:r>
              <a:rPr sz="2800" b="1" spc="-10" dirty="0">
                <a:latin typeface="Times New Roman"/>
                <a:cs typeface="Times New Roman"/>
              </a:rPr>
              <a:t>)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i="1" spc="-5" dirty="0">
                <a:latin typeface="Times New Roman"/>
                <a:cs typeface="Times New Roman"/>
              </a:rPr>
              <a:t>pw</a:t>
            </a:r>
            <a:r>
              <a:rPr sz="2800" b="1" spc="22" baseline="-21241" dirty="0">
                <a:latin typeface="Times New Roman"/>
                <a:cs typeface="Times New Roman"/>
              </a:rPr>
              <a:t>2</a:t>
            </a:r>
            <a:endParaRPr sz="2800" baseline="-21241" dirty="0">
              <a:latin typeface="Times New Roman"/>
              <a:cs typeface="Times New Roman"/>
            </a:endParaRPr>
          </a:p>
          <a:p>
            <a:pPr marL="127000">
              <a:lnSpc>
                <a:spcPct val="150000"/>
              </a:lnSpc>
            </a:pPr>
            <a:r>
              <a:rPr sz="2800" b="1" spc="-1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贪心</a:t>
            </a:r>
            <a:r>
              <a:rPr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法对</a:t>
            </a:r>
            <a:r>
              <a:rPr sz="2800" b="1" spc="-1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于</a:t>
            </a:r>
            <a:r>
              <a:rPr sz="2800" b="1" spc="-58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=3</a:t>
            </a:r>
            <a:r>
              <a:rPr sz="2800" b="1" spc="-1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的实例</a:t>
            </a:r>
            <a:r>
              <a:rPr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最优</a:t>
            </a:r>
            <a:r>
              <a:rPr sz="2800" b="1" spc="-1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18415" algn="r">
              <a:lnSpc>
                <a:spcPct val="100000"/>
              </a:lnSpc>
              <a:spcBef>
                <a:spcPts val="150"/>
              </a:spcBef>
            </a:pPr>
            <a:r>
              <a:rPr sz="1400" b="1" spc="-5" dirty="0">
                <a:solidFill>
                  <a:srgbClr val="808080"/>
                </a:solidFill>
                <a:latin typeface="Arial"/>
                <a:cs typeface="Arial"/>
              </a:rPr>
              <a:t>10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/>
          </p:cNvSpPr>
          <p:nvPr/>
        </p:nvSpPr>
        <p:spPr>
          <a:xfrm>
            <a:off x="2669628" y="78616"/>
            <a:ext cx="564405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验证实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89525" y="2737904"/>
            <a:ext cx="5051219" cy="99770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560"/>
              </a:spcBef>
              <a:tabLst>
                <a:tab pos="1299845" algn="l"/>
                <a:tab pos="2282825" algn="l"/>
              </a:tabLst>
            </a:pPr>
            <a:r>
              <a:rPr sz="2800" b="1" i="1" spc="-20" dirty="0">
                <a:latin typeface="Times New Roman"/>
                <a:cs typeface="Times New Roman"/>
              </a:rPr>
              <a:t>v</a:t>
            </a:r>
            <a:r>
              <a:rPr sz="2800" b="1" i="1" spc="-30" baseline="-24691" dirty="0">
                <a:latin typeface="Times New Roman"/>
                <a:cs typeface="Times New Roman"/>
              </a:rPr>
              <a:t>k</a:t>
            </a:r>
            <a:r>
              <a:rPr sz="2800" b="1" spc="-30" baseline="-24691" dirty="0">
                <a:latin typeface="Symbol"/>
                <a:cs typeface="Symbol"/>
              </a:rPr>
              <a:t></a:t>
            </a:r>
            <a:r>
              <a:rPr sz="2800" b="1" spc="-30" baseline="-24691" dirty="0">
                <a:latin typeface="Times New Roman"/>
                <a:cs typeface="Times New Roman"/>
              </a:rPr>
              <a:t>1  </a:t>
            </a:r>
            <a:r>
              <a:rPr sz="2800" b="1" spc="-65" dirty="0">
                <a:latin typeface="Symbol"/>
                <a:cs typeface="Symbol"/>
              </a:rPr>
              <a:t></a:t>
            </a:r>
            <a:r>
              <a:rPr sz="2800" b="1" spc="-65" dirty="0">
                <a:latin typeface="Times New Roman"/>
                <a:cs typeface="Times New Roman"/>
              </a:rPr>
              <a:t>  </a:t>
            </a:r>
            <a:r>
              <a:rPr sz="2800" b="1" i="1" spc="-45" dirty="0">
                <a:latin typeface="Times New Roman"/>
                <a:cs typeface="Times New Roman"/>
              </a:rPr>
              <a:t>pv</a:t>
            </a:r>
            <a:r>
              <a:rPr sz="2800" b="1" i="1" spc="-67" baseline="-24691" dirty="0">
                <a:latin typeface="Times New Roman"/>
                <a:cs typeface="Times New Roman"/>
              </a:rPr>
              <a:t>k   </a:t>
            </a:r>
            <a:r>
              <a:rPr sz="2800" b="1" spc="-65" dirty="0">
                <a:latin typeface="Symbol"/>
                <a:cs typeface="Symbol"/>
              </a:rPr>
              <a:t></a:t>
            </a:r>
            <a:r>
              <a:rPr sz="2800" b="1" spc="-325" dirty="0">
                <a:latin typeface="Times New Roman"/>
                <a:cs typeface="Times New Roman"/>
              </a:rPr>
              <a:t> </a:t>
            </a:r>
            <a:r>
              <a:rPr sz="2800" b="1" i="1" spc="-80" dirty="0">
                <a:latin typeface="Symbol"/>
                <a:cs typeface="Symbol"/>
              </a:rPr>
              <a:t></a:t>
            </a:r>
            <a:r>
              <a:rPr sz="2800" b="1" i="1" spc="-150" dirty="0">
                <a:latin typeface="Times New Roman"/>
                <a:cs typeface="Times New Roman"/>
              </a:rPr>
              <a:t> </a:t>
            </a:r>
            <a:r>
              <a:rPr sz="2800" b="1" spc="-30" dirty="0" smtClean="0">
                <a:latin typeface="Times New Roman"/>
                <a:cs typeface="Times New Roman"/>
              </a:rPr>
              <a:t>, </a:t>
            </a:r>
            <a:r>
              <a:rPr sz="2800" b="1" spc="-55" dirty="0" smtClean="0">
                <a:latin typeface="Times New Roman"/>
                <a:cs typeface="Times New Roman"/>
              </a:rPr>
              <a:t>0 </a:t>
            </a:r>
            <a:r>
              <a:rPr sz="2800" b="1" spc="-65" dirty="0">
                <a:latin typeface="Symbol"/>
                <a:cs typeface="Symbol"/>
              </a:rPr>
              <a:t>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i="1" spc="-80" dirty="0">
                <a:latin typeface="Symbol"/>
                <a:cs typeface="Symbol"/>
              </a:rPr>
              <a:t></a:t>
            </a:r>
            <a:r>
              <a:rPr sz="2800" b="1" i="1" spc="-80" dirty="0">
                <a:latin typeface="Times New Roman"/>
                <a:cs typeface="Times New Roman"/>
              </a:rPr>
              <a:t>  </a:t>
            </a:r>
            <a:r>
              <a:rPr sz="2800" b="1" spc="-65" dirty="0">
                <a:latin typeface="Symbol"/>
                <a:cs typeface="Symbol"/>
              </a:rPr>
              <a:t></a:t>
            </a:r>
            <a:r>
              <a:rPr sz="2800" b="1" spc="-155" dirty="0">
                <a:latin typeface="Times New Roman"/>
                <a:cs typeface="Times New Roman"/>
              </a:rPr>
              <a:t> </a:t>
            </a:r>
            <a:r>
              <a:rPr sz="2800" b="1" i="1" spc="-35" dirty="0" err="1">
                <a:latin typeface="Times New Roman"/>
                <a:cs typeface="Times New Roman"/>
              </a:rPr>
              <a:t>v</a:t>
            </a:r>
            <a:r>
              <a:rPr sz="2800" b="1" i="1" spc="-52" baseline="-24691" dirty="0" err="1">
                <a:latin typeface="Times New Roman"/>
                <a:cs typeface="Times New Roman"/>
              </a:rPr>
              <a:t>k</a:t>
            </a:r>
            <a:r>
              <a:rPr sz="2800" b="1" i="1" spc="-67" baseline="-24691" dirty="0">
                <a:latin typeface="Times New Roman"/>
                <a:cs typeface="Times New Roman"/>
              </a:rPr>
              <a:t> </a:t>
            </a:r>
            <a:r>
              <a:rPr sz="2800" b="1" spc="-30" dirty="0" smtClean="0">
                <a:latin typeface="Times New Roman"/>
                <a:cs typeface="Times New Roman"/>
              </a:rPr>
              <a:t>, </a:t>
            </a:r>
            <a:r>
              <a:rPr sz="2800" b="1" i="1" spc="-55" dirty="0" smtClean="0">
                <a:latin typeface="Times New Roman"/>
                <a:cs typeface="Times New Roman"/>
              </a:rPr>
              <a:t>p</a:t>
            </a:r>
            <a:r>
              <a:rPr sz="2800" b="1" i="1" spc="-330" dirty="0" smtClean="0">
                <a:latin typeface="Times New Roman"/>
                <a:cs typeface="Times New Roman"/>
              </a:rPr>
              <a:t> </a:t>
            </a:r>
            <a:r>
              <a:rPr sz="2800" b="1" spc="-80" dirty="0">
                <a:latin typeface="Symbol"/>
                <a:cs typeface="Symbol"/>
              </a:rPr>
              <a:t>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75" dirty="0" smtClean="0">
                <a:latin typeface="Times New Roman"/>
                <a:cs typeface="Times New Roman"/>
              </a:rPr>
              <a:t>Z</a:t>
            </a:r>
            <a:endParaRPr sz="2800" dirty="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470"/>
              </a:spcBef>
            </a:pPr>
            <a:r>
              <a:rPr sz="2800" b="1" i="1" spc="-35" dirty="0">
                <a:latin typeface="Times New Roman"/>
                <a:cs typeface="Times New Roman"/>
              </a:rPr>
              <a:t>w</a:t>
            </a:r>
            <a:r>
              <a:rPr sz="2800" b="1" i="1" spc="-52" baseline="-24691" dirty="0">
                <a:latin typeface="Times New Roman"/>
                <a:cs typeface="Times New Roman"/>
              </a:rPr>
              <a:t>k</a:t>
            </a:r>
            <a:r>
              <a:rPr sz="2800" b="1" spc="-52" baseline="-24691" dirty="0">
                <a:latin typeface="Symbol"/>
                <a:cs typeface="Symbol"/>
              </a:rPr>
              <a:t></a:t>
            </a:r>
            <a:r>
              <a:rPr sz="2800" b="1" spc="-52" baseline="-24691" dirty="0">
                <a:latin typeface="Times New Roman"/>
                <a:cs typeface="Times New Roman"/>
              </a:rPr>
              <a:t>1 </a:t>
            </a:r>
            <a:r>
              <a:rPr sz="2800" b="1" spc="-65" dirty="0">
                <a:latin typeface="Symbol"/>
                <a:cs typeface="Symbol"/>
              </a:rPr>
              <a:t>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i="1" spc="-60" dirty="0">
                <a:latin typeface="Times New Roman"/>
                <a:cs typeface="Times New Roman"/>
              </a:rPr>
              <a:t>G</a:t>
            </a:r>
            <a:r>
              <a:rPr sz="2800" b="1" i="1" spc="-89" baseline="-24691" dirty="0">
                <a:latin typeface="Times New Roman"/>
                <a:cs typeface="Times New Roman"/>
              </a:rPr>
              <a:t>k </a:t>
            </a:r>
            <a:r>
              <a:rPr sz="2800" b="1" spc="-65" dirty="0">
                <a:latin typeface="Times New Roman"/>
                <a:cs typeface="Times New Roman"/>
              </a:rPr>
              <a:t>(</a:t>
            </a:r>
            <a:r>
              <a:rPr sz="2800" b="1" i="1" spc="-65" dirty="0">
                <a:latin typeface="Symbol"/>
                <a:cs typeface="Symbol"/>
              </a:rPr>
              <a:t></a:t>
            </a:r>
            <a:r>
              <a:rPr sz="2800" b="1" i="1" spc="-65" dirty="0">
                <a:latin typeface="Times New Roman"/>
                <a:cs typeface="Times New Roman"/>
              </a:rPr>
              <a:t> </a:t>
            </a:r>
            <a:r>
              <a:rPr sz="2800" b="1" spc="-40" dirty="0">
                <a:latin typeface="Times New Roman"/>
                <a:cs typeface="Times New Roman"/>
              </a:rPr>
              <a:t>) </a:t>
            </a:r>
            <a:r>
              <a:rPr sz="2800" b="1" spc="-65" dirty="0">
                <a:latin typeface="Symbol"/>
                <a:cs typeface="Symbol"/>
              </a:rPr>
              <a:t>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i="1" spc="-65" dirty="0">
                <a:latin typeface="Times New Roman"/>
                <a:cs typeface="Times New Roman"/>
              </a:rPr>
              <a:t>pw</a:t>
            </a:r>
            <a:r>
              <a:rPr sz="2800" b="1" i="1" spc="-97" baseline="-24691" dirty="0">
                <a:latin typeface="Times New Roman"/>
                <a:cs typeface="Times New Roman"/>
              </a:rPr>
              <a:t>k</a:t>
            </a:r>
            <a:endParaRPr sz="2800" baseline="-24691" dirty="0">
              <a:latin typeface="Times New Roman"/>
              <a:cs typeface="Times New Roman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11141936" y="2762902"/>
            <a:ext cx="136146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35" dirty="0">
                <a:latin typeface="Symbol"/>
                <a:cs typeface="Symbol"/>
              </a:rPr>
              <a:t></a:t>
            </a:r>
            <a:endParaRPr sz="1600" dirty="0">
              <a:latin typeface="Symbol"/>
              <a:cs typeface="Symbol"/>
            </a:endParaRP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37</a:t>
            </a:fld>
            <a:endParaRPr lang="zh-CN" altLang="en-US" dirty="0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F17EA23-EF38-4D52-BE0D-737AB28952C4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72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728455" y="2803136"/>
            <a:ext cx="4958945" cy="88870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1287145" algn="l"/>
                <a:tab pos="2270125" algn="l"/>
              </a:tabLst>
            </a:pPr>
            <a:r>
              <a:rPr sz="2800" b="1" i="1" spc="-20" dirty="0">
                <a:latin typeface="Times New Roman"/>
                <a:cs typeface="Times New Roman"/>
              </a:rPr>
              <a:t>v</a:t>
            </a:r>
            <a:r>
              <a:rPr sz="2800" b="1" i="1" spc="-30" baseline="-24691" dirty="0">
                <a:latin typeface="Times New Roman"/>
                <a:cs typeface="Times New Roman"/>
              </a:rPr>
              <a:t>k</a:t>
            </a:r>
            <a:r>
              <a:rPr sz="2800" b="1" spc="-30" baseline="-24691" dirty="0">
                <a:latin typeface="Symbol"/>
                <a:cs typeface="Symbol"/>
              </a:rPr>
              <a:t></a:t>
            </a:r>
            <a:r>
              <a:rPr sz="2800" b="1" spc="-30" baseline="-24691" dirty="0">
                <a:latin typeface="Times New Roman"/>
                <a:cs typeface="Times New Roman"/>
              </a:rPr>
              <a:t>1  </a:t>
            </a:r>
            <a:r>
              <a:rPr sz="2800" b="1" spc="-65" dirty="0">
                <a:latin typeface="Symbol"/>
                <a:cs typeface="Symbol"/>
              </a:rPr>
              <a:t></a:t>
            </a:r>
            <a:r>
              <a:rPr sz="2800" b="1" spc="-65" dirty="0">
                <a:latin typeface="Times New Roman"/>
                <a:cs typeface="Times New Roman"/>
              </a:rPr>
              <a:t>  </a:t>
            </a:r>
            <a:r>
              <a:rPr sz="2800" b="1" i="1" spc="-45" dirty="0">
                <a:latin typeface="Times New Roman"/>
                <a:cs typeface="Times New Roman"/>
              </a:rPr>
              <a:t>pv</a:t>
            </a:r>
            <a:r>
              <a:rPr sz="2800" b="1" i="1" spc="-67" baseline="-24691" dirty="0">
                <a:latin typeface="Times New Roman"/>
                <a:cs typeface="Times New Roman"/>
              </a:rPr>
              <a:t>k   </a:t>
            </a:r>
            <a:r>
              <a:rPr sz="2800" b="1" spc="-65" dirty="0">
                <a:latin typeface="Symbol"/>
                <a:cs typeface="Symbol"/>
              </a:rPr>
              <a:t></a:t>
            </a:r>
            <a:r>
              <a:rPr sz="2800" b="1" spc="-325" dirty="0">
                <a:latin typeface="Times New Roman"/>
                <a:cs typeface="Times New Roman"/>
              </a:rPr>
              <a:t> </a:t>
            </a:r>
            <a:r>
              <a:rPr sz="2800" b="1" i="1" spc="-80" dirty="0">
                <a:latin typeface="Symbol"/>
                <a:cs typeface="Symbol"/>
              </a:rPr>
              <a:t></a:t>
            </a:r>
            <a:r>
              <a:rPr sz="2800" b="1" i="1" spc="-150" dirty="0">
                <a:latin typeface="Times New Roman"/>
                <a:cs typeface="Times New Roman"/>
              </a:rPr>
              <a:t> </a:t>
            </a:r>
            <a:r>
              <a:rPr sz="2800" b="1" spc="-30" dirty="0" smtClean="0">
                <a:latin typeface="Times New Roman"/>
                <a:cs typeface="Times New Roman"/>
              </a:rPr>
              <a:t>,</a:t>
            </a:r>
            <a:r>
              <a:rPr sz="2800" b="1" spc="-55" dirty="0" smtClean="0">
                <a:latin typeface="Times New Roman"/>
                <a:cs typeface="Times New Roman"/>
              </a:rPr>
              <a:t>0 </a:t>
            </a:r>
            <a:r>
              <a:rPr sz="2800" b="1" spc="-65" dirty="0">
                <a:latin typeface="Symbol"/>
                <a:cs typeface="Symbol"/>
              </a:rPr>
              <a:t>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i="1" spc="-80" dirty="0">
                <a:latin typeface="Symbol"/>
                <a:cs typeface="Symbol"/>
              </a:rPr>
              <a:t></a:t>
            </a:r>
            <a:r>
              <a:rPr sz="2800" b="1" i="1" spc="-80" dirty="0">
                <a:latin typeface="Times New Roman"/>
                <a:cs typeface="Times New Roman"/>
              </a:rPr>
              <a:t>  </a:t>
            </a:r>
            <a:r>
              <a:rPr sz="2800" b="1" spc="-65" dirty="0">
                <a:latin typeface="Symbol"/>
                <a:cs typeface="Symbol"/>
              </a:rPr>
              <a:t></a:t>
            </a:r>
            <a:r>
              <a:rPr sz="2800" b="1" spc="-155" dirty="0">
                <a:latin typeface="Times New Roman"/>
                <a:cs typeface="Times New Roman"/>
              </a:rPr>
              <a:t> </a:t>
            </a:r>
            <a:r>
              <a:rPr sz="2800" b="1" i="1" spc="-35" dirty="0" err="1">
                <a:latin typeface="Times New Roman"/>
                <a:cs typeface="Times New Roman"/>
              </a:rPr>
              <a:t>v</a:t>
            </a:r>
            <a:r>
              <a:rPr sz="2800" b="1" i="1" spc="-52" baseline="-24691" dirty="0" err="1">
                <a:latin typeface="Times New Roman"/>
                <a:cs typeface="Times New Roman"/>
              </a:rPr>
              <a:t>k</a:t>
            </a:r>
            <a:r>
              <a:rPr sz="2800" b="1" i="1" spc="-67" baseline="-24691" dirty="0">
                <a:latin typeface="Times New Roman"/>
                <a:cs typeface="Times New Roman"/>
              </a:rPr>
              <a:t> </a:t>
            </a:r>
            <a:r>
              <a:rPr sz="2800" b="1" spc="-30" dirty="0" smtClean="0">
                <a:latin typeface="Times New Roman"/>
                <a:cs typeface="Times New Roman"/>
              </a:rPr>
              <a:t>, </a:t>
            </a:r>
            <a:r>
              <a:rPr sz="2800" b="1" i="1" spc="-55" dirty="0" smtClean="0">
                <a:latin typeface="Times New Roman"/>
                <a:cs typeface="Times New Roman"/>
              </a:rPr>
              <a:t>p</a:t>
            </a:r>
            <a:r>
              <a:rPr sz="2800" b="1" i="1" spc="-330" dirty="0" smtClean="0">
                <a:latin typeface="Times New Roman"/>
                <a:cs typeface="Times New Roman"/>
              </a:rPr>
              <a:t> </a:t>
            </a:r>
            <a:r>
              <a:rPr sz="2800" b="1" spc="-80" dirty="0">
                <a:latin typeface="Symbol"/>
                <a:cs typeface="Symbol"/>
              </a:rPr>
              <a:t>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75" dirty="0" smtClean="0">
                <a:latin typeface="Times New Roman"/>
                <a:cs typeface="Times New Roman"/>
              </a:rPr>
              <a:t>Z</a:t>
            </a:r>
            <a:endParaRPr lang="en-US" sz="2800" b="1" spc="-75" dirty="0" smtClean="0">
              <a:latin typeface="Times New Roman"/>
              <a:cs typeface="Times New Roman"/>
            </a:endParaRPr>
          </a:p>
          <a:p>
            <a:pPr marL="50800">
              <a:spcBef>
                <a:spcPts val="110"/>
              </a:spcBef>
              <a:tabLst>
                <a:tab pos="1287145" algn="l"/>
                <a:tab pos="2270125" algn="l"/>
              </a:tabLst>
            </a:pPr>
            <a:r>
              <a:rPr lang="en-US" altLang="zh-CN" sz="2800" b="1" i="1" spc="-35" dirty="0">
                <a:latin typeface="Times New Roman"/>
                <a:cs typeface="Times New Roman"/>
              </a:rPr>
              <a:t>w</a:t>
            </a:r>
            <a:r>
              <a:rPr lang="en-US" altLang="zh-CN" sz="2800" b="1" i="1" spc="-52" baseline="-24691" dirty="0">
                <a:latin typeface="Times New Roman"/>
                <a:cs typeface="Times New Roman"/>
              </a:rPr>
              <a:t>k</a:t>
            </a:r>
            <a:r>
              <a:rPr lang="en-US" altLang="zh-CN" sz="2800" b="1" spc="-52" baseline="-24691" dirty="0">
                <a:latin typeface="Symbol"/>
                <a:cs typeface="Symbol"/>
              </a:rPr>
              <a:t></a:t>
            </a:r>
            <a:r>
              <a:rPr lang="en-US" altLang="zh-CN" sz="2800" b="1" spc="-52" baseline="-24691" dirty="0">
                <a:latin typeface="Times New Roman"/>
                <a:cs typeface="Times New Roman"/>
              </a:rPr>
              <a:t>1 </a:t>
            </a:r>
            <a:r>
              <a:rPr lang="en-US" altLang="zh-CN" sz="2800" b="1" spc="-65" dirty="0">
                <a:latin typeface="Symbol"/>
                <a:cs typeface="Symbol"/>
              </a:rPr>
              <a:t></a:t>
            </a:r>
            <a:r>
              <a:rPr lang="en-US" altLang="zh-CN" sz="2800" b="1" spc="-65" dirty="0">
                <a:latin typeface="Times New Roman"/>
                <a:cs typeface="Times New Roman"/>
              </a:rPr>
              <a:t> </a:t>
            </a:r>
            <a:r>
              <a:rPr lang="en-US" altLang="zh-CN" sz="2800" b="1" i="1" spc="-60" dirty="0" err="1">
                <a:latin typeface="Times New Roman"/>
                <a:cs typeface="Times New Roman"/>
              </a:rPr>
              <a:t>G</a:t>
            </a:r>
            <a:r>
              <a:rPr lang="en-US" altLang="zh-CN" sz="2800" b="1" i="1" spc="-89" baseline="-24691" dirty="0" err="1">
                <a:latin typeface="Times New Roman"/>
                <a:cs typeface="Times New Roman"/>
              </a:rPr>
              <a:t>k</a:t>
            </a:r>
            <a:r>
              <a:rPr lang="en-US" altLang="zh-CN" sz="2800" b="1" i="1" spc="-89" baseline="-24691" dirty="0">
                <a:latin typeface="Times New Roman"/>
                <a:cs typeface="Times New Roman"/>
              </a:rPr>
              <a:t> </a:t>
            </a:r>
            <a:r>
              <a:rPr lang="en-US" altLang="zh-CN" sz="2800" b="1" spc="-65" dirty="0">
                <a:latin typeface="Times New Roman"/>
                <a:cs typeface="Times New Roman"/>
              </a:rPr>
              <a:t>(</a:t>
            </a:r>
            <a:r>
              <a:rPr lang="en-US" altLang="zh-CN" sz="2800" b="1" i="1" spc="-65" dirty="0">
                <a:latin typeface="Symbol"/>
                <a:cs typeface="Symbol"/>
              </a:rPr>
              <a:t></a:t>
            </a:r>
            <a:r>
              <a:rPr lang="en-US" altLang="zh-CN" sz="2800" b="1" i="1" spc="-65" dirty="0">
                <a:latin typeface="Times New Roman"/>
                <a:cs typeface="Times New Roman"/>
              </a:rPr>
              <a:t> </a:t>
            </a:r>
            <a:r>
              <a:rPr lang="en-US" altLang="zh-CN" sz="2800" b="1" spc="-40" dirty="0">
                <a:latin typeface="Times New Roman"/>
                <a:cs typeface="Times New Roman"/>
              </a:rPr>
              <a:t>) </a:t>
            </a:r>
            <a:r>
              <a:rPr lang="en-US" altLang="zh-CN" sz="2800" b="1" spc="-65" dirty="0">
                <a:latin typeface="Symbol"/>
                <a:cs typeface="Symbol"/>
              </a:rPr>
              <a:t></a:t>
            </a:r>
            <a:r>
              <a:rPr lang="en-US" altLang="zh-CN" sz="2800" b="1" spc="-55" dirty="0">
                <a:latin typeface="Times New Roman"/>
                <a:cs typeface="Times New Roman"/>
              </a:rPr>
              <a:t> </a:t>
            </a:r>
            <a:r>
              <a:rPr lang="en-US" altLang="zh-CN" sz="2800" b="1" i="1" spc="-65" dirty="0" err="1" smtClean="0">
                <a:latin typeface="Times New Roman"/>
                <a:cs typeface="Times New Roman"/>
              </a:rPr>
              <a:t>pw</a:t>
            </a:r>
            <a:r>
              <a:rPr lang="en-US" altLang="zh-CN" sz="2800" b="1" i="1" spc="-97" baseline="-24691" dirty="0" err="1" smtClean="0">
                <a:latin typeface="Times New Roman"/>
                <a:cs typeface="Times New Roman"/>
              </a:rPr>
              <a:t>k</a:t>
            </a:r>
            <a:endParaRPr lang="en-US" altLang="zh-CN" sz="2800" baseline="-24691" dirty="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/>
          </p:cNvSpPr>
          <p:nvPr/>
        </p:nvSpPr>
        <p:spPr>
          <a:xfrm>
            <a:off x="2450776" y="137460"/>
            <a:ext cx="369710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验证实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 flipH="1">
            <a:off x="11202599" y="2719940"/>
            <a:ext cx="515943" cy="289182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b="1" spc="-35" dirty="0">
                <a:latin typeface="Symbol"/>
                <a:cs typeface="Symbol"/>
              </a:rPr>
              <a:t></a:t>
            </a:r>
            <a:endParaRPr dirty="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7992" y="5031619"/>
            <a:ext cx="6274676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=4,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y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i="1" dirty="0">
                <a:latin typeface="Times New Roman"/>
                <a:cs typeface="Times New Roman"/>
              </a:rPr>
              <a:t>pv</a:t>
            </a:r>
            <a:r>
              <a:rPr sz="2800" b="1" baseline="-21241" dirty="0">
                <a:latin typeface="Times New Roman"/>
                <a:cs typeface="Times New Roman"/>
              </a:rPr>
              <a:t>3</a:t>
            </a:r>
            <a:r>
              <a:rPr sz="2800" b="1" dirty="0">
                <a:latin typeface="Times New Roman"/>
                <a:cs typeface="Times New Roman"/>
              </a:rPr>
              <a:t>=28,</a:t>
            </a:r>
            <a:endParaRPr sz="28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  <a:tabLst>
                <a:tab pos="4081779" algn="l"/>
              </a:tabLst>
            </a:pPr>
            <a:r>
              <a:rPr sz="28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最优解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2800" b="1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sz="2800" b="1" baseline="-2124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=2,</a:t>
            </a:r>
            <a:r>
              <a:rPr sz="28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2800" b="1" spc="5" dirty="0" smtClean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贪心法</a:t>
            </a:r>
            <a:r>
              <a:rPr sz="2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r>
              <a:rPr sz="2800" b="1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sz="2800" b="1" baseline="-2124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=1,	</a:t>
            </a:r>
            <a:r>
              <a:rPr sz="2800" b="1" i="1" dirty="0">
                <a:solidFill>
                  <a:srgbClr val="C00000"/>
                </a:solidFill>
                <a:latin typeface="Times New Roman"/>
                <a:cs typeface="Times New Roman"/>
              </a:rPr>
              <a:t>x</a:t>
            </a:r>
            <a:r>
              <a:rPr sz="2800" b="1" baseline="-2124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2800" b="1" dirty="0">
                <a:solidFill>
                  <a:srgbClr val="C00000"/>
                </a:solidFill>
                <a:latin typeface="Times New Roman"/>
                <a:cs typeface="Times New Roman"/>
              </a:rPr>
              <a:t>=2</a:t>
            </a:r>
            <a:endParaRPr sz="2800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3069" y="1025984"/>
            <a:ext cx="11004331" cy="381963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>
              <a:lnSpc>
                <a:spcPct val="150000"/>
              </a:lnSpc>
              <a:spcBef>
                <a:spcPts val="965"/>
              </a:spcBef>
            </a:pPr>
            <a:r>
              <a:rPr sz="28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例</a:t>
            </a:r>
            <a:r>
              <a:rPr sz="2800" b="1" spc="-10" dirty="0">
                <a:solidFill>
                  <a:srgbClr val="C00000"/>
                </a:solidFill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=1,</a:t>
            </a:r>
            <a:r>
              <a:rPr sz="2800" b="1" i="1" spc="-5" dirty="0">
                <a:latin typeface="Times New Roman"/>
                <a:cs typeface="Times New Roman"/>
              </a:rPr>
              <a:t>v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=5,</a:t>
            </a:r>
            <a:r>
              <a:rPr sz="2800" b="1" i="1" spc="-5" dirty="0">
                <a:latin typeface="Times New Roman"/>
                <a:cs typeface="Times New Roman"/>
              </a:rPr>
              <a:t>v</a:t>
            </a:r>
            <a:r>
              <a:rPr sz="2800" b="1" spc="-7" baseline="-20833" dirty="0">
                <a:latin typeface="Times New Roman"/>
                <a:cs typeface="Times New Roman"/>
              </a:rPr>
              <a:t>3</a:t>
            </a:r>
            <a:r>
              <a:rPr sz="2800" b="1" spc="-5" dirty="0">
                <a:latin typeface="Times New Roman"/>
                <a:cs typeface="Times New Roman"/>
              </a:rPr>
              <a:t>=14,</a:t>
            </a:r>
            <a:r>
              <a:rPr sz="2800" b="1" i="1" spc="-5" dirty="0">
                <a:latin typeface="Times New Roman"/>
                <a:cs typeface="Times New Roman"/>
              </a:rPr>
              <a:t>v</a:t>
            </a:r>
            <a:r>
              <a:rPr sz="2800" b="1" spc="-7" baseline="-20833" dirty="0">
                <a:latin typeface="Times New Roman"/>
                <a:cs typeface="Times New Roman"/>
              </a:rPr>
              <a:t>4</a:t>
            </a:r>
            <a:r>
              <a:rPr sz="2800" b="1" spc="-5" dirty="0">
                <a:latin typeface="Times New Roman"/>
                <a:cs typeface="Times New Roman"/>
              </a:rPr>
              <a:t>=18,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i="1" spc="-5" dirty="0" err="1" smtClean="0">
                <a:latin typeface="Times New Roman"/>
                <a:cs typeface="Times New Roman"/>
              </a:rPr>
              <a:t>w</a:t>
            </a:r>
            <a:r>
              <a:rPr sz="2800" b="1" i="1" spc="-7" baseline="-20833" dirty="0" err="1" smtClean="0">
                <a:latin typeface="Times New Roman"/>
                <a:cs typeface="Times New Roman"/>
              </a:rPr>
              <a:t>i</a:t>
            </a:r>
            <a:r>
              <a:rPr sz="2800" b="1" spc="-5" dirty="0" smtClean="0">
                <a:latin typeface="Times New Roman"/>
                <a:cs typeface="Times New Roman"/>
              </a:rPr>
              <a:t>=1,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i</a:t>
            </a:r>
            <a:r>
              <a:rPr sz="2800" b="1" dirty="0" smtClean="0">
                <a:latin typeface="Times New Roman"/>
                <a:cs typeface="Times New Roman"/>
              </a:rPr>
              <a:t>=1,2,3,4</a:t>
            </a:r>
            <a:r>
              <a:rPr sz="2800" b="1" dirty="0">
                <a:latin typeface="Times New Roman"/>
                <a:cs typeface="Times New Roman"/>
              </a:rPr>
              <a:t>.	</a:t>
            </a:r>
            <a:endParaRPr lang="en-US" sz="2800" b="1" dirty="0" smtClean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965"/>
              </a:spcBef>
            </a:pPr>
            <a:r>
              <a:rPr lang="en-US" sz="2800" b="1" spc="-5" dirty="0">
                <a:latin typeface="Times New Roman"/>
                <a:cs typeface="Times New Roman"/>
              </a:rPr>
              <a:t> </a:t>
            </a:r>
            <a:r>
              <a:rPr lang="en-US" sz="2800" b="1" spc="-5" dirty="0" smtClean="0">
                <a:latin typeface="Times New Roman"/>
                <a:cs typeface="Times New Roman"/>
              </a:rPr>
              <a:t>    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对一</a:t>
            </a:r>
            <a:r>
              <a:rPr sz="2800" b="1" spc="-10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切</a:t>
            </a:r>
            <a:r>
              <a:rPr sz="2800" b="1" spc="-59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sz="2800" b="1" spc="-59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 </a:t>
            </a:r>
            <a:r>
              <a:rPr sz="2800" b="1" i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y</a:t>
            </a:r>
            <a:r>
              <a:rPr lang="en-US" sz="2800" b="1" i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1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有 </a:t>
            </a:r>
            <a:r>
              <a:rPr sz="2800" b="1" i="1" spc="-5" dirty="0">
                <a:latin typeface="Times New Roman"/>
                <a:cs typeface="Times New Roman"/>
              </a:rPr>
              <a:t>G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y</a:t>
            </a:r>
            <a:r>
              <a:rPr sz="2800" b="1" spc="-5" dirty="0">
                <a:latin typeface="Times New Roman"/>
                <a:cs typeface="Times New Roman"/>
              </a:rPr>
              <a:t>)=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y</a:t>
            </a:r>
            <a:r>
              <a:rPr sz="2800" b="1" spc="-5" dirty="0">
                <a:latin typeface="Times New Roman"/>
                <a:cs typeface="Times New Roman"/>
              </a:rPr>
              <a:t>),</a:t>
            </a:r>
            <a:r>
              <a:rPr sz="2800" b="1" i="1" spc="-5" dirty="0">
                <a:latin typeface="Times New Roman"/>
                <a:cs typeface="Times New Roman"/>
              </a:rPr>
              <a:t>G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y</a:t>
            </a:r>
            <a:r>
              <a:rPr sz="2800" b="1" spc="-5" dirty="0">
                <a:latin typeface="Times New Roman"/>
                <a:cs typeface="Times New Roman"/>
              </a:rPr>
              <a:t>)=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y</a:t>
            </a:r>
            <a:r>
              <a:rPr sz="2800" b="1" spc="-5" dirty="0">
                <a:latin typeface="Times New Roman"/>
                <a:cs typeface="Times New Roman"/>
              </a:rPr>
              <a:t>),</a:t>
            </a:r>
            <a:r>
              <a:rPr sz="2800" b="1" i="1" spc="-5" dirty="0">
                <a:latin typeface="Times New Roman"/>
                <a:cs typeface="Times New Roman"/>
              </a:rPr>
              <a:t>G</a:t>
            </a:r>
            <a:r>
              <a:rPr sz="2800" b="1" spc="-7" baseline="-20833" dirty="0">
                <a:latin typeface="Times New Roman"/>
                <a:cs typeface="Times New Roman"/>
              </a:rPr>
              <a:t>3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y</a:t>
            </a:r>
            <a:r>
              <a:rPr sz="2800" b="1" spc="-5" dirty="0">
                <a:latin typeface="Times New Roman"/>
                <a:cs typeface="Times New Roman"/>
              </a:rPr>
              <a:t>)=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7" baseline="-20833" dirty="0">
                <a:latin typeface="Times New Roman"/>
                <a:cs typeface="Times New Roman"/>
              </a:rPr>
              <a:t>3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y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Aft>
                <a:spcPts val="1800"/>
              </a:spcAft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验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证</a:t>
            </a:r>
            <a:r>
              <a:rPr sz="2800" b="1" spc="-600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G</a:t>
            </a:r>
            <a:r>
              <a:rPr sz="2800" b="1" baseline="-20833" dirty="0">
                <a:latin typeface="Times New Roman"/>
                <a:cs typeface="Times New Roman"/>
              </a:rPr>
              <a:t>4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y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</a:t>
            </a:r>
            <a:r>
              <a:rPr sz="2800" b="1" baseline="-20833" dirty="0">
                <a:latin typeface="Times New Roman"/>
                <a:cs typeface="Times New Roman"/>
              </a:rPr>
              <a:t>4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y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ts val="3300"/>
              </a:lnSpc>
            </a:pPr>
            <a:r>
              <a:rPr sz="2800" b="1" i="1" spc="5" dirty="0">
                <a:latin typeface="Times New Roman"/>
                <a:cs typeface="Times New Roman"/>
              </a:rPr>
              <a:t>v</a:t>
            </a:r>
            <a:r>
              <a:rPr sz="2800" b="1" spc="7" baseline="-21241" dirty="0">
                <a:latin typeface="Times New Roman"/>
                <a:cs typeface="Times New Roman"/>
              </a:rPr>
              <a:t>4 </a:t>
            </a:r>
            <a:r>
              <a:rPr sz="2800" b="1" spc="-5" dirty="0">
                <a:latin typeface="Times New Roman"/>
                <a:cs typeface="Times New Roman"/>
              </a:rPr>
              <a:t>= </a:t>
            </a:r>
            <a:r>
              <a:rPr sz="2800" b="1" i="1" spc="5" dirty="0">
                <a:latin typeface="Times New Roman"/>
                <a:cs typeface="Times New Roman"/>
              </a:rPr>
              <a:t>pv</a:t>
            </a:r>
            <a:r>
              <a:rPr sz="2800" b="1" spc="7" baseline="-21241" dirty="0">
                <a:latin typeface="Times New Roman"/>
                <a:cs typeface="Times New Roman"/>
              </a:rPr>
              <a:t>3 </a:t>
            </a:r>
            <a:r>
              <a:rPr sz="2800" b="1" spc="-5" dirty="0">
                <a:latin typeface="Symbol"/>
                <a:cs typeface="Symbol"/>
              </a:rPr>
              <a:t>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Symbol"/>
                <a:cs typeface="Symbol"/>
              </a:rPr>
              <a:t>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Symbol"/>
                <a:cs typeface="Symbol"/>
              </a:rPr>
              <a:t>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</a:t>
            </a:r>
            <a:r>
              <a:rPr sz="2800" b="1" spc="-5" dirty="0">
                <a:latin typeface="Times New Roman"/>
                <a:cs typeface="Times New Roman"/>
              </a:rPr>
              <a:t>=2, </a:t>
            </a:r>
            <a:r>
              <a:rPr sz="2800" b="1" spc="-5" dirty="0">
                <a:latin typeface="Symbol"/>
                <a:cs typeface="Symbol"/>
              </a:rPr>
              <a:t></a:t>
            </a:r>
            <a:r>
              <a:rPr sz="2800" b="1" spc="-5" dirty="0">
                <a:latin typeface="Times New Roman"/>
                <a:cs typeface="Times New Roman"/>
              </a:rPr>
              <a:t>=</a:t>
            </a:r>
            <a:r>
              <a:rPr sz="2800" b="1" spc="-5" dirty="0" smtClean="0">
                <a:latin typeface="Times New Roman"/>
                <a:cs typeface="Times New Roman"/>
              </a:rPr>
              <a:t>10</a:t>
            </a:r>
            <a:endParaRPr sz="2800" dirty="0" smtClean="0">
              <a:latin typeface="Times New Roman"/>
              <a:cs typeface="Times New Roman"/>
            </a:endParaRPr>
          </a:p>
          <a:p>
            <a:pPr>
              <a:lnSpc>
                <a:spcPts val="3300"/>
              </a:lnSpc>
            </a:pPr>
            <a:r>
              <a:rPr sz="2800" b="1" i="1" spc="5" dirty="0" smtClean="0">
                <a:latin typeface="Times New Roman"/>
                <a:cs typeface="Times New Roman"/>
              </a:rPr>
              <a:t>w</a:t>
            </a:r>
            <a:r>
              <a:rPr sz="2800" b="1" spc="7" baseline="-21241" dirty="0" smtClean="0">
                <a:latin typeface="Times New Roman"/>
                <a:cs typeface="Times New Roman"/>
              </a:rPr>
              <a:t>4</a:t>
            </a:r>
            <a:r>
              <a:rPr sz="2800" b="1" spc="15" baseline="-21241" dirty="0" smtClean="0">
                <a:latin typeface="Times New Roman"/>
                <a:cs typeface="Times New Roman"/>
              </a:rPr>
              <a:t> </a:t>
            </a:r>
            <a:r>
              <a:rPr sz="2800" b="1" dirty="0" smtClean="0">
                <a:latin typeface="Times New Roman"/>
                <a:cs typeface="Times New Roman"/>
              </a:rPr>
              <a:t>+</a:t>
            </a:r>
            <a:r>
              <a:rPr sz="2800" b="1" i="1" dirty="0" smtClean="0">
                <a:latin typeface="Times New Roman"/>
                <a:cs typeface="Times New Roman"/>
              </a:rPr>
              <a:t>G</a:t>
            </a:r>
            <a:r>
              <a:rPr sz="2800" b="1" baseline="-21241" dirty="0" smtClean="0">
                <a:latin typeface="Times New Roman"/>
                <a:cs typeface="Times New Roman"/>
              </a:rPr>
              <a:t>3</a:t>
            </a:r>
            <a:r>
              <a:rPr sz="2800" b="1" dirty="0" smtClean="0">
                <a:latin typeface="Times New Roman"/>
                <a:cs typeface="Times New Roman"/>
              </a:rPr>
              <a:t>(</a:t>
            </a:r>
            <a:r>
              <a:rPr sz="2800" b="1" dirty="0" smtClean="0">
                <a:latin typeface="Symbol"/>
                <a:cs typeface="Symbol"/>
              </a:rPr>
              <a:t></a:t>
            </a:r>
            <a:r>
              <a:rPr sz="2800" b="1" dirty="0" smtClean="0">
                <a:latin typeface="Times New Roman"/>
                <a:cs typeface="Times New Roman"/>
              </a:rPr>
              <a:t>)=1+2=3</a:t>
            </a:r>
            <a:r>
              <a:rPr lang="en-US" sz="2800" dirty="0" smtClean="0">
                <a:latin typeface="Times New Roman"/>
                <a:cs typeface="Times New Roman"/>
              </a:rPr>
              <a:t>             </a:t>
            </a:r>
            <a:r>
              <a:rPr sz="2800" b="1" i="1" dirty="0" smtClean="0">
                <a:latin typeface="Times New Roman"/>
                <a:cs typeface="Times New Roman"/>
              </a:rPr>
              <a:t>pw</a:t>
            </a:r>
            <a:r>
              <a:rPr sz="2800" b="1" baseline="-21241" dirty="0" smtClean="0">
                <a:latin typeface="Times New Roman"/>
                <a:cs typeface="Times New Roman"/>
              </a:rPr>
              <a:t>3</a:t>
            </a:r>
            <a:r>
              <a:rPr sz="2800" b="1" spc="7" baseline="-21241" dirty="0" smtClean="0">
                <a:latin typeface="Times New Roman"/>
                <a:cs typeface="Times New Roman"/>
              </a:rPr>
              <a:t> </a:t>
            </a:r>
            <a:r>
              <a:rPr sz="2800" b="1" spc="-5" dirty="0" smtClean="0">
                <a:latin typeface="Times New Roman"/>
                <a:cs typeface="Times New Roman"/>
              </a:rPr>
              <a:t>=2</a:t>
            </a:r>
            <a:r>
              <a:rPr sz="2800" b="1" spc="-5" dirty="0" smtClean="0">
                <a:latin typeface="Symbol"/>
                <a:cs typeface="Symbol"/>
              </a:rPr>
              <a:t></a:t>
            </a:r>
            <a:r>
              <a:rPr sz="2800" b="1" spc="-5" dirty="0" smtClean="0">
                <a:latin typeface="Times New Roman"/>
                <a:cs typeface="Times New Roman"/>
              </a:rPr>
              <a:t>1=2</a:t>
            </a:r>
            <a:endParaRPr sz="2800" dirty="0" smtClean="0">
              <a:latin typeface="Times New Roman"/>
              <a:cs typeface="Times New Roman"/>
            </a:endParaRPr>
          </a:p>
          <a:p>
            <a:pPr>
              <a:lnSpc>
                <a:spcPts val="3300"/>
              </a:lnSpc>
            </a:pPr>
            <a:r>
              <a:rPr sz="2800" b="1" i="1" spc="5" dirty="0" smtClean="0">
                <a:latin typeface="Times New Roman"/>
                <a:cs typeface="Times New Roman"/>
              </a:rPr>
              <a:t>w</a:t>
            </a:r>
            <a:r>
              <a:rPr sz="2800" b="1" spc="7" baseline="-21241" dirty="0" smtClean="0">
                <a:latin typeface="Times New Roman"/>
                <a:cs typeface="Times New Roman"/>
              </a:rPr>
              <a:t>4 </a:t>
            </a:r>
            <a:r>
              <a:rPr sz="2800" b="1" spc="-5" dirty="0">
                <a:latin typeface="Times New Roman"/>
                <a:cs typeface="Times New Roman"/>
              </a:rPr>
              <a:t>+ </a:t>
            </a:r>
            <a:r>
              <a:rPr sz="2800" b="1" i="1" dirty="0">
                <a:latin typeface="Times New Roman"/>
                <a:cs typeface="Times New Roman"/>
              </a:rPr>
              <a:t>G</a:t>
            </a:r>
            <a:r>
              <a:rPr sz="2800" b="1" baseline="-21241" dirty="0">
                <a:latin typeface="Times New Roman"/>
                <a:cs typeface="Times New Roman"/>
              </a:rPr>
              <a:t>3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dirty="0">
                <a:latin typeface="Symbol"/>
                <a:cs typeface="Symbol"/>
              </a:rPr>
              <a:t></a:t>
            </a:r>
            <a:r>
              <a:rPr sz="2800" b="1" dirty="0">
                <a:latin typeface="Times New Roman"/>
                <a:cs typeface="Times New Roman"/>
              </a:rPr>
              <a:t>) </a:t>
            </a:r>
            <a:r>
              <a:rPr sz="2800" b="1" spc="-5" dirty="0">
                <a:latin typeface="Times New Roman"/>
                <a:cs typeface="Times New Roman"/>
              </a:rPr>
              <a:t>&gt;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pw</a:t>
            </a:r>
            <a:r>
              <a:rPr sz="2800" b="1" baseline="-21241" dirty="0">
                <a:latin typeface="Times New Roman"/>
                <a:cs typeface="Times New Roman"/>
              </a:rPr>
              <a:t>3</a:t>
            </a:r>
            <a:endParaRPr sz="2800" baseline="-21241" dirty="0">
              <a:latin typeface="Times New Roman"/>
              <a:cs typeface="Times New Roman"/>
            </a:endParaRPr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38</a:t>
            </a:fld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731E3FF-0452-4D4C-98A9-CD093E245738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211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5922312" y="80624"/>
            <a:ext cx="203401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4000" b="1" spc="-10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</a:t>
            </a:r>
            <a:r>
              <a:rPr lang="zh-CN" altLang="en-US" sz="4000" b="1" spc="-15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</a:t>
            </a:r>
            <a:endParaRPr lang="zh-CN" altLang="en-US" sz="4000" b="1" spc="-15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8579" y="1077086"/>
            <a:ext cx="10983310" cy="27599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3375" marR="92075" indent="-304800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370840" algn="l"/>
                <a:tab pos="371475" algn="l"/>
              </a:tabLst>
            </a:pP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贪心策略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</a:t>
            </a:r>
            <a:r>
              <a:rPr sz="2800" b="1" spc="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定得到最优解，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在这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种情况下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有两种处理方法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  <a:p>
            <a:pPr marL="714375" marR="5080" lvl="1" indent="-381000">
              <a:lnSpc>
                <a:spcPct val="150000"/>
              </a:lnSpc>
              <a:buFont typeface="Times New Roman"/>
              <a:buAutoNum type="arabicParenBoth"/>
              <a:tabLst>
                <a:tab pos="765810" algn="l"/>
              </a:tabLst>
            </a:pP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参数化分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析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分析参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取什么值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可得到最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优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790575" marR="5080" lvl="1" indent="-457200">
              <a:lnSpc>
                <a:spcPct val="150000"/>
              </a:lnSpc>
              <a:buFont typeface="Times New Roman"/>
              <a:buAutoNum type="arabicParenBoth"/>
              <a:tabLst>
                <a:tab pos="765810" algn="l"/>
              </a:tabLst>
            </a:pP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估计贪心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法得到的解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最坏情况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下与最优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误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差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50000"/>
              </a:lnSpc>
              <a:spcBef>
                <a:spcPts val="18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一个参数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化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析的例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:找零钱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题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B83F64E-642C-4361-A984-213450EF1A3C}" type="slidenum">
              <a:rPr lang="zh-CN" altLang="en-US" smtClean="0"/>
              <a:pPr/>
              <a:t>39</a:t>
            </a:fld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8D2BB66-5D53-488E-986C-09CE9CADC146}" type="datetime1">
              <a:rPr lang="zh-CN" altLang="en-US" smtClean="0"/>
              <a:t>2019/5/22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37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230729" y="3810680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www.1ppt.com/moban/     </a:t>
            </a:r>
            <a:r>
              <a:rPr lang="zh-CN" altLang="en-US" sz="100" kern="0" dirty="0">
                <a:solidFill>
                  <a:prstClr val="white"/>
                </a:solidFill>
              </a:rPr>
              <a:t>行业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www.1ppt.com/hangye/ </a:t>
            </a: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节日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www.1ppt.com/jieri/   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素材下载：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www.1ppt.com/sucai/</a:t>
            </a:r>
          </a:p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背景图片：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www.1ppt.com/beijing/      PPT</a:t>
            </a:r>
            <a:r>
              <a:rPr lang="zh-CN" altLang="en-US" sz="100" kern="0" dirty="0">
                <a:solidFill>
                  <a:prstClr val="white"/>
                </a:solidFill>
              </a:rPr>
              <a:t>图表下载：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www.1ppt.com/tubiao/      </a:t>
            </a: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优秀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www.1ppt.com/xiazai/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教程： 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www.1ppt.com/powerpoint/      </a:t>
            </a:r>
          </a:p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Word</a:t>
            </a:r>
            <a:r>
              <a:rPr lang="zh-CN" altLang="en-US" sz="100" kern="0" dirty="0">
                <a:solidFill>
                  <a:prstClr val="white"/>
                </a:solidFill>
              </a:rPr>
              <a:t>教程： 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www.1ppt.com/word/              Excel</a:t>
            </a:r>
            <a:r>
              <a:rPr lang="zh-CN" altLang="en-US" sz="100" kern="0" dirty="0">
                <a:solidFill>
                  <a:prstClr val="white"/>
                </a:solidFill>
              </a:rPr>
              <a:t>教程：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www.1ppt.com/excel/  </a:t>
            </a: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资料下载：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www.1ppt.com/ziliao/        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课件下载：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www.1ppt.com/kejian/ </a:t>
            </a: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范文下载：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www.1ppt.com/fanwen/             </a:t>
            </a:r>
            <a:r>
              <a:rPr lang="zh-CN" altLang="en-US" sz="100" kern="0" dirty="0">
                <a:solidFill>
                  <a:prstClr val="white"/>
                </a:solidFill>
              </a:rPr>
              <a:t>试卷下载：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www.1ppt.com/shiti/  </a:t>
            </a: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教案下载：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www.1ppt.com/jiaoan/        </a:t>
            </a: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字体下载：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www.1ppt.com/ziti/</a:t>
            </a:r>
          </a:p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 </a:t>
            </a:r>
            <a:endParaRPr lang="zh-CN" altLang="en-US" sz="100" kern="0" dirty="0">
              <a:solidFill>
                <a:prstClr val="white"/>
              </a:solidFill>
            </a:endParaRPr>
          </a:p>
        </p:txBody>
      </p:sp>
      <p:sp>
        <p:nvSpPr>
          <p:cNvPr id="6" name="淘宝网chenying0907出品 3"/>
          <p:cNvSpPr/>
          <p:nvPr/>
        </p:nvSpPr>
        <p:spPr>
          <a:xfrm>
            <a:off x="551384" y="1988841"/>
            <a:ext cx="311085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淘宝网chenying0907出品 4"/>
          <p:cNvSpPr/>
          <p:nvPr/>
        </p:nvSpPr>
        <p:spPr>
          <a:xfrm>
            <a:off x="7104112" y="1988841"/>
            <a:ext cx="311085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淘宝网chenying0907出品 7"/>
          <p:cNvSpPr/>
          <p:nvPr/>
        </p:nvSpPr>
        <p:spPr>
          <a:xfrm>
            <a:off x="7438882" y="2546584"/>
            <a:ext cx="386499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7419545" y="4545439"/>
            <a:ext cx="4158791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淘宝网chenying0907出品 10"/>
          <p:cNvSpPr/>
          <p:nvPr/>
        </p:nvSpPr>
        <p:spPr>
          <a:xfrm>
            <a:off x="7844231" y="2618584"/>
            <a:ext cx="386499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淘宝网chenying0907出品 11"/>
          <p:cNvSpPr/>
          <p:nvPr/>
        </p:nvSpPr>
        <p:spPr>
          <a:xfrm>
            <a:off x="8278645" y="2618584"/>
            <a:ext cx="386499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淘宝网chenying0907出品 12"/>
          <p:cNvSpPr/>
          <p:nvPr/>
        </p:nvSpPr>
        <p:spPr>
          <a:xfrm>
            <a:off x="8683994" y="2654584"/>
            <a:ext cx="386499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淘宝网chenying0907出品 13"/>
          <p:cNvSpPr/>
          <p:nvPr/>
        </p:nvSpPr>
        <p:spPr>
          <a:xfrm>
            <a:off x="9089343" y="2690584"/>
            <a:ext cx="386499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淘宝网chenying0907出品 14"/>
          <p:cNvSpPr/>
          <p:nvPr/>
        </p:nvSpPr>
        <p:spPr>
          <a:xfrm>
            <a:off x="9511936" y="2726584"/>
            <a:ext cx="386499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淘宝网chenying0907出品 15"/>
          <p:cNvSpPr/>
          <p:nvPr/>
        </p:nvSpPr>
        <p:spPr>
          <a:xfrm rot="20959521">
            <a:off x="10055132" y="2777740"/>
            <a:ext cx="386499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淘宝网chenying0907出品 16"/>
          <p:cNvSpPr/>
          <p:nvPr/>
        </p:nvSpPr>
        <p:spPr>
          <a:xfrm rot="19779136">
            <a:off x="10735690" y="2819336"/>
            <a:ext cx="386499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>
            <a:stCxn id="6" idx="2"/>
            <a:endCxn id="7" idx="2"/>
          </p:cNvCxnSpPr>
          <p:nvPr/>
        </p:nvCxnSpPr>
        <p:spPr>
          <a:xfrm>
            <a:off x="706927" y="4534078"/>
            <a:ext cx="6552728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endCxn id="7" idx="0"/>
          </p:cNvCxnSpPr>
          <p:nvPr/>
        </p:nvCxnSpPr>
        <p:spPr>
          <a:xfrm>
            <a:off x="551384" y="1988841"/>
            <a:ext cx="6708271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551384" y="3810680"/>
            <a:ext cx="6863813" cy="1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淘宝网chenying0907出品 21"/>
          <p:cNvSpPr txBox="1"/>
          <p:nvPr/>
        </p:nvSpPr>
        <p:spPr>
          <a:xfrm>
            <a:off x="1919537" y="2308736"/>
            <a:ext cx="38436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谢谢观看</a:t>
            </a:r>
          </a:p>
        </p:txBody>
      </p:sp>
      <p:pic>
        <p:nvPicPr>
          <p:cNvPr id="38" name="Picture 2" descr="https://xxgc.sicau.edu.cn/dfiles/14355/wp-content/uploads/2017/04/logo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84" y="10099"/>
            <a:ext cx="4286250" cy="819151"/>
          </a:xfrm>
          <a:prstGeom prst="rect">
            <a:avLst/>
          </a:prstGeom>
          <a:noFill/>
        </p:spPr>
      </p:pic>
      <p:sp>
        <p:nvSpPr>
          <p:cNvPr id="23" name="PA_淘宝网chenying0907出品 22"/>
          <p:cNvSpPr txBox="1"/>
          <p:nvPr>
            <p:custDataLst>
              <p:tags r:id="rId1"/>
            </p:custDataLst>
          </p:nvPr>
        </p:nvSpPr>
        <p:spPr>
          <a:xfrm>
            <a:off x="1835084" y="4023957"/>
            <a:ext cx="43329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latin typeface="微软雅黑" pitchFamily="34" charset="-122"/>
                <a:ea typeface="微软雅黑" pitchFamily="34" charset="-122"/>
              </a:rPr>
              <a:t>敬请批评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指正！！！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6C1F8-11CD-4249-A6B6-D494F5070295}" type="slidenum">
              <a:rPr lang="zh-CN" altLang="en-US" smtClean="0"/>
              <a:pPr/>
              <a:t>40</a:t>
            </a:fld>
            <a:endParaRPr lang="zh-CN" altLang="en-US"/>
          </a:p>
        </p:txBody>
      </p:sp>
      <p:sp>
        <p:nvSpPr>
          <p:cNvPr id="22" name="日期占位符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61378-D6B7-4CC9-9191-BF30FAF76583}" type="datetime1">
              <a:rPr lang="zh-CN" altLang="en-US" smtClean="0"/>
              <a:t>2019/5/22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95108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2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1762</Words>
  <Application>Microsoft Office PowerPoint</Application>
  <PresentationFormat>宽屏</PresentationFormat>
  <Paragraphs>398</Paragraphs>
  <Slides>40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53" baseType="lpstr">
      <vt:lpstr>等线</vt:lpstr>
      <vt:lpstr>等线 Light</vt:lpstr>
      <vt:lpstr>黑体</vt:lpstr>
      <vt:lpstr>宋体</vt:lpstr>
      <vt:lpstr>微软雅黑</vt:lpstr>
      <vt:lpstr>Arial</vt:lpstr>
      <vt:lpstr>Calibri</vt:lpstr>
      <vt:lpstr>Cambria Math</vt:lpstr>
      <vt:lpstr>Symbol</vt:lpstr>
      <vt:lpstr>Times New Roman</vt:lpstr>
      <vt:lpstr>Wingdings</vt:lpstr>
      <vt:lpstr>Office 主题​​</vt:lpstr>
      <vt:lpstr>自定义设计方案</vt:lpstr>
      <vt:lpstr>PowerPoint 演示文稿</vt:lpstr>
      <vt:lpstr>PowerPoint 演示文稿</vt:lpstr>
      <vt:lpstr>贪心法的例子： 活动选择问题</vt:lpstr>
      <vt:lpstr>活动选择问题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boo</dc:creator>
  <cp:lastModifiedBy>boo</cp:lastModifiedBy>
  <cp:revision>90</cp:revision>
  <dcterms:created xsi:type="dcterms:W3CDTF">2019-05-15T12:34:55Z</dcterms:created>
  <dcterms:modified xsi:type="dcterms:W3CDTF">2019-05-22T13:09:28Z</dcterms:modified>
</cp:coreProperties>
</file>